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3" r:id="rId3"/>
    <p:sldId id="271" r:id="rId4"/>
    <p:sldId id="257" r:id="rId5"/>
    <p:sldId id="258" r:id="rId6"/>
    <p:sldId id="276" r:id="rId7"/>
    <p:sldId id="259" r:id="rId8"/>
    <p:sldId id="260" r:id="rId9"/>
    <p:sldId id="275" r:id="rId10"/>
    <p:sldId id="261" r:id="rId11"/>
    <p:sldId id="277" r:id="rId12"/>
    <p:sldId id="278" r:id="rId13"/>
    <p:sldId id="263" r:id="rId14"/>
    <p:sldId id="279" r:id="rId15"/>
    <p:sldId id="280" r:id="rId16"/>
    <p:sldId id="281" r:id="rId17"/>
    <p:sldId id="282" r:id="rId18"/>
    <p:sldId id="283" r:id="rId19"/>
    <p:sldId id="284" r:id="rId20"/>
    <p:sldId id="285" r:id="rId21"/>
    <p:sldId id="265" r:id="rId22"/>
    <p:sldId id="266" r:id="rId23"/>
    <p:sldId id="267" r:id="rId24"/>
    <p:sldId id="286" r:id="rId25"/>
    <p:sldId id="269" r:id="rId26"/>
    <p:sldId id="272" r:id="rId27"/>
    <p:sldId id="270" r:id="rId28"/>
    <p:sldId id="274" r:id="rId29"/>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1" Type="http://schemas.openxmlformats.org/officeDocument/2006/relationships/presProps" Target="pres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c:v>
                </c:pt>
              </c:strCache>
            </c:strRef>
          </c:tx>
          <c:spPr>
            <a:solidFill>
              <a:srgbClr val="A0754A"/>
            </a:solidFill>
          </c:spPr>
          <c:invertIfNegative val="0"/>
          <c:dLbls>
            <c:numFmt formatCode="\+0.0&quot;%&quot;;\−0.0&quot;%&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1.1100000000000001</c:v>
                </c:pt>
                <c:pt idx="1">
                  <c:v>54.34</c:v>
                </c:pt>
                <c:pt idx="2">
                  <c:v>21.69</c:v>
                </c:pt>
                <c:pt idx="3">
                  <c:v>-1.47</c:v>
                </c:pt>
                <c:pt idx="4">
                  <c:v>41.65</c:v>
                </c:pt>
                <c:pt idx="5">
                  <c:v>-22.93</c:v>
                </c:pt>
              </c:numCache>
            </c:numRef>
          </c:val>
        </c:ser>
        <c:dLbls>
          <c:showLegendKey val="0"/>
          <c:showVal val="0"/>
          <c:showCatName val="0"/>
          <c:showSerName val="0"/>
          <c:showPercent val="0"/>
          <c:showBubbleSize val="0"/>
        </c:dLbls>
        <c:gapWidth val="70"/>
        <c:axId val="10000011"/>
        <c:axId val="10000010"/>
      </c:barChart>
      <c:catAx>
        <c:axId val="10000011"/>
        <c:scaling>
          <c:orientation val="maxMin"/>
        </c:scaling>
        <c:delete val="0"/>
        <c:axPos val="l"/>
        <c:numFmt formatCode="General" sourceLinked="0"/>
        <c:majorTickMark val="none"/>
        <c:minorTickMark val="none"/>
        <c:tickLblPos val="low"/>
        <c:spPr>
          <a:ln>
            <a:solidFill>
              <a:srgbClr val="C9C2BA"/>
            </a:solidFill>
          </a:ln>
        </c:spPr>
        <c:txPr>
          <a:bodyPr/>
          <a:lstStyle/>
          <a:p>
            <a:pPr>
              <a:defRPr sz="855" b="1">
                <a:solidFill>
                  <a:srgbClr val="333231"/>
                </a:solidFill>
              </a:defRPr>
            </a:pPr>
            <a:endParaRPr lang="en-US"/>
          </a:p>
        </c:txPr>
        <c:crossAx val="10000010"/>
        <c:crosses val="autoZero"/>
        <c:auto val="1"/>
        <c:lblAlgn val="ctr"/>
        <c:lblOffset val="100"/>
        <c:noMultiLvlLbl val="0"/>
      </c:catAx>
      <c:valAx>
        <c:axId val="10000010"/>
        <c:scaling>
          <c:orientation val="minMax"/>
          <c:max val="75"/>
          <c:min val="-45"/>
        </c:scaling>
        <c:delete val="1"/>
        <c:axPos val="t"/>
        <c:numFmt formatCode="General" sourceLinked="1"/>
        <c:majorTickMark val="out"/>
        <c:minorTickMark val="none"/>
        <c:tickLblPos val="nextTo"/>
        <c:crossAx val="10000011"/>
        <c:crosses val="autoZero"/>
        <c:crossBetween val="between"/>
      </c:valAx>
    </c:plotArea>
    <c:plotVisOnly val="1"/>
    <c:dispBlanksAs val="gap"/>
    <c:showDLblsOverMax val="1"/>
  </c:chart>
  <c:txPr>
    <a:bodyPr/>
    <a:lstStyle/>
    <a:p>
      <a:pPr>
        <a:defRPr sz="855">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growth</c:v>
                </c:pt>
              </c:strCache>
            </c:strRef>
          </c:tx>
          <c:spPr>
            <a:solidFill>
              <a:srgbClr val="A0754A"/>
            </a:solidFill>
          </c:spPr>
          <c:invertIfNegative val="0"/>
          <c:dLbls>
            <c:numFmt formatCode="\+0.0&quot;%&quot;;\−0.0&quot;%&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2.06</c:v>
                </c:pt>
                <c:pt idx="1">
                  <c:v>15.82</c:v>
                </c:pt>
                <c:pt idx="2">
                  <c:v>36.03</c:v>
                </c:pt>
                <c:pt idx="3">
                  <c:v>6.96</c:v>
                </c:pt>
                <c:pt idx="4">
                  <c:v>9.91</c:v>
                </c:pt>
                <c:pt idx="5">
                  <c:v>-0.28999999999999998</c:v>
                </c:pt>
              </c:numCache>
            </c:numRef>
          </c:val>
        </c:ser>
        <c:dLbls>
          <c:showLegendKey val="0"/>
          <c:showVal val="0"/>
          <c:showCatName val="0"/>
          <c:showSerName val="0"/>
          <c:showPercent val="0"/>
          <c:showBubbleSize val="0"/>
        </c:dLbls>
        <c:gapWidth val="70"/>
        <c:axId val="10000021"/>
        <c:axId val="10000020"/>
      </c:barChart>
      <c:catAx>
        <c:axId val="10000021"/>
        <c:scaling>
          <c:orientation val="maxMin"/>
        </c:scaling>
        <c:delete val="0"/>
        <c:axPos val="l"/>
        <c:numFmt formatCode="General" sourceLinked="0"/>
        <c:majorTickMark val="none"/>
        <c:minorTickMark val="none"/>
        <c:tickLblPos val="low"/>
        <c:spPr>
          <a:ln>
            <a:solidFill>
              <a:srgbClr val="C9C2BA"/>
            </a:solidFill>
          </a:ln>
        </c:spPr>
        <c:txPr>
          <a:bodyPr/>
          <a:lstStyle/>
          <a:p>
            <a:pPr>
              <a:defRPr sz="855" b="1">
                <a:solidFill>
                  <a:srgbClr val="333231"/>
                </a:solidFill>
              </a:defRPr>
            </a:pPr>
            <a:endParaRPr lang="en-US"/>
          </a:p>
        </c:txPr>
        <c:crossAx val="10000020"/>
        <c:crosses val="autoZero"/>
        <c:auto val="1"/>
        <c:lblAlgn val="ctr"/>
        <c:lblOffset val="100"/>
        <c:noMultiLvlLbl val="0"/>
      </c:catAx>
      <c:valAx>
        <c:axId val="10000020"/>
        <c:scaling>
          <c:orientation val="minMax"/>
          <c:max val="48"/>
          <c:min val="-15"/>
        </c:scaling>
        <c:delete val="1"/>
        <c:axPos val="t"/>
        <c:numFmt formatCode="General" sourceLinked="1"/>
        <c:majorTickMark val="out"/>
        <c:minorTickMark val="none"/>
        <c:tickLblPos val="nextTo"/>
        <c:crossAx val="10000021"/>
        <c:crosses val="autoZero"/>
        <c:crossBetween val="between"/>
      </c:valAx>
    </c:plotArea>
    <c:plotVisOnly val="1"/>
    <c:dispBlanksAs val="gap"/>
    <c:showDLblsOverMax val="1"/>
  </c:chart>
  <c:txPr>
    <a:bodyPr/>
    <a:lstStyle/>
    <a:p>
      <a:pPr>
        <a:defRPr sz="855">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-0.39</c:v>
                </c:pt>
                <c:pt idx="1">
                  <c:v>0.8</c:v>
                </c:pt>
                <c:pt idx="2">
                  <c:v>6.95</c:v>
                </c:pt>
                <c:pt idx="3">
                  <c:v>6.125</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-8.7799999999999994</c:v>
                </c:pt>
                <c:pt idx="1">
                  <c:v>-5.82</c:v>
                </c:pt>
                <c:pt idx="2">
                  <c:v>0.23</c:v>
                </c:pt>
                <c:pt idx="3">
                  <c:v>0.83000000000000007</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-5.29</c:v>
                </c:pt>
                <c:pt idx="1">
                  <c:v>-1.76</c:v>
                </c:pt>
                <c:pt idx="2">
                  <c:v>6.47</c:v>
                </c:pt>
                <c:pt idx="3">
                  <c:v>4.38</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15"/>
          <c:min val="-1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24.865000000000002</c:v>
                </c:pt>
                <c:pt idx="1">
                  <c:v>17.324999999999999</c:v>
                </c:pt>
                <c:pt idx="2">
                  <c:v>22.407499999999999</c:v>
                </c:pt>
                <c:pt idx="3">
                  <c:v>20.43</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15.65</c:v>
                </c:pt>
                <c:pt idx="1">
                  <c:v>11.5975</c:v>
                </c:pt>
                <c:pt idx="2">
                  <c:v>10.8125</c:v>
                </c:pt>
                <c:pt idx="3">
                  <c:v>9.3699999999999992</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18.5</c:v>
                </c:pt>
                <c:pt idx="1">
                  <c:v>13.78</c:v>
                </c:pt>
                <c:pt idx="2">
                  <c:v>13</c:v>
                </c:pt>
                <c:pt idx="3">
                  <c:v>13.86</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30"/>
          <c:min val="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12.302499999999998</c:v>
                </c:pt>
                <c:pt idx="1">
                  <c:v>14.44</c:v>
                </c:pt>
                <c:pt idx="2">
                  <c:v>9.08</c:v>
                </c:pt>
                <c:pt idx="3">
                  <c:v>19.690000000000001</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4.4249999999999998</c:v>
                </c:pt>
                <c:pt idx="1">
                  <c:v>3.05</c:v>
                </c:pt>
                <c:pt idx="2">
                  <c:v>2.89</c:v>
                </c:pt>
                <c:pt idx="3">
                  <c:v>4.5999999999999996</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8.82</c:v>
                </c:pt>
                <c:pt idx="1">
                  <c:v>8.99</c:v>
                </c:pt>
                <c:pt idx="2">
                  <c:v>4.78</c:v>
                </c:pt>
                <c:pt idx="3">
                  <c:v>5.0199999999999996</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25"/>
          <c:min val="-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6.99</c:v>
                </c:pt>
                <c:pt idx="1">
                  <c:v>1.56</c:v>
                </c:pt>
                <c:pt idx="2">
                  <c:v>11.4</c:v>
                </c:pt>
                <c:pt idx="3">
                  <c:v>12.32</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1.79</c:v>
                </c:pt>
                <c:pt idx="1">
                  <c:v>-2.5299999999999998</c:v>
                </c:pt>
                <c:pt idx="2">
                  <c:v>4.7</c:v>
                </c:pt>
                <c:pt idx="3">
                  <c:v>8.2799999999999994</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6.18</c:v>
                </c:pt>
                <c:pt idx="1">
                  <c:v>-0.35</c:v>
                </c:pt>
                <c:pt idx="2">
                  <c:v>6.94</c:v>
                </c:pt>
                <c:pt idx="3">
                  <c:v>10.38</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20"/>
          <c:min val="-10"/>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9.81</c:v>
                </c:pt>
                <c:pt idx="1">
                  <c:v>3.18</c:v>
                </c:pt>
                <c:pt idx="2">
                  <c:v>18.98</c:v>
                </c:pt>
                <c:pt idx="3">
                  <c:v>51.96</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-7.32</c:v>
                </c:pt>
                <c:pt idx="1">
                  <c:v>-8.8800000000000008</c:v>
                </c:pt>
                <c:pt idx="2">
                  <c:v>1.82</c:v>
                </c:pt>
                <c:pt idx="3">
                  <c:v>21.42</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-1.64</c:v>
                </c:pt>
                <c:pt idx="1">
                  <c:v>-5.93</c:v>
                </c:pt>
                <c:pt idx="2">
                  <c:v>7.95</c:v>
                </c:pt>
                <c:pt idx="3">
                  <c:v>24.56</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60"/>
          <c:min val="-1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14.715</c:v>
                </c:pt>
                <c:pt idx="1">
                  <c:v>12.5</c:v>
                </c:pt>
                <c:pt idx="2">
                  <c:v>6.085</c:v>
                </c:pt>
                <c:pt idx="3">
                  <c:v>8.0250000000000004</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6.3650000000000002</c:v>
                </c:pt>
                <c:pt idx="1">
                  <c:v>5.4049999999999994</c:v>
                </c:pt>
                <c:pt idx="2">
                  <c:v>-6.0449999999999999</c:v>
                </c:pt>
                <c:pt idx="3">
                  <c:v>1.085</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10.3</c:v>
                </c:pt>
                <c:pt idx="1">
                  <c:v>9.5299999999999994</c:v>
                </c:pt>
                <c:pt idx="2">
                  <c:v>-2.9</c:v>
                </c:pt>
                <c:pt idx="3">
                  <c:v>1.7</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20"/>
          <c:min val="-10"/>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EV/Revenue</c:v>
                </c:pt>
              </c:strCache>
            </c:strRef>
          </c:tx>
          <c:spPr>
            <a:solidFill>
              <a:srgbClr val="A0754A"/>
            </a:solidFill>
          </c:spPr>
          <c:invertIfNegative val="0"/>
          <c:dLbls>
            <c:numFmt formatCode="0.0&quot;x&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0.86</c:v>
                </c:pt>
                <c:pt idx="1">
                  <c:v>9.8800000000000008</c:v>
                </c:pt>
                <c:pt idx="2">
                  <c:v>2.16</c:v>
                </c:pt>
                <c:pt idx="3">
                  <c:v>0.73</c:v>
                </c:pt>
                <c:pt idx="4">
                  <c:v>1.26</c:v>
                </c:pt>
                <c:pt idx="5">
                  <c:v>1.17</c:v>
                </c:pt>
              </c:numCache>
            </c:numRef>
          </c:val>
        </c:ser>
        <c:dLbls>
          <c:showLegendKey val="0"/>
          <c:showVal val="0"/>
          <c:showCatName val="0"/>
          <c:showSerName val="0"/>
          <c:showPercent val="0"/>
          <c:showBubbleSize val="0"/>
        </c:dLbls>
        <c:gapWidth val="70"/>
        <c:axId val="10000091"/>
        <c:axId val="10000090"/>
      </c:barChart>
      <c:catAx>
        <c:axId val="10000091"/>
        <c:scaling>
          <c:orientation val="maxMin"/>
        </c:scaling>
        <c:delete val="0"/>
        <c:axPos val="l"/>
        <c:numFmt formatCode="General" sourceLinked="0"/>
        <c:majorTickMark val="none"/>
        <c:minorTickMark val="none"/>
        <c:tickLblPos val="low"/>
        <c:spPr>
          <a:ln>
            <a:solidFill>
              <a:srgbClr val="C9C2BA"/>
            </a:solidFill>
          </a:ln>
        </c:spPr>
        <c:txPr>
          <a:bodyPr/>
          <a:lstStyle/>
          <a:p>
            <a:pPr>
              <a:defRPr sz="800" b="1">
                <a:solidFill>
                  <a:srgbClr val="333231"/>
                </a:solidFill>
              </a:defRPr>
            </a:pPr>
            <a:endParaRPr lang="en-US"/>
          </a:p>
        </c:txPr>
        <c:crossAx val="10000090"/>
        <c:crosses val="autoZero"/>
        <c:auto val="1"/>
        <c:lblAlgn val="ctr"/>
        <c:lblOffset val="100"/>
        <c:noMultiLvlLbl val="0"/>
      </c:catAx>
      <c:valAx>
        <c:axId val="10000090"/>
        <c:scaling>
          <c:orientation val="minMax"/>
          <c:max val="12.5"/>
          <c:min val="0"/>
        </c:scaling>
        <c:delete val="1"/>
        <c:axPos val="t"/>
        <c:numFmt formatCode="General" sourceLinked="1"/>
        <c:majorTickMark val="out"/>
        <c:minorTickMark val="none"/>
        <c:tickLblPos val="nextTo"/>
        <c:crossAx val="10000091"/>
        <c:crosses val="autoZero"/>
        <c:crossBetween val="between"/>
      </c:valAx>
    </c:plotArea>
    <c:plotVisOnly val="1"/>
    <c:dispBlanksAs val="gap"/>
    <c:showDLblsOverMax val="1"/>
  </c:chart>
  <c:txPr>
    <a:bodyPr/>
    <a:lstStyle/>
    <a:p>
      <a:pPr>
        <a:defRPr sz="800">
          <a:solidFill>
            <a:srgbClr val="333231"/>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Today</c:v>
                </c:pt>
              </c:strCache>
            </c:strRef>
          </c:tx>
          <c:spPr>
            <a:solidFill>
              <a:srgbClr val="A0754A"/>
            </a:solidFill>
          </c:spPr>
          <c:invertIfNegative val="0"/>
          <c:dLbls>
            <c:numFmt formatCode="0.0&quot;x&quot;" sourceLinked="0"/>
            <c:spPr>
              <a:noFill/>
              <a:ln>
                <a:noFill/>
              </a:ln>
              <a:effectLst/>
            </c:spPr>
            <c:txPr>
              <a:bodyPr/>
              <a:lstStyle/>
              <a:p>
                <a:pPr>
                  <a:defRPr sz="800"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9.7200000000000006</c:v>
                </c:pt>
                <c:pt idx="1">
                  <c:v>22.04</c:v>
                </c:pt>
                <c:pt idx="2">
                  <c:v>17.14</c:v>
                </c:pt>
                <c:pt idx="3">
                  <c:v>10.07</c:v>
                </c:pt>
                <c:pt idx="4">
                  <c:v>17.38</c:v>
                </c:pt>
                <c:pt idx="5">
                  <c:v>10.83</c:v>
                </c:pt>
              </c:numCache>
            </c:numRef>
          </c:val>
        </c:ser>
        <c:ser>
          <c:idx val="1"/>
          <c:order val="1"/>
          <c:tx>
            <c:strRef>
              <c:f>Sheet1!$C$1</c:f>
              <c:strCache>
                <c:ptCount val="1"/>
                <c:pt idx="0">
                  <c:v>A year ago</c:v>
                </c:pt>
              </c:strCache>
            </c:strRef>
          </c:tx>
          <c:spPr>
            <a:solidFill>
              <a:srgbClr val="DCC7AE"/>
            </a:solidFill>
          </c:spPr>
          <c:invertIfNegative val="0"/>
          <c:dLbls>
            <c:numFmt formatCode="0.0&quot;x&quot;" sourceLinked="0"/>
            <c:spPr>
              <a:noFill/>
              <a:ln>
                <a:noFill/>
              </a:ln>
              <a:effectLst/>
            </c:spPr>
            <c:txPr>
              <a:bodyPr/>
              <a:lstStyle/>
              <a:p>
                <a:pPr>
                  <a:defRPr sz="800"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9.31</c:v>
                </c:pt>
                <c:pt idx="1">
                  <c:v>20.94</c:v>
                </c:pt>
                <c:pt idx="2">
                  <c:v>18.12</c:v>
                </c:pt>
                <c:pt idx="3">
                  <c:v>9.1199999999999992</c:v>
                </c:pt>
                <c:pt idx="4">
                  <c:v>12.08</c:v>
                </c:pt>
                <c:pt idx="5">
                  <c:v>12.81</c:v>
                </c:pt>
              </c:numCache>
            </c:numRef>
          </c:val>
        </c:ser>
        <c:dLbls>
          <c:showLegendKey val="0"/>
          <c:showVal val="0"/>
          <c:showCatName val="0"/>
          <c:showSerName val="0"/>
          <c:showPercent val="0"/>
          <c:showBubbleSize val="0"/>
        </c:dLbls>
        <c:gapWidth val="55"/>
        <c:overlap val="-5"/>
        <c:axId val="10000101"/>
        <c:axId val="10000100"/>
      </c:barChart>
      <c:catAx>
        <c:axId val="10000101"/>
        <c:scaling>
          <c:orientation val="maxMin"/>
        </c:scaling>
        <c:delete val="0"/>
        <c:axPos val="l"/>
        <c:numFmt formatCode="General" sourceLinked="0"/>
        <c:majorTickMark val="none"/>
        <c:minorTickMark val="none"/>
        <c:tickLblPos val="low"/>
        <c:spPr>
          <a:ln>
            <a:solidFill>
              <a:srgbClr val="C9C2BA"/>
            </a:solidFill>
          </a:ln>
        </c:spPr>
        <c:txPr>
          <a:bodyPr/>
          <a:lstStyle/>
          <a:p>
            <a:pPr>
              <a:defRPr sz="800" b="1">
                <a:solidFill>
                  <a:srgbClr val="333231"/>
                </a:solidFill>
              </a:defRPr>
            </a:pPr>
            <a:endParaRPr lang="en-US"/>
          </a:p>
        </c:txPr>
        <c:crossAx val="10000100"/>
        <c:crosses val="autoZero"/>
        <c:auto val="1"/>
        <c:lblAlgn val="ctr"/>
        <c:lblOffset val="100"/>
        <c:noMultiLvlLbl val="0"/>
      </c:catAx>
      <c:valAx>
        <c:axId val="10000100"/>
        <c:scaling>
          <c:orientation val="minMax"/>
          <c:max val="29"/>
          <c:min val="0"/>
        </c:scaling>
        <c:delete val="1"/>
        <c:axPos val="t"/>
        <c:numFmt formatCode="General" sourceLinked="1"/>
        <c:majorTickMark val="out"/>
        <c:minorTickMark val="none"/>
        <c:tickLblPos val="nextTo"/>
        <c:crossAx val="10000101"/>
        <c:crosses val="autoZero"/>
        <c:crossBetween val="between"/>
      </c:valAx>
    </c:plotArea>
    <c:legend>
      <c:legendPos val="b"/>
      <c:overlay val="0"/>
      <c:txPr>
        <a:bodyPr/>
        <a:lstStyle/>
        <a:p>
          <a:pPr>
            <a:defRPr sz="800"/>
          </a:pPr>
          <a:endParaRPr lang="en-US"/>
        </a:p>
      </c:txPr>
    </c:legend>
    <c:plotVisOnly val="1"/>
    <c:dispBlanksAs val="gap"/>
    <c:showDLblsOverMax val="1"/>
  </c:chart>
  <c:txPr>
    <a:bodyPr/>
    <a:lstStyle/>
    <a:p>
      <a:pPr>
        <a:defRPr sz="800">
          <a:solidFill>
            <a:srgbClr val="333231"/>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Forward P/E</c:v>
                </c:pt>
              </c:strCache>
            </c:strRef>
          </c:tx>
          <c:spPr>
            <a:solidFill>
              <a:srgbClr val="A0754A"/>
            </a:solidFill>
          </c:spPr>
          <c:invertIfNegative val="0"/>
          <c:dLbls>
            <c:numFmt formatCode="0.0&quot;x&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12.73</c:v>
                </c:pt>
                <c:pt idx="1">
                  <c:v>32.39</c:v>
                </c:pt>
                <c:pt idx="2">
                  <c:v>14.38</c:v>
                </c:pt>
                <c:pt idx="3">
                  <c:v>17.66</c:v>
                </c:pt>
                <c:pt idx="4">
                  <c:v>17.91</c:v>
                </c:pt>
                <c:pt idx="5">
                  <c:v>12.96</c:v>
                </c:pt>
              </c:numCache>
            </c:numRef>
          </c:val>
        </c:ser>
        <c:dLbls>
          <c:showLegendKey val="0"/>
          <c:showVal val="0"/>
          <c:showCatName val="0"/>
          <c:showSerName val="0"/>
          <c:showPercent val="0"/>
          <c:showBubbleSize val="0"/>
        </c:dLbls>
        <c:gapWidth val="70"/>
        <c:axId val="10000111"/>
        <c:axId val="10000110"/>
      </c:barChart>
      <c:catAx>
        <c:axId val="10000111"/>
        <c:scaling>
          <c:orientation val="maxMin"/>
        </c:scaling>
        <c:delete val="0"/>
        <c:axPos val="l"/>
        <c:numFmt formatCode="General" sourceLinked="0"/>
        <c:majorTickMark val="none"/>
        <c:minorTickMark val="none"/>
        <c:tickLblPos val="low"/>
        <c:spPr>
          <a:ln>
            <a:solidFill>
              <a:srgbClr val="C9C2BA"/>
            </a:solidFill>
          </a:ln>
        </c:spPr>
        <c:txPr>
          <a:bodyPr/>
          <a:lstStyle/>
          <a:p>
            <a:pPr>
              <a:defRPr sz="800" b="1">
                <a:solidFill>
                  <a:srgbClr val="333231"/>
                </a:solidFill>
              </a:defRPr>
            </a:pPr>
            <a:endParaRPr lang="en-US"/>
          </a:p>
        </c:txPr>
        <c:crossAx val="10000110"/>
        <c:crosses val="autoZero"/>
        <c:auto val="1"/>
        <c:lblAlgn val="ctr"/>
        <c:lblOffset val="100"/>
        <c:noMultiLvlLbl val="0"/>
      </c:catAx>
      <c:valAx>
        <c:axId val="10000110"/>
        <c:scaling>
          <c:orientation val="minMax"/>
          <c:max val="42"/>
          <c:min val="0"/>
        </c:scaling>
        <c:delete val="1"/>
        <c:axPos val="t"/>
        <c:numFmt formatCode="General" sourceLinked="1"/>
        <c:majorTickMark val="out"/>
        <c:minorTickMark val="none"/>
        <c:tickLblPos val="nextTo"/>
        <c:crossAx val="10000111"/>
        <c:crosses val="autoZero"/>
        <c:crossBetween val="between"/>
      </c:valAx>
    </c:plotArea>
    <c:plotVisOnly val="1"/>
    <c:dispBlanksAs val="gap"/>
    <c:showDLblsOverMax val="1"/>
  </c:chart>
  <c:txPr>
    <a:bodyPr/>
    <a:lstStyle/>
    <a:p>
      <a:pPr>
        <a:defRPr sz="800">
          <a:solidFill>
            <a:srgbClr val="333231"/>
          </a:solidFill>
          <a:latin typeface="Quicksand"/>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Sheet1!$B$1</c:f>
              <c:strCache>
                <c:ptCount val="1"/>
                <c:pt idx="0">
                  <c:v>Value</c:v>
                </c:pt>
              </c:strCache>
            </c:strRef>
          </c:tx>
          <c:spPr>
            <a:solidFill>
              <a:srgbClr val="A0754A"/>
            </a:solidFill>
          </c:spPr>
          <c:invertIfNegative val="0"/>
          <c:dLbls>
            <c:numFmt formatCode="&quot;+&quot;0.0&quot;%&quot;;&quot;−&quot;0.0&quot;%&quot;;0.0&quot;%&quot;" sourceLinked="0"/>
            <c:spPr>
              <a:noFill/>
              <a:ln>
                <a:noFill/>
              </a:ln>
              <a:effectLst/>
            </c:spPr>
            <c:txPr>
              <a:bodyPr/>
              <a:lstStyle/>
              <a:p>
                <a:pPr>
                  <a:defRPr sz="855" b="1">
                    <a:solidFill>
                      <a:srgbClr val="1B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c:v>
                </c:pt>
                <c:pt idx="1">
                  <c:v>15</c:v>
                </c:pt>
                <c:pt idx="2">
                  <c:v>5.2</c:v>
                </c:pt>
                <c:pt idx="3">
                  <c:v>11.4</c:v>
                </c:pt>
                <c:pt idx="4">
                  <c:v>20.6</c:v>
                </c:pt>
                <c:pt idx="5">
                  <c:v>-0.8</c:v>
                </c:pt>
              </c:numCache>
            </c:numRef>
          </c:val>
        </c:ser>
        <c:dLbls>
          <c:dLblPos val="outEnd"/>
          <c:showLegendKey val="0"/>
          <c:showVal val="1"/>
          <c:showCatName val="0"/>
          <c:showSerName val="0"/>
          <c:showPercent val="0"/>
          <c:showBubbleSize val="0"/>
        </c:dLbls>
        <c:gapWidth val="150"/>
        <c:axId val="10000121"/>
        <c:axId val="10000120"/>
      </c:barChart>
      <c:catAx>
        <c:axId val="10000121"/>
        <c:scaling>
          <c:orientation val="maxMin"/>
        </c:scaling>
        <c:delete val="0"/>
        <c:axPos val="l"/>
        <c:numFmt formatCode="General" sourceLinked="0"/>
        <c:majorTickMark val="none"/>
        <c:minorTickMark val="none"/>
        <c:tickLblPos val="low"/>
        <c:spPr>
          <a:ln w="9525">
            <a:solidFill>
              <a:srgbClr val="C3BDB6"/>
            </a:solidFill>
          </a:ln>
        </c:spPr>
        <c:txPr>
          <a:bodyPr/>
          <a:lstStyle/>
          <a:p>
            <a:pPr>
              <a:defRPr sz="855" b="1">
                <a:solidFill>
                  <a:srgbClr val="333231"/>
                </a:solidFill>
              </a:defRPr>
            </a:pPr>
            <a:endParaRPr lang="en-US"/>
          </a:p>
        </c:txPr>
        <c:crossAx val="10000120"/>
        <c:crosses val="autoZero"/>
        <c:auto val="1"/>
        <c:lblAlgn val="ctr"/>
        <c:lblOffset val="100"/>
        <c:noMultiLvlLbl val="0"/>
      </c:catAx>
      <c:valAx>
        <c:axId val="10000120"/>
        <c:scaling>
          <c:orientation val="minMax"/>
          <c:max val="25.352400000000003"/>
          <c:min val="-6.7776000000000014"/>
        </c:scaling>
        <c:delete val="1"/>
        <c:axPos val="t"/>
        <c:numFmt formatCode="General" sourceLinked="1"/>
        <c:majorTickMark val="out"/>
        <c:minorTickMark val="none"/>
        <c:tickLblPos val="nextTo"/>
        <c:crossAx val="10000121"/>
        <c:crosses val="autoZero"/>
        <c:crossBetween val="between"/>
      </c:valAx>
      <c:spPr>
        <a:noFill/>
        <a:ln>
          <a:noFill/>
        </a:ln>
      </c:spPr>
    </c:plotArea>
    <c:plotVisOnly val="1"/>
    <c:dispBlanksAs val="gap"/>
    <c:showDLblsOverMax val="1"/>
  </c:chart>
  <c:spPr>
    <a:noFill/>
    <a:ln>
      <a:noFill/>
    </a:ln>
  </c:spPr>
  <c:txPr>
    <a:bodyPr/>
    <a:lstStyle/>
    <a:p>
      <a:pPr>
        <a:defRPr sz="855">
          <a:solidFill>
            <a:srgbClr val="333231"/>
          </a:solidFill>
          <a:latin typeface="Quicksand"/>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Sheet1!$B$1</c:f>
              <c:strCache>
                <c:ptCount val="1"/>
                <c:pt idx="0">
                  <c:v>Value</c:v>
                </c:pt>
              </c:strCache>
            </c:strRef>
          </c:tx>
          <c:spPr>
            <a:solidFill>
              <a:srgbClr val="A0754A"/>
            </a:solidFill>
          </c:spPr>
          <c:invertIfNegative val="0"/>
          <c:dLbls>
            <c:numFmt formatCode="0.0&quot;%&quot;;&quot;−&quot;0.0&quot;%&quot;;0.0&quot;%&quot;" sourceLinked="0"/>
            <c:spPr>
              <a:noFill/>
              <a:ln>
                <a:noFill/>
              </a:ln>
              <a:effectLst/>
            </c:spPr>
            <c:txPr>
              <a:bodyPr/>
              <a:lstStyle/>
              <a:p>
                <a:pPr>
                  <a:defRPr sz="855" b="1">
                    <a:solidFill>
                      <a:srgbClr val="1B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8.8000000000000007</c:v>
                </c:pt>
                <c:pt idx="1">
                  <c:v>12</c:v>
                </c:pt>
                <c:pt idx="2">
                  <c:v>12.6</c:v>
                </c:pt>
                <c:pt idx="3">
                  <c:v>5.2</c:v>
                </c:pt>
                <c:pt idx="4">
                  <c:v>7</c:v>
                </c:pt>
                <c:pt idx="5">
                  <c:v>11.3</c:v>
                </c:pt>
              </c:numCache>
            </c:numRef>
          </c:val>
        </c:ser>
        <c:dLbls>
          <c:dLblPos val="outEnd"/>
          <c:showLegendKey val="0"/>
          <c:showVal val="1"/>
          <c:showCatName val="0"/>
          <c:showSerName val="0"/>
          <c:showPercent val="0"/>
          <c:showBubbleSize val="0"/>
        </c:dLbls>
        <c:gapWidth val="150"/>
        <c:axId val="10000131"/>
        <c:axId val="10000130"/>
      </c:barChart>
      <c:catAx>
        <c:axId val="10000131"/>
        <c:scaling>
          <c:orientation val="maxMin"/>
        </c:scaling>
        <c:delete val="0"/>
        <c:axPos val="l"/>
        <c:numFmt formatCode="General" sourceLinked="0"/>
        <c:majorTickMark val="none"/>
        <c:minorTickMark val="none"/>
        <c:tickLblPos val="low"/>
        <c:spPr>
          <a:ln w="9525">
            <a:solidFill>
              <a:srgbClr val="C3BDB6"/>
            </a:solidFill>
          </a:ln>
        </c:spPr>
        <c:txPr>
          <a:bodyPr/>
          <a:lstStyle/>
          <a:p>
            <a:pPr>
              <a:defRPr sz="855" b="1">
                <a:solidFill>
                  <a:srgbClr val="333231"/>
                </a:solidFill>
              </a:defRPr>
            </a:pPr>
            <a:endParaRPr lang="en-US"/>
          </a:p>
        </c:txPr>
        <c:crossAx val="10000130"/>
        <c:crosses val="autoZero"/>
        <c:auto val="1"/>
        <c:lblAlgn val="ctr"/>
        <c:lblOffset val="100"/>
        <c:noMultiLvlLbl val="0"/>
      </c:catAx>
      <c:valAx>
        <c:axId val="10000130"/>
        <c:scaling>
          <c:orientation val="minMax"/>
          <c:max val="15.3598"/>
          <c:min val="0"/>
        </c:scaling>
        <c:delete val="1"/>
        <c:axPos val="t"/>
        <c:numFmt formatCode="General" sourceLinked="1"/>
        <c:majorTickMark val="out"/>
        <c:minorTickMark val="none"/>
        <c:tickLblPos val="nextTo"/>
        <c:crossAx val="10000131"/>
        <c:crosses val="autoZero"/>
        <c:crossBetween val="between"/>
      </c:valAx>
      <c:spPr>
        <a:noFill/>
        <a:ln>
          <a:noFill/>
        </a:ln>
      </c:spPr>
    </c:plotArea>
    <c:plotVisOnly val="1"/>
    <c:dispBlanksAs val="gap"/>
    <c:showDLblsOverMax val="1"/>
  </c:chart>
  <c:spPr>
    <a:noFill/>
    <a:ln>
      <a:noFill/>
    </a:ln>
  </c:spPr>
  <c:txPr>
    <a:bodyPr/>
    <a:lstStyle/>
    <a:p>
      <a:pPr>
        <a:defRPr sz="855">
          <a:solidFill>
            <a:srgbClr val="333231"/>
          </a:solidFill>
          <a:latin typeface="Quicksand"/>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Sheet1!$B$1</c:f>
              <c:strCache>
                <c:ptCount val="1"/>
                <c:pt idx="0">
                  <c:v>Value</c:v>
                </c:pt>
              </c:strCache>
            </c:strRef>
          </c:tx>
          <c:spPr>
            <a:solidFill>
              <a:srgbClr val="A0754A"/>
            </a:solidFill>
          </c:spPr>
          <c:invertIfNegative val="0"/>
          <c:dLbls>
            <c:numFmt formatCode="0.0&quot;%&quot;;&quot;−&quot;0.0&quot;%&quot;;0.0&quot;%&quot;" sourceLinked="0"/>
            <c:spPr>
              <a:noFill/>
              <a:ln>
                <a:noFill/>
              </a:ln>
              <a:effectLst/>
            </c:spPr>
            <c:txPr>
              <a:bodyPr/>
              <a:lstStyle/>
              <a:p>
                <a:pPr>
                  <a:defRPr sz="855" b="1">
                    <a:solidFill>
                      <a:srgbClr val="1B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4.5999999999999996</c:v>
                </c:pt>
                <c:pt idx="1">
                  <c:v>33.799999999999997</c:v>
                </c:pt>
                <c:pt idx="2">
                  <c:v>9.9</c:v>
                </c:pt>
                <c:pt idx="3">
                  <c:v>3.5</c:v>
                </c:pt>
                <c:pt idx="4">
                  <c:v>3.3</c:v>
                </c:pt>
                <c:pt idx="5">
                  <c:v>10.1</c:v>
                </c:pt>
              </c:numCache>
            </c:numRef>
          </c:val>
        </c:ser>
        <c:dLbls>
          <c:dLblPos val="outEnd"/>
          <c:showLegendKey val="0"/>
          <c:showVal val="1"/>
          <c:showCatName val="0"/>
          <c:showSerName val="0"/>
          <c:showPercent val="0"/>
          <c:showBubbleSize val="0"/>
        </c:dLbls>
        <c:gapWidth val="150"/>
        <c:axId val="10000141"/>
        <c:axId val="10000140"/>
      </c:barChart>
      <c:catAx>
        <c:axId val="10000141"/>
        <c:scaling>
          <c:orientation val="maxMin"/>
        </c:scaling>
        <c:delete val="0"/>
        <c:axPos val="l"/>
        <c:numFmt formatCode="General" sourceLinked="0"/>
        <c:majorTickMark val="none"/>
        <c:minorTickMark val="none"/>
        <c:tickLblPos val="low"/>
        <c:spPr>
          <a:ln w="9525">
            <a:solidFill>
              <a:srgbClr val="C3BDB6"/>
            </a:solidFill>
          </a:ln>
        </c:spPr>
        <c:txPr>
          <a:bodyPr/>
          <a:lstStyle/>
          <a:p>
            <a:pPr>
              <a:defRPr sz="855" b="1">
                <a:solidFill>
                  <a:srgbClr val="333231"/>
                </a:solidFill>
              </a:defRPr>
            </a:pPr>
            <a:endParaRPr lang="en-US"/>
          </a:p>
        </c:txPr>
        <c:crossAx val="10000140"/>
        <c:crosses val="autoZero"/>
        <c:auto val="1"/>
        <c:lblAlgn val="ctr"/>
        <c:lblOffset val="100"/>
        <c:noMultiLvlLbl val="0"/>
      </c:catAx>
      <c:valAx>
        <c:axId val="10000140"/>
        <c:scaling>
          <c:orientation val="minMax"/>
          <c:max val="41.290900000000001"/>
          <c:min val="0"/>
        </c:scaling>
        <c:delete val="1"/>
        <c:axPos val="t"/>
        <c:numFmt formatCode="General" sourceLinked="1"/>
        <c:majorTickMark val="out"/>
        <c:minorTickMark val="none"/>
        <c:tickLblPos val="nextTo"/>
        <c:crossAx val="10000141"/>
        <c:crosses val="autoZero"/>
        <c:crossBetween val="between"/>
      </c:valAx>
      <c:spPr>
        <a:noFill/>
        <a:ln>
          <a:noFill/>
        </a:ln>
      </c:spPr>
    </c:plotArea>
    <c:plotVisOnly val="1"/>
    <c:dispBlanksAs val="gap"/>
    <c:showDLblsOverMax val="1"/>
  </c:chart>
  <c:spPr>
    <a:noFill/>
    <a:ln>
      <a:noFill/>
    </a:ln>
  </c:spPr>
  <c:txPr>
    <a:bodyPr/>
    <a:lstStyle/>
    <a:p>
      <a:pPr>
        <a:defRPr sz="855">
          <a:solidFill>
            <a:srgbClr val="333231"/>
          </a:solidFill>
          <a:latin typeface="Quicksand"/>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bubble3D val="0"/>
          </c:dPt>
          <c:dLbls>
            <c:dLbl>
              <c:idx val="59"/>
              <c:tx>
                <c:rich>
                  <a:bodyPr/>
                  <a:lstStyle/>
                  <a:p>
                    <a:r>
                      <a:rPr lang="en-US" sz="855" b="1">
                        <a:solidFill>
                          <a:srgbClr val="1B1A1A"/>
                        </a:solidFill>
                        <a:latin typeface="Quicksand"/>
                      </a:rPr>
                      <a:t>138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mmm\ yyyy</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134.16999999999999</c:v>
                </c:pt>
                <c:pt idx="58">
                  <c:v>133.26</c:v>
                </c:pt>
                <c:pt idx="59">
                  <c:v>137.66999999999999</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40"/>
          <c:min val="1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10"/>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bubble3D val="0"/>
          </c:dPt>
          <c:dLbls>
            <c:dLbl>
              <c:idx val="58"/>
              <c:tx>
                <c:rich>
                  <a:bodyPr/>
                  <a:lstStyle/>
                  <a:p>
                    <a:r>
                      <a:rPr lang="en-US" sz="855" b="1">
                        <a:solidFill>
                          <a:srgbClr val="1B1A1A"/>
                        </a:solidFill>
                        <a:latin typeface="Quicksand"/>
                      </a:rPr>
                      <a:t>145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Sheet1!$A$2:$A$60</c:f>
              <c:numCache>
                <c:formatCode>mmm\ yyyy</c:formatCode>
                <c:ptCount val="59"/>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numCache>
            </c:num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139.27000000000001</c:v>
                </c:pt>
                <c:pt idx="53">
                  <c:v>138.88999999999999</c:v>
                </c:pt>
                <c:pt idx="54">
                  <c:v>134.36000000000001</c:v>
                </c:pt>
                <c:pt idx="55">
                  <c:v>138.24</c:v>
                </c:pt>
                <c:pt idx="56">
                  <c:v>144.91</c:v>
                </c:pt>
                <c:pt idx="57">
                  <c:v>145.33000000000001</c:v>
                </c:pt>
                <c:pt idx="58">
                  <c:v>145.24</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60"/>
          <c:min val="8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20"/>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bubble3D val="0"/>
          </c:dPt>
          <c:dLbls>
            <c:dLbl>
              <c:idx val="59"/>
              <c:tx>
                <c:rich>
                  <a:bodyPr/>
                  <a:lstStyle/>
                  <a:p>
                    <a:r>
                      <a:rPr lang="en-US" sz="855" b="1">
                        <a:solidFill>
                          <a:srgbClr val="1B1A1A"/>
                        </a:solidFill>
                        <a:latin typeface="Quicksand"/>
                      </a:rPr>
                      <a:t>173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mmm\ yyyy</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132.66999999999999</c:v>
                </c:pt>
                <c:pt idx="42">
                  <c:v>132.74</c:v>
                </c:pt>
                <c:pt idx="43">
                  <c:v>140.76</c:v>
                </c:pt>
                <c:pt idx="44">
                  <c:v>132.62</c:v>
                </c:pt>
                <c:pt idx="45">
                  <c:v>129.80000000000001</c:v>
                </c:pt>
                <c:pt idx="46">
                  <c:v>131.21</c:v>
                </c:pt>
                <c:pt idx="47">
                  <c:v>133.32</c:v>
                </c:pt>
                <c:pt idx="48">
                  <c:v>134.71</c:v>
                </c:pt>
                <c:pt idx="49">
                  <c:v>140.54</c:v>
                </c:pt>
                <c:pt idx="50">
                  <c:v>136.16</c:v>
                </c:pt>
                <c:pt idx="51">
                  <c:v>138.18</c:v>
                </c:pt>
                <c:pt idx="52">
                  <c:v>136.69</c:v>
                </c:pt>
                <c:pt idx="53">
                  <c:v>137.80000000000001</c:v>
                </c:pt>
                <c:pt idx="54">
                  <c:v>138.30000000000001</c:v>
                </c:pt>
                <c:pt idx="55">
                  <c:v>143.54</c:v>
                </c:pt>
                <c:pt idx="56">
                  <c:v>148.62</c:v>
                </c:pt>
                <c:pt idx="57">
                  <c:v>157.37</c:v>
                </c:pt>
                <c:pt idx="58">
                  <c:v>165.45</c:v>
                </c:pt>
                <c:pt idx="59">
                  <c:v>173.09</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80"/>
          <c:min val="8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20"/>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bubble3D val="0"/>
          </c:dPt>
          <c:dLbls>
            <c:dLbl>
              <c:idx val="60"/>
              <c:tx>
                <c:rich>
                  <a:bodyPr/>
                  <a:lstStyle/>
                  <a:p>
                    <a:r>
                      <a:rPr lang="en-US" sz="855" b="1">
                        <a:solidFill>
                          <a:srgbClr val="1B1A1A"/>
                        </a:solidFill>
                        <a:latin typeface="Quicksand"/>
                      </a:rPr>
                      <a:t>100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10"/>
          <c:min val="1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5"/>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Producer Price Index by Indust</c:v>
                </c:pt>
              </c:strCache>
            </c:strRef>
          </c:tx>
          <c:spPr>
            <a:ln w="22225">
              <a:solidFill>
                <a:srgbClr val="A0754A"/>
              </a:solidFill>
            </a:ln>
          </c:spPr>
          <c:marker>
            <c:symbol val="none"/>
          </c:marker>
          <c:dPt>
            <c:idx val="60"/>
            <c:marker>
              <c:symbol val="circle"/>
              <c:size val="6"/>
              <c:spPr>
                <a:solidFill>
                  <a:srgbClr val="A0754A"/>
                </a:solidFill>
              </c:spPr>
            </c:marker>
            <c:bubble3D val="0"/>
          </c:dPt>
          <c:dLbls>
            <c:dLbl>
              <c:idx val="60"/>
              <c:tx>
                <c:rich>
                  <a:bodyPr/>
                  <a:lstStyle/>
                  <a:p>
                    <a:r>
                      <a:rPr lang="en-US" sz="865" b="1">
                        <a:solidFill>
                          <a:srgbClr val="1B1A1A"/>
                        </a:solidFill>
                        <a:latin typeface="Quicksand"/>
                      </a:rPr>
                      <a:t>111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100</c:v>
                </c:pt>
                <c:pt idx="1">
                  <c:v>100.18</c:v>
                </c:pt>
                <c:pt idx="2">
                  <c:v>100.17</c:v>
                </c:pt>
                <c:pt idx="3">
                  <c:v>100.15</c:v>
                </c:pt>
                <c:pt idx="4">
                  <c:v>99.87</c:v>
                </c:pt>
                <c:pt idx="5">
                  <c:v>99.96</c:v>
                </c:pt>
                <c:pt idx="6">
                  <c:v>99.41</c:v>
                </c:pt>
                <c:pt idx="7">
                  <c:v>101.66</c:v>
                </c:pt>
                <c:pt idx="8">
                  <c:v>101.74</c:v>
                </c:pt>
                <c:pt idx="9">
                  <c:v>101.43</c:v>
                </c:pt>
                <c:pt idx="10">
                  <c:v>101.39</c:v>
                </c:pt>
                <c:pt idx="11">
                  <c:v>101.32</c:v>
                </c:pt>
                <c:pt idx="12">
                  <c:v>101.21</c:v>
                </c:pt>
                <c:pt idx="13">
                  <c:v>101.3</c:v>
                </c:pt>
                <c:pt idx="14">
                  <c:v>101.31</c:v>
                </c:pt>
                <c:pt idx="15">
                  <c:v>101.62</c:v>
                </c:pt>
                <c:pt idx="16">
                  <c:v>101.75</c:v>
                </c:pt>
                <c:pt idx="17">
                  <c:v>102.04</c:v>
                </c:pt>
                <c:pt idx="18">
                  <c:v>102.25</c:v>
                </c:pt>
                <c:pt idx="19">
                  <c:v>102.21</c:v>
                </c:pt>
                <c:pt idx="20">
                  <c:v>102.29</c:v>
                </c:pt>
                <c:pt idx="21">
                  <c:v>102.51</c:v>
                </c:pt>
                <c:pt idx="22">
                  <c:v>102.76</c:v>
                </c:pt>
                <c:pt idx="23">
                  <c:v>102.86</c:v>
                </c:pt>
                <c:pt idx="24">
                  <c:v>102.71</c:v>
                </c:pt>
                <c:pt idx="25">
                  <c:v>102.9</c:v>
                </c:pt>
                <c:pt idx="26">
                  <c:v>103.1</c:v>
                </c:pt>
                <c:pt idx="27">
                  <c:v>103.34</c:v>
                </c:pt>
                <c:pt idx="28">
                  <c:v>103.67</c:v>
                </c:pt>
                <c:pt idx="29">
                  <c:v>103.77</c:v>
                </c:pt>
                <c:pt idx="30">
                  <c:v>103.53</c:v>
                </c:pt>
                <c:pt idx="31">
                  <c:v>103.89</c:v>
                </c:pt>
                <c:pt idx="32">
                  <c:v>104.26</c:v>
                </c:pt>
                <c:pt idx="33">
                  <c:v>103.88</c:v>
                </c:pt>
                <c:pt idx="34">
                  <c:v>104.07</c:v>
                </c:pt>
                <c:pt idx="35">
                  <c:v>103.98</c:v>
                </c:pt>
                <c:pt idx="36">
                  <c:v>103.86</c:v>
                </c:pt>
                <c:pt idx="37">
                  <c:v>103.87</c:v>
                </c:pt>
                <c:pt idx="38">
                  <c:v>103.66</c:v>
                </c:pt>
                <c:pt idx="39">
                  <c:v>103.62</c:v>
                </c:pt>
                <c:pt idx="40">
                  <c:v>104.89</c:v>
                </c:pt>
                <c:pt idx="41">
                  <c:v>106.11</c:v>
                </c:pt>
                <c:pt idx="42">
                  <c:v>105.82</c:v>
                </c:pt>
                <c:pt idx="43">
                  <c:v>106.01</c:v>
                </c:pt>
                <c:pt idx="44">
                  <c:v>107.82</c:v>
                </c:pt>
                <c:pt idx="45">
                  <c:v>107.37</c:v>
                </c:pt>
                <c:pt idx="46">
                  <c:v>110.05</c:v>
                </c:pt>
                <c:pt idx="47">
                  <c:v>108.45</c:v>
                </c:pt>
                <c:pt idx="48">
                  <c:v>107.61</c:v>
                </c:pt>
                <c:pt idx="49">
                  <c:v>108.06</c:v>
                </c:pt>
                <c:pt idx="50">
                  <c:v>106.97</c:v>
                </c:pt>
                <c:pt idx="51">
                  <c:v>107.35</c:v>
                </c:pt>
                <c:pt idx="52">
                  <c:v>107.49</c:v>
                </c:pt>
                <c:pt idx="53">
                  <c:v>107.37</c:v>
                </c:pt>
                <c:pt idx="54">
                  <c:v>106.82</c:v>
                </c:pt>
                <c:pt idx="55">
                  <c:v>106.53</c:v>
                </c:pt>
                <c:pt idx="56">
                  <c:v>107.17</c:v>
                </c:pt>
                <c:pt idx="57">
                  <c:v>107.69</c:v>
                </c:pt>
                <c:pt idx="58">
                  <c:v>108.83</c:v>
                </c:pt>
                <c:pt idx="59">
                  <c:v>110.22</c:v>
                </c:pt>
                <c:pt idx="60">
                  <c:v>110.64</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115"/>
          <c:min val="95"/>
        </c:scaling>
        <c:delete val="0"/>
        <c:axPos val="l"/>
        <c:majorGridlines>
          <c:spPr>
            <a:ln w="6350">
              <a:solidFill>
                <a:srgbClr val="E3DCD3"/>
              </a:solidFill>
            </a:ln>
          </c:spPr>
        </c:majorGridlines>
        <c:numFmt formatCode="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5"/>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Manufacturers' New Orders: Com</c:v>
                </c:pt>
              </c:strCache>
            </c:strRef>
          </c:tx>
          <c:spPr>
            <a:ln w="22225">
              <a:solidFill>
                <a:srgbClr val="A0754A"/>
              </a:solidFill>
            </a:ln>
          </c:spPr>
          <c:marker>
            <c:symbol val="none"/>
          </c:marker>
          <c:dPt>
            <c:idx val="59"/>
            <c:marker>
              <c:symbol val="circle"/>
              <c:size val="6"/>
              <c:spPr>
                <a:solidFill>
                  <a:srgbClr val="A0754A"/>
                </a:solidFill>
              </c:spPr>
            </c:marker>
            <c:bubble3D val="0"/>
          </c:dPt>
          <c:dLbls>
            <c:dLbl>
              <c:idx val="59"/>
              <c:tx>
                <c:rich>
                  <a:bodyPr/>
                  <a:lstStyle/>
                  <a:p>
                    <a:r>
                      <a:rPr lang="en-US" sz="865" b="1">
                        <a:solidFill>
                          <a:srgbClr val="1B1A1A"/>
                        </a:solidFill>
                        <a:latin typeface="Quicksand"/>
                      </a:rPr>
                      <a:t>132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mmm\ yyyy</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100</c:v>
                </c:pt>
                <c:pt idx="1">
                  <c:v>99.28</c:v>
                </c:pt>
                <c:pt idx="2">
                  <c:v>104.01</c:v>
                </c:pt>
                <c:pt idx="3">
                  <c:v>102.45</c:v>
                </c:pt>
                <c:pt idx="4">
                  <c:v>106.51</c:v>
                </c:pt>
                <c:pt idx="5">
                  <c:v>105.99</c:v>
                </c:pt>
                <c:pt idx="6">
                  <c:v>106.15</c:v>
                </c:pt>
                <c:pt idx="7">
                  <c:v>106.77</c:v>
                </c:pt>
                <c:pt idx="8">
                  <c:v>107.3</c:v>
                </c:pt>
                <c:pt idx="9">
                  <c:v>106.82</c:v>
                </c:pt>
                <c:pt idx="10">
                  <c:v>108.73</c:v>
                </c:pt>
                <c:pt idx="11">
                  <c:v>108.64</c:v>
                </c:pt>
                <c:pt idx="12">
                  <c:v>107.04</c:v>
                </c:pt>
                <c:pt idx="13">
                  <c:v>105.23</c:v>
                </c:pt>
                <c:pt idx="14">
                  <c:v>105.89</c:v>
                </c:pt>
                <c:pt idx="15">
                  <c:v>104.96</c:v>
                </c:pt>
                <c:pt idx="16">
                  <c:v>102.47</c:v>
                </c:pt>
                <c:pt idx="17">
                  <c:v>103.54</c:v>
                </c:pt>
                <c:pt idx="18">
                  <c:v>105.07</c:v>
                </c:pt>
                <c:pt idx="19">
                  <c:v>103.99</c:v>
                </c:pt>
                <c:pt idx="20">
                  <c:v>103.93</c:v>
                </c:pt>
                <c:pt idx="21">
                  <c:v>105.18</c:v>
                </c:pt>
                <c:pt idx="22">
                  <c:v>105.77</c:v>
                </c:pt>
                <c:pt idx="23">
                  <c:v>106.5</c:v>
                </c:pt>
                <c:pt idx="24">
                  <c:v>107.35</c:v>
                </c:pt>
                <c:pt idx="25">
                  <c:v>108.07</c:v>
                </c:pt>
                <c:pt idx="26">
                  <c:v>108.52</c:v>
                </c:pt>
                <c:pt idx="27">
                  <c:v>107.04</c:v>
                </c:pt>
                <c:pt idx="28">
                  <c:v>108.97</c:v>
                </c:pt>
                <c:pt idx="29">
                  <c:v>107.82</c:v>
                </c:pt>
                <c:pt idx="30">
                  <c:v>107.16</c:v>
                </c:pt>
                <c:pt idx="31">
                  <c:v>107.77</c:v>
                </c:pt>
                <c:pt idx="32">
                  <c:v>107.87</c:v>
                </c:pt>
                <c:pt idx="33">
                  <c:v>107.8</c:v>
                </c:pt>
                <c:pt idx="34">
                  <c:v>109.07</c:v>
                </c:pt>
                <c:pt idx="35">
                  <c:v>109.19</c:v>
                </c:pt>
                <c:pt idx="36">
                  <c:v>109.94</c:v>
                </c:pt>
                <c:pt idx="37">
                  <c:v>109.78</c:v>
                </c:pt>
                <c:pt idx="38">
                  <c:v>109.07</c:v>
                </c:pt>
                <c:pt idx="39">
                  <c:v>110.76</c:v>
                </c:pt>
                <c:pt idx="40">
                  <c:v>111.58</c:v>
                </c:pt>
                <c:pt idx="41">
                  <c:v>111.79</c:v>
                </c:pt>
                <c:pt idx="42">
                  <c:v>109.85</c:v>
                </c:pt>
                <c:pt idx="43">
                  <c:v>110.38</c:v>
                </c:pt>
                <c:pt idx="44">
                  <c:v>112.68</c:v>
                </c:pt>
                <c:pt idx="45">
                  <c:v>113.72</c:v>
                </c:pt>
                <c:pt idx="46">
                  <c:v>114.34</c:v>
                </c:pt>
                <c:pt idx="47">
                  <c:v>113.06</c:v>
                </c:pt>
                <c:pt idx="48">
                  <c:v>114.42</c:v>
                </c:pt>
                <c:pt idx="49">
                  <c:v>114.67</c:v>
                </c:pt>
                <c:pt idx="50">
                  <c:v>115.32</c:v>
                </c:pt>
                <c:pt idx="51">
                  <c:v>119.29</c:v>
                </c:pt>
                <c:pt idx="52">
                  <c:v>120.22</c:v>
                </c:pt>
                <c:pt idx="53">
                  <c:v>121.91</c:v>
                </c:pt>
                <c:pt idx="54">
                  <c:v>127.75</c:v>
                </c:pt>
                <c:pt idx="55">
                  <c:v>127.26</c:v>
                </c:pt>
                <c:pt idx="56">
                  <c:v>128.63</c:v>
                </c:pt>
                <c:pt idx="57">
                  <c:v>132.63999999999999</c:v>
                </c:pt>
                <c:pt idx="58">
                  <c:v>131.79</c:v>
                </c:pt>
                <c:pt idx="59">
                  <c:v>131.77000000000001</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140"/>
          <c:min val="90"/>
        </c:scaling>
        <c:delete val="0"/>
        <c:axPos val="l"/>
        <c:majorGridlines>
          <c:spPr>
            <a:ln w="6350">
              <a:solidFill>
                <a:srgbClr val="E3DCD3"/>
              </a:solidFill>
            </a:ln>
          </c:spPr>
        </c:majorGridlines>
        <c:numFmt formatCode="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10"/>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Industrial Production: Manufac</c:v>
                </c:pt>
              </c:strCache>
            </c:strRef>
          </c:tx>
          <c:spPr>
            <a:ln w="22225">
              <a:solidFill>
                <a:srgbClr val="A0754A"/>
              </a:solidFill>
            </a:ln>
          </c:spPr>
          <c:marker>
            <c:symbol val="none"/>
          </c:marker>
          <c:dPt>
            <c:idx val="60"/>
            <c:marker>
              <c:symbol val="circle"/>
              <c:size val="6"/>
              <c:spPr>
                <a:solidFill>
                  <a:srgbClr val="A0754A"/>
                </a:solidFill>
              </c:spPr>
            </c:marker>
            <c:bubble3D val="0"/>
          </c:dPt>
          <c:dLbls>
            <c:dLbl>
              <c:idx val="60"/>
              <c:tx>
                <c:rich>
                  <a:bodyPr/>
                  <a:lstStyle/>
                  <a:p>
                    <a:r>
                      <a:rPr lang="en-US" sz="865" b="1">
                        <a:solidFill>
                          <a:srgbClr val="1B1A1A"/>
                        </a:solidFill>
                        <a:latin typeface="Quicksand"/>
                      </a:rPr>
                      <a:t>168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100</c:v>
                </c:pt>
                <c:pt idx="1">
                  <c:v>101.55</c:v>
                </c:pt>
                <c:pt idx="2">
                  <c:v>103.65</c:v>
                </c:pt>
                <c:pt idx="3">
                  <c:v>105.59</c:v>
                </c:pt>
                <c:pt idx="4">
                  <c:v>106.49</c:v>
                </c:pt>
                <c:pt idx="5">
                  <c:v>109.18</c:v>
                </c:pt>
                <c:pt idx="6">
                  <c:v>109.69</c:v>
                </c:pt>
                <c:pt idx="7">
                  <c:v>108.32</c:v>
                </c:pt>
                <c:pt idx="8">
                  <c:v>109.03</c:v>
                </c:pt>
                <c:pt idx="9">
                  <c:v>111.13</c:v>
                </c:pt>
                <c:pt idx="10">
                  <c:v>111.51</c:v>
                </c:pt>
                <c:pt idx="11">
                  <c:v>112.47</c:v>
                </c:pt>
                <c:pt idx="12">
                  <c:v>113.5</c:v>
                </c:pt>
                <c:pt idx="13">
                  <c:v>112.54</c:v>
                </c:pt>
                <c:pt idx="14">
                  <c:v>112.99</c:v>
                </c:pt>
                <c:pt idx="15">
                  <c:v>110.79</c:v>
                </c:pt>
                <c:pt idx="16">
                  <c:v>110.1</c:v>
                </c:pt>
                <c:pt idx="17">
                  <c:v>113.06</c:v>
                </c:pt>
                <c:pt idx="18">
                  <c:v>113.06</c:v>
                </c:pt>
                <c:pt idx="19">
                  <c:v>115.01</c:v>
                </c:pt>
                <c:pt idx="20">
                  <c:v>115.2</c:v>
                </c:pt>
                <c:pt idx="21">
                  <c:v>114.67</c:v>
                </c:pt>
                <c:pt idx="22">
                  <c:v>115.73</c:v>
                </c:pt>
                <c:pt idx="23">
                  <c:v>114.83</c:v>
                </c:pt>
                <c:pt idx="24">
                  <c:v>113.81</c:v>
                </c:pt>
                <c:pt idx="25">
                  <c:v>115.49</c:v>
                </c:pt>
                <c:pt idx="26">
                  <c:v>116.69</c:v>
                </c:pt>
                <c:pt idx="27">
                  <c:v>117.63</c:v>
                </c:pt>
                <c:pt idx="28">
                  <c:v>118.04</c:v>
                </c:pt>
                <c:pt idx="29">
                  <c:v>117.03</c:v>
                </c:pt>
                <c:pt idx="30">
                  <c:v>117.14</c:v>
                </c:pt>
                <c:pt idx="31">
                  <c:v>121.81</c:v>
                </c:pt>
                <c:pt idx="32">
                  <c:v>122.16</c:v>
                </c:pt>
                <c:pt idx="33">
                  <c:v>121.43</c:v>
                </c:pt>
                <c:pt idx="34">
                  <c:v>121.42</c:v>
                </c:pt>
                <c:pt idx="35">
                  <c:v>125.98</c:v>
                </c:pt>
                <c:pt idx="36">
                  <c:v>123.97</c:v>
                </c:pt>
                <c:pt idx="37">
                  <c:v>125.91</c:v>
                </c:pt>
                <c:pt idx="38">
                  <c:v>125.48</c:v>
                </c:pt>
                <c:pt idx="39">
                  <c:v>127.19</c:v>
                </c:pt>
                <c:pt idx="40">
                  <c:v>133.84</c:v>
                </c:pt>
                <c:pt idx="41">
                  <c:v>135.19999999999999</c:v>
                </c:pt>
                <c:pt idx="42">
                  <c:v>134.81</c:v>
                </c:pt>
                <c:pt idx="43">
                  <c:v>137.35</c:v>
                </c:pt>
                <c:pt idx="44">
                  <c:v>139.15</c:v>
                </c:pt>
                <c:pt idx="45">
                  <c:v>138.15</c:v>
                </c:pt>
                <c:pt idx="46">
                  <c:v>145.25</c:v>
                </c:pt>
                <c:pt idx="47">
                  <c:v>143.25</c:v>
                </c:pt>
                <c:pt idx="48">
                  <c:v>140.27000000000001</c:v>
                </c:pt>
                <c:pt idx="49">
                  <c:v>143.19</c:v>
                </c:pt>
                <c:pt idx="50">
                  <c:v>143.72</c:v>
                </c:pt>
                <c:pt idx="51">
                  <c:v>144.38999999999999</c:v>
                </c:pt>
                <c:pt idx="52">
                  <c:v>149.62</c:v>
                </c:pt>
                <c:pt idx="53">
                  <c:v>149.16999999999999</c:v>
                </c:pt>
                <c:pt idx="54">
                  <c:v>147.06</c:v>
                </c:pt>
                <c:pt idx="55">
                  <c:v>149.84</c:v>
                </c:pt>
                <c:pt idx="56">
                  <c:v>156.38</c:v>
                </c:pt>
                <c:pt idx="57">
                  <c:v>159.4</c:v>
                </c:pt>
                <c:pt idx="58">
                  <c:v>162.74</c:v>
                </c:pt>
                <c:pt idx="59">
                  <c:v>164.7</c:v>
                </c:pt>
                <c:pt idx="60">
                  <c:v>168.18</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180"/>
          <c:min val="100"/>
        </c:scaling>
        <c:delete val="0"/>
        <c:axPos val="l"/>
        <c:majorGridlines>
          <c:spPr>
            <a:ln w="6350">
              <a:solidFill>
                <a:srgbClr val="E3DCD3"/>
              </a:solidFill>
            </a:ln>
          </c:spPr>
        </c:majorGridlines>
        <c:numFmt formatCode="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20"/>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Market Yield on U.S. Treasury </c:v>
                </c:pt>
              </c:strCache>
            </c:strRef>
          </c:tx>
          <c:spPr>
            <a:ln w="22225">
              <a:solidFill>
                <a:srgbClr val="A0754A"/>
              </a:solidFill>
            </a:ln>
          </c:spPr>
          <c:marker>
            <c:symbol val="none"/>
          </c:marker>
          <c:dPt>
            <c:idx val="60"/>
            <c:marker>
              <c:symbol val="circle"/>
              <c:size val="6"/>
              <c:spPr>
                <a:solidFill>
                  <a:srgbClr val="A0754A"/>
                </a:solidFill>
              </c:spPr>
            </c:marker>
            <c:bubble3D val="0"/>
          </c:dPt>
          <c:dLbls>
            <c:dLbl>
              <c:idx val="60"/>
              <c:tx>
                <c:rich>
                  <a:bodyPr/>
                  <a:lstStyle/>
                  <a:p>
                    <a:r>
                      <a:rPr lang="en-US" sz="865" b="1">
                        <a:solidFill>
                          <a:srgbClr val="1B1A1A"/>
                        </a:solidFill>
                        <a:latin typeface="Quicksand"/>
                      </a:rPr>
                      <a:t>4.99%</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4.0199999999999996</c:v>
                </c:pt>
                <c:pt idx="28">
                  <c:v>4.0599999999999996</c:v>
                </c:pt>
                <c:pt idx="29">
                  <c:v>4.21</c:v>
                </c:pt>
                <c:pt idx="30">
                  <c:v>4.21</c:v>
                </c:pt>
                <c:pt idx="31">
                  <c:v>4.54</c:v>
                </c:pt>
                <c:pt idx="32">
                  <c:v>4.4800000000000004</c:v>
                </c:pt>
                <c:pt idx="33">
                  <c:v>4.3099999999999996</c:v>
                </c:pt>
                <c:pt idx="34">
                  <c:v>4.25</c:v>
                </c:pt>
                <c:pt idx="35">
                  <c:v>3.87</c:v>
                </c:pt>
                <c:pt idx="36">
                  <c:v>3.72</c:v>
                </c:pt>
                <c:pt idx="37">
                  <c:v>4.0999999999999996</c:v>
                </c:pt>
                <c:pt idx="38">
                  <c:v>4.3600000000000003</c:v>
                </c:pt>
                <c:pt idx="39">
                  <c:v>4.3899999999999997</c:v>
                </c:pt>
                <c:pt idx="40">
                  <c:v>4.63</c:v>
                </c:pt>
                <c:pt idx="41">
                  <c:v>4.45</c:v>
                </c:pt>
                <c:pt idx="42">
                  <c:v>4.28</c:v>
                </c:pt>
                <c:pt idx="43">
                  <c:v>4.28</c:v>
                </c:pt>
                <c:pt idx="44">
                  <c:v>4.42</c:v>
                </c:pt>
                <c:pt idx="45">
                  <c:v>4.38</c:v>
                </c:pt>
                <c:pt idx="46">
                  <c:v>4.3899999999999997</c:v>
                </c:pt>
                <c:pt idx="47">
                  <c:v>4.26</c:v>
                </c:pt>
                <c:pt idx="48">
                  <c:v>4.12</c:v>
                </c:pt>
                <c:pt idx="49">
                  <c:v>4.0599999999999996</c:v>
                </c:pt>
                <c:pt idx="50">
                  <c:v>4.09</c:v>
                </c:pt>
                <c:pt idx="51">
                  <c:v>4.1399999999999997</c:v>
                </c:pt>
                <c:pt idx="52">
                  <c:v>4.21</c:v>
                </c:pt>
                <c:pt idx="53">
                  <c:v>4.13</c:v>
                </c:pt>
                <c:pt idx="54">
                  <c:v>4.25</c:v>
                </c:pt>
                <c:pt idx="55">
                  <c:v>4.32</c:v>
                </c:pt>
                <c:pt idx="56">
                  <c:v>4.4800000000000004</c:v>
                </c:pt>
                <c:pt idx="57">
                  <c:v>4.47</c:v>
                </c:pt>
                <c:pt idx="58">
                  <c:v>4.5999999999999996</c:v>
                </c:pt>
                <c:pt idx="59">
                  <c:v>4.68</c:v>
                </c:pt>
                <c:pt idx="60">
                  <c:v>4.99</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5"/>
          <c:min val="1"/>
        </c:scaling>
        <c:delete val="0"/>
        <c:axPos val="l"/>
        <c:majorGridlines>
          <c:spPr>
            <a:ln w="6350">
              <a:solidFill>
                <a:srgbClr val="E3DCD3"/>
              </a:solidFill>
            </a:ln>
          </c:spPr>
        </c:majorGridlines>
        <c:numFmt formatCode="0.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1"/>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8.jpg"/><Relationship Id="rId8" Type="http://schemas.openxmlformats.org/officeDocument/2006/relationships/image" Target="../media/image9.jpg"/><Relationship Id="rId9" Type="http://schemas.openxmlformats.org/officeDocument/2006/relationships/image" Target="../media/image10.jpg"/><Relationship Id="rId10" Type="http://schemas.openxmlformats.org/officeDocument/2006/relationships/image" Target="../media/image11.jpg"/><Relationship Id="rId11" Type="http://schemas.openxmlformats.org/officeDocument/2006/relationships/image" Target="../media/image12.jpg"/><Relationship Id="rId12" Type="http://schemas.openxmlformats.org/officeDocument/2006/relationships/image" Target="../media/image13.jpg"/><Relationship Id="rId13" Type="http://schemas.openxmlformats.org/officeDocument/2006/relationships/image" Target="../media/image14.jpg"/><Relationship Id="rId14" Type="http://schemas.openxmlformats.org/officeDocument/2006/relationships/image" Target="../media/image15.jpg"/><Relationship Id="rId15" Type="http://schemas.openxmlformats.org/officeDocument/2006/relationships/hyperlink" Target="tel:8137716675" TargetMode="External"/><Relationship Id="rId16" Type="http://schemas.openxmlformats.org/officeDocument/2006/relationships/hyperlink" Target="mailto:jhoutz@benchmarkintl.com" TargetMode="External"/><Relationship Id="rId17" Type="http://schemas.openxmlformats.org/officeDocument/2006/relationships/hyperlink" Target="tel:8138982372" TargetMode="External"/><Relationship Id="rId18" Type="http://schemas.openxmlformats.org/officeDocument/2006/relationships/hyperlink" Target="mailto:azykov@benchmarkintl.com" TargetMode="External"/><Relationship Id="rId19" Type="http://schemas.openxmlformats.org/officeDocument/2006/relationships/hyperlink" Target="tel:8138982397" TargetMode="External"/><Relationship Id="rId20" Type="http://schemas.openxmlformats.org/officeDocument/2006/relationships/hyperlink" Target="mailto:hess@benchmarkintl.com" TargetMode="External"/><Relationship Id="rId21" Type="http://schemas.openxmlformats.org/officeDocument/2006/relationships/image" Target="../media/image16.png"/><Relationship Id="rId22" Type="http://schemas.openxmlformats.org/officeDocument/2006/relationships/image" Target="../media/image17.png"/><Relationship Id="rId23" Type="http://schemas.openxmlformats.org/officeDocument/2006/relationships/image" Target="../media/image18.png"/><Relationship Id="rId24" Type="http://schemas.openxmlformats.org/officeDocument/2006/relationships/image" Target="../media/image19.png"/><Relationship Id="rId25" Type="http://schemas.openxmlformats.org/officeDocument/2006/relationships/image" Target="../media/image20.png"/><Relationship Id="rId26" Type="http://schemas.openxmlformats.org/officeDocument/2006/relationships/image" Target="../media/image21.png"/><Relationship Id="rId2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26.png"/><Relationship Id="rId6" Type="http://schemas.openxmlformats.org/officeDocument/2006/relationships/hyperlink" Target="https://omdia.tech.informa.com/om145542/global-msp-ma-1q26" TargetMode="External"/><Relationship Id="rId7" Type="http://schemas.openxmlformats.org/officeDocument/2006/relationships/image" Target="../media/image27.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28.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29.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30.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ibba.org/resource-center/market-pulse-reports/" TargetMode="External"/><Relationship Id="rId2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americanbar.org/groups/public_contract_law/resources/procurement-lawyer/2026-fall/ieepa-tariffs-struck-down-replacement-tariffs-expired/" TargetMode="External"/><Relationship Id="rId3" Type="http://schemas.openxmlformats.org/officeDocument/2006/relationships/hyperlink" Target="https://www.troutman.com/insights/getting-duties-back-where-recovery-stands-under-ieepa-section-122-and-section-301-forced-labor-tariffs/" TargetMode="External"/><Relationship Id="rId4" Type="http://schemas.openxmlformats.org/officeDocument/2006/relationships/hyperlink" Target="https://www.whitecase.com/insight-alert/president-trump-orders-narrowly-targeted-25-section-232-tariff-certain-advanced" TargetMode="External"/><Relationship Id="rId5" Type="http://schemas.openxmlformats.org/officeDocument/2006/relationships/hyperlink" Target="https://www.credaily.com/briefs/data-center-construction-costs-jump-21-since-2024/?.tsrc=rss" TargetMode="External"/><Relationship Id="rId6" Type="http://schemas.openxmlformats.org/officeDocument/2006/relationships/hyperlink" Target="https://www.centralbanking.com/central-banks/monetary-policy/7976918/federal-reserve-delivers-first-rate-hike-since-2023"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fasken.com/en/knowledge/2026/05/private-ma-deal-trends-to-watch-key-takeaways-from-srs-acquioms-2026-study" TargetMode="External"/><Relationship Id="rId9" Type="http://schemas.openxmlformats.org/officeDocument/2006/relationships/image" Target="../media/image31.jpg"/><Relationship Id="rId10"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image" Target="../media/image41.png"/><Relationship Id="rId12" Type="http://schemas.openxmlformats.org/officeDocument/2006/relationships/image" Target="../media/image42.png"/><Relationship Id="rId13" Type="http://schemas.openxmlformats.org/officeDocument/2006/relationships/image" Target="../media/image43.png"/><Relationship Id="rId14" Type="http://schemas.openxmlformats.org/officeDocument/2006/relationships/image" Target="../media/image44.png"/><Relationship Id="rId15" Type="http://schemas.openxmlformats.org/officeDocument/2006/relationships/image" Target="../media/image45.png"/><Relationship Id="rId16" Type="http://schemas.openxmlformats.org/officeDocument/2006/relationships/image" Target="../media/image46.png"/><Relationship Id="rId17" Type="http://schemas.openxmlformats.org/officeDocument/2006/relationships/image" Target="../media/image47.png"/><Relationship Id="rId18" Type="http://schemas.openxmlformats.org/officeDocument/2006/relationships/image" Target="../media/image48.png"/><Relationship Id="rId19" Type="http://schemas.openxmlformats.org/officeDocument/2006/relationships/image" Target="../media/image49.png"/><Relationship Id="rId20" Type="http://schemas.openxmlformats.org/officeDocument/2006/relationships/image" Target="../media/image50.png"/><Relationship Id="rId21" Type="http://schemas.openxmlformats.org/officeDocument/2006/relationships/image" Target="../media/image51.png"/><Relationship Id="rId22" Type="http://schemas.openxmlformats.org/officeDocument/2006/relationships/image" Target="../media/image52.png"/><Relationship Id="rId23" Type="http://schemas.openxmlformats.org/officeDocument/2006/relationships/image" Target="../media/image53.png"/><Relationship Id="rId24" Type="http://schemas.openxmlformats.org/officeDocument/2006/relationships/image" Target="../media/image54.png"/><Relationship Id="rId25" Type="http://schemas.openxmlformats.org/officeDocument/2006/relationships/image" Target="../media/image55.png"/><Relationship Id="rId26" Type="http://schemas.openxmlformats.org/officeDocument/2006/relationships/image" Target="../media/image56.png"/><Relationship Id="rId27" Type="http://schemas.openxmlformats.org/officeDocument/2006/relationships/image" Target="../media/image57.png"/><Relationship Id="rId28" Type="http://schemas.openxmlformats.org/officeDocument/2006/relationships/image" Target="../media/image58.png"/><Relationship Id="rId29" Type="http://schemas.openxmlformats.org/officeDocument/2006/relationships/image" Target="../media/image59.png"/><Relationship Id="rId30" Type="http://schemas.openxmlformats.org/officeDocument/2006/relationships/image" Target="../media/image60.png"/><Relationship Id="rId31" Type="http://schemas.openxmlformats.org/officeDocument/2006/relationships/image" Target="../media/image61.png"/><Relationship Id="rId32" Type="http://schemas.openxmlformats.org/officeDocument/2006/relationships/image" Target="../media/image62.png"/><Relationship Id="rId33" Type="http://schemas.openxmlformats.org/officeDocument/2006/relationships/image" Target="../media/image63.png"/><Relationship Id="rId34" Type="http://schemas.openxmlformats.org/officeDocument/2006/relationships/image" Target="../media/image64.png"/><Relationship Id="rId35" Type="http://schemas.openxmlformats.org/officeDocument/2006/relationships/image" Target="../media/image65.png"/><Relationship Id="rId36" Type="http://schemas.openxmlformats.org/officeDocument/2006/relationships/image" Target="../media/image66.png"/><Relationship Id="rId37" Type="http://schemas.openxmlformats.org/officeDocument/2006/relationships/image" Target="../media/image67.png"/><Relationship Id="rId38" Type="http://schemas.openxmlformats.org/officeDocument/2006/relationships/image" Target="../media/image68.png"/><Relationship Id="rId39" Type="http://schemas.openxmlformats.org/officeDocument/2006/relationships/image" Target="../media/image69.png"/><Relationship Id="rId40" Type="http://schemas.openxmlformats.org/officeDocument/2006/relationships/image" Target="../media/image70.png"/><Relationship Id="rId41" Type="http://schemas.openxmlformats.org/officeDocument/2006/relationships/image" Target="../media/image71.png"/><Relationship Id="rId42" Type="http://schemas.openxmlformats.org/officeDocument/2006/relationships/image" Target="../media/image72.png"/><Relationship Id="rId43" Type="http://schemas.openxmlformats.org/officeDocument/2006/relationships/image" Target="../media/image73.png"/><Relationship Id="rId44" Type="http://schemas.openxmlformats.org/officeDocument/2006/relationships/image" Target="../media/image74.png"/><Relationship Id="rId45" Type="http://schemas.openxmlformats.org/officeDocument/2006/relationships/image" Target="../media/image75.png"/><Relationship Id="rId46" Type="http://schemas.openxmlformats.org/officeDocument/2006/relationships/image" Target="../media/image76.png"/><Relationship Id="rId47" Type="http://schemas.openxmlformats.org/officeDocument/2006/relationships/image" Target="../media/image77.png"/><Relationship Id="rId48" Type="http://schemas.openxmlformats.org/officeDocument/2006/relationships/image" Target="../media/image78.png"/><Relationship Id="rId49" Type="http://schemas.openxmlformats.org/officeDocument/2006/relationships/image" Target="../media/image79.png"/><Relationship Id="rId50" Type="http://schemas.openxmlformats.org/officeDocument/2006/relationships/image" Target="../media/image80.png"/><Relationship Id="rId51" Type="http://schemas.openxmlformats.org/officeDocument/2006/relationships/image" Target="../media/image81.png"/><Relationship Id="rId52" Type="http://schemas.openxmlformats.org/officeDocument/2006/relationships/image" Target="../media/image82.png"/><Relationship Id="rId53" Type="http://schemas.openxmlformats.org/officeDocument/2006/relationships/image" Target="../media/image83.png"/><Relationship Id="rId54" Type="http://schemas.openxmlformats.org/officeDocument/2006/relationships/image" Target="../media/image84.png"/><Relationship Id="rId55" Type="http://schemas.openxmlformats.org/officeDocument/2006/relationships/image" Target="../media/image85.png"/><Relationship Id="rId56" Type="http://schemas.openxmlformats.org/officeDocument/2006/relationships/image" Target="../media/image86.png"/><Relationship Id="rId57" Type="http://schemas.openxmlformats.org/officeDocument/2006/relationships/image" Target="../media/image87.png"/><Relationship Id="rId58" Type="http://schemas.openxmlformats.org/officeDocument/2006/relationships/image" Target="../media/image88.png"/><Relationship Id="rId59"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89.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dodcio.defense.gov/CMMC/About/" TargetMode="External"/><Relationship Id="rId8" Type="http://schemas.openxmlformats.org/officeDocument/2006/relationships/image" Target="../media/image90.jpg"/><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acg.org/news-trends/news/gf-data-reports-show-steady-middle-market-deal-flow-amid-more-selective" TargetMode="External"/><Relationship Id="rId3" Type="http://schemas.openxmlformats.org/officeDocument/2006/relationships/hyperlink" Target="https://www.ibba.org/resource-center/market-pulse-reports/" TargetMode="External"/><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image" Target="../media/image95.png"/><Relationship Id="rId9" Type="http://schemas.openxmlformats.org/officeDocument/2006/relationships/image" Target="../media/image96.png"/><Relationship Id="rId10"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9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news.cognizant.com/2026-06-22-Cognizant-Completes-Acquisition-of-Astreya,-Expanding-AI-Infrastructure-and-Managed-Services-Capabilities" TargetMode="External"/><Relationship Id="rId3" Type="http://schemas.openxmlformats.org/officeDocument/2006/relationships/hyperlink" Target="https://finance.yahoo.com/markets/stocks/articles/cognizant-buy-astreya-600-million-083350883.html" TargetMode="External"/><Relationship Id="rId4" Type="http://schemas.openxmlformats.org/officeDocument/2006/relationships/hyperlink" Target="https://hig.com/news/h-i-g-capital-signs-definitive-agreement-to-sell-general-datatech/" TargetMode="External"/><Relationship Id="rId5" Type="http://schemas.openxmlformats.org/officeDocument/2006/relationships/hyperlink" Target="https://www.channeldive.com/news/uk-reseller-softcat-expands-north-american-footprint-with-gdt-acquisition/830812/" TargetMode="External"/><Relationship Id="rId6" Type="http://schemas.openxmlformats.org/officeDocument/2006/relationships/hyperlink" Target="https://securityweek.com/accenture-to-acquire-majority-stake-in-dragos-all-of-runzero-netrise-in-4-1-billion-ot-cybersecurity-push" TargetMode="External"/><Relationship Id="rId7" Type="http://schemas.openxmlformats.org/officeDocument/2006/relationships/hyperlink" Target="https://www.constellationr.com/insights/news/accenture-places-42-billion-bet-ot-cybersecurity-amid-mixed-outlook" TargetMode="External"/><Relationship Id="rId8" Type="http://schemas.openxmlformats.org/officeDocument/2006/relationships/hyperlink" Target="https://www.globenewswire.com/news-release/2026/10/15/3382143/35374/en/proofpoint-to-acquire-varonis-in-a-6-3-billion-transaction.html" TargetMode="External"/><Relationship Id="rId9" Type="http://schemas.openxmlformats.org/officeDocument/2006/relationships/hyperlink" Target="https://www.securityweek.com/proofpoint-inks-6-3-billion-all-cash-deal-to-acquire-varonis/" TargetMode="External"/><Relationship Id="rId10" Type="http://schemas.openxmlformats.org/officeDocument/2006/relationships/hyperlink" Target="https://tdstelecom.com/about/news/categories/tds/TDSCompletesGraniteStateAcquisition.html" TargetMode="External"/><Relationship Id="rId11" Type="http://schemas.openxmlformats.org/officeDocument/2006/relationships/hyperlink" Target="https://www.lightreading.com/fttx/tds-acquires-granite-state-communications" TargetMode="External"/><Relationship Id="rId12" Type="http://schemas.openxmlformats.org/officeDocument/2006/relationships/hyperlink" Target="https://www.businesswire.com/news/home/20260928333255/en/Sangoma-Technologies-Corporation-Enters-into-Definitive-Agreement-to-be-Acquired-by-BRC-Group-Holdings-Inc." TargetMode="External"/><Relationship Id="rId13" Type="http://schemas.openxmlformats.org/officeDocument/2006/relationships/image" Target="../media/image5.png"/><Relationship Id="rId14" Type="http://schemas.openxmlformats.org/officeDocument/2006/relationships/image" Target="../media/image98.png"/><Relationship Id="rId15" Type="http://schemas.openxmlformats.org/officeDocument/2006/relationships/image" Target="../media/image99.png"/><Relationship Id="rId16" Type="http://schemas.openxmlformats.org/officeDocument/2006/relationships/image" Target="../media/image100.png"/><Relationship Id="rId17" Type="http://schemas.openxmlformats.org/officeDocument/2006/relationships/image" Target="../media/image101.png"/><Relationship Id="rId18" Type="http://schemas.openxmlformats.org/officeDocument/2006/relationships/image" Target="../media/image102.png"/><Relationship Id="rId19" Type="http://schemas.openxmlformats.org/officeDocument/2006/relationships/image" Target="../media/image103.png"/><Relationship Id="rId20" Type="http://schemas.openxmlformats.org/officeDocument/2006/relationships/image" Target="../media/image104.png"/><Relationship Id="rId21" Type="http://schemas.openxmlformats.org/officeDocument/2006/relationships/image" Target="../media/image105.png"/><Relationship Id="rId22" Type="http://schemas.openxmlformats.org/officeDocument/2006/relationships/image" Target="../media/image106.png"/><Relationship Id="rId23" Type="http://schemas.openxmlformats.org/officeDocument/2006/relationships/image" Target="../media/image107.png"/><Relationship Id="rId24" Type="http://schemas.openxmlformats.org/officeDocument/2006/relationships/image" Target="../media/image108.png"/><Relationship Id="rId25" Type="http://schemas.openxmlformats.org/officeDocument/2006/relationships/image" Target="../media/image109.png"/><Relationship Id="rId26" Type="http://schemas.openxmlformats.org/officeDocument/2006/relationships/image" Target="../media/image110.png"/><Relationship Id="rId27" Type="http://schemas.openxmlformats.org/officeDocument/2006/relationships/image" Target="../media/image111.png"/><Relationship Id="rId28" Type="http://schemas.openxmlformats.org/officeDocument/2006/relationships/image" Target="../media/image1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securityinfowatch.com/integrators/news/55403412/pavion-acquires-communication-company-to-grow-midwest-footprint" TargetMode="External"/><Relationship Id="rId3" Type="http://schemas.openxmlformats.org/officeDocument/2006/relationships/hyperlink" Target="https://www.angelone.in/news/stocks/persistent-systems-share-price-falls-over-8-as-company-set-to-acquire-nagarro-for-eur-1-27-billion" TargetMode="External"/><Relationship Id="rId4" Type="http://schemas.openxmlformats.org/officeDocument/2006/relationships/hyperlink" Target="https://www.ey.com/content/dam/ey-unified-site/ey-com/en-in/insights/mergers-acquisitions/documents/2026/ey-deal-insights-series-h1-2026-deal-round-up.pdf" TargetMode="External"/><Relationship Id="rId5" Type="http://schemas.openxmlformats.org/officeDocument/2006/relationships/hyperlink" Target="https://www.motorolasolutions.com/newsroom/press-releases/motorola-solutions-completes-acquisition-of-dfend-solutions.html" TargetMode="External"/><Relationship Id="rId6" Type="http://schemas.openxmlformats.org/officeDocument/2006/relationships/hyperlink" Target="https://www.sec.gov/Archives/edgar/data/0001116942/000119312526424707/d187690dex991.htm" TargetMode="External"/><Relationship Id="rId7" Type="http://schemas.openxmlformats.org/officeDocument/2006/relationships/hyperlink" Target="https://www.sec.gov/Archives/edgar/data/0001049502/000119312526424709/mksi-ex99_1.htm" TargetMode="External"/><Relationship Id="rId8" Type="http://schemas.openxmlformats.org/officeDocument/2006/relationships/hyperlink" Target="https://www.sec.gov/Archives/edgar/data/0001443646/000144364626000058/ultraclosepressreleasevf.htm" TargetMode="External"/><Relationship Id="rId9" Type="http://schemas.openxmlformats.org/officeDocument/2006/relationships/hyperlink" Target="https://washingtonexec.com/2026/06/booz-allen-buys-ultra-ic-mission-solutions-in-720m-deal/" TargetMode="External"/><Relationship Id="rId10" Type="http://schemas.openxmlformats.org/officeDocument/2006/relationships/hyperlink" Target="https://www.sec.gov/Archives/edgar/data/0001833756/000183375626000034/exhibit991-raftacquisition.htm" TargetMode="External"/><Relationship Id="rId11" Type="http://schemas.openxmlformats.org/officeDocument/2006/relationships/hyperlink" Target="https://www.govconwire.com/articles/leonardo-drs-agreement-acquire-raft" TargetMode="External"/><Relationship Id="rId12" Type="http://schemas.openxmlformats.org/officeDocument/2006/relationships/image" Target="../media/image5.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image" Target="../media/image123.png"/><Relationship Id="rId24" Type="http://schemas.openxmlformats.org/officeDocument/2006/relationships/image" Target="../media/image1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hyperlink" Target="https://www.benchmarkintl.com/insights/completed-transactions/benchmark-international-successfully-facilitated-the-transaction-between-clearline-networks-llc-and-zeus-fire-and-security/" TargetMode="External"/><Relationship Id="rId11" Type="http://schemas.openxmlformats.org/officeDocument/2006/relationships/image" Target="../media/image129.png"/><Relationship Id="rId12" Type="http://schemas.openxmlformats.org/officeDocument/2006/relationships/image" Target="../media/image130.png"/><Relationship Id="rId13" Type="http://schemas.openxmlformats.org/officeDocument/2006/relationships/hyperlink" Target="https://www.benchmarkintl.com/insights/completed-transactions/benchmark-international-successfully-facilitated-the-transaction-between-high-tech-solutions-systems-group-inc-and-ai-fire/" TargetMode="External"/><Relationship Id="rId14" Type="http://schemas.openxmlformats.org/officeDocument/2006/relationships/image" Target="../media/image131.png"/><Relationship Id="rId15" Type="http://schemas.openxmlformats.org/officeDocument/2006/relationships/hyperlink" Target="https://www.benchmarkintl.com/insights/completed-transactions/benchmark-international-successfully-facilitated-the-transaction-between-sheffield-scientific-and-trm/" TargetMode="External"/><Relationship Id="rId16" Type="http://schemas.openxmlformats.org/officeDocument/2006/relationships/image" Target="../media/image132.png"/><Relationship Id="rId17" Type="http://schemas.openxmlformats.org/officeDocument/2006/relationships/image" Target="../media/image133.png"/><Relationship Id="rId18"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9" Type="http://schemas.openxmlformats.org/officeDocument/2006/relationships/image" Target="../media/image134.png"/><Relationship Id="rId20" Type="http://schemas.openxmlformats.org/officeDocument/2006/relationships/image" Target="../media/image135.png"/><Relationship Id="rId21" Type="http://schemas.openxmlformats.org/officeDocument/2006/relationships/hyperlink" Target="https://www.benchmarkintl.com/insights/completed-transactions/benchmark-international-successfully-facilitated-the-transaction-between-of-boostr-llc-and-balius-partners/" TargetMode="External"/><Relationship Id="rId22" Type="http://schemas.openxmlformats.org/officeDocument/2006/relationships/image" Target="../media/image136.png"/><Relationship Id="rId23" Type="http://schemas.openxmlformats.org/officeDocument/2006/relationships/image" Target="../media/image137.png"/><Relationship Id="rId24" Type="http://schemas.openxmlformats.org/officeDocument/2006/relationships/hyperlink" Target="https://www.benchmarkintl.com/insights/completed-transactions/benchmark-international-successfully-facilitated-the-transaction-between-at-parker-inc-and-assessimus-group-gmbh/" TargetMode="External"/><Relationship Id="rId25" Type="http://schemas.openxmlformats.org/officeDocument/2006/relationships/image" Target="../media/image138.png"/><Relationship Id="rId26" Type="http://schemas.openxmlformats.org/officeDocument/2006/relationships/image" Target="../media/image139.png"/><Relationship Id="rId2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28" Type="http://schemas.openxmlformats.org/officeDocument/2006/relationships/image" Target="../media/image140.png"/><Relationship Id="rId29"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30" Type="http://schemas.openxmlformats.org/officeDocument/2006/relationships/image" Target="../media/image141.png"/><Relationship Id="rId31" Type="http://schemas.openxmlformats.org/officeDocument/2006/relationships/image" Target="../media/image142.png"/><Relationship Id="rId32" Type="http://schemas.openxmlformats.org/officeDocument/2006/relationships/hyperlink" Target="https://www.benchmarkintl.com/insights/completed-transactions/benchmark-international-successfully-facilitated-the-transaction-of-invocon-inc-and-cemtrex-inc/" TargetMode="External"/><Relationship Id="rId33" Type="http://schemas.openxmlformats.org/officeDocument/2006/relationships/image" Target="../media/image143.png"/><Relationship Id="rId34" Type="http://schemas.openxmlformats.org/officeDocument/2006/relationships/image" Target="../media/image144.png"/><Relationship Id="rId35"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105.png"/><Relationship Id="rId4" Type="http://schemas.openxmlformats.org/officeDocument/2006/relationships/image" Target="../media/image99.png"/><Relationship Id="rId5" Type="http://schemas.openxmlformats.org/officeDocument/2006/relationships/image" Target="../media/image118.png"/><Relationship Id="rId6" Type="http://schemas.openxmlformats.org/officeDocument/2006/relationships/image" Target="../media/image122.png"/><Relationship Id="rId7" Type="http://schemas.openxmlformats.org/officeDocument/2006/relationships/image" Target="../media/image124.png"/><Relationship Id="rId8" Type="http://schemas.openxmlformats.org/officeDocument/2006/relationships/image" Target="../media/image120.png"/><Relationship Id="rId9" Type="http://schemas.openxmlformats.org/officeDocument/2006/relationships/image" Target="../media/image145.png"/><Relationship Id="rId10" Type="http://schemas.openxmlformats.org/officeDocument/2006/relationships/image" Target="../media/image146.png"/><Relationship Id="rId11" Type="http://schemas.openxmlformats.org/officeDocument/2006/relationships/image" Target="../media/image147.png"/><Relationship Id="rId12" Type="http://schemas.openxmlformats.org/officeDocument/2006/relationships/image" Target="../media/image148.png"/><Relationship Id="rId13" Type="http://schemas.openxmlformats.org/officeDocument/2006/relationships/image" Target="../media/image149.png"/><Relationship Id="rId14" Type="http://schemas.openxmlformats.org/officeDocument/2006/relationships/image" Target="../media/image150.png"/><Relationship Id="rId15" Type="http://schemas.openxmlformats.org/officeDocument/2006/relationships/image" Target="../media/image151.png"/><Relationship Id="rId16" Type="http://schemas.openxmlformats.org/officeDocument/2006/relationships/image" Target="../media/image152.png"/><Relationship Id="rId17" Type="http://schemas.openxmlformats.org/officeDocument/2006/relationships/image" Target="../media/image153.png"/><Relationship Id="rId18" Type="http://schemas.openxmlformats.org/officeDocument/2006/relationships/image" Target="../media/image154.png"/><Relationship Id="rId19" Type="http://schemas.openxmlformats.org/officeDocument/2006/relationships/image" Target="../media/image155.png"/><Relationship Id="rId20" Type="http://schemas.openxmlformats.org/officeDocument/2006/relationships/image" Target="../media/image156.png"/><Relationship Id="rId21" Type="http://schemas.openxmlformats.org/officeDocument/2006/relationships/image" Target="../media/image114.png"/><Relationship Id="rId22" Type="http://schemas.openxmlformats.org/officeDocument/2006/relationships/image" Target="../media/image157.png"/><Relationship Id="rId23" Type="http://schemas.openxmlformats.org/officeDocument/2006/relationships/image" Target="../media/image158.png"/><Relationship Id="rId24" Type="http://schemas.openxmlformats.org/officeDocument/2006/relationships/image" Target="../media/image159.png"/><Relationship Id="rId25" Type="http://schemas.openxmlformats.org/officeDocument/2006/relationships/image" Target="../media/image160.png"/><Relationship Id="rId26" Type="http://schemas.openxmlformats.org/officeDocument/2006/relationships/image" Target="../media/image161.png"/><Relationship Id="rId27" Type="http://schemas.openxmlformats.org/officeDocument/2006/relationships/image" Target="../media/image162.png"/><Relationship Id="rId28" Type="http://schemas.openxmlformats.org/officeDocument/2006/relationships/image" Target="../media/image163.png"/><Relationship Id="rId29" Type="http://schemas.openxmlformats.org/officeDocument/2006/relationships/image" Target="../media/image164.png"/><Relationship Id="rId30" Type="http://schemas.openxmlformats.org/officeDocument/2006/relationships/image" Target="../media/image108.png"/><Relationship Id="rId31" Type="http://schemas.openxmlformats.org/officeDocument/2006/relationships/image" Target="../media/image165.png"/><Relationship Id="rId32" Type="http://schemas.openxmlformats.org/officeDocument/2006/relationships/image" Target="../media/image166.png"/><Relationship Id="rId33" Type="http://schemas.openxmlformats.org/officeDocument/2006/relationships/image" Target="../media/image167.png"/><Relationship Id="rId34" Type="http://schemas.openxmlformats.org/officeDocument/2006/relationships/image" Target="../media/image168.png"/><Relationship Id="rId35" Type="http://schemas.openxmlformats.org/officeDocument/2006/relationships/image" Target="../media/image169.png"/><Relationship Id="rId36" Type="http://schemas.openxmlformats.org/officeDocument/2006/relationships/image" Target="../media/image170.png"/><Relationship Id="rId37" Type="http://schemas.openxmlformats.org/officeDocument/2006/relationships/image" Target="../media/image171.png"/><Relationship Id="rId38" Type="http://schemas.openxmlformats.org/officeDocument/2006/relationships/image" Target="../media/image172.png"/><Relationship Id="rId39" Type="http://schemas.openxmlformats.org/officeDocument/2006/relationships/image" Target="../media/image173.png"/><Relationship Id="rId40" Type="http://schemas.openxmlformats.org/officeDocument/2006/relationships/image" Target="../media/image174.png"/><Relationship Id="rId41" Type="http://schemas.openxmlformats.org/officeDocument/2006/relationships/image" Target="../media/image110.png"/><Relationship Id="rId42" Type="http://schemas.openxmlformats.org/officeDocument/2006/relationships/image" Target="../media/image175.png"/><Relationship Id="rId43" Type="http://schemas.openxmlformats.org/officeDocument/2006/relationships/image" Target="../media/image176.png"/><Relationship Id="rId44" Type="http://schemas.openxmlformats.org/officeDocument/2006/relationships/image" Target="../media/image177.png"/><Relationship Id="rId45" Type="http://schemas.openxmlformats.org/officeDocument/2006/relationships/image" Target="../media/image178.png"/><Relationship Id="rId46" Type="http://schemas.openxmlformats.org/officeDocument/2006/relationships/image" Target="../media/image179.png"/><Relationship Id="rId47" Type="http://schemas.openxmlformats.org/officeDocument/2006/relationships/image" Target="../media/image180.png"/><Relationship Id="rId48" Type="http://schemas.openxmlformats.org/officeDocument/2006/relationships/image" Target="../media/image181.png"/><Relationship Id="rId49" Type="http://schemas.openxmlformats.org/officeDocument/2006/relationships/image" Target="../media/image182.png"/><Relationship Id="rId50" Type="http://schemas.openxmlformats.org/officeDocument/2006/relationships/image" Target="../media/image101.png"/><Relationship Id="rId51" Type="http://schemas.openxmlformats.org/officeDocument/2006/relationships/image" Target="../media/image116.png"/><Relationship Id="rId52" Type="http://schemas.openxmlformats.org/officeDocument/2006/relationships/image" Target="../media/image183.png"/><Relationship Id="rId53" Type="http://schemas.openxmlformats.org/officeDocument/2006/relationships/image" Target="../media/image184.png"/><Relationship Id="rId54" Type="http://schemas.openxmlformats.org/officeDocument/2006/relationships/image" Target="../media/image185.png"/><Relationship Id="rId55" Type="http://schemas.openxmlformats.org/officeDocument/2006/relationships/image" Target="../media/image186.png"/><Relationship Id="rId56" Type="http://schemas.openxmlformats.org/officeDocument/2006/relationships/image" Target="../media/image18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chart" Target="../charts/chart7.xml"/><Relationship Id="rId7" Type="http://schemas.openxmlformats.org/officeDocument/2006/relationships/chart" Target="../charts/chart8.xml"/><Relationship Id="rId8"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2.xml"/><Relationship Id="rId3" Type="http://schemas.openxmlformats.org/officeDocument/2006/relationships/image" Target="../media/image75.png"/><Relationship Id="rId4" Type="http://schemas.openxmlformats.org/officeDocument/2006/relationships/image" Target="../media/image74.png"/><Relationship Id="rId5" Type="http://schemas.openxmlformats.org/officeDocument/2006/relationships/image" Target="../media/image6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58.png"/><Relationship Id="rId9" Type="http://schemas.openxmlformats.org/officeDocument/2006/relationships/image" Target="../media/image46.png"/><Relationship Id="rId10" Type="http://schemas.openxmlformats.org/officeDocument/2006/relationships/image" Target="../media/image44.png"/><Relationship Id="rId11" Type="http://schemas.openxmlformats.org/officeDocument/2006/relationships/chart" Target="../charts/chart13.xml"/><Relationship Id="rId12" Type="http://schemas.openxmlformats.org/officeDocument/2006/relationships/chart" Target="../charts/chart14.xml"/><Relationship Id="rId1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image" Target="../media/image65.png"/><Relationship Id="rId5" Type="http://schemas.openxmlformats.org/officeDocument/2006/relationships/hyperlink" Target="https://www.sec.gov/Archives/edgar/data/0001177394/000162828026063314/ex991-fy26q3pressrelease.htm" TargetMode="External"/><Relationship Id="rId6" Type="http://schemas.openxmlformats.org/officeDocument/2006/relationships/image" Target="../media/image44.png"/><Relationship Id="rId7" Type="http://schemas.openxmlformats.org/officeDocument/2006/relationships/hyperlink" Target="https://www.sec.gov/Archives/edgar/data/0001327567/000132756726000019/ex991q426earningsrelease.htm" TargetMode="External"/><Relationship Id="rId8" Type="http://schemas.openxmlformats.org/officeDocument/2006/relationships/image" Target="../media/image43.png"/><Relationship Id="rId9" Type="http://schemas.openxmlformats.org/officeDocument/2006/relationships/hyperlink" Target="https://www.sec.gov/Archives/edgar/data/0001535527/000153552726000029/crwd-20260826xex991.htm" TargetMode="External"/><Relationship Id="rId10" Type="http://schemas.openxmlformats.org/officeDocument/2006/relationships/image" Target="../media/image45.png"/><Relationship Id="rId11" Type="http://schemas.openxmlformats.org/officeDocument/2006/relationships/hyperlink" Target="https://fortinet.gcs-web.com/static-files/e4ffcc79-194e-4ca3-9a69-8a51bd0a6314" TargetMode="External"/><Relationship Id="rId12" Type="http://schemas.openxmlformats.org/officeDocument/2006/relationships/image" Target="../media/image73.png"/><Relationship Id="rId13" Type="http://schemas.openxmlformats.org/officeDocument/2006/relationships/hyperlink" Target="https://www.sec.gov/Archives/edgar/data/0000866374/000086637426000026/flexex991-6262026.htm" TargetMode="External"/><Relationship Id="rId14" Type="http://schemas.openxmlformats.org/officeDocument/2006/relationships/image" Target="../media/image83.png"/><Relationship Id="rId15" Type="http://schemas.openxmlformats.org/officeDocument/2006/relationships/hyperlink" Target="https://www.sec.gov/Archives/edgar/data/0000016058/000162828026053448/fy26-q4caci20260805ex991.htm" TargetMode="External"/><Relationship Id="rId16" Type="http://schemas.openxmlformats.org/officeDocument/2006/relationships/image" Target="../media/image34.png"/><Relationship Id="rId17" Type="http://schemas.openxmlformats.org/officeDocument/2006/relationships/hyperlink" Target="https://www.businesswire.com/news/home/20260806171314/en/" TargetMode="External"/><Relationship Id="rId18" Type="http://schemas.openxmlformats.org/officeDocument/2006/relationships/image" Target="../media/image62.png"/><Relationship Id="rId19" Type="http://schemas.openxmlformats.org/officeDocument/2006/relationships/hyperlink" Target="https://www.sec.gov/Archives/edgar/data/0000929008/000092900826000021/wcc-2q2026earnings.htm" TargetMode="External"/><Relationship Id="rId20" Type="http://schemas.openxmlformats.org/officeDocument/2006/relationships/image" Target="../media/image33.png"/><Relationship Id="rId21" Type="http://schemas.openxmlformats.org/officeDocument/2006/relationships/hyperlink" Target="https://www.sec.gov/Archives/edgar/data/0001402057/000140205726000062/cdw-2026630earningsrelease.htm" TargetMode="External"/><Relationship Id="rId22" Type="http://schemas.openxmlformats.org/officeDocument/2006/relationships/image" Target="../media/image67.png"/><Relationship Id="rId23" Type="http://schemas.openxmlformats.org/officeDocument/2006/relationships/hyperlink" Target="https://www.sec.gov/Archives/edgar/data/0000069633/000110465926100077/nssc-20260820xex99d1.htm" TargetMode="External"/><Relationship Id="rId24" Type="http://schemas.openxmlformats.org/officeDocument/2006/relationships/image" Target="../media/image88.png"/><Relationship Id="rId25" Type="http://schemas.openxmlformats.org/officeDocument/2006/relationships/hyperlink" Target="https://s201.q4cdn.com/385562537/files/doc_financials/2026/q2/99-1-Earnings-Release-6-30-2026-FINAL.pdf" TargetMode="External"/><Relationship Id="rId26" Type="http://schemas.openxmlformats.org/officeDocument/2006/relationships/image" Target="../media/image85.png"/><Relationship Id="rId27" Type="http://schemas.openxmlformats.org/officeDocument/2006/relationships/hyperlink" Target="https://www.sec.gov/Archives/edgar/data/0001336920/000133692026000243/ldos070326q2pressreleaseex.htm" TargetMode="External"/><Relationship Id="rId28" Type="http://schemas.openxmlformats.org/officeDocument/2006/relationships/image" Target="../media/image39.png"/><Relationship Id="rId29" Type="http://schemas.openxmlformats.org/officeDocument/2006/relationships/hyperlink" Target="https://www.sec.gov/Archives/edgar/data/0001467373/000146737326000037/q4fy26earnings8-kexhibit.htm" TargetMode="External"/><Relationship Id="rId30" Type="http://schemas.openxmlformats.org/officeDocument/2006/relationships/image" Target="../media/image52.png"/><Relationship Id="rId31" Type="http://schemas.openxmlformats.org/officeDocument/2006/relationships/hyperlink" Target="https://www.businesswire.com/news/home/20260723424331/en/" TargetMode="External"/><Relationship Id="rId32" Type="http://schemas.openxmlformats.org/officeDocument/2006/relationships/image" Target="../media/image54.png"/><Relationship Id="rId33" Type="http://schemas.openxmlformats.org/officeDocument/2006/relationships/hyperlink" Target="https://www.sec.gov/Archives/edgar/data/0001585521/000158552126000119/zm-20260731ex991.htm" TargetMode="External"/><Relationship Id="rId34" Type="http://schemas.openxmlformats.org/officeDocument/2006/relationships/image" Target="../media/image82.png"/><Relationship Id="rId35" Type="http://schemas.openxmlformats.org/officeDocument/2006/relationships/hyperlink" Target="https://www.businesswire.com/news/home/20260724644070/en/Booz-Allen-Hamilton-Announces-First-Quarter-Fiscal-Year-2027-Results" TargetMode="External"/><Relationship Id="rId36" Type="http://schemas.openxmlformats.org/officeDocument/2006/relationships/image" Target="../media/image95.png"/><Relationship Id="rId37" Type="http://schemas.openxmlformats.org/officeDocument/2006/relationships/image" Target="../media/image72.png"/><Relationship Id="rId38" Type="http://schemas.openxmlformats.org/officeDocument/2006/relationships/hyperlink" Target="https://www.sec.gov/Archives/edgar/data/0000898293/000162828026063890/jbl-20260930ex991.htm" TargetMode="External"/><Relationship Id="rId39" Type="http://schemas.openxmlformats.org/officeDocument/2006/relationships/image" Target="../media/image92.png"/><Relationship Id="rId40" Type="http://schemas.openxmlformats.org/officeDocument/2006/relationships/image" Target="../media/image96.png"/><Relationship Id="rId41"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hyperlink" Target="https://fred.stlouisfed.org/series/PROFCONS" TargetMode="External"/><Relationship Id="rId6" Type="http://schemas.openxmlformats.org/officeDocument/2006/relationships/chart" Target="../charts/chart17.xml"/><Relationship Id="rId7" Type="http://schemas.openxmlformats.org/officeDocument/2006/relationships/hyperlink" Target="https://fred.stlouisfed.org/series/CES6054150001" TargetMode="External"/><Relationship Id="rId8" Type="http://schemas.openxmlformats.org/officeDocument/2006/relationships/chart" Target="../charts/chart18.xml"/><Relationship Id="rId9" Type="http://schemas.openxmlformats.org/officeDocument/2006/relationships/hyperlink" Target="https://www.census.gov/construction/c30/pdf/privsa.pdf" TargetMode="External"/><Relationship Id="rId10"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9.xml"/><Relationship Id="rId3" Type="http://schemas.openxmlformats.org/officeDocument/2006/relationships/chart" Target="../charts/chart20.xml"/><Relationship Id="rId4" Type="http://schemas.openxmlformats.org/officeDocument/2006/relationships/chart" Target="../charts/chart21.xml"/><Relationship Id="rId5" Type="http://schemas.openxmlformats.org/officeDocument/2006/relationships/chart" Target="../charts/chart22.xml"/><Relationship Id="rId6"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8.jpg"/><Relationship Id="rId3" Type="http://schemas.openxmlformats.org/officeDocument/2006/relationships/image" Target="../media/image189.jpg"/><Relationship Id="rId4" Type="http://schemas.openxmlformats.org/officeDocument/2006/relationships/image" Target="../media/image190.png"/><Relationship Id="rId5"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191.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94.png"/><Relationship Id="rId8" Type="http://schemas.openxmlformats.org/officeDocument/2006/relationships/image" Target="../media/image195.png"/><Relationship Id="rId9" Type="http://schemas.openxmlformats.org/officeDocument/2006/relationships/image" Target="../media/image196.png"/><Relationship Id="rId10" Type="http://schemas.openxmlformats.org/officeDocument/2006/relationships/image" Target="../media/image197.png"/><Relationship Id="rId11" Type="http://schemas.openxmlformats.org/officeDocument/2006/relationships/image" Target="../media/image198.png"/><Relationship Id="rId12" Type="http://schemas.openxmlformats.org/officeDocument/2006/relationships/image" Target="../media/image199.png"/><Relationship Id="rId1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subject=Technology%20Q4%202026%20brief" TargetMode="External"/><Relationship Id="rId6" Type="http://schemas.openxmlformats.org/officeDocument/2006/relationships/image" Target="../media/image200.jpg"/><Relationship Id="rId7"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ibba.org/resource-center/market-pulse-reports/" TargetMode="External"/><Relationship Id="rId16" Type="http://schemas.openxmlformats.org/officeDocument/2006/relationships/hyperlink" Target="https://www.americanbar.org/groups/public_contract_law/resources/procurement-lawyer/2026-fall/ieepa-tariffs-struck-down-replacement-tariffs-expired/" TargetMode="External"/><Relationship Id="rId17" Type="http://schemas.openxmlformats.org/officeDocument/2006/relationships/hyperlink" Target="https://www.troutman.com/insights/getting-duties-back-where-recovery-stands-under-ieepa-section-122-and-section-301-forced-labor-tariffs/" TargetMode="External"/><Relationship Id="rId18" Type="http://schemas.openxmlformats.org/officeDocument/2006/relationships/hyperlink" Target="https://www.whitecase.com/insight-alert/president-trump-orders-narrowly-targeted-25-section-232-tariff-certain-advanced" TargetMode="External"/><Relationship Id="rId19" Type="http://schemas.openxmlformats.org/officeDocument/2006/relationships/hyperlink" Target="https://www.credaily.com/briefs/data-center-construction-costs-jump-21-since-2024/?.tsrc=rss" TargetMode="External"/><Relationship Id="rId20" Type="http://schemas.openxmlformats.org/officeDocument/2006/relationships/hyperlink" Target="https://www.centralbanking.com/central-banks/monetary-policy/7976918/federal-reserve-delivers-first-rate-hike-since-2023" TargetMode="External"/><Relationship Id="rId21" Type="http://schemas.openxmlformats.org/officeDocument/2006/relationships/hyperlink" Target="https://www.fasken.com/en/knowledge/2026/05/private-ma-deal-trends-to-watch-key-takeaways-from-srs-acquioms-2026-study" TargetMode="External"/><Relationship Id="rId22" Type="http://schemas.openxmlformats.org/officeDocument/2006/relationships/hyperlink" Target="https://www.channeldive.com/news/channel-acquistions-consolidation-managed-services-omdia/828297/" TargetMode="External"/><Relationship Id="rId23" Type="http://schemas.openxmlformats.org/officeDocument/2006/relationships/hyperlink" Target="https://www.passwordprotectedlaw.com/2026/07/dow-suspends-cmmc-phase-ii-requirements-launches-60-day-review/" TargetMode="External"/><Relationship Id="rId24" Type="http://schemas.openxmlformats.org/officeDocument/2006/relationships/hyperlink" Target="https://news.cognizant.com/2026-06-22-Cognizant-Completes-Acquisition-of-Astreya,-Expanding-AI-Infrastructure-and-Managed-Services-Capabilities" TargetMode="External"/><Relationship Id="rId25" Type="http://schemas.openxmlformats.org/officeDocument/2006/relationships/hyperlink" Target="https://finance.yahoo.com/markets/stocks/articles/cognizant-buy-astreya-600-million-083350883.html" TargetMode="External"/><Relationship Id="rId26" Type="http://schemas.openxmlformats.org/officeDocument/2006/relationships/hyperlink" Target="https://hig.com/news/h-i-g-capital-signs-definitive-agreement-to-sell-general-datatech/" TargetMode="External"/><Relationship Id="rId27" Type="http://schemas.openxmlformats.org/officeDocument/2006/relationships/hyperlink" Target="https://www.channeldive.com/news/uk-reseller-softcat-expands-north-american-footprint-with-gdt-acquisition/830812/" TargetMode="External"/><Relationship Id="rId28" Type="http://schemas.openxmlformats.org/officeDocument/2006/relationships/hyperlink" Target="https://securityweek.com/accenture-to-acquire-majority-stake-in-dragos-all-of-runzero-netrise-in-4-1-billion-ot-cybersecurity-push" TargetMode="External"/><Relationship Id="rId29" Type="http://schemas.openxmlformats.org/officeDocument/2006/relationships/hyperlink" Target="https://www.constellationr.com/insights/news/accenture-places-42-billion-bet-ot-cybersecurity-amid-mixed-outlook" TargetMode="External"/><Relationship Id="rId30" Type="http://schemas.openxmlformats.org/officeDocument/2006/relationships/hyperlink" Target="https://www.globenewswire.com/news-release/2026/10/15/3382143/35374/en/proofpoint-to-acquire-varonis-in-a-6-3-billion-transaction.html" TargetMode="External"/><Relationship Id="rId31" Type="http://schemas.openxmlformats.org/officeDocument/2006/relationships/hyperlink" Target="https://tdstelecom.com/about/news/categories/tds/TDSCompletesGraniteStateAcquisition.html" TargetMode="External"/><Relationship Id="rId32" Type="http://schemas.openxmlformats.org/officeDocument/2006/relationships/hyperlink" Target="https://www.lightreading.com/fttx/tds-acquires-granite-state-communications" TargetMode="External"/><Relationship Id="rId33" Type="http://schemas.openxmlformats.org/officeDocument/2006/relationships/hyperlink" Target="https://www.businesswire.com/news/home/20260928333255/en/Sangoma-Technologies-Corporation-Enters-into-Definitive-Agreement-to-be-Acquired-by-BRC-Group-Holdings-Inc." TargetMode="External"/><Relationship Id="rId34" Type="http://schemas.openxmlformats.org/officeDocument/2006/relationships/hyperlink" Target="https://www.securityinfowatch.com/integrators/news/55403412/pavion-acquires-communication-company-to-grow-midwest-footprint" TargetMode="External"/><Relationship Id="rId35" Type="http://schemas.openxmlformats.org/officeDocument/2006/relationships/hyperlink" Target="https://www.angelone.in/news/stocks/persistent-systems-share-price-falls-over-8-as-company-set-to-acquire-nagarro-for-eur-1-27-billion" TargetMode="External"/><Relationship Id="rId36" Type="http://schemas.openxmlformats.org/officeDocument/2006/relationships/hyperlink" Target="https://www.ey.com/content/dam/ey-unified-site/ey-com/en-in/insights/mergers-acquisitions/documents/2026/ey-deal-insights-series-h1-2026-deal-round-up.pdf" TargetMode="External"/><Relationship Id="rId37" Type="http://schemas.openxmlformats.org/officeDocument/2006/relationships/hyperlink" Target="https://www.motorolasolutions.com/newsroom/press-releases/motorola-solutions-completes-acquisition-of-dfend-solutions.html" TargetMode="External"/><Relationship Id="rId38" Type="http://schemas.openxmlformats.org/officeDocument/2006/relationships/hyperlink" Target="https://www.sec.gov/Archives/edgar/data/0001116942/000119312526424707/d187690dex991.htm" TargetMode="External"/><Relationship Id="rId39" Type="http://schemas.openxmlformats.org/officeDocument/2006/relationships/hyperlink" Target="https://www.sec.gov/Archives/edgar/data/0001049502/000119312526424709/mksi-ex99_1.htm" TargetMode="External"/><Relationship Id="rId40" Type="http://schemas.openxmlformats.org/officeDocument/2006/relationships/hyperlink" Target="https://www.sec.gov/Archives/edgar/data/0001443646/000144364626000058/ultraclosepressreleasevf.htm" TargetMode="External"/><Relationship Id="rId41" Type="http://schemas.openxmlformats.org/officeDocument/2006/relationships/hyperlink" Target="https://washingtonexec.com/2026/06/booz-allen-buys-ultra-ic-mission-solutions-in-720m-deal/" TargetMode="External"/><Relationship Id="rId42" Type="http://schemas.openxmlformats.org/officeDocument/2006/relationships/hyperlink" Target="https://www.sec.gov/Archives/edgar/data/0001833756/000183375626000034/exhibit991-raftacquisition.htm" TargetMode="External"/><Relationship Id="rId43" Type="http://schemas.openxmlformats.org/officeDocument/2006/relationships/hyperlink" Target="https://www.govconwire.com/articles/leonardo-drs-agreement-acquire-raft" TargetMode="External"/><Relationship Id="rId44" Type="http://schemas.openxmlformats.org/officeDocument/2006/relationships/hyperlink" Target="https://www.benchmarkintl.com/about/our-success/" TargetMode="External"/><Relationship Id="rId45" Type="http://schemas.openxmlformats.org/officeDocument/2006/relationships/hyperlink" Target="https://pitchbook.brightspotcdn.com/40/42/bbeb88094080abaea3d7c87530b8/q2-2026-us-pe-breakdown.pdf" TargetMode="External"/><Relationship Id="rId46" Type="http://schemas.openxmlformats.org/officeDocument/2006/relationships/hyperlink" Target="https://www.ibba.org/wp-content/uploads/2026/08/mp-highlights-q2-2026.pdf" TargetMode="External"/><Relationship Id="rId47" Type="http://schemas.openxmlformats.org/officeDocument/2006/relationships/hyperlink" Target="https://stockanalysis.com/" TargetMode="External"/><Relationship Id="rId48" Type="http://schemas.openxmlformats.org/officeDocument/2006/relationships/hyperlink" Target="https://mercercapital.com/insights/newsletters/middle-market-transaction-update-newsletter/middle-market-transaction-update-fall-2026/" TargetMode="External"/><Relationship Id="rId49" Type="http://schemas.openxmlformats.org/officeDocument/2006/relationships/hyperlink" Target="https://www.sec.gov/Archives/edgar/data/0001030894/000103089426000043/cls-20260630prcondensedfs.htm" TargetMode="External"/><Relationship Id="rId50" Type="http://schemas.openxmlformats.org/officeDocument/2006/relationships/hyperlink" Target="https://www.sec.gov/Archives/edgar/data/0001177394/000162828026063314/ex991-fy26q3pressrelease.htm" TargetMode="External"/><Relationship Id="rId51" Type="http://schemas.openxmlformats.org/officeDocument/2006/relationships/hyperlink" Target="https://www.sec.gov/Archives/edgar/data/0001327567/000132756726000019/ex991q426earningsrelease.htm" TargetMode="External"/><Relationship Id="rId52" Type="http://schemas.openxmlformats.org/officeDocument/2006/relationships/hyperlink" Target="https://www.sec.gov/Archives/edgar/data/0001535527/000153552726000029/crwd-20260826xex991.htm" TargetMode="External"/><Relationship Id="rId53" Type="http://schemas.openxmlformats.org/officeDocument/2006/relationships/hyperlink" Target="https://fortinet.gcs-web.com/static-files/e4ffcc79-194e-4ca3-9a69-8a51bd0a6314" TargetMode="External"/><Relationship Id="rId54" Type="http://schemas.openxmlformats.org/officeDocument/2006/relationships/hyperlink" Target="https://www.sec.gov/Archives/edgar/data/0000866374/000086637426000026/flexex991-6262026.htm" TargetMode="External"/><Relationship Id="rId55" Type="http://schemas.openxmlformats.org/officeDocument/2006/relationships/hyperlink" Target="https://www.sec.gov/Archives/edgar/data/0000016058/000162828026053448/fy26-q4caci20260805ex991.htm" TargetMode="External"/><Relationship Id="rId56" Type="http://schemas.openxmlformats.org/officeDocument/2006/relationships/hyperlink" Target="https://www.businesswire.com/news/home/20260806171314/en/" TargetMode="External"/><Relationship Id="rId57" Type="http://schemas.openxmlformats.org/officeDocument/2006/relationships/hyperlink" Target="https://www.sec.gov/Archives/edgar/data/0000929008/000092900826000021/wcc-2q2026earnings.htm" TargetMode="External"/><Relationship Id="rId58" Type="http://schemas.openxmlformats.org/officeDocument/2006/relationships/hyperlink" Target="https://www.sec.gov/Archives/edgar/data/0001402057/000140205726000062/cdw-2026630earningsrelease.htm" TargetMode="External"/><Relationship Id="rId59" Type="http://schemas.openxmlformats.org/officeDocument/2006/relationships/hyperlink" Target="https://www.sec.gov/Archives/edgar/data/0000069633/000110465926100077/nssc-20260820xex99d1.htm" TargetMode="External"/><Relationship Id="rId60" Type="http://schemas.openxmlformats.org/officeDocument/2006/relationships/hyperlink" Target="https://s201.q4cdn.com/385562537/files/doc_financials/2026/q2/99-1-Earnings-Release-6-30-2026-FINAL.pdf" TargetMode="External"/><Relationship Id="rId61" Type="http://schemas.openxmlformats.org/officeDocument/2006/relationships/hyperlink" Target="https://www.sec.gov/Archives/edgar/data/0001336920/000133692026000243/ldos070326q2pressreleaseex.htm" TargetMode="External"/><Relationship Id="rId62" Type="http://schemas.openxmlformats.org/officeDocument/2006/relationships/hyperlink" Target="https://www.sec.gov/Archives/edgar/data/0001467373/000146737326000037/q4fy26earnings8-kexhibit.htm" TargetMode="External"/><Relationship Id="rId63" Type="http://schemas.openxmlformats.org/officeDocument/2006/relationships/hyperlink" Target="https://www.businesswire.com/news/home/20260723424331/en/" TargetMode="External"/><Relationship Id="rId64" Type="http://schemas.openxmlformats.org/officeDocument/2006/relationships/hyperlink" Target="https://www.sec.gov/Archives/edgar/data/0001585521/000158552126000119/zm-20260731ex991.htm" TargetMode="External"/><Relationship Id="rId65" Type="http://schemas.openxmlformats.org/officeDocument/2006/relationships/hyperlink" Target="https://www.businesswire.com/news/home/20260724644070/en/Booz-Allen-Hamilton-Announces-First-Quarter-Fiscal-Year-2027-Results" TargetMode="External"/><Relationship Id="rId66" Type="http://schemas.openxmlformats.org/officeDocument/2006/relationships/hyperlink" Target="https://www.sec.gov/Archives/edgar/data/0000898293/000162828026063890/jbl-20260930ex991.htm" TargetMode="External"/><Relationship Id="rId67" Type="http://schemas.openxmlformats.org/officeDocument/2006/relationships/hyperlink" Target="https://fred.stlouisfed.org/series/PCU33443344" TargetMode="External"/><Relationship Id="rId68" Type="http://schemas.openxmlformats.org/officeDocument/2006/relationships/hyperlink" Target="https://fred.stlouisfed.org/series/PCOPPUSDM" TargetMode="External"/><Relationship Id="rId69" Type="http://schemas.openxmlformats.org/officeDocument/2006/relationships/hyperlink" Target="https://fred.stlouisfed.org/series/PROFCONS" TargetMode="External"/><Relationship Id="rId70" Type="http://schemas.openxmlformats.org/officeDocument/2006/relationships/hyperlink" Target="https://fred.stlouisfed.org/series/CES6054150001" TargetMode="External"/><Relationship Id="rId71" Type="http://schemas.openxmlformats.org/officeDocument/2006/relationships/hyperlink" Target="https://www.census.gov/construction/c30/pdf/privsa.pdf" TargetMode="External"/><Relationship Id="rId72" Type="http://schemas.openxmlformats.org/officeDocument/2006/relationships/hyperlink" Target="https://fred.stlouisfed.org/series/PCU518210518210" TargetMode="External"/><Relationship Id="rId73" Type="http://schemas.openxmlformats.org/officeDocument/2006/relationships/hyperlink" Target="https://fred.stlouisfed.org/series/A34SNO" TargetMode="External"/><Relationship Id="rId74" Type="http://schemas.openxmlformats.org/officeDocument/2006/relationships/hyperlink" Target="https://fred.stlouisfed.org/series/IPG3344S" TargetMode="External"/><Relationship Id="rId75" Type="http://schemas.openxmlformats.org/officeDocument/2006/relationships/hyperlink" Target="https://fred.stlouisfed.org/series/GS10" TargetMode="External"/><Relationship Id="rId76" Type="http://schemas.openxmlformats.org/officeDocument/2006/relationships/hyperlink" Target="https://www.benchmarkintl.com/insights/completed-transactions/" TargetMode="External"/><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1B1A1A"/>
          </a:solidFill>
          <a:ln>
            <a:noFill/>
          </a:ln>
        </p:spPr>
        <p:txBody>
          <a:bodyPr rtlCol="0" anchor="ctr"/>
          <a:lstStyle/>
          <a:p>
            <a:pPr algn="ctr"/>
            <a:endParaRPr/>
          </a:p>
        </p:txBody>
      </p:sp>
      <p:pic>
        <p:nvPicPr>
          <p:cNvPr id="3" name="Glass office building at night with people working on the li" descr="Glass office building at night with people working on the lit floors"/>
          <p:cNvPicPr>
            <a:picLocks noChangeAspect="1"/>
          </p:cNvPicPr>
          <p:nvPr/>
        </p:nvPicPr>
        <p:blipFill>
          <a:blip r:embed="rId2"/>
          <a:srcRect l="31043" r="31043"/>
          <a:stretch>
            <a:fillRect/>
          </a:stretch>
        </p:blipFill>
        <p:spPr>
          <a:xfrm>
            <a:off x="0" y="0"/>
            <a:ext cx="4191000" cy="7772400"/>
          </a:xfrm>
          <a:prstGeom prst="rect">
            <a:avLst/>
          </a:prstGeom>
        </p:spPr>
      </p:pic>
      <p:pic>
        <p:nvPicPr>
          <p:cNvPr id="4" name="Dark gradient overlay across the cover photo" descr="Dark gradient overlay across the cover photo"/>
          <p:cNvPicPr>
            <a:picLocks noChangeAspect="1"/>
          </p:cNvPicPr>
          <p:nvPr/>
        </p:nvPicPr>
        <p:blipFill>
          <a:blip r:embed="rId3"/>
          <a:stretch>
            <a:fillRect/>
          </a:stretch>
        </p:blipFill>
        <p:spPr>
          <a:xfrm>
            <a:off x="0" y="0"/>
            <a:ext cx="4191000" cy="7772400"/>
          </a:xfrm>
          <a:prstGeom prst="rect">
            <a:avLst/>
          </a:prstGeom>
        </p:spPr>
      </p:pic>
      <p:sp>
        <p:nvSpPr>
          <p:cNvPr id="5" name="Panel"/>
          <p:cNvSpPr/>
          <p:nvPr/>
        </p:nvSpPr>
        <p:spPr>
          <a:xfrm>
            <a:off x="4191000" y="0"/>
            <a:ext cx="5695950" cy="7772400"/>
          </a:xfrm>
          <a:prstGeom prst="rect">
            <a:avLst/>
          </a:prstGeom>
          <a:solidFill>
            <a:srgbClr val="1B1A1A"/>
          </a:solidFill>
          <a:ln>
            <a:noFill/>
          </a:ln>
        </p:spPr>
        <p:txBody>
          <a:bodyPr rtlCol="0" anchor="ctr"/>
          <a:lstStyle/>
          <a:p>
            <a:pPr algn="ctr"/>
            <a:endParaRPr/>
          </a:p>
        </p:txBody>
      </p:sp>
      <p:pic>
        <p:nvPicPr>
          <p:cNvPr id="6" name="Black textured background with the embossed Benchmark Intern" descr="Black textured background with the embossed Benchmark International knot symbol"/>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7" name="Panel"/>
          <p:cNvSpPr/>
          <p:nvPr/>
        </p:nvSpPr>
        <p:spPr>
          <a:xfrm>
            <a:off x="4191000" y="0"/>
            <a:ext cx="57150" cy="7772400"/>
          </a:xfrm>
          <a:prstGeom prst="rect">
            <a:avLst/>
          </a:prstGeom>
          <a:solidFill>
            <a:srgbClr val="B68757"/>
          </a:solidFill>
          <a:ln>
            <a:noFill/>
          </a:ln>
        </p:spPr>
        <p:txBody>
          <a:bodyPr rtlCol="0" anchor="ctr"/>
          <a:lstStyle/>
          <a:p>
            <a:pPr algn="ctr"/>
            <a:endParaRPr/>
          </a:p>
        </p:txBody>
      </p:sp>
      <p:sp>
        <p:nvSpPr>
          <p:cNvPr id="8" name="TextBox 8"/>
          <p:cNvSpPr txBox="1"/>
          <p:nvPr/>
        </p:nvSpPr>
        <p:spPr>
          <a:xfrm>
            <a:off x="419100" y="6838760"/>
            <a:ext cx="3695700" cy="428625"/>
          </a:xfrm>
          <a:prstGeom prst="rect">
            <a:avLst/>
          </a:prstGeom>
          <a:noFill/>
        </p:spPr>
        <p:txBody>
          <a:bodyPr wrap="none" lIns="0" tIns="0" rIns="0" bIns="0" anchor="t">
            <a:noAutofit/>
          </a:bodyPr>
          <a:lstStyle/>
          <a:p>
            <a:pPr algn="l">
              <a:lnSpc>
                <a:spcPts val="1275"/>
              </a:lnSpc>
              <a:spcBef>
                <a:spcPts val="0"/>
              </a:spcBef>
              <a:spcAft>
                <a:spcPts val="0"/>
              </a:spcAft>
            </a:pPr>
            <a:r>
              <a:rPr sz="790" b="1" i="0" spc="165">
                <a:solidFill>
                  <a:srgbClr val="FFFFFF"/>
                </a:solidFill>
                <a:latin typeface="Quicksand"/>
              </a:rPr>
              <a:t>MANAGED IT &amp; CLOUD SERVICES  ·  CYBERSECURITY</a:t>
            </a:r>
            <a:br/>
            <a:r>
              <a:rPr sz="790" b="1" i="0" spc="165">
                <a:solidFill>
                  <a:srgbClr val="FFFFFF"/>
                </a:solidFill>
                <a:latin typeface="Quicksand"/>
              </a:rPr>
              <a:t>TELECOM &amp; UCAAS  ·  SYSTEMS INTEGRATION</a:t>
            </a:r>
            <a:br/>
            <a:r>
              <a:rPr sz="790" b="1" i="0" spc="165">
                <a:solidFill>
                  <a:srgbClr val="FFFFFF"/>
                </a:solidFill>
                <a:latin typeface="Quicksand"/>
              </a:rPr>
              <a:t>ELECTRONICS &amp; HARDWARE  ·  GOVERNMENT TECHNOLOGY</a:t>
            </a:r>
          </a:p>
        </p:txBody>
      </p:sp>
      <p:pic>
        <p:nvPicPr>
          <p:cNvPr id="9" name="Benchmark International logo in white" descr="Benchmark International logo in white"/>
          <p:cNvPicPr>
            <a:picLocks noChangeAspect="1"/>
          </p:cNvPicPr>
          <p:nvPr/>
        </p:nvPicPr>
        <p:blipFill>
          <a:blip r:embed="rId5"/>
          <a:stretch>
            <a:fillRect/>
          </a:stretch>
        </p:blipFill>
        <p:spPr>
          <a:xfrm>
            <a:off x="4724400" y="571500"/>
            <a:ext cx="2438400" cy="457200"/>
          </a:xfrm>
          <a:prstGeom prst="rect">
            <a:avLst/>
          </a:prstGeom>
        </p:spPr>
      </p:pic>
      <p:sp>
        <p:nvSpPr>
          <p:cNvPr id="10" name="TextBox 11"/>
          <p:cNvSpPr txBox="1"/>
          <p:nvPr/>
        </p:nvSpPr>
        <p:spPr>
          <a:xfrm>
            <a:off x="4724400" y="2227040"/>
            <a:ext cx="2848868" cy="133350"/>
          </a:xfrm>
          <a:prstGeom prst="rect">
            <a:avLst/>
          </a:prstGeom>
          <a:noFill/>
        </p:spPr>
        <p:txBody>
          <a:bodyPr wrap="none" lIns="0" tIns="0" rIns="0" bIns="0" anchor="t">
            <a:noAutofit/>
          </a:bodyPr>
          <a:lstStyle/>
          <a:p>
            <a:pPr algn="l">
              <a:lnSpc>
                <a:spcPts val="1200"/>
              </a:lnSpc>
              <a:spcBef>
                <a:spcPts val="0"/>
              </a:spcBef>
              <a:spcAft>
                <a:spcPts val="0"/>
              </a:spcAft>
            </a:pPr>
            <a:r>
              <a:rPr sz="900" b="1" i="0" spc="225">
                <a:solidFill>
                  <a:srgbClr val="D3AE84"/>
                </a:solidFill>
                <a:latin typeface="Quicksand"/>
              </a:rPr>
              <a:t>QUARTERLY INDUSTRY REPORT  |  Q4 2026</a:t>
            </a:r>
          </a:p>
        </p:txBody>
      </p:sp>
      <p:sp>
        <p:nvSpPr>
          <p:cNvPr id="11" name="Title 1"/>
          <p:cNvSpPr>
            <a:spLocks noGrp="1"/>
          </p:cNvSpPr>
          <p:nvPr>
            <p:ph type="title"/>
          </p:nvPr>
        </p:nvSpPr>
        <p:spPr>
          <a:xfrm>
            <a:off x="4724400" y="2554605"/>
            <a:ext cx="7772400" cy="771525"/>
          </a:xfrm>
        </p:spPr>
        <p:txBody>
          <a:bodyPr wrap="none" lIns="0" tIns="0" r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2" name="Panel"/>
          <p:cNvSpPr/>
          <p:nvPr/>
        </p:nvSpPr>
        <p:spPr>
          <a:xfrm>
            <a:off x="4724400" y="3333750"/>
            <a:ext cx="914400" cy="19050"/>
          </a:xfrm>
          <a:prstGeom prst="rect">
            <a:avLst/>
          </a:prstGeom>
          <a:solidFill>
            <a:srgbClr val="B68757"/>
          </a:solidFill>
          <a:ln>
            <a:noFill/>
          </a:ln>
        </p:spPr>
        <p:txBody>
          <a:bodyPr rtlCol="0" anchor="ctr"/>
          <a:lstStyle/>
          <a:p>
            <a:pPr algn="ctr"/>
            <a:endParaRPr/>
          </a:p>
        </p:txBody>
      </p:sp>
      <p:sp>
        <p:nvSpPr>
          <p:cNvPr id="13" name="TextBox 13"/>
          <p:cNvSpPr txBox="1"/>
          <p:nvPr/>
        </p:nvSpPr>
        <p:spPr>
          <a:xfrm>
            <a:off x="4724400" y="3478530"/>
            <a:ext cx="4991100" cy="457200"/>
          </a:xfrm>
          <a:prstGeom prst="rect">
            <a:avLst/>
          </a:prstGeom>
          <a:noFill/>
        </p:spPr>
        <p:txBody>
          <a:bodyPr wrap="square" lIns="0" tIns="0" rIns="0" bIns="0" anchor="t">
            <a:noAutofit/>
          </a:bodyPr>
          <a:lstStyle/>
          <a:p>
            <a:pPr algn="l">
              <a:lnSpc>
                <a:spcPts val="2100"/>
              </a:lnSpc>
              <a:spcBef>
                <a:spcPts val="0"/>
              </a:spcBef>
              <a:spcAft>
                <a:spcPts val="0"/>
              </a:spcAft>
            </a:pPr>
            <a:r>
              <a:rPr sz="1500" b="0" i="1">
                <a:solidFill>
                  <a:srgbClr val="F1ECE5"/>
                </a:solidFill>
                <a:latin typeface="Newsreader"/>
              </a:rPr>
              <a:t>Mergers and acquisitions across technology services, hardware, and government technology</a:t>
            </a:r>
          </a:p>
        </p:txBody>
      </p:sp>
      <p:sp>
        <p:nvSpPr>
          <p:cNvPr id="14" name="TextBox 14"/>
          <p:cNvSpPr txBox="1"/>
          <p:nvPr/>
        </p:nvSpPr>
        <p:spPr>
          <a:xfrm>
            <a:off x="4724400" y="4619530"/>
            <a:ext cx="1286917" cy="114300"/>
          </a:xfrm>
          <a:prstGeom prst="rect">
            <a:avLst/>
          </a:prstGeom>
          <a:noFill/>
        </p:spPr>
        <p:txBody>
          <a:bodyPr wrap="none" lIns="0" tIns="0" rIns="0" bIns="0" anchor="t">
            <a:noAutofit/>
          </a:bodyPr>
          <a:lstStyle/>
          <a:p>
            <a:pPr algn="l">
              <a:lnSpc>
                <a:spcPts val="1050"/>
              </a:lnSpc>
              <a:spcBef>
                <a:spcPts val="0"/>
              </a:spcBef>
              <a:spcAft>
                <a:spcPts val="0"/>
              </a:spcAft>
            </a:pPr>
            <a:r>
              <a:rPr sz="810" b="1" i="0" spc="225">
                <a:solidFill>
                  <a:srgbClr val="D3AE84"/>
                </a:solidFill>
                <a:latin typeface="Quicksand"/>
              </a:rPr>
              <a:t>WHAT'S INCLUDED</a:t>
            </a:r>
          </a:p>
        </p:txBody>
      </p:sp>
      <p:sp>
        <p:nvSpPr>
          <p:cNvPr id="15" name="Rule"/>
          <p:cNvSpPr/>
          <p:nvPr/>
        </p:nvSpPr>
        <p:spPr>
          <a:xfrm>
            <a:off x="4724400" y="4861560"/>
            <a:ext cx="4914900" cy="9525"/>
          </a:xfrm>
          <a:prstGeom prst="rect">
            <a:avLst/>
          </a:prstGeom>
          <a:solidFill>
            <a:srgbClr val="FFFFFF">
              <a:alpha val="16000"/>
            </a:srgbClr>
          </a:solidFill>
          <a:ln>
            <a:noFill/>
          </a:ln>
        </p:spPr>
        <p:txBody>
          <a:bodyPr rtlCol="0" anchor="ctr"/>
          <a:lstStyle/>
          <a:p>
            <a:pPr algn="ctr"/>
            <a:endParaRPr/>
          </a:p>
        </p:txBody>
      </p:sp>
      <p:sp>
        <p:nvSpPr>
          <p:cNvPr id="16" name="TextBox 16"/>
          <p:cNvSpPr txBox="1"/>
          <p:nvPr/>
        </p:nvSpPr>
        <p:spPr>
          <a:xfrm>
            <a:off x="4724400" y="4989195"/>
            <a:ext cx="255389" cy="257175"/>
          </a:xfrm>
          <a:prstGeom prst="rect">
            <a:avLst/>
          </a:prstGeom>
          <a:noFill/>
        </p:spPr>
        <p:txBody>
          <a:bodyPr wrap="none" lIns="0" tIns="0" r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7" name="TextBox 17"/>
          <p:cNvSpPr txBox="1"/>
          <p:nvPr/>
        </p:nvSpPr>
        <p:spPr>
          <a:xfrm>
            <a:off x="5162550" y="5010531"/>
            <a:ext cx="710952" cy="142875"/>
          </a:xfrm>
          <a:prstGeom prst="rect">
            <a:avLst/>
          </a:prstGeom>
          <a:noFill/>
        </p:spPr>
        <p:txBody>
          <a:bodyPr wrap="none" lIns="0" tIns="0" rIns="0" bIns="0" anchor="t">
            <a:noAutofit/>
          </a:bodyPr>
          <a:lstStyle/>
          <a:p>
            <a:pPr algn="l">
              <a:lnSpc>
                <a:spcPts val="1350"/>
              </a:lnSpc>
              <a:spcBef>
                <a:spcPts val="0"/>
              </a:spcBef>
              <a:spcAft>
                <a:spcPts val="0"/>
              </a:spcAft>
            </a:pPr>
            <a:r>
              <a:rPr sz="970" b="1" i="0" spc="135">
                <a:solidFill>
                  <a:srgbClr val="FFFFFF"/>
                </a:solidFill>
                <a:latin typeface="Quicksand"/>
              </a:rPr>
              <a:t>INSIGHTS</a:t>
            </a:r>
          </a:p>
        </p:txBody>
      </p:sp>
      <p:sp>
        <p:nvSpPr>
          <p:cNvPr id="18" name="TextBox 18"/>
          <p:cNvSpPr txBox="1"/>
          <p:nvPr/>
        </p:nvSpPr>
        <p:spPr>
          <a:xfrm>
            <a:off x="6610350" y="5010531"/>
            <a:ext cx="3105150" cy="314325"/>
          </a:xfrm>
          <a:prstGeom prst="rect">
            <a:avLst/>
          </a:prstGeom>
          <a:noFill/>
        </p:spPr>
        <p:txBody>
          <a:bodyPr wrap="square" lIns="0" tIns="0" rIns="0" bIns="0" anchor="t">
            <a:noAutofit/>
          </a:bodyPr>
          <a:lstStyle/>
          <a:p>
            <a:pPr algn="l">
              <a:lnSpc>
                <a:spcPts val="1455"/>
              </a:lnSpc>
              <a:spcBef>
                <a:spcPts val="0"/>
              </a:spcBef>
              <a:spcAft>
                <a:spcPts val="0"/>
              </a:spcAft>
            </a:pPr>
            <a:r>
              <a:rPr sz="970" b="0" i="0" spc="15">
                <a:solidFill>
                  <a:srgbClr val="C3BDB6"/>
                </a:solidFill>
                <a:latin typeface="Quicksand"/>
              </a:rPr>
              <a:t>Key trends, costs buyers are repricing, perspectives on six focus areas, what we are reading, and our view</a:t>
            </a:r>
          </a:p>
        </p:txBody>
      </p:sp>
      <p:sp>
        <p:nvSpPr>
          <p:cNvPr id="19" name="Rule"/>
          <p:cNvSpPr/>
          <p:nvPr/>
        </p:nvSpPr>
        <p:spPr>
          <a:xfrm>
            <a:off x="4724400" y="5490210"/>
            <a:ext cx="4914900" cy="9525"/>
          </a:xfrm>
          <a:prstGeom prst="rect">
            <a:avLst/>
          </a:prstGeom>
          <a:solidFill>
            <a:srgbClr val="FFFFFF">
              <a:alpha val="16000"/>
            </a:srgbClr>
          </a:solidFill>
          <a:ln>
            <a:noFill/>
          </a:ln>
        </p:spPr>
        <p:txBody>
          <a:bodyPr rtlCol="0" anchor="ctr"/>
          <a:lstStyle/>
          <a:p>
            <a:pPr algn="ctr"/>
            <a:endParaRPr/>
          </a:p>
        </p:txBody>
      </p:sp>
      <p:sp>
        <p:nvSpPr>
          <p:cNvPr id="20" name="TextBox 20"/>
          <p:cNvSpPr txBox="1"/>
          <p:nvPr/>
        </p:nvSpPr>
        <p:spPr>
          <a:xfrm>
            <a:off x="4724400" y="5617845"/>
            <a:ext cx="290364" cy="257175"/>
          </a:xfrm>
          <a:prstGeom prst="rect">
            <a:avLst/>
          </a:prstGeom>
          <a:noFill/>
        </p:spPr>
        <p:txBody>
          <a:bodyPr wrap="none" lIns="0" tIns="0" r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1" name="TextBox 21"/>
          <p:cNvSpPr txBox="1"/>
          <p:nvPr/>
        </p:nvSpPr>
        <p:spPr>
          <a:xfrm>
            <a:off x="5162550" y="5639181"/>
            <a:ext cx="1283047" cy="142875"/>
          </a:xfrm>
          <a:prstGeom prst="rect">
            <a:avLst/>
          </a:prstGeom>
          <a:noFill/>
        </p:spPr>
        <p:txBody>
          <a:bodyPr wrap="none" lIns="0" tIns="0" rIns="0" bIns="0" anchor="t">
            <a:noAutofit/>
          </a:bodyPr>
          <a:lstStyle/>
          <a:p>
            <a:pPr algn="l">
              <a:lnSpc>
                <a:spcPts val="1350"/>
              </a:lnSpc>
              <a:spcBef>
                <a:spcPts val="0"/>
              </a:spcBef>
              <a:spcAft>
                <a:spcPts val="0"/>
              </a:spcAft>
            </a:pPr>
            <a:r>
              <a:rPr sz="970" b="1" i="0" spc="135">
                <a:solidFill>
                  <a:srgbClr val="FFFFFF"/>
                </a:solidFill>
                <a:latin typeface="Quicksand"/>
              </a:rPr>
              <a:t>SECTOR ACTIVITY</a:t>
            </a:r>
          </a:p>
        </p:txBody>
      </p:sp>
      <p:sp>
        <p:nvSpPr>
          <p:cNvPr id="22" name="TextBox 22"/>
          <p:cNvSpPr txBox="1"/>
          <p:nvPr/>
        </p:nvSpPr>
        <p:spPr>
          <a:xfrm>
            <a:off x="6610350" y="5639181"/>
            <a:ext cx="3105150" cy="485775"/>
          </a:xfrm>
          <a:prstGeom prst="rect">
            <a:avLst/>
          </a:prstGeom>
          <a:noFill/>
        </p:spPr>
        <p:txBody>
          <a:bodyPr wrap="square" lIns="0" tIns="0" rIns="0" bIns="0" anchor="t">
            <a:noAutofit/>
          </a:bodyPr>
          <a:lstStyle/>
          <a:p>
            <a:pPr algn="l">
              <a:lnSpc>
                <a:spcPts val="1455"/>
              </a:lnSpc>
              <a:spcBef>
                <a:spcPts val="0"/>
              </a:spcBef>
              <a:spcAft>
                <a:spcPts val="0"/>
              </a:spcAft>
            </a:pPr>
            <a:r>
              <a:rPr sz="970" b="0" i="0" spc="15">
                <a:solidFill>
                  <a:srgbClr val="C3BDB6"/>
                </a:solidFill>
                <a:latin typeface="Quicksand"/>
              </a:rPr>
              <a:t>Twelve recent M&amp;A transactions, buyer profiles, 51 listed companies, earnings commentary, and eight cost and demand indicators</a:t>
            </a:r>
          </a:p>
        </p:txBody>
      </p:sp>
      <p:sp>
        <p:nvSpPr>
          <p:cNvPr id="23" name="Rule"/>
          <p:cNvSpPr/>
          <p:nvPr/>
        </p:nvSpPr>
        <p:spPr>
          <a:xfrm>
            <a:off x="4724400" y="6290310"/>
            <a:ext cx="4914900" cy="9525"/>
          </a:xfrm>
          <a:prstGeom prst="rect">
            <a:avLst/>
          </a:prstGeom>
          <a:solidFill>
            <a:srgbClr val="FFFFFF">
              <a:alpha val="16000"/>
            </a:srgbClr>
          </a:solidFill>
          <a:ln>
            <a:noFill/>
          </a:ln>
        </p:spPr>
        <p:txBody>
          <a:bodyPr rtlCol="0" anchor="ctr"/>
          <a:lstStyle/>
          <a:p>
            <a:pPr algn="ctr"/>
            <a:endParaRPr/>
          </a:p>
        </p:txBody>
      </p:sp>
      <p:sp>
        <p:nvSpPr>
          <p:cNvPr id="24" name="TextBox 24"/>
          <p:cNvSpPr txBox="1"/>
          <p:nvPr/>
        </p:nvSpPr>
        <p:spPr>
          <a:xfrm>
            <a:off x="4724400" y="6417945"/>
            <a:ext cx="282773" cy="257175"/>
          </a:xfrm>
          <a:prstGeom prst="rect">
            <a:avLst/>
          </a:prstGeom>
          <a:noFill/>
        </p:spPr>
        <p:txBody>
          <a:bodyPr wrap="none" lIns="0" tIns="0" r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5" name="TextBox 25"/>
          <p:cNvSpPr txBox="1"/>
          <p:nvPr/>
        </p:nvSpPr>
        <p:spPr>
          <a:xfrm>
            <a:off x="5162550" y="6439281"/>
            <a:ext cx="1426464" cy="310896"/>
          </a:xfrm>
          <a:prstGeom prst="rect">
            <a:avLst/>
          </a:prstGeom>
          <a:noFill/>
        </p:spPr>
        <p:txBody>
          <a:bodyPr wrap="square" lIns="0" tIns="0" rIns="0" bIns="0" anchor="t">
            <a:noAutofit/>
          </a:bodyPr>
          <a:lstStyle/>
          <a:p>
            <a:pPr algn="l">
              <a:lnSpc>
                <a:spcPts val="1455"/>
              </a:lnSpc>
              <a:spcBef>
                <a:spcPts val="0"/>
              </a:spcBef>
              <a:spcAft>
                <a:spcPts val="0"/>
              </a:spcAft>
            </a:pPr>
            <a:r>
              <a:rPr sz="970" b="1" i="0" spc="135">
                <a:solidFill>
                  <a:srgbClr val="FFFFFF"/>
                </a:solidFill>
                <a:latin typeface="Quicksand"/>
              </a:rPr>
              <a:t>ABOUT BENCHMARK</a:t>
            </a:r>
            <a:br/>
            <a:r>
              <a:rPr sz="970" b="1" i="0" spc="135">
                <a:solidFill>
                  <a:srgbClr val="FFFFFF"/>
                </a:solidFill>
                <a:latin typeface="Quicksand"/>
              </a:rPr>
              <a:t>INTERNATIONAL</a:t>
            </a:r>
          </a:p>
        </p:txBody>
      </p:sp>
      <p:sp>
        <p:nvSpPr>
          <p:cNvPr id="26" name="TextBox 26"/>
          <p:cNvSpPr txBox="1"/>
          <p:nvPr/>
        </p:nvSpPr>
        <p:spPr>
          <a:xfrm>
            <a:off x="6610350" y="6439281"/>
            <a:ext cx="3108960" cy="310896"/>
          </a:xfrm>
          <a:prstGeom prst="rect">
            <a:avLst/>
          </a:prstGeom>
          <a:noFill/>
        </p:spPr>
        <p:txBody>
          <a:bodyPr wrap="square" lIns="0" tIns="0" rIns="0" bIns="0" anchor="t">
            <a:noAutofit/>
          </a:bodyPr>
          <a:lstStyle/>
          <a:p>
            <a:pPr algn="l">
              <a:lnSpc>
                <a:spcPts val="1455"/>
              </a:lnSpc>
              <a:spcBef>
                <a:spcPts val="0"/>
              </a:spcBef>
              <a:spcAft>
                <a:spcPts val="0"/>
              </a:spcAft>
            </a:pPr>
            <a:r>
              <a:rPr sz="970" b="0" i="0" spc="15">
                <a:solidFill>
                  <a:srgbClr val="C3BDB6"/>
                </a:solidFill>
                <a:latin typeface="Quicksand"/>
              </a:rPr>
              <a:t>The firm, the Middle Market team, and how to start a conversation</a:t>
            </a:r>
          </a:p>
        </p:txBody>
      </p:sp>
      <p:sp>
        <p:nvSpPr>
          <p:cNvPr id="27" name="Rule"/>
          <p:cNvSpPr/>
          <p:nvPr/>
        </p:nvSpPr>
        <p:spPr>
          <a:xfrm>
            <a:off x="4724400" y="7077075"/>
            <a:ext cx="4914900" cy="9525"/>
          </a:xfrm>
          <a:prstGeom prst="rect">
            <a:avLst/>
          </a:prstGeom>
          <a:solidFill>
            <a:srgbClr val="FFFFFF">
              <a:alpha val="16000"/>
            </a:srgbClr>
          </a:solidFill>
          <a:ln>
            <a:noFill/>
          </a:ln>
        </p:spPr>
        <p:txBody>
          <a:bodyPr rtlCol="0" anchor="ctr"/>
          <a:lstStyle/>
          <a:p>
            <a:pPr algn="ctr"/>
            <a:endParaRPr/>
          </a:p>
        </p:txBody>
      </p:sp>
      <p:sp>
        <p:nvSpPr>
          <p:cNvPr id="28" name="TextBox 28"/>
          <p:cNvSpPr txBox="1"/>
          <p:nvPr/>
        </p:nvSpPr>
        <p:spPr>
          <a:xfrm>
            <a:off x="4724400" y="7206520"/>
            <a:ext cx="3387923" cy="114300"/>
          </a:xfrm>
          <a:prstGeom prst="rect">
            <a:avLst/>
          </a:prstGeom>
          <a:noFill/>
        </p:spPr>
        <p:txBody>
          <a:bodyPr wrap="none" lIns="0" tIns="0" rIns="0" bIns="0" anchor="t">
            <a:noAutofit/>
          </a:bodyPr>
          <a:lstStyle/>
          <a:p>
            <a:pPr algn="l">
              <a:lnSpc>
                <a:spcPts val="1050"/>
              </a:lnSpc>
              <a:spcBef>
                <a:spcPts val="0"/>
              </a:spcBef>
              <a:spcAft>
                <a:spcPts val="0"/>
              </a:spcAft>
            </a:pPr>
            <a:r>
              <a:rPr sz="810"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Shape 7"/>
          <p:cNvSpPr/>
          <p:nvPr/>
        </p:nvSpPr>
        <p:spPr>
          <a:xfrm>
            <a:off x="419100" y="1143000"/>
            <a:ext cx="9220200" cy="9525"/>
          </a:xfrm>
          <a:prstGeom prst="rect">
            <a:avLst/>
          </a:prstGeom>
          <a:solidFill>
            <a:srgbClr val="E3DCD3"/>
          </a:solidFill>
          <a:ln/>
        </p:spPr>
        <p:txBody>
          <a:bodyPr/>
          <a:lstStyle/>
          <a:p>
            <a:endParaRPr lang="en-US"/>
          </a:p>
        </p:txBody>
      </p:sp>
      <p:sp>
        <p:nvSpPr>
          <p:cNvPr id="5" name="Text 5"/>
          <p:cNvSpPr/>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latin typeface="Newsreader"/>
              </a:rPr>
              <a:t>Important Disclosures</a:t>
            </a:r>
            <a:endParaRPr lang="en-US" sz="2025" dirty="0">
              <a:latin typeface="Newsreader"/>
            </a:endParaRPr>
          </a:p>
        </p:txBody>
      </p:sp>
      <p:sp>
        <p:nvSpPr>
          <p:cNvPr id="7" name="Text 5"/>
          <p:cNvSpPr/>
          <p:nvPr/>
        </p:nvSpPr>
        <p:spPr>
          <a:xfrm>
            <a:off x="1543050" y="7096125"/>
            <a:ext cx="7620000" cy="285750"/>
          </a:xfrm>
          <a:prstGeom prst="rect">
            <a:avLst/>
          </a:prstGeom>
          <a:noFill/>
          <a:ln/>
        </p:spPr>
        <p:txBody>
          <a:bodyPr wrap="square" lIns="0" tIns="0" rIns="0" bIns="0" rtlCol="0" anchor="b"/>
          <a:lstStyle/>
          <a:p>
            <a:pPr marL="0" indent="0">
              <a:buNone/>
            </a:pPr>
            <a:r>
              <a:rPr lang="en-US" sz="790" dirty="0">
                <a:solidFill>
                  <a:srgbClr val="6F6A66"/>
                </a:solidFill>
                <a:latin typeface="Quicksand"/>
              </a:rPr>
              <a:t>Information in this report is as of October 19, 2026, unless stated otherwise.</a:t>
            </a:r>
            <a:endParaRPr lang="en-US" sz="790" dirty="0">
              <a:latin typeface="Quicksand"/>
            </a:endParaRPr>
          </a:p>
        </p:txBody>
      </p:sp>
      <p:sp>
        <p:nvSpPr>
          <p:cNvPr id="8" name="Text 3"/>
          <p:cNvSpPr txBox="1"/>
          <p:nvPr/>
        </p:nvSpPr>
        <p:spPr>
          <a:xfrm>
            <a:off x="419099" y="1257300"/>
            <a:ext cx="9220199" cy="5657850"/>
          </a:xfrm>
          <a:prstGeom prst="rect">
            <a:avLst/>
          </a:prstGeom>
          <a:noFill/>
          <a:ln/>
        </p:spPr>
        <p:txBody>
          <a:bodyPr wrap="square" lIns="0" tIns="0" rIns="0" bIns="0" rtlCol="0" anchor="t"/>
          <a:lstStyle/>
          <a:p>
            <a:pPr marL="0" indent="0">
              <a:lnSpc>
                <a:spcPts val="1396"/>
              </a:lnSpc>
              <a:spcAft>
                <a:spcPts val="865"/>
              </a:spcAft>
              <a:buNone/>
            </a:pPr>
            <a:r>
              <a:rPr lang="en-US" sz="925" dirty="0">
                <a:solidFill>
                  <a:srgbClr val="333231"/>
                </a:solidFill>
                <a:latin typeface="Quicksand"/>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925" dirty="0">
              <a:latin typeface="Quicksand"/>
            </a:endParaRPr>
          </a:p>
          <a:p>
            <a:pPr marL="0" indent="0">
              <a:lnSpc>
                <a:spcPts val="1396"/>
              </a:lnSpc>
              <a:spcAft>
                <a:spcPts val="865"/>
              </a:spcAft>
              <a:buNone/>
            </a:pPr>
            <a:r>
              <a:rPr lang="en-US" sz="925" dirty="0">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925" dirty="0">
              <a:latin typeface="Quicksand"/>
            </a:endParaRPr>
          </a:p>
          <a:p>
            <a:pPr marL="0" indent="0">
              <a:lnSpc>
                <a:spcPts val="1396"/>
              </a:lnSpc>
              <a:spcAft>
                <a:spcPts val="865"/>
              </a:spcAft>
              <a:buNone/>
            </a:pPr>
            <a:r>
              <a:rPr lang="en-US" sz="925" dirty="0">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925" dirty="0">
              <a:latin typeface="Quicksand"/>
            </a:endParaRPr>
          </a:p>
        </p:txBody>
      </p:sp>
      <p:sp>
        <p:nvSpPr>
          <p:cNvPr id="9" name="Text 4"/>
          <p:cNvSpPr txBox="1"/>
          <p:nvPr/>
        </p:nvSpPr>
        <p:spPr>
          <a:xfrm>
            <a:off x="419097" y="2868241"/>
            <a:ext cx="9220201" cy="4113584"/>
          </a:xfrm>
          <a:prstGeom prst="rect">
            <a:avLst/>
          </a:prstGeom>
          <a:noFill/>
          <a:ln/>
        </p:spPr>
        <p:txBody>
          <a:bodyPr wrap="square" lIns="0" tIns="0" rIns="0" bIns="0" rtlCol="0" anchor="t"/>
          <a:lstStyle/>
          <a:p>
            <a:pPr marL="0" indent="0">
              <a:lnSpc>
                <a:spcPts val="1396"/>
              </a:lnSpc>
              <a:spcAft>
                <a:spcPts val="865"/>
              </a:spcAft>
              <a:buNone/>
            </a:pPr>
            <a:r>
              <a:rPr lang="en-US" sz="925" dirty="0">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925" dirty="0">
              <a:latin typeface="Quicksand"/>
            </a:endParaRPr>
          </a:p>
          <a:p>
            <a:pPr marL="0" indent="0">
              <a:lnSpc>
                <a:spcPts val="1396"/>
              </a:lnSpc>
              <a:spcAft>
                <a:spcPts val="865"/>
              </a:spcAft>
              <a:buNone/>
            </a:pPr>
            <a:r>
              <a:rPr lang="en-US" sz="925" dirty="0">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endParaRPr lang="en-US" sz="925" dirty="0">
              <a:latin typeface="Quicksand"/>
            </a:endParaRPr>
          </a:p>
          <a:p>
            <a:pPr marL="0" indent="0">
              <a:lnSpc>
                <a:spcPts val="1396"/>
              </a:lnSpc>
              <a:spcAft>
                <a:spcPts val="865"/>
              </a:spcAft>
              <a:buNone/>
            </a:pPr>
            <a:r>
              <a:rPr lang="en-US" sz="925" dirty="0">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925" dirty="0">
              <a:latin typeface="Quicksand"/>
            </a:endParaRPr>
          </a:p>
        </p:txBody>
      </p:sp>
      <p:sp>
        <p:nvSpPr>
          <p:cNvPr id="10"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1"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2" name="Shape 9"/>
          <p:cNvSpPr/>
          <p:nvPr/>
        </p:nvSpPr>
        <p:spPr>
          <a:xfrm>
            <a:off x="419100" y="7029450"/>
            <a:ext cx="9220200" cy="9525"/>
          </a:xfrm>
          <a:prstGeom prst="rect">
            <a:avLst/>
          </a:prstGeom>
          <a:solidFill>
            <a:srgbClr val="E3DCD3"/>
          </a:solidFill>
          <a:ln/>
        </p:spPr>
        <p:txBody>
          <a:bodyPr/>
          <a:lstStyle/>
          <a:p>
            <a:endParaRPr lang="en-US"/>
          </a:p>
        </p:txBody>
      </p:sp>
      <p:pic>
        <p:nvPicPr>
          <p:cNvPr id="13"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4"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02</a:t>
            </a:r>
            <a:endParaRPr lang="en-US" sz="81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5" name="TextBox 6"/>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dirty="0">
                <a:solidFill>
                  <a:srgbClr val="6F6A66"/>
                </a:solidFill>
                <a:latin typeface="Quicksand"/>
              </a:rPr>
              <a:t>The Mid</a:t>
            </a:r>
            <a:r>
              <a:rPr lang="en-US" sz="1015" b="0" i="0" spc="15" dirty="0">
                <a:solidFill>
                  <a:srgbClr val="6F6A66"/>
                </a:solidFill>
                <a:latin typeface="Quicksand"/>
              </a:rPr>
              <a:t>dle </a:t>
            </a:r>
            <a:r>
              <a:rPr sz="1015" b="0" i="0" spc="15" dirty="0">
                <a:solidFill>
                  <a:srgbClr val="6F6A66"/>
                </a:solidFill>
                <a:latin typeface="Quicksand"/>
              </a:rPr>
              <a:t>Market team leads each engagement from the first conversation through signing and closing.</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8" name="Black textured background with the embossed Benchmark Intern" descr="Black textured background with the embossed Benchmark International knot symbol"/>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9" name="TextBox 10"/>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0" name="Panel"/>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1" name="TextBox 12"/>
          <p:cNvSpPr txBox="1"/>
          <p:nvPr/>
        </p:nvSpPr>
        <p:spPr>
          <a:xfrm>
            <a:off x="609600" y="2130171"/>
            <a:ext cx="1733550" cy="1228725"/>
          </a:xfrm>
          <a:prstGeom prst="rect">
            <a:avLst/>
          </a:prstGeom>
          <a:noFill/>
        </p:spPr>
        <p:txBody>
          <a:bodyPr wrap="square" lIns="0" tIns="0" rIns="0" bIns="0" anchor="t">
            <a:noAutofit/>
          </a:bodyPr>
          <a:lstStyle/>
          <a:p>
            <a:pPr algn="l">
              <a:lnSpc>
                <a:spcPts val="1536"/>
              </a:lnSpc>
              <a:spcBef>
                <a:spcPts val="0"/>
              </a:spcBef>
              <a:spcAft>
                <a:spcPts val="0"/>
              </a:spcAft>
            </a:pPr>
            <a:r>
              <a:rPr sz="970" b="0" i="0" spc="15" dirty="0">
                <a:solidFill>
                  <a:srgbClr val="E8E2DA"/>
                </a:solidFill>
                <a:latin typeface="Quicksand"/>
              </a:rPr>
              <a:t>The M</a:t>
            </a:r>
            <a:r>
              <a:rPr lang="en-US" sz="970" b="0" i="0" spc="15" dirty="0">
                <a:solidFill>
                  <a:srgbClr val="E8E2DA"/>
                </a:solidFill>
                <a:latin typeface="Quicksand"/>
              </a:rPr>
              <a:t>i</a:t>
            </a:r>
            <a:r>
              <a:rPr sz="970" b="0" i="0" spc="15" dirty="0">
                <a:solidFill>
                  <a:srgbClr val="E8E2DA"/>
                </a:solidFill>
                <a:latin typeface="Quicksand"/>
              </a:rPr>
              <a:t>d</a:t>
            </a:r>
            <a:r>
              <a:rPr lang="en-US" sz="970" b="0" i="0" spc="15" dirty="0">
                <a:solidFill>
                  <a:srgbClr val="E8E2DA"/>
                </a:solidFill>
                <a:latin typeface="Quicksand"/>
              </a:rPr>
              <a:t>dl</a:t>
            </a:r>
            <a:r>
              <a:rPr lang="en-US" sz="970" spc="15" dirty="0">
                <a:solidFill>
                  <a:srgbClr val="E8E2DA"/>
                </a:solidFill>
                <a:latin typeface="Quicksand"/>
              </a:rPr>
              <a:t>e </a:t>
            </a:r>
            <a:r>
              <a:rPr sz="97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2" name="TextBox 13"/>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D3AE84"/>
                </a:solidFill>
                <a:latin typeface="Quicksand"/>
              </a:rPr>
              <a:t>HEADQUARTERS</a:t>
            </a:r>
          </a:p>
        </p:txBody>
      </p:sp>
      <p:sp>
        <p:nvSpPr>
          <p:cNvPr id="13"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4" name="TextBox 15"/>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1055" b="0" i="0" spc="225">
                <a:solidFill>
                  <a:srgbClr val="D3AE84"/>
                </a:solidFill>
                <a:latin typeface="Cinzel"/>
              </a:rPr>
              <a:t>AMERICAS</a:t>
            </a:r>
          </a:p>
        </p:txBody>
      </p:sp>
      <p:sp>
        <p:nvSpPr>
          <p:cNvPr id="15" name="TextBox 16"/>
          <p:cNvSpPr txBox="1"/>
          <p:nvPr/>
        </p:nvSpPr>
        <p:spPr>
          <a:xfrm>
            <a:off x="609600" y="4389215"/>
            <a:ext cx="1733550" cy="428625"/>
          </a:xfrm>
          <a:prstGeom prst="rect">
            <a:avLst/>
          </a:prstGeom>
          <a:noFill/>
        </p:spPr>
        <p:txBody>
          <a:bodyPr wrap="square" lIns="0" tIns="0" rIns="0" bIns="0" anchor="t">
            <a:noAutofit/>
          </a:bodyPr>
          <a:lstStyle/>
          <a:p>
            <a:pPr algn="l">
              <a:lnSpc>
                <a:spcPts val="1327"/>
              </a:lnSpc>
              <a:spcBef>
                <a:spcPts val="0"/>
              </a:spcBef>
              <a:spcAft>
                <a:spcPts val="0"/>
              </a:spcAft>
            </a:pPr>
            <a:r>
              <a:rPr sz="900" b="0" i="0" spc="15">
                <a:solidFill>
                  <a:srgbClr val="E8E2DA"/>
                </a:solidFill>
                <a:latin typeface="Quicksand"/>
              </a:rPr>
              <a:t>4030 West Boy Scout Blvd.</a:t>
            </a:r>
            <a:br/>
            <a:r>
              <a:rPr sz="900" b="0" i="0" spc="15">
                <a:solidFill>
                  <a:srgbClr val="E8E2DA"/>
                </a:solidFill>
                <a:latin typeface="Quicksand"/>
              </a:rPr>
              <a:t>Suite 500, Tampa, FL 33607</a:t>
            </a:r>
            <a:br/>
            <a:r>
              <a:rPr sz="900" b="0" i="0" spc="15">
                <a:solidFill>
                  <a:srgbClr val="E8E2DA"/>
                </a:solidFill>
                <a:latin typeface="Quicksand"/>
              </a:rPr>
              <a:t>+1 813 898 2350</a:t>
            </a:r>
          </a:p>
        </p:txBody>
      </p:sp>
      <p:sp>
        <p:nvSpPr>
          <p:cNvPr id="16"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7" name="TextBox 18"/>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1055" b="0" i="0" spc="225">
                <a:solidFill>
                  <a:srgbClr val="D3AE84"/>
                </a:solidFill>
                <a:latin typeface="Cinzel"/>
              </a:rPr>
              <a:t>EUROPE</a:t>
            </a:r>
          </a:p>
        </p:txBody>
      </p:sp>
      <p:sp>
        <p:nvSpPr>
          <p:cNvPr id="18" name="TextBox 19"/>
          <p:cNvSpPr txBox="1"/>
          <p:nvPr/>
        </p:nvSpPr>
        <p:spPr>
          <a:xfrm>
            <a:off x="609600" y="5251228"/>
            <a:ext cx="1733550" cy="428625"/>
          </a:xfrm>
          <a:prstGeom prst="rect">
            <a:avLst/>
          </a:prstGeom>
          <a:noFill/>
        </p:spPr>
        <p:txBody>
          <a:bodyPr wrap="square" lIns="0" tIns="0" rIns="0" bIns="0" anchor="t">
            <a:noAutofit/>
          </a:bodyPr>
          <a:lstStyle/>
          <a:p>
            <a:pPr algn="l">
              <a:lnSpc>
                <a:spcPts val="1327"/>
              </a:lnSpc>
              <a:spcBef>
                <a:spcPts val="0"/>
              </a:spcBef>
              <a:spcAft>
                <a:spcPts val="0"/>
              </a:spcAft>
            </a:pPr>
            <a:r>
              <a:rPr sz="900" b="0" i="0" spc="15">
                <a:solidFill>
                  <a:srgbClr val="E8E2DA"/>
                </a:solidFill>
                <a:latin typeface="Quicksand"/>
              </a:rPr>
              <a:t>One New Bailey, 4 Stanley St.</a:t>
            </a:r>
            <a:br/>
            <a:r>
              <a:rPr sz="900" b="0" i="0" spc="15">
                <a:solidFill>
                  <a:srgbClr val="E8E2DA"/>
                </a:solidFill>
                <a:latin typeface="Quicksand"/>
              </a:rPr>
              <a:t>Manchester, M3 5JL</a:t>
            </a:r>
            <a:br/>
            <a:r>
              <a:rPr sz="900" b="0" i="0" spc="15">
                <a:solidFill>
                  <a:srgbClr val="E8E2DA"/>
                </a:solidFill>
                <a:latin typeface="Quicksand"/>
              </a:rPr>
              <a:t>+44 (0) 161 359 4400</a:t>
            </a:r>
          </a:p>
        </p:txBody>
      </p:sp>
      <p:sp>
        <p:nvSpPr>
          <p:cNvPr id="19"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0" name="TextBox 21"/>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1055" b="0" i="0" spc="225">
                <a:solidFill>
                  <a:srgbClr val="D3AE84"/>
                </a:solidFill>
                <a:latin typeface="Cinzel"/>
              </a:rPr>
              <a:t>AFRICA</a:t>
            </a:r>
          </a:p>
        </p:txBody>
      </p:sp>
      <p:sp>
        <p:nvSpPr>
          <p:cNvPr id="21" name="TextBox 22"/>
          <p:cNvSpPr txBox="1"/>
          <p:nvPr/>
        </p:nvSpPr>
        <p:spPr>
          <a:xfrm>
            <a:off x="609600" y="6113240"/>
            <a:ext cx="1733550" cy="428625"/>
          </a:xfrm>
          <a:prstGeom prst="rect">
            <a:avLst/>
          </a:prstGeom>
          <a:noFill/>
        </p:spPr>
        <p:txBody>
          <a:bodyPr wrap="square" lIns="0" tIns="0" rIns="0" bIns="0" anchor="t">
            <a:noAutofit/>
          </a:bodyPr>
          <a:lstStyle/>
          <a:p>
            <a:pPr algn="l">
              <a:lnSpc>
                <a:spcPts val="1327"/>
              </a:lnSpc>
              <a:spcBef>
                <a:spcPts val="0"/>
              </a:spcBef>
              <a:spcAft>
                <a:spcPts val="0"/>
              </a:spcAft>
            </a:pPr>
            <a:r>
              <a:rPr sz="900" b="0" i="0" spc="15">
                <a:solidFill>
                  <a:srgbClr val="E8E2DA"/>
                </a:solidFill>
                <a:latin typeface="Quicksand"/>
              </a:rPr>
              <a:t>Airport Office Park, Freight Rd.</a:t>
            </a:r>
            <a:br/>
            <a:r>
              <a:rPr sz="900" b="0" i="0" spc="15">
                <a:solidFill>
                  <a:srgbClr val="E8E2DA"/>
                </a:solidFill>
                <a:latin typeface="Quicksand"/>
              </a:rPr>
              <a:t>Cape Town Airport, 7525</a:t>
            </a:r>
            <a:br/>
            <a:r>
              <a:rPr sz="900" b="0" i="0" spc="15">
                <a:solidFill>
                  <a:srgbClr val="E8E2DA"/>
                </a:solidFill>
                <a:latin typeface="Quicksand"/>
              </a:rPr>
              <a:t>+27 (0) 21 300 2055</a:t>
            </a:r>
          </a:p>
        </p:txBody>
      </p:sp>
      <p:sp>
        <p:nvSpPr>
          <p:cNvPr id="22" name="Panel"/>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3" name="Rule"/>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4" name="Portrait of Jordan Houtz, Managing Director and Head of Midd" descr="Portrait of Jordan Houtz, Managing Director and Head of Middle Market"/>
          <p:cNvPicPr>
            <a:picLocks noChangeAspect="1"/>
          </p:cNvPicPr>
          <p:nvPr/>
        </p:nvPicPr>
        <p:blipFill>
          <a:blip r:embed="rId3"/>
          <a:stretch>
            <a:fillRect/>
          </a:stretch>
        </p:blipFill>
        <p:spPr>
          <a:xfrm>
            <a:off x="2883694" y="1438275"/>
            <a:ext cx="1143000" cy="1143000"/>
          </a:xfrm>
          <a:prstGeom prst="ellipse">
            <a:avLst/>
          </a:prstGeom>
        </p:spPr>
      </p:pic>
      <p:sp>
        <p:nvSpPr>
          <p:cNvPr id="25" name="TextBox 26"/>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6" name="TextBox 27"/>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745" b="1" i="0" spc="105" dirty="0">
                <a:solidFill>
                  <a:srgbClr val="8C6239"/>
                </a:solidFill>
                <a:latin typeface="Quicksand"/>
              </a:rPr>
              <a:t>MANAGING DIRECTOR</a:t>
            </a:r>
            <a:br>
              <a:rPr lang="en-US" sz="745" b="1" i="0" spc="105" dirty="0">
                <a:solidFill>
                  <a:srgbClr val="8C6239"/>
                </a:solidFill>
                <a:latin typeface="Quicksand"/>
              </a:rPr>
            </a:br>
            <a:r>
              <a:rPr lang="en-US" sz="745" b="1" i="0" spc="105" dirty="0">
                <a:solidFill>
                  <a:srgbClr val="8C6239"/>
                </a:solidFill>
                <a:latin typeface="Quicksand"/>
              </a:rPr>
              <a:t>HEAD OF MIDDLE MARKET</a:t>
            </a:r>
            <a:endParaRPr sz="745" b="1" i="0" spc="105" dirty="0">
              <a:solidFill>
                <a:srgbClr val="8C6239"/>
              </a:solidFill>
              <a:latin typeface="Quicksand"/>
            </a:endParaRPr>
          </a:p>
        </p:txBody>
      </p:sp>
      <p:sp>
        <p:nvSpPr>
          <p:cNvPr id="27" name="Panel"/>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28" name="Rule"/>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29" name="Portrait of Jared Hardin, Managing Director" descr="Portrait of Jared Hardin, Managing Director"/>
          <p:cNvPicPr>
            <a:picLocks noChangeAspect="1"/>
          </p:cNvPicPr>
          <p:nvPr/>
        </p:nvPicPr>
        <p:blipFill>
          <a:blip r:embed="rId4"/>
          <a:stretch>
            <a:fillRect/>
          </a:stretch>
        </p:blipFill>
        <p:spPr>
          <a:xfrm>
            <a:off x="4669631" y="1438275"/>
            <a:ext cx="1143000" cy="1143000"/>
          </a:xfrm>
          <a:prstGeom prst="ellipse">
            <a:avLst/>
          </a:prstGeom>
        </p:spPr>
      </p:pic>
      <p:sp>
        <p:nvSpPr>
          <p:cNvPr id="30" name="TextBox 31"/>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1" name="TextBox 32"/>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745" b="1" i="0" spc="105" dirty="0">
                <a:solidFill>
                  <a:srgbClr val="8C6239"/>
                </a:solidFill>
                <a:latin typeface="Quicksand"/>
              </a:rPr>
              <a:t>MANAGING DIRECTOR</a:t>
            </a:r>
          </a:p>
        </p:txBody>
      </p:sp>
      <p:sp>
        <p:nvSpPr>
          <p:cNvPr id="32" name="TextBox 33"/>
          <p:cNvSpPr txBox="1"/>
          <p:nvPr/>
        </p:nvSpPr>
        <p:spPr>
          <a:xfrm>
            <a:off x="4373047" y="3449787"/>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a:solidFill>
                  <a:srgbClr val="8C6239"/>
                </a:solidFill>
                <a:latin typeface="Quicksand"/>
                <a:hlinkClick r:id="rId5">
                  <a:extLst>
                    <a:ext uri="{A12FA001-AC4F-418D-AE19-62706E023703}">
                      <ahyp:hlinkClr xmlns:ahyp="http://schemas.microsoft.com/office/drawing/2018/hyperlinkcolor" val="tx"/>
                    </a:ext>
                  </a:extLst>
                </a:hlinkClick>
              </a:rPr>
              <a:t>210-241-7990</a:t>
            </a:r>
          </a:p>
          <a:p>
            <a:pPr algn="ctr">
              <a:lnSpc>
                <a:spcPts val="1371"/>
              </a:lnSpc>
              <a:spcBef>
                <a:spcPts val="0"/>
              </a:spcBef>
              <a:spcAft>
                <a:spcPts val="0"/>
              </a:spcAft>
            </a:pPr>
            <a:r>
              <a:rPr sz="900"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3" name="Panel"/>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4" name="Rule"/>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5" name="Portrait of Alex Zykov, Transaction Director" descr="Portrait of Alex Zykov, Transaction Director"/>
          <p:cNvPicPr>
            <a:picLocks noChangeAspect="1"/>
          </p:cNvPicPr>
          <p:nvPr/>
        </p:nvPicPr>
        <p:blipFill>
          <a:blip r:embed="rId7"/>
          <a:stretch>
            <a:fillRect/>
          </a:stretch>
        </p:blipFill>
        <p:spPr>
          <a:xfrm>
            <a:off x="6455569" y="1438275"/>
            <a:ext cx="1143000" cy="1143000"/>
          </a:xfrm>
          <a:prstGeom prst="ellipse">
            <a:avLst/>
          </a:prstGeom>
        </p:spPr>
      </p:pic>
      <p:sp>
        <p:nvSpPr>
          <p:cNvPr id="36" name="TextBox 37"/>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7" name="TextBox 38"/>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745" b="1" i="0" spc="105" dirty="0">
                <a:solidFill>
                  <a:srgbClr val="8C6239"/>
                </a:solidFill>
                <a:latin typeface="Quicksand"/>
              </a:rPr>
              <a:t>TRANSACTION DIRECTOR</a:t>
            </a:r>
          </a:p>
        </p:txBody>
      </p:sp>
      <p:sp>
        <p:nvSpPr>
          <p:cNvPr id="38" name="Panel"/>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39" name="Rule"/>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0" name="Portrait of Shannon Hess, Client Engagement Director" descr="Portrait of Shannon Hess, Client Engagement Director"/>
          <p:cNvPicPr>
            <a:picLocks noChangeAspect="1"/>
          </p:cNvPicPr>
          <p:nvPr/>
        </p:nvPicPr>
        <p:blipFill>
          <a:blip r:embed="rId8"/>
          <a:stretch>
            <a:fillRect/>
          </a:stretch>
        </p:blipFill>
        <p:spPr>
          <a:xfrm>
            <a:off x="8241506" y="1438275"/>
            <a:ext cx="1143000" cy="1143000"/>
          </a:xfrm>
          <a:prstGeom prst="ellipse">
            <a:avLst/>
          </a:prstGeom>
        </p:spPr>
      </p:pic>
      <p:sp>
        <p:nvSpPr>
          <p:cNvPr id="41" name="TextBox 42"/>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2" name="TextBox 43"/>
          <p:cNvSpPr txBox="1"/>
          <p:nvPr/>
        </p:nvSpPr>
        <p:spPr>
          <a:xfrm>
            <a:off x="8062912" y="3017167"/>
            <a:ext cx="1500188" cy="274320"/>
          </a:xfrm>
          <a:prstGeom prst="rect">
            <a:avLst/>
          </a:prstGeom>
          <a:noFill/>
        </p:spPr>
        <p:txBody>
          <a:bodyPr wrap="square" lIns="0" tIns="0" rIns="0" bIns="0" anchor="t">
            <a:noAutofit/>
          </a:bodyPr>
          <a:lstStyle/>
          <a:p>
            <a:pPr algn="ctr">
              <a:lnSpc>
                <a:spcPts val="1139"/>
              </a:lnSpc>
              <a:spcBef>
                <a:spcPts val="0"/>
              </a:spcBef>
              <a:spcAft>
                <a:spcPts val="0"/>
              </a:spcAft>
            </a:pPr>
            <a:r>
              <a:rPr sz="745" b="1" i="0" spc="105" dirty="0">
                <a:solidFill>
                  <a:srgbClr val="8C6239"/>
                </a:solidFill>
                <a:latin typeface="Quicksand"/>
              </a:rPr>
              <a:t>CLIENT ENGAGEMENT DIRECTOR</a:t>
            </a:r>
          </a:p>
        </p:txBody>
      </p:sp>
      <p:sp>
        <p:nvSpPr>
          <p:cNvPr id="43" name="Panel"/>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4" name="Portrait of Sunny Garten, Senior Deal Associate" descr="Portrait of Sunny Garten, Senior Deal Associate"/>
          <p:cNvPicPr>
            <a:picLocks noChangeAspect="1"/>
          </p:cNvPicPr>
          <p:nvPr/>
        </p:nvPicPr>
        <p:blipFill>
          <a:blip r:embed="rId9"/>
          <a:stretch>
            <a:fillRect/>
          </a:stretch>
        </p:blipFill>
        <p:spPr>
          <a:xfrm>
            <a:off x="2752725" y="4133850"/>
            <a:ext cx="514350" cy="514350"/>
          </a:xfrm>
          <a:prstGeom prst="ellipse">
            <a:avLst/>
          </a:prstGeom>
        </p:spPr>
      </p:pic>
      <p:sp>
        <p:nvSpPr>
          <p:cNvPr id="45" name="TextBox 46"/>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SUNNY GARTEN</a:t>
            </a:r>
          </a:p>
        </p:txBody>
      </p:sp>
      <p:sp>
        <p:nvSpPr>
          <p:cNvPr id="46" name="TextBox 47"/>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Senior Deal Associate</a:t>
            </a:r>
          </a:p>
        </p:txBody>
      </p:sp>
      <p:sp>
        <p:nvSpPr>
          <p:cNvPr id="47" name="Panel"/>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8" name="Portrait of Michael Wynn, Senior Deal Associate" descr="Portrait of Michael Wynn, Senior Deal Associate"/>
          <p:cNvPicPr>
            <a:picLocks noChangeAspect="1"/>
          </p:cNvPicPr>
          <p:nvPr/>
        </p:nvPicPr>
        <p:blipFill>
          <a:blip r:embed="rId10"/>
          <a:stretch>
            <a:fillRect/>
          </a:stretch>
        </p:blipFill>
        <p:spPr>
          <a:xfrm>
            <a:off x="5133975" y="4133850"/>
            <a:ext cx="514350" cy="514350"/>
          </a:xfrm>
          <a:prstGeom prst="ellipse">
            <a:avLst/>
          </a:prstGeom>
        </p:spPr>
      </p:pic>
      <p:sp>
        <p:nvSpPr>
          <p:cNvPr id="49" name="TextBox 50"/>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MICHAEL WYNN</a:t>
            </a:r>
          </a:p>
        </p:txBody>
      </p:sp>
      <p:sp>
        <p:nvSpPr>
          <p:cNvPr id="50" name="TextBox 51"/>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Senior Deal Associate</a:t>
            </a:r>
          </a:p>
        </p:txBody>
      </p:sp>
      <p:sp>
        <p:nvSpPr>
          <p:cNvPr id="51" name="Panel"/>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2" name="Portrait of Jason Lisiak, Research Associate" descr="Portrait of Jason Lisiak, Research Associate"/>
          <p:cNvPicPr>
            <a:picLocks noChangeAspect="1"/>
          </p:cNvPicPr>
          <p:nvPr/>
        </p:nvPicPr>
        <p:blipFill>
          <a:blip r:embed="rId11"/>
          <a:stretch>
            <a:fillRect/>
          </a:stretch>
        </p:blipFill>
        <p:spPr>
          <a:xfrm>
            <a:off x="7515225" y="4133850"/>
            <a:ext cx="514350" cy="514350"/>
          </a:xfrm>
          <a:prstGeom prst="ellipse">
            <a:avLst/>
          </a:prstGeom>
        </p:spPr>
      </p:pic>
      <p:sp>
        <p:nvSpPr>
          <p:cNvPr id="53" name="TextBox 54"/>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JASON LISIAK, CFA</a:t>
            </a:r>
          </a:p>
        </p:txBody>
      </p:sp>
      <p:sp>
        <p:nvSpPr>
          <p:cNvPr id="54" name="TextBox 55"/>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Research Associate</a:t>
            </a:r>
          </a:p>
        </p:txBody>
      </p:sp>
      <p:sp>
        <p:nvSpPr>
          <p:cNvPr id="55" name="Panel"/>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6" name="Portrait of Alexandra Barr, Transaction Support Associate" descr="Portrait of Alexandra Barr, Transaction Support Associate"/>
          <p:cNvPicPr>
            <a:picLocks noChangeAspect="1"/>
          </p:cNvPicPr>
          <p:nvPr/>
        </p:nvPicPr>
        <p:blipFill>
          <a:blip r:embed="rId12"/>
          <a:stretch>
            <a:fillRect/>
          </a:stretch>
        </p:blipFill>
        <p:spPr>
          <a:xfrm>
            <a:off x="2752725" y="4991100"/>
            <a:ext cx="514350" cy="514350"/>
          </a:xfrm>
          <a:prstGeom prst="ellipse">
            <a:avLst/>
          </a:prstGeom>
        </p:spPr>
      </p:pic>
      <p:sp>
        <p:nvSpPr>
          <p:cNvPr id="57" name="TextBox 58"/>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ALEXANDRA BARR</a:t>
            </a:r>
          </a:p>
        </p:txBody>
      </p:sp>
      <p:sp>
        <p:nvSpPr>
          <p:cNvPr id="58" name="TextBox 59"/>
          <p:cNvSpPr txBox="1"/>
          <p:nvPr/>
        </p:nvSpPr>
        <p:spPr>
          <a:xfrm>
            <a:off x="3381375" y="5173980"/>
            <a:ext cx="1447800" cy="257175"/>
          </a:xfrm>
          <a:prstGeom prst="rect">
            <a:avLst/>
          </a:prstGeom>
          <a:noFill/>
        </p:spPr>
        <p:txBody>
          <a:bodyPr wrap="square" lIns="0" tIns="0" rIns="0" bIns="0" anchor="t">
            <a:noAutofit/>
          </a:bodyPr>
          <a:lstStyle/>
          <a:p>
            <a:pPr algn="l">
              <a:lnSpc>
                <a:spcPts val="1197"/>
              </a:lnSpc>
              <a:spcBef>
                <a:spcPts val="0"/>
              </a:spcBef>
              <a:spcAft>
                <a:spcPts val="0"/>
              </a:spcAft>
            </a:pPr>
            <a:r>
              <a:rPr sz="855" b="0" i="0" spc="15">
                <a:solidFill>
                  <a:srgbClr val="6F6A66"/>
                </a:solidFill>
                <a:latin typeface="Quicksand"/>
              </a:rPr>
              <a:t>Transaction Support Associate</a:t>
            </a:r>
          </a:p>
        </p:txBody>
      </p:sp>
      <p:sp>
        <p:nvSpPr>
          <p:cNvPr id="59" name="Panel"/>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0" name="Portrait of Josiah Warren, Transaction Support Associate" descr="Portrait of Josiah Warren, Transaction Support Associate"/>
          <p:cNvPicPr>
            <a:picLocks noChangeAspect="1"/>
          </p:cNvPicPr>
          <p:nvPr/>
        </p:nvPicPr>
        <p:blipFill>
          <a:blip r:embed="rId13"/>
          <a:stretch>
            <a:fillRect/>
          </a:stretch>
        </p:blipFill>
        <p:spPr>
          <a:xfrm>
            <a:off x="5133975" y="4991100"/>
            <a:ext cx="514350" cy="514350"/>
          </a:xfrm>
          <a:prstGeom prst="ellipse">
            <a:avLst/>
          </a:prstGeom>
        </p:spPr>
      </p:pic>
      <p:sp>
        <p:nvSpPr>
          <p:cNvPr id="61" name="TextBox 62"/>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JOSIAH WARREN</a:t>
            </a:r>
          </a:p>
        </p:txBody>
      </p:sp>
      <p:sp>
        <p:nvSpPr>
          <p:cNvPr id="62" name="TextBox 63"/>
          <p:cNvSpPr txBox="1"/>
          <p:nvPr/>
        </p:nvSpPr>
        <p:spPr>
          <a:xfrm>
            <a:off x="5762625" y="5173980"/>
            <a:ext cx="1447800" cy="257175"/>
          </a:xfrm>
          <a:prstGeom prst="rect">
            <a:avLst/>
          </a:prstGeom>
          <a:noFill/>
        </p:spPr>
        <p:txBody>
          <a:bodyPr wrap="square" lIns="0" tIns="0" rIns="0" bIns="0" anchor="t">
            <a:noAutofit/>
          </a:bodyPr>
          <a:lstStyle/>
          <a:p>
            <a:pPr algn="l">
              <a:lnSpc>
                <a:spcPts val="1197"/>
              </a:lnSpc>
              <a:spcBef>
                <a:spcPts val="0"/>
              </a:spcBef>
              <a:spcAft>
                <a:spcPts val="0"/>
              </a:spcAft>
            </a:pPr>
            <a:r>
              <a:rPr sz="855" b="0" i="0" spc="15">
                <a:solidFill>
                  <a:srgbClr val="6F6A66"/>
                </a:solidFill>
                <a:latin typeface="Quicksand"/>
              </a:rPr>
              <a:t>Transaction Support Associate</a:t>
            </a:r>
          </a:p>
        </p:txBody>
      </p:sp>
      <p:sp>
        <p:nvSpPr>
          <p:cNvPr id="63" name="Panel"/>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4" name="Portrait of Luke Ernst, Deal Analyst" descr="Portrait of Luke Ernst, Deal Analyst"/>
          <p:cNvPicPr>
            <a:picLocks noChangeAspect="1"/>
          </p:cNvPicPr>
          <p:nvPr/>
        </p:nvPicPr>
        <p:blipFill>
          <a:blip r:embed="rId14"/>
          <a:srcRect/>
          <a:stretch>
            <a:fillRect/>
          </a:stretch>
        </p:blipFill>
        <p:spPr>
          <a:xfrm>
            <a:off x="7515225" y="4991100"/>
            <a:ext cx="514350" cy="514350"/>
          </a:xfrm>
          <a:prstGeom prst="ellipse">
            <a:avLst/>
          </a:prstGeom>
        </p:spPr>
      </p:pic>
      <p:sp>
        <p:nvSpPr>
          <p:cNvPr id="65" name="TextBox 66"/>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LUKE ERNST</a:t>
            </a:r>
          </a:p>
        </p:txBody>
      </p:sp>
      <p:sp>
        <p:nvSpPr>
          <p:cNvPr id="66" name="TextBox 67"/>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Deal Analyst</a:t>
            </a:r>
          </a:p>
        </p:txBody>
      </p:sp>
      <p:sp>
        <p:nvSpPr>
          <p:cNvPr id="67" name="Rule"/>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68" name="TextBox 84"/>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790" b="0" i="0" spc="8">
                <a:solidFill>
                  <a:srgbClr val="6F6A66"/>
                </a:solidFill>
                <a:latin typeface="Quicksand"/>
              </a:rPr>
              <a:t>Benchmark International Middle Market team as of October 2026.</a:t>
            </a:r>
          </a:p>
        </p:txBody>
      </p:sp>
      <p:sp>
        <p:nvSpPr>
          <p:cNvPr id="69" name="Contact Jordan"/>
          <p:cNvSpPr txBox="1"/>
          <p:nvPr/>
        </p:nvSpPr>
        <p:spPr>
          <a:xfrm>
            <a:off x="2569464" y="3453883"/>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a:solidFill>
                  <a:srgbClr val="8C6239"/>
                </a:solidFill>
                <a:latin typeface="Quicksand"/>
                <a:hlinkClick r:id="rId15">
                  <a:extLst>
                    <a:ext uri="{A12FA001-AC4F-418D-AE19-62706E023703}">
                      <ahyp:hlinkClr xmlns:ahyp="http://schemas.microsoft.com/office/drawing/2018/hyperlinkcolor" val="tx"/>
                    </a:ext>
                  </a:extLst>
                </a:hlinkClick>
              </a:rPr>
              <a:t>813-771-6675</a:t>
            </a:r>
          </a:p>
          <a:p>
            <a:pPr algn="ctr">
              <a:lnSpc>
                <a:spcPts val="1371"/>
              </a:lnSpc>
              <a:spcBef>
                <a:spcPts val="0"/>
              </a:spcBef>
              <a:spcAft>
                <a:spcPts val="0"/>
              </a:spcAft>
            </a:pPr>
            <a:r>
              <a:rPr sz="900" b="0" i="0" u="sng" spc="15">
                <a:solidFill>
                  <a:srgbClr val="8C6239"/>
                </a:solidFill>
                <a:latin typeface="Quicksand"/>
                <a:hlinkClick r:id="rId16">
                  <a:extLst>
                    <a:ext uri="{A12FA001-AC4F-418D-AE19-62706E023703}">
                      <ahyp:hlinkClr xmlns:ahyp="http://schemas.microsoft.com/office/drawing/2018/hyperlinkcolor" val="tx"/>
                    </a:ext>
                  </a:extLst>
                </a:hlinkClick>
              </a:rPr>
              <a:t>jhoutz@benchmarkintl.com</a:t>
            </a:r>
          </a:p>
        </p:txBody>
      </p:sp>
      <p:sp>
        <p:nvSpPr>
          <p:cNvPr id="70" name="Contact Alex"/>
          <p:cNvSpPr txBox="1"/>
          <p:nvPr/>
        </p:nvSpPr>
        <p:spPr>
          <a:xfrm>
            <a:off x="6236208" y="3453883"/>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a:solidFill>
                  <a:srgbClr val="8C6239"/>
                </a:solidFill>
                <a:latin typeface="Quicksand"/>
                <a:hlinkClick r:id="rId17">
                  <a:extLst>
                    <a:ext uri="{A12FA001-AC4F-418D-AE19-62706E023703}">
                      <ahyp:hlinkClr xmlns:ahyp="http://schemas.microsoft.com/office/drawing/2018/hyperlinkcolor" val="tx"/>
                    </a:ext>
                  </a:extLst>
                </a:hlinkClick>
              </a:rPr>
              <a:t>813-898-2372</a:t>
            </a:r>
          </a:p>
          <a:p>
            <a:pPr algn="ctr">
              <a:lnSpc>
                <a:spcPts val="1371"/>
              </a:lnSpc>
              <a:spcBef>
                <a:spcPts val="0"/>
              </a:spcBef>
              <a:spcAft>
                <a:spcPts val="0"/>
              </a:spcAft>
            </a:pPr>
            <a:r>
              <a:rPr sz="900" b="0" i="0" u="sng" spc="15">
                <a:solidFill>
                  <a:srgbClr val="8C6239"/>
                </a:solidFill>
                <a:latin typeface="Quicksand"/>
                <a:hlinkClick r:id="rId18">
                  <a:extLst>
                    <a:ext uri="{A12FA001-AC4F-418D-AE19-62706E023703}">
                      <ahyp:hlinkClr xmlns:ahyp="http://schemas.microsoft.com/office/drawing/2018/hyperlinkcolor" val="tx"/>
                    </a:ext>
                  </a:extLst>
                </a:hlinkClick>
              </a:rPr>
              <a:t>azykov@benchmarkintl.com</a:t>
            </a:r>
          </a:p>
        </p:txBody>
      </p:sp>
      <p:sp>
        <p:nvSpPr>
          <p:cNvPr id="71" name="Contact Shannon"/>
          <p:cNvSpPr txBox="1"/>
          <p:nvPr/>
        </p:nvSpPr>
        <p:spPr>
          <a:xfrm>
            <a:off x="7929741" y="3454845"/>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dirty="0">
                <a:solidFill>
                  <a:srgbClr val="8C6239"/>
                </a:solidFill>
                <a:latin typeface="Quicksand"/>
                <a:hlinkClick r:id="rId19">
                  <a:extLst>
                    <a:ext uri="{A12FA001-AC4F-418D-AE19-62706E023703}">
                      <ahyp:hlinkClr xmlns:ahyp="http://schemas.microsoft.com/office/drawing/2018/hyperlinkcolor" val="tx"/>
                    </a:ext>
                  </a:extLst>
                </a:hlinkClick>
              </a:rPr>
              <a:t>813-898-2397</a:t>
            </a:r>
          </a:p>
          <a:p>
            <a:pPr algn="ctr">
              <a:lnSpc>
                <a:spcPts val="1371"/>
              </a:lnSpc>
              <a:spcBef>
                <a:spcPts val="0"/>
              </a:spcBef>
              <a:spcAft>
                <a:spcPts val="0"/>
              </a:spcAft>
            </a:pPr>
            <a:r>
              <a:rPr sz="900" b="0" i="0" u="sng" spc="15" dirty="0">
                <a:solidFill>
                  <a:srgbClr val="8C6239"/>
                </a:solidFill>
                <a:latin typeface="Quicksand"/>
                <a:hlinkClick r:id="rId20">
                  <a:extLst>
                    <a:ext uri="{A12FA001-AC4F-418D-AE19-62706E023703}">
                      <ahyp:hlinkClr xmlns:ahyp="http://schemas.microsoft.com/office/drawing/2018/hyperlinkcolor" val="tx"/>
                    </a:ext>
                  </a:extLst>
                </a:hlinkClick>
              </a:rPr>
              <a:t>hess@benchmarkintl.com</a:t>
            </a:r>
          </a:p>
        </p:txBody>
      </p:sp>
      <p:sp>
        <p:nvSpPr>
          <p:cNvPr id="72" name="TextBox 69"/>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8C6239"/>
                </a:solidFill>
                <a:latin typeface="Quicksand"/>
              </a:rPr>
              <a:t>TECHNOLOGY COVERAGE</a:t>
            </a:r>
          </a:p>
        </p:txBody>
      </p:sp>
      <p:pic>
        <p:nvPicPr>
          <p:cNvPr id="73" name="Cloud and server icon for Managed IT &amp; Cloud Services" descr="Cloud and server icon for Managed IT &amp; Cloud Services"/>
          <p:cNvPicPr>
            <a:picLocks noChangeAspect="1"/>
          </p:cNvPicPr>
          <p:nvPr/>
        </p:nvPicPr>
        <p:blipFill>
          <a:blip r:embed="rId21"/>
          <a:stretch>
            <a:fillRect/>
          </a:stretch>
        </p:blipFill>
        <p:spPr>
          <a:xfrm>
            <a:off x="2628900" y="6467475"/>
            <a:ext cx="190500" cy="190500"/>
          </a:xfrm>
          <a:prstGeom prst="rect">
            <a:avLst/>
          </a:prstGeom>
        </p:spPr>
      </p:pic>
      <p:sp>
        <p:nvSpPr>
          <p:cNvPr id="74" name="TextBox 71"/>
          <p:cNvSpPr txBox="1"/>
          <p:nvPr/>
        </p:nvSpPr>
        <p:spPr>
          <a:xfrm>
            <a:off x="2895600" y="6484715"/>
            <a:ext cx="149512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Managed IT &amp; Cloud Services</a:t>
            </a:r>
          </a:p>
        </p:txBody>
      </p:sp>
      <p:pic>
        <p:nvPicPr>
          <p:cNvPr id="75" name="Shield and padlock icon for Cybersecurity" descr="Shield and padlock icon for Cybersecurity"/>
          <p:cNvPicPr>
            <a:picLocks noChangeAspect="1"/>
          </p:cNvPicPr>
          <p:nvPr/>
        </p:nvPicPr>
        <p:blipFill>
          <a:blip r:embed="rId22"/>
          <a:stretch>
            <a:fillRect/>
          </a:stretch>
        </p:blipFill>
        <p:spPr>
          <a:xfrm>
            <a:off x="5010150" y="6467475"/>
            <a:ext cx="190500" cy="190500"/>
          </a:xfrm>
          <a:prstGeom prst="rect">
            <a:avLst/>
          </a:prstGeom>
        </p:spPr>
      </p:pic>
      <p:sp>
        <p:nvSpPr>
          <p:cNvPr id="76" name="TextBox 73"/>
          <p:cNvSpPr txBox="1"/>
          <p:nvPr/>
        </p:nvSpPr>
        <p:spPr>
          <a:xfrm>
            <a:off x="5276850" y="6484715"/>
            <a:ext cx="743248"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Cybersecurity</a:t>
            </a:r>
          </a:p>
        </p:txBody>
      </p:sp>
      <p:pic>
        <p:nvPicPr>
          <p:cNvPr id="77" name="Radio tower icon for Telecom &amp; UCaaS" descr="Radio tower icon for Telecom &amp; UCaaS"/>
          <p:cNvPicPr>
            <a:picLocks noChangeAspect="1"/>
          </p:cNvPicPr>
          <p:nvPr/>
        </p:nvPicPr>
        <p:blipFill>
          <a:blip r:embed="rId23"/>
          <a:stretch>
            <a:fillRect/>
          </a:stretch>
        </p:blipFill>
        <p:spPr>
          <a:xfrm>
            <a:off x="7391400" y="6467475"/>
            <a:ext cx="190500" cy="190500"/>
          </a:xfrm>
          <a:prstGeom prst="rect">
            <a:avLst/>
          </a:prstGeom>
        </p:spPr>
      </p:pic>
      <p:sp>
        <p:nvSpPr>
          <p:cNvPr id="78" name="TextBox 75"/>
          <p:cNvSpPr txBox="1"/>
          <p:nvPr/>
        </p:nvSpPr>
        <p:spPr>
          <a:xfrm>
            <a:off x="7658100" y="6484715"/>
            <a:ext cx="92600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Telecom &amp; UCaaS</a:t>
            </a:r>
          </a:p>
        </p:txBody>
      </p:sp>
      <p:pic>
        <p:nvPicPr>
          <p:cNvPr id="79" name="Network diagram icon for Systems Integration" descr="Network diagram icon for Systems Integration"/>
          <p:cNvPicPr>
            <a:picLocks noChangeAspect="1"/>
          </p:cNvPicPr>
          <p:nvPr/>
        </p:nvPicPr>
        <p:blipFill>
          <a:blip r:embed="rId24"/>
          <a:stretch>
            <a:fillRect/>
          </a:stretch>
        </p:blipFill>
        <p:spPr>
          <a:xfrm>
            <a:off x="2628900" y="6743700"/>
            <a:ext cx="190500" cy="190500"/>
          </a:xfrm>
          <a:prstGeom prst="rect">
            <a:avLst/>
          </a:prstGeom>
        </p:spPr>
      </p:pic>
      <p:sp>
        <p:nvSpPr>
          <p:cNvPr id="80" name="TextBox 77"/>
          <p:cNvSpPr txBox="1"/>
          <p:nvPr/>
        </p:nvSpPr>
        <p:spPr>
          <a:xfrm>
            <a:off x="2895600" y="6760940"/>
            <a:ext cx="105042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Systems Integration</a:t>
            </a:r>
          </a:p>
        </p:txBody>
      </p:sp>
      <p:pic>
        <p:nvPicPr>
          <p:cNvPr id="81" name="Computer chip icon for Electronics &amp; Hardware" descr="Computer chip icon for Electronics &amp; Hardware"/>
          <p:cNvPicPr>
            <a:picLocks noChangeAspect="1"/>
          </p:cNvPicPr>
          <p:nvPr/>
        </p:nvPicPr>
        <p:blipFill>
          <a:blip r:embed="rId25"/>
          <a:stretch>
            <a:fillRect/>
          </a:stretch>
        </p:blipFill>
        <p:spPr>
          <a:xfrm>
            <a:off x="5010150" y="6743700"/>
            <a:ext cx="190500" cy="190500"/>
          </a:xfrm>
          <a:prstGeom prst="rect">
            <a:avLst/>
          </a:prstGeom>
        </p:spPr>
      </p:pic>
      <p:sp>
        <p:nvSpPr>
          <p:cNvPr id="82" name="TextBox 79"/>
          <p:cNvSpPr txBox="1"/>
          <p:nvPr/>
        </p:nvSpPr>
        <p:spPr>
          <a:xfrm>
            <a:off x="5276850" y="6760940"/>
            <a:ext cx="121041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Electronics &amp; Hardware</a:t>
            </a:r>
          </a:p>
        </p:txBody>
      </p:sp>
      <p:pic>
        <p:nvPicPr>
          <p:cNvPr id="83" name="Government building icon for Government Technology" descr="Government building icon for Government Technology"/>
          <p:cNvPicPr>
            <a:picLocks noChangeAspect="1"/>
          </p:cNvPicPr>
          <p:nvPr/>
        </p:nvPicPr>
        <p:blipFill>
          <a:blip r:embed="rId26"/>
          <a:stretch>
            <a:fillRect/>
          </a:stretch>
        </p:blipFill>
        <p:spPr>
          <a:xfrm>
            <a:off x="7391400" y="6743700"/>
            <a:ext cx="190500" cy="190500"/>
          </a:xfrm>
          <a:prstGeom prst="rect">
            <a:avLst/>
          </a:prstGeom>
        </p:spPr>
      </p:pic>
      <p:sp>
        <p:nvSpPr>
          <p:cNvPr id="84" name="TextBox 81"/>
          <p:cNvSpPr txBox="1"/>
          <p:nvPr/>
        </p:nvSpPr>
        <p:spPr>
          <a:xfrm>
            <a:off x="7658100" y="6760940"/>
            <a:ext cx="1263700"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Government Technology</a:t>
            </a:r>
          </a:p>
        </p:txBody>
      </p:sp>
      <p:sp>
        <p:nvSpPr>
          <p:cNvPr id="8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8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87" name="Shape 9"/>
          <p:cNvSpPr/>
          <p:nvPr/>
        </p:nvSpPr>
        <p:spPr>
          <a:xfrm>
            <a:off x="419100" y="7029450"/>
            <a:ext cx="9220200" cy="9525"/>
          </a:xfrm>
          <a:prstGeom prst="rect">
            <a:avLst/>
          </a:prstGeom>
          <a:solidFill>
            <a:srgbClr val="E3DCD3"/>
          </a:solidFill>
          <a:ln/>
        </p:spPr>
        <p:txBody>
          <a:bodyPr/>
          <a:lstStyle/>
          <a:p>
            <a:endParaRPr lang="en-US"/>
          </a:p>
        </p:txBody>
      </p:sp>
      <p:pic>
        <p:nvPicPr>
          <p:cNvPr id="88" name="Benchmark International logo" descr="Benchmark International logo"/>
          <p:cNvPicPr>
            <a:picLocks noChangeAspect="1"/>
          </p:cNvPicPr>
          <p:nvPr/>
        </p:nvPicPr>
        <p:blipFill>
          <a:blip r:embed="rId27"/>
          <a:stretch>
            <a:fillRect/>
          </a:stretch>
        </p:blipFill>
        <p:spPr>
          <a:xfrm>
            <a:off x="419100" y="7143750"/>
            <a:ext cx="914400" cy="171450"/>
          </a:xfrm>
          <a:prstGeom prst="rect">
            <a:avLst/>
          </a:prstGeom>
        </p:spPr>
      </p:pic>
      <p:sp>
        <p:nvSpPr>
          <p:cNvPr id="8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03</a:t>
            </a:r>
            <a:endParaRPr lang="en-US" sz="81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1B1A1A"/>
          </a:solidFill>
          <a:ln>
            <a:noFill/>
          </a:ln>
        </p:spPr>
        <p:txBody>
          <a:bodyPr rtlCol="0" anchor="ctr"/>
          <a:lstStyle/>
          <a:p>
            <a:pPr algn="ctr"/>
            <a:endParaRPr/>
          </a:p>
        </p:txBody>
      </p:sp>
      <p:pic>
        <p:nvPicPr>
          <p:cNvPr id="3" name="Black textured background with the embossed Benchmark Intern" descr="Black textured background with the embossed Benchmark International knot symbol"/>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4" name="Person holding a phone beside printed charts and eyeglasses" descr="Person holding a phone beside printed charts and eyeglasses"/>
          <p:cNvPicPr>
            <a:picLocks noChangeAspect="1"/>
          </p:cNvPicPr>
          <p:nvPr/>
        </p:nvPicPr>
        <p:blipFill>
          <a:blip r:embed="rId3"/>
          <a:stretch>
            <a:fillRect/>
          </a:stretch>
        </p:blipFill>
        <p:spPr>
          <a:xfrm>
            <a:off x="4572000" y="0"/>
            <a:ext cx="5486400" cy="7772400"/>
          </a:xfrm>
          <a:prstGeom prst="rect">
            <a:avLst/>
          </a:prstGeom>
        </p:spPr>
      </p:pic>
      <p:pic>
        <p:nvPicPr>
          <p:cNvPr id="5" name="Gray gradient overlay with a thin gold diagonal line" descr="Gray gradient overlay with a thin gold diagonal line"/>
          <p:cNvPicPr>
            <a:picLocks noChangeAspect="1"/>
          </p:cNvPicPr>
          <p:nvPr/>
        </p:nvPicPr>
        <p:blipFill>
          <a:blip r:embed="rId4"/>
          <a:stretch>
            <a:fillRect/>
          </a:stretch>
        </p:blipFill>
        <p:spPr>
          <a:xfrm>
            <a:off x="0" y="0"/>
            <a:ext cx="10058400" cy="7772400"/>
          </a:xfrm>
          <a:prstGeom prst="rect">
            <a:avLst/>
          </a:prstGeom>
        </p:spPr>
      </p:pic>
      <p:sp>
        <p:nvSpPr>
          <p:cNvPr id="6" name="TextBox 6"/>
          <p:cNvSpPr txBox="1"/>
          <p:nvPr/>
        </p:nvSpPr>
        <p:spPr>
          <a:xfrm>
            <a:off x="609600" y="1842135"/>
            <a:ext cx="1207889" cy="1543050"/>
          </a:xfrm>
          <a:prstGeom prst="rect">
            <a:avLst/>
          </a:prstGeom>
          <a:noFill/>
        </p:spPr>
        <p:txBody>
          <a:bodyPr wrap="none" lIns="0" tIns="0" r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7" name="Title 1"/>
          <p:cNvSpPr>
            <a:spLocks noGrp="1"/>
          </p:cNvSpPr>
          <p:nvPr>
            <p:ph type="title"/>
          </p:nvPr>
        </p:nvSpPr>
        <p:spPr>
          <a:xfrm>
            <a:off x="609600" y="2836926"/>
            <a:ext cx="7772400" cy="514350"/>
          </a:xfrm>
        </p:spPr>
        <p:txBody>
          <a:bodyPr wrap="none" lIns="0" tIns="0" r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endParaRP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endParaRPr/>
          </a:p>
        </p:txBody>
      </p:sp>
      <p:sp>
        <p:nvSpPr>
          <p:cNvPr id="10" name="Panel"/>
          <p:cNvSpPr/>
          <p:nvPr/>
        </p:nvSpPr>
        <p:spPr>
          <a:xfrm>
            <a:off x="609600" y="4067175"/>
            <a:ext cx="57150" cy="57150"/>
          </a:xfrm>
          <a:prstGeom prst="rect">
            <a:avLst/>
          </a:prstGeom>
          <a:solidFill>
            <a:srgbClr val="B68757"/>
          </a:solidFill>
          <a:ln>
            <a:noFill/>
          </a:ln>
        </p:spPr>
        <p:txBody>
          <a:bodyPr rtlCol="0" anchor="ctr"/>
          <a:lstStyle/>
          <a:p>
            <a:pPr algn="ctr"/>
            <a:endParaRPr/>
          </a:p>
        </p:txBody>
      </p:sp>
      <p:sp>
        <p:nvSpPr>
          <p:cNvPr id="11" name="TextBox 10"/>
          <p:cNvSpPr txBox="1"/>
          <p:nvPr/>
        </p:nvSpPr>
        <p:spPr>
          <a:xfrm>
            <a:off x="781050" y="3983831"/>
            <a:ext cx="1471761"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Key trends in technology</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endParaRPr/>
          </a:p>
        </p:txBody>
      </p:sp>
      <p:sp>
        <p:nvSpPr>
          <p:cNvPr id="13" name="Panel"/>
          <p:cNvSpPr/>
          <p:nvPr/>
        </p:nvSpPr>
        <p:spPr>
          <a:xfrm>
            <a:off x="609600" y="4410075"/>
            <a:ext cx="57150" cy="57150"/>
          </a:xfrm>
          <a:prstGeom prst="rect">
            <a:avLst/>
          </a:prstGeom>
          <a:solidFill>
            <a:srgbClr val="B68757"/>
          </a:solidFill>
          <a:ln>
            <a:noFill/>
          </a:ln>
        </p:spPr>
        <p:txBody>
          <a:bodyPr rtlCol="0" anchor="ctr"/>
          <a:lstStyle/>
          <a:p>
            <a:pPr algn="ctr"/>
            <a:endParaRPr/>
          </a:p>
        </p:txBody>
      </p:sp>
      <p:sp>
        <p:nvSpPr>
          <p:cNvPr id="14" name="TextBox 13"/>
          <p:cNvSpPr txBox="1"/>
          <p:nvPr/>
        </p:nvSpPr>
        <p:spPr>
          <a:xfrm>
            <a:off x="781050" y="4326731"/>
            <a:ext cx="1823889"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Costs buyers are repricing</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endParaRPr/>
          </a:p>
        </p:txBody>
      </p:sp>
      <p:sp>
        <p:nvSpPr>
          <p:cNvPr id="16" name="Panel"/>
          <p:cNvSpPr/>
          <p:nvPr/>
        </p:nvSpPr>
        <p:spPr>
          <a:xfrm>
            <a:off x="609600" y="4752975"/>
            <a:ext cx="57150" cy="57150"/>
          </a:xfrm>
          <a:prstGeom prst="rect">
            <a:avLst/>
          </a:prstGeom>
          <a:solidFill>
            <a:srgbClr val="B68757"/>
          </a:solidFill>
          <a:ln>
            <a:noFill/>
          </a:ln>
        </p:spPr>
        <p:txBody>
          <a:bodyPr rtlCol="0" anchor="ctr"/>
          <a:lstStyle/>
          <a:p>
            <a:pPr algn="ctr"/>
            <a:endParaRPr/>
          </a:p>
        </p:txBody>
      </p:sp>
      <p:sp>
        <p:nvSpPr>
          <p:cNvPr id="17" name="TextBox 16"/>
          <p:cNvSpPr txBox="1"/>
          <p:nvPr/>
        </p:nvSpPr>
        <p:spPr>
          <a:xfrm>
            <a:off x="781050" y="4669631"/>
            <a:ext cx="1165771"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Perspectives on six focus areas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endParaRPr/>
          </a:p>
        </p:txBody>
      </p:sp>
      <p:sp>
        <p:nvSpPr>
          <p:cNvPr id="19" name="Panel"/>
          <p:cNvSpPr/>
          <p:nvPr/>
        </p:nvSpPr>
        <p:spPr>
          <a:xfrm>
            <a:off x="609600" y="5095875"/>
            <a:ext cx="57150" cy="57150"/>
          </a:xfrm>
          <a:prstGeom prst="rect">
            <a:avLst/>
          </a:prstGeom>
          <a:solidFill>
            <a:srgbClr val="B68757"/>
          </a:solidFill>
          <a:ln>
            <a:noFill/>
          </a:ln>
        </p:spPr>
        <p:txBody>
          <a:bodyPr rtlCol="0" anchor="ctr"/>
          <a:lstStyle/>
          <a:p>
            <a:pPr algn="ctr"/>
            <a:endParaRPr/>
          </a:p>
        </p:txBody>
      </p:sp>
      <p:sp>
        <p:nvSpPr>
          <p:cNvPr id="20" name="TextBox 16"/>
          <p:cNvSpPr txBox="1"/>
          <p:nvPr/>
        </p:nvSpPr>
        <p:spPr>
          <a:xfrm>
            <a:off x="781050" y="5012531"/>
            <a:ext cx="90000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What we're reading</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endParaRPr/>
          </a:p>
        </p:txBody>
      </p:sp>
      <p:sp>
        <p:nvSpPr>
          <p:cNvPr id="22" name="Panel"/>
          <p:cNvSpPr/>
          <p:nvPr/>
        </p:nvSpPr>
        <p:spPr>
          <a:xfrm>
            <a:off x="609600" y="5443347"/>
            <a:ext cx="57150" cy="57150"/>
          </a:xfrm>
          <a:prstGeom prst="rect">
            <a:avLst/>
          </a:prstGeom>
          <a:solidFill>
            <a:srgbClr val="B68757"/>
          </a:solidFill>
          <a:ln>
            <a:noFill/>
          </a:ln>
        </p:spPr>
        <p:txBody>
          <a:bodyPr rtlCol="0" anchor="ctr"/>
          <a:lstStyle/>
          <a:p>
            <a:pPr algn="ctr"/>
            <a:endParaRPr/>
          </a:p>
        </p:txBody>
      </p:sp>
      <p:sp>
        <p:nvSpPr>
          <p:cNvPr id="23" name="TextBox 16"/>
          <p:cNvSpPr txBox="1"/>
          <p:nvPr/>
        </p:nvSpPr>
        <p:spPr>
          <a:xfrm>
            <a:off x="781050" y="5360003"/>
            <a:ext cx="90000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Our view</a:t>
            </a:r>
          </a:p>
        </p:txBody>
      </p:sp>
      <p:sp>
        <p:nvSpPr>
          <p:cNvPr id="24" name="Rule"/>
          <p:cNvSpPr/>
          <p:nvPr/>
        </p:nvSpPr>
        <p:spPr>
          <a:xfrm>
            <a:off x="609600" y="5643372"/>
            <a:ext cx="3333750" cy="9525"/>
          </a:xfrm>
          <a:prstGeom prst="rect">
            <a:avLst/>
          </a:prstGeom>
          <a:solidFill>
            <a:srgbClr val="FFFFFF">
              <a:alpha val="16000"/>
            </a:srgbClr>
          </a:solidFill>
          <a:ln>
            <a:noFill/>
          </a:ln>
        </p:spPr>
        <p:txBody>
          <a:bodyPr rtlCol="0" anchor="ctr"/>
          <a:lstStyle/>
          <a:p>
            <a:pPr algn="ctr"/>
            <a:endParaRPr/>
          </a:p>
        </p:txBody>
      </p:sp>
      <p:sp>
        <p:nvSpPr>
          <p:cNvPr id="25"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D7B48A"/>
                </a:solidFill>
                <a:latin typeface="Quicksand" pitchFamily="34" charset="0"/>
              </a:rPr>
              <a:t>04</a:t>
            </a:r>
            <a:endParaRPr lang="en-US" sz="815" dirty="0"/>
          </a:p>
        </p:txBody>
      </p:sp>
      <p:sp>
        <p:nvSpPr>
          <p:cNvPr id="26"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D3AE84"/>
                </a:solidFill>
                <a:latin typeface="Quicksand" pitchFamily="34" charset="0"/>
              </a:rPr>
              <a:t>TECHNOLOGY  |  QUARTERLY INDUSTRY REPORT  |  Q4 2026</a:t>
            </a:r>
            <a:endParaRPr lang="en-US" sz="790" dirty="0"/>
          </a:p>
        </p:txBody>
      </p:sp>
      <p:sp>
        <p:nvSpPr>
          <p:cNvPr id="27" name="Text 22"/>
          <p:cNvSpPr txBox="1"/>
          <p:nvPr/>
        </p:nvSpPr>
        <p:spPr>
          <a:xfrm>
            <a:off x="2212848" y="7091363"/>
            <a:ext cx="2148840" cy="133350"/>
          </a:xfrm>
          <a:prstGeom prst="rect">
            <a:avLst/>
          </a:prstGeom>
          <a:noFill/>
          <a:ln/>
        </p:spPr>
        <p:txBody>
          <a:bodyPr wrap="none" lIns="0" tIns="0" rIns="0" bIns="0" rtlCol="0" anchor="t"/>
          <a:lstStyle/>
          <a:p>
            <a:pPr marL="0" indent="0" algn="l">
              <a:lnSpc>
                <a:spcPts val="1050"/>
              </a:lnSpc>
              <a:buNone/>
            </a:pPr>
            <a:r>
              <a:rPr lang="en-US" sz="700" b="1" kern="0" spc="80" dirty="0">
                <a:solidFill>
                  <a:srgbClr val="D3AE84"/>
                </a:solidFill>
                <a:latin typeface="Quicksand" pitchFamily="34" charset="0"/>
              </a:rPr>
              <a:t>BENCHMARK INTERNATIONAL  |  MIDDLE MARKET</a:t>
            </a:r>
            <a:endParaRPr lang="en-US" sz="745" dirty="0"/>
          </a:p>
        </p:txBody>
      </p:sp>
      <p:pic>
        <p:nvPicPr>
          <p:cNvPr id="28" name="Benchmark International logo in white" descr="Benchmark International logo in white"/>
          <p:cNvPicPr>
            <a:picLocks noChangeAspect="1"/>
          </p:cNvPicPr>
          <p:nvPr/>
        </p:nvPicPr>
        <p:blipFill>
          <a:blip r:embed="rId5"/>
          <a:stretch>
            <a:fillRect/>
          </a:stretch>
        </p:blipFill>
        <p:spPr>
          <a:xfrm>
            <a:off x="609600" y="7029450"/>
            <a:ext cx="1428750" cy="2667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5" name="TextBox 6"/>
          <p:cNvSpPr txBox="1"/>
          <p:nvPr/>
        </p:nvSpPr>
        <p:spPr>
          <a:xfrm>
            <a:off x="419100" y="864394"/>
            <a:ext cx="6839099" cy="152400"/>
          </a:xfrm>
          <a:prstGeom prst="rect">
            <a:avLst/>
          </a:prstGeom>
          <a:noFill/>
        </p:spPr>
        <p:txBody>
          <a:bodyPr wrap="none" lIns="0" tIns="0" rIns="0" bIns="0" anchor="t">
            <a:noAutofit/>
          </a:bodyPr>
          <a:lstStyle/>
          <a:p>
            <a:pPr algn="l">
              <a:lnSpc>
                <a:spcPts val="1388"/>
              </a:lnSpc>
              <a:spcBef>
                <a:spcPts val="0"/>
              </a:spcBef>
              <a:spcAft>
                <a:spcPts val="0"/>
              </a:spcAft>
            </a:pPr>
            <a:r>
              <a:rPr sz="975" b="0" i="0" spc="15">
                <a:solidFill>
                  <a:srgbClr val="6F6A66"/>
                </a:solidFill>
                <a:latin typeface="Quicksand"/>
              </a:rPr>
              <a:t>Six developments are shaping demand, pricing, and deal activity as the fourth quarter begins.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4524375" cy="1568351"/>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4524375" cy="28575"/>
          </a:xfrm>
          <a:prstGeom prst="rect">
            <a:avLst/>
          </a:prstGeom>
          <a:solidFill>
            <a:srgbClr val="B68757"/>
          </a:solidFill>
          <a:ln>
            <a:noFill/>
          </a:ln>
        </p:spPr>
        <p:txBody>
          <a:bodyPr rtlCol="0" anchor="ctr"/>
          <a:lstStyle/>
          <a:p>
            <a:pPr algn="ctr"/>
            <a:endParaRPr/>
          </a:p>
        </p:txBody>
      </p:sp>
      <p:sp>
        <p:nvSpPr>
          <p:cNvPr id="9" name="Panel"/>
          <p:cNvSpPr/>
          <p:nvPr/>
        </p:nvSpPr>
        <p:spPr>
          <a:xfrm>
            <a:off x="590550" y="1381125"/>
            <a:ext cx="381000" cy="381000"/>
          </a:xfrm>
          <a:prstGeom prst="ellipse">
            <a:avLst/>
          </a:prstGeom>
          <a:solidFill>
            <a:srgbClr val="1B1A1A"/>
          </a:solidFill>
          <a:ln>
            <a:noFill/>
          </a:ln>
        </p:spPr>
        <p:txBody>
          <a:bodyPr rtlCol="0" anchor="ctr"/>
          <a:lstStyle/>
          <a:p>
            <a:pPr algn="ctr"/>
            <a:endParaRPr/>
          </a:p>
        </p:txBody>
      </p:sp>
      <p:pic>
        <p:nvPicPr>
          <p:cNvPr id="10" name="Computer chip icon for AI infrastructure demand" descr="Computer chip icon for AI infrastructure demand"/>
          <p:cNvPicPr>
            <a:picLocks noChangeAspect="1"/>
          </p:cNvPicPr>
          <p:nvPr/>
        </p:nvPicPr>
        <p:blipFill>
          <a:blip r:embed="rId2"/>
          <a:stretch>
            <a:fillRect/>
          </a:stretch>
        </p:blipFill>
        <p:spPr>
          <a:xfrm>
            <a:off x="657225" y="1447800"/>
            <a:ext cx="247650" cy="247650"/>
          </a:xfrm>
          <a:prstGeom prst="rect">
            <a:avLst/>
          </a:prstGeom>
        </p:spPr>
      </p:pic>
      <p:sp>
        <p:nvSpPr>
          <p:cNvPr id="11" name="TextBox 12"/>
          <p:cNvSpPr txBox="1"/>
          <p:nvPr/>
        </p:nvSpPr>
        <p:spPr>
          <a:xfrm>
            <a:off x="1085850" y="1471327"/>
            <a:ext cx="2710458" cy="161925"/>
          </a:xfrm>
          <a:prstGeom prst="rect">
            <a:avLst/>
          </a:prstGeom>
          <a:noFill/>
        </p:spPr>
        <p:txBody>
          <a:bodyPr wrap="none" lIns="0" tIns="0" r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2" name="TextBox 13"/>
          <p:cNvSpPr txBox="1"/>
          <p:nvPr/>
        </p:nvSpPr>
        <p:spPr>
          <a:xfrm>
            <a:off x="3890070" y="1399413"/>
            <a:ext cx="93910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3" name="TextBox 14"/>
          <p:cNvSpPr txBox="1"/>
          <p:nvPr/>
        </p:nvSpPr>
        <p:spPr>
          <a:xfrm>
            <a:off x="590550" y="18195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Gartner expects IT spending of $6.37 trillion in 2026, up 14.2%, with data center systems up 62.5% and IT services up 5.3% (</a:t>
            </a:r>
            <a:r>
              <a:rPr sz="830" b="0" i="0" u="sng" spc="15">
                <a:solidFill>
                  <a:srgbClr val="8C6239"/>
                </a:solidFill>
                <a:latin typeface="Quicksand"/>
                <a:hlinkClick r:id="rId3">
                  <a:extLst>
                    <a:ext uri="{A12FA001-AC4F-418D-AE19-62706E023703}">
                      <ahyp:hlinkClr xmlns:ahyp="http://schemas.microsoft.com/office/drawing/2018/hyperlinkcolor" val="tx"/>
                    </a:ext>
                  </a:extLst>
                </a:hlinkClick>
              </a:rPr>
              <a:t>Gartner</a:t>
            </a:r>
            <a:r>
              <a:rPr sz="830" b="0" i="0" spc="15">
                <a:solidFill>
                  <a:srgbClr val="333231"/>
                </a:solidFill>
                <a:latin typeface="Quicksand"/>
              </a:rPr>
              <a:t>). Cloud infrastructure revenue grew 43% in the second quarter (</a:t>
            </a:r>
            <a:r>
              <a:rPr sz="830" b="0" i="0" u="sng" spc="15">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30" b="0" i="0" spc="15">
                <a:solidFill>
                  <a:srgbClr val="333231"/>
                </a:solidFill>
                <a:latin typeface="Quicksand"/>
              </a:rPr>
              <a:t>).</a:t>
            </a:r>
          </a:p>
        </p:txBody>
      </p:sp>
      <p:sp>
        <p:nvSpPr>
          <p:cNvPr id="14" name="Rule"/>
          <p:cNvSpPr/>
          <p:nvPr/>
        </p:nvSpPr>
        <p:spPr>
          <a:xfrm>
            <a:off x="590550" y="2423065"/>
            <a:ext cx="4181475" cy="9525"/>
          </a:xfrm>
          <a:prstGeom prst="rect">
            <a:avLst/>
          </a:prstGeom>
          <a:solidFill>
            <a:srgbClr val="E3DCD3"/>
          </a:solidFill>
          <a:ln>
            <a:noFill/>
          </a:ln>
        </p:spPr>
        <p:txBody>
          <a:bodyPr rtlCol="0" anchor="ctr"/>
          <a:lstStyle/>
          <a:p>
            <a:pPr algn="ctr"/>
            <a:endParaRPr/>
          </a:p>
        </p:txBody>
      </p:sp>
      <p:sp>
        <p:nvSpPr>
          <p:cNvPr id="15" name="TextBox 16"/>
          <p:cNvSpPr txBox="1"/>
          <p:nvPr/>
        </p:nvSpPr>
        <p:spPr>
          <a:xfrm>
            <a:off x="590550" y="24596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Celestica, TD SYNNEX, and Wesco each reported double-digit growth on data center demand in the latest quarter (page 22).</a:t>
            </a:r>
          </a:p>
        </p:txBody>
      </p:sp>
      <p:sp>
        <p:nvSpPr>
          <p:cNvPr id="16" name="Panel"/>
          <p:cNvSpPr/>
          <p:nvPr/>
        </p:nvSpPr>
        <p:spPr>
          <a:xfrm>
            <a:off x="5114925" y="1238250"/>
            <a:ext cx="4524375" cy="1568351"/>
          </a:xfrm>
          <a:prstGeom prst="rect">
            <a:avLst/>
          </a:prstGeom>
          <a:solidFill>
            <a:srgbClr val="FAF7F3"/>
          </a:solidFill>
          <a:ln>
            <a:noFill/>
          </a:ln>
        </p:spPr>
        <p:txBody>
          <a:bodyPr rtlCol="0" anchor="ctr"/>
          <a:lstStyle/>
          <a:p>
            <a:pPr algn="ctr"/>
            <a:endParaRPr/>
          </a:p>
        </p:txBody>
      </p:sp>
      <p:sp>
        <p:nvSpPr>
          <p:cNvPr id="17" name="Rule"/>
          <p:cNvSpPr/>
          <p:nvPr/>
        </p:nvSpPr>
        <p:spPr>
          <a:xfrm>
            <a:off x="5114925" y="1238250"/>
            <a:ext cx="4524375" cy="28575"/>
          </a:xfrm>
          <a:prstGeom prst="rect">
            <a:avLst/>
          </a:prstGeom>
          <a:solidFill>
            <a:srgbClr val="B68757"/>
          </a:solidFill>
          <a:ln>
            <a:noFill/>
          </a:ln>
        </p:spPr>
        <p:txBody>
          <a:bodyPr rtlCol="0" anchor="ctr"/>
          <a:lstStyle/>
          <a:p>
            <a:pPr algn="ctr"/>
            <a:endParaRPr/>
          </a:p>
        </p:txBody>
      </p:sp>
      <p:sp>
        <p:nvSpPr>
          <p:cNvPr id="18" name="Panel"/>
          <p:cNvSpPr/>
          <p:nvPr/>
        </p:nvSpPr>
        <p:spPr>
          <a:xfrm>
            <a:off x="5286375" y="1381125"/>
            <a:ext cx="381000" cy="381000"/>
          </a:xfrm>
          <a:prstGeom prst="ellipse">
            <a:avLst/>
          </a:prstGeom>
          <a:solidFill>
            <a:srgbClr val="1B1A1A"/>
          </a:solidFill>
          <a:ln>
            <a:noFill/>
          </a:ln>
        </p:spPr>
        <p:txBody>
          <a:bodyPr rtlCol="0" anchor="ctr"/>
          <a:lstStyle/>
          <a:p>
            <a:pPr algn="ctr"/>
            <a:endParaRPr/>
          </a:p>
        </p:txBody>
      </p:sp>
      <p:pic>
        <p:nvPicPr>
          <p:cNvPr id="19" name="Handshake icon for consolidators buying recurring revenue" descr="Handshake icon for consolidators buying recurring revenue"/>
          <p:cNvPicPr>
            <a:picLocks noChangeAspect="1"/>
          </p:cNvPicPr>
          <p:nvPr/>
        </p:nvPicPr>
        <p:blipFill>
          <a:blip r:embed="rId5"/>
          <a:stretch>
            <a:fillRect/>
          </a:stretch>
        </p:blipFill>
        <p:spPr>
          <a:xfrm>
            <a:off x="5353050" y="1447800"/>
            <a:ext cx="247650" cy="247650"/>
          </a:xfrm>
          <a:prstGeom prst="rect">
            <a:avLst/>
          </a:prstGeom>
        </p:spPr>
      </p:pic>
      <p:sp>
        <p:nvSpPr>
          <p:cNvPr id="20" name="TextBox 21"/>
          <p:cNvSpPr txBox="1"/>
          <p:nvPr/>
        </p:nvSpPr>
        <p:spPr>
          <a:xfrm>
            <a:off x="5781675" y="1471327"/>
            <a:ext cx="2897535" cy="161925"/>
          </a:xfrm>
          <a:prstGeom prst="rect">
            <a:avLst/>
          </a:prstGeom>
          <a:noFill/>
        </p:spPr>
        <p:txBody>
          <a:bodyPr wrap="none" lIns="0" tIns="0" r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1" name="TextBox 22"/>
          <p:cNvSpPr txBox="1"/>
          <p:nvPr/>
        </p:nvSpPr>
        <p:spPr>
          <a:xfrm>
            <a:off x="9153525" y="1399413"/>
            <a:ext cx="37147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2" name="TextBox 23"/>
          <p:cNvSpPr txBox="1"/>
          <p:nvPr/>
        </p:nvSpPr>
        <p:spPr>
          <a:xfrm>
            <a:off x="5286375" y="18195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30" b="0" i="0" u="sng" spc="15">
                <a:solidFill>
                  <a:srgbClr val="8C6239"/>
                </a:solidFill>
                <a:latin typeface="Quicksand"/>
                <a:hlinkClick r:id="rId6">
                  <a:extLst>
                    <a:ext uri="{A12FA001-AC4F-418D-AE19-62706E023703}">
                      <ahyp:hlinkClr xmlns:ahyp="http://schemas.microsoft.com/office/drawing/2018/hyperlinkcolor" val="tx"/>
                    </a:ext>
                  </a:extLst>
                </a:hlinkClick>
              </a:rPr>
              <a:t>Omdia</a:t>
            </a:r>
            <a:r>
              <a:rPr sz="830" b="0" i="0" spc="15">
                <a:solidFill>
                  <a:srgbClr val="333231"/>
                </a:solidFill>
                <a:latin typeface="Quicksand"/>
              </a:rPr>
              <a:t>).</a:t>
            </a:r>
          </a:p>
        </p:txBody>
      </p:sp>
      <p:sp>
        <p:nvSpPr>
          <p:cNvPr id="23" name="Rule"/>
          <p:cNvSpPr/>
          <p:nvPr/>
        </p:nvSpPr>
        <p:spPr>
          <a:xfrm>
            <a:off x="5286375" y="2423065"/>
            <a:ext cx="4181475" cy="9525"/>
          </a:xfrm>
          <a:prstGeom prst="rect">
            <a:avLst/>
          </a:prstGeom>
          <a:solidFill>
            <a:srgbClr val="E3DCD3"/>
          </a:solidFill>
          <a:ln>
            <a:noFill/>
          </a:ln>
        </p:spPr>
        <p:txBody>
          <a:bodyPr rtlCol="0" anchor="ctr"/>
          <a:lstStyle/>
          <a:p>
            <a:pPr algn="ctr"/>
            <a:endParaRPr/>
          </a:p>
        </p:txBody>
      </p:sp>
      <p:sp>
        <p:nvSpPr>
          <p:cNvPr id="24" name="TextBox 25"/>
          <p:cNvSpPr txBox="1"/>
          <p:nvPr/>
        </p:nvSpPr>
        <p:spPr>
          <a:xfrm>
            <a:off x="5286375" y="24596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Evergreen, Thrive, Integris, and The 20 MSP are each absorbing several providers a year, and contracted managed revenue is what they underwrite.</a:t>
            </a:r>
          </a:p>
        </p:txBody>
      </p:sp>
      <p:sp>
        <p:nvSpPr>
          <p:cNvPr id="25" name="Panel"/>
          <p:cNvSpPr/>
          <p:nvPr/>
        </p:nvSpPr>
        <p:spPr>
          <a:xfrm>
            <a:off x="419100" y="2930426"/>
            <a:ext cx="4524375" cy="1568500"/>
          </a:xfrm>
          <a:prstGeom prst="rect">
            <a:avLst/>
          </a:prstGeom>
          <a:solidFill>
            <a:srgbClr val="FAF7F3"/>
          </a:solidFill>
          <a:ln>
            <a:noFill/>
          </a:ln>
        </p:spPr>
        <p:txBody>
          <a:bodyPr rtlCol="0" anchor="ctr"/>
          <a:lstStyle/>
          <a:p>
            <a:pPr algn="ctr"/>
            <a:endParaRPr/>
          </a:p>
        </p:txBody>
      </p:sp>
      <p:sp>
        <p:nvSpPr>
          <p:cNvPr id="26" name="Rule"/>
          <p:cNvSpPr/>
          <p:nvPr/>
        </p:nvSpPr>
        <p:spPr>
          <a:xfrm>
            <a:off x="419100" y="2930426"/>
            <a:ext cx="4524375" cy="28575"/>
          </a:xfrm>
          <a:prstGeom prst="rect">
            <a:avLst/>
          </a:prstGeom>
          <a:solidFill>
            <a:srgbClr val="B68757"/>
          </a:solidFill>
          <a:ln>
            <a:noFill/>
          </a:ln>
        </p:spPr>
        <p:txBody>
          <a:bodyPr rtlCol="0" anchor="ctr"/>
          <a:lstStyle/>
          <a:p>
            <a:pPr algn="ctr"/>
            <a:endParaRPr/>
          </a:p>
        </p:txBody>
      </p:sp>
      <p:sp>
        <p:nvSpPr>
          <p:cNvPr id="27" name="Panel"/>
          <p:cNvSpPr/>
          <p:nvPr/>
        </p:nvSpPr>
        <p:spPr>
          <a:xfrm>
            <a:off x="590550" y="3073301"/>
            <a:ext cx="381000" cy="381000"/>
          </a:xfrm>
          <a:prstGeom prst="ellipse">
            <a:avLst/>
          </a:prstGeom>
          <a:solidFill>
            <a:srgbClr val="1B1A1A"/>
          </a:solidFill>
          <a:ln>
            <a:noFill/>
          </a:ln>
        </p:spPr>
        <p:txBody>
          <a:bodyPr rtlCol="0" anchor="ctr"/>
          <a:lstStyle/>
          <a:p>
            <a:pPr algn="ctr"/>
            <a:endParaRPr/>
          </a:p>
        </p:txBody>
      </p:sp>
      <p:pic>
        <p:nvPicPr>
          <p:cNvPr id="28" name="Rising line chart icon for higher financing costs" descr="Rising line chart icon for higher financing costs"/>
          <p:cNvPicPr>
            <a:picLocks noChangeAspect="1"/>
          </p:cNvPicPr>
          <p:nvPr/>
        </p:nvPicPr>
        <p:blipFill>
          <a:blip r:embed="rId7"/>
          <a:stretch>
            <a:fillRect/>
          </a:stretch>
        </p:blipFill>
        <p:spPr>
          <a:xfrm>
            <a:off x="657225" y="3139976"/>
            <a:ext cx="247650" cy="247650"/>
          </a:xfrm>
          <a:prstGeom prst="rect">
            <a:avLst/>
          </a:prstGeom>
        </p:spPr>
      </p:pic>
      <p:sp>
        <p:nvSpPr>
          <p:cNvPr id="29" name="TextBox 30"/>
          <p:cNvSpPr txBox="1"/>
          <p:nvPr/>
        </p:nvSpPr>
        <p:spPr>
          <a:xfrm>
            <a:off x="1085850" y="3077778"/>
            <a:ext cx="2897684"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0" name="TextBox 31"/>
          <p:cNvSpPr txBox="1"/>
          <p:nvPr/>
        </p:nvSpPr>
        <p:spPr>
          <a:xfrm>
            <a:off x="4021634" y="3091589"/>
            <a:ext cx="807541"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1" name="TextBox 32"/>
          <p:cNvSpPr txBox="1"/>
          <p:nvPr/>
        </p:nvSpPr>
        <p:spPr>
          <a:xfrm>
            <a:off x="590550" y="3511737"/>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The Federal Reserve raised its target range to 3.75% to 4.00% on September 16 (</a:t>
            </a:r>
            <a:r>
              <a:rPr sz="830" b="0" i="0" u="sng" spc="15">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30" b="0" i="0" spc="15">
                <a:solidFill>
                  <a:srgbClr val="333231"/>
                </a:solidFill>
                <a:latin typeface="Quicksand"/>
              </a:rPr>
              <a:t>) and the 10-year Treasury yielded 5.24% on October 1 (</a:t>
            </a:r>
            <a:r>
              <a:rPr sz="830" b="0" i="0" u="sng" spc="15">
                <a:solidFill>
                  <a:srgbClr val="8C6239"/>
                </a:solidFill>
                <a:latin typeface="Quicksand"/>
                <a:hlinkClick r:id="rId9">
                  <a:extLst>
                    <a:ext uri="{A12FA001-AC4F-418D-AE19-62706E023703}">
                      <ahyp:hlinkClr xmlns:ahyp="http://schemas.microsoft.com/office/drawing/2018/hyperlinkcolor" val="tx"/>
                    </a:ext>
                  </a:extLst>
                </a:hlinkClick>
              </a:rPr>
              <a:t>US Treasury</a:t>
            </a:r>
            <a:r>
              <a:rPr sz="830" b="0" i="0" spc="15">
                <a:solidFill>
                  <a:srgbClr val="333231"/>
                </a:solidFill>
                <a:latin typeface="Quicksand"/>
              </a:rPr>
              <a:t>). Platform acquisition debt fell to 2.9x EBITDA from 3.4x (</a:t>
            </a:r>
            <a:r>
              <a:rPr sz="830" b="0" i="0" u="sng" spc="15">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30" b="0" i="0" spc="15">
                <a:solidFill>
                  <a:srgbClr val="333231"/>
                </a:solidFill>
                <a:latin typeface="Quicksand"/>
              </a:rPr>
              <a:t>).</a:t>
            </a:r>
          </a:p>
        </p:txBody>
      </p:sp>
      <p:sp>
        <p:nvSpPr>
          <p:cNvPr id="32" name="Rule"/>
          <p:cNvSpPr/>
          <p:nvPr/>
        </p:nvSpPr>
        <p:spPr>
          <a:xfrm>
            <a:off x="590550" y="4115241"/>
            <a:ext cx="4181475" cy="9525"/>
          </a:xfrm>
          <a:prstGeom prst="rect">
            <a:avLst/>
          </a:prstGeom>
          <a:solidFill>
            <a:srgbClr val="E3DCD3"/>
          </a:solidFill>
          <a:ln>
            <a:noFill/>
          </a:ln>
        </p:spPr>
        <p:txBody>
          <a:bodyPr rtlCol="0" anchor="ctr"/>
          <a:lstStyle/>
          <a:p>
            <a:pPr algn="ctr"/>
            <a:endParaRPr/>
          </a:p>
        </p:txBody>
      </p:sp>
      <p:sp>
        <p:nvSpPr>
          <p:cNvPr id="33" name="TextBox 34"/>
          <p:cNvSpPr txBox="1"/>
          <p:nvPr/>
        </p:nvSpPr>
        <p:spPr>
          <a:xfrm>
            <a:off x="590550" y="4151817"/>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At 2.9x debt and a 7.0x average price, sponsors are funding about 60% of a purchase with equity, which favors sellers with contracted revenue.</a:t>
            </a:r>
          </a:p>
        </p:txBody>
      </p:sp>
      <p:sp>
        <p:nvSpPr>
          <p:cNvPr id="34" name="Panel"/>
          <p:cNvSpPr/>
          <p:nvPr/>
        </p:nvSpPr>
        <p:spPr>
          <a:xfrm>
            <a:off x="5114925" y="2930426"/>
            <a:ext cx="4524375" cy="1568500"/>
          </a:xfrm>
          <a:prstGeom prst="rect">
            <a:avLst/>
          </a:prstGeom>
          <a:solidFill>
            <a:srgbClr val="FAF7F3"/>
          </a:solidFill>
          <a:ln>
            <a:noFill/>
          </a:ln>
        </p:spPr>
        <p:txBody>
          <a:bodyPr rtlCol="0" anchor="ctr"/>
          <a:lstStyle/>
          <a:p>
            <a:pPr algn="ctr"/>
            <a:endParaRPr/>
          </a:p>
        </p:txBody>
      </p:sp>
      <p:sp>
        <p:nvSpPr>
          <p:cNvPr id="35" name="Rule"/>
          <p:cNvSpPr/>
          <p:nvPr/>
        </p:nvSpPr>
        <p:spPr>
          <a:xfrm>
            <a:off x="5114925" y="2930426"/>
            <a:ext cx="4524375" cy="28575"/>
          </a:xfrm>
          <a:prstGeom prst="rect">
            <a:avLst/>
          </a:prstGeom>
          <a:solidFill>
            <a:srgbClr val="B68757"/>
          </a:solidFill>
          <a:ln>
            <a:noFill/>
          </a:ln>
        </p:spPr>
        <p:txBody>
          <a:bodyPr rtlCol="0" anchor="ctr"/>
          <a:lstStyle/>
          <a:p>
            <a:pPr algn="ctr"/>
            <a:endParaRPr/>
          </a:p>
        </p:txBody>
      </p:sp>
      <p:sp>
        <p:nvSpPr>
          <p:cNvPr id="36" name="Panel"/>
          <p:cNvSpPr/>
          <p:nvPr/>
        </p:nvSpPr>
        <p:spPr>
          <a:xfrm>
            <a:off x="5286375" y="3073301"/>
            <a:ext cx="381000" cy="381000"/>
          </a:xfrm>
          <a:prstGeom prst="ellipse">
            <a:avLst/>
          </a:prstGeom>
          <a:solidFill>
            <a:srgbClr val="1B1A1A"/>
          </a:solidFill>
          <a:ln>
            <a:noFill/>
          </a:ln>
        </p:spPr>
        <p:txBody>
          <a:bodyPr rtlCol="0" anchor="ctr"/>
          <a:lstStyle/>
          <a:p>
            <a:pPr algn="ctr"/>
            <a:endParaRPr/>
          </a:p>
        </p:txBody>
      </p:sp>
      <p:pic>
        <p:nvPicPr>
          <p:cNvPr id="37" name="Shield and padlock icon for security budgets" descr="Shield and padlock icon for security budgets"/>
          <p:cNvPicPr>
            <a:picLocks noChangeAspect="1"/>
          </p:cNvPicPr>
          <p:nvPr/>
        </p:nvPicPr>
        <p:blipFill>
          <a:blip r:embed="rId11"/>
          <a:stretch>
            <a:fillRect/>
          </a:stretch>
        </p:blipFill>
        <p:spPr>
          <a:xfrm>
            <a:off x="5353050" y="3139976"/>
            <a:ext cx="247650" cy="247650"/>
          </a:xfrm>
          <a:prstGeom prst="rect">
            <a:avLst/>
          </a:prstGeom>
        </p:spPr>
      </p:pic>
      <p:sp>
        <p:nvSpPr>
          <p:cNvPr id="38" name="TextBox 39"/>
          <p:cNvSpPr txBox="1"/>
          <p:nvPr/>
        </p:nvSpPr>
        <p:spPr>
          <a:xfrm>
            <a:off x="5781675" y="3077778"/>
            <a:ext cx="2842320"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39" name="TextBox 40"/>
          <p:cNvSpPr txBox="1"/>
          <p:nvPr/>
        </p:nvSpPr>
        <p:spPr>
          <a:xfrm>
            <a:off x="8662095" y="3091589"/>
            <a:ext cx="86290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0" name="TextBox 41"/>
          <p:cNvSpPr txBox="1"/>
          <p:nvPr/>
        </p:nvSpPr>
        <p:spPr>
          <a:xfrm>
            <a:off x="5286375" y="3511737"/>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Gartner's July 2025 forecast puts 2026 security spending at $240 billion, up 12.5% (</a:t>
            </a:r>
            <a:r>
              <a:rPr sz="830" b="0" i="0" u="sng" spc="15">
                <a:solidFill>
                  <a:srgbClr val="8C6239"/>
                </a:solidFill>
                <a:latin typeface="Quicksand"/>
                <a:hlinkClick r:id="rId12">
                  <a:extLst>
                    <a:ext uri="{A12FA001-AC4F-418D-AE19-62706E023703}">
                      <ahyp:hlinkClr xmlns:ahyp="http://schemas.microsoft.com/office/drawing/2018/hyperlinkcolor" val="tx"/>
                    </a:ext>
                  </a:extLst>
                </a:hlinkClick>
              </a:rPr>
              <a:t>Gartner</a:t>
            </a:r>
            <a:r>
              <a:rPr sz="830" b="0" i="0" spc="15">
                <a:solidFill>
                  <a:srgbClr val="333231"/>
                </a:solidFill>
                <a:latin typeface="Quicksand"/>
              </a:rPr>
              <a:t>); cybercrime losses reached $20.9 billion in 2025 (</a:t>
            </a:r>
            <a:r>
              <a:rPr sz="830" b="0" i="0" u="sng" spc="15">
                <a:solidFill>
                  <a:srgbClr val="8C6239"/>
                </a:solidFill>
                <a:latin typeface="Quicksand"/>
                <a:hlinkClick r:id="rId13">
                  <a:extLst>
                    <a:ext uri="{A12FA001-AC4F-418D-AE19-62706E023703}">
                      <ahyp:hlinkClr xmlns:ahyp="http://schemas.microsoft.com/office/drawing/2018/hyperlinkcolor" val="tx"/>
                    </a:ext>
                  </a:extLst>
                </a:hlinkClick>
              </a:rPr>
              <a:t>FBI</a:t>
            </a:r>
            <a:r>
              <a:rPr sz="830" b="0" i="0" spc="15">
                <a:solidFill>
                  <a:srgbClr val="333231"/>
                </a:solidFill>
                <a:latin typeface="Quicksand"/>
              </a:rPr>
              <a:t>). The Department of War suspended CMMC third-party certification on July 13 (</a:t>
            </a:r>
            <a:r>
              <a:rPr sz="830" b="0" i="0" u="sng" spc="15">
                <a:solidFill>
                  <a:srgbClr val="8C6239"/>
                </a:solidFill>
                <a:latin typeface="Quicksand"/>
                <a:hlinkClick r:id="rId14">
                  <a:extLst>
                    <a:ext uri="{A12FA001-AC4F-418D-AE19-62706E023703}">
                      <ahyp:hlinkClr xmlns:ahyp="http://schemas.microsoft.com/office/drawing/2018/hyperlinkcolor" val="tx"/>
                    </a:ext>
                  </a:extLst>
                </a:hlinkClick>
              </a:rPr>
              <a:t>Department of War CIO</a:t>
            </a:r>
            <a:r>
              <a:rPr sz="830" b="0" i="0" spc="15">
                <a:solidFill>
                  <a:srgbClr val="333231"/>
                </a:solidFill>
                <a:latin typeface="Quicksand"/>
              </a:rPr>
              <a:t>).</a:t>
            </a:r>
          </a:p>
        </p:txBody>
      </p:sp>
      <p:sp>
        <p:nvSpPr>
          <p:cNvPr id="41" name="Rule"/>
          <p:cNvSpPr/>
          <p:nvPr/>
        </p:nvSpPr>
        <p:spPr>
          <a:xfrm>
            <a:off x="5286375" y="4115241"/>
            <a:ext cx="4181475" cy="9525"/>
          </a:xfrm>
          <a:prstGeom prst="rect">
            <a:avLst/>
          </a:prstGeom>
          <a:solidFill>
            <a:srgbClr val="E3DCD3"/>
          </a:solidFill>
          <a:ln>
            <a:noFill/>
          </a:ln>
        </p:spPr>
        <p:txBody>
          <a:bodyPr rtlCol="0" anchor="ctr"/>
          <a:lstStyle/>
          <a:p>
            <a:pPr algn="ctr"/>
            <a:endParaRPr/>
          </a:p>
        </p:txBody>
      </p:sp>
      <p:sp>
        <p:nvSpPr>
          <p:cNvPr id="42" name="TextBox 43"/>
          <p:cNvSpPr txBox="1"/>
          <p:nvPr/>
        </p:nvSpPr>
        <p:spPr>
          <a:xfrm>
            <a:off x="5286375" y="4151817"/>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The review closed September 11 and its report is unpublished, so a Level 2 certificate signals readiness without a contract requirement behind it.</a:t>
            </a:r>
          </a:p>
        </p:txBody>
      </p:sp>
      <p:sp>
        <p:nvSpPr>
          <p:cNvPr id="43" name="Panel"/>
          <p:cNvSpPr/>
          <p:nvPr/>
        </p:nvSpPr>
        <p:spPr>
          <a:xfrm>
            <a:off x="419100" y="4622750"/>
            <a:ext cx="4524375" cy="1568500"/>
          </a:xfrm>
          <a:prstGeom prst="rect">
            <a:avLst/>
          </a:prstGeom>
          <a:solidFill>
            <a:srgbClr val="FAF7F3"/>
          </a:solidFill>
          <a:ln>
            <a:noFill/>
          </a:ln>
        </p:spPr>
        <p:txBody>
          <a:bodyPr rtlCol="0" anchor="ctr"/>
          <a:lstStyle/>
          <a:p>
            <a:pPr algn="ctr"/>
            <a:endParaRPr/>
          </a:p>
        </p:txBody>
      </p:sp>
      <p:sp>
        <p:nvSpPr>
          <p:cNvPr id="44" name="Rule"/>
          <p:cNvSpPr/>
          <p:nvPr/>
        </p:nvSpPr>
        <p:spPr>
          <a:xfrm>
            <a:off x="419100" y="4622750"/>
            <a:ext cx="4524375" cy="28575"/>
          </a:xfrm>
          <a:prstGeom prst="rect">
            <a:avLst/>
          </a:prstGeom>
          <a:solidFill>
            <a:srgbClr val="B68757"/>
          </a:solidFill>
          <a:ln>
            <a:noFill/>
          </a:ln>
        </p:spPr>
        <p:txBody>
          <a:bodyPr rtlCol="0" anchor="ctr"/>
          <a:lstStyle/>
          <a:p>
            <a:pPr algn="ctr"/>
            <a:endParaRPr/>
          </a:p>
        </p:txBody>
      </p:sp>
      <p:sp>
        <p:nvSpPr>
          <p:cNvPr id="45" name="Panel"/>
          <p:cNvSpPr/>
          <p:nvPr/>
        </p:nvSpPr>
        <p:spPr>
          <a:xfrm>
            <a:off x="590550" y="4765625"/>
            <a:ext cx="381000" cy="381000"/>
          </a:xfrm>
          <a:prstGeom prst="ellipse">
            <a:avLst/>
          </a:prstGeom>
          <a:solidFill>
            <a:srgbClr val="1B1A1A"/>
          </a:solidFill>
          <a:ln>
            <a:noFill/>
          </a:ln>
        </p:spPr>
        <p:txBody>
          <a:bodyPr rtlCol="0" anchor="ctr"/>
          <a:lstStyle/>
          <a:p>
            <a:pPr algn="ctr"/>
            <a:endParaRPr/>
          </a:p>
        </p:txBody>
      </p:sp>
      <p:pic>
        <p:nvPicPr>
          <p:cNvPr id="46" name="Factory icon for hardware order books" descr="Factory icon for hardware order books"/>
          <p:cNvPicPr>
            <a:picLocks noChangeAspect="1"/>
          </p:cNvPicPr>
          <p:nvPr/>
        </p:nvPicPr>
        <p:blipFill>
          <a:blip r:embed="rId15"/>
          <a:stretch>
            <a:fillRect/>
          </a:stretch>
        </p:blipFill>
        <p:spPr>
          <a:xfrm>
            <a:off x="657225" y="4832300"/>
            <a:ext cx="247650" cy="247650"/>
          </a:xfrm>
          <a:prstGeom prst="rect">
            <a:avLst/>
          </a:prstGeom>
        </p:spPr>
      </p:pic>
      <p:sp>
        <p:nvSpPr>
          <p:cNvPr id="47" name="TextBox 48"/>
          <p:cNvSpPr txBox="1"/>
          <p:nvPr/>
        </p:nvSpPr>
        <p:spPr>
          <a:xfrm>
            <a:off x="1085850" y="4770102"/>
            <a:ext cx="3113038"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48" name="TextBox 49"/>
          <p:cNvSpPr txBox="1"/>
          <p:nvPr/>
        </p:nvSpPr>
        <p:spPr>
          <a:xfrm>
            <a:off x="4236988" y="4783913"/>
            <a:ext cx="592187"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49" name="TextBox 50"/>
          <p:cNvSpPr txBox="1"/>
          <p:nvPr/>
        </p:nvSpPr>
        <p:spPr>
          <a:xfrm>
            <a:off x="590550" y="52040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North American EMS bookings rose 53.5% in August while shipments rose 1.0%, a three-month book-to-bill ratio of 1.39 (</a:t>
            </a:r>
            <a:r>
              <a:rPr sz="830" b="0" i="0" u="sng" spc="15">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30" b="0" i="0" spc="15">
                <a:solidFill>
                  <a:srgbClr val="333231"/>
                </a:solidFill>
                <a:latin typeface="Quicksand"/>
              </a:rPr>
              <a:t>). Section 301 duties of 10% to 12.5% took effect July 24 as the Section 122 duty expired (</a:t>
            </a:r>
            <a:r>
              <a:rPr sz="830" b="0" i="0" u="sng" spc="15">
                <a:solidFill>
                  <a:srgbClr val="8C6239"/>
                </a:solidFill>
                <a:latin typeface="Quicksand"/>
                <a:hlinkClick r:id="rId17">
                  <a:extLst>
                    <a:ext uri="{A12FA001-AC4F-418D-AE19-62706E023703}">
                      <ahyp:hlinkClr xmlns:ahyp="http://schemas.microsoft.com/office/drawing/2018/hyperlinkcolor" val="tx"/>
                    </a:ext>
                  </a:extLst>
                </a:hlinkClick>
              </a:rPr>
              <a:t>Wiley Rein</a:t>
            </a:r>
            <a:r>
              <a:rPr sz="830" b="0" i="0" spc="15">
                <a:solidFill>
                  <a:srgbClr val="333231"/>
                </a:solidFill>
                <a:latin typeface="Quicksand"/>
              </a:rPr>
              <a:t>).</a:t>
            </a:r>
          </a:p>
        </p:txBody>
      </p:sp>
      <p:sp>
        <p:nvSpPr>
          <p:cNvPr id="50" name="Rule"/>
          <p:cNvSpPr/>
          <p:nvPr/>
        </p:nvSpPr>
        <p:spPr>
          <a:xfrm>
            <a:off x="590550" y="5807565"/>
            <a:ext cx="4181475" cy="9525"/>
          </a:xfrm>
          <a:prstGeom prst="rect">
            <a:avLst/>
          </a:prstGeom>
          <a:solidFill>
            <a:srgbClr val="E3DCD3"/>
          </a:solidFill>
          <a:ln>
            <a:noFill/>
          </a:ln>
        </p:spPr>
        <p:txBody>
          <a:bodyPr rtlCol="0" anchor="ctr"/>
          <a:lstStyle/>
          <a:p>
            <a:pPr algn="ctr"/>
            <a:endParaRPr/>
          </a:p>
        </p:txBody>
      </p:sp>
      <p:sp>
        <p:nvSpPr>
          <p:cNvPr id="51" name="TextBox 52"/>
          <p:cNvSpPr txBox="1"/>
          <p:nvPr/>
        </p:nvSpPr>
        <p:spPr>
          <a:xfrm>
            <a:off x="590550" y="58441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Component prices are up 26.7% in a year (page 23), so backlog booked at 2025 prices needs pass-through terms to hold its margin.</a:t>
            </a:r>
          </a:p>
        </p:txBody>
      </p:sp>
      <p:sp>
        <p:nvSpPr>
          <p:cNvPr id="52" name="Panel"/>
          <p:cNvSpPr/>
          <p:nvPr/>
        </p:nvSpPr>
        <p:spPr>
          <a:xfrm>
            <a:off x="5114925" y="4622750"/>
            <a:ext cx="4524375" cy="1568500"/>
          </a:xfrm>
          <a:prstGeom prst="rect">
            <a:avLst/>
          </a:prstGeom>
          <a:solidFill>
            <a:srgbClr val="FAF7F3"/>
          </a:solidFill>
          <a:ln>
            <a:noFill/>
          </a:ln>
        </p:spPr>
        <p:txBody>
          <a:bodyPr rtlCol="0" anchor="ctr"/>
          <a:lstStyle/>
          <a:p>
            <a:pPr algn="ctr"/>
            <a:endParaRPr/>
          </a:p>
        </p:txBody>
      </p:sp>
      <p:sp>
        <p:nvSpPr>
          <p:cNvPr id="53" name="Rule"/>
          <p:cNvSpPr/>
          <p:nvPr/>
        </p:nvSpPr>
        <p:spPr>
          <a:xfrm>
            <a:off x="5114925" y="4622750"/>
            <a:ext cx="4524375" cy="28575"/>
          </a:xfrm>
          <a:prstGeom prst="rect">
            <a:avLst/>
          </a:prstGeom>
          <a:solidFill>
            <a:srgbClr val="B68757"/>
          </a:solidFill>
          <a:ln>
            <a:noFill/>
          </a:ln>
        </p:spPr>
        <p:txBody>
          <a:bodyPr rtlCol="0" anchor="ctr"/>
          <a:lstStyle/>
          <a:p>
            <a:pPr algn="ctr"/>
            <a:endParaRPr/>
          </a:p>
        </p:txBody>
      </p:sp>
      <p:sp>
        <p:nvSpPr>
          <p:cNvPr id="54" name="Panel"/>
          <p:cNvSpPr/>
          <p:nvPr/>
        </p:nvSpPr>
        <p:spPr>
          <a:xfrm>
            <a:off x="5286375" y="4765625"/>
            <a:ext cx="381000" cy="381000"/>
          </a:xfrm>
          <a:prstGeom prst="ellipse">
            <a:avLst/>
          </a:prstGeom>
          <a:solidFill>
            <a:srgbClr val="1B1A1A"/>
          </a:solidFill>
          <a:ln>
            <a:noFill/>
          </a:ln>
        </p:spPr>
        <p:txBody>
          <a:bodyPr rtlCol="0" anchor="ctr"/>
          <a:lstStyle/>
          <a:p>
            <a:pPr algn="ctr"/>
            <a:endParaRPr/>
          </a:p>
        </p:txBody>
      </p:sp>
      <p:pic>
        <p:nvPicPr>
          <p:cNvPr id="55" name="Government building icon for federal technology budgets" descr="Government building icon for federal technology budgets"/>
          <p:cNvPicPr>
            <a:picLocks noChangeAspect="1"/>
          </p:cNvPicPr>
          <p:nvPr/>
        </p:nvPicPr>
        <p:blipFill>
          <a:blip r:embed="rId18"/>
          <a:stretch>
            <a:fillRect/>
          </a:stretch>
        </p:blipFill>
        <p:spPr>
          <a:xfrm>
            <a:off x="5353050" y="4832300"/>
            <a:ext cx="247650" cy="247650"/>
          </a:xfrm>
          <a:prstGeom prst="rect">
            <a:avLst/>
          </a:prstGeom>
        </p:spPr>
      </p:pic>
      <p:sp>
        <p:nvSpPr>
          <p:cNvPr id="56" name="TextBox 57"/>
          <p:cNvSpPr txBox="1"/>
          <p:nvPr/>
        </p:nvSpPr>
        <p:spPr>
          <a:xfrm>
            <a:off x="5781675" y="4770102"/>
            <a:ext cx="2778770"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7" name="TextBox 58"/>
          <p:cNvSpPr txBox="1"/>
          <p:nvPr/>
        </p:nvSpPr>
        <p:spPr>
          <a:xfrm>
            <a:off x="8598545" y="4783913"/>
            <a:ext cx="92645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58" name="TextBox 59"/>
          <p:cNvSpPr txBox="1"/>
          <p:nvPr/>
        </p:nvSpPr>
        <p:spPr>
          <a:xfrm>
            <a:off x="5286375" y="52040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The fiscal 2027 request restores civilian agency IT to $75.7 billion after a cut to $67.9 billion in fiscal 2026 (</a:t>
            </a:r>
            <a:r>
              <a:rPr sz="830" b="0" i="0" u="sng" spc="15">
                <a:solidFill>
                  <a:srgbClr val="8C6239"/>
                </a:solidFill>
                <a:latin typeface="Quicksand"/>
                <a:hlinkClick r:id="rId19">
                  <a:extLst>
                    <a:ext uri="{A12FA001-AC4F-418D-AE19-62706E023703}">
                      <ahyp:hlinkClr xmlns:ahyp="http://schemas.microsoft.com/office/drawing/2018/hyperlinkcolor" val="tx"/>
                    </a:ext>
                  </a:extLst>
                </a:hlinkClick>
              </a:rPr>
              <a:t>FedScoop</a:t>
            </a:r>
            <a:r>
              <a:rPr sz="830" b="0" i="0" spc="15">
                <a:solidFill>
                  <a:srgbClr val="333231"/>
                </a:solidFill>
                <a:latin typeface="Quicksand"/>
              </a:rPr>
              <a:t>). A continuing resolution signed September 2 runs through December 11 and delays new program starts (</a:t>
            </a:r>
            <a:r>
              <a:rPr sz="830" b="0" i="0" u="sng" spc="15">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30" b="0" i="0" spc="15">
                <a:solidFill>
                  <a:srgbClr val="333231"/>
                </a:solidFill>
                <a:latin typeface="Quicksand"/>
              </a:rPr>
              <a:t>).</a:t>
            </a:r>
          </a:p>
        </p:txBody>
      </p:sp>
      <p:sp>
        <p:nvSpPr>
          <p:cNvPr id="59" name="Rule"/>
          <p:cNvSpPr/>
          <p:nvPr/>
        </p:nvSpPr>
        <p:spPr>
          <a:xfrm>
            <a:off x="5286375" y="5807565"/>
            <a:ext cx="4181475" cy="9525"/>
          </a:xfrm>
          <a:prstGeom prst="rect">
            <a:avLst/>
          </a:prstGeom>
          <a:solidFill>
            <a:srgbClr val="E3DCD3"/>
          </a:solidFill>
          <a:ln>
            <a:noFill/>
          </a:ln>
        </p:spPr>
        <p:txBody>
          <a:bodyPr rtlCol="0" anchor="ctr"/>
          <a:lstStyle/>
          <a:p>
            <a:pPr algn="ctr"/>
            <a:endParaRPr/>
          </a:p>
        </p:txBody>
      </p:sp>
      <p:sp>
        <p:nvSpPr>
          <p:cNvPr id="60" name="TextBox 61"/>
          <p:cNvSpPr txBox="1"/>
          <p:nvPr/>
        </p:nvSpPr>
        <p:spPr>
          <a:xfrm>
            <a:off x="5286375" y="58441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Defense-weighted CACI grew 17.6% while civilian-weighted Booz Allen fell 4.2% (page 22); contract mix sets the price.</a:t>
            </a:r>
          </a:p>
        </p:txBody>
      </p:sp>
      <p:sp>
        <p:nvSpPr>
          <p:cNvPr id="61" name="Panel"/>
          <p:cNvSpPr/>
          <p:nvPr/>
        </p:nvSpPr>
        <p:spPr>
          <a:xfrm>
            <a:off x="419100" y="6324600"/>
            <a:ext cx="9220200" cy="609600"/>
          </a:xfrm>
          <a:prstGeom prst="rect">
            <a:avLst/>
          </a:prstGeom>
          <a:solidFill>
            <a:srgbClr val="1B1A1A"/>
          </a:solidFill>
          <a:ln>
            <a:noFill/>
          </a:ln>
        </p:spPr>
        <p:txBody>
          <a:bodyPr rtlCol="0" anchor="ctr"/>
          <a:lstStyle/>
          <a:p>
            <a:pPr algn="ctr"/>
            <a:endParaRPr/>
          </a:p>
        </p:txBody>
      </p:sp>
      <p:sp>
        <p:nvSpPr>
          <p:cNvPr id="62" name="TextBox 63"/>
          <p:cNvSpPr txBox="1"/>
          <p:nvPr/>
        </p:nvSpPr>
        <p:spPr>
          <a:xfrm>
            <a:off x="628650" y="6476810"/>
            <a:ext cx="1143000" cy="238125"/>
          </a:xfrm>
          <a:prstGeom prst="rect">
            <a:avLst/>
          </a:prstGeom>
          <a:noFill/>
        </p:spPr>
        <p:txBody>
          <a:bodyPr wrap="square" lIns="0" tIns="0" rIns="0" bIns="0" anchor="t">
            <a:noAutofit/>
          </a:bodyPr>
          <a:lstStyle/>
          <a:p>
            <a:pPr algn="l">
              <a:lnSpc>
                <a:spcPts val="1136"/>
              </a:lnSpc>
              <a:spcBef>
                <a:spcPts val="0"/>
              </a:spcBef>
              <a:spcAft>
                <a:spcPts val="0"/>
              </a:spcAft>
            </a:pPr>
            <a:r>
              <a:rPr sz="730" b="1" i="0" spc="180">
                <a:solidFill>
                  <a:srgbClr val="D3AE84"/>
                </a:solidFill>
                <a:latin typeface="Quicksand"/>
              </a:rPr>
              <a:t>WHAT IT MEANS</a:t>
            </a:r>
            <a:br/>
            <a:r>
              <a:rPr sz="730" b="1" i="0" spc="180">
                <a:solidFill>
                  <a:srgbClr val="D3AE84"/>
                </a:solidFill>
                <a:latin typeface="Quicksand"/>
              </a:rPr>
              <a:t>FOR OWNERS</a:t>
            </a:r>
          </a:p>
        </p:txBody>
      </p:sp>
      <p:sp>
        <p:nvSpPr>
          <p:cNvPr id="63"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endParaRPr/>
          </a:p>
        </p:txBody>
      </p:sp>
      <p:sp>
        <p:nvSpPr>
          <p:cNvPr id="64" name="TextBox 65"/>
          <p:cNvSpPr txBox="1"/>
          <p:nvPr/>
        </p:nvSpPr>
        <p:spPr>
          <a:xfrm>
            <a:off x="2085975" y="6361988"/>
            <a:ext cx="7419975" cy="495300"/>
          </a:xfrm>
          <a:prstGeom prst="rect">
            <a:avLst/>
          </a:prstGeom>
          <a:noFill/>
        </p:spPr>
        <p:txBody>
          <a:bodyPr wrap="square" lIns="0" tIns="0" rIns="0" bIns="0" anchor="t">
            <a:noAutofit/>
          </a:bodyPr>
          <a:lstStyle/>
          <a:p>
            <a:pPr algn="l">
              <a:lnSpc>
                <a:spcPts val="1425"/>
              </a:lnSpc>
              <a:spcBef>
                <a:spcPts val="0"/>
              </a:spcBef>
              <a:spcAft>
                <a:spcPts val="0"/>
              </a:spcAft>
            </a:pPr>
            <a:r>
              <a:rPr sz="1011" b="0" i="0" dirty="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dirty="0">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dirty="0">
                <a:solidFill>
                  <a:srgbClr val="FFFFFF"/>
                </a:solidFill>
                <a:latin typeface="Newsreader"/>
              </a:rPr>
              <a:t>), and 87% of sales above $5 million drew three or more offers (</a:t>
            </a:r>
            <a:r>
              <a:rPr sz="1011" b="0" i="0" u="sng" dirty="0">
                <a:solidFill>
                  <a:srgbClr val="D3AE84"/>
                </a:solidFill>
                <a:latin typeface="Newsreader"/>
                <a:hlinkClick r:id="rId21"/>
              </a:rPr>
              <a:t>IBBA and M&amp;A Source</a:t>
            </a:r>
            <a:r>
              <a:rPr sz="1011" b="0" i="0" dirty="0">
                <a:solidFill>
                  <a:srgbClr val="FFFFFF"/>
                </a:solidFill>
                <a:latin typeface="Newsreader"/>
              </a:rPr>
              <a:t>).</a:t>
            </a:r>
          </a:p>
        </p:txBody>
      </p:sp>
      <p:sp>
        <p:nvSpPr>
          <p:cNvPr id="65" name="TextBox 68"/>
          <p:cNvSpPr txBox="1"/>
          <p:nvPr/>
        </p:nvSpPr>
        <p:spPr>
          <a:xfrm>
            <a:off x="1543050" y="7091172"/>
            <a:ext cx="7810500" cy="223838"/>
          </a:xfrm>
          <a:prstGeom prst="rect">
            <a:avLst/>
          </a:prstGeom>
          <a:noFill/>
        </p:spPr>
        <p:txBody>
          <a:bodyPr wrap="square" lIns="0" tIns="0" rIns="0" bIns="0" anchor="b">
            <a:noAutofit/>
          </a:bodyPr>
          <a:lstStyle/>
          <a:p>
            <a:pPr algn="l">
              <a:lnSpc>
                <a:spcPts val="1014"/>
              </a:lnSpc>
              <a:spcBef>
                <a:spcPts val="0"/>
              </a:spcBef>
              <a:spcAft>
                <a:spcPts val="0"/>
              </a:spcAft>
            </a:pPr>
            <a:r>
              <a:rPr sz="730" b="0" i="0" spc="8">
                <a:solidFill>
                  <a:srgbClr val="6F6A66"/>
                </a:solidFill>
                <a:latin typeface="Quicksand"/>
              </a:rPr>
              <a:t>Figures are the latest published as of October 14, 2026. EMS is electronics manufacturing services. CMMC is the Cybersecurity Maturity Model Certification for defense suppliers.</a:t>
            </a:r>
          </a:p>
        </p:txBody>
      </p:sp>
      <p:sp>
        <p:nvSpPr>
          <p:cNvPr id="6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30" b="1" kern="0" spc="195" dirty="0">
                <a:solidFill>
                  <a:srgbClr val="8C6239"/>
                </a:solidFill>
                <a:latin typeface="Quicksand" pitchFamily="34" charset="0"/>
              </a:rPr>
              <a:t>TECHNOLOGY  |  QUARTERLY INDUSTRY REPORT</a:t>
            </a:r>
            <a:endParaRPr lang="en-US" sz="730" dirty="0"/>
          </a:p>
        </p:txBody>
      </p:sp>
      <p:sp>
        <p:nvSpPr>
          <p:cNvPr id="6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35" kern="0" spc="90" dirty="0">
                <a:solidFill>
                  <a:srgbClr val="6F6A66"/>
                </a:solidFill>
                <a:latin typeface="Cinzel" pitchFamily="34" charset="0"/>
              </a:rPr>
              <a:t>Q4 2026</a:t>
            </a:r>
            <a:endParaRPr lang="en-US" sz="935" dirty="0"/>
          </a:p>
        </p:txBody>
      </p:sp>
      <p:sp>
        <p:nvSpPr>
          <p:cNvPr id="68" name="Shape 9"/>
          <p:cNvSpPr/>
          <p:nvPr/>
        </p:nvSpPr>
        <p:spPr>
          <a:xfrm>
            <a:off x="419100" y="7029450"/>
            <a:ext cx="9220200" cy="9525"/>
          </a:xfrm>
          <a:prstGeom prst="rect">
            <a:avLst/>
          </a:prstGeom>
          <a:solidFill>
            <a:srgbClr val="E3DCD3"/>
          </a:solidFill>
          <a:ln/>
        </p:spPr>
        <p:txBody>
          <a:bodyPr/>
          <a:lstStyle/>
          <a:p>
            <a:endParaRPr lang="en-US"/>
          </a:p>
        </p:txBody>
      </p:sp>
      <p:pic>
        <p:nvPicPr>
          <p:cNvPr id="69" name="Benchmark International logo" descr="Benchmark International logo"/>
          <p:cNvPicPr>
            <a:picLocks noChangeAspect="1"/>
          </p:cNvPicPr>
          <p:nvPr/>
        </p:nvPicPr>
        <p:blipFill>
          <a:blip r:embed="rId22"/>
          <a:stretch>
            <a:fillRect/>
          </a:stretch>
        </p:blipFill>
        <p:spPr>
          <a:xfrm>
            <a:off x="419100" y="7143750"/>
            <a:ext cx="914400" cy="171450"/>
          </a:xfrm>
          <a:prstGeom prst="rect">
            <a:avLst/>
          </a:prstGeom>
        </p:spPr>
      </p:pic>
      <p:sp>
        <p:nvSpPr>
          <p:cNvPr id="7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65" b="1" kern="0" spc="150" dirty="0">
                <a:solidFill>
                  <a:srgbClr val="1B1A1A"/>
                </a:solidFill>
                <a:latin typeface="Quicksand" pitchFamily="34" charset="0"/>
              </a:rPr>
              <a:t>05</a:t>
            </a:r>
            <a:endParaRPr lang="en-US" sz="76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Tariffs, Copper, and Financing: Costs Buyers Are Repricing</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85" b="0" i="0" spc="15">
                <a:solidFill>
                  <a:srgbClr val="6F6A66"/>
                </a:solidFill>
                <a:latin typeface="Quicksand"/>
              </a:rPr>
              <a:t>Tariffs, component and copper prices and interest rates have each moved in the past year and change what buyers treat as normal earnings.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p:cNvSpPr txBox="1"/>
          <p:nvPr/>
        </p:nvSpPr>
        <p:spPr>
          <a:xfrm>
            <a:off x="420624" y="1298448"/>
            <a:ext cx="2011680" cy="2743200"/>
          </a:xfrm>
          <a:prstGeom prst="rect">
            <a:avLst/>
          </a:prstGeom>
          <a:noFill/>
        </p:spPr>
        <p:txBody>
          <a:bodyPr wrap="square" lIns="0" tIns="0" rIns="0" bIns="0" anchor="t">
            <a:noAutofit/>
          </a:bodyPr>
          <a:lstStyle/>
          <a:p>
            <a:pPr algn="l">
              <a:lnSpc>
                <a:spcPts val="1245"/>
              </a:lnSpc>
              <a:spcBef>
                <a:spcPts val="0"/>
              </a:spcBef>
              <a:spcAft>
                <a:spcPts val="866"/>
              </a:spcAft>
            </a:pPr>
            <a:r>
              <a:rPr sz="855" b="0" i="0">
                <a:solidFill>
                  <a:srgbClr val="333231"/>
                </a:solidFill>
                <a:latin typeface="Quicksand"/>
              </a:rPr>
              <a:t>A technology company that reaches the market in the next year will present earnings that passed through three tariff regimes, a 27% rise in component prices, a record copper price, and the first increase in the federal funds rate since 2023. Buyers are rebuilding each of those costs period by period before they settle on the earnings they will pay for.</a:t>
            </a:r>
          </a:p>
          <a:p>
            <a:pPr algn="l">
              <a:lnSpc>
                <a:spcPts val="1245"/>
              </a:lnSpc>
              <a:spcBef>
                <a:spcPts val="0"/>
              </a:spcBef>
              <a:spcAft>
                <a:spcPts val="866"/>
              </a:spcAft>
            </a:pPr>
            <a:r>
              <a:rPr sz="855" b="0" i="0">
                <a:solidFill>
                  <a:srgbClr val="333231"/>
                </a:solidFill>
                <a:latin typeface="Quicksand"/>
              </a:rPr>
              <a:t>The effect differs by business. Manufacturers and distributors that import components carry duty exposure, integrators that fix a price on cabling and power work carry copper exposure, and managed service firms with contracted revenue carry mostly financing exposure.</a:t>
            </a:r>
          </a:p>
        </p:txBody>
      </p:sp>
      <p:sp>
        <p:nvSpPr>
          <p:cNvPr id="8" name="Panel"/>
          <p:cNvSpPr/>
          <p:nvPr/>
        </p:nvSpPr>
        <p:spPr>
          <a:xfrm>
            <a:off x="420624" y="5138928"/>
            <a:ext cx="27432" cy="1691640"/>
          </a:xfrm>
          <a:prstGeom prst="rect">
            <a:avLst/>
          </a:prstGeom>
          <a:solidFill>
            <a:srgbClr val="B68757"/>
          </a:solidFill>
          <a:ln>
            <a:noFill/>
          </a:ln>
          <a:effectLst/>
        </p:spPr>
        <p:txBody>
          <a:bodyPr rtlCol="0" anchor="ctr"/>
          <a:lstStyle/>
          <a:p>
            <a:pPr algn="ctr"/>
            <a:endParaRPr/>
          </a:p>
        </p:txBody>
      </p:sp>
      <p:sp>
        <p:nvSpPr>
          <p:cNvPr id="9" name="TextBox"/>
          <p:cNvSpPr txBox="1"/>
          <p:nvPr/>
        </p:nvSpPr>
        <p:spPr>
          <a:xfrm>
            <a:off x="566928" y="5138928"/>
            <a:ext cx="1874520" cy="1737360"/>
          </a:xfrm>
          <a:prstGeom prst="rect">
            <a:avLst/>
          </a:prstGeom>
          <a:noFill/>
        </p:spPr>
        <p:txBody>
          <a:bodyPr wrap="square" lIns="0" tIns="0" rIns="0" bIns="0" anchor="t">
            <a:noAutofit/>
          </a:bodyPr>
          <a:lstStyle/>
          <a:p>
            <a:pPr algn="l">
              <a:lnSpc>
                <a:spcPts val="1393"/>
              </a:lnSpc>
              <a:spcBef>
                <a:spcPts val="0"/>
              </a:spcBef>
              <a:spcAft>
                <a:spcPts val="0"/>
              </a:spcAft>
            </a:pPr>
            <a:r>
              <a:rPr sz="995" b="0" i="1">
                <a:solidFill>
                  <a:srgbClr val="1B1A1A"/>
                </a:solidFill>
                <a:latin typeface="Quicksand"/>
              </a:rPr>
              <a:t>An owner who can show landed cost by period, copper recovery by contract, and a clear account of how the business is financed shortens diligence and protects the earnings figure the price is built on.</a:t>
            </a:r>
          </a:p>
        </p:txBody>
      </p:sp>
      <p:sp>
        <p:nvSpPr>
          <p:cNvPr id="10" name="Label"/>
          <p:cNvSpPr txBox="1"/>
          <p:nvPr/>
        </p:nvSpPr>
        <p:spPr>
          <a:xfrm>
            <a:off x="2697480" y="1307592"/>
            <a:ext cx="2743200" cy="128016"/>
          </a:xfrm>
          <a:prstGeom prst="rect">
            <a:avLst/>
          </a:prstGeom>
          <a:noFill/>
        </p:spPr>
        <p:txBody>
          <a:bodyPr wrap="square" lIns="0" tIns="0" rIns="0" bIns="0" anchor="t">
            <a:noAutofit/>
          </a:bodyPr>
          <a:lstStyle/>
          <a:p>
            <a:pPr algn="l">
              <a:lnSpc>
                <a:spcPts val="982"/>
              </a:lnSpc>
              <a:spcBef>
                <a:spcPts val="0"/>
              </a:spcBef>
              <a:spcAft>
                <a:spcPts val="0"/>
              </a:spcAft>
            </a:pPr>
            <a:r>
              <a:rPr sz="745" b="1" i="0" spc="180">
                <a:solidFill>
                  <a:srgbClr val="8C6239"/>
                </a:solidFill>
                <a:latin typeface="Quicksand"/>
              </a:rPr>
              <a:t>WHAT BUYERS ARE REBUILDING</a:t>
            </a:r>
          </a:p>
        </p:txBody>
      </p:sp>
      <p:sp>
        <p:nvSpPr>
          <p:cNvPr id="11" name="TextBox"/>
          <p:cNvSpPr txBox="1"/>
          <p:nvPr/>
        </p:nvSpPr>
        <p:spPr>
          <a:xfrm>
            <a:off x="2697480" y="1517904"/>
            <a:ext cx="457200" cy="310896"/>
          </a:xfrm>
          <a:prstGeom prst="rect">
            <a:avLst/>
          </a:prstGeom>
          <a:noFill/>
        </p:spPr>
        <p:txBody>
          <a:bodyPr wrap="square" lIns="0" tIns="0" rIns="0" bIns="0" anchor="t">
            <a:noAutofit/>
          </a:bodyPr>
          <a:lstStyle/>
          <a:p>
            <a:pPr algn="l">
              <a:lnSpc>
                <a:spcPts val="2640"/>
              </a:lnSpc>
              <a:spcBef>
                <a:spcPts val="0"/>
              </a:spcBef>
              <a:spcAft>
                <a:spcPts val="0"/>
              </a:spcAft>
            </a:pPr>
            <a:r>
              <a:rPr sz="2000" b="0" i="0">
                <a:solidFill>
                  <a:srgbClr val="B68757"/>
                </a:solidFill>
                <a:latin typeface="Newsreader"/>
              </a:rPr>
              <a:t>01</a:t>
            </a:r>
          </a:p>
        </p:txBody>
      </p:sp>
      <p:sp>
        <p:nvSpPr>
          <p:cNvPr id="12" name="TextBox"/>
          <p:cNvSpPr txBox="1"/>
          <p:nvPr/>
        </p:nvSpPr>
        <p:spPr>
          <a:xfrm>
            <a:off x="3200400" y="1545336"/>
            <a:ext cx="3566160" cy="182880"/>
          </a:xfrm>
          <a:prstGeom prst="rect">
            <a:avLst/>
          </a:prstGeom>
          <a:noFill/>
        </p:spPr>
        <p:txBody>
          <a:bodyPr wrap="square" lIns="0" tIns="0" rIns="0" bIns="0" anchor="t">
            <a:noAutofit/>
          </a:bodyPr>
          <a:lstStyle/>
          <a:p>
            <a:pPr algn="l">
              <a:lnSpc>
                <a:spcPts val="1520"/>
              </a:lnSpc>
              <a:spcBef>
                <a:spcPts val="0"/>
              </a:spcBef>
              <a:spcAft>
                <a:spcPts val="0"/>
              </a:spcAft>
            </a:pPr>
            <a:r>
              <a:rPr sz="1150" b="1" i="0">
                <a:solidFill>
                  <a:srgbClr val="1B1A1A"/>
                </a:solidFill>
                <a:latin typeface="Newsreader"/>
              </a:rPr>
              <a:t>Tariffs and components</a:t>
            </a:r>
          </a:p>
        </p:txBody>
      </p:sp>
      <p:sp>
        <p:nvSpPr>
          <p:cNvPr id="13" name="TextBox"/>
          <p:cNvSpPr txBox="1"/>
          <p:nvPr/>
        </p:nvSpPr>
        <p:spPr>
          <a:xfrm>
            <a:off x="3200400" y="1792224"/>
            <a:ext cx="3840480" cy="1051560"/>
          </a:xfrm>
          <a:prstGeom prst="rect">
            <a:avLst/>
          </a:prstGeom>
          <a:noFill/>
        </p:spPr>
        <p:txBody>
          <a:bodyPr wrap="square" lIns="0" tIns="0" rIns="0" bIns="0" anchor="t">
            <a:noAutofit/>
          </a:bodyPr>
          <a:lstStyle/>
          <a:p>
            <a:pPr algn="l">
              <a:lnSpc>
                <a:spcPts val="1061"/>
              </a:lnSpc>
              <a:spcBef>
                <a:spcPts val="0"/>
              </a:spcBef>
              <a:spcAft>
                <a:spcPts val="0"/>
              </a:spcAft>
            </a:pPr>
            <a:r>
              <a:rPr sz="790" b="0" i="0">
                <a:solidFill>
                  <a:srgbClr val="333231"/>
                </a:solidFill>
                <a:latin typeface="Quicksand"/>
              </a:rPr>
              <a:t>The Supreme Court held on February 20 that the International Emergency Economic Powers Act </a:t>
            </a:r>
            <a:r>
              <a:rPr sz="790" b="0" i="0" u="sng">
                <a:solidFill>
                  <a:srgbClr val="8C6239"/>
                </a:solidFill>
                <a:latin typeface="Quicksand"/>
                <a:hlinkClick r:id="rId2"/>
              </a:rPr>
              <a:t>does not authorize tariffs</a:t>
            </a:r>
            <a:r>
              <a:rPr sz="790" b="0" i="0">
                <a:solidFill>
                  <a:srgbClr val="333231"/>
                </a:solidFill>
                <a:latin typeface="Quicksand"/>
              </a:rPr>
              <a:t>, a 10% Section 122 tariff ran until it expired on July 24, and </a:t>
            </a:r>
            <a:r>
              <a:rPr sz="790" b="0" i="0" u="sng">
                <a:solidFill>
                  <a:srgbClr val="8C6239"/>
                </a:solidFill>
                <a:latin typeface="Quicksand"/>
                <a:hlinkClick r:id="rId3"/>
              </a:rPr>
              <a:t>Section 301 tariffs of 10% to 12.5%</a:t>
            </a:r>
            <a:r>
              <a:rPr sz="790" b="0" i="0">
                <a:solidFill>
                  <a:srgbClr val="333231"/>
                </a:solidFill>
                <a:latin typeface="Quicksand"/>
              </a:rPr>
              <a:t> took effect that day. A 25% Section 232 tariff applies to a </a:t>
            </a:r>
            <a:r>
              <a:rPr sz="790" b="0" i="0" u="sng">
                <a:solidFill>
                  <a:srgbClr val="8C6239"/>
                </a:solidFill>
                <a:latin typeface="Quicksand"/>
                <a:hlinkClick r:id="rId4"/>
              </a:rPr>
              <a:t>narrow set of advanced chips</a:t>
            </a:r>
            <a:r>
              <a:rPr sz="790" b="0" i="0">
                <a:solidFill>
                  <a:srgbClr val="333231"/>
                </a:solidFill>
                <a:latin typeface="Quicksand"/>
              </a:rPr>
              <a:t>, Section 301 duties on Chinese semiconductors remain at 50%, and component prices rose 26.7% in the year to August (Bureau of Labor Statistics via FRED).</a:t>
            </a:r>
          </a:p>
        </p:txBody>
      </p:sp>
      <p:sp>
        <p:nvSpPr>
          <p:cNvPr id="14" name="Panel"/>
          <p:cNvSpPr/>
          <p:nvPr/>
        </p:nvSpPr>
        <p:spPr>
          <a:xfrm>
            <a:off x="3200400" y="2724912"/>
            <a:ext cx="3840480" cy="457200"/>
          </a:xfrm>
          <a:prstGeom prst="rect">
            <a:avLst/>
          </a:prstGeom>
          <a:solidFill>
            <a:srgbClr val="FAF7F3"/>
          </a:solidFill>
          <a:ln>
            <a:noFill/>
          </a:ln>
          <a:effectLst/>
        </p:spPr>
        <p:txBody>
          <a:bodyPr rtlCol="0" anchor="ctr"/>
          <a:lstStyle/>
          <a:p>
            <a:pPr algn="ctr"/>
            <a:endParaRPr/>
          </a:p>
        </p:txBody>
      </p:sp>
      <p:sp>
        <p:nvSpPr>
          <p:cNvPr id="15" name="TextBox"/>
          <p:cNvSpPr txBox="1"/>
          <p:nvPr/>
        </p:nvSpPr>
        <p:spPr>
          <a:xfrm>
            <a:off x="3273552" y="2770632"/>
            <a:ext cx="3703320" cy="384048"/>
          </a:xfrm>
          <a:prstGeom prst="rect">
            <a:avLst/>
          </a:prstGeom>
          <a:noFill/>
        </p:spPr>
        <p:txBody>
          <a:bodyPr wrap="square" lIns="0" tIns="0" rIns="0" bIns="0" anchor="t">
            <a:noAutofit/>
          </a:bodyPr>
          <a:lstStyle/>
          <a:p>
            <a:pPr algn="l">
              <a:lnSpc>
                <a:spcPts val="988"/>
              </a:lnSpc>
              <a:spcBef>
                <a:spcPts val="0"/>
              </a:spcBef>
              <a:spcAft>
                <a:spcPts val="0"/>
              </a:spcAft>
            </a:pPr>
            <a:r>
              <a:rPr sz="660" b="1" i="0" spc="120">
                <a:solidFill>
                  <a:srgbClr val="8C6239"/>
                </a:solidFill>
                <a:latin typeface="Quicksand"/>
              </a:rPr>
              <a:t>WHAT BUYERS ASK FOR  </a:t>
            </a:r>
            <a:r>
              <a:rPr sz="760" b="0" i="0">
                <a:solidFill>
                  <a:srgbClr val="333231"/>
                </a:solidFill>
                <a:latin typeface="Quicksand"/>
              </a:rPr>
              <a:t>A bill of materials by country of origin with duties paid since February 2025, the status of any refund claim, and the contract terms that pass tariffs through to customers.</a:t>
            </a:r>
          </a:p>
        </p:txBody>
      </p:sp>
      <p:sp>
        <p:nvSpPr>
          <p:cNvPr id="16" name="Panel"/>
          <p:cNvSpPr/>
          <p:nvPr/>
        </p:nvSpPr>
        <p:spPr>
          <a:xfrm>
            <a:off x="2697480" y="3246120"/>
            <a:ext cx="4343400" cy="9144"/>
          </a:xfrm>
          <a:prstGeom prst="rect">
            <a:avLst/>
          </a:prstGeom>
          <a:solidFill>
            <a:srgbClr val="E3DCD3"/>
          </a:solidFill>
          <a:ln>
            <a:noFill/>
          </a:ln>
          <a:effectLst/>
        </p:spPr>
        <p:txBody>
          <a:bodyPr rtlCol="0" anchor="ctr"/>
          <a:lstStyle/>
          <a:p>
            <a:pPr algn="ctr"/>
            <a:endParaRPr/>
          </a:p>
        </p:txBody>
      </p:sp>
      <p:sp>
        <p:nvSpPr>
          <p:cNvPr id="17" name="TextBox"/>
          <p:cNvSpPr txBox="1"/>
          <p:nvPr/>
        </p:nvSpPr>
        <p:spPr>
          <a:xfrm>
            <a:off x="2697480" y="3319272"/>
            <a:ext cx="457200" cy="310896"/>
          </a:xfrm>
          <a:prstGeom prst="rect">
            <a:avLst/>
          </a:prstGeom>
          <a:noFill/>
        </p:spPr>
        <p:txBody>
          <a:bodyPr wrap="square" lIns="0" tIns="0" rIns="0" bIns="0" anchor="t">
            <a:noAutofit/>
          </a:bodyPr>
          <a:lstStyle/>
          <a:p>
            <a:pPr algn="l">
              <a:lnSpc>
                <a:spcPts val="2640"/>
              </a:lnSpc>
              <a:spcBef>
                <a:spcPts val="0"/>
              </a:spcBef>
              <a:spcAft>
                <a:spcPts val="0"/>
              </a:spcAft>
            </a:pPr>
            <a:r>
              <a:rPr sz="2000" b="0" i="0">
                <a:solidFill>
                  <a:srgbClr val="B68757"/>
                </a:solidFill>
                <a:latin typeface="Newsreader"/>
              </a:rPr>
              <a:t>02</a:t>
            </a:r>
          </a:p>
        </p:txBody>
      </p:sp>
      <p:sp>
        <p:nvSpPr>
          <p:cNvPr id="18" name="TextBox"/>
          <p:cNvSpPr txBox="1"/>
          <p:nvPr/>
        </p:nvSpPr>
        <p:spPr>
          <a:xfrm>
            <a:off x="3200400" y="3346704"/>
            <a:ext cx="3566160" cy="182880"/>
          </a:xfrm>
          <a:prstGeom prst="rect">
            <a:avLst/>
          </a:prstGeom>
          <a:noFill/>
        </p:spPr>
        <p:txBody>
          <a:bodyPr wrap="square" lIns="0" tIns="0" rIns="0" bIns="0" anchor="t">
            <a:noAutofit/>
          </a:bodyPr>
          <a:lstStyle/>
          <a:p>
            <a:pPr algn="l">
              <a:lnSpc>
                <a:spcPts val="1520"/>
              </a:lnSpc>
              <a:spcBef>
                <a:spcPts val="0"/>
              </a:spcBef>
              <a:spcAft>
                <a:spcPts val="0"/>
              </a:spcAft>
            </a:pPr>
            <a:r>
              <a:rPr sz="1150" b="1" i="0">
                <a:solidFill>
                  <a:srgbClr val="1B1A1A"/>
                </a:solidFill>
                <a:latin typeface="Newsreader"/>
              </a:rPr>
              <a:t>Copper and power</a:t>
            </a:r>
          </a:p>
        </p:txBody>
      </p:sp>
      <p:sp>
        <p:nvSpPr>
          <p:cNvPr id="19" name="TextBox"/>
          <p:cNvSpPr txBox="1"/>
          <p:nvPr/>
        </p:nvSpPr>
        <p:spPr>
          <a:xfrm>
            <a:off x="3200400" y="3593592"/>
            <a:ext cx="3840480" cy="1051560"/>
          </a:xfrm>
          <a:prstGeom prst="rect">
            <a:avLst/>
          </a:prstGeom>
          <a:noFill/>
        </p:spPr>
        <p:txBody>
          <a:bodyPr wrap="square" lIns="0" tIns="0" rIns="0" bIns="0" anchor="t">
            <a:noAutofit/>
          </a:bodyPr>
          <a:lstStyle/>
          <a:p>
            <a:pPr algn="l">
              <a:lnSpc>
                <a:spcPts val="1061"/>
              </a:lnSpc>
              <a:spcBef>
                <a:spcPts val="0"/>
              </a:spcBef>
              <a:spcAft>
                <a:spcPts val="0"/>
              </a:spcAft>
            </a:pPr>
            <a:r>
              <a:rPr sz="790" b="0" i="0">
                <a:solidFill>
                  <a:srgbClr val="333231"/>
                </a:solidFill>
                <a:latin typeface="Quicksand"/>
              </a:rPr>
              <a:t>Copper averaged $13,543 a ton in July, up 38.6% from a year earlier, and reached a record $14,875 a ton on the London Metal Exchange on September 10. A 50% Section 232 tariff applies to semi-finished copper products, and </a:t>
            </a:r>
            <a:r>
              <a:rPr sz="790" b="0" i="0" u="sng">
                <a:solidFill>
                  <a:srgbClr val="8C6239"/>
                </a:solidFill>
                <a:latin typeface="Quicksand"/>
                <a:hlinkClick r:id="rId5"/>
              </a:rPr>
              <a:t>Cushman &amp; Wakefield</a:t>
            </a:r>
            <a:r>
              <a:rPr sz="790" b="0" i="0">
                <a:solidFill>
                  <a:srgbClr val="333231"/>
                </a:solidFill>
                <a:latin typeface="Quicksand"/>
              </a:rPr>
              <a:t> reports that data center construction costs per megawatt are up 21% since late 2024, with switchgear up 60% and some equipment lead times beyond two years.</a:t>
            </a:r>
          </a:p>
        </p:txBody>
      </p:sp>
      <p:sp>
        <p:nvSpPr>
          <p:cNvPr id="20" name="Panel"/>
          <p:cNvSpPr/>
          <p:nvPr/>
        </p:nvSpPr>
        <p:spPr>
          <a:xfrm>
            <a:off x="3200400" y="4526280"/>
            <a:ext cx="3840480" cy="457200"/>
          </a:xfrm>
          <a:prstGeom prst="rect">
            <a:avLst/>
          </a:prstGeom>
          <a:solidFill>
            <a:srgbClr val="FAF7F3"/>
          </a:solidFill>
          <a:ln>
            <a:noFill/>
          </a:ln>
          <a:effectLst/>
        </p:spPr>
        <p:txBody>
          <a:bodyPr rtlCol="0" anchor="ctr"/>
          <a:lstStyle/>
          <a:p>
            <a:pPr algn="ctr"/>
            <a:endParaRPr/>
          </a:p>
        </p:txBody>
      </p:sp>
      <p:sp>
        <p:nvSpPr>
          <p:cNvPr id="21" name="TextBox"/>
          <p:cNvSpPr txBox="1"/>
          <p:nvPr/>
        </p:nvSpPr>
        <p:spPr>
          <a:xfrm>
            <a:off x="3273552" y="4572000"/>
            <a:ext cx="3703320" cy="384048"/>
          </a:xfrm>
          <a:prstGeom prst="rect">
            <a:avLst/>
          </a:prstGeom>
          <a:noFill/>
        </p:spPr>
        <p:txBody>
          <a:bodyPr wrap="square" lIns="0" tIns="0" rIns="0" bIns="0" anchor="t">
            <a:noAutofit/>
          </a:bodyPr>
          <a:lstStyle/>
          <a:p>
            <a:pPr algn="l">
              <a:lnSpc>
                <a:spcPts val="988"/>
              </a:lnSpc>
              <a:spcBef>
                <a:spcPts val="0"/>
              </a:spcBef>
              <a:spcAft>
                <a:spcPts val="0"/>
              </a:spcAft>
            </a:pPr>
            <a:r>
              <a:rPr sz="660" b="1" i="0" spc="120">
                <a:solidFill>
                  <a:srgbClr val="8C6239"/>
                </a:solidFill>
                <a:latin typeface="Quicksand"/>
              </a:rPr>
              <a:t>WHAT BUYERS ASK FOR  </a:t>
            </a:r>
            <a:r>
              <a:rPr sz="760" b="0" i="0">
                <a:solidFill>
                  <a:srgbClr val="333231"/>
                </a:solidFill>
                <a:latin typeface="Quicksand"/>
              </a:rPr>
              <a:t>Contracted and spot pricing for copper-bearing cable and switchgear on backlog projects, the escalation clauses that apply, and the margin effect of a 10% move in copper.</a:t>
            </a:r>
          </a:p>
        </p:txBody>
      </p:sp>
      <p:sp>
        <p:nvSpPr>
          <p:cNvPr id="22" name="Panel"/>
          <p:cNvSpPr/>
          <p:nvPr/>
        </p:nvSpPr>
        <p:spPr>
          <a:xfrm>
            <a:off x="2697480" y="5047488"/>
            <a:ext cx="4343400" cy="9144"/>
          </a:xfrm>
          <a:prstGeom prst="rect">
            <a:avLst/>
          </a:prstGeom>
          <a:solidFill>
            <a:srgbClr val="E3DCD3"/>
          </a:solidFill>
          <a:ln>
            <a:noFill/>
          </a:ln>
          <a:effectLst/>
        </p:spPr>
        <p:txBody>
          <a:bodyPr rtlCol="0" anchor="ctr"/>
          <a:lstStyle/>
          <a:p>
            <a:pPr algn="ctr"/>
            <a:endParaRPr/>
          </a:p>
        </p:txBody>
      </p:sp>
      <p:sp>
        <p:nvSpPr>
          <p:cNvPr id="23" name="TextBox"/>
          <p:cNvSpPr txBox="1"/>
          <p:nvPr/>
        </p:nvSpPr>
        <p:spPr>
          <a:xfrm>
            <a:off x="2697480" y="5120640"/>
            <a:ext cx="457200" cy="310896"/>
          </a:xfrm>
          <a:prstGeom prst="rect">
            <a:avLst/>
          </a:prstGeom>
          <a:noFill/>
        </p:spPr>
        <p:txBody>
          <a:bodyPr wrap="square" lIns="0" tIns="0" rIns="0" bIns="0" anchor="t">
            <a:noAutofit/>
          </a:bodyPr>
          <a:lstStyle/>
          <a:p>
            <a:pPr algn="l">
              <a:lnSpc>
                <a:spcPts val="2640"/>
              </a:lnSpc>
              <a:spcBef>
                <a:spcPts val="0"/>
              </a:spcBef>
              <a:spcAft>
                <a:spcPts val="0"/>
              </a:spcAft>
            </a:pPr>
            <a:r>
              <a:rPr sz="2000" b="0" i="0">
                <a:solidFill>
                  <a:srgbClr val="B68757"/>
                </a:solidFill>
                <a:latin typeface="Newsreader"/>
              </a:rPr>
              <a:t>03</a:t>
            </a:r>
          </a:p>
        </p:txBody>
      </p:sp>
      <p:sp>
        <p:nvSpPr>
          <p:cNvPr id="24" name="TextBox"/>
          <p:cNvSpPr txBox="1"/>
          <p:nvPr/>
        </p:nvSpPr>
        <p:spPr>
          <a:xfrm>
            <a:off x="3200400" y="5148072"/>
            <a:ext cx="3566160" cy="182880"/>
          </a:xfrm>
          <a:prstGeom prst="rect">
            <a:avLst/>
          </a:prstGeom>
          <a:noFill/>
        </p:spPr>
        <p:txBody>
          <a:bodyPr wrap="square" lIns="0" tIns="0" rIns="0" bIns="0" anchor="t">
            <a:noAutofit/>
          </a:bodyPr>
          <a:lstStyle/>
          <a:p>
            <a:pPr algn="l">
              <a:lnSpc>
                <a:spcPts val="1520"/>
              </a:lnSpc>
              <a:spcBef>
                <a:spcPts val="0"/>
              </a:spcBef>
              <a:spcAft>
                <a:spcPts val="0"/>
              </a:spcAft>
            </a:pPr>
            <a:r>
              <a:rPr sz="1150" b="1" i="0">
                <a:solidFill>
                  <a:srgbClr val="1B1A1A"/>
                </a:solidFill>
                <a:latin typeface="Newsreader"/>
              </a:rPr>
              <a:t>Financing</a:t>
            </a:r>
          </a:p>
        </p:txBody>
      </p:sp>
      <p:sp>
        <p:nvSpPr>
          <p:cNvPr id="25" name="TextBox"/>
          <p:cNvSpPr txBox="1"/>
          <p:nvPr/>
        </p:nvSpPr>
        <p:spPr>
          <a:xfrm>
            <a:off x="3200400" y="5394960"/>
            <a:ext cx="3840480" cy="1051560"/>
          </a:xfrm>
          <a:prstGeom prst="rect">
            <a:avLst/>
          </a:prstGeom>
          <a:noFill/>
        </p:spPr>
        <p:txBody>
          <a:bodyPr wrap="square" lIns="0" tIns="0" rIns="0" bIns="0" anchor="t">
            <a:noAutofit/>
          </a:bodyPr>
          <a:lstStyle/>
          <a:p>
            <a:pPr algn="l">
              <a:lnSpc>
                <a:spcPts val="1061"/>
              </a:lnSpc>
              <a:spcBef>
                <a:spcPts val="0"/>
              </a:spcBef>
              <a:spcAft>
                <a:spcPts val="0"/>
              </a:spcAft>
            </a:pPr>
            <a:r>
              <a:rPr sz="790" b="0" i="0" dirty="0">
                <a:solidFill>
                  <a:srgbClr val="333231"/>
                </a:solidFill>
                <a:latin typeface="Quicksand"/>
              </a:rPr>
              <a:t>The Federal Reserve </a:t>
            </a:r>
            <a:r>
              <a:rPr sz="790" b="0" i="0" u="sng" dirty="0">
                <a:solidFill>
                  <a:srgbClr val="8C6239"/>
                </a:solidFill>
                <a:latin typeface="Quicksand"/>
                <a:hlinkClick r:id="rId6"/>
              </a:rPr>
              <a:t>raised its target range</a:t>
            </a:r>
            <a:r>
              <a:rPr sz="790" b="0" i="0" dirty="0">
                <a:solidFill>
                  <a:srgbClr val="333231"/>
                </a:solidFill>
                <a:latin typeface="Quicksand"/>
              </a:rPr>
              <a:t> to 3.75% to 4.00% on September 16, and the 10-year Treasury yielded 5.24% on October 1. Total debt on middle-market platform buyouts fell to 2.9x EBITDA from 3.4x in the second quarter against an average price of 7.0x (</a:t>
            </a:r>
            <a:r>
              <a:rPr sz="790" b="0" i="0" u="sng" dirty="0">
                <a:solidFill>
                  <a:srgbClr val="8C6239"/>
                </a:solidFill>
                <a:latin typeface="Quicksand"/>
                <a:hlinkClick r:id="rId7"/>
              </a:rPr>
              <a:t>GF Data via ACG</a:t>
            </a:r>
            <a:r>
              <a:rPr lang="en-US" sz="790" b="0" i="0" dirty="0">
                <a:solidFill>
                  <a:srgbClr val="333231"/>
                </a:solidFill>
                <a:latin typeface="Quicksand"/>
              </a:rPr>
              <a:t>) and</a:t>
            </a:r>
            <a:r>
              <a:rPr sz="790" b="0" i="0" dirty="0">
                <a:solidFill>
                  <a:srgbClr val="333231"/>
                </a:solidFill>
                <a:latin typeface="Quicksand"/>
              </a:rPr>
              <a:t> earn-outs appeared in 24% of 2025 transactions with a median equal to 34% of the closing payment (</a:t>
            </a:r>
            <a:r>
              <a:rPr sz="790" b="0" i="0" u="sng" dirty="0">
                <a:solidFill>
                  <a:srgbClr val="8C6239"/>
                </a:solidFill>
                <a:latin typeface="Quicksand"/>
                <a:hlinkClick r:id="rId8"/>
              </a:rPr>
              <a:t>SRS </a:t>
            </a:r>
            <a:r>
              <a:rPr sz="790" b="0" i="0" u="sng" dirty="0" err="1">
                <a:solidFill>
                  <a:srgbClr val="8C6239"/>
                </a:solidFill>
                <a:latin typeface="Quicksand"/>
                <a:hlinkClick r:id="rId8"/>
              </a:rPr>
              <a:t>Acquiom</a:t>
            </a:r>
            <a:r>
              <a:rPr sz="790" b="0" i="0" u="sng" dirty="0">
                <a:solidFill>
                  <a:srgbClr val="8C6239"/>
                </a:solidFill>
                <a:latin typeface="Quicksand"/>
                <a:hlinkClick r:id="rId8"/>
              </a:rPr>
              <a:t>, as summarized by Fasken</a:t>
            </a:r>
            <a:r>
              <a:rPr sz="790" b="0" i="0" dirty="0">
                <a:solidFill>
                  <a:srgbClr val="333231"/>
                </a:solidFill>
                <a:latin typeface="Quicksand"/>
              </a:rPr>
              <a:t>).</a:t>
            </a:r>
          </a:p>
        </p:txBody>
      </p:sp>
      <p:sp>
        <p:nvSpPr>
          <p:cNvPr id="26" name="Panel"/>
          <p:cNvSpPr/>
          <p:nvPr/>
        </p:nvSpPr>
        <p:spPr>
          <a:xfrm>
            <a:off x="3200400" y="6327648"/>
            <a:ext cx="3840480" cy="457200"/>
          </a:xfrm>
          <a:prstGeom prst="rect">
            <a:avLst/>
          </a:prstGeom>
          <a:solidFill>
            <a:srgbClr val="FAF7F3"/>
          </a:solidFill>
          <a:ln>
            <a:noFill/>
          </a:ln>
          <a:effectLst/>
        </p:spPr>
        <p:txBody>
          <a:bodyPr rtlCol="0" anchor="ctr"/>
          <a:lstStyle/>
          <a:p>
            <a:pPr algn="ctr"/>
            <a:endParaRPr/>
          </a:p>
        </p:txBody>
      </p:sp>
      <p:sp>
        <p:nvSpPr>
          <p:cNvPr id="27" name="TextBox"/>
          <p:cNvSpPr txBox="1"/>
          <p:nvPr/>
        </p:nvSpPr>
        <p:spPr>
          <a:xfrm>
            <a:off x="3273552" y="6373368"/>
            <a:ext cx="3703320" cy="384048"/>
          </a:xfrm>
          <a:prstGeom prst="rect">
            <a:avLst/>
          </a:prstGeom>
          <a:noFill/>
        </p:spPr>
        <p:txBody>
          <a:bodyPr wrap="square" lIns="0" tIns="0" rIns="0" bIns="0" anchor="t">
            <a:noAutofit/>
          </a:bodyPr>
          <a:lstStyle/>
          <a:p>
            <a:pPr algn="l">
              <a:lnSpc>
                <a:spcPts val="988"/>
              </a:lnSpc>
              <a:spcBef>
                <a:spcPts val="0"/>
              </a:spcBef>
              <a:spcAft>
                <a:spcPts val="0"/>
              </a:spcAft>
            </a:pPr>
            <a:r>
              <a:rPr sz="660" b="1" i="0" spc="120">
                <a:solidFill>
                  <a:srgbClr val="8C6239"/>
                </a:solidFill>
                <a:latin typeface="Quicksand"/>
              </a:rPr>
              <a:t>WHAT BUYERS ASK FOR  </a:t>
            </a:r>
            <a:r>
              <a:rPr sz="760" b="0" i="0">
                <a:solidFill>
                  <a:srgbClr val="333231"/>
                </a:solidFill>
                <a:latin typeface="Quicksand"/>
              </a:rPr>
              <a:t>How much of the price is paid in cash at closing, how much is contingent, and how much is rolled into the buyer’s equity, and how the company’s own debt is structured.</a:t>
            </a:r>
          </a:p>
        </p:txBody>
      </p:sp>
      <p:pic>
        <p:nvPicPr>
          <p:cNvPr id="28" name="Laptop, camera and notebooks on a wooden desk in a bright op" descr="Laptop, camera and notebooks on a wooden desk in a bright open-plan office"/>
          <p:cNvPicPr>
            <a:picLocks noChangeAspect="1"/>
          </p:cNvPicPr>
          <p:nvPr/>
        </p:nvPicPr>
        <p:blipFill>
          <a:blip r:embed="rId9"/>
          <a:stretch>
            <a:fillRect/>
          </a:stretch>
        </p:blipFill>
        <p:spPr>
          <a:xfrm>
            <a:off x="7269480" y="1298448"/>
            <a:ext cx="2368296" cy="1325880"/>
          </a:xfrm>
          <a:prstGeom prst="rect">
            <a:avLst/>
          </a:prstGeom>
        </p:spPr>
      </p:pic>
      <p:sp>
        <p:nvSpPr>
          <p:cNvPr id="29" name="Panel"/>
          <p:cNvSpPr/>
          <p:nvPr/>
        </p:nvSpPr>
        <p:spPr>
          <a:xfrm>
            <a:off x="7269480" y="2624328"/>
            <a:ext cx="2368296" cy="4279392"/>
          </a:xfrm>
          <a:prstGeom prst="rect">
            <a:avLst/>
          </a:prstGeom>
          <a:solidFill>
            <a:srgbClr val="1B1A1A"/>
          </a:solidFill>
          <a:ln>
            <a:noFill/>
          </a:ln>
          <a:effectLst/>
        </p:spPr>
        <p:txBody>
          <a:bodyPr rtlCol="0" anchor="ctr"/>
          <a:lstStyle/>
          <a:p>
            <a:pPr algn="ctr"/>
            <a:endParaRPr/>
          </a:p>
        </p:txBody>
      </p:sp>
      <p:sp>
        <p:nvSpPr>
          <p:cNvPr id="30" name="Label"/>
          <p:cNvSpPr txBox="1"/>
          <p:nvPr/>
        </p:nvSpPr>
        <p:spPr>
          <a:xfrm>
            <a:off x="7452360" y="2788920"/>
            <a:ext cx="2103120" cy="128016"/>
          </a:xfrm>
          <a:prstGeom prst="rect">
            <a:avLst/>
          </a:prstGeom>
          <a:noFill/>
        </p:spPr>
        <p:txBody>
          <a:bodyPr wrap="square" lIns="0" tIns="0" rIns="0" bIns="0" anchor="t">
            <a:noAutofit/>
          </a:bodyPr>
          <a:lstStyle/>
          <a:p>
            <a:pPr algn="l">
              <a:lnSpc>
                <a:spcPts val="982"/>
              </a:lnSpc>
              <a:spcBef>
                <a:spcPts val="0"/>
              </a:spcBef>
              <a:spcAft>
                <a:spcPts val="0"/>
              </a:spcAft>
            </a:pPr>
            <a:r>
              <a:rPr sz="745" b="1" i="0" spc="180">
                <a:solidFill>
                  <a:srgbClr val="D3AE84"/>
                </a:solidFill>
                <a:latin typeface="Quicksand"/>
              </a:rPr>
              <a:t>THE REPRICING IN FOUR FIGURES</a:t>
            </a:r>
          </a:p>
        </p:txBody>
      </p:sp>
      <p:sp>
        <p:nvSpPr>
          <p:cNvPr id="31" name="Panel"/>
          <p:cNvSpPr/>
          <p:nvPr/>
        </p:nvSpPr>
        <p:spPr>
          <a:xfrm>
            <a:off x="7452360" y="3072384"/>
            <a:ext cx="2011680" cy="7315"/>
          </a:xfrm>
          <a:prstGeom prst="rect">
            <a:avLst/>
          </a:prstGeom>
          <a:solidFill>
            <a:srgbClr val="4A4745"/>
          </a:solidFill>
          <a:ln>
            <a:noFill/>
          </a:ln>
          <a:effectLst/>
        </p:spPr>
        <p:txBody>
          <a:bodyPr rtlCol="0" anchor="ctr"/>
          <a:lstStyle/>
          <a:p>
            <a:pPr algn="ctr"/>
            <a:endParaRPr/>
          </a:p>
        </p:txBody>
      </p:sp>
      <p:sp>
        <p:nvSpPr>
          <p:cNvPr id="32" name="TextBox"/>
          <p:cNvSpPr txBox="1"/>
          <p:nvPr/>
        </p:nvSpPr>
        <p:spPr>
          <a:xfrm>
            <a:off x="7452360" y="312724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+26.7%</a:t>
            </a:r>
          </a:p>
        </p:txBody>
      </p:sp>
      <p:sp>
        <p:nvSpPr>
          <p:cNvPr id="33" name="TextBox"/>
          <p:cNvSpPr txBox="1"/>
          <p:nvPr/>
        </p:nvSpPr>
        <p:spPr>
          <a:xfrm>
            <a:off x="7452360" y="345643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Semiconductor and electronic component prices, one year to August</a:t>
            </a:r>
          </a:p>
        </p:txBody>
      </p:sp>
      <p:sp>
        <p:nvSpPr>
          <p:cNvPr id="34" name="Panel"/>
          <p:cNvSpPr/>
          <p:nvPr/>
        </p:nvSpPr>
        <p:spPr>
          <a:xfrm>
            <a:off x="7452360" y="3803904"/>
            <a:ext cx="2011680" cy="7315"/>
          </a:xfrm>
          <a:prstGeom prst="rect">
            <a:avLst/>
          </a:prstGeom>
          <a:solidFill>
            <a:srgbClr val="4A4745"/>
          </a:solidFill>
          <a:ln>
            <a:noFill/>
          </a:ln>
          <a:effectLst/>
        </p:spPr>
        <p:txBody>
          <a:bodyPr rtlCol="0" anchor="ctr"/>
          <a:lstStyle/>
          <a:p>
            <a:pPr algn="ctr"/>
            <a:endParaRPr/>
          </a:p>
        </p:txBody>
      </p:sp>
      <p:sp>
        <p:nvSpPr>
          <p:cNvPr id="35" name="TextBox"/>
          <p:cNvSpPr txBox="1"/>
          <p:nvPr/>
        </p:nvSpPr>
        <p:spPr>
          <a:xfrm>
            <a:off x="7452360" y="385876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+38.6%</a:t>
            </a:r>
          </a:p>
        </p:txBody>
      </p:sp>
      <p:sp>
        <p:nvSpPr>
          <p:cNvPr id="36" name="TextBox"/>
          <p:cNvSpPr txBox="1"/>
          <p:nvPr/>
        </p:nvSpPr>
        <p:spPr>
          <a:xfrm>
            <a:off x="7452360" y="418795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Copper price, one year to July</a:t>
            </a:r>
          </a:p>
        </p:txBody>
      </p:sp>
      <p:sp>
        <p:nvSpPr>
          <p:cNvPr id="37" name="Panel"/>
          <p:cNvSpPr/>
          <p:nvPr/>
        </p:nvSpPr>
        <p:spPr>
          <a:xfrm>
            <a:off x="7452360" y="4535424"/>
            <a:ext cx="2011680" cy="7315"/>
          </a:xfrm>
          <a:prstGeom prst="rect">
            <a:avLst/>
          </a:prstGeom>
          <a:solidFill>
            <a:srgbClr val="4A4745"/>
          </a:solidFill>
          <a:ln>
            <a:noFill/>
          </a:ln>
          <a:effectLst/>
        </p:spPr>
        <p:txBody>
          <a:bodyPr rtlCol="0" anchor="ctr"/>
          <a:lstStyle/>
          <a:p>
            <a:pPr algn="ctr"/>
            <a:endParaRPr/>
          </a:p>
        </p:txBody>
      </p:sp>
      <p:sp>
        <p:nvSpPr>
          <p:cNvPr id="38" name="TextBox"/>
          <p:cNvSpPr txBox="1"/>
          <p:nvPr/>
        </p:nvSpPr>
        <p:spPr>
          <a:xfrm>
            <a:off x="7452360" y="459028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3.75% to 4.00%</a:t>
            </a:r>
          </a:p>
        </p:txBody>
      </p:sp>
      <p:sp>
        <p:nvSpPr>
          <p:cNvPr id="39" name="TextBox"/>
          <p:cNvSpPr txBox="1"/>
          <p:nvPr/>
        </p:nvSpPr>
        <p:spPr>
          <a:xfrm>
            <a:off x="7452360" y="491947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Federal funds target range after the September 16 increase</a:t>
            </a:r>
          </a:p>
        </p:txBody>
      </p:sp>
      <p:sp>
        <p:nvSpPr>
          <p:cNvPr id="40" name="Panel"/>
          <p:cNvSpPr/>
          <p:nvPr/>
        </p:nvSpPr>
        <p:spPr>
          <a:xfrm>
            <a:off x="7452360" y="5266944"/>
            <a:ext cx="2011680" cy="7315"/>
          </a:xfrm>
          <a:prstGeom prst="rect">
            <a:avLst/>
          </a:prstGeom>
          <a:solidFill>
            <a:srgbClr val="4A4745"/>
          </a:solidFill>
          <a:ln>
            <a:noFill/>
          </a:ln>
          <a:effectLst/>
        </p:spPr>
        <p:txBody>
          <a:bodyPr rtlCol="0" anchor="ctr"/>
          <a:lstStyle/>
          <a:p>
            <a:pPr algn="ctr"/>
            <a:endParaRPr/>
          </a:p>
        </p:txBody>
      </p:sp>
      <p:sp>
        <p:nvSpPr>
          <p:cNvPr id="41" name="TextBox"/>
          <p:cNvSpPr txBox="1"/>
          <p:nvPr/>
        </p:nvSpPr>
        <p:spPr>
          <a:xfrm>
            <a:off x="7452360" y="532180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2.9x</a:t>
            </a:r>
          </a:p>
        </p:txBody>
      </p:sp>
      <p:sp>
        <p:nvSpPr>
          <p:cNvPr id="42" name="TextBox"/>
          <p:cNvSpPr txBox="1"/>
          <p:nvPr/>
        </p:nvSpPr>
        <p:spPr>
          <a:xfrm>
            <a:off x="7452360" y="565099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Total debt to EBITDA on platform buyouts in the second quarter, down from 3.4x</a:t>
            </a:r>
          </a:p>
        </p:txBody>
      </p:sp>
      <p:sp>
        <p:nvSpPr>
          <p:cNvPr id="43" name="TextBox"/>
          <p:cNvSpPr txBox="1"/>
          <p:nvPr/>
        </p:nvSpPr>
        <p:spPr>
          <a:xfrm>
            <a:off x="7452360" y="6071616"/>
            <a:ext cx="2011680" cy="914400"/>
          </a:xfrm>
          <a:prstGeom prst="rect">
            <a:avLst/>
          </a:prstGeom>
          <a:noFill/>
        </p:spPr>
        <p:txBody>
          <a:bodyPr wrap="square" lIns="0" tIns="0" rIns="0" bIns="0" anchor="t">
            <a:noAutofit/>
          </a:bodyPr>
          <a:lstStyle/>
          <a:p>
            <a:pPr algn="l">
              <a:lnSpc>
                <a:spcPts val="1118"/>
              </a:lnSpc>
              <a:spcBef>
                <a:spcPts val="0"/>
              </a:spcBef>
              <a:spcAft>
                <a:spcPts val="0"/>
              </a:spcAft>
            </a:pPr>
            <a:r>
              <a:rPr sz="825" b="0" i="1">
                <a:solidFill>
                  <a:srgbClr val="FFFFFF"/>
                </a:solidFill>
                <a:latin typeface="Quicksand"/>
              </a:rPr>
              <a:t>Higher rates lower the debt a sponsor can place against the same earnings, so price support shifts toward strategic buyers that fund purchases from cash flow.</a:t>
            </a:r>
          </a:p>
        </p:txBody>
      </p:sp>
      <p:sp>
        <p:nvSpPr>
          <p:cNvPr id="44" name="TextBox 77"/>
          <p:cNvSpPr txBox="1"/>
          <p:nvPr/>
        </p:nvSpPr>
        <p:spPr>
          <a:xfrm>
            <a:off x="1543050" y="7091172"/>
            <a:ext cx="7810500" cy="223838"/>
          </a:xfrm>
          <a:prstGeom prst="rect">
            <a:avLst/>
          </a:prstGeom>
          <a:noFill/>
        </p:spPr>
        <p:txBody>
          <a:bodyPr wrap="square" lIns="0" tIns="0" rIns="0" bIns="0" anchor="t">
            <a:noAutofit/>
          </a:bodyPr>
          <a:lstStyle/>
          <a:p>
            <a:pPr algn="l">
              <a:lnSpc>
                <a:spcPts val="1035"/>
              </a:lnSpc>
              <a:spcBef>
                <a:spcPts val="0"/>
              </a:spcBef>
              <a:spcAft>
                <a:spcPts val="0"/>
              </a:spcAft>
            </a:pPr>
            <a:r>
              <a:rPr sz="745" b="0" i="0" spc="8">
                <a:solidFill>
                  <a:srgbClr val="6F6A66"/>
                </a:solidFill>
                <a:latin typeface="Quicksand"/>
              </a:rPr>
              <a:t>Tariff rates and dates are as described in the linked law firm and trade summaries, and a broader chip and server tariff has been reported as under consideration without a rate or date. Copper is the monthly average price published by the International Monetary Fund via FRED, and the record is an intraday London Metal Exchange price. Construction cost figures are from Cushman &amp; Wakefield, leverage and price from GF Data via ACG for the second quarter of 2026, and earn-out figures from the SRS Acquiom 2026 deal terms study of 2025 transactions.</a:t>
            </a:r>
          </a:p>
        </p:txBody>
      </p:sp>
      <p:sp>
        <p:nvSpPr>
          <p:cNvPr id="4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45" b="1" kern="0" spc="195" dirty="0">
                <a:solidFill>
                  <a:srgbClr val="8C6239"/>
                </a:solidFill>
                <a:latin typeface="Quicksand" pitchFamily="34" charset="0"/>
              </a:rPr>
              <a:t>TECHNOLOGY  |  QUARTERLY INDUSTRY REPORT</a:t>
            </a:r>
            <a:endParaRPr lang="en-US" sz="745" dirty="0"/>
          </a:p>
        </p:txBody>
      </p:sp>
      <p:sp>
        <p:nvSpPr>
          <p:cNvPr id="4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45" kern="0" spc="90" dirty="0">
                <a:solidFill>
                  <a:srgbClr val="6F6A66"/>
                </a:solidFill>
                <a:latin typeface="Cinzel" pitchFamily="34" charset="0"/>
              </a:rPr>
              <a:t>Q4 2026</a:t>
            </a:r>
            <a:endParaRPr lang="en-US" sz="945" dirty="0"/>
          </a:p>
        </p:txBody>
      </p:sp>
      <p:sp>
        <p:nvSpPr>
          <p:cNvPr id="47" name="Shape 9"/>
          <p:cNvSpPr/>
          <p:nvPr/>
        </p:nvSpPr>
        <p:spPr>
          <a:xfrm>
            <a:off x="419100" y="7029450"/>
            <a:ext cx="9220200" cy="9525"/>
          </a:xfrm>
          <a:prstGeom prst="rect">
            <a:avLst/>
          </a:prstGeom>
          <a:solidFill>
            <a:srgbClr val="E3DCD3"/>
          </a:solidFill>
          <a:ln/>
        </p:spPr>
        <p:txBody>
          <a:bodyPr/>
          <a:lstStyle/>
          <a:p>
            <a:endParaRPr lang="en-US"/>
          </a:p>
        </p:txBody>
      </p:sp>
      <p:pic>
        <p:nvPicPr>
          <p:cNvPr id="48" name="Benchmark International logo"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4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75" b="1" kern="0" spc="150" dirty="0">
                <a:solidFill>
                  <a:srgbClr val="1B1A1A"/>
                </a:solidFill>
                <a:latin typeface="Quicksand" pitchFamily="34" charset="0"/>
              </a:rPr>
              <a:t>06</a:t>
            </a:r>
            <a:endParaRPr lang="en-US" sz="7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Perspectives on Six Focus Areas</a:t>
            </a:r>
          </a:p>
        </p:txBody>
      </p:sp>
      <p:sp>
        <p:nvSpPr>
          <p:cNvPr id="5" name="TextBox 6"/>
          <p:cNvSpPr txBox="1"/>
          <p:nvPr/>
        </p:nvSpPr>
        <p:spPr>
          <a:xfrm>
            <a:off x="419100" y="864394"/>
            <a:ext cx="7879110"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Each focus area has its own buyers and drivers.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endParaRPr/>
          </a:p>
        </p:txBody>
      </p:sp>
      <p:sp>
        <p:nvSpPr>
          <p:cNvPr id="8" name="Panel"/>
          <p:cNvSpPr/>
          <p:nvPr/>
        </p:nvSpPr>
        <p:spPr>
          <a:xfrm>
            <a:off x="428625" y="1247775"/>
            <a:ext cx="2952750" cy="438150"/>
          </a:xfrm>
          <a:prstGeom prst="rect">
            <a:avLst/>
          </a:prstGeom>
          <a:solidFill>
            <a:srgbClr val="1B1A1A"/>
          </a:solidFill>
          <a:ln>
            <a:noFill/>
          </a:ln>
        </p:spPr>
        <p:txBody>
          <a:bodyPr rtlCol="0" anchor="ctr"/>
          <a:lstStyle/>
          <a:p>
            <a:pPr algn="ctr"/>
            <a:endParaRPr/>
          </a:p>
        </p:txBody>
      </p:sp>
      <p:pic>
        <p:nvPicPr>
          <p:cNvPr id="9" name="Cloud and server icon for Managed IT &amp; Cloud Services" descr="Cloud and server icon for Managed IT &amp; Cloud Services"/>
          <p:cNvPicPr>
            <a:picLocks noChangeAspect="1"/>
          </p:cNvPicPr>
          <p:nvPr/>
        </p:nvPicPr>
        <p:blipFill>
          <a:blip r:embed="rId2"/>
          <a:stretch>
            <a:fillRect/>
          </a:stretch>
        </p:blipFill>
        <p:spPr>
          <a:xfrm>
            <a:off x="561975" y="1333500"/>
            <a:ext cx="266700" cy="266700"/>
          </a:xfrm>
          <a:prstGeom prst="rect">
            <a:avLst/>
          </a:prstGeom>
        </p:spPr>
      </p:pic>
      <p:sp>
        <p:nvSpPr>
          <p:cNvPr id="10" name="TextBox 11"/>
          <p:cNvSpPr txBox="1"/>
          <p:nvPr/>
        </p:nvSpPr>
        <p:spPr>
          <a:xfrm>
            <a:off x="933450" y="1388840"/>
            <a:ext cx="206915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MANAGED IT &amp; CLOUD SERVICES</a:t>
            </a:r>
          </a:p>
        </p:txBody>
      </p:sp>
      <p:sp>
        <p:nvSpPr>
          <p:cNvPr id="11" name="TextBox 12"/>
          <p:cNvSpPr txBox="1"/>
          <p:nvPr/>
        </p:nvSpPr>
        <p:spPr>
          <a:xfrm>
            <a:off x="571500" y="1784794"/>
            <a:ext cx="2743200" cy="552450"/>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2" name="TextBox 13"/>
          <p:cNvSpPr txBox="1"/>
          <p:nvPr/>
        </p:nvSpPr>
        <p:spPr>
          <a:xfrm>
            <a:off x="571500" y="2504884"/>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13" name="TextBox 14"/>
          <p:cNvSpPr txBox="1"/>
          <p:nvPr/>
        </p:nvSpPr>
        <p:spPr>
          <a:xfrm>
            <a:off x="571500" y="2656713"/>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Evergreen Services Group, The 20 MSP, Integris, Thrive, CompassMSP, and Magna5; ePlus and Cognizant among public buyers</a:t>
            </a:r>
          </a:p>
        </p:txBody>
      </p:sp>
      <p:sp>
        <p:nvSpPr>
          <p:cNvPr id="14" name="Rule"/>
          <p:cNvSpPr/>
          <p:nvPr/>
        </p:nvSpPr>
        <p:spPr>
          <a:xfrm>
            <a:off x="571500" y="3362325"/>
            <a:ext cx="2667000" cy="9525"/>
          </a:xfrm>
          <a:prstGeom prst="rect">
            <a:avLst/>
          </a:prstGeom>
          <a:solidFill>
            <a:srgbClr val="E3DCD3"/>
          </a:solidFill>
          <a:ln>
            <a:noFill/>
          </a:ln>
        </p:spPr>
        <p:txBody>
          <a:bodyPr rtlCol="0" anchor="ctr"/>
          <a:lstStyle/>
          <a:p>
            <a:pPr algn="ctr"/>
            <a:endParaRPr/>
          </a:p>
        </p:txBody>
      </p:sp>
      <p:sp>
        <p:nvSpPr>
          <p:cNvPr id="15" name="TextBox 16"/>
          <p:cNvSpPr txBox="1"/>
          <p:nvPr/>
        </p:nvSpPr>
        <p:spPr>
          <a:xfrm>
            <a:off x="571500" y="3451574"/>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16" name="Panel"/>
          <p:cNvSpPr/>
          <p:nvPr/>
        </p:nvSpPr>
        <p:spPr>
          <a:xfrm>
            <a:off x="5762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7" name="CDW logo" descr="CDW logo"/>
          <p:cNvPicPr>
            <a:picLocks noChangeAspect="1"/>
          </p:cNvPicPr>
          <p:nvPr/>
        </p:nvPicPr>
        <p:blipFill>
          <a:blip r:embed="rId3"/>
          <a:stretch>
            <a:fillRect/>
          </a:stretch>
        </p:blipFill>
        <p:spPr>
          <a:xfrm>
            <a:off x="590550" y="3667125"/>
            <a:ext cx="200025" cy="200025"/>
          </a:xfrm>
          <a:prstGeom prst="rect">
            <a:avLst/>
          </a:prstGeom>
        </p:spPr>
      </p:pic>
      <p:sp>
        <p:nvSpPr>
          <p:cNvPr id="18" name="Panel"/>
          <p:cNvSpPr/>
          <p:nvPr/>
        </p:nvSpPr>
        <p:spPr>
          <a:xfrm>
            <a:off x="8620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9" name="Insight Enterprises logo" descr="Insight Enterprises logo"/>
          <p:cNvPicPr>
            <a:picLocks noChangeAspect="1"/>
          </p:cNvPicPr>
          <p:nvPr/>
        </p:nvPicPr>
        <p:blipFill>
          <a:blip r:embed="rId4"/>
          <a:stretch>
            <a:fillRect/>
          </a:stretch>
        </p:blipFill>
        <p:spPr>
          <a:xfrm>
            <a:off x="876300" y="3667125"/>
            <a:ext cx="200025" cy="200025"/>
          </a:xfrm>
          <a:prstGeom prst="rect">
            <a:avLst/>
          </a:prstGeom>
        </p:spPr>
      </p:pic>
      <p:sp>
        <p:nvSpPr>
          <p:cNvPr id="20" name="Panel"/>
          <p:cNvSpPr/>
          <p:nvPr/>
        </p:nvSpPr>
        <p:spPr>
          <a:xfrm>
            <a:off x="114776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21" name="ePlus logo" descr="ePlus logo"/>
          <p:cNvPicPr>
            <a:picLocks noChangeAspect="1"/>
          </p:cNvPicPr>
          <p:nvPr/>
        </p:nvPicPr>
        <p:blipFill>
          <a:blip r:embed="rId5"/>
          <a:stretch>
            <a:fillRect/>
          </a:stretch>
        </p:blipFill>
        <p:spPr>
          <a:xfrm>
            <a:off x="1162050" y="3667125"/>
            <a:ext cx="200025" cy="200025"/>
          </a:xfrm>
          <a:prstGeom prst="rect">
            <a:avLst/>
          </a:prstGeom>
        </p:spPr>
      </p:pic>
      <p:sp>
        <p:nvSpPr>
          <p:cNvPr id="22" name="Panel"/>
          <p:cNvSpPr/>
          <p:nvPr/>
        </p:nvSpPr>
        <p:spPr>
          <a:xfrm>
            <a:off x="14335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3" name="PC Connection logo" descr="PC Connection logo"/>
          <p:cNvPicPr>
            <a:picLocks noChangeAspect="1"/>
          </p:cNvPicPr>
          <p:nvPr/>
        </p:nvPicPr>
        <p:blipFill>
          <a:blip r:embed="rId6"/>
          <a:stretch>
            <a:fillRect/>
          </a:stretch>
        </p:blipFill>
        <p:spPr>
          <a:xfrm>
            <a:off x="1447800" y="3667125"/>
            <a:ext cx="200025" cy="200025"/>
          </a:xfrm>
          <a:prstGeom prst="rect">
            <a:avLst/>
          </a:prstGeom>
        </p:spPr>
      </p:pic>
      <p:sp>
        <p:nvSpPr>
          <p:cNvPr id="24" name="Panel"/>
          <p:cNvSpPr/>
          <p:nvPr/>
        </p:nvSpPr>
        <p:spPr>
          <a:xfrm>
            <a:off x="17192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5" name="Kyndryl logo" descr="Kyndryl logo"/>
          <p:cNvPicPr>
            <a:picLocks noChangeAspect="1"/>
          </p:cNvPicPr>
          <p:nvPr/>
        </p:nvPicPr>
        <p:blipFill>
          <a:blip r:embed="rId7"/>
          <a:stretch>
            <a:fillRect/>
          </a:stretch>
        </p:blipFill>
        <p:spPr>
          <a:xfrm>
            <a:off x="1733550" y="3667125"/>
            <a:ext cx="200025" cy="200025"/>
          </a:xfrm>
          <a:prstGeom prst="rect">
            <a:avLst/>
          </a:prstGeom>
        </p:spPr>
      </p:pic>
      <p:sp>
        <p:nvSpPr>
          <p:cNvPr id="26" name="Panel"/>
          <p:cNvSpPr/>
          <p:nvPr/>
        </p:nvSpPr>
        <p:spPr>
          <a:xfrm>
            <a:off x="20050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7" name="DXC Technology logo" descr="DXC Technology logo"/>
          <p:cNvPicPr>
            <a:picLocks noChangeAspect="1"/>
          </p:cNvPicPr>
          <p:nvPr/>
        </p:nvPicPr>
        <p:blipFill>
          <a:blip r:embed="rId8"/>
          <a:stretch>
            <a:fillRect/>
          </a:stretch>
        </p:blipFill>
        <p:spPr>
          <a:xfrm>
            <a:off x="2019300" y="3667125"/>
            <a:ext cx="200025" cy="200025"/>
          </a:xfrm>
          <a:prstGeom prst="rect">
            <a:avLst/>
          </a:prstGeom>
        </p:spPr>
      </p:pic>
      <p:sp>
        <p:nvSpPr>
          <p:cNvPr id="28" name="Panel"/>
          <p:cNvSpPr/>
          <p:nvPr/>
        </p:nvSpPr>
        <p:spPr>
          <a:xfrm>
            <a:off x="22907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9" name="Accenture logo" descr="Accenture logo"/>
          <p:cNvPicPr>
            <a:picLocks noChangeAspect="1"/>
          </p:cNvPicPr>
          <p:nvPr/>
        </p:nvPicPr>
        <p:blipFill>
          <a:blip r:embed="rId9"/>
          <a:stretch>
            <a:fillRect/>
          </a:stretch>
        </p:blipFill>
        <p:spPr>
          <a:xfrm>
            <a:off x="2305050" y="3667125"/>
            <a:ext cx="200025" cy="200025"/>
          </a:xfrm>
          <a:prstGeom prst="rect">
            <a:avLst/>
          </a:prstGeom>
        </p:spPr>
      </p:pic>
      <p:sp>
        <p:nvSpPr>
          <p:cNvPr id="30" name="Panel"/>
          <p:cNvSpPr/>
          <p:nvPr/>
        </p:nvSpPr>
        <p:spPr>
          <a:xfrm>
            <a:off x="25765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31" name="Cognizant logo" descr="Cognizant logo"/>
          <p:cNvPicPr>
            <a:picLocks noChangeAspect="1"/>
          </p:cNvPicPr>
          <p:nvPr/>
        </p:nvPicPr>
        <p:blipFill>
          <a:blip r:embed="rId10"/>
          <a:stretch>
            <a:fillRect/>
          </a:stretch>
        </p:blipFill>
        <p:spPr>
          <a:xfrm>
            <a:off x="2590800" y="3667125"/>
            <a:ext cx="200025" cy="200025"/>
          </a:xfrm>
          <a:prstGeom prst="rect">
            <a:avLst/>
          </a:prstGeom>
        </p:spPr>
      </p:pic>
      <p:sp>
        <p:nvSpPr>
          <p:cNvPr id="32" name="Panel"/>
          <p:cNvSpPr/>
          <p:nvPr/>
        </p:nvSpPr>
        <p:spPr>
          <a:xfrm>
            <a:off x="28622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33" name="EPAM Systems logo" descr="EPAM Systems logo"/>
          <p:cNvPicPr>
            <a:picLocks noChangeAspect="1"/>
          </p:cNvPicPr>
          <p:nvPr/>
        </p:nvPicPr>
        <p:blipFill>
          <a:blip r:embed="rId11"/>
          <a:stretch>
            <a:fillRect/>
          </a:stretch>
        </p:blipFill>
        <p:spPr>
          <a:xfrm>
            <a:off x="2876550" y="3667125"/>
            <a:ext cx="200025" cy="200025"/>
          </a:xfrm>
          <a:prstGeom prst="rect">
            <a:avLst/>
          </a:prstGeom>
        </p:spPr>
      </p:pic>
      <p:sp>
        <p:nvSpPr>
          <p:cNvPr id="34"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endParaRPr/>
          </a:p>
        </p:txBody>
      </p:sp>
      <p:sp>
        <p:nvSpPr>
          <p:cNvPr id="35" name="Panel"/>
          <p:cNvSpPr/>
          <p:nvPr/>
        </p:nvSpPr>
        <p:spPr>
          <a:xfrm>
            <a:off x="3552825" y="1247775"/>
            <a:ext cx="2952750" cy="438150"/>
          </a:xfrm>
          <a:prstGeom prst="rect">
            <a:avLst/>
          </a:prstGeom>
          <a:solidFill>
            <a:srgbClr val="1B1A1A"/>
          </a:solidFill>
          <a:ln>
            <a:noFill/>
          </a:ln>
        </p:spPr>
        <p:txBody>
          <a:bodyPr rtlCol="0" anchor="ctr"/>
          <a:lstStyle/>
          <a:p>
            <a:pPr algn="ctr"/>
            <a:endParaRPr/>
          </a:p>
        </p:txBody>
      </p:sp>
      <p:pic>
        <p:nvPicPr>
          <p:cNvPr id="36" name="Shield and padlock icon for Cybersecurity" descr="Shield and padlock icon for Cybersecurity"/>
          <p:cNvPicPr>
            <a:picLocks noChangeAspect="1"/>
          </p:cNvPicPr>
          <p:nvPr/>
        </p:nvPicPr>
        <p:blipFill>
          <a:blip r:embed="rId12"/>
          <a:stretch>
            <a:fillRect/>
          </a:stretch>
        </p:blipFill>
        <p:spPr>
          <a:xfrm>
            <a:off x="3686175" y="1333500"/>
            <a:ext cx="266700" cy="266700"/>
          </a:xfrm>
          <a:prstGeom prst="rect">
            <a:avLst/>
          </a:prstGeom>
        </p:spPr>
      </p:pic>
      <p:sp>
        <p:nvSpPr>
          <p:cNvPr id="37" name="TextBox 38"/>
          <p:cNvSpPr txBox="1"/>
          <p:nvPr/>
        </p:nvSpPr>
        <p:spPr>
          <a:xfrm>
            <a:off x="4057650" y="1388840"/>
            <a:ext cx="106337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CYBERSECURITY</a:t>
            </a:r>
          </a:p>
        </p:txBody>
      </p:sp>
      <p:sp>
        <p:nvSpPr>
          <p:cNvPr id="38" name="TextBox 39"/>
          <p:cNvSpPr txBox="1"/>
          <p:nvPr/>
        </p:nvSpPr>
        <p:spPr>
          <a:xfrm>
            <a:off x="3695700" y="1784794"/>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9" name="TextBox 40"/>
          <p:cNvSpPr txBox="1"/>
          <p:nvPr/>
        </p:nvSpPr>
        <p:spPr>
          <a:xfrm>
            <a:off x="3695700" y="2504884"/>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40" name="TextBox 41"/>
          <p:cNvSpPr txBox="1"/>
          <p:nvPr/>
        </p:nvSpPr>
        <p:spPr>
          <a:xfrm>
            <a:off x="3695700" y="2656713"/>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LevelBlue, CyberMaxx, A-LIGN, and Accenture in services; Palo Alto Networks, Google, and ServiceNow in software</a:t>
            </a:r>
          </a:p>
        </p:txBody>
      </p:sp>
      <p:sp>
        <p:nvSpPr>
          <p:cNvPr id="41" name="Rule"/>
          <p:cNvSpPr/>
          <p:nvPr/>
        </p:nvSpPr>
        <p:spPr>
          <a:xfrm>
            <a:off x="3695700" y="3362325"/>
            <a:ext cx="2667000" cy="9525"/>
          </a:xfrm>
          <a:prstGeom prst="rect">
            <a:avLst/>
          </a:prstGeom>
          <a:solidFill>
            <a:srgbClr val="E3DCD3"/>
          </a:solidFill>
          <a:ln>
            <a:noFill/>
          </a:ln>
        </p:spPr>
        <p:txBody>
          <a:bodyPr rtlCol="0" anchor="ctr"/>
          <a:lstStyle/>
          <a:p>
            <a:pPr algn="ctr"/>
            <a:endParaRPr/>
          </a:p>
        </p:txBody>
      </p:sp>
      <p:sp>
        <p:nvSpPr>
          <p:cNvPr id="42" name="TextBox 43"/>
          <p:cNvSpPr txBox="1"/>
          <p:nvPr/>
        </p:nvSpPr>
        <p:spPr>
          <a:xfrm>
            <a:off x="3695700" y="3451574"/>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43" name="Panel"/>
          <p:cNvSpPr/>
          <p:nvPr/>
        </p:nvSpPr>
        <p:spPr>
          <a:xfrm>
            <a:off x="37004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44" name="CrowdStrike logo" descr="CrowdStrike logo"/>
          <p:cNvPicPr>
            <a:picLocks noChangeAspect="1"/>
          </p:cNvPicPr>
          <p:nvPr/>
        </p:nvPicPr>
        <p:blipFill>
          <a:blip r:embed="rId13"/>
          <a:stretch>
            <a:fillRect/>
          </a:stretch>
        </p:blipFill>
        <p:spPr>
          <a:xfrm>
            <a:off x="3714750" y="3667125"/>
            <a:ext cx="200025" cy="200025"/>
          </a:xfrm>
          <a:prstGeom prst="rect">
            <a:avLst/>
          </a:prstGeom>
        </p:spPr>
      </p:pic>
      <p:sp>
        <p:nvSpPr>
          <p:cNvPr id="45" name="Panel"/>
          <p:cNvSpPr/>
          <p:nvPr/>
        </p:nvSpPr>
        <p:spPr>
          <a:xfrm>
            <a:off x="39862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46" name="Palo Alto Networks logo" descr="Palo Alto Networks logo"/>
          <p:cNvPicPr>
            <a:picLocks noChangeAspect="1"/>
          </p:cNvPicPr>
          <p:nvPr/>
        </p:nvPicPr>
        <p:blipFill>
          <a:blip r:embed="rId14"/>
          <a:stretch>
            <a:fillRect/>
          </a:stretch>
        </p:blipFill>
        <p:spPr>
          <a:xfrm>
            <a:off x="4000500" y="3667125"/>
            <a:ext cx="200025" cy="200025"/>
          </a:xfrm>
          <a:prstGeom prst="rect">
            <a:avLst/>
          </a:prstGeom>
        </p:spPr>
      </p:pic>
      <p:sp>
        <p:nvSpPr>
          <p:cNvPr id="47" name="Panel"/>
          <p:cNvSpPr/>
          <p:nvPr/>
        </p:nvSpPr>
        <p:spPr>
          <a:xfrm>
            <a:off x="42719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48" name="Fortinet logo" descr="Fortinet logo"/>
          <p:cNvPicPr>
            <a:picLocks noChangeAspect="1"/>
          </p:cNvPicPr>
          <p:nvPr/>
        </p:nvPicPr>
        <p:blipFill>
          <a:blip r:embed="rId15"/>
          <a:stretch>
            <a:fillRect/>
          </a:stretch>
        </p:blipFill>
        <p:spPr>
          <a:xfrm>
            <a:off x="4286250" y="3667125"/>
            <a:ext cx="200025" cy="200025"/>
          </a:xfrm>
          <a:prstGeom prst="rect">
            <a:avLst/>
          </a:prstGeom>
        </p:spPr>
      </p:pic>
      <p:sp>
        <p:nvSpPr>
          <p:cNvPr id="49" name="Panel"/>
          <p:cNvSpPr/>
          <p:nvPr/>
        </p:nvSpPr>
        <p:spPr>
          <a:xfrm>
            <a:off x="45577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50" name="Zscaler logo" descr="Zscaler logo"/>
          <p:cNvPicPr>
            <a:picLocks noChangeAspect="1"/>
          </p:cNvPicPr>
          <p:nvPr/>
        </p:nvPicPr>
        <p:blipFill>
          <a:blip r:embed="rId16"/>
          <a:stretch>
            <a:fillRect/>
          </a:stretch>
        </p:blipFill>
        <p:spPr>
          <a:xfrm>
            <a:off x="4572000" y="3667125"/>
            <a:ext cx="200025" cy="200025"/>
          </a:xfrm>
          <a:prstGeom prst="rect">
            <a:avLst/>
          </a:prstGeom>
        </p:spPr>
      </p:pic>
      <p:sp>
        <p:nvSpPr>
          <p:cNvPr id="51" name="Panel"/>
          <p:cNvSpPr/>
          <p:nvPr/>
        </p:nvSpPr>
        <p:spPr>
          <a:xfrm>
            <a:off x="484346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52" name="Okta logo" descr="Okta logo"/>
          <p:cNvPicPr>
            <a:picLocks noChangeAspect="1"/>
          </p:cNvPicPr>
          <p:nvPr/>
        </p:nvPicPr>
        <p:blipFill>
          <a:blip r:embed="rId17"/>
          <a:stretch>
            <a:fillRect/>
          </a:stretch>
        </p:blipFill>
        <p:spPr>
          <a:xfrm>
            <a:off x="4857750" y="3667125"/>
            <a:ext cx="200025" cy="200025"/>
          </a:xfrm>
          <a:prstGeom prst="rect">
            <a:avLst/>
          </a:prstGeom>
        </p:spPr>
      </p:pic>
      <p:sp>
        <p:nvSpPr>
          <p:cNvPr id="53" name="Panel"/>
          <p:cNvSpPr/>
          <p:nvPr/>
        </p:nvSpPr>
        <p:spPr>
          <a:xfrm>
            <a:off x="512921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54" name="Tenable logo" descr="Tenable logo"/>
          <p:cNvPicPr>
            <a:picLocks noChangeAspect="1"/>
          </p:cNvPicPr>
          <p:nvPr/>
        </p:nvPicPr>
        <p:blipFill>
          <a:blip r:embed="rId18"/>
          <a:stretch>
            <a:fillRect/>
          </a:stretch>
        </p:blipFill>
        <p:spPr>
          <a:xfrm>
            <a:off x="5143500" y="3667125"/>
            <a:ext cx="200025" cy="200025"/>
          </a:xfrm>
          <a:prstGeom prst="rect">
            <a:avLst/>
          </a:prstGeom>
        </p:spPr>
      </p:pic>
      <p:sp>
        <p:nvSpPr>
          <p:cNvPr id="55" name="Panel"/>
          <p:cNvSpPr/>
          <p:nvPr/>
        </p:nvSpPr>
        <p:spPr>
          <a:xfrm>
            <a:off x="54149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56" name="Qualys logo" descr="Qualys logo"/>
          <p:cNvPicPr>
            <a:picLocks noChangeAspect="1"/>
          </p:cNvPicPr>
          <p:nvPr/>
        </p:nvPicPr>
        <p:blipFill>
          <a:blip r:embed="rId19"/>
          <a:stretch>
            <a:fillRect/>
          </a:stretch>
        </p:blipFill>
        <p:spPr>
          <a:xfrm>
            <a:off x="5429250" y="3667125"/>
            <a:ext cx="200025" cy="200025"/>
          </a:xfrm>
          <a:prstGeom prst="rect">
            <a:avLst/>
          </a:prstGeom>
        </p:spPr>
      </p:pic>
      <p:sp>
        <p:nvSpPr>
          <p:cNvPr id="57" name="Panel"/>
          <p:cNvSpPr/>
          <p:nvPr/>
        </p:nvSpPr>
        <p:spPr>
          <a:xfrm>
            <a:off x="57007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58" name="Check Point logo" descr="Check Point logo"/>
          <p:cNvPicPr>
            <a:picLocks noChangeAspect="1"/>
          </p:cNvPicPr>
          <p:nvPr/>
        </p:nvPicPr>
        <p:blipFill>
          <a:blip r:embed="rId20"/>
          <a:stretch>
            <a:fillRect/>
          </a:stretch>
        </p:blipFill>
        <p:spPr>
          <a:xfrm>
            <a:off x="5715000" y="3667125"/>
            <a:ext cx="200025" cy="200025"/>
          </a:xfrm>
          <a:prstGeom prst="rect">
            <a:avLst/>
          </a:prstGeom>
        </p:spPr>
      </p:pic>
      <p:sp>
        <p:nvSpPr>
          <p:cNvPr id="59"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endParaRPr/>
          </a:p>
        </p:txBody>
      </p:sp>
      <p:sp>
        <p:nvSpPr>
          <p:cNvPr id="60" name="Panel"/>
          <p:cNvSpPr/>
          <p:nvPr/>
        </p:nvSpPr>
        <p:spPr>
          <a:xfrm>
            <a:off x="6677025" y="1247775"/>
            <a:ext cx="2952750" cy="438150"/>
          </a:xfrm>
          <a:prstGeom prst="rect">
            <a:avLst/>
          </a:prstGeom>
          <a:solidFill>
            <a:srgbClr val="1B1A1A"/>
          </a:solidFill>
          <a:ln>
            <a:noFill/>
          </a:ln>
        </p:spPr>
        <p:txBody>
          <a:bodyPr rtlCol="0" anchor="ctr"/>
          <a:lstStyle/>
          <a:p>
            <a:pPr algn="ctr"/>
            <a:endParaRPr/>
          </a:p>
        </p:txBody>
      </p:sp>
      <p:pic>
        <p:nvPicPr>
          <p:cNvPr id="61" name="Radio tower icon for Telecom &amp; UCaaS" descr="Radio tower icon for Telecom &amp; UCaaS"/>
          <p:cNvPicPr>
            <a:picLocks noChangeAspect="1"/>
          </p:cNvPicPr>
          <p:nvPr/>
        </p:nvPicPr>
        <p:blipFill>
          <a:blip r:embed="rId21"/>
          <a:stretch>
            <a:fillRect/>
          </a:stretch>
        </p:blipFill>
        <p:spPr>
          <a:xfrm>
            <a:off x="6810375" y="1333500"/>
            <a:ext cx="266700" cy="266700"/>
          </a:xfrm>
          <a:prstGeom prst="rect">
            <a:avLst/>
          </a:prstGeom>
        </p:spPr>
      </p:pic>
      <p:sp>
        <p:nvSpPr>
          <p:cNvPr id="62" name="TextBox 63"/>
          <p:cNvSpPr txBox="1"/>
          <p:nvPr/>
        </p:nvSpPr>
        <p:spPr>
          <a:xfrm>
            <a:off x="7181850" y="1388840"/>
            <a:ext cx="121577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TELECOM &amp; UCAAS</a:t>
            </a:r>
          </a:p>
        </p:txBody>
      </p:sp>
      <p:sp>
        <p:nvSpPr>
          <p:cNvPr id="63" name="TextBox 64"/>
          <p:cNvSpPr txBox="1"/>
          <p:nvPr/>
        </p:nvSpPr>
        <p:spPr>
          <a:xfrm>
            <a:off x="6819900" y="1784794"/>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64" name="TextBox 65"/>
          <p:cNvSpPr txBox="1"/>
          <p:nvPr/>
        </p:nvSpPr>
        <p:spPr>
          <a:xfrm>
            <a:off x="6819900" y="2504884"/>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65" name="TextBox 66"/>
          <p:cNvSpPr txBox="1"/>
          <p:nvPr/>
        </p:nvSpPr>
        <p:spPr>
          <a:xfrm>
            <a:off x="6819900" y="2656713"/>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Verizon, AT&amp;T, and T-Mobile with KKR and EQT in fiber; Point Broadband, Ezee Fiber, Vero Fiber, Rightfiber, and TDS Telecom regionally</a:t>
            </a:r>
          </a:p>
        </p:txBody>
      </p:sp>
      <p:sp>
        <p:nvSpPr>
          <p:cNvPr id="66" name="Rule"/>
          <p:cNvSpPr/>
          <p:nvPr/>
        </p:nvSpPr>
        <p:spPr>
          <a:xfrm>
            <a:off x="6819900" y="3362325"/>
            <a:ext cx="2667000" cy="9525"/>
          </a:xfrm>
          <a:prstGeom prst="rect">
            <a:avLst/>
          </a:prstGeom>
          <a:solidFill>
            <a:srgbClr val="E3DCD3"/>
          </a:solidFill>
          <a:ln>
            <a:noFill/>
          </a:ln>
        </p:spPr>
        <p:txBody>
          <a:bodyPr rtlCol="0" anchor="ctr"/>
          <a:lstStyle/>
          <a:p>
            <a:pPr algn="ctr"/>
            <a:endParaRPr/>
          </a:p>
        </p:txBody>
      </p:sp>
      <p:sp>
        <p:nvSpPr>
          <p:cNvPr id="67" name="TextBox 68"/>
          <p:cNvSpPr txBox="1"/>
          <p:nvPr/>
        </p:nvSpPr>
        <p:spPr>
          <a:xfrm>
            <a:off x="6819900" y="3451574"/>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68" name="Panel"/>
          <p:cNvSpPr/>
          <p:nvPr/>
        </p:nvSpPr>
        <p:spPr>
          <a:xfrm>
            <a:off x="68246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69" name="RingCentral logo" descr="RingCentral logo"/>
          <p:cNvPicPr>
            <a:picLocks noChangeAspect="1"/>
          </p:cNvPicPr>
          <p:nvPr/>
        </p:nvPicPr>
        <p:blipFill>
          <a:blip r:embed="rId22"/>
          <a:stretch>
            <a:fillRect/>
          </a:stretch>
        </p:blipFill>
        <p:spPr>
          <a:xfrm>
            <a:off x="6838950" y="3667125"/>
            <a:ext cx="200025" cy="200025"/>
          </a:xfrm>
          <a:prstGeom prst="rect">
            <a:avLst/>
          </a:prstGeom>
        </p:spPr>
      </p:pic>
      <p:sp>
        <p:nvSpPr>
          <p:cNvPr id="70" name="Panel"/>
          <p:cNvSpPr/>
          <p:nvPr/>
        </p:nvSpPr>
        <p:spPr>
          <a:xfrm>
            <a:off x="71104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1" name="8x8 logo" descr="8x8 logo"/>
          <p:cNvPicPr>
            <a:picLocks noChangeAspect="1"/>
          </p:cNvPicPr>
          <p:nvPr/>
        </p:nvPicPr>
        <p:blipFill>
          <a:blip r:embed="rId23"/>
          <a:stretch>
            <a:fillRect/>
          </a:stretch>
        </p:blipFill>
        <p:spPr>
          <a:xfrm>
            <a:off x="7124700" y="3667125"/>
            <a:ext cx="200025" cy="200025"/>
          </a:xfrm>
          <a:prstGeom prst="rect">
            <a:avLst/>
          </a:prstGeom>
        </p:spPr>
      </p:pic>
      <p:sp>
        <p:nvSpPr>
          <p:cNvPr id="72" name="Panel"/>
          <p:cNvSpPr/>
          <p:nvPr/>
        </p:nvSpPr>
        <p:spPr>
          <a:xfrm>
            <a:off x="73961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3" name="Zoom logo" descr="Zoom logo"/>
          <p:cNvPicPr>
            <a:picLocks noChangeAspect="1"/>
          </p:cNvPicPr>
          <p:nvPr/>
        </p:nvPicPr>
        <p:blipFill>
          <a:blip r:embed="rId24"/>
          <a:stretch>
            <a:fillRect/>
          </a:stretch>
        </p:blipFill>
        <p:spPr>
          <a:xfrm>
            <a:off x="7410450" y="3667125"/>
            <a:ext cx="200025" cy="200025"/>
          </a:xfrm>
          <a:prstGeom prst="rect">
            <a:avLst/>
          </a:prstGeom>
        </p:spPr>
      </p:pic>
      <p:sp>
        <p:nvSpPr>
          <p:cNvPr id="74" name="Panel"/>
          <p:cNvSpPr/>
          <p:nvPr/>
        </p:nvSpPr>
        <p:spPr>
          <a:xfrm>
            <a:off x="768191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75" name="Five9 logo" descr="Five9 logo"/>
          <p:cNvPicPr>
            <a:picLocks noChangeAspect="1"/>
          </p:cNvPicPr>
          <p:nvPr/>
        </p:nvPicPr>
        <p:blipFill>
          <a:blip r:embed="rId25"/>
          <a:stretch>
            <a:fillRect/>
          </a:stretch>
        </p:blipFill>
        <p:spPr>
          <a:xfrm>
            <a:off x="7696200" y="3667125"/>
            <a:ext cx="200025" cy="200025"/>
          </a:xfrm>
          <a:prstGeom prst="rect">
            <a:avLst/>
          </a:prstGeom>
        </p:spPr>
      </p:pic>
      <p:sp>
        <p:nvSpPr>
          <p:cNvPr id="76" name="Panel"/>
          <p:cNvSpPr/>
          <p:nvPr/>
        </p:nvSpPr>
        <p:spPr>
          <a:xfrm>
            <a:off x="79676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7" name="Bandwidth logo" descr="Bandwidth logo"/>
          <p:cNvPicPr>
            <a:picLocks noChangeAspect="1"/>
          </p:cNvPicPr>
          <p:nvPr/>
        </p:nvPicPr>
        <p:blipFill>
          <a:blip r:embed="rId26"/>
          <a:stretch>
            <a:fillRect/>
          </a:stretch>
        </p:blipFill>
        <p:spPr>
          <a:xfrm>
            <a:off x="7981950" y="3667125"/>
            <a:ext cx="200025" cy="200025"/>
          </a:xfrm>
          <a:prstGeom prst="rect">
            <a:avLst/>
          </a:prstGeom>
        </p:spPr>
      </p:pic>
      <p:sp>
        <p:nvSpPr>
          <p:cNvPr id="78" name="Panel"/>
          <p:cNvSpPr/>
          <p:nvPr/>
        </p:nvSpPr>
        <p:spPr>
          <a:xfrm>
            <a:off x="82534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9" name="Ooma logo" descr="Ooma logo"/>
          <p:cNvPicPr>
            <a:picLocks noChangeAspect="1"/>
          </p:cNvPicPr>
          <p:nvPr/>
        </p:nvPicPr>
        <p:blipFill>
          <a:blip r:embed="rId27"/>
          <a:stretch>
            <a:fillRect/>
          </a:stretch>
        </p:blipFill>
        <p:spPr>
          <a:xfrm>
            <a:off x="8267700" y="3667125"/>
            <a:ext cx="200025" cy="200025"/>
          </a:xfrm>
          <a:prstGeom prst="rect">
            <a:avLst/>
          </a:prstGeom>
        </p:spPr>
      </p:pic>
      <p:sp>
        <p:nvSpPr>
          <p:cNvPr id="80" name="Panel"/>
          <p:cNvSpPr/>
          <p:nvPr/>
        </p:nvSpPr>
        <p:spPr>
          <a:xfrm>
            <a:off x="85391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81" name="Crexendo logo" descr="Crexendo logo"/>
          <p:cNvPicPr>
            <a:picLocks noChangeAspect="1"/>
          </p:cNvPicPr>
          <p:nvPr/>
        </p:nvPicPr>
        <p:blipFill>
          <a:blip r:embed="rId28"/>
          <a:stretch>
            <a:fillRect/>
          </a:stretch>
        </p:blipFill>
        <p:spPr>
          <a:xfrm>
            <a:off x="8553450" y="3667125"/>
            <a:ext cx="200025" cy="200025"/>
          </a:xfrm>
          <a:prstGeom prst="rect">
            <a:avLst/>
          </a:prstGeom>
        </p:spPr>
      </p:pic>
      <p:sp>
        <p:nvSpPr>
          <p:cNvPr id="82" name="Panel"/>
          <p:cNvSpPr/>
          <p:nvPr/>
        </p:nvSpPr>
        <p:spPr>
          <a:xfrm>
            <a:off x="88249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83" name="Shenandoah Telecommunications logo" descr="Shenandoah Telecommunications logo"/>
          <p:cNvPicPr>
            <a:picLocks noChangeAspect="1"/>
          </p:cNvPicPr>
          <p:nvPr/>
        </p:nvPicPr>
        <p:blipFill>
          <a:blip r:embed="rId29"/>
          <a:stretch>
            <a:fillRect/>
          </a:stretch>
        </p:blipFill>
        <p:spPr>
          <a:xfrm>
            <a:off x="8839200" y="3667125"/>
            <a:ext cx="200025" cy="200025"/>
          </a:xfrm>
          <a:prstGeom prst="rect">
            <a:avLst/>
          </a:prstGeom>
        </p:spPr>
      </p:pic>
      <p:sp>
        <p:nvSpPr>
          <p:cNvPr id="84" name="Panel"/>
          <p:cNvSpPr/>
          <p:nvPr/>
        </p:nvSpPr>
        <p:spPr>
          <a:xfrm>
            <a:off x="91106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85" name="TDS logo" descr="TDS logo"/>
          <p:cNvPicPr>
            <a:picLocks noChangeAspect="1"/>
          </p:cNvPicPr>
          <p:nvPr/>
        </p:nvPicPr>
        <p:blipFill>
          <a:blip r:embed="rId30"/>
          <a:stretch>
            <a:fillRect/>
          </a:stretch>
        </p:blipFill>
        <p:spPr>
          <a:xfrm>
            <a:off x="9124950" y="3667125"/>
            <a:ext cx="200025" cy="200025"/>
          </a:xfrm>
          <a:prstGeom prst="rect">
            <a:avLst/>
          </a:prstGeom>
        </p:spPr>
      </p:pic>
      <p:sp>
        <p:nvSpPr>
          <p:cNvPr id="86"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endParaRPr/>
          </a:p>
        </p:txBody>
      </p:sp>
      <p:sp>
        <p:nvSpPr>
          <p:cNvPr id="87" name="Panel"/>
          <p:cNvSpPr/>
          <p:nvPr/>
        </p:nvSpPr>
        <p:spPr>
          <a:xfrm>
            <a:off x="428625" y="4171950"/>
            <a:ext cx="2952750" cy="438150"/>
          </a:xfrm>
          <a:prstGeom prst="rect">
            <a:avLst/>
          </a:prstGeom>
          <a:solidFill>
            <a:srgbClr val="1B1A1A"/>
          </a:solidFill>
          <a:ln>
            <a:noFill/>
          </a:ln>
        </p:spPr>
        <p:txBody>
          <a:bodyPr rtlCol="0" anchor="ctr"/>
          <a:lstStyle/>
          <a:p>
            <a:pPr algn="ctr"/>
            <a:endParaRPr/>
          </a:p>
        </p:txBody>
      </p:sp>
      <p:pic>
        <p:nvPicPr>
          <p:cNvPr id="88" name="Network diagram icon for Systems Integration" descr="Network diagram icon for Systems Integration"/>
          <p:cNvPicPr>
            <a:picLocks noChangeAspect="1"/>
          </p:cNvPicPr>
          <p:nvPr/>
        </p:nvPicPr>
        <p:blipFill>
          <a:blip r:embed="rId31"/>
          <a:stretch>
            <a:fillRect/>
          </a:stretch>
        </p:blipFill>
        <p:spPr>
          <a:xfrm>
            <a:off x="561975" y="4257675"/>
            <a:ext cx="266700" cy="266700"/>
          </a:xfrm>
          <a:prstGeom prst="rect">
            <a:avLst/>
          </a:prstGeom>
        </p:spPr>
      </p:pic>
      <p:sp>
        <p:nvSpPr>
          <p:cNvPr id="89" name="TextBox 90"/>
          <p:cNvSpPr txBox="1"/>
          <p:nvPr/>
        </p:nvSpPr>
        <p:spPr>
          <a:xfrm>
            <a:off x="933450" y="4313015"/>
            <a:ext cx="1504950"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SYSTEMS INTEGRATION</a:t>
            </a:r>
          </a:p>
        </p:txBody>
      </p:sp>
      <p:sp>
        <p:nvSpPr>
          <p:cNvPr id="90" name="TextBox 91"/>
          <p:cNvSpPr txBox="1"/>
          <p:nvPr/>
        </p:nvSpPr>
        <p:spPr>
          <a:xfrm>
            <a:off x="571500" y="4708970"/>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91" name="TextBox 92"/>
          <p:cNvSpPr txBox="1"/>
          <p:nvPr/>
        </p:nvSpPr>
        <p:spPr>
          <a:xfrm>
            <a:off x="571500" y="5429060"/>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92" name="TextBox 93"/>
          <p:cNvSpPr txBox="1"/>
          <p:nvPr/>
        </p:nvSpPr>
        <p:spPr>
          <a:xfrm>
            <a:off x="571500" y="5580888"/>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Pavion, Convergint, Everon, Securitas Technology, and Knox Lane in security; 26North in audiovisual; Myriad360 and Net at Work in IT</a:t>
            </a:r>
          </a:p>
        </p:txBody>
      </p:sp>
      <p:sp>
        <p:nvSpPr>
          <p:cNvPr id="93" name="Rule"/>
          <p:cNvSpPr/>
          <p:nvPr/>
        </p:nvSpPr>
        <p:spPr>
          <a:xfrm>
            <a:off x="571500" y="6286500"/>
            <a:ext cx="2667000" cy="9525"/>
          </a:xfrm>
          <a:prstGeom prst="rect">
            <a:avLst/>
          </a:prstGeom>
          <a:solidFill>
            <a:srgbClr val="E3DCD3"/>
          </a:solidFill>
          <a:ln>
            <a:noFill/>
          </a:ln>
        </p:spPr>
        <p:txBody>
          <a:bodyPr rtlCol="0" anchor="ctr"/>
          <a:lstStyle/>
          <a:p>
            <a:pPr algn="ctr"/>
            <a:endParaRPr/>
          </a:p>
        </p:txBody>
      </p:sp>
      <p:sp>
        <p:nvSpPr>
          <p:cNvPr id="94" name="TextBox 95"/>
          <p:cNvSpPr txBox="1"/>
          <p:nvPr/>
        </p:nvSpPr>
        <p:spPr>
          <a:xfrm>
            <a:off x="571500" y="6375749"/>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95" name="Panel"/>
          <p:cNvSpPr/>
          <p:nvPr/>
        </p:nvSpPr>
        <p:spPr>
          <a:xfrm>
            <a:off x="5762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96" name="Wesco logo" descr="Wesco logo"/>
          <p:cNvPicPr>
            <a:picLocks noChangeAspect="1"/>
          </p:cNvPicPr>
          <p:nvPr/>
        </p:nvPicPr>
        <p:blipFill>
          <a:blip r:embed="rId32"/>
          <a:stretch>
            <a:fillRect/>
          </a:stretch>
        </p:blipFill>
        <p:spPr>
          <a:xfrm>
            <a:off x="590550" y="6591300"/>
            <a:ext cx="200025" cy="200025"/>
          </a:xfrm>
          <a:prstGeom prst="rect">
            <a:avLst/>
          </a:prstGeom>
        </p:spPr>
      </p:pic>
      <p:sp>
        <p:nvSpPr>
          <p:cNvPr id="97" name="Panel"/>
          <p:cNvSpPr/>
          <p:nvPr/>
        </p:nvSpPr>
        <p:spPr>
          <a:xfrm>
            <a:off x="8620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98" name="ScanSource logo" descr="ScanSource logo"/>
          <p:cNvPicPr>
            <a:picLocks noChangeAspect="1"/>
          </p:cNvPicPr>
          <p:nvPr/>
        </p:nvPicPr>
        <p:blipFill>
          <a:blip r:embed="rId33"/>
          <a:stretch>
            <a:fillRect/>
          </a:stretch>
        </p:blipFill>
        <p:spPr>
          <a:xfrm>
            <a:off x="876300" y="6591300"/>
            <a:ext cx="200025" cy="200025"/>
          </a:xfrm>
          <a:prstGeom prst="rect">
            <a:avLst/>
          </a:prstGeom>
        </p:spPr>
      </p:pic>
      <p:sp>
        <p:nvSpPr>
          <p:cNvPr id="99" name="Panel"/>
          <p:cNvSpPr/>
          <p:nvPr/>
        </p:nvSpPr>
        <p:spPr>
          <a:xfrm>
            <a:off x="11477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0" name="Climb Global Solutions logo" descr="Climb Global Solutions logo"/>
          <p:cNvPicPr>
            <a:picLocks noChangeAspect="1"/>
          </p:cNvPicPr>
          <p:nvPr/>
        </p:nvPicPr>
        <p:blipFill>
          <a:blip r:embed="rId34"/>
          <a:stretch>
            <a:fillRect/>
          </a:stretch>
        </p:blipFill>
        <p:spPr>
          <a:xfrm>
            <a:off x="1162050" y="6591300"/>
            <a:ext cx="200025" cy="200025"/>
          </a:xfrm>
          <a:prstGeom prst="rect">
            <a:avLst/>
          </a:prstGeom>
        </p:spPr>
      </p:pic>
      <p:sp>
        <p:nvSpPr>
          <p:cNvPr id="101" name="Panel"/>
          <p:cNvSpPr/>
          <p:nvPr/>
        </p:nvSpPr>
        <p:spPr>
          <a:xfrm>
            <a:off x="14335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2" name="TD SYNNEX logo" descr="TD SYNNEX logo"/>
          <p:cNvPicPr>
            <a:picLocks noChangeAspect="1"/>
          </p:cNvPicPr>
          <p:nvPr/>
        </p:nvPicPr>
        <p:blipFill>
          <a:blip r:embed="rId35"/>
          <a:stretch>
            <a:fillRect/>
          </a:stretch>
        </p:blipFill>
        <p:spPr>
          <a:xfrm>
            <a:off x="1447800" y="6591300"/>
            <a:ext cx="200025" cy="200025"/>
          </a:xfrm>
          <a:prstGeom prst="rect">
            <a:avLst/>
          </a:prstGeom>
        </p:spPr>
      </p:pic>
      <p:sp>
        <p:nvSpPr>
          <p:cNvPr id="103" name="Panel"/>
          <p:cNvSpPr/>
          <p:nvPr/>
        </p:nvSpPr>
        <p:spPr>
          <a:xfrm>
            <a:off x="17192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4" name="Unisys logo" descr="Unisys logo"/>
          <p:cNvPicPr>
            <a:picLocks noChangeAspect="1"/>
          </p:cNvPicPr>
          <p:nvPr/>
        </p:nvPicPr>
        <p:blipFill>
          <a:blip r:embed="rId36"/>
          <a:stretch>
            <a:fillRect/>
          </a:stretch>
        </p:blipFill>
        <p:spPr>
          <a:xfrm>
            <a:off x="1733550" y="6591300"/>
            <a:ext cx="200025" cy="200025"/>
          </a:xfrm>
          <a:prstGeom prst="rect">
            <a:avLst/>
          </a:prstGeom>
        </p:spPr>
      </p:pic>
      <p:sp>
        <p:nvSpPr>
          <p:cNvPr id="105" name="Panel"/>
          <p:cNvSpPr/>
          <p:nvPr/>
        </p:nvSpPr>
        <p:spPr>
          <a:xfrm>
            <a:off x="20050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6" name="Napco Security logo" descr="Napco Security logo"/>
          <p:cNvPicPr>
            <a:picLocks noChangeAspect="1"/>
          </p:cNvPicPr>
          <p:nvPr/>
        </p:nvPicPr>
        <p:blipFill>
          <a:blip r:embed="rId37"/>
          <a:stretch>
            <a:fillRect/>
          </a:stretch>
        </p:blipFill>
        <p:spPr>
          <a:xfrm>
            <a:off x="2019300" y="6591300"/>
            <a:ext cx="200025" cy="200025"/>
          </a:xfrm>
          <a:prstGeom prst="rect">
            <a:avLst/>
          </a:prstGeom>
        </p:spPr>
      </p:pic>
      <p:sp>
        <p:nvSpPr>
          <p:cNvPr id="107" name="Panel"/>
          <p:cNvSpPr/>
          <p:nvPr/>
        </p:nvSpPr>
        <p:spPr>
          <a:xfrm>
            <a:off x="22907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8" name="Computacenter logo" descr="Computacenter logo"/>
          <p:cNvPicPr>
            <a:picLocks noChangeAspect="1"/>
          </p:cNvPicPr>
          <p:nvPr/>
        </p:nvPicPr>
        <p:blipFill>
          <a:blip r:embed="rId38"/>
          <a:stretch>
            <a:fillRect/>
          </a:stretch>
        </p:blipFill>
        <p:spPr>
          <a:xfrm>
            <a:off x="2305050" y="6591300"/>
            <a:ext cx="200025" cy="200025"/>
          </a:xfrm>
          <a:prstGeom prst="rect">
            <a:avLst/>
          </a:prstGeom>
        </p:spPr>
      </p:pic>
      <p:sp>
        <p:nvSpPr>
          <p:cNvPr id="109" name="Panel"/>
          <p:cNvSpPr/>
          <p:nvPr/>
        </p:nvSpPr>
        <p:spPr>
          <a:xfrm>
            <a:off x="25765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10" name="Bechtle logo" descr="Bechtle logo"/>
          <p:cNvPicPr>
            <a:picLocks noChangeAspect="1"/>
          </p:cNvPicPr>
          <p:nvPr/>
        </p:nvPicPr>
        <p:blipFill>
          <a:blip r:embed="rId39"/>
          <a:stretch>
            <a:fillRect/>
          </a:stretch>
        </p:blipFill>
        <p:spPr>
          <a:xfrm>
            <a:off x="2590800" y="6591300"/>
            <a:ext cx="200025" cy="200025"/>
          </a:xfrm>
          <a:prstGeom prst="rect">
            <a:avLst/>
          </a:prstGeom>
        </p:spPr>
      </p:pic>
      <p:sp>
        <p:nvSpPr>
          <p:cNvPr id="111" name="Panel"/>
          <p:cNvSpPr/>
          <p:nvPr/>
        </p:nvSpPr>
        <p:spPr>
          <a:xfrm>
            <a:off x="28622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12" name="ADT logo" descr="ADT logo"/>
          <p:cNvPicPr>
            <a:picLocks noChangeAspect="1"/>
          </p:cNvPicPr>
          <p:nvPr/>
        </p:nvPicPr>
        <p:blipFill>
          <a:blip r:embed="rId40"/>
          <a:stretch>
            <a:fillRect/>
          </a:stretch>
        </p:blipFill>
        <p:spPr>
          <a:xfrm>
            <a:off x="2876550" y="6591300"/>
            <a:ext cx="200025" cy="200025"/>
          </a:xfrm>
          <a:prstGeom prst="rect">
            <a:avLst/>
          </a:prstGeom>
        </p:spPr>
      </p:pic>
      <p:sp>
        <p:nvSpPr>
          <p:cNvPr id="113"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endParaRPr/>
          </a:p>
        </p:txBody>
      </p:sp>
      <p:sp>
        <p:nvSpPr>
          <p:cNvPr id="114" name="Panel"/>
          <p:cNvSpPr/>
          <p:nvPr/>
        </p:nvSpPr>
        <p:spPr>
          <a:xfrm>
            <a:off x="3552825" y="4171950"/>
            <a:ext cx="2952750" cy="438150"/>
          </a:xfrm>
          <a:prstGeom prst="rect">
            <a:avLst/>
          </a:prstGeom>
          <a:solidFill>
            <a:srgbClr val="1B1A1A"/>
          </a:solidFill>
          <a:ln>
            <a:noFill/>
          </a:ln>
        </p:spPr>
        <p:txBody>
          <a:bodyPr rtlCol="0" anchor="ctr"/>
          <a:lstStyle/>
          <a:p>
            <a:pPr algn="ctr"/>
            <a:endParaRPr/>
          </a:p>
        </p:txBody>
      </p:sp>
      <p:pic>
        <p:nvPicPr>
          <p:cNvPr id="115" name="Computer chip icon for Electronics &amp; Hardware" descr="Computer chip icon for Electronics &amp; Hardware"/>
          <p:cNvPicPr>
            <a:picLocks noChangeAspect="1"/>
          </p:cNvPicPr>
          <p:nvPr/>
        </p:nvPicPr>
        <p:blipFill>
          <a:blip r:embed="rId41"/>
          <a:stretch>
            <a:fillRect/>
          </a:stretch>
        </p:blipFill>
        <p:spPr>
          <a:xfrm>
            <a:off x="3686175" y="4257675"/>
            <a:ext cx="266700" cy="266700"/>
          </a:xfrm>
          <a:prstGeom prst="rect">
            <a:avLst/>
          </a:prstGeom>
        </p:spPr>
      </p:pic>
      <p:sp>
        <p:nvSpPr>
          <p:cNvPr id="116" name="TextBox 117"/>
          <p:cNvSpPr txBox="1"/>
          <p:nvPr/>
        </p:nvSpPr>
        <p:spPr>
          <a:xfrm>
            <a:off x="4057650" y="4313015"/>
            <a:ext cx="1781770"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ELECTRONICS &amp; HARDWARE</a:t>
            </a:r>
          </a:p>
        </p:txBody>
      </p:sp>
      <p:sp>
        <p:nvSpPr>
          <p:cNvPr id="117" name="TextBox 118"/>
          <p:cNvSpPr txBox="1"/>
          <p:nvPr/>
        </p:nvSpPr>
        <p:spPr>
          <a:xfrm>
            <a:off x="3695700" y="4708970"/>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118" name="TextBox 119"/>
          <p:cNvSpPr txBox="1"/>
          <p:nvPr/>
        </p:nvSpPr>
        <p:spPr>
          <a:xfrm>
            <a:off x="3695700" y="5429060"/>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119" name="TextBox 120"/>
          <p:cNvSpPr txBox="1"/>
          <p:nvPr/>
        </p:nvSpPr>
        <p:spPr>
          <a:xfrm>
            <a:off x="3695700" y="5580888"/>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Jabil, Sanmina, and Flex among public manufacturers; Transom Capital, Tide Rock, Align Capital Partners, and Arcline among sponsors</a:t>
            </a:r>
          </a:p>
        </p:txBody>
      </p:sp>
      <p:sp>
        <p:nvSpPr>
          <p:cNvPr id="120" name="Rule"/>
          <p:cNvSpPr/>
          <p:nvPr/>
        </p:nvSpPr>
        <p:spPr>
          <a:xfrm>
            <a:off x="3695700" y="6286500"/>
            <a:ext cx="2667000" cy="9525"/>
          </a:xfrm>
          <a:prstGeom prst="rect">
            <a:avLst/>
          </a:prstGeom>
          <a:solidFill>
            <a:srgbClr val="E3DCD3"/>
          </a:solidFill>
          <a:ln>
            <a:noFill/>
          </a:ln>
        </p:spPr>
        <p:txBody>
          <a:bodyPr rtlCol="0" anchor="ctr"/>
          <a:lstStyle/>
          <a:p>
            <a:pPr algn="ctr"/>
            <a:endParaRPr/>
          </a:p>
        </p:txBody>
      </p:sp>
      <p:sp>
        <p:nvSpPr>
          <p:cNvPr id="121" name="TextBox 122"/>
          <p:cNvSpPr txBox="1"/>
          <p:nvPr/>
        </p:nvSpPr>
        <p:spPr>
          <a:xfrm>
            <a:off x="3695700" y="6375749"/>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122" name="Panel"/>
          <p:cNvSpPr/>
          <p:nvPr/>
        </p:nvSpPr>
        <p:spPr>
          <a:xfrm>
            <a:off x="3700462" y="6577012"/>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123" name="Jabil logo" descr="Jabil logo"/>
          <p:cNvPicPr>
            <a:picLocks noChangeAspect="1"/>
          </p:cNvPicPr>
          <p:nvPr/>
        </p:nvPicPr>
        <p:blipFill>
          <a:blip r:embed="rId42"/>
          <a:stretch>
            <a:fillRect/>
          </a:stretch>
        </p:blipFill>
        <p:spPr>
          <a:xfrm>
            <a:off x="3714750" y="6591300"/>
            <a:ext cx="200025" cy="200025"/>
          </a:xfrm>
          <a:prstGeom prst="rect">
            <a:avLst/>
          </a:prstGeom>
        </p:spPr>
      </p:pic>
      <p:sp>
        <p:nvSpPr>
          <p:cNvPr id="124" name="Panel"/>
          <p:cNvSpPr/>
          <p:nvPr/>
        </p:nvSpPr>
        <p:spPr>
          <a:xfrm>
            <a:off x="39862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25" name="Flex logo" descr="Flex logo"/>
          <p:cNvPicPr>
            <a:picLocks noChangeAspect="1"/>
          </p:cNvPicPr>
          <p:nvPr/>
        </p:nvPicPr>
        <p:blipFill>
          <a:blip r:embed="rId43"/>
          <a:stretch>
            <a:fillRect/>
          </a:stretch>
        </p:blipFill>
        <p:spPr>
          <a:xfrm>
            <a:off x="4000500" y="6591300"/>
            <a:ext cx="200025" cy="200025"/>
          </a:xfrm>
          <a:prstGeom prst="rect">
            <a:avLst/>
          </a:prstGeom>
        </p:spPr>
      </p:pic>
      <p:sp>
        <p:nvSpPr>
          <p:cNvPr id="126" name="Panel"/>
          <p:cNvSpPr/>
          <p:nvPr/>
        </p:nvSpPr>
        <p:spPr>
          <a:xfrm>
            <a:off x="42719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27" name="Celestica logo" descr="Celestica logo"/>
          <p:cNvPicPr>
            <a:picLocks noChangeAspect="1"/>
          </p:cNvPicPr>
          <p:nvPr/>
        </p:nvPicPr>
        <p:blipFill>
          <a:blip r:embed="rId44"/>
          <a:stretch>
            <a:fillRect/>
          </a:stretch>
        </p:blipFill>
        <p:spPr>
          <a:xfrm>
            <a:off x="4286250" y="6591300"/>
            <a:ext cx="200025" cy="200025"/>
          </a:xfrm>
          <a:prstGeom prst="rect">
            <a:avLst/>
          </a:prstGeom>
        </p:spPr>
      </p:pic>
      <p:sp>
        <p:nvSpPr>
          <p:cNvPr id="128" name="Panel"/>
          <p:cNvSpPr/>
          <p:nvPr/>
        </p:nvSpPr>
        <p:spPr>
          <a:xfrm>
            <a:off x="45577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29" name="Sanmina logo" descr="Sanmina logo"/>
          <p:cNvPicPr>
            <a:picLocks noChangeAspect="1"/>
          </p:cNvPicPr>
          <p:nvPr/>
        </p:nvPicPr>
        <p:blipFill>
          <a:blip r:embed="rId45"/>
          <a:stretch>
            <a:fillRect/>
          </a:stretch>
        </p:blipFill>
        <p:spPr>
          <a:xfrm>
            <a:off x="4572000" y="6591300"/>
            <a:ext cx="200025" cy="200025"/>
          </a:xfrm>
          <a:prstGeom prst="rect">
            <a:avLst/>
          </a:prstGeom>
        </p:spPr>
      </p:pic>
      <p:sp>
        <p:nvSpPr>
          <p:cNvPr id="130" name="Panel"/>
          <p:cNvSpPr/>
          <p:nvPr/>
        </p:nvSpPr>
        <p:spPr>
          <a:xfrm>
            <a:off x="48434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1" name="Plexus logo" descr="Plexus logo"/>
          <p:cNvPicPr>
            <a:picLocks noChangeAspect="1"/>
          </p:cNvPicPr>
          <p:nvPr/>
        </p:nvPicPr>
        <p:blipFill>
          <a:blip r:embed="rId46"/>
          <a:stretch>
            <a:fillRect/>
          </a:stretch>
        </p:blipFill>
        <p:spPr>
          <a:xfrm>
            <a:off x="4857750" y="6591300"/>
            <a:ext cx="200025" cy="200025"/>
          </a:xfrm>
          <a:prstGeom prst="rect">
            <a:avLst/>
          </a:prstGeom>
        </p:spPr>
      </p:pic>
      <p:sp>
        <p:nvSpPr>
          <p:cNvPr id="132" name="Panel"/>
          <p:cNvSpPr/>
          <p:nvPr/>
        </p:nvSpPr>
        <p:spPr>
          <a:xfrm>
            <a:off x="51292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3" name="Benchmark Electronics logo" descr="Benchmark Electronics logo"/>
          <p:cNvPicPr>
            <a:picLocks noChangeAspect="1"/>
          </p:cNvPicPr>
          <p:nvPr/>
        </p:nvPicPr>
        <p:blipFill>
          <a:blip r:embed="rId47"/>
          <a:stretch>
            <a:fillRect/>
          </a:stretch>
        </p:blipFill>
        <p:spPr>
          <a:xfrm>
            <a:off x="5143500" y="6591300"/>
            <a:ext cx="200025" cy="200025"/>
          </a:xfrm>
          <a:prstGeom prst="rect">
            <a:avLst/>
          </a:prstGeom>
        </p:spPr>
      </p:pic>
      <p:sp>
        <p:nvSpPr>
          <p:cNvPr id="134" name="Panel"/>
          <p:cNvSpPr/>
          <p:nvPr/>
        </p:nvSpPr>
        <p:spPr>
          <a:xfrm>
            <a:off x="54149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5" name="Kimball Electronics logo" descr="Kimball Electronics logo"/>
          <p:cNvPicPr>
            <a:picLocks noChangeAspect="1"/>
          </p:cNvPicPr>
          <p:nvPr/>
        </p:nvPicPr>
        <p:blipFill>
          <a:blip r:embed="rId48"/>
          <a:stretch>
            <a:fillRect/>
          </a:stretch>
        </p:blipFill>
        <p:spPr>
          <a:xfrm>
            <a:off x="5429250" y="6591300"/>
            <a:ext cx="200025" cy="200025"/>
          </a:xfrm>
          <a:prstGeom prst="rect">
            <a:avLst/>
          </a:prstGeom>
        </p:spPr>
      </p:pic>
      <p:sp>
        <p:nvSpPr>
          <p:cNvPr id="136" name="Panel"/>
          <p:cNvSpPr/>
          <p:nvPr/>
        </p:nvSpPr>
        <p:spPr>
          <a:xfrm>
            <a:off x="57007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7" name="TTM Technologies logo" descr="TTM Technologies logo"/>
          <p:cNvPicPr>
            <a:picLocks noChangeAspect="1"/>
          </p:cNvPicPr>
          <p:nvPr/>
        </p:nvPicPr>
        <p:blipFill>
          <a:blip r:embed="rId49"/>
          <a:stretch>
            <a:fillRect/>
          </a:stretch>
        </p:blipFill>
        <p:spPr>
          <a:xfrm>
            <a:off x="5715000" y="6591300"/>
            <a:ext cx="200025" cy="200025"/>
          </a:xfrm>
          <a:prstGeom prst="rect">
            <a:avLst/>
          </a:prstGeom>
        </p:spPr>
      </p:pic>
      <p:sp>
        <p:nvSpPr>
          <p:cNvPr id="138" name="Panel"/>
          <p:cNvSpPr/>
          <p:nvPr/>
        </p:nvSpPr>
        <p:spPr>
          <a:xfrm>
            <a:off x="59864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9" name="Keysight logo" descr="Keysight logo"/>
          <p:cNvPicPr>
            <a:picLocks noChangeAspect="1"/>
          </p:cNvPicPr>
          <p:nvPr/>
        </p:nvPicPr>
        <p:blipFill>
          <a:blip r:embed="rId50"/>
          <a:stretch>
            <a:fillRect/>
          </a:stretch>
        </p:blipFill>
        <p:spPr>
          <a:xfrm>
            <a:off x="6000750" y="6591300"/>
            <a:ext cx="200025" cy="200025"/>
          </a:xfrm>
          <a:prstGeom prst="rect">
            <a:avLst/>
          </a:prstGeom>
        </p:spPr>
      </p:pic>
      <p:sp>
        <p:nvSpPr>
          <p:cNvPr id="140"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endParaRPr/>
          </a:p>
        </p:txBody>
      </p:sp>
      <p:sp>
        <p:nvSpPr>
          <p:cNvPr id="141" name="Panel"/>
          <p:cNvSpPr/>
          <p:nvPr/>
        </p:nvSpPr>
        <p:spPr>
          <a:xfrm>
            <a:off x="6677025" y="4171950"/>
            <a:ext cx="2952750" cy="438150"/>
          </a:xfrm>
          <a:prstGeom prst="rect">
            <a:avLst/>
          </a:prstGeom>
          <a:solidFill>
            <a:srgbClr val="1B1A1A"/>
          </a:solidFill>
          <a:ln>
            <a:noFill/>
          </a:ln>
        </p:spPr>
        <p:txBody>
          <a:bodyPr rtlCol="0" anchor="ctr"/>
          <a:lstStyle/>
          <a:p>
            <a:pPr algn="ctr"/>
            <a:endParaRPr/>
          </a:p>
        </p:txBody>
      </p:sp>
      <p:pic>
        <p:nvPicPr>
          <p:cNvPr id="142" name="Government building icon for Government Technology" descr="Government building icon for Government Technology"/>
          <p:cNvPicPr>
            <a:picLocks noChangeAspect="1"/>
          </p:cNvPicPr>
          <p:nvPr/>
        </p:nvPicPr>
        <p:blipFill>
          <a:blip r:embed="rId51"/>
          <a:stretch>
            <a:fillRect/>
          </a:stretch>
        </p:blipFill>
        <p:spPr>
          <a:xfrm>
            <a:off x="6810375" y="4257675"/>
            <a:ext cx="266700" cy="266700"/>
          </a:xfrm>
          <a:prstGeom prst="rect">
            <a:avLst/>
          </a:prstGeom>
        </p:spPr>
      </p:pic>
      <p:sp>
        <p:nvSpPr>
          <p:cNvPr id="143" name="TextBox 144"/>
          <p:cNvSpPr txBox="1"/>
          <p:nvPr/>
        </p:nvSpPr>
        <p:spPr>
          <a:xfrm>
            <a:off x="7181850" y="4313015"/>
            <a:ext cx="1793974"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GOVERNMENT TECHNOLOGY</a:t>
            </a:r>
          </a:p>
        </p:txBody>
      </p:sp>
      <p:sp>
        <p:nvSpPr>
          <p:cNvPr id="144" name="TextBox 145"/>
          <p:cNvSpPr txBox="1"/>
          <p:nvPr/>
        </p:nvSpPr>
        <p:spPr>
          <a:xfrm>
            <a:off x="6819900" y="4708970"/>
            <a:ext cx="2743200" cy="552450"/>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45" name="TextBox 146"/>
          <p:cNvSpPr txBox="1"/>
          <p:nvPr/>
        </p:nvSpPr>
        <p:spPr>
          <a:xfrm>
            <a:off x="6819900" y="5429060"/>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146" name="TextBox 147"/>
          <p:cNvSpPr txBox="1"/>
          <p:nvPr/>
        </p:nvSpPr>
        <p:spPr>
          <a:xfrm>
            <a:off x="6819900" y="5580888"/>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Leidos, Booz Allen, Parsons, and SAIC; sponsor-backed ERT, Xpect Solutions, B&amp;A, and Detroit Defense</a:t>
            </a:r>
          </a:p>
        </p:txBody>
      </p:sp>
      <p:sp>
        <p:nvSpPr>
          <p:cNvPr id="147" name="Rule"/>
          <p:cNvSpPr/>
          <p:nvPr/>
        </p:nvSpPr>
        <p:spPr>
          <a:xfrm>
            <a:off x="6819900" y="6286500"/>
            <a:ext cx="2667000" cy="9525"/>
          </a:xfrm>
          <a:prstGeom prst="rect">
            <a:avLst/>
          </a:prstGeom>
          <a:solidFill>
            <a:srgbClr val="E3DCD3"/>
          </a:solidFill>
          <a:ln>
            <a:noFill/>
          </a:ln>
        </p:spPr>
        <p:txBody>
          <a:bodyPr rtlCol="0" anchor="ctr"/>
          <a:lstStyle/>
          <a:p>
            <a:pPr algn="ctr"/>
            <a:endParaRPr/>
          </a:p>
        </p:txBody>
      </p:sp>
      <p:sp>
        <p:nvSpPr>
          <p:cNvPr id="148" name="TextBox 149"/>
          <p:cNvSpPr txBox="1"/>
          <p:nvPr/>
        </p:nvSpPr>
        <p:spPr>
          <a:xfrm>
            <a:off x="6819900" y="6375749"/>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149" name="Panel"/>
          <p:cNvSpPr/>
          <p:nvPr/>
        </p:nvSpPr>
        <p:spPr>
          <a:xfrm>
            <a:off x="68246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0" name="Booz Allen Hamilton logo" descr="Booz Allen Hamilton logo"/>
          <p:cNvPicPr>
            <a:picLocks noChangeAspect="1"/>
          </p:cNvPicPr>
          <p:nvPr/>
        </p:nvPicPr>
        <p:blipFill>
          <a:blip r:embed="rId52"/>
          <a:stretch>
            <a:fillRect/>
          </a:stretch>
        </p:blipFill>
        <p:spPr>
          <a:xfrm>
            <a:off x="6838950" y="6591300"/>
            <a:ext cx="200025" cy="200025"/>
          </a:xfrm>
          <a:prstGeom prst="rect">
            <a:avLst/>
          </a:prstGeom>
        </p:spPr>
      </p:pic>
      <p:sp>
        <p:nvSpPr>
          <p:cNvPr id="151" name="Panel"/>
          <p:cNvSpPr/>
          <p:nvPr/>
        </p:nvSpPr>
        <p:spPr>
          <a:xfrm>
            <a:off x="71104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2" name="CACI logo" descr="CACI logo"/>
          <p:cNvPicPr>
            <a:picLocks noChangeAspect="1"/>
          </p:cNvPicPr>
          <p:nvPr/>
        </p:nvPicPr>
        <p:blipFill>
          <a:blip r:embed="rId53"/>
          <a:stretch>
            <a:fillRect/>
          </a:stretch>
        </p:blipFill>
        <p:spPr>
          <a:xfrm>
            <a:off x="7124700" y="6591300"/>
            <a:ext cx="200025" cy="200025"/>
          </a:xfrm>
          <a:prstGeom prst="rect">
            <a:avLst/>
          </a:prstGeom>
        </p:spPr>
      </p:pic>
      <p:sp>
        <p:nvSpPr>
          <p:cNvPr id="153" name="Panel"/>
          <p:cNvSpPr/>
          <p:nvPr/>
        </p:nvSpPr>
        <p:spPr>
          <a:xfrm>
            <a:off x="73961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4" name="SAIC logo" descr="SAIC logo"/>
          <p:cNvPicPr>
            <a:picLocks noChangeAspect="1"/>
          </p:cNvPicPr>
          <p:nvPr/>
        </p:nvPicPr>
        <p:blipFill>
          <a:blip r:embed="rId54"/>
          <a:stretch>
            <a:fillRect/>
          </a:stretch>
        </p:blipFill>
        <p:spPr>
          <a:xfrm>
            <a:off x="7410450" y="6591300"/>
            <a:ext cx="200025" cy="200025"/>
          </a:xfrm>
          <a:prstGeom prst="rect">
            <a:avLst/>
          </a:prstGeom>
        </p:spPr>
      </p:pic>
      <p:sp>
        <p:nvSpPr>
          <p:cNvPr id="155" name="Panel"/>
          <p:cNvSpPr/>
          <p:nvPr/>
        </p:nvSpPr>
        <p:spPr>
          <a:xfrm>
            <a:off x="76819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6" name="Leidos logo" descr="Leidos logo"/>
          <p:cNvPicPr>
            <a:picLocks noChangeAspect="1"/>
          </p:cNvPicPr>
          <p:nvPr/>
        </p:nvPicPr>
        <p:blipFill>
          <a:blip r:embed="rId55"/>
          <a:stretch>
            <a:fillRect/>
          </a:stretch>
        </p:blipFill>
        <p:spPr>
          <a:xfrm>
            <a:off x="7696200" y="6591300"/>
            <a:ext cx="200025" cy="200025"/>
          </a:xfrm>
          <a:prstGeom prst="rect">
            <a:avLst/>
          </a:prstGeom>
        </p:spPr>
      </p:pic>
      <p:sp>
        <p:nvSpPr>
          <p:cNvPr id="157" name="Panel"/>
          <p:cNvSpPr/>
          <p:nvPr/>
        </p:nvSpPr>
        <p:spPr>
          <a:xfrm>
            <a:off x="79676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8" name="Parsons logo" descr="Parsons logo"/>
          <p:cNvPicPr>
            <a:picLocks noChangeAspect="1"/>
          </p:cNvPicPr>
          <p:nvPr/>
        </p:nvPicPr>
        <p:blipFill>
          <a:blip r:embed="rId56"/>
          <a:stretch>
            <a:fillRect/>
          </a:stretch>
        </p:blipFill>
        <p:spPr>
          <a:xfrm>
            <a:off x="7981950" y="6591300"/>
            <a:ext cx="200025" cy="200025"/>
          </a:xfrm>
          <a:prstGeom prst="rect">
            <a:avLst/>
          </a:prstGeom>
        </p:spPr>
      </p:pic>
      <p:sp>
        <p:nvSpPr>
          <p:cNvPr id="159" name="Panel"/>
          <p:cNvSpPr/>
          <p:nvPr/>
        </p:nvSpPr>
        <p:spPr>
          <a:xfrm>
            <a:off x="82534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60" name="ICF logo" descr="ICF logo"/>
          <p:cNvPicPr>
            <a:picLocks noChangeAspect="1"/>
          </p:cNvPicPr>
          <p:nvPr/>
        </p:nvPicPr>
        <p:blipFill>
          <a:blip r:embed="rId57"/>
          <a:stretch>
            <a:fillRect/>
          </a:stretch>
        </p:blipFill>
        <p:spPr>
          <a:xfrm>
            <a:off x="8267700" y="6591300"/>
            <a:ext cx="200025" cy="200025"/>
          </a:xfrm>
          <a:prstGeom prst="rect">
            <a:avLst/>
          </a:prstGeom>
        </p:spPr>
      </p:pic>
      <p:sp>
        <p:nvSpPr>
          <p:cNvPr id="161" name="Panel"/>
          <p:cNvSpPr/>
          <p:nvPr/>
        </p:nvSpPr>
        <p:spPr>
          <a:xfrm>
            <a:off x="85391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62" name="Tyler Technologies logo" descr="Tyler Technologies logo"/>
          <p:cNvPicPr>
            <a:picLocks noChangeAspect="1"/>
          </p:cNvPicPr>
          <p:nvPr/>
        </p:nvPicPr>
        <p:blipFill>
          <a:blip r:embed="rId58"/>
          <a:stretch>
            <a:fillRect/>
          </a:stretch>
        </p:blipFill>
        <p:spPr>
          <a:xfrm>
            <a:off x="8553450" y="6591300"/>
            <a:ext cx="200025" cy="200025"/>
          </a:xfrm>
          <a:prstGeom prst="rect">
            <a:avLst/>
          </a:prstGeom>
        </p:spPr>
      </p:pic>
      <p:sp>
        <p:nvSpPr>
          <p:cNvPr id="163" name="TextBox 166"/>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dirty="0">
                <a:solidFill>
                  <a:srgbClr val="6F6A66"/>
                </a:solidFill>
                <a:latin typeface="Quicksand"/>
              </a:rPr>
              <a:t>Active buyers are drawn from transactions announced between January 2025 and October 2026. Company marks are the property of their owners and are shown for identification.</a:t>
            </a:r>
          </a:p>
        </p:txBody>
      </p:sp>
      <p:sp>
        <p:nvSpPr>
          <p:cNvPr id="16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6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66" name="Shape 9"/>
          <p:cNvSpPr/>
          <p:nvPr/>
        </p:nvSpPr>
        <p:spPr>
          <a:xfrm>
            <a:off x="419100" y="7029450"/>
            <a:ext cx="9220200" cy="9525"/>
          </a:xfrm>
          <a:prstGeom prst="rect">
            <a:avLst/>
          </a:prstGeom>
          <a:solidFill>
            <a:srgbClr val="E3DCD3"/>
          </a:solidFill>
          <a:ln/>
        </p:spPr>
        <p:txBody>
          <a:bodyPr/>
          <a:lstStyle/>
          <a:p>
            <a:endParaRPr lang="en-US"/>
          </a:p>
        </p:txBody>
      </p:sp>
      <p:pic>
        <p:nvPicPr>
          <p:cNvPr id="167" name="Benchmark International logo" descr="Benchmark International logo"/>
          <p:cNvPicPr>
            <a:picLocks noChangeAspect="1"/>
          </p:cNvPicPr>
          <p:nvPr/>
        </p:nvPicPr>
        <p:blipFill>
          <a:blip r:embed="rId59"/>
          <a:stretch>
            <a:fillRect/>
          </a:stretch>
        </p:blipFill>
        <p:spPr>
          <a:xfrm>
            <a:off x="419100" y="7143750"/>
            <a:ext cx="914400" cy="171450"/>
          </a:xfrm>
          <a:prstGeom prst="rect">
            <a:avLst/>
          </a:prstGeom>
        </p:spPr>
      </p:pic>
      <p:sp>
        <p:nvSpPr>
          <p:cNvPr id="168"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07</a:t>
            </a:r>
            <a:endParaRPr lang="en-US" sz="81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5" name="TextBox 6"/>
          <p:cNvSpPr txBox="1"/>
          <p:nvPr/>
        </p:nvSpPr>
        <p:spPr>
          <a:xfrm>
            <a:off x="419100" y="864394"/>
            <a:ext cx="3419029"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Primary sources and trade reporting from the quarter just ended.</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1809750" cy="5695950"/>
          </a:xfrm>
          <a:prstGeom prst="rect">
            <a:avLst/>
          </a:prstGeom>
          <a:solidFill>
            <a:srgbClr val="1B1A1A"/>
          </a:solidFill>
          <a:ln>
            <a:noFill/>
          </a:ln>
        </p:spPr>
        <p:txBody>
          <a:bodyPr rtlCol="0" anchor="ctr"/>
          <a:lstStyle/>
          <a:p>
            <a:pPr algn="ctr"/>
            <a:endParaRPr/>
          </a:p>
        </p:txBody>
      </p:sp>
      <p:pic>
        <p:nvPicPr>
          <p:cNvPr id="8" name="Black textured background with the embossed Benchmark Intern" descr="Black textured background with the embossed Benchmark International knot symbol"/>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9" name="Document icon" descr="Document icon"/>
          <p:cNvPicPr>
            <a:picLocks noChangeAspect="1"/>
          </p:cNvPicPr>
          <p:nvPr/>
        </p:nvPicPr>
        <p:blipFill>
          <a:blip r:embed="rId3"/>
          <a:stretch>
            <a:fillRect/>
          </a:stretch>
        </p:blipFill>
        <p:spPr>
          <a:xfrm>
            <a:off x="609600" y="1504950"/>
            <a:ext cx="419100" cy="419100"/>
          </a:xfrm>
          <a:prstGeom prst="rect">
            <a:avLst/>
          </a:prstGeom>
        </p:spPr>
      </p:pic>
      <p:sp>
        <p:nvSpPr>
          <p:cNvPr id="10" name="TextBox 11"/>
          <p:cNvSpPr txBox="1"/>
          <p:nvPr/>
        </p:nvSpPr>
        <p:spPr>
          <a:xfrm>
            <a:off x="609600" y="2074545"/>
            <a:ext cx="1504950" cy="971550"/>
          </a:xfrm>
          <a:prstGeom prst="rect">
            <a:avLst/>
          </a:prstGeom>
          <a:noFill/>
        </p:spPr>
        <p:txBody>
          <a:bodyPr wrap="square" lIns="0" tIns="0" rIns="0" bIns="0" anchor="t">
            <a:noAutofit/>
          </a:bodyPr>
          <a:lstStyle/>
          <a:p>
            <a:pPr algn="l">
              <a:lnSpc>
                <a:spcPts val="2700"/>
              </a:lnSpc>
              <a:spcBef>
                <a:spcPts val="0"/>
              </a:spcBef>
              <a:spcAft>
                <a:spcPts val="0"/>
              </a:spcAft>
            </a:pPr>
            <a:r>
              <a:rPr sz="2250" b="1" i="0">
                <a:solidFill>
                  <a:srgbClr val="FFFFFF"/>
                </a:solidFill>
                <a:latin typeface="Newsreader"/>
              </a:rPr>
              <a:t>Selected industry reading</a:t>
            </a:r>
          </a:p>
        </p:txBody>
      </p:sp>
      <p:sp>
        <p:nvSpPr>
          <p:cNvPr id="11" name="Panel"/>
          <p:cNvSpPr/>
          <p:nvPr/>
        </p:nvSpPr>
        <p:spPr>
          <a:xfrm>
            <a:off x="609600" y="3314700"/>
            <a:ext cx="533400" cy="19050"/>
          </a:xfrm>
          <a:prstGeom prst="rect">
            <a:avLst/>
          </a:prstGeom>
          <a:solidFill>
            <a:srgbClr val="B68757"/>
          </a:solidFill>
          <a:ln>
            <a:noFill/>
          </a:ln>
        </p:spPr>
        <p:txBody>
          <a:bodyPr rtlCol="0" anchor="ctr"/>
          <a:lstStyle/>
          <a:p>
            <a:pPr algn="ctr"/>
            <a:endParaRPr/>
          </a:p>
        </p:txBody>
      </p:sp>
      <p:sp>
        <p:nvSpPr>
          <p:cNvPr id="12" name="TextBox 13"/>
          <p:cNvSpPr txBox="1"/>
          <p:nvPr/>
        </p:nvSpPr>
        <p:spPr>
          <a:xfrm>
            <a:off x="609600" y="3482721"/>
            <a:ext cx="1504950" cy="1228725"/>
          </a:xfrm>
          <a:prstGeom prst="rect">
            <a:avLst/>
          </a:prstGeom>
          <a:noFill/>
        </p:spPr>
        <p:txBody>
          <a:bodyPr wrap="square" lIns="0" tIns="0" rIns="0" bIns="0" anchor="t">
            <a:noAutofit/>
          </a:bodyPr>
          <a:lstStyle/>
          <a:p>
            <a:pPr algn="l">
              <a:lnSpc>
                <a:spcPts val="1457"/>
              </a:lnSpc>
              <a:spcBef>
                <a:spcPts val="0"/>
              </a:spcBef>
              <a:spcAft>
                <a:spcPts val="0"/>
              </a:spcAft>
            </a:pPr>
            <a:r>
              <a:rPr sz="920" b="0" i="0" spc="15">
                <a:solidFill>
                  <a:srgbClr val="E8E2DA"/>
                </a:solidFill>
                <a:latin typeface="Quicksand"/>
              </a:rPr>
              <a:t>Developments affecting technology company valuations and sales.</a:t>
            </a:r>
          </a:p>
        </p:txBody>
      </p:sp>
      <p:sp>
        <p:nvSpPr>
          <p:cNvPr id="13" name="Panel"/>
          <p:cNvSpPr/>
          <p:nvPr/>
        </p:nvSpPr>
        <p:spPr>
          <a:xfrm>
            <a:off x="2400300" y="1238250"/>
            <a:ext cx="3543300" cy="2771775"/>
          </a:xfrm>
          <a:prstGeom prst="rect">
            <a:avLst/>
          </a:prstGeom>
          <a:solidFill>
            <a:srgbClr val="FAF7F3"/>
          </a:solidFill>
          <a:ln>
            <a:noFill/>
          </a:ln>
        </p:spPr>
        <p:txBody>
          <a:bodyPr rtlCol="0" anchor="ctr"/>
          <a:lstStyle/>
          <a:p>
            <a:pPr algn="ctr"/>
            <a:endParaRPr/>
          </a:p>
        </p:txBody>
      </p:sp>
      <p:sp>
        <p:nvSpPr>
          <p:cNvPr id="14" name="Rule"/>
          <p:cNvSpPr/>
          <p:nvPr/>
        </p:nvSpPr>
        <p:spPr>
          <a:xfrm>
            <a:off x="2400300" y="1238250"/>
            <a:ext cx="3543300" cy="28575"/>
          </a:xfrm>
          <a:prstGeom prst="rect">
            <a:avLst/>
          </a:prstGeom>
          <a:solidFill>
            <a:srgbClr val="B68757"/>
          </a:solidFill>
          <a:ln>
            <a:noFill/>
          </a:ln>
        </p:spPr>
        <p:txBody>
          <a:bodyPr rtlCol="0" anchor="ctr"/>
          <a:lstStyle/>
          <a:p>
            <a:pPr algn="ctr"/>
            <a:endParaRPr/>
          </a:p>
        </p:txBody>
      </p:sp>
      <p:sp>
        <p:nvSpPr>
          <p:cNvPr id="15" name="TextBox 16"/>
          <p:cNvSpPr txBox="1"/>
          <p:nvPr/>
        </p:nvSpPr>
        <p:spPr>
          <a:xfrm>
            <a:off x="2552700" y="1375124"/>
            <a:ext cx="565249"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50">
                <a:solidFill>
                  <a:srgbClr val="8C6239"/>
                </a:solidFill>
                <a:latin typeface="Quicksand"/>
              </a:rPr>
              <a:t>GARTNER</a:t>
            </a:r>
          </a:p>
        </p:txBody>
      </p:sp>
      <p:sp>
        <p:nvSpPr>
          <p:cNvPr id="16" name="TextBox 17"/>
          <p:cNvSpPr txBox="1"/>
          <p:nvPr/>
        </p:nvSpPr>
        <p:spPr>
          <a:xfrm>
            <a:off x="5231755" y="1377220"/>
            <a:ext cx="616595"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July 27, 2026</a:t>
            </a:r>
          </a:p>
        </p:txBody>
      </p:sp>
      <p:sp>
        <p:nvSpPr>
          <p:cNvPr id="17" name="TextBox 18"/>
          <p:cNvSpPr txBox="1"/>
          <p:nvPr/>
        </p:nvSpPr>
        <p:spPr>
          <a:xfrm>
            <a:off x="2552700" y="1551622"/>
            <a:ext cx="3314700" cy="328612"/>
          </a:xfrm>
          <a:prstGeom prst="rect">
            <a:avLst/>
          </a:prstGeom>
          <a:noFill/>
        </p:spPr>
        <p:txBody>
          <a:bodyPr wrap="square" lIns="0" tIns="0" r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18" name="Rule"/>
          <p:cNvSpPr/>
          <p:nvPr/>
        </p:nvSpPr>
        <p:spPr>
          <a:xfrm>
            <a:off x="2552700" y="2198949"/>
            <a:ext cx="19050" cy="495300"/>
          </a:xfrm>
          <a:prstGeom prst="rect">
            <a:avLst/>
          </a:prstGeom>
          <a:solidFill>
            <a:srgbClr val="B68757"/>
          </a:solidFill>
          <a:ln>
            <a:noFill/>
          </a:ln>
        </p:spPr>
        <p:txBody>
          <a:bodyPr rtlCol="0" anchor="ctr"/>
          <a:lstStyle/>
          <a:p>
            <a:pPr algn="ctr"/>
            <a:endParaRPr/>
          </a:p>
        </p:txBody>
      </p:sp>
      <p:sp>
        <p:nvSpPr>
          <p:cNvPr id="19" name="TextBox 20"/>
          <p:cNvSpPr txBox="1"/>
          <p:nvPr/>
        </p:nvSpPr>
        <p:spPr>
          <a:xfrm>
            <a:off x="2686050" y="2165612"/>
            <a:ext cx="3181350" cy="28098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“Building the compute capacity required for AI is the largest infrastructure project ever attempted by humanity.”</a:t>
            </a:r>
          </a:p>
        </p:txBody>
      </p:sp>
      <p:sp>
        <p:nvSpPr>
          <p:cNvPr id="20" name="TextBox 21"/>
          <p:cNvSpPr txBox="1"/>
          <p:nvPr/>
        </p:nvSpPr>
        <p:spPr>
          <a:xfrm>
            <a:off x="2686050" y="2547469"/>
            <a:ext cx="2476946"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John-David Lovelock, Distinguished VP Analyst, Gartner</a:t>
            </a:r>
          </a:p>
        </p:txBody>
      </p:sp>
      <p:sp>
        <p:nvSpPr>
          <p:cNvPr id="21" name="TextBox 22"/>
          <p:cNvSpPr txBox="1"/>
          <p:nvPr/>
        </p:nvSpPr>
        <p:spPr>
          <a:xfrm>
            <a:off x="2552700" y="2965228"/>
            <a:ext cx="3314700" cy="576262"/>
          </a:xfrm>
          <a:prstGeom prst="rect">
            <a:avLst/>
          </a:prstGeom>
          <a:noFill/>
        </p:spPr>
        <p:txBody>
          <a:bodyPr wrap="square" lIns="0" tIns="0" rIns="0" bIns="0" anchor="t">
            <a:noAutofit/>
          </a:bodyPr>
          <a:lstStyle/>
          <a:p>
            <a:pPr algn="l">
              <a:lnSpc>
                <a:spcPts val="1209"/>
              </a:lnSpc>
              <a:spcBef>
                <a:spcPts val="0"/>
              </a:spcBef>
              <a:spcAft>
                <a:spcPts val="0"/>
              </a:spcAft>
            </a:pPr>
            <a:r>
              <a:rPr sz="820" b="1" i="0" spc="15">
                <a:solidFill>
                  <a:srgbClr val="1B1A1A"/>
                </a:solidFill>
                <a:latin typeface="Quicksand"/>
              </a:rPr>
              <a:t>Key takeaway.</a:t>
            </a:r>
            <a:r>
              <a:rPr sz="820"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2"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endParaRPr/>
          </a:p>
        </p:txBody>
      </p:sp>
      <p:sp>
        <p:nvSpPr>
          <p:cNvPr id="23" name="TextBox 24">
            <a:hlinkClick r:id="rId4"/>
          </p:cNvPr>
          <p:cNvSpPr txBox="1"/>
          <p:nvPr/>
        </p:nvSpPr>
        <p:spPr>
          <a:xfrm>
            <a:off x="2686050" y="3705034"/>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24" name="Panel"/>
          <p:cNvSpPr/>
          <p:nvPr/>
        </p:nvSpPr>
        <p:spPr>
          <a:xfrm>
            <a:off x="6096000" y="1238250"/>
            <a:ext cx="3543300" cy="2771775"/>
          </a:xfrm>
          <a:prstGeom prst="rect">
            <a:avLst/>
          </a:prstGeom>
          <a:solidFill>
            <a:srgbClr val="FAF7F3"/>
          </a:solidFill>
          <a:ln>
            <a:noFill/>
          </a:ln>
        </p:spPr>
        <p:txBody>
          <a:bodyPr rtlCol="0" anchor="ctr"/>
          <a:lstStyle/>
          <a:p>
            <a:pPr algn="ctr"/>
            <a:endParaRPr/>
          </a:p>
        </p:txBody>
      </p:sp>
      <p:sp>
        <p:nvSpPr>
          <p:cNvPr id="25" name="Rule"/>
          <p:cNvSpPr/>
          <p:nvPr/>
        </p:nvSpPr>
        <p:spPr>
          <a:xfrm>
            <a:off x="6096000" y="1238250"/>
            <a:ext cx="3543300" cy="28575"/>
          </a:xfrm>
          <a:prstGeom prst="rect">
            <a:avLst/>
          </a:prstGeom>
          <a:solidFill>
            <a:srgbClr val="B68757"/>
          </a:solidFill>
          <a:ln>
            <a:noFill/>
          </a:ln>
        </p:spPr>
        <p:txBody>
          <a:bodyPr rtlCol="0" anchor="ctr"/>
          <a:lstStyle/>
          <a:p>
            <a:pPr algn="ctr"/>
            <a:endParaRPr/>
          </a:p>
        </p:txBody>
      </p:sp>
      <p:sp>
        <p:nvSpPr>
          <p:cNvPr id="26" name="TextBox 27"/>
          <p:cNvSpPr txBox="1"/>
          <p:nvPr/>
        </p:nvSpPr>
        <p:spPr>
          <a:xfrm>
            <a:off x="6248400" y="1375124"/>
            <a:ext cx="86141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50">
                <a:solidFill>
                  <a:srgbClr val="8C6239"/>
                </a:solidFill>
                <a:latin typeface="Quicksand"/>
              </a:rPr>
              <a:t>CHANNEL DIVE</a:t>
            </a:r>
          </a:p>
        </p:txBody>
      </p:sp>
      <p:sp>
        <p:nvSpPr>
          <p:cNvPr id="27" name="TextBox 28"/>
          <p:cNvSpPr txBox="1"/>
          <p:nvPr/>
        </p:nvSpPr>
        <p:spPr>
          <a:xfrm>
            <a:off x="8817769" y="1377220"/>
            <a:ext cx="726281"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August 19, 2026</a:t>
            </a:r>
          </a:p>
        </p:txBody>
      </p:sp>
      <p:sp>
        <p:nvSpPr>
          <p:cNvPr id="28" name="TextBox 29"/>
          <p:cNvSpPr txBox="1"/>
          <p:nvPr/>
        </p:nvSpPr>
        <p:spPr>
          <a:xfrm>
            <a:off x="6248400" y="1551622"/>
            <a:ext cx="3314700" cy="328612"/>
          </a:xfrm>
          <a:prstGeom prst="rect">
            <a:avLst/>
          </a:prstGeom>
          <a:noFill/>
        </p:spPr>
        <p:txBody>
          <a:bodyPr wrap="square" lIns="0" tIns="0" r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29" name="Rule"/>
          <p:cNvSpPr/>
          <p:nvPr/>
        </p:nvSpPr>
        <p:spPr>
          <a:xfrm>
            <a:off x="6248400" y="2198949"/>
            <a:ext cx="19050" cy="495300"/>
          </a:xfrm>
          <a:prstGeom prst="rect">
            <a:avLst/>
          </a:prstGeom>
          <a:solidFill>
            <a:srgbClr val="B68757"/>
          </a:solidFill>
          <a:ln>
            <a:noFill/>
          </a:ln>
        </p:spPr>
        <p:txBody>
          <a:bodyPr rtlCol="0" anchor="ctr"/>
          <a:lstStyle/>
          <a:p>
            <a:pPr algn="ctr"/>
            <a:endParaRPr/>
          </a:p>
        </p:txBody>
      </p:sp>
      <p:sp>
        <p:nvSpPr>
          <p:cNvPr id="30" name="TextBox 31"/>
          <p:cNvSpPr txBox="1"/>
          <p:nvPr/>
        </p:nvSpPr>
        <p:spPr>
          <a:xfrm>
            <a:off x="6381750" y="2165612"/>
            <a:ext cx="3181350" cy="28098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“ARR is what attracted private equity to the managed services space. It's nice because it's so predictable.”</a:t>
            </a:r>
          </a:p>
        </p:txBody>
      </p:sp>
      <p:sp>
        <p:nvSpPr>
          <p:cNvPr id="31" name="TextBox 32"/>
          <p:cNvSpPr txBox="1"/>
          <p:nvPr/>
        </p:nvSpPr>
        <p:spPr>
          <a:xfrm>
            <a:off x="6381750" y="2547469"/>
            <a:ext cx="1749475"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Jessica Davis, Principal Analyst, Omdia</a:t>
            </a:r>
          </a:p>
        </p:txBody>
      </p:sp>
      <p:sp>
        <p:nvSpPr>
          <p:cNvPr id="32" name="TextBox 33"/>
          <p:cNvSpPr txBox="1"/>
          <p:nvPr/>
        </p:nvSpPr>
        <p:spPr>
          <a:xfrm>
            <a:off x="6248400" y="2965228"/>
            <a:ext cx="3314700" cy="428625"/>
          </a:xfrm>
          <a:prstGeom prst="rect">
            <a:avLst/>
          </a:prstGeom>
          <a:noFill/>
        </p:spPr>
        <p:txBody>
          <a:bodyPr wrap="square" lIns="0" tIns="0" rIns="0" bIns="0" anchor="t">
            <a:noAutofit/>
          </a:bodyPr>
          <a:lstStyle/>
          <a:p>
            <a:pPr algn="l">
              <a:lnSpc>
                <a:spcPts val="1209"/>
              </a:lnSpc>
              <a:spcBef>
                <a:spcPts val="0"/>
              </a:spcBef>
              <a:spcAft>
                <a:spcPts val="0"/>
              </a:spcAft>
            </a:pPr>
            <a:r>
              <a:rPr sz="820" b="1" i="0" spc="15" dirty="0">
                <a:solidFill>
                  <a:srgbClr val="1B1A1A"/>
                </a:solidFill>
                <a:latin typeface="Quicksand"/>
              </a:rPr>
              <a:t>Key takeaway.</a:t>
            </a:r>
            <a:r>
              <a:rPr sz="820" b="0" i="0" spc="15" dirty="0">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3"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endParaRPr/>
          </a:p>
        </p:txBody>
      </p:sp>
      <p:sp>
        <p:nvSpPr>
          <p:cNvPr id="34" name="TextBox 35">
            <a:hlinkClick r:id="rId5"/>
          </p:cNvPr>
          <p:cNvSpPr txBox="1"/>
          <p:nvPr/>
        </p:nvSpPr>
        <p:spPr>
          <a:xfrm>
            <a:off x="6381750" y="3705034"/>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35" name="Panel"/>
          <p:cNvSpPr/>
          <p:nvPr/>
        </p:nvSpPr>
        <p:spPr>
          <a:xfrm>
            <a:off x="2400300" y="4162425"/>
            <a:ext cx="3543300" cy="2771775"/>
          </a:xfrm>
          <a:prstGeom prst="rect">
            <a:avLst/>
          </a:prstGeom>
          <a:solidFill>
            <a:srgbClr val="FAF7F3"/>
          </a:solidFill>
          <a:ln>
            <a:noFill/>
          </a:ln>
        </p:spPr>
        <p:txBody>
          <a:bodyPr rtlCol="0" anchor="ctr"/>
          <a:lstStyle/>
          <a:p>
            <a:pPr algn="ctr"/>
            <a:endParaRPr/>
          </a:p>
        </p:txBody>
      </p:sp>
      <p:sp>
        <p:nvSpPr>
          <p:cNvPr id="36" name="Rule"/>
          <p:cNvSpPr/>
          <p:nvPr/>
        </p:nvSpPr>
        <p:spPr>
          <a:xfrm>
            <a:off x="2400300" y="4162425"/>
            <a:ext cx="3543300" cy="28575"/>
          </a:xfrm>
          <a:prstGeom prst="rect">
            <a:avLst/>
          </a:prstGeom>
          <a:solidFill>
            <a:srgbClr val="B68757"/>
          </a:solidFill>
          <a:ln>
            <a:noFill/>
          </a:ln>
        </p:spPr>
        <p:txBody>
          <a:bodyPr rtlCol="0" anchor="ctr"/>
          <a:lstStyle/>
          <a:p>
            <a:pPr algn="ctr"/>
            <a:endParaRPr/>
          </a:p>
        </p:txBody>
      </p:sp>
      <p:sp>
        <p:nvSpPr>
          <p:cNvPr id="37" name="TextBox 38"/>
          <p:cNvSpPr txBox="1"/>
          <p:nvPr/>
        </p:nvSpPr>
        <p:spPr>
          <a:xfrm>
            <a:off x="2552700" y="4299299"/>
            <a:ext cx="2048024"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50">
                <a:solidFill>
                  <a:srgbClr val="8C6239"/>
                </a:solidFill>
                <a:latin typeface="Quicksand"/>
              </a:rPr>
              <a:t>GLOBAL ELECTRONICS ASSOCIATION</a:t>
            </a:r>
          </a:p>
        </p:txBody>
      </p:sp>
      <p:sp>
        <p:nvSpPr>
          <p:cNvPr id="38" name="TextBox 39"/>
          <p:cNvSpPr txBox="1"/>
          <p:nvPr/>
        </p:nvSpPr>
        <p:spPr>
          <a:xfrm>
            <a:off x="5116711" y="4301395"/>
            <a:ext cx="731639"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October 1, 2026</a:t>
            </a:r>
          </a:p>
        </p:txBody>
      </p:sp>
      <p:sp>
        <p:nvSpPr>
          <p:cNvPr id="39" name="TextBox 40"/>
          <p:cNvSpPr txBox="1"/>
          <p:nvPr/>
        </p:nvSpPr>
        <p:spPr>
          <a:xfrm>
            <a:off x="2552700" y="4475798"/>
            <a:ext cx="3314700" cy="328612"/>
          </a:xfrm>
          <a:prstGeom prst="rect">
            <a:avLst/>
          </a:prstGeom>
          <a:noFill/>
        </p:spPr>
        <p:txBody>
          <a:bodyPr wrap="square" lIns="0" tIns="0" r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0" name="Rule"/>
          <p:cNvSpPr/>
          <p:nvPr/>
        </p:nvSpPr>
        <p:spPr>
          <a:xfrm>
            <a:off x="2552700" y="4991930"/>
            <a:ext cx="19050" cy="661988"/>
          </a:xfrm>
          <a:prstGeom prst="rect">
            <a:avLst/>
          </a:prstGeom>
          <a:solidFill>
            <a:srgbClr val="B68757"/>
          </a:solidFill>
          <a:ln>
            <a:noFill/>
          </a:ln>
        </p:spPr>
        <p:txBody>
          <a:bodyPr rtlCol="0" anchor="ctr"/>
          <a:lstStyle/>
          <a:p>
            <a:pPr algn="ctr"/>
            <a:endParaRPr/>
          </a:p>
        </p:txBody>
      </p:sp>
      <p:sp>
        <p:nvSpPr>
          <p:cNvPr id="41" name="TextBox 42"/>
          <p:cNvSpPr txBox="1"/>
          <p:nvPr/>
        </p:nvSpPr>
        <p:spPr>
          <a:xfrm>
            <a:off x="2686050" y="4972617"/>
            <a:ext cx="318135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dirty="0">
                <a:solidFill>
                  <a:srgbClr val="2A2928"/>
                </a:solidFill>
                <a:latin typeface="Newsreader"/>
              </a:rPr>
              <a:t>“Strong bookings support the production outlook, but securing the materials needed to fulfill those orders remains a challenge.”</a:t>
            </a:r>
          </a:p>
        </p:txBody>
      </p:sp>
      <p:sp>
        <p:nvSpPr>
          <p:cNvPr id="42" name="TextBox 43"/>
          <p:cNvSpPr txBox="1"/>
          <p:nvPr/>
        </p:nvSpPr>
        <p:spPr>
          <a:xfrm>
            <a:off x="2686050" y="5521162"/>
            <a:ext cx="3029396"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Dr. Shawn DuBravac, Chief Economist, Global Electronics Association</a:t>
            </a:r>
          </a:p>
        </p:txBody>
      </p:sp>
      <p:sp>
        <p:nvSpPr>
          <p:cNvPr id="43" name="TextBox 44"/>
          <p:cNvSpPr txBox="1"/>
          <p:nvPr/>
        </p:nvSpPr>
        <p:spPr>
          <a:xfrm>
            <a:off x="2552700" y="5832406"/>
            <a:ext cx="3314700" cy="428625"/>
          </a:xfrm>
          <a:prstGeom prst="rect">
            <a:avLst/>
          </a:prstGeom>
          <a:noFill/>
        </p:spPr>
        <p:txBody>
          <a:bodyPr wrap="square" lIns="0" tIns="0" rIns="0" bIns="0" anchor="t">
            <a:noAutofit/>
          </a:bodyPr>
          <a:lstStyle/>
          <a:p>
            <a:pPr algn="l">
              <a:lnSpc>
                <a:spcPts val="1209"/>
              </a:lnSpc>
              <a:spcBef>
                <a:spcPts val="0"/>
              </a:spcBef>
              <a:spcAft>
                <a:spcPts val="0"/>
              </a:spcAft>
            </a:pPr>
            <a:r>
              <a:rPr sz="820" b="1" i="0" spc="15" dirty="0">
                <a:solidFill>
                  <a:srgbClr val="1B1A1A"/>
                </a:solidFill>
                <a:latin typeface="Quicksand"/>
              </a:rPr>
              <a:t>Key takeaway.</a:t>
            </a:r>
            <a:r>
              <a:rPr sz="820" b="0" i="0" spc="15" dirty="0">
                <a:solidFill>
                  <a:srgbClr val="333231"/>
                </a:solidFill>
                <a:latin typeface="Quicksand"/>
              </a:rPr>
              <a:t> Bookings rose 53.5% while shipments rose 1.0%. Buyers value backlog that converts to shipments, which makes component supply a diligence question.</a:t>
            </a:r>
          </a:p>
        </p:txBody>
      </p:sp>
      <p:sp>
        <p:nvSpPr>
          <p:cNvPr id="44"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endParaRPr/>
          </a:p>
        </p:txBody>
      </p:sp>
      <p:sp>
        <p:nvSpPr>
          <p:cNvPr id="45" name="TextBox 46">
            <a:hlinkClick r:id="rId6"/>
          </p:cNvPr>
          <p:cNvSpPr txBox="1"/>
          <p:nvPr/>
        </p:nvSpPr>
        <p:spPr>
          <a:xfrm>
            <a:off x="2686050" y="6629210"/>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46" name="Panel"/>
          <p:cNvSpPr/>
          <p:nvPr/>
        </p:nvSpPr>
        <p:spPr>
          <a:xfrm>
            <a:off x="6096000" y="4162425"/>
            <a:ext cx="3543300" cy="2771775"/>
          </a:xfrm>
          <a:prstGeom prst="rect">
            <a:avLst/>
          </a:prstGeom>
          <a:solidFill>
            <a:srgbClr val="FAF7F3"/>
          </a:solidFill>
          <a:ln>
            <a:noFill/>
          </a:ln>
        </p:spPr>
        <p:txBody>
          <a:bodyPr rtlCol="0" anchor="ctr"/>
          <a:lstStyle/>
          <a:p>
            <a:pPr algn="ctr"/>
            <a:endParaRPr dirty="0"/>
          </a:p>
        </p:txBody>
      </p:sp>
      <p:sp>
        <p:nvSpPr>
          <p:cNvPr id="47" name="Rule"/>
          <p:cNvSpPr/>
          <p:nvPr/>
        </p:nvSpPr>
        <p:spPr>
          <a:xfrm>
            <a:off x="6096000" y="4162425"/>
            <a:ext cx="3543300" cy="28575"/>
          </a:xfrm>
          <a:prstGeom prst="rect">
            <a:avLst/>
          </a:prstGeom>
          <a:solidFill>
            <a:srgbClr val="B68757"/>
          </a:solidFill>
          <a:ln>
            <a:noFill/>
          </a:ln>
        </p:spPr>
        <p:txBody>
          <a:bodyPr rtlCol="0" anchor="ctr"/>
          <a:lstStyle/>
          <a:p>
            <a:pPr algn="ctr"/>
            <a:endParaRPr/>
          </a:p>
        </p:txBody>
      </p:sp>
      <p:sp>
        <p:nvSpPr>
          <p:cNvPr id="48" name="TextBox 49"/>
          <p:cNvSpPr txBox="1"/>
          <p:nvPr/>
        </p:nvSpPr>
        <p:spPr>
          <a:xfrm>
            <a:off x="6248400" y="4299299"/>
            <a:ext cx="2669828" cy="228600"/>
          </a:xfrm>
          <a:prstGeom prst="rect">
            <a:avLst/>
          </a:prstGeom>
          <a:noFill/>
        </p:spPr>
        <p:txBody>
          <a:bodyPr wrap="square" lIns="0" tIns="0" rIns="0" bIns="0" anchor="t">
            <a:noAutofit/>
          </a:bodyPr>
          <a:lstStyle/>
          <a:p>
            <a:pPr algn="l">
              <a:lnSpc>
                <a:spcPts val="1024"/>
              </a:lnSpc>
              <a:spcBef>
                <a:spcPts val="0"/>
              </a:spcBef>
              <a:spcAft>
                <a:spcPts val="0"/>
              </a:spcAft>
            </a:pPr>
            <a:r>
              <a:rPr sz="670" b="1" i="0" spc="150">
                <a:solidFill>
                  <a:srgbClr val="8C6239"/>
                </a:solidFill>
                <a:latin typeface="Quicksand"/>
              </a:rPr>
              <a:t>DEPARTMENT OF WAR, CHIEF INFORMATION OFFICER</a:t>
            </a:r>
          </a:p>
        </p:txBody>
      </p:sp>
      <p:sp>
        <p:nvSpPr>
          <p:cNvPr id="49" name="TextBox 50"/>
          <p:cNvSpPr txBox="1"/>
          <p:nvPr/>
        </p:nvSpPr>
        <p:spPr>
          <a:xfrm>
            <a:off x="8937278" y="4301395"/>
            <a:ext cx="606772"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July 13, 2026</a:t>
            </a:r>
          </a:p>
        </p:txBody>
      </p:sp>
      <p:sp>
        <p:nvSpPr>
          <p:cNvPr id="50" name="TextBox 51"/>
          <p:cNvSpPr txBox="1"/>
          <p:nvPr/>
        </p:nvSpPr>
        <p:spPr>
          <a:xfrm>
            <a:off x="6248400" y="4599622"/>
            <a:ext cx="3155156" cy="142875"/>
          </a:xfrm>
          <a:prstGeom prst="rect">
            <a:avLst/>
          </a:prstGeom>
          <a:noFill/>
        </p:spPr>
        <p:txBody>
          <a:bodyPr wrap="none" lIns="0" tIns="0" r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1" name="Rule"/>
          <p:cNvSpPr/>
          <p:nvPr/>
        </p:nvSpPr>
        <p:spPr>
          <a:xfrm>
            <a:off x="6248400" y="5021453"/>
            <a:ext cx="19050" cy="495300"/>
          </a:xfrm>
          <a:prstGeom prst="rect">
            <a:avLst/>
          </a:prstGeom>
          <a:solidFill>
            <a:srgbClr val="B68757"/>
          </a:solidFill>
          <a:ln>
            <a:noFill/>
          </a:ln>
        </p:spPr>
        <p:txBody>
          <a:bodyPr rtlCol="0" anchor="ctr"/>
          <a:lstStyle/>
          <a:p>
            <a:pPr algn="ctr"/>
            <a:endParaRPr/>
          </a:p>
        </p:txBody>
      </p:sp>
      <p:sp>
        <p:nvSpPr>
          <p:cNvPr id="52" name="TextBox 53"/>
          <p:cNvSpPr txBox="1"/>
          <p:nvPr/>
        </p:nvSpPr>
        <p:spPr>
          <a:xfrm>
            <a:off x="6381750" y="4988115"/>
            <a:ext cx="3181350" cy="28098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“All Phase I self-assessment requirements remain firmly in place.”</a:t>
            </a:r>
          </a:p>
        </p:txBody>
      </p:sp>
      <p:sp>
        <p:nvSpPr>
          <p:cNvPr id="53" name="TextBox 54"/>
          <p:cNvSpPr txBox="1"/>
          <p:nvPr/>
        </p:nvSpPr>
        <p:spPr>
          <a:xfrm>
            <a:off x="6381750" y="5369972"/>
            <a:ext cx="3004096"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Department of War Chief Information Officer, CMMC program page</a:t>
            </a:r>
          </a:p>
        </p:txBody>
      </p:sp>
      <p:sp>
        <p:nvSpPr>
          <p:cNvPr id="54" name="TextBox 55"/>
          <p:cNvSpPr txBox="1"/>
          <p:nvPr/>
        </p:nvSpPr>
        <p:spPr>
          <a:xfrm>
            <a:off x="6248400" y="5798496"/>
            <a:ext cx="3314700" cy="623093"/>
          </a:xfrm>
          <a:prstGeom prst="rect">
            <a:avLst/>
          </a:prstGeom>
          <a:noFill/>
        </p:spPr>
        <p:txBody>
          <a:bodyPr wrap="square" lIns="0" tIns="0" rIns="0" bIns="0" anchor="t">
            <a:noAutofit/>
          </a:bodyPr>
          <a:lstStyle/>
          <a:p>
            <a:pPr algn="l">
              <a:lnSpc>
                <a:spcPts val="1209"/>
              </a:lnSpc>
              <a:spcBef>
                <a:spcPts val="0"/>
              </a:spcBef>
              <a:spcAft>
                <a:spcPts val="0"/>
              </a:spcAft>
            </a:pPr>
            <a:r>
              <a:rPr sz="820" b="1" i="0" spc="15" dirty="0">
                <a:solidFill>
                  <a:srgbClr val="1B1A1A"/>
                </a:solidFill>
                <a:latin typeface="Quicksand"/>
              </a:rPr>
              <a:t>Key takeaway. </a:t>
            </a:r>
            <a:r>
              <a:rPr sz="820" i="0" spc="15" dirty="0">
                <a:solidFill>
                  <a:srgbClr val="1B1A1A"/>
                </a:solidFill>
                <a:latin typeface="Quicksand"/>
              </a:rPr>
              <a:t>Third-party certification for defense suppliers is paused; the task force report reached the CIO on September 11 and is unpublished. Self-assessment against NIST 800-171 still applies (McGuireWoods analysis).</a:t>
            </a:r>
          </a:p>
        </p:txBody>
      </p:sp>
      <p:sp>
        <p:nvSpPr>
          <p:cNvPr id="55" name="Panel">
            <a:hlinkClick r:id="rId7"/>
          </p:cNvPr>
          <p:cNvSpPr/>
          <p:nvPr/>
        </p:nvSpPr>
        <p:spPr>
          <a:xfrm>
            <a:off x="6248400" y="6581775"/>
            <a:ext cx="904875" cy="228600"/>
          </a:xfrm>
          <a:prstGeom prst="rect">
            <a:avLst/>
          </a:prstGeom>
          <a:solidFill>
            <a:srgbClr val="1B1A1A"/>
          </a:solidFill>
          <a:ln>
            <a:noFill/>
          </a:ln>
        </p:spPr>
        <p:txBody>
          <a:bodyPr rtlCol="0" anchor="ctr"/>
          <a:lstStyle/>
          <a:p>
            <a:pPr algn="ctr"/>
            <a:endParaRPr/>
          </a:p>
        </p:txBody>
      </p:sp>
      <p:sp>
        <p:nvSpPr>
          <p:cNvPr id="56" name="TextBox 57">
            <a:hlinkClick r:id="rId7"/>
          </p:cNvPr>
          <p:cNvSpPr txBox="1"/>
          <p:nvPr/>
        </p:nvSpPr>
        <p:spPr>
          <a:xfrm>
            <a:off x="6381750" y="6629210"/>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57" name="TextBox 60"/>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pic>
        <p:nvPicPr>
          <p:cNvPr id="58" name="Glass office building at night with people working on the li" descr="Glass office building at night with people working on the lit floors"/>
          <p:cNvPicPr>
            <a:picLocks noChangeAspect="1"/>
          </p:cNvPicPr>
          <p:nvPr/>
        </p:nvPicPr>
        <p:blipFill>
          <a:blip r:embed="rId8"/>
          <a:stretch>
            <a:fillRect/>
          </a:stretch>
        </p:blipFill>
        <p:spPr>
          <a:xfrm>
            <a:off x="612648" y="5257800"/>
            <a:ext cx="1481328" cy="1481328"/>
          </a:xfrm>
          <a:prstGeom prst="rect">
            <a:avLst/>
          </a:prstGeom>
        </p:spPr>
      </p:pic>
      <p:sp>
        <p:nvSpPr>
          <p:cNvPr id="5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6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61" name="Shape 9"/>
          <p:cNvSpPr/>
          <p:nvPr/>
        </p:nvSpPr>
        <p:spPr>
          <a:xfrm>
            <a:off x="419100" y="7029450"/>
            <a:ext cx="9220200" cy="9525"/>
          </a:xfrm>
          <a:prstGeom prst="rect">
            <a:avLst/>
          </a:prstGeom>
          <a:solidFill>
            <a:srgbClr val="E3DCD3"/>
          </a:solidFill>
          <a:ln/>
        </p:spPr>
        <p:txBody>
          <a:bodyPr/>
          <a:lstStyle/>
          <a:p>
            <a:endParaRPr lang="en-US"/>
          </a:p>
        </p:txBody>
      </p:sp>
      <p:pic>
        <p:nvPicPr>
          <p:cNvPr id="62" name="Benchmark International logo" descr="Benchmark International logo"/>
          <p:cNvPicPr>
            <a:picLocks noChangeAspect="1"/>
          </p:cNvPicPr>
          <p:nvPr/>
        </p:nvPicPr>
        <p:blipFill>
          <a:blip r:embed="rId9"/>
          <a:stretch>
            <a:fillRect/>
          </a:stretch>
        </p:blipFill>
        <p:spPr>
          <a:xfrm>
            <a:off x="419100" y="7143750"/>
            <a:ext cx="914400" cy="171450"/>
          </a:xfrm>
          <a:prstGeom prst="rect">
            <a:avLst/>
          </a:prstGeom>
        </p:spPr>
      </p:pic>
      <p:sp>
        <p:nvSpPr>
          <p:cNvPr id="6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08</a:t>
            </a:r>
            <a:endParaRPr lang="en-US" sz="7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Our View</a:t>
            </a:r>
          </a:p>
        </p:txBody>
      </p:sp>
      <p:sp>
        <p:nvSpPr>
          <p:cNvPr id="5" name="TextBox 6"/>
          <p:cNvSpPr txBox="1"/>
          <p:nvPr/>
        </p:nvSpPr>
        <p:spPr>
          <a:xfrm>
            <a:off x="419100" y="864394"/>
            <a:ext cx="6839099"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Buyers favor contracted revenue and backlog that converts to cash.</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68"/>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Views are those of the Benchmark International Middle Market team, drawn from the figures in this report, which are the latest published as of October 14, 2026. Buyer demand is the team's assessment for owner-operated businesses in each focus area. Page references are to this report.</a:t>
            </a:r>
          </a:p>
        </p:txBody>
      </p:sp>
      <p:sp>
        <p:nvSpPr>
          <p:cNvPr id="8" name="Panel"/>
          <p:cNvSpPr/>
          <p:nvPr/>
        </p:nvSpPr>
        <p:spPr>
          <a:xfrm>
            <a:off x="419100" y="1238250"/>
            <a:ext cx="2857500" cy="4953000"/>
          </a:xfrm>
          <a:prstGeom prst="rect">
            <a:avLst/>
          </a:prstGeom>
          <a:solidFill>
            <a:srgbClr val="1B1A1A"/>
          </a:solidFill>
          <a:ln>
            <a:noFill/>
          </a:ln>
        </p:spPr>
        <p:txBody>
          <a:bodyPr rtlCol="0" anchor="ctr"/>
          <a:lstStyle/>
          <a:p>
            <a:pPr algn="ctr"/>
            <a:endParaRPr/>
          </a:p>
        </p:txBody>
      </p:sp>
      <p:sp>
        <p:nvSpPr>
          <p:cNvPr id="9" name="Panel"/>
          <p:cNvSpPr/>
          <p:nvPr/>
        </p:nvSpPr>
        <p:spPr>
          <a:xfrm>
            <a:off x="419100" y="1238250"/>
            <a:ext cx="2857500" cy="28575"/>
          </a:xfrm>
          <a:prstGeom prst="rect">
            <a:avLst/>
          </a:prstGeom>
          <a:solidFill>
            <a:srgbClr val="B68757"/>
          </a:solidFill>
          <a:ln>
            <a:noFill/>
          </a:ln>
        </p:spPr>
        <p:txBody>
          <a:bodyPr rtlCol="0" anchor="ctr"/>
          <a:lstStyle/>
          <a:p>
            <a:pPr algn="ctr"/>
            <a:endParaRPr/>
          </a:p>
        </p:txBody>
      </p:sp>
      <p:sp>
        <p:nvSpPr>
          <p:cNvPr id="10" name="TextBox 513"/>
          <p:cNvSpPr txBox="1"/>
          <p:nvPr/>
        </p:nvSpPr>
        <p:spPr>
          <a:xfrm>
            <a:off x="647700" y="1504950"/>
            <a:ext cx="2000000" cy="104775"/>
          </a:xfrm>
          <a:prstGeom prst="rect">
            <a:avLst/>
          </a:prstGeom>
          <a:noFill/>
        </p:spPr>
        <p:txBody>
          <a:bodyPr wrap="none" lIns="0" tIns="0" rIns="0" bIns="0" anchor="t">
            <a:noAutofit/>
          </a:bodyPr>
          <a:lstStyle/>
          <a:p>
            <a:pPr algn="l">
              <a:lnSpc>
                <a:spcPts val="1050"/>
              </a:lnSpc>
              <a:spcBef>
                <a:spcPts val="0"/>
              </a:spcBef>
              <a:spcAft>
                <a:spcPts val="0"/>
              </a:spcAft>
            </a:pPr>
            <a:r>
              <a:rPr lang="en-US" sz="790" b="1" i="0" spc="180">
                <a:solidFill>
                  <a:srgbClr val="D3AE84"/>
                </a:solidFill>
                <a:latin typeface="Quicksand"/>
              </a:rPr>
              <a:t>OUR POSITION</a:t>
            </a:r>
          </a:p>
        </p:txBody>
      </p:sp>
      <p:sp>
        <p:nvSpPr>
          <p:cNvPr id="11" name="Panel"/>
          <p:cNvSpPr/>
          <p:nvPr/>
        </p:nvSpPr>
        <p:spPr>
          <a:xfrm>
            <a:off x="647700" y="1695450"/>
            <a:ext cx="457200" cy="19050"/>
          </a:xfrm>
          <a:prstGeom prst="rect">
            <a:avLst/>
          </a:prstGeom>
          <a:solidFill>
            <a:srgbClr val="B68757"/>
          </a:solidFill>
          <a:ln>
            <a:noFill/>
          </a:ln>
        </p:spPr>
        <p:txBody>
          <a:bodyPr rtlCol="0" anchor="ctr"/>
          <a:lstStyle/>
          <a:p>
            <a:pPr algn="ctr"/>
            <a:endParaRPr/>
          </a:p>
        </p:txBody>
      </p:sp>
      <p:sp>
        <p:nvSpPr>
          <p:cNvPr id="12" name="TextBox 515"/>
          <p:cNvSpPr txBox="1"/>
          <p:nvPr/>
        </p:nvSpPr>
        <p:spPr>
          <a:xfrm>
            <a:off x="647700" y="1847850"/>
            <a:ext cx="2400300" cy="1714500"/>
          </a:xfrm>
          <a:prstGeom prst="rect">
            <a:avLst/>
          </a:prstGeom>
          <a:noFill/>
        </p:spPr>
        <p:txBody>
          <a:bodyPr wrap="square" lIns="0" tIns="0" rIns="0" bIns="0" anchor="t">
            <a:noAutofit/>
          </a:bodyPr>
          <a:lstStyle/>
          <a:p>
            <a:pPr algn="l">
              <a:lnSpc>
                <a:spcPts val="1650"/>
              </a:lnSpc>
              <a:spcBef>
                <a:spcPts val="0"/>
              </a:spcBef>
              <a:spcAft>
                <a:spcPts val="0"/>
              </a:spcAft>
            </a:pPr>
            <a:r>
              <a:rPr lang="en-US" sz="1250" b="0" i="0">
                <a:solidFill>
                  <a:srgbClr val="FFFFFF"/>
                </a:solidFill>
                <a:latin typeface="Newsreader"/>
              </a:rPr>
              <a:t>Buyers pay full prices for contracted revenue, essential capabilities, and backlog that converts to cash. Lower debt availability makes them more selective elsewhere.</a:t>
            </a:r>
          </a:p>
        </p:txBody>
      </p:sp>
      <p:sp>
        <p:nvSpPr>
          <p:cNvPr id="13" name="Panel"/>
          <p:cNvSpPr/>
          <p:nvPr/>
        </p:nvSpPr>
        <p:spPr>
          <a:xfrm>
            <a:off x="647700" y="3438250"/>
            <a:ext cx="2400300" cy="9525"/>
          </a:xfrm>
          <a:prstGeom prst="rect">
            <a:avLst/>
          </a:prstGeom>
          <a:solidFill>
            <a:srgbClr val="3A3836"/>
          </a:solidFill>
          <a:ln>
            <a:noFill/>
          </a:ln>
        </p:spPr>
        <p:txBody>
          <a:bodyPr rtlCol="0" anchor="ctr"/>
          <a:lstStyle/>
          <a:p>
            <a:pPr algn="ctr"/>
            <a:endParaRPr/>
          </a:p>
        </p:txBody>
      </p:sp>
      <p:sp>
        <p:nvSpPr>
          <p:cNvPr id="14" name="TextBox 517"/>
          <p:cNvSpPr txBox="1"/>
          <p:nvPr/>
        </p:nvSpPr>
        <p:spPr>
          <a:xfrm>
            <a:off x="647700" y="3552550"/>
            <a:ext cx="2400300" cy="285750"/>
          </a:xfrm>
          <a:prstGeom prst="rect">
            <a:avLst/>
          </a:prstGeom>
          <a:noFill/>
        </p:spPr>
        <p:txBody>
          <a:bodyPr wrap="square" lIns="0" tIns="0" rIns="0" bIns="0" anchor="t">
            <a:noAutofit/>
          </a:bodyPr>
          <a:lstStyle/>
          <a:p>
            <a:pPr algn="l">
              <a:lnSpc>
                <a:spcPts val="2100"/>
              </a:lnSpc>
              <a:spcBef>
                <a:spcPts val="0"/>
              </a:spcBef>
              <a:spcAft>
                <a:spcPts val="0"/>
              </a:spcAft>
            </a:pPr>
            <a:r>
              <a:rPr lang="en-US" sz="1800" b="1" i="0">
                <a:solidFill>
                  <a:srgbClr val="D3AE84"/>
                </a:solidFill>
                <a:latin typeface="Newsreader"/>
              </a:rPr>
              <a:t>About 60%</a:t>
            </a:r>
          </a:p>
        </p:txBody>
      </p:sp>
      <p:sp>
        <p:nvSpPr>
          <p:cNvPr id="15" name="TextBox 518"/>
          <p:cNvSpPr txBox="1"/>
          <p:nvPr/>
        </p:nvSpPr>
        <p:spPr>
          <a:xfrm>
            <a:off x="647700" y="3857350"/>
            <a:ext cx="2400300" cy="400000"/>
          </a:xfrm>
          <a:prstGeom prst="rect">
            <a:avLst/>
          </a:prstGeom>
          <a:noFill/>
        </p:spPr>
        <p:txBody>
          <a:bodyPr wrap="square" lIns="0" tIns="0" rIns="0" bIns="0" anchor="t">
            <a:noAutofit/>
          </a:bodyPr>
          <a:lstStyle/>
          <a:p>
            <a:pPr algn="l">
              <a:lnSpc>
                <a:spcPts val="1282"/>
              </a:lnSpc>
              <a:spcBef>
                <a:spcPts val="0"/>
              </a:spcBef>
              <a:spcAft>
                <a:spcPts val="0"/>
              </a:spcAft>
            </a:pPr>
            <a:r>
              <a:rPr lang="en-US" sz="900" b="0" i="0" spc="10" dirty="0">
                <a:solidFill>
                  <a:srgbClr val="C9C2BA"/>
                </a:solidFill>
                <a:latin typeface="Quicksand"/>
              </a:rPr>
              <a:t>of a typical sponsor purchase is funded with equity, at 2.9x debt against a 7.0x average price (</a:t>
            </a:r>
            <a:r>
              <a:rPr lang="en-US" sz="900" b="0" i="0" u="sng" spc="10" dirty="0">
                <a:solidFill>
                  <a:srgbClr val="D3AE84"/>
                </a:solidFill>
                <a:latin typeface="Quicksand"/>
                <a:hlinkClick r:id="rId2"/>
              </a:rPr>
              <a:t>GF Data via ACG</a:t>
            </a:r>
            <a:r>
              <a:rPr lang="en-US" sz="900" b="0" i="0" spc="10" dirty="0">
                <a:solidFill>
                  <a:srgbClr val="C9C2BA"/>
                </a:solidFill>
                <a:latin typeface="Quicksand"/>
              </a:rPr>
              <a:t>).</a:t>
            </a:r>
          </a:p>
        </p:txBody>
      </p:sp>
      <p:sp>
        <p:nvSpPr>
          <p:cNvPr id="16" name="Panel"/>
          <p:cNvSpPr/>
          <p:nvPr/>
        </p:nvSpPr>
        <p:spPr>
          <a:xfrm>
            <a:off x="647700" y="4268250"/>
            <a:ext cx="2400300" cy="9525"/>
          </a:xfrm>
          <a:prstGeom prst="rect">
            <a:avLst/>
          </a:prstGeom>
          <a:solidFill>
            <a:srgbClr val="3A3836"/>
          </a:solidFill>
          <a:ln>
            <a:noFill/>
          </a:ln>
        </p:spPr>
        <p:txBody>
          <a:bodyPr rtlCol="0" anchor="ctr"/>
          <a:lstStyle/>
          <a:p>
            <a:pPr algn="ctr"/>
            <a:endParaRPr/>
          </a:p>
        </p:txBody>
      </p:sp>
      <p:sp>
        <p:nvSpPr>
          <p:cNvPr id="17" name="TextBox 520"/>
          <p:cNvSpPr txBox="1"/>
          <p:nvPr/>
        </p:nvSpPr>
        <p:spPr>
          <a:xfrm>
            <a:off x="647700" y="4382550"/>
            <a:ext cx="2400300" cy="285750"/>
          </a:xfrm>
          <a:prstGeom prst="rect">
            <a:avLst/>
          </a:prstGeom>
          <a:noFill/>
        </p:spPr>
        <p:txBody>
          <a:bodyPr wrap="square" lIns="0" tIns="0" rIns="0" bIns="0" anchor="t">
            <a:noAutofit/>
          </a:bodyPr>
          <a:lstStyle/>
          <a:p>
            <a:pPr algn="l">
              <a:lnSpc>
                <a:spcPts val="2100"/>
              </a:lnSpc>
              <a:spcBef>
                <a:spcPts val="0"/>
              </a:spcBef>
              <a:spcAft>
                <a:spcPts val="0"/>
              </a:spcAft>
            </a:pPr>
            <a:r>
              <a:rPr lang="en-US" sz="1800" b="1" i="0">
                <a:solidFill>
                  <a:srgbClr val="D3AE84"/>
                </a:solidFill>
                <a:latin typeface="Newsreader"/>
              </a:rPr>
              <a:t>87%</a:t>
            </a:r>
          </a:p>
        </p:txBody>
      </p:sp>
      <p:sp>
        <p:nvSpPr>
          <p:cNvPr id="18" name="TextBox 521"/>
          <p:cNvSpPr txBox="1"/>
          <p:nvPr/>
        </p:nvSpPr>
        <p:spPr>
          <a:xfrm>
            <a:off x="647700" y="4687350"/>
            <a:ext cx="2400300" cy="400000"/>
          </a:xfrm>
          <a:prstGeom prst="rect">
            <a:avLst/>
          </a:prstGeom>
          <a:noFill/>
        </p:spPr>
        <p:txBody>
          <a:bodyPr wrap="square" lIns="0" tIns="0" rIns="0" bIns="0" anchor="t">
            <a:noAutofit/>
          </a:bodyPr>
          <a:lstStyle/>
          <a:p>
            <a:pPr algn="l">
              <a:lnSpc>
                <a:spcPts val="1282"/>
              </a:lnSpc>
              <a:spcBef>
                <a:spcPts val="0"/>
              </a:spcBef>
              <a:spcAft>
                <a:spcPts val="0"/>
              </a:spcAft>
            </a:pPr>
            <a:r>
              <a:rPr lang="en-US" sz="900" b="0" i="0" spc="10" dirty="0">
                <a:solidFill>
                  <a:srgbClr val="C9C2BA"/>
                </a:solidFill>
                <a:latin typeface="Quicksand"/>
              </a:rPr>
              <a:t>of sales above $5 million drew three or more offers (</a:t>
            </a:r>
            <a:r>
              <a:rPr lang="en-US" sz="900" b="0" i="0" u="sng" spc="10" dirty="0">
                <a:solidFill>
                  <a:srgbClr val="D3AE84"/>
                </a:solidFill>
                <a:latin typeface="Quicksand"/>
                <a:hlinkClick r:id="rId3"/>
              </a:rPr>
              <a:t>IBBA and M&amp;A Source</a:t>
            </a:r>
            <a:r>
              <a:rPr lang="en-US" sz="900" b="0" i="0" spc="10" dirty="0">
                <a:solidFill>
                  <a:srgbClr val="C9C2BA"/>
                </a:solidFill>
                <a:latin typeface="Quicksand"/>
              </a:rPr>
              <a:t>).</a:t>
            </a:r>
          </a:p>
        </p:txBody>
      </p:sp>
      <p:sp>
        <p:nvSpPr>
          <p:cNvPr id="19" name="Panel"/>
          <p:cNvSpPr/>
          <p:nvPr/>
        </p:nvSpPr>
        <p:spPr>
          <a:xfrm>
            <a:off x="647700" y="5098250"/>
            <a:ext cx="2400300" cy="9525"/>
          </a:xfrm>
          <a:prstGeom prst="rect">
            <a:avLst/>
          </a:prstGeom>
          <a:solidFill>
            <a:srgbClr val="3A3836"/>
          </a:solidFill>
          <a:ln>
            <a:noFill/>
          </a:ln>
        </p:spPr>
        <p:txBody>
          <a:bodyPr rtlCol="0" anchor="ctr"/>
          <a:lstStyle/>
          <a:p>
            <a:pPr algn="ctr"/>
            <a:endParaRPr/>
          </a:p>
        </p:txBody>
      </p:sp>
      <p:sp>
        <p:nvSpPr>
          <p:cNvPr id="20" name="TextBox 523"/>
          <p:cNvSpPr txBox="1"/>
          <p:nvPr/>
        </p:nvSpPr>
        <p:spPr>
          <a:xfrm>
            <a:off x="647700" y="5212550"/>
            <a:ext cx="2400300" cy="285750"/>
          </a:xfrm>
          <a:prstGeom prst="rect">
            <a:avLst/>
          </a:prstGeom>
          <a:noFill/>
        </p:spPr>
        <p:txBody>
          <a:bodyPr wrap="square" lIns="0" tIns="0" rIns="0" bIns="0" anchor="t">
            <a:noAutofit/>
          </a:bodyPr>
          <a:lstStyle/>
          <a:p>
            <a:pPr algn="l">
              <a:lnSpc>
                <a:spcPts val="2100"/>
              </a:lnSpc>
              <a:spcBef>
                <a:spcPts val="0"/>
              </a:spcBef>
              <a:spcAft>
                <a:spcPts val="0"/>
              </a:spcAft>
            </a:pPr>
            <a:r>
              <a:rPr lang="en-US" sz="1800" b="1" i="0">
                <a:solidFill>
                  <a:srgbClr val="D3AE84"/>
                </a:solidFill>
                <a:latin typeface="Newsreader"/>
              </a:rPr>
              <a:t>7 of 11</a:t>
            </a:r>
          </a:p>
        </p:txBody>
      </p:sp>
      <p:sp>
        <p:nvSpPr>
          <p:cNvPr id="21" name="TextBox 524"/>
          <p:cNvSpPr txBox="1"/>
          <p:nvPr/>
        </p:nvSpPr>
        <p:spPr>
          <a:xfrm>
            <a:off x="647700" y="5517350"/>
            <a:ext cx="2400300" cy="400000"/>
          </a:xfrm>
          <a:prstGeom prst="rect">
            <a:avLst/>
          </a:prstGeom>
          <a:noFill/>
        </p:spPr>
        <p:txBody>
          <a:bodyPr wrap="square" lIns="0" tIns="0" rIns="0" bIns="0" anchor="t">
            <a:noAutofit/>
          </a:bodyPr>
          <a:lstStyle/>
          <a:p>
            <a:pPr algn="l">
              <a:lnSpc>
                <a:spcPts val="1282"/>
              </a:lnSpc>
              <a:spcBef>
                <a:spcPts val="0"/>
              </a:spcBef>
              <a:spcAft>
                <a:spcPts val="0"/>
              </a:spcAft>
            </a:pPr>
            <a:r>
              <a:rPr lang="en-US" sz="900" b="0" i="0" spc="10" dirty="0">
                <a:solidFill>
                  <a:srgbClr val="C9C2BA"/>
                </a:solidFill>
                <a:latin typeface="Quicksand"/>
              </a:rPr>
              <a:t>named sellers in our recent technology transactions were bought by a company in their own or an adjacent field (page 13).</a:t>
            </a:r>
          </a:p>
        </p:txBody>
      </p:sp>
      <p:sp>
        <p:nvSpPr>
          <p:cNvPr id="22" name="TextBox 525"/>
          <p:cNvSpPr txBox="1"/>
          <p:nvPr/>
        </p:nvSpPr>
        <p:spPr>
          <a:xfrm>
            <a:off x="3543300" y="1238250"/>
            <a:ext cx="1400000" cy="95250"/>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50">
                <a:solidFill>
                  <a:srgbClr val="8C6239"/>
                </a:solidFill>
                <a:latin typeface="Quicksand"/>
              </a:rPr>
              <a:t>FOCUS AREA</a:t>
            </a:r>
          </a:p>
        </p:txBody>
      </p:sp>
      <p:sp>
        <p:nvSpPr>
          <p:cNvPr id="23" name="TextBox 526"/>
          <p:cNvSpPr txBox="1"/>
          <p:nvPr/>
        </p:nvSpPr>
        <p:spPr>
          <a:xfrm>
            <a:off x="4991100" y="1238250"/>
            <a:ext cx="800000" cy="95250"/>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50">
                <a:solidFill>
                  <a:srgbClr val="8C6239"/>
                </a:solidFill>
                <a:latin typeface="Quicksand"/>
              </a:rPr>
              <a:t>DEMAND</a:t>
            </a:r>
          </a:p>
        </p:txBody>
      </p:sp>
      <p:sp>
        <p:nvSpPr>
          <p:cNvPr id="24" name="TextBox 527"/>
          <p:cNvSpPr txBox="1"/>
          <p:nvPr/>
        </p:nvSpPr>
        <p:spPr>
          <a:xfrm>
            <a:off x="5791200" y="1238250"/>
            <a:ext cx="1400000" cy="95250"/>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50">
                <a:solidFill>
                  <a:srgbClr val="8C6239"/>
                </a:solidFill>
                <a:latin typeface="Quicksand"/>
              </a:rPr>
              <a:t>OUR VIEW</a:t>
            </a:r>
          </a:p>
        </p:txBody>
      </p:sp>
      <p:sp>
        <p:nvSpPr>
          <p:cNvPr id="25" name="Panel"/>
          <p:cNvSpPr/>
          <p:nvPr/>
        </p:nvSpPr>
        <p:spPr>
          <a:xfrm>
            <a:off x="3390900" y="1409700"/>
            <a:ext cx="6248400" cy="19050"/>
          </a:xfrm>
          <a:prstGeom prst="rect">
            <a:avLst/>
          </a:prstGeom>
          <a:solidFill>
            <a:srgbClr val="B68757"/>
          </a:solidFill>
          <a:ln>
            <a:noFill/>
          </a:ln>
        </p:spPr>
        <p:txBody>
          <a:bodyPr rtlCol="0" anchor="ctr"/>
          <a:lstStyle/>
          <a:p>
            <a:pPr algn="ctr"/>
            <a:endParaRPr/>
          </a:p>
        </p:txBody>
      </p:sp>
      <p:sp>
        <p:nvSpPr>
          <p:cNvPr id="26" name="Panel"/>
          <p:cNvSpPr/>
          <p:nvPr/>
        </p:nvSpPr>
        <p:spPr>
          <a:xfrm>
            <a:off x="3390900" y="1495425"/>
            <a:ext cx="6248400" cy="735012"/>
          </a:xfrm>
          <a:prstGeom prst="rect">
            <a:avLst/>
          </a:prstGeom>
          <a:solidFill>
            <a:srgbClr val="FAF7F3"/>
          </a:solidFill>
          <a:ln>
            <a:noFill/>
          </a:ln>
        </p:spPr>
        <p:txBody>
          <a:bodyPr rtlCol="0" anchor="ctr"/>
          <a:lstStyle/>
          <a:p>
            <a:pPr algn="ctr"/>
            <a:endParaRPr/>
          </a:p>
        </p:txBody>
      </p:sp>
      <p:sp>
        <p:nvSpPr>
          <p:cNvPr id="27" name="Panel"/>
          <p:cNvSpPr/>
          <p:nvPr/>
        </p:nvSpPr>
        <p:spPr>
          <a:xfrm>
            <a:off x="3543300" y="1647825"/>
            <a:ext cx="304800" cy="304800"/>
          </a:xfrm>
          <a:prstGeom prst="ellipse">
            <a:avLst/>
          </a:prstGeom>
          <a:solidFill>
            <a:srgbClr val="1B1A1A"/>
          </a:solidFill>
          <a:ln>
            <a:noFill/>
          </a:ln>
        </p:spPr>
        <p:txBody>
          <a:bodyPr rtlCol="0" anchor="ctr"/>
          <a:lstStyle/>
          <a:p>
            <a:pPr algn="ctr"/>
            <a:endParaRPr/>
          </a:p>
        </p:txBody>
      </p:sp>
      <p:pic>
        <p:nvPicPr>
          <p:cNvPr id="28" name="Cloud and server icon for Managed IT &amp; Cloud Services" descr="Cloud and server icon for Managed IT &amp; Cloud Services"/>
          <p:cNvPicPr>
            <a:picLocks noChangeAspect="1"/>
          </p:cNvPicPr>
          <p:nvPr/>
        </p:nvPicPr>
        <p:blipFill>
          <a:blip r:embed="rId4"/>
          <a:stretch>
            <a:fillRect/>
          </a:stretch>
        </p:blipFill>
        <p:spPr>
          <a:xfrm>
            <a:off x="3600450" y="1704975"/>
            <a:ext cx="190500" cy="190500"/>
          </a:xfrm>
          <a:prstGeom prst="rect">
            <a:avLst/>
          </a:prstGeom>
        </p:spPr>
      </p:pic>
      <p:sp>
        <p:nvSpPr>
          <p:cNvPr id="29" name="TextBox 531"/>
          <p:cNvSpPr txBox="1"/>
          <p:nvPr/>
        </p:nvSpPr>
        <p:spPr>
          <a:xfrm>
            <a:off x="3933825" y="1685925"/>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MANAGED IT &amp;</a:t>
            </a:r>
          </a:p>
          <a:p>
            <a:pPr algn="l">
              <a:lnSpc>
                <a:spcPts val="1200"/>
              </a:lnSpc>
              <a:spcBef>
                <a:spcPts val="0"/>
              </a:spcBef>
              <a:spcAft>
                <a:spcPts val="0"/>
              </a:spcAft>
            </a:pPr>
            <a:r>
              <a:rPr lang="en-US" sz="800" b="1" i="0" spc="100">
                <a:solidFill>
                  <a:srgbClr val="1B1A1A"/>
                </a:solidFill>
                <a:latin typeface="Quicksand"/>
              </a:rPr>
              <a:t>CLOUD SERVICES</a:t>
            </a:r>
          </a:p>
        </p:txBody>
      </p:sp>
      <p:sp>
        <p:nvSpPr>
          <p:cNvPr id="30" name="Panel"/>
          <p:cNvSpPr/>
          <p:nvPr/>
        </p:nvSpPr>
        <p:spPr>
          <a:xfrm>
            <a:off x="4991100" y="1709738"/>
            <a:ext cx="95250" cy="95250"/>
          </a:xfrm>
          <a:prstGeom prst="ellipse">
            <a:avLst/>
          </a:prstGeom>
          <a:solidFill>
            <a:srgbClr val="B68757"/>
          </a:solidFill>
          <a:ln>
            <a:noFill/>
          </a:ln>
        </p:spPr>
        <p:txBody>
          <a:bodyPr rtlCol="0" anchor="ctr"/>
          <a:lstStyle/>
          <a:p>
            <a:pPr algn="ctr"/>
            <a:endParaRPr/>
          </a:p>
        </p:txBody>
      </p:sp>
      <p:sp>
        <p:nvSpPr>
          <p:cNvPr id="31" name="Panel"/>
          <p:cNvSpPr/>
          <p:nvPr/>
        </p:nvSpPr>
        <p:spPr>
          <a:xfrm>
            <a:off x="5133975" y="1709738"/>
            <a:ext cx="95250" cy="95250"/>
          </a:xfrm>
          <a:prstGeom prst="ellipse">
            <a:avLst/>
          </a:prstGeom>
          <a:solidFill>
            <a:srgbClr val="B68757"/>
          </a:solidFill>
          <a:ln>
            <a:noFill/>
          </a:ln>
        </p:spPr>
        <p:txBody>
          <a:bodyPr rtlCol="0" anchor="ctr"/>
          <a:lstStyle/>
          <a:p>
            <a:pPr algn="ctr"/>
            <a:endParaRPr/>
          </a:p>
        </p:txBody>
      </p:sp>
      <p:sp>
        <p:nvSpPr>
          <p:cNvPr id="32" name="Panel"/>
          <p:cNvSpPr/>
          <p:nvPr/>
        </p:nvSpPr>
        <p:spPr>
          <a:xfrm>
            <a:off x="5276850" y="1709738"/>
            <a:ext cx="95250" cy="95250"/>
          </a:xfrm>
          <a:prstGeom prst="ellipse">
            <a:avLst/>
          </a:prstGeom>
          <a:solidFill>
            <a:srgbClr val="B68757"/>
          </a:solidFill>
          <a:ln>
            <a:noFill/>
          </a:ln>
        </p:spPr>
        <p:txBody>
          <a:bodyPr rtlCol="0" anchor="ctr"/>
          <a:lstStyle/>
          <a:p>
            <a:pPr algn="ctr"/>
            <a:endParaRPr/>
          </a:p>
        </p:txBody>
      </p:sp>
      <p:sp>
        <p:nvSpPr>
          <p:cNvPr id="33" name="Panel"/>
          <p:cNvSpPr/>
          <p:nvPr/>
        </p:nvSpPr>
        <p:spPr>
          <a:xfrm>
            <a:off x="5419725" y="1709738"/>
            <a:ext cx="95250" cy="95250"/>
          </a:xfrm>
          <a:prstGeom prst="ellipse">
            <a:avLst/>
          </a:prstGeom>
          <a:solidFill>
            <a:srgbClr val="B68757"/>
          </a:solidFill>
          <a:ln>
            <a:noFill/>
          </a:ln>
        </p:spPr>
        <p:txBody>
          <a:bodyPr rtlCol="0" anchor="ctr"/>
          <a:lstStyle/>
          <a:p>
            <a:pPr algn="ctr"/>
            <a:endParaRPr/>
          </a:p>
        </p:txBody>
      </p:sp>
      <p:sp>
        <p:nvSpPr>
          <p:cNvPr id="34" name="Panel"/>
          <p:cNvSpPr/>
          <p:nvPr/>
        </p:nvSpPr>
        <p:spPr>
          <a:xfrm>
            <a:off x="5562600" y="1709738"/>
            <a:ext cx="95250" cy="95250"/>
          </a:xfrm>
          <a:prstGeom prst="ellipse">
            <a:avLst/>
          </a:prstGeom>
          <a:solidFill>
            <a:srgbClr val="E3DCD3"/>
          </a:solidFill>
          <a:ln>
            <a:noFill/>
          </a:ln>
        </p:spPr>
        <p:txBody>
          <a:bodyPr rtlCol="0" anchor="ctr"/>
          <a:lstStyle/>
          <a:p>
            <a:pPr algn="ctr"/>
            <a:endParaRPr/>
          </a:p>
        </p:txBody>
      </p:sp>
      <p:sp>
        <p:nvSpPr>
          <p:cNvPr id="35" name="TextBox 537"/>
          <p:cNvSpPr txBox="1"/>
          <p:nvPr/>
        </p:nvSpPr>
        <p:spPr>
          <a:xfrm>
            <a:off x="4991100" y="1876425"/>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a:t>
            </a:r>
          </a:p>
        </p:txBody>
      </p:sp>
      <p:sp>
        <p:nvSpPr>
          <p:cNvPr id="36" name="TextBox 538"/>
          <p:cNvSpPr txBox="1"/>
          <p:nvPr/>
        </p:nvSpPr>
        <p:spPr>
          <a:xfrm>
            <a:off x="5791200" y="1628775"/>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Consolidators announced 64 provider acquisitions in the first quarter. Listed IT services trade at 9.7x. Buyers pay more for contracted managed revenue than for project and resale revenue.</a:t>
            </a:r>
          </a:p>
        </p:txBody>
      </p:sp>
      <p:sp>
        <p:nvSpPr>
          <p:cNvPr id="37" name="Panel"/>
          <p:cNvSpPr/>
          <p:nvPr/>
        </p:nvSpPr>
        <p:spPr>
          <a:xfrm>
            <a:off x="3390900" y="2278062"/>
            <a:ext cx="6248400" cy="735012"/>
          </a:xfrm>
          <a:prstGeom prst="rect">
            <a:avLst/>
          </a:prstGeom>
          <a:solidFill>
            <a:srgbClr val="FAF7F3"/>
          </a:solidFill>
          <a:ln>
            <a:noFill/>
          </a:ln>
        </p:spPr>
        <p:txBody>
          <a:bodyPr rtlCol="0" anchor="ctr"/>
          <a:lstStyle/>
          <a:p>
            <a:pPr algn="ctr"/>
            <a:endParaRPr/>
          </a:p>
        </p:txBody>
      </p:sp>
      <p:sp>
        <p:nvSpPr>
          <p:cNvPr id="38" name="Panel"/>
          <p:cNvSpPr/>
          <p:nvPr/>
        </p:nvSpPr>
        <p:spPr>
          <a:xfrm>
            <a:off x="3543300" y="2430462"/>
            <a:ext cx="304800" cy="304800"/>
          </a:xfrm>
          <a:prstGeom prst="ellipse">
            <a:avLst/>
          </a:prstGeom>
          <a:solidFill>
            <a:srgbClr val="1B1A1A"/>
          </a:solidFill>
          <a:ln>
            <a:noFill/>
          </a:ln>
        </p:spPr>
        <p:txBody>
          <a:bodyPr rtlCol="0" anchor="ctr"/>
          <a:lstStyle/>
          <a:p>
            <a:pPr algn="ctr"/>
            <a:endParaRPr/>
          </a:p>
        </p:txBody>
      </p:sp>
      <p:pic>
        <p:nvPicPr>
          <p:cNvPr id="39" name="Shield and padlock icon for Cybersecurity" descr="Shield and padlock icon for Cybersecurity"/>
          <p:cNvPicPr>
            <a:picLocks noChangeAspect="1"/>
          </p:cNvPicPr>
          <p:nvPr/>
        </p:nvPicPr>
        <p:blipFill>
          <a:blip r:embed="rId5"/>
          <a:stretch>
            <a:fillRect/>
          </a:stretch>
        </p:blipFill>
        <p:spPr>
          <a:xfrm>
            <a:off x="3600450" y="2487612"/>
            <a:ext cx="190500" cy="190500"/>
          </a:xfrm>
          <a:prstGeom prst="rect">
            <a:avLst/>
          </a:prstGeom>
        </p:spPr>
      </p:pic>
      <p:sp>
        <p:nvSpPr>
          <p:cNvPr id="40" name="TextBox 541"/>
          <p:cNvSpPr txBox="1"/>
          <p:nvPr/>
        </p:nvSpPr>
        <p:spPr>
          <a:xfrm>
            <a:off x="3933825" y="2468562"/>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CYBERSECURITY</a:t>
            </a:r>
          </a:p>
        </p:txBody>
      </p:sp>
      <p:sp>
        <p:nvSpPr>
          <p:cNvPr id="41" name="Panel"/>
          <p:cNvSpPr/>
          <p:nvPr/>
        </p:nvSpPr>
        <p:spPr>
          <a:xfrm>
            <a:off x="4991100" y="2492375"/>
            <a:ext cx="95250" cy="95250"/>
          </a:xfrm>
          <a:prstGeom prst="ellipse">
            <a:avLst/>
          </a:prstGeom>
          <a:solidFill>
            <a:srgbClr val="B68757"/>
          </a:solidFill>
          <a:ln>
            <a:noFill/>
          </a:ln>
        </p:spPr>
        <p:txBody>
          <a:bodyPr rtlCol="0" anchor="ctr"/>
          <a:lstStyle/>
          <a:p>
            <a:pPr algn="ctr"/>
            <a:endParaRPr/>
          </a:p>
        </p:txBody>
      </p:sp>
      <p:sp>
        <p:nvSpPr>
          <p:cNvPr id="42" name="Panel"/>
          <p:cNvSpPr/>
          <p:nvPr/>
        </p:nvSpPr>
        <p:spPr>
          <a:xfrm>
            <a:off x="5133975" y="2492375"/>
            <a:ext cx="95250" cy="95250"/>
          </a:xfrm>
          <a:prstGeom prst="ellipse">
            <a:avLst/>
          </a:prstGeom>
          <a:solidFill>
            <a:srgbClr val="B68757"/>
          </a:solidFill>
          <a:ln>
            <a:noFill/>
          </a:ln>
        </p:spPr>
        <p:txBody>
          <a:bodyPr rtlCol="0" anchor="ctr"/>
          <a:lstStyle/>
          <a:p>
            <a:pPr algn="ctr"/>
            <a:endParaRPr/>
          </a:p>
        </p:txBody>
      </p:sp>
      <p:sp>
        <p:nvSpPr>
          <p:cNvPr id="43" name="Panel"/>
          <p:cNvSpPr/>
          <p:nvPr/>
        </p:nvSpPr>
        <p:spPr>
          <a:xfrm>
            <a:off x="5276850" y="2492375"/>
            <a:ext cx="95250" cy="95250"/>
          </a:xfrm>
          <a:prstGeom prst="ellipse">
            <a:avLst/>
          </a:prstGeom>
          <a:solidFill>
            <a:srgbClr val="B68757"/>
          </a:solidFill>
          <a:ln>
            <a:noFill/>
          </a:ln>
        </p:spPr>
        <p:txBody>
          <a:bodyPr rtlCol="0" anchor="ctr"/>
          <a:lstStyle/>
          <a:p>
            <a:pPr algn="ctr"/>
            <a:endParaRPr/>
          </a:p>
        </p:txBody>
      </p:sp>
      <p:sp>
        <p:nvSpPr>
          <p:cNvPr id="44" name="Panel"/>
          <p:cNvSpPr/>
          <p:nvPr/>
        </p:nvSpPr>
        <p:spPr>
          <a:xfrm>
            <a:off x="5419725" y="2492375"/>
            <a:ext cx="95250" cy="95250"/>
          </a:xfrm>
          <a:prstGeom prst="ellipse">
            <a:avLst/>
          </a:prstGeom>
          <a:solidFill>
            <a:srgbClr val="B68757"/>
          </a:solidFill>
          <a:ln>
            <a:noFill/>
          </a:ln>
        </p:spPr>
        <p:txBody>
          <a:bodyPr rtlCol="0" anchor="ctr"/>
          <a:lstStyle/>
          <a:p>
            <a:pPr algn="ctr"/>
            <a:endParaRPr/>
          </a:p>
        </p:txBody>
      </p:sp>
      <p:sp>
        <p:nvSpPr>
          <p:cNvPr id="45" name="Panel"/>
          <p:cNvSpPr/>
          <p:nvPr/>
        </p:nvSpPr>
        <p:spPr>
          <a:xfrm>
            <a:off x="5562600" y="2492375"/>
            <a:ext cx="95250" cy="95250"/>
          </a:xfrm>
          <a:prstGeom prst="ellipse">
            <a:avLst/>
          </a:prstGeom>
          <a:solidFill>
            <a:srgbClr val="E3DCD3"/>
          </a:solidFill>
          <a:ln>
            <a:noFill/>
          </a:ln>
        </p:spPr>
        <p:txBody>
          <a:bodyPr rtlCol="0" anchor="ctr"/>
          <a:lstStyle/>
          <a:p>
            <a:pPr algn="ctr"/>
            <a:endParaRPr/>
          </a:p>
        </p:txBody>
      </p:sp>
      <p:sp>
        <p:nvSpPr>
          <p:cNvPr id="46" name="TextBox 547"/>
          <p:cNvSpPr txBox="1"/>
          <p:nvPr/>
        </p:nvSpPr>
        <p:spPr>
          <a:xfrm>
            <a:off x="4991100" y="2659062"/>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a:t>
            </a:r>
          </a:p>
        </p:txBody>
      </p:sp>
      <p:sp>
        <p:nvSpPr>
          <p:cNvPr id="47" name="TextBox 548"/>
          <p:cNvSpPr txBox="1"/>
          <p:nvPr/>
        </p:nvSpPr>
        <p:spPr>
          <a:xfrm>
            <a:off x="5791200" y="2411412"/>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Strategic buyers pay for security that protects physical operations, as the $3.25 billion Dragos valuation shows. With CMMC certification paused, buyers will credit a Level 2 certificate as readiness and test the self-assessment behind it.</a:t>
            </a:r>
          </a:p>
        </p:txBody>
      </p:sp>
      <p:sp>
        <p:nvSpPr>
          <p:cNvPr id="48" name="Panel"/>
          <p:cNvSpPr/>
          <p:nvPr/>
        </p:nvSpPr>
        <p:spPr>
          <a:xfrm>
            <a:off x="3390900" y="3060699"/>
            <a:ext cx="6248400" cy="735012"/>
          </a:xfrm>
          <a:prstGeom prst="rect">
            <a:avLst/>
          </a:prstGeom>
          <a:solidFill>
            <a:srgbClr val="FAF7F3"/>
          </a:solidFill>
          <a:ln>
            <a:noFill/>
          </a:ln>
        </p:spPr>
        <p:txBody>
          <a:bodyPr rtlCol="0" anchor="ctr"/>
          <a:lstStyle/>
          <a:p>
            <a:pPr algn="ctr"/>
            <a:endParaRPr/>
          </a:p>
        </p:txBody>
      </p:sp>
      <p:sp>
        <p:nvSpPr>
          <p:cNvPr id="49" name="Panel"/>
          <p:cNvSpPr/>
          <p:nvPr/>
        </p:nvSpPr>
        <p:spPr>
          <a:xfrm>
            <a:off x="3543300" y="3213099"/>
            <a:ext cx="304800" cy="304800"/>
          </a:xfrm>
          <a:prstGeom prst="ellipse">
            <a:avLst/>
          </a:prstGeom>
          <a:solidFill>
            <a:srgbClr val="1B1A1A"/>
          </a:solidFill>
          <a:ln>
            <a:noFill/>
          </a:ln>
        </p:spPr>
        <p:txBody>
          <a:bodyPr rtlCol="0" anchor="ctr"/>
          <a:lstStyle/>
          <a:p>
            <a:pPr algn="ctr"/>
            <a:endParaRPr/>
          </a:p>
        </p:txBody>
      </p:sp>
      <p:pic>
        <p:nvPicPr>
          <p:cNvPr id="50" name="Radio tower icon for Telecom &amp; UCaaS" descr="Radio tower icon for Telecom &amp; UCaaS"/>
          <p:cNvPicPr>
            <a:picLocks noChangeAspect="1"/>
          </p:cNvPicPr>
          <p:nvPr/>
        </p:nvPicPr>
        <p:blipFill>
          <a:blip r:embed="rId6"/>
          <a:stretch>
            <a:fillRect/>
          </a:stretch>
        </p:blipFill>
        <p:spPr>
          <a:xfrm>
            <a:off x="3600450" y="3270249"/>
            <a:ext cx="190500" cy="190500"/>
          </a:xfrm>
          <a:prstGeom prst="rect">
            <a:avLst/>
          </a:prstGeom>
        </p:spPr>
      </p:pic>
      <p:sp>
        <p:nvSpPr>
          <p:cNvPr id="51" name="TextBox 551"/>
          <p:cNvSpPr txBox="1"/>
          <p:nvPr/>
        </p:nvSpPr>
        <p:spPr>
          <a:xfrm>
            <a:off x="3933825" y="3251199"/>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TELECOM &amp;</a:t>
            </a:r>
          </a:p>
          <a:p>
            <a:pPr algn="l">
              <a:lnSpc>
                <a:spcPts val="1200"/>
              </a:lnSpc>
              <a:spcBef>
                <a:spcPts val="0"/>
              </a:spcBef>
              <a:spcAft>
                <a:spcPts val="0"/>
              </a:spcAft>
            </a:pPr>
            <a:r>
              <a:rPr lang="en-US" sz="800" b="1" i="0" spc="100">
                <a:solidFill>
                  <a:srgbClr val="1B1A1A"/>
                </a:solidFill>
                <a:latin typeface="Quicksand"/>
              </a:rPr>
              <a:t>UCAAS</a:t>
            </a:r>
          </a:p>
        </p:txBody>
      </p:sp>
      <p:sp>
        <p:nvSpPr>
          <p:cNvPr id="52" name="Panel"/>
          <p:cNvSpPr/>
          <p:nvPr/>
        </p:nvSpPr>
        <p:spPr>
          <a:xfrm>
            <a:off x="4991100" y="3275012"/>
            <a:ext cx="95250" cy="95250"/>
          </a:xfrm>
          <a:prstGeom prst="ellipse">
            <a:avLst/>
          </a:prstGeom>
          <a:solidFill>
            <a:srgbClr val="B68757"/>
          </a:solidFill>
          <a:ln>
            <a:noFill/>
          </a:ln>
        </p:spPr>
        <p:txBody>
          <a:bodyPr rtlCol="0" anchor="ctr"/>
          <a:lstStyle/>
          <a:p>
            <a:pPr algn="ctr"/>
            <a:endParaRPr/>
          </a:p>
        </p:txBody>
      </p:sp>
      <p:sp>
        <p:nvSpPr>
          <p:cNvPr id="53" name="Panel"/>
          <p:cNvSpPr/>
          <p:nvPr/>
        </p:nvSpPr>
        <p:spPr>
          <a:xfrm>
            <a:off x="5133975" y="3275012"/>
            <a:ext cx="95250" cy="95250"/>
          </a:xfrm>
          <a:prstGeom prst="ellipse">
            <a:avLst/>
          </a:prstGeom>
          <a:solidFill>
            <a:srgbClr val="B68757"/>
          </a:solidFill>
          <a:ln>
            <a:noFill/>
          </a:ln>
        </p:spPr>
        <p:txBody>
          <a:bodyPr rtlCol="0" anchor="ctr"/>
          <a:lstStyle/>
          <a:p>
            <a:pPr algn="ctr"/>
            <a:endParaRPr/>
          </a:p>
        </p:txBody>
      </p:sp>
      <p:sp>
        <p:nvSpPr>
          <p:cNvPr id="54" name="Panel"/>
          <p:cNvSpPr/>
          <p:nvPr/>
        </p:nvSpPr>
        <p:spPr>
          <a:xfrm>
            <a:off x="5276850" y="3275012"/>
            <a:ext cx="95250" cy="95250"/>
          </a:xfrm>
          <a:prstGeom prst="ellipse">
            <a:avLst/>
          </a:prstGeom>
          <a:solidFill>
            <a:srgbClr val="B68757"/>
          </a:solidFill>
          <a:ln>
            <a:noFill/>
          </a:ln>
        </p:spPr>
        <p:txBody>
          <a:bodyPr rtlCol="0" anchor="ctr"/>
          <a:lstStyle/>
          <a:p>
            <a:pPr algn="ctr"/>
            <a:endParaRPr/>
          </a:p>
        </p:txBody>
      </p:sp>
      <p:sp>
        <p:nvSpPr>
          <p:cNvPr id="55" name="Panel"/>
          <p:cNvSpPr/>
          <p:nvPr/>
        </p:nvSpPr>
        <p:spPr>
          <a:xfrm>
            <a:off x="5419725" y="3275012"/>
            <a:ext cx="95250" cy="95250"/>
          </a:xfrm>
          <a:prstGeom prst="ellipse">
            <a:avLst/>
          </a:prstGeom>
          <a:solidFill>
            <a:srgbClr val="E3DCD3"/>
          </a:solidFill>
          <a:ln>
            <a:noFill/>
          </a:ln>
        </p:spPr>
        <p:txBody>
          <a:bodyPr rtlCol="0" anchor="ctr"/>
          <a:lstStyle/>
          <a:p>
            <a:pPr algn="ctr"/>
            <a:endParaRPr/>
          </a:p>
        </p:txBody>
      </p:sp>
      <p:sp>
        <p:nvSpPr>
          <p:cNvPr id="56" name="Panel"/>
          <p:cNvSpPr/>
          <p:nvPr/>
        </p:nvSpPr>
        <p:spPr>
          <a:xfrm>
            <a:off x="5562600" y="3275012"/>
            <a:ext cx="95250" cy="95250"/>
          </a:xfrm>
          <a:prstGeom prst="ellipse">
            <a:avLst/>
          </a:prstGeom>
          <a:solidFill>
            <a:srgbClr val="E3DCD3"/>
          </a:solidFill>
          <a:ln>
            <a:noFill/>
          </a:ln>
        </p:spPr>
        <p:txBody>
          <a:bodyPr rtlCol="0" anchor="ctr"/>
          <a:lstStyle/>
          <a:p>
            <a:pPr algn="ctr"/>
            <a:endParaRPr/>
          </a:p>
        </p:txBody>
      </p:sp>
      <p:sp>
        <p:nvSpPr>
          <p:cNvPr id="57" name="TextBox 557"/>
          <p:cNvSpPr txBox="1"/>
          <p:nvPr/>
        </p:nvSpPr>
        <p:spPr>
          <a:xfrm>
            <a:off x="4991100" y="3441699"/>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STEADY</a:t>
            </a:r>
          </a:p>
        </p:txBody>
      </p:sp>
      <p:sp>
        <p:nvSpPr>
          <p:cNvPr id="58" name="TextBox 558"/>
          <p:cNvSpPr txBox="1"/>
          <p:nvPr/>
        </p:nvSpPr>
        <p:spPr>
          <a:xfrm>
            <a:off x="5791200" y="3194049"/>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Infrastructure funds and adjacent network operators buy local fiber, as TDS showed in New Hampshire. Cloud voice grows about 5% a year. Retention and paid AI products, now 13% of ARR at RingCentral, influence value.</a:t>
            </a:r>
          </a:p>
        </p:txBody>
      </p:sp>
      <p:sp>
        <p:nvSpPr>
          <p:cNvPr id="59" name="Panel"/>
          <p:cNvSpPr/>
          <p:nvPr/>
        </p:nvSpPr>
        <p:spPr>
          <a:xfrm>
            <a:off x="3390900" y="3843336"/>
            <a:ext cx="6248400" cy="735012"/>
          </a:xfrm>
          <a:prstGeom prst="rect">
            <a:avLst/>
          </a:prstGeom>
          <a:solidFill>
            <a:srgbClr val="FAF7F3"/>
          </a:solidFill>
          <a:ln>
            <a:noFill/>
          </a:ln>
        </p:spPr>
        <p:txBody>
          <a:bodyPr rtlCol="0" anchor="ctr"/>
          <a:lstStyle/>
          <a:p>
            <a:pPr algn="ctr"/>
            <a:endParaRPr/>
          </a:p>
        </p:txBody>
      </p:sp>
      <p:sp>
        <p:nvSpPr>
          <p:cNvPr id="60" name="Panel"/>
          <p:cNvSpPr/>
          <p:nvPr/>
        </p:nvSpPr>
        <p:spPr>
          <a:xfrm>
            <a:off x="3543300" y="3995736"/>
            <a:ext cx="304800" cy="304800"/>
          </a:xfrm>
          <a:prstGeom prst="ellipse">
            <a:avLst/>
          </a:prstGeom>
          <a:solidFill>
            <a:srgbClr val="1B1A1A"/>
          </a:solidFill>
          <a:ln>
            <a:noFill/>
          </a:ln>
        </p:spPr>
        <p:txBody>
          <a:bodyPr rtlCol="0" anchor="ctr"/>
          <a:lstStyle/>
          <a:p>
            <a:pPr algn="ctr"/>
            <a:endParaRPr/>
          </a:p>
        </p:txBody>
      </p:sp>
      <p:pic>
        <p:nvPicPr>
          <p:cNvPr id="61" name="Network diagram icon for Systems Integration" descr="Network diagram icon for Systems Integration"/>
          <p:cNvPicPr>
            <a:picLocks noChangeAspect="1"/>
          </p:cNvPicPr>
          <p:nvPr/>
        </p:nvPicPr>
        <p:blipFill>
          <a:blip r:embed="rId7"/>
          <a:stretch>
            <a:fillRect/>
          </a:stretch>
        </p:blipFill>
        <p:spPr>
          <a:xfrm>
            <a:off x="3600450" y="4052886"/>
            <a:ext cx="190500" cy="190500"/>
          </a:xfrm>
          <a:prstGeom prst="rect">
            <a:avLst/>
          </a:prstGeom>
        </p:spPr>
      </p:pic>
      <p:sp>
        <p:nvSpPr>
          <p:cNvPr id="62" name="TextBox 561"/>
          <p:cNvSpPr txBox="1"/>
          <p:nvPr/>
        </p:nvSpPr>
        <p:spPr>
          <a:xfrm>
            <a:off x="3933825" y="4033836"/>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SYSTEMS</a:t>
            </a:r>
          </a:p>
          <a:p>
            <a:pPr algn="l">
              <a:lnSpc>
                <a:spcPts val="1200"/>
              </a:lnSpc>
              <a:spcBef>
                <a:spcPts val="0"/>
              </a:spcBef>
              <a:spcAft>
                <a:spcPts val="0"/>
              </a:spcAft>
            </a:pPr>
            <a:r>
              <a:rPr lang="en-US" sz="800" b="1" i="0" spc="100">
                <a:solidFill>
                  <a:srgbClr val="1B1A1A"/>
                </a:solidFill>
                <a:latin typeface="Quicksand"/>
              </a:rPr>
              <a:t>INTEGRATION</a:t>
            </a:r>
          </a:p>
        </p:txBody>
      </p:sp>
      <p:sp>
        <p:nvSpPr>
          <p:cNvPr id="63" name="Panel"/>
          <p:cNvSpPr/>
          <p:nvPr/>
        </p:nvSpPr>
        <p:spPr>
          <a:xfrm>
            <a:off x="4991100" y="4057649"/>
            <a:ext cx="95250" cy="95250"/>
          </a:xfrm>
          <a:prstGeom prst="ellipse">
            <a:avLst/>
          </a:prstGeom>
          <a:solidFill>
            <a:srgbClr val="B68757"/>
          </a:solidFill>
          <a:ln>
            <a:noFill/>
          </a:ln>
        </p:spPr>
        <p:txBody>
          <a:bodyPr rtlCol="0" anchor="ctr"/>
          <a:lstStyle/>
          <a:p>
            <a:pPr algn="ctr"/>
            <a:endParaRPr/>
          </a:p>
        </p:txBody>
      </p:sp>
      <p:sp>
        <p:nvSpPr>
          <p:cNvPr id="64" name="Panel"/>
          <p:cNvSpPr/>
          <p:nvPr/>
        </p:nvSpPr>
        <p:spPr>
          <a:xfrm>
            <a:off x="5133975" y="4057649"/>
            <a:ext cx="95250" cy="95250"/>
          </a:xfrm>
          <a:prstGeom prst="ellipse">
            <a:avLst/>
          </a:prstGeom>
          <a:solidFill>
            <a:srgbClr val="B68757"/>
          </a:solidFill>
          <a:ln>
            <a:noFill/>
          </a:ln>
        </p:spPr>
        <p:txBody>
          <a:bodyPr rtlCol="0" anchor="ctr"/>
          <a:lstStyle/>
          <a:p>
            <a:pPr algn="ctr"/>
            <a:endParaRPr/>
          </a:p>
        </p:txBody>
      </p:sp>
      <p:sp>
        <p:nvSpPr>
          <p:cNvPr id="65" name="Panel"/>
          <p:cNvSpPr/>
          <p:nvPr/>
        </p:nvSpPr>
        <p:spPr>
          <a:xfrm>
            <a:off x="5276850" y="4057649"/>
            <a:ext cx="95250" cy="95250"/>
          </a:xfrm>
          <a:prstGeom prst="ellipse">
            <a:avLst/>
          </a:prstGeom>
          <a:solidFill>
            <a:srgbClr val="B68757"/>
          </a:solidFill>
          <a:ln>
            <a:noFill/>
          </a:ln>
        </p:spPr>
        <p:txBody>
          <a:bodyPr rtlCol="0" anchor="ctr"/>
          <a:lstStyle/>
          <a:p>
            <a:pPr algn="ctr"/>
            <a:endParaRPr/>
          </a:p>
        </p:txBody>
      </p:sp>
      <p:sp>
        <p:nvSpPr>
          <p:cNvPr id="66" name="Panel"/>
          <p:cNvSpPr/>
          <p:nvPr/>
        </p:nvSpPr>
        <p:spPr>
          <a:xfrm>
            <a:off x="5419725" y="4057649"/>
            <a:ext cx="95250" cy="95250"/>
          </a:xfrm>
          <a:prstGeom prst="ellipse">
            <a:avLst/>
          </a:prstGeom>
          <a:solidFill>
            <a:srgbClr val="B68757"/>
          </a:solidFill>
          <a:ln>
            <a:noFill/>
          </a:ln>
        </p:spPr>
        <p:txBody>
          <a:bodyPr rtlCol="0" anchor="ctr"/>
          <a:lstStyle/>
          <a:p>
            <a:pPr algn="ctr"/>
            <a:endParaRPr/>
          </a:p>
        </p:txBody>
      </p:sp>
      <p:sp>
        <p:nvSpPr>
          <p:cNvPr id="67" name="Panel"/>
          <p:cNvSpPr/>
          <p:nvPr/>
        </p:nvSpPr>
        <p:spPr>
          <a:xfrm>
            <a:off x="5562600" y="4057649"/>
            <a:ext cx="95250" cy="95250"/>
          </a:xfrm>
          <a:prstGeom prst="ellipse">
            <a:avLst/>
          </a:prstGeom>
          <a:solidFill>
            <a:srgbClr val="E3DCD3"/>
          </a:solidFill>
          <a:ln>
            <a:noFill/>
          </a:ln>
        </p:spPr>
        <p:txBody>
          <a:bodyPr rtlCol="0" anchor="ctr"/>
          <a:lstStyle/>
          <a:p>
            <a:pPr algn="ctr"/>
            <a:endParaRPr/>
          </a:p>
        </p:txBody>
      </p:sp>
      <p:sp>
        <p:nvSpPr>
          <p:cNvPr id="68" name="TextBox 567"/>
          <p:cNvSpPr txBox="1"/>
          <p:nvPr/>
        </p:nvSpPr>
        <p:spPr>
          <a:xfrm>
            <a:off x="4991100" y="4224336"/>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a:t>
            </a:r>
          </a:p>
        </p:txBody>
      </p:sp>
      <p:sp>
        <p:nvSpPr>
          <p:cNvPr id="69" name="TextBox 568"/>
          <p:cNvSpPr txBox="1"/>
          <p:nvPr/>
        </p:nvSpPr>
        <p:spPr>
          <a:xfrm>
            <a:off x="5791200" y="3976686"/>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Data center construction reached an $85.0 billion annual rate in August, and sponsor-backed platforms such as Pavion and Convergint are paying for tenure and local service density. Copper is up 38.6% in a year, so buyers will test whether fixed-price backlog carries escalation terms.</a:t>
            </a:r>
          </a:p>
        </p:txBody>
      </p:sp>
      <p:sp>
        <p:nvSpPr>
          <p:cNvPr id="70" name="Panel"/>
          <p:cNvSpPr/>
          <p:nvPr/>
        </p:nvSpPr>
        <p:spPr>
          <a:xfrm>
            <a:off x="3390900" y="4625973"/>
            <a:ext cx="6248400" cy="735012"/>
          </a:xfrm>
          <a:prstGeom prst="rect">
            <a:avLst/>
          </a:prstGeom>
          <a:solidFill>
            <a:srgbClr val="FAF7F3"/>
          </a:solidFill>
          <a:ln>
            <a:noFill/>
          </a:ln>
        </p:spPr>
        <p:txBody>
          <a:bodyPr rtlCol="0" anchor="ctr"/>
          <a:lstStyle/>
          <a:p>
            <a:pPr algn="ctr"/>
            <a:endParaRPr/>
          </a:p>
        </p:txBody>
      </p:sp>
      <p:sp>
        <p:nvSpPr>
          <p:cNvPr id="71" name="Panel"/>
          <p:cNvSpPr/>
          <p:nvPr/>
        </p:nvSpPr>
        <p:spPr>
          <a:xfrm>
            <a:off x="3543300" y="4778373"/>
            <a:ext cx="304800" cy="304800"/>
          </a:xfrm>
          <a:prstGeom prst="ellipse">
            <a:avLst/>
          </a:prstGeom>
          <a:solidFill>
            <a:srgbClr val="1B1A1A"/>
          </a:solidFill>
          <a:ln>
            <a:noFill/>
          </a:ln>
        </p:spPr>
        <p:txBody>
          <a:bodyPr rtlCol="0" anchor="ctr"/>
          <a:lstStyle/>
          <a:p>
            <a:pPr algn="ctr"/>
            <a:endParaRPr/>
          </a:p>
        </p:txBody>
      </p:sp>
      <p:pic>
        <p:nvPicPr>
          <p:cNvPr id="72" name="Computer chip icon for Electronics &amp; Hardware" descr="Computer chip icon for Electronics &amp; Hardware"/>
          <p:cNvPicPr>
            <a:picLocks noChangeAspect="1"/>
          </p:cNvPicPr>
          <p:nvPr/>
        </p:nvPicPr>
        <p:blipFill>
          <a:blip r:embed="rId8"/>
          <a:stretch>
            <a:fillRect/>
          </a:stretch>
        </p:blipFill>
        <p:spPr>
          <a:xfrm>
            <a:off x="3600450" y="4835523"/>
            <a:ext cx="190500" cy="190500"/>
          </a:xfrm>
          <a:prstGeom prst="rect">
            <a:avLst/>
          </a:prstGeom>
        </p:spPr>
      </p:pic>
      <p:sp>
        <p:nvSpPr>
          <p:cNvPr id="73" name="TextBox 571"/>
          <p:cNvSpPr txBox="1"/>
          <p:nvPr/>
        </p:nvSpPr>
        <p:spPr>
          <a:xfrm>
            <a:off x="3933825" y="4816473"/>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ELECTRONICS &amp;</a:t>
            </a:r>
          </a:p>
          <a:p>
            <a:pPr algn="l">
              <a:lnSpc>
                <a:spcPts val="1200"/>
              </a:lnSpc>
              <a:spcBef>
                <a:spcPts val="0"/>
              </a:spcBef>
              <a:spcAft>
                <a:spcPts val="0"/>
              </a:spcAft>
            </a:pPr>
            <a:r>
              <a:rPr lang="en-US" sz="800" b="1" i="0" spc="100">
                <a:solidFill>
                  <a:srgbClr val="1B1A1A"/>
                </a:solidFill>
                <a:latin typeface="Quicksand"/>
              </a:rPr>
              <a:t>HARDWARE</a:t>
            </a:r>
          </a:p>
        </p:txBody>
      </p:sp>
      <p:sp>
        <p:nvSpPr>
          <p:cNvPr id="74" name="Panel"/>
          <p:cNvSpPr/>
          <p:nvPr/>
        </p:nvSpPr>
        <p:spPr>
          <a:xfrm>
            <a:off x="4991100" y="4840286"/>
            <a:ext cx="95250" cy="95250"/>
          </a:xfrm>
          <a:prstGeom prst="ellipse">
            <a:avLst/>
          </a:prstGeom>
          <a:solidFill>
            <a:srgbClr val="B68757"/>
          </a:solidFill>
          <a:ln>
            <a:noFill/>
          </a:ln>
        </p:spPr>
        <p:txBody>
          <a:bodyPr rtlCol="0" anchor="ctr"/>
          <a:lstStyle/>
          <a:p>
            <a:pPr algn="ctr"/>
            <a:endParaRPr/>
          </a:p>
        </p:txBody>
      </p:sp>
      <p:sp>
        <p:nvSpPr>
          <p:cNvPr id="75" name="Panel"/>
          <p:cNvSpPr/>
          <p:nvPr/>
        </p:nvSpPr>
        <p:spPr>
          <a:xfrm>
            <a:off x="5133975" y="4840286"/>
            <a:ext cx="95250" cy="95250"/>
          </a:xfrm>
          <a:prstGeom prst="ellipse">
            <a:avLst/>
          </a:prstGeom>
          <a:solidFill>
            <a:srgbClr val="B68757"/>
          </a:solidFill>
          <a:ln>
            <a:noFill/>
          </a:ln>
        </p:spPr>
        <p:txBody>
          <a:bodyPr rtlCol="0" anchor="ctr"/>
          <a:lstStyle/>
          <a:p>
            <a:pPr algn="ctr"/>
            <a:endParaRPr/>
          </a:p>
        </p:txBody>
      </p:sp>
      <p:sp>
        <p:nvSpPr>
          <p:cNvPr id="76" name="Panel"/>
          <p:cNvSpPr/>
          <p:nvPr/>
        </p:nvSpPr>
        <p:spPr>
          <a:xfrm>
            <a:off x="5276850" y="4840286"/>
            <a:ext cx="95250" cy="95250"/>
          </a:xfrm>
          <a:prstGeom prst="ellipse">
            <a:avLst/>
          </a:prstGeom>
          <a:solidFill>
            <a:srgbClr val="B68757"/>
          </a:solidFill>
          <a:ln>
            <a:noFill/>
          </a:ln>
        </p:spPr>
        <p:txBody>
          <a:bodyPr rtlCol="0" anchor="ctr"/>
          <a:lstStyle/>
          <a:p>
            <a:pPr algn="ctr"/>
            <a:endParaRPr/>
          </a:p>
        </p:txBody>
      </p:sp>
      <p:sp>
        <p:nvSpPr>
          <p:cNvPr id="77" name="Panel"/>
          <p:cNvSpPr/>
          <p:nvPr/>
        </p:nvSpPr>
        <p:spPr>
          <a:xfrm>
            <a:off x="5419725" y="4840286"/>
            <a:ext cx="95250" cy="95250"/>
          </a:xfrm>
          <a:prstGeom prst="ellipse">
            <a:avLst/>
          </a:prstGeom>
          <a:solidFill>
            <a:srgbClr val="B68757"/>
          </a:solidFill>
          <a:ln>
            <a:noFill/>
          </a:ln>
        </p:spPr>
        <p:txBody>
          <a:bodyPr rtlCol="0" anchor="ctr"/>
          <a:lstStyle/>
          <a:p>
            <a:pPr algn="ctr"/>
            <a:endParaRPr/>
          </a:p>
        </p:txBody>
      </p:sp>
      <p:sp>
        <p:nvSpPr>
          <p:cNvPr id="78" name="Panel"/>
          <p:cNvSpPr/>
          <p:nvPr/>
        </p:nvSpPr>
        <p:spPr>
          <a:xfrm>
            <a:off x="5562600" y="4840286"/>
            <a:ext cx="95250" cy="95250"/>
          </a:xfrm>
          <a:prstGeom prst="ellipse">
            <a:avLst/>
          </a:prstGeom>
          <a:solidFill>
            <a:srgbClr val="B68757"/>
          </a:solidFill>
          <a:ln>
            <a:noFill/>
          </a:ln>
        </p:spPr>
        <p:txBody>
          <a:bodyPr rtlCol="0" anchor="ctr"/>
          <a:lstStyle/>
          <a:p>
            <a:pPr algn="ctr"/>
            <a:endParaRPr/>
          </a:p>
        </p:txBody>
      </p:sp>
      <p:sp>
        <p:nvSpPr>
          <p:cNvPr id="79" name="TextBox 577"/>
          <p:cNvSpPr txBox="1"/>
          <p:nvPr/>
        </p:nvSpPr>
        <p:spPr>
          <a:xfrm>
            <a:off x="4991100" y="5006973"/>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STRONGEST</a:t>
            </a:r>
          </a:p>
        </p:txBody>
      </p:sp>
      <p:sp>
        <p:nvSpPr>
          <p:cNvPr id="80" name="TextBox 578"/>
          <p:cNvSpPr txBox="1"/>
          <p:nvPr/>
        </p:nvSpPr>
        <p:spPr>
          <a:xfrm>
            <a:off x="5791200" y="4759323"/>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Bookings outpace shipments at a 1.39 book-to-bill and listed manufacturers re-rated to 17.4x, the strongest seller position in the report. Buyers will diligence backlog conversion and pass-through terms, with component prices up 26.7%.</a:t>
            </a:r>
          </a:p>
        </p:txBody>
      </p:sp>
      <p:sp>
        <p:nvSpPr>
          <p:cNvPr id="81" name="Panel"/>
          <p:cNvSpPr/>
          <p:nvPr/>
        </p:nvSpPr>
        <p:spPr>
          <a:xfrm>
            <a:off x="3390900" y="5408610"/>
            <a:ext cx="6248400" cy="735012"/>
          </a:xfrm>
          <a:prstGeom prst="rect">
            <a:avLst/>
          </a:prstGeom>
          <a:solidFill>
            <a:srgbClr val="FAF7F3"/>
          </a:solidFill>
          <a:ln>
            <a:noFill/>
          </a:ln>
        </p:spPr>
        <p:txBody>
          <a:bodyPr rtlCol="0" anchor="ctr"/>
          <a:lstStyle/>
          <a:p>
            <a:pPr algn="ctr"/>
            <a:endParaRPr/>
          </a:p>
        </p:txBody>
      </p:sp>
      <p:sp>
        <p:nvSpPr>
          <p:cNvPr id="82" name="Panel"/>
          <p:cNvSpPr/>
          <p:nvPr/>
        </p:nvSpPr>
        <p:spPr>
          <a:xfrm>
            <a:off x="3543300" y="5561010"/>
            <a:ext cx="304800" cy="304800"/>
          </a:xfrm>
          <a:prstGeom prst="ellipse">
            <a:avLst/>
          </a:prstGeom>
          <a:solidFill>
            <a:srgbClr val="1B1A1A"/>
          </a:solidFill>
          <a:ln>
            <a:noFill/>
          </a:ln>
        </p:spPr>
        <p:txBody>
          <a:bodyPr rtlCol="0" anchor="ctr"/>
          <a:lstStyle/>
          <a:p>
            <a:pPr algn="ctr"/>
            <a:endParaRPr/>
          </a:p>
        </p:txBody>
      </p:sp>
      <p:pic>
        <p:nvPicPr>
          <p:cNvPr id="83" name="Government building icon for Government Technology" descr="Government building icon for Government Technology"/>
          <p:cNvPicPr>
            <a:picLocks noChangeAspect="1"/>
          </p:cNvPicPr>
          <p:nvPr/>
        </p:nvPicPr>
        <p:blipFill>
          <a:blip r:embed="rId9"/>
          <a:stretch>
            <a:fillRect/>
          </a:stretch>
        </p:blipFill>
        <p:spPr>
          <a:xfrm>
            <a:off x="3600450" y="5618160"/>
            <a:ext cx="190500" cy="190500"/>
          </a:xfrm>
          <a:prstGeom prst="rect">
            <a:avLst/>
          </a:prstGeom>
        </p:spPr>
      </p:pic>
      <p:sp>
        <p:nvSpPr>
          <p:cNvPr id="84" name="TextBox 581"/>
          <p:cNvSpPr txBox="1"/>
          <p:nvPr/>
        </p:nvSpPr>
        <p:spPr>
          <a:xfrm>
            <a:off x="3933825" y="5599110"/>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GOVERNMENT</a:t>
            </a:r>
          </a:p>
          <a:p>
            <a:pPr algn="l">
              <a:lnSpc>
                <a:spcPts val="1200"/>
              </a:lnSpc>
              <a:spcBef>
                <a:spcPts val="0"/>
              </a:spcBef>
              <a:spcAft>
                <a:spcPts val="0"/>
              </a:spcAft>
            </a:pPr>
            <a:r>
              <a:rPr lang="en-US" sz="800" b="1" i="0" spc="100">
                <a:solidFill>
                  <a:srgbClr val="1B1A1A"/>
                </a:solidFill>
                <a:latin typeface="Quicksand"/>
              </a:rPr>
              <a:t>TECHNOLOGY</a:t>
            </a:r>
          </a:p>
        </p:txBody>
      </p:sp>
      <p:sp>
        <p:nvSpPr>
          <p:cNvPr id="85" name="Panel"/>
          <p:cNvSpPr/>
          <p:nvPr/>
        </p:nvSpPr>
        <p:spPr>
          <a:xfrm>
            <a:off x="4991100" y="5622923"/>
            <a:ext cx="95250" cy="95250"/>
          </a:xfrm>
          <a:prstGeom prst="ellipse">
            <a:avLst/>
          </a:prstGeom>
          <a:solidFill>
            <a:srgbClr val="B68757"/>
          </a:solidFill>
          <a:ln>
            <a:noFill/>
          </a:ln>
        </p:spPr>
        <p:txBody>
          <a:bodyPr rtlCol="0" anchor="ctr"/>
          <a:lstStyle/>
          <a:p>
            <a:pPr algn="ctr"/>
            <a:endParaRPr/>
          </a:p>
        </p:txBody>
      </p:sp>
      <p:sp>
        <p:nvSpPr>
          <p:cNvPr id="86" name="Panel"/>
          <p:cNvSpPr/>
          <p:nvPr/>
        </p:nvSpPr>
        <p:spPr>
          <a:xfrm>
            <a:off x="5133975" y="5622923"/>
            <a:ext cx="95250" cy="95250"/>
          </a:xfrm>
          <a:prstGeom prst="ellipse">
            <a:avLst/>
          </a:prstGeom>
          <a:solidFill>
            <a:srgbClr val="B68757"/>
          </a:solidFill>
          <a:ln>
            <a:noFill/>
          </a:ln>
        </p:spPr>
        <p:txBody>
          <a:bodyPr rtlCol="0" anchor="ctr"/>
          <a:lstStyle/>
          <a:p>
            <a:pPr algn="ctr"/>
            <a:endParaRPr/>
          </a:p>
        </p:txBody>
      </p:sp>
      <p:sp>
        <p:nvSpPr>
          <p:cNvPr id="87" name="Panel"/>
          <p:cNvSpPr/>
          <p:nvPr/>
        </p:nvSpPr>
        <p:spPr>
          <a:xfrm>
            <a:off x="5276850" y="5622923"/>
            <a:ext cx="95250" cy="95250"/>
          </a:xfrm>
          <a:prstGeom prst="ellipse">
            <a:avLst/>
          </a:prstGeom>
          <a:solidFill>
            <a:srgbClr val="B68757"/>
          </a:solidFill>
          <a:ln>
            <a:noFill/>
          </a:ln>
        </p:spPr>
        <p:txBody>
          <a:bodyPr rtlCol="0" anchor="ctr"/>
          <a:lstStyle/>
          <a:p>
            <a:pPr algn="ctr"/>
            <a:endParaRPr/>
          </a:p>
        </p:txBody>
      </p:sp>
      <p:sp>
        <p:nvSpPr>
          <p:cNvPr id="88" name="Panel"/>
          <p:cNvSpPr/>
          <p:nvPr/>
        </p:nvSpPr>
        <p:spPr>
          <a:xfrm>
            <a:off x="5419725" y="5622923"/>
            <a:ext cx="95250" cy="95250"/>
          </a:xfrm>
          <a:prstGeom prst="ellipse">
            <a:avLst/>
          </a:prstGeom>
          <a:solidFill>
            <a:srgbClr val="E3DCD3"/>
          </a:solidFill>
          <a:ln>
            <a:noFill/>
          </a:ln>
        </p:spPr>
        <p:txBody>
          <a:bodyPr rtlCol="0" anchor="ctr"/>
          <a:lstStyle/>
          <a:p>
            <a:pPr algn="ctr"/>
            <a:endParaRPr/>
          </a:p>
        </p:txBody>
      </p:sp>
      <p:sp>
        <p:nvSpPr>
          <p:cNvPr id="89" name="Panel"/>
          <p:cNvSpPr/>
          <p:nvPr/>
        </p:nvSpPr>
        <p:spPr>
          <a:xfrm>
            <a:off x="5562600" y="5622923"/>
            <a:ext cx="95250" cy="95250"/>
          </a:xfrm>
          <a:prstGeom prst="ellipse">
            <a:avLst/>
          </a:prstGeom>
          <a:solidFill>
            <a:srgbClr val="E3DCD3"/>
          </a:solidFill>
          <a:ln>
            <a:noFill/>
          </a:ln>
        </p:spPr>
        <p:txBody>
          <a:bodyPr rtlCol="0" anchor="ctr"/>
          <a:lstStyle/>
          <a:p>
            <a:pPr algn="ctr"/>
            <a:endParaRPr/>
          </a:p>
        </p:txBody>
      </p:sp>
      <p:sp>
        <p:nvSpPr>
          <p:cNvPr id="90" name="TextBox 587"/>
          <p:cNvSpPr txBox="1"/>
          <p:nvPr/>
        </p:nvSpPr>
        <p:spPr>
          <a:xfrm>
            <a:off x="4991100" y="5789610"/>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MIXED</a:t>
            </a:r>
          </a:p>
        </p:txBody>
      </p:sp>
      <p:sp>
        <p:nvSpPr>
          <p:cNvPr id="91" name="TextBox 588"/>
          <p:cNvSpPr txBox="1"/>
          <p:nvPr/>
        </p:nvSpPr>
        <p:spPr>
          <a:xfrm>
            <a:off x="5791200" y="5541960"/>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Contract mix sets the price: defense-weighted CACI grew 17.6% while civilian-weighted Booz Allen fell 4.2%. The continuing resolution through December 11 delays new starts, so owners should present funded backlog by agency and option period.</a:t>
            </a:r>
          </a:p>
        </p:txBody>
      </p:sp>
      <p:sp>
        <p:nvSpPr>
          <p:cNvPr id="92" name="Panel"/>
          <p:cNvSpPr/>
          <p:nvPr/>
        </p:nvSpPr>
        <p:spPr>
          <a:xfrm>
            <a:off x="419100" y="6324600"/>
            <a:ext cx="9220200" cy="609600"/>
          </a:xfrm>
          <a:prstGeom prst="rect">
            <a:avLst/>
          </a:prstGeom>
          <a:solidFill>
            <a:srgbClr val="1B1A1A"/>
          </a:solidFill>
          <a:ln>
            <a:noFill/>
          </a:ln>
        </p:spPr>
        <p:txBody>
          <a:bodyPr rtlCol="0" anchor="ctr"/>
          <a:lstStyle/>
          <a:p>
            <a:pPr algn="ctr"/>
            <a:endParaRPr/>
          </a:p>
        </p:txBody>
      </p:sp>
      <p:sp>
        <p:nvSpPr>
          <p:cNvPr id="93" name="TextBox 590"/>
          <p:cNvSpPr txBox="1"/>
          <p:nvPr/>
        </p:nvSpPr>
        <p:spPr>
          <a:xfrm>
            <a:off x="628650" y="6476810"/>
            <a:ext cx="1143000" cy="238125"/>
          </a:xfrm>
          <a:prstGeom prst="rect">
            <a:avLst/>
          </a:prstGeom>
          <a:noFill/>
        </p:spPr>
        <p:txBody>
          <a:bodyPr wrap="square" lIns="0" tIns="0" rIns="0" bIns="0" anchor="t">
            <a:noAutofit/>
          </a:bodyPr>
          <a:lstStyle/>
          <a:p>
            <a:pPr algn="l">
              <a:lnSpc>
                <a:spcPts val="1229"/>
              </a:lnSpc>
              <a:spcBef>
                <a:spcPts val="0"/>
              </a:spcBef>
              <a:spcAft>
                <a:spcPts val="0"/>
              </a:spcAft>
            </a:pPr>
            <a:r>
              <a:rPr lang="en-US" sz="790" b="1" i="0" spc="180">
                <a:solidFill>
                  <a:srgbClr val="D3AE84"/>
                </a:solidFill>
                <a:latin typeface="Quicksand"/>
              </a:rPr>
              <a:t>OUR ADVICE</a:t>
            </a:r>
          </a:p>
          <a:p>
            <a:pPr algn="l">
              <a:lnSpc>
                <a:spcPts val="1229"/>
              </a:lnSpc>
              <a:spcBef>
                <a:spcPts val="0"/>
              </a:spcBef>
              <a:spcAft>
                <a:spcPts val="0"/>
              </a:spcAft>
            </a:pPr>
            <a:r>
              <a:rPr lang="en-US" sz="790" b="1" i="0" spc="180">
                <a:solidFill>
                  <a:srgbClr val="D3AE84"/>
                </a:solidFill>
                <a:latin typeface="Quicksand"/>
              </a:rPr>
              <a:t>TO OWNERS</a:t>
            </a:r>
          </a:p>
        </p:txBody>
      </p:sp>
      <p:sp>
        <p:nvSpPr>
          <p:cNvPr id="94" name="Panel"/>
          <p:cNvSpPr/>
          <p:nvPr/>
        </p:nvSpPr>
        <p:spPr>
          <a:xfrm>
            <a:off x="1885950" y="6438900"/>
            <a:ext cx="9525" cy="381000"/>
          </a:xfrm>
          <a:prstGeom prst="rect">
            <a:avLst/>
          </a:prstGeom>
          <a:solidFill>
            <a:srgbClr val="5A5550"/>
          </a:solidFill>
          <a:ln>
            <a:noFill/>
          </a:ln>
        </p:spPr>
        <p:txBody>
          <a:bodyPr rtlCol="0" anchor="ctr"/>
          <a:lstStyle/>
          <a:p>
            <a:pPr algn="ctr"/>
            <a:endParaRPr/>
          </a:p>
        </p:txBody>
      </p:sp>
      <p:sp>
        <p:nvSpPr>
          <p:cNvPr id="95" name="TextBox 592"/>
          <p:cNvSpPr txBox="1"/>
          <p:nvPr/>
        </p:nvSpPr>
        <p:spPr>
          <a:xfrm>
            <a:off x="2057400" y="6424613"/>
            <a:ext cx="228600" cy="285750"/>
          </a:xfrm>
          <a:prstGeom prst="rect">
            <a:avLst/>
          </a:prstGeom>
          <a:noFill/>
        </p:spPr>
        <p:txBody>
          <a:bodyPr wrap="none" lIns="0" tIns="0" rIns="0" bIns="0" anchor="t">
            <a:noAutofit/>
          </a:bodyPr>
          <a:lstStyle/>
          <a:p>
            <a:pPr algn="l">
              <a:lnSpc>
                <a:spcPts val="1800"/>
              </a:lnSpc>
              <a:spcBef>
                <a:spcPts val="0"/>
              </a:spcBef>
              <a:spcAft>
                <a:spcPts val="0"/>
              </a:spcAft>
            </a:pPr>
            <a:r>
              <a:rPr lang="en-US" sz="1600" b="1" i="0">
                <a:solidFill>
                  <a:srgbClr val="D3AE84"/>
                </a:solidFill>
                <a:latin typeface="Newsreader"/>
              </a:rPr>
              <a:t>1</a:t>
            </a:r>
          </a:p>
        </p:txBody>
      </p:sp>
      <p:sp>
        <p:nvSpPr>
          <p:cNvPr id="96" name="TextBox 593"/>
          <p:cNvSpPr txBox="1"/>
          <p:nvPr/>
        </p:nvSpPr>
        <p:spPr>
          <a:xfrm>
            <a:off x="2286000" y="6434138"/>
            <a:ext cx="2127250" cy="400050"/>
          </a:xfrm>
          <a:prstGeom prst="rect">
            <a:avLst/>
          </a:prstGeom>
          <a:noFill/>
        </p:spPr>
        <p:txBody>
          <a:bodyPr wrap="square" lIns="0" tIns="0" rIns="0" bIns="0" anchor="t">
            <a:noAutofit/>
          </a:bodyPr>
          <a:lstStyle/>
          <a:p>
            <a:pPr algn="l">
              <a:lnSpc>
                <a:spcPts val="1200"/>
              </a:lnSpc>
              <a:spcBef>
                <a:spcPts val="0"/>
              </a:spcBef>
              <a:spcAft>
                <a:spcPts val="0"/>
              </a:spcAft>
            </a:pPr>
            <a:r>
              <a:rPr lang="en-US" sz="800" b="0" i="0" spc="10">
                <a:solidFill>
                  <a:srgbClr val="FFFFFF"/>
                </a:solidFill>
                <a:latin typeface="Quicksand"/>
              </a:rPr>
              <a:t>Document contracted revenue by customer, term, and renewal history; equity-funded buyers price what they can verify.</a:t>
            </a:r>
          </a:p>
        </p:txBody>
      </p:sp>
      <p:sp>
        <p:nvSpPr>
          <p:cNvPr id="97" name="TextBox 594"/>
          <p:cNvSpPr txBox="1"/>
          <p:nvPr/>
        </p:nvSpPr>
        <p:spPr>
          <a:xfrm>
            <a:off x="4527550" y="6424613"/>
            <a:ext cx="228600" cy="285750"/>
          </a:xfrm>
          <a:prstGeom prst="rect">
            <a:avLst/>
          </a:prstGeom>
          <a:noFill/>
        </p:spPr>
        <p:txBody>
          <a:bodyPr wrap="none" lIns="0" tIns="0" rIns="0" bIns="0" anchor="t">
            <a:noAutofit/>
          </a:bodyPr>
          <a:lstStyle/>
          <a:p>
            <a:pPr algn="l">
              <a:lnSpc>
                <a:spcPts val="1800"/>
              </a:lnSpc>
              <a:spcBef>
                <a:spcPts val="0"/>
              </a:spcBef>
              <a:spcAft>
                <a:spcPts val="0"/>
              </a:spcAft>
            </a:pPr>
            <a:r>
              <a:rPr lang="en-US" sz="1600" b="1" i="0">
                <a:solidFill>
                  <a:srgbClr val="D3AE84"/>
                </a:solidFill>
                <a:latin typeface="Newsreader"/>
              </a:rPr>
              <a:t>2</a:t>
            </a:r>
          </a:p>
        </p:txBody>
      </p:sp>
      <p:sp>
        <p:nvSpPr>
          <p:cNvPr id="98" name="TextBox 595"/>
          <p:cNvSpPr txBox="1"/>
          <p:nvPr/>
        </p:nvSpPr>
        <p:spPr>
          <a:xfrm>
            <a:off x="4756150" y="6434138"/>
            <a:ext cx="2127250" cy="400050"/>
          </a:xfrm>
          <a:prstGeom prst="rect">
            <a:avLst/>
          </a:prstGeom>
          <a:noFill/>
        </p:spPr>
        <p:txBody>
          <a:bodyPr wrap="square" lIns="0" tIns="0" rIns="0" bIns="0" anchor="t">
            <a:noAutofit/>
          </a:bodyPr>
          <a:lstStyle/>
          <a:p>
            <a:pPr algn="l">
              <a:lnSpc>
                <a:spcPts val="1200"/>
              </a:lnSpc>
              <a:spcBef>
                <a:spcPts val="0"/>
              </a:spcBef>
              <a:spcAft>
                <a:spcPts val="0"/>
              </a:spcAft>
            </a:pPr>
            <a:r>
              <a:rPr lang="en-US" sz="800" b="0" i="0" spc="10">
                <a:solidFill>
                  <a:srgbClr val="FFFFFF"/>
                </a:solidFill>
                <a:latin typeface="Quicksand"/>
              </a:rPr>
              <a:t>Add pass-through or escalation terms to open backlog before a process, with component and copper prices up more than 25%.</a:t>
            </a:r>
          </a:p>
        </p:txBody>
      </p:sp>
      <p:sp>
        <p:nvSpPr>
          <p:cNvPr id="99" name="TextBox 596"/>
          <p:cNvSpPr txBox="1"/>
          <p:nvPr/>
        </p:nvSpPr>
        <p:spPr>
          <a:xfrm>
            <a:off x="6997700" y="6424613"/>
            <a:ext cx="228600" cy="285750"/>
          </a:xfrm>
          <a:prstGeom prst="rect">
            <a:avLst/>
          </a:prstGeom>
          <a:noFill/>
        </p:spPr>
        <p:txBody>
          <a:bodyPr wrap="none" lIns="0" tIns="0" rIns="0" bIns="0" anchor="t">
            <a:noAutofit/>
          </a:bodyPr>
          <a:lstStyle/>
          <a:p>
            <a:pPr algn="l">
              <a:lnSpc>
                <a:spcPts val="1800"/>
              </a:lnSpc>
              <a:spcBef>
                <a:spcPts val="0"/>
              </a:spcBef>
              <a:spcAft>
                <a:spcPts val="0"/>
              </a:spcAft>
            </a:pPr>
            <a:r>
              <a:rPr lang="en-US" sz="1600" b="1" i="0">
                <a:solidFill>
                  <a:srgbClr val="D3AE84"/>
                </a:solidFill>
                <a:latin typeface="Newsreader"/>
              </a:rPr>
              <a:t>3</a:t>
            </a:r>
          </a:p>
        </p:txBody>
      </p:sp>
      <p:sp>
        <p:nvSpPr>
          <p:cNvPr id="100" name="TextBox 597"/>
          <p:cNvSpPr txBox="1"/>
          <p:nvPr/>
        </p:nvSpPr>
        <p:spPr>
          <a:xfrm>
            <a:off x="7226300" y="6434138"/>
            <a:ext cx="2127250" cy="400050"/>
          </a:xfrm>
          <a:prstGeom prst="rect">
            <a:avLst/>
          </a:prstGeom>
          <a:noFill/>
        </p:spPr>
        <p:txBody>
          <a:bodyPr wrap="square" lIns="0" tIns="0" rIns="0" bIns="0" anchor="t">
            <a:noAutofit/>
          </a:bodyPr>
          <a:lstStyle/>
          <a:p>
            <a:pPr algn="l">
              <a:lnSpc>
                <a:spcPts val="1200"/>
              </a:lnSpc>
              <a:spcBef>
                <a:spcPts val="0"/>
              </a:spcBef>
              <a:spcAft>
                <a:spcPts val="0"/>
              </a:spcAft>
            </a:pPr>
            <a:r>
              <a:rPr lang="en-US" sz="800" b="0" i="0" spc="10">
                <a:solidFill>
                  <a:srgbClr val="FFFFFF"/>
                </a:solidFill>
                <a:latin typeface="Quicksand"/>
              </a:rPr>
              <a:t>Approach strategic buyers in adjacent fields alongside sponsors; seven of our eleven named sellers sold to one.</a:t>
            </a:r>
          </a:p>
        </p:txBody>
      </p:sp>
      <p:sp>
        <p:nvSpPr>
          <p:cNvPr id="101"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02"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03" name="Shape 9"/>
          <p:cNvSpPr/>
          <p:nvPr/>
        </p:nvSpPr>
        <p:spPr>
          <a:xfrm>
            <a:off x="419100" y="7029450"/>
            <a:ext cx="9220200" cy="9525"/>
          </a:xfrm>
          <a:prstGeom prst="rect">
            <a:avLst/>
          </a:prstGeom>
          <a:solidFill>
            <a:srgbClr val="E3DCD3"/>
          </a:solidFill>
          <a:ln/>
        </p:spPr>
        <p:txBody>
          <a:bodyPr/>
          <a:lstStyle/>
          <a:p>
            <a:endParaRPr lang="en-US"/>
          </a:p>
        </p:txBody>
      </p:sp>
      <p:pic>
        <p:nvPicPr>
          <p:cNvPr id="104" name="Benchmark International logo"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105"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09</a:t>
            </a:r>
            <a:endParaRPr lang="en-US" sz="81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1B1A1A"/>
          </a:solidFill>
          <a:ln>
            <a:noFill/>
          </a:ln>
        </p:spPr>
        <p:txBody>
          <a:bodyPr rtlCol="0" anchor="ctr"/>
          <a:lstStyle/>
          <a:p>
            <a:pPr algn="ctr"/>
            <a:endParaRPr/>
          </a:p>
        </p:txBody>
      </p:sp>
      <p:pic>
        <p:nvPicPr>
          <p:cNvPr id="3" name="Black textured background with the embossed Benchmark Intern" descr="Black textured background with the embossed Benchmark International knot symbol"/>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4" name="Hands holding a pen over a document on a clipboard, beside a" descr="Hands holding a pen over a document on a clipboard, beside a dark suit sleeve"/>
          <p:cNvPicPr>
            <a:picLocks noChangeAspect="1"/>
          </p:cNvPicPr>
          <p:nvPr/>
        </p:nvPicPr>
        <p:blipFill>
          <a:blip r:embed="rId3"/>
          <a:stretch>
            <a:fillRect/>
          </a:stretch>
        </p:blipFill>
        <p:spPr>
          <a:xfrm>
            <a:off x="4572000" y="0"/>
            <a:ext cx="5486400" cy="7772400"/>
          </a:xfrm>
          <a:prstGeom prst="rect">
            <a:avLst/>
          </a:prstGeom>
        </p:spPr>
      </p:pic>
      <p:pic>
        <p:nvPicPr>
          <p:cNvPr id="5" name="Gray gradient overlay with a thin gold diagonal line" descr="Gray gradient overlay with a thin gold diagonal line"/>
          <p:cNvPicPr>
            <a:picLocks noChangeAspect="1"/>
          </p:cNvPicPr>
          <p:nvPr/>
        </p:nvPicPr>
        <p:blipFill>
          <a:blip r:embed="rId4"/>
          <a:stretch>
            <a:fillRect/>
          </a:stretch>
        </p:blipFill>
        <p:spPr>
          <a:xfrm>
            <a:off x="0" y="0"/>
            <a:ext cx="10058400" cy="7772400"/>
          </a:xfrm>
          <a:prstGeom prst="rect">
            <a:avLst/>
          </a:prstGeom>
        </p:spPr>
      </p:pic>
      <p:sp>
        <p:nvSpPr>
          <p:cNvPr id="6" name="TextBox 6"/>
          <p:cNvSpPr txBox="1"/>
          <p:nvPr/>
        </p:nvSpPr>
        <p:spPr>
          <a:xfrm>
            <a:off x="609600" y="1842135"/>
            <a:ext cx="1418183" cy="1543050"/>
          </a:xfrm>
          <a:prstGeom prst="rect">
            <a:avLst/>
          </a:prstGeom>
          <a:noFill/>
        </p:spPr>
        <p:txBody>
          <a:bodyPr wrap="none" lIns="0" tIns="0" r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7" name="Title 1"/>
          <p:cNvSpPr>
            <a:spLocks noGrp="1"/>
          </p:cNvSpPr>
          <p:nvPr>
            <p:ph type="title"/>
          </p:nvPr>
        </p:nvSpPr>
        <p:spPr>
          <a:xfrm>
            <a:off x="609600" y="2836926"/>
            <a:ext cx="7772400" cy="514350"/>
          </a:xfrm>
        </p:spPr>
        <p:txBody>
          <a:bodyPr wrap="none" lIns="0" tIns="0" rIns="0" bIns="0" anchor="t">
            <a:noAutofit/>
          </a:bodyPr>
          <a:lstStyle/>
          <a:p>
            <a:pPr algn="l">
              <a:lnSpc>
                <a:spcPts val="4650"/>
              </a:lnSpc>
              <a:spcBef>
                <a:spcPts val="0"/>
              </a:spcBef>
              <a:spcAft>
                <a:spcPts val="0"/>
              </a:spcAft>
            </a:pPr>
            <a:r>
              <a:rPr sz="4050" b="1" i="0">
                <a:solidFill>
                  <a:srgbClr val="FFFFFF"/>
                </a:solidFill>
                <a:latin typeface="Newsreader"/>
              </a:rPr>
              <a:t>Sector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endParaRP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endParaRPr/>
          </a:p>
        </p:txBody>
      </p:sp>
      <p:sp>
        <p:nvSpPr>
          <p:cNvPr id="10" name="Panel"/>
          <p:cNvSpPr/>
          <p:nvPr/>
        </p:nvSpPr>
        <p:spPr>
          <a:xfrm>
            <a:off x="609600" y="4067175"/>
            <a:ext cx="57150" cy="57150"/>
          </a:xfrm>
          <a:prstGeom prst="rect">
            <a:avLst/>
          </a:prstGeom>
          <a:solidFill>
            <a:srgbClr val="B68757"/>
          </a:solidFill>
          <a:ln>
            <a:noFill/>
          </a:ln>
        </p:spPr>
        <p:txBody>
          <a:bodyPr rtlCol="0" anchor="ctr"/>
          <a:lstStyle/>
          <a:p>
            <a:pPr algn="ctr"/>
            <a:endParaRPr/>
          </a:p>
        </p:txBody>
      </p:sp>
      <p:sp>
        <p:nvSpPr>
          <p:cNvPr id="11" name="TextBox 10"/>
          <p:cNvSpPr txBox="1"/>
          <p:nvPr/>
        </p:nvSpPr>
        <p:spPr>
          <a:xfrm>
            <a:off x="781050" y="3983831"/>
            <a:ext cx="1825377"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endParaRPr/>
          </a:p>
        </p:txBody>
      </p:sp>
      <p:sp>
        <p:nvSpPr>
          <p:cNvPr id="13" name="Panel"/>
          <p:cNvSpPr/>
          <p:nvPr/>
        </p:nvSpPr>
        <p:spPr>
          <a:xfrm>
            <a:off x="609600" y="4410075"/>
            <a:ext cx="57150" cy="57150"/>
          </a:xfrm>
          <a:prstGeom prst="rect">
            <a:avLst/>
          </a:prstGeom>
          <a:solidFill>
            <a:srgbClr val="B68757"/>
          </a:solidFill>
          <a:ln>
            <a:noFill/>
          </a:ln>
        </p:spPr>
        <p:txBody>
          <a:bodyPr rtlCol="0" anchor="ctr"/>
          <a:lstStyle/>
          <a:p>
            <a:pPr algn="ctr"/>
            <a:endParaRPr/>
          </a:p>
        </p:txBody>
      </p:sp>
      <p:sp>
        <p:nvSpPr>
          <p:cNvPr id="14" name="TextBox 13"/>
          <p:cNvSpPr txBox="1"/>
          <p:nvPr/>
        </p:nvSpPr>
        <p:spPr>
          <a:xfrm>
            <a:off x="781050" y="4326731"/>
            <a:ext cx="2201168"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endParaRPr/>
          </a:p>
        </p:txBody>
      </p:sp>
      <p:sp>
        <p:nvSpPr>
          <p:cNvPr id="16" name="Panel"/>
          <p:cNvSpPr/>
          <p:nvPr/>
        </p:nvSpPr>
        <p:spPr>
          <a:xfrm>
            <a:off x="609600" y="4752975"/>
            <a:ext cx="57150" cy="57150"/>
          </a:xfrm>
          <a:prstGeom prst="rect">
            <a:avLst/>
          </a:prstGeom>
          <a:solidFill>
            <a:srgbClr val="B68757"/>
          </a:solidFill>
          <a:ln>
            <a:noFill/>
          </a:ln>
        </p:spPr>
        <p:txBody>
          <a:bodyPr rtlCol="0" anchor="ctr"/>
          <a:lstStyle/>
          <a:p>
            <a:pPr algn="ctr"/>
            <a:endParaRPr/>
          </a:p>
        </p:txBody>
      </p:sp>
      <p:sp>
        <p:nvSpPr>
          <p:cNvPr id="17" name="TextBox 16"/>
          <p:cNvSpPr txBox="1"/>
          <p:nvPr/>
        </p:nvSpPr>
        <p:spPr>
          <a:xfrm>
            <a:off x="781050" y="4669631"/>
            <a:ext cx="292730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Who is buying</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endParaRPr/>
          </a:p>
        </p:txBody>
      </p:sp>
      <p:sp>
        <p:nvSpPr>
          <p:cNvPr id="19" name="Panel"/>
          <p:cNvSpPr/>
          <p:nvPr/>
        </p:nvSpPr>
        <p:spPr>
          <a:xfrm>
            <a:off x="609600" y="5095875"/>
            <a:ext cx="57150" cy="57150"/>
          </a:xfrm>
          <a:prstGeom prst="rect">
            <a:avLst/>
          </a:prstGeom>
          <a:solidFill>
            <a:srgbClr val="B68757"/>
          </a:solidFill>
          <a:ln>
            <a:noFill/>
          </a:ln>
        </p:spPr>
        <p:txBody>
          <a:bodyPr rtlCol="0" anchor="ctr"/>
          <a:lstStyle/>
          <a:p>
            <a:pPr algn="ctr"/>
            <a:endParaRPr/>
          </a:p>
        </p:txBody>
      </p:sp>
      <p:sp>
        <p:nvSpPr>
          <p:cNvPr id="20" name="TextBox 19"/>
          <p:cNvSpPr txBox="1"/>
          <p:nvPr/>
        </p:nvSpPr>
        <p:spPr>
          <a:xfrm>
            <a:off x="781050" y="5012531"/>
            <a:ext cx="156969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Public companies: performance, valuation, and metrics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endParaRPr/>
          </a:p>
        </p:txBody>
      </p:sp>
      <p:sp>
        <p:nvSpPr>
          <p:cNvPr id="22" name="Panel"/>
          <p:cNvSpPr/>
          <p:nvPr/>
        </p:nvSpPr>
        <p:spPr>
          <a:xfrm>
            <a:off x="609600" y="5438775"/>
            <a:ext cx="57150" cy="57150"/>
          </a:xfrm>
          <a:prstGeom prst="rect">
            <a:avLst/>
          </a:prstGeom>
          <a:solidFill>
            <a:srgbClr val="B68757"/>
          </a:solidFill>
          <a:ln>
            <a:noFill/>
          </a:ln>
        </p:spPr>
        <p:txBody>
          <a:bodyPr rtlCol="0" anchor="ctr"/>
          <a:lstStyle/>
          <a:p>
            <a:pPr algn="ctr"/>
            <a:endParaRPr/>
          </a:p>
        </p:txBody>
      </p:sp>
      <p:sp>
        <p:nvSpPr>
          <p:cNvPr id="23" name="TextBox 22"/>
          <p:cNvSpPr txBox="1"/>
          <p:nvPr/>
        </p:nvSpPr>
        <p:spPr>
          <a:xfrm>
            <a:off x="781050" y="5355431"/>
            <a:ext cx="1663452"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Earnings and commentary</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endParaRPr/>
          </a:p>
        </p:txBody>
      </p:sp>
      <p:sp>
        <p:nvSpPr>
          <p:cNvPr id="25" name="Panel"/>
          <p:cNvSpPr/>
          <p:nvPr/>
        </p:nvSpPr>
        <p:spPr>
          <a:xfrm>
            <a:off x="609600" y="5781675"/>
            <a:ext cx="57150" cy="57150"/>
          </a:xfrm>
          <a:prstGeom prst="rect">
            <a:avLst/>
          </a:prstGeom>
          <a:solidFill>
            <a:srgbClr val="B68757"/>
          </a:solidFill>
          <a:ln>
            <a:noFill/>
          </a:ln>
        </p:spPr>
        <p:txBody>
          <a:bodyPr rtlCol="0" anchor="ctr"/>
          <a:lstStyle/>
          <a:p>
            <a:pPr algn="ctr"/>
            <a:endParaRPr/>
          </a:p>
        </p:txBody>
      </p:sp>
      <p:sp>
        <p:nvSpPr>
          <p:cNvPr id="26" name="TextBox 25"/>
          <p:cNvSpPr txBox="1"/>
          <p:nvPr/>
        </p:nvSpPr>
        <p:spPr>
          <a:xfrm>
            <a:off x="781050" y="5698331"/>
            <a:ext cx="1909465"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Cost and demand indicators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endParaRPr/>
          </a:p>
        </p:txBody>
      </p:sp>
      <p:sp>
        <p:nvSpPr>
          <p:cNvPr id="28"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D7B48A"/>
                </a:solidFill>
                <a:latin typeface="Quicksand" pitchFamily="34" charset="0"/>
              </a:rPr>
              <a:t>10</a:t>
            </a:r>
            <a:endParaRPr lang="en-US" sz="815" dirty="0"/>
          </a:p>
        </p:txBody>
      </p:sp>
      <p:sp>
        <p:nvSpPr>
          <p:cNvPr id="29"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D3AE84"/>
                </a:solidFill>
                <a:latin typeface="Quicksand" pitchFamily="34" charset="0"/>
              </a:rPr>
              <a:t>TECHNOLOGY  |  QUARTERLY INDUSTRY REPORT  |  Q4 2026</a:t>
            </a:r>
            <a:endParaRPr lang="en-US" sz="790" dirty="0"/>
          </a:p>
        </p:txBody>
      </p:sp>
      <p:sp>
        <p:nvSpPr>
          <p:cNvPr id="30" name="Text 22"/>
          <p:cNvSpPr txBox="1"/>
          <p:nvPr/>
        </p:nvSpPr>
        <p:spPr>
          <a:xfrm>
            <a:off x="2212848" y="7091363"/>
            <a:ext cx="2148840" cy="133350"/>
          </a:xfrm>
          <a:prstGeom prst="rect">
            <a:avLst/>
          </a:prstGeom>
          <a:noFill/>
          <a:ln/>
        </p:spPr>
        <p:txBody>
          <a:bodyPr wrap="none" lIns="0" tIns="0" rIns="0" bIns="0" rtlCol="0" anchor="t"/>
          <a:lstStyle/>
          <a:p>
            <a:pPr marL="0" indent="0" algn="l">
              <a:lnSpc>
                <a:spcPts val="1050"/>
              </a:lnSpc>
              <a:buNone/>
            </a:pPr>
            <a:r>
              <a:rPr lang="en-US" sz="700" b="1" kern="0" spc="80" dirty="0">
                <a:solidFill>
                  <a:srgbClr val="D3AE84"/>
                </a:solidFill>
                <a:latin typeface="Quicksand" pitchFamily="34" charset="0"/>
              </a:rPr>
              <a:t>BENCHMARK INTERNATIONAL  |  MIDDLE MARKET</a:t>
            </a:r>
            <a:endParaRPr lang="en-US" sz="745" dirty="0"/>
          </a:p>
        </p:txBody>
      </p:sp>
      <p:pic>
        <p:nvPicPr>
          <p:cNvPr id="31" name="Benchmark International logo in white" descr="Benchmark International logo in white"/>
          <p:cNvPicPr>
            <a:picLocks noChangeAspect="1"/>
          </p:cNvPicPr>
          <p:nvPr/>
        </p:nvPicPr>
        <p:blipFill>
          <a:blip r:embed="rId5"/>
          <a:stretch>
            <a:fillRect/>
          </a:stretch>
        </p:blipFill>
        <p:spPr>
          <a:xfrm>
            <a:off x="609600" y="7029450"/>
            <a:ext cx="1428750" cy="2667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85" b="0" i="0" spc="15">
                <a:solidFill>
                  <a:srgbClr val="6F6A66"/>
                </a:solidFill>
                <a:latin typeface="Quicksand"/>
              </a:rPr>
              <a:t>Ten of the twelve transactions carry a disclosed price, six carry a value to revenue multiple, and two carry a multiple of earnings.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p:cNvSpPr txBox="1"/>
          <p:nvPr/>
        </p:nvSpPr>
        <p:spPr>
          <a:xfrm>
            <a:off x="420624" y="1298448"/>
            <a:ext cx="82296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ANNOUNCED</a:t>
            </a:r>
          </a:p>
        </p:txBody>
      </p:sp>
      <p:sp>
        <p:nvSpPr>
          <p:cNvPr id="8" name="TextBox"/>
          <p:cNvSpPr txBox="1"/>
          <p:nvPr/>
        </p:nvSpPr>
        <p:spPr>
          <a:xfrm>
            <a:off x="1371600" y="1298448"/>
            <a:ext cx="155448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TARGET AND ACQUIRER</a:t>
            </a:r>
          </a:p>
        </p:txBody>
      </p:sp>
      <p:sp>
        <p:nvSpPr>
          <p:cNvPr id="9" name="TextBox"/>
          <p:cNvSpPr txBox="1"/>
          <p:nvPr/>
        </p:nvSpPr>
        <p:spPr>
          <a:xfrm>
            <a:off x="3090672" y="1298448"/>
            <a:ext cx="329184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BUSINESS AND TERMS</a:t>
            </a:r>
          </a:p>
        </p:txBody>
      </p:sp>
      <p:sp>
        <p:nvSpPr>
          <p:cNvPr id="10" name="TextBox"/>
          <p:cNvSpPr txBox="1"/>
          <p:nvPr/>
        </p:nvSpPr>
        <p:spPr>
          <a:xfrm>
            <a:off x="6583680" y="1298448"/>
            <a:ext cx="109728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STATED VALUE</a:t>
            </a:r>
          </a:p>
        </p:txBody>
      </p:sp>
      <p:sp>
        <p:nvSpPr>
          <p:cNvPr id="11" name="TextBox"/>
          <p:cNvSpPr txBox="1"/>
          <p:nvPr/>
        </p:nvSpPr>
        <p:spPr>
          <a:xfrm>
            <a:off x="7790688" y="1298448"/>
            <a:ext cx="91440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VALUE TO REVENUE</a:t>
            </a:r>
          </a:p>
        </p:txBody>
      </p:sp>
      <p:sp>
        <p:nvSpPr>
          <p:cNvPr id="12" name="TextBox"/>
          <p:cNvSpPr txBox="1"/>
          <p:nvPr/>
        </p:nvSpPr>
        <p:spPr>
          <a:xfrm>
            <a:off x="8732520" y="1298448"/>
            <a:ext cx="905256"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VALUE TO EARNINGS</a:t>
            </a:r>
          </a:p>
        </p:txBody>
      </p:sp>
      <p:sp>
        <p:nvSpPr>
          <p:cNvPr id="13" name="Rule"/>
          <p:cNvSpPr/>
          <p:nvPr/>
        </p:nvSpPr>
        <p:spPr>
          <a:xfrm>
            <a:off x="420624" y="1627632"/>
            <a:ext cx="9217152" cy="18288"/>
          </a:xfrm>
          <a:prstGeom prst="rect">
            <a:avLst/>
          </a:prstGeom>
          <a:solidFill>
            <a:srgbClr val="B68757"/>
          </a:solidFill>
          <a:ln>
            <a:noFill/>
          </a:ln>
          <a:effectLst/>
        </p:spPr>
        <p:txBody>
          <a:bodyPr rtlCol="0" anchor="ctr"/>
          <a:lstStyle/>
          <a:p>
            <a:pPr algn="ctr"/>
            <a:endParaRPr/>
          </a:p>
        </p:txBody>
      </p:sp>
      <p:sp>
        <p:nvSpPr>
          <p:cNvPr id="14" name="Panel"/>
          <p:cNvSpPr/>
          <p:nvPr/>
        </p:nvSpPr>
        <p:spPr>
          <a:xfrm>
            <a:off x="420624" y="1773936"/>
            <a:ext cx="749808" cy="173736"/>
          </a:xfrm>
          <a:prstGeom prst="rect">
            <a:avLst/>
          </a:prstGeom>
          <a:solidFill>
            <a:srgbClr val="1B1A1A"/>
          </a:solidFill>
          <a:ln>
            <a:noFill/>
          </a:ln>
          <a:effectLst/>
        </p:spPr>
        <p:txBody>
          <a:bodyPr rtlCol="0" anchor="ctr"/>
          <a:lstStyle/>
          <a:p>
            <a:pPr algn="ctr"/>
            <a:endParaRPr/>
          </a:p>
        </p:txBody>
      </p:sp>
      <p:sp>
        <p:nvSpPr>
          <p:cNvPr id="15" name="TextBox"/>
          <p:cNvSpPr txBox="1"/>
          <p:nvPr/>
        </p:nvSpPr>
        <p:spPr>
          <a:xfrm>
            <a:off x="420624" y="1773936"/>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APR 2026</a:t>
            </a:r>
          </a:p>
        </p:txBody>
      </p:sp>
      <p:sp>
        <p:nvSpPr>
          <p:cNvPr id="16" name="TextBox"/>
          <p:cNvSpPr txBox="1"/>
          <p:nvPr/>
        </p:nvSpPr>
        <p:spPr>
          <a:xfrm>
            <a:off x="420624" y="1993392"/>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MANAGED IT &amp; CLOUD</a:t>
            </a:r>
          </a:p>
        </p:txBody>
      </p:sp>
      <p:sp>
        <p:nvSpPr>
          <p:cNvPr id="17" name="TextBox"/>
          <p:cNvSpPr txBox="1"/>
          <p:nvPr/>
        </p:nvSpPr>
        <p:spPr>
          <a:xfrm>
            <a:off x="1371600" y="2048256"/>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18" name="TextBox"/>
          <p:cNvSpPr txBox="1"/>
          <p:nvPr/>
        </p:nvSpPr>
        <p:spPr>
          <a:xfrm>
            <a:off x="3090672" y="1737360"/>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Cognizant agreed in April and completed on June 22 the purchase of Astreya, a San Jose managed services provider with about 2,600 professionals that runs data center, AI laboratory, and network environments for six of the largest hyperscalers (</a:t>
            </a:r>
            <a:r>
              <a:rPr sz="770" b="0" i="0" u="sng">
                <a:solidFill>
                  <a:srgbClr val="8C6239"/>
                </a:solidFill>
                <a:latin typeface="Quicksand"/>
                <a:hlinkClick r:id="rId2"/>
              </a:rPr>
              <a:t>Cognizant</a:t>
            </a:r>
            <a:r>
              <a:rPr sz="770" b="0" i="0">
                <a:solidFill>
                  <a:srgbClr val="333231"/>
                </a:solidFill>
                <a:latin typeface="Quicksand"/>
              </a:rPr>
              <a:t>; </a:t>
            </a:r>
            <a:r>
              <a:rPr sz="770" b="0" i="0" u="sng">
                <a:solidFill>
                  <a:srgbClr val="8C6239"/>
                </a:solidFill>
                <a:latin typeface="Quicksand"/>
                <a:hlinkClick r:id="rId3"/>
              </a:rPr>
              <a:t>Reuters</a:t>
            </a:r>
            <a:r>
              <a:rPr sz="770" b="0" i="0">
                <a:solidFill>
                  <a:srgbClr val="333231"/>
                </a:solidFill>
                <a:latin typeface="Quicksand"/>
              </a:rPr>
              <a:t>).</a:t>
            </a:r>
          </a:p>
        </p:txBody>
      </p:sp>
      <p:sp>
        <p:nvSpPr>
          <p:cNvPr id="19" name="TextBox"/>
          <p:cNvSpPr txBox="1"/>
          <p:nvPr/>
        </p:nvSpPr>
        <p:spPr>
          <a:xfrm>
            <a:off x="6583680" y="1773936"/>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$600M</a:t>
            </a:r>
          </a:p>
        </p:txBody>
      </p:sp>
      <p:sp>
        <p:nvSpPr>
          <p:cNvPr id="20" name="TextBox"/>
          <p:cNvSpPr txBox="1"/>
          <p:nvPr/>
        </p:nvSpPr>
        <p:spPr>
          <a:xfrm>
            <a:off x="6583680" y="2029968"/>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reported at announcement; Cognizant states a $634M purchase price at close</a:t>
            </a:r>
          </a:p>
        </p:txBody>
      </p:sp>
      <p:sp>
        <p:nvSpPr>
          <p:cNvPr id="21" name="TextBox"/>
          <p:cNvSpPr txBox="1"/>
          <p:nvPr/>
        </p:nvSpPr>
        <p:spPr>
          <a:xfrm>
            <a:off x="7790688" y="1773936"/>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1.1x</a:t>
            </a:r>
          </a:p>
        </p:txBody>
      </p:sp>
      <p:sp>
        <p:nvSpPr>
          <p:cNvPr id="22" name="TextBox"/>
          <p:cNvSpPr txBox="1"/>
          <p:nvPr/>
        </p:nvSpPr>
        <p:spPr>
          <a:xfrm>
            <a:off x="7790688" y="2029968"/>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reported by EY from the $600M headline</a:t>
            </a:r>
          </a:p>
        </p:txBody>
      </p:sp>
      <p:sp>
        <p:nvSpPr>
          <p:cNvPr id="23" name="TextBox"/>
          <p:cNvSpPr txBox="1"/>
          <p:nvPr/>
        </p:nvSpPr>
        <p:spPr>
          <a:xfrm>
            <a:off x="8732520" y="1956816"/>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24" name="Panel"/>
          <p:cNvSpPr/>
          <p:nvPr/>
        </p:nvSpPr>
        <p:spPr>
          <a:xfrm>
            <a:off x="420624" y="2523744"/>
            <a:ext cx="9217152" cy="9144"/>
          </a:xfrm>
          <a:prstGeom prst="rect">
            <a:avLst/>
          </a:prstGeom>
          <a:solidFill>
            <a:srgbClr val="E3DCD3"/>
          </a:solidFill>
          <a:ln>
            <a:noFill/>
          </a:ln>
          <a:effectLst/>
        </p:spPr>
        <p:txBody>
          <a:bodyPr rtlCol="0" anchor="ctr"/>
          <a:lstStyle/>
          <a:p>
            <a:pPr algn="ctr"/>
            <a:endParaRPr/>
          </a:p>
        </p:txBody>
      </p:sp>
      <p:sp>
        <p:nvSpPr>
          <p:cNvPr id="25" name="Panel"/>
          <p:cNvSpPr/>
          <p:nvPr/>
        </p:nvSpPr>
        <p:spPr>
          <a:xfrm>
            <a:off x="420624" y="2633472"/>
            <a:ext cx="749808" cy="173736"/>
          </a:xfrm>
          <a:prstGeom prst="rect">
            <a:avLst/>
          </a:prstGeom>
          <a:solidFill>
            <a:srgbClr val="1B1A1A"/>
          </a:solidFill>
          <a:ln>
            <a:noFill/>
          </a:ln>
          <a:effectLst/>
        </p:spPr>
        <p:txBody>
          <a:bodyPr rtlCol="0" anchor="ctr"/>
          <a:lstStyle/>
          <a:p>
            <a:pPr algn="ctr"/>
            <a:endParaRPr/>
          </a:p>
        </p:txBody>
      </p:sp>
      <p:sp>
        <p:nvSpPr>
          <p:cNvPr id="26" name="TextBox"/>
          <p:cNvSpPr txBox="1"/>
          <p:nvPr/>
        </p:nvSpPr>
        <p:spPr>
          <a:xfrm>
            <a:off x="420624" y="2633472"/>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SEP 2026</a:t>
            </a:r>
          </a:p>
        </p:txBody>
      </p:sp>
      <p:sp>
        <p:nvSpPr>
          <p:cNvPr id="27" name="TextBox"/>
          <p:cNvSpPr txBox="1"/>
          <p:nvPr/>
        </p:nvSpPr>
        <p:spPr>
          <a:xfrm>
            <a:off x="420624" y="2852928"/>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MANAGED IT &amp; CLOUD</a:t>
            </a:r>
          </a:p>
        </p:txBody>
      </p:sp>
      <p:sp>
        <p:nvSpPr>
          <p:cNvPr id="28" name="TextBox"/>
          <p:cNvSpPr txBox="1"/>
          <p:nvPr/>
        </p:nvSpPr>
        <p:spPr>
          <a:xfrm>
            <a:off x="1371600" y="2907792"/>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29" name="TextBox"/>
          <p:cNvSpPr txBox="1"/>
          <p:nvPr/>
        </p:nvSpPr>
        <p:spPr>
          <a:xfrm>
            <a:off x="3090672" y="2596896"/>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Softcat, a UK reseller, agreed in September to acquire General Datatech, a Dallas multi-vendor IT solutions provider owned by H.I.G. Capital since 2021, with a global operations center in Bangalore. Closing is expected by the end of the first quarter of fiscal 2027 (</a:t>
            </a:r>
            <a:r>
              <a:rPr sz="770" b="0" i="0" u="sng">
                <a:solidFill>
                  <a:srgbClr val="8C6239"/>
                </a:solidFill>
                <a:latin typeface="Quicksand"/>
                <a:hlinkClick r:id="rId4"/>
              </a:rPr>
              <a:t>H.I.G. Capital</a:t>
            </a:r>
            <a:r>
              <a:rPr sz="770" b="0" i="0">
                <a:solidFill>
                  <a:srgbClr val="333231"/>
                </a:solidFill>
                <a:latin typeface="Quicksand"/>
              </a:rPr>
              <a:t>; </a:t>
            </a:r>
            <a:r>
              <a:rPr sz="770" b="0" i="0" u="sng">
                <a:solidFill>
                  <a:srgbClr val="8C6239"/>
                </a:solidFill>
                <a:latin typeface="Quicksand"/>
                <a:hlinkClick r:id="rId5"/>
              </a:rPr>
              <a:t>Channel Dive</a:t>
            </a:r>
            <a:r>
              <a:rPr sz="770" b="0" i="0">
                <a:solidFill>
                  <a:srgbClr val="333231"/>
                </a:solidFill>
                <a:latin typeface="Quicksand"/>
              </a:rPr>
              <a:t>).</a:t>
            </a:r>
          </a:p>
        </p:txBody>
      </p:sp>
      <p:sp>
        <p:nvSpPr>
          <p:cNvPr id="30" name="TextBox"/>
          <p:cNvSpPr txBox="1"/>
          <p:nvPr/>
        </p:nvSpPr>
        <p:spPr>
          <a:xfrm>
            <a:off x="6583680" y="2633472"/>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$1.05B</a:t>
            </a:r>
          </a:p>
        </p:txBody>
      </p:sp>
      <p:sp>
        <p:nvSpPr>
          <p:cNvPr id="31" name="TextBox"/>
          <p:cNvSpPr txBox="1"/>
          <p:nvPr/>
        </p:nvSpPr>
        <p:spPr>
          <a:xfrm>
            <a:off x="6583680" y="2889504"/>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enterprise value, as stated by H.I.G. Capital</a:t>
            </a:r>
          </a:p>
        </p:txBody>
      </p:sp>
      <p:sp>
        <p:nvSpPr>
          <p:cNvPr id="32" name="TextBox"/>
          <p:cNvSpPr txBox="1"/>
          <p:nvPr/>
        </p:nvSpPr>
        <p:spPr>
          <a:xfrm>
            <a:off x="7790688" y="2816352"/>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33" name="TextBox"/>
          <p:cNvSpPr txBox="1"/>
          <p:nvPr/>
        </p:nvSpPr>
        <p:spPr>
          <a:xfrm>
            <a:off x="8732520" y="2816352"/>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34" name="Panel"/>
          <p:cNvSpPr/>
          <p:nvPr/>
        </p:nvSpPr>
        <p:spPr>
          <a:xfrm>
            <a:off x="420624" y="3383280"/>
            <a:ext cx="9217152" cy="9144"/>
          </a:xfrm>
          <a:prstGeom prst="rect">
            <a:avLst/>
          </a:prstGeom>
          <a:solidFill>
            <a:srgbClr val="E3DCD3"/>
          </a:solidFill>
          <a:ln>
            <a:noFill/>
          </a:ln>
          <a:effectLst/>
        </p:spPr>
        <p:txBody>
          <a:bodyPr rtlCol="0" anchor="ctr"/>
          <a:lstStyle/>
          <a:p>
            <a:pPr algn="ctr"/>
            <a:endParaRPr/>
          </a:p>
        </p:txBody>
      </p:sp>
      <p:sp>
        <p:nvSpPr>
          <p:cNvPr id="35" name="Panel"/>
          <p:cNvSpPr/>
          <p:nvPr/>
        </p:nvSpPr>
        <p:spPr>
          <a:xfrm>
            <a:off x="420624" y="3493008"/>
            <a:ext cx="749808" cy="173736"/>
          </a:xfrm>
          <a:prstGeom prst="rect">
            <a:avLst/>
          </a:prstGeom>
          <a:solidFill>
            <a:srgbClr val="1B1A1A"/>
          </a:solidFill>
          <a:ln>
            <a:noFill/>
          </a:ln>
          <a:effectLst/>
        </p:spPr>
        <p:txBody>
          <a:bodyPr rtlCol="0" anchor="ctr"/>
          <a:lstStyle/>
          <a:p>
            <a:pPr algn="ctr"/>
            <a:endParaRPr/>
          </a:p>
        </p:txBody>
      </p:sp>
      <p:sp>
        <p:nvSpPr>
          <p:cNvPr id="36" name="TextBox"/>
          <p:cNvSpPr txBox="1"/>
          <p:nvPr/>
        </p:nvSpPr>
        <p:spPr>
          <a:xfrm>
            <a:off x="420624" y="3493008"/>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JUN 2026</a:t>
            </a:r>
          </a:p>
        </p:txBody>
      </p:sp>
      <p:sp>
        <p:nvSpPr>
          <p:cNvPr id="37" name="TextBox"/>
          <p:cNvSpPr txBox="1"/>
          <p:nvPr/>
        </p:nvSpPr>
        <p:spPr>
          <a:xfrm>
            <a:off x="420624" y="3712464"/>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CYBERSECURITY</a:t>
            </a:r>
          </a:p>
        </p:txBody>
      </p:sp>
      <p:sp>
        <p:nvSpPr>
          <p:cNvPr id="38" name="TextBox"/>
          <p:cNvSpPr txBox="1"/>
          <p:nvPr/>
        </p:nvSpPr>
        <p:spPr>
          <a:xfrm>
            <a:off x="1371600" y="3767328"/>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39" name="TextBox"/>
          <p:cNvSpPr txBox="1"/>
          <p:nvPr/>
        </p:nvSpPr>
        <p:spPr>
          <a:xfrm>
            <a:off x="3090672" y="3456432"/>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Accenture agreed in June and completed on September 21 a majority investment in the industrial security firm Dragos and the purchase of runZero and NetRise, which together had about $208 million of annual recurring revenue in June, up 53% (</a:t>
            </a:r>
            <a:r>
              <a:rPr sz="770" b="0" i="0" u="sng">
                <a:solidFill>
                  <a:srgbClr val="8C6239"/>
                </a:solidFill>
                <a:latin typeface="Quicksand"/>
                <a:hlinkClick r:id="rId6"/>
              </a:rPr>
              <a:t>SecurityWeek</a:t>
            </a:r>
            <a:r>
              <a:rPr sz="770" b="0" i="0">
                <a:solidFill>
                  <a:srgbClr val="333231"/>
                </a:solidFill>
                <a:latin typeface="Quicksand"/>
              </a:rPr>
              <a:t>; </a:t>
            </a:r>
            <a:r>
              <a:rPr sz="770" b="0" i="0" u="sng">
                <a:solidFill>
                  <a:srgbClr val="8C6239"/>
                </a:solidFill>
                <a:latin typeface="Quicksand"/>
                <a:hlinkClick r:id="rId7"/>
              </a:rPr>
              <a:t>Constellation Research</a:t>
            </a:r>
            <a:r>
              <a:rPr sz="770" b="0" i="0">
                <a:solidFill>
                  <a:srgbClr val="333231"/>
                </a:solidFill>
                <a:latin typeface="Quicksand"/>
              </a:rPr>
              <a:t>).</a:t>
            </a:r>
          </a:p>
        </p:txBody>
      </p:sp>
      <p:sp>
        <p:nvSpPr>
          <p:cNvPr id="40" name="TextBox"/>
          <p:cNvSpPr txBox="1"/>
          <p:nvPr/>
        </p:nvSpPr>
        <p:spPr>
          <a:xfrm>
            <a:off x="6583680" y="3493008"/>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$4.18B</a:t>
            </a:r>
          </a:p>
        </p:txBody>
      </p:sp>
      <p:sp>
        <p:nvSpPr>
          <p:cNvPr id="41" name="TextBox"/>
          <p:cNvSpPr txBox="1"/>
          <p:nvPr/>
        </p:nvSpPr>
        <p:spPr>
          <a:xfrm>
            <a:off x="6583680" y="3749040"/>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combined enterprise value; Dragos alone was valued at $3.25B, as stated by its CEO</a:t>
            </a:r>
          </a:p>
        </p:txBody>
      </p:sp>
      <p:sp>
        <p:nvSpPr>
          <p:cNvPr id="42" name="TextBox"/>
          <p:cNvSpPr txBox="1"/>
          <p:nvPr/>
        </p:nvSpPr>
        <p:spPr>
          <a:xfrm>
            <a:off x="7790688" y="3493008"/>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20.1x</a:t>
            </a:r>
          </a:p>
        </p:txBody>
      </p:sp>
      <p:sp>
        <p:nvSpPr>
          <p:cNvPr id="43" name="TextBox"/>
          <p:cNvSpPr txBox="1"/>
          <p:nvPr/>
        </p:nvSpPr>
        <p:spPr>
          <a:xfrm>
            <a:off x="7790688" y="3749040"/>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combined annual recurring revenue, calculated from the stated figures; the price covers a majority of Dragos</a:t>
            </a:r>
          </a:p>
        </p:txBody>
      </p:sp>
      <p:sp>
        <p:nvSpPr>
          <p:cNvPr id="44" name="TextBox"/>
          <p:cNvSpPr txBox="1"/>
          <p:nvPr/>
        </p:nvSpPr>
        <p:spPr>
          <a:xfrm>
            <a:off x="8732520" y="3675888"/>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45" name="Panel"/>
          <p:cNvSpPr/>
          <p:nvPr/>
        </p:nvSpPr>
        <p:spPr>
          <a:xfrm>
            <a:off x="420624" y="4242816"/>
            <a:ext cx="9217152" cy="9144"/>
          </a:xfrm>
          <a:prstGeom prst="rect">
            <a:avLst/>
          </a:prstGeom>
          <a:solidFill>
            <a:srgbClr val="E3DCD3"/>
          </a:solidFill>
          <a:ln>
            <a:noFill/>
          </a:ln>
          <a:effectLst/>
        </p:spPr>
        <p:txBody>
          <a:bodyPr rtlCol="0" anchor="ctr"/>
          <a:lstStyle/>
          <a:p>
            <a:pPr algn="ctr"/>
            <a:endParaRPr/>
          </a:p>
        </p:txBody>
      </p:sp>
      <p:sp>
        <p:nvSpPr>
          <p:cNvPr id="46" name="Panel"/>
          <p:cNvSpPr/>
          <p:nvPr/>
        </p:nvSpPr>
        <p:spPr>
          <a:xfrm>
            <a:off x="420624" y="4352544"/>
            <a:ext cx="749808" cy="173736"/>
          </a:xfrm>
          <a:prstGeom prst="rect">
            <a:avLst/>
          </a:prstGeom>
          <a:solidFill>
            <a:srgbClr val="1B1A1A"/>
          </a:solidFill>
          <a:ln>
            <a:noFill/>
          </a:ln>
          <a:effectLst/>
        </p:spPr>
        <p:txBody>
          <a:bodyPr rtlCol="0" anchor="ctr"/>
          <a:lstStyle/>
          <a:p>
            <a:pPr algn="ctr"/>
            <a:endParaRPr/>
          </a:p>
        </p:txBody>
      </p:sp>
      <p:sp>
        <p:nvSpPr>
          <p:cNvPr id="47" name="TextBox"/>
          <p:cNvSpPr txBox="1"/>
          <p:nvPr/>
        </p:nvSpPr>
        <p:spPr>
          <a:xfrm>
            <a:off x="420624" y="4352544"/>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OCT 2026</a:t>
            </a:r>
          </a:p>
        </p:txBody>
      </p:sp>
      <p:sp>
        <p:nvSpPr>
          <p:cNvPr id="48" name="TextBox"/>
          <p:cNvSpPr txBox="1"/>
          <p:nvPr/>
        </p:nvSpPr>
        <p:spPr>
          <a:xfrm>
            <a:off x="420624" y="4572000"/>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CYBERSECURITY</a:t>
            </a:r>
          </a:p>
        </p:txBody>
      </p:sp>
      <p:sp>
        <p:nvSpPr>
          <p:cNvPr id="49" name="TextBox"/>
          <p:cNvSpPr txBox="1"/>
          <p:nvPr/>
        </p:nvSpPr>
        <p:spPr>
          <a:xfrm>
            <a:off x="1371600" y="4626864"/>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50" name="TextBox"/>
          <p:cNvSpPr txBox="1"/>
          <p:nvPr/>
        </p:nvSpPr>
        <p:spPr>
          <a:xfrm>
            <a:off x="3090672" y="4315968"/>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Proofpoint, owned by Thoma Bravo, agreed on October 15 to acquire Varonis, a public data security and access governance software company, for $49.75 per share in cash, a 52% premium to its June 22 closing price. Closing is expected in the first half of 2027 (</a:t>
            </a:r>
            <a:r>
              <a:rPr sz="770" b="0" i="0" u="sng">
                <a:solidFill>
                  <a:srgbClr val="8C6239"/>
                </a:solidFill>
                <a:latin typeface="Quicksand"/>
                <a:hlinkClick r:id="rId8"/>
              </a:rPr>
              <a:t>Proofpoint</a:t>
            </a:r>
            <a:r>
              <a:rPr sz="770" b="0" i="0">
                <a:solidFill>
                  <a:srgbClr val="333231"/>
                </a:solidFill>
                <a:latin typeface="Quicksand"/>
              </a:rPr>
              <a:t>; </a:t>
            </a:r>
            <a:r>
              <a:rPr sz="770" b="0" i="0" u="sng">
                <a:solidFill>
                  <a:srgbClr val="8C6239"/>
                </a:solidFill>
                <a:latin typeface="Quicksand"/>
                <a:hlinkClick r:id="rId9"/>
              </a:rPr>
              <a:t>SecurityWeek</a:t>
            </a:r>
            <a:r>
              <a:rPr sz="770" b="0" i="0">
                <a:solidFill>
                  <a:srgbClr val="333231"/>
                </a:solidFill>
                <a:latin typeface="Quicksand"/>
              </a:rPr>
              <a:t>).</a:t>
            </a:r>
          </a:p>
        </p:txBody>
      </p:sp>
      <p:sp>
        <p:nvSpPr>
          <p:cNvPr id="51" name="TextBox"/>
          <p:cNvSpPr txBox="1"/>
          <p:nvPr/>
        </p:nvSpPr>
        <p:spPr>
          <a:xfrm>
            <a:off x="6583680" y="4352544"/>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$6.3B</a:t>
            </a:r>
          </a:p>
        </p:txBody>
      </p:sp>
      <p:sp>
        <p:nvSpPr>
          <p:cNvPr id="52" name="TextBox"/>
          <p:cNvSpPr txBox="1"/>
          <p:nvPr/>
        </p:nvSpPr>
        <p:spPr>
          <a:xfrm>
            <a:off x="6583680" y="4608576"/>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in cash; the release does not label it equity or enterprise value</a:t>
            </a:r>
          </a:p>
        </p:txBody>
      </p:sp>
      <p:sp>
        <p:nvSpPr>
          <p:cNvPr id="53" name="TextBox"/>
          <p:cNvSpPr txBox="1"/>
          <p:nvPr/>
        </p:nvSpPr>
        <p:spPr>
          <a:xfrm>
            <a:off x="7790688" y="4352544"/>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8.4x</a:t>
            </a:r>
          </a:p>
        </p:txBody>
      </p:sp>
      <p:sp>
        <p:nvSpPr>
          <p:cNvPr id="54" name="TextBox"/>
          <p:cNvSpPr txBox="1"/>
          <p:nvPr/>
        </p:nvSpPr>
        <p:spPr>
          <a:xfrm>
            <a:off x="7790688" y="4608576"/>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trailing revenue to June 30, as stated by Proofpoint</a:t>
            </a:r>
          </a:p>
        </p:txBody>
      </p:sp>
      <p:sp>
        <p:nvSpPr>
          <p:cNvPr id="55" name="TextBox"/>
          <p:cNvSpPr txBox="1"/>
          <p:nvPr/>
        </p:nvSpPr>
        <p:spPr>
          <a:xfrm>
            <a:off x="8732520" y="4535424"/>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56" name="Panel"/>
          <p:cNvSpPr/>
          <p:nvPr/>
        </p:nvSpPr>
        <p:spPr>
          <a:xfrm>
            <a:off x="420624" y="5102352"/>
            <a:ext cx="9217152" cy="9144"/>
          </a:xfrm>
          <a:prstGeom prst="rect">
            <a:avLst/>
          </a:prstGeom>
          <a:solidFill>
            <a:srgbClr val="E3DCD3"/>
          </a:solidFill>
          <a:ln>
            <a:noFill/>
          </a:ln>
          <a:effectLst/>
        </p:spPr>
        <p:txBody>
          <a:bodyPr rtlCol="0" anchor="ctr"/>
          <a:lstStyle/>
          <a:p>
            <a:pPr algn="ctr"/>
            <a:endParaRPr/>
          </a:p>
        </p:txBody>
      </p:sp>
      <p:sp>
        <p:nvSpPr>
          <p:cNvPr id="57" name="Panel"/>
          <p:cNvSpPr/>
          <p:nvPr/>
        </p:nvSpPr>
        <p:spPr>
          <a:xfrm>
            <a:off x="420624" y="5212080"/>
            <a:ext cx="749808" cy="173736"/>
          </a:xfrm>
          <a:prstGeom prst="rect">
            <a:avLst/>
          </a:prstGeom>
          <a:solidFill>
            <a:srgbClr val="1B1A1A"/>
          </a:solidFill>
          <a:ln>
            <a:noFill/>
          </a:ln>
          <a:effectLst/>
        </p:spPr>
        <p:txBody>
          <a:bodyPr rtlCol="0" anchor="ctr"/>
          <a:lstStyle/>
          <a:p>
            <a:pPr algn="ctr"/>
            <a:endParaRPr/>
          </a:p>
        </p:txBody>
      </p:sp>
      <p:sp>
        <p:nvSpPr>
          <p:cNvPr id="58" name="TextBox"/>
          <p:cNvSpPr txBox="1"/>
          <p:nvPr/>
        </p:nvSpPr>
        <p:spPr>
          <a:xfrm>
            <a:off x="420624" y="5212080"/>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APR 2026</a:t>
            </a:r>
          </a:p>
        </p:txBody>
      </p:sp>
      <p:sp>
        <p:nvSpPr>
          <p:cNvPr id="59" name="TextBox"/>
          <p:cNvSpPr txBox="1"/>
          <p:nvPr/>
        </p:nvSpPr>
        <p:spPr>
          <a:xfrm>
            <a:off x="420624" y="5431536"/>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TELECOM &amp; UCAAS</a:t>
            </a:r>
          </a:p>
        </p:txBody>
      </p:sp>
      <p:sp>
        <p:nvSpPr>
          <p:cNvPr id="60" name="TextBox"/>
          <p:cNvSpPr txBox="1"/>
          <p:nvPr/>
        </p:nvSpPr>
        <p:spPr>
          <a:xfrm>
            <a:off x="1371600" y="5486400"/>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61" name="TextBox"/>
          <p:cNvSpPr txBox="1"/>
          <p:nvPr/>
        </p:nvSpPr>
        <p:spPr>
          <a:xfrm>
            <a:off x="3090672" y="5175504"/>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TDS Telecom agreed in April and completed on September 1 the purchase of Granite State, a New Hampshire fiber and voice provider whose more than 11,000 fiber service addresses sit next to the TDS footprint (</a:t>
            </a:r>
            <a:r>
              <a:rPr sz="770" b="0" i="0" u="sng">
                <a:solidFill>
                  <a:srgbClr val="8C6239"/>
                </a:solidFill>
                <a:latin typeface="Quicksand"/>
                <a:hlinkClick r:id="rId10"/>
              </a:rPr>
              <a:t>TDS Telecom</a:t>
            </a:r>
            <a:r>
              <a:rPr sz="770" b="0" i="0">
                <a:solidFill>
                  <a:srgbClr val="333231"/>
                </a:solidFill>
                <a:latin typeface="Quicksand"/>
              </a:rPr>
              <a:t>; </a:t>
            </a:r>
            <a:r>
              <a:rPr sz="770" b="0" i="0" u="sng">
                <a:solidFill>
                  <a:srgbClr val="8C6239"/>
                </a:solidFill>
                <a:latin typeface="Quicksand"/>
                <a:hlinkClick r:id="rId11"/>
              </a:rPr>
              <a:t>Light Reading</a:t>
            </a:r>
            <a:r>
              <a:rPr sz="770" b="0" i="0">
                <a:solidFill>
                  <a:srgbClr val="333231"/>
                </a:solidFill>
                <a:latin typeface="Quicksand"/>
              </a:rPr>
              <a:t>).</a:t>
            </a:r>
          </a:p>
        </p:txBody>
      </p:sp>
      <p:sp>
        <p:nvSpPr>
          <p:cNvPr id="62" name="TextBox"/>
          <p:cNvSpPr txBox="1"/>
          <p:nvPr/>
        </p:nvSpPr>
        <p:spPr>
          <a:xfrm>
            <a:off x="6583680" y="5394960"/>
            <a:ext cx="1143000"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63" name="TextBox"/>
          <p:cNvSpPr txBox="1"/>
          <p:nvPr/>
        </p:nvSpPr>
        <p:spPr>
          <a:xfrm>
            <a:off x="7790688" y="5394960"/>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64" name="TextBox"/>
          <p:cNvSpPr txBox="1"/>
          <p:nvPr/>
        </p:nvSpPr>
        <p:spPr>
          <a:xfrm>
            <a:off x="8732520" y="5394960"/>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65" name="Panel"/>
          <p:cNvSpPr/>
          <p:nvPr/>
        </p:nvSpPr>
        <p:spPr>
          <a:xfrm>
            <a:off x="420624" y="5961888"/>
            <a:ext cx="9217152" cy="9144"/>
          </a:xfrm>
          <a:prstGeom prst="rect">
            <a:avLst/>
          </a:prstGeom>
          <a:solidFill>
            <a:srgbClr val="E3DCD3"/>
          </a:solidFill>
          <a:ln>
            <a:noFill/>
          </a:ln>
          <a:effectLst/>
        </p:spPr>
        <p:txBody>
          <a:bodyPr rtlCol="0" anchor="ctr"/>
          <a:lstStyle/>
          <a:p>
            <a:pPr algn="ctr"/>
            <a:endParaRPr/>
          </a:p>
        </p:txBody>
      </p:sp>
      <p:sp>
        <p:nvSpPr>
          <p:cNvPr id="66" name="Panel"/>
          <p:cNvSpPr/>
          <p:nvPr/>
        </p:nvSpPr>
        <p:spPr>
          <a:xfrm>
            <a:off x="420624" y="6071616"/>
            <a:ext cx="749808" cy="173736"/>
          </a:xfrm>
          <a:prstGeom prst="rect">
            <a:avLst/>
          </a:prstGeom>
          <a:solidFill>
            <a:srgbClr val="1B1A1A"/>
          </a:solidFill>
          <a:ln>
            <a:noFill/>
          </a:ln>
          <a:effectLst/>
        </p:spPr>
        <p:txBody>
          <a:bodyPr rtlCol="0" anchor="ctr"/>
          <a:lstStyle/>
          <a:p>
            <a:pPr algn="ctr"/>
            <a:endParaRPr/>
          </a:p>
        </p:txBody>
      </p:sp>
      <p:sp>
        <p:nvSpPr>
          <p:cNvPr id="67" name="TextBox"/>
          <p:cNvSpPr txBox="1"/>
          <p:nvPr/>
        </p:nvSpPr>
        <p:spPr>
          <a:xfrm>
            <a:off x="420624" y="6071616"/>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SEP 2026</a:t>
            </a:r>
          </a:p>
        </p:txBody>
      </p:sp>
      <p:sp>
        <p:nvSpPr>
          <p:cNvPr id="68" name="TextBox"/>
          <p:cNvSpPr txBox="1"/>
          <p:nvPr/>
        </p:nvSpPr>
        <p:spPr>
          <a:xfrm>
            <a:off x="420624" y="6291072"/>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TELECOM &amp; UCAAS</a:t>
            </a:r>
          </a:p>
        </p:txBody>
      </p:sp>
      <p:sp>
        <p:nvSpPr>
          <p:cNvPr id="69" name="TextBox"/>
          <p:cNvSpPr txBox="1"/>
          <p:nvPr/>
        </p:nvSpPr>
        <p:spPr>
          <a:xfrm>
            <a:off x="1371600" y="6345936"/>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70" name="TextBox"/>
          <p:cNvSpPr txBox="1"/>
          <p:nvPr/>
        </p:nvSpPr>
        <p:spPr>
          <a:xfrm>
            <a:off x="3090672" y="6035040"/>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BRC Group Holdings agreed on September 28 to acquire Sangoma, a Markham, Ontario provider of business communications software with more than 100,000 business customers and about $200 million of trailing revenue, for cash and BRC shares worth US$5.225 per Sangoma share (</a:t>
            </a:r>
            <a:r>
              <a:rPr sz="770" b="0" i="0" u="sng">
                <a:solidFill>
                  <a:srgbClr val="8C6239"/>
                </a:solidFill>
                <a:latin typeface="Quicksand"/>
                <a:hlinkClick r:id="rId12"/>
              </a:rPr>
              <a:t>Business Wire</a:t>
            </a:r>
            <a:r>
              <a:rPr sz="770" b="0" i="0">
                <a:solidFill>
                  <a:srgbClr val="333231"/>
                </a:solidFill>
                <a:latin typeface="Quicksand"/>
              </a:rPr>
              <a:t>).</a:t>
            </a:r>
          </a:p>
        </p:txBody>
      </p:sp>
      <p:sp>
        <p:nvSpPr>
          <p:cNvPr id="71" name="TextBox"/>
          <p:cNvSpPr txBox="1"/>
          <p:nvPr/>
        </p:nvSpPr>
        <p:spPr>
          <a:xfrm>
            <a:off x="6583680" y="6071616"/>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$204M</a:t>
            </a:r>
          </a:p>
        </p:txBody>
      </p:sp>
      <p:sp>
        <p:nvSpPr>
          <p:cNvPr id="72" name="TextBox"/>
          <p:cNvSpPr txBox="1"/>
          <p:nvPr/>
        </p:nvSpPr>
        <p:spPr>
          <a:xfrm>
            <a:off x="6583680" y="6327648"/>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enterprise value, as stated by the parties</a:t>
            </a:r>
          </a:p>
        </p:txBody>
      </p:sp>
      <p:sp>
        <p:nvSpPr>
          <p:cNvPr id="73" name="TextBox"/>
          <p:cNvSpPr txBox="1"/>
          <p:nvPr/>
        </p:nvSpPr>
        <p:spPr>
          <a:xfrm>
            <a:off x="7790688" y="6071616"/>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1.0x</a:t>
            </a:r>
          </a:p>
        </p:txBody>
      </p:sp>
      <p:sp>
        <p:nvSpPr>
          <p:cNvPr id="74" name="TextBox"/>
          <p:cNvSpPr txBox="1"/>
          <p:nvPr/>
        </p:nvSpPr>
        <p:spPr>
          <a:xfrm>
            <a:off x="7790688" y="6327648"/>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trailing revenue, calculated from the stated figures</a:t>
            </a:r>
          </a:p>
        </p:txBody>
      </p:sp>
      <p:sp>
        <p:nvSpPr>
          <p:cNvPr id="75" name="TextBox"/>
          <p:cNvSpPr txBox="1"/>
          <p:nvPr/>
        </p:nvSpPr>
        <p:spPr>
          <a:xfrm>
            <a:off x="8732520" y="6254496"/>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76"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35"/>
              </a:lnSpc>
              <a:spcBef>
                <a:spcPts val="0"/>
              </a:spcBef>
              <a:spcAft>
                <a:spcPts val="0"/>
              </a:spcAft>
            </a:pPr>
            <a:r>
              <a:rPr sz="745" b="0" i="0" spc="8">
                <a:solidFill>
                  <a:srgbClr val="6F6A66"/>
                </a:solidFill>
                <a:latin typeface="Quicksand"/>
              </a:rPr>
              <a:t>Values and multiples are as stated by the acquirer or reported in the linked source. Value to revenue is our calculation where marked. Company names are the property of their owners and are used for identification. Two transactions are shown for each of the six focus areas on pages 11 and 12, and transactions advised by Benchmark International appear on page 13.</a:t>
            </a:r>
          </a:p>
        </p:txBody>
      </p:sp>
      <p:sp>
        <p:nvSpPr>
          <p:cNvPr id="77"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45" b="1" kern="0" spc="195" dirty="0">
                <a:solidFill>
                  <a:srgbClr val="8C6239"/>
                </a:solidFill>
                <a:latin typeface="Quicksand" pitchFamily="34" charset="0"/>
              </a:rPr>
              <a:t>TECHNOLOGY  |  QUARTERLY INDUSTRY REPORT</a:t>
            </a:r>
            <a:endParaRPr lang="en-US" sz="745" dirty="0"/>
          </a:p>
        </p:txBody>
      </p:sp>
      <p:sp>
        <p:nvSpPr>
          <p:cNvPr id="78"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45" kern="0" spc="90" dirty="0">
                <a:solidFill>
                  <a:srgbClr val="6F6A66"/>
                </a:solidFill>
                <a:latin typeface="Cinzel" pitchFamily="34" charset="0"/>
              </a:rPr>
              <a:t>Q4 2026</a:t>
            </a:r>
            <a:endParaRPr lang="en-US" sz="945" dirty="0"/>
          </a:p>
        </p:txBody>
      </p:sp>
      <p:sp>
        <p:nvSpPr>
          <p:cNvPr id="79" name="Shape 9"/>
          <p:cNvSpPr/>
          <p:nvPr/>
        </p:nvSpPr>
        <p:spPr>
          <a:xfrm>
            <a:off x="419100" y="7029450"/>
            <a:ext cx="9220200" cy="9525"/>
          </a:xfrm>
          <a:prstGeom prst="rect">
            <a:avLst/>
          </a:prstGeom>
          <a:solidFill>
            <a:srgbClr val="E3DCD3"/>
          </a:solidFill>
          <a:ln/>
        </p:spPr>
        <p:txBody>
          <a:bodyPr/>
          <a:lstStyle/>
          <a:p>
            <a:endParaRPr lang="en-US"/>
          </a:p>
        </p:txBody>
      </p:sp>
      <p:pic>
        <p:nvPicPr>
          <p:cNvPr id="80" name="Benchmark International logo"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81"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75" b="1" kern="0" spc="150" dirty="0">
                <a:solidFill>
                  <a:srgbClr val="1B1A1A"/>
                </a:solidFill>
                <a:latin typeface="Quicksand" pitchFamily="34" charset="0"/>
              </a:rPr>
              <a:t>11</a:t>
            </a:r>
            <a:endParaRPr lang="en-US" sz="775" dirty="0"/>
          </a:p>
        </p:txBody>
      </p:sp>
      <p:pic>
        <p:nvPicPr>
          <p:cNvPr id="82" name="Astreya logo" descr="Astreya logo"/>
          <p:cNvPicPr>
            <a:picLocks noChangeAspect="1"/>
          </p:cNvPicPr>
          <p:nvPr/>
        </p:nvPicPr>
        <p:blipFill>
          <a:blip r:embed="rId14"/>
          <a:stretch/>
        </p:blipFill>
        <p:spPr>
          <a:xfrm>
            <a:off x="1689207" y="1746504"/>
            <a:ext cx="900978" cy="274320"/>
          </a:xfrm>
          <a:prstGeom prst="rect">
            <a:avLst/>
          </a:prstGeom>
        </p:spPr>
      </p:pic>
      <p:pic>
        <p:nvPicPr>
          <p:cNvPr id="83" name="Cognizant logo" descr="Cognizant logo"/>
          <p:cNvPicPr>
            <a:picLocks noChangeAspect="1"/>
          </p:cNvPicPr>
          <p:nvPr/>
        </p:nvPicPr>
        <p:blipFill>
          <a:blip r:embed="rId15"/>
          <a:stretch/>
        </p:blipFill>
        <p:spPr>
          <a:xfrm>
            <a:off x="1412190" y="2185416"/>
            <a:ext cx="1455011" cy="256032"/>
          </a:xfrm>
          <a:prstGeom prst="rect">
            <a:avLst/>
          </a:prstGeom>
        </p:spPr>
      </p:pic>
      <p:pic>
        <p:nvPicPr>
          <p:cNvPr id="84" name="General Datatech (GDT) logo" descr="General Datatech (GDT) logo"/>
          <p:cNvPicPr>
            <a:picLocks noChangeAspect="1"/>
          </p:cNvPicPr>
          <p:nvPr/>
        </p:nvPicPr>
        <p:blipFill>
          <a:blip r:embed="rId16"/>
          <a:stretch/>
        </p:blipFill>
        <p:spPr>
          <a:xfrm>
            <a:off x="1536192" y="2606040"/>
            <a:ext cx="1207008" cy="274320"/>
          </a:xfrm>
          <a:prstGeom prst="rect">
            <a:avLst/>
          </a:prstGeom>
        </p:spPr>
      </p:pic>
      <p:pic>
        <p:nvPicPr>
          <p:cNvPr id="85" name="Softcat logo" descr="Softcat logo"/>
          <p:cNvPicPr>
            <a:picLocks noChangeAspect="1"/>
          </p:cNvPicPr>
          <p:nvPr/>
        </p:nvPicPr>
        <p:blipFill>
          <a:blip r:embed="rId17"/>
          <a:stretch/>
        </p:blipFill>
        <p:spPr>
          <a:xfrm>
            <a:off x="1728110" y="3044952"/>
            <a:ext cx="823173" cy="256032"/>
          </a:xfrm>
          <a:prstGeom prst="rect">
            <a:avLst/>
          </a:prstGeom>
        </p:spPr>
      </p:pic>
      <p:pic>
        <p:nvPicPr>
          <p:cNvPr id="86" name="Dragos logo" descr="Dragos logo"/>
          <p:cNvPicPr>
            <a:picLocks noChangeAspect="1"/>
          </p:cNvPicPr>
          <p:nvPr/>
        </p:nvPicPr>
        <p:blipFill>
          <a:blip r:embed="rId18"/>
          <a:stretch/>
        </p:blipFill>
        <p:spPr>
          <a:xfrm>
            <a:off x="1371600" y="3546122"/>
            <a:ext cx="487680" cy="113227"/>
          </a:xfrm>
          <a:prstGeom prst="rect">
            <a:avLst/>
          </a:prstGeom>
        </p:spPr>
      </p:pic>
      <p:pic>
        <p:nvPicPr>
          <p:cNvPr id="87" name="runZero logo" descr="runZero logo"/>
          <p:cNvPicPr>
            <a:picLocks noChangeAspect="1"/>
          </p:cNvPicPr>
          <p:nvPr/>
        </p:nvPicPr>
        <p:blipFill>
          <a:blip r:embed="rId19"/>
          <a:stretch/>
        </p:blipFill>
        <p:spPr>
          <a:xfrm>
            <a:off x="1965085" y="3465576"/>
            <a:ext cx="349223" cy="274320"/>
          </a:xfrm>
          <a:prstGeom prst="rect">
            <a:avLst/>
          </a:prstGeom>
        </p:spPr>
      </p:pic>
      <p:pic>
        <p:nvPicPr>
          <p:cNvPr id="88" name="NetRise, a Dragos company logo" descr="NetRise, a Dragos company logo"/>
          <p:cNvPicPr>
            <a:picLocks noChangeAspect="1"/>
          </p:cNvPicPr>
          <p:nvPr/>
        </p:nvPicPr>
        <p:blipFill>
          <a:blip r:embed="rId20"/>
          <a:stretch/>
        </p:blipFill>
        <p:spPr>
          <a:xfrm>
            <a:off x="2420112" y="3533184"/>
            <a:ext cx="487680" cy="139103"/>
          </a:xfrm>
          <a:prstGeom prst="rect">
            <a:avLst/>
          </a:prstGeom>
        </p:spPr>
      </p:pic>
      <p:pic>
        <p:nvPicPr>
          <p:cNvPr id="89" name="Accenture logo" descr="Accenture logo"/>
          <p:cNvPicPr>
            <a:picLocks noChangeAspect="1"/>
          </p:cNvPicPr>
          <p:nvPr/>
        </p:nvPicPr>
        <p:blipFill>
          <a:blip r:embed="rId21"/>
          <a:stretch/>
        </p:blipFill>
        <p:spPr>
          <a:xfrm>
            <a:off x="1654118" y="3904488"/>
            <a:ext cx="971156" cy="256032"/>
          </a:xfrm>
          <a:prstGeom prst="rect">
            <a:avLst/>
          </a:prstGeom>
        </p:spPr>
      </p:pic>
      <p:pic>
        <p:nvPicPr>
          <p:cNvPr id="90" name="Varonis logo" descr="Varonis logo"/>
          <p:cNvPicPr>
            <a:picLocks noChangeAspect="1"/>
          </p:cNvPicPr>
          <p:nvPr/>
        </p:nvPicPr>
        <p:blipFill>
          <a:blip r:embed="rId22"/>
          <a:stretch/>
        </p:blipFill>
        <p:spPr>
          <a:xfrm>
            <a:off x="1371600" y="4334256"/>
            <a:ext cx="1536192" cy="256032"/>
          </a:xfrm>
          <a:prstGeom prst="rect">
            <a:avLst/>
          </a:prstGeom>
        </p:spPr>
      </p:pic>
      <p:pic>
        <p:nvPicPr>
          <p:cNvPr id="91" name="Proofpoint logo" descr="Proofpoint logo"/>
          <p:cNvPicPr>
            <a:picLocks noChangeAspect="1"/>
          </p:cNvPicPr>
          <p:nvPr/>
        </p:nvPicPr>
        <p:blipFill>
          <a:blip r:embed="rId23"/>
          <a:stretch/>
        </p:blipFill>
        <p:spPr>
          <a:xfrm>
            <a:off x="1371600" y="4821297"/>
            <a:ext cx="749808" cy="141486"/>
          </a:xfrm>
          <a:prstGeom prst="rect">
            <a:avLst/>
          </a:prstGeom>
        </p:spPr>
      </p:pic>
      <p:pic>
        <p:nvPicPr>
          <p:cNvPr id="92" name="Thoma Bravo logo" descr="Thoma Bravo logo"/>
          <p:cNvPicPr>
            <a:picLocks noChangeAspect="1"/>
          </p:cNvPicPr>
          <p:nvPr/>
        </p:nvPicPr>
        <p:blipFill>
          <a:blip r:embed="rId24"/>
          <a:stretch/>
        </p:blipFill>
        <p:spPr>
          <a:xfrm>
            <a:off x="2157984" y="4841572"/>
            <a:ext cx="749808" cy="100936"/>
          </a:xfrm>
          <a:prstGeom prst="rect">
            <a:avLst/>
          </a:prstGeom>
        </p:spPr>
      </p:pic>
      <p:pic>
        <p:nvPicPr>
          <p:cNvPr id="93" name="Granite State Communications logo" descr="Granite State Communications logo"/>
          <p:cNvPicPr>
            <a:picLocks noChangeAspect="1"/>
          </p:cNvPicPr>
          <p:nvPr/>
        </p:nvPicPr>
        <p:blipFill>
          <a:blip r:embed="rId25"/>
          <a:stretch/>
        </p:blipFill>
        <p:spPr>
          <a:xfrm>
            <a:off x="1477959" y="5184648"/>
            <a:ext cx="1323474" cy="274320"/>
          </a:xfrm>
          <a:prstGeom prst="rect">
            <a:avLst/>
          </a:prstGeom>
        </p:spPr>
      </p:pic>
      <p:pic>
        <p:nvPicPr>
          <p:cNvPr id="94" name="TDS Telecom logo" descr="TDS Telecom logo"/>
          <p:cNvPicPr>
            <a:picLocks noChangeAspect="1"/>
          </p:cNvPicPr>
          <p:nvPr/>
        </p:nvPicPr>
        <p:blipFill>
          <a:blip r:embed="rId26"/>
          <a:stretch/>
        </p:blipFill>
        <p:spPr>
          <a:xfrm>
            <a:off x="1943026" y="5623560"/>
            <a:ext cx="393339" cy="256032"/>
          </a:xfrm>
          <a:prstGeom prst="rect">
            <a:avLst/>
          </a:prstGeom>
        </p:spPr>
      </p:pic>
      <p:pic>
        <p:nvPicPr>
          <p:cNvPr id="95" name="Sangoma logo" descr="Sangoma logo"/>
          <p:cNvPicPr>
            <a:picLocks noChangeAspect="1"/>
          </p:cNvPicPr>
          <p:nvPr/>
        </p:nvPicPr>
        <p:blipFill>
          <a:blip r:embed="rId27"/>
          <a:stretch/>
        </p:blipFill>
        <p:spPr>
          <a:xfrm>
            <a:off x="1529052" y="6044184"/>
            <a:ext cx="1221288" cy="274320"/>
          </a:xfrm>
          <a:prstGeom prst="rect">
            <a:avLst/>
          </a:prstGeom>
        </p:spPr>
      </p:pic>
      <p:pic>
        <p:nvPicPr>
          <p:cNvPr id="96" name="BRC Group Holdings, Inc. logo" descr="BRC Group Holdings, Inc. logo"/>
          <p:cNvPicPr>
            <a:picLocks noChangeAspect="1"/>
          </p:cNvPicPr>
          <p:nvPr/>
        </p:nvPicPr>
        <p:blipFill>
          <a:blip r:embed="rId28"/>
          <a:stretch/>
        </p:blipFill>
        <p:spPr>
          <a:xfrm>
            <a:off x="1515909" y="6483096"/>
            <a:ext cx="1247574" cy="2560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 (Continued)</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Public acquirers disclosed prices for the larger deals, while sponsor-backed platforms and regional operators kept terms private.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p:cNvSpPr txBox="1"/>
          <p:nvPr/>
        </p:nvSpPr>
        <p:spPr>
          <a:xfrm>
            <a:off x="420624" y="1298448"/>
            <a:ext cx="82296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ANNOUNCED</a:t>
            </a:r>
          </a:p>
        </p:txBody>
      </p:sp>
      <p:sp>
        <p:nvSpPr>
          <p:cNvPr id="8" name="TextBox"/>
          <p:cNvSpPr txBox="1"/>
          <p:nvPr/>
        </p:nvSpPr>
        <p:spPr>
          <a:xfrm>
            <a:off x="1371600" y="1298448"/>
            <a:ext cx="155448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TARGET AND ACQUIRER</a:t>
            </a:r>
          </a:p>
        </p:txBody>
      </p:sp>
      <p:sp>
        <p:nvSpPr>
          <p:cNvPr id="9" name="TextBox"/>
          <p:cNvSpPr txBox="1"/>
          <p:nvPr/>
        </p:nvSpPr>
        <p:spPr>
          <a:xfrm>
            <a:off x="3090672" y="1298448"/>
            <a:ext cx="329184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BUSINESS AND TERMS</a:t>
            </a:r>
          </a:p>
        </p:txBody>
      </p:sp>
      <p:sp>
        <p:nvSpPr>
          <p:cNvPr id="10" name="TextBox"/>
          <p:cNvSpPr txBox="1"/>
          <p:nvPr/>
        </p:nvSpPr>
        <p:spPr>
          <a:xfrm>
            <a:off x="6583680" y="1298448"/>
            <a:ext cx="109728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STATED VALUE</a:t>
            </a:r>
          </a:p>
        </p:txBody>
      </p:sp>
      <p:sp>
        <p:nvSpPr>
          <p:cNvPr id="11" name="TextBox"/>
          <p:cNvSpPr txBox="1"/>
          <p:nvPr/>
        </p:nvSpPr>
        <p:spPr>
          <a:xfrm>
            <a:off x="7790688" y="1298448"/>
            <a:ext cx="91440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VALUE TO REVENUE</a:t>
            </a:r>
          </a:p>
        </p:txBody>
      </p:sp>
      <p:sp>
        <p:nvSpPr>
          <p:cNvPr id="12" name="TextBox"/>
          <p:cNvSpPr txBox="1"/>
          <p:nvPr/>
        </p:nvSpPr>
        <p:spPr>
          <a:xfrm>
            <a:off x="8732520" y="1298448"/>
            <a:ext cx="905256"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VALUE TO EARNINGS</a:t>
            </a:r>
          </a:p>
        </p:txBody>
      </p:sp>
      <p:sp>
        <p:nvSpPr>
          <p:cNvPr id="13" name="Rule"/>
          <p:cNvSpPr/>
          <p:nvPr/>
        </p:nvSpPr>
        <p:spPr>
          <a:xfrm>
            <a:off x="420624" y="1627632"/>
            <a:ext cx="9217152" cy="18288"/>
          </a:xfrm>
          <a:prstGeom prst="rect">
            <a:avLst/>
          </a:prstGeom>
          <a:solidFill>
            <a:srgbClr val="B68757"/>
          </a:solidFill>
          <a:ln>
            <a:noFill/>
          </a:ln>
          <a:effectLst/>
        </p:spPr>
        <p:txBody>
          <a:bodyPr rtlCol="0" anchor="ctr"/>
          <a:lstStyle/>
          <a:p>
            <a:pPr algn="ctr"/>
            <a:endParaRPr/>
          </a:p>
        </p:txBody>
      </p:sp>
      <p:sp>
        <p:nvSpPr>
          <p:cNvPr id="14" name="Panel"/>
          <p:cNvSpPr/>
          <p:nvPr/>
        </p:nvSpPr>
        <p:spPr>
          <a:xfrm>
            <a:off x="420624" y="1773936"/>
            <a:ext cx="749808" cy="173736"/>
          </a:xfrm>
          <a:prstGeom prst="rect">
            <a:avLst/>
          </a:prstGeom>
          <a:solidFill>
            <a:srgbClr val="1B1A1A"/>
          </a:solidFill>
          <a:ln>
            <a:noFill/>
          </a:ln>
          <a:effectLst/>
        </p:spPr>
        <p:txBody>
          <a:bodyPr rtlCol="0" anchor="ctr"/>
          <a:lstStyle/>
          <a:p>
            <a:pPr algn="ctr"/>
            <a:endParaRPr/>
          </a:p>
        </p:txBody>
      </p:sp>
      <p:sp>
        <p:nvSpPr>
          <p:cNvPr id="15" name="TextBox"/>
          <p:cNvSpPr txBox="1"/>
          <p:nvPr/>
        </p:nvSpPr>
        <p:spPr>
          <a:xfrm>
            <a:off x="420624" y="1773936"/>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SEP 2026</a:t>
            </a:r>
          </a:p>
        </p:txBody>
      </p:sp>
      <p:sp>
        <p:nvSpPr>
          <p:cNvPr id="16" name="TextBox"/>
          <p:cNvSpPr txBox="1"/>
          <p:nvPr/>
        </p:nvSpPr>
        <p:spPr>
          <a:xfrm>
            <a:off x="420624" y="1993392"/>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SYSTEMS INTEGRATION</a:t>
            </a:r>
          </a:p>
        </p:txBody>
      </p:sp>
      <p:sp>
        <p:nvSpPr>
          <p:cNvPr id="17" name="TextBox"/>
          <p:cNvSpPr txBox="1"/>
          <p:nvPr/>
        </p:nvSpPr>
        <p:spPr>
          <a:xfrm>
            <a:off x="1371600" y="2048256"/>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18" name="TextBox"/>
          <p:cNvSpPr txBox="1"/>
          <p:nvPr/>
        </p:nvSpPr>
        <p:spPr>
          <a:xfrm>
            <a:off x="3090672" y="1737360"/>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Pavion, backed by Wind Point Partners, acquired Communication Company, a South Bend, Indiana integrator founded in 1976 that designs, installs, and services life safety, security, audiovisual, and communications systems for healthcare, education, and commercial customers (</a:t>
            </a:r>
            <a:r>
              <a:rPr sz="810" b="0" i="0" u="sng">
                <a:solidFill>
                  <a:srgbClr val="8C6239"/>
                </a:solidFill>
                <a:latin typeface="Quicksand"/>
                <a:hlinkClick r:id="rId2"/>
              </a:rPr>
              <a:t>SecurityInfoWatch</a:t>
            </a:r>
            <a:r>
              <a:rPr sz="810" b="0" i="0">
                <a:solidFill>
                  <a:srgbClr val="333231"/>
                </a:solidFill>
                <a:latin typeface="Quicksand"/>
              </a:rPr>
              <a:t>). Sponsor-backed platforms rarely disclose price.</a:t>
            </a:r>
          </a:p>
        </p:txBody>
      </p:sp>
      <p:sp>
        <p:nvSpPr>
          <p:cNvPr id="19" name="TextBox"/>
          <p:cNvSpPr txBox="1"/>
          <p:nvPr/>
        </p:nvSpPr>
        <p:spPr>
          <a:xfrm>
            <a:off x="6583680" y="1956816"/>
            <a:ext cx="1143000"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20" name="TextBox"/>
          <p:cNvSpPr txBox="1"/>
          <p:nvPr/>
        </p:nvSpPr>
        <p:spPr>
          <a:xfrm>
            <a:off x="7790688" y="195681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21" name="TextBox"/>
          <p:cNvSpPr txBox="1"/>
          <p:nvPr/>
        </p:nvSpPr>
        <p:spPr>
          <a:xfrm>
            <a:off x="8732520" y="195681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22" name="Panel"/>
          <p:cNvSpPr/>
          <p:nvPr/>
        </p:nvSpPr>
        <p:spPr>
          <a:xfrm>
            <a:off x="420624" y="2523744"/>
            <a:ext cx="9217152" cy="9144"/>
          </a:xfrm>
          <a:prstGeom prst="rect">
            <a:avLst/>
          </a:prstGeom>
          <a:solidFill>
            <a:srgbClr val="E3DCD3"/>
          </a:solidFill>
          <a:ln>
            <a:noFill/>
          </a:ln>
          <a:effectLst/>
        </p:spPr>
        <p:txBody>
          <a:bodyPr rtlCol="0" anchor="ctr"/>
          <a:lstStyle/>
          <a:p>
            <a:pPr algn="ctr"/>
            <a:endParaRPr/>
          </a:p>
        </p:txBody>
      </p:sp>
      <p:sp>
        <p:nvSpPr>
          <p:cNvPr id="23" name="Panel"/>
          <p:cNvSpPr/>
          <p:nvPr/>
        </p:nvSpPr>
        <p:spPr>
          <a:xfrm>
            <a:off x="420624" y="2633472"/>
            <a:ext cx="749808" cy="173736"/>
          </a:xfrm>
          <a:prstGeom prst="rect">
            <a:avLst/>
          </a:prstGeom>
          <a:solidFill>
            <a:srgbClr val="1B1A1A"/>
          </a:solidFill>
          <a:ln>
            <a:noFill/>
          </a:ln>
          <a:effectLst/>
        </p:spPr>
        <p:txBody>
          <a:bodyPr rtlCol="0" anchor="ctr"/>
          <a:lstStyle/>
          <a:p>
            <a:pPr algn="ctr"/>
            <a:endParaRPr/>
          </a:p>
        </p:txBody>
      </p:sp>
      <p:sp>
        <p:nvSpPr>
          <p:cNvPr id="24" name="TextBox"/>
          <p:cNvSpPr txBox="1"/>
          <p:nvPr/>
        </p:nvSpPr>
        <p:spPr>
          <a:xfrm>
            <a:off x="420624" y="2633472"/>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JUN 2026</a:t>
            </a:r>
          </a:p>
        </p:txBody>
      </p:sp>
      <p:sp>
        <p:nvSpPr>
          <p:cNvPr id="25" name="TextBox"/>
          <p:cNvSpPr txBox="1"/>
          <p:nvPr/>
        </p:nvSpPr>
        <p:spPr>
          <a:xfrm>
            <a:off x="420624" y="2852928"/>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SYSTEMS INTEGRATION</a:t>
            </a:r>
          </a:p>
        </p:txBody>
      </p:sp>
      <p:sp>
        <p:nvSpPr>
          <p:cNvPr id="26" name="TextBox"/>
          <p:cNvSpPr txBox="1"/>
          <p:nvPr/>
        </p:nvSpPr>
        <p:spPr>
          <a:xfrm>
            <a:off x="1371600" y="2907792"/>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27" name="TextBox"/>
          <p:cNvSpPr txBox="1"/>
          <p:nvPr/>
        </p:nvSpPr>
        <p:spPr>
          <a:xfrm>
            <a:off x="3090672" y="2596896"/>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Persistent Systems, which held 21%, launched a voluntary cash offer on June 28 of EUR 81 per share for Nagarro, a listed digital engineering and IT services group, a 140% premium to the undisturbed price. Closing is targeted for the fourth quarter of 2026 or the first quarter of 2027 (</a:t>
            </a:r>
            <a:r>
              <a:rPr sz="810" b="0" i="0" u="sng">
                <a:solidFill>
                  <a:srgbClr val="8C6239"/>
                </a:solidFill>
                <a:latin typeface="Quicksand"/>
                <a:hlinkClick r:id="rId3"/>
              </a:rPr>
              <a:t>Angel One</a:t>
            </a:r>
            <a:r>
              <a:rPr sz="810" b="0" i="0">
                <a:solidFill>
                  <a:srgbClr val="333231"/>
                </a:solidFill>
                <a:latin typeface="Quicksand"/>
              </a:rPr>
              <a:t>; </a:t>
            </a:r>
            <a:r>
              <a:rPr sz="810" b="0" i="0" u="sng">
                <a:solidFill>
                  <a:srgbClr val="8C6239"/>
                </a:solidFill>
                <a:latin typeface="Quicksand"/>
                <a:hlinkClick r:id="rId4"/>
              </a:rPr>
              <a:t>EY</a:t>
            </a:r>
            <a:r>
              <a:rPr sz="810" b="0" i="0">
                <a:solidFill>
                  <a:srgbClr val="333231"/>
                </a:solidFill>
                <a:latin typeface="Quicksand"/>
              </a:rPr>
              <a:t>).</a:t>
            </a:r>
          </a:p>
        </p:txBody>
      </p:sp>
      <p:sp>
        <p:nvSpPr>
          <p:cNvPr id="28" name="TextBox"/>
          <p:cNvSpPr txBox="1"/>
          <p:nvPr/>
        </p:nvSpPr>
        <p:spPr>
          <a:xfrm>
            <a:off x="6583680" y="2633472"/>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EUR 1.27B</a:t>
            </a:r>
          </a:p>
        </p:txBody>
      </p:sp>
      <p:sp>
        <p:nvSpPr>
          <p:cNvPr id="29" name="TextBox"/>
          <p:cNvSpPr txBox="1"/>
          <p:nvPr/>
        </p:nvSpPr>
        <p:spPr>
          <a:xfrm>
            <a:off x="6583680" y="2889504"/>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enterprise value, as reported by Angel One</a:t>
            </a:r>
          </a:p>
        </p:txBody>
      </p:sp>
      <p:sp>
        <p:nvSpPr>
          <p:cNvPr id="30" name="TextBox"/>
          <p:cNvSpPr txBox="1"/>
          <p:nvPr/>
        </p:nvSpPr>
        <p:spPr>
          <a:xfrm>
            <a:off x="7790688" y="2633472"/>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1.27x</a:t>
            </a:r>
          </a:p>
        </p:txBody>
      </p:sp>
      <p:sp>
        <p:nvSpPr>
          <p:cNvPr id="31" name="TextBox"/>
          <p:cNvSpPr txBox="1"/>
          <p:nvPr/>
        </p:nvSpPr>
        <p:spPr>
          <a:xfrm>
            <a:off x="7790688" y="2889504"/>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trailing revenue to March 2026, as reported; EY shows about 1.3x</a:t>
            </a:r>
          </a:p>
        </p:txBody>
      </p:sp>
      <p:sp>
        <p:nvSpPr>
          <p:cNvPr id="32" name="TextBox"/>
          <p:cNvSpPr txBox="1"/>
          <p:nvPr/>
        </p:nvSpPr>
        <p:spPr>
          <a:xfrm>
            <a:off x="8732520" y="2633472"/>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9.1x</a:t>
            </a:r>
          </a:p>
        </p:txBody>
      </p:sp>
      <p:sp>
        <p:nvSpPr>
          <p:cNvPr id="33" name="TextBox"/>
          <p:cNvSpPr txBox="1"/>
          <p:nvPr/>
        </p:nvSpPr>
        <p:spPr>
          <a:xfrm>
            <a:off x="8732520" y="2889504"/>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trailing EBITDA to March 2026, as reported; EY shows about 9.3x</a:t>
            </a:r>
          </a:p>
        </p:txBody>
      </p:sp>
      <p:sp>
        <p:nvSpPr>
          <p:cNvPr id="34" name="Panel"/>
          <p:cNvSpPr/>
          <p:nvPr/>
        </p:nvSpPr>
        <p:spPr>
          <a:xfrm>
            <a:off x="420624" y="3383280"/>
            <a:ext cx="9217152" cy="9144"/>
          </a:xfrm>
          <a:prstGeom prst="rect">
            <a:avLst/>
          </a:prstGeom>
          <a:solidFill>
            <a:srgbClr val="E3DCD3"/>
          </a:solidFill>
          <a:ln>
            <a:noFill/>
          </a:ln>
          <a:effectLst/>
        </p:spPr>
        <p:txBody>
          <a:bodyPr rtlCol="0" anchor="ctr"/>
          <a:lstStyle/>
          <a:p>
            <a:pPr algn="ctr"/>
            <a:endParaRPr/>
          </a:p>
        </p:txBody>
      </p:sp>
      <p:sp>
        <p:nvSpPr>
          <p:cNvPr id="35" name="Panel"/>
          <p:cNvSpPr/>
          <p:nvPr/>
        </p:nvSpPr>
        <p:spPr>
          <a:xfrm>
            <a:off x="420624" y="3493008"/>
            <a:ext cx="749808" cy="173736"/>
          </a:xfrm>
          <a:prstGeom prst="rect">
            <a:avLst/>
          </a:prstGeom>
          <a:solidFill>
            <a:srgbClr val="1B1A1A"/>
          </a:solidFill>
          <a:ln>
            <a:noFill/>
          </a:ln>
          <a:effectLst/>
        </p:spPr>
        <p:txBody>
          <a:bodyPr rtlCol="0" anchor="ctr"/>
          <a:lstStyle/>
          <a:p>
            <a:pPr algn="ctr"/>
            <a:endParaRPr/>
          </a:p>
        </p:txBody>
      </p:sp>
      <p:sp>
        <p:nvSpPr>
          <p:cNvPr id="36" name="TextBox"/>
          <p:cNvSpPr txBox="1"/>
          <p:nvPr/>
        </p:nvSpPr>
        <p:spPr>
          <a:xfrm>
            <a:off x="420624" y="3493008"/>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JUN 2026</a:t>
            </a:r>
          </a:p>
        </p:txBody>
      </p:sp>
      <p:sp>
        <p:nvSpPr>
          <p:cNvPr id="37" name="TextBox"/>
          <p:cNvSpPr txBox="1"/>
          <p:nvPr/>
        </p:nvSpPr>
        <p:spPr>
          <a:xfrm>
            <a:off x="420624" y="3712464"/>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ELECTRONICS &amp; HARDWARE</a:t>
            </a:r>
          </a:p>
        </p:txBody>
      </p:sp>
      <p:sp>
        <p:nvSpPr>
          <p:cNvPr id="38" name="TextBox"/>
          <p:cNvSpPr txBox="1"/>
          <p:nvPr/>
        </p:nvSpPr>
        <p:spPr>
          <a:xfrm>
            <a:off x="1371600" y="3767328"/>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39" name="TextBox"/>
          <p:cNvSpPr txBox="1"/>
          <p:nvPr/>
        </p:nvSpPr>
        <p:spPr>
          <a:xfrm>
            <a:off x="3090672" y="3456432"/>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Motorola Solutions agreed in June and completed on August 20 the purchase of D-Fend, an Israeli counter-drone company whose radio frequency cyber-takeover technology is deployed in more than 30 countries and which expected about $185 million of revenue in 2026 (</a:t>
            </a:r>
            <a:r>
              <a:rPr sz="810" b="0" i="0" u="sng">
                <a:solidFill>
                  <a:srgbClr val="8C6239"/>
                </a:solidFill>
                <a:latin typeface="Quicksand"/>
                <a:hlinkClick r:id="rId5"/>
              </a:rPr>
              <a:t>Motorola Solutions</a:t>
            </a:r>
            <a:r>
              <a:rPr sz="810" b="0" i="0">
                <a:solidFill>
                  <a:srgbClr val="333231"/>
                </a:solidFill>
                <a:latin typeface="Quicksand"/>
              </a:rPr>
              <a:t>).</a:t>
            </a:r>
          </a:p>
        </p:txBody>
      </p:sp>
      <p:sp>
        <p:nvSpPr>
          <p:cNvPr id="40" name="TextBox"/>
          <p:cNvSpPr txBox="1"/>
          <p:nvPr/>
        </p:nvSpPr>
        <p:spPr>
          <a:xfrm>
            <a:off x="6583680" y="3493008"/>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$1.5B</a:t>
            </a:r>
          </a:p>
        </p:txBody>
      </p:sp>
      <p:sp>
        <p:nvSpPr>
          <p:cNvPr id="41" name="TextBox"/>
          <p:cNvSpPr txBox="1"/>
          <p:nvPr/>
        </p:nvSpPr>
        <p:spPr>
          <a:xfrm>
            <a:off x="6583680" y="3749040"/>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as stated by Motorola Solutions</a:t>
            </a:r>
          </a:p>
        </p:txBody>
      </p:sp>
      <p:sp>
        <p:nvSpPr>
          <p:cNvPr id="42" name="TextBox"/>
          <p:cNvSpPr txBox="1"/>
          <p:nvPr/>
        </p:nvSpPr>
        <p:spPr>
          <a:xfrm>
            <a:off x="7790688" y="3493008"/>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8.1x</a:t>
            </a:r>
          </a:p>
        </p:txBody>
      </p:sp>
      <p:sp>
        <p:nvSpPr>
          <p:cNvPr id="43" name="TextBox"/>
          <p:cNvSpPr txBox="1"/>
          <p:nvPr/>
        </p:nvSpPr>
        <p:spPr>
          <a:xfrm>
            <a:off x="7790688" y="3749040"/>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expected 2026 revenue, calculated from the stated figures</a:t>
            </a:r>
          </a:p>
        </p:txBody>
      </p:sp>
      <p:sp>
        <p:nvSpPr>
          <p:cNvPr id="44" name="TextBox"/>
          <p:cNvSpPr txBox="1"/>
          <p:nvPr/>
        </p:nvSpPr>
        <p:spPr>
          <a:xfrm>
            <a:off x="8732520" y="3675888"/>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45" name="Panel"/>
          <p:cNvSpPr/>
          <p:nvPr/>
        </p:nvSpPr>
        <p:spPr>
          <a:xfrm>
            <a:off x="420624" y="4242816"/>
            <a:ext cx="9217152" cy="9144"/>
          </a:xfrm>
          <a:prstGeom prst="rect">
            <a:avLst/>
          </a:prstGeom>
          <a:solidFill>
            <a:srgbClr val="E3DCD3"/>
          </a:solidFill>
          <a:ln>
            <a:noFill/>
          </a:ln>
          <a:effectLst/>
        </p:spPr>
        <p:txBody>
          <a:bodyPr rtlCol="0" anchor="ctr"/>
          <a:lstStyle/>
          <a:p>
            <a:pPr algn="ctr"/>
            <a:endParaRPr/>
          </a:p>
        </p:txBody>
      </p:sp>
      <p:sp>
        <p:nvSpPr>
          <p:cNvPr id="46" name="Panel"/>
          <p:cNvSpPr/>
          <p:nvPr/>
        </p:nvSpPr>
        <p:spPr>
          <a:xfrm>
            <a:off x="420624" y="4352544"/>
            <a:ext cx="749808" cy="173736"/>
          </a:xfrm>
          <a:prstGeom prst="rect">
            <a:avLst/>
          </a:prstGeom>
          <a:solidFill>
            <a:srgbClr val="1B1A1A"/>
          </a:solidFill>
          <a:ln>
            <a:noFill/>
          </a:ln>
          <a:effectLst/>
        </p:spPr>
        <p:txBody>
          <a:bodyPr rtlCol="0" anchor="ctr"/>
          <a:lstStyle/>
          <a:p>
            <a:pPr algn="ctr"/>
            <a:endParaRPr/>
          </a:p>
        </p:txBody>
      </p:sp>
      <p:sp>
        <p:nvSpPr>
          <p:cNvPr id="47" name="TextBox"/>
          <p:cNvSpPr txBox="1"/>
          <p:nvPr/>
        </p:nvSpPr>
        <p:spPr>
          <a:xfrm>
            <a:off x="420624" y="4352544"/>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OCT 2026</a:t>
            </a:r>
          </a:p>
        </p:txBody>
      </p:sp>
      <p:sp>
        <p:nvSpPr>
          <p:cNvPr id="48" name="TextBox"/>
          <p:cNvSpPr txBox="1"/>
          <p:nvPr/>
        </p:nvSpPr>
        <p:spPr>
          <a:xfrm>
            <a:off x="420624" y="4572000"/>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ELECTRONICS &amp; HARDWARE</a:t>
            </a:r>
          </a:p>
        </p:txBody>
      </p:sp>
      <p:sp>
        <p:nvSpPr>
          <p:cNvPr id="49" name="TextBox"/>
          <p:cNvSpPr txBox="1"/>
          <p:nvPr/>
        </p:nvSpPr>
        <p:spPr>
          <a:xfrm>
            <a:off x="1371600" y="4626864"/>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50" name="TextBox"/>
          <p:cNvSpPr txBox="1"/>
          <p:nvPr/>
        </p:nvSpPr>
        <p:spPr>
          <a:xfrm>
            <a:off x="3090672" y="4315968"/>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TTM Technologies agreed on October 19 to buy the Ophir Optics business from MKS, a maker of precision infrared optics with plants in Israel and Romania, for about $650 million in cash. Closing is expected in the second quarter of 2027 (</a:t>
            </a:r>
            <a:r>
              <a:rPr sz="810" b="0" i="0" u="sng">
                <a:solidFill>
                  <a:srgbClr val="8C6239"/>
                </a:solidFill>
                <a:latin typeface="Quicksand"/>
                <a:hlinkClick r:id="rId6"/>
              </a:rPr>
              <a:t>TTM Technologies</a:t>
            </a:r>
            <a:r>
              <a:rPr sz="810" b="0" i="0">
                <a:solidFill>
                  <a:srgbClr val="333231"/>
                </a:solidFill>
                <a:latin typeface="Quicksand"/>
              </a:rPr>
              <a:t>; </a:t>
            </a:r>
            <a:r>
              <a:rPr sz="810" b="0" i="0" u="sng">
                <a:solidFill>
                  <a:srgbClr val="8C6239"/>
                </a:solidFill>
                <a:latin typeface="Quicksand"/>
                <a:hlinkClick r:id="rId7"/>
              </a:rPr>
              <a:t>MKS</a:t>
            </a:r>
            <a:r>
              <a:rPr sz="810" b="0" i="0">
                <a:solidFill>
                  <a:srgbClr val="333231"/>
                </a:solidFill>
                <a:latin typeface="Quicksand"/>
              </a:rPr>
              <a:t>).</a:t>
            </a:r>
          </a:p>
        </p:txBody>
      </p:sp>
      <p:sp>
        <p:nvSpPr>
          <p:cNvPr id="51" name="TextBox"/>
          <p:cNvSpPr txBox="1"/>
          <p:nvPr/>
        </p:nvSpPr>
        <p:spPr>
          <a:xfrm>
            <a:off x="6583680" y="4352544"/>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$650M</a:t>
            </a:r>
          </a:p>
        </p:txBody>
      </p:sp>
      <p:sp>
        <p:nvSpPr>
          <p:cNvPr id="52" name="TextBox"/>
          <p:cNvSpPr txBox="1"/>
          <p:nvPr/>
        </p:nvSpPr>
        <p:spPr>
          <a:xfrm>
            <a:off x="6583680" y="4608576"/>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cash base price, as stated by TTM</a:t>
            </a:r>
          </a:p>
        </p:txBody>
      </p:sp>
      <p:sp>
        <p:nvSpPr>
          <p:cNvPr id="53" name="TextBox"/>
          <p:cNvSpPr txBox="1"/>
          <p:nvPr/>
        </p:nvSpPr>
        <p:spPr>
          <a:xfrm>
            <a:off x="7790688" y="4535424"/>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54" name="TextBox"/>
          <p:cNvSpPr txBox="1"/>
          <p:nvPr/>
        </p:nvSpPr>
        <p:spPr>
          <a:xfrm>
            <a:off x="8732520" y="4352544"/>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10.3x</a:t>
            </a:r>
          </a:p>
        </p:txBody>
      </p:sp>
      <p:sp>
        <p:nvSpPr>
          <p:cNvPr id="55" name="TextBox"/>
          <p:cNvSpPr txBox="1"/>
          <p:nvPr/>
        </p:nvSpPr>
        <p:spPr>
          <a:xfrm>
            <a:off x="8732520" y="4608576"/>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expected FY2027 adjusted EBITDA, as stated by TTM; MKS states more than 18x on FY2026</a:t>
            </a:r>
          </a:p>
        </p:txBody>
      </p:sp>
      <p:sp>
        <p:nvSpPr>
          <p:cNvPr id="56" name="Panel"/>
          <p:cNvSpPr/>
          <p:nvPr/>
        </p:nvSpPr>
        <p:spPr>
          <a:xfrm>
            <a:off x="420624" y="5102352"/>
            <a:ext cx="9217152" cy="9144"/>
          </a:xfrm>
          <a:prstGeom prst="rect">
            <a:avLst/>
          </a:prstGeom>
          <a:solidFill>
            <a:srgbClr val="E3DCD3"/>
          </a:solidFill>
          <a:ln>
            <a:noFill/>
          </a:ln>
          <a:effectLst/>
        </p:spPr>
        <p:txBody>
          <a:bodyPr rtlCol="0" anchor="ctr"/>
          <a:lstStyle/>
          <a:p>
            <a:pPr algn="ctr"/>
            <a:endParaRPr/>
          </a:p>
        </p:txBody>
      </p:sp>
      <p:sp>
        <p:nvSpPr>
          <p:cNvPr id="57" name="Panel"/>
          <p:cNvSpPr/>
          <p:nvPr/>
        </p:nvSpPr>
        <p:spPr>
          <a:xfrm>
            <a:off x="420624" y="5212080"/>
            <a:ext cx="749808" cy="173736"/>
          </a:xfrm>
          <a:prstGeom prst="rect">
            <a:avLst/>
          </a:prstGeom>
          <a:solidFill>
            <a:srgbClr val="1B1A1A"/>
          </a:solidFill>
          <a:ln>
            <a:noFill/>
          </a:ln>
          <a:effectLst/>
        </p:spPr>
        <p:txBody>
          <a:bodyPr rtlCol="0" anchor="ctr"/>
          <a:lstStyle/>
          <a:p>
            <a:pPr algn="ctr"/>
            <a:endParaRPr/>
          </a:p>
        </p:txBody>
      </p:sp>
      <p:sp>
        <p:nvSpPr>
          <p:cNvPr id="58" name="TextBox"/>
          <p:cNvSpPr txBox="1"/>
          <p:nvPr/>
        </p:nvSpPr>
        <p:spPr>
          <a:xfrm>
            <a:off x="420624" y="5212080"/>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JUN 2026</a:t>
            </a:r>
          </a:p>
        </p:txBody>
      </p:sp>
      <p:sp>
        <p:nvSpPr>
          <p:cNvPr id="59" name="TextBox"/>
          <p:cNvSpPr txBox="1"/>
          <p:nvPr/>
        </p:nvSpPr>
        <p:spPr>
          <a:xfrm>
            <a:off x="420624" y="5431536"/>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GOVERNMENT TECHNOLOGY</a:t>
            </a:r>
          </a:p>
        </p:txBody>
      </p:sp>
      <p:sp>
        <p:nvSpPr>
          <p:cNvPr id="60" name="TextBox"/>
          <p:cNvSpPr txBox="1"/>
          <p:nvPr/>
        </p:nvSpPr>
        <p:spPr>
          <a:xfrm>
            <a:off x="1371600" y="5486400"/>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61" name="TextBox"/>
          <p:cNvSpPr txBox="1"/>
          <p:nvPr/>
        </p:nvSpPr>
        <p:spPr>
          <a:xfrm>
            <a:off x="3090672" y="5175504"/>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Booz Allen agreed in June and completed on August 24 the purchase of Ultra I&amp;C Mission Solutions, an Austin, Texas defense software, encryption, and edge computing business with about 220 employees, and stated EBITDA margins well above 20% without giving a dollar figure (</a:t>
            </a:r>
            <a:r>
              <a:rPr sz="810" b="0" i="0" u="sng">
                <a:solidFill>
                  <a:srgbClr val="8C6239"/>
                </a:solidFill>
                <a:latin typeface="Quicksand"/>
                <a:hlinkClick r:id="rId8"/>
              </a:rPr>
              <a:t>Booz Allen</a:t>
            </a:r>
            <a:r>
              <a:rPr sz="810" b="0" i="0">
                <a:solidFill>
                  <a:srgbClr val="333231"/>
                </a:solidFill>
                <a:latin typeface="Quicksand"/>
              </a:rPr>
              <a:t>; </a:t>
            </a:r>
            <a:r>
              <a:rPr sz="810" b="0" i="0" u="sng">
                <a:solidFill>
                  <a:srgbClr val="8C6239"/>
                </a:solidFill>
                <a:latin typeface="Quicksand"/>
                <a:hlinkClick r:id="rId9"/>
              </a:rPr>
              <a:t>Washington Exec</a:t>
            </a:r>
            <a:r>
              <a:rPr sz="810" b="0" i="0">
                <a:solidFill>
                  <a:srgbClr val="333231"/>
                </a:solidFill>
                <a:latin typeface="Quicksand"/>
              </a:rPr>
              <a:t>).</a:t>
            </a:r>
          </a:p>
        </p:txBody>
      </p:sp>
      <p:sp>
        <p:nvSpPr>
          <p:cNvPr id="62" name="TextBox"/>
          <p:cNvSpPr txBox="1"/>
          <p:nvPr/>
        </p:nvSpPr>
        <p:spPr>
          <a:xfrm>
            <a:off x="6583680" y="5212080"/>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$720M</a:t>
            </a:r>
          </a:p>
        </p:txBody>
      </p:sp>
      <p:sp>
        <p:nvSpPr>
          <p:cNvPr id="63" name="TextBox"/>
          <p:cNvSpPr txBox="1"/>
          <p:nvPr/>
        </p:nvSpPr>
        <p:spPr>
          <a:xfrm>
            <a:off x="6583680" y="5468112"/>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purchase price, as stated by Booz Allen</a:t>
            </a:r>
          </a:p>
        </p:txBody>
      </p:sp>
      <p:sp>
        <p:nvSpPr>
          <p:cNvPr id="64" name="TextBox"/>
          <p:cNvSpPr txBox="1"/>
          <p:nvPr/>
        </p:nvSpPr>
        <p:spPr>
          <a:xfrm>
            <a:off x="7790688" y="5394960"/>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65" name="TextBox"/>
          <p:cNvSpPr txBox="1"/>
          <p:nvPr/>
        </p:nvSpPr>
        <p:spPr>
          <a:xfrm>
            <a:off x="8732520" y="5394960"/>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66" name="Panel"/>
          <p:cNvSpPr/>
          <p:nvPr/>
        </p:nvSpPr>
        <p:spPr>
          <a:xfrm>
            <a:off x="420624" y="5961888"/>
            <a:ext cx="9217152" cy="9144"/>
          </a:xfrm>
          <a:prstGeom prst="rect">
            <a:avLst/>
          </a:prstGeom>
          <a:solidFill>
            <a:srgbClr val="E3DCD3"/>
          </a:solidFill>
          <a:ln>
            <a:noFill/>
          </a:ln>
          <a:effectLst/>
        </p:spPr>
        <p:txBody>
          <a:bodyPr rtlCol="0" anchor="ctr"/>
          <a:lstStyle/>
          <a:p>
            <a:pPr algn="ctr"/>
            <a:endParaRPr/>
          </a:p>
        </p:txBody>
      </p:sp>
      <p:sp>
        <p:nvSpPr>
          <p:cNvPr id="67" name="Panel"/>
          <p:cNvSpPr/>
          <p:nvPr/>
        </p:nvSpPr>
        <p:spPr>
          <a:xfrm>
            <a:off x="420624" y="6071616"/>
            <a:ext cx="749808" cy="173736"/>
          </a:xfrm>
          <a:prstGeom prst="rect">
            <a:avLst/>
          </a:prstGeom>
          <a:solidFill>
            <a:srgbClr val="1B1A1A"/>
          </a:solidFill>
          <a:ln>
            <a:noFill/>
          </a:ln>
          <a:effectLst/>
        </p:spPr>
        <p:txBody>
          <a:bodyPr rtlCol="0" anchor="ctr"/>
          <a:lstStyle/>
          <a:p>
            <a:pPr algn="ctr"/>
            <a:endParaRPr/>
          </a:p>
        </p:txBody>
      </p:sp>
      <p:sp>
        <p:nvSpPr>
          <p:cNvPr id="68" name="TextBox"/>
          <p:cNvSpPr txBox="1"/>
          <p:nvPr/>
        </p:nvSpPr>
        <p:spPr>
          <a:xfrm>
            <a:off x="420624" y="6071616"/>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JUL 2026</a:t>
            </a:r>
          </a:p>
        </p:txBody>
      </p:sp>
      <p:sp>
        <p:nvSpPr>
          <p:cNvPr id="69" name="TextBox"/>
          <p:cNvSpPr txBox="1"/>
          <p:nvPr/>
        </p:nvSpPr>
        <p:spPr>
          <a:xfrm>
            <a:off x="420624" y="6291072"/>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GOVERNMENT TECHNOLOGY</a:t>
            </a:r>
          </a:p>
        </p:txBody>
      </p:sp>
      <p:sp>
        <p:nvSpPr>
          <p:cNvPr id="70" name="TextBox"/>
          <p:cNvSpPr txBox="1"/>
          <p:nvPr/>
        </p:nvSpPr>
        <p:spPr>
          <a:xfrm>
            <a:off x="1371600" y="6345936"/>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71" name="TextBox"/>
          <p:cNvSpPr txBox="1"/>
          <p:nvPr/>
        </p:nvSpPr>
        <p:spPr>
          <a:xfrm>
            <a:off x="3090672" y="6035040"/>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Leonardo DRS agreed on July 28 to acquire Raft, a McLean, Virginia mission software firm founded in 2018 that provides multi-domain AI data fusion to defense customers, for $450 million in cash, and expects closing in the fourth quarter of 2026 (</a:t>
            </a:r>
            <a:r>
              <a:rPr sz="810" b="0" i="0" u="sng">
                <a:solidFill>
                  <a:srgbClr val="8C6239"/>
                </a:solidFill>
                <a:latin typeface="Quicksand"/>
                <a:hlinkClick r:id="rId10"/>
              </a:rPr>
              <a:t>Leonardo DRS</a:t>
            </a:r>
            <a:r>
              <a:rPr sz="810" b="0" i="0">
                <a:solidFill>
                  <a:srgbClr val="333231"/>
                </a:solidFill>
                <a:latin typeface="Quicksand"/>
              </a:rPr>
              <a:t>; </a:t>
            </a:r>
            <a:r>
              <a:rPr sz="810" b="0" i="0" u="sng">
                <a:solidFill>
                  <a:srgbClr val="8C6239"/>
                </a:solidFill>
                <a:latin typeface="Quicksand"/>
                <a:hlinkClick r:id="rId11"/>
              </a:rPr>
              <a:t>GovCon Wire</a:t>
            </a:r>
            <a:r>
              <a:rPr sz="810" b="0" i="0">
                <a:solidFill>
                  <a:srgbClr val="333231"/>
                </a:solidFill>
                <a:latin typeface="Quicksand"/>
              </a:rPr>
              <a:t>).</a:t>
            </a:r>
          </a:p>
        </p:txBody>
      </p:sp>
      <p:sp>
        <p:nvSpPr>
          <p:cNvPr id="72" name="TextBox"/>
          <p:cNvSpPr txBox="1"/>
          <p:nvPr/>
        </p:nvSpPr>
        <p:spPr>
          <a:xfrm>
            <a:off x="6583680" y="6071616"/>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$450M</a:t>
            </a:r>
          </a:p>
        </p:txBody>
      </p:sp>
      <p:sp>
        <p:nvSpPr>
          <p:cNvPr id="73" name="TextBox"/>
          <p:cNvSpPr txBox="1"/>
          <p:nvPr/>
        </p:nvSpPr>
        <p:spPr>
          <a:xfrm>
            <a:off x="6583680" y="6327648"/>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cash base price, as stated by Leonardo DRS</a:t>
            </a:r>
          </a:p>
        </p:txBody>
      </p:sp>
      <p:sp>
        <p:nvSpPr>
          <p:cNvPr id="74" name="TextBox"/>
          <p:cNvSpPr txBox="1"/>
          <p:nvPr/>
        </p:nvSpPr>
        <p:spPr>
          <a:xfrm>
            <a:off x="7790688" y="625449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75" name="TextBox"/>
          <p:cNvSpPr txBox="1"/>
          <p:nvPr/>
        </p:nvSpPr>
        <p:spPr>
          <a:xfrm>
            <a:off x="8732520" y="625449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76"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Values and multiples are as stated by the acquirer or reported in the linked source. Value to revenue is our calculation where marked. Euro figures are not converted. Company names are the property of their owners and are used for identification. Booz Allen, Motorola Solutions, and Leonardo DRS figures are from their own releases and filings.</a:t>
            </a:r>
          </a:p>
        </p:txBody>
      </p:sp>
      <p:sp>
        <p:nvSpPr>
          <p:cNvPr id="77"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78"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79" name="Shape 9"/>
          <p:cNvSpPr/>
          <p:nvPr/>
        </p:nvSpPr>
        <p:spPr>
          <a:xfrm>
            <a:off x="419100" y="7029450"/>
            <a:ext cx="9220200" cy="9525"/>
          </a:xfrm>
          <a:prstGeom prst="rect">
            <a:avLst/>
          </a:prstGeom>
          <a:solidFill>
            <a:srgbClr val="E3DCD3"/>
          </a:solidFill>
          <a:ln/>
        </p:spPr>
        <p:txBody>
          <a:bodyPr/>
          <a:lstStyle/>
          <a:p>
            <a:endParaRPr lang="en-US"/>
          </a:p>
        </p:txBody>
      </p:sp>
      <p:pic>
        <p:nvPicPr>
          <p:cNvPr id="80" name="Benchmark International logo" descr="Benchmark International logo"/>
          <p:cNvPicPr>
            <a:picLocks noChangeAspect="1"/>
          </p:cNvPicPr>
          <p:nvPr/>
        </p:nvPicPr>
        <p:blipFill>
          <a:blip r:embed="rId12"/>
          <a:stretch>
            <a:fillRect/>
          </a:stretch>
        </p:blipFill>
        <p:spPr>
          <a:xfrm>
            <a:off x="419100" y="7143750"/>
            <a:ext cx="914400" cy="171450"/>
          </a:xfrm>
          <a:prstGeom prst="rect">
            <a:avLst/>
          </a:prstGeom>
        </p:spPr>
      </p:pic>
      <p:sp>
        <p:nvSpPr>
          <p:cNvPr id="81"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12</a:t>
            </a:r>
            <a:endParaRPr lang="en-US" sz="815" dirty="0"/>
          </a:p>
        </p:txBody>
      </p:sp>
      <p:pic>
        <p:nvPicPr>
          <p:cNvPr id="82" name="Communication Company, a Pavion company logo" descr="Communication Company, a Pavion company logo"/>
          <p:cNvPicPr>
            <a:picLocks noChangeAspect="1"/>
          </p:cNvPicPr>
          <p:nvPr/>
        </p:nvPicPr>
        <p:blipFill>
          <a:blip r:embed="rId13"/>
          <a:stretch/>
        </p:blipFill>
        <p:spPr>
          <a:xfrm>
            <a:off x="1669677" y="1746504"/>
            <a:ext cx="940037" cy="274320"/>
          </a:xfrm>
          <a:prstGeom prst="rect">
            <a:avLst/>
          </a:prstGeom>
        </p:spPr>
      </p:pic>
      <p:pic>
        <p:nvPicPr>
          <p:cNvPr id="83" name="Pavion logo" descr="Pavion logo"/>
          <p:cNvPicPr>
            <a:picLocks noChangeAspect="1"/>
          </p:cNvPicPr>
          <p:nvPr/>
        </p:nvPicPr>
        <p:blipFill>
          <a:blip r:embed="rId14"/>
          <a:stretch/>
        </p:blipFill>
        <p:spPr>
          <a:xfrm>
            <a:off x="1600165" y="2185416"/>
            <a:ext cx="1079062" cy="256032"/>
          </a:xfrm>
          <a:prstGeom prst="rect">
            <a:avLst/>
          </a:prstGeom>
        </p:spPr>
      </p:pic>
      <p:pic>
        <p:nvPicPr>
          <p:cNvPr id="84" name="Nagarro logo" descr="Nagarro logo"/>
          <p:cNvPicPr>
            <a:picLocks noChangeAspect="1"/>
          </p:cNvPicPr>
          <p:nvPr/>
        </p:nvPicPr>
        <p:blipFill>
          <a:blip r:embed="rId15"/>
          <a:stretch/>
        </p:blipFill>
        <p:spPr>
          <a:xfrm>
            <a:off x="1588438" y="2606040"/>
            <a:ext cx="1102515" cy="274320"/>
          </a:xfrm>
          <a:prstGeom prst="rect">
            <a:avLst/>
          </a:prstGeom>
        </p:spPr>
      </p:pic>
      <p:pic>
        <p:nvPicPr>
          <p:cNvPr id="85" name="Persistent Systems logo" descr="Persistent Systems logo"/>
          <p:cNvPicPr>
            <a:picLocks noChangeAspect="1"/>
          </p:cNvPicPr>
          <p:nvPr/>
        </p:nvPicPr>
        <p:blipFill>
          <a:blip r:embed="rId16"/>
          <a:stretch/>
        </p:blipFill>
        <p:spPr>
          <a:xfrm>
            <a:off x="1560133" y="3044952"/>
            <a:ext cx="1159127" cy="256032"/>
          </a:xfrm>
          <a:prstGeom prst="rect">
            <a:avLst/>
          </a:prstGeom>
        </p:spPr>
      </p:pic>
      <p:pic>
        <p:nvPicPr>
          <p:cNvPr id="86" name="D-Fend Solutions logo" descr="D-Fend Solutions logo"/>
          <p:cNvPicPr>
            <a:picLocks noChangeAspect="1"/>
          </p:cNvPicPr>
          <p:nvPr/>
        </p:nvPicPr>
        <p:blipFill>
          <a:blip r:embed="rId17"/>
          <a:stretch/>
        </p:blipFill>
        <p:spPr>
          <a:xfrm>
            <a:off x="1625723" y="3465576"/>
            <a:ext cx="1027946" cy="274320"/>
          </a:xfrm>
          <a:prstGeom prst="rect">
            <a:avLst/>
          </a:prstGeom>
        </p:spPr>
      </p:pic>
      <p:pic>
        <p:nvPicPr>
          <p:cNvPr id="87" name="Motorola Solutions logo" descr="Motorola Solutions logo"/>
          <p:cNvPicPr>
            <a:picLocks noChangeAspect="1"/>
          </p:cNvPicPr>
          <p:nvPr/>
        </p:nvPicPr>
        <p:blipFill>
          <a:blip r:embed="rId18"/>
          <a:stretch/>
        </p:blipFill>
        <p:spPr>
          <a:xfrm>
            <a:off x="1371600" y="3946926"/>
            <a:ext cx="1536192" cy="171156"/>
          </a:xfrm>
          <a:prstGeom prst="rect">
            <a:avLst/>
          </a:prstGeom>
        </p:spPr>
      </p:pic>
      <p:pic>
        <p:nvPicPr>
          <p:cNvPr id="88" name="Ophir Optics logo" descr="Ophir Optics logo"/>
          <p:cNvPicPr>
            <a:picLocks noChangeAspect="1"/>
          </p:cNvPicPr>
          <p:nvPr/>
        </p:nvPicPr>
        <p:blipFill>
          <a:blip r:embed="rId19"/>
          <a:stretch/>
        </p:blipFill>
        <p:spPr>
          <a:xfrm>
            <a:off x="1500234" y="4325112"/>
            <a:ext cx="1278924" cy="274320"/>
          </a:xfrm>
          <a:prstGeom prst="rect">
            <a:avLst/>
          </a:prstGeom>
        </p:spPr>
      </p:pic>
      <p:pic>
        <p:nvPicPr>
          <p:cNvPr id="89" name="TTM Technologies logo" descr="TTM Technologies logo"/>
          <p:cNvPicPr>
            <a:picLocks noChangeAspect="1"/>
          </p:cNvPicPr>
          <p:nvPr/>
        </p:nvPicPr>
        <p:blipFill>
          <a:blip r:embed="rId20"/>
          <a:stretch/>
        </p:blipFill>
        <p:spPr>
          <a:xfrm>
            <a:off x="1906295" y="4764024"/>
            <a:ext cx="466802" cy="256032"/>
          </a:xfrm>
          <a:prstGeom prst="rect">
            <a:avLst/>
          </a:prstGeom>
        </p:spPr>
      </p:pic>
      <p:pic>
        <p:nvPicPr>
          <p:cNvPr id="90" name="Ultra I&amp;C logo" descr="Ultra I&amp;C logo"/>
          <p:cNvPicPr>
            <a:picLocks noChangeAspect="1"/>
          </p:cNvPicPr>
          <p:nvPr/>
        </p:nvPicPr>
        <p:blipFill>
          <a:blip r:embed="rId21"/>
          <a:stretch/>
        </p:blipFill>
        <p:spPr>
          <a:xfrm>
            <a:off x="1371600" y="5229636"/>
            <a:ext cx="1536192" cy="184343"/>
          </a:xfrm>
          <a:prstGeom prst="rect">
            <a:avLst/>
          </a:prstGeom>
        </p:spPr>
      </p:pic>
      <p:pic>
        <p:nvPicPr>
          <p:cNvPr id="91" name="Booz Allen Hamilton logo" descr="Booz Allen Hamilton logo"/>
          <p:cNvPicPr>
            <a:picLocks noChangeAspect="1"/>
          </p:cNvPicPr>
          <p:nvPr/>
        </p:nvPicPr>
        <p:blipFill>
          <a:blip r:embed="rId22"/>
          <a:stretch/>
        </p:blipFill>
        <p:spPr>
          <a:xfrm>
            <a:off x="1371600" y="5632172"/>
            <a:ext cx="1536192" cy="238808"/>
          </a:xfrm>
          <a:prstGeom prst="rect">
            <a:avLst/>
          </a:prstGeom>
        </p:spPr>
      </p:pic>
      <p:pic>
        <p:nvPicPr>
          <p:cNvPr id="92" name="Raft logo" descr="Raft logo"/>
          <p:cNvPicPr>
            <a:picLocks noChangeAspect="1"/>
          </p:cNvPicPr>
          <p:nvPr/>
        </p:nvPicPr>
        <p:blipFill>
          <a:blip r:embed="rId23"/>
          <a:stretch/>
        </p:blipFill>
        <p:spPr>
          <a:xfrm>
            <a:off x="1656119" y="6044184"/>
            <a:ext cx="967154" cy="274320"/>
          </a:xfrm>
          <a:prstGeom prst="rect">
            <a:avLst/>
          </a:prstGeom>
        </p:spPr>
      </p:pic>
      <p:pic>
        <p:nvPicPr>
          <p:cNvPr id="93" name="Leonardo DRS logo" descr="Leonardo DRS logo"/>
          <p:cNvPicPr>
            <a:picLocks noChangeAspect="1"/>
          </p:cNvPicPr>
          <p:nvPr/>
        </p:nvPicPr>
        <p:blipFill>
          <a:blip r:embed="rId24"/>
          <a:stretch/>
        </p:blipFill>
        <p:spPr>
          <a:xfrm>
            <a:off x="1371600" y="6513354"/>
            <a:ext cx="1536192" cy="19551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5" name="TextBox 6"/>
          <p:cNvSpPr txBox="1"/>
          <p:nvPr/>
        </p:nvSpPr>
        <p:spPr>
          <a:xfrm>
            <a:off x="419100" y="864394"/>
            <a:ext cx="8437811"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Closed transactions in the six focus areas, trailing 24 months.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1943100" cy="5695950"/>
          </a:xfrm>
          <a:prstGeom prst="rect">
            <a:avLst/>
          </a:prstGeom>
          <a:solidFill>
            <a:srgbClr val="1B1A1A"/>
          </a:solidFill>
          <a:ln>
            <a:noFill/>
          </a:ln>
        </p:spPr>
        <p:txBody>
          <a:bodyPr rtlCol="0" anchor="ctr"/>
          <a:lstStyle/>
          <a:p>
            <a:pPr algn="ctr"/>
            <a:endParaRPr/>
          </a:p>
        </p:txBody>
      </p:sp>
      <p:pic>
        <p:nvPicPr>
          <p:cNvPr id="8" name="Black textured background with the embossed Benchmark Intern" descr="Black textured background with the embossed Benchmark International knot symbol"/>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9" name="TextBox 10"/>
          <p:cNvSpPr txBox="1"/>
          <p:nvPr/>
        </p:nvSpPr>
        <p:spPr>
          <a:xfrm>
            <a:off x="609600" y="1457134"/>
            <a:ext cx="1297484" cy="104775"/>
          </a:xfrm>
          <a:prstGeom prst="rect">
            <a:avLst/>
          </a:prstGeom>
          <a:noFill/>
        </p:spPr>
        <p:txBody>
          <a:bodyPr wrap="none" lIns="0" tIns="0" rIns="0" bIns="0" anchor="t">
            <a:noAutofit/>
          </a:bodyPr>
          <a:lstStyle/>
          <a:p>
            <a:pPr algn="l">
              <a:lnSpc>
                <a:spcPts val="975"/>
              </a:lnSpc>
              <a:spcBef>
                <a:spcPts val="0"/>
              </a:spcBef>
              <a:spcAft>
                <a:spcPts val="0"/>
              </a:spcAft>
            </a:pPr>
            <a:r>
              <a:rPr sz="710" b="1" i="0" spc="150">
                <a:solidFill>
                  <a:srgbClr val="D3AE84"/>
                </a:solidFill>
                <a:latin typeface="Quicksand"/>
              </a:rPr>
              <a:t>TRAILING 24 MONTHS</a:t>
            </a:r>
          </a:p>
        </p:txBody>
      </p:sp>
      <p:sp>
        <p:nvSpPr>
          <p:cNvPr id="10"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endParaRPr/>
          </a:p>
        </p:txBody>
      </p:sp>
      <p:sp>
        <p:nvSpPr>
          <p:cNvPr id="11" name="TextBox 12"/>
          <p:cNvSpPr txBox="1"/>
          <p:nvPr/>
        </p:nvSpPr>
        <p:spPr>
          <a:xfrm>
            <a:off x="609600" y="1806321"/>
            <a:ext cx="453033" cy="323850"/>
          </a:xfrm>
          <a:prstGeom prst="rect">
            <a:avLst/>
          </a:prstGeom>
          <a:noFill/>
        </p:spPr>
        <p:txBody>
          <a:bodyPr wrap="none" lIns="0" tIns="0" r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2" name="TextBox 13"/>
          <p:cNvSpPr txBox="1"/>
          <p:nvPr/>
        </p:nvSpPr>
        <p:spPr>
          <a:xfrm>
            <a:off x="609600" y="2191036"/>
            <a:ext cx="1638300" cy="304800"/>
          </a:xfrm>
          <a:prstGeom prst="rect">
            <a:avLst/>
          </a:prstGeom>
          <a:noFill/>
        </p:spPr>
        <p:txBody>
          <a:bodyPr wrap="square" lIns="0" tIns="0" rIns="0" bIns="0" anchor="t">
            <a:noAutofit/>
          </a:bodyPr>
          <a:lstStyle/>
          <a:p>
            <a:pPr algn="l">
              <a:lnSpc>
                <a:spcPts val="1303"/>
              </a:lnSpc>
              <a:spcBef>
                <a:spcPts val="0"/>
              </a:spcBef>
              <a:spcAft>
                <a:spcPts val="0"/>
              </a:spcAft>
            </a:pPr>
            <a:r>
              <a:rPr sz="900" b="0" i="0" spc="15" dirty="0">
                <a:solidFill>
                  <a:srgbClr val="E8E2DA"/>
                </a:solidFill>
                <a:latin typeface="Quicksand"/>
              </a:rPr>
              <a:t>transactions closed in these six focus areas</a:t>
            </a:r>
          </a:p>
        </p:txBody>
      </p:sp>
      <p:sp>
        <p:nvSpPr>
          <p:cNvPr id="13"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endParaRPr/>
          </a:p>
        </p:txBody>
      </p:sp>
      <p:sp>
        <p:nvSpPr>
          <p:cNvPr id="14"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endParaRPr/>
          </a:p>
        </p:txBody>
      </p:sp>
      <p:sp>
        <p:nvSpPr>
          <p:cNvPr id="15" name="TextBox 18"/>
          <p:cNvSpPr txBox="1"/>
          <p:nvPr/>
        </p:nvSpPr>
        <p:spPr>
          <a:xfrm>
            <a:off x="609600" y="2788920"/>
            <a:ext cx="1104602" cy="323850"/>
          </a:xfrm>
          <a:prstGeom prst="rect">
            <a:avLst/>
          </a:prstGeom>
          <a:noFill/>
        </p:spPr>
        <p:txBody>
          <a:bodyPr wrap="none" lIns="0" tIns="0" r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16" name="TextBox 19"/>
          <p:cNvSpPr txBox="1"/>
          <p:nvPr/>
        </p:nvSpPr>
        <p:spPr>
          <a:xfrm>
            <a:off x="609600" y="3172968"/>
            <a:ext cx="1638300" cy="466725"/>
          </a:xfrm>
          <a:prstGeom prst="rect">
            <a:avLst/>
          </a:prstGeom>
          <a:noFill/>
        </p:spPr>
        <p:txBody>
          <a:bodyPr wrap="square" lIns="0" tIns="0" rIns="0" bIns="0" anchor="t">
            <a:noAutofit/>
          </a:bodyPr>
          <a:lstStyle/>
          <a:p>
            <a:pPr algn="l">
              <a:lnSpc>
                <a:spcPts val="1303"/>
              </a:lnSpc>
              <a:spcBef>
                <a:spcPts val="0"/>
              </a:spcBef>
              <a:spcAft>
                <a:spcPts val="0"/>
              </a:spcAft>
            </a:pPr>
            <a:r>
              <a:rPr sz="900" b="0" i="0" spc="15" dirty="0">
                <a:solidFill>
                  <a:srgbClr val="E8E2DA"/>
                </a:solidFill>
                <a:latin typeface="Quicksand"/>
              </a:rPr>
              <a:t>named sellers were bought by a company in their own or an adjacent field</a:t>
            </a:r>
          </a:p>
        </p:txBody>
      </p:sp>
      <p:sp>
        <p:nvSpPr>
          <p:cNvPr id="17"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endParaRPr/>
          </a:p>
        </p:txBody>
      </p:sp>
      <p:sp>
        <p:nvSpPr>
          <p:cNvPr id="18" name="TextBox 21"/>
          <p:cNvSpPr txBox="1"/>
          <p:nvPr/>
        </p:nvSpPr>
        <p:spPr>
          <a:xfrm>
            <a:off x="609600" y="5899976"/>
            <a:ext cx="1638300" cy="762000"/>
          </a:xfrm>
          <a:prstGeom prst="rect">
            <a:avLst/>
          </a:prstGeom>
          <a:noFill/>
        </p:spPr>
        <p:txBody>
          <a:bodyPr wrap="square" lIns="0" tIns="0" rIns="0" bIns="0" anchor="t">
            <a:noAutofit/>
          </a:bodyPr>
          <a:lstStyle/>
          <a:p>
            <a:pPr algn="l">
              <a:lnSpc>
                <a:spcPts val="1268"/>
              </a:lnSpc>
              <a:spcBef>
                <a:spcPts val="0"/>
              </a:spcBef>
              <a:spcAft>
                <a:spcPts val="0"/>
              </a:spcAft>
            </a:pPr>
            <a:r>
              <a:rPr sz="845" b="0" i="0" spc="15">
                <a:solidFill>
                  <a:srgbClr val="E8E2DA"/>
                </a:solidFill>
                <a:latin typeface="Quicksand"/>
              </a:rPr>
              <a:t>Ranked the leading privately owned sell-side M&amp;A advisor in the world in PitchBook's Q2 2026 Global League Tables (</a:t>
            </a:r>
            <a:r>
              <a:rPr sz="845" b="0" i="0" u="sng" spc="15">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45" b="0" i="0" spc="15">
                <a:solidFill>
                  <a:srgbClr val="E8E2DA"/>
                </a:solidFill>
                <a:latin typeface="Quicksand"/>
              </a:rPr>
              <a:t>).</a:t>
            </a:r>
          </a:p>
        </p:txBody>
      </p:sp>
      <p:sp>
        <p:nvSpPr>
          <p:cNvPr id="19"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endParaRPr/>
          </a:p>
        </p:txBody>
      </p:sp>
      <p:sp>
        <p:nvSpPr>
          <p:cNvPr id="20" name="Rule"/>
          <p:cNvSpPr/>
          <p:nvPr/>
        </p:nvSpPr>
        <p:spPr>
          <a:xfrm>
            <a:off x="2514600" y="1238250"/>
            <a:ext cx="1695450" cy="28575"/>
          </a:xfrm>
          <a:prstGeom prst="rect">
            <a:avLst/>
          </a:prstGeom>
          <a:solidFill>
            <a:srgbClr val="B68757"/>
          </a:solidFill>
          <a:ln>
            <a:noFill/>
          </a:ln>
        </p:spPr>
        <p:txBody>
          <a:bodyPr rtlCol="0" anchor="ctr"/>
          <a:lstStyle/>
          <a:p>
            <a:pPr algn="ctr"/>
            <a:endParaRPr/>
          </a:p>
        </p:txBody>
      </p:sp>
      <p:sp>
        <p:nvSpPr>
          <p:cNvPr id="21" name="Rule"/>
          <p:cNvSpPr/>
          <p:nvPr/>
        </p:nvSpPr>
        <p:spPr>
          <a:xfrm>
            <a:off x="4200525" y="1238250"/>
            <a:ext cx="9525" cy="1822400"/>
          </a:xfrm>
          <a:prstGeom prst="rect">
            <a:avLst/>
          </a:prstGeom>
          <a:solidFill>
            <a:srgbClr val="E3DCD3"/>
          </a:solidFill>
          <a:ln>
            <a:noFill/>
          </a:ln>
        </p:spPr>
        <p:txBody>
          <a:bodyPr rtlCol="0" anchor="ctr"/>
          <a:lstStyle/>
          <a:p>
            <a:pPr algn="ctr"/>
            <a:endParaRPr/>
          </a:p>
        </p:txBody>
      </p:sp>
      <p:sp>
        <p:nvSpPr>
          <p:cNvPr id="22" name="Rule"/>
          <p:cNvSpPr/>
          <p:nvPr/>
        </p:nvSpPr>
        <p:spPr>
          <a:xfrm>
            <a:off x="2514600" y="3051125"/>
            <a:ext cx="1695450" cy="9525"/>
          </a:xfrm>
          <a:prstGeom prst="rect">
            <a:avLst/>
          </a:prstGeom>
          <a:solidFill>
            <a:srgbClr val="E3DCD3"/>
          </a:solidFill>
          <a:ln>
            <a:noFill/>
          </a:ln>
        </p:spPr>
        <p:txBody>
          <a:bodyPr rtlCol="0" anchor="ctr"/>
          <a:lstStyle/>
          <a:p>
            <a:pPr algn="ctr"/>
            <a:endParaRPr/>
          </a:p>
        </p:txBody>
      </p:sp>
      <p:sp>
        <p:nvSpPr>
          <p:cNvPr id="23" name="Rule"/>
          <p:cNvSpPr/>
          <p:nvPr/>
        </p:nvSpPr>
        <p:spPr>
          <a:xfrm>
            <a:off x="2514600" y="1238250"/>
            <a:ext cx="9525" cy="1822400"/>
          </a:xfrm>
          <a:prstGeom prst="rect">
            <a:avLst/>
          </a:prstGeom>
          <a:solidFill>
            <a:srgbClr val="E3DCD3"/>
          </a:solidFill>
          <a:ln>
            <a:noFill/>
          </a:ln>
        </p:spPr>
        <p:txBody>
          <a:bodyPr rtlCol="0" anchor="ctr"/>
          <a:lstStyle/>
          <a:p>
            <a:pPr algn="ctr"/>
            <a:endParaRPr/>
          </a:p>
        </p:txBody>
      </p:sp>
      <p:sp>
        <p:nvSpPr>
          <p:cNvPr id="24"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25" name="MartianCraft logo" descr="MartianCraft logo"/>
          <p:cNvPicPr>
            <a:picLocks noChangeAspect="1"/>
          </p:cNvPicPr>
          <p:nvPr/>
        </p:nvPicPr>
        <p:blipFill>
          <a:blip r:embed="rId5"/>
          <a:stretch>
            <a:fillRect/>
          </a:stretch>
        </p:blipFill>
        <p:spPr>
          <a:xfrm>
            <a:off x="3192382" y="1409849"/>
            <a:ext cx="339886" cy="323701"/>
          </a:xfrm>
          <a:prstGeom prst="rect">
            <a:avLst/>
          </a:prstGeom>
        </p:spPr>
      </p:pic>
      <p:sp>
        <p:nvSpPr>
          <p:cNvPr id="26" name="TextBox 29">
            <a:hlinkClick r:id="rId4"/>
          </p:cNvPr>
          <p:cNvSpPr txBox="1"/>
          <p:nvPr/>
        </p:nvSpPr>
        <p:spPr>
          <a:xfrm>
            <a:off x="2628900" y="1740789"/>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27"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endParaRPr/>
          </a:p>
        </p:txBody>
      </p:sp>
      <p:pic>
        <p:nvPicPr>
          <p:cNvPr id="28" name="Walnut Capital Partners logo" descr="Walnut Capital Partners logo"/>
          <p:cNvPicPr>
            <a:picLocks noChangeAspect="1"/>
          </p:cNvPicPr>
          <p:nvPr/>
        </p:nvPicPr>
        <p:blipFill>
          <a:blip r:embed="rId6"/>
          <a:stretch>
            <a:fillRect/>
          </a:stretch>
        </p:blipFill>
        <p:spPr>
          <a:xfrm>
            <a:off x="3163223" y="1990874"/>
            <a:ext cx="398204" cy="323701"/>
          </a:xfrm>
          <a:prstGeom prst="rect">
            <a:avLst/>
          </a:prstGeom>
        </p:spPr>
      </p:pic>
      <p:sp>
        <p:nvSpPr>
          <p:cNvPr id="29" name="TextBox 32">
            <a:hlinkClick r:id="rId4"/>
          </p:cNvPr>
          <p:cNvSpPr txBox="1"/>
          <p:nvPr/>
        </p:nvSpPr>
        <p:spPr>
          <a:xfrm>
            <a:off x="2628900" y="2431828"/>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Software design and development for mobile, Mac, and backend systems</a:t>
            </a:r>
          </a:p>
        </p:txBody>
      </p:sp>
      <p:sp>
        <p:nvSpPr>
          <p:cNvPr id="30" name="TextBox 33">
            <a:hlinkClick r:id="rId4"/>
          </p:cNvPr>
          <p:cNvSpPr txBox="1"/>
          <p:nvPr/>
        </p:nvSpPr>
        <p:spPr>
          <a:xfrm>
            <a:off x="2628900" y="2850452"/>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MANAGED IT &amp; CLOUD</a:t>
            </a:r>
          </a:p>
        </p:txBody>
      </p:sp>
      <p:sp>
        <p:nvSpPr>
          <p:cNvPr id="31"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endParaRPr/>
          </a:p>
        </p:txBody>
      </p:sp>
      <p:sp>
        <p:nvSpPr>
          <p:cNvPr id="32" name="Rule"/>
          <p:cNvSpPr/>
          <p:nvPr/>
        </p:nvSpPr>
        <p:spPr>
          <a:xfrm>
            <a:off x="4324350" y="1238250"/>
            <a:ext cx="1695450" cy="28575"/>
          </a:xfrm>
          <a:prstGeom prst="rect">
            <a:avLst/>
          </a:prstGeom>
          <a:solidFill>
            <a:srgbClr val="B68757"/>
          </a:solidFill>
          <a:ln>
            <a:noFill/>
          </a:ln>
        </p:spPr>
        <p:txBody>
          <a:bodyPr rtlCol="0" anchor="ctr"/>
          <a:lstStyle/>
          <a:p>
            <a:pPr algn="ctr"/>
            <a:endParaRPr/>
          </a:p>
        </p:txBody>
      </p:sp>
      <p:sp>
        <p:nvSpPr>
          <p:cNvPr id="33" name="Rule"/>
          <p:cNvSpPr/>
          <p:nvPr/>
        </p:nvSpPr>
        <p:spPr>
          <a:xfrm>
            <a:off x="6010275" y="1238250"/>
            <a:ext cx="9525" cy="1822400"/>
          </a:xfrm>
          <a:prstGeom prst="rect">
            <a:avLst/>
          </a:prstGeom>
          <a:solidFill>
            <a:srgbClr val="E3DCD3"/>
          </a:solidFill>
          <a:ln>
            <a:noFill/>
          </a:ln>
        </p:spPr>
        <p:txBody>
          <a:bodyPr rtlCol="0" anchor="ctr"/>
          <a:lstStyle/>
          <a:p>
            <a:pPr algn="ctr"/>
            <a:endParaRPr/>
          </a:p>
        </p:txBody>
      </p:sp>
      <p:sp>
        <p:nvSpPr>
          <p:cNvPr id="34" name="Rule"/>
          <p:cNvSpPr/>
          <p:nvPr/>
        </p:nvSpPr>
        <p:spPr>
          <a:xfrm>
            <a:off x="4324350" y="3051125"/>
            <a:ext cx="1695450" cy="9525"/>
          </a:xfrm>
          <a:prstGeom prst="rect">
            <a:avLst/>
          </a:prstGeom>
          <a:solidFill>
            <a:srgbClr val="E3DCD3"/>
          </a:solidFill>
          <a:ln>
            <a:noFill/>
          </a:ln>
        </p:spPr>
        <p:txBody>
          <a:bodyPr rtlCol="0" anchor="ctr"/>
          <a:lstStyle/>
          <a:p>
            <a:pPr algn="ctr"/>
            <a:endParaRPr/>
          </a:p>
        </p:txBody>
      </p:sp>
      <p:sp>
        <p:nvSpPr>
          <p:cNvPr id="35" name="Rule"/>
          <p:cNvSpPr/>
          <p:nvPr/>
        </p:nvSpPr>
        <p:spPr>
          <a:xfrm>
            <a:off x="4324350" y="1238250"/>
            <a:ext cx="9525" cy="1822400"/>
          </a:xfrm>
          <a:prstGeom prst="rect">
            <a:avLst/>
          </a:prstGeom>
          <a:solidFill>
            <a:srgbClr val="E3DCD3"/>
          </a:solidFill>
          <a:ln>
            <a:noFill/>
          </a:ln>
        </p:spPr>
        <p:txBody>
          <a:bodyPr rtlCol="0" anchor="ctr"/>
          <a:lstStyle/>
          <a:p>
            <a:pPr algn="ctr"/>
            <a:endParaRPr/>
          </a:p>
        </p:txBody>
      </p:sp>
      <p:sp>
        <p:nvSpPr>
          <p:cNvPr id="36"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37" name="EM3 Networks by CapCon logo" descr="EM3 Networks by CapCon logo">
            <a:hlinkClick r:id="rId7"/>
          </p:cNvPr>
          <p:cNvPicPr>
            <a:picLocks noChangeAspect="1"/>
          </p:cNvPicPr>
          <p:nvPr/>
        </p:nvPicPr>
        <p:blipFill>
          <a:blip r:embed="rId8"/>
          <a:stretch>
            <a:fillRect/>
          </a:stretch>
        </p:blipFill>
        <p:spPr>
          <a:xfrm>
            <a:off x="4543412" y="1448700"/>
            <a:ext cx="1257325" cy="245998"/>
          </a:xfrm>
          <a:prstGeom prst="rect">
            <a:avLst/>
          </a:prstGeom>
        </p:spPr>
      </p:pic>
      <p:sp>
        <p:nvSpPr>
          <p:cNvPr id="38" name="TextBox 41">
            <a:hlinkClick r:id="rId7"/>
          </p:cNvPr>
          <p:cNvSpPr txBox="1"/>
          <p:nvPr/>
        </p:nvSpPr>
        <p:spPr>
          <a:xfrm>
            <a:off x="4438650" y="1740789"/>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39"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endParaRPr/>
          </a:p>
        </p:txBody>
      </p:sp>
      <p:pic>
        <p:nvPicPr>
          <p:cNvPr id="40" name="CapCon Networks logo" descr="CapCon Networks logo">
            <a:hlinkClick r:id="rId7"/>
          </p:cNvPr>
          <p:cNvPicPr>
            <a:picLocks noChangeAspect="1"/>
          </p:cNvPicPr>
          <p:nvPr/>
        </p:nvPicPr>
        <p:blipFill>
          <a:blip r:embed="rId9"/>
          <a:stretch>
            <a:fillRect/>
          </a:stretch>
        </p:blipFill>
        <p:spPr>
          <a:xfrm>
            <a:off x="4543412" y="2025617"/>
            <a:ext cx="1257325" cy="254213"/>
          </a:xfrm>
          <a:prstGeom prst="rect">
            <a:avLst/>
          </a:prstGeom>
        </p:spPr>
      </p:pic>
      <p:sp>
        <p:nvSpPr>
          <p:cNvPr id="41" name="TextBox 44">
            <a:hlinkClick r:id="rId7"/>
          </p:cNvPr>
          <p:cNvSpPr txBox="1"/>
          <p:nvPr/>
        </p:nvSpPr>
        <p:spPr>
          <a:xfrm>
            <a:off x="4438650" y="2431828"/>
            <a:ext cx="1466850" cy="271462"/>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Dedicated leased lit fiber for schools, hospitals, and libraries</a:t>
            </a:r>
          </a:p>
        </p:txBody>
      </p:sp>
      <p:sp>
        <p:nvSpPr>
          <p:cNvPr id="42" name="TextBox 45">
            <a:hlinkClick r:id="rId7"/>
          </p:cNvPr>
          <p:cNvSpPr txBox="1"/>
          <p:nvPr/>
        </p:nvSpPr>
        <p:spPr>
          <a:xfrm>
            <a:off x="4438650" y="2848814"/>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TELECOM &amp; UCAAS</a:t>
            </a:r>
          </a:p>
        </p:txBody>
      </p:sp>
      <p:sp>
        <p:nvSpPr>
          <p:cNvPr id="43" name="Panel">
            <a:hlinkClick r:id="rId10"/>
          </p:cNvPr>
          <p:cNvSpPr/>
          <p:nvPr/>
        </p:nvSpPr>
        <p:spPr>
          <a:xfrm>
            <a:off x="6134100" y="1238250"/>
            <a:ext cx="1695450" cy="1822400"/>
          </a:xfrm>
          <a:prstGeom prst="rect">
            <a:avLst/>
          </a:prstGeom>
          <a:solidFill>
            <a:srgbClr val="FFFFFF"/>
          </a:solidFill>
          <a:ln>
            <a:noFill/>
          </a:ln>
        </p:spPr>
        <p:txBody>
          <a:bodyPr rtlCol="0" anchor="ctr"/>
          <a:lstStyle/>
          <a:p>
            <a:pPr algn="ctr"/>
            <a:endParaRPr/>
          </a:p>
        </p:txBody>
      </p:sp>
      <p:sp>
        <p:nvSpPr>
          <p:cNvPr id="44" name="Rule"/>
          <p:cNvSpPr/>
          <p:nvPr/>
        </p:nvSpPr>
        <p:spPr>
          <a:xfrm>
            <a:off x="6134100" y="1238250"/>
            <a:ext cx="1695450" cy="28575"/>
          </a:xfrm>
          <a:prstGeom prst="rect">
            <a:avLst/>
          </a:prstGeom>
          <a:solidFill>
            <a:srgbClr val="B68757"/>
          </a:solidFill>
          <a:ln>
            <a:noFill/>
          </a:ln>
        </p:spPr>
        <p:txBody>
          <a:bodyPr rtlCol="0" anchor="ctr"/>
          <a:lstStyle/>
          <a:p>
            <a:pPr algn="ctr"/>
            <a:endParaRPr/>
          </a:p>
        </p:txBody>
      </p:sp>
      <p:sp>
        <p:nvSpPr>
          <p:cNvPr id="45" name="Rule"/>
          <p:cNvSpPr/>
          <p:nvPr/>
        </p:nvSpPr>
        <p:spPr>
          <a:xfrm>
            <a:off x="7820025" y="1238250"/>
            <a:ext cx="9525" cy="1822400"/>
          </a:xfrm>
          <a:prstGeom prst="rect">
            <a:avLst/>
          </a:prstGeom>
          <a:solidFill>
            <a:srgbClr val="E3DCD3"/>
          </a:solidFill>
          <a:ln>
            <a:noFill/>
          </a:ln>
        </p:spPr>
        <p:txBody>
          <a:bodyPr rtlCol="0" anchor="ctr"/>
          <a:lstStyle/>
          <a:p>
            <a:pPr algn="ctr"/>
            <a:endParaRPr/>
          </a:p>
        </p:txBody>
      </p:sp>
      <p:sp>
        <p:nvSpPr>
          <p:cNvPr id="46" name="Rule"/>
          <p:cNvSpPr/>
          <p:nvPr/>
        </p:nvSpPr>
        <p:spPr>
          <a:xfrm>
            <a:off x="6134100" y="3051125"/>
            <a:ext cx="1695450" cy="9525"/>
          </a:xfrm>
          <a:prstGeom prst="rect">
            <a:avLst/>
          </a:prstGeom>
          <a:solidFill>
            <a:srgbClr val="E3DCD3"/>
          </a:solidFill>
          <a:ln>
            <a:noFill/>
          </a:ln>
        </p:spPr>
        <p:txBody>
          <a:bodyPr rtlCol="0" anchor="ctr"/>
          <a:lstStyle/>
          <a:p>
            <a:pPr algn="ctr"/>
            <a:endParaRPr/>
          </a:p>
        </p:txBody>
      </p:sp>
      <p:sp>
        <p:nvSpPr>
          <p:cNvPr id="47" name="Rule"/>
          <p:cNvSpPr/>
          <p:nvPr/>
        </p:nvSpPr>
        <p:spPr>
          <a:xfrm>
            <a:off x="6134100" y="1238250"/>
            <a:ext cx="9525" cy="1822400"/>
          </a:xfrm>
          <a:prstGeom prst="rect">
            <a:avLst/>
          </a:prstGeom>
          <a:solidFill>
            <a:srgbClr val="E3DCD3"/>
          </a:solidFill>
          <a:ln>
            <a:noFill/>
          </a:ln>
        </p:spPr>
        <p:txBody>
          <a:bodyPr rtlCol="0" anchor="ctr"/>
          <a:lstStyle/>
          <a:p>
            <a:pPr algn="ctr"/>
            <a:endParaRPr/>
          </a:p>
        </p:txBody>
      </p:sp>
      <p:sp>
        <p:nvSpPr>
          <p:cNvPr id="48"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49" name="ClearLine Networks logo" descr="ClearLine Networks logo">
            <a:hlinkClick r:id="rId10"/>
          </p:cNvPr>
          <p:cNvPicPr>
            <a:picLocks noChangeAspect="1"/>
          </p:cNvPicPr>
          <p:nvPr/>
        </p:nvPicPr>
        <p:blipFill>
          <a:blip r:embed="rId11"/>
          <a:stretch>
            <a:fillRect/>
          </a:stretch>
        </p:blipFill>
        <p:spPr>
          <a:xfrm>
            <a:off x="6353162" y="1443465"/>
            <a:ext cx="1257325" cy="256469"/>
          </a:xfrm>
          <a:prstGeom prst="rect">
            <a:avLst/>
          </a:prstGeom>
        </p:spPr>
      </p:pic>
      <p:sp>
        <p:nvSpPr>
          <p:cNvPr id="50" name="TextBox 53">
            <a:hlinkClick r:id="rId10"/>
          </p:cNvPr>
          <p:cNvSpPr txBox="1"/>
          <p:nvPr/>
        </p:nvSpPr>
        <p:spPr>
          <a:xfrm>
            <a:off x="6248400" y="17398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51"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52" name="Zeus Fire and Security logo" descr="Zeus Fire and Security logo">
            <a:hlinkClick r:id="rId10"/>
          </p:cNvPr>
          <p:cNvPicPr>
            <a:picLocks noChangeAspect="1"/>
          </p:cNvPicPr>
          <p:nvPr/>
        </p:nvPicPr>
        <p:blipFill>
          <a:blip r:embed="rId12"/>
          <a:stretch>
            <a:fillRect/>
          </a:stretch>
        </p:blipFill>
        <p:spPr>
          <a:xfrm>
            <a:off x="6514569" y="1989981"/>
            <a:ext cx="934510" cy="323701"/>
          </a:xfrm>
          <a:prstGeom prst="rect">
            <a:avLst/>
          </a:prstGeom>
        </p:spPr>
      </p:pic>
      <p:sp>
        <p:nvSpPr>
          <p:cNvPr id="53" name="TextBox 56">
            <a:hlinkClick r:id="rId10"/>
          </p:cNvPr>
          <p:cNvSpPr txBox="1"/>
          <p:nvPr/>
        </p:nvSpPr>
        <p:spPr>
          <a:xfrm>
            <a:off x="6248400" y="24300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Voice and data cabling, audiovisual, and security systems</a:t>
            </a:r>
          </a:p>
        </p:txBody>
      </p:sp>
      <p:sp>
        <p:nvSpPr>
          <p:cNvPr id="54" name="TextBox 57">
            <a:hlinkClick r:id="rId10"/>
          </p:cNvPr>
          <p:cNvSpPr txBox="1"/>
          <p:nvPr/>
        </p:nvSpPr>
        <p:spPr>
          <a:xfrm>
            <a:off x="6248400" y="2848814"/>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SYSTEMS INTEGRATION</a:t>
            </a:r>
          </a:p>
        </p:txBody>
      </p:sp>
      <p:sp>
        <p:nvSpPr>
          <p:cNvPr id="55" name="Panel">
            <a:hlinkClick r:id="rId13"/>
          </p:cNvPr>
          <p:cNvSpPr/>
          <p:nvPr/>
        </p:nvSpPr>
        <p:spPr>
          <a:xfrm>
            <a:off x="7943850" y="1238250"/>
            <a:ext cx="1695450" cy="1822400"/>
          </a:xfrm>
          <a:prstGeom prst="rect">
            <a:avLst/>
          </a:prstGeom>
          <a:solidFill>
            <a:srgbClr val="FFFFFF"/>
          </a:solidFill>
          <a:ln>
            <a:noFill/>
          </a:ln>
        </p:spPr>
        <p:txBody>
          <a:bodyPr rtlCol="0" anchor="ctr"/>
          <a:lstStyle/>
          <a:p>
            <a:pPr algn="ctr"/>
            <a:endParaRPr/>
          </a:p>
        </p:txBody>
      </p:sp>
      <p:sp>
        <p:nvSpPr>
          <p:cNvPr id="56" name="Rule"/>
          <p:cNvSpPr/>
          <p:nvPr/>
        </p:nvSpPr>
        <p:spPr>
          <a:xfrm>
            <a:off x="7943850" y="1238250"/>
            <a:ext cx="1695450" cy="28575"/>
          </a:xfrm>
          <a:prstGeom prst="rect">
            <a:avLst/>
          </a:prstGeom>
          <a:solidFill>
            <a:srgbClr val="B68757"/>
          </a:solidFill>
          <a:ln>
            <a:noFill/>
          </a:ln>
        </p:spPr>
        <p:txBody>
          <a:bodyPr rtlCol="0" anchor="ctr"/>
          <a:lstStyle/>
          <a:p>
            <a:pPr algn="ctr"/>
            <a:endParaRPr/>
          </a:p>
        </p:txBody>
      </p:sp>
      <p:sp>
        <p:nvSpPr>
          <p:cNvPr id="57" name="Rule"/>
          <p:cNvSpPr/>
          <p:nvPr/>
        </p:nvSpPr>
        <p:spPr>
          <a:xfrm>
            <a:off x="9629775" y="1238250"/>
            <a:ext cx="9525" cy="1822400"/>
          </a:xfrm>
          <a:prstGeom prst="rect">
            <a:avLst/>
          </a:prstGeom>
          <a:solidFill>
            <a:srgbClr val="E3DCD3"/>
          </a:solidFill>
          <a:ln>
            <a:noFill/>
          </a:ln>
        </p:spPr>
        <p:txBody>
          <a:bodyPr rtlCol="0" anchor="ctr"/>
          <a:lstStyle/>
          <a:p>
            <a:pPr algn="ctr"/>
            <a:endParaRPr/>
          </a:p>
        </p:txBody>
      </p:sp>
      <p:sp>
        <p:nvSpPr>
          <p:cNvPr id="58" name="Rule"/>
          <p:cNvSpPr/>
          <p:nvPr/>
        </p:nvSpPr>
        <p:spPr>
          <a:xfrm>
            <a:off x="7943850" y="3051125"/>
            <a:ext cx="1695450" cy="9525"/>
          </a:xfrm>
          <a:prstGeom prst="rect">
            <a:avLst/>
          </a:prstGeom>
          <a:solidFill>
            <a:srgbClr val="E3DCD3"/>
          </a:solidFill>
          <a:ln>
            <a:noFill/>
          </a:ln>
        </p:spPr>
        <p:txBody>
          <a:bodyPr rtlCol="0" anchor="ctr"/>
          <a:lstStyle/>
          <a:p>
            <a:pPr algn="ctr"/>
            <a:endParaRPr/>
          </a:p>
        </p:txBody>
      </p:sp>
      <p:sp>
        <p:nvSpPr>
          <p:cNvPr id="59" name="Rule"/>
          <p:cNvSpPr/>
          <p:nvPr/>
        </p:nvSpPr>
        <p:spPr>
          <a:xfrm>
            <a:off x="7943850" y="1238250"/>
            <a:ext cx="9525" cy="1822400"/>
          </a:xfrm>
          <a:prstGeom prst="rect">
            <a:avLst/>
          </a:prstGeom>
          <a:solidFill>
            <a:srgbClr val="E3DCD3"/>
          </a:solidFill>
          <a:ln>
            <a:noFill/>
          </a:ln>
        </p:spPr>
        <p:txBody>
          <a:bodyPr rtlCol="0" anchor="ctr"/>
          <a:lstStyle/>
          <a:p>
            <a:pPr algn="ctr"/>
            <a:endParaRPr/>
          </a:p>
        </p:txBody>
      </p:sp>
      <p:sp>
        <p:nvSpPr>
          <p:cNvPr id="60"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endParaRPr/>
          </a:p>
        </p:txBody>
      </p:sp>
      <p:sp>
        <p:nvSpPr>
          <p:cNvPr id="61" name="TextBox 64">
            <a:hlinkClick r:id="rId13"/>
          </p:cNvPr>
          <p:cNvSpPr txBox="1"/>
          <p:nvPr/>
        </p:nvSpPr>
        <p:spPr>
          <a:xfrm>
            <a:off x="8162925" y="1433477"/>
            <a:ext cx="1257300" cy="238125"/>
          </a:xfrm>
          <a:prstGeom prst="rect">
            <a:avLst/>
          </a:prstGeom>
          <a:noFill/>
        </p:spPr>
        <p:txBody>
          <a:bodyPr wrap="square" lIns="0" tIns="0" rIns="0" bIns="0" anchor="t">
            <a:noAutofit/>
          </a:bodyPr>
          <a:lstStyle/>
          <a:p>
            <a:pPr algn="ctr">
              <a:lnSpc>
                <a:spcPts val="1013"/>
              </a:lnSpc>
              <a:spcBef>
                <a:spcPts val="0"/>
              </a:spcBef>
              <a:spcAft>
                <a:spcPts val="0"/>
              </a:spcAft>
            </a:pPr>
            <a:r>
              <a:rPr sz="740" b="1" i="0" spc="45">
                <a:solidFill>
                  <a:srgbClr val="1B1A1A"/>
                </a:solidFill>
                <a:latin typeface="Quicksand"/>
              </a:rPr>
              <a:t>HIGH TECH SOLUTIONS - SYSTEMS GROUP</a:t>
            </a:r>
          </a:p>
        </p:txBody>
      </p:sp>
      <p:sp>
        <p:nvSpPr>
          <p:cNvPr id="62" name="TextBox 65">
            <a:hlinkClick r:id="rId13"/>
          </p:cNvPr>
          <p:cNvSpPr txBox="1"/>
          <p:nvPr/>
        </p:nvSpPr>
        <p:spPr>
          <a:xfrm>
            <a:off x="8058150" y="1739152"/>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63"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endParaRPr/>
          </a:p>
        </p:txBody>
      </p:sp>
      <p:pic>
        <p:nvPicPr>
          <p:cNvPr id="64" name="AI Fire logo" descr="AI Fire logo"/>
          <p:cNvPicPr>
            <a:picLocks noChangeAspect="1"/>
          </p:cNvPicPr>
          <p:nvPr/>
        </p:nvPicPr>
        <p:blipFill>
          <a:blip r:embed="rId14"/>
          <a:stretch>
            <a:fillRect/>
          </a:stretch>
        </p:blipFill>
        <p:spPr>
          <a:xfrm>
            <a:off x="8229674" y="1989237"/>
            <a:ext cx="1123652" cy="323701"/>
          </a:xfrm>
          <a:prstGeom prst="rect">
            <a:avLst/>
          </a:prstGeom>
        </p:spPr>
      </p:pic>
      <p:sp>
        <p:nvSpPr>
          <p:cNvPr id="65" name="TextBox 68">
            <a:hlinkClick r:id="rId13"/>
          </p:cNvPr>
          <p:cNvSpPr txBox="1"/>
          <p:nvPr/>
        </p:nvSpPr>
        <p:spPr>
          <a:xfrm>
            <a:off x="8058150" y="2430191"/>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Fire alarm, security, access control, and video surveillance systems</a:t>
            </a:r>
          </a:p>
        </p:txBody>
      </p:sp>
      <p:sp>
        <p:nvSpPr>
          <p:cNvPr id="66" name="TextBox 69">
            <a:hlinkClick r:id="rId13"/>
          </p:cNvPr>
          <p:cNvSpPr txBox="1"/>
          <p:nvPr/>
        </p:nvSpPr>
        <p:spPr>
          <a:xfrm>
            <a:off x="8058150" y="2848814"/>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SYSTEMS INTEGRATION</a:t>
            </a:r>
          </a:p>
        </p:txBody>
      </p:sp>
      <p:sp>
        <p:nvSpPr>
          <p:cNvPr id="67" name="Panel">
            <a:hlinkClick r:id="rId15"/>
          </p:cNvPr>
          <p:cNvSpPr/>
          <p:nvPr/>
        </p:nvSpPr>
        <p:spPr>
          <a:xfrm>
            <a:off x="2514600" y="3174950"/>
            <a:ext cx="1695450" cy="1822400"/>
          </a:xfrm>
          <a:prstGeom prst="rect">
            <a:avLst/>
          </a:prstGeom>
          <a:solidFill>
            <a:srgbClr val="FFFFFF"/>
          </a:solidFill>
          <a:ln>
            <a:noFill/>
          </a:ln>
        </p:spPr>
        <p:txBody>
          <a:bodyPr rtlCol="0" anchor="ctr"/>
          <a:lstStyle/>
          <a:p>
            <a:pPr algn="ctr"/>
            <a:endParaRPr/>
          </a:p>
        </p:txBody>
      </p:sp>
      <p:sp>
        <p:nvSpPr>
          <p:cNvPr id="68" name="Rule"/>
          <p:cNvSpPr/>
          <p:nvPr/>
        </p:nvSpPr>
        <p:spPr>
          <a:xfrm>
            <a:off x="2514600" y="3174950"/>
            <a:ext cx="1695450" cy="28575"/>
          </a:xfrm>
          <a:prstGeom prst="rect">
            <a:avLst/>
          </a:prstGeom>
          <a:solidFill>
            <a:srgbClr val="B68757"/>
          </a:solidFill>
          <a:ln>
            <a:noFill/>
          </a:ln>
        </p:spPr>
        <p:txBody>
          <a:bodyPr rtlCol="0" anchor="ctr"/>
          <a:lstStyle/>
          <a:p>
            <a:pPr algn="ctr"/>
            <a:endParaRPr/>
          </a:p>
        </p:txBody>
      </p:sp>
      <p:sp>
        <p:nvSpPr>
          <p:cNvPr id="69" name="Rule"/>
          <p:cNvSpPr/>
          <p:nvPr/>
        </p:nvSpPr>
        <p:spPr>
          <a:xfrm>
            <a:off x="4200525" y="3174950"/>
            <a:ext cx="9525" cy="1822400"/>
          </a:xfrm>
          <a:prstGeom prst="rect">
            <a:avLst/>
          </a:prstGeom>
          <a:solidFill>
            <a:srgbClr val="E3DCD3"/>
          </a:solidFill>
          <a:ln>
            <a:noFill/>
          </a:ln>
        </p:spPr>
        <p:txBody>
          <a:bodyPr rtlCol="0" anchor="ctr"/>
          <a:lstStyle/>
          <a:p>
            <a:pPr algn="ctr"/>
            <a:endParaRPr/>
          </a:p>
        </p:txBody>
      </p:sp>
      <p:sp>
        <p:nvSpPr>
          <p:cNvPr id="70" name="Rule"/>
          <p:cNvSpPr/>
          <p:nvPr/>
        </p:nvSpPr>
        <p:spPr>
          <a:xfrm>
            <a:off x="2514600" y="4987826"/>
            <a:ext cx="1695450" cy="9525"/>
          </a:xfrm>
          <a:prstGeom prst="rect">
            <a:avLst/>
          </a:prstGeom>
          <a:solidFill>
            <a:srgbClr val="E3DCD3"/>
          </a:solidFill>
          <a:ln>
            <a:noFill/>
          </a:ln>
        </p:spPr>
        <p:txBody>
          <a:bodyPr rtlCol="0" anchor="ctr"/>
          <a:lstStyle/>
          <a:p>
            <a:pPr algn="ctr"/>
            <a:endParaRPr/>
          </a:p>
        </p:txBody>
      </p:sp>
      <p:sp>
        <p:nvSpPr>
          <p:cNvPr id="71" name="Rule"/>
          <p:cNvSpPr/>
          <p:nvPr/>
        </p:nvSpPr>
        <p:spPr>
          <a:xfrm>
            <a:off x="2514600" y="3174950"/>
            <a:ext cx="9525" cy="1822400"/>
          </a:xfrm>
          <a:prstGeom prst="rect">
            <a:avLst/>
          </a:prstGeom>
          <a:solidFill>
            <a:srgbClr val="E3DCD3"/>
          </a:solidFill>
          <a:ln>
            <a:noFill/>
          </a:ln>
        </p:spPr>
        <p:txBody>
          <a:bodyPr rtlCol="0" anchor="ctr"/>
          <a:lstStyle/>
          <a:p>
            <a:pPr algn="ctr"/>
            <a:endParaRPr/>
          </a:p>
        </p:txBody>
      </p:sp>
      <p:sp>
        <p:nvSpPr>
          <p:cNvPr id="72"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73" name="Sheffield Scientific, a TRM company logo" descr="Sheffield Scientific, a TRM company logo">
            <a:hlinkClick r:id="rId15"/>
          </p:cNvPr>
          <p:cNvPicPr>
            <a:picLocks noChangeAspect="1"/>
          </p:cNvPicPr>
          <p:nvPr/>
        </p:nvPicPr>
        <p:blipFill>
          <a:blip r:embed="rId16"/>
          <a:stretch>
            <a:fillRect/>
          </a:stretch>
        </p:blipFill>
        <p:spPr>
          <a:xfrm>
            <a:off x="2782227" y="3346549"/>
            <a:ext cx="1160195" cy="323701"/>
          </a:xfrm>
          <a:prstGeom prst="rect">
            <a:avLst/>
          </a:prstGeom>
        </p:spPr>
      </p:pic>
      <p:sp>
        <p:nvSpPr>
          <p:cNvPr id="74" name="TextBox 77">
            <a:hlinkClick r:id="rId15"/>
          </p:cNvPr>
          <p:cNvSpPr txBox="1"/>
          <p:nvPr/>
        </p:nvSpPr>
        <p:spPr>
          <a:xfrm>
            <a:off x="2628900" y="36765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75"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76" name="TRM logo" descr="TRM logo">
            <a:hlinkClick r:id="rId15"/>
          </p:cNvPr>
          <p:cNvPicPr>
            <a:picLocks noChangeAspect="1"/>
          </p:cNvPicPr>
          <p:nvPr/>
        </p:nvPicPr>
        <p:blipFill>
          <a:blip r:embed="rId17"/>
          <a:stretch>
            <a:fillRect/>
          </a:stretch>
        </p:blipFill>
        <p:spPr>
          <a:xfrm>
            <a:off x="3007928" y="3926681"/>
            <a:ext cx="708793" cy="323701"/>
          </a:xfrm>
          <a:prstGeom prst="rect">
            <a:avLst/>
          </a:prstGeom>
        </p:spPr>
      </p:pic>
      <p:sp>
        <p:nvSpPr>
          <p:cNvPr id="77" name="TextBox 80">
            <a:hlinkClick r:id="rId15"/>
          </p:cNvPr>
          <p:cNvSpPr txBox="1"/>
          <p:nvPr/>
        </p:nvSpPr>
        <p:spPr>
          <a:xfrm>
            <a:off x="2628900" y="43667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Asset management consulting and risk software for power generators</a:t>
            </a:r>
          </a:p>
        </p:txBody>
      </p:sp>
      <p:sp>
        <p:nvSpPr>
          <p:cNvPr id="78" name="TextBox 81">
            <a:hlinkClick r:id="rId15"/>
          </p:cNvPr>
          <p:cNvSpPr txBox="1"/>
          <p:nvPr/>
        </p:nvSpPr>
        <p:spPr>
          <a:xfrm>
            <a:off x="2628900" y="47855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SYSTEMS INTEGRATION</a:t>
            </a:r>
          </a:p>
        </p:txBody>
      </p:sp>
      <p:sp>
        <p:nvSpPr>
          <p:cNvPr id="79" name="Panel">
            <a:hlinkClick r:id="rId18"/>
          </p:cNvPr>
          <p:cNvSpPr/>
          <p:nvPr/>
        </p:nvSpPr>
        <p:spPr>
          <a:xfrm>
            <a:off x="4324350" y="3174950"/>
            <a:ext cx="1695450" cy="1822400"/>
          </a:xfrm>
          <a:prstGeom prst="rect">
            <a:avLst/>
          </a:prstGeom>
          <a:solidFill>
            <a:srgbClr val="FFFFFF"/>
          </a:solidFill>
          <a:ln>
            <a:noFill/>
          </a:ln>
        </p:spPr>
        <p:txBody>
          <a:bodyPr rtlCol="0" anchor="ctr"/>
          <a:lstStyle/>
          <a:p>
            <a:pPr algn="ctr"/>
            <a:endParaRPr/>
          </a:p>
        </p:txBody>
      </p:sp>
      <p:sp>
        <p:nvSpPr>
          <p:cNvPr id="80" name="Rule"/>
          <p:cNvSpPr/>
          <p:nvPr/>
        </p:nvSpPr>
        <p:spPr>
          <a:xfrm>
            <a:off x="4324350" y="3174950"/>
            <a:ext cx="1695450" cy="28575"/>
          </a:xfrm>
          <a:prstGeom prst="rect">
            <a:avLst/>
          </a:prstGeom>
          <a:solidFill>
            <a:srgbClr val="B68757"/>
          </a:solidFill>
          <a:ln>
            <a:noFill/>
          </a:ln>
        </p:spPr>
        <p:txBody>
          <a:bodyPr rtlCol="0" anchor="ctr"/>
          <a:lstStyle/>
          <a:p>
            <a:pPr algn="ctr"/>
            <a:endParaRPr/>
          </a:p>
        </p:txBody>
      </p:sp>
      <p:sp>
        <p:nvSpPr>
          <p:cNvPr id="81" name="Rule"/>
          <p:cNvSpPr/>
          <p:nvPr/>
        </p:nvSpPr>
        <p:spPr>
          <a:xfrm>
            <a:off x="6010275" y="3174950"/>
            <a:ext cx="9525" cy="1822400"/>
          </a:xfrm>
          <a:prstGeom prst="rect">
            <a:avLst/>
          </a:prstGeom>
          <a:solidFill>
            <a:srgbClr val="E3DCD3"/>
          </a:solidFill>
          <a:ln>
            <a:noFill/>
          </a:ln>
        </p:spPr>
        <p:txBody>
          <a:bodyPr rtlCol="0" anchor="ctr"/>
          <a:lstStyle/>
          <a:p>
            <a:pPr algn="ctr"/>
            <a:endParaRPr/>
          </a:p>
        </p:txBody>
      </p:sp>
      <p:sp>
        <p:nvSpPr>
          <p:cNvPr id="82" name="Rule"/>
          <p:cNvSpPr/>
          <p:nvPr/>
        </p:nvSpPr>
        <p:spPr>
          <a:xfrm>
            <a:off x="4324350" y="4987826"/>
            <a:ext cx="1695450" cy="9525"/>
          </a:xfrm>
          <a:prstGeom prst="rect">
            <a:avLst/>
          </a:prstGeom>
          <a:solidFill>
            <a:srgbClr val="E3DCD3"/>
          </a:solidFill>
          <a:ln>
            <a:noFill/>
          </a:ln>
        </p:spPr>
        <p:txBody>
          <a:bodyPr rtlCol="0" anchor="ctr"/>
          <a:lstStyle/>
          <a:p>
            <a:pPr algn="ctr"/>
            <a:endParaRPr/>
          </a:p>
        </p:txBody>
      </p:sp>
      <p:sp>
        <p:nvSpPr>
          <p:cNvPr id="83" name="Rule"/>
          <p:cNvSpPr/>
          <p:nvPr/>
        </p:nvSpPr>
        <p:spPr>
          <a:xfrm>
            <a:off x="4324350" y="3174950"/>
            <a:ext cx="9525" cy="1822400"/>
          </a:xfrm>
          <a:prstGeom prst="rect">
            <a:avLst/>
          </a:prstGeom>
          <a:solidFill>
            <a:srgbClr val="E3DCD3"/>
          </a:solidFill>
          <a:ln>
            <a:noFill/>
          </a:ln>
        </p:spPr>
        <p:txBody>
          <a:bodyPr rtlCol="0" anchor="ctr"/>
          <a:lstStyle/>
          <a:p>
            <a:pPr algn="ctr"/>
            <a:endParaRPr/>
          </a:p>
        </p:txBody>
      </p:sp>
      <p:sp>
        <p:nvSpPr>
          <p:cNvPr id="84"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85" name="Paragon Manufacturing Corp logo" descr="Paragon Manufacturing Corp logo">
            <a:hlinkClick r:id="rId18"/>
          </p:cNvPr>
          <p:cNvPicPr>
            <a:picLocks noChangeAspect="1"/>
          </p:cNvPicPr>
          <p:nvPr/>
        </p:nvPicPr>
        <p:blipFill>
          <a:blip r:embed="rId19"/>
          <a:stretch>
            <a:fillRect/>
          </a:stretch>
        </p:blipFill>
        <p:spPr>
          <a:xfrm>
            <a:off x="4543412" y="3380442"/>
            <a:ext cx="1257325" cy="255915"/>
          </a:xfrm>
          <a:prstGeom prst="rect">
            <a:avLst/>
          </a:prstGeom>
        </p:spPr>
      </p:pic>
      <p:sp>
        <p:nvSpPr>
          <p:cNvPr id="86" name="TextBox 89">
            <a:hlinkClick r:id="rId18"/>
          </p:cNvPr>
          <p:cNvSpPr txBox="1"/>
          <p:nvPr/>
        </p:nvSpPr>
        <p:spPr>
          <a:xfrm>
            <a:off x="4438650" y="36765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87"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88" name="BlueRock Global logo" descr="BlueRock Global logo">
            <a:hlinkClick r:id="rId18"/>
          </p:cNvPr>
          <p:cNvPicPr>
            <a:picLocks noChangeAspect="1"/>
          </p:cNvPicPr>
          <p:nvPr/>
        </p:nvPicPr>
        <p:blipFill>
          <a:blip r:embed="rId20"/>
          <a:stretch>
            <a:fillRect/>
          </a:stretch>
        </p:blipFill>
        <p:spPr>
          <a:xfrm>
            <a:off x="4993671" y="3926681"/>
            <a:ext cx="356806" cy="323701"/>
          </a:xfrm>
          <a:prstGeom prst="rect">
            <a:avLst/>
          </a:prstGeom>
        </p:spPr>
      </p:pic>
      <p:sp>
        <p:nvSpPr>
          <p:cNvPr id="89" name="TextBox 92">
            <a:hlinkClick r:id="rId18"/>
          </p:cNvPr>
          <p:cNvSpPr txBox="1"/>
          <p:nvPr/>
        </p:nvSpPr>
        <p:spPr>
          <a:xfrm>
            <a:off x="4438650" y="43667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Build-to-print cables, harnesses, and electromechanical assemblies</a:t>
            </a:r>
          </a:p>
        </p:txBody>
      </p:sp>
      <p:sp>
        <p:nvSpPr>
          <p:cNvPr id="90" name="TextBox 93">
            <a:hlinkClick r:id="rId18"/>
          </p:cNvPr>
          <p:cNvSpPr txBox="1"/>
          <p:nvPr/>
        </p:nvSpPr>
        <p:spPr>
          <a:xfrm>
            <a:off x="4438650" y="47855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91" name="Panel">
            <a:hlinkClick r:id="rId21"/>
          </p:cNvPr>
          <p:cNvSpPr/>
          <p:nvPr/>
        </p:nvSpPr>
        <p:spPr>
          <a:xfrm>
            <a:off x="6134100" y="3174950"/>
            <a:ext cx="1695450" cy="1822400"/>
          </a:xfrm>
          <a:prstGeom prst="rect">
            <a:avLst/>
          </a:prstGeom>
          <a:solidFill>
            <a:srgbClr val="FFFFFF"/>
          </a:solidFill>
          <a:ln>
            <a:noFill/>
          </a:ln>
        </p:spPr>
        <p:txBody>
          <a:bodyPr rtlCol="0" anchor="ctr"/>
          <a:lstStyle/>
          <a:p>
            <a:pPr algn="ctr"/>
            <a:endParaRPr/>
          </a:p>
        </p:txBody>
      </p:sp>
      <p:sp>
        <p:nvSpPr>
          <p:cNvPr id="92" name="Rule"/>
          <p:cNvSpPr/>
          <p:nvPr/>
        </p:nvSpPr>
        <p:spPr>
          <a:xfrm>
            <a:off x="6134100" y="3174950"/>
            <a:ext cx="1695450" cy="28575"/>
          </a:xfrm>
          <a:prstGeom prst="rect">
            <a:avLst/>
          </a:prstGeom>
          <a:solidFill>
            <a:srgbClr val="B68757"/>
          </a:solidFill>
          <a:ln>
            <a:noFill/>
          </a:ln>
        </p:spPr>
        <p:txBody>
          <a:bodyPr rtlCol="0" anchor="ctr"/>
          <a:lstStyle/>
          <a:p>
            <a:pPr algn="ctr"/>
            <a:endParaRPr/>
          </a:p>
        </p:txBody>
      </p:sp>
      <p:sp>
        <p:nvSpPr>
          <p:cNvPr id="93" name="Rule"/>
          <p:cNvSpPr/>
          <p:nvPr/>
        </p:nvSpPr>
        <p:spPr>
          <a:xfrm>
            <a:off x="7820025" y="3174950"/>
            <a:ext cx="9525" cy="1822400"/>
          </a:xfrm>
          <a:prstGeom prst="rect">
            <a:avLst/>
          </a:prstGeom>
          <a:solidFill>
            <a:srgbClr val="E3DCD3"/>
          </a:solidFill>
          <a:ln>
            <a:noFill/>
          </a:ln>
        </p:spPr>
        <p:txBody>
          <a:bodyPr rtlCol="0" anchor="ctr"/>
          <a:lstStyle/>
          <a:p>
            <a:pPr algn="ctr"/>
            <a:endParaRPr/>
          </a:p>
        </p:txBody>
      </p:sp>
      <p:sp>
        <p:nvSpPr>
          <p:cNvPr id="94" name="Rule"/>
          <p:cNvSpPr/>
          <p:nvPr/>
        </p:nvSpPr>
        <p:spPr>
          <a:xfrm>
            <a:off x="6134100" y="4987826"/>
            <a:ext cx="1695450" cy="9525"/>
          </a:xfrm>
          <a:prstGeom prst="rect">
            <a:avLst/>
          </a:prstGeom>
          <a:solidFill>
            <a:srgbClr val="E3DCD3"/>
          </a:solidFill>
          <a:ln>
            <a:noFill/>
          </a:ln>
        </p:spPr>
        <p:txBody>
          <a:bodyPr rtlCol="0" anchor="ctr"/>
          <a:lstStyle/>
          <a:p>
            <a:pPr algn="ctr"/>
            <a:endParaRPr/>
          </a:p>
        </p:txBody>
      </p:sp>
      <p:sp>
        <p:nvSpPr>
          <p:cNvPr id="95" name="Rule"/>
          <p:cNvSpPr/>
          <p:nvPr/>
        </p:nvSpPr>
        <p:spPr>
          <a:xfrm>
            <a:off x="6134100" y="3174950"/>
            <a:ext cx="9525" cy="1822400"/>
          </a:xfrm>
          <a:prstGeom prst="rect">
            <a:avLst/>
          </a:prstGeom>
          <a:solidFill>
            <a:srgbClr val="E3DCD3"/>
          </a:solidFill>
          <a:ln>
            <a:noFill/>
          </a:ln>
        </p:spPr>
        <p:txBody>
          <a:bodyPr rtlCol="0" anchor="ctr"/>
          <a:lstStyle/>
          <a:p>
            <a:pPr algn="ctr"/>
            <a:endParaRPr/>
          </a:p>
        </p:txBody>
      </p:sp>
      <p:sp>
        <p:nvSpPr>
          <p:cNvPr id="96"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97" name="Boostr Digital Displays logo" descr="Boostr Digital Displays logo"/>
          <p:cNvPicPr>
            <a:picLocks noChangeAspect="1"/>
          </p:cNvPicPr>
          <p:nvPr/>
        </p:nvPicPr>
        <p:blipFill>
          <a:blip r:embed="rId22"/>
          <a:stretch>
            <a:fillRect/>
          </a:stretch>
        </p:blipFill>
        <p:spPr>
          <a:xfrm>
            <a:off x="6679774" y="3346549"/>
            <a:ext cx="603953" cy="323701"/>
          </a:xfrm>
          <a:prstGeom prst="rect">
            <a:avLst/>
          </a:prstGeom>
        </p:spPr>
      </p:pic>
      <p:sp>
        <p:nvSpPr>
          <p:cNvPr id="98" name="TextBox 101">
            <a:hlinkClick r:id="rId21"/>
          </p:cNvPr>
          <p:cNvSpPr txBox="1"/>
          <p:nvPr/>
        </p:nvSpPr>
        <p:spPr>
          <a:xfrm>
            <a:off x="6248400" y="3677489"/>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99"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00" name="Balius Partners logo" descr="Balius Partners logo"/>
          <p:cNvPicPr>
            <a:picLocks noChangeAspect="1"/>
          </p:cNvPicPr>
          <p:nvPr/>
        </p:nvPicPr>
        <p:blipFill>
          <a:blip r:embed="rId23"/>
          <a:stretch>
            <a:fillRect/>
          </a:stretch>
        </p:blipFill>
        <p:spPr>
          <a:xfrm>
            <a:off x="6773803" y="3927574"/>
            <a:ext cx="415895" cy="323701"/>
          </a:xfrm>
          <a:prstGeom prst="rect">
            <a:avLst/>
          </a:prstGeom>
        </p:spPr>
      </p:pic>
      <p:sp>
        <p:nvSpPr>
          <p:cNvPr id="101" name="TextBox 104">
            <a:hlinkClick r:id="rId21"/>
          </p:cNvPr>
          <p:cNvSpPr txBox="1"/>
          <p:nvPr/>
        </p:nvSpPr>
        <p:spPr>
          <a:xfrm>
            <a:off x="6248400" y="4368528"/>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Indoor and outdoor display assemblies for school sports programs</a:t>
            </a:r>
          </a:p>
        </p:txBody>
      </p:sp>
      <p:sp>
        <p:nvSpPr>
          <p:cNvPr id="102" name="TextBox 105">
            <a:hlinkClick r:id="rId21"/>
          </p:cNvPr>
          <p:cNvSpPr txBox="1"/>
          <p:nvPr/>
        </p:nvSpPr>
        <p:spPr>
          <a:xfrm>
            <a:off x="6248400" y="4787152"/>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03" name="Panel">
            <a:hlinkClick r:id="rId24"/>
          </p:cNvPr>
          <p:cNvSpPr/>
          <p:nvPr/>
        </p:nvSpPr>
        <p:spPr>
          <a:xfrm>
            <a:off x="7943850" y="3174950"/>
            <a:ext cx="1695450" cy="1822400"/>
          </a:xfrm>
          <a:prstGeom prst="rect">
            <a:avLst/>
          </a:prstGeom>
          <a:solidFill>
            <a:srgbClr val="FFFFFF"/>
          </a:solidFill>
          <a:ln>
            <a:noFill/>
          </a:ln>
        </p:spPr>
        <p:txBody>
          <a:bodyPr rtlCol="0" anchor="ctr"/>
          <a:lstStyle/>
          <a:p>
            <a:pPr algn="ctr"/>
            <a:endParaRPr/>
          </a:p>
        </p:txBody>
      </p:sp>
      <p:sp>
        <p:nvSpPr>
          <p:cNvPr id="104" name="Rule"/>
          <p:cNvSpPr/>
          <p:nvPr/>
        </p:nvSpPr>
        <p:spPr>
          <a:xfrm>
            <a:off x="7943850" y="3174950"/>
            <a:ext cx="1695450" cy="28575"/>
          </a:xfrm>
          <a:prstGeom prst="rect">
            <a:avLst/>
          </a:prstGeom>
          <a:solidFill>
            <a:srgbClr val="B68757"/>
          </a:solidFill>
          <a:ln>
            <a:noFill/>
          </a:ln>
        </p:spPr>
        <p:txBody>
          <a:bodyPr rtlCol="0" anchor="ctr"/>
          <a:lstStyle/>
          <a:p>
            <a:pPr algn="ctr"/>
            <a:endParaRPr/>
          </a:p>
        </p:txBody>
      </p:sp>
      <p:sp>
        <p:nvSpPr>
          <p:cNvPr id="105" name="Rule"/>
          <p:cNvSpPr/>
          <p:nvPr/>
        </p:nvSpPr>
        <p:spPr>
          <a:xfrm>
            <a:off x="9629775" y="3174950"/>
            <a:ext cx="9525" cy="1822400"/>
          </a:xfrm>
          <a:prstGeom prst="rect">
            <a:avLst/>
          </a:prstGeom>
          <a:solidFill>
            <a:srgbClr val="E3DCD3"/>
          </a:solidFill>
          <a:ln>
            <a:noFill/>
          </a:ln>
        </p:spPr>
        <p:txBody>
          <a:bodyPr rtlCol="0" anchor="ctr"/>
          <a:lstStyle/>
          <a:p>
            <a:pPr algn="ctr"/>
            <a:endParaRPr/>
          </a:p>
        </p:txBody>
      </p:sp>
      <p:sp>
        <p:nvSpPr>
          <p:cNvPr id="106" name="Rule"/>
          <p:cNvSpPr/>
          <p:nvPr/>
        </p:nvSpPr>
        <p:spPr>
          <a:xfrm>
            <a:off x="7943850" y="4987826"/>
            <a:ext cx="1695450" cy="9525"/>
          </a:xfrm>
          <a:prstGeom prst="rect">
            <a:avLst/>
          </a:prstGeom>
          <a:solidFill>
            <a:srgbClr val="E3DCD3"/>
          </a:solidFill>
          <a:ln>
            <a:noFill/>
          </a:ln>
        </p:spPr>
        <p:txBody>
          <a:bodyPr rtlCol="0" anchor="ctr"/>
          <a:lstStyle/>
          <a:p>
            <a:pPr algn="ctr"/>
            <a:endParaRPr/>
          </a:p>
        </p:txBody>
      </p:sp>
      <p:sp>
        <p:nvSpPr>
          <p:cNvPr id="107" name="Rule"/>
          <p:cNvSpPr/>
          <p:nvPr/>
        </p:nvSpPr>
        <p:spPr>
          <a:xfrm>
            <a:off x="7943850" y="3174950"/>
            <a:ext cx="9525" cy="1822400"/>
          </a:xfrm>
          <a:prstGeom prst="rect">
            <a:avLst/>
          </a:prstGeom>
          <a:solidFill>
            <a:srgbClr val="E3DCD3"/>
          </a:solidFill>
          <a:ln>
            <a:noFill/>
          </a:ln>
        </p:spPr>
        <p:txBody>
          <a:bodyPr rtlCol="0" anchor="ctr"/>
          <a:lstStyle/>
          <a:p>
            <a:pPr algn="ctr"/>
            <a:endParaRPr/>
          </a:p>
        </p:txBody>
      </p:sp>
      <p:sp>
        <p:nvSpPr>
          <p:cNvPr id="108"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09" name="Solar Electronics Company logo" descr="Solar Electronics Company logo">
            <a:hlinkClick r:id="rId24"/>
          </p:cNvPr>
          <p:cNvPicPr>
            <a:picLocks noChangeAspect="1"/>
          </p:cNvPicPr>
          <p:nvPr/>
        </p:nvPicPr>
        <p:blipFill>
          <a:blip r:embed="rId25"/>
          <a:stretch>
            <a:fillRect/>
          </a:stretch>
        </p:blipFill>
        <p:spPr>
          <a:xfrm>
            <a:off x="8162912" y="3401021"/>
            <a:ext cx="1257325" cy="214756"/>
          </a:xfrm>
          <a:prstGeom prst="rect">
            <a:avLst/>
          </a:prstGeom>
        </p:spPr>
      </p:pic>
      <p:sp>
        <p:nvSpPr>
          <p:cNvPr id="110" name="TextBox 113">
            <a:hlinkClick r:id="rId24"/>
          </p:cNvPr>
          <p:cNvSpPr txBox="1"/>
          <p:nvPr/>
        </p:nvSpPr>
        <p:spPr>
          <a:xfrm>
            <a:off x="8058150" y="36765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11"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12" name="Assessimus logo" descr="Assessimus logo">
            <a:hlinkClick r:id="rId24"/>
          </p:cNvPr>
          <p:cNvPicPr>
            <a:picLocks noChangeAspect="1"/>
          </p:cNvPicPr>
          <p:nvPr/>
        </p:nvPicPr>
        <p:blipFill>
          <a:blip r:embed="rId26"/>
          <a:stretch>
            <a:fillRect/>
          </a:stretch>
        </p:blipFill>
        <p:spPr>
          <a:xfrm>
            <a:off x="8162912" y="3958699"/>
            <a:ext cx="1257325" cy="259664"/>
          </a:xfrm>
          <a:prstGeom prst="rect">
            <a:avLst/>
          </a:prstGeom>
        </p:spPr>
      </p:pic>
      <p:sp>
        <p:nvSpPr>
          <p:cNvPr id="113" name="TextBox 116">
            <a:hlinkClick r:id="rId24"/>
          </p:cNvPr>
          <p:cNvSpPr txBox="1"/>
          <p:nvPr/>
        </p:nvSpPr>
        <p:spPr>
          <a:xfrm>
            <a:off x="8058150" y="43667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Test equipment for electromagnetic compatibility laboratories</a:t>
            </a:r>
          </a:p>
        </p:txBody>
      </p:sp>
      <p:sp>
        <p:nvSpPr>
          <p:cNvPr id="114" name="TextBox 117">
            <a:hlinkClick r:id="rId24"/>
          </p:cNvPr>
          <p:cNvSpPr txBox="1"/>
          <p:nvPr/>
        </p:nvSpPr>
        <p:spPr>
          <a:xfrm>
            <a:off x="8058150" y="47855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15" name="Panel">
            <a:hlinkClick r:id="rId27"/>
          </p:cNvPr>
          <p:cNvSpPr/>
          <p:nvPr/>
        </p:nvSpPr>
        <p:spPr>
          <a:xfrm>
            <a:off x="2514600" y="5111651"/>
            <a:ext cx="1695450" cy="1822400"/>
          </a:xfrm>
          <a:prstGeom prst="rect">
            <a:avLst/>
          </a:prstGeom>
          <a:solidFill>
            <a:srgbClr val="FFFFFF"/>
          </a:solidFill>
          <a:ln>
            <a:noFill/>
          </a:ln>
        </p:spPr>
        <p:txBody>
          <a:bodyPr rtlCol="0" anchor="ctr"/>
          <a:lstStyle/>
          <a:p>
            <a:pPr algn="ctr"/>
            <a:endParaRPr/>
          </a:p>
        </p:txBody>
      </p:sp>
      <p:sp>
        <p:nvSpPr>
          <p:cNvPr id="116" name="Rule"/>
          <p:cNvSpPr/>
          <p:nvPr/>
        </p:nvSpPr>
        <p:spPr>
          <a:xfrm>
            <a:off x="2514600" y="5111651"/>
            <a:ext cx="1695450" cy="28575"/>
          </a:xfrm>
          <a:prstGeom prst="rect">
            <a:avLst/>
          </a:prstGeom>
          <a:solidFill>
            <a:srgbClr val="B68757"/>
          </a:solidFill>
          <a:ln>
            <a:noFill/>
          </a:ln>
        </p:spPr>
        <p:txBody>
          <a:bodyPr rtlCol="0" anchor="ctr"/>
          <a:lstStyle/>
          <a:p>
            <a:pPr algn="ctr"/>
            <a:endParaRPr/>
          </a:p>
        </p:txBody>
      </p:sp>
      <p:sp>
        <p:nvSpPr>
          <p:cNvPr id="117" name="Rule"/>
          <p:cNvSpPr/>
          <p:nvPr/>
        </p:nvSpPr>
        <p:spPr>
          <a:xfrm>
            <a:off x="4200525" y="5111651"/>
            <a:ext cx="9525" cy="1822400"/>
          </a:xfrm>
          <a:prstGeom prst="rect">
            <a:avLst/>
          </a:prstGeom>
          <a:solidFill>
            <a:srgbClr val="E3DCD3"/>
          </a:solidFill>
          <a:ln>
            <a:noFill/>
          </a:ln>
        </p:spPr>
        <p:txBody>
          <a:bodyPr rtlCol="0" anchor="ctr"/>
          <a:lstStyle/>
          <a:p>
            <a:pPr algn="ctr"/>
            <a:endParaRPr/>
          </a:p>
        </p:txBody>
      </p:sp>
      <p:sp>
        <p:nvSpPr>
          <p:cNvPr id="118" name="Rule"/>
          <p:cNvSpPr/>
          <p:nvPr/>
        </p:nvSpPr>
        <p:spPr>
          <a:xfrm>
            <a:off x="2514600" y="6924526"/>
            <a:ext cx="1695450" cy="9525"/>
          </a:xfrm>
          <a:prstGeom prst="rect">
            <a:avLst/>
          </a:prstGeom>
          <a:solidFill>
            <a:srgbClr val="E3DCD3"/>
          </a:solidFill>
          <a:ln>
            <a:noFill/>
          </a:ln>
        </p:spPr>
        <p:txBody>
          <a:bodyPr rtlCol="0" anchor="ctr"/>
          <a:lstStyle/>
          <a:p>
            <a:pPr algn="ctr"/>
            <a:endParaRPr/>
          </a:p>
        </p:txBody>
      </p:sp>
      <p:sp>
        <p:nvSpPr>
          <p:cNvPr id="119" name="Rule"/>
          <p:cNvSpPr/>
          <p:nvPr/>
        </p:nvSpPr>
        <p:spPr>
          <a:xfrm>
            <a:off x="2514600" y="5111651"/>
            <a:ext cx="9525" cy="1822400"/>
          </a:xfrm>
          <a:prstGeom prst="rect">
            <a:avLst/>
          </a:prstGeom>
          <a:solidFill>
            <a:srgbClr val="E3DCD3"/>
          </a:solidFill>
          <a:ln>
            <a:noFill/>
          </a:ln>
        </p:spPr>
        <p:txBody>
          <a:bodyPr rtlCol="0" anchor="ctr"/>
          <a:lstStyle/>
          <a:p>
            <a:pPr algn="ctr"/>
            <a:endParaRPr/>
          </a:p>
        </p:txBody>
      </p:sp>
      <p:sp>
        <p:nvSpPr>
          <p:cNvPr id="120"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21" name="American Photonics logo" descr="American Photonics logo">
            <a:hlinkClick r:id="rId27"/>
          </p:cNvPr>
          <p:cNvPicPr>
            <a:picLocks noChangeAspect="1"/>
          </p:cNvPicPr>
          <p:nvPr/>
        </p:nvPicPr>
        <p:blipFill>
          <a:blip r:embed="rId28"/>
          <a:stretch>
            <a:fillRect/>
          </a:stretch>
        </p:blipFill>
        <p:spPr>
          <a:xfrm>
            <a:off x="3099518" y="5283249"/>
            <a:ext cx="525613" cy="323701"/>
          </a:xfrm>
          <a:prstGeom prst="rect">
            <a:avLst/>
          </a:prstGeom>
        </p:spPr>
      </p:pic>
      <p:sp>
        <p:nvSpPr>
          <p:cNvPr id="122" name="TextBox 125">
            <a:hlinkClick r:id="rId27"/>
          </p:cNvPr>
          <p:cNvSpPr txBox="1"/>
          <p:nvPr/>
        </p:nvSpPr>
        <p:spPr>
          <a:xfrm>
            <a:off x="2628900" y="5613297"/>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23"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24" name="BlueRock Global logo" descr="BlueRock Global logo">
            <a:hlinkClick r:id="rId27"/>
          </p:cNvPr>
          <p:cNvPicPr>
            <a:picLocks noChangeAspect="1"/>
          </p:cNvPicPr>
          <p:nvPr/>
        </p:nvPicPr>
        <p:blipFill>
          <a:blip r:embed="rId20"/>
          <a:stretch>
            <a:fillRect/>
          </a:stretch>
        </p:blipFill>
        <p:spPr>
          <a:xfrm>
            <a:off x="3183921" y="5863381"/>
            <a:ext cx="356806" cy="323701"/>
          </a:xfrm>
          <a:prstGeom prst="rect">
            <a:avLst/>
          </a:prstGeom>
        </p:spPr>
      </p:pic>
      <p:sp>
        <p:nvSpPr>
          <p:cNvPr id="125" name="TextBox 128">
            <a:hlinkClick r:id="rId27"/>
          </p:cNvPr>
          <p:cNvSpPr txBox="1"/>
          <p:nvPr/>
        </p:nvSpPr>
        <p:spPr>
          <a:xfrm>
            <a:off x="2628900" y="6303443"/>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Precision optical components and coatings for laser systems</a:t>
            </a:r>
          </a:p>
        </p:txBody>
      </p:sp>
      <p:sp>
        <p:nvSpPr>
          <p:cNvPr id="126" name="TextBox 129">
            <a:hlinkClick r:id="rId27"/>
          </p:cNvPr>
          <p:cNvSpPr txBox="1"/>
          <p:nvPr/>
        </p:nvSpPr>
        <p:spPr>
          <a:xfrm>
            <a:off x="2628900" y="67222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27" name="Panel">
            <a:hlinkClick r:id="rId29"/>
          </p:cNvPr>
          <p:cNvSpPr/>
          <p:nvPr/>
        </p:nvSpPr>
        <p:spPr>
          <a:xfrm>
            <a:off x="4324350" y="5111651"/>
            <a:ext cx="1695450" cy="1822400"/>
          </a:xfrm>
          <a:prstGeom prst="rect">
            <a:avLst/>
          </a:prstGeom>
          <a:solidFill>
            <a:srgbClr val="FFFFFF"/>
          </a:solidFill>
          <a:ln>
            <a:noFill/>
          </a:ln>
        </p:spPr>
        <p:txBody>
          <a:bodyPr rtlCol="0" anchor="ctr"/>
          <a:lstStyle/>
          <a:p>
            <a:pPr algn="ctr"/>
            <a:endParaRPr/>
          </a:p>
        </p:txBody>
      </p:sp>
      <p:sp>
        <p:nvSpPr>
          <p:cNvPr id="128" name="Rule"/>
          <p:cNvSpPr/>
          <p:nvPr/>
        </p:nvSpPr>
        <p:spPr>
          <a:xfrm>
            <a:off x="4324350" y="5111651"/>
            <a:ext cx="1695450" cy="28575"/>
          </a:xfrm>
          <a:prstGeom prst="rect">
            <a:avLst/>
          </a:prstGeom>
          <a:solidFill>
            <a:srgbClr val="B68757"/>
          </a:solidFill>
          <a:ln>
            <a:noFill/>
          </a:ln>
        </p:spPr>
        <p:txBody>
          <a:bodyPr rtlCol="0" anchor="ctr"/>
          <a:lstStyle/>
          <a:p>
            <a:pPr algn="ctr"/>
            <a:endParaRPr/>
          </a:p>
        </p:txBody>
      </p:sp>
      <p:sp>
        <p:nvSpPr>
          <p:cNvPr id="129" name="Rule"/>
          <p:cNvSpPr/>
          <p:nvPr/>
        </p:nvSpPr>
        <p:spPr>
          <a:xfrm>
            <a:off x="6010275" y="5111651"/>
            <a:ext cx="9525" cy="1822400"/>
          </a:xfrm>
          <a:prstGeom prst="rect">
            <a:avLst/>
          </a:prstGeom>
          <a:solidFill>
            <a:srgbClr val="E3DCD3"/>
          </a:solidFill>
          <a:ln>
            <a:noFill/>
          </a:ln>
        </p:spPr>
        <p:txBody>
          <a:bodyPr rtlCol="0" anchor="ctr"/>
          <a:lstStyle/>
          <a:p>
            <a:pPr algn="ctr"/>
            <a:endParaRPr/>
          </a:p>
        </p:txBody>
      </p:sp>
      <p:sp>
        <p:nvSpPr>
          <p:cNvPr id="130" name="Rule"/>
          <p:cNvSpPr/>
          <p:nvPr/>
        </p:nvSpPr>
        <p:spPr>
          <a:xfrm>
            <a:off x="4324350" y="6924526"/>
            <a:ext cx="1695450" cy="9525"/>
          </a:xfrm>
          <a:prstGeom prst="rect">
            <a:avLst/>
          </a:prstGeom>
          <a:solidFill>
            <a:srgbClr val="E3DCD3"/>
          </a:solidFill>
          <a:ln>
            <a:noFill/>
          </a:ln>
        </p:spPr>
        <p:txBody>
          <a:bodyPr rtlCol="0" anchor="ctr"/>
          <a:lstStyle/>
          <a:p>
            <a:pPr algn="ctr"/>
            <a:endParaRPr/>
          </a:p>
        </p:txBody>
      </p:sp>
      <p:sp>
        <p:nvSpPr>
          <p:cNvPr id="131" name="Rule"/>
          <p:cNvSpPr/>
          <p:nvPr/>
        </p:nvSpPr>
        <p:spPr>
          <a:xfrm>
            <a:off x="4324350" y="5111651"/>
            <a:ext cx="9525" cy="1822400"/>
          </a:xfrm>
          <a:prstGeom prst="rect">
            <a:avLst/>
          </a:prstGeom>
          <a:solidFill>
            <a:srgbClr val="E3DCD3"/>
          </a:solidFill>
          <a:ln>
            <a:noFill/>
          </a:ln>
        </p:spPr>
        <p:txBody>
          <a:bodyPr rtlCol="0" anchor="ctr"/>
          <a:lstStyle/>
          <a:p>
            <a:pPr algn="ctr"/>
            <a:endParaRPr/>
          </a:p>
        </p:txBody>
      </p:sp>
      <p:sp>
        <p:nvSpPr>
          <p:cNvPr id="132"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33" name="Complete Control Services, Inc. logo" descr="Complete Control Services, Inc. logo">
            <a:hlinkClick r:id="rId29"/>
          </p:cNvPr>
          <p:cNvPicPr>
            <a:picLocks noChangeAspect="1"/>
          </p:cNvPicPr>
          <p:nvPr/>
        </p:nvPicPr>
        <p:blipFill>
          <a:blip r:embed="rId30"/>
          <a:stretch>
            <a:fillRect/>
          </a:stretch>
        </p:blipFill>
        <p:spPr>
          <a:xfrm>
            <a:off x="4699909" y="5283249"/>
            <a:ext cx="944330" cy="323701"/>
          </a:xfrm>
          <a:prstGeom prst="rect">
            <a:avLst/>
          </a:prstGeom>
        </p:spPr>
      </p:pic>
      <p:sp>
        <p:nvSpPr>
          <p:cNvPr id="134" name="TextBox 137">
            <a:hlinkClick r:id="rId29"/>
          </p:cNvPr>
          <p:cNvSpPr txBox="1"/>
          <p:nvPr/>
        </p:nvSpPr>
        <p:spPr>
          <a:xfrm>
            <a:off x="4438650" y="5614190"/>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35"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36" name="Amtech Drives logo" descr="Amtech Drives logo">
            <a:hlinkClick r:id="rId29"/>
          </p:cNvPr>
          <p:cNvPicPr>
            <a:picLocks noChangeAspect="1"/>
          </p:cNvPicPr>
          <p:nvPr/>
        </p:nvPicPr>
        <p:blipFill>
          <a:blip r:embed="rId31"/>
          <a:stretch>
            <a:fillRect/>
          </a:stretch>
        </p:blipFill>
        <p:spPr>
          <a:xfrm>
            <a:off x="4658618" y="5864274"/>
            <a:ext cx="1026913" cy="323701"/>
          </a:xfrm>
          <a:prstGeom prst="rect">
            <a:avLst/>
          </a:prstGeom>
        </p:spPr>
      </p:pic>
      <p:sp>
        <p:nvSpPr>
          <p:cNvPr id="137" name="TextBox 140">
            <a:hlinkClick r:id="rId29"/>
          </p:cNvPr>
          <p:cNvSpPr txBox="1"/>
          <p:nvPr/>
        </p:nvSpPr>
        <p:spPr>
          <a:xfrm>
            <a:off x="4438650" y="6305229"/>
            <a:ext cx="1466850" cy="271462"/>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Instrumentation, calibration, and controls integration</a:t>
            </a:r>
          </a:p>
        </p:txBody>
      </p:sp>
      <p:sp>
        <p:nvSpPr>
          <p:cNvPr id="138" name="TextBox 141">
            <a:hlinkClick r:id="rId29"/>
          </p:cNvPr>
          <p:cNvSpPr txBox="1"/>
          <p:nvPr/>
        </p:nvSpPr>
        <p:spPr>
          <a:xfrm>
            <a:off x="4438650" y="67222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39" name="Panel">
            <a:hlinkClick r:id="rId32"/>
          </p:cNvPr>
          <p:cNvSpPr/>
          <p:nvPr/>
        </p:nvSpPr>
        <p:spPr>
          <a:xfrm>
            <a:off x="6134100" y="5111651"/>
            <a:ext cx="1695450" cy="1822400"/>
          </a:xfrm>
          <a:prstGeom prst="rect">
            <a:avLst/>
          </a:prstGeom>
          <a:solidFill>
            <a:srgbClr val="FFFFFF"/>
          </a:solidFill>
          <a:ln>
            <a:noFill/>
          </a:ln>
        </p:spPr>
        <p:txBody>
          <a:bodyPr rtlCol="0" anchor="ctr"/>
          <a:lstStyle/>
          <a:p>
            <a:pPr algn="ctr"/>
            <a:endParaRPr/>
          </a:p>
        </p:txBody>
      </p:sp>
      <p:sp>
        <p:nvSpPr>
          <p:cNvPr id="140" name="Rule"/>
          <p:cNvSpPr/>
          <p:nvPr/>
        </p:nvSpPr>
        <p:spPr>
          <a:xfrm>
            <a:off x="6134100" y="5111651"/>
            <a:ext cx="1695450" cy="28575"/>
          </a:xfrm>
          <a:prstGeom prst="rect">
            <a:avLst/>
          </a:prstGeom>
          <a:solidFill>
            <a:srgbClr val="B68757"/>
          </a:solidFill>
          <a:ln>
            <a:noFill/>
          </a:ln>
        </p:spPr>
        <p:txBody>
          <a:bodyPr rtlCol="0" anchor="ctr"/>
          <a:lstStyle/>
          <a:p>
            <a:pPr algn="ctr"/>
            <a:endParaRPr/>
          </a:p>
        </p:txBody>
      </p:sp>
      <p:sp>
        <p:nvSpPr>
          <p:cNvPr id="141" name="Rule"/>
          <p:cNvSpPr/>
          <p:nvPr/>
        </p:nvSpPr>
        <p:spPr>
          <a:xfrm>
            <a:off x="7820025" y="5111651"/>
            <a:ext cx="9525" cy="1822400"/>
          </a:xfrm>
          <a:prstGeom prst="rect">
            <a:avLst/>
          </a:prstGeom>
          <a:solidFill>
            <a:srgbClr val="E3DCD3"/>
          </a:solidFill>
          <a:ln>
            <a:noFill/>
          </a:ln>
        </p:spPr>
        <p:txBody>
          <a:bodyPr rtlCol="0" anchor="ctr"/>
          <a:lstStyle/>
          <a:p>
            <a:pPr algn="ctr"/>
            <a:endParaRPr/>
          </a:p>
        </p:txBody>
      </p:sp>
      <p:sp>
        <p:nvSpPr>
          <p:cNvPr id="142" name="Rule"/>
          <p:cNvSpPr/>
          <p:nvPr/>
        </p:nvSpPr>
        <p:spPr>
          <a:xfrm>
            <a:off x="6134100" y="6924526"/>
            <a:ext cx="1695450" cy="9525"/>
          </a:xfrm>
          <a:prstGeom prst="rect">
            <a:avLst/>
          </a:prstGeom>
          <a:solidFill>
            <a:srgbClr val="E3DCD3"/>
          </a:solidFill>
          <a:ln>
            <a:noFill/>
          </a:ln>
        </p:spPr>
        <p:txBody>
          <a:bodyPr rtlCol="0" anchor="ctr"/>
          <a:lstStyle/>
          <a:p>
            <a:pPr algn="ctr"/>
            <a:endParaRPr/>
          </a:p>
        </p:txBody>
      </p:sp>
      <p:sp>
        <p:nvSpPr>
          <p:cNvPr id="143" name="Rule"/>
          <p:cNvSpPr/>
          <p:nvPr/>
        </p:nvSpPr>
        <p:spPr>
          <a:xfrm>
            <a:off x="6134100" y="5111651"/>
            <a:ext cx="9525" cy="1822400"/>
          </a:xfrm>
          <a:prstGeom prst="rect">
            <a:avLst/>
          </a:prstGeom>
          <a:solidFill>
            <a:srgbClr val="E3DCD3"/>
          </a:solidFill>
          <a:ln>
            <a:noFill/>
          </a:ln>
        </p:spPr>
        <p:txBody>
          <a:bodyPr rtlCol="0" anchor="ctr"/>
          <a:lstStyle/>
          <a:p>
            <a:pPr algn="ctr"/>
            <a:endParaRPr/>
          </a:p>
        </p:txBody>
      </p:sp>
      <p:sp>
        <p:nvSpPr>
          <p:cNvPr id="144"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45" name="Invocon logo" descr="Invocon logo"/>
          <p:cNvPicPr>
            <a:picLocks noChangeAspect="1"/>
          </p:cNvPicPr>
          <p:nvPr/>
        </p:nvPicPr>
        <p:blipFill>
          <a:blip r:embed="rId33"/>
          <a:stretch>
            <a:fillRect/>
          </a:stretch>
        </p:blipFill>
        <p:spPr>
          <a:xfrm>
            <a:off x="6818869" y="5283250"/>
            <a:ext cx="325763" cy="323701"/>
          </a:xfrm>
          <a:prstGeom prst="rect">
            <a:avLst/>
          </a:prstGeom>
        </p:spPr>
      </p:pic>
      <p:sp>
        <p:nvSpPr>
          <p:cNvPr id="146" name="TextBox 149">
            <a:hlinkClick r:id="rId32"/>
          </p:cNvPr>
          <p:cNvSpPr txBox="1"/>
          <p:nvPr/>
        </p:nvSpPr>
        <p:spPr>
          <a:xfrm>
            <a:off x="6248400" y="5614190"/>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47"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endParaRPr/>
          </a:p>
        </p:txBody>
      </p:sp>
      <p:pic>
        <p:nvPicPr>
          <p:cNvPr id="148" name="Cemtrex logo" descr="Cemtrex logo"/>
          <p:cNvPicPr>
            <a:picLocks noChangeAspect="1"/>
          </p:cNvPicPr>
          <p:nvPr/>
        </p:nvPicPr>
        <p:blipFill>
          <a:blip r:embed="rId34"/>
          <a:stretch>
            <a:fillRect/>
          </a:stretch>
        </p:blipFill>
        <p:spPr>
          <a:xfrm>
            <a:off x="6353521" y="5897017"/>
            <a:ext cx="1256609" cy="256282"/>
          </a:xfrm>
          <a:prstGeom prst="rect">
            <a:avLst/>
          </a:prstGeom>
        </p:spPr>
      </p:pic>
      <p:sp>
        <p:nvSpPr>
          <p:cNvPr id="149" name="TextBox 152">
            <a:hlinkClick r:id="rId32"/>
          </p:cNvPr>
          <p:cNvSpPr txBox="1"/>
          <p:nvPr/>
        </p:nvSpPr>
        <p:spPr>
          <a:xfrm>
            <a:off x="6248400" y="6303591"/>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Instrumentation and wireless sensing for satellites and launch vehicles</a:t>
            </a:r>
          </a:p>
        </p:txBody>
      </p:sp>
      <p:sp>
        <p:nvSpPr>
          <p:cNvPr id="150" name="TextBox 153">
            <a:hlinkClick r:id="rId32"/>
          </p:cNvPr>
          <p:cNvSpPr txBox="1"/>
          <p:nvPr/>
        </p:nvSpPr>
        <p:spPr>
          <a:xfrm>
            <a:off x="6248400" y="67222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GOVERNMENT TECHNOLOGY</a:t>
            </a:r>
          </a:p>
        </p:txBody>
      </p:sp>
      <p:sp>
        <p:nvSpPr>
          <p:cNvPr id="151" name="Panel"/>
          <p:cNvSpPr/>
          <p:nvPr/>
        </p:nvSpPr>
        <p:spPr>
          <a:xfrm>
            <a:off x="7943850" y="5111651"/>
            <a:ext cx="1695450" cy="1822400"/>
          </a:xfrm>
          <a:prstGeom prst="rect">
            <a:avLst/>
          </a:prstGeom>
          <a:solidFill>
            <a:srgbClr val="2A2928"/>
          </a:solidFill>
          <a:ln>
            <a:noFill/>
          </a:ln>
        </p:spPr>
        <p:txBody>
          <a:bodyPr rtlCol="0" anchor="ctr"/>
          <a:lstStyle/>
          <a:p>
            <a:pPr algn="ctr"/>
            <a:endParaRPr/>
          </a:p>
        </p:txBody>
      </p:sp>
      <p:sp>
        <p:nvSpPr>
          <p:cNvPr id="152" name="TextBox 155"/>
          <p:cNvSpPr txBox="1"/>
          <p:nvPr/>
        </p:nvSpPr>
        <p:spPr>
          <a:xfrm>
            <a:off x="8077200" y="5350121"/>
            <a:ext cx="356592" cy="266700"/>
          </a:xfrm>
          <a:prstGeom prst="rect">
            <a:avLst/>
          </a:prstGeom>
          <a:noFill/>
        </p:spPr>
        <p:txBody>
          <a:bodyPr wrap="none" lIns="0" tIns="0" r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3" name="TextBox 156"/>
          <p:cNvSpPr txBox="1"/>
          <p:nvPr/>
        </p:nvSpPr>
        <p:spPr>
          <a:xfrm>
            <a:off x="8077200" y="5712452"/>
            <a:ext cx="1504950" cy="919162"/>
          </a:xfrm>
          <a:prstGeom prst="rect">
            <a:avLst/>
          </a:prstGeom>
          <a:noFill/>
        </p:spPr>
        <p:txBody>
          <a:bodyPr wrap="square" lIns="0" tIns="0" rIns="0" bIns="0" anchor="t">
            <a:noAutofit/>
          </a:bodyPr>
          <a:lstStyle/>
          <a:p>
            <a:pPr algn="l">
              <a:lnSpc>
                <a:spcPts val="1268"/>
              </a:lnSpc>
              <a:spcBef>
                <a:spcPts val="0"/>
              </a:spcBef>
              <a:spcAft>
                <a:spcPts val="0"/>
              </a:spcAft>
            </a:pPr>
            <a:r>
              <a:rPr sz="845" b="0" i="0" spc="15">
                <a:solidFill>
                  <a:srgbClr val="E8E2DA"/>
                </a:solidFill>
                <a:latin typeface="Quicksand"/>
              </a:rPr>
              <a:t>Two additional transactions remain confidential.</a:t>
            </a:r>
          </a:p>
        </p:txBody>
      </p:sp>
      <p:sp>
        <p:nvSpPr>
          <p:cNvPr id="154" name="TextBox 159"/>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Each tile links to the announcement on benchmarkintl.com. Transactions closed in the 24 months to September 2026. Company names and marks are the property of their owners.</a:t>
            </a:r>
          </a:p>
        </p:txBody>
      </p:sp>
      <p:sp>
        <p:nvSpPr>
          <p:cNvPr id="15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15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157" name="Shape 9"/>
          <p:cNvSpPr/>
          <p:nvPr/>
        </p:nvSpPr>
        <p:spPr>
          <a:xfrm>
            <a:off x="419100" y="7029450"/>
            <a:ext cx="9220200" cy="9525"/>
          </a:xfrm>
          <a:prstGeom prst="rect">
            <a:avLst/>
          </a:prstGeom>
          <a:solidFill>
            <a:srgbClr val="E3DCD3"/>
          </a:solidFill>
          <a:ln/>
        </p:spPr>
        <p:txBody>
          <a:bodyPr/>
          <a:lstStyle/>
          <a:p>
            <a:endParaRPr lang="en-US"/>
          </a:p>
        </p:txBody>
      </p:sp>
      <p:pic>
        <p:nvPicPr>
          <p:cNvPr id="158" name="Benchmark International logo" descr="Benchmark International logo"/>
          <p:cNvPicPr>
            <a:picLocks noChangeAspect="1"/>
          </p:cNvPicPr>
          <p:nvPr/>
        </p:nvPicPr>
        <p:blipFill>
          <a:blip r:embed="rId35"/>
          <a:stretch>
            <a:fillRect/>
          </a:stretch>
        </p:blipFill>
        <p:spPr>
          <a:xfrm>
            <a:off x="419100" y="7143750"/>
            <a:ext cx="914400" cy="171450"/>
          </a:xfrm>
          <a:prstGeom prst="rect">
            <a:avLst/>
          </a:prstGeom>
        </p:spPr>
      </p:pic>
      <p:sp>
        <p:nvSpPr>
          <p:cNvPr id="15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13</a:t>
            </a:r>
            <a:endParaRPr lang="en-US" sz="74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Who Is Buying</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Owners of technology businesses draw bids from six types of buyer, and Benchmark International clients were acquired by five of them.</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2962656" cy="2542032"/>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2962656" cy="27432"/>
          </a:xfrm>
          <a:prstGeom prst="rect">
            <a:avLst/>
          </a:prstGeom>
          <a:solidFill>
            <a:srgbClr val="B68757"/>
          </a:solidFill>
          <a:ln>
            <a:noFill/>
          </a:ln>
          <a:effectLst/>
        </p:spPr>
        <p:txBody>
          <a:bodyPr rtlCol="0" anchor="ctr"/>
          <a:lstStyle/>
          <a:p>
            <a:pPr algn="ctr"/>
            <a:endParaRPr/>
          </a:p>
        </p:txBody>
      </p:sp>
      <p:sp>
        <p:nvSpPr>
          <p:cNvPr id="9" name="TextBox"/>
          <p:cNvSpPr txBox="1"/>
          <p:nvPr/>
        </p:nvSpPr>
        <p:spPr>
          <a:xfrm>
            <a:off x="576072" y="1408176"/>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Public and large private strategics</a:t>
            </a:r>
          </a:p>
        </p:txBody>
      </p:sp>
      <p:sp>
        <p:nvSpPr>
          <p:cNvPr id="10" name="TextBox"/>
          <p:cNvSpPr txBox="1"/>
          <p:nvPr/>
        </p:nvSpPr>
        <p:spPr>
          <a:xfrm>
            <a:off x="576072" y="1737360"/>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Buying capability, customers, and scarce skills faster than they can be built, and paying with cash from operations.</a:t>
            </a:r>
          </a:p>
        </p:txBody>
      </p:sp>
      <p:sp>
        <p:nvSpPr>
          <p:cNvPr id="11" name="Label"/>
          <p:cNvSpPr txBox="1"/>
          <p:nvPr/>
        </p:nvSpPr>
        <p:spPr>
          <a:xfrm>
            <a:off x="576072" y="2212848"/>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12" name="Label"/>
          <p:cNvSpPr txBox="1"/>
          <p:nvPr/>
        </p:nvSpPr>
        <p:spPr>
          <a:xfrm>
            <a:off x="576072" y="3118104"/>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13" name="Panel"/>
          <p:cNvSpPr/>
          <p:nvPr/>
        </p:nvSpPr>
        <p:spPr>
          <a:xfrm>
            <a:off x="3547872" y="1280160"/>
            <a:ext cx="2962656" cy="2542032"/>
          </a:xfrm>
          <a:prstGeom prst="rect">
            <a:avLst/>
          </a:prstGeom>
          <a:solidFill>
            <a:srgbClr val="FAF7F3"/>
          </a:solidFill>
          <a:ln>
            <a:noFill/>
          </a:ln>
          <a:effectLst/>
        </p:spPr>
        <p:txBody>
          <a:bodyPr rtlCol="0" anchor="ctr"/>
          <a:lstStyle/>
          <a:p>
            <a:pPr algn="ctr"/>
            <a:endParaRPr/>
          </a:p>
        </p:txBody>
      </p:sp>
      <p:sp>
        <p:nvSpPr>
          <p:cNvPr id="14" name="Rule"/>
          <p:cNvSpPr/>
          <p:nvPr/>
        </p:nvSpPr>
        <p:spPr>
          <a:xfrm>
            <a:off x="3547872" y="1280160"/>
            <a:ext cx="2962656" cy="27432"/>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3703320" y="1408176"/>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Managed service consolidators</a:t>
            </a:r>
          </a:p>
        </p:txBody>
      </p:sp>
      <p:sp>
        <p:nvSpPr>
          <p:cNvPr id="16" name="TextBox"/>
          <p:cNvSpPr txBox="1"/>
          <p:nvPr/>
        </p:nvSpPr>
        <p:spPr>
          <a:xfrm>
            <a:off x="3703320" y="1737360"/>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Platforms that add managed IT providers with contracted monthly revenue and underwrite the recurring base.</a:t>
            </a:r>
          </a:p>
        </p:txBody>
      </p:sp>
      <p:sp>
        <p:nvSpPr>
          <p:cNvPr id="17" name="Label"/>
          <p:cNvSpPr txBox="1"/>
          <p:nvPr/>
        </p:nvSpPr>
        <p:spPr>
          <a:xfrm>
            <a:off x="3703320" y="2212848"/>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18" name="Label"/>
          <p:cNvSpPr txBox="1"/>
          <p:nvPr/>
        </p:nvSpPr>
        <p:spPr>
          <a:xfrm>
            <a:off x="3703320" y="3118104"/>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19" name="Panel"/>
          <p:cNvSpPr/>
          <p:nvPr/>
        </p:nvSpPr>
        <p:spPr>
          <a:xfrm>
            <a:off x="6675120" y="1280160"/>
            <a:ext cx="2962656" cy="2542032"/>
          </a:xfrm>
          <a:prstGeom prst="rect">
            <a:avLst/>
          </a:prstGeom>
          <a:solidFill>
            <a:srgbClr val="FAF7F3"/>
          </a:solidFill>
          <a:ln>
            <a:noFill/>
          </a:ln>
          <a:effectLst/>
        </p:spPr>
        <p:txBody>
          <a:bodyPr rtlCol="0" anchor="ctr"/>
          <a:lstStyle/>
          <a:p>
            <a:pPr algn="ctr"/>
            <a:endParaRPr/>
          </a:p>
        </p:txBody>
      </p:sp>
      <p:sp>
        <p:nvSpPr>
          <p:cNvPr id="20" name="Rule"/>
          <p:cNvSpPr/>
          <p:nvPr/>
        </p:nvSpPr>
        <p:spPr>
          <a:xfrm>
            <a:off x="6675120" y="1280160"/>
            <a:ext cx="2962656" cy="27432"/>
          </a:xfrm>
          <a:prstGeom prst="rect">
            <a:avLst/>
          </a:prstGeom>
          <a:solidFill>
            <a:srgbClr val="B68757"/>
          </a:solidFill>
          <a:ln>
            <a:noFill/>
          </a:ln>
          <a:effectLst/>
        </p:spPr>
        <p:txBody>
          <a:bodyPr rtlCol="0" anchor="ctr"/>
          <a:lstStyle/>
          <a:p>
            <a:pPr algn="ctr"/>
            <a:endParaRPr/>
          </a:p>
        </p:txBody>
      </p:sp>
      <p:sp>
        <p:nvSpPr>
          <p:cNvPr id="21" name="TextBox"/>
          <p:cNvSpPr txBox="1"/>
          <p:nvPr/>
        </p:nvSpPr>
        <p:spPr>
          <a:xfrm>
            <a:off x="6830568" y="1408176"/>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Security, audiovisual, and integration platforms</a:t>
            </a:r>
          </a:p>
        </p:txBody>
      </p:sp>
      <p:sp>
        <p:nvSpPr>
          <p:cNvPr id="22" name="TextBox"/>
          <p:cNvSpPr txBox="1"/>
          <p:nvPr/>
        </p:nvSpPr>
        <p:spPr>
          <a:xfrm>
            <a:off x="6830568" y="1737360"/>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Sponsor-backed integrators that buy regional firms for tenure, local service density, and technician headcount.</a:t>
            </a:r>
          </a:p>
        </p:txBody>
      </p:sp>
      <p:sp>
        <p:nvSpPr>
          <p:cNvPr id="23" name="Label"/>
          <p:cNvSpPr txBox="1"/>
          <p:nvPr/>
        </p:nvSpPr>
        <p:spPr>
          <a:xfrm>
            <a:off x="6830568" y="2212848"/>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24" name="Label"/>
          <p:cNvSpPr txBox="1"/>
          <p:nvPr/>
        </p:nvSpPr>
        <p:spPr>
          <a:xfrm>
            <a:off x="6830568" y="3118104"/>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25" name="Panel"/>
          <p:cNvSpPr/>
          <p:nvPr/>
        </p:nvSpPr>
        <p:spPr>
          <a:xfrm>
            <a:off x="420624" y="3950208"/>
            <a:ext cx="2962656" cy="2542032"/>
          </a:xfrm>
          <a:prstGeom prst="rect">
            <a:avLst/>
          </a:prstGeom>
          <a:solidFill>
            <a:srgbClr val="FAF7F3"/>
          </a:solidFill>
          <a:ln>
            <a:noFill/>
          </a:ln>
          <a:effectLst/>
        </p:spPr>
        <p:txBody>
          <a:bodyPr rtlCol="0" anchor="ctr"/>
          <a:lstStyle/>
          <a:p>
            <a:pPr algn="ctr"/>
            <a:endParaRPr/>
          </a:p>
        </p:txBody>
      </p:sp>
      <p:sp>
        <p:nvSpPr>
          <p:cNvPr id="26" name="Rule"/>
          <p:cNvSpPr/>
          <p:nvPr/>
        </p:nvSpPr>
        <p:spPr>
          <a:xfrm>
            <a:off x="420624" y="3950208"/>
            <a:ext cx="2962656" cy="27432"/>
          </a:xfrm>
          <a:prstGeom prst="rect">
            <a:avLst/>
          </a:prstGeom>
          <a:solidFill>
            <a:srgbClr val="B68757"/>
          </a:solidFill>
          <a:ln>
            <a:noFill/>
          </a:ln>
          <a:effectLst/>
        </p:spPr>
        <p:txBody>
          <a:bodyPr rtlCol="0" anchor="ctr"/>
          <a:lstStyle/>
          <a:p>
            <a:pPr algn="ctr"/>
            <a:endParaRPr/>
          </a:p>
        </p:txBody>
      </p:sp>
      <p:sp>
        <p:nvSpPr>
          <p:cNvPr id="27" name="TextBox"/>
          <p:cNvSpPr txBox="1"/>
          <p:nvPr/>
        </p:nvSpPr>
        <p:spPr>
          <a:xfrm>
            <a:off x="576072" y="4078224"/>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Private equity firms and family offices</a:t>
            </a:r>
          </a:p>
        </p:txBody>
      </p:sp>
      <p:sp>
        <p:nvSpPr>
          <p:cNvPr id="28" name="TextBox"/>
          <p:cNvSpPr txBox="1"/>
          <p:nvPr/>
        </p:nvSpPr>
        <p:spPr>
          <a:xfrm>
            <a:off x="576072" y="4407408"/>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Sponsors buying founder-owned technology businesses directly, with debt that is lower than a year ago.</a:t>
            </a:r>
          </a:p>
        </p:txBody>
      </p:sp>
      <p:sp>
        <p:nvSpPr>
          <p:cNvPr id="29" name="Label"/>
          <p:cNvSpPr txBox="1"/>
          <p:nvPr/>
        </p:nvSpPr>
        <p:spPr>
          <a:xfrm>
            <a:off x="576072" y="4882896"/>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30" name="Label"/>
          <p:cNvSpPr txBox="1"/>
          <p:nvPr/>
        </p:nvSpPr>
        <p:spPr>
          <a:xfrm>
            <a:off x="576072" y="5788152"/>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31" name="Panel"/>
          <p:cNvSpPr/>
          <p:nvPr/>
        </p:nvSpPr>
        <p:spPr>
          <a:xfrm>
            <a:off x="3547872" y="3950208"/>
            <a:ext cx="2962656" cy="2542032"/>
          </a:xfrm>
          <a:prstGeom prst="rect">
            <a:avLst/>
          </a:prstGeom>
          <a:solidFill>
            <a:srgbClr val="FAF7F3"/>
          </a:solidFill>
          <a:ln>
            <a:noFill/>
          </a:ln>
          <a:effectLst/>
        </p:spPr>
        <p:txBody>
          <a:bodyPr rtlCol="0" anchor="ctr"/>
          <a:lstStyle/>
          <a:p>
            <a:pPr algn="ctr"/>
            <a:endParaRPr/>
          </a:p>
        </p:txBody>
      </p:sp>
      <p:sp>
        <p:nvSpPr>
          <p:cNvPr id="32" name="Rule"/>
          <p:cNvSpPr/>
          <p:nvPr/>
        </p:nvSpPr>
        <p:spPr>
          <a:xfrm>
            <a:off x="3547872" y="3950208"/>
            <a:ext cx="2962656" cy="27432"/>
          </a:xfrm>
          <a:prstGeom prst="rect">
            <a:avLst/>
          </a:prstGeom>
          <a:solidFill>
            <a:srgbClr val="B68757"/>
          </a:solidFill>
          <a:ln>
            <a:noFill/>
          </a:ln>
          <a:effectLst/>
        </p:spPr>
        <p:txBody>
          <a:bodyPr rtlCol="0" anchor="ctr"/>
          <a:lstStyle/>
          <a:p>
            <a:pPr algn="ctr"/>
            <a:endParaRPr/>
          </a:p>
        </p:txBody>
      </p:sp>
      <p:sp>
        <p:nvSpPr>
          <p:cNvPr id="33" name="TextBox"/>
          <p:cNvSpPr txBox="1"/>
          <p:nvPr/>
        </p:nvSpPr>
        <p:spPr>
          <a:xfrm>
            <a:off x="3703320" y="4078224"/>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Fiber operators and infrastructure investors</a:t>
            </a:r>
          </a:p>
        </p:txBody>
      </p:sp>
      <p:sp>
        <p:nvSpPr>
          <p:cNvPr id="34" name="TextBox"/>
          <p:cNvSpPr txBox="1"/>
          <p:nvPr/>
        </p:nvSpPr>
        <p:spPr>
          <a:xfrm>
            <a:off x="3703320" y="4407408"/>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Incumbents and infrastructure funds buying local fiber networks and the customers attached to them.</a:t>
            </a:r>
          </a:p>
        </p:txBody>
      </p:sp>
      <p:sp>
        <p:nvSpPr>
          <p:cNvPr id="35" name="Label"/>
          <p:cNvSpPr txBox="1"/>
          <p:nvPr/>
        </p:nvSpPr>
        <p:spPr>
          <a:xfrm>
            <a:off x="3703320" y="4882896"/>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36" name="Panel"/>
          <p:cNvSpPr/>
          <p:nvPr/>
        </p:nvSpPr>
        <p:spPr>
          <a:xfrm>
            <a:off x="6675120" y="3950208"/>
            <a:ext cx="2962656" cy="2542032"/>
          </a:xfrm>
          <a:prstGeom prst="rect">
            <a:avLst/>
          </a:prstGeom>
          <a:solidFill>
            <a:srgbClr val="FAF7F3"/>
          </a:solidFill>
          <a:ln>
            <a:noFill/>
          </a:ln>
          <a:effectLst/>
        </p:spPr>
        <p:txBody>
          <a:bodyPr rtlCol="0" anchor="ctr"/>
          <a:lstStyle/>
          <a:p>
            <a:pPr algn="ctr"/>
            <a:endParaRPr/>
          </a:p>
        </p:txBody>
      </p:sp>
      <p:sp>
        <p:nvSpPr>
          <p:cNvPr id="37" name="Rule"/>
          <p:cNvSpPr/>
          <p:nvPr/>
        </p:nvSpPr>
        <p:spPr>
          <a:xfrm>
            <a:off x="6675120" y="3950208"/>
            <a:ext cx="2962656" cy="27432"/>
          </a:xfrm>
          <a:prstGeom prst="rect">
            <a:avLst/>
          </a:prstGeom>
          <a:solidFill>
            <a:srgbClr val="B68757"/>
          </a:solidFill>
          <a:ln>
            <a:noFill/>
          </a:ln>
          <a:effectLst/>
        </p:spPr>
        <p:txBody>
          <a:bodyPr rtlCol="0" anchor="ctr"/>
          <a:lstStyle/>
          <a:p>
            <a:pPr algn="ctr"/>
            <a:endParaRPr/>
          </a:p>
        </p:txBody>
      </p:sp>
      <p:sp>
        <p:nvSpPr>
          <p:cNvPr id="38" name="TextBox"/>
          <p:cNvSpPr txBox="1"/>
          <p:nvPr/>
        </p:nvSpPr>
        <p:spPr>
          <a:xfrm>
            <a:off x="6830568" y="4078224"/>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Foreign strategics and operating companies</a:t>
            </a:r>
          </a:p>
        </p:txBody>
      </p:sp>
      <p:sp>
        <p:nvSpPr>
          <p:cNvPr id="39" name="TextBox"/>
          <p:cNvSpPr txBox="1"/>
          <p:nvPr/>
        </p:nvSpPr>
        <p:spPr>
          <a:xfrm>
            <a:off x="6830568" y="4407408"/>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Buyers entering the United States by acquisition and private operating companies adding to an existing business.</a:t>
            </a:r>
          </a:p>
        </p:txBody>
      </p:sp>
      <p:sp>
        <p:nvSpPr>
          <p:cNvPr id="40" name="Label"/>
          <p:cNvSpPr txBox="1"/>
          <p:nvPr/>
        </p:nvSpPr>
        <p:spPr>
          <a:xfrm>
            <a:off x="6830568" y="4882896"/>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41" name="Label"/>
          <p:cNvSpPr txBox="1"/>
          <p:nvPr/>
        </p:nvSpPr>
        <p:spPr>
          <a:xfrm>
            <a:off x="6830568" y="5650992"/>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42" name="Panel"/>
          <p:cNvSpPr/>
          <p:nvPr/>
        </p:nvSpPr>
        <p:spPr>
          <a:xfrm>
            <a:off x="420624" y="6492240"/>
            <a:ext cx="9217152" cy="402336"/>
          </a:xfrm>
          <a:prstGeom prst="rect">
            <a:avLst/>
          </a:prstGeom>
          <a:solidFill>
            <a:srgbClr val="1B1A1A"/>
          </a:solidFill>
          <a:ln>
            <a:noFill/>
          </a:ln>
          <a:effectLst/>
        </p:spPr>
        <p:txBody>
          <a:bodyPr rtlCol="0" anchor="ctr"/>
          <a:lstStyle/>
          <a:p>
            <a:pPr algn="ctr"/>
            <a:endParaRPr/>
          </a:p>
        </p:txBody>
      </p:sp>
      <p:sp>
        <p:nvSpPr>
          <p:cNvPr id="43" name="TextBox"/>
          <p:cNvSpPr txBox="1"/>
          <p:nvPr/>
        </p:nvSpPr>
        <p:spPr>
          <a:xfrm>
            <a:off x="603504" y="6492240"/>
            <a:ext cx="8869680" cy="402336"/>
          </a:xfrm>
          <a:prstGeom prst="rect">
            <a:avLst/>
          </a:prstGeom>
          <a:noFill/>
        </p:spPr>
        <p:txBody>
          <a:bodyPr wrap="square" lIns="0" tIns="0" rIns="0" bIns="0" anchor="ctr">
            <a:noAutofit/>
          </a:bodyPr>
          <a:lstStyle/>
          <a:p>
            <a:pPr algn="l">
              <a:lnSpc>
                <a:spcPts val="1071"/>
              </a:lnSpc>
              <a:spcBef>
                <a:spcPts val="0"/>
              </a:spcBef>
              <a:spcAft>
                <a:spcPts val="0"/>
              </a:spcAft>
            </a:pPr>
            <a:r>
              <a:rPr sz="790" b="0" i="0">
                <a:solidFill>
                  <a:srgbClr val="FFFFFF"/>
                </a:solidFill>
                <a:latin typeface="Quicksand"/>
              </a:rPr>
              <a:t>The eleven Benchmark International clients named on page 13 were acquired by one public strategic, three sponsor-backed platforms, four private equity and investment firms, one foreign strategic, and two operating companies.</a:t>
            </a:r>
          </a:p>
        </p:txBody>
      </p:sp>
      <p:sp>
        <p:nvSpPr>
          <p:cNvPr id="44"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Buyers listed as active are named in technology transactions announced between January 2025 and October 2026, covered on pages 11 and 12 of this report or in announcements linked there. Acquirers of Benchmark International clients are from announcements on benchmarkintl.com and each buyer's own materials, including engagements before 2025; Zeus Fire and Security is backed by Access Holdings, AI Fire by Blackstone, and TRM by 424 Capital, and CapCon Networks and Amtech Drives are operating companies with no sponsor identified. Names are the property of their owners.</a:t>
            </a:r>
          </a:p>
        </p:txBody>
      </p:sp>
      <p:sp>
        <p:nvSpPr>
          <p:cNvPr id="4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4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47" name="Shape 9"/>
          <p:cNvSpPr/>
          <p:nvPr/>
        </p:nvSpPr>
        <p:spPr>
          <a:xfrm>
            <a:off x="419100" y="7029450"/>
            <a:ext cx="9220200" cy="9525"/>
          </a:xfrm>
          <a:prstGeom prst="rect">
            <a:avLst/>
          </a:prstGeom>
          <a:solidFill>
            <a:srgbClr val="E3DCD3"/>
          </a:solidFill>
          <a:ln/>
        </p:spPr>
        <p:txBody>
          <a:bodyPr/>
          <a:lstStyle/>
          <a:p>
            <a:endParaRPr lang="en-US"/>
          </a:p>
        </p:txBody>
      </p:sp>
      <p:pic>
        <p:nvPicPr>
          <p:cNvPr id="48"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4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14</a:t>
            </a:r>
            <a:endParaRPr lang="en-US" sz="745" dirty="0"/>
          </a:p>
        </p:txBody>
      </p:sp>
      <p:pic>
        <p:nvPicPr>
          <p:cNvPr id="50" name="Accenture logo" descr="Accenture logo"/>
          <p:cNvPicPr>
            <a:picLocks noChangeAspect="1"/>
          </p:cNvPicPr>
          <p:nvPr/>
        </p:nvPicPr>
        <p:blipFill>
          <a:blip r:embed="rId3"/>
          <a:stretch/>
        </p:blipFill>
        <p:spPr>
          <a:xfrm>
            <a:off x="626522" y="2377440"/>
            <a:ext cx="676341" cy="178308"/>
          </a:xfrm>
          <a:prstGeom prst="rect">
            <a:avLst/>
          </a:prstGeom>
        </p:spPr>
      </p:pic>
      <p:pic>
        <p:nvPicPr>
          <p:cNvPr id="51" name="Cognizant logo" descr="Cognizant logo"/>
          <p:cNvPicPr>
            <a:picLocks noChangeAspect="1"/>
          </p:cNvPicPr>
          <p:nvPr/>
        </p:nvPicPr>
        <p:blipFill>
          <a:blip r:embed="rId4"/>
          <a:stretch/>
        </p:blipFill>
        <p:spPr>
          <a:xfrm>
            <a:off x="1472184" y="2398210"/>
            <a:ext cx="777240" cy="136768"/>
          </a:xfrm>
          <a:prstGeom prst="rect">
            <a:avLst/>
          </a:prstGeom>
        </p:spPr>
      </p:pic>
      <p:pic>
        <p:nvPicPr>
          <p:cNvPr id="52" name="Motorola Solutions logo" descr="Motorola Solutions logo"/>
          <p:cNvPicPr>
            <a:picLocks noChangeAspect="1"/>
          </p:cNvPicPr>
          <p:nvPr/>
        </p:nvPicPr>
        <p:blipFill>
          <a:blip r:embed="rId5"/>
          <a:stretch/>
        </p:blipFill>
        <p:spPr>
          <a:xfrm>
            <a:off x="2368296" y="2423296"/>
            <a:ext cx="777240" cy="86597"/>
          </a:xfrm>
          <a:prstGeom prst="rect">
            <a:avLst/>
          </a:prstGeom>
        </p:spPr>
      </p:pic>
      <p:pic>
        <p:nvPicPr>
          <p:cNvPr id="53" name="Booz Allen Hamilton logo" descr="Booz Allen Hamilton logo"/>
          <p:cNvPicPr>
            <a:picLocks noChangeAspect="1"/>
          </p:cNvPicPr>
          <p:nvPr/>
        </p:nvPicPr>
        <p:blipFill>
          <a:blip r:embed="rId6"/>
          <a:stretch/>
        </p:blipFill>
        <p:spPr>
          <a:xfrm>
            <a:off x="576072" y="2634781"/>
            <a:ext cx="777240" cy="120825"/>
          </a:xfrm>
          <a:prstGeom prst="rect">
            <a:avLst/>
          </a:prstGeom>
        </p:spPr>
      </p:pic>
      <p:pic>
        <p:nvPicPr>
          <p:cNvPr id="54" name="Leonardo DRS logo" descr="Leonardo DRS logo"/>
          <p:cNvPicPr>
            <a:picLocks noChangeAspect="1"/>
          </p:cNvPicPr>
          <p:nvPr/>
        </p:nvPicPr>
        <p:blipFill>
          <a:blip r:embed="rId7"/>
          <a:stretch/>
        </p:blipFill>
        <p:spPr>
          <a:xfrm>
            <a:off x="1472184" y="2645733"/>
            <a:ext cx="777240" cy="98921"/>
          </a:xfrm>
          <a:prstGeom prst="rect">
            <a:avLst/>
          </a:prstGeom>
        </p:spPr>
      </p:pic>
      <p:pic>
        <p:nvPicPr>
          <p:cNvPr id="55" name="TTM Technologies logo" descr="TTM Technologies logo"/>
          <p:cNvPicPr>
            <a:picLocks noChangeAspect="1"/>
          </p:cNvPicPr>
          <p:nvPr/>
        </p:nvPicPr>
        <p:blipFill>
          <a:blip r:embed="rId8"/>
          <a:stretch/>
        </p:blipFill>
        <p:spPr>
          <a:xfrm>
            <a:off x="2594369" y="2606040"/>
            <a:ext cx="325095" cy="178308"/>
          </a:xfrm>
          <a:prstGeom prst="rect">
            <a:avLst/>
          </a:prstGeom>
        </p:spPr>
      </p:pic>
      <p:pic>
        <p:nvPicPr>
          <p:cNvPr id="56" name="Palo Alto Networks logo" descr="Palo Alto Networks logo"/>
          <p:cNvPicPr>
            <a:picLocks noChangeAspect="1"/>
          </p:cNvPicPr>
          <p:nvPr/>
        </p:nvPicPr>
        <p:blipFill>
          <a:blip r:embed="rId9"/>
          <a:stretch/>
        </p:blipFill>
        <p:spPr>
          <a:xfrm>
            <a:off x="576072" y="2851237"/>
            <a:ext cx="777240" cy="145113"/>
          </a:xfrm>
          <a:prstGeom prst="rect">
            <a:avLst/>
          </a:prstGeom>
        </p:spPr>
      </p:pic>
      <p:pic>
        <p:nvPicPr>
          <p:cNvPr id="57" name="ServiceNow logo" descr="ServiceNow logo"/>
          <p:cNvPicPr>
            <a:picLocks noChangeAspect="1"/>
          </p:cNvPicPr>
          <p:nvPr/>
        </p:nvPicPr>
        <p:blipFill>
          <a:blip r:embed="rId10"/>
          <a:stretch/>
        </p:blipFill>
        <p:spPr>
          <a:xfrm>
            <a:off x="1472184" y="2866853"/>
            <a:ext cx="777240" cy="113881"/>
          </a:xfrm>
          <a:prstGeom prst="rect">
            <a:avLst/>
          </a:prstGeom>
        </p:spPr>
      </p:pic>
      <p:pic>
        <p:nvPicPr>
          <p:cNvPr id="58" name="Cemtrex logo" descr="Cemtrex logo"/>
          <p:cNvPicPr>
            <a:picLocks noChangeAspect="1"/>
          </p:cNvPicPr>
          <p:nvPr/>
        </p:nvPicPr>
        <p:blipFill>
          <a:blip r:embed="rId11"/>
          <a:stretch/>
        </p:blipFill>
        <p:spPr>
          <a:xfrm>
            <a:off x="919289" y="3273552"/>
            <a:ext cx="1892174" cy="347472"/>
          </a:xfrm>
          <a:prstGeom prst="rect">
            <a:avLst/>
          </a:prstGeom>
        </p:spPr>
      </p:pic>
      <p:pic>
        <p:nvPicPr>
          <p:cNvPr id="59" name="Evergreen Services Group logo" descr="Evergreen Services Group logo"/>
          <p:cNvPicPr>
            <a:picLocks noChangeAspect="1"/>
          </p:cNvPicPr>
          <p:nvPr/>
        </p:nvPicPr>
        <p:blipFill>
          <a:blip r:embed="rId12"/>
          <a:stretch/>
        </p:blipFill>
        <p:spPr>
          <a:xfrm>
            <a:off x="3703320" y="2407948"/>
            <a:ext cx="777240" cy="117293"/>
          </a:xfrm>
          <a:prstGeom prst="rect">
            <a:avLst/>
          </a:prstGeom>
        </p:spPr>
      </p:pic>
      <p:pic>
        <p:nvPicPr>
          <p:cNvPr id="60" name="The 20 MSP logo" descr="The 20 MSP logo"/>
          <p:cNvPicPr>
            <a:picLocks noChangeAspect="1"/>
          </p:cNvPicPr>
          <p:nvPr/>
        </p:nvPicPr>
        <p:blipFill>
          <a:blip r:embed="rId13"/>
          <a:stretch/>
        </p:blipFill>
        <p:spPr>
          <a:xfrm>
            <a:off x="4864268" y="2377440"/>
            <a:ext cx="247568" cy="178308"/>
          </a:xfrm>
          <a:prstGeom prst="rect">
            <a:avLst/>
          </a:prstGeom>
        </p:spPr>
      </p:pic>
      <p:pic>
        <p:nvPicPr>
          <p:cNvPr id="61" name="Integris logo" descr="Integris logo"/>
          <p:cNvPicPr>
            <a:picLocks noChangeAspect="1"/>
          </p:cNvPicPr>
          <p:nvPr/>
        </p:nvPicPr>
        <p:blipFill>
          <a:blip r:embed="rId14"/>
          <a:stretch/>
        </p:blipFill>
        <p:spPr>
          <a:xfrm>
            <a:off x="5530123" y="2377440"/>
            <a:ext cx="708082" cy="178308"/>
          </a:xfrm>
          <a:prstGeom prst="rect">
            <a:avLst/>
          </a:prstGeom>
        </p:spPr>
      </p:pic>
      <p:pic>
        <p:nvPicPr>
          <p:cNvPr id="62" name="Thrive logo" descr="Thrive logo"/>
          <p:cNvPicPr>
            <a:picLocks noChangeAspect="1"/>
          </p:cNvPicPr>
          <p:nvPr/>
        </p:nvPicPr>
        <p:blipFill>
          <a:blip r:embed="rId15"/>
          <a:stretch/>
        </p:blipFill>
        <p:spPr>
          <a:xfrm>
            <a:off x="3783085" y="2606040"/>
            <a:ext cx="617710" cy="178308"/>
          </a:xfrm>
          <a:prstGeom prst="rect">
            <a:avLst/>
          </a:prstGeom>
        </p:spPr>
      </p:pic>
      <p:pic>
        <p:nvPicPr>
          <p:cNvPr id="63" name="CompassMSP logo" descr="CompassMSP logo"/>
          <p:cNvPicPr>
            <a:picLocks noChangeAspect="1"/>
          </p:cNvPicPr>
          <p:nvPr/>
        </p:nvPicPr>
        <p:blipFill>
          <a:blip r:embed="rId16"/>
          <a:stretch/>
        </p:blipFill>
        <p:spPr>
          <a:xfrm>
            <a:off x="4630967" y="2606040"/>
            <a:ext cx="714170" cy="178308"/>
          </a:xfrm>
          <a:prstGeom prst="rect">
            <a:avLst/>
          </a:prstGeom>
        </p:spPr>
      </p:pic>
      <p:pic>
        <p:nvPicPr>
          <p:cNvPr id="64" name="Magna5 logo" descr="Magna5 logo"/>
          <p:cNvPicPr>
            <a:picLocks noChangeAspect="1"/>
          </p:cNvPicPr>
          <p:nvPr/>
        </p:nvPicPr>
        <p:blipFill>
          <a:blip r:embed="rId17"/>
          <a:stretch/>
        </p:blipFill>
        <p:spPr>
          <a:xfrm>
            <a:off x="5562625" y="2606040"/>
            <a:ext cx="643078" cy="178308"/>
          </a:xfrm>
          <a:prstGeom prst="rect">
            <a:avLst/>
          </a:prstGeom>
        </p:spPr>
      </p:pic>
      <p:pic>
        <p:nvPicPr>
          <p:cNvPr id="65" name="Myriad360 logo" descr="Myriad360 logo"/>
          <p:cNvPicPr>
            <a:picLocks noChangeAspect="1"/>
          </p:cNvPicPr>
          <p:nvPr/>
        </p:nvPicPr>
        <p:blipFill>
          <a:blip r:embed="rId18"/>
          <a:stretch/>
        </p:blipFill>
        <p:spPr>
          <a:xfrm>
            <a:off x="3703320" y="2844266"/>
            <a:ext cx="777240" cy="159055"/>
          </a:xfrm>
          <a:prstGeom prst="rect">
            <a:avLst/>
          </a:prstGeom>
        </p:spPr>
      </p:pic>
      <p:pic>
        <p:nvPicPr>
          <p:cNvPr id="66" name="Net at Work logo" descr="Net at Work logo"/>
          <p:cNvPicPr>
            <a:picLocks noChangeAspect="1"/>
          </p:cNvPicPr>
          <p:nvPr/>
        </p:nvPicPr>
        <p:blipFill>
          <a:blip r:embed="rId19"/>
          <a:stretch/>
        </p:blipFill>
        <p:spPr>
          <a:xfrm>
            <a:off x="4599432" y="2842873"/>
            <a:ext cx="777240" cy="161842"/>
          </a:xfrm>
          <a:prstGeom prst="rect">
            <a:avLst/>
          </a:prstGeom>
        </p:spPr>
      </p:pic>
      <p:pic>
        <p:nvPicPr>
          <p:cNvPr id="67" name="TRM logo" descr="TRM logo"/>
          <p:cNvPicPr>
            <a:picLocks noChangeAspect="1"/>
          </p:cNvPicPr>
          <p:nvPr/>
        </p:nvPicPr>
        <p:blipFill>
          <a:blip r:embed="rId20"/>
          <a:stretch/>
        </p:blipFill>
        <p:spPr>
          <a:xfrm>
            <a:off x="4599112" y="3273552"/>
            <a:ext cx="787024" cy="347472"/>
          </a:xfrm>
          <a:prstGeom prst="rect">
            <a:avLst/>
          </a:prstGeom>
        </p:spPr>
      </p:pic>
      <p:pic>
        <p:nvPicPr>
          <p:cNvPr id="68" name="Pavion logo" descr="Pavion logo"/>
          <p:cNvPicPr>
            <a:picLocks noChangeAspect="1"/>
          </p:cNvPicPr>
          <p:nvPr/>
        </p:nvPicPr>
        <p:blipFill>
          <a:blip r:embed="rId21"/>
          <a:stretch/>
        </p:blipFill>
        <p:spPr>
          <a:xfrm>
            <a:off x="6843443" y="2377440"/>
            <a:ext cx="751490" cy="178308"/>
          </a:xfrm>
          <a:prstGeom prst="rect">
            <a:avLst/>
          </a:prstGeom>
        </p:spPr>
      </p:pic>
      <p:pic>
        <p:nvPicPr>
          <p:cNvPr id="69" name="Convergint logo" descr="Convergint logo"/>
          <p:cNvPicPr>
            <a:picLocks noChangeAspect="1"/>
          </p:cNvPicPr>
          <p:nvPr/>
        </p:nvPicPr>
        <p:blipFill>
          <a:blip r:embed="rId22"/>
          <a:stretch/>
        </p:blipFill>
        <p:spPr>
          <a:xfrm>
            <a:off x="7726680" y="2392403"/>
            <a:ext cx="777240" cy="148382"/>
          </a:xfrm>
          <a:prstGeom prst="rect">
            <a:avLst/>
          </a:prstGeom>
        </p:spPr>
      </p:pic>
      <p:pic>
        <p:nvPicPr>
          <p:cNvPr id="70" name="Everon logo" descr="Everon logo"/>
          <p:cNvPicPr>
            <a:picLocks noChangeAspect="1"/>
          </p:cNvPicPr>
          <p:nvPr/>
        </p:nvPicPr>
        <p:blipFill>
          <a:blip r:embed="rId23"/>
          <a:stretch/>
        </p:blipFill>
        <p:spPr>
          <a:xfrm>
            <a:off x="8622792" y="2384556"/>
            <a:ext cx="777240" cy="164076"/>
          </a:xfrm>
          <a:prstGeom prst="rect">
            <a:avLst/>
          </a:prstGeom>
        </p:spPr>
      </p:pic>
      <p:pic>
        <p:nvPicPr>
          <p:cNvPr id="71" name="Securitas Technology logo" descr="Securitas Technology logo"/>
          <p:cNvPicPr>
            <a:picLocks noChangeAspect="1"/>
          </p:cNvPicPr>
          <p:nvPr/>
        </p:nvPicPr>
        <p:blipFill>
          <a:blip r:embed="rId24"/>
          <a:stretch/>
        </p:blipFill>
        <p:spPr>
          <a:xfrm>
            <a:off x="7053616" y="2606040"/>
            <a:ext cx="331143" cy="178308"/>
          </a:xfrm>
          <a:prstGeom prst="rect">
            <a:avLst/>
          </a:prstGeom>
        </p:spPr>
      </p:pic>
      <p:pic>
        <p:nvPicPr>
          <p:cNvPr id="72" name="AVI-SPL logo" descr="AVI-SPL logo"/>
          <p:cNvPicPr>
            <a:picLocks noChangeAspect="1"/>
          </p:cNvPicPr>
          <p:nvPr/>
        </p:nvPicPr>
        <p:blipFill>
          <a:blip r:embed="rId25"/>
          <a:stretch/>
        </p:blipFill>
        <p:spPr>
          <a:xfrm>
            <a:off x="7726680" y="2630778"/>
            <a:ext cx="777240" cy="128832"/>
          </a:xfrm>
          <a:prstGeom prst="rect">
            <a:avLst/>
          </a:prstGeom>
        </p:spPr>
      </p:pic>
      <p:pic>
        <p:nvPicPr>
          <p:cNvPr id="73" name="26North logo" descr="26North logo"/>
          <p:cNvPicPr>
            <a:picLocks noChangeAspect="1"/>
          </p:cNvPicPr>
          <p:nvPr/>
        </p:nvPicPr>
        <p:blipFill>
          <a:blip r:embed="rId26"/>
          <a:stretch/>
        </p:blipFill>
        <p:spPr>
          <a:xfrm>
            <a:off x="8751082" y="2606040"/>
            <a:ext cx="520659" cy="178308"/>
          </a:xfrm>
          <a:prstGeom prst="rect">
            <a:avLst/>
          </a:prstGeom>
        </p:spPr>
      </p:pic>
      <p:pic>
        <p:nvPicPr>
          <p:cNvPr id="74" name="Sciens Building Solutions logo" descr="Sciens Building Solutions logo"/>
          <p:cNvPicPr>
            <a:picLocks noChangeAspect="1"/>
          </p:cNvPicPr>
          <p:nvPr/>
        </p:nvPicPr>
        <p:blipFill>
          <a:blip r:embed="rId27"/>
          <a:stretch/>
        </p:blipFill>
        <p:spPr>
          <a:xfrm>
            <a:off x="6993405" y="2834640"/>
            <a:ext cx="451565" cy="178308"/>
          </a:xfrm>
          <a:prstGeom prst="rect">
            <a:avLst/>
          </a:prstGeom>
        </p:spPr>
      </p:pic>
      <p:pic>
        <p:nvPicPr>
          <p:cNvPr id="75" name="Zeus Fire and Security logo" descr="Zeus Fire and Security logo"/>
          <p:cNvPicPr>
            <a:picLocks noChangeAspect="1"/>
          </p:cNvPicPr>
          <p:nvPr/>
        </p:nvPicPr>
        <p:blipFill>
          <a:blip r:embed="rId28"/>
          <a:stretch/>
        </p:blipFill>
        <p:spPr>
          <a:xfrm>
            <a:off x="6894576" y="3351276"/>
            <a:ext cx="960386" cy="315468"/>
          </a:xfrm>
          <a:prstGeom prst="rect">
            <a:avLst/>
          </a:prstGeom>
        </p:spPr>
      </p:pic>
      <p:pic>
        <p:nvPicPr>
          <p:cNvPr id="76" name="AI Fire logo" descr="AI Fire logo"/>
          <p:cNvPicPr>
            <a:picLocks noChangeAspect="1"/>
          </p:cNvPicPr>
          <p:nvPr/>
        </p:nvPicPr>
        <p:blipFill>
          <a:blip r:embed="rId29"/>
          <a:stretch/>
        </p:blipFill>
        <p:spPr>
          <a:xfrm>
            <a:off x="8189618" y="3329940"/>
            <a:ext cx="1012019" cy="274320"/>
          </a:xfrm>
          <a:prstGeom prst="rect">
            <a:avLst/>
          </a:prstGeom>
        </p:spPr>
      </p:pic>
      <p:pic>
        <p:nvPicPr>
          <p:cNvPr id="77" name="Thoma Bravo logo" descr="Thoma Bravo logo"/>
          <p:cNvPicPr>
            <a:picLocks noChangeAspect="1"/>
          </p:cNvPicPr>
          <p:nvPr/>
        </p:nvPicPr>
        <p:blipFill>
          <a:blip r:embed="rId30"/>
          <a:stretch/>
        </p:blipFill>
        <p:spPr>
          <a:xfrm>
            <a:off x="576072" y="5084328"/>
            <a:ext cx="777240" cy="104628"/>
          </a:xfrm>
          <a:prstGeom prst="rect">
            <a:avLst/>
          </a:prstGeom>
        </p:spPr>
      </p:pic>
      <p:pic>
        <p:nvPicPr>
          <p:cNvPr id="78" name="KKR logo" descr="KKR logo"/>
          <p:cNvPicPr>
            <a:picLocks noChangeAspect="1"/>
          </p:cNvPicPr>
          <p:nvPr/>
        </p:nvPicPr>
        <p:blipFill>
          <a:blip r:embed="rId31"/>
          <a:stretch/>
        </p:blipFill>
        <p:spPr>
          <a:xfrm>
            <a:off x="1493503" y="5047488"/>
            <a:ext cx="734602" cy="178308"/>
          </a:xfrm>
          <a:prstGeom prst="rect">
            <a:avLst/>
          </a:prstGeom>
        </p:spPr>
      </p:pic>
      <p:pic>
        <p:nvPicPr>
          <p:cNvPr id="79" name="EQT logo" descr="EQT logo"/>
          <p:cNvPicPr>
            <a:picLocks noChangeAspect="1"/>
          </p:cNvPicPr>
          <p:nvPr/>
        </p:nvPicPr>
        <p:blipFill>
          <a:blip r:embed="rId32"/>
          <a:stretch/>
        </p:blipFill>
        <p:spPr>
          <a:xfrm>
            <a:off x="2454233" y="5047488"/>
            <a:ext cx="605367" cy="178308"/>
          </a:xfrm>
          <a:prstGeom prst="rect">
            <a:avLst/>
          </a:prstGeom>
        </p:spPr>
      </p:pic>
      <p:pic>
        <p:nvPicPr>
          <p:cNvPr id="80" name="Knox Lane logo" descr="Knox Lane logo"/>
          <p:cNvPicPr>
            <a:picLocks noChangeAspect="1"/>
          </p:cNvPicPr>
          <p:nvPr/>
        </p:nvPicPr>
        <p:blipFill>
          <a:blip r:embed="rId33"/>
          <a:stretch/>
        </p:blipFill>
        <p:spPr>
          <a:xfrm>
            <a:off x="576072" y="5317901"/>
            <a:ext cx="777240" cy="94682"/>
          </a:xfrm>
          <a:prstGeom prst="rect">
            <a:avLst/>
          </a:prstGeom>
        </p:spPr>
      </p:pic>
      <p:pic>
        <p:nvPicPr>
          <p:cNvPr id="81" name="Transom Capital Group logo" descr="Transom Capital Group logo"/>
          <p:cNvPicPr>
            <a:picLocks noChangeAspect="1"/>
          </p:cNvPicPr>
          <p:nvPr/>
        </p:nvPicPr>
        <p:blipFill>
          <a:blip r:embed="rId34"/>
          <a:stretch/>
        </p:blipFill>
        <p:spPr>
          <a:xfrm>
            <a:off x="1472184" y="5311188"/>
            <a:ext cx="777240" cy="108107"/>
          </a:xfrm>
          <a:prstGeom prst="rect">
            <a:avLst/>
          </a:prstGeom>
        </p:spPr>
      </p:pic>
      <p:pic>
        <p:nvPicPr>
          <p:cNvPr id="82" name="Tide Rock logo" descr="Tide Rock logo"/>
          <p:cNvPicPr>
            <a:picLocks noChangeAspect="1"/>
          </p:cNvPicPr>
          <p:nvPr/>
        </p:nvPicPr>
        <p:blipFill>
          <a:blip r:embed="rId35"/>
          <a:stretch/>
        </p:blipFill>
        <p:spPr>
          <a:xfrm>
            <a:off x="2368296" y="5310736"/>
            <a:ext cx="777240" cy="109012"/>
          </a:xfrm>
          <a:prstGeom prst="rect">
            <a:avLst/>
          </a:prstGeom>
        </p:spPr>
      </p:pic>
      <p:pic>
        <p:nvPicPr>
          <p:cNvPr id="83" name="Align Capital Partners logo" descr="Align Capital Partners logo"/>
          <p:cNvPicPr>
            <a:picLocks noChangeAspect="1"/>
          </p:cNvPicPr>
          <p:nvPr/>
        </p:nvPicPr>
        <p:blipFill>
          <a:blip r:embed="rId36"/>
          <a:stretch/>
        </p:blipFill>
        <p:spPr>
          <a:xfrm>
            <a:off x="741121" y="5504688"/>
            <a:ext cx="447142" cy="178308"/>
          </a:xfrm>
          <a:prstGeom prst="rect">
            <a:avLst/>
          </a:prstGeom>
        </p:spPr>
      </p:pic>
      <p:pic>
        <p:nvPicPr>
          <p:cNvPr id="84" name="Arcline logo" descr="Arcline logo"/>
          <p:cNvPicPr>
            <a:picLocks noChangeAspect="1"/>
          </p:cNvPicPr>
          <p:nvPr/>
        </p:nvPicPr>
        <p:blipFill>
          <a:blip r:embed="rId37"/>
          <a:stretch/>
        </p:blipFill>
        <p:spPr>
          <a:xfrm>
            <a:off x="1472184" y="5547307"/>
            <a:ext cx="777240" cy="93070"/>
          </a:xfrm>
          <a:prstGeom prst="rect">
            <a:avLst/>
          </a:prstGeom>
        </p:spPr>
      </p:pic>
      <p:pic>
        <p:nvPicPr>
          <p:cNvPr id="85" name="BlueRock Global logo" descr="BlueRock Global logo"/>
          <p:cNvPicPr>
            <a:picLocks noChangeAspect="1"/>
          </p:cNvPicPr>
          <p:nvPr/>
        </p:nvPicPr>
        <p:blipFill>
          <a:blip r:embed="rId38"/>
          <a:stretch/>
        </p:blipFill>
        <p:spPr>
          <a:xfrm>
            <a:off x="721670" y="5934456"/>
            <a:ext cx="486043" cy="438912"/>
          </a:xfrm>
          <a:prstGeom prst="rect">
            <a:avLst/>
          </a:prstGeom>
        </p:spPr>
      </p:pic>
      <p:pic>
        <p:nvPicPr>
          <p:cNvPr id="86" name="Walnut Capital Partners logo" descr="Walnut Capital Partners logo"/>
          <p:cNvPicPr>
            <a:picLocks noChangeAspect="1"/>
          </p:cNvPicPr>
          <p:nvPr/>
        </p:nvPicPr>
        <p:blipFill>
          <a:blip r:embed="rId39"/>
          <a:stretch/>
        </p:blipFill>
        <p:spPr>
          <a:xfrm>
            <a:off x="1586304" y="5934456"/>
            <a:ext cx="558144" cy="438912"/>
          </a:xfrm>
          <a:prstGeom prst="rect">
            <a:avLst/>
          </a:prstGeom>
        </p:spPr>
      </p:pic>
      <p:pic>
        <p:nvPicPr>
          <p:cNvPr id="87" name="Balius Partners logo" descr="Balius Partners logo"/>
          <p:cNvPicPr>
            <a:picLocks noChangeAspect="1"/>
          </p:cNvPicPr>
          <p:nvPr/>
        </p:nvPicPr>
        <p:blipFill>
          <a:blip r:embed="rId40"/>
          <a:stretch/>
        </p:blipFill>
        <p:spPr>
          <a:xfrm>
            <a:off x="2331720" y="6010102"/>
            <a:ext cx="914400" cy="251044"/>
          </a:xfrm>
          <a:prstGeom prst="rect">
            <a:avLst/>
          </a:prstGeom>
        </p:spPr>
      </p:pic>
      <p:pic>
        <p:nvPicPr>
          <p:cNvPr id="88" name="TDS logo" descr="TDS logo"/>
          <p:cNvPicPr>
            <a:picLocks noChangeAspect="1"/>
          </p:cNvPicPr>
          <p:nvPr/>
        </p:nvPicPr>
        <p:blipFill>
          <a:blip r:embed="rId41"/>
          <a:stretch/>
        </p:blipFill>
        <p:spPr>
          <a:xfrm>
            <a:off x="3954974" y="5047488"/>
            <a:ext cx="273933" cy="178308"/>
          </a:xfrm>
          <a:prstGeom prst="rect">
            <a:avLst/>
          </a:prstGeom>
        </p:spPr>
      </p:pic>
      <p:pic>
        <p:nvPicPr>
          <p:cNvPr id="89" name="Verizon logo" descr="Verizon logo"/>
          <p:cNvPicPr>
            <a:picLocks noChangeAspect="1"/>
          </p:cNvPicPr>
          <p:nvPr/>
        </p:nvPicPr>
        <p:blipFill>
          <a:blip r:embed="rId42"/>
          <a:stretch/>
        </p:blipFill>
        <p:spPr>
          <a:xfrm>
            <a:off x="4599432" y="5049125"/>
            <a:ext cx="777240" cy="175033"/>
          </a:xfrm>
          <a:prstGeom prst="rect">
            <a:avLst/>
          </a:prstGeom>
        </p:spPr>
      </p:pic>
      <p:pic>
        <p:nvPicPr>
          <p:cNvPr id="90" name="AT&amp;T logo" descr="AT&amp;T logo"/>
          <p:cNvPicPr>
            <a:picLocks noChangeAspect="1"/>
          </p:cNvPicPr>
          <p:nvPr/>
        </p:nvPicPr>
        <p:blipFill>
          <a:blip r:embed="rId43"/>
          <a:stretch/>
        </p:blipFill>
        <p:spPr>
          <a:xfrm>
            <a:off x="5611239" y="5047488"/>
            <a:ext cx="545851" cy="178308"/>
          </a:xfrm>
          <a:prstGeom prst="rect">
            <a:avLst/>
          </a:prstGeom>
        </p:spPr>
      </p:pic>
      <p:pic>
        <p:nvPicPr>
          <p:cNvPr id="91" name="Zayo logo" descr="Zayo logo"/>
          <p:cNvPicPr>
            <a:picLocks noChangeAspect="1"/>
          </p:cNvPicPr>
          <p:nvPr/>
        </p:nvPicPr>
        <p:blipFill>
          <a:blip r:embed="rId44"/>
          <a:stretch/>
        </p:blipFill>
        <p:spPr>
          <a:xfrm>
            <a:off x="3816396" y="5276088"/>
            <a:ext cx="551088" cy="178308"/>
          </a:xfrm>
          <a:prstGeom prst="rect">
            <a:avLst/>
          </a:prstGeom>
        </p:spPr>
      </p:pic>
      <p:pic>
        <p:nvPicPr>
          <p:cNvPr id="92" name="Stonepeak logo" descr="Stonepeak logo"/>
          <p:cNvPicPr>
            <a:picLocks noChangeAspect="1"/>
          </p:cNvPicPr>
          <p:nvPr/>
        </p:nvPicPr>
        <p:blipFill>
          <a:blip r:embed="rId45"/>
          <a:stretch/>
        </p:blipFill>
        <p:spPr>
          <a:xfrm>
            <a:off x="4599432" y="5279392"/>
            <a:ext cx="777240" cy="171699"/>
          </a:xfrm>
          <a:prstGeom prst="rect">
            <a:avLst/>
          </a:prstGeom>
        </p:spPr>
      </p:pic>
      <p:pic>
        <p:nvPicPr>
          <p:cNvPr id="93" name="Point Broadband logo" descr="Point Broadband logo"/>
          <p:cNvPicPr>
            <a:picLocks noChangeAspect="1"/>
          </p:cNvPicPr>
          <p:nvPr/>
        </p:nvPicPr>
        <p:blipFill>
          <a:blip r:embed="rId46"/>
          <a:stretch/>
        </p:blipFill>
        <p:spPr>
          <a:xfrm>
            <a:off x="5696785" y="5276088"/>
            <a:ext cx="374758" cy="178308"/>
          </a:xfrm>
          <a:prstGeom prst="rect">
            <a:avLst/>
          </a:prstGeom>
        </p:spPr>
      </p:pic>
      <p:pic>
        <p:nvPicPr>
          <p:cNvPr id="94" name="Ezee Fiber logo" descr="Ezee Fiber logo"/>
          <p:cNvPicPr>
            <a:picLocks noChangeAspect="1"/>
          </p:cNvPicPr>
          <p:nvPr/>
        </p:nvPicPr>
        <p:blipFill>
          <a:blip r:embed="rId47"/>
          <a:stretch/>
        </p:blipFill>
        <p:spPr>
          <a:xfrm>
            <a:off x="3801618" y="5504688"/>
            <a:ext cx="580644" cy="178308"/>
          </a:xfrm>
          <a:prstGeom prst="rect">
            <a:avLst/>
          </a:prstGeom>
        </p:spPr>
      </p:pic>
      <p:pic>
        <p:nvPicPr>
          <p:cNvPr id="95" name="Vero Fiber logo" descr="Vero Fiber logo"/>
          <p:cNvPicPr>
            <a:picLocks noChangeAspect="1"/>
          </p:cNvPicPr>
          <p:nvPr/>
        </p:nvPicPr>
        <p:blipFill>
          <a:blip r:embed="rId48"/>
          <a:stretch/>
        </p:blipFill>
        <p:spPr>
          <a:xfrm>
            <a:off x="4599432" y="5524597"/>
            <a:ext cx="777240" cy="138490"/>
          </a:xfrm>
          <a:prstGeom prst="rect">
            <a:avLst/>
          </a:prstGeom>
        </p:spPr>
      </p:pic>
      <p:pic>
        <p:nvPicPr>
          <p:cNvPr id="96" name="Rightfiber logo" descr="Rightfiber logo"/>
          <p:cNvPicPr>
            <a:picLocks noChangeAspect="1"/>
          </p:cNvPicPr>
          <p:nvPr/>
        </p:nvPicPr>
        <p:blipFill>
          <a:blip r:embed="rId49"/>
          <a:stretch/>
        </p:blipFill>
        <p:spPr>
          <a:xfrm>
            <a:off x="5495544" y="5533429"/>
            <a:ext cx="777240" cy="120825"/>
          </a:xfrm>
          <a:prstGeom prst="rect">
            <a:avLst/>
          </a:prstGeom>
        </p:spPr>
      </p:pic>
      <p:pic>
        <p:nvPicPr>
          <p:cNvPr id="97" name="Softcat logo" descr="Softcat logo"/>
          <p:cNvPicPr>
            <a:picLocks noChangeAspect="1"/>
          </p:cNvPicPr>
          <p:nvPr/>
        </p:nvPicPr>
        <p:blipFill>
          <a:blip r:embed="rId50"/>
          <a:stretch/>
        </p:blipFill>
        <p:spPr>
          <a:xfrm>
            <a:off x="7053679" y="5047488"/>
            <a:ext cx="779074" cy="242316"/>
          </a:xfrm>
          <a:prstGeom prst="rect">
            <a:avLst/>
          </a:prstGeom>
        </p:spPr>
      </p:pic>
      <p:pic>
        <p:nvPicPr>
          <p:cNvPr id="98" name="Persistent Systems logo" descr="Persistent Systems logo"/>
          <p:cNvPicPr>
            <a:picLocks noChangeAspect="1"/>
          </p:cNvPicPr>
          <p:nvPr/>
        </p:nvPicPr>
        <p:blipFill>
          <a:blip r:embed="rId51"/>
          <a:stretch/>
        </p:blipFill>
        <p:spPr>
          <a:xfrm>
            <a:off x="8238869" y="5047488"/>
            <a:ext cx="1097031" cy="242316"/>
          </a:xfrm>
          <a:prstGeom prst="rect">
            <a:avLst/>
          </a:prstGeom>
        </p:spPr>
      </p:pic>
      <p:pic>
        <p:nvPicPr>
          <p:cNvPr id="99" name="Sophos logo" descr="Sophos logo"/>
          <p:cNvPicPr>
            <a:picLocks noChangeAspect="1"/>
          </p:cNvPicPr>
          <p:nvPr/>
        </p:nvPicPr>
        <p:blipFill>
          <a:blip r:embed="rId52"/>
          <a:stretch/>
        </p:blipFill>
        <p:spPr>
          <a:xfrm>
            <a:off x="6830568" y="5402020"/>
            <a:ext cx="1225296" cy="118468"/>
          </a:xfrm>
          <a:prstGeom prst="rect">
            <a:avLst/>
          </a:prstGeom>
        </p:spPr>
      </p:pic>
      <p:pic>
        <p:nvPicPr>
          <p:cNvPr id="100" name="Barracuda logo" descr="Barracuda logo"/>
          <p:cNvPicPr>
            <a:picLocks noChangeAspect="1"/>
          </p:cNvPicPr>
          <p:nvPr/>
        </p:nvPicPr>
        <p:blipFill>
          <a:blip r:embed="rId53"/>
          <a:stretch/>
        </p:blipFill>
        <p:spPr>
          <a:xfrm>
            <a:off x="8278312" y="5340096"/>
            <a:ext cx="1018143" cy="242316"/>
          </a:xfrm>
          <a:prstGeom prst="rect">
            <a:avLst/>
          </a:prstGeom>
        </p:spPr>
      </p:pic>
      <p:pic>
        <p:nvPicPr>
          <p:cNvPr id="101" name="Assessimus logo" descr="Assessimus logo"/>
          <p:cNvPicPr>
            <a:picLocks noChangeAspect="1"/>
          </p:cNvPicPr>
          <p:nvPr/>
        </p:nvPicPr>
        <p:blipFill>
          <a:blip r:embed="rId54"/>
          <a:stretch/>
        </p:blipFill>
        <p:spPr>
          <a:xfrm>
            <a:off x="6915853" y="5806440"/>
            <a:ext cx="1063869" cy="201168"/>
          </a:xfrm>
          <a:prstGeom prst="rect">
            <a:avLst/>
          </a:prstGeom>
        </p:spPr>
      </p:pic>
      <p:pic>
        <p:nvPicPr>
          <p:cNvPr id="102" name="Amtech Drives logo" descr="Amtech Drives logo"/>
          <p:cNvPicPr>
            <a:picLocks noChangeAspect="1"/>
          </p:cNvPicPr>
          <p:nvPr/>
        </p:nvPicPr>
        <p:blipFill>
          <a:blip r:embed="rId55"/>
          <a:stretch/>
        </p:blipFill>
        <p:spPr>
          <a:xfrm>
            <a:off x="8288272" y="5893916"/>
            <a:ext cx="925620" cy="274320"/>
          </a:xfrm>
          <a:prstGeom prst="rect">
            <a:avLst/>
          </a:prstGeom>
        </p:spPr>
      </p:pic>
      <p:pic>
        <p:nvPicPr>
          <p:cNvPr id="103" name="CapCon Networks logo" descr="CapCon Networks logo"/>
          <p:cNvPicPr>
            <a:picLocks noChangeAspect="1"/>
          </p:cNvPicPr>
          <p:nvPr/>
        </p:nvPicPr>
        <p:blipFill>
          <a:blip r:embed="rId56"/>
          <a:stretch/>
        </p:blipFill>
        <p:spPr>
          <a:xfrm>
            <a:off x="6894576" y="6035040"/>
            <a:ext cx="1106424" cy="20116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Companies: Market Performance</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Share prices rose a median 54% at security companies and 42% at electronics manufacturers, while government contractors fell 23%.</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4535424" cy="4434840"/>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4535424" cy="27432"/>
          </a:xfrm>
          <a:prstGeom prst="rect">
            <a:avLst/>
          </a:prstGeom>
          <a:solidFill>
            <a:srgbClr val="B68757"/>
          </a:solidFill>
          <a:ln>
            <a:noFill/>
          </a:ln>
          <a:effectLst/>
        </p:spPr>
        <p:txBody>
          <a:bodyPr rtlCol="0" anchor="ctr"/>
          <a:lstStyle/>
          <a:p>
            <a:pPr algn="ctr"/>
            <a:endParaRPr/>
          </a:p>
        </p:txBody>
      </p:sp>
      <p:sp>
        <p:nvSpPr>
          <p:cNvPr id="9" name="CardTitle"/>
          <p:cNvSpPr txBox="1"/>
          <p:nvPr/>
        </p:nvSpPr>
        <p:spPr>
          <a:xfrm>
            <a:off x="594360" y="1426464"/>
            <a:ext cx="4261104"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change in share price over 52 weeks</a:t>
            </a:r>
          </a:p>
        </p:txBody>
      </p:sp>
      <p:sp>
        <p:nvSpPr>
          <p:cNvPr id="10" name="CardSub"/>
          <p:cNvSpPr txBox="1"/>
          <p:nvPr/>
        </p:nvSpPr>
        <p:spPr>
          <a:xfrm>
            <a:off x="594360" y="1591056"/>
            <a:ext cx="4261104"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Share prices dated October 12 to 19, 2026, against a year earlier</a:t>
            </a:r>
          </a:p>
        </p:txBody>
      </p:sp>
      <p:graphicFrame>
        <p:nvGraphicFramePr>
          <p:cNvPr id="11" name="Bar chart of the median change in share price over 52 weeks " descr="Bar chart of the median change in share price over 52 weeks by focus area: Cybersecurity up 54.3 percent, Electronics &amp; Hardware up 41.7, Telecom &amp; UCaaS up 21.7, Managed IT &amp; Cloud up 1.1, Systems Integration down 1.5 and Government Technology down 22.9."/>
          <p:cNvGraphicFramePr>
            <a:graphicFrameLocks noGrp="1"/>
          </p:cNvGraphicFramePr>
          <p:nvPr/>
        </p:nvGraphicFramePr>
        <p:xfrm>
          <a:off x="566928" y="1874520"/>
          <a:ext cx="4206240" cy="3749040"/>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5102352" y="1280160"/>
            <a:ext cx="4535424" cy="4434840"/>
          </a:xfrm>
          <a:prstGeom prst="rect">
            <a:avLst/>
          </a:prstGeom>
          <a:solidFill>
            <a:srgbClr val="FAF7F3"/>
          </a:solidFill>
          <a:ln>
            <a:noFill/>
          </a:ln>
          <a:effectLst/>
        </p:spPr>
        <p:txBody>
          <a:bodyPr rtlCol="0" anchor="ctr"/>
          <a:lstStyle/>
          <a:p>
            <a:pPr algn="ctr"/>
            <a:endParaRPr/>
          </a:p>
        </p:txBody>
      </p:sp>
      <p:sp>
        <p:nvSpPr>
          <p:cNvPr id="13" name="Rule"/>
          <p:cNvSpPr/>
          <p:nvPr/>
        </p:nvSpPr>
        <p:spPr>
          <a:xfrm>
            <a:off x="5102352" y="1280160"/>
            <a:ext cx="4535424" cy="27432"/>
          </a:xfrm>
          <a:prstGeom prst="rect">
            <a:avLst/>
          </a:prstGeom>
          <a:solidFill>
            <a:srgbClr val="B68757"/>
          </a:solidFill>
          <a:ln>
            <a:noFill/>
          </a:ln>
          <a:effectLst/>
        </p:spPr>
        <p:txBody>
          <a:bodyPr rtlCol="0" anchor="ctr"/>
          <a:lstStyle/>
          <a:p>
            <a:pPr algn="ctr"/>
            <a:endParaRPr/>
          </a:p>
        </p:txBody>
      </p:sp>
      <p:sp>
        <p:nvSpPr>
          <p:cNvPr id="14" name="CardTitle"/>
          <p:cNvSpPr txBox="1"/>
          <p:nvPr/>
        </p:nvSpPr>
        <p:spPr>
          <a:xfrm>
            <a:off x="5276088" y="1426464"/>
            <a:ext cx="4261104"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change in EBITDA, latest fiscal year</a:t>
            </a:r>
          </a:p>
        </p:txBody>
      </p:sp>
      <p:sp>
        <p:nvSpPr>
          <p:cNvPr id="15" name="CardSub"/>
          <p:cNvSpPr txBox="1"/>
          <p:nvPr/>
        </p:nvSpPr>
        <p:spPr>
          <a:xfrm>
            <a:off x="5276088" y="1591056"/>
            <a:ext cx="4261104"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Reported EBITDA for the latest fiscal year against the year before</a:t>
            </a:r>
          </a:p>
        </p:txBody>
      </p:sp>
      <p:graphicFrame>
        <p:nvGraphicFramePr>
          <p:cNvPr id="16" name="Bar chart of the median change in EBITDA for the latest fisc" descr="Bar chart of the median change in EBITDA for the latest fiscal year by focus area: Telecom &amp; UCaaS up 36.0 percent, Cybersecurity 15.8, Electronics &amp; Hardware 9.9, Systems Integration 7.0, Managed IT &amp; Cloud 2.1 and Government Technology down 0.3."/>
          <p:cNvGraphicFramePr>
            <a:graphicFrameLocks noGrp="1"/>
          </p:cNvGraphicFramePr>
          <p:nvPr/>
        </p:nvGraphicFramePr>
        <p:xfrm>
          <a:off x="5248656" y="1874520"/>
          <a:ext cx="420624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Panel"/>
          <p:cNvSpPr/>
          <p:nvPr/>
        </p:nvSpPr>
        <p:spPr>
          <a:xfrm>
            <a:off x="420624" y="5852160"/>
            <a:ext cx="9217152" cy="1051560"/>
          </a:xfrm>
          <a:prstGeom prst="rect">
            <a:avLst/>
          </a:prstGeom>
          <a:solidFill>
            <a:srgbClr val="1B1A1A"/>
          </a:solidFill>
          <a:ln>
            <a:noFill/>
          </a:ln>
          <a:effectLst/>
        </p:spPr>
        <p:txBody>
          <a:bodyPr rtlCol="0" anchor="ctr"/>
          <a:lstStyle/>
          <a:p>
            <a:pPr algn="ctr"/>
            <a:endParaRPr/>
          </a:p>
        </p:txBody>
      </p:sp>
      <p:sp>
        <p:nvSpPr>
          <p:cNvPr id="18" name="Label"/>
          <p:cNvSpPr txBox="1"/>
          <p:nvPr/>
        </p:nvSpPr>
        <p:spPr>
          <a:xfrm>
            <a:off x="640080" y="5961888"/>
            <a:ext cx="3200400" cy="128016"/>
          </a:xfrm>
          <a:prstGeom prst="rect">
            <a:avLst/>
          </a:prstGeom>
          <a:noFill/>
        </p:spPr>
        <p:txBody>
          <a:bodyPr wrap="square" lIns="0" tIns="0" rIns="0" bIns="0" anchor="t">
            <a:noAutofit/>
          </a:bodyPr>
          <a:lstStyle/>
          <a:p>
            <a:pPr algn="l">
              <a:lnSpc>
                <a:spcPts val="1042"/>
              </a:lnSpc>
              <a:spcBef>
                <a:spcPts val="0"/>
              </a:spcBef>
              <a:spcAft>
                <a:spcPts val="0"/>
              </a:spcAft>
            </a:pPr>
            <a:r>
              <a:rPr sz="790" b="1" i="0" spc="180">
                <a:solidFill>
                  <a:srgbClr val="D3AE84"/>
                </a:solidFill>
                <a:latin typeface="Quicksand"/>
              </a:rPr>
              <a:t>WHAT THE MARKET IS PRICING</a:t>
            </a:r>
          </a:p>
        </p:txBody>
      </p:sp>
      <p:sp>
        <p:nvSpPr>
          <p:cNvPr id="19" name="TextBox"/>
          <p:cNvSpPr txBox="1"/>
          <p:nvPr/>
        </p:nvSpPr>
        <p:spPr>
          <a:xfrm>
            <a:off x="640080" y="6199632"/>
            <a:ext cx="274320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33 of 51</a:t>
            </a:r>
          </a:p>
        </p:txBody>
      </p:sp>
      <p:sp>
        <p:nvSpPr>
          <p:cNvPr id="20" name="TextBox"/>
          <p:cNvSpPr txBox="1"/>
          <p:nvPr/>
        </p:nvSpPr>
        <p:spPr>
          <a:xfrm>
            <a:off x="640080" y="6547104"/>
            <a:ext cx="2697480" cy="27432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listed technology companies trade above their share price of a year ago</a:t>
            </a:r>
          </a:p>
        </p:txBody>
      </p:sp>
      <p:sp>
        <p:nvSpPr>
          <p:cNvPr id="21" name="TextBox"/>
          <p:cNvSpPr txBox="1"/>
          <p:nvPr/>
        </p:nvSpPr>
        <p:spPr>
          <a:xfrm>
            <a:off x="3639312" y="6199632"/>
            <a:ext cx="274320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12.9x</a:t>
            </a:r>
          </a:p>
        </p:txBody>
      </p:sp>
      <p:sp>
        <p:nvSpPr>
          <p:cNvPr id="22" name="TextBox"/>
          <p:cNvSpPr txBox="1"/>
          <p:nvPr/>
        </p:nvSpPr>
        <p:spPr>
          <a:xfrm>
            <a:off x="3639312" y="6547104"/>
            <a:ext cx="2697480" cy="27432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median enterprise value to trailing EBITDA today, against 12.6x a year ago</a:t>
            </a:r>
          </a:p>
        </p:txBody>
      </p:sp>
      <p:sp>
        <p:nvSpPr>
          <p:cNvPr id="23" name="TextBox"/>
          <p:cNvSpPr txBox="1"/>
          <p:nvPr/>
        </p:nvSpPr>
        <p:spPr>
          <a:xfrm>
            <a:off x="6638544" y="6199632"/>
            <a:ext cx="274320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4 of 6</a:t>
            </a:r>
          </a:p>
        </p:txBody>
      </p:sp>
      <p:sp>
        <p:nvSpPr>
          <p:cNvPr id="24" name="TextBox"/>
          <p:cNvSpPr txBox="1"/>
          <p:nvPr/>
        </p:nvSpPr>
        <p:spPr>
          <a:xfrm>
            <a:off x="6638544" y="6547104"/>
            <a:ext cx="2697480" cy="27432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peer groups carry a higher median multiple of EBITDA than a year ago</a:t>
            </a:r>
          </a:p>
        </p:txBody>
      </p:sp>
      <p:sp>
        <p:nvSpPr>
          <p:cNvPr id="25"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Medians of 51 listed companies in six peer groups, listed on pages 18 to 20. Source: StockAnalysis, retrieved October 8 to 19, 2026. EBITDA is as reported and includes stock compensation expense. Overall multiples cover the 46 companies with a comparable reading today and 45 a year ago; Cybersecurity medians rest on three companies each. Telecom EBITDA growth is lifted by Five9 and Ooma, which were set against very small bases and are excluded.</a:t>
            </a:r>
          </a:p>
        </p:txBody>
      </p:sp>
      <p:sp>
        <p:nvSpPr>
          <p:cNvPr id="2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2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28" name="Shape 9"/>
          <p:cNvSpPr/>
          <p:nvPr/>
        </p:nvSpPr>
        <p:spPr>
          <a:xfrm>
            <a:off x="419100" y="7029450"/>
            <a:ext cx="9220200" cy="9525"/>
          </a:xfrm>
          <a:prstGeom prst="rect">
            <a:avLst/>
          </a:prstGeom>
          <a:solidFill>
            <a:srgbClr val="E3DCD3"/>
          </a:solidFill>
          <a:ln/>
        </p:spPr>
        <p:txBody>
          <a:bodyPr/>
          <a:lstStyle/>
          <a:p>
            <a:endParaRPr lang="en-US"/>
          </a:p>
        </p:txBody>
      </p:sp>
      <p:pic>
        <p:nvPicPr>
          <p:cNvPr id="29" name="Benchmark International logo" descr="Benchmark International logo"/>
          <p:cNvPicPr>
            <a:picLocks noChangeAspect="1"/>
          </p:cNvPicPr>
          <p:nvPr/>
        </p:nvPicPr>
        <p:blipFill>
          <a:blip r:embed="rId4"/>
          <a:stretch>
            <a:fillRect/>
          </a:stretch>
        </p:blipFill>
        <p:spPr>
          <a:xfrm>
            <a:off x="419100" y="7143750"/>
            <a:ext cx="914400" cy="171450"/>
          </a:xfrm>
          <a:prstGeom prst="rect">
            <a:avLst/>
          </a:prstGeom>
        </p:spPr>
      </p:pic>
      <p:sp>
        <p:nvSpPr>
          <p:cNvPr id="3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15</a:t>
            </a:r>
            <a:endParaRPr lang="en-US" sz="81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Revenue Growth Trends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95" b="0" i="0" spc="15">
                <a:solidFill>
                  <a:srgbClr val="6F6A66"/>
                </a:solidFill>
                <a:latin typeface="Quicksand"/>
              </a:rPr>
              <a:t>Electronics manufacturers are forecast to grow 24.6% this year after two years of decline, and security company growth has held at 13% to 19%.</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2962656" cy="2788920"/>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2962656" cy="27432"/>
          </a:xfrm>
          <a:prstGeom prst="rect">
            <a:avLst/>
          </a:prstGeom>
          <a:solidFill>
            <a:srgbClr val="B68757"/>
          </a:solidFill>
          <a:ln>
            <a:noFill/>
          </a:ln>
          <a:effectLst/>
        </p:spPr>
        <p:txBody>
          <a:bodyPr rtlCol="0" anchor="ctr"/>
          <a:lstStyle/>
          <a:p>
            <a:pPr algn="ctr"/>
            <a:endParaRPr/>
          </a:p>
        </p:txBody>
      </p:sp>
      <p:sp>
        <p:nvSpPr>
          <p:cNvPr id="9" name="CardTitle"/>
          <p:cNvSpPr txBox="1"/>
          <p:nvPr/>
        </p:nvSpPr>
        <p:spPr>
          <a:xfrm>
            <a:off x="594360" y="142646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Managed IT &amp; Cloud</a:t>
            </a:r>
          </a:p>
        </p:txBody>
      </p:sp>
      <p:sp>
        <p:nvSpPr>
          <p:cNvPr id="10" name="CardSub"/>
          <p:cNvSpPr txBox="1"/>
          <p:nvPr/>
        </p:nvSpPr>
        <p:spPr>
          <a:xfrm>
            <a:off x="594360" y="159105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11" name="Line chart of median revenue growth for Managed IT &amp; Cloud c" descr="Line chart of median revenue growth for Managed IT &amp; Cloud companies over two years ago, the prior year, the latest fiscal year and the current year estimate, with dashed lines for the 25th and 75th percentile companies. The median runs -5.3, -1.8, 6.5 and 4.4 percent."/>
          <p:cNvGraphicFramePr>
            <a:graphicFrameLocks noGrp="1"/>
          </p:cNvGraphicFramePr>
          <p:nvPr/>
        </p:nvGraphicFramePr>
        <p:xfrm>
          <a:off x="493776" y="1901952"/>
          <a:ext cx="2816352" cy="2075688"/>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3547872" y="1280160"/>
            <a:ext cx="2962656" cy="2788920"/>
          </a:xfrm>
          <a:prstGeom prst="rect">
            <a:avLst/>
          </a:prstGeom>
          <a:solidFill>
            <a:srgbClr val="FAF7F3"/>
          </a:solidFill>
          <a:ln>
            <a:noFill/>
          </a:ln>
          <a:effectLst/>
        </p:spPr>
        <p:txBody>
          <a:bodyPr rtlCol="0" anchor="ctr"/>
          <a:lstStyle/>
          <a:p>
            <a:pPr algn="ctr"/>
            <a:endParaRPr/>
          </a:p>
        </p:txBody>
      </p:sp>
      <p:sp>
        <p:nvSpPr>
          <p:cNvPr id="13" name="Rule"/>
          <p:cNvSpPr/>
          <p:nvPr/>
        </p:nvSpPr>
        <p:spPr>
          <a:xfrm>
            <a:off x="3547872" y="1280160"/>
            <a:ext cx="2962656" cy="27432"/>
          </a:xfrm>
          <a:prstGeom prst="rect">
            <a:avLst/>
          </a:prstGeom>
          <a:solidFill>
            <a:srgbClr val="B68757"/>
          </a:solidFill>
          <a:ln>
            <a:noFill/>
          </a:ln>
          <a:effectLst/>
        </p:spPr>
        <p:txBody>
          <a:bodyPr rtlCol="0" anchor="ctr"/>
          <a:lstStyle/>
          <a:p>
            <a:pPr algn="ctr"/>
            <a:endParaRPr/>
          </a:p>
        </p:txBody>
      </p:sp>
      <p:sp>
        <p:nvSpPr>
          <p:cNvPr id="14" name="CardTitle"/>
          <p:cNvSpPr txBox="1"/>
          <p:nvPr/>
        </p:nvSpPr>
        <p:spPr>
          <a:xfrm>
            <a:off x="3721608" y="142646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Cybersecurity</a:t>
            </a:r>
          </a:p>
        </p:txBody>
      </p:sp>
      <p:sp>
        <p:nvSpPr>
          <p:cNvPr id="15" name="CardSub"/>
          <p:cNvSpPr txBox="1"/>
          <p:nvPr/>
        </p:nvSpPr>
        <p:spPr>
          <a:xfrm>
            <a:off x="3721608" y="159105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16" name="Line chart of median revenue growth for Cybersecurity compan" descr="Line chart of median revenue growth for Cybersecurity companies over two years ago, the prior year, the latest fiscal year and the current year estimate, with dashed lines for the 25th and 75th percentile companies. The median runs 18.5, 13.8, 13.0 and 13.9 percent."/>
          <p:cNvGraphicFramePr>
            <a:graphicFrameLocks noGrp="1"/>
          </p:cNvGraphicFramePr>
          <p:nvPr/>
        </p:nvGraphicFramePr>
        <p:xfrm>
          <a:off x="3621024" y="1901952"/>
          <a:ext cx="2816352" cy="2075688"/>
        </p:xfrm>
        <a:graphic>
          <a:graphicData uri="http://schemas.openxmlformats.org/drawingml/2006/chart">
            <c:chart xmlns:c="http://schemas.openxmlformats.org/drawingml/2006/chart" xmlns:r="http://schemas.openxmlformats.org/officeDocument/2006/relationships" r:id="rId3"/>
          </a:graphicData>
        </a:graphic>
      </p:graphicFrame>
      <p:sp>
        <p:nvSpPr>
          <p:cNvPr id="17" name="Panel"/>
          <p:cNvSpPr/>
          <p:nvPr/>
        </p:nvSpPr>
        <p:spPr>
          <a:xfrm>
            <a:off x="6675120" y="1280160"/>
            <a:ext cx="2962656" cy="2788920"/>
          </a:xfrm>
          <a:prstGeom prst="rect">
            <a:avLst/>
          </a:prstGeom>
          <a:solidFill>
            <a:srgbClr val="FAF7F3"/>
          </a:solidFill>
          <a:ln>
            <a:noFill/>
          </a:ln>
          <a:effectLst/>
        </p:spPr>
        <p:txBody>
          <a:bodyPr rtlCol="0" anchor="ctr"/>
          <a:lstStyle/>
          <a:p>
            <a:pPr algn="ctr"/>
            <a:endParaRPr/>
          </a:p>
        </p:txBody>
      </p:sp>
      <p:sp>
        <p:nvSpPr>
          <p:cNvPr id="18" name="Rule"/>
          <p:cNvSpPr/>
          <p:nvPr/>
        </p:nvSpPr>
        <p:spPr>
          <a:xfrm>
            <a:off x="6675120" y="1280160"/>
            <a:ext cx="2962656" cy="27432"/>
          </a:xfrm>
          <a:prstGeom prst="rect">
            <a:avLst/>
          </a:prstGeom>
          <a:solidFill>
            <a:srgbClr val="B68757"/>
          </a:solidFill>
          <a:ln>
            <a:noFill/>
          </a:ln>
          <a:effectLst/>
        </p:spPr>
        <p:txBody>
          <a:bodyPr rtlCol="0" anchor="ctr"/>
          <a:lstStyle/>
          <a:p>
            <a:pPr algn="ctr"/>
            <a:endParaRPr/>
          </a:p>
        </p:txBody>
      </p:sp>
      <p:sp>
        <p:nvSpPr>
          <p:cNvPr id="19" name="CardTitle"/>
          <p:cNvSpPr txBox="1"/>
          <p:nvPr/>
        </p:nvSpPr>
        <p:spPr>
          <a:xfrm>
            <a:off x="6848856" y="142646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Telecom &amp; UCaaS</a:t>
            </a:r>
          </a:p>
        </p:txBody>
      </p:sp>
      <p:sp>
        <p:nvSpPr>
          <p:cNvPr id="20" name="CardSub"/>
          <p:cNvSpPr txBox="1"/>
          <p:nvPr/>
        </p:nvSpPr>
        <p:spPr>
          <a:xfrm>
            <a:off x="6848856" y="159105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21" name="Line chart of median revenue growth for Telecom &amp; UCaaS comp" descr="Line chart of median revenue growth for Telecom &amp; UCaaS companies over two years ago, the prior year, the latest fiscal year and the current year estimate, with dashed lines for the 25th and 75th percentile companies. The median runs 8.8, 9.0, 4.8 and 5.0 percent."/>
          <p:cNvGraphicFramePr>
            <a:graphicFrameLocks noGrp="1"/>
          </p:cNvGraphicFramePr>
          <p:nvPr/>
        </p:nvGraphicFramePr>
        <p:xfrm>
          <a:off x="6748272" y="1901952"/>
          <a:ext cx="2816352" cy="2075688"/>
        </p:xfrm>
        <a:graphic>
          <a:graphicData uri="http://schemas.openxmlformats.org/drawingml/2006/chart">
            <c:chart xmlns:c="http://schemas.openxmlformats.org/drawingml/2006/chart" xmlns:r="http://schemas.openxmlformats.org/officeDocument/2006/relationships" r:id="rId4"/>
          </a:graphicData>
        </a:graphic>
      </p:graphicFrame>
      <p:sp>
        <p:nvSpPr>
          <p:cNvPr id="22" name="Panel"/>
          <p:cNvSpPr/>
          <p:nvPr/>
        </p:nvSpPr>
        <p:spPr>
          <a:xfrm>
            <a:off x="420624" y="4206240"/>
            <a:ext cx="2962656" cy="2788920"/>
          </a:xfrm>
          <a:prstGeom prst="rect">
            <a:avLst/>
          </a:prstGeom>
          <a:solidFill>
            <a:srgbClr val="FAF7F3"/>
          </a:solidFill>
          <a:ln>
            <a:noFill/>
          </a:ln>
          <a:effectLst/>
        </p:spPr>
        <p:txBody>
          <a:bodyPr rtlCol="0" anchor="ctr"/>
          <a:lstStyle/>
          <a:p>
            <a:pPr algn="ctr"/>
            <a:endParaRPr/>
          </a:p>
        </p:txBody>
      </p:sp>
      <p:sp>
        <p:nvSpPr>
          <p:cNvPr id="23" name="Rule"/>
          <p:cNvSpPr/>
          <p:nvPr/>
        </p:nvSpPr>
        <p:spPr>
          <a:xfrm>
            <a:off x="420624" y="4206240"/>
            <a:ext cx="2962656" cy="27432"/>
          </a:xfrm>
          <a:prstGeom prst="rect">
            <a:avLst/>
          </a:prstGeom>
          <a:solidFill>
            <a:srgbClr val="B68757"/>
          </a:solidFill>
          <a:ln>
            <a:noFill/>
          </a:ln>
          <a:effectLst/>
        </p:spPr>
        <p:txBody>
          <a:bodyPr rtlCol="0" anchor="ctr"/>
          <a:lstStyle/>
          <a:p>
            <a:pPr algn="ctr"/>
            <a:endParaRPr/>
          </a:p>
        </p:txBody>
      </p:sp>
      <p:sp>
        <p:nvSpPr>
          <p:cNvPr id="24" name="CardTitle"/>
          <p:cNvSpPr txBox="1"/>
          <p:nvPr/>
        </p:nvSpPr>
        <p:spPr>
          <a:xfrm>
            <a:off x="594360" y="435254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Systems Integration</a:t>
            </a:r>
          </a:p>
        </p:txBody>
      </p:sp>
      <p:sp>
        <p:nvSpPr>
          <p:cNvPr id="25" name="CardSub"/>
          <p:cNvSpPr txBox="1"/>
          <p:nvPr/>
        </p:nvSpPr>
        <p:spPr>
          <a:xfrm>
            <a:off x="594360" y="451713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26" name="Line chart of median revenue growth for Systems Integration " descr="Line chart of median revenue growth for Systems Integration companies over two years ago, the prior year, the latest fiscal year and the current year estimate, with dashed lines for the 25th and 75th percentile companies. The median runs 6.2, -0.4, 6.9 and 10.4 percent."/>
          <p:cNvGraphicFramePr>
            <a:graphicFrameLocks noGrp="1"/>
          </p:cNvGraphicFramePr>
          <p:nvPr/>
        </p:nvGraphicFramePr>
        <p:xfrm>
          <a:off x="493776" y="4828032"/>
          <a:ext cx="2816352" cy="2075688"/>
        </p:xfrm>
        <a:graphic>
          <a:graphicData uri="http://schemas.openxmlformats.org/drawingml/2006/chart">
            <c:chart xmlns:c="http://schemas.openxmlformats.org/drawingml/2006/chart" xmlns:r="http://schemas.openxmlformats.org/officeDocument/2006/relationships" r:id="rId5"/>
          </a:graphicData>
        </a:graphic>
      </p:graphicFrame>
      <p:sp>
        <p:nvSpPr>
          <p:cNvPr id="27" name="Panel"/>
          <p:cNvSpPr/>
          <p:nvPr/>
        </p:nvSpPr>
        <p:spPr>
          <a:xfrm>
            <a:off x="3547872" y="4206240"/>
            <a:ext cx="2962656" cy="2788920"/>
          </a:xfrm>
          <a:prstGeom prst="rect">
            <a:avLst/>
          </a:prstGeom>
          <a:solidFill>
            <a:srgbClr val="FAF7F3"/>
          </a:solidFill>
          <a:ln>
            <a:noFill/>
          </a:ln>
          <a:effectLst/>
        </p:spPr>
        <p:txBody>
          <a:bodyPr rtlCol="0" anchor="ctr"/>
          <a:lstStyle/>
          <a:p>
            <a:pPr algn="ctr"/>
            <a:endParaRPr/>
          </a:p>
        </p:txBody>
      </p:sp>
      <p:sp>
        <p:nvSpPr>
          <p:cNvPr id="28" name="Rule"/>
          <p:cNvSpPr/>
          <p:nvPr/>
        </p:nvSpPr>
        <p:spPr>
          <a:xfrm>
            <a:off x="3547872" y="4206240"/>
            <a:ext cx="2962656" cy="27432"/>
          </a:xfrm>
          <a:prstGeom prst="rect">
            <a:avLst/>
          </a:prstGeom>
          <a:solidFill>
            <a:srgbClr val="B68757"/>
          </a:solidFill>
          <a:ln>
            <a:noFill/>
          </a:ln>
          <a:effectLst/>
        </p:spPr>
        <p:txBody>
          <a:bodyPr rtlCol="0" anchor="ctr"/>
          <a:lstStyle/>
          <a:p>
            <a:pPr algn="ctr"/>
            <a:endParaRPr/>
          </a:p>
        </p:txBody>
      </p:sp>
      <p:sp>
        <p:nvSpPr>
          <p:cNvPr id="29" name="CardTitle"/>
          <p:cNvSpPr txBox="1"/>
          <p:nvPr/>
        </p:nvSpPr>
        <p:spPr>
          <a:xfrm>
            <a:off x="3721608" y="435254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Electronics &amp; Hardware</a:t>
            </a:r>
          </a:p>
        </p:txBody>
      </p:sp>
      <p:sp>
        <p:nvSpPr>
          <p:cNvPr id="30" name="CardSub"/>
          <p:cNvSpPr txBox="1"/>
          <p:nvPr/>
        </p:nvSpPr>
        <p:spPr>
          <a:xfrm>
            <a:off x="3721608" y="451713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31" name="Line chart of median revenue growth for Electronics &amp; Hardwa" descr="Line chart of median revenue growth for Electronics &amp; Hardware companies over two years ago, the prior year, the latest fiscal year and the current year estimate, with dashed lines for the 25th and 75th percentile companies. The median runs -1.6, -5.9, 8.0 and 24.6 percent."/>
          <p:cNvGraphicFramePr>
            <a:graphicFrameLocks noGrp="1"/>
          </p:cNvGraphicFramePr>
          <p:nvPr/>
        </p:nvGraphicFramePr>
        <p:xfrm>
          <a:off x="3621024" y="4828032"/>
          <a:ext cx="2816352" cy="2075688"/>
        </p:xfrm>
        <a:graphic>
          <a:graphicData uri="http://schemas.openxmlformats.org/drawingml/2006/chart">
            <c:chart xmlns:c="http://schemas.openxmlformats.org/drawingml/2006/chart" xmlns:r="http://schemas.openxmlformats.org/officeDocument/2006/relationships" r:id="rId6"/>
          </a:graphicData>
        </a:graphic>
      </p:graphicFrame>
      <p:sp>
        <p:nvSpPr>
          <p:cNvPr id="32" name="Panel"/>
          <p:cNvSpPr/>
          <p:nvPr/>
        </p:nvSpPr>
        <p:spPr>
          <a:xfrm>
            <a:off x="6675120" y="4206240"/>
            <a:ext cx="2962656" cy="2788920"/>
          </a:xfrm>
          <a:prstGeom prst="rect">
            <a:avLst/>
          </a:prstGeom>
          <a:solidFill>
            <a:srgbClr val="FAF7F3"/>
          </a:solidFill>
          <a:ln>
            <a:noFill/>
          </a:ln>
          <a:effectLst/>
        </p:spPr>
        <p:txBody>
          <a:bodyPr rtlCol="0" anchor="ctr"/>
          <a:lstStyle/>
          <a:p>
            <a:pPr algn="ctr"/>
            <a:endParaRPr/>
          </a:p>
        </p:txBody>
      </p:sp>
      <p:sp>
        <p:nvSpPr>
          <p:cNvPr id="33" name="Rule"/>
          <p:cNvSpPr/>
          <p:nvPr/>
        </p:nvSpPr>
        <p:spPr>
          <a:xfrm>
            <a:off x="6675120" y="4206240"/>
            <a:ext cx="2962656" cy="27432"/>
          </a:xfrm>
          <a:prstGeom prst="rect">
            <a:avLst/>
          </a:prstGeom>
          <a:solidFill>
            <a:srgbClr val="B68757"/>
          </a:solidFill>
          <a:ln>
            <a:noFill/>
          </a:ln>
          <a:effectLst/>
        </p:spPr>
        <p:txBody>
          <a:bodyPr rtlCol="0" anchor="ctr"/>
          <a:lstStyle/>
          <a:p>
            <a:pPr algn="ctr"/>
            <a:endParaRPr/>
          </a:p>
        </p:txBody>
      </p:sp>
      <p:sp>
        <p:nvSpPr>
          <p:cNvPr id="34" name="CardTitle"/>
          <p:cNvSpPr txBox="1"/>
          <p:nvPr/>
        </p:nvSpPr>
        <p:spPr>
          <a:xfrm>
            <a:off x="6848856" y="435254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Government Technology</a:t>
            </a:r>
          </a:p>
        </p:txBody>
      </p:sp>
      <p:sp>
        <p:nvSpPr>
          <p:cNvPr id="35" name="CardSub"/>
          <p:cNvSpPr txBox="1"/>
          <p:nvPr/>
        </p:nvSpPr>
        <p:spPr>
          <a:xfrm>
            <a:off x="6848856" y="451713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36" name="Line chart of median revenue growth for Government Technolog" descr="Line chart of median revenue growth for Government Technology companies over two years ago, the prior year, the latest fiscal year and the current year estimate, with dashed lines for the 25th and 75th percentile companies. The median runs 10.3, 9.5, -2.9 and 1.7 percent."/>
          <p:cNvGraphicFramePr>
            <a:graphicFrameLocks noGrp="1"/>
          </p:cNvGraphicFramePr>
          <p:nvPr/>
        </p:nvGraphicFramePr>
        <p:xfrm>
          <a:off x="6748272" y="4828032"/>
          <a:ext cx="2816352" cy="2075688"/>
        </p:xfrm>
        <a:graphic>
          <a:graphicData uri="http://schemas.openxmlformats.org/drawingml/2006/chart">
            <c:chart xmlns:c="http://schemas.openxmlformats.org/drawingml/2006/chart" xmlns:r="http://schemas.openxmlformats.org/officeDocument/2006/relationships" r:id="rId7"/>
          </a:graphicData>
        </a:graphic>
      </p:graphicFrame>
      <p:sp>
        <p:nvSpPr>
          <p:cNvPr id="37"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56"/>
              </a:lnSpc>
              <a:spcBef>
                <a:spcPts val="0"/>
              </a:spcBef>
              <a:spcAft>
                <a:spcPts val="0"/>
              </a:spcAft>
            </a:pPr>
            <a:r>
              <a:rPr sz="760" b="0" i="0" spc="8">
                <a:solidFill>
                  <a:srgbClr val="6F6A66"/>
                </a:solidFill>
                <a:latin typeface="Quicksand"/>
              </a:rPr>
              <a:t>Median revenue growth of the listed peer group by fiscal year; dashed lines mark the 25th and 75th percentile companies. Current year estimates are analyst consensus from StockAnalysis, retrieved October 8 to 19, 2026, and growth includes acquisitions. Fiscal years end at different dates, and next year estimates are left out because the source publishes them only to subscribers. TDS is excluded from the two years ago reading because the UScellular sale restated its history.</a:t>
            </a:r>
          </a:p>
        </p:txBody>
      </p:sp>
      <p:sp>
        <p:nvSpPr>
          <p:cNvPr id="38"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60" b="1" kern="0" spc="195" dirty="0">
                <a:solidFill>
                  <a:srgbClr val="8C6239"/>
                </a:solidFill>
                <a:latin typeface="Quicksand" pitchFamily="34" charset="0"/>
              </a:rPr>
              <a:t>TECHNOLOGY  |  QUARTERLY INDUSTRY REPORT</a:t>
            </a:r>
            <a:endParaRPr lang="en-US" sz="760" dirty="0"/>
          </a:p>
        </p:txBody>
      </p:sp>
      <p:sp>
        <p:nvSpPr>
          <p:cNvPr id="39"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55" kern="0" spc="90" dirty="0">
                <a:solidFill>
                  <a:srgbClr val="6F6A66"/>
                </a:solidFill>
                <a:latin typeface="Cinzel" pitchFamily="34" charset="0"/>
              </a:rPr>
              <a:t>Q4 2026</a:t>
            </a:r>
            <a:endParaRPr lang="en-US" sz="955" dirty="0"/>
          </a:p>
        </p:txBody>
      </p:sp>
      <p:sp>
        <p:nvSpPr>
          <p:cNvPr id="40" name="Shape 9"/>
          <p:cNvSpPr/>
          <p:nvPr/>
        </p:nvSpPr>
        <p:spPr>
          <a:xfrm>
            <a:off x="419100" y="7029450"/>
            <a:ext cx="9220200" cy="9525"/>
          </a:xfrm>
          <a:prstGeom prst="rect">
            <a:avLst/>
          </a:prstGeom>
          <a:solidFill>
            <a:srgbClr val="E3DCD3"/>
          </a:solidFill>
          <a:ln/>
        </p:spPr>
        <p:txBody>
          <a:bodyPr/>
          <a:lstStyle/>
          <a:p>
            <a:endParaRPr lang="en-US"/>
          </a:p>
        </p:txBody>
      </p:sp>
      <p:pic>
        <p:nvPicPr>
          <p:cNvPr id="41" name="Benchmark International logo" descr="Benchmark International logo"/>
          <p:cNvPicPr>
            <a:picLocks noChangeAspect="1"/>
          </p:cNvPicPr>
          <p:nvPr/>
        </p:nvPicPr>
        <p:blipFill>
          <a:blip r:embed="rId8"/>
          <a:stretch>
            <a:fillRect/>
          </a:stretch>
        </p:blipFill>
        <p:spPr>
          <a:xfrm>
            <a:off x="419100" y="7143750"/>
            <a:ext cx="914400" cy="171450"/>
          </a:xfrm>
          <a:prstGeom prst="rect">
            <a:avLst/>
          </a:prstGeom>
        </p:spPr>
      </p:pic>
      <p:sp>
        <p:nvSpPr>
          <p:cNvPr id="42"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90" b="1" kern="0" spc="150" dirty="0">
                <a:solidFill>
                  <a:srgbClr val="1B1A1A"/>
                </a:solidFill>
                <a:latin typeface="Quicksand" pitchFamily="34" charset="0"/>
              </a:rPr>
              <a:t>16</a:t>
            </a:r>
            <a:endParaRPr lang="en-US" sz="79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Companies: Valuation Metrics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Median EV to EBITDA is higher than a year ago at four of six peer groups, led by electronics manufacturers at 17.4x against 12.1x.</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2962656" cy="4069080"/>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2962656" cy="27432"/>
          </a:xfrm>
          <a:prstGeom prst="rect">
            <a:avLst/>
          </a:prstGeom>
          <a:solidFill>
            <a:srgbClr val="B68757"/>
          </a:solidFill>
          <a:ln>
            <a:noFill/>
          </a:ln>
          <a:effectLst/>
        </p:spPr>
        <p:txBody>
          <a:bodyPr rtlCol="0" anchor="ctr"/>
          <a:lstStyle/>
          <a:p>
            <a:pPr algn="ctr"/>
            <a:endParaRPr/>
          </a:p>
        </p:txBody>
      </p:sp>
      <p:sp>
        <p:nvSpPr>
          <p:cNvPr id="9" name="CardTitle"/>
          <p:cNvSpPr txBox="1"/>
          <p:nvPr/>
        </p:nvSpPr>
        <p:spPr>
          <a:xfrm>
            <a:off x="594360" y="1426464"/>
            <a:ext cx="2688336"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enterprise value to revenue</a:t>
            </a:r>
          </a:p>
        </p:txBody>
      </p:sp>
      <p:sp>
        <p:nvSpPr>
          <p:cNvPr id="10" name="CardSub"/>
          <p:cNvSpPr txBox="1"/>
          <p:nvPr/>
        </p:nvSpPr>
        <p:spPr>
          <a:xfrm>
            <a:off x="594360" y="1591056"/>
            <a:ext cx="2688336"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Trailing twelve months</a:t>
            </a:r>
          </a:p>
        </p:txBody>
      </p:sp>
      <p:graphicFrame>
        <p:nvGraphicFramePr>
          <p:cNvPr id="11" name="Bar chart of median enterprise value to trailing revenue by " descr="Bar chart of median enterprise value to trailing revenue by focus area: Cybersecurity 9.9x, Telecom &amp; UCaaS 2.2x, Electronics &amp; Hardware 1.3x, Government Technology 1.2x, Managed IT &amp; Cloud 0.9x and Systems Integration 0.7x."/>
          <p:cNvGraphicFramePr>
            <a:graphicFrameLocks noGrp="1"/>
          </p:cNvGraphicFramePr>
          <p:nvPr/>
        </p:nvGraphicFramePr>
        <p:xfrm>
          <a:off x="502920" y="1874520"/>
          <a:ext cx="2779776" cy="3383280"/>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3547872" y="1280160"/>
            <a:ext cx="2962656" cy="4069080"/>
          </a:xfrm>
          <a:prstGeom prst="rect">
            <a:avLst/>
          </a:prstGeom>
          <a:solidFill>
            <a:srgbClr val="FAF7F3"/>
          </a:solidFill>
          <a:ln>
            <a:noFill/>
          </a:ln>
          <a:effectLst/>
        </p:spPr>
        <p:txBody>
          <a:bodyPr rtlCol="0" anchor="ctr"/>
          <a:lstStyle/>
          <a:p>
            <a:pPr algn="ctr"/>
            <a:endParaRPr/>
          </a:p>
        </p:txBody>
      </p:sp>
      <p:sp>
        <p:nvSpPr>
          <p:cNvPr id="13" name="Rule"/>
          <p:cNvSpPr/>
          <p:nvPr/>
        </p:nvSpPr>
        <p:spPr>
          <a:xfrm>
            <a:off x="3547872" y="1280160"/>
            <a:ext cx="2962656" cy="27432"/>
          </a:xfrm>
          <a:prstGeom prst="rect">
            <a:avLst/>
          </a:prstGeom>
          <a:solidFill>
            <a:srgbClr val="B68757"/>
          </a:solidFill>
          <a:ln>
            <a:noFill/>
          </a:ln>
          <a:effectLst/>
        </p:spPr>
        <p:txBody>
          <a:bodyPr rtlCol="0" anchor="ctr"/>
          <a:lstStyle/>
          <a:p>
            <a:pPr algn="ctr"/>
            <a:endParaRPr/>
          </a:p>
        </p:txBody>
      </p:sp>
      <p:sp>
        <p:nvSpPr>
          <p:cNvPr id="14" name="CardTitle"/>
          <p:cNvSpPr txBox="1"/>
          <p:nvPr/>
        </p:nvSpPr>
        <p:spPr>
          <a:xfrm>
            <a:off x="3721608" y="1426464"/>
            <a:ext cx="2688336"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enterprise value to EBITDA</a:t>
            </a:r>
          </a:p>
        </p:txBody>
      </p:sp>
      <p:sp>
        <p:nvSpPr>
          <p:cNvPr id="15" name="CardSub"/>
          <p:cNvSpPr txBox="1"/>
          <p:nvPr/>
        </p:nvSpPr>
        <p:spPr>
          <a:xfrm>
            <a:off x="3721608" y="1591056"/>
            <a:ext cx="2688336"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Trailing twelve months, today, and a year ago</a:t>
            </a:r>
          </a:p>
        </p:txBody>
      </p:sp>
      <p:graphicFrame>
        <p:nvGraphicFramePr>
          <p:cNvPr id="16" name="Paired bar chart of median enterprise value to EBITDA today " descr="Paired bar chart of median enterprise value to EBITDA today against a year ago: Managed IT &amp; Cloud 9.7x and 9.3x, Cybersecurity 22.0x and 20.9x, Telecom &amp; UCaaS 17.1x and 18.1x, Systems Integration 10.1x and 9.1x, Electronics &amp; Hardware 17.4x and 12.1x, Government Technology 10.8x and 12.8x."/>
          <p:cNvGraphicFramePr>
            <a:graphicFrameLocks noGrp="1"/>
          </p:cNvGraphicFramePr>
          <p:nvPr/>
        </p:nvGraphicFramePr>
        <p:xfrm>
          <a:off x="3630168" y="1874520"/>
          <a:ext cx="2779776"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17" name="Panel"/>
          <p:cNvSpPr/>
          <p:nvPr/>
        </p:nvSpPr>
        <p:spPr>
          <a:xfrm>
            <a:off x="6675120" y="1280160"/>
            <a:ext cx="2962656" cy="4069080"/>
          </a:xfrm>
          <a:prstGeom prst="rect">
            <a:avLst/>
          </a:prstGeom>
          <a:solidFill>
            <a:srgbClr val="FAF7F3"/>
          </a:solidFill>
          <a:ln>
            <a:noFill/>
          </a:ln>
          <a:effectLst/>
        </p:spPr>
        <p:txBody>
          <a:bodyPr rtlCol="0" anchor="ctr"/>
          <a:lstStyle/>
          <a:p>
            <a:pPr algn="ctr"/>
            <a:endParaRPr/>
          </a:p>
        </p:txBody>
      </p:sp>
      <p:sp>
        <p:nvSpPr>
          <p:cNvPr id="18" name="Rule"/>
          <p:cNvSpPr/>
          <p:nvPr/>
        </p:nvSpPr>
        <p:spPr>
          <a:xfrm>
            <a:off x="6675120" y="1280160"/>
            <a:ext cx="2962656" cy="27432"/>
          </a:xfrm>
          <a:prstGeom prst="rect">
            <a:avLst/>
          </a:prstGeom>
          <a:solidFill>
            <a:srgbClr val="B68757"/>
          </a:solidFill>
          <a:ln>
            <a:noFill/>
          </a:ln>
          <a:effectLst/>
        </p:spPr>
        <p:txBody>
          <a:bodyPr rtlCol="0" anchor="ctr"/>
          <a:lstStyle/>
          <a:p>
            <a:pPr algn="ctr"/>
            <a:endParaRPr/>
          </a:p>
        </p:txBody>
      </p:sp>
      <p:sp>
        <p:nvSpPr>
          <p:cNvPr id="19" name="CardTitle"/>
          <p:cNvSpPr txBox="1"/>
          <p:nvPr/>
        </p:nvSpPr>
        <p:spPr>
          <a:xfrm>
            <a:off x="6848856" y="1426464"/>
            <a:ext cx="2688336"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forward price to earnings</a:t>
            </a:r>
          </a:p>
        </p:txBody>
      </p:sp>
      <p:sp>
        <p:nvSpPr>
          <p:cNvPr id="20" name="CardSub"/>
          <p:cNvSpPr txBox="1"/>
          <p:nvPr/>
        </p:nvSpPr>
        <p:spPr>
          <a:xfrm>
            <a:off x="6848856" y="1591056"/>
            <a:ext cx="2688336"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Share price to consensus earnings for the next year</a:t>
            </a:r>
          </a:p>
        </p:txBody>
      </p:sp>
      <p:graphicFrame>
        <p:nvGraphicFramePr>
          <p:cNvPr id="21" name="Bar chart of median forward price to earnings by focus area:" descr="Bar chart of median forward price to earnings by focus area: Cybersecurity 32.4x, Electronics &amp; Hardware 17.9x, Systems Integration 17.7x, Telecom &amp; UCaaS 14.4x, Government Technology 13.0x and Managed IT &amp; Cloud 12.7x."/>
          <p:cNvGraphicFramePr>
            <a:graphicFrameLocks noGrp="1"/>
          </p:cNvGraphicFramePr>
          <p:nvPr/>
        </p:nvGraphicFramePr>
        <p:xfrm>
          <a:off x="6757416" y="1874520"/>
          <a:ext cx="2779776" cy="3383280"/>
        </p:xfrm>
        <a:graphic>
          <a:graphicData uri="http://schemas.openxmlformats.org/drawingml/2006/chart">
            <c:chart xmlns:c="http://schemas.openxmlformats.org/drawingml/2006/chart" xmlns:r="http://schemas.openxmlformats.org/officeDocument/2006/relationships" r:id="rId4"/>
          </a:graphicData>
        </a:graphic>
      </p:graphicFrame>
      <p:sp>
        <p:nvSpPr>
          <p:cNvPr id="22" name="Panel"/>
          <p:cNvSpPr/>
          <p:nvPr/>
        </p:nvSpPr>
        <p:spPr>
          <a:xfrm>
            <a:off x="420624" y="5486400"/>
            <a:ext cx="9217152" cy="1417320"/>
          </a:xfrm>
          <a:prstGeom prst="rect">
            <a:avLst/>
          </a:prstGeom>
          <a:solidFill>
            <a:srgbClr val="1B1A1A"/>
          </a:solidFill>
          <a:ln>
            <a:noFill/>
          </a:ln>
          <a:effectLst/>
        </p:spPr>
        <p:txBody>
          <a:bodyPr rtlCol="0" anchor="ctr"/>
          <a:lstStyle/>
          <a:p>
            <a:pPr algn="ctr"/>
            <a:endParaRPr/>
          </a:p>
        </p:txBody>
      </p:sp>
      <p:sp>
        <p:nvSpPr>
          <p:cNvPr id="23" name="Label"/>
          <p:cNvSpPr txBox="1"/>
          <p:nvPr/>
        </p:nvSpPr>
        <p:spPr>
          <a:xfrm>
            <a:off x="640080" y="5605272"/>
            <a:ext cx="2743200" cy="128016"/>
          </a:xfrm>
          <a:prstGeom prst="rect">
            <a:avLst/>
          </a:prstGeom>
          <a:noFill/>
        </p:spPr>
        <p:txBody>
          <a:bodyPr wrap="square" lIns="0" tIns="0" rIns="0" bIns="0" anchor="t">
            <a:noAutofit/>
          </a:bodyPr>
          <a:lstStyle/>
          <a:p>
            <a:pPr algn="l">
              <a:lnSpc>
                <a:spcPts val="1042"/>
              </a:lnSpc>
              <a:spcBef>
                <a:spcPts val="0"/>
              </a:spcBef>
              <a:spcAft>
                <a:spcPts val="0"/>
              </a:spcAft>
            </a:pPr>
            <a:r>
              <a:rPr sz="790" b="1" i="0" spc="180">
                <a:solidFill>
                  <a:srgbClr val="D3AE84"/>
                </a:solidFill>
                <a:latin typeface="Quicksand"/>
              </a:rPr>
              <a:t>DEAL MULTIPLES FOR REFERENCE</a:t>
            </a:r>
          </a:p>
        </p:txBody>
      </p:sp>
      <p:sp>
        <p:nvSpPr>
          <p:cNvPr id="24" name="TextBox"/>
          <p:cNvSpPr txBox="1"/>
          <p:nvPr/>
        </p:nvSpPr>
        <p:spPr>
          <a:xfrm>
            <a:off x="64008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12.5x</a:t>
            </a:r>
          </a:p>
        </p:txBody>
      </p:sp>
      <p:sp>
        <p:nvSpPr>
          <p:cNvPr id="25" name="TextBox"/>
          <p:cNvSpPr txBox="1"/>
          <p:nvPr/>
        </p:nvSpPr>
        <p:spPr>
          <a:xfrm>
            <a:off x="64008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median EV to EBITDA on US buyouts closed in 2025 (PitchBook, StepStone SPI)</a:t>
            </a:r>
          </a:p>
        </p:txBody>
      </p:sp>
      <p:sp>
        <p:nvSpPr>
          <p:cNvPr id="26" name="TextBox"/>
          <p:cNvSpPr txBox="1"/>
          <p:nvPr/>
        </p:nvSpPr>
        <p:spPr>
          <a:xfrm>
            <a:off x="288036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10.3x</a:t>
            </a:r>
          </a:p>
        </p:txBody>
      </p:sp>
      <p:sp>
        <p:nvSpPr>
          <p:cNvPr id="27" name="TextBox"/>
          <p:cNvSpPr txBox="1"/>
          <p:nvPr/>
        </p:nvSpPr>
        <p:spPr>
          <a:xfrm>
            <a:off x="288036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expected FY2027 adjusted EBITDA: TTM Technologies for the Ophir Optics business, as stated by TTM</a:t>
            </a:r>
          </a:p>
        </p:txBody>
      </p:sp>
      <p:sp>
        <p:nvSpPr>
          <p:cNvPr id="28" name="TextBox"/>
          <p:cNvSpPr txBox="1"/>
          <p:nvPr/>
        </p:nvSpPr>
        <p:spPr>
          <a:xfrm>
            <a:off x="512064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9.1x</a:t>
            </a:r>
          </a:p>
        </p:txBody>
      </p:sp>
      <p:sp>
        <p:nvSpPr>
          <p:cNvPr id="29" name="TextBox"/>
          <p:cNvSpPr txBox="1"/>
          <p:nvPr/>
        </p:nvSpPr>
        <p:spPr>
          <a:xfrm>
            <a:off x="512064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trailing EBITDA to March 2026: Persistent Systems for Nagarro, as reported</a:t>
            </a:r>
          </a:p>
        </p:txBody>
      </p:sp>
      <p:sp>
        <p:nvSpPr>
          <p:cNvPr id="30" name="TextBox"/>
          <p:cNvSpPr txBox="1"/>
          <p:nvPr/>
        </p:nvSpPr>
        <p:spPr>
          <a:xfrm>
            <a:off x="736092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7.0x</a:t>
            </a:r>
          </a:p>
        </p:txBody>
      </p:sp>
      <p:sp>
        <p:nvSpPr>
          <p:cNvPr id="31" name="TextBox"/>
          <p:cNvSpPr txBox="1"/>
          <p:nvPr/>
        </p:nvSpPr>
        <p:spPr>
          <a:xfrm>
            <a:off x="736092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average EBITDA multiple, GF Data middle-market deals, all industries, Q2 2026 (Mercer Capital)</a:t>
            </a:r>
          </a:p>
        </p:txBody>
      </p:sp>
      <p:sp>
        <p:nvSpPr>
          <p:cNvPr id="32" name="TextBox 77"/>
          <p:cNvSpPr txBox="1"/>
          <p:nvPr/>
        </p:nvSpPr>
        <p:spPr>
          <a:xfrm>
            <a:off x="1549649" y="7170205"/>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dirty="0">
                <a:solidFill>
                  <a:srgbClr val="6F6A66"/>
                </a:solidFill>
                <a:latin typeface="Quicksand"/>
              </a:rPr>
              <a:t>Medians by peer group, which can move with one or two companies in a group of nine or fewer. Source: </a:t>
            </a:r>
            <a:r>
              <a:rPr sz="790" b="0" i="0" spc="8" dirty="0" err="1">
                <a:solidFill>
                  <a:srgbClr val="6F6A66"/>
                </a:solidFill>
                <a:latin typeface="Quicksand"/>
              </a:rPr>
              <a:t>StockAnalysis</a:t>
            </a:r>
            <a:r>
              <a:rPr sz="790" b="0" i="0" spc="8" dirty="0">
                <a:solidFill>
                  <a:srgbClr val="6F6A66"/>
                </a:solidFill>
                <a:latin typeface="Quicksand"/>
              </a:rPr>
              <a:t>, retrieved October 8 to 19, 2026. Multiples use reported EBITDA including stock compensation, and Cybersecurity EV to EBITDA rests on three of eight companies because the others are negative or above 60x; the year-ago multiple is the reading at the quarter-end nearest September 30, 2025, and the TDS reading is excluded because its enterprise value then included debt retired in the </a:t>
            </a:r>
            <a:r>
              <a:rPr sz="790" b="0" i="0" spc="8" dirty="0" err="1">
                <a:solidFill>
                  <a:srgbClr val="6F6A66"/>
                </a:solidFill>
                <a:latin typeface="Quicksand"/>
              </a:rPr>
              <a:t>UScellular</a:t>
            </a:r>
            <a:r>
              <a:rPr sz="790" b="0" i="0" spc="8" dirty="0">
                <a:solidFill>
                  <a:srgbClr val="6F6A66"/>
                </a:solidFill>
                <a:latin typeface="Quicksand"/>
              </a:rPr>
              <a:t> sale.</a:t>
            </a:r>
          </a:p>
        </p:txBody>
      </p:sp>
      <p:sp>
        <p:nvSpPr>
          <p:cNvPr id="33"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34"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35" name="Shape 9"/>
          <p:cNvSpPr/>
          <p:nvPr/>
        </p:nvSpPr>
        <p:spPr>
          <a:xfrm>
            <a:off x="419100" y="7029450"/>
            <a:ext cx="9220200" cy="9525"/>
          </a:xfrm>
          <a:prstGeom prst="rect">
            <a:avLst/>
          </a:prstGeom>
          <a:solidFill>
            <a:srgbClr val="E3DCD3"/>
          </a:solidFill>
          <a:ln/>
        </p:spPr>
        <p:txBody>
          <a:bodyPr/>
          <a:lstStyle/>
          <a:p>
            <a:endParaRPr lang="en-US"/>
          </a:p>
        </p:txBody>
      </p:sp>
      <p:pic>
        <p:nvPicPr>
          <p:cNvPr id="36" name="Benchmark International logo" descr="Benchmark International logo"/>
          <p:cNvPicPr>
            <a:picLocks noChangeAspect="1"/>
          </p:cNvPicPr>
          <p:nvPr/>
        </p:nvPicPr>
        <p:blipFill>
          <a:blip r:embed="rId5"/>
          <a:stretch>
            <a:fillRect/>
          </a:stretch>
        </p:blipFill>
        <p:spPr>
          <a:xfrm>
            <a:off x="419100" y="7143750"/>
            <a:ext cx="914400" cy="171450"/>
          </a:xfrm>
          <a:prstGeom prst="rect">
            <a:avLst/>
          </a:prstGeom>
        </p:spPr>
      </p:pic>
      <p:sp>
        <p:nvSpPr>
          <p:cNvPr id="37"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17</a:t>
            </a:r>
            <a:endParaRPr lang="en-US" sz="81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Company Metrics: Managed IT and Cybersecurity</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85" b="0" i="0" spc="15">
                <a:solidFill>
                  <a:srgbClr val="6F6A66"/>
                </a:solidFill>
                <a:latin typeface="Quicksand"/>
              </a:rPr>
              <a:t>Managed IT and cloud companies trade at a median 9.7x EBITDA, while security software trades at a median 9.9x revenue.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graphicFrame>
        <p:nvGraphicFramePr>
          <p:cNvPr id="7" name="Table of public company metrics for Managed IT &amp; Cloud and C" descr="Table of public company metrics for Managed IT &amp; Cloud and Cybersecurity companies, with market capitalization, enterprise value, share price change, valuation multiples, growth and margins."/>
          <p:cNvGraphicFramePr>
            <a:graphicFrameLocks noGrp="1"/>
          </p:cNvGraphicFramePr>
          <p:nvPr/>
        </p:nvGraphicFramePr>
        <p:xfrm>
          <a:off x="420624" y="1298448"/>
          <a:ext cx="9217157" cy="5457444"/>
        </p:xfrm>
        <a:graphic>
          <a:graphicData uri="http://schemas.openxmlformats.org/drawingml/2006/table">
            <a:tbl>
              <a:tblPr/>
              <a:tblGrid>
                <a:gridCol w="1600200"/>
                <a:gridCol w="457200"/>
                <a:gridCol w="650887"/>
                <a:gridCol w="650887"/>
                <a:gridCol w="650887"/>
                <a:gridCol w="650887"/>
                <a:gridCol w="650887"/>
                <a:gridCol w="650887"/>
                <a:gridCol w="650887"/>
                <a:gridCol w="650887"/>
                <a:gridCol w="650887"/>
                <a:gridCol w="650887"/>
                <a:gridCol w="650887"/>
              </a:tblGrid>
              <a:tr h="402336">
                <a:tc>
                  <a:txBody>
                    <a:bodyPr/>
                    <a:lstStyle/>
                    <a:p>
                      <a:pPr algn="l"/>
                      <a:r>
                        <a:rPr sz="650" b="1" i="0">
                          <a:solidFill>
                            <a:srgbClr val="8C6239"/>
                          </a:solidFill>
                          <a:latin typeface="Quicksand"/>
                        </a:rPr>
                        <a:t>COMPANY</a:t>
                      </a:r>
                    </a:p>
                  </a:txBody>
                  <a:tcPr marL="36576" marR="36576" marT="13716" marB="13716" anchor="ctr">
                    <a:lnL w="0">
                      <a:noFill/>
                    </a:lnL>
                    <a:lnR w="0">
                      <a:noFill/>
                    </a:lnR>
                    <a:lnT w="0">
                      <a:noFill/>
                    </a:lnT>
                    <a:lnB w="15875">
                      <a:solidFill>
                        <a:srgbClr val="B68757"/>
                      </a:solidFill>
                    </a:lnB>
                    <a:noFill/>
                  </a:tcPr>
                </a:tc>
                <a:tc>
                  <a:txBody>
                    <a:bodyPr/>
                    <a:lstStyle/>
                    <a:p>
                      <a:pPr algn="l"/>
                      <a:r>
                        <a:rPr sz="650" b="1" i="0">
                          <a:solidFill>
                            <a:srgbClr val="8C6239"/>
                          </a:solidFill>
                          <a:latin typeface="Quicksand"/>
                        </a:rPr>
                        <a:t>TICKER</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MARKET CAP ($B)</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ENTERPRISE VALUE ($B)</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SHARE PRICE, 52 WEEKS</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EV / REVENUE</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EV / EBITDA TODAY</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EV / EBITDA A YEAR AGO</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FORWARD P/E</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REVENUE GROWTH, TRAILING</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EBITDA MARGIN</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REVENUE GROWTH, CURRENT YEAR EST.</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EBITDA GROWTH, LATEST FISCAL YR</a:t>
                      </a:r>
                    </a:p>
                  </a:txBody>
                  <a:tcPr marL="36576" marR="36576" marT="13716" marB="13716" anchor="ctr">
                    <a:lnL w="0">
                      <a:noFill/>
                    </a:lnL>
                    <a:lnR w="0">
                      <a:noFill/>
                    </a:lnR>
                    <a:lnT w="0">
                      <a:noFill/>
                    </a:lnT>
                    <a:lnB w="15875">
                      <a:solidFill>
                        <a:srgbClr val="B68757"/>
                      </a:solidFill>
                    </a:lnB>
                    <a:noFill/>
                  </a:tcPr>
                </a:tc>
              </a:tr>
              <a:tr h="233172">
                <a:tc gridSpan="13">
                  <a:txBody>
                    <a:bodyPr/>
                    <a:lstStyle/>
                    <a:p>
                      <a:pPr algn="l"/>
                      <a:r>
                        <a:rPr sz="715" b="1" i="0">
                          <a:solidFill>
                            <a:srgbClr val="8C6239"/>
                          </a:solidFill>
                          <a:latin typeface="Quicksand"/>
                        </a:rPr>
                        <a:t>MANAGED IT &amp; CLOUD</a:t>
                      </a:r>
                    </a:p>
                  </a:txBody>
                  <a:tcPr marL="36576" marR="36576" marT="13716" marB="13716" anchor="ctr">
                    <a:lnL w="0">
                      <a:noFill/>
                    </a:lnL>
                    <a:lnR w="0">
                      <a:noFill/>
                    </a:lnR>
                    <a:lnT w="15875" cap="flat" cmpd="sng" algn="ctr">
                      <a:solidFill>
                        <a:srgbClr val="B68757"/>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785" b="1" i="0">
                          <a:solidFill>
                            <a:srgbClr val="1B1A1A"/>
                          </a:solidFill>
                          <a:latin typeface="Quicksand"/>
                        </a:rPr>
                        <a:t>CDW</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CDW</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18.8</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24.9</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+1.1%</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1.06x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12.4x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13.5x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13.2x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+7.4%</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8.6%</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+8.1%</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+0.8%</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785" b="1" i="0">
                          <a:solidFill>
                            <a:srgbClr val="1B1A1A"/>
                          </a:solidFill>
                          <a:latin typeface="Quicksand"/>
                        </a:rPr>
                        <a:t>Insight Enterprises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NSIT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0.71x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ePlus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PLUS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+33.2%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0.86x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17.2x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+16.2%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PC Connection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CNXN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0.69x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15.3x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21.9x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Kyndryl</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KD</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DXC Technology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DXC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0.35x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Accenture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ACN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140.5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16.1x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+15.1%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Cognizant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CTSH</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8.5x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EPAM Systems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EPAM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0.86x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9.3x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12.7x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+4.4%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r h="233172">
                <a:tc gridSpan="13">
                  <a:txBody>
                    <a:bodyPr/>
                    <a:lstStyle/>
                    <a:p>
                      <a:pPr algn="l"/>
                      <a:r>
                        <a:rPr sz="715" b="1" i="0">
                          <a:solidFill>
                            <a:srgbClr val="8C6239"/>
                          </a:solidFill>
                          <a:latin typeface="Quicksand"/>
                        </a:rPr>
                        <a:t>CYBERSECURITY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785" b="1" i="0">
                          <a:solidFill>
                            <a:srgbClr val="1B1A1A"/>
                          </a:solidFill>
                          <a:latin typeface="Quicksand"/>
                        </a:rPr>
                        <a:t>CrowdStrike</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CRWD</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234.0</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229.8</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+89.0%</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43.05x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+24.3%</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2.0%</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+24.8%</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785" b="1" i="0">
                          <a:solidFill>
                            <a:srgbClr val="1B1A1A"/>
                          </a:solidFill>
                          <a:latin typeface="Quicksand"/>
                        </a:rPr>
                        <a:t>Palo Alto Networks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PANW</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284.0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Fortinet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FTNT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126.2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16.02x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46.5x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49.0x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Zscaler</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ZS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33.1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9.83x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42.2x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+25.4%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Okta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OKTA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9.92x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45.9x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Tenable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TENB</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+26.4%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+119.8%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Qualys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QLYS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7.99x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22.0x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22.5x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36.2%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Check Point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CHKP</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−27.5%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4.29x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+54.3%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9.88x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22.0x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20.9x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32.4x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+13.9%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bl>
          </a:graphicData>
        </a:graphic>
      </p:graphicFrame>
      <p:sp>
        <p:nvSpPr>
          <p:cNvPr id="8"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35"/>
              </a:lnSpc>
              <a:spcBef>
                <a:spcPts val="0"/>
              </a:spcBef>
              <a:spcAft>
                <a:spcPts val="0"/>
              </a:spcAft>
            </a:pPr>
            <a:r>
              <a:rPr sz="745" b="0" i="0" spc="8">
                <a:solidFill>
                  <a:srgbClr val="6F6A66"/>
                </a:solidFill>
                <a:latin typeface="Quicksand"/>
              </a:rPr>
              <a:t>Source: StockAnalysis, retrieved October 8 to 19, 2026; share prices are dated October 12 to 19. Multiples and margins use reported trailing EBITDA, which includes stock compensation expense, and EBITDA growth compares the latest completed fiscal year with the year before. n.m. marks a figure that is negative, above 60x, or off a very small base and is left out of the median; n.a. is not available. Year-ago multiples are the reading at the quarter-end nearest September 30, 2025 (June 30, 2025 for Computacenter, which reports half-yearly). KD (Kyndryl) and DXC report EBITDA after large depreciation and amortization, and PANW growth includes the CyberArk acquisition.</a:t>
            </a:r>
          </a:p>
        </p:txBody>
      </p:sp>
      <p:sp>
        <p:nvSpPr>
          <p:cNvPr id="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45" b="1" kern="0" spc="195" dirty="0">
                <a:solidFill>
                  <a:srgbClr val="8C6239"/>
                </a:solidFill>
                <a:latin typeface="Quicksand" pitchFamily="34" charset="0"/>
              </a:rPr>
              <a:t>TECHNOLOGY  |  QUARTERLY INDUSTRY REPORT</a:t>
            </a:r>
            <a:endParaRPr lang="en-US" sz="745" dirty="0"/>
          </a:p>
        </p:txBody>
      </p:sp>
      <p:sp>
        <p:nvSpPr>
          <p:cNvPr id="1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45" kern="0" spc="90" dirty="0">
                <a:solidFill>
                  <a:srgbClr val="6F6A66"/>
                </a:solidFill>
                <a:latin typeface="Cinzel" pitchFamily="34" charset="0"/>
              </a:rPr>
              <a:t>Q4 2026</a:t>
            </a:r>
            <a:endParaRPr lang="en-US" sz="945" dirty="0"/>
          </a:p>
        </p:txBody>
      </p:sp>
      <p:sp>
        <p:nvSpPr>
          <p:cNvPr id="11" name="Shape 9"/>
          <p:cNvSpPr/>
          <p:nvPr/>
        </p:nvSpPr>
        <p:spPr>
          <a:xfrm>
            <a:off x="419100" y="7029450"/>
            <a:ext cx="9220200" cy="9525"/>
          </a:xfrm>
          <a:prstGeom prst="rect">
            <a:avLst/>
          </a:prstGeom>
          <a:solidFill>
            <a:srgbClr val="E3DCD3"/>
          </a:solidFill>
          <a:ln/>
        </p:spPr>
        <p:txBody>
          <a:bodyPr/>
          <a:lstStyle/>
          <a:p>
            <a:endParaRPr lang="en-US"/>
          </a:p>
        </p:txBody>
      </p:sp>
      <p:pic>
        <p:nvPicPr>
          <p:cNvPr id="12"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75" b="1" kern="0" spc="150" dirty="0">
                <a:solidFill>
                  <a:srgbClr val="1B1A1A"/>
                </a:solidFill>
                <a:latin typeface="Quicksand" pitchFamily="34" charset="0"/>
              </a:rPr>
              <a:t>18</a:t>
            </a:r>
            <a:endParaRPr lang="en-US" sz="7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Company Metrics: Telecom and Systems Integration</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00" b="0" i="0" spc="15">
                <a:solidFill>
                  <a:srgbClr val="6F6A66"/>
                </a:solidFill>
                <a:latin typeface="Quicksand"/>
              </a:rPr>
              <a:t>Telecom and UCaaS providers trade at a median 17.1x EBITDA, down from 18.1x a year ago, and integrators grew revenue a median 11.4%.</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graphicFrame>
        <p:nvGraphicFramePr>
          <p:cNvPr id="7" name="Table of public company metrics for Telecom &amp; UCaaS and Syst" descr="Table of public company metrics for Telecom &amp; UCaaS and Systems Integration companies, with market capitalization, enterprise value, share price change, valuation multiples, growth and margins."/>
          <p:cNvGraphicFramePr>
            <a:graphicFrameLocks noGrp="1"/>
          </p:cNvGraphicFramePr>
          <p:nvPr/>
        </p:nvGraphicFramePr>
        <p:xfrm>
          <a:off x="420624" y="1298448"/>
          <a:ext cx="9217157" cy="5705856"/>
        </p:xfrm>
        <a:graphic>
          <a:graphicData uri="http://schemas.openxmlformats.org/drawingml/2006/table">
            <a:tbl>
              <a:tblPr/>
              <a:tblGrid>
                <a:gridCol w="1600200"/>
                <a:gridCol w="457200"/>
                <a:gridCol w="650887"/>
                <a:gridCol w="650887"/>
                <a:gridCol w="650887"/>
                <a:gridCol w="650887"/>
                <a:gridCol w="650887"/>
                <a:gridCol w="650887"/>
                <a:gridCol w="650887"/>
                <a:gridCol w="650887"/>
                <a:gridCol w="650887"/>
                <a:gridCol w="650887"/>
                <a:gridCol w="650887"/>
              </a:tblGrid>
              <a:tr h="402336">
                <a:tc>
                  <a:txBody>
                    <a:bodyPr/>
                    <a:lstStyle/>
                    <a:p>
                      <a:pPr algn="l"/>
                      <a:r>
                        <a:rPr sz="675" b="1" i="0">
                          <a:solidFill>
                            <a:srgbClr val="8C6239"/>
                          </a:solidFill>
                          <a:latin typeface="Quicksand"/>
                        </a:rPr>
                        <a:t>COMPANY</a:t>
                      </a:r>
                    </a:p>
                  </a:txBody>
                  <a:tcPr marL="36576" marR="36576" marT="13716" marB="13716" anchor="ctr">
                    <a:lnL w="0">
                      <a:noFill/>
                    </a:lnL>
                    <a:lnR w="0">
                      <a:noFill/>
                    </a:lnR>
                    <a:lnT w="0">
                      <a:noFill/>
                    </a:lnT>
                    <a:lnB w="15875">
                      <a:solidFill>
                        <a:srgbClr val="B68757"/>
                      </a:solidFill>
                    </a:lnB>
                    <a:noFill/>
                  </a:tcPr>
                </a:tc>
                <a:tc>
                  <a:txBody>
                    <a:bodyPr/>
                    <a:lstStyle/>
                    <a:p>
                      <a:pPr algn="l"/>
                      <a:r>
                        <a:rPr sz="675" b="1" i="0">
                          <a:solidFill>
                            <a:srgbClr val="8C6239"/>
                          </a:solidFill>
                          <a:latin typeface="Quicksand"/>
                        </a:rPr>
                        <a:t>TICKER</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MARKET CAP ($B)</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ENTERPRISE VALUE ($B)</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SHARE PRICE, 52 WEEKS</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EV / REVENUE</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EV / EBITDA TODAY</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EV / EBITDA A YEAR AGO</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FORWARD P/E</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REVENUE GROWTH, TRAILING</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EBITDA MARGIN</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REVENUE GROWTH, CURRENT YEAR EST.</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EBITDA GROWTH, LATEST FISCAL YR</a:t>
                      </a:r>
                    </a:p>
                  </a:txBody>
                  <a:tcPr marL="36576" marR="36576" marT="13716" marB="13716" anchor="ctr">
                    <a:lnL w="0">
                      <a:noFill/>
                    </a:lnL>
                    <a:lnR w="0">
                      <a:noFill/>
                    </a:lnR>
                    <a:lnT w="0">
                      <a:noFill/>
                    </a:lnT>
                    <a:lnB w="15875">
                      <a:solidFill>
                        <a:srgbClr val="B68757"/>
                      </a:solidFill>
                    </a:lnB>
                    <a:noFill/>
                  </a:tcPr>
                </a:tc>
              </a:tr>
              <a:tr h="233172">
                <a:tc gridSpan="13">
                  <a:txBody>
                    <a:bodyPr/>
                    <a:lstStyle/>
                    <a:p>
                      <a:pPr algn="l"/>
                      <a:r>
                        <a:rPr sz="740" b="1" i="0">
                          <a:solidFill>
                            <a:srgbClr val="8C6239"/>
                          </a:solidFill>
                          <a:latin typeface="Quicksand"/>
                        </a:rPr>
                        <a:t>TELECOM &amp; UCAAS</a:t>
                      </a:r>
                    </a:p>
                  </a:txBody>
                  <a:tcPr marL="36576" marR="36576" marT="13716" marB="13716" anchor="ctr">
                    <a:lnL w="0">
                      <a:noFill/>
                    </a:lnL>
                    <a:lnR w="0">
                      <a:noFill/>
                    </a:lnR>
                    <a:lnT w="15875" cap="flat" cmpd="sng" algn="ctr">
                      <a:solidFill>
                        <a:srgbClr val="B68757"/>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05" b="1" i="0">
                          <a:solidFill>
                            <a:srgbClr val="1B1A1A"/>
                          </a:solidFill>
                          <a:latin typeface="Quicksand"/>
                        </a:rPr>
                        <a:t>RingCentral</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RNG</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6.3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7.3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+182.8%</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2.85x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17.7x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11.9x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14.3x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+5.2%</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16.0%</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+50.9%</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05" b="1" i="0">
                          <a:solidFill>
                            <a:srgbClr val="1B1A1A"/>
                          </a:solidFill>
                          <a:latin typeface="Quicksand"/>
                        </a:rPr>
                        <a:t>8x8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EGHT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Zoom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ZM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14.9x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26.7%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Five9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FIVN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Bandwidth</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BAND</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+180.7%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43.9x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23.2x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Ooma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OOMA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22.0x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14.5x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Crexendo</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CXDO</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+68.4%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Shenandoah Telecom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SHEN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3.49x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+55.1%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TDS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TDS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2.35x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+21.7%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2.16x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17.1x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18.1x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14.4x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+36.0%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r h="233172">
                <a:tc gridSpan="13">
                  <a:txBody>
                    <a:bodyPr/>
                    <a:lstStyle/>
                    <a:p>
                      <a:pPr algn="l"/>
                      <a:r>
                        <a:rPr sz="740" b="1" i="0">
                          <a:solidFill>
                            <a:srgbClr val="8C6239"/>
                          </a:solidFill>
                          <a:latin typeface="Quicksand"/>
                        </a:rPr>
                        <a:t>SYSTEMS INTEGRATION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05" b="1" i="0">
                          <a:solidFill>
                            <a:srgbClr val="1B1A1A"/>
                          </a:solidFill>
                          <a:latin typeface="Quicksand"/>
                        </a:rPr>
                        <a:t>Wesco</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WCC</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16.8</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22.7</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+55.8%</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0.90x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14.2x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11.4x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18.7x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+12.5%</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6.3%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05" b="1" i="0">
                          <a:solidFill>
                            <a:srgbClr val="1B1A1A"/>
                          </a:solidFill>
                          <a:latin typeface="Quicksand"/>
                        </a:rPr>
                        <a:t>ScanSource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SCSC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Climb Global</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CLMB</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0.78x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14.5x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+23.1%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TD SYNNEX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SNX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0.33x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Unisys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UIS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−39.5%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0.31x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Napco Security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NSSC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5.65x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Computacenter</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CCC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+99.5%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Bechtle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BC8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ADT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ADT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0.73x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10.1x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bl>
          </a:graphicData>
        </a:graphic>
      </p:graphicFrame>
      <p:sp>
        <p:nvSpPr>
          <p:cNvPr id="8" name="TextBox 77"/>
          <p:cNvSpPr txBox="1"/>
          <p:nvPr/>
        </p:nvSpPr>
        <p:spPr>
          <a:xfrm>
            <a:off x="1543050" y="7091172"/>
            <a:ext cx="7810500" cy="223838"/>
          </a:xfrm>
          <a:prstGeom prst="rect">
            <a:avLst/>
          </a:prstGeom>
          <a:noFill/>
        </p:spPr>
        <p:txBody>
          <a:bodyPr wrap="square" lIns="0" tIns="0" rIns="0" bIns="0" anchor="t">
            <a:noAutofit/>
          </a:bodyPr>
          <a:lstStyle/>
          <a:p>
            <a:pPr algn="l">
              <a:lnSpc>
                <a:spcPts val="1063"/>
              </a:lnSpc>
              <a:spcBef>
                <a:spcPts val="0"/>
              </a:spcBef>
              <a:spcAft>
                <a:spcPts val="0"/>
              </a:spcAft>
            </a:pPr>
            <a:r>
              <a:rPr sz="765" b="0" i="0" spc="8">
                <a:solidFill>
                  <a:srgbClr val="6F6A66"/>
                </a:solidFill>
                <a:latin typeface="Quicksand"/>
              </a:rPr>
              <a:t>Source: StockAnalysis, retrieved October 8 to 19, 2026; share prices are dated October 12 to 19. Multiples and margins use reported trailing EBITDA, which includes stock compensation expense, and EBITDA growth compares the latest completed fiscal year with the year before. n.m. marks a figure that is negative, above 60x, or off a very small base and is left out of the median; n.a. is not available. Year-ago multiples are the reading at the quarter-end nearest September 30, 2025 (June 30, 2025 for Computacenter, which reports half-yearly). TDS sold UScellular in August 2025, so its year-ago multiple is not comparable. Computacenter growth is trailing twelve months built from half-year reports and likely reflects a change in how it reports revenue and acquisitions. Bechtle EBITDA growth is not available because the source history is inconsistent.</a:t>
            </a:r>
          </a:p>
        </p:txBody>
      </p:sp>
      <p:sp>
        <p:nvSpPr>
          <p:cNvPr id="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65" b="1" kern="0" spc="195" dirty="0">
                <a:solidFill>
                  <a:srgbClr val="8C6239"/>
                </a:solidFill>
                <a:latin typeface="Quicksand" pitchFamily="34" charset="0"/>
              </a:rPr>
              <a:t>TECHNOLOGY  |  QUARTERLY INDUSTRY REPORT</a:t>
            </a:r>
            <a:endParaRPr lang="en-US" sz="765" dirty="0"/>
          </a:p>
        </p:txBody>
      </p:sp>
      <p:sp>
        <p:nvSpPr>
          <p:cNvPr id="1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60" kern="0" spc="90" dirty="0">
                <a:solidFill>
                  <a:srgbClr val="6F6A66"/>
                </a:solidFill>
                <a:latin typeface="Cinzel" pitchFamily="34" charset="0"/>
              </a:rPr>
              <a:t>Q4 2026</a:t>
            </a:r>
            <a:endParaRPr lang="en-US" sz="960" dirty="0"/>
          </a:p>
        </p:txBody>
      </p:sp>
      <p:sp>
        <p:nvSpPr>
          <p:cNvPr id="11" name="Shape 9"/>
          <p:cNvSpPr/>
          <p:nvPr/>
        </p:nvSpPr>
        <p:spPr>
          <a:xfrm>
            <a:off x="419100" y="7029450"/>
            <a:ext cx="9220200" cy="9525"/>
          </a:xfrm>
          <a:prstGeom prst="rect">
            <a:avLst/>
          </a:prstGeom>
          <a:solidFill>
            <a:srgbClr val="E3DCD3"/>
          </a:solidFill>
          <a:ln/>
        </p:spPr>
        <p:txBody>
          <a:bodyPr/>
          <a:lstStyle/>
          <a:p>
            <a:endParaRPr lang="en-US"/>
          </a:p>
        </p:txBody>
      </p:sp>
      <p:pic>
        <p:nvPicPr>
          <p:cNvPr id="12"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95" b="1" kern="0" spc="150" dirty="0">
                <a:solidFill>
                  <a:srgbClr val="1B1A1A"/>
                </a:solidFill>
                <a:latin typeface="Quicksand" pitchFamily="34" charset="0"/>
              </a:rPr>
              <a:t>19</a:t>
            </a:r>
            <a:endParaRPr lang="en-US" sz="79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Company Metrics: Electronics and Government Technology</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Electronics manufacturers rose a median 42% and trade at 17.4x EBITDA, against government contractors that fell 23% and trade at 10.8x.</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graphicFrame>
        <p:nvGraphicFramePr>
          <p:cNvPr id="7" name="Table of public company metrics for Electronics &amp; Hardware a" descr="Table of public company metrics for Electronics &amp; Hardware and Government Technology companies, with market capitalization, enterprise value, share price change, valuation multiples, growth and margins."/>
          <p:cNvGraphicFramePr>
            <a:graphicFrameLocks noGrp="1"/>
          </p:cNvGraphicFramePr>
          <p:nvPr/>
        </p:nvGraphicFramePr>
        <p:xfrm>
          <a:off x="420624" y="1298448"/>
          <a:ext cx="9217157" cy="5254752"/>
        </p:xfrm>
        <a:graphic>
          <a:graphicData uri="http://schemas.openxmlformats.org/drawingml/2006/table">
            <a:tbl>
              <a:tblPr/>
              <a:tblGrid>
                <a:gridCol w="1600200"/>
                <a:gridCol w="457200"/>
                <a:gridCol w="650887"/>
                <a:gridCol w="650887"/>
                <a:gridCol w="650887"/>
                <a:gridCol w="650887"/>
                <a:gridCol w="650887"/>
                <a:gridCol w="650887"/>
                <a:gridCol w="650887"/>
                <a:gridCol w="650887"/>
                <a:gridCol w="650887"/>
                <a:gridCol w="650887"/>
                <a:gridCol w="650887"/>
              </a:tblGrid>
              <a:tr h="402336">
                <a:tc>
                  <a:txBody>
                    <a:bodyPr/>
                    <a:lstStyle/>
                    <a:p>
                      <a:pPr algn="l"/>
                      <a:r>
                        <a:rPr sz="700" b="1" i="0">
                          <a:solidFill>
                            <a:srgbClr val="8C6239"/>
                          </a:solidFill>
                          <a:latin typeface="Quicksand"/>
                        </a:rPr>
                        <a:t>COMPANY</a:t>
                      </a:r>
                    </a:p>
                  </a:txBody>
                  <a:tcPr marL="36576" marR="36576" marT="13716" marB="13716" anchor="ctr">
                    <a:lnL w="0">
                      <a:noFill/>
                    </a:lnL>
                    <a:lnR w="0">
                      <a:noFill/>
                    </a:lnR>
                    <a:lnT w="0">
                      <a:noFill/>
                    </a:lnT>
                    <a:lnB w="15875">
                      <a:solidFill>
                        <a:srgbClr val="B68757"/>
                      </a:solidFill>
                    </a:lnB>
                    <a:noFill/>
                  </a:tcPr>
                </a:tc>
                <a:tc>
                  <a:txBody>
                    <a:bodyPr/>
                    <a:lstStyle/>
                    <a:p>
                      <a:pPr algn="l"/>
                      <a:r>
                        <a:rPr sz="700" b="1" i="0">
                          <a:solidFill>
                            <a:srgbClr val="8C6239"/>
                          </a:solidFill>
                          <a:latin typeface="Quicksand"/>
                        </a:rPr>
                        <a:t>TICKER</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MARKET CAP ($B)</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ENTERPRISE VALUE ($B)</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SHARE PRICE, 52 WEEKS</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EV / REVENUE</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EV / EBITDA TODAY</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EV / EBITDA A YEAR AGO</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FORWARD P/E</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REVENUE GROWTH, TRAILING</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EBITDA MARGIN</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REVENUE GROWTH, CURRENT YEAR EST.</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EBITDA GROWTH, LATEST FISCAL YR</a:t>
                      </a:r>
                    </a:p>
                  </a:txBody>
                  <a:tcPr marL="36576" marR="36576" marT="13716" marB="13716" anchor="ctr">
                    <a:lnL w="0">
                      <a:noFill/>
                    </a:lnL>
                    <a:lnR w="0">
                      <a:noFill/>
                    </a:lnR>
                    <a:lnT w="0">
                      <a:noFill/>
                    </a:lnT>
                    <a:lnB w="15875">
                      <a:solidFill>
                        <a:srgbClr val="B68757"/>
                      </a:solidFill>
                    </a:lnB>
                    <a:noFill/>
                  </a:tcPr>
                </a:tc>
              </a:tr>
              <a:tr h="233172">
                <a:tc gridSpan="13">
                  <a:txBody>
                    <a:bodyPr/>
                    <a:lstStyle/>
                    <a:p>
                      <a:pPr algn="l"/>
                      <a:r>
                        <a:rPr sz="760" b="1" i="0">
                          <a:solidFill>
                            <a:srgbClr val="8C6239"/>
                          </a:solidFill>
                          <a:latin typeface="Quicksand"/>
                        </a:rPr>
                        <a:t>ELECTRONICS &amp; HARDWARE</a:t>
                      </a:r>
                    </a:p>
                  </a:txBody>
                  <a:tcPr marL="36576" marR="36576" marT="13716" marB="13716" anchor="ctr">
                    <a:lnL w="0">
                      <a:noFill/>
                    </a:lnL>
                    <a:lnR w="0">
                      <a:noFill/>
                    </a:lnR>
                    <a:lnT w="15875" cap="flat" cmpd="sng" algn="ctr">
                      <a:solidFill>
                        <a:srgbClr val="B68757"/>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25" b="1" i="0">
                          <a:solidFill>
                            <a:srgbClr val="1B1A1A"/>
                          </a:solidFill>
                          <a:latin typeface="Quicksand"/>
                        </a:rPr>
                        <a:t>Jabil</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JBL</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29.9</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32.1</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+34.8%</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0.90x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12.8x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11.3x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16.1x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+20.6%</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7.0%</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+24.6%</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+18.7%</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25" b="1" i="0">
                          <a:solidFill>
                            <a:srgbClr val="1B1A1A"/>
                          </a:solidFill>
                          <a:latin typeface="Quicksand"/>
                        </a:rPr>
                        <a:t>Flex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FLEX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35.4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16.8x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+24.2%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Celestica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CLS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35.3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26.0x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+65.9%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Sanmina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SANM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+33.1%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0.78x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+58.5%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Plexus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PLXS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+90.7%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Benchmark Electronics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BHE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+76.5%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0.89x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Kimball Electronics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KE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0.67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0.50x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TTM Technologies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TTMI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+72.3%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+27.6%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+33.8%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Keysight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KEYS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+106.9%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8.83x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34.2x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26.7x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24.8x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+41.6%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1.26x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17.4x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17.9x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+20.6%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+24.6%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r h="233172">
                <a:tc gridSpan="13">
                  <a:txBody>
                    <a:bodyPr/>
                    <a:lstStyle/>
                    <a:p>
                      <a:pPr algn="l"/>
                      <a:r>
                        <a:rPr sz="760" b="1" i="0">
                          <a:solidFill>
                            <a:srgbClr val="8C6239"/>
                          </a:solidFill>
                          <a:latin typeface="Quicksand"/>
                        </a:rPr>
                        <a:t>GOVERNMENT TECHNOLOGY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25" b="1" i="0">
                          <a:solidFill>
                            <a:srgbClr val="1B1A1A"/>
                          </a:solidFill>
                          <a:latin typeface="Quicksand"/>
                        </a:rPr>
                        <a:t>Booz Allen Hamilton</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BAH</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8.9</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12.6</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−22.9%</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1.13x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10.0x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12.6x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12.0x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−7.3%</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11.3%</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+1.7%</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−9.2%</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25" b="1" i="0">
                          <a:solidFill>
                            <a:srgbClr val="1B1A1A"/>
                          </a:solidFill>
                          <a:latin typeface="Quicksand"/>
                        </a:rPr>
                        <a:t>CACI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CACI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+19.5%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1.95x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SAIC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SAIC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Leidos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LDOS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Parsons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PSN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19.2x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ICF</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ICFI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Tyler Technologies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TYL</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−29.1%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6.24x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33.1x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51.8x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−22.9%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1.17x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10.8x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12.8x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13.0x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bl>
          </a:graphicData>
        </a:graphic>
      </p:graphicFrame>
      <p:sp>
        <p:nvSpPr>
          <p:cNvPr id="8"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Source: StockAnalysis, retrieved October 8 to 19, 2026; share prices are dated October 12 to 19. Multiples and margins use reported trailing EBITDA, which includes stock compensation expense, and EBITDA growth compares the latest completed fiscal year with the year before. n.m. marks a figure that is negative, above 60x, or off a very small base and is left out of the median; n.a. is not available. Year-ago multiples are the reading at the quarter-end nearest September 30, 2025 (June 30, 2025 for Computacenter, which reports half-yearly). Sanmina growth includes the ZT Systems manufacturing business acquired in October 2025, and TTM Technologies and Flex show the multiple stated on the source page.</a:t>
            </a:r>
          </a:p>
        </p:txBody>
      </p:sp>
      <p:sp>
        <p:nvSpPr>
          <p:cNvPr id="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1" name="Shape 9"/>
          <p:cNvSpPr/>
          <p:nvPr/>
        </p:nvSpPr>
        <p:spPr>
          <a:xfrm>
            <a:off x="419100" y="7029450"/>
            <a:ext cx="9220200" cy="9525"/>
          </a:xfrm>
          <a:prstGeom prst="rect">
            <a:avLst/>
          </a:prstGeom>
          <a:solidFill>
            <a:srgbClr val="E3DCD3"/>
          </a:solidFill>
          <a:ln/>
        </p:spPr>
        <p:txBody>
          <a:bodyPr/>
          <a:lstStyle/>
          <a:p>
            <a:endParaRPr lang="en-US"/>
          </a:p>
        </p:txBody>
      </p:sp>
      <p:pic>
        <p:nvPicPr>
          <p:cNvPr id="12"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20</a:t>
            </a:r>
            <a:endParaRPr lang="en-US" sz="81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Electronics manufacturers are growing about 20% a year, government contractors are flat, and security software converts the most revenue to cash.</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4533900" cy="2771775"/>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4533900" cy="28575"/>
          </a:xfrm>
          <a:prstGeom prst="rect">
            <a:avLst/>
          </a:prstGeom>
          <a:solidFill>
            <a:srgbClr val="B68757"/>
          </a:solidFill>
          <a:ln>
            <a:noFill/>
          </a:ln>
        </p:spPr>
        <p:txBody>
          <a:bodyPr rtlCol="0" anchor="ctr"/>
          <a:lstStyle/>
          <a:p>
            <a:pPr algn="ctr"/>
            <a:endParaRPr/>
          </a:p>
        </p:txBody>
      </p:sp>
      <p:sp>
        <p:nvSpPr>
          <p:cNvPr id="9" name="TextBox 10"/>
          <p:cNvSpPr txBox="1"/>
          <p:nvPr/>
        </p:nvSpPr>
        <p:spPr>
          <a:xfrm>
            <a:off x="590550" y="1384554"/>
            <a:ext cx="2522190"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Revenue growth, trailing twelve months</a:t>
            </a:r>
          </a:p>
        </p:txBody>
      </p:sp>
      <p:sp>
        <p:nvSpPr>
          <p:cNvPr id="10" name="TextBox 11"/>
          <p:cNvSpPr txBox="1"/>
          <p:nvPr/>
        </p:nvSpPr>
        <p:spPr>
          <a:xfrm>
            <a:off x="590550" y="1549718"/>
            <a:ext cx="1049387"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Median by focus area</a:t>
            </a:r>
          </a:p>
        </p:txBody>
      </p:sp>
      <p:graphicFrame>
        <p:nvGraphicFramePr>
          <p:cNvPr id="11" name="Bar chart of median trailing twelve month revenue growth by " descr="Bar chart of median trailing twelve month revenue growth by focus area: Electronics &amp; Hardware 20.6 percent, Cybersecurity 15.0, Systems Integration 11.4, Managed IT &amp; Cloud 5.6, Telecom &amp; UCaaS 5.2 and Government Technology down 0.8."/>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5105400" y="1238250"/>
            <a:ext cx="4533900" cy="2771775"/>
          </a:xfrm>
          <a:prstGeom prst="rect">
            <a:avLst/>
          </a:prstGeom>
          <a:solidFill>
            <a:srgbClr val="FAF7F3"/>
          </a:solidFill>
          <a:ln>
            <a:noFill/>
          </a:ln>
        </p:spPr>
        <p:txBody>
          <a:bodyPr rtlCol="0" anchor="ctr"/>
          <a:lstStyle/>
          <a:p>
            <a:pPr algn="ctr"/>
            <a:endParaRPr/>
          </a:p>
        </p:txBody>
      </p:sp>
      <p:sp>
        <p:nvSpPr>
          <p:cNvPr id="13" name="Rule"/>
          <p:cNvSpPr/>
          <p:nvPr/>
        </p:nvSpPr>
        <p:spPr>
          <a:xfrm>
            <a:off x="5105400" y="1238250"/>
            <a:ext cx="4533900" cy="28575"/>
          </a:xfrm>
          <a:prstGeom prst="rect">
            <a:avLst/>
          </a:prstGeom>
          <a:solidFill>
            <a:srgbClr val="B68757"/>
          </a:solidFill>
          <a:ln>
            <a:noFill/>
          </a:ln>
        </p:spPr>
        <p:txBody>
          <a:bodyPr rtlCol="0" anchor="ctr"/>
          <a:lstStyle/>
          <a:p>
            <a:pPr algn="ctr"/>
            <a:endParaRPr/>
          </a:p>
        </p:txBody>
      </p:sp>
      <p:sp>
        <p:nvSpPr>
          <p:cNvPr id="14" name="TextBox 15"/>
          <p:cNvSpPr txBox="1"/>
          <p:nvPr/>
        </p:nvSpPr>
        <p:spPr>
          <a:xfrm>
            <a:off x="5276850" y="1384554"/>
            <a:ext cx="3090565"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Fastest revenue growth among the 51 companies</a:t>
            </a:r>
          </a:p>
        </p:txBody>
      </p:sp>
      <p:sp>
        <p:nvSpPr>
          <p:cNvPr id="15" name="TextBox 16"/>
          <p:cNvSpPr txBox="1"/>
          <p:nvPr/>
        </p:nvSpPr>
        <p:spPr>
          <a:xfrm>
            <a:off x="5276850" y="1549718"/>
            <a:ext cx="3540472"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Trailing twelve months against the prior twelve; growth includes acquisitions</a:t>
            </a:r>
          </a:p>
        </p:txBody>
      </p:sp>
      <p:sp>
        <p:nvSpPr>
          <p:cNvPr id="16" name="Panel"/>
          <p:cNvSpPr/>
          <p:nvPr/>
        </p:nvSpPr>
        <p:spPr>
          <a:xfrm>
            <a:off x="5281612" y="181451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17" name="Sanmina logo" descr="Sanmina logo"/>
          <p:cNvPicPr>
            <a:picLocks noChangeAspect="1"/>
          </p:cNvPicPr>
          <p:nvPr/>
        </p:nvPicPr>
        <p:blipFill>
          <a:blip r:embed="rId3"/>
          <a:stretch>
            <a:fillRect/>
          </a:stretch>
        </p:blipFill>
        <p:spPr>
          <a:xfrm>
            <a:off x="5295900" y="1828800"/>
            <a:ext cx="152400" cy="152400"/>
          </a:xfrm>
          <a:prstGeom prst="rect">
            <a:avLst/>
          </a:prstGeom>
        </p:spPr>
      </p:pic>
      <p:sp>
        <p:nvSpPr>
          <p:cNvPr id="18" name="TextBox 19"/>
          <p:cNvSpPr txBox="1"/>
          <p:nvPr/>
        </p:nvSpPr>
        <p:spPr>
          <a:xfrm>
            <a:off x="5543550" y="1826990"/>
            <a:ext cx="486073"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Sanmina</a:t>
            </a:r>
          </a:p>
        </p:txBody>
      </p:sp>
      <p:sp>
        <p:nvSpPr>
          <p:cNvPr id="19" name="Panel"/>
          <p:cNvSpPr/>
          <p:nvPr/>
        </p:nvSpPr>
        <p:spPr>
          <a:xfrm>
            <a:off x="6743700" y="1847850"/>
            <a:ext cx="894904" cy="114300"/>
          </a:xfrm>
          <a:prstGeom prst="rect">
            <a:avLst/>
          </a:prstGeom>
          <a:solidFill>
            <a:srgbClr val="A0754A"/>
          </a:solidFill>
          <a:ln>
            <a:noFill/>
          </a:ln>
        </p:spPr>
        <p:txBody>
          <a:bodyPr rtlCol="0" anchor="ctr"/>
          <a:lstStyle/>
          <a:p>
            <a:pPr algn="ctr"/>
            <a:endParaRPr/>
          </a:p>
        </p:txBody>
      </p:sp>
      <p:sp>
        <p:nvSpPr>
          <p:cNvPr id="20" name="TextBox 21"/>
          <p:cNvSpPr txBox="1"/>
          <p:nvPr/>
        </p:nvSpPr>
        <p:spPr>
          <a:xfrm>
            <a:off x="7695754" y="1793653"/>
            <a:ext cx="400645"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+58.5%</a:t>
            </a:r>
          </a:p>
        </p:txBody>
      </p:sp>
      <p:sp>
        <p:nvSpPr>
          <p:cNvPr id="21" name="TextBox 22"/>
          <p:cNvSpPr txBox="1"/>
          <p:nvPr/>
        </p:nvSpPr>
        <p:spPr>
          <a:xfrm>
            <a:off x="8362950" y="1843945"/>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22" name="Panel"/>
          <p:cNvSpPr/>
          <p:nvPr/>
        </p:nvSpPr>
        <p:spPr>
          <a:xfrm>
            <a:off x="5281612" y="232886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23" name="Celestica logo" descr="Celestica logo"/>
          <p:cNvPicPr>
            <a:picLocks noChangeAspect="1"/>
          </p:cNvPicPr>
          <p:nvPr/>
        </p:nvPicPr>
        <p:blipFill>
          <a:blip r:embed="rId4"/>
          <a:stretch>
            <a:fillRect/>
          </a:stretch>
        </p:blipFill>
        <p:spPr>
          <a:xfrm>
            <a:off x="5295900" y="2343149"/>
            <a:ext cx="152400" cy="152400"/>
          </a:xfrm>
          <a:prstGeom prst="rect">
            <a:avLst/>
          </a:prstGeom>
        </p:spPr>
      </p:pic>
      <p:sp>
        <p:nvSpPr>
          <p:cNvPr id="24" name="TextBox 25"/>
          <p:cNvSpPr txBox="1"/>
          <p:nvPr/>
        </p:nvSpPr>
        <p:spPr>
          <a:xfrm>
            <a:off x="5543550" y="2341339"/>
            <a:ext cx="502444"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Celestica</a:t>
            </a:r>
          </a:p>
        </p:txBody>
      </p:sp>
      <p:sp>
        <p:nvSpPr>
          <p:cNvPr id="25" name="Panel"/>
          <p:cNvSpPr/>
          <p:nvPr/>
        </p:nvSpPr>
        <p:spPr>
          <a:xfrm>
            <a:off x="6743700" y="2362199"/>
            <a:ext cx="722114" cy="114300"/>
          </a:xfrm>
          <a:prstGeom prst="rect">
            <a:avLst/>
          </a:prstGeom>
          <a:solidFill>
            <a:srgbClr val="A0754A"/>
          </a:solidFill>
          <a:ln>
            <a:noFill/>
          </a:ln>
        </p:spPr>
        <p:txBody>
          <a:bodyPr rtlCol="0" anchor="ctr"/>
          <a:lstStyle/>
          <a:p>
            <a:pPr algn="ctr"/>
            <a:endParaRPr/>
          </a:p>
        </p:txBody>
      </p:sp>
      <p:sp>
        <p:nvSpPr>
          <p:cNvPr id="26" name="TextBox 27"/>
          <p:cNvSpPr txBox="1"/>
          <p:nvPr/>
        </p:nvSpPr>
        <p:spPr>
          <a:xfrm>
            <a:off x="7522964" y="2308002"/>
            <a:ext cx="390376"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+47.3%</a:t>
            </a:r>
          </a:p>
        </p:txBody>
      </p:sp>
      <p:sp>
        <p:nvSpPr>
          <p:cNvPr id="27" name="TextBox 28"/>
          <p:cNvSpPr txBox="1"/>
          <p:nvPr/>
        </p:nvSpPr>
        <p:spPr>
          <a:xfrm>
            <a:off x="8362950" y="2358294"/>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28" name="Panel"/>
          <p:cNvSpPr/>
          <p:nvPr/>
        </p:nvSpPr>
        <p:spPr>
          <a:xfrm>
            <a:off x="5281612" y="207168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29" name="Computacenter logo" descr="Computacenter logo"/>
          <p:cNvPicPr>
            <a:picLocks noChangeAspect="1"/>
          </p:cNvPicPr>
          <p:nvPr/>
        </p:nvPicPr>
        <p:blipFill>
          <a:blip r:embed="rId5"/>
          <a:stretch>
            <a:fillRect/>
          </a:stretch>
        </p:blipFill>
        <p:spPr>
          <a:xfrm>
            <a:off x="5295900" y="2085976"/>
            <a:ext cx="152400" cy="152400"/>
          </a:xfrm>
          <a:prstGeom prst="rect">
            <a:avLst/>
          </a:prstGeom>
        </p:spPr>
      </p:pic>
      <p:sp>
        <p:nvSpPr>
          <p:cNvPr id="30" name="TextBox 31"/>
          <p:cNvSpPr txBox="1"/>
          <p:nvPr/>
        </p:nvSpPr>
        <p:spPr>
          <a:xfrm>
            <a:off x="5543550" y="2084166"/>
            <a:ext cx="827336"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Computacenter</a:t>
            </a:r>
          </a:p>
        </p:txBody>
      </p:sp>
      <p:sp>
        <p:nvSpPr>
          <p:cNvPr id="31" name="Panel"/>
          <p:cNvSpPr/>
          <p:nvPr/>
        </p:nvSpPr>
        <p:spPr>
          <a:xfrm>
            <a:off x="6743700" y="2105026"/>
            <a:ext cx="818122" cy="114300"/>
          </a:xfrm>
          <a:prstGeom prst="rect">
            <a:avLst/>
          </a:prstGeom>
          <a:solidFill>
            <a:srgbClr val="A0754A"/>
          </a:solidFill>
          <a:ln>
            <a:noFill/>
          </a:ln>
        </p:spPr>
        <p:txBody>
          <a:bodyPr rtlCol="0" anchor="ctr"/>
          <a:lstStyle/>
          <a:p>
            <a:pPr algn="ctr"/>
            <a:endParaRPr/>
          </a:p>
        </p:txBody>
      </p:sp>
      <p:sp>
        <p:nvSpPr>
          <p:cNvPr id="32" name="TextBox 33"/>
          <p:cNvSpPr txBox="1"/>
          <p:nvPr/>
        </p:nvSpPr>
        <p:spPr>
          <a:xfrm>
            <a:off x="7616686" y="2050829"/>
            <a:ext cx="359420"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+53.5%</a:t>
            </a:r>
          </a:p>
        </p:txBody>
      </p:sp>
      <p:sp>
        <p:nvSpPr>
          <p:cNvPr id="33" name="TextBox 34"/>
          <p:cNvSpPr txBox="1"/>
          <p:nvPr/>
        </p:nvSpPr>
        <p:spPr>
          <a:xfrm>
            <a:off x="8362950" y="2101121"/>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Systems Integration</a:t>
            </a:r>
          </a:p>
        </p:txBody>
      </p:sp>
      <p:sp>
        <p:nvSpPr>
          <p:cNvPr id="34" name="Panel"/>
          <p:cNvSpPr/>
          <p:nvPr/>
        </p:nvSpPr>
        <p:spPr>
          <a:xfrm>
            <a:off x="5281612" y="258603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35" name="TTM Technologies logo" descr="TTM Technologies logo"/>
          <p:cNvPicPr>
            <a:picLocks noChangeAspect="1"/>
          </p:cNvPicPr>
          <p:nvPr/>
        </p:nvPicPr>
        <p:blipFill>
          <a:blip r:embed="rId6"/>
          <a:stretch>
            <a:fillRect/>
          </a:stretch>
        </p:blipFill>
        <p:spPr>
          <a:xfrm>
            <a:off x="5295900" y="2600325"/>
            <a:ext cx="152400" cy="152400"/>
          </a:xfrm>
          <a:prstGeom prst="rect">
            <a:avLst/>
          </a:prstGeom>
        </p:spPr>
      </p:pic>
      <p:sp>
        <p:nvSpPr>
          <p:cNvPr id="36" name="TextBox 37"/>
          <p:cNvSpPr txBox="1"/>
          <p:nvPr/>
        </p:nvSpPr>
        <p:spPr>
          <a:xfrm>
            <a:off x="5543550" y="2598515"/>
            <a:ext cx="941933"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TTM Technologies</a:t>
            </a:r>
          </a:p>
        </p:txBody>
      </p:sp>
      <p:sp>
        <p:nvSpPr>
          <p:cNvPr id="37" name="Panel"/>
          <p:cNvSpPr/>
          <p:nvPr/>
        </p:nvSpPr>
        <p:spPr>
          <a:xfrm>
            <a:off x="6743700" y="2619375"/>
            <a:ext cx="421184" cy="114300"/>
          </a:xfrm>
          <a:prstGeom prst="rect">
            <a:avLst/>
          </a:prstGeom>
          <a:solidFill>
            <a:srgbClr val="A0754A"/>
          </a:solidFill>
          <a:ln>
            <a:noFill/>
          </a:ln>
        </p:spPr>
        <p:txBody>
          <a:bodyPr rtlCol="0" anchor="ctr"/>
          <a:lstStyle/>
          <a:p>
            <a:pPr algn="ctr"/>
            <a:endParaRPr/>
          </a:p>
        </p:txBody>
      </p:sp>
      <p:sp>
        <p:nvSpPr>
          <p:cNvPr id="38" name="TextBox 39"/>
          <p:cNvSpPr txBox="1"/>
          <p:nvPr/>
        </p:nvSpPr>
        <p:spPr>
          <a:xfrm>
            <a:off x="7222034" y="2565178"/>
            <a:ext cx="393055"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+27.6%</a:t>
            </a:r>
          </a:p>
        </p:txBody>
      </p:sp>
      <p:sp>
        <p:nvSpPr>
          <p:cNvPr id="39" name="TextBox 40"/>
          <p:cNvSpPr txBox="1"/>
          <p:nvPr/>
        </p:nvSpPr>
        <p:spPr>
          <a:xfrm>
            <a:off x="8362950" y="2615470"/>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40" name="Panel"/>
          <p:cNvSpPr/>
          <p:nvPr/>
        </p:nvSpPr>
        <p:spPr>
          <a:xfrm>
            <a:off x="5281612" y="284321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41" name="Keysight logo" descr="Keysight logo"/>
          <p:cNvPicPr>
            <a:picLocks noChangeAspect="1"/>
          </p:cNvPicPr>
          <p:nvPr/>
        </p:nvPicPr>
        <p:blipFill>
          <a:blip r:embed="rId7"/>
          <a:stretch>
            <a:fillRect/>
          </a:stretch>
        </p:blipFill>
        <p:spPr>
          <a:xfrm>
            <a:off x="5295900" y="2857500"/>
            <a:ext cx="152400" cy="152400"/>
          </a:xfrm>
          <a:prstGeom prst="rect">
            <a:avLst/>
          </a:prstGeom>
        </p:spPr>
      </p:pic>
      <p:sp>
        <p:nvSpPr>
          <p:cNvPr id="42" name="TextBox 43"/>
          <p:cNvSpPr txBox="1"/>
          <p:nvPr/>
        </p:nvSpPr>
        <p:spPr>
          <a:xfrm>
            <a:off x="5543550" y="2855690"/>
            <a:ext cx="482054"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Keysight</a:t>
            </a:r>
          </a:p>
        </p:txBody>
      </p:sp>
      <p:sp>
        <p:nvSpPr>
          <p:cNvPr id="43" name="Panel"/>
          <p:cNvSpPr/>
          <p:nvPr/>
        </p:nvSpPr>
        <p:spPr>
          <a:xfrm>
            <a:off x="6743700" y="2876550"/>
            <a:ext cx="390376" cy="114300"/>
          </a:xfrm>
          <a:prstGeom prst="rect">
            <a:avLst/>
          </a:prstGeom>
          <a:solidFill>
            <a:srgbClr val="A0754A"/>
          </a:solidFill>
          <a:ln>
            <a:noFill/>
          </a:ln>
        </p:spPr>
        <p:txBody>
          <a:bodyPr rtlCol="0" anchor="ctr"/>
          <a:lstStyle/>
          <a:p>
            <a:pPr algn="ctr"/>
            <a:endParaRPr/>
          </a:p>
        </p:txBody>
      </p:sp>
      <p:sp>
        <p:nvSpPr>
          <p:cNvPr id="44" name="TextBox 45"/>
          <p:cNvSpPr txBox="1"/>
          <p:nvPr/>
        </p:nvSpPr>
        <p:spPr>
          <a:xfrm>
            <a:off x="7191226" y="2822353"/>
            <a:ext cx="401092"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+25.5%</a:t>
            </a:r>
          </a:p>
        </p:txBody>
      </p:sp>
      <p:sp>
        <p:nvSpPr>
          <p:cNvPr id="45" name="TextBox 46"/>
          <p:cNvSpPr txBox="1"/>
          <p:nvPr/>
        </p:nvSpPr>
        <p:spPr>
          <a:xfrm>
            <a:off x="8362950" y="2872645"/>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46" name="Panel"/>
          <p:cNvSpPr/>
          <p:nvPr/>
        </p:nvSpPr>
        <p:spPr>
          <a:xfrm>
            <a:off x="5281612" y="310038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47" name="Crexendo logo" descr="Crexendo logo"/>
          <p:cNvPicPr>
            <a:picLocks noChangeAspect="1"/>
          </p:cNvPicPr>
          <p:nvPr/>
        </p:nvPicPr>
        <p:blipFill>
          <a:blip r:embed="rId8"/>
          <a:stretch>
            <a:fillRect/>
          </a:stretch>
        </p:blipFill>
        <p:spPr>
          <a:xfrm>
            <a:off x="5295900" y="3114675"/>
            <a:ext cx="152400" cy="152400"/>
          </a:xfrm>
          <a:prstGeom prst="rect">
            <a:avLst/>
          </a:prstGeom>
        </p:spPr>
      </p:pic>
      <p:sp>
        <p:nvSpPr>
          <p:cNvPr id="48" name="TextBox 49"/>
          <p:cNvSpPr txBox="1"/>
          <p:nvPr/>
        </p:nvSpPr>
        <p:spPr>
          <a:xfrm>
            <a:off x="5543550" y="3112865"/>
            <a:ext cx="522982"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Crexendo</a:t>
            </a:r>
          </a:p>
        </p:txBody>
      </p:sp>
      <p:sp>
        <p:nvSpPr>
          <p:cNvPr id="49" name="Panel"/>
          <p:cNvSpPr/>
          <p:nvPr/>
        </p:nvSpPr>
        <p:spPr>
          <a:xfrm>
            <a:off x="6743700" y="3133725"/>
            <a:ext cx="390376" cy="114300"/>
          </a:xfrm>
          <a:prstGeom prst="rect">
            <a:avLst/>
          </a:prstGeom>
          <a:solidFill>
            <a:srgbClr val="A0754A"/>
          </a:solidFill>
          <a:ln>
            <a:noFill/>
          </a:ln>
        </p:spPr>
        <p:txBody>
          <a:bodyPr rtlCol="0" anchor="ctr"/>
          <a:lstStyle/>
          <a:p>
            <a:pPr algn="ctr"/>
            <a:endParaRPr/>
          </a:p>
        </p:txBody>
      </p:sp>
      <p:sp>
        <p:nvSpPr>
          <p:cNvPr id="50" name="TextBox 51"/>
          <p:cNvSpPr txBox="1"/>
          <p:nvPr/>
        </p:nvSpPr>
        <p:spPr>
          <a:xfrm>
            <a:off x="7191226" y="3079528"/>
            <a:ext cx="401092"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+25.5%</a:t>
            </a:r>
          </a:p>
        </p:txBody>
      </p:sp>
      <p:sp>
        <p:nvSpPr>
          <p:cNvPr id="51" name="TextBox 52"/>
          <p:cNvSpPr txBox="1"/>
          <p:nvPr/>
        </p:nvSpPr>
        <p:spPr>
          <a:xfrm>
            <a:off x="8362950" y="3129820"/>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Telecom &amp; UCaaS</a:t>
            </a:r>
          </a:p>
        </p:txBody>
      </p:sp>
      <p:sp>
        <p:nvSpPr>
          <p:cNvPr id="52" name="Panel"/>
          <p:cNvSpPr/>
          <p:nvPr/>
        </p:nvSpPr>
        <p:spPr>
          <a:xfrm>
            <a:off x="5281612" y="335756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53" name="Zscaler logo" descr="Zscaler logo"/>
          <p:cNvPicPr>
            <a:picLocks noChangeAspect="1"/>
          </p:cNvPicPr>
          <p:nvPr/>
        </p:nvPicPr>
        <p:blipFill>
          <a:blip r:embed="rId9"/>
          <a:stretch>
            <a:fillRect/>
          </a:stretch>
        </p:blipFill>
        <p:spPr>
          <a:xfrm>
            <a:off x="5295900" y="3371850"/>
            <a:ext cx="152400" cy="152400"/>
          </a:xfrm>
          <a:prstGeom prst="rect">
            <a:avLst/>
          </a:prstGeom>
        </p:spPr>
      </p:pic>
      <p:sp>
        <p:nvSpPr>
          <p:cNvPr id="54" name="TextBox 55"/>
          <p:cNvSpPr txBox="1"/>
          <p:nvPr/>
        </p:nvSpPr>
        <p:spPr>
          <a:xfrm>
            <a:off x="5543550" y="3370040"/>
            <a:ext cx="42177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Zscaler</a:t>
            </a:r>
          </a:p>
        </p:txBody>
      </p:sp>
      <p:sp>
        <p:nvSpPr>
          <p:cNvPr id="55" name="Panel"/>
          <p:cNvSpPr/>
          <p:nvPr/>
        </p:nvSpPr>
        <p:spPr>
          <a:xfrm>
            <a:off x="6743700" y="3390900"/>
            <a:ext cx="388739" cy="114300"/>
          </a:xfrm>
          <a:prstGeom prst="rect">
            <a:avLst/>
          </a:prstGeom>
          <a:solidFill>
            <a:srgbClr val="A0754A"/>
          </a:solidFill>
          <a:ln>
            <a:noFill/>
          </a:ln>
        </p:spPr>
        <p:txBody>
          <a:bodyPr rtlCol="0" anchor="ctr"/>
          <a:lstStyle/>
          <a:p>
            <a:pPr algn="ctr"/>
            <a:endParaRPr/>
          </a:p>
        </p:txBody>
      </p:sp>
      <p:sp>
        <p:nvSpPr>
          <p:cNvPr id="56" name="TextBox 57"/>
          <p:cNvSpPr txBox="1"/>
          <p:nvPr/>
        </p:nvSpPr>
        <p:spPr>
          <a:xfrm>
            <a:off x="7189589" y="3336703"/>
            <a:ext cx="399306"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+25.4%</a:t>
            </a:r>
          </a:p>
        </p:txBody>
      </p:sp>
      <p:sp>
        <p:nvSpPr>
          <p:cNvPr id="57" name="TextBox 58"/>
          <p:cNvSpPr txBox="1"/>
          <p:nvPr/>
        </p:nvSpPr>
        <p:spPr>
          <a:xfrm>
            <a:off x="8362950" y="3386995"/>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Cybersecurity</a:t>
            </a:r>
          </a:p>
        </p:txBody>
      </p:sp>
      <p:sp>
        <p:nvSpPr>
          <p:cNvPr id="58" name="Panel"/>
          <p:cNvSpPr/>
          <p:nvPr/>
        </p:nvSpPr>
        <p:spPr>
          <a:xfrm>
            <a:off x="5281612" y="361473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59" name="Palo Alto Networks logo" descr="Palo Alto Networks logo"/>
          <p:cNvPicPr>
            <a:picLocks noChangeAspect="1"/>
          </p:cNvPicPr>
          <p:nvPr/>
        </p:nvPicPr>
        <p:blipFill>
          <a:blip r:embed="rId10"/>
          <a:stretch>
            <a:fillRect/>
          </a:stretch>
        </p:blipFill>
        <p:spPr>
          <a:xfrm>
            <a:off x="5295900" y="3629025"/>
            <a:ext cx="152400" cy="152400"/>
          </a:xfrm>
          <a:prstGeom prst="rect">
            <a:avLst/>
          </a:prstGeom>
        </p:spPr>
      </p:pic>
      <p:sp>
        <p:nvSpPr>
          <p:cNvPr id="60" name="TextBox 61"/>
          <p:cNvSpPr txBox="1"/>
          <p:nvPr/>
        </p:nvSpPr>
        <p:spPr>
          <a:xfrm>
            <a:off x="5543550" y="3627215"/>
            <a:ext cx="1001762"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Palo Alto Networks</a:t>
            </a:r>
          </a:p>
        </p:txBody>
      </p:sp>
      <p:sp>
        <p:nvSpPr>
          <p:cNvPr id="61" name="Panel"/>
          <p:cNvSpPr/>
          <p:nvPr/>
        </p:nvSpPr>
        <p:spPr>
          <a:xfrm>
            <a:off x="6743700" y="3648075"/>
            <a:ext cx="374898" cy="114300"/>
          </a:xfrm>
          <a:prstGeom prst="rect">
            <a:avLst/>
          </a:prstGeom>
          <a:solidFill>
            <a:srgbClr val="A0754A"/>
          </a:solidFill>
          <a:ln>
            <a:noFill/>
          </a:ln>
        </p:spPr>
        <p:txBody>
          <a:bodyPr rtlCol="0" anchor="ctr"/>
          <a:lstStyle/>
          <a:p>
            <a:pPr algn="ctr"/>
            <a:endParaRPr/>
          </a:p>
        </p:txBody>
      </p:sp>
      <p:sp>
        <p:nvSpPr>
          <p:cNvPr id="62" name="TextBox 63"/>
          <p:cNvSpPr txBox="1"/>
          <p:nvPr/>
        </p:nvSpPr>
        <p:spPr>
          <a:xfrm>
            <a:off x="7175748" y="3593878"/>
            <a:ext cx="406301"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+24.5%</a:t>
            </a:r>
          </a:p>
        </p:txBody>
      </p:sp>
      <p:sp>
        <p:nvSpPr>
          <p:cNvPr id="63" name="TextBox 64"/>
          <p:cNvSpPr txBox="1"/>
          <p:nvPr/>
        </p:nvSpPr>
        <p:spPr>
          <a:xfrm>
            <a:off x="8362950" y="3644170"/>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Cybersecurity</a:t>
            </a:r>
          </a:p>
        </p:txBody>
      </p:sp>
      <p:sp>
        <p:nvSpPr>
          <p:cNvPr id="64" name="Panel"/>
          <p:cNvSpPr/>
          <p:nvPr/>
        </p:nvSpPr>
        <p:spPr>
          <a:xfrm>
            <a:off x="419100" y="4162425"/>
            <a:ext cx="4533900" cy="2771775"/>
          </a:xfrm>
          <a:prstGeom prst="rect">
            <a:avLst/>
          </a:prstGeom>
          <a:solidFill>
            <a:srgbClr val="FAF7F3"/>
          </a:solidFill>
          <a:ln>
            <a:noFill/>
          </a:ln>
        </p:spPr>
        <p:txBody>
          <a:bodyPr rtlCol="0" anchor="ctr"/>
          <a:lstStyle/>
          <a:p>
            <a:pPr algn="ctr"/>
            <a:endParaRPr/>
          </a:p>
        </p:txBody>
      </p:sp>
      <p:sp>
        <p:nvSpPr>
          <p:cNvPr id="65" name="Rule"/>
          <p:cNvSpPr/>
          <p:nvPr/>
        </p:nvSpPr>
        <p:spPr>
          <a:xfrm>
            <a:off x="419100" y="4162425"/>
            <a:ext cx="4533900" cy="28575"/>
          </a:xfrm>
          <a:prstGeom prst="rect">
            <a:avLst/>
          </a:prstGeom>
          <a:solidFill>
            <a:srgbClr val="B68757"/>
          </a:solidFill>
          <a:ln>
            <a:noFill/>
          </a:ln>
        </p:spPr>
        <p:txBody>
          <a:bodyPr rtlCol="0" anchor="ctr"/>
          <a:lstStyle/>
          <a:p>
            <a:pPr algn="ctr"/>
            <a:endParaRPr/>
          </a:p>
        </p:txBody>
      </p:sp>
      <p:sp>
        <p:nvSpPr>
          <p:cNvPr id="66" name="TextBox 67"/>
          <p:cNvSpPr txBox="1"/>
          <p:nvPr/>
        </p:nvSpPr>
        <p:spPr>
          <a:xfrm>
            <a:off x="590550" y="4308729"/>
            <a:ext cx="2426345"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EBITDA margin, trailing twelve months</a:t>
            </a:r>
          </a:p>
        </p:txBody>
      </p:sp>
      <p:sp>
        <p:nvSpPr>
          <p:cNvPr id="67" name="TextBox 68"/>
          <p:cNvSpPr txBox="1"/>
          <p:nvPr/>
        </p:nvSpPr>
        <p:spPr>
          <a:xfrm>
            <a:off x="590550" y="4473892"/>
            <a:ext cx="2007245"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Median by focus area, on reported EBITDA</a:t>
            </a:r>
          </a:p>
        </p:txBody>
      </p:sp>
      <p:graphicFrame>
        <p:nvGraphicFramePr>
          <p:cNvPr id="68" name="Bar chart of median trailing twelve month EBITDA margin by f" descr="Bar chart of median trailing twelve month EBITDA margin by focus area: Telecom &amp; UCaaS 12.6 percent, Cybersecurity 12.0, Government Technology 11.3, Managed IT &amp; Cloud 8.8, Electronics &amp; Hardware 7.0 and Systems Integration 5.2."/>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xmlns:r="http://schemas.openxmlformats.org/officeDocument/2006/relationships" r:id="rId11"/>
          </a:graphicData>
        </a:graphic>
      </p:graphicFrame>
      <p:sp>
        <p:nvSpPr>
          <p:cNvPr id="69" name="Panel"/>
          <p:cNvSpPr/>
          <p:nvPr/>
        </p:nvSpPr>
        <p:spPr>
          <a:xfrm>
            <a:off x="5105400" y="4162425"/>
            <a:ext cx="4533900" cy="2771775"/>
          </a:xfrm>
          <a:prstGeom prst="rect">
            <a:avLst/>
          </a:prstGeom>
          <a:solidFill>
            <a:srgbClr val="FAF7F3"/>
          </a:solidFill>
          <a:ln>
            <a:noFill/>
          </a:ln>
        </p:spPr>
        <p:txBody>
          <a:bodyPr rtlCol="0" anchor="ctr"/>
          <a:lstStyle/>
          <a:p>
            <a:pPr algn="ctr"/>
            <a:endParaRPr/>
          </a:p>
        </p:txBody>
      </p:sp>
      <p:sp>
        <p:nvSpPr>
          <p:cNvPr id="70" name="Rule"/>
          <p:cNvSpPr/>
          <p:nvPr/>
        </p:nvSpPr>
        <p:spPr>
          <a:xfrm>
            <a:off x="5105400" y="4162425"/>
            <a:ext cx="4533900" cy="28575"/>
          </a:xfrm>
          <a:prstGeom prst="rect">
            <a:avLst/>
          </a:prstGeom>
          <a:solidFill>
            <a:srgbClr val="B68757"/>
          </a:solidFill>
          <a:ln>
            <a:noFill/>
          </a:ln>
        </p:spPr>
        <p:txBody>
          <a:bodyPr rtlCol="0" anchor="ctr"/>
          <a:lstStyle/>
          <a:p>
            <a:pPr algn="ctr"/>
            <a:endParaRPr/>
          </a:p>
        </p:txBody>
      </p:sp>
      <p:sp>
        <p:nvSpPr>
          <p:cNvPr id="71" name="TextBox 72"/>
          <p:cNvSpPr txBox="1"/>
          <p:nvPr/>
        </p:nvSpPr>
        <p:spPr>
          <a:xfrm>
            <a:off x="5276850" y="4308729"/>
            <a:ext cx="2879080"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Free cash flow margin, trailing twelve months</a:t>
            </a:r>
          </a:p>
        </p:txBody>
      </p:sp>
      <p:sp>
        <p:nvSpPr>
          <p:cNvPr id="72" name="TextBox 73"/>
          <p:cNvSpPr txBox="1"/>
          <p:nvPr/>
        </p:nvSpPr>
        <p:spPr>
          <a:xfrm>
            <a:off x="5276850" y="4473892"/>
            <a:ext cx="1049387"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Median by focus area</a:t>
            </a:r>
          </a:p>
        </p:txBody>
      </p:sp>
      <p:graphicFrame>
        <p:nvGraphicFramePr>
          <p:cNvPr id="73" name="Bar chart of median trailing twelve month free cash flow mar" descr="Bar chart of median trailing twelve month free cash flow margin by focus area: Cybersecurity 33.8 percent, Government Technology 10.1, Telecom &amp; UCaaS 9.9, Managed IT &amp; Cloud 4.6, Systems Integration 3.5 and Electronics &amp; Hardware 3.3."/>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xmlns:r="http://schemas.openxmlformats.org/officeDocument/2006/relationships" r:id="rId12"/>
          </a:graphicData>
        </a:graphic>
      </p:graphicFrame>
      <p:sp>
        <p:nvSpPr>
          <p:cNvPr id="74"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Source: StockAnalysis, retrieved October 8 to 19, 2026 (free cash flow margin as retrieved October 5 to 14). Trailing periods end between June and August 2026. EBITDA is as reported and is lower than the adjusted EBITDA companies present, most visibly for security software, where stock compensation is excluded from adjusted figures. Medians cover all listed companies in each focus area.</a:t>
            </a:r>
          </a:p>
        </p:txBody>
      </p:sp>
      <p:sp>
        <p:nvSpPr>
          <p:cNvPr id="7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7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77" name="Shape 9"/>
          <p:cNvSpPr/>
          <p:nvPr/>
        </p:nvSpPr>
        <p:spPr>
          <a:xfrm>
            <a:off x="419100" y="7029450"/>
            <a:ext cx="9220200" cy="9525"/>
          </a:xfrm>
          <a:prstGeom prst="rect">
            <a:avLst/>
          </a:prstGeom>
          <a:solidFill>
            <a:srgbClr val="E3DCD3"/>
          </a:solidFill>
          <a:ln/>
        </p:spPr>
        <p:txBody>
          <a:bodyPr/>
          <a:lstStyle/>
          <a:p>
            <a:endParaRPr lang="en-US"/>
          </a:p>
        </p:txBody>
      </p:sp>
      <p:pic>
        <p:nvPicPr>
          <p:cNvPr id="78" name="Benchmark International logo"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7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21</a:t>
            </a:r>
            <a:endParaRPr lang="en-US" sz="81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5" name="TextBox 6"/>
          <p:cNvSpPr txBox="1"/>
          <p:nvPr/>
        </p:nvSpPr>
        <p:spPr>
          <a:xfrm>
            <a:off x="419100" y="864394"/>
            <a:ext cx="8120807"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Data center suppliers grew fastest, security vendors tied their outlook to AI adoption, and government contractors split on civilian exposure.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2857500" cy="5695950"/>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2857500" cy="28575"/>
          </a:xfrm>
          <a:prstGeom prst="rect">
            <a:avLst/>
          </a:prstGeom>
          <a:solidFill>
            <a:srgbClr val="B68757"/>
          </a:solidFill>
          <a:ln>
            <a:noFill/>
          </a:ln>
        </p:spPr>
        <p:txBody>
          <a:bodyPr rtlCol="0" anchor="ctr"/>
          <a:lstStyle/>
          <a:p>
            <a:pPr algn="ctr"/>
            <a:endParaRPr/>
          </a:p>
        </p:txBody>
      </p:sp>
      <p:sp>
        <p:nvSpPr>
          <p:cNvPr id="9" name="TextBox 10"/>
          <p:cNvSpPr txBox="1"/>
          <p:nvPr/>
        </p:nvSpPr>
        <p:spPr>
          <a:xfrm>
            <a:off x="552450" y="1384554"/>
            <a:ext cx="2591544" cy="152400"/>
          </a:xfrm>
          <a:prstGeom prst="rect">
            <a:avLst/>
          </a:prstGeom>
          <a:noFill/>
        </p:spPr>
        <p:txBody>
          <a:bodyPr wrap="none" lIns="0" tIns="0" rIns="0" bIns="0" anchor="t">
            <a:noAutofit/>
          </a:bodyPr>
          <a:lstStyle/>
          <a:p>
            <a:pPr algn="l">
              <a:lnSpc>
                <a:spcPts val="1312"/>
              </a:lnSpc>
              <a:spcBef>
                <a:spcPts val="0"/>
              </a:spcBef>
              <a:spcAft>
                <a:spcPts val="0"/>
              </a:spcAft>
            </a:pPr>
            <a:r>
              <a:rPr sz="1000" b="1" i="0" spc="15">
                <a:solidFill>
                  <a:srgbClr val="1B1A1A"/>
                </a:solidFill>
                <a:latin typeface="Quicksand"/>
              </a:rPr>
              <a:t>Revenue growth, latest reported quarter</a:t>
            </a:r>
          </a:p>
        </p:txBody>
      </p:sp>
      <p:sp>
        <p:nvSpPr>
          <p:cNvPr id="10" name="TextBox 11"/>
          <p:cNvSpPr txBox="1"/>
          <p:nvPr/>
        </p:nvSpPr>
        <p:spPr>
          <a:xfrm>
            <a:off x="552450" y="1549718"/>
            <a:ext cx="2667000" cy="257175"/>
          </a:xfrm>
          <a:prstGeom prst="rect">
            <a:avLst/>
          </a:prstGeom>
          <a:noFill/>
        </p:spPr>
        <p:txBody>
          <a:bodyPr wrap="square" lIns="0" tIns="0" rIns="0" bIns="0" anchor="t">
            <a:noAutofit/>
          </a:bodyPr>
          <a:lstStyle/>
          <a:p>
            <a:pPr algn="l">
              <a:lnSpc>
                <a:spcPts val="1092"/>
              </a:lnSpc>
              <a:spcBef>
                <a:spcPts val="0"/>
              </a:spcBef>
              <a:spcAft>
                <a:spcPts val="0"/>
              </a:spcAft>
            </a:pPr>
            <a:r>
              <a:rPr sz="780" b="0" i="0" spc="15">
                <a:solidFill>
                  <a:srgbClr val="6F6A66"/>
                </a:solidFill>
                <a:latin typeface="Quicksand"/>
              </a:rPr>
              <a:t>Year over year, as stated in each earnings release; quarters ended June to August 2026</a:t>
            </a:r>
          </a:p>
        </p:txBody>
      </p:sp>
      <p:sp>
        <p:nvSpPr>
          <p:cNvPr id="11" name="Panel"/>
          <p:cNvSpPr/>
          <p:nvPr/>
        </p:nvSpPr>
        <p:spPr>
          <a:xfrm>
            <a:off x="557212" y="1964531"/>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2" name="Celestica logo" descr="Celestica logo"/>
          <p:cNvPicPr>
            <a:picLocks noChangeAspect="1"/>
          </p:cNvPicPr>
          <p:nvPr/>
        </p:nvPicPr>
        <p:blipFill>
          <a:blip r:embed="rId2"/>
          <a:stretch>
            <a:fillRect/>
          </a:stretch>
        </p:blipFill>
        <p:spPr>
          <a:xfrm>
            <a:off x="571500" y="1978819"/>
            <a:ext cx="133350" cy="133350"/>
          </a:xfrm>
          <a:prstGeom prst="rect">
            <a:avLst/>
          </a:prstGeom>
        </p:spPr>
      </p:pic>
      <p:sp>
        <p:nvSpPr>
          <p:cNvPr id="13" name="TextBox 14">
            <a:hlinkClick r:id="rId3"/>
          </p:cNvPr>
          <p:cNvSpPr txBox="1"/>
          <p:nvPr/>
        </p:nvSpPr>
        <p:spPr>
          <a:xfrm>
            <a:off x="781050" y="1973580"/>
            <a:ext cx="48205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Celestica</a:t>
            </a:r>
          </a:p>
        </p:txBody>
      </p:sp>
      <p:sp>
        <p:nvSpPr>
          <p:cNvPr id="14" name="Panel"/>
          <p:cNvSpPr/>
          <p:nvPr/>
        </p:nvSpPr>
        <p:spPr>
          <a:xfrm>
            <a:off x="2076450" y="1921669"/>
            <a:ext cx="9525" cy="247650"/>
          </a:xfrm>
          <a:prstGeom prst="rect">
            <a:avLst/>
          </a:prstGeom>
          <a:solidFill>
            <a:srgbClr val="C3BDB6"/>
          </a:solidFill>
          <a:ln>
            <a:noFill/>
          </a:ln>
        </p:spPr>
        <p:txBody>
          <a:bodyPr rtlCol="0" anchor="ctr"/>
          <a:lstStyle/>
          <a:p>
            <a:pPr algn="ctr"/>
            <a:endParaRPr/>
          </a:p>
        </p:txBody>
      </p:sp>
      <p:sp>
        <p:nvSpPr>
          <p:cNvPr id="15" name="Panel"/>
          <p:cNvSpPr/>
          <p:nvPr/>
        </p:nvSpPr>
        <p:spPr>
          <a:xfrm>
            <a:off x="2143125" y="1993106"/>
            <a:ext cx="704850" cy="104775"/>
          </a:xfrm>
          <a:prstGeom prst="rect">
            <a:avLst/>
          </a:prstGeom>
          <a:solidFill>
            <a:srgbClr val="A0754A"/>
          </a:solidFill>
          <a:ln>
            <a:noFill/>
          </a:ln>
        </p:spPr>
        <p:txBody>
          <a:bodyPr rtlCol="0" anchor="ctr"/>
          <a:lstStyle/>
          <a:p>
            <a:pPr algn="ctr"/>
            <a:endParaRPr/>
          </a:p>
        </p:txBody>
      </p:sp>
      <p:sp>
        <p:nvSpPr>
          <p:cNvPr id="16" name="TextBox 17"/>
          <p:cNvSpPr txBox="1"/>
          <p:nvPr/>
        </p:nvSpPr>
        <p:spPr>
          <a:xfrm>
            <a:off x="2895600" y="1937861"/>
            <a:ext cx="30450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+62%</a:t>
            </a:r>
          </a:p>
        </p:txBody>
      </p:sp>
      <p:sp>
        <p:nvSpPr>
          <p:cNvPr id="17" name="Panel"/>
          <p:cNvSpPr/>
          <p:nvPr/>
        </p:nvSpPr>
        <p:spPr>
          <a:xfrm>
            <a:off x="557212" y="2235994"/>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8" name="TD SYNNEX logo" descr="TD SYNNEX logo"/>
          <p:cNvPicPr>
            <a:picLocks noChangeAspect="1"/>
          </p:cNvPicPr>
          <p:nvPr/>
        </p:nvPicPr>
        <p:blipFill>
          <a:blip r:embed="rId4"/>
          <a:stretch>
            <a:fillRect/>
          </a:stretch>
        </p:blipFill>
        <p:spPr>
          <a:xfrm>
            <a:off x="571500" y="2250281"/>
            <a:ext cx="133350" cy="133350"/>
          </a:xfrm>
          <a:prstGeom prst="rect">
            <a:avLst/>
          </a:prstGeom>
        </p:spPr>
      </p:pic>
      <p:sp>
        <p:nvSpPr>
          <p:cNvPr id="19" name="TextBox 20">
            <a:hlinkClick r:id="rId5"/>
          </p:cNvPr>
          <p:cNvSpPr txBox="1"/>
          <p:nvPr/>
        </p:nvSpPr>
        <p:spPr>
          <a:xfrm>
            <a:off x="781050" y="2245042"/>
            <a:ext cx="59278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TD SYNNEX</a:t>
            </a:r>
          </a:p>
        </p:txBody>
      </p:sp>
      <p:sp>
        <p:nvSpPr>
          <p:cNvPr id="20" name="Panel"/>
          <p:cNvSpPr/>
          <p:nvPr/>
        </p:nvSpPr>
        <p:spPr>
          <a:xfrm>
            <a:off x="2076450" y="2193131"/>
            <a:ext cx="9525" cy="247650"/>
          </a:xfrm>
          <a:prstGeom prst="rect">
            <a:avLst/>
          </a:prstGeom>
          <a:solidFill>
            <a:srgbClr val="C3BDB6"/>
          </a:solidFill>
          <a:ln>
            <a:noFill/>
          </a:ln>
        </p:spPr>
        <p:txBody>
          <a:bodyPr rtlCol="0" anchor="ctr"/>
          <a:lstStyle/>
          <a:p>
            <a:pPr algn="ctr"/>
            <a:endParaRPr/>
          </a:p>
        </p:txBody>
      </p:sp>
      <p:sp>
        <p:nvSpPr>
          <p:cNvPr id="21" name="Panel"/>
          <p:cNvSpPr/>
          <p:nvPr/>
        </p:nvSpPr>
        <p:spPr>
          <a:xfrm>
            <a:off x="2143125" y="2264569"/>
            <a:ext cx="428625" cy="104775"/>
          </a:xfrm>
          <a:prstGeom prst="rect">
            <a:avLst/>
          </a:prstGeom>
          <a:solidFill>
            <a:srgbClr val="A0754A"/>
          </a:solidFill>
          <a:ln>
            <a:noFill/>
          </a:ln>
        </p:spPr>
        <p:txBody>
          <a:bodyPr rtlCol="0" anchor="ctr"/>
          <a:lstStyle/>
          <a:p>
            <a:pPr algn="ctr"/>
            <a:endParaRPr/>
          </a:p>
        </p:txBody>
      </p:sp>
      <p:sp>
        <p:nvSpPr>
          <p:cNvPr id="22" name="TextBox 23"/>
          <p:cNvSpPr txBox="1"/>
          <p:nvPr/>
        </p:nvSpPr>
        <p:spPr>
          <a:xfrm>
            <a:off x="2619375" y="2209324"/>
            <a:ext cx="37415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+37.7%</a:t>
            </a:r>
          </a:p>
        </p:txBody>
      </p:sp>
      <p:sp>
        <p:nvSpPr>
          <p:cNvPr id="23" name="Panel"/>
          <p:cNvSpPr/>
          <p:nvPr/>
        </p:nvSpPr>
        <p:spPr>
          <a:xfrm>
            <a:off x="557212" y="277903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24" name="Palo Alto Networks logo" descr="Palo Alto Networks logo"/>
          <p:cNvPicPr>
            <a:picLocks noChangeAspect="1"/>
          </p:cNvPicPr>
          <p:nvPr/>
        </p:nvPicPr>
        <p:blipFill>
          <a:blip r:embed="rId6"/>
          <a:stretch>
            <a:fillRect/>
          </a:stretch>
        </p:blipFill>
        <p:spPr>
          <a:xfrm>
            <a:off x="571500" y="2793320"/>
            <a:ext cx="133350" cy="133350"/>
          </a:xfrm>
          <a:prstGeom prst="rect">
            <a:avLst/>
          </a:prstGeom>
        </p:spPr>
      </p:pic>
      <p:sp>
        <p:nvSpPr>
          <p:cNvPr id="25" name="TextBox 26">
            <a:hlinkClick r:id="rId7"/>
          </p:cNvPr>
          <p:cNvSpPr txBox="1"/>
          <p:nvPr/>
        </p:nvSpPr>
        <p:spPr>
          <a:xfrm>
            <a:off x="781050" y="2788081"/>
            <a:ext cx="958453"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Palo Alto Networks</a:t>
            </a:r>
          </a:p>
        </p:txBody>
      </p:sp>
      <p:sp>
        <p:nvSpPr>
          <p:cNvPr id="26" name="Panel"/>
          <p:cNvSpPr/>
          <p:nvPr/>
        </p:nvSpPr>
        <p:spPr>
          <a:xfrm>
            <a:off x="2076450" y="2736170"/>
            <a:ext cx="9525" cy="247650"/>
          </a:xfrm>
          <a:prstGeom prst="rect">
            <a:avLst/>
          </a:prstGeom>
          <a:solidFill>
            <a:srgbClr val="C3BDB6"/>
          </a:solidFill>
          <a:ln>
            <a:noFill/>
          </a:ln>
        </p:spPr>
        <p:txBody>
          <a:bodyPr rtlCol="0" anchor="ctr"/>
          <a:lstStyle/>
          <a:p>
            <a:pPr algn="ctr"/>
            <a:endParaRPr/>
          </a:p>
        </p:txBody>
      </p:sp>
      <p:sp>
        <p:nvSpPr>
          <p:cNvPr id="27" name="Panel"/>
          <p:cNvSpPr/>
          <p:nvPr/>
        </p:nvSpPr>
        <p:spPr>
          <a:xfrm>
            <a:off x="2143125" y="2807607"/>
            <a:ext cx="386655" cy="104775"/>
          </a:xfrm>
          <a:prstGeom prst="rect">
            <a:avLst/>
          </a:prstGeom>
          <a:solidFill>
            <a:srgbClr val="A0754A"/>
          </a:solidFill>
          <a:ln>
            <a:noFill/>
          </a:ln>
        </p:spPr>
        <p:txBody>
          <a:bodyPr rtlCol="0" anchor="ctr"/>
          <a:lstStyle/>
          <a:p>
            <a:pPr algn="ctr"/>
            <a:endParaRPr/>
          </a:p>
        </p:txBody>
      </p:sp>
      <p:sp>
        <p:nvSpPr>
          <p:cNvPr id="28" name="TextBox 29"/>
          <p:cNvSpPr txBox="1"/>
          <p:nvPr/>
        </p:nvSpPr>
        <p:spPr>
          <a:xfrm>
            <a:off x="2577405" y="2752362"/>
            <a:ext cx="304800"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+34%</a:t>
            </a:r>
          </a:p>
        </p:txBody>
      </p:sp>
      <p:sp>
        <p:nvSpPr>
          <p:cNvPr id="29" name="Panel"/>
          <p:cNvSpPr/>
          <p:nvPr/>
        </p:nvSpPr>
        <p:spPr>
          <a:xfrm>
            <a:off x="557212" y="305049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30" name="CrowdStrike logo" descr="CrowdStrike logo"/>
          <p:cNvPicPr>
            <a:picLocks noChangeAspect="1"/>
          </p:cNvPicPr>
          <p:nvPr/>
        </p:nvPicPr>
        <p:blipFill>
          <a:blip r:embed="rId8"/>
          <a:stretch>
            <a:fillRect/>
          </a:stretch>
        </p:blipFill>
        <p:spPr>
          <a:xfrm>
            <a:off x="571500" y="3064782"/>
            <a:ext cx="133350" cy="133350"/>
          </a:xfrm>
          <a:prstGeom prst="rect">
            <a:avLst/>
          </a:prstGeom>
        </p:spPr>
      </p:pic>
      <p:sp>
        <p:nvSpPr>
          <p:cNvPr id="31" name="TextBox 32">
            <a:hlinkClick r:id="rId9"/>
          </p:cNvPr>
          <p:cNvSpPr txBox="1"/>
          <p:nvPr/>
        </p:nvSpPr>
        <p:spPr>
          <a:xfrm>
            <a:off x="781050" y="3059544"/>
            <a:ext cx="627608"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CrowdStrike</a:t>
            </a:r>
          </a:p>
        </p:txBody>
      </p:sp>
      <p:sp>
        <p:nvSpPr>
          <p:cNvPr id="32" name="Panel"/>
          <p:cNvSpPr/>
          <p:nvPr/>
        </p:nvSpPr>
        <p:spPr>
          <a:xfrm>
            <a:off x="2076450" y="3007632"/>
            <a:ext cx="9525" cy="247650"/>
          </a:xfrm>
          <a:prstGeom prst="rect">
            <a:avLst/>
          </a:prstGeom>
          <a:solidFill>
            <a:srgbClr val="C3BDB6"/>
          </a:solidFill>
          <a:ln>
            <a:noFill/>
          </a:ln>
        </p:spPr>
        <p:txBody>
          <a:bodyPr rtlCol="0" anchor="ctr"/>
          <a:lstStyle/>
          <a:p>
            <a:pPr algn="ctr"/>
            <a:endParaRPr/>
          </a:p>
        </p:txBody>
      </p:sp>
      <p:sp>
        <p:nvSpPr>
          <p:cNvPr id="33" name="Panel"/>
          <p:cNvSpPr/>
          <p:nvPr/>
        </p:nvSpPr>
        <p:spPr>
          <a:xfrm>
            <a:off x="2143125" y="3079070"/>
            <a:ext cx="295275" cy="104775"/>
          </a:xfrm>
          <a:prstGeom prst="rect">
            <a:avLst/>
          </a:prstGeom>
          <a:solidFill>
            <a:srgbClr val="A0754A"/>
          </a:solidFill>
          <a:ln>
            <a:noFill/>
          </a:ln>
        </p:spPr>
        <p:txBody>
          <a:bodyPr rtlCol="0" anchor="ctr"/>
          <a:lstStyle/>
          <a:p>
            <a:pPr algn="ctr"/>
            <a:endParaRPr/>
          </a:p>
        </p:txBody>
      </p:sp>
      <p:sp>
        <p:nvSpPr>
          <p:cNvPr id="34" name="TextBox 35"/>
          <p:cNvSpPr txBox="1"/>
          <p:nvPr/>
        </p:nvSpPr>
        <p:spPr>
          <a:xfrm>
            <a:off x="2486025" y="3023825"/>
            <a:ext cx="30450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+26%</a:t>
            </a:r>
          </a:p>
        </p:txBody>
      </p:sp>
      <p:sp>
        <p:nvSpPr>
          <p:cNvPr id="35" name="Panel"/>
          <p:cNvSpPr/>
          <p:nvPr/>
        </p:nvSpPr>
        <p:spPr>
          <a:xfrm>
            <a:off x="557212" y="332195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36" name="Fortinet logo" descr="Fortinet logo"/>
          <p:cNvPicPr>
            <a:picLocks noChangeAspect="1"/>
          </p:cNvPicPr>
          <p:nvPr/>
        </p:nvPicPr>
        <p:blipFill>
          <a:blip r:embed="rId10"/>
          <a:stretch>
            <a:fillRect/>
          </a:stretch>
        </p:blipFill>
        <p:spPr>
          <a:xfrm>
            <a:off x="571500" y="3336245"/>
            <a:ext cx="133350" cy="133350"/>
          </a:xfrm>
          <a:prstGeom prst="rect">
            <a:avLst/>
          </a:prstGeom>
        </p:spPr>
      </p:pic>
      <p:sp>
        <p:nvSpPr>
          <p:cNvPr id="37" name="TextBox 38">
            <a:hlinkClick r:id="rId11"/>
          </p:cNvPr>
          <p:cNvSpPr txBox="1"/>
          <p:nvPr/>
        </p:nvSpPr>
        <p:spPr>
          <a:xfrm>
            <a:off x="781050" y="3331006"/>
            <a:ext cx="43026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Fortinet</a:t>
            </a:r>
          </a:p>
        </p:txBody>
      </p:sp>
      <p:sp>
        <p:nvSpPr>
          <p:cNvPr id="38" name="Panel"/>
          <p:cNvSpPr/>
          <p:nvPr/>
        </p:nvSpPr>
        <p:spPr>
          <a:xfrm>
            <a:off x="2076450" y="3279095"/>
            <a:ext cx="9525" cy="247650"/>
          </a:xfrm>
          <a:prstGeom prst="rect">
            <a:avLst/>
          </a:prstGeom>
          <a:solidFill>
            <a:srgbClr val="C3BDB6"/>
          </a:solidFill>
          <a:ln>
            <a:noFill/>
          </a:ln>
        </p:spPr>
        <p:txBody>
          <a:bodyPr rtlCol="0" anchor="ctr"/>
          <a:lstStyle/>
          <a:p>
            <a:pPr algn="ctr"/>
            <a:endParaRPr/>
          </a:p>
        </p:txBody>
      </p:sp>
      <p:sp>
        <p:nvSpPr>
          <p:cNvPr id="39" name="Panel"/>
          <p:cNvSpPr/>
          <p:nvPr/>
        </p:nvSpPr>
        <p:spPr>
          <a:xfrm>
            <a:off x="2143125" y="3350532"/>
            <a:ext cx="295275" cy="104775"/>
          </a:xfrm>
          <a:prstGeom prst="rect">
            <a:avLst/>
          </a:prstGeom>
          <a:solidFill>
            <a:srgbClr val="A0754A"/>
          </a:solidFill>
          <a:ln>
            <a:noFill/>
          </a:ln>
        </p:spPr>
        <p:txBody>
          <a:bodyPr rtlCol="0" anchor="ctr"/>
          <a:lstStyle/>
          <a:p>
            <a:pPr algn="ctr"/>
            <a:endParaRPr/>
          </a:p>
        </p:txBody>
      </p:sp>
      <p:sp>
        <p:nvSpPr>
          <p:cNvPr id="40" name="TextBox 41"/>
          <p:cNvSpPr txBox="1"/>
          <p:nvPr/>
        </p:nvSpPr>
        <p:spPr>
          <a:xfrm>
            <a:off x="2486025" y="3295287"/>
            <a:ext cx="30450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+26%</a:t>
            </a:r>
          </a:p>
        </p:txBody>
      </p:sp>
      <p:sp>
        <p:nvSpPr>
          <p:cNvPr id="41" name="Panel"/>
          <p:cNvSpPr/>
          <p:nvPr/>
        </p:nvSpPr>
        <p:spPr>
          <a:xfrm>
            <a:off x="557212" y="359342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42" name="Flex logo" descr="Flex logo"/>
          <p:cNvPicPr>
            <a:picLocks noChangeAspect="1"/>
          </p:cNvPicPr>
          <p:nvPr/>
        </p:nvPicPr>
        <p:blipFill>
          <a:blip r:embed="rId12"/>
          <a:stretch>
            <a:fillRect/>
          </a:stretch>
        </p:blipFill>
        <p:spPr>
          <a:xfrm>
            <a:off x="571500" y="3607707"/>
            <a:ext cx="133350" cy="133350"/>
          </a:xfrm>
          <a:prstGeom prst="rect">
            <a:avLst/>
          </a:prstGeom>
        </p:spPr>
      </p:pic>
      <p:sp>
        <p:nvSpPr>
          <p:cNvPr id="43" name="TextBox 44">
            <a:hlinkClick r:id="rId13"/>
          </p:cNvPr>
          <p:cNvSpPr txBox="1"/>
          <p:nvPr/>
        </p:nvSpPr>
        <p:spPr>
          <a:xfrm>
            <a:off x="781050" y="3602468"/>
            <a:ext cx="243483"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Flex</a:t>
            </a:r>
          </a:p>
        </p:txBody>
      </p:sp>
      <p:sp>
        <p:nvSpPr>
          <p:cNvPr id="44" name="Panel"/>
          <p:cNvSpPr/>
          <p:nvPr/>
        </p:nvSpPr>
        <p:spPr>
          <a:xfrm>
            <a:off x="2076450" y="3550557"/>
            <a:ext cx="9525" cy="247650"/>
          </a:xfrm>
          <a:prstGeom prst="rect">
            <a:avLst/>
          </a:prstGeom>
          <a:solidFill>
            <a:srgbClr val="C3BDB6"/>
          </a:solidFill>
          <a:ln>
            <a:noFill/>
          </a:ln>
        </p:spPr>
        <p:txBody>
          <a:bodyPr rtlCol="0" anchor="ctr"/>
          <a:lstStyle/>
          <a:p>
            <a:pPr algn="ctr"/>
            <a:endParaRPr/>
          </a:p>
        </p:txBody>
      </p:sp>
      <p:sp>
        <p:nvSpPr>
          <p:cNvPr id="45" name="Panel"/>
          <p:cNvSpPr/>
          <p:nvPr/>
        </p:nvSpPr>
        <p:spPr>
          <a:xfrm>
            <a:off x="2143125" y="3621995"/>
            <a:ext cx="239018" cy="104775"/>
          </a:xfrm>
          <a:prstGeom prst="rect">
            <a:avLst/>
          </a:prstGeom>
          <a:solidFill>
            <a:srgbClr val="A0754A"/>
          </a:solidFill>
          <a:ln>
            <a:noFill/>
          </a:ln>
        </p:spPr>
        <p:txBody>
          <a:bodyPr rtlCol="0" anchor="ctr"/>
          <a:lstStyle/>
          <a:p>
            <a:pPr algn="ctr"/>
            <a:endParaRPr/>
          </a:p>
        </p:txBody>
      </p:sp>
      <p:sp>
        <p:nvSpPr>
          <p:cNvPr id="46" name="TextBox 47"/>
          <p:cNvSpPr txBox="1"/>
          <p:nvPr/>
        </p:nvSpPr>
        <p:spPr>
          <a:xfrm>
            <a:off x="2429768" y="3566750"/>
            <a:ext cx="288875"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+21%</a:t>
            </a:r>
          </a:p>
        </p:txBody>
      </p:sp>
      <p:sp>
        <p:nvSpPr>
          <p:cNvPr id="47" name="Panel"/>
          <p:cNvSpPr/>
          <p:nvPr/>
        </p:nvSpPr>
        <p:spPr>
          <a:xfrm>
            <a:off x="557212" y="386488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48" name="CACI logo" descr="CACI logo"/>
          <p:cNvPicPr>
            <a:picLocks noChangeAspect="1"/>
          </p:cNvPicPr>
          <p:nvPr/>
        </p:nvPicPr>
        <p:blipFill>
          <a:blip r:embed="rId14"/>
          <a:stretch>
            <a:fillRect/>
          </a:stretch>
        </p:blipFill>
        <p:spPr>
          <a:xfrm>
            <a:off x="571500" y="3879170"/>
            <a:ext cx="133350" cy="133350"/>
          </a:xfrm>
          <a:prstGeom prst="rect">
            <a:avLst/>
          </a:prstGeom>
        </p:spPr>
      </p:pic>
      <p:sp>
        <p:nvSpPr>
          <p:cNvPr id="49" name="TextBox 50">
            <a:hlinkClick r:id="rId15"/>
          </p:cNvPr>
          <p:cNvSpPr txBox="1"/>
          <p:nvPr/>
        </p:nvSpPr>
        <p:spPr>
          <a:xfrm>
            <a:off x="781050" y="3873931"/>
            <a:ext cx="272058"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CACI</a:t>
            </a:r>
          </a:p>
        </p:txBody>
      </p:sp>
      <p:sp>
        <p:nvSpPr>
          <p:cNvPr id="50" name="Panel"/>
          <p:cNvSpPr/>
          <p:nvPr/>
        </p:nvSpPr>
        <p:spPr>
          <a:xfrm>
            <a:off x="2076450" y="3822020"/>
            <a:ext cx="9525" cy="247650"/>
          </a:xfrm>
          <a:prstGeom prst="rect">
            <a:avLst/>
          </a:prstGeom>
          <a:solidFill>
            <a:srgbClr val="C3BDB6"/>
          </a:solidFill>
          <a:ln>
            <a:noFill/>
          </a:ln>
        </p:spPr>
        <p:txBody>
          <a:bodyPr rtlCol="0" anchor="ctr"/>
          <a:lstStyle/>
          <a:p>
            <a:pPr algn="ctr"/>
            <a:endParaRPr/>
          </a:p>
        </p:txBody>
      </p:sp>
      <p:sp>
        <p:nvSpPr>
          <p:cNvPr id="51" name="Panel"/>
          <p:cNvSpPr/>
          <p:nvPr/>
        </p:nvSpPr>
        <p:spPr>
          <a:xfrm>
            <a:off x="2143125" y="3893457"/>
            <a:ext cx="200025" cy="104775"/>
          </a:xfrm>
          <a:prstGeom prst="rect">
            <a:avLst/>
          </a:prstGeom>
          <a:solidFill>
            <a:srgbClr val="A0754A"/>
          </a:solidFill>
          <a:ln>
            <a:noFill/>
          </a:ln>
        </p:spPr>
        <p:txBody>
          <a:bodyPr rtlCol="0" anchor="ctr"/>
          <a:lstStyle/>
          <a:p>
            <a:pPr algn="ctr"/>
            <a:endParaRPr/>
          </a:p>
        </p:txBody>
      </p:sp>
      <p:sp>
        <p:nvSpPr>
          <p:cNvPr id="52" name="TextBox 53"/>
          <p:cNvSpPr txBox="1"/>
          <p:nvPr/>
        </p:nvSpPr>
        <p:spPr>
          <a:xfrm>
            <a:off x="2390775" y="3838212"/>
            <a:ext cx="356741"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+17.6%</a:t>
            </a:r>
          </a:p>
        </p:txBody>
      </p:sp>
      <p:sp>
        <p:nvSpPr>
          <p:cNvPr id="53" name="Panel"/>
          <p:cNvSpPr/>
          <p:nvPr/>
        </p:nvSpPr>
        <p:spPr>
          <a:xfrm>
            <a:off x="557212" y="413634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54" name="Insight Enterprises logo" descr="Insight Enterprises logo"/>
          <p:cNvPicPr>
            <a:picLocks noChangeAspect="1"/>
          </p:cNvPicPr>
          <p:nvPr/>
        </p:nvPicPr>
        <p:blipFill>
          <a:blip r:embed="rId16"/>
          <a:stretch>
            <a:fillRect/>
          </a:stretch>
        </p:blipFill>
        <p:spPr>
          <a:xfrm>
            <a:off x="571500" y="4150632"/>
            <a:ext cx="133350" cy="133350"/>
          </a:xfrm>
          <a:prstGeom prst="rect">
            <a:avLst/>
          </a:prstGeom>
        </p:spPr>
      </p:pic>
      <p:sp>
        <p:nvSpPr>
          <p:cNvPr id="55" name="TextBox 56">
            <a:hlinkClick r:id="rId17"/>
          </p:cNvPr>
          <p:cNvSpPr txBox="1"/>
          <p:nvPr/>
        </p:nvSpPr>
        <p:spPr>
          <a:xfrm>
            <a:off x="781050" y="4145394"/>
            <a:ext cx="93062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Insight Enterprises</a:t>
            </a:r>
          </a:p>
        </p:txBody>
      </p:sp>
      <p:sp>
        <p:nvSpPr>
          <p:cNvPr id="56" name="Panel"/>
          <p:cNvSpPr/>
          <p:nvPr/>
        </p:nvSpPr>
        <p:spPr>
          <a:xfrm>
            <a:off x="2076450" y="4093482"/>
            <a:ext cx="9525" cy="247650"/>
          </a:xfrm>
          <a:prstGeom prst="rect">
            <a:avLst/>
          </a:prstGeom>
          <a:solidFill>
            <a:srgbClr val="C3BDB6"/>
          </a:solidFill>
          <a:ln>
            <a:noFill/>
          </a:ln>
        </p:spPr>
        <p:txBody>
          <a:bodyPr rtlCol="0" anchor="ctr"/>
          <a:lstStyle/>
          <a:p>
            <a:pPr algn="ctr"/>
            <a:endParaRPr/>
          </a:p>
        </p:txBody>
      </p:sp>
      <p:sp>
        <p:nvSpPr>
          <p:cNvPr id="57" name="Panel"/>
          <p:cNvSpPr/>
          <p:nvPr/>
        </p:nvSpPr>
        <p:spPr>
          <a:xfrm>
            <a:off x="2143125" y="4164920"/>
            <a:ext cx="170408" cy="104775"/>
          </a:xfrm>
          <a:prstGeom prst="rect">
            <a:avLst/>
          </a:prstGeom>
          <a:solidFill>
            <a:srgbClr val="A0754A"/>
          </a:solidFill>
          <a:ln>
            <a:noFill/>
          </a:ln>
        </p:spPr>
        <p:txBody>
          <a:bodyPr rtlCol="0" anchor="ctr"/>
          <a:lstStyle/>
          <a:p>
            <a:pPr algn="ctr"/>
            <a:endParaRPr/>
          </a:p>
        </p:txBody>
      </p:sp>
      <p:sp>
        <p:nvSpPr>
          <p:cNvPr id="58" name="TextBox 59"/>
          <p:cNvSpPr txBox="1"/>
          <p:nvPr/>
        </p:nvSpPr>
        <p:spPr>
          <a:xfrm>
            <a:off x="2361158" y="4109675"/>
            <a:ext cx="285750"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+15%</a:t>
            </a:r>
          </a:p>
        </p:txBody>
      </p:sp>
      <p:sp>
        <p:nvSpPr>
          <p:cNvPr id="59" name="Panel"/>
          <p:cNvSpPr/>
          <p:nvPr/>
        </p:nvSpPr>
        <p:spPr>
          <a:xfrm>
            <a:off x="557212" y="440780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60" name="Wesco logo" descr="Wesco logo"/>
          <p:cNvPicPr>
            <a:picLocks noChangeAspect="1"/>
          </p:cNvPicPr>
          <p:nvPr/>
        </p:nvPicPr>
        <p:blipFill>
          <a:blip r:embed="rId18"/>
          <a:stretch>
            <a:fillRect/>
          </a:stretch>
        </p:blipFill>
        <p:spPr>
          <a:xfrm>
            <a:off x="571500" y="4422095"/>
            <a:ext cx="133350" cy="133350"/>
          </a:xfrm>
          <a:prstGeom prst="rect">
            <a:avLst/>
          </a:prstGeom>
        </p:spPr>
      </p:pic>
      <p:sp>
        <p:nvSpPr>
          <p:cNvPr id="61" name="TextBox 62">
            <a:hlinkClick r:id="rId19"/>
          </p:cNvPr>
          <p:cNvSpPr txBox="1"/>
          <p:nvPr/>
        </p:nvSpPr>
        <p:spPr>
          <a:xfrm>
            <a:off x="781050" y="4416856"/>
            <a:ext cx="365075"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Wesco</a:t>
            </a:r>
          </a:p>
        </p:txBody>
      </p:sp>
      <p:sp>
        <p:nvSpPr>
          <p:cNvPr id="62" name="Panel"/>
          <p:cNvSpPr/>
          <p:nvPr/>
        </p:nvSpPr>
        <p:spPr>
          <a:xfrm>
            <a:off x="2076450" y="4364945"/>
            <a:ext cx="9525" cy="247650"/>
          </a:xfrm>
          <a:prstGeom prst="rect">
            <a:avLst/>
          </a:prstGeom>
          <a:solidFill>
            <a:srgbClr val="C3BDB6"/>
          </a:solidFill>
          <a:ln>
            <a:noFill/>
          </a:ln>
        </p:spPr>
        <p:txBody>
          <a:bodyPr rtlCol="0" anchor="ctr"/>
          <a:lstStyle/>
          <a:p>
            <a:pPr algn="ctr"/>
            <a:endParaRPr/>
          </a:p>
        </p:txBody>
      </p:sp>
      <p:sp>
        <p:nvSpPr>
          <p:cNvPr id="63" name="Panel"/>
          <p:cNvSpPr/>
          <p:nvPr/>
        </p:nvSpPr>
        <p:spPr>
          <a:xfrm>
            <a:off x="2143125" y="4436382"/>
            <a:ext cx="147638" cy="104775"/>
          </a:xfrm>
          <a:prstGeom prst="rect">
            <a:avLst/>
          </a:prstGeom>
          <a:solidFill>
            <a:srgbClr val="A0754A"/>
          </a:solidFill>
          <a:ln>
            <a:noFill/>
          </a:ln>
        </p:spPr>
        <p:txBody>
          <a:bodyPr rtlCol="0" anchor="ctr"/>
          <a:lstStyle/>
          <a:p>
            <a:pPr algn="ctr"/>
            <a:endParaRPr/>
          </a:p>
        </p:txBody>
      </p:sp>
      <p:sp>
        <p:nvSpPr>
          <p:cNvPr id="64" name="TextBox 65"/>
          <p:cNvSpPr txBox="1"/>
          <p:nvPr/>
        </p:nvSpPr>
        <p:spPr>
          <a:xfrm>
            <a:off x="2338388" y="4381137"/>
            <a:ext cx="282029"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+13%</a:t>
            </a:r>
          </a:p>
        </p:txBody>
      </p:sp>
      <p:sp>
        <p:nvSpPr>
          <p:cNvPr id="65" name="Panel"/>
          <p:cNvSpPr/>
          <p:nvPr/>
        </p:nvSpPr>
        <p:spPr>
          <a:xfrm>
            <a:off x="557212" y="467927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66" name="CDW logo" descr="CDW logo"/>
          <p:cNvPicPr>
            <a:picLocks noChangeAspect="1"/>
          </p:cNvPicPr>
          <p:nvPr/>
        </p:nvPicPr>
        <p:blipFill>
          <a:blip r:embed="rId20"/>
          <a:stretch>
            <a:fillRect/>
          </a:stretch>
        </p:blipFill>
        <p:spPr>
          <a:xfrm>
            <a:off x="571500" y="4693557"/>
            <a:ext cx="133350" cy="133350"/>
          </a:xfrm>
          <a:prstGeom prst="rect">
            <a:avLst/>
          </a:prstGeom>
        </p:spPr>
      </p:pic>
      <p:sp>
        <p:nvSpPr>
          <p:cNvPr id="67" name="TextBox 68">
            <a:hlinkClick r:id="rId21"/>
          </p:cNvPr>
          <p:cNvSpPr txBox="1"/>
          <p:nvPr/>
        </p:nvSpPr>
        <p:spPr>
          <a:xfrm>
            <a:off x="781050" y="4688318"/>
            <a:ext cx="281880"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CDW</a:t>
            </a:r>
          </a:p>
        </p:txBody>
      </p:sp>
      <p:sp>
        <p:nvSpPr>
          <p:cNvPr id="68" name="Panel"/>
          <p:cNvSpPr/>
          <p:nvPr/>
        </p:nvSpPr>
        <p:spPr>
          <a:xfrm>
            <a:off x="2076450" y="4636407"/>
            <a:ext cx="9525" cy="247650"/>
          </a:xfrm>
          <a:prstGeom prst="rect">
            <a:avLst/>
          </a:prstGeom>
          <a:solidFill>
            <a:srgbClr val="C3BDB6"/>
          </a:solidFill>
          <a:ln>
            <a:noFill/>
          </a:ln>
        </p:spPr>
        <p:txBody>
          <a:bodyPr rtlCol="0" anchor="ctr"/>
          <a:lstStyle/>
          <a:p>
            <a:pPr algn="ctr"/>
            <a:endParaRPr/>
          </a:p>
        </p:txBody>
      </p:sp>
      <p:sp>
        <p:nvSpPr>
          <p:cNvPr id="69" name="Panel"/>
          <p:cNvSpPr/>
          <p:nvPr/>
        </p:nvSpPr>
        <p:spPr>
          <a:xfrm>
            <a:off x="2143125" y="4707845"/>
            <a:ext cx="113258" cy="104775"/>
          </a:xfrm>
          <a:prstGeom prst="rect">
            <a:avLst/>
          </a:prstGeom>
          <a:solidFill>
            <a:srgbClr val="A0754A"/>
          </a:solidFill>
          <a:ln>
            <a:noFill/>
          </a:ln>
        </p:spPr>
        <p:txBody>
          <a:bodyPr rtlCol="0" anchor="ctr"/>
          <a:lstStyle/>
          <a:p>
            <a:pPr algn="ctr"/>
            <a:endParaRPr/>
          </a:p>
        </p:txBody>
      </p:sp>
      <p:sp>
        <p:nvSpPr>
          <p:cNvPr id="70" name="TextBox 71"/>
          <p:cNvSpPr txBox="1"/>
          <p:nvPr/>
        </p:nvSpPr>
        <p:spPr>
          <a:xfrm>
            <a:off x="2304008" y="4652600"/>
            <a:ext cx="28932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+10%</a:t>
            </a:r>
          </a:p>
        </p:txBody>
      </p:sp>
      <p:sp>
        <p:nvSpPr>
          <p:cNvPr id="71" name="Panel"/>
          <p:cNvSpPr/>
          <p:nvPr/>
        </p:nvSpPr>
        <p:spPr>
          <a:xfrm>
            <a:off x="557212" y="495073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72" name="Napco Security logo" descr="Napco Security logo"/>
          <p:cNvPicPr>
            <a:picLocks noChangeAspect="1"/>
          </p:cNvPicPr>
          <p:nvPr/>
        </p:nvPicPr>
        <p:blipFill>
          <a:blip r:embed="rId22"/>
          <a:stretch>
            <a:fillRect/>
          </a:stretch>
        </p:blipFill>
        <p:spPr>
          <a:xfrm>
            <a:off x="571500" y="4965020"/>
            <a:ext cx="133350" cy="133350"/>
          </a:xfrm>
          <a:prstGeom prst="rect">
            <a:avLst/>
          </a:prstGeom>
        </p:spPr>
      </p:pic>
      <p:sp>
        <p:nvSpPr>
          <p:cNvPr id="73" name="TextBox 74">
            <a:hlinkClick r:id="rId23"/>
          </p:cNvPr>
          <p:cNvSpPr txBox="1"/>
          <p:nvPr/>
        </p:nvSpPr>
        <p:spPr>
          <a:xfrm>
            <a:off x="781050" y="4959781"/>
            <a:ext cx="776288"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Napco Security</a:t>
            </a:r>
          </a:p>
        </p:txBody>
      </p:sp>
      <p:sp>
        <p:nvSpPr>
          <p:cNvPr id="74" name="Panel"/>
          <p:cNvSpPr/>
          <p:nvPr/>
        </p:nvSpPr>
        <p:spPr>
          <a:xfrm>
            <a:off x="2076450" y="4907870"/>
            <a:ext cx="9525" cy="247650"/>
          </a:xfrm>
          <a:prstGeom prst="rect">
            <a:avLst/>
          </a:prstGeom>
          <a:solidFill>
            <a:srgbClr val="C3BDB6"/>
          </a:solidFill>
          <a:ln>
            <a:noFill/>
          </a:ln>
        </p:spPr>
        <p:txBody>
          <a:bodyPr rtlCol="0" anchor="ctr"/>
          <a:lstStyle/>
          <a:p>
            <a:pPr algn="ctr"/>
            <a:endParaRPr/>
          </a:p>
        </p:txBody>
      </p:sp>
      <p:sp>
        <p:nvSpPr>
          <p:cNvPr id="75" name="Panel"/>
          <p:cNvSpPr/>
          <p:nvPr/>
        </p:nvSpPr>
        <p:spPr>
          <a:xfrm>
            <a:off x="2143125" y="4979307"/>
            <a:ext cx="113258" cy="104775"/>
          </a:xfrm>
          <a:prstGeom prst="rect">
            <a:avLst/>
          </a:prstGeom>
          <a:solidFill>
            <a:srgbClr val="A0754A"/>
          </a:solidFill>
          <a:ln>
            <a:noFill/>
          </a:ln>
        </p:spPr>
        <p:txBody>
          <a:bodyPr rtlCol="0" anchor="ctr"/>
          <a:lstStyle/>
          <a:p>
            <a:pPr algn="ctr"/>
            <a:endParaRPr/>
          </a:p>
        </p:txBody>
      </p:sp>
      <p:sp>
        <p:nvSpPr>
          <p:cNvPr id="76" name="TextBox 77"/>
          <p:cNvSpPr txBox="1"/>
          <p:nvPr/>
        </p:nvSpPr>
        <p:spPr>
          <a:xfrm>
            <a:off x="2304008" y="4924062"/>
            <a:ext cx="28932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+10%</a:t>
            </a:r>
          </a:p>
        </p:txBody>
      </p:sp>
      <p:sp>
        <p:nvSpPr>
          <p:cNvPr id="77" name="Panel"/>
          <p:cNvSpPr/>
          <p:nvPr/>
        </p:nvSpPr>
        <p:spPr>
          <a:xfrm>
            <a:off x="557212" y="522219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78" name="Tyler Technologies logo" descr="Tyler Technologies logo"/>
          <p:cNvPicPr>
            <a:picLocks noChangeAspect="1"/>
          </p:cNvPicPr>
          <p:nvPr/>
        </p:nvPicPr>
        <p:blipFill>
          <a:blip r:embed="rId24"/>
          <a:stretch>
            <a:fillRect/>
          </a:stretch>
        </p:blipFill>
        <p:spPr>
          <a:xfrm>
            <a:off x="571500" y="5236482"/>
            <a:ext cx="133350" cy="133350"/>
          </a:xfrm>
          <a:prstGeom prst="rect">
            <a:avLst/>
          </a:prstGeom>
        </p:spPr>
      </p:pic>
      <p:sp>
        <p:nvSpPr>
          <p:cNvPr id="79" name="TextBox 80">
            <a:hlinkClick r:id="rId25"/>
          </p:cNvPr>
          <p:cNvSpPr txBox="1"/>
          <p:nvPr/>
        </p:nvSpPr>
        <p:spPr>
          <a:xfrm>
            <a:off x="781050" y="5231244"/>
            <a:ext cx="93553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Tyler Technologies</a:t>
            </a:r>
          </a:p>
        </p:txBody>
      </p:sp>
      <p:sp>
        <p:nvSpPr>
          <p:cNvPr id="80" name="Panel"/>
          <p:cNvSpPr/>
          <p:nvPr/>
        </p:nvSpPr>
        <p:spPr>
          <a:xfrm>
            <a:off x="2076450" y="5179332"/>
            <a:ext cx="9525" cy="247650"/>
          </a:xfrm>
          <a:prstGeom prst="rect">
            <a:avLst/>
          </a:prstGeom>
          <a:solidFill>
            <a:srgbClr val="C3BDB6"/>
          </a:solidFill>
          <a:ln>
            <a:noFill/>
          </a:ln>
        </p:spPr>
        <p:txBody>
          <a:bodyPr rtlCol="0" anchor="ctr"/>
          <a:lstStyle/>
          <a:p>
            <a:pPr algn="ctr"/>
            <a:endParaRPr/>
          </a:p>
        </p:txBody>
      </p:sp>
      <p:sp>
        <p:nvSpPr>
          <p:cNvPr id="81" name="Panel"/>
          <p:cNvSpPr/>
          <p:nvPr/>
        </p:nvSpPr>
        <p:spPr>
          <a:xfrm>
            <a:off x="2143125" y="5250770"/>
            <a:ext cx="93315" cy="104775"/>
          </a:xfrm>
          <a:prstGeom prst="rect">
            <a:avLst/>
          </a:prstGeom>
          <a:solidFill>
            <a:srgbClr val="A0754A"/>
          </a:solidFill>
          <a:ln>
            <a:noFill/>
          </a:ln>
        </p:spPr>
        <p:txBody>
          <a:bodyPr rtlCol="0" anchor="ctr"/>
          <a:lstStyle/>
          <a:p>
            <a:pPr algn="ctr"/>
            <a:endParaRPr/>
          </a:p>
        </p:txBody>
      </p:sp>
      <p:sp>
        <p:nvSpPr>
          <p:cNvPr id="82" name="TextBox 83"/>
          <p:cNvSpPr txBox="1"/>
          <p:nvPr/>
        </p:nvSpPr>
        <p:spPr>
          <a:xfrm>
            <a:off x="2284065" y="5195525"/>
            <a:ext cx="32965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+8.2%</a:t>
            </a:r>
          </a:p>
        </p:txBody>
      </p:sp>
      <p:sp>
        <p:nvSpPr>
          <p:cNvPr id="83" name="Panel"/>
          <p:cNvSpPr/>
          <p:nvPr/>
        </p:nvSpPr>
        <p:spPr>
          <a:xfrm>
            <a:off x="557212" y="549365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84" name="Leidos logo" descr="Leidos logo"/>
          <p:cNvPicPr>
            <a:picLocks noChangeAspect="1"/>
          </p:cNvPicPr>
          <p:nvPr/>
        </p:nvPicPr>
        <p:blipFill>
          <a:blip r:embed="rId26"/>
          <a:stretch>
            <a:fillRect/>
          </a:stretch>
        </p:blipFill>
        <p:spPr>
          <a:xfrm>
            <a:off x="571500" y="5507945"/>
            <a:ext cx="133350" cy="133350"/>
          </a:xfrm>
          <a:prstGeom prst="rect">
            <a:avLst/>
          </a:prstGeom>
        </p:spPr>
      </p:pic>
      <p:sp>
        <p:nvSpPr>
          <p:cNvPr id="85" name="TextBox 86">
            <a:hlinkClick r:id="rId27"/>
          </p:cNvPr>
          <p:cNvSpPr txBox="1"/>
          <p:nvPr/>
        </p:nvSpPr>
        <p:spPr>
          <a:xfrm>
            <a:off x="781050" y="5502706"/>
            <a:ext cx="361950"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Leidos</a:t>
            </a:r>
          </a:p>
        </p:txBody>
      </p:sp>
      <p:sp>
        <p:nvSpPr>
          <p:cNvPr id="86" name="Panel"/>
          <p:cNvSpPr/>
          <p:nvPr/>
        </p:nvSpPr>
        <p:spPr>
          <a:xfrm>
            <a:off x="2076450" y="5450795"/>
            <a:ext cx="9525" cy="247650"/>
          </a:xfrm>
          <a:prstGeom prst="rect">
            <a:avLst/>
          </a:prstGeom>
          <a:solidFill>
            <a:srgbClr val="C3BDB6"/>
          </a:solidFill>
          <a:ln>
            <a:noFill/>
          </a:ln>
        </p:spPr>
        <p:txBody>
          <a:bodyPr rtlCol="0" anchor="ctr"/>
          <a:lstStyle/>
          <a:p>
            <a:pPr algn="ctr"/>
            <a:endParaRPr/>
          </a:p>
        </p:txBody>
      </p:sp>
      <p:sp>
        <p:nvSpPr>
          <p:cNvPr id="87" name="Panel"/>
          <p:cNvSpPr/>
          <p:nvPr/>
        </p:nvSpPr>
        <p:spPr>
          <a:xfrm>
            <a:off x="2143125" y="5522232"/>
            <a:ext cx="79921" cy="104775"/>
          </a:xfrm>
          <a:prstGeom prst="rect">
            <a:avLst/>
          </a:prstGeom>
          <a:solidFill>
            <a:srgbClr val="A0754A"/>
          </a:solidFill>
          <a:ln>
            <a:noFill/>
          </a:ln>
        </p:spPr>
        <p:txBody>
          <a:bodyPr rtlCol="0" anchor="ctr"/>
          <a:lstStyle/>
          <a:p>
            <a:pPr algn="ctr"/>
            <a:endParaRPr/>
          </a:p>
        </p:txBody>
      </p:sp>
      <p:sp>
        <p:nvSpPr>
          <p:cNvPr id="88" name="TextBox 89"/>
          <p:cNvSpPr txBox="1"/>
          <p:nvPr/>
        </p:nvSpPr>
        <p:spPr>
          <a:xfrm>
            <a:off x="2270671" y="5466987"/>
            <a:ext cx="247948"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+7%</a:t>
            </a:r>
          </a:p>
        </p:txBody>
      </p:sp>
      <p:sp>
        <p:nvSpPr>
          <p:cNvPr id="89" name="Panel"/>
          <p:cNvSpPr/>
          <p:nvPr/>
        </p:nvSpPr>
        <p:spPr>
          <a:xfrm>
            <a:off x="557212" y="576512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90" name="Accenture logo" descr="Accenture logo"/>
          <p:cNvPicPr>
            <a:picLocks noChangeAspect="1"/>
          </p:cNvPicPr>
          <p:nvPr/>
        </p:nvPicPr>
        <p:blipFill>
          <a:blip r:embed="rId28"/>
          <a:stretch>
            <a:fillRect/>
          </a:stretch>
        </p:blipFill>
        <p:spPr>
          <a:xfrm>
            <a:off x="571500" y="5779407"/>
            <a:ext cx="133350" cy="133350"/>
          </a:xfrm>
          <a:prstGeom prst="rect">
            <a:avLst/>
          </a:prstGeom>
        </p:spPr>
      </p:pic>
      <p:sp>
        <p:nvSpPr>
          <p:cNvPr id="91" name="TextBox 92">
            <a:hlinkClick r:id="rId29"/>
          </p:cNvPr>
          <p:cNvSpPr txBox="1"/>
          <p:nvPr/>
        </p:nvSpPr>
        <p:spPr>
          <a:xfrm>
            <a:off x="781050" y="5774168"/>
            <a:ext cx="531316"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Accenture</a:t>
            </a:r>
          </a:p>
        </p:txBody>
      </p:sp>
      <p:sp>
        <p:nvSpPr>
          <p:cNvPr id="92" name="Panel"/>
          <p:cNvSpPr/>
          <p:nvPr/>
        </p:nvSpPr>
        <p:spPr>
          <a:xfrm>
            <a:off x="2076450" y="5722257"/>
            <a:ext cx="9525" cy="247650"/>
          </a:xfrm>
          <a:prstGeom prst="rect">
            <a:avLst/>
          </a:prstGeom>
          <a:solidFill>
            <a:srgbClr val="C3BDB6"/>
          </a:solidFill>
          <a:ln>
            <a:noFill/>
          </a:ln>
        </p:spPr>
        <p:txBody>
          <a:bodyPr rtlCol="0" anchor="ctr"/>
          <a:lstStyle/>
          <a:p>
            <a:pPr algn="ctr"/>
            <a:endParaRPr/>
          </a:p>
        </p:txBody>
      </p:sp>
      <p:sp>
        <p:nvSpPr>
          <p:cNvPr id="93" name="Panel"/>
          <p:cNvSpPr/>
          <p:nvPr/>
        </p:nvSpPr>
        <p:spPr>
          <a:xfrm>
            <a:off x="2143125" y="5793695"/>
            <a:ext cx="68461" cy="104775"/>
          </a:xfrm>
          <a:prstGeom prst="rect">
            <a:avLst/>
          </a:prstGeom>
          <a:solidFill>
            <a:srgbClr val="A0754A"/>
          </a:solidFill>
          <a:ln>
            <a:noFill/>
          </a:ln>
        </p:spPr>
        <p:txBody>
          <a:bodyPr rtlCol="0" anchor="ctr"/>
          <a:lstStyle/>
          <a:p>
            <a:pPr algn="ctr"/>
            <a:endParaRPr/>
          </a:p>
        </p:txBody>
      </p:sp>
      <p:sp>
        <p:nvSpPr>
          <p:cNvPr id="94" name="TextBox 95"/>
          <p:cNvSpPr txBox="1"/>
          <p:nvPr/>
        </p:nvSpPr>
        <p:spPr>
          <a:xfrm>
            <a:off x="2259211" y="5738450"/>
            <a:ext cx="24839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+6%</a:t>
            </a:r>
          </a:p>
        </p:txBody>
      </p:sp>
      <p:sp>
        <p:nvSpPr>
          <p:cNvPr id="95" name="Panel"/>
          <p:cNvSpPr/>
          <p:nvPr/>
        </p:nvSpPr>
        <p:spPr>
          <a:xfrm>
            <a:off x="557212" y="603658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96" name="RingCentral logo" descr="RingCentral logo"/>
          <p:cNvPicPr>
            <a:picLocks noChangeAspect="1"/>
          </p:cNvPicPr>
          <p:nvPr/>
        </p:nvPicPr>
        <p:blipFill>
          <a:blip r:embed="rId30"/>
          <a:stretch>
            <a:fillRect/>
          </a:stretch>
        </p:blipFill>
        <p:spPr>
          <a:xfrm>
            <a:off x="571500" y="6050870"/>
            <a:ext cx="133350" cy="133350"/>
          </a:xfrm>
          <a:prstGeom prst="rect">
            <a:avLst/>
          </a:prstGeom>
        </p:spPr>
      </p:pic>
      <p:sp>
        <p:nvSpPr>
          <p:cNvPr id="97" name="TextBox 98">
            <a:hlinkClick r:id="rId31"/>
          </p:cNvPr>
          <p:cNvSpPr txBox="1"/>
          <p:nvPr/>
        </p:nvSpPr>
        <p:spPr>
          <a:xfrm>
            <a:off x="781050" y="6045631"/>
            <a:ext cx="61168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RingCentral</a:t>
            </a:r>
          </a:p>
        </p:txBody>
      </p:sp>
      <p:sp>
        <p:nvSpPr>
          <p:cNvPr id="98" name="Panel"/>
          <p:cNvSpPr/>
          <p:nvPr/>
        </p:nvSpPr>
        <p:spPr>
          <a:xfrm>
            <a:off x="2076450" y="5993720"/>
            <a:ext cx="9525" cy="247650"/>
          </a:xfrm>
          <a:prstGeom prst="rect">
            <a:avLst/>
          </a:prstGeom>
          <a:solidFill>
            <a:srgbClr val="C3BDB6"/>
          </a:solidFill>
          <a:ln>
            <a:noFill/>
          </a:ln>
        </p:spPr>
        <p:txBody>
          <a:bodyPr rtlCol="0" anchor="ctr"/>
          <a:lstStyle/>
          <a:p>
            <a:pPr algn="ctr"/>
            <a:endParaRPr/>
          </a:p>
        </p:txBody>
      </p:sp>
      <p:sp>
        <p:nvSpPr>
          <p:cNvPr id="99" name="Panel"/>
          <p:cNvSpPr/>
          <p:nvPr/>
        </p:nvSpPr>
        <p:spPr>
          <a:xfrm>
            <a:off x="2143125" y="6065157"/>
            <a:ext cx="66675" cy="104775"/>
          </a:xfrm>
          <a:prstGeom prst="rect">
            <a:avLst/>
          </a:prstGeom>
          <a:solidFill>
            <a:srgbClr val="A0754A"/>
          </a:solidFill>
          <a:ln>
            <a:noFill/>
          </a:ln>
        </p:spPr>
        <p:txBody>
          <a:bodyPr rtlCol="0" anchor="ctr"/>
          <a:lstStyle/>
          <a:p>
            <a:pPr algn="ctr"/>
            <a:endParaRPr/>
          </a:p>
        </p:txBody>
      </p:sp>
      <p:sp>
        <p:nvSpPr>
          <p:cNvPr id="100" name="TextBox 101"/>
          <p:cNvSpPr txBox="1"/>
          <p:nvPr/>
        </p:nvSpPr>
        <p:spPr>
          <a:xfrm>
            <a:off x="2257425" y="6009912"/>
            <a:ext cx="32846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+5.9%</a:t>
            </a:r>
          </a:p>
        </p:txBody>
      </p:sp>
      <p:sp>
        <p:nvSpPr>
          <p:cNvPr id="101" name="Panel"/>
          <p:cNvSpPr/>
          <p:nvPr/>
        </p:nvSpPr>
        <p:spPr>
          <a:xfrm>
            <a:off x="557212" y="630804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02" name="Zoom logo" descr="Zoom logo"/>
          <p:cNvPicPr>
            <a:picLocks noChangeAspect="1"/>
          </p:cNvPicPr>
          <p:nvPr/>
        </p:nvPicPr>
        <p:blipFill>
          <a:blip r:embed="rId32"/>
          <a:stretch>
            <a:fillRect/>
          </a:stretch>
        </p:blipFill>
        <p:spPr>
          <a:xfrm>
            <a:off x="571500" y="6322332"/>
            <a:ext cx="133350" cy="133350"/>
          </a:xfrm>
          <a:prstGeom prst="rect">
            <a:avLst/>
          </a:prstGeom>
        </p:spPr>
      </p:pic>
      <p:sp>
        <p:nvSpPr>
          <p:cNvPr id="103" name="TextBox 104">
            <a:hlinkClick r:id="rId33"/>
          </p:cNvPr>
          <p:cNvSpPr txBox="1"/>
          <p:nvPr/>
        </p:nvSpPr>
        <p:spPr>
          <a:xfrm>
            <a:off x="781050" y="6317094"/>
            <a:ext cx="33099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Zoom</a:t>
            </a:r>
          </a:p>
        </p:txBody>
      </p:sp>
      <p:sp>
        <p:nvSpPr>
          <p:cNvPr id="104" name="Panel"/>
          <p:cNvSpPr/>
          <p:nvPr/>
        </p:nvSpPr>
        <p:spPr>
          <a:xfrm>
            <a:off x="2076450" y="6265182"/>
            <a:ext cx="9525" cy="247650"/>
          </a:xfrm>
          <a:prstGeom prst="rect">
            <a:avLst/>
          </a:prstGeom>
          <a:solidFill>
            <a:srgbClr val="C3BDB6"/>
          </a:solidFill>
          <a:ln>
            <a:noFill/>
          </a:ln>
        </p:spPr>
        <p:txBody>
          <a:bodyPr rtlCol="0" anchor="ctr"/>
          <a:lstStyle/>
          <a:p>
            <a:pPr algn="ctr"/>
            <a:endParaRPr/>
          </a:p>
        </p:txBody>
      </p:sp>
      <p:sp>
        <p:nvSpPr>
          <p:cNvPr id="105" name="Panel"/>
          <p:cNvSpPr/>
          <p:nvPr/>
        </p:nvSpPr>
        <p:spPr>
          <a:xfrm>
            <a:off x="2143125" y="6336620"/>
            <a:ext cx="55215" cy="104775"/>
          </a:xfrm>
          <a:prstGeom prst="rect">
            <a:avLst/>
          </a:prstGeom>
          <a:solidFill>
            <a:srgbClr val="A0754A"/>
          </a:solidFill>
          <a:ln>
            <a:noFill/>
          </a:ln>
        </p:spPr>
        <p:txBody>
          <a:bodyPr rtlCol="0" anchor="ctr"/>
          <a:lstStyle/>
          <a:p>
            <a:pPr algn="ctr"/>
            <a:endParaRPr/>
          </a:p>
        </p:txBody>
      </p:sp>
      <p:sp>
        <p:nvSpPr>
          <p:cNvPr id="106" name="TextBox 107"/>
          <p:cNvSpPr txBox="1"/>
          <p:nvPr/>
        </p:nvSpPr>
        <p:spPr>
          <a:xfrm>
            <a:off x="2245965" y="6281375"/>
            <a:ext cx="333375"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+4.9%</a:t>
            </a:r>
          </a:p>
        </p:txBody>
      </p:sp>
      <p:sp>
        <p:nvSpPr>
          <p:cNvPr id="107" name="Panel"/>
          <p:cNvSpPr/>
          <p:nvPr/>
        </p:nvSpPr>
        <p:spPr>
          <a:xfrm>
            <a:off x="557212" y="657950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08" name="Booz Allen Hamilton logo" descr="Booz Allen Hamilton logo"/>
          <p:cNvPicPr>
            <a:picLocks noChangeAspect="1"/>
          </p:cNvPicPr>
          <p:nvPr/>
        </p:nvPicPr>
        <p:blipFill>
          <a:blip r:embed="rId34"/>
          <a:stretch>
            <a:fillRect/>
          </a:stretch>
        </p:blipFill>
        <p:spPr>
          <a:xfrm>
            <a:off x="571500" y="6593795"/>
            <a:ext cx="133350" cy="133350"/>
          </a:xfrm>
          <a:prstGeom prst="rect">
            <a:avLst/>
          </a:prstGeom>
        </p:spPr>
      </p:pic>
      <p:sp>
        <p:nvSpPr>
          <p:cNvPr id="109" name="TextBox 110">
            <a:hlinkClick r:id="rId35"/>
          </p:cNvPr>
          <p:cNvSpPr txBox="1"/>
          <p:nvPr/>
        </p:nvSpPr>
        <p:spPr>
          <a:xfrm>
            <a:off x="781050" y="6588556"/>
            <a:ext cx="100429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Booz Allen Hamilton</a:t>
            </a:r>
          </a:p>
        </p:txBody>
      </p:sp>
      <p:sp>
        <p:nvSpPr>
          <p:cNvPr id="110" name="Panel"/>
          <p:cNvSpPr/>
          <p:nvPr/>
        </p:nvSpPr>
        <p:spPr>
          <a:xfrm>
            <a:off x="1971675" y="6608082"/>
            <a:ext cx="47625" cy="104775"/>
          </a:xfrm>
          <a:prstGeom prst="rect">
            <a:avLst/>
          </a:prstGeom>
          <a:solidFill>
            <a:srgbClr val="A0754A"/>
          </a:solidFill>
          <a:ln>
            <a:noFill/>
          </a:ln>
        </p:spPr>
        <p:txBody>
          <a:bodyPr rtlCol="0" anchor="ctr"/>
          <a:lstStyle/>
          <a:p>
            <a:pPr algn="ctr"/>
            <a:endParaRPr/>
          </a:p>
        </p:txBody>
      </p:sp>
      <p:sp>
        <p:nvSpPr>
          <p:cNvPr id="111" name="Panel"/>
          <p:cNvSpPr/>
          <p:nvPr/>
        </p:nvSpPr>
        <p:spPr>
          <a:xfrm>
            <a:off x="2076450" y="6536645"/>
            <a:ext cx="9525" cy="247650"/>
          </a:xfrm>
          <a:prstGeom prst="rect">
            <a:avLst/>
          </a:prstGeom>
          <a:solidFill>
            <a:srgbClr val="C3BDB6"/>
          </a:solidFill>
          <a:ln>
            <a:noFill/>
          </a:ln>
        </p:spPr>
        <p:txBody>
          <a:bodyPr rtlCol="0" anchor="ctr"/>
          <a:lstStyle/>
          <a:p>
            <a:pPr algn="ctr"/>
            <a:endParaRPr/>
          </a:p>
        </p:txBody>
      </p:sp>
      <p:sp>
        <p:nvSpPr>
          <p:cNvPr id="112" name="TextBox 113"/>
          <p:cNvSpPr txBox="1"/>
          <p:nvPr/>
        </p:nvSpPr>
        <p:spPr>
          <a:xfrm>
            <a:off x="2143125" y="6552837"/>
            <a:ext cx="337393"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−4.2%</a:t>
            </a:r>
          </a:p>
        </p:txBody>
      </p:sp>
      <p:sp>
        <p:nvSpPr>
          <p:cNvPr id="113" name="Panel"/>
          <p:cNvSpPr/>
          <p:nvPr/>
        </p:nvSpPr>
        <p:spPr>
          <a:xfrm>
            <a:off x="3429000" y="1238250"/>
            <a:ext cx="1981200" cy="419100"/>
          </a:xfrm>
          <a:prstGeom prst="rect">
            <a:avLst/>
          </a:prstGeom>
          <a:solidFill>
            <a:srgbClr val="1B1A1A"/>
          </a:solidFill>
          <a:ln>
            <a:noFill/>
          </a:ln>
        </p:spPr>
        <p:txBody>
          <a:bodyPr rtlCol="0" anchor="ctr"/>
          <a:lstStyle/>
          <a:p>
            <a:pPr algn="ctr"/>
            <a:endParaRPr/>
          </a:p>
        </p:txBody>
      </p:sp>
      <p:pic>
        <p:nvPicPr>
          <p:cNvPr id="114" name="Computer chip icon for AI infrastructure demand" descr="Computer chip icon for AI infrastructure demand"/>
          <p:cNvPicPr>
            <a:picLocks noChangeAspect="1"/>
          </p:cNvPicPr>
          <p:nvPr/>
        </p:nvPicPr>
        <p:blipFill>
          <a:blip r:embed="rId36"/>
          <a:stretch>
            <a:fillRect/>
          </a:stretch>
        </p:blipFill>
        <p:spPr>
          <a:xfrm>
            <a:off x="3533775" y="1333500"/>
            <a:ext cx="228600" cy="228600"/>
          </a:xfrm>
          <a:prstGeom prst="rect">
            <a:avLst/>
          </a:prstGeom>
        </p:spPr>
      </p:pic>
      <p:sp>
        <p:nvSpPr>
          <p:cNvPr id="115" name="TextBox 116"/>
          <p:cNvSpPr txBox="1"/>
          <p:nvPr/>
        </p:nvSpPr>
        <p:spPr>
          <a:xfrm>
            <a:off x="3848100" y="1310545"/>
            <a:ext cx="1533525" cy="238125"/>
          </a:xfrm>
          <a:prstGeom prst="rect">
            <a:avLst/>
          </a:prstGeom>
          <a:noFill/>
        </p:spPr>
        <p:txBody>
          <a:bodyPr wrap="square" lIns="0" tIns="0" rIns="0" bIns="0" anchor="t">
            <a:noAutofit/>
          </a:bodyPr>
          <a:lstStyle/>
          <a:p>
            <a:pPr algn="l">
              <a:lnSpc>
                <a:spcPts val="1013"/>
              </a:lnSpc>
              <a:spcBef>
                <a:spcPts val="0"/>
              </a:spcBef>
              <a:spcAft>
                <a:spcPts val="0"/>
              </a:spcAft>
            </a:pPr>
            <a:r>
              <a:rPr sz="740" b="1" i="0" spc="120">
                <a:solidFill>
                  <a:srgbClr val="FFFFFF"/>
                </a:solidFill>
                <a:latin typeface="Quicksand"/>
              </a:rPr>
              <a:t>AI INFRASTRUCTURE DEMAND</a:t>
            </a:r>
          </a:p>
        </p:txBody>
      </p:sp>
      <p:sp>
        <p:nvSpPr>
          <p:cNvPr id="116" name="Rule"/>
          <p:cNvSpPr/>
          <p:nvPr/>
        </p:nvSpPr>
        <p:spPr>
          <a:xfrm>
            <a:off x="3429000" y="1676400"/>
            <a:ext cx="1981200" cy="9525"/>
          </a:xfrm>
          <a:prstGeom prst="rect">
            <a:avLst/>
          </a:prstGeom>
          <a:solidFill>
            <a:srgbClr val="E3DCD3"/>
          </a:solidFill>
          <a:ln>
            <a:noFill/>
          </a:ln>
        </p:spPr>
        <p:txBody>
          <a:bodyPr rtlCol="0" anchor="ctr"/>
          <a:lstStyle/>
          <a:p>
            <a:pPr algn="ctr"/>
            <a:endParaRPr/>
          </a:p>
        </p:txBody>
      </p:sp>
      <p:sp>
        <p:nvSpPr>
          <p:cNvPr id="117" name="Panel"/>
          <p:cNvSpPr/>
          <p:nvPr/>
        </p:nvSpPr>
        <p:spPr>
          <a:xfrm>
            <a:off x="3433762" y="1804988"/>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18" name="CDW logo" descr="CDW logo"/>
          <p:cNvPicPr>
            <a:picLocks noChangeAspect="1"/>
          </p:cNvPicPr>
          <p:nvPr/>
        </p:nvPicPr>
        <p:blipFill>
          <a:blip r:embed="rId20"/>
          <a:stretch>
            <a:fillRect/>
          </a:stretch>
        </p:blipFill>
        <p:spPr>
          <a:xfrm>
            <a:off x="3448050" y="1819275"/>
            <a:ext cx="171450" cy="171450"/>
          </a:xfrm>
          <a:prstGeom prst="rect">
            <a:avLst/>
          </a:prstGeom>
        </p:spPr>
      </p:pic>
      <p:sp>
        <p:nvSpPr>
          <p:cNvPr id="119" name="TextBox 120">
            <a:hlinkClick r:id="rId21"/>
          </p:cNvPr>
          <p:cNvSpPr txBox="1"/>
          <p:nvPr/>
        </p:nvSpPr>
        <p:spPr>
          <a:xfrm>
            <a:off x="3714750" y="1767745"/>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Christine A. Leahy, Chair and Chief Executive Officer, CDW</a:t>
            </a:r>
          </a:p>
        </p:txBody>
      </p:sp>
      <p:sp>
        <p:nvSpPr>
          <p:cNvPr id="120" name="TextBox 121"/>
          <p:cNvSpPr txBox="1"/>
          <p:nvPr/>
        </p:nvSpPr>
        <p:spPr>
          <a:xfrm>
            <a:off x="3429000" y="2052638"/>
            <a:ext cx="2057400" cy="781050"/>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“CDW delivered strong second quarter results as customers advanced investments in infrastructure modernization, cloud, and AI-enabled technologies.”</a:t>
            </a:r>
          </a:p>
        </p:txBody>
      </p:sp>
      <p:sp>
        <p:nvSpPr>
          <p:cNvPr id="121" name="Rule"/>
          <p:cNvSpPr/>
          <p:nvPr/>
        </p:nvSpPr>
        <p:spPr>
          <a:xfrm>
            <a:off x="3429000" y="3005138"/>
            <a:ext cx="1981200" cy="9525"/>
          </a:xfrm>
          <a:prstGeom prst="rect">
            <a:avLst/>
          </a:prstGeom>
          <a:solidFill>
            <a:srgbClr val="E3DCD3"/>
          </a:solidFill>
          <a:ln>
            <a:noFill/>
          </a:ln>
        </p:spPr>
        <p:txBody>
          <a:bodyPr rtlCol="0" anchor="ctr"/>
          <a:lstStyle/>
          <a:p>
            <a:pPr algn="ctr"/>
            <a:endParaRPr/>
          </a:p>
        </p:txBody>
      </p:sp>
      <p:sp>
        <p:nvSpPr>
          <p:cNvPr id="122" name="Panel"/>
          <p:cNvSpPr/>
          <p:nvPr/>
        </p:nvSpPr>
        <p:spPr>
          <a:xfrm>
            <a:off x="3433762" y="3133725"/>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23" name="Wesco logo" descr="Wesco logo"/>
          <p:cNvPicPr>
            <a:picLocks noChangeAspect="1"/>
          </p:cNvPicPr>
          <p:nvPr/>
        </p:nvPicPr>
        <p:blipFill>
          <a:blip r:embed="rId18"/>
          <a:stretch>
            <a:fillRect/>
          </a:stretch>
        </p:blipFill>
        <p:spPr>
          <a:xfrm>
            <a:off x="3448050" y="3148012"/>
            <a:ext cx="171450" cy="171450"/>
          </a:xfrm>
          <a:prstGeom prst="rect">
            <a:avLst/>
          </a:prstGeom>
        </p:spPr>
      </p:pic>
      <p:sp>
        <p:nvSpPr>
          <p:cNvPr id="124" name="TextBox 125">
            <a:hlinkClick r:id="rId19"/>
          </p:cNvPr>
          <p:cNvSpPr txBox="1"/>
          <p:nvPr/>
        </p:nvSpPr>
        <p:spPr>
          <a:xfrm>
            <a:off x="3714750" y="3096482"/>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John Engel, Chairman, President, and CEO, Wesco</a:t>
            </a:r>
          </a:p>
        </p:txBody>
      </p:sp>
      <p:sp>
        <p:nvSpPr>
          <p:cNvPr id="125" name="TextBox 126"/>
          <p:cNvSpPr txBox="1"/>
          <p:nvPr/>
        </p:nvSpPr>
        <p:spPr>
          <a:xfrm>
            <a:off x="3429000" y="3381375"/>
            <a:ext cx="205740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“We have now posted four consecutive quarters of double-digit sales growth fueled by data centers.”</a:t>
            </a:r>
          </a:p>
        </p:txBody>
      </p:sp>
      <p:sp>
        <p:nvSpPr>
          <p:cNvPr id="126" name="Rule"/>
          <p:cNvSpPr/>
          <p:nvPr/>
        </p:nvSpPr>
        <p:spPr>
          <a:xfrm>
            <a:off x="3429000" y="4000500"/>
            <a:ext cx="1981200" cy="9525"/>
          </a:xfrm>
          <a:prstGeom prst="rect">
            <a:avLst/>
          </a:prstGeom>
          <a:solidFill>
            <a:srgbClr val="E3DCD3"/>
          </a:solidFill>
          <a:ln>
            <a:noFill/>
          </a:ln>
        </p:spPr>
        <p:txBody>
          <a:bodyPr rtlCol="0" anchor="ctr"/>
          <a:lstStyle/>
          <a:p>
            <a:pPr algn="ctr"/>
            <a:endParaRPr/>
          </a:p>
        </p:txBody>
      </p:sp>
      <p:sp>
        <p:nvSpPr>
          <p:cNvPr id="127" name="Panel"/>
          <p:cNvSpPr/>
          <p:nvPr/>
        </p:nvSpPr>
        <p:spPr>
          <a:xfrm>
            <a:off x="3433762" y="4110038"/>
            <a:ext cx="200025" cy="200025"/>
          </a:xfrm>
          <a:prstGeom prst="roundRect">
            <a:avLst>
              <a:gd name="adj" fmla="val 18181"/>
            </a:avLst>
          </a:prstGeom>
          <a:solidFill>
            <a:srgbClr val="1B1A1A"/>
          </a:solidFill>
          <a:ln w="9525">
            <a:solidFill>
              <a:srgbClr val="E3DCD3"/>
            </a:solidFill>
          </a:ln>
        </p:spPr>
        <p:txBody>
          <a:bodyPr rtlCol="0" anchor="ctr"/>
          <a:lstStyle/>
          <a:p>
            <a:pPr algn="ctr"/>
            <a:endParaRPr/>
          </a:p>
        </p:txBody>
      </p:sp>
      <p:pic>
        <p:nvPicPr>
          <p:cNvPr id="128" name="Jabil logo" descr="Jabil logo"/>
          <p:cNvPicPr>
            <a:picLocks noChangeAspect="1"/>
          </p:cNvPicPr>
          <p:nvPr/>
        </p:nvPicPr>
        <p:blipFill>
          <a:blip r:embed="rId37"/>
          <a:stretch>
            <a:fillRect/>
          </a:stretch>
        </p:blipFill>
        <p:spPr>
          <a:xfrm>
            <a:off x="3448050" y="4124325"/>
            <a:ext cx="171450" cy="171450"/>
          </a:xfrm>
          <a:prstGeom prst="rect">
            <a:avLst/>
          </a:prstGeom>
        </p:spPr>
      </p:pic>
      <p:sp>
        <p:nvSpPr>
          <p:cNvPr id="129" name="TextBox 130">
            <a:hlinkClick r:id="rId38"/>
          </p:cNvPr>
          <p:cNvSpPr txBox="1"/>
          <p:nvPr/>
        </p:nvSpPr>
        <p:spPr>
          <a:xfrm>
            <a:off x="3714750" y="4134707"/>
            <a:ext cx="1122015"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Mike Dastoor, CEO, Jabil</a:t>
            </a:r>
          </a:p>
        </p:txBody>
      </p:sp>
      <p:sp>
        <p:nvSpPr>
          <p:cNvPr id="130" name="TextBox 131"/>
          <p:cNvSpPr txBox="1"/>
          <p:nvPr/>
        </p:nvSpPr>
        <p:spPr>
          <a:xfrm>
            <a:off x="3429000" y="4338638"/>
            <a:ext cx="2057400" cy="111442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131" name="Panel"/>
          <p:cNvSpPr/>
          <p:nvPr/>
        </p:nvSpPr>
        <p:spPr>
          <a:xfrm>
            <a:off x="3429000" y="5962650"/>
            <a:ext cx="1981200" cy="971550"/>
          </a:xfrm>
          <a:prstGeom prst="rect">
            <a:avLst/>
          </a:prstGeom>
          <a:solidFill>
            <a:srgbClr val="FAF7F3"/>
          </a:solidFill>
          <a:ln>
            <a:noFill/>
          </a:ln>
        </p:spPr>
        <p:txBody>
          <a:bodyPr rtlCol="0" anchor="ctr"/>
          <a:lstStyle/>
          <a:p>
            <a:pPr algn="ctr"/>
            <a:endParaRPr/>
          </a:p>
        </p:txBody>
      </p:sp>
      <p:sp>
        <p:nvSpPr>
          <p:cNvPr id="132" name="Rule"/>
          <p:cNvSpPr/>
          <p:nvPr/>
        </p:nvSpPr>
        <p:spPr>
          <a:xfrm>
            <a:off x="3429000" y="5962650"/>
            <a:ext cx="1981200" cy="28575"/>
          </a:xfrm>
          <a:prstGeom prst="rect">
            <a:avLst/>
          </a:prstGeom>
          <a:solidFill>
            <a:srgbClr val="B68757"/>
          </a:solidFill>
          <a:ln>
            <a:noFill/>
          </a:ln>
        </p:spPr>
        <p:txBody>
          <a:bodyPr rtlCol="0" anchor="ctr"/>
          <a:lstStyle/>
          <a:p>
            <a:pPr algn="ctr"/>
            <a:endParaRPr/>
          </a:p>
        </p:txBody>
      </p:sp>
      <p:sp>
        <p:nvSpPr>
          <p:cNvPr id="133" name="TextBox 134"/>
          <p:cNvSpPr txBox="1"/>
          <p:nvPr/>
        </p:nvSpPr>
        <p:spPr>
          <a:xfrm>
            <a:off x="3533775" y="6070949"/>
            <a:ext cx="88046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20">
                <a:solidFill>
                  <a:srgbClr val="8C6239"/>
                </a:solidFill>
                <a:latin typeface="Quicksand"/>
              </a:rPr>
              <a:t>READ-THROUGH</a:t>
            </a:r>
          </a:p>
        </p:txBody>
      </p:sp>
      <p:sp>
        <p:nvSpPr>
          <p:cNvPr id="134" name="TextBox 135"/>
          <p:cNvSpPr txBox="1"/>
          <p:nvPr/>
        </p:nvSpPr>
        <p:spPr>
          <a:xfrm>
            <a:off x="3533775" y="6213253"/>
            <a:ext cx="1847850" cy="576262"/>
          </a:xfrm>
          <a:prstGeom prst="rect">
            <a:avLst/>
          </a:prstGeom>
          <a:noFill/>
        </p:spPr>
        <p:txBody>
          <a:bodyPr wrap="square" lIns="0" tIns="0" rIns="0" bIns="0" anchor="t">
            <a:noAutofit/>
          </a:bodyPr>
          <a:lstStyle/>
          <a:p>
            <a:pPr algn="l">
              <a:lnSpc>
                <a:spcPts val="1209"/>
              </a:lnSpc>
              <a:spcBef>
                <a:spcPts val="0"/>
              </a:spcBef>
              <a:spcAft>
                <a:spcPts val="0"/>
              </a:spcAft>
            </a:pPr>
            <a:r>
              <a:rPr sz="820" b="0" i="0" spc="15">
                <a:solidFill>
                  <a:srgbClr val="333231"/>
                </a:solidFill>
                <a:latin typeface="Quicksand"/>
              </a:rPr>
              <a:t>Wesco has grown double digits for four straight quarters and TD SYNNEX grew 37.7%; distributors and contract manufacturers are the direct beneficiaries of the build-out.</a:t>
            </a:r>
          </a:p>
        </p:txBody>
      </p:sp>
      <p:sp>
        <p:nvSpPr>
          <p:cNvPr id="135" name="Panel"/>
          <p:cNvSpPr/>
          <p:nvPr/>
        </p:nvSpPr>
        <p:spPr>
          <a:xfrm>
            <a:off x="5543550" y="1238250"/>
            <a:ext cx="1981200" cy="419100"/>
          </a:xfrm>
          <a:prstGeom prst="rect">
            <a:avLst/>
          </a:prstGeom>
          <a:solidFill>
            <a:srgbClr val="1B1A1A"/>
          </a:solidFill>
          <a:ln>
            <a:noFill/>
          </a:ln>
        </p:spPr>
        <p:txBody>
          <a:bodyPr rtlCol="0" anchor="ctr"/>
          <a:lstStyle/>
          <a:p>
            <a:pPr algn="ctr"/>
            <a:endParaRPr/>
          </a:p>
        </p:txBody>
      </p:sp>
      <p:pic>
        <p:nvPicPr>
          <p:cNvPr id="136" name="Shield and padlock icon for security and communications" descr="Shield and padlock icon for security and communications"/>
          <p:cNvPicPr>
            <a:picLocks noChangeAspect="1"/>
          </p:cNvPicPr>
          <p:nvPr/>
        </p:nvPicPr>
        <p:blipFill>
          <a:blip r:embed="rId39"/>
          <a:stretch>
            <a:fillRect/>
          </a:stretch>
        </p:blipFill>
        <p:spPr>
          <a:xfrm>
            <a:off x="5648325" y="1333500"/>
            <a:ext cx="228600" cy="228600"/>
          </a:xfrm>
          <a:prstGeom prst="rect">
            <a:avLst/>
          </a:prstGeom>
        </p:spPr>
      </p:pic>
      <p:sp>
        <p:nvSpPr>
          <p:cNvPr id="137" name="TextBox 138"/>
          <p:cNvSpPr txBox="1"/>
          <p:nvPr/>
        </p:nvSpPr>
        <p:spPr>
          <a:xfrm>
            <a:off x="5962650" y="1310545"/>
            <a:ext cx="1533525" cy="238125"/>
          </a:xfrm>
          <a:prstGeom prst="rect">
            <a:avLst/>
          </a:prstGeom>
          <a:noFill/>
        </p:spPr>
        <p:txBody>
          <a:bodyPr wrap="square" lIns="0" tIns="0" rIns="0" bIns="0" anchor="t">
            <a:noAutofit/>
          </a:bodyPr>
          <a:lstStyle/>
          <a:p>
            <a:pPr algn="l">
              <a:lnSpc>
                <a:spcPts val="1013"/>
              </a:lnSpc>
              <a:spcBef>
                <a:spcPts val="0"/>
              </a:spcBef>
              <a:spcAft>
                <a:spcPts val="0"/>
              </a:spcAft>
            </a:pPr>
            <a:r>
              <a:rPr sz="740" b="1" i="0" spc="120">
                <a:solidFill>
                  <a:srgbClr val="FFFFFF"/>
                </a:solidFill>
                <a:latin typeface="Quicksand"/>
              </a:rPr>
              <a:t>SECURITY AND COMMUNICATIONS</a:t>
            </a:r>
          </a:p>
        </p:txBody>
      </p:sp>
      <p:sp>
        <p:nvSpPr>
          <p:cNvPr id="138" name="Rule"/>
          <p:cNvSpPr/>
          <p:nvPr/>
        </p:nvSpPr>
        <p:spPr>
          <a:xfrm>
            <a:off x="5543550" y="1676400"/>
            <a:ext cx="1981200" cy="9525"/>
          </a:xfrm>
          <a:prstGeom prst="rect">
            <a:avLst/>
          </a:prstGeom>
          <a:solidFill>
            <a:srgbClr val="E3DCD3"/>
          </a:solidFill>
          <a:ln>
            <a:noFill/>
          </a:ln>
        </p:spPr>
        <p:txBody>
          <a:bodyPr rtlCol="0" anchor="ctr"/>
          <a:lstStyle/>
          <a:p>
            <a:pPr algn="ctr"/>
            <a:endParaRPr/>
          </a:p>
        </p:txBody>
      </p:sp>
      <p:sp>
        <p:nvSpPr>
          <p:cNvPr id="139" name="Panel"/>
          <p:cNvSpPr/>
          <p:nvPr/>
        </p:nvSpPr>
        <p:spPr>
          <a:xfrm>
            <a:off x="5548312" y="1804988"/>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40" name="CrowdStrike logo" descr="CrowdStrike logo"/>
          <p:cNvPicPr>
            <a:picLocks noChangeAspect="1"/>
          </p:cNvPicPr>
          <p:nvPr/>
        </p:nvPicPr>
        <p:blipFill>
          <a:blip r:embed="rId8"/>
          <a:stretch>
            <a:fillRect/>
          </a:stretch>
        </p:blipFill>
        <p:spPr>
          <a:xfrm>
            <a:off x="5562600" y="1819275"/>
            <a:ext cx="171450" cy="171450"/>
          </a:xfrm>
          <a:prstGeom prst="rect">
            <a:avLst/>
          </a:prstGeom>
        </p:spPr>
      </p:pic>
      <p:sp>
        <p:nvSpPr>
          <p:cNvPr id="141" name="TextBox 142">
            <a:hlinkClick r:id="rId9"/>
          </p:cNvPr>
          <p:cNvSpPr txBox="1"/>
          <p:nvPr/>
        </p:nvSpPr>
        <p:spPr>
          <a:xfrm>
            <a:off x="5829300" y="1767745"/>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George Kurtz, Founder and Chief Executive Officer, CrowdStrike</a:t>
            </a:r>
          </a:p>
        </p:txBody>
      </p:sp>
      <p:sp>
        <p:nvSpPr>
          <p:cNvPr id="142" name="TextBox 143"/>
          <p:cNvSpPr txBox="1"/>
          <p:nvPr/>
        </p:nvSpPr>
        <p:spPr>
          <a:xfrm>
            <a:off x="5543550" y="2052638"/>
            <a:ext cx="205740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“Every enterprise will run on AI, and securing it is the largest market opportunity in our history.”</a:t>
            </a:r>
          </a:p>
        </p:txBody>
      </p:sp>
      <p:sp>
        <p:nvSpPr>
          <p:cNvPr id="143" name="Rule"/>
          <p:cNvSpPr/>
          <p:nvPr/>
        </p:nvSpPr>
        <p:spPr>
          <a:xfrm>
            <a:off x="5543550" y="2671762"/>
            <a:ext cx="1981200" cy="9525"/>
          </a:xfrm>
          <a:prstGeom prst="rect">
            <a:avLst/>
          </a:prstGeom>
          <a:solidFill>
            <a:srgbClr val="E3DCD3"/>
          </a:solidFill>
          <a:ln>
            <a:noFill/>
          </a:ln>
        </p:spPr>
        <p:txBody>
          <a:bodyPr rtlCol="0" anchor="ctr"/>
          <a:lstStyle/>
          <a:p>
            <a:pPr algn="ctr"/>
            <a:endParaRPr/>
          </a:p>
        </p:txBody>
      </p:sp>
      <p:sp>
        <p:nvSpPr>
          <p:cNvPr id="144" name="Panel"/>
          <p:cNvSpPr/>
          <p:nvPr/>
        </p:nvSpPr>
        <p:spPr>
          <a:xfrm>
            <a:off x="5548312" y="2800350"/>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45" name="Palo Alto Networks logo" descr="Palo Alto Networks logo"/>
          <p:cNvPicPr>
            <a:picLocks noChangeAspect="1"/>
          </p:cNvPicPr>
          <p:nvPr/>
        </p:nvPicPr>
        <p:blipFill>
          <a:blip r:embed="rId6"/>
          <a:stretch>
            <a:fillRect/>
          </a:stretch>
        </p:blipFill>
        <p:spPr>
          <a:xfrm>
            <a:off x="5562600" y="2814638"/>
            <a:ext cx="171450" cy="171450"/>
          </a:xfrm>
          <a:prstGeom prst="rect">
            <a:avLst/>
          </a:prstGeom>
        </p:spPr>
      </p:pic>
      <p:sp>
        <p:nvSpPr>
          <p:cNvPr id="146" name="TextBox 147">
            <a:hlinkClick r:id="rId7"/>
          </p:cNvPr>
          <p:cNvSpPr txBox="1"/>
          <p:nvPr/>
        </p:nvSpPr>
        <p:spPr>
          <a:xfrm>
            <a:off x="5829300" y="2763107"/>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Nikesh Arora, Chairman and Chief Executive Officer, Palo Alto Networks</a:t>
            </a:r>
          </a:p>
        </p:txBody>
      </p:sp>
      <p:sp>
        <p:nvSpPr>
          <p:cNvPr id="147" name="TextBox 148"/>
          <p:cNvSpPr txBox="1"/>
          <p:nvPr/>
        </p:nvSpPr>
        <p:spPr>
          <a:xfrm>
            <a:off x="5543550" y="3048000"/>
            <a:ext cx="2057400" cy="94773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148" name="Rule"/>
          <p:cNvSpPr/>
          <p:nvPr/>
        </p:nvSpPr>
        <p:spPr>
          <a:xfrm>
            <a:off x="5543550" y="4167188"/>
            <a:ext cx="1981200" cy="9525"/>
          </a:xfrm>
          <a:prstGeom prst="rect">
            <a:avLst/>
          </a:prstGeom>
          <a:solidFill>
            <a:srgbClr val="E3DCD3"/>
          </a:solidFill>
          <a:ln>
            <a:noFill/>
          </a:ln>
        </p:spPr>
        <p:txBody>
          <a:bodyPr rtlCol="0" anchor="ctr"/>
          <a:lstStyle/>
          <a:p>
            <a:pPr algn="ctr"/>
            <a:endParaRPr/>
          </a:p>
        </p:txBody>
      </p:sp>
      <p:sp>
        <p:nvSpPr>
          <p:cNvPr id="149" name="Panel"/>
          <p:cNvSpPr/>
          <p:nvPr/>
        </p:nvSpPr>
        <p:spPr>
          <a:xfrm>
            <a:off x="5548312" y="4295775"/>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50" name="RingCentral logo" descr="RingCentral logo"/>
          <p:cNvPicPr>
            <a:picLocks noChangeAspect="1"/>
          </p:cNvPicPr>
          <p:nvPr/>
        </p:nvPicPr>
        <p:blipFill>
          <a:blip r:embed="rId30"/>
          <a:stretch>
            <a:fillRect/>
          </a:stretch>
        </p:blipFill>
        <p:spPr>
          <a:xfrm>
            <a:off x="5562600" y="4310062"/>
            <a:ext cx="171450" cy="171450"/>
          </a:xfrm>
          <a:prstGeom prst="rect">
            <a:avLst/>
          </a:prstGeom>
        </p:spPr>
      </p:pic>
      <p:sp>
        <p:nvSpPr>
          <p:cNvPr id="151" name="TextBox 152">
            <a:hlinkClick r:id="rId31"/>
          </p:cNvPr>
          <p:cNvSpPr txBox="1"/>
          <p:nvPr/>
        </p:nvSpPr>
        <p:spPr>
          <a:xfrm>
            <a:off x="5829300" y="4258532"/>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Vlad Shmunis, Founder, Chairman, and CEO, RingCentral</a:t>
            </a:r>
          </a:p>
        </p:txBody>
      </p:sp>
      <p:sp>
        <p:nvSpPr>
          <p:cNvPr id="152" name="TextBox 153"/>
          <p:cNvSpPr txBox="1"/>
          <p:nvPr/>
        </p:nvSpPr>
        <p:spPr>
          <a:xfrm>
            <a:off x="5543550" y="4543425"/>
            <a:ext cx="2057400" cy="614362"/>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“Customers using at least one paid AI product now represent approximately 13% of ARR, having doubled year-over-year.”</a:t>
            </a:r>
          </a:p>
        </p:txBody>
      </p:sp>
      <p:sp>
        <p:nvSpPr>
          <p:cNvPr id="153" name="Panel"/>
          <p:cNvSpPr/>
          <p:nvPr/>
        </p:nvSpPr>
        <p:spPr>
          <a:xfrm>
            <a:off x="5543550" y="5962650"/>
            <a:ext cx="1981200" cy="971550"/>
          </a:xfrm>
          <a:prstGeom prst="rect">
            <a:avLst/>
          </a:prstGeom>
          <a:solidFill>
            <a:srgbClr val="FAF7F3"/>
          </a:solidFill>
          <a:ln>
            <a:noFill/>
          </a:ln>
        </p:spPr>
        <p:txBody>
          <a:bodyPr rtlCol="0" anchor="ctr"/>
          <a:lstStyle/>
          <a:p>
            <a:pPr algn="ctr"/>
            <a:endParaRPr/>
          </a:p>
        </p:txBody>
      </p:sp>
      <p:sp>
        <p:nvSpPr>
          <p:cNvPr id="154" name="Rule"/>
          <p:cNvSpPr/>
          <p:nvPr/>
        </p:nvSpPr>
        <p:spPr>
          <a:xfrm>
            <a:off x="5543550" y="5962650"/>
            <a:ext cx="1981200" cy="28575"/>
          </a:xfrm>
          <a:prstGeom prst="rect">
            <a:avLst/>
          </a:prstGeom>
          <a:solidFill>
            <a:srgbClr val="B68757"/>
          </a:solidFill>
          <a:ln>
            <a:noFill/>
          </a:ln>
        </p:spPr>
        <p:txBody>
          <a:bodyPr rtlCol="0" anchor="ctr"/>
          <a:lstStyle/>
          <a:p>
            <a:pPr algn="ctr"/>
            <a:endParaRPr/>
          </a:p>
        </p:txBody>
      </p:sp>
      <p:sp>
        <p:nvSpPr>
          <p:cNvPr id="155" name="TextBox 156"/>
          <p:cNvSpPr txBox="1"/>
          <p:nvPr/>
        </p:nvSpPr>
        <p:spPr>
          <a:xfrm>
            <a:off x="5648325" y="6070949"/>
            <a:ext cx="88046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20">
                <a:solidFill>
                  <a:srgbClr val="8C6239"/>
                </a:solidFill>
                <a:latin typeface="Quicksand"/>
              </a:rPr>
              <a:t>READ-THROUGH</a:t>
            </a:r>
          </a:p>
        </p:txBody>
      </p:sp>
      <p:sp>
        <p:nvSpPr>
          <p:cNvPr id="156" name="TextBox 157"/>
          <p:cNvSpPr txBox="1"/>
          <p:nvPr/>
        </p:nvSpPr>
        <p:spPr>
          <a:xfrm>
            <a:off x="5648325" y="6213253"/>
            <a:ext cx="1847850" cy="428625"/>
          </a:xfrm>
          <a:prstGeom prst="rect">
            <a:avLst/>
          </a:prstGeom>
          <a:noFill/>
        </p:spPr>
        <p:txBody>
          <a:bodyPr wrap="square" lIns="0" tIns="0" rIns="0" bIns="0" anchor="t">
            <a:noAutofit/>
          </a:bodyPr>
          <a:lstStyle/>
          <a:p>
            <a:pPr algn="l">
              <a:lnSpc>
                <a:spcPts val="1209"/>
              </a:lnSpc>
              <a:spcBef>
                <a:spcPts val="0"/>
              </a:spcBef>
              <a:spcAft>
                <a:spcPts val="0"/>
              </a:spcAft>
            </a:pPr>
            <a:r>
              <a:rPr sz="820" b="0" i="0" spc="15">
                <a:solidFill>
                  <a:srgbClr val="333231"/>
                </a:solidFill>
                <a:latin typeface="Quicksand"/>
              </a:rPr>
              <a:t>RingCentral's paid AI products account for 13% of ARR, twice their share a year earlier.</a:t>
            </a:r>
          </a:p>
        </p:txBody>
      </p:sp>
      <p:sp>
        <p:nvSpPr>
          <p:cNvPr id="157" name="Panel"/>
          <p:cNvSpPr/>
          <p:nvPr/>
        </p:nvSpPr>
        <p:spPr>
          <a:xfrm>
            <a:off x="7658100" y="1238250"/>
            <a:ext cx="1981200" cy="419100"/>
          </a:xfrm>
          <a:prstGeom prst="rect">
            <a:avLst/>
          </a:prstGeom>
          <a:solidFill>
            <a:srgbClr val="1B1A1A"/>
          </a:solidFill>
          <a:ln>
            <a:noFill/>
          </a:ln>
        </p:spPr>
        <p:txBody>
          <a:bodyPr rtlCol="0" anchor="ctr"/>
          <a:lstStyle/>
          <a:p>
            <a:pPr algn="ctr"/>
            <a:endParaRPr/>
          </a:p>
        </p:txBody>
      </p:sp>
      <p:pic>
        <p:nvPicPr>
          <p:cNvPr id="158" name="Government building icon for government and public sector" descr="Government building icon for government and public sector"/>
          <p:cNvPicPr>
            <a:picLocks noChangeAspect="1"/>
          </p:cNvPicPr>
          <p:nvPr/>
        </p:nvPicPr>
        <p:blipFill>
          <a:blip r:embed="rId40"/>
          <a:stretch>
            <a:fillRect/>
          </a:stretch>
        </p:blipFill>
        <p:spPr>
          <a:xfrm>
            <a:off x="7762875" y="1333500"/>
            <a:ext cx="228600" cy="228600"/>
          </a:xfrm>
          <a:prstGeom prst="rect">
            <a:avLst/>
          </a:prstGeom>
        </p:spPr>
      </p:pic>
      <p:sp>
        <p:nvSpPr>
          <p:cNvPr id="159" name="TextBox 160"/>
          <p:cNvSpPr txBox="1"/>
          <p:nvPr/>
        </p:nvSpPr>
        <p:spPr>
          <a:xfrm>
            <a:off x="8077200" y="1310545"/>
            <a:ext cx="1533525" cy="238125"/>
          </a:xfrm>
          <a:prstGeom prst="rect">
            <a:avLst/>
          </a:prstGeom>
          <a:noFill/>
        </p:spPr>
        <p:txBody>
          <a:bodyPr wrap="square" lIns="0" tIns="0" rIns="0" bIns="0" anchor="t">
            <a:noAutofit/>
          </a:bodyPr>
          <a:lstStyle/>
          <a:p>
            <a:pPr algn="l">
              <a:lnSpc>
                <a:spcPts val="1013"/>
              </a:lnSpc>
              <a:spcBef>
                <a:spcPts val="0"/>
              </a:spcBef>
              <a:spcAft>
                <a:spcPts val="0"/>
              </a:spcAft>
            </a:pPr>
            <a:r>
              <a:rPr sz="740" b="1" i="0" spc="120">
                <a:solidFill>
                  <a:srgbClr val="FFFFFF"/>
                </a:solidFill>
                <a:latin typeface="Quicksand"/>
              </a:rPr>
              <a:t>GOVERNMENT AND PUBLIC SECTOR</a:t>
            </a:r>
          </a:p>
        </p:txBody>
      </p:sp>
      <p:sp>
        <p:nvSpPr>
          <p:cNvPr id="160" name="Rule"/>
          <p:cNvSpPr/>
          <p:nvPr/>
        </p:nvSpPr>
        <p:spPr>
          <a:xfrm>
            <a:off x="7658100" y="1676400"/>
            <a:ext cx="1981200" cy="9525"/>
          </a:xfrm>
          <a:prstGeom prst="rect">
            <a:avLst/>
          </a:prstGeom>
          <a:solidFill>
            <a:srgbClr val="E3DCD3"/>
          </a:solidFill>
          <a:ln>
            <a:noFill/>
          </a:ln>
        </p:spPr>
        <p:txBody>
          <a:bodyPr rtlCol="0" anchor="ctr"/>
          <a:lstStyle/>
          <a:p>
            <a:pPr algn="ctr"/>
            <a:endParaRPr/>
          </a:p>
        </p:txBody>
      </p:sp>
      <p:sp>
        <p:nvSpPr>
          <p:cNvPr id="161" name="Panel"/>
          <p:cNvSpPr/>
          <p:nvPr/>
        </p:nvSpPr>
        <p:spPr>
          <a:xfrm>
            <a:off x="7662862" y="1804988"/>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62" name="Booz Allen Hamilton logo" descr="Booz Allen Hamilton logo"/>
          <p:cNvPicPr>
            <a:picLocks noChangeAspect="1"/>
          </p:cNvPicPr>
          <p:nvPr/>
        </p:nvPicPr>
        <p:blipFill>
          <a:blip r:embed="rId34"/>
          <a:stretch>
            <a:fillRect/>
          </a:stretch>
        </p:blipFill>
        <p:spPr>
          <a:xfrm>
            <a:off x="7677150" y="1819275"/>
            <a:ext cx="171450" cy="171450"/>
          </a:xfrm>
          <a:prstGeom prst="rect">
            <a:avLst/>
          </a:prstGeom>
        </p:spPr>
      </p:pic>
      <p:sp>
        <p:nvSpPr>
          <p:cNvPr id="163" name="TextBox 164">
            <a:hlinkClick r:id="rId35"/>
          </p:cNvPr>
          <p:cNvSpPr txBox="1"/>
          <p:nvPr/>
        </p:nvSpPr>
        <p:spPr>
          <a:xfrm>
            <a:off x="7943850" y="1767745"/>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Horacio Rozanski, Chairman and CEO, Booz Allen Hamilton</a:t>
            </a:r>
          </a:p>
        </p:txBody>
      </p:sp>
      <p:sp>
        <p:nvSpPr>
          <p:cNvPr id="164" name="TextBox 165"/>
          <p:cNvSpPr txBox="1"/>
          <p:nvPr/>
        </p:nvSpPr>
        <p:spPr>
          <a:xfrm>
            <a:off x="7658100" y="2052638"/>
            <a:ext cx="205740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“Booz Allen is on track with the expectations we set for the fiscal year amid challenging market dynamics.”</a:t>
            </a:r>
          </a:p>
        </p:txBody>
      </p:sp>
      <p:sp>
        <p:nvSpPr>
          <p:cNvPr id="165" name="Rule"/>
          <p:cNvSpPr/>
          <p:nvPr/>
        </p:nvSpPr>
        <p:spPr>
          <a:xfrm>
            <a:off x="7658100" y="2671762"/>
            <a:ext cx="1981200" cy="9525"/>
          </a:xfrm>
          <a:prstGeom prst="rect">
            <a:avLst/>
          </a:prstGeom>
          <a:solidFill>
            <a:srgbClr val="E3DCD3"/>
          </a:solidFill>
          <a:ln>
            <a:noFill/>
          </a:ln>
        </p:spPr>
        <p:txBody>
          <a:bodyPr rtlCol="0" anchor="ctr"/>
          <a:lstStyle/>
          <a:p>
            <a:pPr algn="ctr"/>
            <a:endParaRPr/>
          </a:p>
        </p:txBody>
      </p:sp>
      <p:sp>
        <p:nvSpPr>
          <p:cNvPr id="166" name="Panel"/>
          <p:cNvSpPr/>
          <p:nvPr/>
        </p:nvSpPr>
        <p:spPr>
          <a:xfrm>
            <a:off x="7662862" y="2800350"/>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67" name="CACI logo" descr="CACI logo"/>
          <p:cNvPicPr>
            <a:picLocks noChangeAspect="1"/>
          </p:cNvPicPr>
          <p:nvPr/>
        </p:nvPicPr>
        <p:blipFill>
          <a:blip r:embed="rId14"/>
          <a:stretch>
            <a:fillRect/>
          </a:stretch>
        </p:blipFill>
        <p:spPr>
          <a:xfrm>
            <a:off x="7677150" y="2814638"/>
            <a:ext cx="171450" cy="171450"/>
          </a:xfrm>
          <a:prstGeom prst="rect">
            <a:avLst/>
          </a:prstGeom>
        </p:spPr>
      </p:pic>
      <p:sp>
        <p:nvSpPr>
          <p:cNvPr id="168" name="TextBox 169">
            <a:hlinkClick r:id="rId15"/>
          </p:cNvPr>
          <p:cNvSpPr txBox="1"/>
          <p:nvPr/>
        </p:nvSpPr>
        <p:spPr>
          <a:xfrm>
            <a:off x="7943850" y="2763107"/>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John Mengucci, President and Chief Executive Officer, CACI</a:t>
            </a:r>
          </a:p>
        </p:txBody>
      </p:sp>
      <p:sp>
        <p:nvSpPr>
          <p:cNvPr id="169" name="TextBox 170"/>
          <p:cNvSpPr txBox="1"/>
          <p:nvPr/>
        </p:nvSpPr>
        <p:spPr>
          <a:xfrm>
            <a:off x="7658100" y="3048000"/>
            <a:ext cx="2057400" cy="111442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170" name="Rule"/>
          <p:cNvSpPr/>
          <p:nvPr/>
        </p:nvSpPr>
        <p:spPr>
          <a:xfrm>
            <a:off x="7658100" y="4333875"/>
            <a:ext cx="1981200" cy="9525"/>
          </a:xfrm>
          <a:prstGeom prst="rect">
            <a:avLst/>
          </a:prstGeom>
          <a:solidFill>
            <a:srgbClr val="E3DCD3"/>
          </a:solidFill>
          <a:ln>
            <a:noFill/>
          </a:ln>
        </p:spPr>
        <p:txBody>
          <a:bodyPr rtlCol="0" anchor="ctr"/>
          <a:lstStyle/>
          <a:p>
            <a:pPr algn="ctr"/>
            <a:endParaRPr/>
          </a:p>
        </p:txBody>
      </p:sp>
      <p:sp>
        <p:nvSpPr>
          <p:cNvPr id="171" name="Panel"/>
          <p:cNvSpPr/>
          <p:nvPr/>
        </p:nvSpPr>
        <p:spPr>
          <a:xfrm>
            <a:off x="7662862" y="4524375"/>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72" name="Tyler Technologies logo" descr="Tyler Technologies logo"/>
          <p:cNvPicPr>
            <a:picLocks noChangeAspect="1"/>
          </p:cNvPicPr>
          <p:nvPr/>
        </p:nvPicPr>
        <p:blipFill>
          <a:blip r:embed="rId24"/>
          <a:stretch>
            <a:fillRect/>
          </a:stretch>
        </p:blipFill>
        <p:spPr>
          <a:xfrm>
            <a:off x="7677150" y="4538662"/>
            <a:ext cx="171450" cy="171450"/>
          </a:xfrm>
          <a:prstGeom prst="rect">
            <a:avLst/>
          </a:prstGeom>
        </p:spPr>
      </p:pic>
      <p:sp>
        <p:nvSpPr>
          <p:cNvPr id="173" name="TextBox 174">
            <a:hlinkClick r:id="rId25"/>
          </p:cNvPr>
          <p:cNvSpPr txBox="1"/>
          <p:nvPr/>
        </p:nvSpPr>
        <p:spPr>
          <a:xfrm>
            <a:off x="7943850" y="4425220"/>
            <a:ext cx="1771650" cy="361950"/>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Lynn Moore, Executive Chair, President, and Chief Executive Officer, Tyler Technologies</a:t>
            </a:r>
          </a:p>
        </p:txBody>
      </p:sp>
      <p:sp>
        <p:nvSpPr>
          <p:cNvPr id="174" name="TextBox 175"/>
          <p:cNvSpPr txBox="1"/>
          <p:nvPr/>
        </p:nvSpPr>
        <p:spPr>
          <a:xfrm>
            <a:off x="7658100" y="4833938"/>
            <a:ext cx="2057400" cy="781050"/>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“Public sector demand remains healthy, reflecting sustained modernization priorities for the public sector that translated into record SaaS and total bookings.”</a:t>
            </a:r>
          </a:p>
        </p:txBody>
      </p:sp>
      <p:sp>
        <p:nvSpPr>
          <p:cNvPr id="175" name="Panel"/>
          <p:cNvSpPr/>
          <p:nvPr/>
        </p:nvSpPr>
        <p:spPr>
          <a:xfrm>
            <a:off x="7658100" y="5962650"/>
            <a:ext cx="1981200" cy="971550"/>
          </a:xfrm>
          <a:prstGeom prst="rect">
            <a:avLst/>
          </a:prstGeom>
          <a:solidFill>
            <a:srgbClr val="FAF7F3"/>
          </a:solidFill>
          <a:ln>
            <a:noFill/>
          </a:ln>
        </p:spPr>
        <p:txBody>
          <a:bodyPr rtlCol="0" anchor="ctr"/>
          <a:lstStyle/>
          <a:p>
            <a:pPr algn="ctr"/>
            <a:endParaRPr/>
          </a:p>
        </p:txBody>
      </p:sp>
      <p:sp>
        <p:nvSpPr>
          <p:cNvPr id="176" name="Rule"/>
          <p:cNvSpPr/>
          <p:nvPr/>
        </p:nvSpPr>
        <p:spPr>
          <a:xfrm>
            <a:off x="7658100" y="5962650"/>
            <a:ext cx="1981200" cy="28575"/>
          </a:xfrm>
          <a:prstGeom prst="rect">
            <a:avLst/>
          </a:prstGeom>
          <a:solidFill>
            <a:srgbClr val="B68757"/>
          </a:solidFill>
          <a:ln>
            <a:noFill/>
          </a:ln>
        </p:spPr>
        <p:txBody>
          <a:bodyPr rtlCol="0" anchor="ctr"/>
          <a:lstStyle/>
          <a:p>
            <a:pPr algn="ctr"/>
            <a:endParaRPr/>
          </a:p>
        </p:txBody>
      </p:sp>
      <p:sp>
        <p:nvSpPr>
          <p:cNvPr id="177" name="TextBox 178"/>
          <p:cNvSpPr txBox="1"/>
          <p:nvPr/>
        </p:nvSpPr>
        <p:spPr>
          <a:xfrm>
            <a:off x="7762875" y="6070949"/>
            <a:ext cx="88046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20">
                <a:solidFill>
                  <a:srgbClr val="8C6239"/>
                </a:solidFill>
                <a:latin typeface="Quicksand"/>
              </a:rPr>
              <a:t>READ-THROUGH</a:t>
            </a:r>
          </a:p>
        </p:txBody>
      </p:sp>
      <p:sp>
        <p:nvSpPr>
          <p:cNvPr id="178" name="TextBox 179"/>
          <p:cNvSpPr txBox="1"/>
          <p:nvPr/>
        </p:nvSpPr>
        <p:spPr>
          <a:xfrm>
            <a:off x="7762875" y="6213253"/>
            <a:ext cx="1847850" cy="428625"/>
          </a:xfrm>
          <a:prstGeom prst="rect">
            <a:avLst/>
          </a:prstGeom>
          <a:noFill/>
        </p:spPr>
        <p:txBody>
          <a:bodyPr wrap="square" lIns="0" tIns="0" rIns="0" bIns="0" anchor="t">
            <a:noAutofit/>
          </a:bodyPr>
          <a:lstStyle/>
          <a:p>
            <a:pPr algn="l">
              <a:lnSpc>
                <a:spcPts val="1209"/>
              </a:lnSpc>
              <a:spcBef>
                <a:spcPts val="0"/>
              </a:spcBef>
              <a:spcAft>
                <a:spcPts val="0"/>
              </a:spcAft>
            </a:pPr>
            <a:r>
              <a:rPr sz="820" b="0" i="0" spc="15">
                <a:solidFill>
                  <a:srgbClr val="333231"/>
                </a:solidFill>
                <a:latin typeface="Quicksand"/>
              </a:rPr>
              <a:t>CACI grew 17.6% on a defense-weighted book while civilian-heavy Booz Allen fell 4.2%; the split is contract mix.</a:t>
            </a:r>
          </a:p>
        </p:txBody>
      </p:sp>
      <p:sp>
        <p:nvSpPr>
          <p:cNvPr id="179" name="TextBox 182"/>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Figures and quotations are from each company's earnings release, linked from its name. Accenture growth is in US dollars, Palo Alto Networks growth reflects the CyberArk acquisition, Jabil growth is computed from reported revenue of $10,616 million against $8,252 million, and the CACI quotation describes its full fiscal year.</a:t>
            </a:r>
          </a:p>
        </p:txBody>
      </p:sp>
      <p:sp>
        <p:nvSpPr>
          <p:cNvPr id="180" name="Panel jbl"/>
          <p:cNvSpPr/>
          <p:nvPr/>
        </p:nvSpPr>
        <p:spPr>
          <a:xfrm>
            <a:off x="557212" y="250757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81" name="Jabil logo" descr="Jabil logo"/>
          <p:cNvPicPr>
            <a:picLocks noChangeAspect="1"/>
          </p:cNvPicPr>
          <p:nvPr/>
        </p:nvPicPr>
        <p:blipFill>
          <a:blip r:embed="rId37"/>
          <a:stretch>
            <a:fillRect/>
          </a:stretch>
        </p:blipFill>
        <p:spPr>
          <a:xfrm>
            <a:off x="571500" y="2521857"/>
            <a:ext cx="133350" cy="133350"/>
          </a:xfrm>
          <a:prstGeom prst="rect">
            <a:avLst/>
          </a:prstGeom>
        </p:spPr>
      </p:pic>
      <p:sp>
        <p:nvSpPr>
          <p:cNvPr id="182" name="TextBox 20 jbl">
            <a:hlinkClick r:id="rId5"/>
          </p:cNvPr>
          <p:cNvSpPr txBox="1"/>
          <p:nvPr/>
        </p:nvSpPr>
        <p:spPr>
          <a:xfrm>
            <a:off x="781050" y="2516618"/>
            <a:ext cx="320040"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hlinkClick r:id="rId38"/>
              </a:rPr>
              <a:t>Jabil</a:t>
            </a:r>
          </a:p>
        </p:txBody>
      </p:sp>
      <p:sp>
        <p:nvSpPr>
          <p:cNvPr id="183" name="Panel jbl"/>
          <p:cNvSpPr/>
          <p:nvPr/>
        </p:nvSpPr>
        <p:spPr>
          <a:xfrm>
            <a:off x="2076450" y="2464707"/>
            <a:ext cx="9525" cy="247650"/>
          </a:xfrm>
          <a:prstGeom prst="rect">
            <a:avLst/>
          </a:prstGeom>
          <a:solidFill>
            <a:srgbClr val="C3BDB6"/>
          </a:solidFill>
          <a:ln>
            <a:noFill/>
          </a:ln>
        </p:spPr>
        <p:txBody>
          <a:bodyPr rtlCol="0" anchor="ctr"/>
          <a:lstStyle/>
          <a:p>
            <a:pPr algn="ctr"/>
            <a:endParaRPr/>
          </a:p>
        </p:txBody>
      </p:sp>
      <p:sp>
        <p:nvSpPr>
          <p:cNvPr id="184" name="Panel jbl"/>
          <p:cNvSpPr/>
          <p:nvPr/>
        </p:nvSpPr>
        <p:spPr>
          <a:xfrm>
            <a:off x="2143125" y="2536145"/>
            <a:ext cx="326030" cy="104775"/>
          </a:xfrm>
          <a:prstGeom prst="rect">
            <a:avLst/>
          </a:prstGeom>
          <a:solidFill>
            <a:srgbClr val="A0754A"/>
          </a:solidFill>
          <a:ln>
            <a:noFill/>
          </a:ln>
        </p:spPr>
        <p:txBody>
          <a:bodyPr rtlCol="0" anchor="ctr"/>
          <a:lstStyle/>
          <a:p>
            <a:pPr algn="ctr"/>
            <a:endParaRPr/>
          </a:p>
        </p:txBody>
      </p:sp>
      <p:sp>
        <p:nvSpPr>
          <p:cNvPr id="185" name="TextBox 23 jbl"/>
          <p:cNvSpPr txBox="1"/>
          <p:nvPr/>
        </p:nvSpPr>
        <p:spPr>
          <a:xfrm>
            <a:off x="2514875" y="2480900"/>
            <a:ext cx="37415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+28.6%</a:t>
            </a:r>
          </a:p>
        </p:txBody>
      </p:sp>
      <p:sp>
        <p:nvSpPr>
          <p:cNvPr id="18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18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188" name="Shape 9"/>
          <p:cNvSpPr/>
          <p:nvPr/>
        </p:nvSpPr>
        <p:spPr>
          <a:xfrm>
            <a:off x="419100" y="7029450"/>
            <a:ext cx="9220200" cy="9525"/>
          </a:xfrm>
          <a:prstGeom prst="rect">
            <a:avLst/>
          </a:prstGeom>
          <a:solidFill>
            <a:srgbClr val="E3DCD3"/>
          </a:solidFill>
          <a:ln/>
        </p:spPr>
        <p:txBody>
          <a:bodyPr/>
          <a:lstStyle/>
          <a:p>
            <a:endParaRPr lang="en-US"/>
          </a:p>
        </p:txBody>
      </p:sp>
      <p:pic>
        <p:nvPicPr>
          <p:cNvPr id="189" name="Benchmark International logo" descr="Benchmark International logo"/>
          <p:cNvPicPr>
            <a:picLocks noChangeAspect="1"/>
          </p:cNvPicPr>
          <p:nvPr/>
        </p:nvPicPr>
        <p:blipFill>
          <a:blip r:embed="rId41"/>
          <a:stretch>
            <a:fillRect/>
          </a:stretch>
        </p:blipFill>
        <p:spPr>
          <a:xfrm>
            <a:off x="419100" y="7143750"/>
            <a:ext cx="914400" cy="171450"/>
          </a:xfrm>
          <a:prstGeom prst="rect">
            <a:avLst/>
          </a:prstGeom>
        </p:spPr>
      </p:pic>
      <p:sp>
        <p:nvSpPr>
          <p:cNvPr id="19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22</a:t>
            </a:r>
            <a:endParaRPr lang="en-US" sz="74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Key Cost and Demand Indicators</a:t>
            </a:r>
          </a:p>
        </p:txBody>
      </p:sp>
      <p:sp>
        <p:nvSpPr>
          <p:cNvPr id="5" name="TextBox 6"/>
          <p:cNvSpPr txBox="1"/>
          <p:nvPr/>
        </p:nvSpPr>
        <p:spPr>
          <a:xfrm>
            <a:off x="419100" y="864394"/>
            <a:ext cx="7685782" cy="152400"/>
          </a:xfrm>
          <a:prstGeom prst="rect">
            <a:avLst/>
          </a:prstGeom>
          <a:noFill/>
        </p:spPr>
        <p:txBody>
          <a:bodyPr wrap="none" lIns="0" tIns="0" rIns="0" bIns="0" anchor="t">
            <a:noAutofit/>
          </a:bodyPr>
          <a:lstStyle/>
          <a:p>
            <a:pPr algn="l">
              <a:lnSpc>
                <a:spcPts val="1388"/>
              </a:lnSpc>
              <a:spcBef>
                <a:spcPts val="0"/>
              </a:spcBef>
              <a:spcAft>
                <a:spcPts val="0"/>
              </a:spcAft>
            </a:pPr>
            <a:r>
              <a:rPr sz="995" b="0" i="0" spc="15">
                <a:solidFill>
                  <a:srgbClr val="6F6A66"/>
                </a:solidFill>
                <a:latin typeface="Quicksand"/>
              </a:rPr>
              <a:t>Component and copper prices turned up in 2026, data center construction is surging, and IT services employment keeps drifting lower.</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4533900" cy="2771775"/>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4533900" cy="28575"/>
          </a:xfrm>
          <a:prstGeom prst="rect">
            <a:avLst/>
          </a:prstGeom>
          <a:solidFill>
            <a:srgbClr val="B68757"/>
          </a:solidFill>
          <a:ln>
            <a:noFill/>
          </a:ln>
        </p:spPr>
        <p:txBody>
          <a:bodyPr rtlCol="0" anchor="ctr"/>
          <a:lstStyle/>
          <a:p>
            <a:pPr algn="ctr"/>
            <a:endParaRPr/>
          </a:p>
        </p:txBody>
      </p:sp>
      <p:sp>
        <p:nvSpPr>
          <p:cNvPr id="9" name="TextBox 10"/>
          <p:cNvSpPr txBox="1"/>
          <p:nvPr/>
        </p:nvSpPr>
        <p:spPr>
          <a:xfrm>
            <a:off x="571500" y="1375029"/>
            <a:ext cx="3043684"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Semiconductor and electronic component prices</a:t>
            </a:r>
          </a:p>
        </p:txBody>
      </p:sp>
      <p:sp>
        <p:nvSpPr>
          <p:cNvPr id="10" name="TextBox 11"/>
          <p:cNvSpPr txBox="1"/>
          <p:nvPr/>
        </p:nvSpPr>
        <p:spPr>
          <a:xfrm>
            <a:off x="571500" y="1540192"/>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Producer price index, semiconductor, and other electronic component manufacturing. Index, September 2021 = 100. Source: Bureau of Labor Statistics via </a:t>
            </a:r>
            <a:r>
              <a:rPr sz="830" b="0" i="0" u="sng" spc="15">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1" name="Line chart of the producer price index for semiconductor and" descr="Line chart of the producer price index for semiconductor and electronic components from September 2021 (index 100) to August 2026 (index 137.7), flat for four years and rising sharply since February 2026."/>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3"/>
          <p:cNvSpPr txBox="1"/>
          <p:nvPr/>
        </p:nvSpPr>
        <p:spPr>
          <a:xfrm>
            <a:off x="3619500" y="1917002"/>
            <a:ext cx="1202382"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AUG 2026</a:t>
            </a:r>
          </a:p>
        </p:txBody>
      </p:sp>
      <p:sp>
        <p:nvSpPr>
          <p:cNvPr id="13" name="Rule"/>
          <p:cNvSpPr/>
          <p:nvPr/>
        </p:nvSpPr>
        <p:spPr>
          <a:xfrm>
            <a:off x="3619500" y="2109788"/>
            <a:ext cx="1181100" cy="9525"/>
          </a:xfrm>
          <a:prstGeom prst="rect">
            <a:avLst/>
          </a:prstGeom>
          <a:solidFill>
            <a:srgbClr val="E3DCD3"/>
          </a:solidFill>
          <a:ln>
            <a:noFill/>
          </a:ln>
        </p:spPr>
        <p:txBody>
          <a:bodyPr rtlCol="0" anchor="ctr"/>
          <a:lstStyle/>
          <a:p>
            <a:pPr algn="ctr"/>
            <a:endParaRPr/>
          </a:p>
        </p:txBody>
      </p:sp>
      <p:sp>
        <p:nvSpPr>
          <p:cNvPr id="14" name="TextBox 15"/>
          <p:cNvSpPr txBox="1"/>
          <p:nvPr/>
        </p:nvSpPr>
        <p:spPr>
          <a:xfrm>
            <a:off x="3619500" y="2160365"/>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15" name="TextBox 16"/>
          <p:cNvSpPr txBox="1"/>
          <p:nvPr/>
        </p:nvSpPr>
        <p:spPr>
          <a:xfrm>
            <a:off x="4457700" y="2160365"/>
            <a:ext cx="40005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+26.7%</a:t>
            </a:r>
          </a:p>
        </p:txBody>
      </p:sp>
      <p:sp>
        <p:nvSpPr>
          <p:cNvPr id="16" name="Rule"/>
          <p:cNvSpPr/>
          <p:nvPr/>
        </p:nvSpPr>
        <p:spPr>
          <a:xfrm>
            <a:off x="3619500" y="2371725"/>
            <a:ext cx="1181100" cy="9525"/>
          </a:xfrm>
          <a:prstGeom prst="rect">
            <a:avLst/>
          </a:prstGeom>
          <a:solidFill>
            <a:srgbClr val="E3DCD3"/>
          </a:solidFill>
          <a:ln>
            <a:noFill/>
          </a:ln>
        </p:spPr>
        <p:txBody>
          <a:bodyPr rtlCol="0" anchor="ctr"/>
          <a:lstStyle/>
          <a:p>
            <a:pPr algn="ctr"/>
            <a:endParaRPr/>
          </a:p>
        </p:txBody>
      </p:sp>
      <p:sp>
        <p:nvSpPr>
          <p:cNvPr id="17" name="TextBox 18"/>
          <p:cNvSpPr txBox="1"/>
          <p:nvPr/>
        </p:nvSpPr>
        <p:spPr>
          <a:xfrm>
            <a:off x="3619500" y="2422303"/>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18" name="TextBox 19"/>
          <p:cNvSpPr txBox="1"/>
          <p:nvPr/>
        </p:nvSpPr>
        <p:spPr>
          <a:xfrm>
            <a:off x="4460528" y="2422303"/>
            <a:ext cx="397222"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+32.3%</a:t>
            </a:r>
          </a:p>
        </p:txBody>
      </p:sp>
      <p:sp>
        <p:nvSpPr>
          <p:cNvPr id="19" name="Rule"/>
          <p:cNvSpPr/>
          <p:nvPr/>
        </p:nvSpPr>
        <p:spPr>
          <a:xfrm>
            <a:off x="3619500" y="2633662"/>
            <a:ext cx="1181100" cy="9525"/>
          </a:xfrm>
          <a:prstGeom prst="rect">
            <a:avLst/>
          </a:prstGeom>
          <a:solidFill>
            <a:srgbClr val="E3DCD3"/>
          </a:solidFill>
          <a:ln>
            <a:noFill/>
          </a:ln>
        </p:spPr>
        <p:txBody>
          <a:bodyPr rtlCol="0" anchor="ctr"/>
          <a:lstStyle/>
          <a:p>
            <a:pPr algn="ctr"/>
            <a:endParaRPr/>
          </a:p>
        </p:txBody>
      </p:sp>
      <p:sp>
        <p:nvSpPr>
          <p:cNvPr id="20" name="TextBox 21"/>
          <p:cNvSpPr txBox="1"/>
          <p:nvPr/>
        </p:nvSpPr>
        <p:spPr>
          <a:xfrm>
            <a:off x="3619500" y="2684240"/>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21" name="TextBox 22"/>
          <p:cNvSpPr txBox="1"/>
          <p:nvPr/>
        </p:nvSpPr>
        <p:spPr>
          <a:xfrm>
            <a:off x="4468267" y="2684240"/>
            <a:ext cx="389483"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+37.7%</a:t>
            </a:r>
          </a:p>
        </p:txBody>
      </p:sp>
      <p:sp>
        <p:nvSpPr>
          <p:cNvPr id="22" name="Rule"/>
          <p:cNvSpPr/>
          <p:nvPr/>
        </p:nvSpPr>
        <p:spPr>
          <a:xfrm>
            <a:off x="3619500" y="2895600"/>
            <a:ext cx="1181100" cy="9525"/>
          </a:xfrm>
          <a:prstGeom prst="rect">
            <a:avLst/>
          </a:prstGeom>
          <a:solidFill>
            <a:srgbClr val="E3DCD3"/>
          </a:solidFill>
          <a:ln>
            <a:noFill/>
          </a:ln>
        </p:spPr>
        <p:txBody>
          <a:bodyPr rtlCol="0" anchor="ctr"/>
          <a:lstStyle/>
          <a:p>
            <a:pPr algn="ctr"/>
            <a:endParaRPr/>
          </a:p>
        </p:txBody>
      </p:sp>
      <p:sp>
        <p:nvSpPr>
          <p:cNvPr id="23" name="TextBox 24"/>
          <p:cNvSpPr txBox="1"/>
          <p:nvPr/>
        </p:nvSpPr>
        <p:spPr>
          <a:xfrm>
            <a:off x="571500" y="3575876"/>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Component prices were flat for four years and have risen sharply since February 2026, which raises input costs for manufacturers and integrators.</a:t>
            </a:r>
          </a:p>
        </p:txBody>
      </p:sp>
      <p:sp>
        <p:nvSpPr>
          <p:cNvPr id="24" name="Panel"/>
          <p:cNvSpPr/>
          <p:nvPr/>
        </p:nvSpPr>
        <p:spPr>
          <a:xfrm>
            <a:off x="5105400" y="1238250"/>
            <a:ext cx="4533900" cy="2771775"/>
          </a:xfrm>
          <a:prstGeom prst="rect">
            <a:avLst/>
          </a:prstGeom>
          <a:solidFill>
            <a:srgbClr val="FAF7F3"/>
          </a:solidFill>
          <a:ln>
            <a:noFill/>
          </a:ln>
        </p:spPr>
        <p:txBody>
          <a:bodyPr rtlCol="0" anchor="ctr"/>
          <a:lstStyle/>
          <a:p>
            <a:pPr algn="ctr"/>
            <a:endParaRPr/>
          </a:p>
        </p:txBody>
      </p:sp>
      <p:sp>
        <p:nvSpPr>
          <p:cNvPr id="25" name="Rule"/>
          <p:cNvSpPr/>
          <p:nvPr/>
        </p:nvSpPr>
        <p:spPr>
          <a:xfrm>
            <a:off x="5105400" y="1238250"/>
            <a:ext cx="4533900" cy="28575"/>
          </a:xfrm>
          <a:prstGeom prst="rect">
            <a:avLst/>
          </a:prstGeom>
          <a:solidFill>
            <a:srgbClr val="B68757"/>
          </a:solidFill>
          <a:ln>
            <a:noFill/>
          </a:ln>
        </p:spPr>
        <p:txBody>
          <a:bodyPr rtlCol="0" anchor="ctr"/>
          <a:lstStyle/>
          <a:p>
            <a:pPr algn="ctr"/>
            <a:endParaRPr/>
          </a:p>
        </p:txBody>
      </p:sp>
      <p:sp>
        <p:nvSpPr>
          <p:cNvPr id="26" name="TextBox 27"/>
          <p:cNvSpPr txBox="1"/>
          <p:nvPr/>
        </p:nvSpPr>
        <p:spPr>
          <a:xfrm>
            <a:off x="5257800" y="1375029"/>
            <a:ext cx="850106"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Copper price</a:t>
            </a:r>
          </a:p>
        </p:txBody>
      </p:sp>
      <p:sp>
        <p:nvSpPr>
          <p:cNvPr id="27" name="TextBox 28"/>
          <p:cNvSpPr txBox="1"/>
          <p:nvPr/>
        </p:nvSpPr>
        <p:spPr>
          <a:xfrm>
            <a:off x="5257800" y="1540192"/>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Global price of copper, indexed from the monthly average in US dollars per metric ton. Index, September 2021 = 100. Source: International Monetary Fund via FRED</a:t>
            </a:r>
          </a:p>
        </p:txBody>
      </p:sp>
      <p:graphicFrame>
        <p:nvGraphicFramePr>
          <p:cNvPr id="28" name="Line chart of the global copper price indexed to September 2" descr="Line chart of the global copper price indexed to September 2021 (index 100), falling to about 81 in mid-2022, then climbing to a record near 145 in July 2026."/>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xmlns:r="http://schemas.openxmlformats.org/officeDocument/2006/relationships" r:id="rId4"/>
          </a:graphicData>
        </a:graphic>
      </p:graphicFrame>
      <p:sp>
        <p:nvSpPr>
          <p:cNvPr id="29" name="TextBox 30"/>
          <p:cNvSpPr txBox="1"/>
          <p:nvPr/>
        </p:nvSpPr>
        <p:spPr>
          <a:xfrm>
            <a:off x="8305800" y="1917002"/>
            <a:ext cx="1186309"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JUL 2026</a:t>
            </a:r>
          </a:p>
        </p:txBody>
      </p:sp>
      <p:sp>
        <p:nvSpPr>
          <p:cNvPr id="30" name="Rule"/>
          <p:cNvSpPr/>
          <p:nvPr/>
        </p:nvSpPr>
        <p:spPr>
          <a:xfrm>
            <a:off x="8305800" y="2109788"/>
            <a:ext cx="1181100" cy="9525"/>
          </a:xfrm>
          <a:prstGeom prst="rect">
            <a:avLst/>
          </a:prstGeom>
          <a:solidFill>
            <a:srgbClr val="E3DCD3"/>
          </a:solidFill>
          <a:ln>
            <a:noFill/>
          </a:ln>
        </p:spPr>
        <p:txBody>
          <a:bodyPr rtlCol="0" anchor="ctr"/>
          <a:lstStyle/>
          <a:p>
            <a:pPr algn="ctr"/>
            <a:endParaRPr/>
          </a:p>
        </p:txBody>
      </p:sp>
      <p:sp>
        <p:nvSpPr>
          <p:cNvPr id="31" name="TextBox 32"/>
          <p:cNvSpPr txBox="1"/>
          <p:nvPr/>
        </p:nvSpPr>
        <p:spPr>
          <a:xfrm>
            <a:off x="8305800" y="2160365"/>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32" name="TextBox 33"/>
          <p:cNvSpPr txBox="1"/>
          <p:nvPr/>
        </p:nvSpPr>
        <p:spPr>
          <a:xfrm>
            <a:off x="9147274" y="2160365"/>
            <a:ext cx="396776"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+38.6%</a:t>
            </a:r>
          </a:p>
        </p:txBody>
      </p:sp>
      <p:sp>
        <p:nvSpPr>
          <p:cNvPr id="33" name="Rule"/>
          <p:cNvSpPr/>
          <p:nvPr/>
        </p:nvSpPr>
        <p:spPr>
          <a:xfrm>
            <a:off x="8305800" y="2371725"/>
            <a:ext cx="1181100" cy="9525"/>
          </a:xfrm>
          <a:prstGeom prst="rect">
            <a:avLst/>
          </a:prstGeom>
          <a:solidFill>
            <a:srgbClr val="E3DCD3"/>
          </a:solidFill>
          <a:ln>
            <a:noFill/>
          </a:ln>
        </p:spPr>
        <p:txBody>
          <a:bodyPr rtlCol="0" anchor="ctr"/>
          <a:lstStyle/>
          <a:p>
            <a:pPr algn="ctr"/>
            <a:endParaRPr/>
          </a:p>
        </p:txBody>
      </p:sp>
      <p:sp>
        <p:nvSpPr>
          <p:cNvPr id="34" name="TextBox 35"/>
          <p:cNvSpPr txBox="1"/>
          <p:nvPr/>
        </p:nvSpPr>
        <p:spPr>
          <a:xfrm>
            <a:off x="8305800" y="2422303"/>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35" name="TextBox 36"/>
          <p:cNvSpPr txBox="1"/>
          <p:nvPr/>
        </p:nvSpPr>
        <p:spPr>
          <a:xfrm>
            <a:off x="9145786" y="2422303"/>
            <a:ext cx="398264"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+59.8%</a:t>
            </a:r>
          </a:p>
        </p:txBody>
      </p:sp>
      <p:sp>
        <p:nvSpPr>
          <p:cNvPr id="36" name="Rule"/>
          <p:cNvSpPr/>
          <p:nvPr/>
        </p:nvSpPr>
        <p:spPr>
          <a:xfrm>
            <a:off x="8305800" y="2633662"/>
            <a:ext cx="1181100" cy="9525"/>
          </a:xfrm>
          <a:prstGeom prst="rect">
            <a:avLst/>
          </a:prstGeom>
          <a:solidFill>
            <a:srgbClr val="E3DCD3"/>
          </a:solidFill>
          <a:ln>
            <a:noFill/>
          </a:ln>
        </p:spPr>
        <p:txBody>
          <a:bodyPr rtlCol="0" anchor="ctr"/>
          <a:lstStyle/>
          <a:p>
            <a:pPr algn="ctr"/>
            <a:endParaRPr/>
          </a:p>
        </p:txBody>
      </p:sp>
      <p:sp>
        <p:nvSpPr>
          <p:cNvPr id="37" name="TextBox 38"/>
          <p:cNvSpPr txBox="1"/>
          <p:nvPr/>
        </p:nvSpPr>
        <p:spPr>
          <a:xfrm>
            <a:off x="8305800" y="2684240"/>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38" name="TextBox 39"/>
          <p:cNvSpPr txBox="1"/>
          <p:nvPr/>
        </p:nvSpPr>
        <p:spPr>
          <a:xfrm>
            <a:off x="9141768" y="2684240"/>
            <a:ext cx="402282"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+45.2%</a:t>
            </a:r>
          </a:p>
        </p:txBody>
      </p:sp>
      <p:sp>
        <p:nvSpPr>
          <p:cNvPr id="39" name="Rule"/>
          <p:cNvSpPr/>
          <p:nvPr/>
        </p:nvSpPr>
        <p:spPr>
          <a:xfrm>
            <a:off x="8305800" y="2895600"/>
            <a:ext cx="1181100" cy="9525"/>
          </a:xfrm>
          <a:prstGeom prst="rect">
            <a:avLst/>
          </a:prstGeom>
          <a:solidFill>
            <a:srgbClr val="E3DCD3"/>
          </a:solidFill>
          <a:ln>
            <a:noFill/>
          </a:ln>
        </p:spPr>
        <p:txBody>
          <a:bodyPr rtlCol="0" anchor="ctr"/>
          <a:lstStyle/>
          <a:p>
            <a:pPr algn="ctr"/>
            <a:endParaRPr/>
          </a:p>
        </p:txBody>
      </p:sp>
      <p:sp>
        <p:nvSpPr>
          <p:cNvPr id="40" name="TextBox 41"/>
          <p:cNvSpPr txBox="1"/>
          <p:nvPr/>
        </p:nvSpPr>
        <p:spPr>
          <a:xfrm>
            <a:off x="5257800" y="3575876"/>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Copper feeds cabling, power, and fiber construction budgets, and it reached a record monthly average in 2026.</a:t>
            </a:r>
          </a:p>
        </p:txBody>
      </p:sp>
      <p:sp>
        <p:nvSpPr>
          <p:cNvPr id="41" name="Panel"/>
          <p:cNvSpPr/>
          <p:nvPr/>
        </p:nvSpPr>
        <p:spPr>
          <a:xfrm>
            <a:off x="419100" y="4162425"/>
            <a:ext cx="4533900" cy="2771775"/>
          </a:xfrm>
          <a:prstGeom prst="rect">
            <a:avLst/>
          </a:prstGeom>
          <a:solidFill>
            <a:srgbClr val="FAF7F3"/>
          </a:solidFill>
          <a:ln>
            <a:noFill/>
          </a:ln>
        </p:spPr>
        <p:txBody>
          <a:bodyPr rtlCol="0" anchor="ctr"/>
          <a:lstStyle/>
          <a:p>
            <a:pPr algn="ctr"/>
            <a:endParaRPr/>
          </a:p>
        </p:txBody>
      </p:sp>
      <p:sp>
        <p:nvSpPr>
          <p:cNvPr id="42" name="Rule"/>
          <p:cNvSpPr/>
          <p:nvPr/>
        </p:nvSpPr>
        <p:spPr>
          <a:xfrm>
            <a:off x="419100" y="4162425"/>
            <a:ext cx="4533900" cy="28575"/>
          </a:xfrm>
          <a:prstGeom prst="rect">
            <a:avLst/>
          </a:prstGeom>
          <a:solidFill>
            <a:srgbClr val="B68757"/>
          </a:solidFill>
          <a:ln>
            <a:noFill/>
          </a:ln>
        </p:spPr>
        <p:txBody>
          <a:bodyPr rtlCol="0" anchor="ctr"/>
          <a:lstStyle/>
          <a:p>
            <a:pPr algn="ctr"/>
            <a:endParaRPr/>
          </a:p>
        </p:txBody>
      </p:sp>
      <p:sp>
        <p:nvSpPr>
          <p:cNvPr id="43" name="TextBox 44"/>
          <p:cNvSpPr txBox="1"/>
          <p:nvPr/>
        </p:nvSpPr>
        <p:spPr>
          <a:xfrm>
            <a:off x="571500" y="4299204"/>
            <a:ext cx="3153668"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Private office construction, including data centers</a:t>
            </a:r>
          </a:p>
        </p:txBody>
      </p:sp>
      <p:sp>
        <p:nvSpPr>
          <p:cNvPr id="44" name="TextBox 45"/>
          <p:cNvSpPr txBox="1"/>
          <p:nvPr/>
        </p:nvSpPr>
        <p:spPr>
          <a:xfrm>
            <a:off x="571500" y="4464368"/>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Annualized spending; the Census Bureau counts data centers in this category. Index, September 2021 = 100. Source: US Census Bureau via </a:t>
            </a:r>
            <a:r>
              <a:rPr sz="830" b="0" i="0" u="sng" spc="15">
                <a:solidFill>
                  <a:srgbClr val="8C6239"/>
                </a:solidFill>
                <a:latin typeface="Quicksand"/>
                <a:hlinkClick r:id="rId5">
                  <a:extLst>
                    <a:ext uri="{A12FA001-AC4F-418D-AE19-62706E023703}">
                      <ahyp:hlinkClr xmlns:ahyp="http://schemas.microsoft.com/office/drawing/2018/hyperlinkcolor" val="tx"/>
                    </a:ext>
                  </a:extLst>
                </a:hlinkClick>
              </a:rPr>
              <a:t>FRED</a:t>
            </a:r>
          </a:p>
        </p:txBody>
      </p:sp>
      <p:graphicFrame>
        <p:nvGraphicFramePr>
          <p:cNvPr id="45" name="Line chart of private office construction spending, includin" descr="Line chart of private office construction spending, including data centers, indexed to September 2021 (index 100) and reaching 173.1 in August 2026."/>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xmlns:r="http://schemas.openxmlformats.org/officeDocument/2006/relationships" r:id="rId6"/>
          </a:graphicData>
        </a:graphic>
      </p:graphicFrame>
      <p:sp>
        <p:nvSpPr>
          <p:cNvPr id="46" name="TextBox 47"/>
          <p:cNvSpPr txBox="1"/>
          <p:nvPr/>
        </p:nvSpPr>
        <p:spPr>
          <a:xfrm>
            <a:off x="3619500" y="4841176"/>
            <a:ext cx="1202382"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AUG 2026</a:t>
            </a:r>
          </a:p>
        </p:txBody>
      </p:sp>
      <p:sp>
        <p:nvSpPr>
          <p:cNvPr id="47" name="Rule"/>
          <p:cNvSpPr/>
          <p:nvPr/>
        </p:nvSpPr>
        <p:spPr>
          <a:xfrm>
            <a:off x="3619500" y="5033962"/>
            <a:ext cx="1181100" cy="9525"/>
          </a:xfrm>
          <a:prstGeom prst="rect">
            <a:avLst/>
          </a:prstGeom>
          <a:solidFill>
            <a:srgbClr val="E3DCD3"/>
          </a:solidFill>
          <a:ln>
            <a:noFill/>
          </a:ln>
        </p:spPr>
        <p:txBody>
          <a:bodyPr rtlCol="0" anchor="ctr"/>
          <a:lstStyle/>
          <a:p>
            <a:pPr algn="ctr"/>
            <a:endParaRPr/>
          </a:p>
        </p:txBody>
      </p:sp>
      <p:sp>
        <p:nvSpPr>
          <p:cNvPr id="48" name="TextBox 49"/>
          <p:cNvSpPr txBox="1"/>
          <p:nvPr/>
        </p:nvSpPr>
        <p:spPr>
          <a:xfrm>
            <a:off x="3619500" y="5084540"/>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49" name="TextBox 50"/>
          <p:cNvSpPr txBox="1"/>
          <p:nvPr/>
        </p:nvSpPr>
        <p:spPr>
          <a:xfrm>
            <a:off x="4460230" y="5084540"/>
            <a:ext cx="39752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+29.8%</a:t>
            </a:r>
          </a:p>
        </p:txBody>
      </p:sp>
      <p:sp>
        <p:nvSpPr>
          <p:cNvPr id="50" name="Rule"/>
          <p:cNvSpPr/>
          <p:nvPr/>
        </p:nvSpPr>
        <p:spPr>
          <a:xfrm>
            <a:off x="3619500" y="5295900"/>
            <a:ext cx="1181100" cy="9525"/>
          </a:xfrm>
          <a:prstGeom prst="rect">
            <a:avLst/>
          </a:prstGeom>
          <a:solidFill>
            <a:srgbClr val="E3DCD3"/>
          </a:solidFill>
          <a:ln>
            <a:noFill/>
          </a:ln>
        </p:spPr>
        <p:txBody>
          <a:bodyPr rtlCol="0" anchor="ctr"/>
          <a:lstStyle/>
          <a:p>
            <a:pPr algn="ctr"/>
            <a:endParaRPr/>
          </a:p>
        </p:txBody>
      </p:sp>
      <p:sp>
        <p:nvSpPr>
          <p:cNvPr id="51" name="TextBox 52"/>
          <p:cNvSpPr txBox="1"/>
          <p:nvPr/>
        </p:nvSpPr>
        <p:spPr>
          <a:xfrm>
            <a:off x="3619500" y="5346478"/>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52" name="TextBox 53"/>
          <p:cNvSpPr txBox="1"/>
          <p:nvPr/>
        </p:nvSpPr>
        <p:spPr>
          <a:xfrm>
            <a:off x="4457700" y="5346478"/>
            <a:ext cx="40005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+53.4%</a:t>
            </a:r>
          </a:p>
        </p:txBody>
      </p:sp>
      <p:sp>
        <p:nvSpPr>
          <p:cNvPr id="53" name="Rule"/>
          <p:cNvSpPr/>
          <p:nvPr/>
        </p:nvSpPr>
        <p:spPr>
          <a:xfrm>
            <a:off x="3619500" y="5557838"/>
            <a:ext cx="1181100" cy="9525"/>
          </a:xfrm>
          <a:prstGeom prst="rect">
            <a:avLst/>
          </a:prstGeom>
          <a:solidFill>
            <a:srgbClr val="E3DCD3"/>
          </a:solidFill>
          <a:ln>
            <a:noFill/>
          </a:ln>
        </p:spPr>
        <p:txBody>
          <a:bodyPr rtlCol="0" anchor="ctr"/>
          <a:lstStyle/>
          <a:p>
            <a:pPr algn="ctr"/>
            <a:endParaRPr/>
          </a:p>
        </p:txBody>
      </p:sp>
      <p:sp>
        <p:nvSpPr>
          <p:cNvPr id="54" name="TextBox 55"/>
          <p:cNvSpPr txBox="1"/>
          <p:nvPr/>
        </p:nvSpPr>
        <p:spPr>
          <a:xfrm>
            <a:off x="3619500" y="5608415"/>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55" name="TextBox 56"/>
          <p:cNvSpPr txBox="1"/>
          <p:nvPr/>
        </p:nvSpPr>
        <p:spPr>
          <a:xfrm>
            <a:off x="4482257" y="5608415"/>
            <a:ext cx="375493"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+73.1%</a:t>
            </a:r>
          </a:p>
        </p:txBody>
      </p:sp>
      <p:sp>
        <p:nvSpPr>
          <p:cNvPr id="56" name="Rule"/>
          <p:cNvSpPr/>
          <p:nvPr/>
        </p:nvSpPr>
        <p:spPr>
          <a:xfrm>
            <a:off x="3619500" y="5819775"/>
            <a:ext cx="1181100" cy="9525"/>
          </a:xfrm>
          <a:prstGeom prst="rect">
            <a:avLst/>
          </a:prstGeom>
          <a:solidFill>
            <a:srgbClr val="E3DCD3"/>
          </a:solidFill>
          <a:ln>
            <a:noFill/>
          </a:ln>
        </p:spPr>
        <p:txBody>
          <a:bodyPr rtlCol="0" anchor="ctr"/>
          <a:lstStyle/>
          <a:p>
            <a:pPr algn="ctr"/>
            <a:endParaRPr/>
          </a:p>
        </p:txBody>
      </p:sp>
      <p:sp>
        <p:nvSpPr>
          <p:cNvPr id="57" name="TextBox 58"/>
          <p:cNvSpPr txBox="1"/>
          <p:nvPr/>
        </p:nvSpPr>
        <p:spPr>
          <a:xfrm>
            <a:off x="571500" y="6500050"/>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Data centers accounted for $85.0 billion of the August 2026 annual rate, against $49.1 billion a year earlier.</a:t>
            </a:r>
          </a:p>
        </p:txBody>
      </p:sp>
      <p:sp>
        <p:nvSpPr>
          <p:cNvPr id="58" name="Panel"/>
          <p:cNvSpPr/>
          <p:nvPr/>
        </p:nvSpPr>
        <p:spPr>
          <a:xfrm>
            <a:off x="5105400" y="4162425"/>
            <a:ext cx="4533900" cy="2771775"/>
          </a:xfrm>
          <a:prstGeom prst="rect">
            <a:avLst/>
          </a:prstGeom>
          <a:solidFill>
            <a:srgbClr val="FAF7F3"/>
          </a:solidFill>
          <a:ln>
            <a:noFill/>
          </a:ln>
        </p:spPr>
        <p:txBody>
          <a:bodyPr rtlCol="0" anchor="ctr"/>
          <a:lstStyle/>
          <a:p>
            <a:pPr algn="ctr"/>
            <a:endParaRPr/>
          </a:p>
        </p:txBody>
      </p:sp>
      <p:sp>
        <p:nvSpPr>
          <p:cNvPr id="59" name="Rule"/>
          <p:cNvSpPr/>
          <p:nvPr/>
        </p:nvSpPr>
        <p:spPr>
          <a:xfrm>
            <a:off x="5105400" y="4162425"/>
            <a:ext cx="4533900" cy="28575"/>
          </a:xfrm>
          <a:prstGeom prst="rect">
            <a:avLst/>
          </a:prstGeom>
          <a:solidFill>
            <a:srgbClr val="B68757"/>
          </a:solidFill>
          <a:ln>
            <a:noFill/>
          </a:ln>
        </p:spPr>
        <p:txBody>
          <a:bodyPr rtlCol="0" anchor="ctr"/>
          <a:lstStyle/>
          <a:p>
            <a:pPr algn="ctr"/>
            <a:endParaRPr/>
          </a:p>
        </p:txBody>
      </p:sp>
      <p:sp>
        <p:nvSpPr>
          <p:cNvPr id="60" name="TextBox 61"/>
          <p:cNvSpPr txBox="1"/>
          <p:nvPr/>
        </p:nvSpPr>
        <p:spPr>
          <a:xfrm>
            <a:off x="5257800" y="4299204"/>
            <a:ext cx="3887391"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Employment in computer systems design and related services</a:t>
            </a:r>
          </a:p>
        </p:txBody>
      </p:sp>
      <p:sp>
        <p:nvSpPr>
          <p:cNvPr id="61" name="TextBox 62"/>
          <p:cNvSpPr txBox="1"/>
          <p:nvPr/>
        </p:nvSpPr>
        <p:spPr>
          <a:xfrm>
            <a:off x="5257800" y="4464368"/>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All employees, seasonally adjusted. Index, September 2021 = 100. Source: Bureau of Labor Statistics via </a:t>
            </a:r>
            <a:r>
              <a:rPr sz="830" b="0" i="0" u="sng" spc="15">
                <a:solidFill>
                  <a:srgbClr val="8C6239"/>
                </a:solidFill>
                <a:latin typeface="Quicksand"/>
                <a:hlinkClick r:id="rId7">
                  <a:extLst>
                    <a:ext uri="{A12FA001-AC4F-418D-AE19-62706E023703}">
                      <ahyp:hlinkClr xmlns:ahyp="http://schemas.microsoft.com/office/drawing/2018/hyperlinkcolor" val="tx"/>
                    </a:ext>
                  </a:extLst>
                </a:hlinkClick>
              </a:rPr>
              <a:t>FRED</a:t>
            </a:r>
          </a:p>
        </p:txBody>
      </p:sp>
      <p:graphicFrame>
        <p:nvGraphicFramePr>
          <p:cNvPr id="62" name="Line chart of employment in computer systems design and rela" descr="Line chart of employment in computer systems design and related services indexed to September 2021 (index 100), peaking near 105.7 in 2022 and 2023 and falling to 100.3 in September 2026."/>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xmlns:r="http://schemas.openxmlformats.org/officeDocument/2006/relationships" r:id="rId8"/>
          </a:graphicData>
        </a:graphic>
      </p:graphicFrame>
      <p:sp>
        <p:nvSpPr>
          <p:cNvPr id="63" name="TextBox 64"/>
          <p:cNvSpPr txBox="1"/>
          <p:nvPr/>
        </p:nvSpPr>
        <p:spPr>
          <a:xfrm>
            <a:off x="8305800" y="4841176"/>
            <a:ext cx="1182737"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SEP 2026</a:t>
            </a:r>
          </a:p>
        </p:txBody>
      </p:sp>
      <p:sp>
        <p:nvSpPr>
          <p:cNvPr id="64" name="Rule"/>
          <p:cNvSpPr/>
          <p:nvPr/>
        </p:nvSpPr>
        <p:spPr>
          <a:xfrm>
            <a:off x="8305800" y="5033962"/>
            <a:ext cx="1181100" cy="9525"/>
          </a:xfrm>
          <a:prstGeom prst="rect">
            <a:avLst/>
          </a:prstGeom>
          <a:solidFill>
            <a:srgbClr val="E3DCD3"/>
          </a:solidFill>
          <a:ln>
            <a:noFill/>
          </a:ln>
        </p:spPr>
        <p:txBody>
          <a:bodyPr rtlCol="0" anchor="ctr"/>
          <a:lstStyle/>
          <a:p>
            <a:pPr algn="ctr"/>
            <a:endParaRPr/>
          </a:p>
        </p:txBody>
      </p:sp>
      <p:sp>
        <p:nvSpPr>
          <p:cNvPr id="65" name="TextBox 66"/>
          <p:cNvSpPr txBox="1"/>
          <p:nvPr/>
        </p:nvSpPr>
        <p:spPr>
          <a:xfrm>
            <a:off x="8305800" y="5084540"/>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66" name="TextBox 67"/>
          <p:cNvSpPr txBox="1"/>
          <p:nvPr/>
        </p:nvSpPr>
        <p:spPr>
          <a:xfrm>
            <a:off x="9220200" y="5084540"/>
            <a:ext cx="32385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−1.3%</a:t>
            </a:r>
          </a:p>
        </p:txBody>
      </p:sp>
      <p:sp>
        <p:nvSpPr>
          <p:cNvPr id="67" name="Rule"/>
          <p:cNvSpPr/>
          <p:nvPr/>
        </p:nvSpPr>
        <p:spPr>
          <a:xfrm>
            <a:off x="8305800" y="5295900"/>
            <a:ext cx="1181100" cy="9525"/>
          </a:xfrm>
          <a:prstGeom prst="rect">
            <a:avLst/>
          </a:prstGeom>
          <a:solidFill>
            <a:srgbClr val="E3DCD3"/>
          </a:solidFill>
          <a:ln>
            <a:noFill/>
          </a:ln>
        </p:spPr>
        <p:txBody>
          <a:bodyPr rtlCol="0" anchor="ctr"/>
          <a:lstStyle/>
          <a:p>
            <a:pPr algn="ctr"/>
            <a:endParaRPr/>
          </a:p>
        </p:txBody>
      </p:sp>
      <p:sp>
        <p:nvSpPr>
          <p:cNvPr id="68" name="TextBox 69"/>
          <p:cNvSpPr txBox="1"/>
          <p:nvPr/>
        </p:nvSpPr>
        <p:spPr>
          <a:xfrm>
            <a:off x="8305800" y="5346478"/>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69" name="TextBox 70"/>
          <p:cNvSpPr txBox="1"/>
          <p:nvPr/>
        </p:nvSpPr>
        <p:spPr>
          <a:xfrm>
            <a:off x="9216182" y="5346478"/>
            <a:ext cx="327868"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−4.1%</a:t>
            </a:r>
          </a:p>
        </p:txBody>
      </p:sp>
      <p:sp>
        <p:nvSpPr>
          <p:cNvPr id="70" name="Rule"/>
          <p:cNvSpPr/>
          <p:nvPr/>
        </p:nvSpPr>
        <p:spPr>
          <a:xfrm>
            <a:off x="8305800" y="5557838"/>
            <a:ext cx="1181100" cy="9525"/>
          </a:xfrm>
          <a:prstGeom prst="rect">
            <a:avLst/>
          </a:prstGeom>
          <a:solidFill>
            <a:srgbClr val="E3DCD3"/>
          </a:solidFill>
          <a:ln>
            <a:noFill/>
          </a:ln>
        </p:spPr>
        <p:txBody>
          <a:bodyPr rtlCol="0" anchor="ctr"/>
          <a:lstStyle/>
          <a:p>
            <a:pPr algn="ctr"/>
            <a:endParaRPr/>
          </a:p>
        </p:txBody>
      </p:sp>
      <p:sp>
        <p:nvSpPr>
          <p:cNvPr id="71" name="TextBox 72"/>
          <p:cNvSpPr txBox="1"/>
          <p:nvPr/>
        </p:nvSpPr>
        <p:spPr>
          <a:xfrm>
            <a:off x="8305800" y="5608415"/>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72" name="TextBox 73"/>
          <p:cNvSpPr txBox="1"/>
          <p:nvPr/>
        </p:nvSpPr>
        <p:spPr>
          <a:xfrm>
            <a:off x="9197876" y="5608415"/>
            <a:ext cx="346174"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+0.3%</a:t>
            </a:r>
          </a:p>
        </p:txBody>
      </p:sp>
      <p:sp>
        <p:nvSpPr>
          <p:cNvPr id="73" name="Rule"/>
          <p:cNvSpPr/>
          <p:nvPr/>
        </p:nvSpPr>
        <p:spPr>
          <a:xfrm>
            <a:off x="8305800" y="5819775"/>
            <a:ext cx="1181100" cy="9525"/>
          </a:xfrm>
          <a:prstGeom prst="rect">
            <a:avLst/>
          </a:prstGeom>
          <a:solidFill>
            <a:srgbClr val="E3DCD3"/>
          </a:solidFill>
          <a:ln>
            <a:noFill/>
          </a:ln>
        </p:spPr>
        <p:txBody>
          <a:bodyPr rtlCol="0" anchor="ctr"/>
          <a:lstStyle/>
          <a:p>
            <a:pPr algn="ctr"/>
            <a:endParaRPr/>
          </a:p>
        </p:txBody>
      </p:sp>
      <p:sp>
        <p:nvSpPr>
          <p:cNvPr id="74" name="TextBox 75"/>
          <p:cNvSpPr txBox="1"/>
          <p:nvPr/>
        </p:nvSpPr>
        <p:spPr>
          <a:xfrm>
            <a:off x="5257800" y="6500050"/>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Headcount at IT services firms has fallen 5% from its March 2023 peak even as technology spending has grown.</a:t>
            </a:r>
          </a:p>
        </p:txBody>
      </p:sp>
      <p:sp>
        <p:nvSpPr>
          <p:cNvPr id="75" name="TextBox 78"/>
          <p:cNvSpPr txBox="1"/>
          <p:nvPr/>
        </p:nvSpPr>
        <p:spPr>
          <a:xfrm>
            <a:off x="1543050" y="7091172"/>
            <a:ext cx="7810500" cy="223838"/>
          </a:xfrm>
          <a:prstGeom prst="rect">
            <a:avLst/>
          </a:prstGeom>
          <a:noFill/>
        </p:spPr>
        <p:txBody>
          <a:bodyPr wrap="square" lIns="0" tIns="0" rIns="0" bIns="0" anchor="b">
            <a:noAutofit/>
          </a:bodyPr>
          <a:lstStyle/>
          <a:p>
            <a:pPr algn="l">
              <a:lnSpc>
                <a:spcPts val="1056"/>
              </a:lnSpc>
              <a:spcBef>
                <a:spcPts val="0"/>
              </a:spcBef>
              <a:spcAft>
                <a:spcPts val="0"/>
              </a:spcAft>
            </a:pPr>
            <a:r>
              <a:rPr sz="760"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760" b="0" i="0" u="sng" spc="8">
                <a:solidFill>
                  <a:srgbClr val="8C6239"/>
                </a:solidFill>
                <a:latin typeface="Quicksand"/>
                <a:hlinkClick r:id="rId9">
                  <a:extLst>
                    <a:ext uri="{A12FA001-AC4F-418D-AE19-62706E023703}">
                      <ahyp:hlinkClr xmlns:ahyp="http://schemas.microsoft.com/office/drawing/2018/hyperlinkcolor" val="tx"/>
                    </a:ext>
                  </a:extLst>
                </a:hlinkClick>
              </a:rPr>
              <a:t>Census Bureau construction spending release of October 1, 2026</a:t>
            </a:r>
            <a:r>
              <a:rPr sz="760" b="0" i="0" spc="8">
                <a:solidFill>
                  <a:srgbClr val="6F6A66"/>
                </a:solidFill>
                <a:latin typeface="Quicksand"/>
              </a:rPr>
              <a:t>.</a:t>
            </a:r>
          </a:p>
        </p:txBody>
      </p:sp>
      <p:sp>
        <p:nvSpPr>
          <p:cNvPr id="7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60" b="1" kern="0" spc="195" dirty="0">
                <a:solidFill>
                  <a:srgbClr val="8C6239"/>
                </a:solidFill>
                <a:latin typeface="Quicksand" pitchFamily="34" charset="0"/>
              </a:rPr>
              <a:t>TECHNOLOGY  |  QUARTERLY INDUSTRY REPORT</a:t>
            </a:r>
            <a:endParaRPr lang="en-US" sz="760" dirty="0"/>
          </a:p>
        </p:txBody>
      </p:sp>
      <p:sp>
        <p:nvSpPr>
          <p:cNvPr id="7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55" kern="0" spc="90" dirty="0">
                <a:solidFill>
                  <a:srgbClr val="6F6A66"/>
                </a:solidFill>
                <a:latin typeface="Cinzel" pitchFamily="34" charset="0"/>
              </a:rPr>
              <a:t>Q4 2026</a:t>
            </a:r>
            <a:endParaRPr lang="en-US" sz="955" dirty="0"/>
          </a:p>
        </p:txBody>
      </p:sp>
      <p:sp>
        <p:nvSpPr>
          <p:cNvPr id="78" name="Shape 9"/>
          <p:cNvSpPr/>
          <p:nvPr/>
        </p:nvSpPr>
        <p:spPr>
          <a:xfrm>
            <a:off x="419100" y="7029450"/>
            <a:ext cx="9220200" cy="9525"/>
          </a:xfrm>
          <a:prstGeom prst="rect">
            <a:avLst/>
          </a:prstGeom>
          <a:solidFill>
            <a:srgbClr val="E3DCD3"/>
          </a:solidFill>
          <a:ln/>
        </p:spPr>
        <p:txBody>
          <a:bodyPr/>
          <a:lstStyle/>
          <a:p>
            <a:endParaRPr lang="en-US"/>
          </a:p>
        </p:txBody>
      </p:sp>
      <p:pic>
        <p:nvPicPr>
          <p:cNvPr id="79" name="Benchmark International logo"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8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90" b="1" kern="0" spc="150" dirty="0">
                <a:solidFill>
                  <a:srgbClr val="1B1A1A"/>
                </a:solidFill>
                <a:latin typeface="Quicksand" pitchFamily="34" charset="0"/>
              </a:rPr>
              <a:t>23</a:t>
            </a:r>
            <a:endParaRPr lang="en-US" sz="79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 (Continued)</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75" b="0" i="0" spc="15">
                <a:solidFill>
                  <a:srgbClr val="6F6A66"/>
                </a:solidFill>
                <a:latin typeface="Quicksand"/>
              </a:rPr>
              <a:t>Hosting prices are rising slowly, new orders and semiconductor output are running well above 2021, and the 10-year Treasury yield is close to 5%.</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34440"/>
            <a:ext cx="4535424" cy="2770632"/>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34440"/>
            <a:ext cx="4535424" cy="27432"/>
          </a:xfrm>
          <a:prstGeom prst="rect">
            <a:avLst/>
          </a:prstGeom>
          <a:solidFill>
            <a:srgbClr val="B68757"/>
          </a:solidFill>
          <a:ln>
            <a:noFill/>
          </a:ln>
          <a:effectLst/>
        </p:spPr>
        <p:txBody>
          <a:bodyPr rtlCol="0" anchor="ctr"/>
          <a:lstStyle/>
          <a:p>
            <a:pPr algn="ctr"/>
            <a:endParaRPr/>
          </a:p>
        </p:txBody>
      </p:sp>
      <p:sp>
        <p:nvSpPr>
          <p:cNvPr id="9" name="TextBox"/>
          <p:cNvSpPr txBox="1"/>
          <p:nvPr/>
        </p:nvSpPr>
        <p:spPr>
          <a:xfrm>
            <a:off x="594360" y="138074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Data processing and hosting prices</a:t>
            </a:r>
          </a:p>
        </p:txBody>
      </p:sp>
      <p:sp>
        <p:nvSpPr>
          <p:cNvPr id="10" name="TextBox"/>
          <p:cNvSpPr txBox="1"/>
          <p:nvPr/>
        </p:nvSpPr>
        <p:spPr>
          <a:xfrm>
            <a:off x="594360" y="154533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Producer price index, data processing, hosting, and related services. Index, September 2021 = 100. Source: Bureau of Labor Statistics via FRED</a:t>
            </a:r>
          </a:p>
        </p:txBody>
      </p:sp>
      <p:graphicFrame>
        <p:nvGraphicFramePr>
          <p:cNvPr id="11" name="Line chart of the producer price index for data processing a" descr="Line chart of the producer price index for data processing and hosting services indexed to September 2021 (index 100) and reaching 110.6 in September 2026."/>
          <p:cNvGraphicFramePr>
            <a:graphicFrameLocks noGrp="1"/>
          </p:cNvGraphicFramePr>
          <p:nvPr/>
        </p:nvGraphicFramePr>
        <p:xfrm>
          <a:off x="512064" y="1892808"/>
          <a:ext cx="3063240" cy="13716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p:cNvSpPr txBox="1"/>
          <p:nvPr/>
        </p:nvSpPr>
        <p:spPr>
          <a:xfrm>
            <a:off x="3666744" y="198424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SEP 2026</a:t>
            </a:r>
          </a:p>
        </p:txBody>
      </p:sp>
      <p:sp>
        <p:nvSpPr>
          <p:cNvPr id="13" name="Panel"/>
          <p:cNvSpPr/>
          <p:nvPr/>
        </p:nvSpPr>
        <p:spPr>
          <a:xfrm>
            <a:off x="3666744" y="2148840"/>
            <a:ext cx="1143000" cy="7315"/>
          </a:xfrm>
          <a:prstGeom prst="rect">
            <a:avLst/>
          </a:prstGeom>
          <a:solidFill>
            <a:srgbClr val="E3DCD3"/>
          </a:solidFill>
          <a:ln>
            <a:noFill/>
          </a:ln>
          <a:effectLst/>
        </p:spPr>
        <p:txBody>
          <a:bodyPr rtlCol="0" anchor="ctr"/>
          <a:lstStyle/>
          <a:p>
            <a:pPr algn="ctr"/>
            <a:endParaRPr/>
          </a:p>
        </p:txBody>
      </p:sp>
      <p:sp>
        <p:nvSpPr>
          <p:cNvPr id="14" name="TextBox"/>
          <p:cNvSpPr txBox="1"/>
          <p:nvPr/>
        </p:nvSpPr>
        <p:spPr>
          <a:xfrm>
            <a:off x="3666744" y="22402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15" name="TextBox"/>
          <p:cNvSpPr txBox="1"/>
          <p:nvPr/>
        </p:nvSpPr>
        <p:spPr>
          <a:xfrm>
            <a:off x="4261104" y="22402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+2.8%</a:t>
            </a:r>
          </a:p>
        </p:txBody>
      </p:sp>
      <p:sp>
        <p:nvSpPr>
          <p:cNvPr id="16" name="Panel"/>
          <p:cNvSpPr/>
          <p:nvPr/>
        </p:nvSpPr>
        <p:spPr>
          <a:xfrm>
            <a:off x="3666744" y="2514600"/>
            <a:ext cx="1143000" cy="7315"/>
          </a:xfrm>
          <a:prstGeom prst="rect">
            <a:avLst/>
          </a:prstGeom>
          <a:solidFill>
            <a:srgbClr val="E3DCD3"/>
          </a:solidFill>
          <a:ln>
            <a:noFill/>
          </a:ln>
          <a:effectLst/>
        </p:spPr>
        <p:txBody>
          <a:bodyPr rtlCol="0" anchor="ctr"/>
          <a:lstStyle/>
          <a:p>
            <a:pPr algn="ctr"/>
            <a:endParaRPr/>
          </a:p>
        </p:txBody>
      </p:sp>
      <p:sp>
        <p:nvSpPr>
          <p:cNvPr id="17" name="TextBox"/>
          <p:cNvSpPr txBox="1"/>
          <p:nvPr/>
        </p:nvSpPr>
        <p:spPr>
          <a:xfrm>
            <a:off x="3666744" y="260604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18" name="TextBox"/>
          <p:cNvSpPr txBox="1"/>
          <p:nvPr/>
        </p:nvSpPr>
        <p:spPr>
          <a:xfrm>
            <a:off x="4261104" y="260604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+7.7%</a:t>
            </a:r>
          </a:p>
        </p:txBody>
      </p:sp>
      <p:sp>
        <p:nvSpPr>
          <p:cNvPr id="19" name="Panel"/>
          <p:cNvSpPr/>
          <p:nvPr/>
        </p:nvSpPr>
        <p:spPr>
          <a:xfrm>
            <a:off x="3666744" y="2880360"/>
            <a:ext cx="1143000" cy="7315"/>
          </a:xfrm>
          <a:prstGeom prst="rect">
            <a:avLst/>
          </a:prstGeom>
          <a:solidFill>
            <a:srgbClr val="E3DCD3"/>
          </a:solidFill>
          <a:ln>
            <a:noFill/>
          </a:ln>
          <a:effectLst/>
        </p:spPr>
        <p:txBody>
          <a:bodyPr rtlCol="0" anchor="ctr"/>
          <a:lstStyle/>
          <a:p>
            <a:pPr algn="ctr"/>
            <a:endParaRPr/>
          </a:p>
        </p:txBody>
      </p:sp>
      <p:sp>
        <p:nvSpPr>
          <p:cNvPr id="20" name="TextBox"/>
          <p:cNvSpPr txBox="1"/>
          <p:nvPr/>
        </p:nvSpPr>
        <p:spPr>
          <a:xfrm>
            <a:off x="3666744" y="297180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21" name="TextBox"/>
          <p:cNvSpPr txBox="1"/>
          <p:nvPr/>
        </p:nvSpPr>
        <p:spPr>
          <a:xfrm>
            <a:off x="4261104" y="297180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+10.6%</a:t>
            </a:r>
          </a:p>
        </p:txBody>
      </p:sp>
      <p:sp>
        <p:nvSpPr>
          <p:cNvPr id="22" name="TextBox"/>
          <p:cNvSpPr txBox="1"/>
          <p:nvPr/>
        </p:nvSpPr>
        <p:spPr>
          <a:xfrm>
            <a:off x="594360" y="342900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Hosting and data processing prices are up 2.8% over the year, which shows steady but modest pricing power for providers with contracted revenue.</a:t>
            </a:r>
          </a:p>
        </p:txBody>
      </p:sp>
      <p:sp>
        <p:nvSpPr>
          <p:cNvPr id="23" name="Panel"/>
          <p:cNvSpPr/>
          <p:nvPr/>
        </p:nvSpPr>
        <p:spPr>
          <a:xfrm>
            <a:off x="5102352" y="1234440"/>
            <a:ext cx="4535424" cy="2770632"/>
          </a:xfrm>
          <a:prstGeom prst="rect">
            <a:avLst/>
          </a:prstGeom>
          <a:solidFill>
            <a:srgbClr val="FAF7F3"/>
          </a:solidFill>
          <a:ln>
            <a:noFill/>
          </a:ln>
          <a:effectLst/>
        </p:spPr>
        <p:txBody>
          <a:bodyPr rtlCol="0" anchor="ctr"/>
          <a:lstStyle/>
          <a:p>
            <a:pPr algn="ctr"/>
            <a:endParaRPr/>
          </a:p>
        </p:txBody>
      </p:sp>
      <p:sp>
        <p:nvSpPr>
          <p:cNvPr id="24" name="Rule"/>
          <p:cNvSpPr/>
          <p:nvPr/>
        </p:nvSpPr>
        <p:spPr>
          <a:xfrm>
            <a:off x="5102352" y="1234440"/>
            <a:ext cx="4535424" cy="27432"/>
          </a:xfrm>
          <a:prstGeom prst="rect">
            <a:avLst/>
          </a:prstGeom>
          <a:solidFill>
            <a:srgbClr val="B68757"/>
          </a:solidFill>
          <a:ln>
            <a:noFill/>
          </a:ln>
          <a:effectLst/>
        </p:spPr>
        <p:txBody>
          <a:bodyPr rtlCol="0" anchor="ctr"/>
          <a:lstStyle/>
          <a:p>
            <a:pPr algn="ctr"/>
            <a:endParaRPr/>
          </a:p>
        </p:txBody>
      </p:sp>
      <p:sp>
        <p:nvSpPr>
          <p:cNvPr id="25" name="TextBox"/>
          <p:cNvSpPr txBox="1"/>
          <p:nvPr/>
        </p:nvSpPr>
        <p:spPr>
          <a:xfrm>
            <a:off x="5276088" y="138074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New orders for computers and electronic products</a:t>
            </a:r>
          </a:p>
        </p:txBody>
      </p:sp>
      <p:sp>
        <p:nvSpPr>
          <p:cNvPr id="26" name="TextBox"/>
          <p:cNvSpPr txBox="1"/>
          <p:nvPr/>
        </p:nvSpPr>
        <p:spPr>
          <a:xfrm>
            <a:off x="5276088" y="154533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Manufacturers’ new orders, seasonally adjusted. Index, September 2021 = 100. Source: US Census Bureau via FRED</a:t>
            </a:r>
          </a:p>
        </p:txBody>
      </p:sp>
      <p:graphicFrame>
        <p:nvGraphicFramePr>
          <p:cNvPr id="27" name="Line chart of manufacturers new orders for computers and ele" descr="Line chart of manufacturers new orders for computers and electronic products indexed to September 2021 (index 100) and reaching 131.8 in August 2026."/>
          <p:cNvGraphicFramePr>
            <a:graphicFrameLocks noGrp="1"/>
          </p:cNvGraphicFramePr>
          <p:nvPr/>
        </p:nvGraphicFramePr>
        <p:xfrm>
          <a:off x="5193792" y="1892808"/>
          <a:ext cx="3063240" cy="1371600"/>
        </p:xfrm>
        <a:graphic>
          <a:graphicData uri="http://schemas.openxmlformats.org/drawingml/2006/chart">
            <c:chart xmlns:c="http://schemas.openxmlformats.org/drawingml/2006/chart" xmlns:r="http://schemas.openxmlformats.org/officeDocument/2006/relationships" r:id="rId3"/>
          </a:graphicData>
        </a:graphic>
      </p:graphicFrame>
      <p:sp>
        <p:nvSpPr>
          <p:cNvPr id="28" name="TextBox"/>
          <p:cNvSpPr txBox="1"/>
          <p:nvPr/>
        </p:nvSpPr>
        <p:spPr>
          <a:xfrm>
            <a:off x="8348472" y="198424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AUG 2026</a:t>
            </a:r>
          </a:p>
        </p:txBody>
      </p:sp>
      <p:sp>
        <p:nvSpPr>
          <p:cNvPr id="29" name="Panel"/>
          <p:cNvSpPr/>
          <p:nvPr/>
        </p:nvSpPr>
        <p:spPr>
          <a:xfrm>
            <a:off x="8348472" y="2148840"/>
            <a:ext cx="1143000" cy="7315"/>
          </a:xfrm>
          <a:prstGeom prst="rect">
            <a:avLst/>
          </a:prstGeom>
          <a:solidFill>
            <a:srgbClr val="E3DCD3"/>
          </a:solidFill>
          <a:ln>
            <a:noFill/>
          </a:ln>
          <a:effectLst/>
        </p:spPr>
        <p:txBody>
          <a:bodyPr rtlCol="0" anchor="ctr"/>
          <a:lstStyle/>
          <a:p>
            <a:pPr algn="ctr"/>
            <a:endParaRPr/>
          </a:p>
        </p:txBody>
      </p:sp>
      <p:sp>
        <p:nvSpPr>
          <p:cNvPr id="30" name="TextBox"/>
          <p:cNvSpPr txBox="1"/>
          <p:nvPr/>
        </p:nvSpPr>
        <p:spPr>
          <a:xfrm>
            <a:off x="8348472" y="22402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31" name="TextBox"/>
          <p:cNvSpPr txBox="1"/>
          <p:nvPr/>
        </p:nvSpPr>
        <p:spPr>
          <a:xfrm>
            <a:off x="8942832" y="22402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+16.5%</a:t>
            </a:r>
          </a:p>
        </p:txBody>
      </p:sp>
      <p:sp>
        <p:nvSpPr>
          <p:cNvPr id="32" name="Panel"/>
          <p:cNvSpPr/>
          <p:nvPr/>
        </p:nvSpPr>
        <p:spPr>
          <a:xfrm>
            <a:off x="8348472" y="2514600"/>
            <a:ext cx="1143000" cy="7315"/>
          </a:xfrm>
          <a:prstGeom prst="rect">
            <a:avLst/>
          </a:prstGeom>
          <a:solidFill>
            <a:srgbClr val="E3DCD3"/>
          </a:solidFill>
          <a:ln>
            <a:noFill/>
          </a:ln>
          <a:effectLst/>
        </p:spPr>
        <p:txBody>
          <a:bodyPr rtlCol="0" anchor="ctr"/>
          <a:lstStyle/>
          <a:p>
            <a:pPr algn="ctr"/>
            <a:endParaRPr/>
          </a:p>
        </p:txBody>
      </p:sp>
      <p:sp>
        <p:nvSpPr>
          <p:cNvPr id="33" name="TextBox"/>
          <p:cNvSpPr txBox="1"/>
          <p:nvPr/>
        </p:nvSpPr>
        <p:spPr>
          <a:xfrm>
            <a:off x="8348472" y="260604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34" name="TextBox"/>
          <p:cNvSpPr txBox="1"/>
          <p:nvPr/>
        </p:nvSpPr>
        <p:spPr>
          <a:xfrm>
            <a:off x="8942832" y="260604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+23.7%</a:t>
            </a:r>
          </a:p>
        </p:txBody>
      </p:sp>
      <p:sp>
        <p:nvSpPr>
          <p:cNvPr id="35" name="Panel"/>
          <p:cNvSpPr/>
          <p:nvPr/>
        </p:nvSpPr>
        <p:spPr>
          <a:xfrm>
            <a:off x="8348472" y="2880360"/>
            <a:ext cx="1143000" cy="7315"/>
          </a:xfrm>
          <a:prstGeom prst="rect">
            <a:avLst/>
          </a:prstGeom>
          <a:solidFill>
            <a:srgbClr val="E3DCD3"/>
          </a:solidFill>
          <a:ln>
            <a:noFill/>
          </a:ln>
          <a:effectLst/>
        </p:spPr>
        <p:txBody>
          <a:bodyPr rtlCol="0" anchor="ctr"/>
          <a:lstStyle/>
          <a:p>
            <a:pPr algn="ctr"/>
            <a:endParaRPr/>
          </a:p>
        </p:txBody>
      </p:sp>
      <p:sp>
        <p:nvSpPr>
          <p:cNvPr id="36" name="TextBox"/>
          <p:cNvSpPr txBox="1"/>
          <p:nvPr/>
        </p:nvSpPr>
        <p:spPr>
          <a:xfrm>
            <a:off x="8348472" y="297180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37" name="TextBox"/>
          <p:cNvSpPr txBox="1"/>
          <p:nvPr/>
        </p:nvSpPr>
        <p:spPr>
          <a:xfrm>
            <a:off x="8942832" y="297180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+31.8%</a:t>
            </a:r>
          </a:p>
        </p:txBody>
      </p:sp>
      <p:sp>
        <p:nvSpPr>
          <p:cNvPr id="38" name="TextBox"/>
          <p:cNvSpPr txBox="1"/>
          <p:nvPr/>
        </p:nvSpPr>
        <p:spPr>
          <a:xfrm>
            <a:off x="5276088" y="342900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Orders are up 16.5% over the year and flat from July to August, so hardware demand is strong and has leveled off recently.</a:t>
            </a:r>
          </a:p>
        </p:txBody>
      </p:sp>
      <p:sp>
        <p:nvSpPr>
          <p:cNvPr id="39" name="Panel"/>
          <p:cNvSpPr/>
          <p:nvPr/>
        </p:nvSpPr>
        <p:spPr>
          <a:xfrm>
            <a:off x="420624" y="4160520"/>
            <a:ext cx="4535424" cy="2770632"/>
          </a:xfrm>
          <a:prstGeom prst="rect">
            <a:avLst/>
          </a:prstGeom>
          <a:solidFill>
            <a:srgbClr val="FAF7F3"/>
          </a:solidFill>
          <a:ln>
            <a:noFill/>
          </a:ln>
          <a:effectLst/>
        </p:spPr>
        <p:txBody>
          <a:bodyPr rtlCol="0" anchor="ctr"/>
          <a:lstStyle/>
          <a:p>
            <a:pPr algn="ctr"/>
            <a:endParaRPr/>
          </a:p>
        </p:txBody>
      </p:sp>
      <p:sp>
        <p:nvSpPr>
          <p:cNvPr id="40" name="Rule"/>
          <p:cNvSpPr/>
          <p:nvPr/>
        </p:nvSpPr>
        <p:spPr>
          <a:xfrm>
            <a:off x="420624" y="4160520"/>
            <a:ext cx="4535424" cy="27432"/>
          </a:xfrm>
          <a:prstGeom prst="rect">
            <a:avLst/>
          </a:prstGeom>
          <a:solidFill>
            <a:srgbClr val="B68757"/>
          </a:solidFill>
          <a:ln>
            <a:noFill/>
          </a:ln>
          <a:effectLst/>
        </p:spPr>
        <p:txBody>
          <a:bodyPr rtlCol="0" anchor="ctr"/>
          <a:lstStyle/>
          <a:p>
            <a:pPr algn="ctr"/>
            <a:endParaRPr/>
          </a:p>
        </p:txBody>
      </p:sp>
      <p:sp>
        <p:nvSpPr>
          <p:cNvPr id="41" name="TextBox"/>
          <p:cNvSpPr txBox="1"/>
          <p:nvPr/>
        </p:nvSpPr>
        <p:spPr>
          <a:xfrm>
            <a:off x="594360" y="430682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Semiconductor and electronic component output</a:t>
            </a:r>
          </a:p>
        </p:txBody>
      </p:sp>
      <p:sp>
        <p:nvSpPr>
          <p:cNvPr id="42" name="TextBox"/>
          <p:cNvSpPr txBox="1"/>
          <p:nvPr/>
        </p:nvSpPr>
        <p:spPr>
          <a:xfrm>
            <a:off x="594360" y="447141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Industrial production of semiconductors and other electronic components. Index, September 2021 = 100. Source: Federal Reserve via FRED</a:t>
            </a:r>
          </a:p>
        </p:txBody>
      </p:sp>
      <p:graphicFrame>
        <p:nvGraphicFramePr>
          <p:cNvPr id="43" name="Line chart of industrial production of semiconductors and ot" descr="Line chart of industrial production of semiconductors and other electronic components indexed to September 2021 (index 100) and reaching 168.2 in September 2026."/>
          <p:cNvGraphicFramePr>
            <a:graphicFrameLocks noGrp="1"/>
          </p:cNvGraphicFramePr>
          <p:nvPr/>
        </p:nvGraphicFramePr>
        <p:xfrm>
          <a:off x="512064" y="4818888"/>
          <a:ext cx="3063240" cy="137160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p:cNvSpPr txBox="1"/>
          <p:nvPr/>
        </p:nvSpPr>
        <p:spPr>
          <a:xfrm>
            <a:off x="3666744" y="491032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SEP 2026</a:t>
            </a:r>
          </a:p>
        </p:txBody>
      </p:sp>
      <p:sp>
        <p:nvSpPr>
          <p:cNvPr id="45" name="Panel"/>
          <p:cNvSpPr/>
          <p:nvPr/>
        </p:nvSpPr>
        <p:spPr>
          <a:xfrm>
            <a:off x="3666744" y="5074920"/>
            <a:ext cx="1143000" cy="7315"/>
          </a:xfrm>
          <a:prstGeom prst="rect">
            <a:avLst/>
          </a:prstGeom>
          <a:solidFill>
            <a:srgbClr val="E3DCD3"/>
          </a:solidFill>
          <a:ln>
            <a:noFill/>
          </a:ln>
          <a:effectLst/>
        </p:spPr>
        <p:txBody>
          <a:bodyPr rtlCol="0" anchor="ctr"/>
          <a:lstStyle/>
          <a:p>
            <a:pPr algn="ctr"/>
            <a:endParaRPr/>
          </a:p>
        </p:txBody>
      </p:sp>
      <p:sp>
        <p:nvSpPr>
          <p:cNvPr id="46" name="TextBox"/>
          <p:cNvSpPr txBox="1"/>
          <p:nvPr/>
        </p:nvSpPr>
        <p:spPr>
          <a:xfrm>
            <a:off x="3666744" y="516636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47" name="TextBox"/>
          <p:cNvSpPr txBox="1"/>
          <p:nvPr/>
        </p:nvSpPr>
        <p:spPr>
          <a:xfrm>
            <a:off x="4261104" y="516636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+19.9%</a:t>
            </a:r>
          </a:p>
        </p:txBody>
      </p:sp>
      <p:sp>
        <p:nvSpPr>
          <p:cNvPr id="48" name="Panel"/>
          <p:cNvSpPr/>
          <p:nvPr/>
        </p:nvSpPr>
        <p:spPr>
          <a:xfrm>
            <a:off x="3666744" y="5440680"/>
            <a:ext cx="1143000" cy="7315"/>
          </a:xfrm>
          <a:prstGeom prst="rect">
            <a:avLst/>
          </a:prstGeom>
          <a:solidFill>
            <a:srgbClr val="E3DCD3"/>
          </a:solidFill>
          <a:ln>
            <a:noFill/>
          </a:ln>
          <a:effectLst/>
        </p:spPr>
        <p:txBody>
          <a:bodyPr rtlCol="0" anchor="ctr"/>
          <a:lstStyle/>
          <a:p>
            <a:pPr algn="ctr"/>
            <a:endParaRPr/>
          </a:p>
        </p:txBody>
      </p:sp>
      <p:sp>
        <p:nvSpPr>
          <p:cNvPr id="49" name="TextBox"/>
          <p:cNvSpPr txBox="1"/>
          <p:nvPr/>
        </p:nvSpPr>
        <p:spPr>
          <a:xfrm>
            <a:off x="3666744" y="553212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50" name="TextBox"/>
          <p:cNvSpPr txBox="1"/>
          <p:nvPr/>
        </p:nvSpPr>
        <p:spPr>
          <a:xfrm>
            <a:off x="4261104" y="553212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+47.8%</a:t>
            </a:r>
          </a:p>
        </p:txBody>
      </p:sp>
      <p:sp>
        <p:nvSpPr>
          <p:cNvPr id="51" name="Panel"/>
          <p:cNvSpPr/>
          <p:nvPr/>
        </p:nvSpPr>
        <p:spPr>
          <a:xfrm>
            <a:off x="3666744" y="5806440"/>
            <a:ext cx="1143000" cy="7315"/>
          </a:xfrm>
          <a:prstGeom prst="rect">
            <a:avLst/>
          </a:prstGeom>
          <a:solidFill>
            <a:srgbClr val="E3DCD3"/>
          </a:solidFill>
          <a:ln>
            <a:noFill/>
          </a:ln>
          <a:effectLst/>
        </p:spPr>
        <p:txBody>
          <a:bodyPr rtlCol="0" anchor="ctr"/>
          <a:lstStyle/>
          <a:p>
            <a:pPr algn="ctr"/>
            <a:endParaRPr/>
          </a:p>
        </p:txBody>
      </p:sp>
      <p:sp>
        <p:nvSpPr>
          <p:cNvPr id="52" name="TextBox"/>
          <p:cNvSpPr txBox="1"/>
          <p:nvPr/>
        </p:nvSpPr>
        <p:spPr>
          <a:xfrm>
            <a:off x="3666744" y="58978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53" name="TextBox"/>
          <p:cNvSpPr txBox="1"/>
          <p:nvPr/>
        </p:nvSpPr>
        <p:spPr>
          <a:xfrm>
            <a:off x="4261104" y="58978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+68.2%</a:t>
            </a:r>
          </a:p>
        </p:txBody>
      </p:sp>
      <p:sp>
        <p:nvSpPr>
          <p:cNvPr id="54" name="TextBox"/>
          <p:cNvSpPr txBox="1"/>
          <p:nvPr/>
        </p:nvSpPr>
        <p:spPr>
          <a:xfrm>
            <a:off x="594360" y="635508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US output of semiconductors and electronic components is up 19.9% over the year, which supports the capacity and reshoring case.</a:t>
            </a:r>
          </a:p>
        </p:txBody>
      </p:sp>
      <p:sp>
        <p:nvSpPr>
          <p:cNvPr id="55" name="Panel"/>
          <p:cNvSpPr/>
          <p:nvPr/>
        </p:nvSpPr>
        <p:spPr>
          <a:xfrm>
            <a:off x="5102352" y="4160520"/>
            <a:ext cx="4535424" cy="2770632"/>
          </a:xfrm>
          <a:prstGeom prst="rect">
            <a:avLst/>
          </a:prstGeom>
          <a:solidFill>
            <a:srgbClr val="FAF7F3"/>
          </a:solidFill>
          <a:ln>
            <a:noFill/>
          </a:ln>
          <a:effectLst/>
        </p:spPr>
        <p:txBody>
          <a:bodyPr rtlCol="0" anchor="ctr"/>
          <a:lstStyle/>
          <a:p>
            <a:pPr algn="ctr"/>
            <a:endParaRPr/>
          </a:p>
        </p:txBody>
      </p:sp>
      <p:sp>
        <p:nvSpPr>
          <p:cNvPr id="56" name="Rule"/>
          <p:cNvSpPr/>
          <p:nvPr/>
        </p:nvSpPr>
        <p:spPr>
          <a:xfrm>
            <a:off x="5102352" y="4160520"/>
            <a:ext cx="4535424" cy="27432"/>
          </a:xfrm>
          <a:prstGeom prst="rect">
            <a:avLst/>
          </a:prstGeom>
          <a:solidFill>
            <a:srgbClr val="B68757"/>
          </a:solidFill>
          <a:ln>
            <a:noFill/>
          </a:ln>
          <a:effectLst/>
        </p:spPr>
        <p:txBody>
          <a:bodyPr rtlCol="0" anchor="ctr"/>
          <a:lstStyle/>
          <a:p>
            <a:pPr algn="ctr"/>
            <a:endParaRPr/>
          </a:p>
        </p:txBody>
      </p:sp>
      <p:sp>
        <p:nvSpPr>
          <p:cNvPr id="57" name="TextBox"/>
          <p:cNvSpPr txBox="1"/>
          <p:nvPr/>
        </p:nvSpPr>
        <p:spPr>
          <a:xfrm>
            <a:off x="5276088" y="430682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10-year Treasury yield</a:t>
            </a:r>
          </a:p>
        </p:txBody>
      </p:sp>
      <p:sp>
        <p:nvSpPr>
          <p:cNvPr id="58" name="TextBox"/>
          <p:cNvSpPr txBox="1"/>
          <p:nvPr/>
        </p:nvSpPr>
        <p:spPr>
          <a:xfrm>
            <a:off x="5276088" y="447141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Monthly average yield, percent. Source: Federal Reserve via FRED</a:t>
            </a:r>
          </a:p>
        </p:txBody>
      </p:sp>
      <p:graphicFrame>
        <p:nvGraphicFramePr>
          <p:cNvPr id="59" name="Line chart of the monthly average 10-year Treasury yield, ri" descr="Line chart of the monthly average 10-year Treasury yield, rising from 1.37 percent in September 2021 to 4.99 percent in September 2026."/>
          <p:cNvGraphicFramePr>
            <a:graphicFrameLocks noGrp="1"/>
          </p:cNvGraphicFramePr>
          <p:nvPr/>
        </p:nvGraphicFramePr>
        <p:xfrm>
          <a:off x="5193792" y="4818888"/>
          <a:ext cx="3063240" cy="1371600"/>
        </p:xfrm>
        <a:graphic>
          <a:graphicData uri="http://schemas.openxmlformats.org/drawingml/2006/chart">
            <c:chart xmlns:c="http://schemas.openxmlformats.org/drawingml/2006/chart" xmlns:r="http://schemas.openxmlformats.org/officeDocument/2006/relationships" r:id="rId5"/>
          </a:graphicData>
        </a:graphic>
      </p:graphicFrame>
      <p:sp>
        <p:nvSpPr>
          <p:cNvPr id="60" name="TextBox"/>
          <p:cNvSpPr txBox="1"/>
          <p:nvPr/>
        </p:nvSpPr>
        <p:spPr>
          <a:xfrm>
            <a:off x="8348472" y="491032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SEP 2026</a:t>
            </a:r>
          </a:p>
        </p:txBody>
      </p:sp>
      <p:sp>
        <p:nvSpPr>
          <p:cNvPr id="61" name="Panel"/>
          <p:cNvSpPr/>
          <p:nvPr/>
        </p:nvSpPr>
        <p:spPr>
          <a:xfrm>
            <a:off x="8348472" y="5074920"/>
            <a:ext cx="1143000" cy="7315"/>
          </a:xfrm>
          <a:prstGeom prst="rect">
            <a:avLst/>
          </a:prstGeom>
          <a:solidFill>
            <a:srgbClr val="E3DCD3"/>
          </a:solidFill>
          <a:ln>
            <a:noFill/>
          </a:ln>
          <a:effectLst/>
        </p:spPr>
        <p:txBody>
          <a:bodyPr rtlCol="0" anchor="ctr"/>
          <a:lstStyle/>
          <a:p>
            <a:pPr algn="ctr"/>
            <a:endParaRPr/>
          </a:p>
        </p:txBody>
      </p:sp>
      <p:sp>
        <p:nvSpPr>
          <p:cNvPr id="62" name="TextBox"/>
          <p:cNvSpPr txBox="1"/>
          <p:nvPr/>
        </p:nvSpPr>
        <p:spPr>
          <a:xfrm>
            <a:off x="8348472" y="516636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63" name="TextBox"/>
          <p:cNvSpPr txBox="1"/>
          <p:nvPr/>
        </p:nvSpPr>
        <p:spPr>
          <a:xfrm>
            <a:off x="8942832" y="516636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+0.87 pts</a:t>
            </a:r>
          </a:p>
        </p:txBody>
      </p:sp>
      <p:sp>
        <p:nvSpPr>
          <p:cNvPr id="64" name="Panel"/>
          <p:cNvSpPr/>
          <p:nvPr/>
        </p:nvSpPr>
        <p:spPr>
          <a:xfrm>
            <a:off x="8348472" y="5440680"/>
            <a:ext cx="1143000" cy="7315"/>
          </a:xfrm>
          <a:prstGeom prst="rect">
            <a:avLst/>
          </a:prstGeom>
          <a:solidFill>
            <a:srgbClr val="E3DCD3"/>
          </a:solidFill>
          <a:ln>
            <a:noFill/>
          </a:ln>
          <a:effectLst/>
        </p:spPr>
        <p:txBody>
          <a:bodyPr rtlCol="0" anchor="ctr"/>
          <a:lstStyle/>
          <a:p>
            <a:pPr algn="ctr"/>
            <a:endParaRPr/>
          </a:p>
        </p:txBody>
      </p:sp>
      <p:sp>
        <p:nvSpPr>
          <p:cNvPr id="65" name="TextBox"/>
          <p:cNvSpPr txBox="1"/>
          <p:nvPr/>
        </p:nvSpPr>
        <p:spPr>
          <a:xfrm>
            <a:off x="8348472" y="553212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66" name="TextBox"/>
          <p:cNvSpPr txBox="1"/>
          <p:nvPr/>
        </p:nvSpPr>
        <p:spPr>
          <a:xfrm>
            <a:off x="8942832" y="553212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+0.61 pts</a:t>
            </a:r>
          </a:p>
        </p:txBody>
      </p:sp>
      <p:sp>
        <p:nvSpPr>
          <p:cNvPr id="67" name="Panel"/>
          <p:cNvSpPr/>
          <p:nvPr/>
        </p:nvSpPr>
        <p:spPr>
          <a:xfrm>
            <a:off x="8348472" y="5806440"/>
            <a:ext cx="1143000" cy="7315"/>
          </a:xfrm>
          <a:prstGeom prst="rect">
            <a:avLst/>
          </a:prstGeom>
          <a:solidFill>
            <a:srgbClr val="E3DCD3"/>
          </a:solidFill>
          <a:ln>
            <a:noFill/>
          </a:ln>
          <a:effectLst/>
        </p:spPr>
        <p:txBody>
          <a:bodyPr rtlCol="0" anchor="ctr"/>
          <a:lstStyle/>
          <a:p>
            <a:pPr algn="ctr"/>
            <a:endParaRPr/>
          </a:p>
        </p:txBody>
      </p:sp>
      <p:sp>
        <p:nvSpPr>
          <p:cNvPr id="68" name="TextBox"/>
          <p:cNvSpPr txBox="1"/>
          <p:nvPr/>
        </p:nvSpPr>
        <p:spPr>
          <a:xfrm>
            <a:off x="8348472" y="58978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69" name="TextBox"/>
          <p:cNvSpPr txBox="1"/>
          <p:nvPr/>
        </p:nvSpPr>
        <p:spPr>
          <a:xfrm>
            <a:off x="8942832" y="58978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+3.62 pts</a:t>
            </a:r>
          </a:p>
        </p:txBody>
      </p:sp>
      <p:sp>
        <p:nvSpPr>
          <p:cNvPr id="70" name="TextBox"/>
          <p:cNvSpPr txBox="1"/>
          <p:nvPr/>
        </p:nvSpPr>
        <p:spPr>
          <a:xfrm>
            <a:off x="5276088" y="635508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The yield averaged 4.99% in September, which raises the cost of financing leveraged technology purchases against 2021.</a:t>
            </a:r>
          </a:p>
        </p:txBody>
      </p:sp>
      <p:sp>
        <p:nvSpPr>
          <p:cNvPr id="71"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14"/>
              </a:lnSpc>
              <a:spcBef>
                <a:spcPts val="0"/>
              </a:spcBef>
              <a:spcAft>
                <a:spcPts val="0"/>
              </a:spcAft>
            </a:pPr>
            <a:r>
              <a:rPr sz="730" b="0" i="0" spc="8">
                <a:solidFill>
                  <a:srgbClr val="6F6A66"/>
                </a:solidFill>
                <a:latin typeface="Quicksand"/>
              </a:rPr>
              <a:t>Each series is indexed to September 2021 where an index is shown and runs to its latest month: September 2026 for hosting prices, semiconductor output, and the Treasury yield, and August 2026 for new orders. Recent months are preliminary. FRED series PCU518210518210, A34SNO, IPG3344S, and GS10; the Treasury yield is shown in percent and its changes in percentage points.</a:t>
            </a:r>
          </a:p>
        </p:txBody>
      </p:sp>
      <p:sp>
        <p:nvSpPr>
          <p:cNvPr id="72"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30" b="1" kern="0" spc="195" dirty="0">
                <a:solidFill>
                  <a:srgbClr val="8C6239"/>
                </a:solidFill>
                <a:latin typeface="Quicksand" pitchFamily="34" charset="0"/>
              </a:rPr>
              <a:t>TECHNOLOGY  |  QUARTERLY INDUSTRY REPORT</a:t>
            </a:r>
            <a:endParaRPr lang="en-US" sz="730" dirty="0"/>
          </a:p>
        </p:txBody>
      </p:sp>
      <p:sp>
        <p:nvSpPr>
          <p:cNvPr id="73"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35" kern="0" spc="90" dirty="0">
                <a:solidFill>
                  <a:srgbClr val="6F6A66"/>
                </a:solidFill>
                <a:latin typeface="Cinzel" pitchFamily="34" charset="0"/>
              </a:rPr>
              <a:t>Q4 2026</a:t>
            </a:r>
            <a:endParaRPr lang="en-US" sz="935" dirty="0"/>
          </a:p>
        </p:txBody>
      </p:sp>
      <p:sp>
        <p:nvSpPr>
          <p:cNvPr id="74" name="Shape 9"/>
          <p:cNvSpPr/>
          <p:nvPr/>
        </p:nvSpPr>
        <p:spPr>
          <a:xfrm>
            <a:off x="419100" y="7029450"/>
            <a:ext cx="9220200" cy="9525"/>
          </a:xfrm>
          <a:prstGeom prst="rect">
            <a:avLst/>
          </a:prstGeom>
          <a:solidFill>
            <a:srgbClr val="E3DCD3"/>
          </a:solidFill>
          <a:ln/>
        </p:spPr>
        <p:txBody>
          <a:bodyPr/>
          <a:lstStyle/>
          <a:p>
            <a:endParaRPr lang="en-US"/>
          </a:p>
        </p:txBody>
      </p:sp>
      <p:pic>
        <p:nvPicPr>
          <p:cNvPr id="75" name="Benchmark International logo"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76"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65" b="1" kern="0" spc="150" dirty="0">
                <a:solidFill>
                  <a:srgbClr val="1B1A1A"/>
                </a:solidFill>
                <a:latin typeface="Quicksand" pitchFamily="34" charset="0"/>
              </a:rPr>
              <a:t>24</a:t>
            </a:r>
            <a:endParaRPr lang="en-US" sz="76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Black textured background with the embossed Benchmark Intern" descr="Black textured background with the embossed Benchmark International knot symbol"/>
          <p:cNvPicPr>
            <a:picLocks noChangeAspect="1"/>
          </p:cNvPicPr>
          <p:nvPr/>
        </p:nvPicPr>
        <p:blipFill>
          <a:blip r:embed="rId2">
            <a:alphaModFix amt="40000"/>
          </a:blip>
          <a:stretch>
            <a:fillRect/>
          </a:stretch>
        </p:blipFill>
        <p:spPr>
          <a:xfrm>
            <a:off x="0" y="0"/>
            <a:ext cx="9725025" cy="7772400"/>
          </a:xfrm>
          <a:prstGeom prst="rect">
            <a:avLst/>
          </a:prstGeom>
        </p:spPr>
      </p:pic>
      <p:pic>
        <p:nvPicPr>
          <p:cNvPr id="4" name="Team members at laptops around a curved wooden conference ta" descr="Team members at laptops around a curved wooden conference table"/>
          <p:cNvPicPr>
            <a:picLocks noChangeAspect="1"/>
          </p:cNvPicPr>
          <p:nvPr/>
        </p:nvPicPr>
        <p:blipFill>
          <a:blip r:embed="rId3"/>
          <a:stretch>
            <a:fillRect/>
          </a:stretch>
        </p:blipFill>
        <p:spPr>
          <a:xfrm>
            <a:off x="5676900" y="0"/>
            <a:ext cx="4381500" cy="7772400"/>
          </a:xfrm>
          <a:prstGeom prst="rect">
            <a:avLst/>
          </a:prstGeom>
        </p:spPr>
      </p:pic>
      <p:pic>
        <p:nvPicPr>
          <p:cNvPr id="5" name="Thin gray divider line" descr="Thin gray divider line"/>
          <p:cNvPicPr>
            <a:picLocks noChangeAspect="1"/>
          </p:cNvPicPr>
          <p:nvPr/>
        </p:nvPicPr>
        <p:blipFill>
          <a:blip r:embed="rId4"/>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D3AE84"/>
                </a:solidFill>
                <a:latin typeface="Quicksand" pitchFamily="34" charset="0"/>
              </a:rPr>
              <a:t>TECHNOLOGY  |  QUARTERLY INDUSTRY REPORT  |  Q4 2026</a:t>
            </a:r>
            <a:endParaRPr lang="en-US" sz="790"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About Benchmark</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strategic sales, mergers, and qualifying change-of-control transactions. The first step is a confidential conversation about your goals, your company, and your options, with no pressure and no commitment.</a:t>
            </a:r>
            <a:endParaRPr lang="en-US" sz="1013" dirty="0"/>
          </a:p>
        </p:txBody>
      </p:sp>
      <p:sp>
        <p:nvSpPr>
          <p:cNvPr id="12" name="Text 22"/>
          <p:cNvSpPr txBox="1"/>
          <p:nvPr/>
        </p:nvSpPr>
        <p:spPr>
          <a:xfrm>
            <a:off x="2212848" y="7091363"/>
            <a:ext cx="2148840" cy="133350"/>
          </a:xfrm>
          <a:prstGeom prst="rect">
            <a:avLst/>
          </a:prstGeom>
          <a:noFill/>
          <a:ln/>
        </p:spPr>
        <p:txBody>
          <a:bodyPr wrap="none" lIns="0" tIns="0" rIns="0" bIns="0" rtlCol="0" anchor="t"/>
          <a:lstStyle/>
          <a:p>
            <a:pPr marL="0" indent="0" algn="l">
              <a:lnSpc>
                <a:spcPts val="1050"/>
              </a:lnSpc>
              <a:buNone/>
            </a:pPr>
            <a:r>
              <a:rPr lang="en-US" sz="700" b="1" kern="0" spc="80" dirty="0">
                <a:solidFill>
                  <a:srgbClr val="D3AE84"/>
                </a:solidFill>
                <a:latin typeface="Quicksand" pitchFamily="34" charset="0"/>
              </a:rPr>
              <a:t>BENCHMARK INTERNATIONAL  |  MIDDLE MARKET</a:t>
            </a:r>
            <a:endParaRPr lang="en-US" sz="745" dirty="0"/>
          </a:p>
        </p:txBody>
      </p:sp>
      <p:sp>
        <p:nvSpPr>
          <p:cNvPr id="13"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90" kern="0" spc="105" dirty="0">
                <a:solidFill>
                  <a:srgbClr val="D3AE84"/>
                </a:solidFill>
                <a:latin typeface="Cinzel" pitchFamily="34" charset="0"/>
              </a:rPr>
              <a:t>26</a:t>
            </a:r>
            <a:endParaRPr lang="en-US" sz="890" dirty="0"/>
          </a:p>
        </p:txBody>
      </p:sp>
      <p:sp>
        <p:nvSpPr>
          <p:cNvPr id="15"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1055" kern="0" spc="15" dirty="0">
                <a:solidFill>
                  <a:srgbClr val="F4EFE8"/>
                </a:solidFill>
                <a:latin typeface="Quicksand" pitchFamily="34" charset="0"/>
              </a:rPr>
              <a:t>About Benchmark International</a:t>
            </a:r>
            <a:endParaRPr lang="en-US" sz="1055" dirty="0"/>
          </a:p>
        </p:txBody>
      </p:sp>
      <p:sp>
        <p:nvSpPr>
          <p:cNvPr id="16"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17"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18"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90" kern="0" spc="105" dirty="0">
                <a:solidFill>
                  <a:srgbClr val="D3AE84"/>
                </a:solidFill>
                <a:latin typeface="Cinzel" pitchFamily="34" charset="0"/>
              </a:rPr>
              <a:t>27</a:t>
            </a:r>
            <a:endParaRPr lang="en-US" sz="890" dirty="0"/>
          </a:p>
        </p:txBody>
      </p:sp>
      <p:sp>
        <p:nvSpPr>
          <p:cNvPr id="19"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1055" kern="0" spc="15" dirty="0">
                <a:solidFill>
                  <a:srgbClr val="F4EFE8"/>
                </a:solidFill>
                <a:latin typeface="Quicksand" pitchFamily="34" charset="0"/>
              </a:rPr>
              <a:t>Connect with our team</a:t>
            </a:r>
            <a:endParaRPr lang="en-US" sz="1055" dirty="0"/>
          </a:p>
        </p:txBody>
      </p:sp>
      <p:sp>
        <p:nvSpPr>
          <p:cNvPr id="20"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21"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90" kern="0" spc="105" dirty="0">
                <a:solidFill>
                  <a:srgbClr val="D3AE84"/>
                </a:solidFill>
                <a:latin typeface="Cinzel" pitchFamily="34" charset="0"/>
              </a:rPr>
              <a:t>28</a:t>
            </a:r>
            <a:endParaRPr lang="en-US" sz="890" dirty="0"/>
          </a:p>
        </p:txBody>
      </p:sp>
      <p:sp>
        <p:nvSpPr>
          <p:cNvPr id="22"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1055" kern="0" spc="15" dirty="0">
                <a:solidFill>
                  <a:srgbClr val="F4EFE8"/>
                </a:solidFill>
                <a:latin typeface="Quicksand" pitchFamily="34" charset="0"/>
              </a:rPr>
              <a:t>Sources</a:t>
            </a:r>
            <a:endParaRPr lang="en-US" sz="1055" dirty="0"/>
          </a:p>
        </p:txBody>
      </p:sp>
      <p:sp>
        <p:nvSpPr>
          <p:cNvPr id="2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D7B48A"/>
                </a:solidFill>
                <a:latin typeface="Quicksand" pitchFamily="34" charset="0"/>
              </a:rPr>
              <a:t>25</a:t>
            </a:r>
            <a:endParaRPr lang="en-US" sz="815" dirty="0"/>
          </a:p>
        </p:txBody>
      </p:sp>
      <p:pic>
        <p:nvPicPr>
          <p:cNvPr id="24" name="Benchmark International logo in white" descr="Benchmark International logo in white"/>
          <p:cNvPicPr>
            <a:picLocks noChangeAspect="1"/>
          </p:cNvPicPr>
          <p:nvPr/>
        </p:nvPicPr>
        <p:blipFill>
          <a:blip r:embed="rId5"/>
          <a:stretch>
            <a:fillRect/>
          </a:stretch>
        </p:blipFill>
        <p:spPr>
          <a:xfrm>
            <a:off x="609600" y="7029450"/>
            <a:ext cx="1428750" cy="2667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a:t>
            </a:r>
            <a:endParaRPr lang="en-US" sz="2025" dirty="0"/>
          </a:p>
        </p:txBody>
      </p:sp>
      <p:sp>
        <p:nvSpPr>
          <p:cNvPr id="5"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1015" kern="0" spc="15" dirty="0">
                <a:solidFill>
                  <a:srgbClr val="6F6A66"/>
                </a:solidFill>
                <a:latin typeface="Quicksand" pitchFamily="34" charset="0"/>
              </a:rPr>
              <a:t>The world’s leading privately owned sell-side M&amp;A advisor focused on five industries.</a:t>
            </a:r>
            <a:endParaRPr lang="en-US" sz="1015" dirty="0"/>
          </a:p>
        </p:txBody>
      </p:sp>
      <p:sp>
        <p:nvSpPr>
          <p:cNvPr id="6" name="Shape 7"/>
          <p:cNvSpPr/>
          <p:nvPr/>
        </p:nvSpPr>
        <p:spPr>
          <a:xfrm>
            <a:off x="419100" y="1143000"/>
            <a:ext cx="9220200" cy="9525"/>
          </a:xfrm>
          <a:prstGeom prst="rect">
            <a:avLst/>
          </a:prstGeom>
          <a:solidFill>
            <a:srgbClr val="E3DCD3"/>
          </a:solidFill>
          <a:ln/>
        </p:spPr>
        <p:txBody>
          <a:bodyPr/>
          <a:lstStyle/>
          <a:p>
            <a:endParaRPr lang="en-US"/>
          </a:p>
        </p:txBody>
      </p:sp>
      <p:sp>
        <p:nvSpPr>
          <p:cNvPr id="7" name="Text 109"/>
          <p:cNvSpPr txBox="1"/>
          <p:nvPr/>
        </p:nvSpPr>
        <p:spPr>
          <a:xfrm>
            <a:off x="1543050" y="7098506"/>
            <a:ext cx="7658100" cy="238125"/>
          </a:xfrm>
          <a:prstGeom prst="rect">
            <a:avLst/>
          </a:prstGeom>
          <a:noFill/>
          <a:ln/>
        </p:spPr>
        <p:txBody>
          <a:bodyPr wrap="square" lIns="0" tIns="0" rIns="0" bIns="0" rtlCol="0" anchor="b"/>
          <a:lstStyle/>
          <a:p>
            <a:pPr marL="0" indent="0" algn="l">
              <a:lnSpc>
                <a:spcPts val="1098"/>
              </a:lnSpc>
              <a:buNone/>
            </a:pPr>
            <a:r>
              <a:rPr lang="en-US" sz="790" kern="0" spc="15" dirty="0">
                <a:solidFill>
                  <a:srgbClr val="6F6A66"/>
                </a:solidFill>
                <a:latin typeface="Quicksand" pitchFamily="34" charset="0"/>
              </a:rPr>
              <a:t>Ranking based on PitchBook’s Q2 2026 Global League Tables, as published at benchmarkintl.com. Awards as shown on the Benchmark International Middle Market site.</a:t>
            </a:r>
            <a:endParaRPr lang="en-US" sz="790" dirty="0"/>
          </a:p>
        </p:txBody>
      </p:sp>
      <p:sp>
        <p:nvSpPr>
          <p:cNvPr id="8" name="Panel"/>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9" name="Black textured background with the embossed Benchmark Intern" descr="Black textured background with the embossed Benchmark International knot symbol"/>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Benchmark International logo in white" descr="Benchmark International logo in white"/>
          <p:cNvPicPr>
            <a:picLocks noChangeAspect="1"/>
          </p:cNvPicPr>
          <p:nvPr/>
        </p:nvPicPr>
        <p:blipFill>
          <a:blip r:embed="rId3"/>
          <a:stretch>
            <a:fillRect/>
          </a:stretch>
        </p:blipFill>
        <p:spPr>
          <a:xfrm>
            <a:off x="600738" y="1466850"/>
            <a:ext cx="2381250" cy="447675"/>
          </a:xfrm>
          <a:prstGeom prst="rect">
            <a:avLst/>
          </a:prstGeom>
        </p:spPr>
      </p:pic>
      <p:sp>
        <p:nvSpPr>
          <p:cNvPr id="11" name="TextBox 11"/>
          <p:cNvSpPr txBox="1"/>
          <p:nvPr/>
        </p:nvSpPr>
        <p:spPr>
          <a:xfrm>
            <a:off x="3192810" y="1445975"/>
            <a:ext cx="6265515" cy="338138"/>
          </a:xfrm>
          <a:prstGeom prst="rect">
            <a:avLst/>
          </a:prstGeom>
          <a:noFill/>
        </p:spPr>
        <p:txBody>
          <a:bodyPr wrap="square" lIns="0" tIns="0" rIns="0" bIns="0" anchor="t">
            <a:noAutofit/>
          </a:bodyPr>
          <a:lstStyle/>
          <a:p>
            <a:pPr algn="l">
              <a:lnSpc>
                <a:spcPts val="1582"/>
              </a:lnSpc>
              <a:spcBef>
                <a:spcPts val="0"/>
              </a:spcBef>
              <a:spcAft>
                <a:spcPts val="0"/>
              </a:spcAft>
            </a:pPr>
            <a:r>
              <a:rPr sz="1015" b="0" i="0" spc="15">
                <a:solidFill>
                  <a:srgbClr val="E8E2DA"/>
                </a:solidFill>
                <a:latin typeface="Quicksand"/>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p>
        </p:txBody>
      </p:sp>
      <p:sp>
        <p:nvSpPr>
          <p:cNvPr id="12" name="Rule"/>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3" name="TextBox 13"/>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4" name="TextBox 14"/>
          <p:cNvSpPr txBox="1"/>
          <p:nvPr/>
        </p:nvSpPr>
        <p:spPr>
          <a:xfrm>
            <a:off x="695325" y="2739674"/>
            <a:ext cx="1807964" cy="5905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Privately owned sell-side M&amp;A advisor worldwide, based on PitchBook’s Q2 2026 Global League Tables</a:t>
            </a:r>
          </a:p>
        </p:txBody>
      </p:sp>
      <p:sp>
        <p:nvSpPr>
          <p:cNvPr id="15" name="Rule"/>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16" name="TextBox 16"/>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7" name="TextBox 17"/>
          <p:cNvSpPr txBox="1"/>
          <p:nvPr/>
        </p:nvSpPr>
        <p:spPr>
          <a:xfrm>
            <a:off x="2779514" y="2739674"/>
            <a:ext cx="2329160" cy="2857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Total enterprise value range the Middle Market team serves</a:t>
            </a:r>
          </a:p>
        </p:txBody>
      </p:sp>
      <p:sp>
        <p:nvSpPr>
          <p:cNvPr id="18" name="Rule"/>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19" name="TextBox 19"/>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0" name="TextBox 20"/>
          <p:cNvSpPr txBox="1"/>
          <p:nvPr/>
        </p:nvSpPr>
        <p:spPr>
          <a:xfrm>
            <a:off x="5384899" y="2739674"/>
            <a:ext cx="1808113" cy="2857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Focused industry groups with dedicated sector expertise</a:t>
            </a:r>
          </a:p>
        </p:txBody>
      </p:sp>
      <p:sp>
        <p:nvSpPr>
          <p:cNvPr id="21" name="Rule"/>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2" name="TextBox 22"/>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3" name="TextBox 23"/>
          <p:cNvSpPr txBox="1"/>
          <p:nvPr/>
        </p:nvSpPr>
        <p:spPr>
          <a:xfrm>
            <a:off x="7469237" y="2739674"/>
            <a:ext cx="1808113" cy="2857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Global offices across the Americas, Europe, and Africa</a:t>
            </a:r>
          </a:p>
        </p:txBody>
      </p:sp>
      <p:sp>
        <p:nvSpPr>
          <p:cNvPr id="24" name="TextBox 24"/>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RECOGNITION</a:t>
            </a:r>
          </a:p>
        </p:txBody>
      </p:sp>
      <p:pic>
        <p:nvPicPr>
          <p:cNvPr id="25" name="The M&amp;A Advisor award badge: Investment Banking Firm of the " descr="The M&amp;A Advisor award badge: Investment Banking Firm of the Year"/>
          <p:cNvPicPr>
            <a:picLocks noChangeAspect="1"/>
          </p:cNvPicPr>
          <p:nvPr/>
        </p:nvPicPr>
        <p:blipFill>
          <a:blip r:embed="rId4"/>
          <a:stretch>
            <a:fillRect/>
          </a:stretch>
        </p:blipFill>
        <p:spPr>
          <a:xfrm>
            <a:off x="514499" y="4086225"/>
            <a:ext cx="2014091" cy="1162050"/>
          </a:xfrm>
          <a:prstGeom prst="rect">
            <a:avLst/>
          </a:prstGeom>
        </p:spPr>
      </p:pic>
      <p:pic>
        <p:nvPicPr>
          <p:cNvPr id="26" name="PitchBook award badge: number 1 sell-side exclusive M&amp;A advi" descr="PitchBook award badge: number 1 sell-side exclusive M&amp;A advisor in the world"/>
          <p:cNvPicPr>
            <a:picLocks noChangeAspect="1"/>
          </p:cNvPicPr>
          <p:nvPr/>
        </p:nvPicPr>
        <p:blipFill>
          <a:blip r:embed="rId5"/>
          <a:stretch>
            <a:fillRect/>
          </a:stretch>
        </p:blipFill>
        <p:spPr>
          <a:xfrm>
            <a:off x="2852886" y="4086225"/>
            <a:ext cx="2014091" cy="1162050"/>
          </a:xfrm>
          <a:prstGeom prst="rect">
            <a:avLst/>
          </a:prstGeom>
        </p:spPr>
      </p:pic>
      <p:pic>
        <p:nvPicPr>
          <p:cNvPr id="27" name="LSEG award badge: number 1 privately held M&amp;A advisor worldw" descr="LSEG award badge: number 1 privately held M&amp;A advisor worldwide"/>
          <p:cNvPicPr>
            <a:picLocks noChangeAspect="1"/>
          </p:cNvPicPr>
          <p:nvPr/>
        </p:nvPicPr>
        <p:blipFill>
          <a:blip r:embed="rId6"/>
          <a:stretch>
            <a:fillRect/>
          </a:stretch>
        </p:blipFill>
        <p:spPr>
          <a:xfrm>
            <a:off x="5191274" y="4086225"/>
            <a:ext cx="2014091" cy="1162050"/>
          </a:xfrm>
          <a:prstGeom prst="rect">
            <a:avLst/>
          </a:prstGeom>
        </p:spPr>
      </p:pic>
      <p:pic>
        <p:nvPicPr>
          <p:cNvPr id="28" name="DealMakers award badge: Mergers &amp; Acquisitions (Unlisted Dea" descr="DealMakers award badge: Mergers &amp; Acquisitions (Unlisted Deals), first in the category of investment advisers by deal flow"/>
          <p:cNvPicPr>
            <a:picLocks noChangeAspect="1"/>
          </p:cNvPicPr>
          <p:nvPr/>
        </p:nvPicPr>
        <p:blipFill>
          <a:blip r:embed="rId7"/>
          <a:stretch>
            <a:fillRect/>
          </a:stretch>
        </p:blipFill>
        <p:spPr>
          <a:xfrm>
            <a:off x="7529661" y="4086225"/>
            <a:ext cx="2014091" cy="1162050"/>
          </a:xfrm>
          <a:prstGeom prst="rect">
            <a:avLst/>
          </a:prstGeom>
        </p:spPr>
      </p:pic>
      <p:sp>
        <p:nvSpPr>
          <p:cNvPr id="29" name="TextBox 49"/>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FIVE INDUSTRY GROUPS</a:t>
            </a:r>
          </a:p>
        </p:txBody>
      </p:sp>
      <p:sp>
        <p:nvSpPr>
          <p:cNvPr id="30" name="Panel"/>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31" name="Rule"/>
          <p:cNvSpPr/>
          <p:nvPr/>
        </p:nvSpPr>
        <p:spPr>
          <a:xfrm>
            <a:off x="419100" y="6353175"/>
            <a:ext cx="1752600" cy="28575"/>
          </a:xfrm>
          <a:prstGeom prst="rect">
            <a:avLst/>
          </a:prstGeom>
          <a:solidFill>
            <a:srgbClr val="B48A5A"/>
          </a:solidFill>
          <a:ln>
            <a:noFill/>
          </a:ln>
        </p:spPr>
        <p:txBody>
          <a:bodyPr rtlCol="0" anchor="ctr"/>
          <a:lstStyle/>
          <a:p>
            <a:pPr algn="ctr"/>
            <a:endParaRPr/>
          </a:p>
        </p:txBody>
      </p:sp>
      <p:pic>
        <p:nvPicPr>
          <p:cNvPr id="32" name="Factory icon for the Industrial group" descr="Factory icon for the Industrial group"/>
          <p:cNvPicPr>
            <a:picLocks noChangeAspect="1"/>
          </p:cNvPicPr>
          <p:nvPr/>
        </p:nvPicPr>
        <p:blipFill>
          <a:blip r:embed="rId8"/>
          <a:stretch>
            <a:fillRect/>
          </a:stretch>
        </p:blipFill>
        <p:spPr>
          <a:xfrm>
            <a:off x="533400" y="6515100"/>
            <a:ext cx="285750" cy="285750"/>
          </a:xfrm>
          <a:prstGeom prst="rect">
            <a:avLst/>
          </a:prstGeom>
        </p:spPr>
      </p:pic>
      <p:sp>
        <p:nvSpPr>
          <p:cNvPr id="33" name="TextBox 53"/>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INDUSTRIALS</a:t>
            </a:r>
          </a:p>
        </p:txBody>
      </p:sp>
      <p:sp>
        <p:nvSpPr>
          <p:cNvPr id="34" name="Panel"/>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35" name="Rule"/>
          <p:cNvSpPr/>
          <p:nvPr/>
        </p:nvSpPr>
        <p:spPr>
          <a:xfrm>
            <a:off x="2286000" y="6353175"/>
            <a:ext cx="1752600" cy="28575"/>
          </a:xfrm>
          <a:prstGeom prst="rect">
            <a:avLst/>
          </a:prstGeom>
          <a:solidFill>
            <a:srgbClr val="B48A5A"/>
          </a:solidFill>
          <a:ln>
            <a:noFill/>
          </a:ln>
        </p:spPr>
        <p:txBody>
          <a:bodyPr rtlCol="0" anchor="ctr"/>
          <a:lstStyle/>
          <a:p>
            <a:pPr algn="ctr"/>
            <a:endParaRPr/>
          </a:p>
        </p:txBody>
      </p:sp>
      <p:pic>
        <p:nvPicPr>
          <p:cNvPr id="36" name="Briefcase icon for the Business Services group" descr="Briefcase icon for the Business Services group"/>
          <p:cNvPicPr>
            <a:picLocks noChangeAspect="1"/>
          </p:cNvPicPr>
          <p:nvPr/>
        </p:nvPicPr>
        <p:blipFill>
          <a:blip r:embed="rId9"/>
          <a:stretch>
            <a:fillRect/>
          </a:stretch>
        </p:blipFill>
        <p:spPr>
          <a:xfrm>
            <a:off x="2400300" y="6515100"/>
            <a:ext cx="285750" cy="285750"/>
          </a:xfrm>
          <a:prstGeom prst="rect">
            <a:avLst/>
          </a:prstGeom>
        </p:spPr>
      </p:pic>
      <p:sp>
        <p:nvSpPr>
          <p:cNvPr id="37" name="TextBox 57"/>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BUSINESS SERVICES</a:t>
            </a:r>
          </a:p>
        </p:txBody>
      </p:sp>
      <p:sp>
        <p:nvSpPr>
          <p:cNvPr id="38" name="Panel"/>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39" name="Rule"/>
          <p:cNvSpPr/>
          <p:nvPr/>
        </p:nvSpPr>
        <p:spPr>
          <a:xfrm>
            <a:off x="4152900" y="6353175"/>
            <a:ext cx="1752600" cy="28575"/>
          </a:xfrm>
          <a:prstGeom prst="rect">
            <a:avLst/>
          </a:prstGeom>
          <a:solidFill>
            <a:srgbClr val="B48A5A"/>
          </a:solidFill>
          <a:ln>
            <a:noFill/>
          </a:ln>
        </p:spPr>
        <p:txBody>
          <a:bodyPr rtlCol="0" anchor="ctr"/>
          <a:lstStyle/>
          <a:p>
            <a:pPr algn="ctr"/>
            <a:endParaRPr/>
          </a:p>
        </p:txBody>
      </p:sp>
      <p:pic>
        <p:nvPicPr>
          <p:cNvPr id="40" name="Shopping cart icon for the Consumer group" descr="Shopping cart icon for the Consumer group"/>
          <p:cNvPicPr>
            <a:picLocks noChangeAspect="1"/>
          </p:cNvPicPr>
          <p:nvPr/>
        </p:nvPicPr>
        <p:blipFill>
          <a:blip r:embed="rId10"/>
          <a:stretch>
            <a:fillRect/>
          </a:stretch>
        </p:blipFill>
        <p:spPr>
          <a:xfrm>
            <a:off x="4267200" y="6515100"/>
            <a:ext cx="285750" cy="285750"/>
          </a:xfrm>
          <a:prstGeom prst="rect">
            <a:avLst/>
          </a:prstGeom>
        </p:spPr>
      </p:pic>
      <p:sp>
        <p:nvSpPr>
          <p:cNvPr id="41" name="TextBox 61"/>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CONSUMER</a:t>
            </a:r>
          </a:p>
        </p:txBody>
      </p:sp>
      <p:sp>
        <p:nvSpPr>
          <p:cNvPr id="42" name="Panel"/>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43" name="Rule"/>
          <p:cNvSpPr/>
          <p:nvPr/>
        </p:nvSpPr>
        <p:spPr>
          <a:xfrm>
            <a:off x="6019800" y="6353175"/>
            <a:ext cx="1752600" cy="28575"/>
          </a:xfrm>
          <a:prstGeom prst="rect">
            <a:avLst/>
          </a:prstGeom>
          <a:solidFill>
            <a:srgbClr val="B48A5A"/>
          </a:solidFill>
          <a:ln>
            <a:noFill/>
          </a:ln>
        </p:spPr>
        <p:txBody>
          <a:bodyPr rtlCol="0" anchor="ctr"/>
          <a:lstStyle/>
          <a:p>
            <a:pPr algn="ctr"/>
            <a:endParaRPr/>
          </a:p>
        </p:txBody>
      </p:sp>
      <p:pic>
        <p:nvPicPr>
          <p:cNvPr id="44" name="Heart and pulse icon for the Healthcare group" descr="Heart and pulse icon for the Healthcare group"/>
          <p:cNvPicPr>
            <a:picLocks noChangeAspect="1"/>
          </p:cNvPicPr>
          <p:nvPr/>
        </p:nvPicPr>
        <p:blipFill>
          <a:blip r:embed="rId11"/>
          <a:stretch>
            <a:fillRect/>
          </a:stretch>
        </p:blipFill>
        <p:spPr>
          <a:xfrm>
            <a:off x="6134100" y="6515100"/>
            <a:ext cx="285750" cy="285750"/>
          </a:xfrm>
          <a:prstGeom prst="rect">
            <a:avLst/>
          </a:prstGeom>
        </p:spPr>
      </p:pic>
      <p:sp>
        <p:nvSpPr>
          <p:cNvPr id="45" name="TextBox 65"/>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HEALTHCARE</a:t>
            </a:r>
          </a:p>
        </p:txBody>
      </p:sp>
      <p:sp>
        <p:nvSpPr>
          <p:cNvPr id="46" name="Panel"/>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47" name="Rule"/>
          <p:cNvSpPr/>
          <p:nvPr/>
        </p:nvSpPr>
        <p:spPr>
          <a:xfrm>
            <a:off x="7886700" y="6353175"/>
            <a:ext cx="1752600" cy="28575"/>
          </a:xfrm>
          <a:prstGeom prst="rect">
            <a:avLst/>
          </a:prstGeom>
          <a:solidFill>
            <a:srgbClr val="1E1E1E"/>
          </a:solidFill>
          <a:ln>
            <a:noFill/>
          </a:ln>
        </p:spPr>
        <p:txBody>
          <a:bodyPr rtlCol="0" anchor="ctr"/>
          <a:lstStyle/>
          <a:p>
            <a:pPr algn="ctr"/>
            <a:endParaRPr/>
          </a:p>
        </p:txBody>
      </p:sp>
      <p:pic>
        <p:nvPicPr>
          <p:cNvPr id="48" name="Computer chip icon for the Technology group" descr="Computer chip icon for the Technology group"/>
          <p:cNvPicPr>
            <a:picLocks noChangeAspect="1"/>
          </p:cNvPicPr>
          <p:nvPr/>
        </p:nvPicPr>
        <p:blipFill>
          <a:blip r:embed="rId12"/>
          <a:stretch>
            <a:fillRect/>
          </a:stretch>
        </p:blipFill>
        <p:spPr>
          <a:xfrm>
            <a:off x="8001000" y="6515100"/>
            <a:ext cx="285750" cy="285750"/>
          </a:xfrm>
          <a:prstGeom prst="rect">
            <a:avLst/>
          </a:prstGeom>
        </p:spPr>
      </p:pic>
      <p:sp>
        <p:nvSpPr>
          <p:cNvPr id="49" name="TextBox 69"/>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TECHNOLOGY</a:t>
            </a:r>
          </a:p>
        </p:txBody>
      </p:sp>
      <p:sp>
        <p:nvSpPr>
          <p:cNvPr id="50"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51"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52" name="Shape 9"/>
          <p:cNvSpPr/>
          <p:nvPr/>
        </p:nvSpPr>
        <p:spPr>
          <a:xfrm>
            <a:off x="419100" y="7029450"/>
            <a:ext cx="9220200" cy="9525"/>
          </a:xfrm>
          <a:prstGeom prst="rect">
            <a:avLst/>
          </a:prstGeom>
          <a:solidFill>
            <a:srgbClr val="E3DCD3"/>
          </a:solidFill>
          <a:ln/>
        </p:spPr>
        <p:txBody>
          <a:bodyPr/>
          <a:lstStyle/>
          <a:p>
            <a:endParaRPr lang="en-US"/>
          </a:p>
        </p:txBody>
      </p:sp>
      <p:pic>
        <p:nvPicPr>
          <p:cNvPr id="53" name="Benchmark International logo"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54"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26</a:t>
            </a:r>
            <a:endParaRPr lang="en-US" sz="81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5" name="TextBox 6"/>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A first conversation is confidential and carries no obligation.</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8"/>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CONFIDENTIAL. NO PRESSURE. NO COMMITMENTS.</a:t>
            </a:r>
          </a:p>
        </p:txBody>
      </p:sp>
      <p:sp>
        <p:nvSpPr>
          <p:cNvPr id="8" name="TextBox 9"/>
          <p:cNvSpPr txBox="1"/>
          <p:nvPr/>
        </p:nvSpPr>
        <p:spPr>
          <a:xfrm>
            <a:off x="419100" y="1669161"/>
            <a:ext cx="52197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9" name="Panel"/>
          <p:cNvSpPr/>
          <p:nvPr/>
        </p:nvSpPr>
        <p:spPr>
          <a:xfrm>
            <a:off x="419100" y="2924175"/>
            <a:ext cx="685800" cy="19050"/>
          </a:xfrm>
          <a:prstGeom prst="rect">
            <a:avLst/>
          </a:prstGeom>
          <a:solidFill>
            <a:srgbClr val="B68757"/>
          </a:solidFill>
          <a:ln>
            <a:noFill/>
          </a:ln>
        </p:spPr>
        <p:txBody>
          <a:bodyPr rtlCol="0" anchor="ctr"/>
          <a:lstStyle/>
          <a:p>
            <a:pPr algn="ctr"/>
            <a:endParaRPr/>
          </a:p>
        </p:txBody>
      </p:sp>
      <p:sp>
        <p:nvSpPr>
          <p:cNvPr id="10" name="TextBox 11"/>
          <p:cNvSpPr txBox="1"/>
          <p:nvPr/>
        </p:nvSpPr>
        <p:spPr>
          <a:xfrm>
            <a:off x="419100" y="3115437"/>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a:solidFill>
                  <a:srgbClr val="333231"/>
                </a:solidFill>
                <a:latin typeface="Quicksand"/>
              </a:rPr>
              <a:t>Want to explore your options or know more? Our first step is always a confidential conversation exploring your goals, your company, and your options. Owners considering a strategic sale, merger, or qualifying change-of-control transaction in any of the six focus areas, and the advisors who work with them, are welcome to call or email.</a:t>
            </a:r>
          </a:p>
        </p:txBody>
      </p:sp>
      <p:sp>
        <p:nvSpPr>
          <p:cNvPr id="11" name="Panel"/>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2" name="Rule"/>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3" name="Portrait of Jared Hardin, Managing Director, Mid-Market" descr="Portrait of Jared Hardin, Managing Director, Mid-Market"/>
          <p:cNvPicPr>
            <a:picLocks noChangeAspect="1"/>
          </p:cNvPicPr>
          <p:nvPr/>
        </p:nvPicPr>
        <p:blipFill>
          <a:blip r:embed="rId2"/>
          <a:stretch>
            <a:fillRect/>
          </a:stretch>
        </p:blipFill>
        <p:spPr>
          <a:xfrm>
            <a:off x="628650" y="4533900"/>
            <a:ext cx="914400" cy="914400"/>
          </a:xfrm>
          <a:prstGeom prst="ellipse">
            <a:avLst/>
          </a:prstGeom>
        </p:spPr>
      </p:pic>
      <p:sp>
        <p:nvSpPr>
          <p:cNvPr id="14" name="TextBox 15"/>
          <p:cNvSpPr txBox="1"/>
          <p:nvPr/>
        </p:nvSpPr>
        <p:spPr>
          <a:xfrm>
            <a:off x="1733550" y="4506087"/>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5" name="TextBox 16"/>
          <p:cNvSpPr txBox="1"/>
          <p:nvPr/>
        </p:nvSpPr>
        <p:spPr>
          <a:xfrm>
            <a:off x="1733550" y="4800410"/>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790" b="1" i="0" spc="165">
                <a:solidFill>
                  <a:srgbClr val="8C6239"/>
                </a:solidFill>
                <a:latin typeface="Quicksand"/>
              </a:rPr>
              <a:t>MANAGING DIRECTOR</a:t>
            </a:r>
          </a:p>
        </p:txBody>
      </p:sp>
      <p:sp>
        <p:nvSpPr>
          <p:cNvPr id="16" name="TextBox 17"/>
          <p:cNvSpPr txBox="1"/>
          <p:nvPr/>
        </p:nvSpPr>
        <p:spPr>
          <a:xfrm>
            <a:off x="1733550" y="5008816"/>
            <a:ext cx="2158008" cy="352425"/>
          </a:xfrm>
          <a:prstGeom prst="rect">
            <a:avLst/>
          </a:prstGeom>
          <a:noFill/>
        </p:spPr>
        <p:txBody>
          <a:bodyPr wrap="square" lIns="0" tIns="0" rIns="0" bIns="0" anchor="t">
            <a:noAutofit/>
          </a:bodyPr>
          <a:lstStyle/>
          <a:p>
            <a:pPr algn="l">
              <a:lnSpc>
                <a:spcPts val="1704"/>
              </a:lnSpc>
              <a:spcBef>
                <a:spcPts val="0"/>
              </a:spcBef>
              <a:spcAft>
                <a:spcPts val="0"/>
              </a:spcAft>
            </a:pPr>
            <a:r>
              <a:rPr sz="1055" b="0" i="0" u="sng" spc="15">
                <a:solidFill>
                  <a:srgbClr val="8C6239"/>
                </a:solidFill>
                <a:latin typeface="Quicksand"/>
                <a:hlinkClick r:id="rId3"/>
              </a:rPr>
              <a:t>210-241-7990</a:t>
            </a:r>
          </a:p>
          <a:p>
            <a:pPr algn="l">
              <a:lnSpc>
                <a:spcPts val="1704"/>
              </a:lnSpc>
              <a:spcBef>
                <a:spcPts val="0"/>
              </a:spcBef>
              <a:spcAft>
                <a:spcPts val="0"/>
              </a:spcAft>
            </a:pPr>
            <a:r>
              <a:rPr sz="105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7"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18" name="TextBox 19">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810" b="1" i="0" spc="150">
                <a:solidFill>
                  <a:srgbClr val="FFFFFF"/>
                </a:solidFill>
                <a:latin typeface="Quicksand"/>
              </a:rPr>
              <a:t>SCHEDULE A CONVERSATION</a:t>
            </a:r>
          </a:p>
        </p:txBody>
      </p:sp>
      <p:sp>
        <p:nvSpPr>
          <p:cNvPr id="19" name="Panel"/>
          <p:cNvSpPr/>
          <p:nvPr/>
        </p:nvSpPr>
        <p:spPr>
          <a:xfrm>
            <a:off x="5467350" y="1238250"/>
            <a:ext cx="4171950" cy="5695950"/>
          </a:xfrm>
          <a:prstGeom prst="rect">
            <a:avLst/>
          </a:prstGeom>
          <a:solidFill>
            <a:srgbClr val="1B1A1A"/>
          </a:solidFill>
          <a:ln>
            <a:noFill/>
          </a:ln>
        </p:spPr>
        <p:txBody>
          <a:bodyPr rtlCol="0" anchor="ctr"/>
          <a:lstStyle/>
          <a:p>
            <a:pPr algn="ctr"/>
            <a:endParaRPr/>
          </a:p>
        </p:txBody>
      </p:sp>
      <p:sp>
        <p:nvSpPr>
          <p:cNvPr id="20" name="TextBox 31"/>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790" b="0" i="0" spc="8">
                <a:solidFill>
                  <a:srgbClr val="6F6A66"/>
                </a:solidFill>
                <a:latin typeface="Quicksand"/>
              </a:rPr>
              <a:t>Benchmark International Middle Market, 4030 West Boy Scout Blvd., Suite 500, Tampa, FL 33607.</a:t>
            </a:r>
          </a:p>
        </p:txBody>
      </p:sp>
      <p:pic>
        <p:nvPicPr>
          <p:cNvPr id="21" name="Laptop, camera and notebooks on a wooden desk in a bright op" descr="Laptop, camera and notebooks on a wooden desk in a bright open-plan office"/>
          <p:cNvPicPr>
            <a:picLocks noChangeAspect="1"/>
          </p:cNvPicPr>
          <p:nvPr/>
        </p:nvPicPr>
        <p:blipFill>
          <a:blip r:embed="rId6"/>
          <a:stretch>
            <a:fillRect/>
          </a:stretch>
        </p:blipFill>
        <p:spPr>
          <a:xfrm>
            <a:off x="5391150" y="1152525"/>
            <a:ext cx="4180582" cy="5723601"/>
          </a:xfrm>
          <a:prstGeom prst="rect">
            <a:avLst/>
          </a:prstGeom>
        </p:spPr>
      </p:pic>
      <p:sp>
        <p:nvSpPr>
          <p:cNvPr id="22" name="Label"/>
          <p:cNvSpPr txBox="1"/>
          <p:nvPr/>
        </p:nvSpPr>
        <p:spPr>
          <a:xfrm>
            <a:off x="420624" y="5642282"/>
            <a:ext cx="2743200" cy="128016"/>
          </a:xfrm>
          <a:prstGeom prst="rect">
            <a:avLst/>
          </a:prstGeom>
          <a:noFill/>
        </p:spPr>
        <p:txBody>
          <a:bodyPr wrap="square" lIns="0" tIns="0" rIns="0" bIns="0" anchor="t">
            <a:noAutofit/>
          </a:bodyPr>
          <a:lstStyle/>
          <a:p>
            <a:pPr algn="l">
              <a:lnSpc>
                <a:spcPts val="957"/>
              </a:lnSpc>
              <a:spcBef>
                <a:spcPts val="0"/>
              </a:spcBef>
              <a:spcAft>
                <a:spcPts val="0"/>
              </a:spcAft>
            </a:pPr>
            <a:r>
              <a:rPr sz="730" b="1" i="0" spc="180">
                <a:solidFill>
                  <a:srgbClr val="8C6239"/>
                </a:solidFill>
                <a:latin typeface="Quicksand"/>
              </a:rPr>
              <a:t>WHAT HAPPENS NEXT</a:t>
            </a:r>
          </a:p>
        </p:txBody>
      </p:sp>
      <p:sp>
        <p:nvSpPr>
          <p:cNvPr id="23" name="TextBox"/>
          <p:cNvSpPr txBox="1"/>
          <p:nvPr/>
        </p:nvSpPr>
        <p:spPr>
          <a:xfrm>
            <a:off x="420624" y="5825162"/>
            <a:ext cx="274320" cy="201168"/>
          </a:xfrm>
          <a:prstGeom prst="rect">
            <a:avLst/>
          </a:prstGeom>
          <a:noFill/>
        </p:spPr>
        <p:txBody>
          <a:bodyPr wrap="square" lIns="0" tIns="0" rIns="0" bIns="0" anchor="t">
            <a:noAutofit/>
          </a:bodyPr>
          <a:lstStyle/>
          <a:p>
            <a:pPr algn="l">
              <a:lnSpc>
                <a:spcPts val="1450"/>
              </a:lnSpc>
              <a:spcBef>
                <a:spcPts val="0"/>
              </a:spcBef>
              <a:spcAft>
                <a:spcPts val="0"/>
              </a:spcAft>
            </a:pPr>
            <a:r>
              <a:rPr sz="1100" b="0" i="0">
                <a:solidFill>
                  <a:srgbClr val="B68757"/>
                </a:solidFill>
                <a:latin typeface="Newsreader"/>
              </a:rPr>
              <a:t>01</a:t>
            </a:r>
          </a:p>
        </p:txBody>
      </p:sp>
      <p:sp>
        <p:nvSpPr>
          <p:cNvPr id="24" name="TextBox"/>
          <p:cNvSpPr txBox="1"/>
          <p:nvPr/>
        </p:nvSpPr>
        <p:spPr>
          <a:xfrm>
            <a:off x="713232" y="5852594"/>
            <a:ext cx="1234440" cy="182880"/>
          </a:xfrm>
          <a:prstGeom prst="rect">
            <a:avLst/>
          </a:prstGeom>
          <a:noFill/>
        </p:spPr>
        <p:txBody>
          <a:bodyPr wrap="square" lIns="0" tIns="0" rIns="0" bIns="0" anchor="t">
            <a:noAutofit/>
          </a:bodyPr>
          <a:lstStyle/>
          <a:p>
            <a:pPr algn="l">
              <a:lnSpc>
                <a:spcPts val="914"/>
              </a:lnSpc>
              <a:spcBef>
                <a:spcPts val="0"/>
              </a:spcBef>
              <a:spcAft>
                <a:spcPts val="0"/>
              </a:spcAft>
            </a:pPr>
            <a:r>
              <a:rPr sz="800" b="1" i="0">
                <a:solidFill>
                  <a:srgbClr val="1B1A1A"/>
                </a:solidFill>
                <a:latin typeface="Quicksand"/>
              </a:rPr>
              <a:t>Share a few details</a:t>
            </a:r>
          </a:p>
        </p:txBody>
      </p:sp>
      <p:sp>
        <p:nvSpPr>
          <p:cNvPr id="25" name="TextBox"/>
          <p:cNvSpPr txBox="1"/>
          <p:nvPr/>
        </p:nvSpPr>
        <p:spPr>
          <a:xfrm>
            <a:off x="420624" y="6081194"/>
            <a:ext cx="1481328" cy="347472"/>
          </a:xfrm>
          <a:prstGeom prst="rect">
            <a:avLst/>
          </a:prstGeom>
          <a:noFill/>
        </p:spPr>
        <p:txBody>
          <a:bodyPr wrap="square" lIns="0" tIns="0" rIns="0" bIns="0" anchor="t">
            <a:noAutofit/>
          </a:bodyPr>
          <a:lstStyle/>
          <a:p>
            <a:pPr algn="l">
              <a:lnSpc>
                <a:spcPts val="922"/>
              </a:lnSpc>
              <a:spcBef>
                <a:spcPts val="0"/>
              </a:spcBef>
              <a:spcAft>
                <a:spcPts val="0"/>
              </a:spcAft>
            </a:pPr>
            <a:r>
              <a:rPr sz="735" b="0" i="0" dirty="0">
                <a:solidFill>
                  <a:srgbClr val="6F6A66"/>
                </a:solidFill>
                <a:latin typeface="Quicksand"/>
              </a:rPr>
              <a:t>Tell us about your company and what you are considering, held in strict confidence.</a:t>
            </a:r>
          </a:p>
        </p:txBody>
      </p:sp>
      <p:sp>
        <p:nvSpPr>
          <p:cNvPr id="26" name="TextBox"/>
          <p:cNvSpPr txBox="1"/>
          <p:nvPr/>
        </p:nvSpPr>
        <p:spPr>
          <a:xfrm>
            <a:off x="2029968" y="5825162"/>
            <a:ext cx="274320" cy="201168"/>
          </a:xfrm>
          <a:prstGeom prst="rect">
            <a:avLst/>
          </a:prstGeom>
          <a:noFill/>
        </p:spPr>
        <p:txBody>
          <a:bodyPr wrap="square" lIns="0" tIns="0" rIns="0" bIns="0" anchor="t">
            <a:noAutofit/>
          </a:bodyPr>
          <a:lstStyle/>
          <a:p>
            <a:pPr algn="l">
              <a:lnSpc>
                <a:spcPts val="1450"/>
              </a:lnSpc>
              <a:spcBef>
                <a:spcPts val="0"/>
              </a:spcBef>
              <a:spcAft>
                <a:spcPts val="0"/>
              </a:spcAft>
            </a:pPr>
            <a:r>
              <a:rPr sz="1100" b="0" i="0">
                <a:solidFill>
                  <a:srgbClr val="B68757"/>
                </a:solidFill>
                <a:latin typeface="Newsreader"/>
              </a:rPr>
              <a:t>02</a:t>
            </a:r>
          </a:p>
        </p:txBody>
      </p:sp>
      <p:sp>
        <p:nvSpPr>
          <p:cNvPr id="27" name="TextBox"/>
          <p:cNvSpPr txBox="1"/>
          <p:nvPr/>
        </p:nvSpPr>
        <p:spPr>
          <a:xfrm>
            <a:off x="2322576" y="5852594"/>
            <a:ext cx="1234440" cy="182880"/>
          </a:xfrm>
          <a:prstGeom prst="rect">
            <a:avLst/>
          </a:prstGeom>
          <a:noFill/>
        </p:spPr>
        <p:txBody>
          <a:bodyPr wrap="square" lIns="0" tIns="0" rIns="0" bIns="0" anchor="t">
            <a:noAutofit/>
          </a:bodyPr>
          <a:lstStyle/>
          <a:p>
            <a:pPr algn="l">
              <a:lnSpc>
                <a:spcPts val="914"/>
              </a:lnSpc>
              <a:spcBef>
                <a:spcPts val="0"/>
              </a:spcBef>
              <a:spcAft>
                <a:spcPts val="0"/>
              </a:spcAft>
            </a:pPr>
            <a:r>
              <a:rPr sz="800" b="1" i="0">
                <a:solidFill>
                  <a:srgbClr val="1B1A1A"/>
                </a:solidFill>
                <a:latin typeface="Quicksand"/>
              </a:rPr>
              <a:t>Talk with a Managing Director</a:t>
            </a:r>
          </a:p>
        </p:txBody>
      </p:sp>
      <p:sp>
        <p:nvSpPr>
          <p:cNvPr id="28" name="TextBox"/>
          <p:cNvSpPr txBox="1"/>
          <p:nvPr/>
        </p:nvSpPr>
        <p:spPr>
          <a:xfrm>
            <a:off x="2029968" y="6081194"/>
            <a:ext cx="1481328" cy="347472"/>
          </a:xfrm>
          <a:prstGeom prst="rect">
            <a:avLst/>
          </a:prstGeom>
          <a:noFill/>
        </p:spPr>
        <p:txBody>
          <a:bodyPr wrap="square" lIns="0" tIns="0" rIns="0" bIns="0" anchor="t">
            <a:noAutofit/>
          </a:bodyPr>
          <a:lstStyle/>
          <a:p>
            <a:pPr algn="l">
              <a:lnSpc>
                <a:spcPts val="922"/>
              </a:lnSpc>
              <a:spcBef>
                <a:spcPts val="0"/>
              </a:spcBef>
              <a:spcAft>
                <a:spcPts val="0"/>
              </a:spcAft>
            </a:pPr>
            <a:r>
              <a:rPr sz="735" b="0" i="0">
                <a:solidFill>
                  <a:srgbClr val="6F6A66"/>
                </a:solidFill>
                <a:latin typeface="Quicksand"/>
              </a:rPr>
              <a:t>A senior member of the team sets up a private conversation at a time that suits you.</a:t>
            </a:r>
          </a:p>
        </p:txBody>
      </p:sp>
      <p:sp>
        <p:nvSpPr>
          <p:cNvPr id="29" name="TextBox"/>
          <p:cNvSpPr txBox="1"/>
          <p:nvPr/>
        </p:nvSpPr>
        <p:spPr>
          <a:xfrm>
            <a:off x="3639312" y="5825162"/>
            <a:ext cx="274320" cy="201168"/>
          </a:xfrm>
          <a:prstGeom prst="rect">
            <a:avLst/>
          </a:prstGeom>
          <a:noFill/>
        </p:spPr>
        <p:txBody>
          <a:bodyPr wrap="square" lIns="0" tIns="0" rIns="0" bIns="0" anchor="t">
            <a:noAutofit/>
          </a:bodyPr>
          <a:lstStyle/>
          <a:p>
            <a:pPr algn="l">
              <a:lnSpc>
                <a:spcPts val="1450"/>
              </a:lnSpc>
              <a:spcBef>
                <a:spcPts val="0"/>
              </a:spcBef>
              <a:spcAft>
                <a:spcPts val="0"/>
              </a:spcAft>
            </a:pPr>
            <a:r>
              <a:rPr sz="1100" b="0" i="0">
                <a:solidFill>
                  <a:srgbClr val="B68757"/>
                </a:solidFill>
                <a:latin typeface="Newsreader"/>
              </a:rPr>
              <a:t>03</a:t>
            </a:r>
          </a:p>
        </p:txBody>
      </p:sp>
      <p:sp>
        <p:nvSpPr>
          <p:cNvPr id="30" name="TextBox"/>
          <p:cNvSpPr txBox="1"/>
          <p:nvPr/>
        </p:nvSpPr>
        <p:spPr>
          <a:xfrm>
            <a:off x="3931920" y="5852594"/>
            <a:ext cx="1234440" cy="182880"/>
          </a:xfrm>
          <a:prstGeom prst="rect">
            <a:avLst/>
          </a:prstGeom>
          <a:noFill/>
        </p:spPr>
        <p:txBody>
          <a:bodyPr wrap="square" lIns="0" tIns="0" rIns="0" bIns="0" anchor="t">
            <a:noAutofit/>
          </a:bodyPr>
          <a:lstStyle/>
          <a:p>
            <a:pPr algn="l">
              <a:lnSpc>
                <a:spcPts val="914"/>
              </a:lnSpc>
              <a:spcBef>
                <a:spcPts val="0"/>
              </a:spcBef>
              <a:spcAft>
                <a:spcPts val="0"/>
              </a:spcAft>
            </a:pPr>
            <a:r>
              <a:rPr sz="800" b="1" i="0">
                <a:solidFill>
                  <a:srgbClr val="1B1A1A"/>
                </a:solidFill>
                <a:latin typeface="Quicksand"/>
              </a:rPr>
              <a:t>See your options clearly</a:t>
            </a:r>
          </a:p>
        </p:txBody>
      </p:sp>
      <p:sp>
        <p:nvSpPr>
          <p:cNvPr id="31" name="TextBox"/>
          <p:cNvSpPr txBox="1"/>
          <p:nvPr/>
        </p:nvSpPr>
        <p:spPr>
          <a:xfrm>
            <a:off x="3639312" y="6081194"/>
            <a:ext cx="1481328" cy="347472"/>
          </a:xfrm>
          <a:prstGeom prst="rect">
            <a:avLst/>
          </a:prstGeom>
          <a:noFill/>
        </p:spPr>
        <p:txBody>
          <a:bodyPr wrap="square" lIns="0" tIns="0" rIns="0" bIns="0" anchor="t">
            <a:noAutofit/>
          </a:bodyPr>
          <a:lstStyle/>
          <a:p>
            <a:pPr algn="l">
              <a:lnSpc>
                <a:spcPts val="922"/>
              </a:lnSpc>
              <a:spcBef>
                <a:spcPts val="0"/>
              </a:spcBef>
              <a:spcAft>
                <a:spcPts val="0"/>
              </a:spcAft>
            </a:pPr>
            <a:r>
              <a:rPr sz="735" b="0" i="0">
                <a:solidFill>
                  <a:srgbClr val="6F6A66"/>
                </a:solidFill>
                <a:latin typeface="Quicksand"/>
              </a:rPr>
              <a:t>Understand the paths to a strategic sale, merger, or change-of-control transaction and what each could mean.</a:t>
            </a:r>
          </a:p>
        </p:txBody>
      </p:sp>
      <p:sp>
        <p:nvSpPr>
          <p:cNvPr id="32"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33"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34" name="Shape 9"/>
          <p:cNvSpPr/>
          <p:nvPr/>
        </p:nvSpPr>
        <p:spPr>
          <a:xfrm>
            <a:off x="419100" y="7029450"/>
            <a:ext cx="9220200" cy="9525"/>
          </a:xfrm>
          <a:prstGeom prst="rect">
            <a:avLst/>
          </a:prstGeom>
          <a:solidFill>
            <a:srgbClr val="E3DCD3"/>
          </a:solidFill>
          <a:ln/>
        </p:spPr>
        <p:txBody>
          <a:bodyPr/>
          <a:lstStyle/>
          <a:p>
            <a:endParaRPr lang="en-US"/>
          </a:p>
        </p:txBody>
      </p:sp>
      <p:pic>
        <p:nvPicPr>
          <p:cNvPr id="35" name="Benchmark International logo" descr="Benchmark International logo"/>
          <p:cNvPicPr>
            <a:picLocks noChangeAspect="1"/>
          </p:cNvPicPr>
          <p:nvPr/>
        </p:nvPicPr>
        <p:blipFill>
          <a:blip r:embed="rId7"/>
          <a:stretch>
            <a:fillRect/>
          </a:stretch>
        </p:blipFill>
        <p:spPr>
          <a:xfrm>
            <a:off x="419100" y="7143750"/>
            <a:ext cx="914400" cy="171450"/>
          </a:xfrm>
          <a:prstGeom prst="rect">
            <a:avLst/>
          </a:prstGeom>
        </p:spPr>
      </p:pic>
      <p:sp>
        <p:nvSpPr>
          <p:cNvPr id="36"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27</a:t>
            </a:r>
            <a:endParaRPr lang="en-US" sz="815"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5" name="TextBox 6"/>
          <p:cNvSpPr txBox="1"/>
          <p:nvPr/>
        </p:nvSpPr>
        <p:spPr>
          <a:xfrm>
            <a:off x="419100" y="864394"/>
            <a:ext cx="4075509"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Sources linked on each page.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8"/>
          <p:cNvSpPr txBox="1"/>
          <p:nvPr/>
        </p:nvSpPr>
        <p:spPr>
          <a:xfrm>
            <a:off x="4191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KEY TRENDS AND COST PRESSURES</a:t>
            </a:r>
          </a:p>
          <a:p>
            <a:pPr algn="l">
              <a:lnSpc>
                <a:spcPts val="1375"/>
              </a:lnSpc>
              <a:spcBef>
                <a:spcPts val="0"/>
              </a:spcBef>
              <a:spcAft>
                <a:spcPts val="1214"/>
              </a:spcAft>
            </a:pPr>
            <a:r>
              <a:rPr sz="890" b="0" i="0" u="sng" spc="8">
                <a:solidFill>
                  <a:srgbClr val="8C6239"/>
                </a:solidFill>
                <a:latin typeface="Quicksand"/>
                <a:hlinkClick r:id="rId2">
                  <a:extLst>
                    <a:ext uri="{A12FA001-AC4F-418D-AE19-62706E023703}">
                      <ahyp:hlinkClr xmlns:ahyp="http://schemas.microsoft.com/office/drawing/2018/hyperlinkcolor" val="tx"/>
                    </a:ext>
                  </a:extLst>
                </a:hlinkClick>
              </a:rPr>
              <a:t>Gartner</a:t>
            </a:r>
            <a:r>
              <a:rPr sz="890" b="0" i="0" spc="8">
                <a:solidFill>
                  <a:srgbClr val="333231"/>
                </a:solidFill>
                <a:latin typeface="Quicksand"/>
              </a:rPr>
              <a:t>; </a:t>
            </a:r>
            <a:r>
              <a:rPr sz="890" b="0" i="0" u="sng" spc="8">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90" b="0" i="0" spc="8">
                <a:solidFill>
                  <a:srgbClr val="333231"/>
                </a:solidFill>
                <a:latin typeface="Quicksand"/>
              </a:rPr>
              <a:t>; </a:t>
            </a:r>
            <a:r>
              <a:rPr sz="890" b="0" i="0" u="sng" spc="8">
                <a:solidFill>
                  <a:srgbClr val="8C6239"/>
                </a:solidFill>
                <a:latin typeface="Quicksand"/>
                <a:hlinkClick r:id="rId4">
                  <a:extLst>
                    <a:ext uri="{A12FA001-AC4F-418D-AE19-62706E023703}">
                      <ahyp:hlinkClr xmlns:ahyp="http://schemas.microsoft.com/office/drawing/2018/hyperlinkcolor" val="tx"/>
                    </a:ext>
                  </a:extLst>
                </a:hlinkClick>
              </a:rPr>
              <a:t>Omdia</a:t>
            </a:r>
            <a:r>
              <a:rPr sz="890" b="0" i="0" spc="8">
                <a:solidFill>
                  <a:srgbClr val="333231"/>
                </a:solidFill>
                <a:latin typeface="Quicksand"/>
              </a:rPr>
              <a:t>; </a:t>
            </a:r>
            <a:r>
              <a:rPr sz="890" b="0" i="0" u="sng" spc="8">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90" b="0" i="0" spc="8">
                <a:solidFill>
                  <a:srgbClr val="333231"/>
                </a:solidFill>
                <a:latin typeface="Quicksand"/>
              </a:rPr>
              <a:t>; </a:t>
            </a:r>
            <a:r>
              <a:rPr sz="890" b="0" i="0" u="sng" spc="8">
                <a:solidFill>
                  <a:srgbClr val="8C6239"/>
                </a:solidFill>
                <a:latin typeface="Quicksand"/>
                <a:hlinkClick r:id="rId6">
                  <a:extLst>
                    <a:ext uri="{A12FA001-AC4F-418D-AE19-62706E023703}">
                      <ahyp:hlinkClr xmlns:ahyp="http://schemas.microsoft.com/office/drawing/2018/hyperlinkcolor" val="tx"/>
                    </a:ext>
                  </a:extLst>
                </a:hlinkClick>
              </a:rPr>
              <a:t>US Treasury</a:t>
            </a:r>
            <a:r>
              <a:rPr sz="890" b="0" i="0" spc="8">
                <a:solidFill>
                  <a:srgbClr val="333231"/>
                </a:solidFill>
                <a:latin typeface="Quicksand"/>
              </a:rPr>
              <a:t>; </a:t>
            </a:r>
            <a:r>
              <a:rPr sz="890" b="0" i="0" u="sng" spc="8">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90" b="0" i="0" spc="8">
                <a:solidFill>
                  <a:srgbClr val="333231"/>
                </a:solidFill>
                <a:latin typeface="Quicksand"/>
              </a:rPr>
              <a:t>; </a:t>
            </a:r>
            <a:r>
              <a:rPr sz="890" b="0" i="0" u="sng" spc="8">
                <a:solidFill>
                  <a:srgbClr val="8C6239"/>
                </a:solidFill>
                <a:latin typeface="Quicksand"/>
                <a:hlinkClick r:id="rId8">
                  <a:extLst>
                    <a:ext uri="{A12FA001-AC4F-418D-AE19-62706E023703}">
                      <ahyp:hlinkClr xmlns:ahyp="http://schemas.microsoft.com/office/drawing/2018/hyperlinkcolor" val="tx"/>
                    </a:ext>
                  </a:extLst>
                </a:hlinkClick>
              </a:rPr>
              <a:t>Gartner</a:t>
            </a:r>
            <a:r>
              <a:rPr sz="890" b="0" i="0" spc="8">
                <a:solidFill>
                  <a:srgbClr val="333231"/>
                </a:solidFill>
                <a:latin typeface="Quicksand"/>
              </a:rPr>
              <a:t>; </a:t>
            </a:r>
            <a:r>
              <a:rPr sz="890" b="0" i="0" u="sng" spc="8">
                <a:solidFill>
                  <a:srgbClr val="8C6239"/>
                </a:solidFill>
                <a:latin typeface="Quicksand"/>
                <a:hlinkClick r:id="rId9">
                  <a:extLst>
                    <a:ext uri="{A12FA001-AC4F-418D-AE19-62706E023703}">
                      <ahyp:hlinkClr xmlns:ahyp="http://schemas.microsoft.com/office/drawing/2018/hyperlinkcolor" val="tx"/>
                    </a:ext>
                  </a:extLst>
                </a:hlinkClick>
              </a:rPr>
              <a:t>FBI</a:t>
            </a:r>
            <a:r>
              <a:rPr sz="890" b="0" i="0" spc="8">
                <a:solidFill>
                  <a:srgbClr val="333231"/>
                </a:solidFill>
                <a:latin typeface="Quicksand"/>
              </a:rPr>
              <a:t>; </a:t>
            </a:r>
            <a:r>
              <a:rPr sz="890" b="0" i="0" u="sng" spc="8">
                <a:solidFill>
                  <a:srgbClr val="8C6239"/>
                </a:solidFill>
                <a:latin typeface="Quicksand"/>
                <a:hlinkClick r:id="rId10">
                  <a:extLst>
                    <a:ext uri="{A12FA001-AC4F-418D-AE19-62706E023703}">
                      <ahyp:hlinkClr xmlns:ahyp="http://schemas.microsoft.com/office/drawing/2018/hyperlinkcolor" val="tx"/>
                    </a:ext>
                  </a:extLst>
                </a:hlinkClick>
              </a:rPr>
              <a:t>Department of War CIO</a:t>
            </a:r>
            <a:r>
              <a:rPr sz="890" b="0" i="0" spc="8">
                <a:solidFill>
                  <a:srgbClr val="333231"/>
                </a:solidFill>
                <a:latin typeface="Quicksand"/>
              </a:rPr>
              <a:t>; </a:t>
            </a:r>
            <a:r>
              <a:rPr sz="890" b="0" i="0" u="sng" spc="8">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90" b="0" i="0" spc="8">
                <a:solidFill>
                  <a:srgbClr val="333231"/>
                </a:solidFill>
                <a:latin typeface="Quicksand"/>
              </a:rPr>
              <a:t>; </a:t>
            </a:r>
            <a:r>
              <a:rPr sz="890" b="0" i="0" u="sng" spc="8">
                <a:solidFill>
                  <a:srgbClr val="8C6239"/>
                </a:solidFill>
                <a:latin typeface="Quicksand"/>
                <a:hlinkClick r:id="rId12">
                  <a:extLst>
                    <a:ext uri="{A12FA001-AC4F-418D-AE19-62706E023703}">
                      <ahyp:hlinkClr xmlns:ahyp="http://schemas.microsoft.com/office/drawing/2018/hyperlinkcolor" val="tx"/>
                    </a:ext>
                  </a:extLst>
                </a:hlinkClick>
              </a:rPr>
              <a:t>Wiley Rein</a:t>
            </a:r>
            <a:r>
              <a:rPr sz="890" b="0" i="0" spc="8">
                <a:solidFill>
                  <a:srgbClr val="333231"/>
                </a:solidFill>
                <a:latin typeface="Quicksand"/>
              </a:rPr>
              <a:t>; </a:t>
            </a:r>
            <a:r>
              <a:rPr sz="890" b="0" i="0" u="sng" spc="8">
                <a:solidFill>
                  <a:srgbClr val="8C6239"/>
                </a:solidFill>
                <a:latin typeface="Quicksand"/>
                <a:hlinkClick r:id="rId13">
                  <a:extLst>
                    <a:ext uri="{A12FA001-AC4F-418D-AE19-62706E023703}">
                      <ahyp:hlinkClr xmlns:ahyp="http://schemas.microsoft.com/office/drawing/2018/hyperlinkcolor" val="tx"/>
                    </a:ext>
                  </a:extLst>
                </a:hlinkClick>
              </a:rPr>
              <a:t>FedScoop</a:t>
            </a:r>
            <a:r>
              <a:rPr sz="890" b="0" i="0" spc="8">
                <a:solidFill>
                  <a:srgbClr val="333231"/>
                </a:solidFill>
                <a:latin typeface="Quicksand"/>
              </a:rPr>
              <a:t>; </a:t>
            </a:r>
            <a:r>
              <a:rPr sz="890" b="0" i="0" u="sng" spc="8">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90" b="0" i="0" spc="8">
                <a:solidFill>
                  <a:srgbClr val="333231"/>
                </a:solidFill>
                <a:latin typeface="Quicksand"/>
              </a:rPr>
              <a:t>; </a:t>
            </a:r>
            <a:r>
              <a:rPr sz="890" b="0" i="0" u="sng" spc="8">
                <a:solidFill>
                  <a:srgbClr val="8C6239"/>
                </a:solidFill>
                <a:latin typeface="Quicksand"/>
                <a:hlinkClick r:id="rId15"/>
              </a:rPr>
              <a:t>IBBA and M&amp;A Source</a:t>
            </a:r>
            <a:r>
              <a:rPr sz="890" b="0" i="0" spc="8">
                <a:solidFill>
                  <a:srgbClr val="333231"/>
                </a:solidFill>
                <a:latin typeface="Quicksand"/>
              </a:rPr>
              <a:t>; </a:t>
            </a:r>
            <a:r>
              <a:rPr sz="890" b="0" i="0" u="sng" spc="8">
                <a:solidFill>
                  <a:srgbClr val="8C6239"/>
                </a:solidFill>
                <a:latin typeface="Quicksand"/>
                <a:hlinkClick r:id="rId16"/>
              </a:rPr>
              <a:t>American Bar Association</a:t>
            </a:r>
            <a:r>
              <a:rPr sz="890" b="0" i="0" spc="8">
                <a:solidFill>
                  <a:srgbClr val="333231"/>
                </a:solidFill>
                <a:latin typeface="Quicksand"/>
              </a:rPr>
              <a:t>; </a:t>
            </a:r>
            <a:r>
              <a:rPr sz="890" b="0" i="0" u="sng" spc="8">
                <a:solidFill>
                  <a:srgbClr val="8C6239"/>
                </a:solidFill>
                <a:latin typeface="Quicksand"/>
                <a:hlinkClick r:id="rId17"/>
              </a:rPr>
              <a:t>Troutman Pepper Locke</a:t>
            </a:r>
            <a:r>
              <a:rPr sz="890" b="0" i="0" spc="8">
                <a:solidFill>
                  <a:srgbClr val="333231"/>
                </a:solidFill>
                <a:latin typeface="Quicksand"/>
              </a:rPr>
              <a:t>; </a:t>
            </a:r>
            <a:r>
              <a:rPr sz="890" b="0" i="0" u="sng" spc="8">
                <a:solidFill>
                  <a:srgbClr val="8C6239"/>
                </a:solidFill>
                <a:latin typeface="Quicksand"/>
                <a:hlinkClick r:id="rId18"/>
              </a:rPr>
              <a:t>White &amp; Case</a:t>
            </a:r>
            <a:r>
              <a:rPr sz="890" b="0" i="0" spc="8">
                <a:solidFill>
                  <a:srgbClr val="333231"/>
                </a:solidFill>
                <a:latin typeface="Quicksand"/>
              </a:rPr>
              <a:t>; </a:t>
            </a:r>
            <a:r>
              <a:rPr sz="890" b="0" i="0" u="sng" spc="8">
                <a:solidFill>
                  <a:srgbClr val="8C6239"/>
                </a:solidFill>
                <a:latin typeface="Quicksand"/>
                <a:hlinkClick r:id="rId19"/>
              </a:rPr>
              <a:t>Cushman &amp; Wakefield via CRE Daily</a:t>
            </a:r>
            <a:r>
              <a:rPr sz="890" b="0" i="0" spc="8">
                <a:solidFill>
                  <a:srgbClr val="333231"/>
                </a:solidFill>
                <a:latin typeface="Quicksand"/>
              </a:rPr>
              <a:t>; </a:t>
            </a:r>
            <a:r>
              <a:rPr sz="890" b="0" i="0" u="sng" spc="8">
                <a:solidFill>
                  <a:srgbClr val="8C6239"/>
                </a:solidFill>
                <a:latin typeface="Quicksand"/>
                <a:hlinkClick r:id="rId20"/>
              </a:rPr>
              <a:t>Central Banking</a:t>
            </a:r>
            <a:r>
              <a:rPr sz="890" b="0" i="0" spc="8">
                <a:solidFill>
                  <a:srgbClr val="333231"/>
                </a:solidFill>
                <a:latin typeface="Quicksand"/>
              </a:rPr>
              <a:t>; </a:t>
            </a:r>
            <a:r>
              <a:rPr sz="890" b="0" i="0" u="sng" spc="8">
                <a:solidFill>
                  <a:srgbClr val="8C6239"/>
                </a:solidFill>
                <a:latin typeface="Quicksand"/>
                <a:hlinkClick r:id="rId21"/>
              </a:rPr>
              <a:t>SRS Acquiom via Fasken</a:t>
            </a:r>
          </a:p>
          <a:p>
            <a:pPr algn="l">
              <a:lnSpc>
                <a:spcPts val="1139"/>
              </a:lnSpc>
              <a:spcBef>
                <a:spcPts val="0"/>
              </a:spcBef>
              <a:spcAft>
                <a:spcPts val="263"/>
              </a:spcAft>
            </a:pPr>
            <a:r>
              <a:rPr sz="745" b="1" i="0" spc="135">
                <a:solidFill>
                  <a:srgbClr val="1B1A1A"/>
                </a:solidFill>
                <a:latin typeface="Quicksand"/>
              </a:rPr>
              <a:t>WHAT WE'RE READING</a:t>
            </a:r>
          </a:p>
          <a:p>
            <a:pPr algn="l">
              <a:lnSpc>
                <a:spcPts val="1375"/>
              </a:lnSpc>
              <a:spcBef>
                <a:spcPts val="0"/>
              </a:spcBef>
              <a:spcAft>
                <a:spcPts val="1214"/>
              </a:spcAft>
            </a:pPr>
            <a:r>
              <a:rPr sz="890" b="0" i="0" u="sng" spc="8">
                <a:solidFill>
                  <a:srgbClr val="8C6239"/>
                </a:solidFill>
                <a:latin typeface="Quicksand"/>
                <a:hlinkClick r:id="rId2">
                  <a:extLst>
                    <a:ext uri="{A12FA001-AC4F-418D-AE19-62706E023703}">
                      <ahyp:hlinkClr xmlns:ahyp="http://schemas.microsoft.com/office/drawing/2018/hyperlinkcolor" val="tx"/>
                    </a:ext>
                  </a:extLst>
                </a:hlinkClick>
              </a:rPr>
              <a:t>Gartner</a:t>
            </a:r>
            <a:r>
              <a:rPr sz="890" b="0" i="0" spc="8">
                <a:solidFill>
                  <a:srgbClr val="333231"/>
                </a:solidFill>
                <a:latin typeface="Quicksand"/>
              </a:rPr>
              <a:t>; </a:t>
            </a:r>
            <a:r>
              <a:rPr sz="890" b="0" i="0" u="sng" spc="8">
                <a:solidFill>
                  <a:srgbClr val="8C6239"/>
                </a:solidFill>
                <a:latin typeface="Quicksand"/>
                <a:hlinkClick r:id="rId22">
                  <a:extLst>
                    <a:ext uri="{A12FA001-AC4F-418D-AE19-62706E023703}">
                      <ahyp:hlinkClr xmlns:ahyp="http://schemas.microsoft.com/office/drawing/2018/hyperlinkcolor" val="tx"/>
                    </a:ext>
                  </a:extLst>
                </a:hlinkClick>
              </a:rPr>
              <a:t>Channel Dive</a:t>
            </a:r>
            <a:r>
              <a:rPr sz="890" b="0" i="0" spc="8">
                <a:solidFill>
                  <a:srgbClr val="333231"/>
                </a:solidFill>
                <a:latin typeface="Quicksand"/>
              </a:rPr>
              <a:t>; </a:t>
            </a:r>
            <a:r>
              <a:rPr sz="890" b="0" i="0" u="sng" spc="8">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90" b="0" i="0" spc="8">
                <a:solidFill>
                  <a:srgbClr val="333231"/>
                </a:solidFill>
                <a:latin typeface="Quicksand"/>
              </a:rPr>
              <a:t>; </a:t>
            </a:r>
            <a:r>
              <a:rPr sz="890" b="0" i="0" u="sng" spc="8">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90" b="0" i="0" spc="8">
                <a:solidFill>
                  <a:srgbClr val="333231"/>
                </a:solidFill>
                <a:latin typeface="Quicksand"/>
              </a:rPr>
              <a:t>; </a:t>
            </a:r>
            <a:r>
              <a:rPr sz="890" b="0" i="0" u="sng" spc="8">
                <a:solidFill>
                  <a:srgbClr val="8C6239"/>
                </a:solidFill>
                <a:latin typeface="Quicksand"/>
                <a:hlinkClick r:id="rId23">
                  <a:extLst>
                    <a:ext uri="{A12FA001-AC4F-418D-AE19-62706E023703}">
                      <ahyp:hlinkClr xmlns:ahyp="http://schemas.microsoft.com/office/drawing/2018/hyperlinkcolor" val="tx"/>
                    </a:ext>
                  </a:extLst>
                </a:hlinkClick>
              </a:rPr>
              <a:t>McGuireWoods analysis</a:t>
            </a:r>
          </a:p>
          <a:p>
            <a:pPr algn="l">
              <a:lnSpc>
                <a:spcPts val="1139"/>
              </a:lnSpc>
              <a:spcBef>
                <a:spcPts val="0"/>
              </a:spcBef>
              <a:spcAft>
                <a:spcPts val="263"/>
              </a:spcAft>
            </a:pPr>
            <a:r>
              <a:rPr sz="745" b="1" i="0" spc="135">
                <a:solidFill>
                  <a:srgbClr val="1B1A1A"/>
                </a:solidFill>
                <a:latin typeface="Quicksand"/>
              </a:rPr>
              <a:t>OUR VIEW</a:t>
            </a:r>
          </a:p>
          <a:p>
            <a:pPr algn="l">
              <a:lnSpc>
                <a:spcPts val="1375"/>
              </a:lnSpc>
              <a:spcBef>
                <a:spcPts val="0"/>
              </a:spcBef>
              <a:spcAft>
                <a:spcPts val="1214"/>
              </a:spcAft>
            </a:pPr>
            <a:r>
              <a:rPr sz="890" b="0" i="0" spc="8">
                <a:solidFill>
                  <a:srgbClr val="8C6239"/>
                </a:solidFill>
                <a:latin typeface="Quicksand"/>
              </a:rPr>
              <a:t>GF Data via ACG; IBBA and M&amp;A Source; figures drawn from pages 5 to 24 of this report</a:t>
            </a:r>
          </a:p>
        </p:txBody>
      </p:sp>
      <p:sp>
        <p:nvSpPr>
          <p:cNvPr id="8" name="TextBox 9"/>
          <p:cNvSpPr txBox="1"/>
          <p:nvPr/>
        </p:nvSpPr>
        <p:spPr>
          <a:xfrm>
            <a:off x="27813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RECENT TRANSACTIONS</a:t>
            </a:r>
          </a:p>
          <a:p>
            <a:pPr algn="l">
              <a:lnSpc>
                <a:spcPts val="1375"/>
              </a:lnSpc>
              <a:spcBef>
                <a:spcPts val="0"/>
              </a:spcBef>
              <a:spcAft>
                <a:spcPts val="1214"/>
              </a:spcAft>
            </a:pPr>
            <a:r>
              <a:rPr sz="890" b="0" i="0" u="sng" spc="8">
                <a:solidFill>
                  <a:srgbClr val="8C6239"/>
                </a:solidFill>
                <a:latin typeface="Quicksand"/>
                <a:hlinkClick r:id="rId24"/>
              </a:rPr>
              <a:t>Cognizant</a:t>
            </a:r>
            <a:r>
              <a:rPr sz="890" b="0" i="0" spc="8">
                <a:solidFill>
                  <a:srgbClr val="333231"/>
                </a:solidFill>
                <a:latin typeface="Quicksand"/>
              </a:rPr>
              <a:t>; </a:t>
            </a:r>
            <a:r>
              <a:rPr sz="890" b="0" i="0" u="sng" spc="8">
                <a:solidFill>
                  <a:srgbClr val="8C6239"/>
                </a:solidFill>
                <a:latin typeface="Quicksand"/>
                <a:hlinkClick r:id="rId25"/>
              </a:rPr>
              <a:t>Reuters</a:t>
            </a:r>
            <a:r>
              <a:rPr sz="890" b="0" i="0" spc="8">
                <a:solidFill>
                  <a:srgbClr val="333231"/>
                </a:solidFill>
                <a:latin typeface="Quicksand"/>
              </a:rPr>
              <a:t>; </a:t>
            </a:r>
            <a:r>
              <a:rPr sz="890" b="0" i="0" u="sng" spc="8">
                <a:solidFill>
                  <a:srgbClr val="8C6239"/>
                </a:solidFill>
                <a:latin typeface="Quicksand"/>
                <a:hlinkClick r:id="rId26"/>
              </a:rPr>
              <a:t>H.I.G. Capital</a:t>
            </a:r>
            <a:r>
              <a:rPr sz="890" b="0" i="0" spc="8">
                <a:solidFill>
                  <a:srgbClr val="333231"/>
                </a:solidFill>
                <a:latin typeface="Quicksand"/>
              </a:rPr>
              <a:t>; </a:t>
            </a:r>
            <a:r>
              <a:rPr sz="890" b="0" i="0" u="sng" spc="8">
                <a:solidFill>
                  <a:srgbClr val="8C6239"/>
                </a:solidFill>
                <a:latin typeface="Quicksand"/>
                <a:hlinkClick r:id="rId27"/>
              </a:rPr>
              <a:t>Channel Dive</a:t>
            </a:r>
            <a:r>
              <a:rPr sz="890" b="0" i="0" spc="8">
                <a:solidFill>
                  <a:srgbClr val="333231"/>
                </a:solidFill>
                <a:latin typeface="Quicksand"/>
              </a:rPr>
              <a:t>; </a:t>
            </a:r>
            <a:r>
              <a:rPr sz="890" b="0" i="0" u="sng" spc="8">
                <a:solidFill>
                  <a:srgbClr val="8C6239"/>
                </a:solidFill>
                <a:latin typeface="Quicksand"/>
                <a:hlinkClick r:id="rId28"/>
              </a:rPr>
              <a:t>SecurityWeek</a:t>
            </a:r>
            <a:r>
              <a:rPr sz="890" b="0" i="0" spc="8">
                <a:solidFill>
                  <a:srgbClr val="333231"/>
                </a:solidFill>
                <a:latin typeface="Quicksand"/>
              </a:rPr>
              <a:t>; </a:t>
            </a:r>
            <a:r>
              <a:rPr sz="890" b="0" i="0" u="sng" spc="8">
                <a:solidFill>
                  <a:srgbClr val="8C6239"/>
                </a:solidFill>
                <a:latin typeface="Quicksand"/>
                <a:hlinkClick r:id="rId29"/>
              </a:rPr>
              <a:t>Constellation Research</a:t>
            </a:r>
            <a:r>
              <a:rPr sz="890" b="0" i="0" spc="8">
                <a:solidFill>
                  <a:srgbClr val="333231"/>
                </a:solidFill>
                <a:latin typeface="Quicksand"/>
              </a:rPr>
              <a:t>; </a:t>
            </a:r>
            <a:r>
              <a:rPr sz="890" b="0" i="0" u="sng" spc="8">
                <a:solidFill>
                  <a:srgbClr val="8C6239"/>
                </a:solidFill>
                <a:latin typeface="Quicksand"/>
                <a:hlinkClick r:id="rId30"/>
              </a:rPr>
              <a:t>Proofpoint</a:t>
            </a:r>
            <a:r>
              <a:rPr sz="890" b="0" i="0" spc="8">
                <a:solidFill>
                  <a:srgbClr val="333231"/>
                </a:solidFill>
                <a:latin typeface="Quicksand"/>
              </a:rPr>
              <a:t>; </a:t>
            </a:r>
            <a:r>
              <a:rPr sz="890" b="0" i="0" u="sng" spc="8">
                <a:solidFill>
                  <a:srgbClr val="8C6239"/>
                </a:solidFill>
                <a:latin typeface="Quicksand"/>
                <a:hlinkClick r:id="rId31"/>
              </a:rPr>
              <a:t>TDS Telecom</a:t>
            </a:r>
            <a:r>
              <a:rPr sz="890" b="0" i="0" spc="8">
                <a:solidFill>
                  <a:srgbClr val="333231"/>
                </a:solidFill>
                <a:latin typeface="Quicksand"/>
              </a:rPr>
              <a:t>; </a:t>
            </a:r>
            <a:r>
              <a:rPr sz="890" b="0" i="0" u="sng" spc="8">
                <a:solidFill>
                  <a:srgbClr val="8C6239"/>
                </a:solidFill>
                <a:latin typeface="Quicksand"/>
                <a:hlinkClick r:id="rId32"/>
              </a:rPr>
              <a:t>Light Reading</a:t>
            </a:r>
            <a:r>
              <a:rPr sz="890" b="0" i="0" spc="8">
                <a:solidFill>
                  <a:srgbClr val="333231"/>
                </a:solidFill>
                <a:latin typeface="Quicksand"/>
              </a:rPr>
              <a:t>; </a:t>
            </a:r>
            <a:r>
              <a:rPr sz="890" b="0" i="0" u="sng" spc="8">
                <a:solidFill>
                  <a:srgbClr val="8C6239"/>
                </a:solidFill>
                <a:latin typeface="Quicksand"/>
                <a:hlinkClick r:id="rId33"/>
              </a:rPr>
              <a:t>Business Wire</a:t>
            </a:r>
            <a:r>
              <a:rPr sz="890" b="0" i="0" spc="8">
                <a:solidFill>
                  <a:srgbClr val="333231"/>
                </a:solidFill>
                <a:latin typeface="Quicksand"/>
              </a:rPr>
              <a:t>; </a:t>
            </a:r>
            <a:r>
              <a:rPr sz="890" b="0" i="0" u="sng" spc="8">
                <a:solidFill>
                  <a:srgbClr val="8C6239"/>
                </a:solidFill>
                <a:latin typeface="Quicksand"/>
                <a:hlinkClick r:id="rId34"/>
              </a:rPr>
              <a:t>SecurityInfoWatch</a:t>
            </a:r>
            <a:r>
              <a:rPr sz="890" b="0" i="0" spc="8">
                <a:solidFill>
                  <a:srgbClr val="333231"/>
                </a:solidFill>
                <a:latin typeface="Quicksand"/>
              </a:rPr>
              <a:t>; </a:t>
            </a:r>
            <a:r>
              <a:rPr sz="890" b="0" i="0" u="sng" spc="8">
                <a:solidFill>
                  <a:srgbClr val="8C6239"/>
                </a:solidFill>
                <a:latin typeface="Quicksand"/>
                <a:hlinkClick r:id="rId35"/>
              </a:rPr>
              <a:t>Angel One</a:t>
            </a:r>
            <a:r>
              <a:rPr sz="890" b="0" i="0" spc="8">
                <a:solidFill>
                  <a:srgbClr val="333231"/>
                </a:solidFill>
                <a:latin typeface="Quicksand"/>
              </a:rPr>
              <a:t>; </a:t>
            </a:r>
            <a:r>
              <a:rPr sz="890" b="0" i="0" u="sng" spc="8">
                <a:solidFill>
                  <a:srgbClr val="8C6239"/>
                </a:solidFill>
                <a:latin typeface="Quicksand"/>
                <a:hlinkClick r:id="rId36"/>
              </a:rPr>
              <a:t>EY</a:t>
            </a:r>
            <a:r>
              <a:rPr sz="890" b="0" i="0" spc="8">
                <a:solidFill>
                  <a:srgbClr val="333231"/>
                </a:solidFill>
                <a:latin typeface="Quicksand"/>
              </a:rPr>
              <a:t>; </a:t>
            </a:r>
            <a:r>
              <a:rPr sz="890" b="0" i="0" u="sng" spc="8">
                <a:solidFill>
                  <a:srgbClr val="8C6239"/>
                </a:solidFill>
                <a:latin typeface="Quicksand"/>
                <a:hlinkClick r:id="rId37"/>
              </a:rPr>
              <a:t>Motorola Solutions</a:t>
            </a:r>
            <a:r>
              <a:rPr sz="890" b="0" i="0" spc="8">
                <a:solidFill>
                  <a:srgbClr val="333231"/>
                </a:solidFill>
                <a:latin typeface="Quicksand"/>
              </a:rPr>
              <a:t>; </a:t>
            </a:r>
            <a:r>
              <a:rPr sz="890" b="0" i="0" u="sng" spc="8">
                <a:solidFill>
                  <a:srgbClr val="8C6239"/>
                </a:solidFill>
                <a:latin typeface="Quicksand"/>
                <a:hlinkClick r:id="rId38"/>
              </a:rPr>
              <a:t>TTM Technologies</a:t>
            </a:r>
            <a:r>
              <a:rPr sz="890" b="0" i="0" spc="8">
                <a:solidFill>
                  <a:srgbClr val="333231"/>
                </a:solidFill>
                <a:latin typeface="Quicksand"/>
              </a:rPr>
              <a:t>; </a:t>
            </a:r>
            <a:r>
              <a:rPr sz="890" b="0" i="0" u="sng" spc="8">
                <a:solidFill>
                  <a:srgbClr val="8C6239"/>
                </a:solidFill>
                <a:latin typeface="Quicksand"/>
                <a:hlinkClick r:id="rId39"/>
              </a:rPr>
              <a:t>MKS</a:t>
            </a:r>
            <a:r>
              <a:rPr sz="890" b="0" i="0" spc="8">
                <a:solidFill>
                  <a:srgbClr val="333231"/>
                </a:solidFill>
                <a:latin typeface="Quicksand"/>
              </a:rPr>
              <a:t>; </a:t>
            </a:r>
            <a:r>
              <a:rPr sz="890" b="0" i="0" u="sng" spc="8">
                <a:solidFill>
                  <a:srgbClr val="8C6239"/>
                </a:solidFill>
                <a:latin typeface="Quicksand"/>
                <a:hlinkClick r:id="rId40"/>
              </a:rPr>
              <a:t>Booz Allen</a:t>
            </a:r>
            <a:r>
              <a:rPr sz="890" b="0" i="0" spc="8">
                <a:solidFill>
                  <a:srgbClr val="333231"/>
                </a:solidFill>
                <a:latin typeface="Quicksand"/>
              </a:rPr>
              <a:t>; </a:t>
            </a:r>
            <a:r>
              <a:rPr sz="890" b="0" i="0" u="sng" spc="8">
                <a:solidFill>
                  <a:srgbClr val="8C6239"/>
                </a:solidFill>
                <a:latin typeface="Quicksand"/>
                <a:hlinkClick r:id="rId41"/>
              </a:rPr>
              <a:t>Washington Exec</a:t>
            </a:r>
            <a:r>
              <a:rPr sz="890" b="0" i="0" spc="8">
                <a:solidFill>
                  <a:srgbClr val="333231"/>
                </a:solidFill>
                <a:latin typeface="Quicksand"/>
              </a:rPr>
              <a:t>; </a:t>
            </a:r>
            <a:r>
              <a:rPr sz="890" b="0" i="0" u="sng" spc="8">
                <a:solidFill>
                  <a:srgbClr val="8C6239"/>
                </a:solidFill>
                <a:latin typeface="Quicksand"/>
                <a:hlinkClick r:id="rId42"/>
              </a:rPr>
              <a:t>Leonardo DRS</a:t>
            </a:r>
            <a:r>
              <a:rPr sz="890" b="0" i="0" spc="8">
                <a:solidFill>
                  <a:srgbClr val="333231"/>
                </a:solidFill>
                <a:latin typeface="Quicksand"/>
              </a:rPr>
              <a:t>; </a:t>
            </a:r>
            <a:r>
              <a:rPr sz="890" b="0" i="0" u="sng" spc="8">
                <a:solidFill>
                  <a:srgbClr val="8C6239"/>
                </a:solidFill>
                <a:latin typeface="Quicksand"/>
                <a:hlinkClick r:id="rId43"/>
              </a:rPr>
              <a:t>GovCon Wire</a:t>
            </a:r>
          </a:p>
          <a:p>
            <a:pPr algn="l">
              <a:lnSpc>
                <a:spcPts val="1139"/>
              </a:lnSpc>
              <a:spcBef>
                <a:spcPts val="0"/>
              </a:spcBef>
              <a:spcAft>
                <a:spcPts val="263"/>
              </a:spcAft>
            </a:pPr>
            <a:r>
              <a:rPr sz="745" b="1" i="0" spc="135">
                <a:solidFill>
                  <a:srgbClr val="1B1A1A"/>
                </a:solidFill>
                <a:latin typeface="Quicksand"/>
              </a:rPr>
              <a:t>BENCHMARK INTERNATIONAL TRANSACTIONS</a:t>
            </a:r>
          </a:p>
          <a:p>
            <a:pPr algn="l">
              <a:lnSpc>
                <a:spcPts val="1375"/>
              </a:lnSpc>
              <a:spcBef>
                <a:spcPts val="0"/>
              </a:spcBef>
              <a:spcAft>
                <a:spcPts val="1214"/>
              </a:spcAft>
            </a:pPr>
            <a:r>
              <a:rPr sz="890" b="0" i="0" u="sng" spc="8">
                <a:solidFill>
                  <a:srgbClr val="8C6239"/>
                </a:solidFill>
                <a:latin typeface="Quicksand"/>
                <a:hlinkClick r:id="rId44">
                  <a:extLst>
                    <a:ext uri="{A12FA001-AC4F-418D-AE19-62706E023703}">
                      <ahyp:hlinkClr xmlns:ahyp="http://schemas.microsoft.com/office/drawing/2018/hyperlinkcolor" val="tx"/>
                    </a:ext>
                  </a:extLst>
                </a:hlinkClick>
              </a:rPr>
              <a:t>Benchmark International; buyer ownership from each buyer’s own materials</a:t>
            </a:r>
          </a:p>
          <a:p>
            <a:pPr algn="l">
              <a:lnSpc>
                <a:spcPts val="1139"/>
              </a:lnSpc>
              <a:spcBef>
                <a:spcPts val="0"/>
              </a:spcBef>
              <a:spcAft>
                <a:spcPts val="263"/>
              </a:spcAft>
            </a:pPr>
            <a:r>
              <a:rPr sz="745" b="1" i="0" spc="135">
                <a:solidFill>
                  <a:srgbClr val="1B1A1A"/>
                </a:solidFill>
                <a:latin typeface="Quicksand"/>
              </a:rPr>
              <a:t>PUBLIC COMPANIES: VALUATION</a:t>
            </a:r>
          </a:p>
          <a:p>
            <a:pPr algn="l">
              <a:lnSpc>
                <a:spcPts val="1375"/>
              </a:lnSpc>
              <a:spcBef>
                <a:spcPts val="0"/>
              </a:spcBef>
              <a:spcAft>
                <a:spcPts val="1214"/>
              </a:spcAft>
            </a:pPr>
            <a:r>
              <a:rPr sz="890" b="0" i="0" u="sng" spc="8">
                <a:solidFill>
                  <a:srgbClr val="8C6239"/>
                </a:solidFill>
                <a:latin typeface="Quicksand"/>
                <a:hlinkClick r:id="rId45">
                  <a:extLst>
                    <a:ext uri="{A12FA001-AC4F-418D-AE19-62706E023703}">
                      <ahyp:hlinkClr xmlns:ahyp="http://schemas.microsoft.com/office/drawing/2018/hyperlinkcolor" val="tx"/>
                    </a:ext>
                  </a:extLst>
                </a:hlinkClick>
              </a:rPr>
              <a:t>PitchBook</a:t>
            </a:r>
            <a:r>
              <a:rPr sz="890" b="0" i="0" spc="8">
                <a:solidFill>
                  <a:srgbClr val="333231"/>
                </a:solidFill>
                <a:latin typeface="Quicksand"/>
              </a:rPr>
              <a:t>; </a:t>
            </a:r>
            <a:r>
              <a:rPr sz="890" b="0" i="0" u="sng" spc="8">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90" b="0" i="0" spc="8">
                <a:solidFill>
                  <a:srgbClr val="333231"/>
                </a:solidFill>
                <a:latin typeface="Quicksand"/>
              </a:rPr>
              <a:t>; </a:t>
            </a:r>
            <a:r>
              <a:rPr sz="890" b="0" i="0" u="sng" spc="8">
                <a:solidFill>
                  <a:srgbClr val="8C6239"/>
                </a:solidFill>
                <a:latin typeface="Quicksand"/>
                <a:hlinkClick r:id="rId46">
                  <a:extLst>
                    <a:ext uri="{A12FA001-AC4F-418D-AE19-62706E023703}">
                      <ahyp:hlinkClr xmlns:ahyp="http://schemas.microsoft.com/office/drawing/2018/hyperlinkcolor" val="tx"/>
                    </a:ext>
                  </a:extLst>
                </a:hlinkClick>
              </a:rPr>
              <a:t>IBBA and M&amp;A Source</a:t>
            </a:r>
            <a:r>
              <a:rPr sz="890" b="0" i="0" spc="8">
                <a:solidFill>
                  <a:srgbClr val="333231"/>
                </a:solidFill>
                <a:latin typeface="Quicksand"/>
              </a:rPr>
              <a:t>; </a:t>
            </a:r>
            <a:r>
              <a:rPr sz="890" b="0" i="0" u="sng" spc="8">
                <a:solidFill>
                  <a:srgbClr val="8C6239"/>
                </a:solidFill>
                <a:latin typeface="Quicksand"/>
                <a:hlinkClick r:id="rId47">
                  <a:extLst>
                    <a:ext uri="{A12FA001-AC4F-418D-AE19-62706E023703}">
                      <ahyp:hlinkClr xmlns:ahyp="http://schemas.microsoft.com/office/drawing/2018/hyperlinkcolor" val="tx"/>
                    </a:ext>
                  </a:extLst>
                </a:hlinkClick>
              </a:rPr>
              <a:t>StockAnalysis</a:t>
            </a:r>
            <a:r>
              <a:rPr sz="890" b="0" i="0" spc="8">
                <a:solidFill>
                  <a:srgbClr val="333231"/>
                </a:solidFill>
                <a:latin typeface="Quicksand"/>
              </a:rPr>
              <a:t>; </a:t>
            </a:r>
            <a:r>
              <a:rPr sz="890" b="0" i="0" u="sng" spc="8">
                <a:solidFill>
                  <a:srgbClr val="8C6239"/>
                </a:solidFill>
                <a:latin typeface="Quicksand"/>
                <a:hlinkClick r:id="rId48"/>
              </a:rPr>
              <a:t>Mercer Capital</a:t>
            </a:r>
            <a:r>
              <a:rPr sz="890" b="0" i="0" spc="8">
                <a:solidFill>
                  <a:srgbClr val="333231"/>
                </a:solidFill>
                <a:latin typeface="Quicksand"/>
              </a:rPr>
              <a:t>; </a:t>
            </a:r>
            <a:r>
              <a:rPr sz="890" b="0" i="0" u="sng" spc="8">
                <a:solidFill>
                  <a:srgbClr val="8C6239"/>
                </a:solidFill>
                <a:latin typeface="Quicksand"/>
                <a:hlinkClick r:id="rId38"/>
              </a:rPr>
              <a:t>TTM Technologies</a:t>
            </a:r>
            <a:r>
              <a:rPr sz="890" b="0" i="0" spc="8">
                <a:solidFill>
                  <a:srgbClr val="333231"/>
                </a:solidFill>
                <a:latin typeface="Quicksand"/>
              </a:rPr>
              <a:t>; </a:t>
            </a:r>
            <a:r>
              <a:rPr sz="890" b="0" i="0" u="sng" spc="8">
                <a:solidFill>
                  <a:srgbClr val="8C6239"/>
                </a:solidFill>
                <a:latin typeface="Quicksand"/>
                <a:hlinkClick r:id="rId35"/>
              </a:rPr>
              <a:t>Angel One</a:t>
            </a:r>
          </a:p>
          <a:p>
            <a:pPr algn="l">
              <a:lnSpc>
                <a:spcPts val="1139"/>
              </a:lnSpc>
              <a:spcBef>
                <a:spcPts val="0"/>
              </a:spcBef>
              <a:spcAft>
                <a:spcPts val="263"/>
              </a:spcAft>
            </a:pPr>
            <a:r>
              <a:rPr sz="745" b="1" i="0" spc="135">
                <a:solidFill>
                  <a:srgbClr val="1B1A1A"/>
                </a:solidFill>
                <a:latin typeface="Quicksand"/>
              </a:rPr>
              <a:t>PUBLIC COMPANIES: OPERATING METRICS</a:t>
            </a:r>
          </a:p>
          <a:p>
            <a:pPr algn="l">
              <a:lnSpc>
                <a:spcPts val="1375"/>
              </a:lnSpc>
              <a:spcBef>
                <a:spcPts val="0"/>
              </a:spcBef>
              <a:spcAft>
                <a:spcPts val="1214"/>
              </a:spcAft>
            </a:pPr>
            <a:r>
              <a:rPr sz="890" b="0" i="0" u="sng" spc="8">
                <a:solidFill>
                  <a:srgbClr val="8C6239"/>
                </a:solidFill>
                <a:latin typeface="Quicksand"/>
                <a:hlinkClick r:id="rId47">
                  <a:extLst>
                    <a:ext uri="{A12FA001-AC4F-418D-AE19-62706E023703}">
                      <ahyp:hlinkClr xmlns:ahyp="http://schemas.microsoft.com/office/drawing/2018/hyperlinkcolor" val="tx"/>
                    </a:ext>
                  </a:extLst>
                </a:hlinkClick>
              </a:rPr>
              <a:t>StockAnalysis</a:t>
            </a:r>
          </a:p>
        </p:txBody>
      </p:sp>
      <p:sp>
        <p:nvSpPr>
          <p:cNvPr id="9" name="TextBox 10"/>
          <p:cNvSpPr txBox="1"/>
          <p:nvPr/>
        </p:nvSpPr>
        <p:spPr>
          <a:xfrm>
            <a:off x="51435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EARNINGS AND COMMENTARY</a:t>
            </a:r>
          </a:p>
          <a:p>
            <a:pPr algn="l">
              <a:lnSpc>
                <a:spcPts val="1375"/>
              </a:lnSpc>
              <a:spcBef>
                <a:spcPts val="0"/>
              </a:spcBef>
              <a:spcAft>
                <a:spcPts val="1214"/>
              </a:spcAft>
            </a:pPr>
            <a:r>
              <a:rPr sz="890" b="0" i="0" u="sng" spc="8">
                <a:solidFill>
                  <a:srgbClr val="8C6239"/>
                </a:solidFill>
                <a:latin typeface="Quicksand"/>
                <a:hlinkClick r:id="rId49">
                  <a:extLst>
                    <a:ext uri="{A12FA001-AC4F-418D-AE19-62706E023703}">
                      <ahyp:hlinkClr xmlns:ahyp="http://schemas.microsoft.com/office/drawing/2018/hyperlinkcolor" val="tx"/>
                    </a:ext>
                  </a:extLst>
                </a:hlinkClick>
              </a:rPr>
              <a:t>Celestica</a:t>
            </a:r>
            <a:r>
              <a:rPr sz="890" b="0" i="0" spc="8">
                <a:solidFill>
                  <a:srgbClr val="333231"/>
                </a:solidFill>
                <a:latin typeface="Quicksand"/>
              </a:rPr>
              <a:t>; </a:t>
            </a:r>
            <a:r>
              <a:rPr sz="890" b="0" i="0" u="sng" spc="8">
                <a:solidFill>
                  <a:srgbClr val="8C6239"/>
                </a:solidFill>
                <a:latin typeface="Quicksand"/>
                <a:hlinkClick r:id="rId50">
                  <a:extLst>
                    <a:ext uri="{A12FA001-AC4F-418D-AE19-62706E023703}">
                      <ahyp:hlinkClr xmlns:ahyp="http://schemas.microsoft.com/office/drawing/2018/hyperlinkcolor" val="tx"/>
                    </a:ext>
                  </a:extLst>
                </a:hlinkClick>
              </a:rPr>
              <a:t>TD SYNNEX</a:t>
            </a:r>
            <a:r>
              <a:rPr sz="890" b="0" i="0" spc="8">
                <a:solidFill>
                  <a:srgbClr val="333231"/>
                </a:solidFill>
                <a:latin typeface="Quicksand"/>
              </a:rPr>
              <a:t>; </a:t>
            </a:r>
            <a:r>
              <a:rPr sz="890" b="0" i="0" u="sng" spc="8">
                <a:solidFill>
                  <a:srgbClr val="8C6239"/>
                </a:solidFill>
                <a:latin typeface="Quicksand"/>
                <a:hlinkClick r:id="rId51">
                  <a:extLst>
                    <a:ext uri="{A12FA001-AC4F-418D-AE19-62706E023703}">
                      <ahyp:hlinkClr xmlns:ahyp="http://schemas.microsoft.com/office/drawing/2018/hyperlinkcolor" val="tx"/>
                    </a:ext>
                  </a:extLst>
                </a:hlinkClick>
              </a:rPr>
              <a:t>Palo Alto Networks</a:t>
            </a:r>
            <a:r>
              <a:rPr sz="890" b="0" i="0" spc="8">
                <a:solidFill>
                  <a:srgbClr val="333231"/>
                </a:solidFill>
                <a:latin typeface="Quicksand"/>
              </a:rPr>
              <a:t>; </a:t>
            </a:r>
            <a:r>
              <a:rPr sz="890" b="0" i="0" u="sng" spc="8">
                <a:solidFill>
                  <a:srgbClr val="8C6239"/>
                </a:solidFill>
                <a:latin typeface="Quicksand"/>
                <a:hlinkClick r:id="rId52">
                  <a:extLst>
                    <a:ext uri="{A12FA001-AC4F-418D-AE19-62706E023703}">
                      <ahyp:hlinkClr xmlns:ahyp="http://schemas.microsoft.com/office/drawing/2018/hyperlinkcolor" val="tx"/>
                    </a:ext>
                  </a:extLst>
                </a:hlinkClick>
              </a:rPr>
              <a:t>CrowdStrike</a:t>
            </a:r>
            <a:r>
              <a:rPr sz="890" b="0" i="0" spc="8">
                <a:solidFill>
                  <a:srgbClr val="333231"/>
                </a:solidFill>
                <a:latin typeface="Quicksand"/>
              </a:rPr>
              <a:t>; </a:t>
            </a:r>
            <a:r>
              <a:rPr sz="890" b="0" i="0" u="sng" spc="8">
                <a:solidFill>
                  <a:srgbClr val="8C6239"/>
                </a:solidFill>
                <a:latin typeface="Quicksand"/>
                <a:hlinkClick r:id="rId53">
                  <a:extLst>
                    <a:ext uri="{A12FA001-AC4F-418D-AE19-62706E023703}">
                      <ahyp:hlinkClr xmlns:ahyp="http://schemas.microsoft.com/office/drawing/2018/hyperlinkcolor" val="tx"/>
                    </a:ext>
                  </a:extLst>
                </a:hlinkClick>
              </a:rPr>
              <a:t>Fortinet</a:t>
            </a:r>
            <a:r>
              <a:rPr sz="890" b="0" i="0" spc="8">
                <a:solidFill>
                  <a:srgbClr val="333231"/>
                </a:solidFill>
                <a:latin typeface="Quicksand"/>
              </a:rPr>
              <a:t>; </a:t>
            </a:r>
            <a:r>
              <a:rPr sz="890" b="0" i="0" u="sng" spc="8">
                <a:solidFill>
                  <a:srgbClr val="8C6239"/>
                </a:solidFill>
                <a:latin typeface="Quicksand"/>
                <a:hlinkClick r:id="rId54">
                  <a:extLst>
                    <a:ext uri="{A12FA001-AC4F-418D-AE19-62706E023703}">
                      <ahyp:hlinkClr xmlns:ahyp="http://schemas.microsoft.com/office/drawing/2018/hyperlinkcolor" val="tx"/>
                    </a:ext>
                  </a:extLst>
                </a:hlinkClick>
              </a:rPr>
              <a:t>Flex</a:t>
            </a:r>
            <a:r>
              <a:rPr sz="890" b="0" i="0" spc="8">
                <a:solidFill>
                  <a:srgbClr val="333231"/>
                </a:solidFill>
                <a:latin typeface="Quicksand"/>
              </a:rPr>
              <a:t>; </a:t>
            </a:r>
            <a:r>
              <a:rPr sz="890" b="0" i="0" u="sng" spc="8">
                <a:solidFill>
                  <a:srgbClr val="8C6239"/>
                </a:solidFill>
                <a:latin typeface="Quicksand"/>
                <a:hlinkClick r:id="rId55">
                  <a:extLst>
                    <a:ext uri="{A12FA001-AC4F-418D-AE19-62706E023703}">
                      <ahyp:hlinkClr xmlns:ahyp="http://schemas.microsoft.com/office/drawing/2018/hyperlinkcolor" val="tx"/>
                    </a:ext>
                  </a:extLst>
                </a:hlinkClick>
              </a:rPr>
              <a:t>CACI</a:t>
            </a:r>
            <a:r>
              <a:rPr sz="890" b="0" i="0" spc="8">
                <a:solidFill>
                  <a:srgbClr val="333231"/>
                </a:solidFill>
                <a:latin typeface="Quicksand"/>
              </a:rPr>
              <a:t>; </a:t>
            </a:r>
            <a:r>
              <a:rPr sz="890" b="0" i="0" u="sng" spc="8">
                <a:solidFill>
                  <a:srgbClr val="8C6239"/>
                </a:solidFill>
                <a:latin typeface="Quicksand"/>
                <a:hlinkClick r:id="rId56">
                  <a:extLst>
                    <a:ext uri="{A12FA001-AC4F-418D-AE19-62706E023703}">
                      <ahyp:hlinkClr xmlns:ahyp="http://schemas.microsoft.com/office/drawing/2018/hyperlinkcolor" val="tx"/>
                    </a:ext>
                  </a:extLst>
                </a:hlinkClick>
              </a:rPr>
              <a:t>Insight Enterprises</a:t>
            </a:r>
            <a:r>
              <a:rPr sz="890" b="0" i="0" spc="8">
                <a:solidFill>
                  <a:srgbClr val="333231"/>
                </a:solidFill>
                <a:latin typeface="Quicksand"/>
              </a:rPr>
              <a:t>; </a:t>
            </a:r>
            <a:r>
              <a:rPr sz="890" b="0" i="0" u="sng" spc="8">
                <a:solidFill>
                  <a:srgbClr val="8C6239"/>
                </a:solidFill>
                <a:latin typeface="Quicksand"/>
                <a:hlinkClick r:id="rId57">
                  <a:extLst>
                    <a:ext uri="{A12FA001-AC4F-418D-AE19-62706E023703}">
                      <ahyp:hlinkClr xmlns:ahyp="http://schemas.microsoft.com/office/drawing/2018/hyperlinkcolor" val="tx"/>
                    </a:ext>
                  </a:extLst>
                </a:hlinkClick>
              </a:rPr>
              <a:t>Wesco</a:t>
            </a:r>
            <a:r>
              <a:rPr sz="890" b="0" i="0" spc="8">
                <a:solidFill>
                  <a:srgbClr val="333231"/>
                </a:solidFill>
                <a:latin typeface="Quicksand"/>
              </a:rPr>
              <a:t>; </a:t>
            </a:r>
            <a:r>
              <a:rPr sz="890" b="0" i="0" u="sng" spc="8">
                <a:solidFill>
                  <a:srgbClr val="8C6239"/>
                </a:solidFill>
                <a:latin typeface="Quicksand"/>
                <a:hlinkClick r:id="rId58">
                  <a:extLst>
                    <a:ext uri="{A12FA001-AC4F-418D-AE19-62706E023703}">
                      <ahyp:hlinkClr xmlns:ahyp="http://schemas.microsoft.com/office/drawing/2018/hyperlinkcolor" val="tx"/>
                    </a:ext>
                  </a:extLst>
                </a:hlinkClick>
              </a:rPr>
              <a:t>CDW</a:t>
            </a:r>
            <a:r>
              <a:rPr sz="890" b="0" i="0" spc="8">
                <a:solidFill>
                  <a:srgbClr val="333231"/>
                </a:solidFill>
                <a:latin typeface="Quicksand"/>
              </a:rPr>
              <a:t>; </a:t>
            </a:r>
            <a:r>
              <a:rPr sz="890" b="0" i="0" u="sng" spc="8">
                <a:solidFill>
                  <a:srgbClr val="8C6239"/>
                </a:solidFill>
                <a:latin typeface="Quicksand"/>
                <a:hlinkClick r:id="rId59">
                  <a:extLst>
                    <a:ext uri="{A12FA001-AC4F-418D-AE19-62706E023703}">
                      <ahyp:hlinkClr xmlns:ahyp="http://schemas.microsoft.com/office/drawing/2018/hyperlinkcolor" val="tx"/>
                    </a:ext>
                  </a:extLst>
                </a:hlinkClick>
              </a:rPr>
              <a:t>Napco Security</a:t>
            </a:r>
            <a:r>
              <a:rPr sz="890" b="0" i="0" spc="8">
                <a:solidFill>
                  <a:srgbClr val="333231"/>
                </a:solidFill>
                <a:latin typeface="Quicksand"/>
              </a:rPr>
              <a:t>; </a:t>
            </a:r>
            <a:r>
              <a:rPr sz="890" b="0" i="0" u="sng" spc="8">
                <a:solidFill>
                  <a:srgbClr val="8C6239"/>
                </a:solidFill>
                <a:latin typeface="Quicksand"/>
                <a:hlinkClick r:id="rId60">
                  <a:extLst>
                    <a:ext uri="{A12FA001-AC4F-418D-AE19-62706E023703}">
                      <ahyp:hlinkClr xmlns:ahyp="http://schemas.microsoft.com/office/drawing/2018/hyperlinkcolor" val="tx"/>
                    </a:ext>
                  </a:extLst>
                </a:hlinkClick>
              </a:rPr>
              <a:t>Tyler Technologies</a:t>
            </a:r>
            <a:r>
              <a:rPr sz="890" b="0" i="0" spc="8">
                <a:solidFill>
                  <a:srgbClr val="333231"/>
                </a:solidFill>
                <a:latin typeface="Quicksand"/>
              </a:rPr>
              <a:t>; </a:t>
            </a:r>
            <a:r>
              <a:rPr sz="890" b="0" i="0" u="sng" spc="8">
                <a:solidFill>
                  <a:srgbClr val="8C6239"/>
                </a:solidFill>
                <a:latin typeface="Quicksand"/>
                <a:hlinkClick r:id="rId61">
                  <a:extLst>
                    <a:ext uri="{A12FA001-AC4F-418D-AE19-62706E023703}">
                      <ahyp:hlinkClr xmlns:ahyp="http://schemas.microsoft.com/office/drawing/2018/hyperlinkcolor" val="tx"/>
                    </a:ext>
                  </a:extLst>
                </a:hlinkClick>
              </a:rPr>
              <a:t>Leidos</a:t>
            </a:r>
            <a:r>
              <a:rPr sz="890" b="0" i="0" spc="8">
                <a:solidFill>
                  <a:srgbClr val="333231"/>
                </a:solidFill>
                <a:latin typeface="Quicksand"/>
              </a:rPr>
              <a:t>; </a:t>
            </a:r>
            <a:r>
              <a:rPr sz="890" b="0" i="0" u="sng" spc="8">
                <a:solidFill>
                  <a:srgbClr val="8C6239"/>
                </a:solidFill>
                <a:latin typeface="Quicksand"/>
                <a:hlinkClick r:id="rId62">
                  <a:extLst>
                    <a:ext uri="{A12FA001-AC4F-418D-AE19-62706E023703}">
                      <ahyp:hlinkClr xmlns:ahyp="http://schemas.microsoft.com/office/drawing/2018/hyperlinkcolor" val="tx"/>
                    </a:ext>
                  </a:extLst>
                </a:hlinkClick>
              </a:rPr>
              <a:t>Accenture</a:t>
            </a:r>
            <a:r>
              <a:rPr sz="890" b="0" i="0" spc="8">
                <a:solidFill>
                  <a:srgbClr val="333231"/>
                </a:solidFill>
                <a:latin typeface="Quicksand"/>
              </a:rPr>
              <a:t>; </a:t>
            </a:r>
            <a:r>
              <a:rPr sz="890" b="0" i="0" u="sng" spc="8">
                <a:solidFill>
                  <a:srgbClr val="8C6239"/>
                </a:solidFill>
                <a:latin typeface="Quicksand"/>
                <a:hlinkClick r:id="rId63">
                  <a:extLst>
                    <a:ext uri="{A12FA001-AC4F-418D-AE19-62706E023703}">
                      <ahyp:hlinkClr xmlns:ahyp="http://schemas.microsoft.com/office/drawing/2018/hyperlinkcolor" val="tx"/>
                    </a:ext>
                  </a:extLst>
                </a:hlinkClick>
              </a:rPr>
              <a:t>RingCentral</a:t>
            </a:r>
            <a:r>
              <a:rPr sz="890" b="0" i="0" spc="8">
                <a:solidFill>
                  <a:srgbClr val="333231"/>
                </a:solidFill>
                <a:latin typeface="Quicksand"/>
              </a:rPr>
              <a:t>; </a:t>
            </a:r>
            <a:r>
              <a:rPr sz="890" b="0" i="0" u="sng" spc="8">
                <a:solidFill>
                  <a:srgbClr val="8C6239"/>
                </a:solidFill>
                <a:latin typeface="Quicksand"/>
                <a:hlinkClick r:id="rId64">
                  <a:extLst>
                    <a:ext uri="{A12FA001-AC4F-418D-AE19-62706E023703}">
                      <ahyp:hlinkClr xmlns:ahyp="http://schemas.microsoft.com/office/drawing/2018/hyperlinkcolor" val="tx"/>
                    </a:ext>
                  </a:extLst>
                </a:hlinkClick>
              </a:rPr>
              <a:t>Zoom</a:t>
            </a:r>
            <a:r>
              <a:rPr sz="890" b="0" i="0" spc="8">
                <a:solidFill>
                  <a:srgbClr val="333231"/>
                </a:solidFill>
                <a:latin typeface="Quicksand"/>
              </a:rPr>
              <a:t>; </a:t>
            </a:r>
            <a:r>
              <a:rPr sz="890" b="0" i="0" u="sng" spc="8">
                <a:solidFill>
                  <a:srgbClr val="8C6239"/>
                </a:solidFill>
                <a:latin typeface="Quicksand"/>
                <a:hlinkClick r:id="rId65">
                  <a:extLst>
                    <a:ext uri="{A12FA001-AC4F-418D-AE19-62706E023703}">
                      <ahyp:hlinkClr xmlns:ahyp="http://schemas.microsoft.com/office/drawing/2018/hyperlinkcolor" val="tx"/>
                    </a:ext>
                  </a:extLst>
                </a:hlinkClick>
              </a:rPr>
              <a:t>Booz Allen Hamilton</a:t>
            </a:r>
            <a:r>
              <a:rPr sz="890" b="0" i="0" spc="8">
                <a:solidFill>
                  <a:srgbClr val="333231"/>
                </a:solidFill>
                <a:latin typeface="Quicksand"/>
              </a:rPr>
              <a:t>; </a:t>
            </a:r>
            <a:r>
              <a:rPr sz="890" b="0" i="0" u="sng" spc="8">
                <a:solidFill>
                  <a:srgbClr val="8C6239"/>
                </a:solidFill>
                <a:latin typeface="Quicksand"/>
                <a:hlinkClick r:id="rId66">
                  <a:extLst>
                    <a:ext uri="{A12FA001-AC4F-418D-AE19-62706E023703}">
                      <ahyp:hlinkClr xmlns:ahyp="http://schemas.microsoft.com/office/drawing/2018/hyperlinkcolor" val="tx"/>
                    </a:ext>
                  </a:extLst>
                </a:hlinkClick>
              </a:rPr>
              <a:t>Jabil</a:t>
            </a:r>
          </a:p>
          <a:p>
            <a:pPr algn="l">
              <a:lnSpc>
                <a:spcPts val="1139"/>
              </a:lnSpc>
              <a:spcBef>
                <a:spcPts val="0"/>
              </a:spcBef>
              <a:spcAft>
                <a:spcPts val="263"/>
              </a:spcAft>
            </a:pPr>
            <a:r>
              <a:rPr sz="745" b="1" i="0" spc="135">
                <a:solidFill>
                  <a:srgbClr val="1B1A1A"/>
                </a:solidFill>
                <a:latin typeface="Quicksand"/>
              </a:rPr>
              <a:t>COST AND DEMAND INDICATORS</a:t>
            </a:r>
          </a:p>
          <a:p>
            <a:pPr algn="l">
              <a:lnSpc>
                <a:spcPts val="1375"/>
              </a:lnSpc>
              <a:spcBef>
                <a:spcPts val="0"/>
              </a:spcBef>
              <a:spcAft>
                <a:spcPts val="1214"/>
              </a:spcAft>
            </a:pPr>
            <a:r>
              <a:rPr sz="890" b="0" i="0" u="sng" spc="8">
                <a:solidFill>
                  <a:srgbClr val="8C6239"/>
                </a:solidFill>
                <a:latin typeface="Quicksand"/>
                <a:hlinkClick r:id="rId67">
                  <a:extLst>
                    <a:ext uri="{A12FA001-AC4F-418D-AE19-62706E023703}">
                      <ahyp:hlinkClr xmlns:ahyp="http://schemas.microsoft.com/office/drawing/2018/hyperlinkcolor" val="tx"/>
                    </a:ext>
                  </a:extLst>
                </a:hlinkClick>
              </a:rPr>
              <a:t>FRED series PCU33443344 (Bureau of Labor Statistics)</a:t>
            </a:r>
            <a:r>
              <a:rPr sz="890" b="0" i="0" spc="8">
                <a:solidFill>
                  <a:srgbClr val="333231"/>
                </a:solidFill>
                <a:latin typeface="Quicksand"/>
              </a:rPr>
              <a:t>; </a:t>
            </a:r>
            <a:r>
              <a:rPr sz="890" b="0" i="0" u="sng" spc="8">
                <a:solidFill>
                  <a:srgbClr val="8C6239"/>
                </a:solidFill>
                <a:latin typeface="Quicksand"/>
                <a:hlinkClick r:id="rId68">
                  <a:extLst>
                    <a:ext uri="{A12FA001-AC4F-418D-AE19-62706E023703}">
                      <ahyp:hlinkClr xmlns:ahyp="http://schemas.microsoft.com/office/drawing/2018/hyperlinkcolor" val="tx"/>
                    </a:ext>
                  </a:extLst>
                </a:hlinkClick>
              </a:rPr>
              <a:t>FRED series PCOPPUSDM (International Monetary Fund)</a:t>
            </a:r>
            <a:r>
              <a:rPr sz="890" b="0" i="0" spc="8">
                <a:solidFill>
                  <a:srgbClr val="333231"/>
                </a:solidFill>
                <a:latin typeface="Quicksand"/>
              </a:rPr>
              <a:t>; </a:t>
            </a:r>
            <a:r>
              <a:rPr sz="890" b="0" i="0" u="sng" spc="8">
                <a:solidFill>
                  <a:srgbClr val="8C6239"/>
                </a:solidFill>
                <a:latin typeface="Quicksand"/>
                <a:hlinkClick r:id="rId69">
                  <a:extLst>
                    <a:ext uri="{A12FA001-AC4F-418D-AE19-62706E023703}">
                      <ahyp:hlinkClr xmlns:ahyp="http://schemas.microsoft.com/office/drawing/2018/hyperlinkcolor" val="tx"/>
                    </a:ext>
                  </a:extLst>
                </a:hlinkClick>
              </a:rPr>
              <a:t>FRED series PROFCONS (US Census Bureau)</a:t>
            </a:r>
            <a:r>
              <a:rPr sz="890" b="0" i="0" spc="8">
                <a:solidFill>
                  <a:srgbClr val="333231"/>
                </a:solidFill>
                <a:latin typeface="Quicksand"/>
              </a:rPr>
              <a:t>; </a:t>
            </a:r>
            <a:r>
              <a:rPr sz="890" b="0" i="0" u="sng" spc="8">
                <a:solidFill>
                  <a:srgbClr val="8C6239"/>
                </a:solidFill>
                <a:latin typeface="Quicksand"/>
                <a:hlinkClick r:id="rId70">
                  <a:extLst>
                    <a:ext uri="{A12FA001-AC4F-418D-AE19-62706E023703}">
                      <ahyp:hlinkClr xmlns:ahyp="http://schemas.microsoft.com/office/drawing/2018/hyperlinkcolor" val="tx"/>
                    </a:ext>
                  </a:extLst>
                </a:hlinkClick>
              </a:rPr>
              <a:t>FRED series CES6054150001 (Bureau of Labor Statistics)</a:t>
            </a:r>
            <a:r>
              <a:rPr sz="890" b="0" i="0" spc="8">
                <a:solidFill>
                  <a:srgbClr val="333231"/>
                </a:solidFill>
                <a:latin typeface="Quicksand"/>
              </a:rPr>
              <a:t>; </a:t>
            </a:r>
            <a:r>
              <a:rPr sz="890" b="0" i="0" u="sng" spc="8">
                <a:solidFill>
                  <a:srgbClr val="8C6239"/>
                </a:solidFill>
                <a:latin typeface="Quicksand"/>
                <a:hlinkClick r:id="rId71">
                  <a:extLst>
                    <a:ext uri="{A12FA001-AC4F-418D-AE19-62706E023703}">
                      <ahyp:hlinkClr xmlns:ahyp="http://schemas.microsoft.com/office/drawing/2018/hyperlinkcolor" val="tx"/>
                    </a:ext>
                  </a:extLst>
                </a:hlinkClick>
              </a:rPr>
              <a:t>Census Bureau construction spending release of October 1, 2026</a:t>
            </a:r>
            <a:r>
              <a:rPr sz="890" b="0" i="0" spc="8">
                <a:solidFill>
                  <a:srgbClr val="333231"/>
                </a:solidFill>
                <a:latin typeface="Quicksand"/>
              </a:rPr>
              <a:t>; </a:t>
            </a:r>
            <a:r>
              <a:rPr sz="890" b="0" i="0" u="sng" spc="8">
                <a:solidFill>
                  <a:srgbClr val="8C6239"/>
                </a:solidFill>
                <a:latin typeface="Quicksand"/>
                <a:hlinkClick r:id="rId72"/>
              </a:rPr>
              <a:t>FRED series PCU518210518210 (Bureau of Labor Statistics)</a:t>
            </a:r>
            <a:r>
              <a:rPr sz="890" b="0" i="0" spc="8">
                <a:solidFill>
                  <a:srgbClr val="333231"/>
                </a:solidFill>
                <a:latin typeface="Quicksand"/>
              </a:rPr>
              <a:t>; </a:t>
            </a:r>
            <a:r>
              <a:rPr sz="890" b="0" i="0" u="sng" spc="8">
                <a:solidFill>
                  <a:srgbClr val="8C6239"/>
                </a:solidFill>
                <a:latin typeface="Quicksand"/>
                <a:hlinkClick r:id="rId73"/>
              </a:rPr>
              <a:t>FRED series A34SNO (US Census Bureau)</a:t>
            </a:r>
            <a:r>
              <a:rPr sz="890" b="0" i="0" spc="8">
                <a:solidFill>
                  <a:srgbClr val="333231"/>
                </a:solidFill>
                <a:latin typeface="Quicksand"/>
              </a:rPr>
              <a:t>; </a:t>
            </a:r>
            <a:r>
              <a:rPr sz="890" b="0" i="0" u="sng" spc="8">
                <a:solidFill>
                  <a:srgbClr val="8C6239"/>
                </a:solidFill>
                <a:latin typeface="Quicksand"/>
                <a:hlinkClick r:id="rId74"/>
              </a:rPr>
              <a:t>FRED series IPG3344S (Federal Reserve)</a:t>
            </a:r>
            <a:r>
              <a:rPr sz="890" b="0" i="0" spc="8">
                <a:solidFill>
                  <a:srgbClr val="333231"/>
                </a:solidFill>
                <a:latin typeface="Quicksand"/>
              </a:rPr>
              <a:t>; </a:t>
            </a:r>
            <a:r>
              <a:rPr sz="890" b="0" i="0" u="sng" spc="8">
                <a:solidFill>
                  <a:srgbClr val="8C6239"/>
                </a:solidFill>
                <a:latin typeface="Quicksand"/>
                <a:hlinkClick r:id="rId75"/>
              </a:rPr>
              <a:t>FRED series GS10 (Federal Reserve)</a:t>
            </a:r>
          </a:p>
        </p:txBody>
      </p:sp>
      <p:sp>
        <p:nvSpPr>
          <p:cNvPr id="10" name="TextBox 11"/>
          <p:cNvSpPr txBox="1"/>
          <p:nvPr/>
        </p:nvSpPr>
        <p:spPr>
          <a:xfrm>
            <a:off x="75057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FIRM OVERVIEW</a:t>
            </a:r>
          </a:p>
          <a:p>
            <a:pPr algn="l">
              <a:lnSpc>
                <a:spcPts val="1375"/>
              </a:lnSpc>
              <a:spcBef>
                <a:spcPts val="0"/>
              </a:spcBef>
              <a:spcAft>
                <a:spcPts val="1214"/>
              </a:spcAft>
            </a:pPr>
            <a:r>
              <a:rPr sz="890" b="0" i="0" u="sng" spc="8">
                <a:solidFill>
                  <a:srgbClr val="8C6239"/>
                </a:solidFill>
                <a:latin typeface="Quicksand"/>
                <a:hlinkClick r:id="rId44">
                  <a:extLst>
                    <a:ext uri="{A12FA001-AC4F-418D-AE19-62706E023703}">
                      <ahyp:hlinkClr xmlns:ahyp="http://schemas.microsoft.com/office/drawing/2018/hyperlinkcolor" val="tx"/>
                    </a:ext>
                  </a:extLst>
                </a:hlinkClick>
              </a:rPr>
              <a:t>Benchmark International, Our Success</a:t>
            </a:r>
          </a:p>
          <a:p>
            <a:pPr algn="l">
              <a:lnSpc>
                <a:spcPts val="1139"/>
              </a:lnSpc>
              <a:spcBef>
                <a:spcPts val="0"/>
              </a:spcBef>
              <a:spcAft>
                <a:spcPts val="263"/>
              </a:spcAft>
            </a:pPr>
            <a:r>
              <a:rPr sz="745" b="1" i="0" spc="135">
                <a:solidFill>
                  <a:srgbClr val="1B1A1A"/>
                </a:solidFill>
                <a:latin typeface="Quicksand"/>
              </a:rPr>
              <a:t>BENCHMARK INTERNATIONAL RECORDS</a:t>
            </a:r>
          </a:p>
          <a:p>
            <a:pPr algn="l">
              <a:lnSpc>
                <a:spcPts val="1375"/>
              </a:lnSpc>
              <a:spcBef>
                <a:spcPts val="0"/>
              </a:spcBef>
              <a:spcAft>
                <a:spcPts val="1214"/>
              </a:spcAft>
            </a:pPr>
            <a:r>
              <a:rPr sz="890" b="0" i="0" spc="8">
                <a:solidFill>
                  <a:srgbClr val="333231"/>
                </a:solidFill>
                <a:latin typeface="Quicksand"/>
              </a:rPr>
              <a:t>Transaction records and the engagement portfolio as of October 1, 2026; announced transactions as published at </a:t>
            </a:r>
            <a:r>
              <a:rPr sz="890" b="0" i="0" u="sng" spc="8">
                <a:solidFill>
                  <a:srgbClr val="8C6239"/>
                </a:solidFill>
                <a:latin typeface="Quicksand"/>
                <a:hlinkClick r:id="rId76">
                  <a:extLst>
                    <a:ext uri="{A12FA001-AC4F-418D-AE19-62706E023703}">
                      <ahyp:hlinkClr xmlns:ahyp="http://schemas.microsoft.com/office/drawing/2018/hyperlinkcolor" val="tx"/>
                    </a:ext>
                  </a:extLst>
                </a:hlinkClick>
              </a:rPr>
              <a:t>benchmarkintl.com/insights</a:t>
            </a:r>
            <a:r>
              <a:rPr sz="890" b="0" i="0" spc="8">
                <a:solidFill>
                  <a:srgbClr val="333231"/>
                </a:solidFill>
                <a:latin typeface="Quicksand"/>
              </a:rPr>
              <a:t>, each linked from its tile</a:t>
            </a:r>
          </a:p>
        </p:txBody>
      </p:sp>
      <p:sp>
        <p:nvSpPr>
          <p:cNvPr id="11"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2"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3" name="Shape 9"/>
          <p:cNvSpPr/>
          <p:nvPr/>
        </p:nvSpPr>
        <p:spPr>
          <a:xfrm>
            <a:off x="419100" y="7029450"/>
            <a:ext cx="9220200" cy="9525"/>
          </a:xfrm>
          <a:prstGeom prst="rect">
            <a:avLst/>
          </a:prstGeom>
          <a:solidFill>
            <a:srgbClr val="E3DCD3"/>
          </a:solidFill>
          <a:ln/>
        </p:spPr>
        <p:txBody>
          <a:bodyPr/>
          <a:lstStyle/>
          <a:p>
            <a:endParaRPr lang="en-US"/>
          </a:p>
        </p:txBody>
      </p:sp>
      <p:pic>
        <p:nvPicPr>
          <p:cNvPr id="14" name="Benchmark International logo" descr="Benchmark International logo"/>
          <p:cNvPicPr>
            <a:picLocks noChangeAspect="1"/>
          </p:cNvPicPr>
          <p:nvPr/>
        </p:nvPicPr>
        <p:blipFill>
          <a:blip r:embed="rId77"/>
          <a:stretch>
            <a:fillRect/>
          </a:stretch>
        </p:blipFill>
        <p:spPr>
          <a:xfrm>
            <a:off x="419100" y="7143750"/>
            <a:ext cx="914400" cy="171450"/>
          </a:xfrm>
          <a:prstGeom prst="rect">
            <a:avLst/>
          </a:prstGeom>
        </p:spPr>
      </p:pic>
      <p:sp>
        <p:nvSpPr>
          <p:cNvPr id="15"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28</a:t>
            </a:r>
            <a:endParaRPr lang="en-US" sz="815" dirty="0"/>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Arial"/>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Arial"/>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core.xml><?xml version="1.0" encoding="utf-8"?>
<cp:coreProperties xmlns:cp="http://schemas.openxmlformats.org/package/2006/metadata/core-properties" xmlns:dc="http://purl.org/dc/elements/1.1/" xmlns:dcterms="http://purl.org/dc/terms/" xmlns:xsi="http://www.w3.org/2001/XMLSchema-instance">
  <dc:title>Technology Q4 2026 M&amp;A Industry Report | Benchmark International</dc:title>
  <cp:lastModifiedBy>Jared Hardin</cp:lastModifiedBy>
  <cp:revision>1</cp:revision>
  <dcterms:modified xsi:type="dcterms:W3CDTF">2026-10-27T20:15:17Z</dcterms:modified>
  <dc:subject>Technology mergers and acquisitions: deal activity, valuations, and what buyers are paying for, Q4 2026</dc:subject>
  <dc:creator>Jared Hardin, Benchmark International</dc:creator>
  <cp:keywords>Technology M&amp;A, middle market, sell-side M&amp;A, Q4 2026, Benchmark International</cp:keywords>
</cp:coreProperties>
</file>