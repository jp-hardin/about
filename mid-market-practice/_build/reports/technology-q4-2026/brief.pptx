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focus area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SECTOR BRIEF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focus areas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SECTOR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focus areas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Focus Areas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focus area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on the transactions page and in the full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Sector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focus area,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focus area,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focus areas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focus area</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focus areas.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focus area</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focus area,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focus area</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focus area.</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focus area,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the full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Owners considering a sale, a recapitalization or a growth partnership in any of the six focus areas, and the advisors who work with them, are welcome to call or write.</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in sales, recapitalizations and growth partnerships.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29" name="TextBox 28"/>
          <p:cNvSpPr txBox="1"/>
          <p:nvPr/>
        </p:nvSpPr>
        <p:spPr>
          <a:xfrm>
            <a:off x="2799755" y="3141440"/>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1" name="TextBox 40"/>
          <p:cNvSpPr txBox="1"/>
          <p:nvPr/>
        </p:nvSpPr>
        <p:spPr>
          <a:xfrm>
            <a:off x="6348264" y="3141440"/>
            <a:ext cx="1357461"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9">
                  <a:extLst>
                    <a:ext uri="{A12FA001-AC4F-418D-AE19-62706E023703}">
                      <ahyp:hlinkClr xmlns:ahyp="http://schemas.microsoft.com/office/drawing/2018/hyperlinkcolor" val="tx"/>
                    </a:ext>
                  </a:extLst>
                </a:hlinkClick>
              </a:rPr>
              <a:t>813-898-2372</a:t>
            </a:r>
            <a:br/>
            <a:r>
              <a:rPr sz="788" b="0" i="0" spc="15" u="sng">
                <a:solidFill>
                  <a:srgbClr val="8C6239"/>
                </a:solidFill>
                <a:latin typeface="Quicksand"/>
                <a:hlinkClick r:id="rId10">
                  <a:extLst>
                    <a:ext uri="{A12FA001-AC4F-418D-AE19-62706E023703}">
                      <ahyp:hlinkClr xmlns:ahyp="http://schemas.microsoft.com/office/drawing/2018/hyperlinkcolor" val="tx"/>
                    </a:ext>
                  </a:extLst>
                </a:hlinkClick>
              </a:rPr>
              <a:t>azykov@benchmarkintl.com</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7" name="TextBox 46"/>
          <p:cNvSpPr txBox="1"/>
          <p:nvPr/>
        </p:nvSpPr>
        <p:spPr>
          <a:xfrm>
            <a:off x="8197304" y="3265265"/>
            <a:ext cx="1231255"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12">
                  <a:extLst>
                    <a:ext uri="{A12FA001-AC4F-418D-AE19-62706E023703}">
                      <ahyp:hlinkClr xmlns:ahyp="http://schemas.microsoft.com/office/drawing/2018/hyperlinkcolor" val="tx"/>
                    </a:ext>
                  </a:extLst>
                </a:hlinkClick>
              </a:rPr>
              <a:t>813-898-2397</a:t>
            </a:r>
            <a:br/>
            <a:r>
              <a:rPr sz="788" b="0" i="0" spc="15" u="sng">
                <a:solidFill>
                  <a:srgbClr val="8C6239"/>
                </a:solidFill>
                <a:latin typeface="Quicksand"/>
                <a:hlinkClick r:id="rId13">
                  <a:extLst>
                    <a:ext uri="{A12FA001-AC4F-418D-AE19-62706E023703}">
                      <ahyp:hlinkClr xmlns:ahyp="http://schemas.microsoft.com/office/drawing/2018/hyperlinkcolor" val="tx"/>
                    </a:ext>
                  </a:extLst>
                </a:hlinkClick>
              </a:rPr>
              <a:t>hess@benchmarkintl.com</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120896"/>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269105"/>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2" name="TextBox 51"/>
          <p:cNvSpPr txBox="1"/>
          <p:nvPr/>
        </p:nvSpPr>
        <p:spPr>
          <a:xfrm>
            <a:off x="3381375" y="4425220"/>
            <a:ext cx="1290042"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15">
                  <a:extLst>
                    <a:ext uri="{A12FA001-AC4F-418D-AE19-62706E023703}">
                      <ahyp:hlinkClr xmlns:ahyp="http://schemas.microsoft.com/office/drawing/2018/hyperlinkcolor" val="tx"/>
                    </a:ext>
                  </a:extLst>
                </a:hlinkClick>
              </a:rPr>
              <a:t>813-898-2357</a:t>
            </a:r>
            <a:br/>
            <a:r>
              <a:rPr sz="712" b="0" i="0" spc="15" u="sng">
                <a:solidFill>
                  <a:srgbClr val="8C6239"/>
                </a:solidFill>
                <a:latin typeface="Quicksand"/>
                <a:hlinkClick r:id="rId16">
                  <a:extLst>
                    <a:ext uri="{A12FA001-AC4F-418D-AE19-62706E023703}">
                      <ahyp:hlinkClr xmlns:ahyp="http://schemas.microsoft.com/office/drawing/2018/hyperlinkcolor" val="tx"/>
                    </a:ext>
                  </a:extLst>
                </a:hlinkClick>
              </a:rPr>
              <a:t>garten@benchmarkintl.com</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120896"/>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269105"/>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7" name="TextBox 56"/>
          <p:cNvSpPr txBox="1"/>
          <p:nvPr/>
        </p:nvSpPr>
        <p:spPr>
          <a:xfrm>
            <a:off x="5762625" y="4425220"/>
            <a:ext cx="1315343"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18">
                  <a:extLst>
                    <a:ext uri="{A12FA001-AC4F-418D-AE19-62706E023703}">
                      <ahyp:hlinkClr xmlns:ahyp="http://schemas.microsoft.com/office/drawing/2018/hyperlinkcolor" val="tx"/>
                    </a:ext>
                  </a:extLst>
                </a:hlinkClick>
              </a:rPr>
              <a:t>813-384-4972</a:t>
            </a:r>
            <a:br/>
            <a:r>
              <a:rPr sz="712" b="0" i="0" spc="15" u="sng">
                <a:solidFill>
                  <a:srgbClr val="8C6239"/>
                </a:solidFill>
                <a:latin typeface="Quicksand"/>
                <a:hlinkClick r:id="rId19">
                  <a:extLst>
                    <a:ext uri="{A12FA001-AC4F-418D-AE19-62706E023703}">
                      <ahyp:hlinkClr xmlns:ahyp="http://schemas.microsoft.com/office/drawing/2018/hyperlinkcolor" val="tx"/>
                    </a:ext>
                  </a:extLst>
                </a:hlinkClick>
              </a:rPr>
              <a:t>mwynn@benchmarkintl.com</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182808"/>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331018"/>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2" name="TextBox 61"/>
          <p:cNvSpPr txBox="1"/>
          <p:nvPr/>
        </p:nvSpPr>
        <p:spPr>
          <a:xfrm>
            <a:off x="8143875" y="4487132"/>
            <a:ext cx="1223218"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1">
                  <a:extLst>
                    <a:ext uri="{A12FA001-AC4F-418D-AE19-62706E023703}">
                      <ahyp:hlinkClr xmlns:ahyp="http://schemas.microsoft.com/office/drawing/2018/hyperlinkcolor" val="tx"/>
                    </a:ext>
                  </a:extLst>
                </a:hlinkClick>
              </a:rPr>
              <a:t>jlisiak@benchmarkintl.com</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016246"/>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164455"/>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7" name="TextBox 66"/>
          <p:cNvSpPr txBox="1"/>
          <p:nvPr/>
        </p:nvSpPr>
        <p:spPr>
          <a:xfrm>
            <a:off x="3381375" y="5453920"/>
            <a:ext cx="1447800"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3">
                  <a:extLst>
                    <a:ext uri="{A12FA001-AC4F-418D-AE19-62706E023703}">
                      <ahyp:hlinkClr xmlns:ahyp="http://schemas.microsoft.com/office/drawing/2018/hyperlinkcolor" val="tx"/>
                    </a:ext>
                  </a:extLst>
                </a:hlinkClick>
              </a:rPr>
              <a:t>813-387-6046</a:t>
            </a:r>
            <a:br/>
            <a:r>
              <a:rPr sz="712" b="0" i="0" spc="15" u="sng">
                <a:solidFill>
                  <a:srgbClr val="8C6239"/>
                </a:solidFill>
                <a:latin typeface="Quicksand"/>
                <a:hlinkClick r:id="rId24">
                  <a:extLst>
                    <a:ext uri="{A12FA001-AC4F-418D-AE19-62706E023703}">
                      <ahyp:hlinkClr xmlns:ahyp="http://schemas.microsoft.com/office/drawing/2018/hyperlinkcolor" val="tx"/>
                    </a:ext>
                  </a:extLst>
                </a:hlinkClick>
              </a:rPr>
              <a:t>abarr@benchmarkintl.com</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016246"/>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164455"/>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2" name="TextBox 71"/>
          <p:cNvSpPr txBox="1"/>
          <p:nvPr/>
        </p:nvSpPr>
        <p:spPr>
          <a:xfrm>
            <a:off x="5762625" y="5453920"/>
            <a:ext cx="1447800"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6">
                  <a:extLst>
                    <a:ext uri="{A12FA001-AC4F-418D-AE19-62706E023703}">
                      <ahyp:hlinkClr xmlns:ahyp="http://schemas.microsoft.com/office/drawing/2018/hyperlinkcolor" val="tx"/>
                    </a:ext>
                  </a:extLst>
                </a:hlinkClick>
              </a:rPr>
              <a:t>813-898-2398</a:t>
            </a:r>
            <a:br/>
            <a:r>
              <a:rPr sz="712" b="0" i="0" spc="15" u="sng">
                <a:solidFill>
                  <a:srgbClr val="8C6239"/>
                </a:solidFill>
                <a:latin typeface="Quicksand"/>
                <a:hlinkClick r:id="rId27">
                  <a:extLst>
                    <a:ext uri="{A12FA001-AC4F-418D-AE19-62706E023703}">
                      <ahyp:hlinkClr xmlns:ahyp="http://schemas.microsoft.com/office/drawing/2018/hyperlinkcolor" val="tx"/>
                    </a:ext>
                  </a:extLst>
                </a:hlinkClick>
              </a:rPr>
              <a:t>jwarren@benchmarkintl.com</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082921"/>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231130"/>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7" name="TextBox 76"/>
          <p:cNvSpPr txBox="1"/>
          <p:nvPr/>
        </p:nvSpPr>
        <p:spPr>
          <a:xfrm>
            <a:off x="8143875" y="5387245"/>
            <a:ext cx="1241971" cy="238125"/>
          </a:xfrm>
          <a:prstGeom prst="rect">
            <a:avLst/>
          </a:prstGeom>
          <a:noFill/>
        </p:spPr>
        <p:txBody>
          <a:bodyPr wrap="none" lIns="0" rIns="0" tIns="0" bIns="0" anchor="t">
            <a:noAutofit/>
          </a:bodyPr>
          <a:lstStyle/>
          <a:p>
            <a:pPr algn="l">
              <a:lnSpc>
                <a:spcPts val="975"/>
              </a:lnSpc>
              <a:spcBef>
                <a:spcPts val="0"/>
              </a:spcBef>
              <a:spcAft>
                <a:spcPts val="0"/>
              </a:spcAft>
            </a:pPr>
            <a:r>
              <a:rPr sz="712" b="0" i="0" spc="15" u="sng">
                <a:solidFill>
                  <a:srgbClr val="8C6239"/>
                </a:solidFill>
                <a:latin typeface="Quicksand"/>
                <a:hlinkClick r:id="rId29">
                  <a:extLst>
                    <a:ext uri="{A12FA001-AC4F-418D-AE19-62706E023703}">
                      <ahyp:hlinkClr xmlns:ahyp="http://schemas.microsoft.com/office/drawing/2018/hyperlinkcolor" val="tx"/>
                    </a:ext>
                  </a:extLst>
                </a:hlinkClick>
              </a:rPr>
              <a:t>813-771-6318</a:t>
            </a:r>
            <a:br/>
            <a:r>
              <a:rPr sz="712" b="0" i="0" spc="15" u="sng">
                <a:solidFill>
                  <a:srgbClr val="8C6239"/>
                </a:solidFill>
                <a:latin typeface="Quicksand"/>
                <a:hlinkClick r:id="rId30">
                  <a:extLst>
                    <a:ext uri="{A12FA001-AC4F-418D-AE19-62706E023703}">
                      <ahyp:hlinkClr xmlns:ahyp="http://schemas.microsoft.com/office/drawing/2018/hyperlinkcolor" val="tx"/>
                    </a:ext>
                  </a:extLst>
                </a:hlinkClick>
              </a:rPr>
              <a:t>lernst@benchmarkintl.com</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97596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sectors.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on sales, recapitalizations and growth partnerships across five sectors.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sector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SECTORS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SECTOR BRIEF</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sector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Sector Brief</dc:title>
  <dc:subject>Technology quarterly sector brief,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