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7"/>
    <p:sldId id="266" r:id="rId18"/>
    <p:sldId id="267" r:id="rId19"/>
    <p:sldId id="268" r:id="rId20"/>
    <p:sldId id="269" r:id="rId21"/>
    <p:sldId id="270" r:id="rId22"/>
    <p:sldId id="271" r:id="rId23"/>
    <p:sldId id="272" r:id="rId24"/>
    <p:sldId id="273" r:id="rId25"/>
    <p:sldId id="274" r:id="rId26"/>
  </p:sldIdLst>
  <p:sldSz cx="10058400" cy="77724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notesMaster" Target="notesMasters/notesMaster1.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Sheet10.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Sheet1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barChart>
        <c:barDir val="bar"/>
        <c:grouping val="clustered"/>
        <c:varyColors val="0"/>
        <c:ser>
          <c:idx val="0"/>
          <c:order val="0"/>
          <c:tx>
            <c:strRef>
              <c:f>Sheet1!$B$1</c:f>
              <c:strCache>
                <c:ptCount val="1"/>
                <c:pt idx="0">
                  <c:v>Value</c:v>
                </c:pt>
              </c:strCache>
            </c:strRef>
          </c:tx>
          <c:spPr>
            <a:solidFill>
              <a:srgbClr val="A0754A"/>
            </a:solidFill>
          </c:spPr>
          <c:invertIfNegative val="0"/>
          <c:cat>
            <c:strRef>
              <c:f>Sheet1!$A$2:$A$7</c:f>
              <c:strCache>
                <c:ptCount val="6"/>
                <c:pt idx="0">
                  <c:v>Managed IT &amp; Cloud</c:v>
                </c:pt>
                <c:pt idx="1">
                  <c:v>Cybersecurity</c:v>
                </c:pt>
                <c:pt idx="2">
                  <c:v>Telecom &amp; UCaaS</c:v>
                </c:pt>
                <c:pt idx="3">
                  <c:v>Systems Integration</c:v>
                </c:pt>
                <c:pt idx="4">
                  <c:v>Electronics &amp; Hardware</c:v>
                </c:pt>
                <c:pt idx="5">
                  <c:v>Government Technology</c:v>
                </c:pt>
              </c:strCache>
            </c:strRef>
          </c:cat>
          <c:val>
            <c:numRef>
              <c:f>Sheet1!$B$2:$B$7</c:f>
              <c:numCache>
                <c:formatCode>General</c:formatCode>
                <c:ptCount val="6"/>
                <c:pt idx="0">
                  <c:v>-15.51</c:v>
                </c:pt>
                <c:pt idx="1">
                  <c:v>77.56</c:v>
                </c:pt>
                <c:pt idx="2">
                  <c:v>15.64</c:v>
                </c:pt>
                <c:pt idx="3">
                  <c:v>-4.49</c:v>
                </c:pt>
                <c:pt idx="4">
                  <c:v>97.3</c:v>
                </c:pt>
                <c:pt idx="5">
                  <c:v>-34.04</c:v>
                </c:pt>
              </c:numCache>
            </c:numRef>
          </c:val>
        </c:ser>
        <c:dLbls>
          <c:numFmt formatCode="&quot;+&quot;0&quot;%&quot;;&quot;−&quot;0&quot;%&quot;;0&quot;%&quot;" sourceLinked="0"/>
          <c:txPr>
            <a:bodyPr/>
            <a:lstStyle/>
            <a:p>
              <a:pPr>
                <a:defRPr b="1" sz="750">
                  <a:solidFill>
                    <a:srgbClr val="1B1A1A"/>
                  </a:solidFill>
                </a:defRPr>
              </a:pPr>
            </a:p>
          </c:txPr>
          <c:dLblPos val="outEnd"/>
          <c:showLegendKey val="0"/>
          <c:showVal val="1"/>
          <c:showCatName val="0"/>
          <c:showSerName val="0"/>
          <c:showPercent val="0"/>
          <c:showBubbleSize val="0"/>
          <c:showLeaderLines val="1"/>
        </c:dLbls>
        <c:gapWidth val="110"/>
        <c:axId val="-2068027336"/>
        <c:axId val="-2113994440"/>
      </c:barChart>
      <c:catAx>
        <c:axId val="-2068027336"/>
        <c:scaling>
          <c:orientation val="maxMin"/>
        </c:scaling>
        <c:delete val="0"/>
        <c:axPos val="l"/>
        <c:majorTickMark val="none"/>
        <c:minorTickMark val="none"/>
        <c:tickLblPos val="low"/>
        <c:spPr>
          <a:ln w="9525">
            <a:solidFill>
              <a:srgbClr val="C3BDB6"/>
            </a:solidFill>
          </a:ln>
        </c:spPr>
        <c:txPr>
          <a:bodyPr/>
          <a:lstStyle/>
          <a:p>
            <a:pPr>
              <a:defRPr sz="750" b="1">
                <a:solidFill>
                  <a:srgbClr val="333231"/>
                </a:solidFill>
              </a:defRPr>
            </a:pPr>
          </a:p>
        </c:txPr>
        <c:crossAx val="-2113994440"/>
        <c:crosses val="autoZero"/>
        <c:auto val="1"/>
        <c:lblAlgn val="ctr"/>
        <c:lblOffset val="100"/>
        <c:noMultiLvlLbl val="0"/>
      </c:catAx>
      <c:valAx>
        <c:axId val="-2113994440"/>
        <c:scaling>
          <c:max val="126.1948"/>
          <c:min val="-70.8152"/>
        </c:scaling>
        <c:delete/>
        <c:axPos val="b"/>
        <c:majorTickMark val="out"/>
        <c:minorTickMark val="none"/>
        <c:tickLblPos val="nextTo"/>
        <c:crossAx val="-2068027336"/>
        <c:crosses val="autoZero"/>
      </c:valAx>
      <c:spPr>
        <a:noFill/>
        <a:ln>
          <a:noFill/>
        </a:ln>
      </c:spPr>
    </c:plotArea>
    <c:dispBlanksAs val="gap"/>
  </c:chart>
  <c:spPr>
    <a:noFill/>
    <a:ln>
      <a:noFill/>
    </a:ln>
  </c:spPr>
  <c:txPr>
    <a:bodyPr/>
    <a:lstStyle/>
    <a:p>
      <a:pPr>
        <a:defRPr sz="750">
          <a:solidFill>
            <a:srgbClr val="333231"/>
          </a:solidFill>
          <a:latin typeface="Quicksand"/>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barChart>
        <c:barDir val="bar"/>
        <c:grouping val="clustered"/>
        <c:ser>
          <c:idx val="0"/>
          <c:order val="0"/>
          <c:tx>
            <c:strRef>
              <c:f>Sheet1!$B$1</c:f>
              <c:strCache>
                <c:ptCount val="1"/>
                <c:pt idx="0">
                  <c:v>A year ago</c:v>
                </c:pt>
              </c:strCache>
            </c:strRef>
          </c:tx>
          <c:spPr>
            <a:solidFill>
              <a:srgbClr val="C3BDB6"/>
            </a:solidFill>
          </c:spPr>
          <c:invertIfNegative val="0"/>
          <c:cat>
            <c:strRef>
              <c:f>Sheet1!$A$2:$A$7</c:f>
              <c:strCache>
                <c:ptCount val="6"/>
                <c:pt idx="0">
                  <c:v>Managed IT &amp; Cloud</c:v>
                </c:pt>
                <c:pt idx="1">
                  <c:v>Cybersecurity</c:v>
                </c:pt>
                <c:pt idx="2">
                  <c:v>Telecom &amp; UCaaS</c:v>
                </c:pt>
                <c:pt idx="3">
                  <c:v>Systems Integration</c:v>
                </c:pt>
                <c:pt idx="4">
                  <c:v>Electronics &amp; Hardware</c:v>
                </c:pt>
                <c:pt idx="5">
                  <c:v>Government Technology</c:v>
                </c:pt>
              </c:strCache>
            </c:strRef>
          </c:cat>
          <c:val>
            <c:numRef>
              <c:f>Sheet1!$B$2:$B$7</c:f>
              <c:numCache>
                <c:formatCode>General</c:formatCode>
                <c:ptCount val="6"/>
                <c:pt idx="0">
                  <c:v>10.1</c:v>
                </c:pt>
                <c:pt idx="1">
                  <c:v>20.9</c:v>
                </c:pt>
                <c:pt idx="2">
                  <c:v>14.9</c:v>
                </c:pt>
                <c:pt idx="3">
                  <c:v>9.1</c:v>
                </c:pt>
                <c:pt idx="4">
                  <c:v>12.1</c:v>
                </c:pt>
                <c:pt idx="5">
                  <c:v>12.7</c:v>
                </c:pt>
              </c:numCache>
            </c:numRef>
          </c:val>
        </c:ser>
        <c:ser>
          <c:idx val="1"/>
          <c:order val="1"/>
          <c:tx>
            <c:strRef>
              <c:f>Sheet1!$C$1</c:f>
              <c:strCache>
                <c:ptCount val="1"/>
                <c:pt idx="0">
                  <c:v>Today</c:v>
                </c:pt>
              </c:strCache>
            </c:strRef>
          </c:tx>
          <c:spPr>
            <a:solidFill>
              <a:srgbClr val="A0754A"/>
            </a:solidFill>
          </c:spPr>
          <c:invertIfNegative val="0"/>
          <c:dLbls>
            <c:numFmt formatCode="0.0&quot;x&quot;" sourceLinked="0"/>
            <c:txPr>
              <a:bodyPr/>
              <a:lstStyle/>
              <a:p>
                <a:pPr>
                  <a:defRPr sz="700" b="1">
                    <a:solidFill>
                      <a:srgbClr val="1B1A1A"/>
                    </a:solidFill>
                  </a:defRPr>
                </a:pPr>
              </a:p>
            </c:txPr>
            <c:dLblPos val="outEnd"/>
            <c:showLegendKey val="0"/>
            <c:showVal val="1"/>
            <c:showCatName val="0"/>
            <c:showSerName val="0"/>
            <c:showPercent val="0"/>
            <c:showBubbleSize val="0"/>
            <c:showLeaderLines val="1"/>
          </c:dLbls>
          <c:cat>
            <c:strRef>
              <c:f>Sheet1!$A$2:$A$7</c:f>
              <c:strCache>
                <c:ptCount val="6"/>
                <c:pt idx="0">
                  <c:v>Managed IT &amp; Cloud</c:v>
                </c:pt>
                <c:pt idx="1">
                  <c:v>Cybersecurity</c:v>
                </c:pt>
                <c:pt idx="2">
                  <c:v>Telecom &amp; UCaaS</c:v>
                </c:pt>
                <c:pt idx="3">
                  <c:v>Systems Integration</c:v>
                </c:pt>
                <c:pt idx="4">
                  <c:v>Electronics &amp; Hardware</c:v>
                </c:pt>
                <c:pt idx="5">
                  <c:v>Government Technology</c:v>
                </c:pt>
              </c:strCache>
            </c:strRef>
          </c:cat>
          <c:val>
            <c:numRef>
              <c:f>Sheet1!$C$2:$C$7</c:f>
              <c:numCache>
                <c:formatCode>General</c:formatCode>
                <c:ptCount val="6"/>
                <c:pt idx="0">
                  <c:v>9</c:v>
                </c:pt>
                <c:pt idx="1">
                  <c:v>24.4</c:v>
                </c:pt>
                <c:pt idx="2">
                  <c:v>15.1</c:v>
                </c:pt>
                <c:pt idx="3">
                  <c:v>11</c:v>
                </c:pt>
                <c:pt idx="4">
                  <c:v>21.8</c:v>
                </c:pt>
                <c:pt idx="5">
                  <c:v>10.4</c:v>
                </c:pt>
              </c:numCache>
            </c:numRef>
          </c:val>
        </c:ser>
        <c:ser>
          <c:idx val="2"/>
          <c:order val="2"/>
          <c:tx>
            <c:strRef>
              <c:f>Sheet1!$D$1</c:f>
              <c:strCache>
                <c:ptCount val="1"/>
                <c:pt idx="0">
                  <c:v>Three-year median</c:v>
                </c:pt>
              </c:strCache>
            </c:strRef>
          </c:tx>
          <c:spPr>
            <a:solidFill>
              <a:srgbClr val="1B1A1A"/>
            </a:solidFill>
          </c:spPr>
          <c:invertIfNegative val="0"/>
          <c:cat>
            <c:strRef>
              <c:f>Sheet1!$A$2:$A$7</c:f>
              <c:strCache>
                <c:ptCount val="6"/>
                <c:pt idx="0">
                  <c:v>Managed IT &amp; Cloud</c:v>
                </c:pt>
                <c:pt idx="1">
                  <c:v>Cybersecurity</c:v>
                </c:pt>
                <c:pt idx="2">
                  <c:v>Telecom &amp; UCaaS</c:v>
                </c:pt>
                <c:pt idx="3">
                  <c:v>Systems Integration</c:v>
                </c:pt>
                <c:pt idx="4">
                  <c:v>Electronics &amp; Hardware</c:v>
                </c:pt>
                <c:pt idx="5">
                  <c:v>Government Technology</c:v>
                </c:pt>
              </c:strCache>
            </c:strRef>
          </c:cat>
          <c:val>
            <c:numRef>
              <c:f>Sheet1!$D$2:$D$7</c:f>
              <c:numCache>
                <c:formatCode>General</c:formatCode>
                <c:ptCount val="6"/>
                <c:pt idx="0">
                  <c:v>11.1</c:v>
                </c:pt>
                <c:pt idx="1">
                  <c:v>21.3</c:v>
                </c:pt>
                <c:pt idx="2">
                  <c:v>15.5</c:v>
                </c:pt>
                <c:pt idx="3">
                  <c:v>9.5</c:v>
                </c:pt>
                <c:pt idx="4">
                  <c:v>10.1</c:v>
                </c:pt>
                <c:pt idx="5">
                  <c:v>12.6</c:v>
                </c:pt>
              </c:numCache>
            </c:numRef>
          </c:val>
        </c:ser>
        <c:gapWidth val="60"/>
        <c:overlap val="-5"/>
        <c:axId val="-2068027336"/>
        <c:axId val="-2113994440"/>
      </c:barChart>
      <c:catAx>
        <c:axId val="-2068027336"/>
        <c:scaling>
          <c:orientation val="maxMin"/>
        </c:scaling>
        <c:delete val="0"/>
        <c:axPos val="l"/>
        <c:majorTickMark val="none"/>
        <c:minorTickMark val="none"/>
        <c:tickLblPos val="nextTo"/>
        <c:spPr>
          <a:ln w="9525">
            <a:solidFill>
              <a:srgbClr val="C3BDB6"/>
            </a:solidFill>
          </a:ln>
        </c:spPr>
        <c:txPr>
          <a:bodyPr/>
          <a:lstStyle/>
          <a:p>
            <a:pPr>
              <a:defRPr sz="700" b="1"/>
            </a:pPr>
          </a:p>
        </c:txPr>
        <c:crossAx val="-2113994440"/>
        <c:crosses val="autoZero"/>
        <c:auto val="1"/>
        <c:lblAlgn val="ctr"/>
        <c:lblOffset val="100"/>
        <c:noMultiLvlLbl val="0"/>
      </c:catAx>
      <c:valAx>
        <c:axId val="-2113994440"/>
        <c:scaling>
          <c:max val="30.0"/>
          <c:min val="0.0"/>
        </c:scaling>
        <c:delete val="0"/>
        <c:axPos val="b"/>
        <c:majorGridlines>
          <c:spPr>
            <a:ln w="9525">
              <a:solidFill>
                <a:srgbClr val="E3DCD3"/>
              </a:solidFill>
            </a:ln>
          </c:spPr>
        </c:majorGridlines>
        <c:numFmt formatCode="0&quot;x&quot;" sourceLinked="0"/>
        <c:majorTickMark val="none"/>
        <c:minorTickMark val="none"/>
        <c:tickLblPos val="nextTo"/>
        <c:spPr>
          <a:ln>
            <a:noFill/>
          </a:ln>
        </c:spPr>
        <c:txPr>
          <a:bodyPr/>
          <a:lstStyle/>
          <a:p>
            <a:pPr>
              <a:defRPr sz="700">
                <a:solidFill>
                  <a:srgbClr val="6F6A66"/>
                </a:solidFill>
              </a:defRPr>
            </a:pPr>
          </a:p>
        </c:txPr>
        <c:crossAx val="-2068027336"/>
        <c:crosses val="autoZero"/>
        <c:majorUnit val="10.0"/>
      </c:valAx>
      <c:spPr>
        <a:noFill/>
        <a:ln>
          <a:noFill/>
        </a:ln>
      </c:spPr>
    </c:plotArea>
    <c:legend>
      <c:legendPos val="b"/>
      <c:overlay val="0"/>
      <c:txPr>
        <a:bodyPr/>
        <a:lstStyle/>
        <a:p>
          <a:pPr>
            <a:defRPr sz="700"/>
          </a:pPr>
        </a:p>
      </c:txPr>
    </c:legend>
    <c:dispBlanksAs val="gap"/>
  </c:chart>
  <c:spPr>
    <a:noFill/>
    <a:ln>
      <a:noFill/>
    </a:ln>
  </c:spPr>
  <c:txPr>
    <a:bodyPr/>
    <a:lstStyle/>
    <a:p>
      <a:pPr>
        <a:defRPr sz="700">
          <a:solidFill>
            <a:srgbClr val="333231"/>
          </a:solidFill>
          <a:latin typeface="Quicksand"/>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barChart>
        <c:barDir val="bar"/>
        <c:grouping val="clustered"/>
        <c:varyColors val="0"/>
        <c:ser>
          <c:idx val="0"/>
          <c:order val="0"/>
          <c:tx>
            <c:strRef>
              <c:f>Sheet1!$B$1</c:f>
              <c:strCache>
                <c:ptCount val="1"/>
                <c:pt idx="0">
                  <c:v>Value</c:v>
                </c:pt>
              </c:strCache>
            </c:strRef>
          </c:tx>
          <c:spPr>
            <a:solidFill>
              <a:srgbClr val="A0754A"/>
            </a:solidFill>
          </c:spPr>
          <c:invertIfNegative val="0"/>
          <c:cat>
            <c:strRef>
              <c:f>Sheet1!$A$2:$A$7</c:f>
              <c:strCache>
                <c:ptCount val="6"/>
                <c:pt idx="0">
                  <c:v>Managed IT &amp; Cloud</c:v>
                </c:pt>
                <c:pt idx="1">
                  <c:v>Cybersecurity</c:v>
                </c:pt>
                <c:pt idx="2">
                  <c:v>Telecom &amp; UCaaS</c:v>
                </c:pt>
                <c:pt idx="3">
                  <c:v>Systems Integration</c:v>
                </c:pt>
                <c:pt idx="4">
                  <c:v>Electronics &amp; Hardware</c:v>
                </c:pt>
                <c:pt idx="5">
                  <c:v>Government Technology</c:v>
                </c:pt>
              </c:strCache>
            </c:strRef>
          </c:cat>
          <c:val>
            <c:numRef>
              <c:f>Sheet1!$B$2:$B$7</c:f>
              <c:numCache>
                <c:formatCode>General</c:formatCode>
                <c:ptCount val="6"/>
                <c:pt idx="0">
                  <c:v>5.64</c:v>
                </c:pt>
                <c:pt idx="1">
                  <c:v>14.995</c:v>
                </c:pt>
                <c:pt idx="2">
                  <c:v>5.22</c:v>
                </c:pt>
                <c:pt idx="3">
                  <c:v>11.39</c:v>
                </c:pt>
                <c:pt idx="4">
                  <c:v>20.64</c:v>
                </c:pt>
                <c:pt idx="5">
                  <c:v>-0.78</c:v>
                </c:pt>
              </c:numCache>
            </c:numRef>
          </c:val>
        </c:ser>
        <c:dLbls>
          <c:numFmt formatCode="&quot;+&quot;0.0&quot;%&quot;;&quot;−&quot;0.0&quot;%&quot;;0.0&quot;%&quot;" sourceLinked="0"/>
          <c:txPr>
            <a:bodyPr/>
            <a:lstStyle/>
            <a:p>
              <a:pPr>
                <a:defRPr b="1" sz="750">
                  <a:solidFill>
                    <a:srgbClr val="1B1A1A"/>
                  </a:solidFill>
                </a:defRPr>
              </a:pPr>
            </a:p>
          </c:txPr>
          <c:dLblPos val="outEnd"/>
          <c:showLegendKey val="0"/>
          <c:showVal val="1"/>
          <c:showCatName val="0"/>
          <c:showSerName val="0"/>
          <c:showPercent val="0"/>
          <c:showBubbleSize val="0"/>
          <c:showLeaderLines val="1"/>
        </c:dLbls>
        <c:gapWidth/>
        <c:axId val="-2068027336"/>
        <c:axId val="-2113994440"/>
      </c:barChart>
      <c:catAx>
        <c:axId val="-2068027336"/>
        <c:scaling>
          <c:orientation val="maxMin"/>
        </c:scaling>
        <c:delete val="0"/>
        <c:axPos val="l"/>
        <c:majorTickMark val="none"/>
        <c:minorTickMark val="none"/>
        <c:tickLblPos val="low"/>
        <c:spPr>
          <a:ln w="9525">
            <a:solidFill>
              <a:srgbClr val="C3BDB6"/>
            </a:solidFill>
          </a:ln>
        </c:spPr>
        <c:txPr>
          <a:bodyPr/>
          <a:lstStyle/>
          <a:p>
            <a:pPr>
              <a:defRPr sz="750" b="1">
                <a:solidFill>
                  <a:srgbClr val="333231"/>
                </a:solidFill>
              </a:defRPr>
            </a:pPr>
          </a:p>
        </c:txPr>
        <c:crossAx val="-2113994440"/>
        <c:crosses val="autoZero"/>
        <c:auto val="1"/>
        <c:lblAlgn val="ctr"/>
        <c:lblOffset val="100"/>
        <c:noMultiLvlLbl val="0"/>
      </c:catAx>
      <c:valAx>
        <c:axId val="-2113994440"/>
        <c:scaling>
          <c:max val="25.352400000000003"/>
          <c:min val="-6.777600000000001"/>
        </c:scaling>
        <c:delete/>
        <c:axPos val="b"/>
        <c:majorTickMark val="out"/>
        <c:minorTickMark val="none"/>
        <c:tickLblPos val="nextTo"/>
        <c:crossAx val="-2068027336"/>
        <c:crosses val="autoZero"/>
      </c:valAx>
      <c:spPr>
        <a:noFill/>
        <a:ln>
          <a:noFill/>
        </a:ln>
      </c:spPr>
    </c:plotArea>
    <c:dispBlanksAs val="gap"/>
  </c:chart>
  <c:spPr>
    <a:noFill/>
    <a:ln>
      <a:noFill/>
    </a:ln>
  </c:spPr>
  <c:txPr>
    <a:bodyPr/>
    <a:lstStyle/>
    <a:p>
      <a:pPr>
        <a:defRPr sz="750">
          <a:solidFill>
            <a:srgbClr val="333231"/>
          </a:solidFill>
          <a:latin typeface="Quicksand"/>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barChart>
        <c:barDir val="bar"/>
        <c:grouping val="clustered"/>
        <c:varyColors val="0"/>
        <c:ser>
          <c:idx val="0"/>
          <c:order val="0"/>
          <c:tx>
            <c:strRef>
              <c:f>Sheet1!$B$1</c:f>
              <c:strCache>
                <c:ptCount val="1"/>
                <c:pt idx="0">
                  <c:v>Value</c:v>
                </c:pt>
              </c:strCache>
            </c:strRef>
          </c:tx>
          <c:spPr>
            <a:solidFill>
              <a:srgbClr val="A0754A"/>
            </a:solidFill>
          </c:spPr>
          <c:invertIfNegative val="0"/>
          <c:cat>
            <c:strRef>
              <c:f>Sheet1!$A$2:$A$9</c:f>
              <c:strCache>
                <c:ptCount val="8"/>
                <c:pt idx="0">
                  <c:v>Sanmina (Electronics &amp; Hardware)</c:v>
                </c:pt>
                <c:pt idx="1">
                  <c:v>Celestica (Electronics &amp; Hardware)</c:v>
                </c:pt>
                <c:pt idx="2">
                  <c:v>Computacenter (Systems Integration)</c:v>
                </c:pt>
                <c:pt idx="3">
                  <c:v>TTM Technologies (Electronics &amp; Hardware)</c:v>
                </c:pt>
                <c:pt idx="4">
                  <c:v>Keysight (Electronics &amp; Hardware)</c:v>
                </c:pt>
                <c:pt idx="5">
                  <c:v>Crexendo (Telecom &amp; UCaaS)</c:v>
                </c:pt>
                <c:pt idx="6">
                  <c:v>Zscaler (Cybersecurity)</c:v>
                </c:pt>
                <c:pt idx="7">
                  <c:v>Palo Alto Networks (Cybersecurity)</c:v>
                </c:pt>
              </c:strCache>
            </c:strRef>
          </c:cat>
          <c:val>
            <c:numRef>
              <c:f>Sheet1!$B$2:$B$9</c:f>
              <c:numCache>
                <c:formatCode>General</c:formatCode>
                <c:ptCount val="8"/>
                <c:pt idx="0">
                  <c:v>58.56</c:v>
                </c:pt>
                <c:pt idx="1">
                  <c:v>47.3</c:v>
                </c:pt>
                <c:pt idx="2">
                  <c:v>31.07</c:v>
                </c:pt>
                <c:pt idx="3">
                  <c:v>27.59</c:v>
                </c:pt>
                <c:pt idx="4">
                  <c:v>25.54</c:v>
                </c:pt>
                <c:pt idx="5">
                  <c:v>25.5</c:v>
                </c:pt>
                <c:pt idx="6">
                  <c:v>25.42</c:v>
                </c:pt>
                <c:pt idx="7">
                  <c:v>24.5</c:v>
                </c:pt>
              </c:numCache>
            </c:numRef>
          </c:val>
        </c:ser>
        <c:dLbls>
          <c:numFmt formatCode="&quot;+&quot;0.0&quot;%&quot;;&quot;−&quot;0.0&quot;%&quot;;0.0&quot;%&quot;" sourceLinked="0"/>
          <c:txPr>
            <a:bodyPr/>
            <a:lstStyle/>
            <a:p>
              <a:pPr>
                <a:defRPr b="1" sz="750">
                  <a:solidFill>
                    <a:srgbClr val="1B1A1A"/>
                  </a:solidFill>
                </a:defRPr>
              </a:pPr>
            </a:p>
          </c:txPr>
          <c:dLblPos val="outEnd"/>
          <c:showLegendKey val="0"/>
          <c:showVal val="1"/>
          <c:showCatName val="0"/>
          <c:showSerName val="0"/>
          <c:showPercent val="0"/>
          <c:showBubbleSize val="0"/>
          <c:showLeaderLines val="1"/>
        </c:dLbls>
        <c:gapWidth/>
        <c:axId val="-2068027336"/>
        <c:axId val="-2113994440"/>
      </c:barChart>
      <c:catAx>
        <c:axId val="-2068027336"/>
        <c:scaling>
          <c:orientation val="maxMin"/>
        </c:scaling>
        <c:delete val="0"/>
        <c:axPos val="l"/>
        <c:majorTickMark val="none"/>
        <c:minorTickMark val="none"/>
        <c:tickLblPos val="low"/>
        <c:spPr>
          <a:ln w="9525">
            <a:solidFill>
              <a:srgbClr val="C3BDB6"/>
            </a:solidFill>
          </a:ln>
        </c:spPr>
        <c:txPr>
          <a:bodyPr/>
          <a:lstStyle/>
          <a:p>
            <a:pPr>
              <a:defRPr sz="750" b="1">
                <a:solidFill>
                  <a:srgbClr val="333231"/>
                </a:solidFill>
              </a:defRPr>
            </a:pPr>
          </a:p>
        </c:txPr>
        <c:crossAx val="-2113994440"/>
        <c:crosses val="autoZero"/>
        <c:auto val="1"/>
        <c:lblAlgn val="ctr"/>
        <c:lblOffset val="100"/>
        <c:noMultiLvlLbl val="0"/>
      </c:catAx>
      <c:valAx>
        <c:axId val="-2113994440"/>
        <c:scaling>
          <c:max val="73.2"/>
          <c:min val="0.0"/>
        </c:scaling>
        <c:delete/>
        <c:axPos val="b"/>
        <c:majorTickMark val="out"/>
        <c:minorTickMark val="none"/>
        <c:tickLblPos val="nextTo"/>
        <c:crossAx val="-2068027336"/>
        <c:crosses val="autoZero"/>
      </c:valAx>
      <c:spPr>
        <a:noFill/>
        <a:ln>
          <a:noFill/>
        </a:ln>
      </c:spPr>
    </c:plotArea>
    <c:dispBlanksAs val="gap"/>
  </c:chart>
  <c:spPr>
    <a:noFill/>
    <a:ln>
      <a:noFill/>
    </a:ln>
  </c:spPr>
  <c:txPr>
    <a:bodyPr/>
    <a:lstStyle/>
    <a:p>
      <a:pPr>
        <a:defRPr sz="750">
          <a:solidFill>
            <a:srgbClr val="333231"/>
          </a:solidFill>
          <a:latin typeface="Quicksand"/>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barChart>
        <c:barDir val="bar"/>
        <c:grouping val="clustered"/>
        <c:varyColors val="0"/>
        <c:ser>
          <c:idx val="0"/>
          <c:order val="0"/>
          <c:tx>
            <c:strRef>
              <c:f>Sheet1!$B$1</c:f>
              <c:strCache>
                <c:ptCount val="1"/>
                <c:pt idx="0">
                  <c:v>Value</c:v>
                </c:pt>
              </c:strCache>
            </c:strRef>
          </c:tx>
          <c:spPr>
            <a:solidFill>
              <a:srgbClr val="A0754A"/>
            </a:solidFill>
          </c:spPr>
          <c:invertIfNegative val="0"/>
          <c:cat>
            <c:strRef>
              <c:f>Sheet1!$A$2:$A$7</c:f>
              <c:strCache>
                <c:ptCount val="6"/>
                <c:pt idx="0">
                  <c:v>Managed IT &amp; Cloud</c:v>
                </c:pt>
                <c:pt idx="1">
                  <c:v>Cybersecurity</c:v>
                </c:pt>
                <c:pt idx="2">
                  <c:v>Telecom &amp; UCaaS</c:v>
                </c:pt>
                <c:pt idx="3">
                  <c:v>Systems Integration</c:v>
                </c:pt>
                <c:pt idx="4">
                  <c:v>Electronics &amp; Hardware</c:v>
                </c:pt>
                <c:pt idx="5">
                  <c:v>Government Technology</c:v>
                </c:pt>
              </c:strCache>
            </c:strRef>
          </c:cat>
          <c:val>
            <c:numRef>
              <c:f>Sheet1!$B$2:$B$7</c:f>
              <c:numCache>
                <c:formatCode>General</c:formatCode>
                <c:ptCount val="6"/>
                <c:pt idx="0">
                  <c:v>8.75</c:v>
                </c:pt>
                <c:pt idx="1">
                  <c:v>12.02</c:v>
                </c:pt>
                <c:pt idx="2">
                  <c:v>12.59</c:v>
                </c:pt>
                <c:pt idx="3">
                  <c:v>5.17</c:v>
                </c:pt>
                <c:pt idx="4">
                  <c:v>7</c:v>
                </c:pt>
                <c:pt idx="5">
                  <c:v>11.31</c:v>
                </c:pt>
              </c:numCache>
            </c:numRef>
          </c:val>
        </c:ser>
        <c:dLbls>
          <c:numFmt formatCode="0.0&quot;%&quot;;&quot;−&quot;0.0&quot;%&quot;;0.0&quot;%&quot;" sourceLinked="0"/>
          <c:txPr>
            <a:bodyPr/>
            <a:lstStyle/>
            <a:p>
              <a:pPr>
                <a:defRPr b="1" sz="750">
                  <a:solidFill>
                    <a:srgbClr val="1B1A1A"/>
                  </a:solidFill>
                </a:defRPr>
              </a:pPr>
            </a:p>
          </c:txPr>
          <c:dLblPos val="outEnd"/>
          <c:showLegendKey val="0"/>
          <c:showVal val="1"/>
          <c:showCatName val="0"/>
          <c:showSerName val="0"/>
          <c:showPercent val="0"/>
          <c:showBubbleSize val="0"/>
          <c:showLeaderLines val="1"/>
        </c:dLbls>
        <c:gapWidth/>
        <c:axId val="-2068027336"/>
        <c:axId val="-2113994440"/>
      </c:barChart>
      <c:catAx>
        <c:axId val="-2068027336"/>
        <c:scaling>
          <c:orientation val="maxMin"/>
        </c:scaling>
        <c:delete val="0"/>
        <c:axPos val="l"/>
        <c:majorTickMark val="none"/>
        <c:minorTickMark val="none"/>
        <c:tickLblPos val="low"/>
        <c:spPr>
          <a:ln w="9525">
            <a:solidFill>
              <a:srgbClr val="C3BDB6"/>
            </a:solidFill>
          </a:ln>
        </c:spPr>
        <c:txPr>
          <a:bodyPr/>
          <a:lstStyle/>
          <a:p>
            <a:pPr>
              <a:defRPr sz="750" b="1">
                <a:solidFill>
                  <a:srgbClr val="333231"/>
                </a:solidFill>
              </a:defRPr>
            </a:pPr>
          </a:p>
        </c:txPr>
        <c:crossAx val="-2113994440"/>
        <c:crosses val="autoZero"/>
        <c:auto val="1"/>
        <c:lblAlgn val="ctr"/>
        <c:lblOffset val="100"/>
        <c:noMultiLvlLbl val="0"/>
      </c:catAx>
      <c:valAx>
        <c:axId val="-2113994440"/>
        <c:scaling>
          <c:max val="15.3598"/>
          <c:min val="0.0"/>
        </c:scaling>
        <c:delete/>
        <c:axPos val="b"/>
        <c:majorTickMark val="out"/>
        <c:minorTickMark val="none"/>
        <c:tickLblPos val="nextTo"/>
        <c:crossAx val="-2068027336"/>
        <c:crosses val="autoZero"/>
      </c:valAx>
      <c:spPr>
        <a:noFill/>
        <a:ln>
          <a:noFill/>
        </a:ln>
      </c:spPr>
    </c:plotArea>
    <c:dispBlanksAs val="gap"/>
  </c:chart>
  <c:spPr>
    <a:noFill/>
    <a:ln>
      <a:noFill/>
    </a:ln>
  </c:spPr>
  <c:txPr>
    <a:bodyPr/>
    <a:lstStyle/>
    <a:p>
      <a:pPr>
        <a:defRPr sz="750">
          <a:solidFill>
            <a:srgbClr val="333231"/>
          </a:solidFill>
          <a:latin typeface="Quicksand"/>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barChart>
        <c:barDir val="bar"/>
        <c:grouping val="clustered"/>
        <c:varyColors val="0"/>
        <c:ser>
          <c:idx val="0"/>
          <c:order val="0"/>
          <c:tx>
            <c:strRef>
              <c:f>Sheet1!$B$1</c:f>
              <c:strCache>
                <c:ptCount val="1"/>
                <c:pt idx="0">
                  <c:v>Value</c:v>
                </c:pt>
              </c:strCache>
            </c:strRef>
          </c:tx>
          <c:spPr>
            <a:solidFill>
              <a:srgbClr val="A0754A"/>
            </a:solidFill>
          </c:spPr>
          <c:invertIfNegative val="0"/>
          <c:cat>
            <c:strRef>
              <c:f>Sheet1!$A$2:$A$7</c:f>
              <c:strCache>
                <c:ptCount val="6"/>
                <c:pt idx="0">
                  <c:v>Managed IT &amp; Cloud</c:v>
                </c:pt>
                <c:pt idx="1">
                  <c:v>Cybersecurity</c:v>
                </c:pt>
                <c:pt idx="2">
                  <c:v>Telecom &amp; UCaaS</c:v>
                </c:pt>
                <c:pt idx="3">
                  <c:v>Systems Integration</c:v>
                </c:pt>
                <c:pt idx="4">
                  <c:v>Electronics &amp; Hardware</c:v>
                </c:pt>
                <c:pt idx="5">
                  <c:v>Government Technology</c:v>
                </c:pt>
              </c:strCache>
            </c:strRef>
          </c:cat>
          <c:val>
            <c:numRef>
              <c:f>Sheet1!$B$2:$B$7</c:f>
              <c:numCache>
                <c:formatCode>General</c:formatCode>
                <c:ptCount val="6"/>
                <c:pt idx="0">
                  <c:v>4.62</c:v>
                </c:pt>
                <c:pt idx="1">
                  <c:v>33.845</c:v>
                </c:pt>
                <c:pt idx="2">
                  <c:v>9.88</c:v>
                </c:pt>
                <c:pt idx="3">
                  <c:v>3.53</c:v>
                </c:pt>
                <c:pt idx="4">
                  <c:v>3.33</c:v>
                </c:pt>
                <c:pt idx="5">
                  <c:v>10.06</c:v>
                </c:pt>
              </c:numCache>
            </c:numRef>
          </c:val>
        </c:ser>
        <c:dLbls>
          <c:numFmt formatCode="0.0&quot;%&quot;;&quot;−&quot;0.0&quot;%&quot;;0.0&quot;%&quot;" sourceLinked="0"/>
          <c:txPr>
            <a:bodyPr/>
            <a:lstStyle/>
            <a:p>
              <a:pPr>
                <a:defRPr b="1" sz="750">
                  <a:solidFill>
                    <a:srgbClr val="1B1A1A"/>
                  </a:solidFill>
                </a:defRPr>
              </a:pPr>
            </a:p>
          </c:txPr>
          <c:dLblPos val="outEnd"/>
          <c:showLegendKey val="0"/>
          <c:showVal val="1"/>
          <c:showCatName val="0"/>
          <c:showSerName val="0"/>
          <c:showPercent val="0"/>
          <c:showBubbleSize val="0"/>
          <c:showLeaderLines val="1"/>
        </c:dLbls>
        <c:gapWidth/>
        <c:axId val="-2068027336"/>
        <c:axId val="-2113994440"/>
      </c:barChart>
      <c:catAx>
        <c:axId val="-2068027336"/>
        <c:scaling>
          <c:orientation val="maxMin"/>
        </c:scaling>
        <c:delete val="0"/>
        <c:axPos val="l"/>
        <c:majorTickMark val="none"/>
        <c:minorTickMark val="none"/>
        <c:tickLblPos val="low"/>
        <c:spPr>
          <a:ln w="9525">
            <a:solidFill>
              <a:srgbClr val="C3BDB6"/>
            </a:solidFill>
          </a:ln>
        </c:spPr>
        <c:txPr>
          <a:bodyPr/>
          <a:lstStyle/>
          <a:p>
            <a:pPr>
              <a:defRPr sz="750" b="1">
                <a:solidFill>
                  <a:srgbClr val="333231"/>
                </a:solidFill>
              </a:defRPr>
            </a:pPr>
          </a:p>
        </c:txPr>
        <c:crossAx val="-2113994440"/>
        <c:crosses val="autoZero"/>
        <c:auto val="1"/>
        <c:lblAlgn val="ctr"/>
        <c:lblOffset val="100"/>
        <c:noMultiLvlLbl val="0"/>
      </c:catAx>
      <c:valAx>
        <c:axId val="-2113994440"/>
        <c:scaling>
          <c:max val="41.2909"/>
          <c:min val="0.0"/>
        </c:scaling>
        <c:delete/>
        <c:axPos val="b"/>
        <c:majorTickMark val="out"/>
        <c:minorTickMark val="none"/>
        <c:tickLblPos val="nextTo"/>
        <c:crossAx val="-2068027336"/>
        <c:crosses val="autoZero"/>
      </c:valAx>
      <c:spPr>
        <a:noFill/>
        <a:ln>
          <a:noFill/>
        </a:ln>
      </c:spPr>
    </c:plotArea>
    <c:dispBlanksAs val="gap"/>
  </c:chart>
  <c:spPr>
    <a:noFill/>
    <a:ln>
      <a:noFill/>
    </a:ln>
  </c:spPr>
  <c:txPr>
    <a:bodyPr/>
    <a:lstStyle/>
    <a:p>
      <a:pPr>
        <a:defRPr sz="750">
          <a:solidFill>
            <a:srgbClr val="333231"/>
          </a:solidFill>
          <a:latin typeface="Quicksand"/>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barChart>
        <c:barDir val="bar"/>
        <c:grouping val="clustered"/>
        <c:varyColors val="0"/>
        <c:ser>
          <c:idx val="0"/>
          <c:order val="0"/>
          <c:tx>
            <c:strRef>
              <c:f>Sheet1!$B$1</c:f>
              <c:strCache>
                <c:ptCount val="1"/>
                <c:pt idx="0">
                  <c:v>Value</c:v>
                </c:pt>
              </c:strCache>
            </c:strRef>
          </c:tx>
          <c:spPr>
            <a:solidFill>
              <a:srgbClr val="A0754A"/>
            </a:solidFill>
          </c:spPr>
          <c:invertIfNegative val="0"/>
          <c:cat>
            <c:strRef>
              <c:f>Sheet1!$A$2:$A$18</c:f>
              <c:strCache>
                <c:ptCount val="17"/>
                <c:pt idx="0">
                  <c:v>Celestica</c:v>
                </c:pt>
                <c:pt idx="1">
                  <c:v>TD SYNNEX</c:v>
                </c:pt>
                <c:pt idx="2">
                  <c:v>Palo Alto Networks</c:v>
                </c:pt>
                <c:pt idx="3">
                  <c:v>CrowdStrike</c:v>
                </c:pt>
                <c:pt idx="4">
                  <c:v>Fortinet</c:v>
                </c:pt>
                <c:pt idx="5">
                  <c:v>Flex</c:v>
                </c:pt>
                <c:pt idx="6">
                  <c:v>CACI</c:v>
                </c:pt>
                <c:pt idx="7">
                  <c:v>Insight Enterprises</c:v>
                </c:pt>
                <c:pt idx="8">
                  <c:v>Wesco</c:v>
                </c:pt>
                <c:pt idx="9">
                  <c:v>CDW</c:v>
                </c:pt>
                <c:pt idx="10">
                  <c:v>Napco Security</c:v>
                </c:pt>
                <c:pt idx="11">
                  <c:v>Tyler Technologies</c:v>
                </c:pt>
                <c:pt idx="12">
                  <c:v>Leidos</c:v>
                </c:pt>
                <c:pt idx="13">
                  <c:v>Accenture</c:v>
                </c:pt>
                <c:pt idx="14">
                  <c:v>RingCentral</c:v>
                </c:pt>
                <c:pt idx="15">
                  <c:v>Zoom</c:v>
                </c:pt>
                <c:pt idx="16">
                  <c:v>Booz Allen Hamilton</c:v>
                </c:pt>
              </c:strCache>
            </c:strRef>
          </c:cat>
          <c:val>
            <c:numRef>
              <c:f>Sheet1!$B$2:$B$18</c:f>
              <c:numCache>
                <c:formatCode>General</c:formatCode>
                <c:ptCount val="17"/>
                <c:pt idx="0">
                  <c:v>62</c:v>
                </c:pt>
                <c:pt idx="1">
                  <c:v>37.7</c:v>
                </c:pt>
                <c:pt idx="2">
                  <c:v>34</c:v>
                </c:pt>
                <c:pt idx="3">
                  <c:v>26</c:v>
                </c:pt>
                <c:pt idx="4">
                  <c:v>26</c:v>
                </c:pt>
                <c:pt idx="5">
                  <c:v>21</c:v>
                </c:pt>
                <c:pt idx="6">
                  <c:v>17.6</c:v>
                </c:pt>
                <c:pt idx="7">
                  <c:v>15</c:v>
                </c:pt>
                <c:pt idx="8">
                  <c:v>13</c:v>
                </c:pt>
                <c:pt idx="9">
                  <c:v>10</c:v>
                </c:pt>
                <c:pt idx="10">
                  <c:v>10</c:v>
                </c:pt>
                <c:pt idx="11">
                  <c:v>8.2</c:v>
                </c:pt>
                <c:pt idx="12">
                  <c:v>7</c:v>
                </c:pt>
                <c:pt idx="13">
                  <c:v>6</c:v>
                </c:pt>
                <c:pt idx="14">
                  <c:v>5.9</c:v>
                </c:pt>
                <c:pt idx="15">
                  <c:v>4.9</c:v>
                </c:pt>
                <c:pt idx="16">
                  <c:v>-4.2</c:v>
                </c:pt>
              </c:numCache>
            </c:numRef>
          </c:val>
        </c:ser>
        <c:dLbls>
          <c:numFmt formatCode="&quot;+&quot;0.0&quot;%&quot;;&quot;−&quot;0.0&quot;%&quot;;0.0&quot;%&quot;" sourceLinked="0"/>
          <c:txPr>
            <a:bodyPr/>
            <a:lstStyle/>
            <a:p>
              <a:pPr>
                <a:defRPr b="1" sz="750">
                  <a:solidFill>
                    <a:srgbClr val="1B1A1A"/>
                  </a:solidFill>
                </a:defRPr>
              </a:pPr>
            </a:p>
          </c:txPr>
          <c:dLblPos val="outEnd"/>
          <c:showLegendKey val="0"/>
          <c:showVal val="1"/>
          <c:showCatName val="0"/>
          <c:showSerName val="0"/>
          <c:showPercent val="0"/>
          <c:showBubbleSize val="0"/>
          <c:showLeaderLines val="1"/>
        </c:dLbls>
        <c:gapWidth/>
        <c:axId val="-2068027336"/>
        <c:axId val="-2113994440"/>
      </c:barChart>
      <c:catAx>
        <c:axId val="-2068027336"/>
        <c:scaling>
          <c:orientation val="maxMin"/>
        </c:scaling>
        <c:delete val="0"/>
        <c:axPos val="l"/>
        <c:majorTickMark val="none"/>
        <c:minorTickMark val="none"/>
        <c:tickLblPos val="low"/>
        <c:spPr>
          <a:ln w="9525">
            <a:solidFill>
              <a:srgbClr val="C3BDB6"/>
            </a:solidFill>
          </a:ln>
        </c:spPr>
        <c:txPr>
          <a:bodyPr/>
          <a:lstStyle/>
          <a:p>
            <a:pPr>
              <a:defRPr sz="750" b="1">
                <a:solidFill>
                  <a:srgbClr val="333231"/>
                </a:solidFill>
              </a:defRPr>
            </a:pPr>
          </a:p>
        </c:txPr>
        <c:crossAx val="-2113994440"/>
        <c:crosses val="autoZero"/>
        <c:auto val="1"/>
        <c:lblAlgn val="ctr"/>
        <c:lblOffset val="100"/>
        <c:noMultiLvlLbl val="0"/>
      </c:catAx>
      <c:valAx>
        <c:axId val="-2113994440"/>
        <c:scaling>
          <c:max val="76.564"/>
          <c:min val="-22.736"/>
        </c:scaling>
        <c:delete/>
        <c:axPos val="b"/>
        <c:majorTickMark val="out"/>
        <c:minorTickMark val="none"/>
        <c:tickLblPos val="nextTo"/>
        <c:crossAx val="-2068027336"/>
        <c:crosses val="autoZero"/>
      </c:valAx>
      <c:spPr>
        <a:noFill/>
        <a:ln>
          <a:noFill/>
        </a:ln>
      </c:spPr>
    </c:plotArea>
    <c:dispBlanksAs val="gap"/>
  </c:chart>
  <c:spPr>
    <a:noFill/>
    <a:ln>
      <a:noFill/>
    </a:ln>
  </c:spPr>
  <c:txPr>
    <a:bodyPr/>
    <a:lstStyle/>
    <a:p>
      <a:pPr>
        <a:defRPr sz="750">
          <a:solidFill>
            <a:srgbClr val="333231"/>
          </a:solidFill>
          <a:latin typeface="Quicksand"/>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ineChart>
        <c:grouping val="standard"/>
        <c:varyColors val="0"/>
        <c:ser>
          <c:idx val="0"/>
          <c:order val="0"/>
          <c:tx>
            <c:strRef>
              <c:f>Sheet1!$B$1</c:f>
              <c:strCache>
                <c:ptCount val="1"/>
                <c:pt idx="0">
                  <c:v>Index</c:v>
                </c:pt>
              </c:strCache>
            </c:strRef>
          </c:tx>
          <c:spPr>
            <a:ln w="19050">
              <a:solidFill>
                <a:srgbClr val="A0754A"/>
              </a:solidFill>
            </a:ln>
          </c:spPr>
          <c:marker>
            <c:symbol val="none"/>
          </c:marker>
          <c:dPt>
            <c:idx val="59"/>
            <c:marker>
              <c:symbol val="circle"/>
              <c:size val="7"/>
              <c:spPr>
                <a:solidFill>
                  <a:srgbClr val="A0754A"/>
                </a:solidFill>
                <a:ln>
                  <a:solidFill>
                    <a:srgbClr val="FFFFFF"/>
                  </a:solidFill>
                </a:ln>
              </c:spPr>
            </c:marker>
          </c:dPt>
          <c:dLbls>
            <c:dLbl>
              <c:idx val="59"/>
              <c:tx>
                <c:rich>
                  <a:bodyPr/>
                  <a:lstStyle/>
                  <a:p>
                    <a:r>
                      <a:rPr b="1" sz="750">
                        <a:solidFill>
                          <a:srgbClr val="1B1A1A"/>
                        </a:solidFill>
                        <a:latin typeface="Quicksand"/>
                      </a:rPr>
                      <a:t>138</a:t>
                    </a:r>
                  </a:p>
                </c:rich>
              </c:tx>
              <c:dLblPos val="r"/>
              <c:showLegendKey val="0"/>
              <c:showVal val="1"/>
              <c:showCatName val="0"/>
              <c:showSerName val="0"/>
              <c:showPercent val="0"/>
              <c:showBubbleSize val="0"/>
            </c:dLbl>
            <c:showLegendKey val="0"/>
            <c:showVal val="0"/>
            <c:showCatName val="0"/>
            <c:showSerName val="0"/>
            <c:showPercent val="0"/>
            <c:showBubbleSize val="0"/>
            <c:showLeaderLines val="1"/>
          </c:dLbls>
          <c:cat>
            <c:strRef>
              <c:f>Sheet1!$A$2:$A$61</c:f>
              <c:strCache>
                <c:ptCount val="60"/>
                <c:pt idx="0">
                  <c:v>Sep 2021</c:v>
                </c:pt>
                <c:pt idx="1">
                  <c:v>Oct 2021</c:v>
                </c:pt>
                <c:pt idx="2">
                  <c:v>Nov 2021</c:v>
                </c:pt>
                <c:pt idx="3">
                  <c:v>Dec 2021</c:v>
                </c:pt>
                <c:pt idx="4">
                  <c:v>Jan 2022</c:v>
                </c:pt>
                <c:pt idx="5">
                  <c:v>Feb 2022</c:v>
                </c:pt>
                <c:pt idx="6">
                  <c:v>Mar 2022</c:v>
                </c:pt>
                <c:pt idx="7">
                  <c:v>Apr 2022</c:v>
                </c:pt>
                <c:pt idx="8">
                  <c:v>May 2022</c:v>
                </c:pt>
                <c:pt idx="9">
                  <c:v>Jun 2022</c:v>
                </c:pt>
                <c:pt idx="10">
                  <c:v>Jul 2022</c:v>
                </c:pt>
                <c:pt idx="11">
                  <c:v>Aug 2022</c:v>
                </c:pt>
                <c:pt idx="12">
                  <c:v>Sep 2022</c:v>
                </c:pt>
                <c:pt idx="13">
                  <c:v>Oct 2022</c:v>
                </c:pt>
                <c:pt idx="14">
                  <c:v>Nov 2022</c:v>
                </c:pt>
                <c:pt idx="15">
                  <c:v>Dec 2022</c:v>
                </c:pt>
                <c:pt idx="16">
                  <c:v>Jan 2023</c:v>
                </c:pt>
                <c:pt idx="17">
                  <c:v>Feb 2023</c:v>
                </c:pt>
                <c:pt idx="18">
                  <c:v>Mar 2023</c:v>
                </c:pt>
                <c:pt idx="19">
                  <c:v>Apr 2023</c:v>
                </c:pt>
                <c:pt idx="20">
                  <c:v>May 2023</c:v>
                </c:pt>
                <c:pt idx="21">
                  <c:v>Jun 2023</c:v>
                </c:pt>
                <c:pt idx="22">
                  <c:v>Jul 2023</c:v>
                </c:pt>
                <c:pt idx="23">
                  <c:v>Aug 2023</c:v>
                </c:pt>
                <c:pt idx="24">
                  <c:v>Sep 2023</c:v>
                </c:pt>
                <c:pt idx="25">
                  <c:v>Oct 2023</c:v>
                </c:pt>
                <c:pt idx="26">
                  <c:v>Nov 2023</c:v>
                </c:pt>
                <c:pt idx="27">
                  <c:v>Dec 2023</c:v>
                </c:pt>
                <c:pt idx="28">
                  <c:v>Jan 2024</c:v>
                </c:pt>
                <c:pt idx="29">
                  <c:v>Feb 2024</c:v>
                </c:pt>
                <c:pt idx="30">
                  <c:v>Mar 2024</c:v>
                </c:pt>
                <c:pt idx="31">
                  <c:v>Apr 2024</c:v>
                </c:pt>
                <c:pt idx="32">
                  <c:v>May 2024</c:v>
                </c:pt>
                <c:pt idx="33">
                  <c:v>Jun 2024</c:v>
                </c:pt>
                <c:pt idx="34">
                  <c:v>Jul 2024</c:v>
                </c:pt>
                <c:pt idx="35">
                  <c:v>Aug 2024</c:v>
                </c:pt>
                <c:pt idx="36">
                  <c:v>Sep 2024</c:v>
                </c:pt>
                <c:pt idx="37">
                  <c:v>Oct 2024</c:v>
                </c:pt>
                <c:pt idx="38">
                  <c:v>Nov 2024</c:v>
                </c:pt>
                <c:pt idx="39">
                  <c:v>Dec 2024</c:v>
                </c:pt>
                <c:pt idx="40">
                  <c:v>Jan 2025</c:v>
                </c:pt>
                <c:pt idx="41">
                  <c:v>Feb 2025</c:v>
                </c:pt>
                <c:pt idx="42">
                  <c:v>Mar 2025</c:v>
                </c:pt>
                <c:pt idx="43">
                  <c:v>Apr 2025</c:v>
                </c:pt>
                <c:pt idx="44">
                  <c:v>May 2025</c:v>
                </c:pt>
                <c:pt idx="45">
                  <c:v>Jun 2025</c:v>
                </c:pt>
                <c:pt idx="46">
                  <c:v>Jul 2025</c:v>
                </c:pt>
                <c:pt idx="47">
                  <c:v>Aug 2025</c:v>
                </c:pt>
                <c:pt idx="48">
                  <c:v>Sep 2025</c:v>
                </c:pt>
                <c:pt idx="49">
                  <c:v>Oct 2025</c:v>
                </c:pt>
                <c:pt idx="50">
                  <c:v>Nov 2025</c:v>
                </c:pt>
                <c:pt idx="51">
                  <c:v>Dec 2025</c:v>
                </c:pt>
                <c:pt idx="52">
                  <c:v>Jan 2026</c:v>
                </c:pt>
                <c:pt idx="53">
                  <c:v>Feb 2026</c:v>
                </c:pt>
                <c:pt idx="54">
                  <c:v>Mar 2026</c:v>
                </c:pt>
                <c:pt idx="55">
                  <c:v>Apr 2026</c:v>
                </c:pt>
                <c:pt idx="56">
                  <c:v>May 2026</c:v>
                </c:pt>
                <c:pt idx="57">
                  <c:v>Jun 2026</c:v>
                </c:pt>
                <c:pt idx="58">
                  <c:v>Jul 2026</c:v>
                </c:pt>
                <c:pt idx="59">
                  <c:v>Aug 2026</c:v>
                </c:pt>
              </c:strCache>
            </c:strRef>
          </c:cat>
          <c:val>
            <c:numRef>
              <c:f>Sheet1!$B$2:$B$61</c:f>
              <c:numCache>
                <c:formatCode>General</c:formatCode>
                <c:ptCount val="60"/>
                <c:pt idx="0">
                  <c:v>100</c:v>
                </c:pt>
                <c:pt idx="1">
                  <c:v>100.13</c:v>
                </c:pt>
                <c:pt idx="2">
                  <c:v>100.69</c:v>
                </c:pt>
                <c:pt idx="3">
                  <c:v>100.99</c:v>
                </c:pt>
                <c:pt idx="4">
                  <c:v>102.66</c:v>
                </c:pt>
                <c:pt idx="5">
                  <c:v>102.72</c:v>
                </c:pt>
                <c:pt idx="6">
                  <c:v>103.37</c:v>
                </c:pt>
                <c:pt idx="7">
                  <c:v>102.94</c:v>
                </c:pt>
                <c:pt idx="8">
                  <c:v>103.19</c:v>
                </c:pt>
                <c:pt idx="9">
                  <c:v>103.72</c:v>
                </c:pt>
                <c:pt idx="10">
                  <c:v>103.52</c:v>
                </c:pt>
                <c:pt idx="11">
                  <c:v>103.2</c:v>
                </c:pt>
                <c:pt idx="12">
                  <c:v>103.55</c:v>
                </c:pt>
                <c:pt idx="13">
                  <c:v>104.44</c:v>
                </c:pt>
                <c:pt idx="14">
                  <c:v>104.95</c:v>
                </c:pt>
                <c:pt idx="15">
                  <c:v>104.98</c:v>
                </c:pt>
                <c:pt idx="16">
                  <c:v>104.29</c:v>
                </c:pt>
                <c:pt idx="17">
                  <c:v>104.29</c:v>
                </c:pt>
                <c:pt idx="18">
                  <c:v>104.4</c:v>
                </c:pt>
                <c:pt idx="19">
                  <c:v>104.13</c:v>
                </c:pt>
                <c:pt idx="20">
                  <c:v>103.11</c:v>
                </c:pt>
                <c:pt idx="21">
                  <c:v>103.39</c:v>
                </c:pt>
                <c:pt idx="22">
                  <c:v>103.72</c:v>
                </c:pt>
                <c:pt idx="23">
                  <c:v>104.1</c:v>
                </c:pt>
                <c:pt idx="24">
                  <c:v>104.53</c:v>
                </c:pt>
                <c:pt idx="25">
                  <c:v>104.55</c:v>
                </c:pt>
                <c:pt idx="26">
                  <c:v>104.95</c:v>
                </c:pt>
                <c:pt idx="27">
                  <c:v>104.85</c:v>
                </c:pt>
                <c:pt idx="28">
                  <c:v>105.46</c:v>
                </c:pt>
                <c:pt idx="29">
                  <c:v>105.77</c:v>
                </c:pt>
                <c:pt idx="30">
                  <c:v>105.87</c:v>
                </c:pt>
                <c:pt idx="31">
                  <c:v>106.14</c:v>
                </c:pt>
                <c:pt idx="32">
                  <c:v>106.05</c:v>
                </c:pt>
                <c:pt idx="33">
                  <c:v>105.79</c:v>
                </c:pt>
                <c:pt idx="34">
                  <c:v>104.7</c:v>
                </c:pt>
                <c:pt idx="35">
                  <c:v>104.75</c:v>
                </c:pt>
                <c:pt idx="36">
                  <c:v>104.84</c:v>
                </c:pt>
                <c:pt idx="37">
                  <c:v>105.68</c:v>
                </c:pt>
                <c:pt idx="38">
                  <c:v>107.38</c:v>
                </c:pt>
                <c:pt idx="39">
                  <c:v>107.18</c:v>
                </c:pt>
                <c:pt idx="40">
                  <c:v>106.17</c:v>
                </c:pt>
                <c:pt idx="41">
                  <c:v>105.8</c:v>
                </c:pt>
                <c:pt idx="42">
                  <c:v>106.45</c:v>
                </c:pt>
                <c:pt idx="43">
                  <c:v>106.26</c:v>
                </c:pt>
                <c:pt idx="44">
                  <c:v>106.27</c:v>
                </c:pt>
                <c:pt idx="45">
                  <c:v>104.96</c:v>
                </c:pt>
                <c:pt idx="46">
                  <c:v>104.9</c:v>
                </c:pt>
                <c:pt idx="47">
                  <c:v>108.66</c:v>
                </c:pt>
                <c:pt idx="48">
                  <c:v>108.89</c:v>
                </c:pt>
                <c:pt idx="49">
                  <c:v>109.55</c:v>
                </c:pt>
                <c:pt idx="50">
                  <c:v>110.9</c:v>
                </c:pt>
                <c:pt idx="51">
                  <c:v>111.26</c:v>
                </c:pt>
                <c:pt idx="52">
                  <c:v>112.2</c:v>
                </c:pt>
                <c:pt idx="53">
                  <c:v>122.11</c:v>
                </c:pt>
                <c:pt idx="54">
                  <c:v>124.41</c:v>
                </c:pt>
                <c:pt idx="55">
                  <c:v>133.34</c:v>
                </c:pt>
                <c:pt idx="56">
                  <c:v>132.82</c:v>
                </c:pt>
                <c:pt idx="57">
                  <c:v>134.17</c:v>
                </c:pt>
                <c:pt idx="58">
                  <c:v>133.26</c:v>
                </c:pt>
                <c:pt idx="59">
                  <c:v>137.67</c:v>
                </c:pt>
              </c:numCache>
            </c:numRef>
          </c:val>
          <c:smooth val="0"/>
        </c:ser>
        <c:marker val="1"/>
        <c:smooth val="0"/>
        <c:axId val="2118791784"/>
        <c:axId val="2140495176"/>
      </c:lineChart>
      <c:catAx>
        <c:axId val="2118791784"/>
        <c:scaling>
          <c:orientation val="minMax"/>
        </c:scaling>
        <c:delete val="0"/>
        <c:axPos val="b"/>
        <c:majorTickMark val="none"/>
        <c:minorTickMark val="none"/>
        <c:tickLblPos val="nextTo"/>
        <c:spPr>
          <a:ln w="9525">
            <a:solidFill>
              <a:srgbClr val="C3BDB6"/>
            </a:solidFill>
          </a:ln>
        </c:spPr>
        <c:txPr>
          <a:bodyPr rot="0" vert="horz"/>
          <a:lstStyle/>
          <a:p>
            <a:pPr>
              <a:defRPr sz="675"/>
            </a:pPr>
          </a:p>
        </c:txPr>
        <c:crossAx val="2140495176"/>
        <c:crosses val="autoZero"/>
        <c:auto val="1"/>
        <c:lblAlgn val="ctr"/>
        <c:lblOffset val="100"/>
        <c:tickLblSkip val="12"/>
        <c:tickMarkSkip val="12"/>
        <c:noMultiLvlLbl val="0"/>
      </c:catAx>
      <c:valAx>
        <c:axId val="2140495176"/>
        <c:scaling>
          <c:max val="140.0"/>
          <c:min val="100.0"/>
        </c:scaling>
        <c:delete val="0"/>
        <c:axPos val="l"/>
        <c:majorGridlines>
          <c:spPr>
            <a:ln w="9525">
              <a:solidFill>
                <a:srgbClr val="E3DCD3"/>
              </a:solidFill>
            </a:ln>
          </c:spPr>
        </c:majorGridlines>
        <c:numFmt formatCode="0" sourceLinked="0"/>
        <c:majorTickMark val="none"/>
        <c:minorTickMark val="none"/>
        <c:tickLblPos val="nextTo"/>
        <c:spPr>
          <a:ln>
            <a:noFill/>
          </a:ln>
        </c:spPr>
        <c:txPr>
          <a:bodyPr/>
          <a:lstStyle/>
          <a:p>
            <a:pPr>
              <a:defRPr sz="675"/>
            </a:pPr>
          </a:p>
        </c:txPr>
        <c:crossAx val="2118791784"/>
        <c:crosses val="autoZero"/>
        <c:majorUnit val="10.0"/>
      </c:valAx>
      <c:spPr>
        <a:noFill/>
        <a:ln>
          <a:noFill/>
        </a:ln>
      </c:spPr>
    </c:plotArea>
    <c:plotVisOnly val="1"/>
    <c:dispBlanksAs val="gap"/>
    <c:showDLblsOverMax val="0"/>
  </c:chart>
  <c:spPr>
    <a:noFill/>
    <a:ln>
      <a:noFill/>
    </a:ln>
  </c:spPr>
  <c:txPr>
    <a:bodyPr/>
    <a:lstStyle/>
    <a:p>
      <a:pPr>
        <a:defRPr sz="675">
          <a:solidFill>
            <a:srgbClr val="6F6A66"/>
          </a:solidFill>
          <a:latin typeface="Quicksand"/>
        </a:defRPr>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ineChart>
        <c:grouping val="standard"/>
        <c:varyColors val="0"/>
        <c:ser>
          <c:idx val="0"/>
          <c:order val="0"/>
          <c:tx>
            <c:strRef>
              <c:f>Sheet1!$B$1</c:f>
              <c:strCache>
                <c:ptCount val="1"/>
                <c:pt idx="0">
                  <c:v>Index</c:v>
                </c:pt>
              </c:strCache>
            </c:strRef>
          </c:tx>
          <c:spPr>
            <a:ln w="19050">
              <a:solidFill>
                <a:srgbClr val="A0754A"/>
              </a:solidFill>
            </a:ln>
          </c:spPr>
          <c:marker>
            <c:symbol val="none"/>
          </c:marker>
          <c:dPt>
            <c:idx val="58"/>
            <c:marker>
              <c:symbol val="circle"/>
              <c:size val="7"/>
              <c:spPr>
                <a:solidFill>
                  <a:srgbClr val="A0754A"/>
                </a:solidFill>
                <a:ln>
                  <a:solidFill>
                    <a:srgbClr val="FFFFFF"/>
                  </a:solidFill>
                </a:ln>
              </c:spPr>
            </c:marker>
          </c:dPt>
          <c:dLbls>
            <c:dLbl>
              <c:idx val="58"/>
              <c:tx>
                <c:rich>
                  <a:bodyPr/>
                  <a:lstStyle/>
                  <a:p>
                    <a:r>
                      <a:rPr b="1" sz="750">
                        <a:solidFill>
                          <a:srgbClr val="1B1A1A"/>
                        </a:solidFill>
                        <a:latin typeface="Quicksand"/>
                      </a:rPr>
                      <a:t>145</a:t>
                    </a:r>
                  </a:p>
                </c:rich>
              </c:tx>
              <c:dLblPos val="r"/>
              <c:showLegendKey val="0"/>
              <c:showVal val="1"/>
              <c:showCatName val="0"/>
              <c:showSerName val="0"/>
              <c:showPercent val="0"/>
              <c:showBubbleSize val="0"/>
            </c:dLbl>
            <c:showLegendKey val="0"/>
            <c:showVal val="0"/>
            <c:showCatName val="0"/>
            <c:showSerName val="0"/>
            <c:showPercent val="0"/>
            <c:showBubbleSize val="0"/>
            <c:showLeaderLines val="1"/>
          </c:dLbls>
          <c:cat>
            <c:strRef>
              <c:f>Sheet1!$A$2:$A$60</c:f>
              <c:strCache>
                <c:ptCount val="59"/>
                <c:pt idx="0">
                  <c:v>Sep 2021</c:v>
                </c:pt>
                <c:pt idx="1">
                  <c:v>Oct 2021</c:v>
                </c:pt>
                <c:pt idx="2">
                  <c:v>Nov 2021</c:v>
                </c:pt>
                <c:pt idx="3">
                  <c:v>Dec 2021</c:v>
                </c:pt>
                <c:pt idx="4">
                  <c:v>Jan 2022</c:v>
                </c:pt>
                <c:pt idx="5">
                  <c:v>Feb 2022</c:v>
                </c:pt>
                <c:pt idx="6">
                  <c:v>Mar 2022</c:v>
                </c:pt>
                <c:pt idx="7">
                  <c:v>Apr 2022</c:v>
                </c:pt>
                <c:pt idx="8">
                  <c:v>May 2022</c:v>
                </c:pt>
                <c:pt idx="9">
                  <c:v>Jun 2022</c:v>
                </c:pt>
                <c:pt idx="10">
                  <c:v>Jul 2022</c:v>
                </c:pt>
                <c:pt idx="11">
                  <c:v>Aug 2022</c:v>
                </c:pt>
                <c:pt idx="12">
                  <c:v>Sep 2022</c:v>
                </c:pt>
                <c:pt idx="13">
                  <c:v>Oct 2022</c:v>
                </c:pt>
                <c:pt idx="14">
                  <c:v>Nov 2022</c:v>
                </c:pt>
                <c:pt idx="15">
                  <c:v>Dec 2022</c:v>
                </c:pt>
                <c:pt idx="16">
                  <c:v>Jan 2023</c:v>
                </c:pt>
                <c:pt idx="17">
                  <c:v>Feb 2023</c:v>
                </c:pt>
                <c:pt idx="18">
                  <c:v>Mar 2023</c:v>
                </c:pt>
                <c:pt idx="19">
                  <c:v>Apr 2023</c:v>
                </c:pt>
                <c:pt idx="20">
                  <c:v>May 2023</c:v>
                </c:pt>
                <c:pt idx="21">
                  <c:v>Jun 2023</c:v>
                </c:pt>
                <c:pt idx="22">
                  <c:v>Jul 2023</c:v>
                </c:pt>
                <c:pt idx="23">
                  <c:v>Aug 2023</c:v>
                </c:pt>
                <c:pt idx="24">
                  <c:v>Sep 2023</c:v>
                </c:pt>
                <c:pt idx="25">
                  <c:v>Oct 2023</c:v>
                </c:pt>
                <c:pt idx="26">
                  <c:v>Nov 2023</c:v>
                </c:pt>
                <c:pt idx="27">
                  <c:v>Dec 2023</c:v>
                </c:pt>
                <c:pt idx="28">
                  <c:v>Jan 2024</c:v>
                </c:pt>
                <c:pt idx="29">
                  <c:v>Feb 2024</c:v>
                </c:pt>
                <c:pt idx="30">
                  <c:v>Mar 2024</c:v>
                </c:pt>
                <c:pt idx="31">
                  <c:v>Apr 2024</c:v>
                </c:pt>
                <c:pt idx="32">
                  <c:v>May 2024</c:v>
                </c:pt>
                <c:pt idx="33">
                  <c:v>Jun 2024</c:v>
                </c:pt>
                <c:pt idx="34">
                  <c:v>Jul 2024</c:v>
                </c:pt>
                <c:pt idx="35">
                  <c:v>Aug 2024</c:v>
                </c:pt>
                <c:pt idx="36">
                  <c:v>Sep 2024</c:v>
                </c:pt>
                <c:pt idx="37">
                  <c:v>Oct 2024</c:v>
                </c:pt>
                <c:pt idx="38">
                  <c:v>Nov 2024</c:v>
                </c:pt>
                <c:pt idx="39">
                  <c:v>Dec 2024</c:v>
                </c:pt>
                <c:pt idx="40">
                  <c:v>Jan 2025</c:v>
                </c:pt>
                <c:pt idx="41">
                  <c:v>Feb 2025</c:v>
                </c:pt>
                <c:pt idx="42">
                  <c:v>Mar 2025</c:v>
                </c:pt>
                <c:pt idx="43">
                  <c:v>Apr 2025</c:v>
                </c:pt>
                <c:pt idx="44">
                  <c:v>May 2025</c:v>
                </c:pt>
                <c:pt idx="45">
                  <c:v>Jun 2025</c:v>
                </c:pt>
                <c:pt idx="46">
                  <c:v>Jul 2025</c:v>
                </c:pt>
                <c:pt idx="47">
                  <c:v>Aug 2025</c:v>
                </c:pt>
                <c:pt idx="48">
                  <c:v>Sep 2025</c:v>
                </c:pt>
                <c:pt idx="49">
                  <c:v>Oct 2025</c:v>
                </c:pt>
                <c:pt idx="50">
                  <c:v>Nov 2025</c:v>
                </c:pt>
                <c:pt idx="51">
                  <c:v>Dec 2025</c:v>
                </c:pt>
                <c:pt idx="52">
                  <c:v>Jan 2026</c:v>
                </c:pt>
                <c:pt idx="53">
                  <c:v>Feb 2026</c:v>
                </c:pt>
                <c:pt idx="54">
                  <c:v>Mar 2026</c:v>
                </c:pt>
                <c:pt idx="55">
                  <c:v>Apr 2026</c:v>
                </c:pt>
                <c:pt idx="56">
                  <c:v>May 2026</c:v>
                </c:pt>
                <c:pt idx="57">
                  <c:v>Jun 2026</c:v>
                </c:pt>
                <c:pt idx="58">
                  <c:v>Jul 2026</c:v>
                </c:pt>
              </c:strCache>
            </c:strRef>
          </c:cat>
          <c:val>
            <c:numRef>
              <c:f>Sheet1!$B$2:$B$60</c:f>
              <c:numCache>
                <c:formatCode>General</c:formatCode>
                <c:ptCount val="59"/>
                <c:pt idx="0">
                  <c:v>100</c:v>
                </c:pt>
                <c:pt idx="1">
                  <c:v>105.41</c:v>
                </c:pt>
                <c:pt idx="2">
                  <c:v>104.33</c:v>
                </c:pt>
                <c:pt idx="3">
                  <c:v>102.43</c:v>
                </c:pt>
                <c:pt idx="4">
                  <c:v>104.91</c:v>
                </c:pt>
                <c:pt idx="5">
                  <c:v>106.63</c:v>
                </c:pt>
                <c:pt idx="6">
                  <c:v>109.72</c:v>
                </c:pt>
                <c:pt idx="7">
                  <c:v>109.11</c:v>
                </c:pt>
                <c:pt idx="8">
                  <c:v>100.75</c:v>
                </c:pt>
                <c:pt idx="9">
                  <c:v>97.24</c:v>
                </c:pt>
                <c:pt idx="10">
                  <c:v>80.91</c:v>
                </c:pt>
                <c:pt idx="11">
                  <c:v>85.69</c:v>
                </c:pt>
                <c:pt idx="12">
                  <c:v>83.07</c:v>
                </c:pt>
                <c:pt idx="13">
                  <c:v>82.05</c:v>
                </c:pt>
                <c:pt idx="14">
                  <c:v>86.33</c:v>
                </c:pt>
                <c:pt idx="15">
                  <c:v>89.77</c:v>
                </c:pt>
                <c:pt idx="16">
                  <c:v>96.6</c:v>
                </c:pt>
                <c:pt idx="17">
                  <c:v>95.84</c:v>
                </c:pt>
                <c:pt idx="18">
                  <c:v>94.98</c:v>
                </c:pt>
                <c:pt idx="19">
                  <c:v>94.47</c:v>
                </c:pt>
                <c:pt idx="20">
                  <c:v>88.4</c:v>
                </c:pt>
                <c:pt idx="21">
                  <c:v>90.05</c:v>
                </c:pt>
                <c:pt idx="22">
                  <c:v>90.91</c:v>
                </c:pt>
                <c:pt idx="23">
                  <c:v>89.52</c:v>
                </c:pt>
                <c:pt idx="24">
                  <c:v>88.76</c:v>
                </c:pt>
                <c:pt idx="25">
                  <c:v>85.16</c:v>
                </c:pt>
                <c:pt idx="26">
                  <c:v>87.83</c:v>
                </c:pt>
                <c:pt idx="27">
                  <c:v>90.17</c:v>
                </c:pt>
                <c:pt idx="28">
                  <c:v>89.56</c:v>
                </c:pt>
                <c:pt idx="29">
                  <c:v>89.06</c:v>
                </c:pt>
                <c:pt idx="30">
                  <c:v>93.22</c:v>
                </c:pt>
                <c:pt idx="31">
                  <c:v>101.3</c:v>
                </c:pt>
                <c:pt idx="32">
                  <c:v>108.5</c:v>
                </c:pt>
                <c:pt idx="33">
                  <c:v>103.47</c:v>
                </c:pt>
                <c:pt idx="34">
                  <c:v>100.65</c:v>
                </c:pt>
                <c:pt idx="35">
                  <c:v>96.32</c:v>
                </c:pt>
                <c:pt idx="36">
                  <c:v>99.3</c:v>
                </c:pt>
                <c:pt idx="37">
                  <c:v>102.24</c:v>
                </c:pt>
                <c:pt idx="38">
                  <c:v>97.33</c:v>
                </c:pt>
                <c:pt idx="39">
                  <c:v>95.55</c:v>
                </c:pt>
                <c:pt idx="40">
                  <c:v>96.27</c:v>
                </c:pt>
                <c:pt idx="41">
                  <c:v>100.07</c:v>
                </c:pt>
                <c:pt idx="42">
                  <c:v>104.41</c:v>
                </c:pt>
                <c:pt idx="43">
                  <c:v>98.37</c:v>
                </c:pt>
                <c:pt idx="44">
                  <c:v>102.21</c:v>
                </c:pt>
                <c:pt idx="45">
                  <c:v>105.47</c:v>
                </c:pt>
                <c:pt idx="46">
                  <c:v>104.78</c:v>
                </c:pt>
                <c:pt idx="47">
                  <c:v>103.72</c:v>
                </c:pt>
                <c:pt idx="48">
                  <c:v>107.19</c:v>
                </c:pt>
                <c:pt idx="49">
                  <c:v>115.18</c:v>
                </c:pt>
                <c:pt idx="50">
                  <c:v>115.95</c:v>
                </c:pt>
                <c:pt idx="51">
                  <c:v>126.45</c:v>
                </c:pt>
                <c:pt idx="52">
                  <c:v>139.27</c:v>
                </c:pt>
                <c:pt idx="53">
                  <c:v>138.89</c:v>
                </c:pt>
                <c:pt idx="54">
                  <c:v>134.36</c:v>
                </c:pt>
                <c:pt idx="55">
                  <c:v>138.24</c:v>
                </c:pt>
                <c:pt idx="56">
                  <c:v>144.91</c:v>
                </c:pt>
                <c:pt idx="57">
                  <c:v>145.33</c:v>
                </c:pt>
                <c:pt idx="58">
                  <c:v>145.24</c:v>
                </c:pt>
              </c:numCache>
            </c:numRef>
          </c:val>
          <c:smooth val="0"/>
        </c:ser>
        <c:marker val="1"/>
        <c:smooth val="0"/>
        <c:axId val="2118791784"/>
        <c:axId val="2140495176"/>
      </c:lineChart>
      <c:catAx>
        <c:axId val="2118791784"/>
        <c:scaling>
          <c:orientation val="minMax"/>
        </c:scaling>
        <c:delete val="0"/>
        <c:axPos val="b"/>
        <c:majorTickMark val="none"/>
        <c:minorTickMark val="none"/>
        <c:tickLblPos val="nextTo"/>
        <c:spPr>
          <a:ln w="9525">
            <a:solidFill>
              <a:srgbClr val="C3BDB6"/>
            </a:solidFill>
          </a:ln>
        </c:spPr>
        <c:txPr>
          <a:bodyPr rot="0" vert="horz"/>
          <a:lstStyle/>
          <a:p>
            <a:pPr>
              <a:defRPr sz="675"/>
            </a:pPr>
          </a:p>
        </c:txPr>
        <c:crossAx val="2140495176"/>
        <c:crosses val="autoZero"/>
        <c:auto val="1"/>
        <c:lblAlgn val="ctr"/>
        <c:lblOffset val="100"/>
        <c:tickLblSkip val="12"/>
        <c:tickMarkSkip val="12"/>
        <c:noMultiLvlLbl val="0"/>
      </c:catAx>
      <c:valAx>
        <c:axId val="2140495176"/>
        <c:scaling>
          <c:max val="160.0"/>
          <c:min val="80.0"/>
        </c:scaling>
        <c:delete val="0"/>
        <c:axPos val="l"/>
        <c:majorGridlines>
          <c:spPr>
            <a:ln w="9525">
              <a:solidFill>
                <a:srgbClr val="E3DCD3"/>
              </a:solidFill>
            </a:ln>
          </c:spPr>
        </c:majorGridlines>
        <c:numFmt formatCode="0" sourceLinked="0"/>
        <c:majorTickMark val="none"/>
        <c:minorTickMark val="none"/>
        <c:tickLblPos val="nextTo"/>
        <c:spPr>
          <a:ln>
            <a:noFill/>
          </a:ln>
        </c:spPr>
        <c:txPr>
          <a:bodyPr/>
          <a:lstStyle/>
          <a:p>
            <a:pPr>
              <a:defRPr sz="675"/>
            </a:pPr>
          </a:p>
        </c:txPr>
        <c:crossAx val="2118791784"/>
        <c:crosses val="autoZero"/>
        <c:majorUnit val="20.0"/>
      </c:valAx>
      <c:spPr>
        <a:noFill/>
        <a:ln>
          <a:noFill/>
        </a:ln>
      </c:spPr>
    </c:plotArea>
    <c:plotVisOnly val="1"/>
    <c:dispBlanksAs val="gap"/>
    <c:showDLblsOverMax val="0"/>
  </c:chart>
  <c:spPr>
    <a:noFill/>
    <a:ln>
      <a:noFill/>
    </a:ln>
  </c:spPr>
  <c:txPr>
    <a:bodyPr/>
    <a:lstStyle/>
    <a:p>
      <a:pPr>
        <a:defRPr sz="675">
          <a:solidFill>
            <a:srgbClr val="6F6A66"/>
          </a:solidFill>
          <a:latin typeface="Quicksand"/>
        </a:defRPr>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ineChart>
        <c:grouping val="standard"/>
        <c:varyColors val="0"/>
        <c:ser>
          <c:idx val="0"/>
          <c:order val="0"/>
          <c:tx>
            <c:strRef>
              <c:f>Sheet1!$B$1</c:f>
              <c:strCache>
                <c:ptCount val="1"/>
                <c:pt idx="0">
                  <c:v>Index</c:v>
                </c:pt>
              </c:strCache>
            </c:strRef>
          </c:tx>
          <c:spPr>
            <a:ln w="19050">
              <a:solidFill>
                <a:srgbClr val="A0754A"/>
              </a:solidFill>
            </a:ln>
          </c:spPr>
          <c:marker>
            <c:symbol val="none"/>
          </c:marker>
          <c:dPt>
            <c:idx val="59"/>
            <c:marker>
              <c:symbol val="circle"/>
              <c:size val="7"/>
              <c:spPr>
                <a:solidFill>
                  <a:srgbClr val="A0754A"/>
                </a:solidFill>
                <a:ln>
                  <a:solidFill>
                    <a:srgbClr val="FFFFFF"/>
                  </a:solidFill>
                </a:ln>
              </c:spPr>
            </c:marker>
          </c:dPt>
          <c:dLbls>
            <c:dLbl>
              <c:idx val="59"/>
              <c:tx>
                <c:rich>
                  <a:bodyPr/>
                  <a:lstStyle/>
                  <a:p>
                    <a:r>
                      <a:rPr b="1" sz="750">
                        <a:solidFill>
                          <a:srgbClr val="1B1A1A"/>
                        </a:solidFill>
                        <a:latin typeface="Quicksand"/>
                      </a:rPr>
                      <a:t>173</a:t>
                    </a:r>
                  </a:p>
                </c:rich>
              </c:tx>
              <c:dLblPos val="r"/>
              <c:showLegendKey val="0"/>
              <c:showVal val="1"/>
              <c:showCatName val="0"/>
              <c:showSerName val="0"/>
              <c:showPercent val="0"/>
              <c:showBubbleSize val="0"/>
            </c:dLbl>
            <c:showLegendKey val="0"/>
            <c:showVal val="0"/>
            <c:showCatName val="0"/>
            <c:showSerName val="0"/>
            <c:showPercent val="0"/>
            <c:showBubbleSize val="0"/>
            <c:showLeaderLines val="1"/>
          </c:dLbls>
          <c:cat>
            <c:strRef>
              <c:f>Sheet1!$A$2:$A$61</c:f>
              <c:strCache>
                <c:ptCount val="60"/>
                <c:pt idx="0">
                  <c:v>Sep 2021</c:v>
                </c:pt>
                <c:pt idx="1">
                  <c:v>Oct 2021</c:v>
                </c:pt>
                <c:pt idx="2">
                  <c:v>Nov 2021</c:v>
                </c:pt>
                <c:pt idx="3">
                  <c:v>Dec 2021</c:v>
                </c:pt>
                <c:pt idx="4">
                  <c:v>Jan 2022</c:v>
                </c:pt>
                <c:pt idx="5">
                  <c:v>Feb 2022</c:v>
                </c:pt>
                <c:pt idx="6">
                  <c:v>Mar 2022</c:v>
                </c:pt>
                <c:pt idx="7">
                  <c:v>Apr 2022</c:v>
                </c:pt>
                <c:pt idx="8">
                  <c:v>May 2022</c:v>
                </c:pt>
                <c:pt idx="9">
                  <c:v>Jun 2022</c:v>
                </c:pt>
                <c:pt idx="10">
                  <c:v>Jul 2022</c:v>
                </c:pt>
                <c:pt idx="11">
                  <c:v>Aug 2022</c:v>
                </c:pt>
                <c:pt idx="12">
                  <c:v>Sep 2022</c:v>
                </c:pt>
                <c:pt idx="13">
                  <c:v>Oct 2022</c:v>
                </c:pt>
                <c:pt idx="14">
                  <c:v>Nov 2022</c:v>
                </c:pt>
                <c:pt idx="15">
                  <c:v>Dec 2022</c:v>
                </c:pt>
                <c:pt idx="16">
                  <c:v>Jan 2023</c:v>
                </c:pt>
                <c:pt idx="17">
                  <c:v>Feb 2023</c:v>
                </c:pt>
                <c:pt idx="18">
                  <c:v>Mar 2023</c:v>
                </c:pt>
                <c:pt idx="19">
                  <c:v>Apr 2023</c:v>
                </c:pt>
                <c:pt idx="20">
                  <c:v>May 2023</c:v>
                </c:pt>
                <c:pt idx="21">
                  <c:v>Jun 2023</c:v>
                </c:pt>
                <c:pt idx="22">
                  <c:v>Jul 2023</c:v>
                </c:pt>
                <c:pt idx="23">
                  <c:v>Aug 2023</c:v>
                </c:pt>
                <c:pt idx="24">
                  <c:v>Sep 2023</c:v>
                </c:pt>
                <c:pt idx="25">
                  <c:v>Oct 2023</c:v>
                </c:pt>
                <c:pt idx="26">
                  <c:v>Nov 2023</c:v>
                </c:pt>
                <c:pt idx="27">
                  <c:v>Dec 2023</c:v>
                </c:pt>
                <c:pt idx="28">
                  <c:v>Jan 2024</c:v>
                </c:pt>
                <c:pt idx="29">
                  <c:v>Feb 2024</c:v>
                </c:pt>
                <c:pt idx="30">
                  <c:v>Mar 2024</c:v>
                </c:pt>
                <c:pt idx="31">
                  <c:v>Apr 2024</c:v>
                </c:pt>
                <c:pt idx="32">
                  <c:v>May 2024</c:v>
                </c:pt>
                <c:pt idx="33">
                  <c:v>Jun 2024</c:v>
                </c:pt>
                <c:pt idx="34">
                  <c:v>Jul 2024</c:v>
                </c:pt>
                <c:pt idx="35">
                  <c:v>Aug 2024</c:v>
                </c:pt>
                <c:pt idx="36">
                  <c:v>Sep 2024</c:v>
                </c:pt>
                <c:pt idx="37">
                  <c:v>Oct 2024</c:v>
                </c:pt>
                <c:pt idx="38">
                  <c:v>Nov 2024</c:v>
                </c:pt>
                <c:pt idx="39">
                  <c:v>Dec 2024</c:v>
                </c:pt>
                <c:pt idx="40">
                  <c:v>Jan 2025</c:v>
                </c:pt>
                <c:pt idx="41">
                  <c:v>Feb 2025</c:v>
                </c:pt>
                <c:pt idx="42">
                  <c:v>Mar 2025</c:v>
                </c:pt>
                <c:pt idx="43">
                  <c:v>Apr 2025</c:v>
                </c:pt>
                <c:pt idx="44">
                  <c:v>May 2025</c:v>
                </c:pt>
                <c:pt idx="45">
                  <c:v>Jun 2025</c:v>
                </c:pt>
                <c:pt idx="46">
                  <c:v>Jul 2025</c:v>
                </c:pt>
                <c:pt idx="47">
                  <c:v>Aug 2025</c:v>
                </c:pt>
                <c:pt idx="48">
                  <c:v>Sep 2025</c:v>
                </c:pt>
                <c:pt idx="49">
                  <c:v>Oct 2025</c:v>
                </c:pt>
                <c:pt idx="50">
                  <c:v>Nov 2025</c:v>
                </c:pt>
                <c:pt idx="51">
                  <c:v>Dec 2025</c:v>
                </c:pt>
                <c:pt idx="52">
                  <c:v>Jan 2026</c:v>
                </c:pt>
                <c:pt idx="53">
                  <c:v>Feb 2026</c:v>
                </c:pt>
                <c:pt idx="54">
                  <c:v>Mar 2026</c:v>
                </c:pt>
                <c:pt idx="55">
                  <c:v>Apr 2026</c:v>
                </c:pt>
                <c:pt idx="56">
                  <c:v>May 2026</c:v>
                </c:pt>
                <c:pt idx="57">
                  <c:v>Jun 2026</c:v>
                </c:pt>
                <c:pt idx="58">
                  <c:v>Jul 2026</c:v>
                </c:pt>
                <c:pt idx="59">
                  <c:v>Aug 2026</c:v>
                </c:pt>
              </c:strCache>
            </c:strRef>
          </c:cat>
          <c:val>
            <c:numRef>
              <c:f>Sheet1!$B$2:$B$61</c:f>
              <c:numCache>
                <c:formatCode>General</c:formatCode>
                <c:ptCount val="60"/>
                <c:pt idx="0">
                  <c:v>100</c:v>
                </c:pt>
                <c:pt idx="1">
                  <c:v>98.49</c:v>
                </c:pt>
                <c:pt idx="2">
                  <c:v>100.12</c:v>
                </c:pt>
                <c:pt idx="3">
                  <c:v>98.92</c:v>
                </c:pt>
                <c:pt idx="4">
                  <c:v>100.19</c:v>
                </c:pt>
                <c:pt idx="5">
                  <c:v>101.03</c:v>
                </c:pt>
                <c:pt idx="6">
                  <c:v>101.7</c:v>
                </c:pt>
                <c:pt idx="7">
                  <c:v>105.11</c:v>
                </c:pt>
                <c:pt idx="8">
                  <c:v>104.61</c:v>
                </c:pt>
                <c:pt idx="9">
                  <c:v>104.77</c:v>
                </c:pt>
                <c:pt idx="10">
                  <c:v>105.48</c:v>
                </c:pt>
                <c:pt idx="11">
                  <c:v>107.99</c:v>
                </c:pt>
                <c:pt idx="12">
                  <c:v>110.78</c:v>
                </c:pt>
                <c:pt idx="13">
                  <c:v>109.26</c:v>
                </c:pt>
                <c:pt idx="14">
                  <c:v>110.62</c:v>
                </c:pt>
                <c:pt idx="15">
                  <c:v>112.81</c:v>
                </c:pt>
                <c:pt idx="16">
                  <c:v>113.39</c:v>
                </c:pt>
                <c:pt idx="17">
                  <c:v>114.63</c:v>
                </c:pt>
                <c:pt idx="18">
                  <c:v>114.46</c:v>
                </c:pt>
                <c:pt idx="19">
                  <c:v>112.95</c:v>
                </c:pt>
                <c:pt idx="20">
                  <c:v>114.04</c:v>
                </c:pt>
                <c:pt idx="21">
                  <c:v>113.0</c:v>
                </c:pt>
                <c:pt idx="22">
                  <c:v>111.38</c:v>
                </c:pt>
                <c:pt idx="23">
                  <c:v>112.85</c:v>
                </c:pt>
                <c:pt idx="24">
                  <c:v>113.31</c:v>
                </c:pt>
                <c:pt idx="25">
                  <c:v>113.33</c:v>
                </c:pt>
                <c:pt idx="26">
                  <c:v>114.02</c:v>
                </c:pt>
                <c:pt idx="27">
                  <c:v>112.58</c:v>
                </c:pt>
                <c:pt idx="28">
                  <c:v>112.57</c:v>
                </c:pt>
                <c:pt idx="29">
                  <c:v>114.9</c:v>
                </c:pt>
                <c:pt idx="30">
                  <c:v>114.79</c:v>
                </c:pt>
                <c:pt idx="31">
                  <c:v>110.49</c:v>
                </c:pt>
                <c:pt idx="32">
                  <c:v>115.01</c:v>
                </c:pt>
                <c:pt idx="33">
                  <c:v>119.98</c:v>
                </c:pt>
                <c:pt idx="34">
                  <c:v>120.83</c:v>
                </c:pt>
                <c:pt idx="35">
                  <c:v>120.26</c:v>
                </c:pt>
                <c:pt idx="36">
                  <c:v>118.92</c:v>
                </c:pt>
                <c:pt idx="37">
                  <c:v>120.17</c:v>
                </c:pt>
                <c:pt idx="38">
                  <c:v>122.79</c:v>
                </c:pt>
                <c:pt idx="39">
                  <c:v>128.18</c:v>
                </c:pt>
                <c:pt idx="40">
                  <c:v>131.93</c:v>
                </c:pt>
                <c:pt idx="41">
                  <c:v>132.67</c:v>
                </c:pt>
                <c:pt idx="42">
                  <c:v>132.74</c:v>
                </c:pt>
                <c:pt idx="43">
                  <c:v>140.76</c:v>
                </c:pt>
                <c:pt idx="44">
                  <c:v>132.62</c:v>
                </c:pt>
                <c:pt idx="45">
                  <c:v>129.8</c:v>
                </c:pt>
                <c:pt idx="46">
                  <c:v>131.21</c:v>
                </c:pt>
                <c:pt idx="47">
                  <c:v>133.32</c:v>
                </c:pt>
                <c:pt idx="48">
                  <c:v>134.71</c:v>
                </c:pt>
                <c:pt idx="49">
                  <c:v>140.54</c:v>
                </c:pt>
                <c:pt idx="50">
                  <c:v>136.16</c:v>
                </c:pt>
                <c:pt idx="51">
                  <c:v>138.18</c:v>
                </c:pt>
                <c:pt idx="52">
                  <c:v>136.69</c:v>
                </c:pt>
                <c:pt idx="53">
                  <c:v>137.8</c:v>
                </c:pt>
                <c:pt idx="54">
                  <c:v>138.3</c:v>
                </c:pt>
                <c:pt idx="55">
                  <c:v>143.54</c:v>
                </c:pt>
                <c:pt idx="56">
                  <c:v>148.62</c:v>
                </c:pt>
                <c:pt idx="57">
                  <c:v>157.37</c:v>
                </c:pt>
                <c:pt idx="58">
                  <c:v>165.45</c:v>
                </c:pt>
                <c:pt idx="59">
                  <c:v>173.09</c:v>
                </c:pt>
              </c:numCache>
            </c:numRef>
          </c:val>
          <c:smooth val="0"/>
        </c:ser>
        <c:marker val="1"/>
        <c:smooth val="0"/>
        <c:axId val="2118791784"/>
        <c:axId val="2140495176"/>
      </c:lineChart>
      <c:catAx>
        <c:axId val="2118791784"/>
        <c:scaling>
          <c:orientation val="minMax"/>
        </c:scaling>
        <c:delete val="0"/>
        <c:axPos val="b"/>
        <c:majorTickMark val="none"/>
        <c:minorTickMark val="none"/>
        <c:tickLblPos val="nextTo"/>
        <c:spPr>
          <a:ln w="9525">
            <a:solidFill>
              <a:srgbClr val="C3BDB6"/>
            </a:solidFill>
          </a:ln>
        </c:spPr>
        <c:txPr>
          <a:bodyPr rot="0" vert="horz"/>
          <a:lstStyle/>
          <a:p>
            <a:pPr>
              <a:defRPr sz="675"/>
            </a:pPr>
          </a:p>
        </c:txPr>
        <c:crossAx val="2140495176"/>
        <c:crosses val="autoZero"/>
        <c:auto val="1"/>
        <c:lblAlgn val="ctr"/>
        <c:lblOffset val="100"/>
        <c:tickLblSkip val="12"/>
        <c:tickMarkSkip val="12"/>
        <c:noMultiLvlLbl val="0"/>
      </c:catAx>
      <c:valAx>
        <c:axId val="2140495176"/>
        <c:scaling>
          <c:max val="180.0"/>
          <c:min val="80.0"/>
        </c:scaling>
        <c:delete val="0"/>
        <c:axPos val="l"/>
        <c:majorGridlines>
          <c:spPr>
            <a:ln w="9525">
              <a:solidFill>
                <a:srgbClr val="E3DCD3"/>
              </a:solidFill>
            </a:ln>
          </c:spPr>
        </c:majorGridlines>
        <c:numFmt formatCode="0" sourceLinked="0"/>
        <c:majorTickMark val="none"/>
        <c:minorTickMark val="none"/>
        <c:tickLblPos val="nextTo"/>
        <c:spPr>
          <a:ln>
            <a:noFill/>
          </a:ln>
        </c:spPr>
        <c:txPr>
          <a:bodyPr/>
          <a:lstStyle/>
          <a:p>
            <a:pPr>
              <a:defRPr sz="675"/>
            </a:pPr>
          </a:p>
        </c:txPr>
        <c:crossAx val="2118791784"/>
        <c:crosses val="autoZero"/>
        <c:majorUnit val="20.0"/>
      </c:valAx>
      <c:spPr>
        <a:noFill/>
        <a:ln>
          <a:noFill/>
        </a:ln>
      </c:spPr>
    </c:plotArea>
    <c:plotVisOnly val="1"/>
    <c:dispBlanksAs val="gap"/>
    <c:showDLblsOverMax val="0"/>
  </c:chart>
  <c:spPr>
    <a:noFill/>
    <a:ln>
      <a:noFill/>
    </a:ln>
  </c:spPr>
  <c:txPr>
    <a:bodyPr/>
    <a:lstStyle/>
    <a:p>
      <a:pPr>
        <a:defRPr sz="675">
          <a:solidFill>
            <a:srgbClr val="6F6A66"/>
          </a:solidFill>
          <a:latin typeface="Quicksand"/>
        </a:defRPr>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ineChart>
        <c:grouping val="standard"/>
        <c:varyColors val="0"/>
        <c:ser>
          <c:idx val="0"/>
          <c:order val="0"/>
          <c:tx>
            <c:strRef>
              <c:f>Sheet1!$B$1</c:f>
              <c:strCache>
                <c:ptCount val="1"/>
                <c:pt idx="0">
                  <c:v>Index</c:v>
                </c:pt>
              </c:strCache>
            </c:strRef>
          </c:tx>
          <c:spPr>
            <a:ln w="19050">
              <a:solidFill>
                <a:srgbClr val="A0754A"/>
              </a:solidFill>
            </a:ln>
          </c:spPr>
          <c:marker>
            <c:symbol val="none"/>
          </c:marker>
          <c:dPt>
            <c:idx val="60"/>
            <c:marker>
              <c:symbol val="circle"/>
              <c:size val="7"/>
              <c:spPr>
                <a:solidFill>
                  <a:srgbClr val="A0754A"/>
                </a:solidFill>
                <a:ln>
                  <a:solidFill>
                    <a:srgbClr val="FFFFFF"/>
                  </a:solidFill>
                </a:ln>
              </c:spPr>
            </c:marker>
          </c:dPt>
          <c:dLbls>
            <c:dLbl>
              <c:idx val="60"/>
              <c:tx>
                <c:rich>
                  <a:bodyPr/>
                  <a:lstStyle/>
                  <a:p>
                    <a:r>
                      <a:rPr b="1" sz="750">
                        <a:solidFill>
                          <a:srgbClr val="1B1A1A"/>
                        </a:solidFill>
                        <a:latin typeface="Quicksand"/>
                      </a:rPr>
                      <a:t>100</a:t>
                    </a:r>
                  </a:p>
                </c:rich>
              </c:tx>
              <c:dLblPos val="r"/>
              <c:showLegendKey val="0"/>
              <c:showVal val="1"/>
              <c:showCatName val="0"/>
              <c:showSerName val="0"/>
              <c:showPercent val="0"/>
              <c:showBubbleSize val="0"/>
            </c:dLbl>
            <c:showLegendKey val="0"/>
            <c:showVal val="0"/>
            <c:showCatName val="0"/>
            <c:showSerName val="0"/>
            <c:showPercent val="0"/>
            <c:showBubbleSize val="0"/>
            <c:showLeaderLines val="1"/>
          </c:dLbls>
          <c:cat>
            <c:strRef>
              <c:f>Sheet1!$A$2:$A$62</c:f>
              <c:strCache>
                <c:ptCount val="61"/>
                <c:pt idx="0">
                  <c:v>Sep 2021</c:v>
                </c:pt>
                <c:pt idx="1">
                  <c:v>Oct 2021</c:v>
                </c:pt>
                <c:pt idx="2">
                  <c:v>Nov 2021</c:v>
                </c:pt>
                <c:pt idx="3">
                  <c:v>Dec 2021</c:v>
                </c:pt>
                <c:pt idx="4">
                  <c:v>Jan 2022</c:v>
                </c:pt>
                <c:pt idx="5">
                  <c:v>Feb 2022</c:v>
                </c:pt>
                <c:pt idx="6">
                  <c:v>Mar 2022</c:v>
                </c:pt>
                <c:pt idx="7">
                  <c:v>Apr 2022</c:v>
                </c:pt>
                <c:pt idx="8">
                  <c:v>May 2022</c:v>
                </c:pt>
                <c:pt idx="9">
                  <c:v>Jun 2022</c:v>
                </c:pt>
                <c:pt idx="10">
                  <c:v>Jul 2022</c:v>
                </c:pt>
                <c:pt idx="11">
                  <c:v>Aug 2022</c:v>
                </c:pt>
                <c:pt idx="12">
                  <c:v>Sep 2022</c:v>
                </c:pt>
                <c:pt idx="13">
                  <c:v>Oct 2022</c:v>
                </c:pt>
                <c:pt idx="14">
                  <c:v>Nov 2022</c:v>
                </c:pt>
                <c:pt idx="15">
                  <c:v>Dec 2022</c:v>
                </c:pt>
                <c:pt idx="16">
                  <c:v>Jan 2023</c:v>
                </c:pt>
                <c:pt idx="17">
                  <c:v>Feb 2023</c:v>
                </c:pt>
                <c:pt idx="18">
                  <c:v>Mar 2023</c:v>
                </c:pt>
                <c:pt idx="19">
                  <c:v>Apr 2023</c:v>
                </c:pt>
                <c:pt idx="20">
                  <c:v>May 2023</c:v>
                </c:pt>
                <c:pt idx="21">
                  <c:v>Jun 2023</c:v>
                </c:pt>
                <c:pt idx="22">
                  <c:v>Jul 2023</c:v>
                </c:pt>
                <c:pt idx="23">
                  <c:v>Aug 2023</c:v>
                </c:pt>
                <c:pt idx="24">
                  <c:v>Sep 2023</c:v>
                </c:pt>
                <c:pt idx="25">
                  <c:v>Oct 2023</c:v>
                </c:pt>
                <c:pt idx="26">
                  <c:v>Nov 2023</c:v>
                </c:pt>
                <c:pt idx="27">
                  <c:v>Dec 2023</c:v>
                </c:pt>
                <c:pt idx="28">
                  <c:v>Jan 2024</c:v>
                </c:pt>
                <c:pt idx="29">
                  <c:v>Feb 2024</c:v>
                </c:pt>
                <c:pt idx="30">
                  <c:v>Mar 2024</c:v>
                </c:pt>
                <c:pt idx="31">
                  <c:v>Apr 2024</c:v>
                </c:pt>
                <c:pt idx="32">
                  <c:v>May 2024</c:v>
                </c:pt>
                <c:pt idx="33">
                  <c:v>Jun 2024</c:v>
                </c:pt>
                <c:pt idx="34">
                  <c:v>Jul 2024</c:v>
                </c:pt>
                <c:pt idx="35">
                  <c:v>Aug 2024</c:v>
                </c:pt>
                <c:pt idx="36">
                  <c:v>Sep 2024</c:v>
                </c:pt>
                <c:pt idx="37">
                  <c:v>Oct 2024</c:v>
                </c:pt>
                <c:pt idx="38">
                  <c:v>Nov 2024</c:v>
                </c:pt>
                <c:pt idx="39">
                  <c:v>Dec 2024</c:v>
                </c:pt>
                <c:pt idx="40">
                  <c:v>Jan 2025</c:v>
                </c:pt>
                <c:pt idx="41">
                  <c:v>Feb 2025</c:v>
                </c:pt>
                <c:pt idx="42">
                  <c:v>Mar 2025</c:v>
                </c:pt>
                <c:pt idx="43">
                  <c:v>Apr 2025</c:v>
                </c:pt>
                <c:pt idx="44">
                  <c:v>May 2025</c:v>
                </c:pt>
                <c:pt idx="45">
                  <c:v>Jun 2025</c:v>
                </c:pt>
                <c:pt idx="46">
                  <c:v>Jul 2025</c:v>
                </c:pt>
                <c:pt idx="47">
                  <c:v>Aug 2025</c:v>
                </c:pt>
                <c:pt idx="48">
                  <c:v>Sep 2025</c:v>
                </c:pt>
                <c:pt idx="49">
                  <c:v>Oct 2025</c:v>
                </c:pt>
                <c:pt idx="50">
                  <c:v>Nov 2025</c:v>
                </c:pt>
                <c:pt idx="51">
                  <c:v>Dec 2025</c:v>
                </c:pt>
                <c:pt idx="52">
                  <c:v>Jan 2026</c:v>
                </c:pt>
                <c:pt idx="53">
                  <c:v>Feb 2026</c:v>
                </c:pt>
                <c:pt idx="54">
                  <c:v>Mar 2026</c:v>
                </c:pt>
                <c:pt idx="55">
                  <c:v>Apr 2026</c:v>
                </c:pt>
                <c:pt idx="56">
                  <c:v>May 2026</c:v>
                </c:pt>
                <c:pt idx="57">
                  <c:v>Jun 2026</c:v>
                </c:pt>
                <c:pt idx="58">
                  <c:v>Jul 2026</c:v>
                </c:pt>
                <c:pt idx="59">
                  <c:v>Aug 2026</c:v>
                </c:pt>
                <c:pt idx="60">
                  <c:v>Sep 2026</c:v>
                </c:pt>
              </c:strCache>
            </c:strRef>
          </c:cat>
          <c:val>
            <c:numRef>
              <c:f>Sheet1!$B$2:$B$62</c:f>
              <c:numCache>
                <c:formatCode>General</c:formatCode>
                <c:ptCount val="61"/>
                <c:pt idx="0">
                  <c:v>100</c:v>
                </c:pt>
                <c:pt idx="1">
                  <c:v>100.52</c:v>
                </c:pt>
                <c:pt idx="2">
                  <c:v>101.23</c:v>
                </c:pt>
                <c:pt idx="3">
                  <c:v>101.73</c:v>
                </c:pt>
                <c:pt idx="4">
                  <c:v>102.47</c:v>
                </c:pt>
                <c:pt idx="5">
                  <c:v>102.75</c:v>
                </c:pt>
                <c:pt idx="6">
                  <c:v>103.73</c:v>
                </c:pt>
                <c:pt idx="7">
                  <c:v>103.95</c:v>
                </c:pt>
                <c:pt idx="8">
                  <c:v>104.44</c:v>
                </c:pt>
                <c:pt idx="9">
                  <c:v>104.66</c:v>
                </c:pt>
                <c:pt idx="10">
                  <c:v>104.61</c:v>
                </c:pt>
                <c:pt idx="11">
                  <c:v>104.82</c:v>
                </c:pt>
                <c:pt idx="12">
                  <c:v>105.13</c:v>
                </c:pt>
                <c:pt idx="13">
                  <c:v>105.54</c:v>
                </c:pt>
                <c:pt idx="14">
                  <c:v>105.7</c:v>
                </c:pt>
                <c:pt idx="15">
                  <c:v>105.71</c:v>
                </c:pt>
                <c:pt idx="16">
                  <c:v>105.52</c:v>
                </c:pt>
                <c:pt idx="17">
                  <c:v>105.64</c:v>
                </c:pt>
                <c:pt idx="18">
                  <c:v>105.73</c:v>
                </c:pt>
                <c:pt idx="19">
                  <c:v>105.68</c:v>
                </c:pt>
                <c:pt idx="20">
                  <c:v>105.5</c:v>
                </c:pt>
                <c:pt idx="21">
                  <c:v>105.28</c:v>
                </c:pt>
                <c:pt idx="22">
                  <c:v>105.19</c:v>
                </c:pt>
                <c:pt idx="23">
                  <c:v>105.03</c:v>
                </c:pt>
                <c:pt idx="24">
                  <c:v>104.58</c:v>
                </c:pt>
                <c:pt idx="25">
                  <c:v>104.47</c:v>
                </c:pt>
                <c:pt idx="26">
                  <c:v>104.35</c:v>
                </c:pt>
                <c:pt idx="27">
                  <c:v>104.3</c:v>
                </c:pt>
                <c:pt idx="28">
                  <c:v>104.17</c:v>
                </c:pt>
                <c:pt idx="29">
                  <c:v>104.07</c:v>
                </c:pt>
                <c:pt idx="30">
                  <c:v>103.87</c:v>
                </c:pt>
                <c:pt idx="31">
                  <c:v>103.92</c:v>
                </c:pt>
                <c:pt idx="32">
                  <c:v>103.9</c:v>
                </c:pt>
                <c:pt idx="33">
                  <c:v>104.08</c:v>
                </c:pt>
                <c:pt idx="34">
                  <c:v>103.99</c:v>
                </c:pt>
                <c:pt idx="35">
                  <c:v>103.76</c:v>
                </c:pt>
                <c:pt idx="36">
                  <c:v>103.78</c:v>
                </c:pt>
                <c:pt idx="37">
                  <c:v>103.6</c:v>
                </c:pt>
                <c:pt idx="38">
                  <c:v>103.42</c:v>
                </c:pt>
                <c:pt idx="39">
                  <c:v>103.51</c:v>
                </c:pt>
                <c:pt idx="40">
                  <c:v>103.3</c:v>
                </c:pt>
                <c:pt idx="41">
                  <c:v>102.89</c:v>
                </c:pt>
                <c:pt idx="42">
                  <c:v>102.55</c:v>
                </c:pt>
                <c:pt idx="43">
                  <c:v>102.66</c:v>
                </c:pt>
                <c:pt idx="44">
                  <c:v>102.61</c:v>
                </c:pt>
                <c:pt idx="45">
                  <c:v>102.17</c:v>
                </c:pt>
                <c:pt idx="46">
                  <c:v>101.99</c:v>
                </c:pt>
                <c:pt idx="47">
                  <c:v>101.92</c:v>
                </c:pt>
                <c:pt idx="48">
                  <c:v>101.65</c:v>
                </c:pt>
                <c:pt idx="49">
                  <c:v>101.31</c:v>
                </c:pt>
                <c:pt idx="50">
                  <c:v>101.39</c:v>
                </c:pt>
                <c:pt idx="51">
                  <c:v>101.35</c:v>
                </c:pt>
                <c:pt idx="52">
                  <c:v>101.08</c:v>
                </c:pt>
                <c:pt idx="53">
                  <c:v>101.29</c:v>
                </c:pt>
                <c:pt idx="54">
                  <c:v>100.88</c:v>
                </c:pt>
                <c:pt idx="55">
                  <c:v>100.88</c:v>
                </c:pt>
                <c:pt idx="56">
                  <c:v>100.9</c:v>
                </c:pt>
                <c:pt idx="57">
                  <c:v>100.83</c:v>
                </c:pt>
                <c:pt idx="58">
                  <c:v>100.56</c:v>
                </c:pt>
                <c:pt idx="59">
                  <c:v>100.46</c:v>
                </c:pt>
                <c:pt idx="60">
                  <c:v>100.28</c:v>
                </c:pt>
              </c:numCache>
            </c:numRef>
          </c:val>
          <c:smooth val="0"/>
        </c:ser>
        <c:marker val="1"/>
        <c:smooth val="0"/>
        <c:axId val="2118791784"/>
        <c:axId val="2140495176"/>
      </c:lineChart>
      <c:catAx>
        <c:axId val="2118791784"/>
        <c:scaling>
          <c:orientation val="minMax"/>
        </c:scaling>
        <c:delete val="0"/>
        <c:axPos val="b"/>
        <c:majorTickMark val="none"/>
        <c:minorTickMark val="none"/>
        <c:tickLblPos val="nextTo"/>
        <c:spPr>
          <a:ln w="9525">
            <a:solidFill>
              <a:srgbClr val="C3BDB6"/>
            </a:solidFill>
          </a:ln>
        </c:spPr>
        <c:txPr>
          <a:bodyPr rot="0" vert="horz"/>
          <a:lstStyle/>
          <a:p>
            <a:pPr>
              <a:defRPr sz="675"/>
            </a:pPr>
          </a:p>
        </c:txPr>
        <c:crossAx val="2140495176"/>
        <c:crosses val="autoZero"/>
        <c:auto val="1"/>
        <c:lblAlgn val="ctr"/>
        <c:lblOffset val="100"/>
        <c:tickLblSkip val="12"/>
        <c:tickMarkSkip val="12"/>
        <c:noMultiLvlLbl val="0"/>
      </c:catAx>
      <c:valAx>
        <c:axId val="2140495176"/>
        <c:scaling>
          <c:max val="110.0"/>
          <c:min val="100.0"/>
        </c:scaling>
        <c:delete val="0"/>
        <c:axPos val="l"/>
        <c:majorGridlines>
          <c:spPr>
            <a:ln w="9525">
              <a:solidFill>
                <a:srgbClr val="E3DCD3"/>
              </a:solidFill>
            </a:ln>
          </c:spPr>
        </c:majorGridlines>
        <c:numFmt formatCode="0" sourceLinked="0"/>
        <c:majorTickMark val="none"/>
        <c:minorTickMark val="none"/>
        <c:tickLblPos val="nextTo"/>
        <c:spPr>
          <a:ln>
            <a:noFill/>
          </a:ln>
        </c:spPr>
        <c:txPr>
          <a:bodyPr/>
          <a:lstStyle/>
          <a:p>
            <a:pPr>
              <a:defRPr sz="675"/>
            </a:pPr>
          </a:p>
        </c:txPr>
        <c:crossAx val="2118791784"/>
        <c:crosses val="autoZero"/>
        <c:majorUnit val="5.0"/>
      </c:valAx>
      <c:spPr>
        <a:noFill/>
        <a:ln>
          <a:noFill/>
        </a:ln>
      </c:spPr>
    </c:plotArea>
    <c:plotVisOnly val="1"/>
    <c:dispBlanksAs val="gap"/>
    <c:showDLblsOverMax val="0"/>
  </c:chart>
  <c:spPr>
    <a:noFill/>
    <a:ln>
      <a:noFill/>
    </a:ln>
  </c:spPr>
  <c:txPr>
    <a:bodyPr/>
    <a:lstStyle/>
    <a:p>
      <a:pPr>
        <a:defRPr sz="675">
          <a:solidFill>
            <a:srgbClr val="6F6A66"/>
          </a:solidFill>
          <a:latin typeface="Quicksand"/>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Enterprise value to trailing EBITDA, median by focus area (also in the chart data):</a:t>
            </a:r>
          </a:p>
          <a:p>
            <a:r>
              <a:t>Managed IT &amp; Cloud: a year ago 10.1x, today 9.0x, three-year median 11.1x</a:t>
            </a:r>
          </a:p>
          <a:p>
            <a:r>
              <a:t>Cybersecurity: a year ago 20.9x, today 24.4x, three-year median 21.3x</a:t>
            </a:r>
          </a:p>
          <a:p>
            <a:r>
              <a:t>Telecom &amp; UCaaS: a year ago 14.9x, today 15.1x, three-year median 15.5x</a:t>
            </a:r>
          </a:p>
          <a:p>
            <a:r>
              <a:t>Systems Integration: a year ago 9.1x, today 11.0x, three-year median 9.5x</a:t>
            </a:r>
          </a:p>
          <a:p>
            <a:r>
              <a:t>Electronics &amp; Hardware: a year ago 12.1x, today 21.8x, three-year median 10.1x</a:t>
            </a:r>
          </a:p>
          <a:p>
            <a:r>
              <a:t>Government Technology: a year ago 12.7x, today 10.4x, three-year median 12.6x</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jpg"/><Relationship Id="rId5"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jp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 Id="rId3" Type="http://schemas.openxmlformats.org/officeDocument/2006/relationships/hyperlink" Target="https://www.gartner.com/en/newsroom/press-releases/2026-07-27-gartner-forecasts-worldwide-it-spending-to-grow-14-point-2-percent-in-2026-totaling-6-point-37-trillion" TargetMode="External"/><Relationship Id="rId4" Type="http://schemas.openxmlformats.org/officeDocument/2006/relationships/hyperlink" Target="https://www.srgresearch.com/articles/q2-cloud-market-passes-143-billion-highest-growth-rate-in-eight-years" TargetMode="External"/><Relationship Id="rId5" Type="http://schemas.openxmlformats.org/officeDocument/2006/relationships/image" Target="../media/image8.png"/><Relationship Id="rId6" Type="http://schemas.openxmlformats.org/officeDocument/2006/relationships/hyperlink" Target="https://omdia.tech.informa.com/om145542/global-msp-ma-1q26" TargetMode="External"/><Relationship Id="rId7" Type="http://schemas.openxmlformats.org/officeDocument/2006/relationships/image" Target="../media/image9.png"/><Relationship Id="rId8" Type="http://schemas.openxmlformats.org/officeDocument/2006/relationships/hyperlink" Target="https://www.federalreserve.gov/newsevents/pressreleases/monetary20260916a.htm" TargetMode="External"/><Relationship Id="rId9" Type="http://schemas.openxmlformats.org/officeDocument/2006/relationships/hyperlink" Target="https://home.treasury.gov/resource-center/data-chart-center/interest-rates/TextView?type=daily_treasury_yield_curve&amp;field_tdr_date_value_month=202610" TargetMode="External"/><Relationship Id="rId10" Type="http://schemas.openxmlformats.org/officeDocument/2006/relationships/hyperlink" Target="https://www.acg.org/news-trends/news/gf-data-reports-show-steady-middle-market-deal-flow-amid-more-selective" TargetMode="External"/><Relationship Id="rId11" Type="http://schemas.openxmlformats.org/officeDocument/2006/relationships/image" Target="../media/image10.png"/><Relationship Id="rId12" Type="http://schemas.openxmlformats.org/officeDocument/2006/relationships/hyperlink" Target="https://www.gartner.com/en/newsroom/press-releases/2025-07-29-gartner-forecasts-worldwide-end-user-spending-on-information-security-to-total-213-billion-us-dollars-in-2025" TargetMode="External"/><Relationship Id="rId13" Type="http://schemas.openxmlformats.org/officeDocument/2006/relationships/hyperlink" Target="https://www.ic3.gov/AnnualReport/Reports/2025_IC3Report.pdf" TargetMode="External"/><Relationship Id="rId14" Type="http://schemas.openxmlformats.org/officeDocument/2006/relationships/hyperlink" Target="https://dodcio.defense.gov/CMMC/About/" TargetMode="External"/><Relationship Id="rId15" Type="http://schemas.openxmlformats.org/officeDocument/2006/relationships/image" Target="../media/image11.png"/><Relationship Id="rId16" Type="http://schemas.openxmlformats.org/officeDocument/2006/relationships/hyperlink" Target="https://www.electronics.org/news-release/north-american-ems-orders-outpace-shipments-august-bookings-rise-535-year-over-year" TargetMode="External"/><Relationship Id="rId17" Type="http://schemas.openxmlformats.org/officeDocument/2006/relationships/hyperlink" Target="https://www.wiley.law/alert-New-Forced-Labor-Tariffs-Imposed-on-60-US-Trading-Partners" TargetMode="External"/><Relationship Id="rId18" Type="http://schemas.openxmlformats.org/officeDocument/2006/relationships/image" Target="../media/image12.png"/><Relationship Id="rId19" Type="http://schemas.openxmlformats.org/officeDocument/2006/relationships/hyperlink" Target="https://fedscoop.com/radio/trump-admin-sets-75-7b-topline-civilian-it-budget-for-2027/" TargetMode="External"/><Relationship Id="rId20" Type="http://schemas.openxmlformats.org/officeDocument/2006/relationships/hyperlink" Target="https://spacepolicyonline.com/news/house-clears-fy2027-cr-now-to-the-president/" TargetMode="External"/><Relationship Id="rId21" Type="http://schemas.openxmlformats.org/officeDocument/2006/relationships/hyperlink" Target="https://www.webull.com/news/15462423712777216" TargetMode="External"/><Relationship Id="rId22" Type="http://schemas.openxmlformats.org/officeDocument/2006/relationships/image" Target="../media/image1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image" Target="../media/image17.png"/><Relationship Id="rId6" Type="http://schemas.openxmlformats.org/officeDocument/2006/relationships/image" Target="../media/image18.png"/><Relationship Id="rId7" Type="http://schemas.openxmlformats.org/officeDocument/2006/relationships/image" Target="../media/image19.png"/><Relationship Id="rId8" Type="http://schemas.openxmlformats.org/officeDocument/2006/relationships/image" Target="../media/image20.png"/><Relationship Id="rId9" Type="http://schemas.openxmlformats.org/officeDocument/2006/relationships/image" Target="../media/image21.png"/><Relationship Id="rId10" Type="http://schemas.openxmlformats.org/officeDocument/2006/relationships/image" Target="../media/image22.png"/><Relationship Id="rId11" Type="http://schemas.openxmlformats.org/officeDocument/2006/relationships/image" Target="../media/image23.png"/><Relationship Id="rId12" Type="http://schemas.openxmlformats.org/officeDocument/2006/relationships/image" Target="../media/image24.png"/><Relationship Id="rId13" Type="http://schemas.openxmlformats.org/officeDocument/2006/relationships/image" Target="../media/image25.png"/><Relationship Id="rId14" Type="http://schemas.openxmlformats.org/officeDocument/2006/relationships/image" Target="../media/image26.png"/><Relationship Id="rId15" Type="http://schemas.openxmlformats.org/officeDocument/2006/relationships/image" Target="../media/image27.png"/><Relationship Id="rId16" Type="http://schemas.openxmlformats.org/officeDocument/2006/relationships/image" Target="../media/image28.png"/><Relationship Id="rId17" Type="http://schemas.openxmlformats.org/officeDocument/2006/relationships/image" Target="../media/image29.png"/><Relationship Id="rId18" Type="http://schemas.openxmlformats.org/officeDocument/2006/relationships/image" Target="../media/image30.png"/><Relationship Id="rId19" Type="http://schemas.openxmlformats.org/officeDocument/2006/relationships/image" Target="../media/image31.png"/><Relationship Id="rId20" Type="http://schemas.openxmlformats.org/officeDocument/2006/relationships/image" Target="../media/image32.png"/><Relationship Id="rId21" Type="http://schemas.openxmlformats.org/officeDocument/2006/relationships/image" Target="../media/image33.png"/><Relationship Id="rId22" Type="http://schemas.openxmlformats.org/officeDocument/2006/relationships/image" Target="../media/image34.png"/><Relationship Id="rId23" Type="http://schemas.openxmlformats.org/officeDocument/2006/relationships/image" Target="../media/image35.png"/><Relationship Id="rId24" Type="http://schemas.openxmlformats.org/officeDocument/2006/relationships/image" Target="../media/image36.png"/><Relationship Id="rId25" Type="http://schemas.openxmlformats.org/officeDocument/2006/relationships/image" Target="../media/image37.png"/><Relationship Id="rId26" Type="http://schemas.openxmlformats.org/officeDocument/2006/relationships/image" Target="../media/image38.png"/><Relationship Id="rId27" Type="http://schemas.openxmlformats.org/officeDocument/2006/relationships/image" Target="../media/image39.png"/><Relationship Id="rId28" Type="http://schemas.openxmlformats.org/officeDocument/2006/relationships/image" Target="../media/image40.png"/><Relationship Id="rId29" Type="http://schemas.openxmlformats.org/officeDocument/2006/relationships/image" Target="../media/image41.png"/><Relationship Id="rId30" Type="http://schemas.openxmlformats.org/officeDocument/2006/relationships/image" Target="../media/image42.png"/><Relationship Id="rId31" Type="http://schemas.openxmlformats.org/officeDocument/2006/relationships/image" Target="../media/image43.png"/><Relationship Id="rId32" Type="http://schemas.openxmlformats.org/officeDocument/2006/relationships/image" Target="../media/image44.png"/><Relationship Id="rId33" Type="http://schemas.openxmlformats.org/officeDocument/2006/relationships/image" Target="../media/image45.png"/><Relationship Id="rId34" Type="http://schemas.openxmlformats.org/officeDocument/2006/relationships/image" Target="../media/image46.png"/><Relationship Id="rId35" Type="http://schemas.openxmlformats.org/officeDocument/2006/relationships/image" Target="../media/image47.png"/><Relationship Id="rId36" Type="http://schemas.openxmlformats.org/officeDocument/2006/relationships/image" Target="../media/image48.png"/><Relationship Id="rId37" Type="http://schemas.openxmlformats.org/officeDocument/2006/relationships/image" Target="../media/image49.png"/><Relationship Id="rId38" Type="http://schemas.openxmlformats.org/officeDocument/2006/relationships/image" Target="../media/image50.png"/><Relationship Id="rId39" Type="http://schemas.openxmlformats.org/officeDocument/2006/relationships/image" Target="../media/image51.png"/><Relationship Id="rId40" Type="http://schemas.openxmlformats.org/officeDocument/2006/relationships/image" Target="../media/image52.png"/><Relationship Id="rId41" Type="http://schemas.openxmlformats.org/officeDocument/2006/relationships/image" Target="../media/image53.png"/><Relationship Id="rId42" Type="http://schemas.openxmlformats.org/officeDocument/2006/relationships/image" Target="../media/image54.png"/><Relationship Id="rId43" Type="http://schemas.openxmlformats.org/officeDocument/2006/relationships/image" Target="../media/image55.png"/><Relationship Id="rId44" Type="http://schemas.openxmlformats.org/officeDocument/2006/relationships/image" Target="../media/image56.png"/><Relationship Id="rId45" Type="http://schemas.openxmlformats.org/officeDocument/2006/relationships/image" Target="../media/image57.png"/><Relationship Id="rId46" Type="http://schemas.openxmlformats.org/officeDocument/2006/relationships/image" Target="../media/image58.png"/><Relationship Id="rId47" Type="http://schemas.openxmlformats.org/officeDocument/2006/relationships/image" Target="../media/image59.png"/><Relationship Id="rId48" Type="http://schemas.openxmlformats.org/officeDocument/2006/relationships/image" Target="../media/image60.png"/><Relationship Id="rId49" Type="http://schemas.openxmlformats.org/officeDocument/2006/relationships/image" Target="../media/image61.png"/><Relationship Id="rId50" Type="http://schemas.openxmlformats.org/officeDocument/2006/relationships/image" Target="../media/image62.png"/><Relationship Id="rId51" Type="http://schemas.openxmlformats.org/officeDocument/2006/relationships/image" Target="../media/image63.png"/><Relationship Id="rId52" Type="http://schemas.openxmlformats.org/officeDocument/2006/relationships/image" Target="../media/image64.png"/><Relationship Id="rId53" Type="http://schemas.openxmlformats.org/officeDocument/2006/relationships/image" Target="../media/image65.png"/><Relationship Id="rId54" Type="http://schemas.openxmlformats.org/officeDocument/2006/relationships/image" Target="../media/image66.png"/><Relationship Id="rId55" Type="http://schemas.openxmlformats.org/officeDocument/2006/relationships/image" Target="../media/image67.png"/><Relationship Id="rId56" Type="http://schemas.openxmlformats.org/officeDocument/2006/relationships/image" Target="../media/image68.png"/><Relationship Id="rId57" Type="http://schemas.openxmlformats.org/officeDocument/2006/relationships/image" Target="../media/image69.png"/><Relationship Id="rId58" Type="http://schemas.openxmlformats.org/officeDocument/2006/relationships/image" Target="../media/image70.png"/><Relationship Id="rId59" Type="http://schemas.openxmlformats.org/officeDocument/2006/relationships/image" Target="../media/image1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jpg"/><Relationship Id="rId3" Type="http://schemas.openxmlformats.org/officeDocument/2006/relationships/image" Target="../media/image71.png"/><Relationship Id="rId4" Type="http://schemas.openxmlformats.org/officeDocument/2006/relationships/hyperlink" Target="https://www.gartner.com/en/newsroom/press-releases/2026-07-27-gartner-forecasts-worldwide-it-spending-to-grow-14-point-2-percent-in-2026-totaling-6-point-37-trillion" TargetMode="External"/><Relationship Id="rId5" Type="http://schemas.openxmlformats.org/officeDocument/2006/relationships/hyperlink" Target="https://www.channeldive.com/news/channel-acquistions-consolidation-managed-services-omdia/828297/" TargetMode="External"/><Relationship Id="rId6" Type="http://schemas.openxmlformats.org/officeDocument/2006/relationships/hyperlink" Target="https://www.electronics.org/news-release/north-american-ems-orders-outpace-shipments-august-bookings-rise-535-year-over-year" TargetMode="External"/><Relationship Id="rId7" Type="http://schemas.openxmlformats.org/officeDocument/2006/relationships/hyperlink" Target="https://www.passwordprotectedlaw.com/2026/07/dow-suspends-cmmc-phase-ii-requirements-launches-60-day-review/" TargetMode="External"/><Relationship Id="rId8" Type="http://schemas.openxmlformats.org/officeDocument/2006/relationships/hyperlink" Target="https://dodcio.defense.gov/CMMC/About/" TargetMode="External"/><Relationship Id="rId9" Type="http://schemas.openxmlformats.org/officeDocument/2006/relationships/image" Target="../media/image1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jpg"/><Relationship Id="rId3" Type="http://schemas.openxmlformats.org/officeDocument/2006/relationships/image" Target="../media/image72.png"/><Relationship Id="rId4" Type="http://schemas.openxmlformats.org/officeDocument/2006/relationships/image" Target="../media/image6.png"/><Relationship Id="rId5"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3.png"/><Relationship Id="rId3" Type="http://schemas.openxmlformats.org/officeDocument/2006/relationships/hyperlink" Target="https://news.cognizant.com/2026-06-22-Cognizant-Completes-Acquisition-of-Astreya,-Expanding-AI-Infrastructure-and-Managed-Services-Capabilities?asPDF=1" TargetMode="External"/><Relationship Id="rId4" Type="http://schemas.openxmlformats.org/officeDocument/2006/relationships/hyperlink" Target="https://coverager.com/cognizant-to-acquire-astreya/" TargetMode="External"/><Relationship Id="rId5" Type="http://schemas.openxmlformats.org/officeDocument/2006/relationships/image" Target="../media/image74.png"/><Relationship Id="rId6" Type="http://schemas.openxmlformats.org/officeDocument/2006/relationships/hyperlink" Target="https://www.securityweek.com/cybersecurity-ma-roundup-37-deals-announced-in-june-2026/" TargetMode="External"/><Relationship Id="rId7" Type="http://schemas.openxmlformats.org/officeDocument/2006/relationships/image" Target="../media/image75.png"/><Relationship Id="rId8" Type="http://schemas.openxmlformats.org/officeDocument/2006/relationships/hyperlink" Target="https://bbcmag.com/september-2026-isp-roundup/" TargetMode="External"/><Relationship Id="rId9" Type="http://schemas.openxmlformats.org/officeDocument/2006/relationships/hyperlink" Target="https://www.webull.com/news/15543005417877504" TargetMode="External"/><Relationship Id="rId10" Type="http://schemas.openxmlformats.org/officeDocument/2006/relationships/image" Target="../media/image76.png"/><Relationship Id="rId11" Type="http://schemas.openxmlformats.org/officeDocument/2006/relationships/hyperlink" Target="https://www.govconwire.com/articles/motorola-solutions-d-fend-counter-drone-acquisition" TargetMode="External"/><Relationship Id="rId12" Type="http://schemas.openxmlformats.org/officeDocument/2006/relationships/image" Target="../media/image77.png"/><Relationship Id="rId13" Type="http://schemas.openxmlformats.org/officeDocument/2006/relationships/hyperlink" Target="https://www.govconwire.com/articles/booz-allen-720m-ultra-ic-mission-solutions-close" TargetMode="External"/><Relationship Id="rId14"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jpg"/><Relationship Id="rId3" Type="http://schemas.openxmlformats.org/officeDocument/2006/relationships/hyperlink" Target="https://www.benchmarkintl.com/about/our-success/" TargetMode="External"/><Relationship Id="rId4" Type="http://schemas.openxmlformats.org/officeDocument/2006/relationships/hyperlink" Target="https://www.benchmarkintl.com/insights/completed-transactions/benchmark-international-successfully-facilitated-the-transaction-between-martiancraft-llc-and-walnut-capital-partners/" TargetMode="External"/><Relationship Id="rId5" Type="http://schemas.openxmlformats.org/officeDocument/2006/relationships/image" Target="../media/image78.png"/><Relationship Id="rId6" Type="http://schemas.openxmlformats.org/officeDocument/2006/relationships/image" Target="../media/image79.png"/><Relationship Id="rId7" Type="http://schemas.openxmlformats.org/officeDocument/2006/relationships/hyperlink" Target="https://www.benchmarkintl.com/insights/completed-transactions/benchmark-international-facilitated-the-transaction-of-em3-networks-llc-and-capcon-networks/" TargetMode="External"/><Relationship Id="rId8" Type="http://schemas.openxmlformats.org/officeDocument/2006/relationships/hyperlink" Target="https://www.benchmarkintl.com/insights/completed-transactions/benchmark-international-successfully-facilitated-the-transaction-between-clearline-networks-llc-and-zeus-fire-and-security/" TargetMode="External"/><Relationship Id="rId9" Type="http://schemas.openxmlformats.org/officeDocument/2006/relationships/hyperlink" Target="https://www.benchmarkintl.com/insights/completed-transactions/benchmark-international-successfully-facilitated-the-transaction-between-high-tech-solutions-systems-group-inc-and-ai-fire/" TargetMode="External"/><Relationship Id="rId10" Type="http://schemas.openxmlformats.org/officeDocument/2006/relationships/image" Target="../media/image80.png"/><Relationship Id="rId11" Type="http://schemas.openxmlformats.org/officeDocument/2006/relationships/hyperlink" Target="https://www.benchmarkintl.com/insights/completed-transactions/benchmark-international-successfully-facilitated-the-transaction-between-sheffield-scientific-and-trm/" TargetMode="External"/><Relationship Id="rId12" Type="http://schemas.openxmlformats.org/officeDocument/2006/relationships/hyperlink" Target="https://www.benchmarkintl.com/insights/completed-transactions/benchmark-international-successfully-facilitated-the-transaction-between-paragon-manufacturing-corp-and-bluerock-global-private-equity/" TargetMode="External"/><Relationship Id="rId13" Type="http://schemas.openxmlformats.org/officeDocument/2006/relationships/hyperlink" Target="https://www.benchmarkintl.com/insights/completed-transactions/benchmark-international-successfully-facilitated-the-transaction-between-of-boostr-llc-and-balius-partners/" TargetMode="External"/><Relationship Id="rId14" Type="http://schemas.openxmlformats.org/officeDocument/2006/relationships/image" Target="../media/image81.png"/><Relationship Id="rId15" Type="http://schemas.openxmlformats.org/officeDocument/2006/relationships/image" Target="../media/image82.png"/><Relationship Id="rId16" Type="http://schemas.openxmlformats.org/officeDocument/2006/relationships/hyperlink" Target="https://www.benchmarkintl.com/insights/completed-transactions/benchmark-international-successfully-facilitated-the-transaction-between-at-parker-inc-and-assessimus-group-gmbh/" TargetMode="External"/><Relationship Id="rId17" Type="http://schemas.openxmlformats.org/officeDocument/2006/relationships/hyperlink" Target="https://www.benchmarkintl.com/insights/completed-transactions/benchmark-international-successfully-facilitated-the-transaction-between-laser-lens-tek-inc-and-bluerock-global-private-equity/" TargetMode="External"/><Relationship Id="rId18" Type="http://schemas.openxmlformats.org/officeDocument/2006/relationships/hyperlink" Target="https://www.benchmarkintl.com/insights/completed-transactions/benchmark-international-successfully-facilitated-the-transaction-between-complete-control-services-inc-and-amtech-drives-inc/" TargetMode="External"/><Relationship Id="rId19" Type="http://schemas.openxmlformats.org/officeDocument/2006/relationships/hyperlink" Target="https://www.benchmarkintl.com/insights/completed-transactions/benchmark-international-successfully-facilitated-the-transaction-of-invocon-inc-and-cemtrex-inc/" TargetMode="External"/><Relationship Id="rId20" Type="http://schemas.openxmlformats.org/officeDocument/2006/relationships/image" Target="../media/image83.png"/><Relationship Id="rId21" Type="http://schemas.openxmlformats.org/officeDocument/2006/relationships/image" Target="../media/image84.png"/><Relationship Id="rId22"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1.xml"/><Relationship Id="rId3" Type="http://schemas.openxmlformats.org/officeDocument/2006/relationships/chart" Target="../charts/chart2.xml"/><Relationship Id="rId4" Type="http://schemas.openxmlformats.org/officeDocument/2006/relationships/hyperlink" Target="https://pitchbook.brightspotcdn.com/40/42/bbeb88094080abaea3d7c87530b8/q2-2026-us-pe-breakdown.pdf" TargetMode="External"/><Relationship Id="rId5" Type="http://schemas.openxmlformats.org/officeDocument/2006/relationships/hyperlink" Target="https://www.acg.org/news-trends/news/gf-data-reports-show-steady-middle-market-deal-flow-amid-more-selective" TargetMode="External"/><Relationship Id="rId6" Type="http://schemas.openxmlformats.org/officeDocument/2006/relationships/hyperlink" Target="https://www.ibba.org/wp-content/uploads/2026/08/mp-highlights-q2-2026.pdf" TargetMode="External"/><Relationship Id="rId7" Type="http://schemas.openxmlformats.org/officeDocument/2006/relationships/image" Target="../media/image85.png"/><Relationship Id="rId8" Type="http://schemas.openxmlformats.org/officeDocument/2006/relationships/image" Target="../media/image86.png"/><Relationship Id="rId9" Type="http://schemas.openxmlformats.org/officeDocument/2006/relationships/image" Target="../media/image87.png"/><Relationship Id="rId10" Type="http://schemas.openxmlformats.org/officeDocument/2006/relationships/image" Target="../media/image88.png"/><Relationship Id="rId11" Type="http://schemas.openxmlformats.org/officeDocument/2006/relationships/image" Target="../media/image89.png"/><Relationship Id="rId12" Type="http://schemas.openxmlformats.org/officeDocument/2006/relationships/image" Target="../media/image90.png"/><Relationship Id="rId13" Type="http://schemas.openxmlformats.org/officeDocument/2006/relationships/image" Target="../media/image91.png"/><Relationship Id="rId14" Type="http://schemas.openxmlformats.org/officeDocument/2006/relationships/image" Target="../media/image92.png"/><Relationship Id="rId15" Type="http://schemas.openxmlformats.org/officeDocument/2006/relationships/image" Target="../media/image93.png"/><Relationship Id="rId16" Type="http://schemas.openxmlformats.org/officeDocument/2006/relationships/image" Target="../media/image94.png"/><Relationship Id="rId17" Type="http://schemas.openxmlformats.org/officeDocument/2006/relationships/image" Target="../media/image95.png"/><Relationship Id="rId18" Type="http://schemas.openxmlformats.org/officeDocument/2006/relationships/image" Target="../media/image96.png"/><Relationship Id="rId19" Type="http://schemas.openxmlformats.org/officeDocument/2006/relationships/image" Target="../media/image97.png"/><Relationship Id="rId20" Type="http://schemas.openxmlformats.org/officeDocument/2006/relationships/image" Target="../media/image98.png"/><Relationship Id="rId21" Type="http://schemas.openxmlformats.org/officeDocument/2006/relationships/image" Target="../media/image99.png"/><Relationship Id="rId22" Type="http://schemas.openxmlformats.org/officeDocument/2006/relationships/image" Target="../media/image100.png"/><Relationship Id="rId23" Type="http://schemas.openxmlformats.org/officeDocument/2006/relationships/image" Target="../media/image101.png"/><Relationship Id="rId24" Type="http://schemas.openxmlformats.org/officeDocument/2006/relationships/image" Target="../media/image102.png"/><Relationship Id="rId25" Type="http://schemas.openxmlformats.org/officeDocument/2006/relationships/image" Target="../media/image103.png"/><Relationship Id="rId26" Type="http://schemas.openxmlformats.org/officeDocument/2006/relationships/image" Target="../media/image104.png"/><Relationship Id="rId27" Type="http://schemas.openxmlformats.org/officeDocument/2006/relationships/image" Target="../media/image105.png"/><Relationship Id="rId28" Type="http://schemas.openxmlformats.org/officeDocument/2006/relationships/image" Target="../media/image106.png"/><Relationship Id="rId29" Type="http://schemas.openxmlformats.org/officeDocument/2006/relationships/image" Target="../media/image107.png"/><Relationship Id="rId30" Type="http://schemas.openxmlformats.org/officeDocument/2006/relationships/image" Target="../media/image108.png"/><Relationship Id="rId31" Type="http://schemas.openxmlformats.org/officeDocument/2006/relationships/image" Target="../media/image109.png"/><Relationship Id="rId32" Type="http://schemas.openxmlformats.org/officeDocument/2006/relationships/image" Target="../media/image110.png"/><Relationship Id="rId33" Type="http://schemas.openxmlformats.org/officeDocument/2006/relationships/image" Target="../media/image111.png"/><Relationship Id="rId34" Type="http://schemas.openxmlformats.org/officeDocument/2006/relationships/image" Target="../media/image112.png"/><Relationship Id="rId35" Type="http://schemas.openxmlformats.org/officeDocument/2006/relationships/image" Target="../media/image113.png"/><Relationship Id="rId36" Type="http://schemas.openxmlformats.org/officeDocument/2006/relationships/image" Target="../media/image114.png"/><Relationship Id="rId37" Type="http://schemas.openxmlformats.org/officeDocument/2006/relationships/image" Target="../media/image115.png"/><Relationship Id="rId38" Type="http://schemas.openxmlformats.org/officeDocument/2006/relationships/image" Target="../media/image116.png"/><Relationship Id="rId39" Type="http://schemas.openxmlformats.org/officeDocument/2006/relationships/image" Target="../media/image117.png"/><Relationship Id="rId40" Type="http://schemas.openxmlformats.org/officeDocument/2006/relationships/image" Target="../media/image118.png"/><Relationship Id="rId41" Type="http://schemas.openxmlformats.org/officeDocument/2006/relationships/image" Target="../media/image119.png"/><Relationship Id="rId42" Type="http://schemas.openxmlformats.org/officeDocument/2006/relationships/image" Target="../media/image120.png"/><Relationship Id="rId43" Type="http://schemas.openxmlformats.org/officeDocument/2006/relationships/image" Target="../media/image121.png"/><Relationship Id="rId44" Type="http://schemas.openxmlformats.org/officeDocument/2006/relationships/image" Target="../media/image122.png"/><Relationship Id="rId45" Type="http://schemas.openxmlformats.org/officeDocument/2006/relationships/image" Target="../media/image123.png"/><Relationship Id="rId46" Type="http://schemas.openxmlformats.org/officeDocument/2006/relationships/image" Target="../media/image124.png"/><Relationship Id="rId47" Type="http://schemas.openxmlformats.org/officeDocument/2006/relationships/image" Target="../media/image125.png"/><Relationship Id="rId48" Type="http://schemas.openxmlformats.org/officeDocument/2006/relationships/image" Target="../media/image126.png"/><Relationship Id="rId49" Type="http://schemas.openxmlformats.org/officeDocument/2006/relationships/image" Target="../media/image127.png"/><Relationship Id="rId50" Type="http://schemas.openxmlformats.org/officeDocument/2006/relationships/image" Target="../media/image128.png"/><Relationship Id="rId51" Type="http://schemas.openxmlformats.org/officeDocument/2006/relationships/image" Target="../media/image129.png"/><Relationship Id="rId52" Type="http://schemas.openxmlformats.org/officeDocument/2006/relationships/image" Target="../media/image130.png"/><Relationship Id="rId53" Type="http://schemas.openxmlformats.org/officeDocument/2006/relationships/image" Target="../media/image131.png"/><Relationship Id="rId54" Type="http://schemas.openxmlformats.org/officeDocument/2006/relationships/image" Target="../media/image132.png"/><Relationship Id="rId55" Type="http://schemas.openxmlformats.org/officeDocument/2006/relationships/image" Target="../media/image133.png"/><Relationship Id="rId56" Type="http://schemas.openxmlformats.org/officeDocument/2006/relationships/image" Target="../media/image134.png"/><Relationship Id="rId57" Type="http://schemas.openxmlformats.org/officeDocument/2006/relationships/image" Target="../media/image135.png"/><Relationship Id="rId58" Type="http://schemas.openxmlformats.org/officeDocument/2006/relationships/image" Target="../media/image13.png"/><Relationship Id="rId59" Type="http://schemas.openxmlformats.org/officeDocument/2006/relationships/hyperlink" Target="https://stockanalysis.com/" TargetMode="External"/><Relationship Id="rId60" Type="http://schemas.openxmlformats.org/officeDocument/2006/relationships/notesSlide" Target="../notesSlides/notesSlide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3.xml"/><Relationship Id="rId3" Type="http://schemas.openxmlformats.org/officeDocument/2006/relationships/chart" Target="../charts/chart4.xml"/><Relationship Id="rId4" Type="http://schemas.openxmlformats.org/officeDocument/2006/relationships/chart" Target="../charts/chart5.xml"/><Relationship Id="rId5" Type="http://schemas.openxmlformats.org/officeDocument/2006/relationships/chart" Target="../charts/chart6.xml"/><Relationship Id="rId6" Type="http://schemas.openxmlformats.org/officeDocument/2006/relationships/image" Target="../media/image13.png"/><Relationship Id="rId7" Type="http://schemas.openxmlformats.org/officeDocument/2006/relationships/hyperlink" Target="https://stockanalysis.com/"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7.xml"/><Relationship Id="rId3" Type="http://schemas.openxmlformats.org/officeDocument/2006/relationships/hyperlink" Target="https://www.sec.gov/Archives/edgar/data/0001030894/000103089426000043/cls-20260630prcondensedfs.htm" TargetMode="External"/><Relationship Id="rId4" Type="http://schemas.openxmlformats.org/officeDocument/2006/relationships/hyperlink" Target="https://www.sec.gov/Archives/edgar/data/0001177394/000162828026063314/ex991-fy26q3pressrelease.htm" TargetMode="External"/><Relationship Id="rId5" Type="http://schemas.openxmlformats.org/officeDocument/2006/relationships/hyperlink" Target="https://www.sec.gov/Archives/edgar/data/0001327567/000132756726000019/ex991q426earningsrelease.htm" TargetMode="External"/><Relationship Id="rId6" Type="http://schemas.openxmlformats.org/officeDocument/2006/relationships/hyperlink" Target="https://www.sec.gov/Archives/edgar/data/0001535527/000153552726000029/crwd-20260826xex991.htm" TargetMode="External"/><Relationship Id="rId7" Type="http://schemas.openxmlformats.org/officeDocument/2006/relationships/hyperlink" Target="https://fortinet.gcs-web.com/static-files/e4ffcc79-194e-4ca3-9a69-8a51bd0a6314" TargetMode="External"/><Relationship Id="rId8" Type="http://schemas.openxmlformats.org/officeDocument/2006/relationships/hyperlink" Target="https://www.sec.gov/Archives/edgar/data/0000866374/000086637426000026/flexex991-6262026.htm" TargetMode="External"/><Relationship Id="rId9" Type="http://schemas.openxmlformats.org/officeDocument/2006/relationships/hyperlink" Target="https://www.sec.gov/Archives/edgar/data/0000016058/000162828026053448/fy26-q4caci20260805ex991.htm" TargetMode="External"/><Relationship Id="rId10" Type="http://schemas.openxmlformats.org/officeDocument/2006/relationships/hyperlink" Target="https://www.businesswire.com/news/home/20260806171314/en/" TargetMode="External"/><Relationship Id="rId11" Type="http://schemas.openxmlformats.org/officeDocument/2006/relationships/hyperlink" Target="https://www.sec.gov/Archives/edgar/data/0000929008/000092900826000021/wcc-2q2026earnings.htm" TargetMode="External"/><Relationship Id="rId12" Type="http://schemas.openxmlformats.org/officeDocument/2006/relationships/hyperlink" Target="https://www.sec.gov/Archives/edgar/data/0001402057/000140205726000062/cdw-2026630earningsrelease.htm" TargetMode="External"/><Relationship Id="rId13" Type="http://schemas.openxmlformats.org/officeDocument/2006/relationships/hyperlink" Target="https://www.sec.gov/Archives/edgar/data/0000069633/000110465926100077/nssc-20260820xex99d1.htm" TargetMode="External"/><Relationship Id="rId14" Type="http://schemas.openxmlformats.org/officeDocument/2006/relationships/hyperlink" Target="https://s201.q4cdn.com/385562537/files/doc_financials/2026/q2/99-1-Earnings-Release-6-30-2026-FINAL.pdf" TargetMode="External"/><Relationship Id="rId15" Type="http://schemas.openxmlformats.org/officeDocument/2006/relationships/hyperlink" Target="https://www.sec.gov/Archives/edgar/data/0001336920/000133692026000243/ldos070326q2pressreleaseex.htm" TargetMode="External"/><Relationship Id="rId16" Type="http://schemas.openxmlformats.org/officeDocument/2006/relationships/hyperlink" Target="https://www.sec.gov/Archives/edgar/data/0001467373/000146737326000037/q4fy26earnings8-kexhibit.htm" TargetMode="External"/><Relationship Id="rId17" Type="http://schemas.openxmlformats.org/officeDocument/2006/relationships/hyperlink" Target="https://www.businesswire.com/news/home/20260723424331/en/" TargetMode="External"/><Relationship Id="rId18" Type="http://schemas.openxmlformats.org/officeDocument/2006/relationships/hyperlink" Target="https://www.sec.gov/Archives/edgar/data/0001585521/000158552126000119/zm-20260731ex991.htm" TargetMode="External"/><Relationship Id="rId19" Type="http://schemas.openxmlformats.org/officeDocument/2006/relationships/hyperlink" Target="https://www.businesswire.com/news/home/20260724644070/en/Booz-Allen-Hamilton-Announces-First-Quarter-Fiscal-Year-2027-Results" TargetMode="External"/><Relationship Id="rId20" Type="http://schemas.openxmlformats.org/officeDocument/2006/relationships/image" Target="../media/image136.png"/><Relationship Id="rId21" Type="http://schemas.openxmlformats.org/officeDocument/2006/relationships/image" Target="../media/image137.png"/><Relationship Id="rId22" Type="http://schemas.openxmlformats.org/officeDocument/2006/relationships/image" Target="../media/image138.png"/><Relationship Id="rId23" Type="http://schemas.openxmlformats.org/officeDocument/2006/relationships/image" Target="../media/image139.png"/><Relationship Id="rId24" Type="http://schemas.openxmlformats.org/officeDocument/2006/relationships/hyperlink" Target="https://www.sec.gov/Archives/edgar/data/0000898293/000162828026063890/jbl-20260930ex991.htm" TargetMode="External"/><Relationship Id="rId25" Type="http://schemas.openxmlformats.org/officeDocument/2006/relationships/image" Target="../media/image140.png"/><Relationship Id="rId26" Type="http://schemas.openxmlformats.org/officeDocument/2006/relationships/image" Target="../media/image141.png"/><Relationship Id="rId27" Type="http://schemas.openxmlformats.org/officeDocument/2006/relationships/image" Target="../media/image142.png"/><Relationship Id="rId28" Type="http://schemas.openxmlformats.org/officeDocument/2006/relationships/image" Target="../media/image143.png"/><Relationship Id="rId29" Type="http://schemas.openxmlformats.org/officeDocument/2006/relationships/image" Target="../media/image144.png"/><Relationship Id="rId30" Type="http://schemas.openxmlformats.org/officeDocument/2006/relationships/image" Target="../media/image145.png"/><Relationship Id="rId31" Type="http://schemas.openxmlformats.org/officeDocument/2006/relationships/image" Target="../media/image146.png"/><Relationship Id="rId32" Type="http://schemas.openxmlformats.org/officeDocument/2006/relationships/image" Target="../media/image147.png"/><Relationship Id="rId33"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fred.stlouisfed.org/series/PCU33443344" TargetMode="External"/><Relationship Id="rId3" Type="http://schemas.openxmlformats.org/officeDocument/2006/relationships/chart" Target="../charts/chart8.xml"/><Relationship Id="rId4" Type="http://schemas.openxmlformats.org/officeDocument/2006/relationships/hyperlink" Target="https://fred.stlouisfed.org/series/PCOPPUSDM" TargetMode="External"/><Relationship Id="rId5" Type="http://schemas.openxmlformats.org/officeDocument/2006/relationships/chart" Target="../charts/chart9.xml"/><Relationship Id="rId6" Type="http://schemas.openxmlformats.org/officeDocument/2006/relationships/hyperlink" Target="https://fred.stlouisfed.org/series/PROFCONS" TargetMode="External"/><Relationship Id="rId7" Type="http://schemas.openxmlformats.org/officeDocument/2006/relationships/chart" Target="../charts/chart10.xml"/><Relationship Id="rId8" Type="http://schemas.openxmlformats.org/officeDocument/2006/relationships/hyperlink" Target="https://fred.stlouisfed.org/series/CES6054150001" TargetMode="External"/><Relationship Id="rId9" Type="http://schemas.openxmlformats.org/officeDocument/2006/relationships/chart" Target="../charts/chart11.xml"/><Relationship Id="rId10" Type="http://schemas.openxmlformats.org/officeDocument/2006/relationships/image" Target="../media/image13.png"/><Relationship Id="rId11" Type="http://schemas.openxmlformats.org/officeDocument/2006/relationships/hyperlink" Target="https://www.census.gov/construction/c30/pdf/privsa.pdf"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48.png"/><Relationship Id="rId3" Type="http://schemas.openxmlformats.org/officeDocument/2006/relationships/image" Target="../media/image149.png"/><Relationship Id="rId4" Type="http://schemas.openxmlformats.org/officeDocument/2006/relationships/image" Target="../media/image150.png"/><Relationship Id="rId5" Type="http://schemas.openxmlformats.org/officeDocument/2006/relationships/image" Target="../media/image151.png"/><Relationship Id="rId6" Type="http://schemas.openxmlformats.org/officeDocument/2006/relationships/image" Target="../media/image152.png"/><Relationship Id="rId7" Type="http://schemas.openxmlformats.org/officeDocument/2006/relationships/image" Target="../media/image153.png"/><Relationship Id="rId8" Type="http://schemas.openxmlformats.org/officeDocument/2006/relationships/image" Target="../media/image154.png"/><Relationship Id="rId9" Type="http://schemas.openxmlformats.org/officeDocument/2006/relationships/image" Target="../media/image155.png"/><Relationship Id="rId10" Type="http://schemas.openxmlformats.org/officeDocument/2006/relationships/image" Target="../media/image156.png"/><Relationship Id="rId11" Type="http://schemas.openxmlformats.org/officeDocument/2006/relationships/image" Target="../media/image157.png"/><Relationship Id="rId12" Type="http://schemas.openxmlformats.org/officeDocument/2006/relationships/image" Target="../media/image140.png"/><Relationship Id="rId13" Type="http://schemas.openxmlformats.org/officeDocument/2006/relationships/image" Target="../media/image158.png"/><Relationship Id="rId14" Type="http://schemas.openxmlformats.org/officeDocument/2006/relationships/image" Target="../media/image159.png"/><Relationship Id="rId15" Type="http://schemas.openxmlformats.org/officeDocument/2006/relationships/image" Target="../media/image160.png"/><Relationship Id="rId16" Type="http://schemas.openxmlformats.org/officeDocument/2006/relationships/image" Target="../media/image161.png"/><Relationship Id="rId17" Type="http://schemas.openxmlformats.org/officeDocument/2006/relationships/image" Target="../media/image162.png"/><Relationship Id="rId18" Type="http://schemas.openxmlformats.org/officeDocument/2006/relationships/image" Target="../media/image163.png"/><Relationship Id="rId19" Type="http://schemas.openxmlformats.org/officeDocument/2006/relationships/image" Target="../media/image164.png"/><Relationship Id="rId20" Type="http://schemas.openxmlformats.org/officeDocument/2006/relationships/image" Target="../media/image165.png"/><Relationship Id="rId21" Type="http://schemas.openxmlformats.org/officeDocument/2006/relationships/image" Target="../media/image166.png"/><Relationship Id="rId22" Type="http://schemas.openxmlformats.org/officeDocument/2006/relationships/image" Target="../media/image167.png"/><Relationship Id="rId23" Type="http://schemas.openxmlformats.org/officeDocument/2006/relationships/image" Target="../media/image168.png"/><Relationship Id="rId24" Type="http://schemas.openxmlformats.org/officeDocument/2006/relationships/image" Target="../media/image169.png"/><Relationship Id="rId25" Type="http://schemas.openxmlformats.org/officeDocument/2006/relationships/image" Target="../media/image170.png"/><Relationship Id="rId26" Type="http://schemas.openxmlformats.org/officeDocument/2006/relationships/image" Target="../media/image171.png"/><Relationship Id="rId27" Type="http://schemas.openxmlformats.org/officeDocument/2006/relationships/image" Target="../media/image172.png"/><Relationship Id="rId28" Type="http://schemas.openxmlformats.org/officeDocument/2006/relationships/image" Target="../media/image173.png"/><Relationship Id="rId29" Type="http://schemas.openxmlformats.org/officeDocument/2006/relationships/image" Target="../media/image174.png"/><Relationship Id="rId30" Type="http://schemas.openxmlformats.org/officeDocument/2006/relationships/image" Target="../media/image175.png"/><Relationship Id="rId31" Type="http://schemas.openxmlformats.org/officeDocument/2006/relationships/image" Target="../media/image176.png"/><Relationship Id="rId32" Type="http://schemas.openxmlformats.org/officeDocument/2006/relationships/image" Target="../media/image177.png"/><Relationship Id="rId33" Type="http://schemas.openxmlformats.org/officeDocument/2006/relationships/image" Target="../media/image178.png"/><Relationship Id="rId34" Type="http://schemas.openxmlformats.org/officeDocument/2006/relationships/image" Target="../media/image179.png"/><Relationship Id="rId35" Type="http://schemas.openxmlformats.org/officeDocument/2006/relationships/image" Target="../media/image180.png"/><Relationship Id="rId36" Type="http://schemas.openxmlformats.org/officeDocument/2006/relationships/image" Target="../media/image181.png"/><Relationship Id="rId37" Type="http://schemas.openxmlformats.org/officeDocument/2006/relationships/image" Target="../media/image182.png"/><Relationship Id="rId38" Type="http://schemas.openxmlformats.org/officeDocument/2006/relationships/image" Target="../media/image183.png"/><Relationship Id="rId39" Type="http://schemas.openxmlformats.org/officeDocument/2006/relationships/image" Target="../media/image184.png"/><Relationship Id="rId40" Type="http://schemas.openxmlformats.org/officeDocument/2006/relationships/image" Target="../media/image185.png"/><Relationship Id="rId41" Type="http://schemas.openxmlformats.org/officeDocument/2006/relationships/image" Target="../media/image136.png"/><Relationship Id="rId42" Type="http://schemas.openxmlformats.org/officeDocument/2006/relationships/image" Target="../media/image186.png"/><Relationship Id="rId43" Type="http://schemas.openxmlformats.org/officeDocument/2006/relationships/image" Target="../media/image187.png"/><Relationship Id="rId44" Type="http://schemas.openxmlformats.org/officeDocument/2006/relationships/image" Target="../media/image188.png"/><Relationship Id="rId45" Type="http://schemas.openxmlformats.org/officeDocument/2006/relationships/image" Target="../media/image189.png"/><Relationship Id="rId46" Type="http://schemas.openxmlformats.org/officeDocument/2006/relationships/image" Target="../media/image190.png"/><Relationship Id="rId47" Type="http://schemas.openxmlformats.org/officeDocument/2006/relationships/image" Target="../media/image191.png"/><Relationship Id="rId48" Type="http://schemas.openxmlformats.org/officeDocument/2006/relationships/image" Target="../media/image192.png"/><Relationship Id="rId49" Type="http://schemas.openxmlformats.org/officeDocument/2006/relationships/image" Target="../media/image193.png"/><Relationship Id="rId50" Type="http://schemas.openxmlformats.org/officeDocument/2006/relationships/image" Target="../media/image194.png"/><Relationship Id="rId51" Type="http://schemas.openxmlformats.org/officeDocument/2006/relationships/image" Target="../media/image144.png"/><Relationship Id="rId52" Type="http://schemas.openxmlformats.org/officeDocument/2006/relationships/image" Target="../media/image195.png"/><Relationship Id="rId53" Type="http://schemas.openxmlformats.org/officeDocument/2006/relationships/image" Target="../media/image196.png"/><Relationship Id="rId54" Type="http://schemas.openxmlformats.org/officeDocument/2006/relationships/image" Target="../media/image197.png"/><Relationship Id="rId55" Type="http://schemas.openxmlformats.org/officeDocument/2006/relationships/image" Target="../media/image198.png"/><Relationship Id="rId56" Type="http://schemas.openxmlformats.org/officeDocument/2006/relationships/image" Target="../media/image199.png"/><Relationship Id="rId57" Type="http://schemas.openxmlformats.org/officeDocument/2006/relationships/image" Target="../media/image200.png"/><Relationship Id="rId58" Type="http://schemas.openxmlformats.org/officeDocument/2006/relationships/image" Target="../media/image201.png"/><Relationship Id="rId59"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jpg"/><Relationship Id="rId3" Type="http://schemas.openxmlformats.org/officeDocument/2006/relationships/image" Target="../media/image202.png"/><Relationship Id="rId4" Type="http://schemas.openxmlformats.org/officeDocument/2006/relationships/image" Target="../media/image6.png"/><Relationship Id="rId5"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03.jpg"/><Relationship Id="rId3" Type="http://schemas.openxmlformats.org/officeDocument/2006/relationships/hyperlink" Target="tel:8137716675" TargetMode="External"/><Relationship Id="rId4" Type="http://schemas.openxmlformats.org/officeDocument/2006/relationships/hyperlink" Target="mailto:j.hardin@benchmarkintl.com" TargetMode="External"/><Relationship Id="rId5" Type="http://schemas.openxmlformats.org/officeDocument/2006/relationships/hyperlink" Target="mailto:j.hardin@benchmarkintl.com?subject=Technology%20Q4%202026%20brief" TargetMode="External"/><Relationship Id="rId6" Type="http://schemas.openxmlformats.org/officeDocument/2006/relationships/hyperlink" Target="https://jp-hardin.github.io/about/mid-market-practice/insights/technology-sector-report-q4-2026.html" TargetMode="External"/><Relationship Id="rId7" Type="http://schemas.openxmlformats.org/officeDocument/2006/relationships/image" Target="../media/image204.jpg"/><Relationship Id="rId8" Type="http://schemas.openxmlformats.org/officeDocument/2006/relationships/image" Target="../media/image205.png"/><Relationship Id="rId9" Type="http://schemas.openxmlformats.org/officeDocument/2006/relationships/image" Target="../media/image1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jpg"/><Relationship Id="rId3" Type="http://schemas.openxmlformats.org/officeDocument/2006/relationships/image" Target="../media/image206.jpg"/><Relationship Id="rId4" Type="http://schemas.openxmlformats.org/officeDocument/2006/relationships/hyperlink" Target="tel:8137716675" TargetMode="External"/><Relationship Id="rId5" Type="http://schemas.openxmlformats.org/officeDocument/2006/relationships/hyperlink" Target="mailto:jhoutz@benchmarkintl.com" TargetMode="External"/><Relationship Id="rId6" Type="http://schemas.openxmlformats.org/officeDocument/2006/relationships/image" Target="../media/image203.jpg"/><Relationship Id="rId7" Type="http://schemas.openxmlformats.org/officeDocument/2006/relationships/hyperlink" Target="mailto:j.hardin@benchmarkintl.com" TargetMode="External"/><Relationship Id="rId8" Type="http://schemas.openxmlformats.org/officeDocument/2006/relationships/image" Target="../media/image207.jpg"/><Relationship Id="rId9" Type="http://schemas.openxmlformats.org/officeDocument/2006/relationships/hyperlink" Target="tel:8138982372" TargetMode="External"/><Relationship Id="rId10" Type="http://schemas.openxmlformats.org/officeDocument/2006/relationships/hyperlink" Target="mailto:azykov@benchmarkintl.com" TargetMode="External"/><Relationship Id="rId11" Type="http://schemas.openxmlformats.org/officeDocument/2006/relationships/image" Target="../media/image208.jpg"/><Relationship Id="rId12" Type="http://schemas.openxmlformats.org/officeDocument/2006/relationships/hyperlink" Target="tel:8138982397" TargetMode="External"/><Relationship Id="rId13" Type="http://schemas.openxmlformats.org/officeDocument/2006/relationships/hyperlink" Target="mailto:hess@benchmarkintl.com" TargetMode="External"/><Relationship Id="rId14" Type="http://schemas.openxmlformats.org/officeDocument/2006/relationships/image" Target="../media/image209.jpg"/><Relationship Id="rId15" Type="http://schemas.openxmlformats.org/officeDocument/2006/relationships/hyperlink" Target="tel:8138982357" TargetMode="External"/><Relationship Id="rId16" Type="http://schemas.openxmlformats.org/officeDocument/2006/relationships/hyperlink" Target="mailto:garten@benchmarkintl.com" TargetMode="External"/><Relationship Id="rId17" Type="http://schemas.openxmlformats.org/officeDocument/2006/relationships/image" Target="../media/image210.jpg"/><Relationship Id="rId18" Type="http://schemas.openxmlformats.org/officeDocument/2006/relationships/hyperlink" Target="tel:8133844972" TargetMode="External"/><Relationship Id="rId19" Type="http://schemas.openxmlformats.org/officeDocument/2006/relationships/hyperlink" Target="mailto:mwynn@benchmarkintl.com" TargetMode="External"/><Relationship Id="rId20" Type="http://schemas.openxmlformats.org/officeDocument/2006/relationships/image" Target="../media/image211.jpg"/><Relationship Id="rId21" Type="http://schemas.openxmlformats.org/officeDocument/2006/relationships/hyperlink" Target="mailto:jlisiak@benchmarkintl.com" TargetMode="External"/><Relationship Id="rId22" Type="http://schemas.openxmlformats.org/officeDocument/2006/relationships/image" Target="../media/image212.jpg"/><Relationship Id="rId23" Type="http://schemas.openxmlformats.org/officeDocument/2006/relationships/hyperlink" Target="tel:8133876046" TargetMode="External"/><Relationship Id="rId24" Type="http://schemas.openxmlformats.org/officeDocument/2006/relationships/hyperlink" Target="mailto:abarr@benchmarkintl.com" TargetMode="External"/><Relationship Id="rId25" Type="http://schemas.openxmlformats.org/officeDocument/2006/relationships/image" Target="../media/image213.jpg"/><Relationship Id="rId26" Type="http://schemas.openxmlformats.org/officeDocument/2006/relationships/hyperlink" Target="tel:8138982398" TargetMode="External"/><Relationship Id="rId27" Type="http://schemas.openxmlformats.org/officeDocument/2006/relationships/hyperlink" Target="mailto:jwarren@benchmarkintl.com" TargetMode="External"/><Relationship Id="rId28" Type="http://schemas.openxmlformats.org/officeDocument/2006/relationships/image" Target="../media/image214.jpg"/><Relationship Id="rId29" Type="http://schemas.openxmlformats.org/officeDocument/2006/relationships/hyperlink" Target="tel:8137716318" TargetMode="External"/><Relationship Id="rId30" Type="http://schemas.openxmlformats.org/officeDocument/2006/relationships/hyperlink" Target="mailto:lernst@benchmarkintl.com" TargetMode="External"/><Relationship Id="rId31" Type="http://schemas.openxmlformats.org/officeDocument/2006/relationships/image" Target="../media/image215.png"/><Relationship Id="rId32" Type="http://schemas.openxmlformats.org/officeDocument/2006/relationships/image" Target="../media/image216.png"/><Relationship Id="rId33" Type="http://schemas.openxmlformats.org/officeDocument/2006/relationships/image" Target="../media/image217.png"/><Relationship Id="rId34" Type="http://schemas.openxmlformats.org/officeDocument/2006/relationships/image" Target="../media/image218.png"/><Relationship Id="rId35" Type="http://schemas.openxmlformats.org/officeDocument/2006/relationships/image" Target="../media/image219.png"/><Relationship Id="rId36" Type="http://schemas.openxmlformats.org/officeDocument/2006/relationships/image" Target="../media/image220.png"/><Relationship Id="rId37" Type="http://schemas.openxmlformats.org/officeDocument/2006/relationships/image" Target="../media/image1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jpg"/><Relationship Id="rId3" Type="http://schemas.openxmlformats.org/officeDocument/2006/relationships/image" Target="../media/image4.png"/><Relationship Id="rId4" Type="http://schemas.openxmlformats.org/officeDocument/2006/relationships/image" Target="../media/image221.png"/><Relationship Id="rId5" Type="http://schemas.openxmlformats.org/officeDocument/2006/relationships/image" Target="../media/image222.png"/><Relationship Id="rId6" Type="http://schemas.openxmlformats.org/officeDocument/2006/relationships/image" Target="../media/image223.png"/><Relationship Id="rId7" Type="http://schemas.openxmlformats.org/officeDocument/2006/relationships/image" Target="../media/image224.png"/><Relationship Id="rId8" Type="http://schemas.openxmlformats.org/officeDocument/2006/relationships/image" Target="../media/image225.png"/><Relationship Id="rId9" Type="http://schemas.openxmlformats.org/officeDocument/2006/relationships/image" Target="../media/image226.png"/><Relationship Id="rId10" Type="http://schemas.openxmlformats.org/officeDocument/2006/relationships/image" Target="../media/image227.png"/><Relationship Id="rId11" Type="http://schemas.openxmlformats.org/officeDocument/2006/relationships/image" Target="../media/image228.png"/><Relationship Id="rId12" Type="http://schemas.openxmlformats.org/officeDocument/2006/relationships/image" Target="../media/image229.png"/><Relationship Id="rId13" Type="http://schemas.openxmlformats.org/officeDocument/2006/relationships/image" Target="../media/image13.png"/><Relationship Id="rId14" Type="http://schemas.openxmlformats.org/officeDocument/2006/relationships/hyperlink" Target="https://www.benchmarkintl.com/about/our-success/"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www.benchmarkintl.com/" TargetMode="External"/><Relationship Id="rId3" Type="http://schemas.openxmlformats.org/officeDocument/2006/relationships/image" Target="../media/image1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www.gartner.com/en/newsroom/press-releases/2026-07-27-gartner-forecasts-worldwide-it-spending-to-grow-14-point-2-percent-in-2026-totaling-6-point-37-trillion" TargetMode="External"/><Relationship Id="rId3" Type="http://schemas.openxmlformats.org/officeDocument/2006/relationships/hyperlink" Target="https://www.srgresearch.com/articles/q2-cloud-market-passes-143-billion-highest-growth-rate-in-eight-years" TargetMode="External"/><Relationship Id="rId4" Type="http://schemas.openxmlformats.org/officeDocument/2006/relationships/hyperlink" Target="https://omdia.tech.informa.com/om145542/global-msp-ma-1q26" TargetMode="External"/><Relationship Id="rId5" Type="http://schemas.openxmlformats.org/officeDocument/2006/relationships/hyperlink" Target="https://www.federalreserve.gov/newsevents/pressreleases/monetary20260916a.htm" TargetMode="External"/><Relationship Id="rId6" Type="http://schemas.openxmlformats.org/officeDocument/2006/relationships/hyperlink" Target="https://home.treasury.gov/resource-center/data-chart-center/interest-rates/TextView?type=daily_treasury_yield_curve&amp;field_tdr_date_value_month=202610" TargetMode="External"/><Relationship Id="rId7" Type="http://schemas.openxmlformats.org/officeDocument/2006/relationships/hyperlink" Target="https://www.acg.org/news-trends/news/gf-data-reports-show-steady-middle-market-deal-flow-amid-more-selective" TargetMode="External"/><Relationship Id="rId8" Type="http://schemas.openxmlformats.org/officeDocument/2006/relationships/hyperlink" Target="https://www.gartner.com/en/newsroom/press-releases/2025-07-29-gartner-forecasts-worldwide-end-user-spending-on-information-security-to-total-213-billion-us-dollars-in-2025" TargetMode="External"/><Relationship Id="rId9" Type="http://schemas.openxmlformats.org/officeDocument/2006/relationships/hyperlink" Target="https://www.ic3.gov/AnnualReport/Reports/2025_IC3Report.pdf" TargetMode="External"/><Relationship Id="rId10" Type="http://schemas.openxmlformats.org/officeDocument/2006/relationships/hyperlink" Target="https://dodcio.defense.gov/CMMC/About/" TargetMode="External"/><Relationship Id="rId11" Type="http://schemas.openxmlformats.org/officeDocument/2006/relationships/hyperlink" Target="https://www.electronics.org/news-release/north-american-ems-orders-outpace-shipments-august-bookings-rise-535-year-over-year" TargetMode="External"/><Relationship Id="rId12" Type="http://schemas.openxmlformats.org/officeDocument/2006/relationships/hyperlink" Target="https://www.wiley.law/alert-New-Forced-Labor-Tariffs-Imposed-on-60-US-Trading-Partners" TargetMode="External"/><Relationship Id="rId13" Type="http://schemas.openxmlformats.org/officeDocument/2006/relationships/hyperlink" Target="https://fedscoop.com/radio/trump-admin-sets-75-7b-topline-civilian-it-budget-for-2027/" TargetMode="External"/><Relationship Id="rId14" Type="http://schemas.openxmlformats.org/officeDocument/2006/relationships/hyperlink" Target="https://spacepolicyonline.com/news/house-clears-fy2027-cr-now-to-the-president/" TargetMode="External"/><Relationship Id="rId15" Type="http://schemas.openxmlformats.org/officeDocument/2006/relationships/hyperlink" Target="https://www.webull.com/news/15462423712777216" TargetMode="External"/><Relationship Id="rId16" Type="http://schemas.openxmlformats.org/officeDocument/2006/relationships/hyperlink" Target="https://www.channeldive.com/news/channel-acquistions-consolidation-managed-services-omdia/828297/" TargetMode="External"/><Relationship Id="rId17" Type="http://schemas.openxmlformats.org/officeDocument/2006/relationships/hyperlink" Target="https://www.passwordprotectedlaw.com/2026/07/dow-suspends-cmmc-phase-ii-requirements-launches-60-day-review/" TargetMode="External"/><Relationship Id="rId18" Type="http://schemas.openxmlformats.org/officeDocument/2006/relationships/hyperlink" Target="https://news.cognizant.com/2026-06-22-Cognizant-Completes-Acquisition-of-Astreya,-Expanding-AI-Infrastructure-and-Managed-Services-Capabilities?asPDF=1" TargetMode="External"/><Relationship Id="rId19" Type="http://schemas.openxmlformats.org/officeDocument/2006/relationships/hyperlink" Target="https://coverager.com/cognizant-to-acquire-astreya/" TargetMode="External"/><Relationship Id="rId20" Type="http://schemas.openxmlformats.org/officeDocument/2006/relationships/hyperlink" Target="https://www.securityweek.com/cybersecurity-ma-roundup-37-deals-announced-in-june-2026/" TargetMode="External"/><Relationship Id="rId21" Type="http://schemas.openxmlformats.org/officeDocument/2006/relationships/hyperlink" Target="https://bbcmag.com/september-2026-isp-roundup/" TargetMode="External"/><Relationship Id="rId22" Type="http://schemas.openxmlformats.org/officeDocument/2006/relationships/hyperlink" Target="https://www.webull.com/news/15543005417877504" TargetMode="External"/><Relationship Id="rId23" Type="http://schemas.openxmlformats.org/officeDocument/2006/relationships/hyperlink" Target="https://www.govconwire.com/articles/motorola-solutions-d-fend-counter-drone-acquisition" TargetMode="External"/><Relationship Id="rId24" Type="http://schemas.openxmlformats.org/officeDocument/2006/relationships/hyperlink" Target="https://www.govconwire.com/articles/booz-allen-720m-ultra-ic-mission-solutions-close" TargetMode="External"/><Relationship Id="rId25" Type="http://schemas.openxmlformats.org/officeDocument/2006/relationships/hyperlink" Target="https://www.benchmarkintl.com/about/our-success/" TargetMode="External"/><Relationship Id="rId26" Type="http://schemas.openxmlformats.org/officeDocument/2006/relationships/hyperlink" Target="https://pitchbook.brightspotcdn.com/40/42/bbeb88094080abaea3d7c87530b8/q2-2026-us-pe-breakdown.pdf" TargetMode="External"/><Relationship Id="rId27" Type="http://schemas.openxmlformats.org/officeDocument/2006/relationships/hyperlink" Target="https://www.ibba.org/wp-content/uploads/2026/08/mp-highlights-q2-2026.pdf" TargetMode="External"/><Relationship Id="rId28" Type="http://schemas.openxmlformats.org/officeDocument/2006/relationships/hyperlink" Target="https://stockanalysis.com/" TargetMode="External"/><Relationship Id="rId29" Type="http://schemas.openxmlformats.org/officeDocument/2006/relationships/hyperlink" Target="https://www.sec.gov/Archives/edgar/data/0001030894/000103089426000043/cls-20260630prcondensedfs.htm" TargetMode="External"/><Relationship Id="rId30" Type="http://schemas.openxmlformats.org/officeDocument/2006/relationships/hyperlink" Target="https://www.sec.gov/Archives/edgar/data/0001177394/000162828026063314/ex991-fy26q3pressrelease.htm" TargetMode="External"/><Relationship Id="rId31" Type="http://schemas.openxmlformats.org/officeDocument/2006/relationships/hyperlink" Target="https://www.sec.gov/Archives/edgar/data/0001327567/000132756726000019/ex991q426earningsrelease.htm" TargetMode="External"/><Relationship Id="rId32" Type="http://schemas.openxmlformats.org/officeDocument/2006/relationships/hyperlink" Target="https://www.sec.gov/Archives/edgar/data/0001535527/000153552726000029/crwd-20260826xex991.htm" TargetMode="External"/><Relationship Id="rId33" Type="http://schemas.openxmlformats.org/officeDocument/2006/relationships/hyperlink" Target="https://fortinet.gcs-web.com/static-files/e4ffcc79-194e-4ca3-9a69-8a51bd0a6314" TargetMode="External"/><Relationship Id="rId34" Type="http://schemas.openxmlformats.org/officeDocument/2006/relationships/hyperlink" Target="https://www.sec.gov/Archives/edgar/data/0000866374/000086637426000026/flexex991-6262026.htm" TargetMode="External"/><Relationship Id="rId35" Type="http://schemas.openxmlformats.org/officeDocument/2006/relationships/hyperlink" Target="https://www.sec.gov/Archives/edgar/data/0000016058/000162828026053448/fy26-q4caci20260805ex991.htm" TargetMode="External"/><Relationship Id="rId36" Type="http://schemas.openxmlformats.org/officeDocument/2006/relationships/hyperlink" Target="https://www.businesswire.com/news/home/20260806171314/en/" TargetMode="External"/><Relationship Id="rId37" Type="http://schemas.openxmlformats.org/officeDocument/2006/relationships/hyperlink" Target="https://www.sec.gov/Archives/edgar/data/0000929008/000092900826000021/wcc-2q2026earnings.htm" TargetMode="External"/><Relationship Id="rId38" Type="http://schemas.openxmlformats.org/officeDocument/2006/relationships/hyperlink" Target="https://www.sec.gov/Archives/edgar/data/0001402057/000140205726000062/cdw-2026630earningsrelease.htm" TargetMode="External"/><Relationship Id="rId39" Type="http://schemas.openxmlformats.org/officeDocument/2006/relationships/hyperlink" Target="https://www.sec.gov/Archives/edgar/data/0000069633/000110465926100077/nssc-20260820xex99d1.htm" TargetMode="External"/><Relationship Id="rId40" Type="http://schemas.openxmlformats.org/officeDocument/2006/relationships/hyperlink" Target="https://s201.q4cdn.com/385562537/files/doc_financials/2026/q2/99-1-Earnings-Release-6-30-2026-FINAL.pdf" TargetMode="External"/><Relationship Id="rId41" Type="http://schemas.openxmlformats.org/officeDocument/2006/relationships/hyperlink" Target="https://www.sec.gov/Archives/edgar/data/0001336920/000133692026000243/ldos070326q2pressreleaseex.htm" TargetMode="External"/><Relationship Id="rId42" Type="http://schemas.openxmlformats.org/officeDocument/2006/relationships/hyperlink" Target="https://www.sec.gov/Archives/edgar/data/0001467373/000146737326000037/q4fy26earnings8-kexhibit.htm" TargetMode="External"/><Relationship Id="rId43" Type="http://schemas.openxmlformats.org/officeDocument/2006/relationships/hyperlink" Target="https://www.businesswire.com/news/home/20260723424331/en/" TargetMode="External"/><Relationship Id="rId44" Type="http://schemas.openxmlformats.org/officeDocument/2006/relationships/hyperlink" Target="https://www.sec.gov/Archives/edgar/data/0001585521/000158552126000119/zm-20260731ex991.htm" TargetMode="External"/><Relationship Id="rId45" Type="http://schemas.openxmlformats.org/officeDocument/2006/relationships/hyperlink" Target="https://www.businesswire.com/news/home/20260724644070/en/Booz-Allen-Hamilton-Announces-First-Quarter-Fiscal-Year-2027-Results" TargetMode="External"/><Relationship Id="rId46" Type="http://schemas.openxmlformats.org/officeDocument/2006/relationships/hyperlink" Target="https://www.sec.gov/Archives/edgar/data/0000898293/000162828026063890/jbl-20260930ex991.htm" TargetMode="External"/><Relationship Id="rId47" Type="http://schemas.openxmlformats.org/officeDocument/2006/relationships/hyperlink" Target="https://fred.stlouisfed.org/series/PCU33443344" TargetMode="External"/><Relationship Id="rId48" Type="http://schemas.openxmlformats.org/officeDocument/2006/relationships/hyperlink" Target="https://fred.stlouisfed.org/series/PCOPPUSDM" TargetMode="External"/><Relationship Id="rId49" Type="http://schemas.openxmlformats.org/officeDocument/2006/relationships/hyperlink" Target="https://fred.stlouisfed.org/series/PROFCONS" TargetMode="External"/><Relationship Id="rId50" Type="http://schemas.openxmlformats.org/officeDocument/2006/relationships/hyperlink" Target="https://fred.stlouisfed.org/series/CES6054150001" TargetMode="External"/><Relationship Id="rId51" Type="http://schemas.openxmlformats.org/officeDocument/2006/relationships/hyperlink" Target="https://www.census.gov/construction/c30/pdf/privsa.pdf" TargetMode="External"/><Relationship Id="rId52" Type="http://schemas.openxmlformats.org/officeDocument/2006/relationships/hyperlink" Target="https://jp-hardin.github.io/about/mid-market-practice/insights/technology-sector-report-q4-2026.html" TargetMode="External"/><Relationship Id="rId53" Type="http://schemas.openxmlformats.org/officeDocument/2006/relationships/hyperlink" Target="https://www.benchmarkintl.com/insights/completed-transactions/" TargetMode="External"/><Relationship Id="rId54" Type="http://schemas.openxmlformats.org/officeDocument/2006/relationships/image" Target="../media/image13.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1A1A"/>
        </a:solidFill>
        <a:effectLst/>
      </p:bgPr>
    </p:bg>
    <p:spTree>
      <p:nvGrpSpPr>
        <p:cNvPr id="1" name=""/>
        <p:cNvGrpSpPr/>
        <p:nvPr/>
      </p:nvGrpSpPr>
      <p:grpSpPr/>
      <p:sp>
        <p:nvSpPr>
          <p:cNvPr id="3" name="Panel"/>
          <p:cNvSpPr/>
          <p:nvPr/>
        </p:nvSpPr>
        <p:spPr>
          <a:xfrm>
            <a:off x="0" y="0"/>
            <a:ext cx="10058400" cy="7772400"/>
          </a:xfrm>
          <a:prstGeom prst="rect">
            <a:avLst/>
          </a:prstGeom>
          <a:solidFill>
            <a:srgbClr val="1B1A1A"/>
          </a:solidFill>
          <a:ln>
            <a:noFill/>
          </a:ln>
        </p:spPr>
        <p:txBody>
          <a:bodyPr rtlCol="0" anchor="ctr"/>
          <a:lstStyle/>
          <a:p>
            <a:pPr algn="ctr"/>
          </a:p>
        </p:txBody>
      </p:sp>
      <p:pic>
        <p:nvPicPr>
          <p:cNvPr id="4" name="Glass office building at night" descr="Glass office building at night"/>
          <p:cNvPicPr>
            <a:picLocks noChangeAspect="1"/>
          </p:cNvPicPr>
          <p:nvPr/>
        </p:nvPicPr>
        <p:blipFill>
          <a:blip r:embed="rId2"/>
          <a:srcRect l="31043" r="31043"/>
          <a:stretch>
            <a:fillRect/>
          </a:stretch>
        </p:blipFill>
        <p:spPr>
          <a:xfrm>
            <a:off x="0" y="0"/>
            <a:ext cx="4191000" cy="7772400"/>
          </a:xfrm>
          <a:prstGeom prst="rect">
            <a:avLst/>
          </a:prstGeom>
        </p:spPr>
      </p:pic>
      <p:pic>
        <p:nvPicPr>
          <p:cNvPr id="5" name="Graphic" descr="Main_r0.png"/>
          <p:cNvPicPr>
            <a:picLocks noChangeAspect="1"/>
          </p:cNvPicPr>
          <p:nvPr/>
        </p:nvPicPr>
        <p:blipFill>
          <a:blip r:embed="rId3"/>
          <a:stretch>
            <a:fillRect/>
          </a:stretch>
        </p:blipFill>
        <p:spPr>
          <a:xfrm>
            <a:off x="0" y="0"/>
            <a:ext cx="4191000" cy="7772400"/>
          </a:xfrm>
          <a:prstGeom prst="rect">
            <a:avLst/>
          </a:prstGeom>
        </p:spPr>
      </p:pic>
      <p:sp>
        <p:nvSpPr>
          <p:cNvPr id="6" name="Panel"/>
          <p:cNvSpPr/>
          <p:nvPr/>
        </p:nvSpPr>
        <p:spPr>
          <a:xfrm>
            <a:off x="4191000" y="0"/>
            <a:ext cx="5695950" cy="7772400"/>
          </a:xfrm>
          <a:prstGeom prst="rect">
            <a:avLst/>
          </a:prstGeom>
          <a:solidFill>
            <a:srgbClr val="1B1A1A"/>
          </a:solidFill>
          <a:ln>
            <a:noFill/>
          </a:ln>
        </p:spPr>
        <p:txBody>
          <a:bodyPr rtlCol="0" anchor="ctr"/>
          <a:lstStyle/>
          <a:p>
            <a:pPr algn="ctr"/>
          </a:p>
        </p:txBody>
      </p:sp>
      <p:pic>
        <p:nvPicPr>
          <p:cNvPr id="7" name="Picture" descr="knot.jpg"/>
          <p:cNvPicPr>
            <a:picLocks noChangeAspect="1"/>
          </p:cNvPicPr>
          <p:nvPr/>
        </p:nvPicPr>
        <p:blipFill>
          <a:blip r:embed="rId4">
            <a:alphaModFix amt="55000"/>
          </a:blip>
          <a:srcRect l="29389" r="29389"/>
          <a:stretch>
            <a:fillRect/>
          </a:stretch>
        </p:blipFill>
        <p:spPr>
          <a:xfrm>
            <a:off x="4191000" y="0"/>
            <a:ext cx="5695950" cy="7772400"/>
          </a:xfrm>
          <a:prstGeom prst="rect">
            <a:avLst/>
          </a:prstGeom>
        </p:spPr>
      </p:pic>
      <p:sp>
        <p:nvSpPr>
          <p:cNvPr id="8" name="Panel"/>
          <p:cNvSpPr/>
          <p:nvPr/>
        </p:nvSpPr>
        <p:spPr>
          <a:xfrm>
            <a:off x="4191000" y="0"/>
            <a:ext cx="57150" cy="7772400"/>
          </a:xfrm>
          <a:prstGeom prst="rect">
            <a:avLst/>
          </a:prstGeom>
          <a:solidFill>
            <a:srgbClr val="B68757"/>
          </a:solidFill>
          <a:ln>
            <a:noFill/>
          </a:ln>
        </p:spPr>
        <p:txBody>
          <a:bodyPr rtlCol="0" anchor="ctr"/>
          <a:lstStyle/>
          <a:p>
            <a:pPr algn="ctr"/>
          </a:p>
        </p:txBody>
      </p:sp>
      <p:sp>
        <p:nvSpPr>
          <p:cNvPr id="9" name="TextBox 8"/>
          <p:cNvSpPr txBox="1"/>
          <p:nvPr/>
        </p:nvSpPr>
        <p:spPr>
          <a:xfrm>
            <a:off x="419100" y="6838760"/>
            <a:ext cx="3695700" cy="428625"/>
          </a:xfrm>
          <a:prstGeom prst="rect">
            <a:avLst/>
          </a:prstGeom>
          <a:noFill/>
        </p:spPr>
        <p:txBody>
          <a:bodyPr wrap="none" lIns="0" rIns="0" tIns="0" bIns="0" anchor="t">
            <a:noAutofit/>
          </a:bodyPr>
          <a:lstStyle/>
          <a:p>
            <a:pPr algn="l">
              <a:lnSpc>
                <a:spcPts val="1275"/>
              </a:lnSpc>
              <a:spcBef>
                <a:spcPts val="0"/>
              </a:spcBef>
              <a:spcAft>
                <a:spcPts val="0"/>
              </a:spcAft>
            </a:pPr>
            <a:r>
              <a:rPr sz="675" b="1" i="0" spc="165">
                <a:solidFill>
                  <a:srgbClr val="FFFFFF"/>
                </a:solidFill>
                <a:latin typeface="Quicksand"/>
              </a:rPr>
              <a:t>MANAGED IT &amp; CLOUD SERVICES  ·  CYBERSECURITY</a:t>
            </a:r>
            <a:br/>
            <a:r>
              <a:rPr sz="675" b="1" i="0" spc="165">
                <a:solidFill>
                  <a:srgbClr val="FFFFFF"/>
                </a:solidFill>
                <a:latin typeface="Quicksand"/>
              </a:rPr>
              <a:t>TELECOM &amp; UCAAS  ·  SYSTEMS INTEGRATION</a:t>
            </a:r>
            <a:br/>
            <a:r>
              <a:rPr sz="675" b="1" i="0" spc="165">
                <a:solidFill>
                  <a:srgbClr val="FFFFFF"/>
                </a:solidFill>
                <a:latin typeface="Quicksand"/>
              </a:rPr>
              <a:t>ELECTRONICS &amp; HARDWARE  ·  GOVERNMENT TECHNOLOGY</a:t>
            </a:r>
          </a:p>
        </p:txBody>
      </p:sp>
      <p:pic>
        <p:nvPicPr>
          <p:cNvPr id="10" name="Benchmark International" descr="Benchmark International"/>
          <p:cNvPicPr>
            <a:picLocks noChangeAspect="1"/>
          </p:cNvPicPr>
          <p:nvPr/>
        </p:nvPicPr>
        <p:blipFill>
          <a:blip r:embed="rId5"/>
          <a:stretch>
            <a:fillRect/>
          </a:stretch>
        </p:blipFill>
        <p:spPr>
          <a:xfrm>
            <a:off x="4724400" y="571500"/>
            <a:ext cx="2438400" cy="457200"/>
          </a:xfrm>
          <a:prstGeom prst="rect">
            <a:avLst/>
          </a:prstGeom>
        </p:spPr>
      </p:pic>
      <p:sp>
        <p:nvSpPr>
          <p:cNvPr id="11" name="TextBox 10"/>
          <p:cNvSpPr txBox="1"/>
          <p:nvPr/>
        </p:nvSpPr>
        <p:spPr>
          <a:xfrm>
            <a:off x="4724400" y="1110520"/>
            <a:ext cx="1196280" cy="114300"/>
          </a:xfrm>
          <a:prstGeom prst="rect">
            <a:avLst/>
          </a:prstGeom>
          <a:noFill/>
        </p:spPr>
        <p:txBody>
          <a:bodyPr wrap="none" lIns="0" rIns="0" tIns="0" bIns="0" anchor="t">
            <a:noAutofit/>
          </a:bodyPr>
          <a:lstStyle/>
          <a:p>
            <a:pPr algn="l">
              <a:lnSpc>
                <a:spcPts val="1050"/>
              </a:lnSpc>
              <a:spcBef>
                <a:spcPts val="0"/>
              </a:spcBef>
              <a:spcAft>
                <a:spcPts val="0"/>
              </a:spcAft>
            </a:pPr>
            <a:r>
              <a:rPr sz="712" b="1" i="0" spc="255">
                <a:solidFill>
                  <a:srgbClr val="D3AE84"/>
                </a:solidFill>
                <a:latin typeface="Quicksand"/>
              </a:rPr>
              <a:t>MIDDLE MARKET</a:t>
            </a:r>
          </a:p>
        </p:txBody>
      </p:sp>
      <p:sp>
        <p:nvSpPr>
          <p:cNvPr id="12" name="TextBox 11"/>
          <p:cNvSpPr txBox="1"/>
          <p:nvPr/>
        </p:nvSpPr>
        <p:spPr>
          <a:xfrm>
            <a:off x="4724400" y="2227040"/>
            <a:ext cx="2848868" cy="133350"/>
          </a:xfrm>
          <a:prstGeom prst="rect">
            <a:avLst/>
          </a:prstGeom>
          <a:noFill/>
        </p:spPr>
        <p:txBody>
          <a:bodyPr wrap="none" lIns="0" rIns="0" tIns="0" bIns="0" anchor="t">
            <a:noAutofit/>
          </a:bodyPr>
          <a:lstStyle/>
          <a:p>
            <a:pPr algn="l">
              <a:lnSpc>
                <a:spcPts val="1200"/>
              </a:lnSpc>
              <a:spcBef>
                <a:spcPts val="0"/>
              </a:spcBef>
              <a:spcAft>
                <a:spcPts val="0"/>
              </a:spcAft>
            </a:pPr>
            <a:r>
              <a:rPr sz="788" b="1" i="0" spc="225">
                <a:solidFill>
                  <a:srgbClr val="D3AE84"/>
                </a:solidFill>
                <a:latin typeface="Quicksand"/>
              </a:rPr>
              <a:t>QUARTERLY SECTOR BRIEF  |  Q4 2026</a:t>
            </a:r>
          </a:p>
        </p:txBody>
      </p:sp>
      <p:sp>
        <p:nvSpPr>
          <p:cNvPr id="2" name="Title 1"/>
          <p:cNvSpPr>
            <a:spLocks noGrp="1"/>
          </p:cNvSpPr>
          <p:nvPr>
            <p:ph type="title"/>
          </p:nvPr>
        </p:nvSpPr>
        <p:spPr>
          <a:xfrm>
            <a:off x="4724400" y="2554605"/>
            <a:ext cx="4567833" cy="771525"/>
          </a:xfrm>
        </p:spPr>
        <p:txBody>
          <a:bodyPr wrap="none" lIns="0" rIns="0" tIns="0" bIns="0" anchor="t">
            <a:noAutofit/>
          </a:bodyPr>
          <a:lstStyle/>
          <a:p>
            <a:pPr algn="l">
              <a:lnSpc>
                <a:spcPts val="5100"/>
              </a:lnSpc>
              <a:spcBef>
                <a:spcPts val="0"/>
              </a:spcBef>
              <a:spcAft>
                <a:spcPts val="0"/>
              </a:spcAft>
            </a:pPr>
            <a:r>
              <a:rPr sz="4500" b="0" i="0" spc="300">
                <a:solidFill>
                  <a:srgbClr val="FFFFFF"/>
                </a:solidFill>
                <a:latin typeface="Cinzel"/>
              </a:rPr>
              <a:t>TECHNOLOGY</a:t>
            </a:r>
          </a:p>
        </p:txBody>
      </p:sp>
      <p:sp>
        <p:nvSpPr>
          <p:cNvPr id="13" name="Panel"/>
          <p:cNvSpPr/>
          <p:nvPr/>
        </p:nvSpPr>
        <p:spPr>
          <a:xfrm>
            <a:off x="4724400" y="3333750"/>
            <a:ext cx="914400" cy="19050"/>
          </a:xfrm>
          <a:prstGeom prst="rect">
            <a:avLst/>
          </a:prstGeom>
          <a:solidFill>
            <a:srgbClr val="B68757"/>
          </a:solidFill>
          <a:ln>
            <a:noFill/>
          </a:ln>
        </p:spPr>
        <p:txBody>
          <a:bodyPr rtlCol="0" anchor="ctr"/>
          <a:lstStyle/>
          <a:p>
            <a:pPr algn="ctr"/>
          </a:p>
        </p:txBody>
      </p:sp>
      <p:sp>
        <p:nvSpPr>
          <p:cNvPr id="14" name="TextBox 13"/>
          <p:cNvSpPr txBox="1"/>
          <p:nvPr/>
        </p:nvSpPr>
        <p:spPr>
          <a:xfrm>
            <a:off x="4724400" y="3478530"/>
            <a:ext cx="4991100" cy="723900"/>
          </a:xfrm>
          <a:prstGeom prst="rect">
            <a:avLst/>
          </a:prstGeom>
          <a:noFill/>
        </p:spPr>
        <p:txBody>
          <a:bodyPr wrap="square" lIns="0" rIns="0" tIns="0" bIns="0" anchor="t">
            <a:noAutofit/>
          </a:bodyPr>
          <a:lstStyle/>
          <a:p>
            <a:pPr algn="l">
              <a:lnSpc>
                <a:spcPts val="2100"/>
              </a:lnSpc>
              <a:spcBef>
                <a:spcPts val="0"/>
              </a:spcBef>
              <a:spcAft>
                <a:spcPts val="0"/>
              </a:spcAft>
            </a:pPr>
            <a:r>
              <a:rPr sz="1500" b="0" i="1">
                <a:solidFill>
                  <a:srgbClr val="F1ECE5"/>
                </a:solidFill>
                <a:latin typeface="Newsreader"/>
              </a:rPr>
              <a:t>Data center demand is filling order books, consolidators keep paying for recurring revenue, and government contractors are working through a slower award calendar.</a:t>
            </a:r>
          </a:p>
        </p:txBody>
      </p:sp>
      <p:sp>
        <p:nvSpPr>
          <p:cNvPr id="15" name="TextBox 14"/>
          <p:cNvSpPr txBox="1"/>
          <p:nvPr/>
        </p:nvSpPr>
        <p:spPr>
          <a:xfrm>
            <a:off x="4724400" y="4939570"/>
            <a:ext cx="1286917" cy="114300"/>
          </a:xfrm>
          <a:prstGeom prst="rect">
            <a:avLst/>
          </a:prstGeom>
          <a:noFill/>
        </p:spPr>
        <p:txBody>
          <a:bodyPr wrap="none" lIns="0" rIns="0" tIns="0" bIns="0" anchor="t">
            <a:noAutofit/>
          </a:bodyPr>
          <a:lstStyle/>
          <a:p>
            <a:pPr algn="l">
              <a:lnSpc>
                <a:spcPts val="1050"/>
              </a:lnSpc>
              <a:spcBef>
                <a:spcPts val="0"/>
              </a:spcBef>
              <a:spcAft>
                <a:spcPts val="0"/>
              </a:spcAft>
            </a:pPr>
            <a:r>
              <a:rPr sz="712" b="1" i="0" spc="225">
                <a:solidFill>
                  <a:srgbClr val="D3AE84"/>
                </a:solidFill>
                <a:latin typeface="Quicksand"/>
              </a:rPr>
              <a:t>WHAT'S INCLUDED</a:t>
            </a:r>
          </a:p>
        </p:txBody>
      </p:sp>
      <p:sp>
        <p:nvSpPr>
          <p:cNvPr id="16" name="Rule"/>
          <p:cNvSpPr/>
          <p:nvPr/>
        </p:nvSpPr>
        <p:spPr>
          <a:xfrm>
            <a:off x="4724400" y="5181600"/>
            <a:ext cx="4914900" cy="9525"/>
          </a:xfrm>
          <a:prstGeom prst="rect">
            <a:avLst/>
          </a:prstGeom>
          <a:solidFill>
            <a:srgbClr val="FFFFFF">
              <a:alpha val="16000"/>
            </a:srgbClr>
          </a:solidFill>
          <a:ln>
            <a:noFill/>
          </a:ln>
        </p:spPr>
        <p:txBody>
          <a:bodyPr rtlCol="0" anchor="ctr"/>
          <a:lstStyle/>
          <a:p>
            <a:pPr algn="ctr"/>
          </a:p>
        </p:txBody>
      </p:sp>
      <p:sp>
        <p:nvSpPr>
          <p:cNvPr id="17" name="TextBox 16"/>
          <p:cNvSpPr txBox="1"/>
          <p:nvPr/>
        </p:nvSpPr>
        <p:spPr>
          <a:xfrm>
            <a:off x="4724400" y="5309235"/>
            <a:ext cx="255389" cy="257175"/>
          </a:xfrm>
          <a:prstGeom prst="rect">
            <a:avLst/>
          </a:prstGeom>
          <a:noFill/>
        </p:spPr>
        <p:txBody>
          <a:bodyPr wrap="none" lIns="0" rIns="0" tIns="0" bIns="0" anchor="t">
            <a:noAutofit/>
          </a:bodyPr>
          <a:lstStyle/>
          <a:p>
            <a:pPr algn="l">
              <a:lnSpc>
                <a:spcPts val="1800"/>
              </a:lnSpc>
              <a:spcBef>
                <a:spcPts val="0"/>
              </a:spcBef>
              <a:spcAft>
                <a:spcPts val="0"/>
              </a:spcAft>
            </a:pPr>
            <a:r>
              <a:rPr sz="1500" b="0" i="0" spc="75">
                <a:solidFill>
                  <a:srgbClr val="D3AE84"/>
                </a:solidFill>
                <a:latin typeface="Cinzel"/>
              </a:rPr>
              <a:t>01</a:t>
            </a:r>
          </a:p>
        </p:txBody>
      </p:sp>
      <p:sp>
        <p:nvSpPr>
          <p:cNvPr id="18" name="TextBox 17"/>
          <p:cNvSpPr txBox="1"/>
          <p:nvPr/>
        </p:nvSpPr>
        <p:spPr>
          <a:xfrm>
            <a:off x="5162550" y="5321046"/>
            <a:ext cx="710952" cy="142875"/>
          </a:xfrm>
          <a:prstGeom prst="rect">
            <a:avLst/>
          </a:prstGeom>
          <a:noFill/>
        </p:spPr>
        <p:txBody>
          <a:bodyPr wrap="none" lIns="0" rIns="0" tIns="0" bIns="0" anchor="t">
            <a:noAutofit/>
          </a:bodyPr>
          <a:lstStyle/>
          <a:p>
            <a:pPr algn="l">
              <a:lnSpc>
                <a:spcPts val="1350"/>
              </a:lnSpc>
              <a:spcBef>
                <a:spcPts val="0"/>
              </a:spcBef>
              <a:spcAft>
                <a:spcPts val="0"/>
              </a:spcAft>
            </a:pPr>
            <a:r>
              <a:rPr sz="900" b="1" i="0" spc="135">
                <a:solidFill>
                  <a:srgbClr val="FFFFFF"/>
                </a:solidFill>
                <a:latin typeface="Quicksand"/>
              </a:rPr>
              <a:t>INSIGHTS</a:t>
            </a:r>
          </a:p>
        </p:txBody>
      </p:sp>
      <p:sp>
        <p:nvSpPr>
          <p:cNvPr id="19" name="TextBox 18"/>
          <p:cNvSpPr txBox="1"/>
          <p:nvPr/>
        </p:nvSpPr>
        <p:spPr>
          <a:xfrm>
            <a:off x="6610350" y="5321046"/>
            <a:ext cx="3105150" cy="314325"/>
          </a:xfrm>
          <a:prstGeom prst="rect">
            <a:avLst/>
          </a:prstGeom>
          <a:noFill/>
        </p:spPr>
        <p:txBody>
          <a:bodyPr wrap="square" lIns="0" rIns="0" tIns="0" bIns="0" anchor="t">
            <a:noAutofit/>
          </a:bodyPr>
          <a:lstStyle/>
          <a:p>
            <a:pPr algn="l">
              <a:lnSpc>
                <a:spcPts val="1350"/>
              </a:lnSpc>
              <a:spcBef>
                <a:spcPts val="0"/>
              </a:spcBef>
              <a:spcAft>
                <a:spcPts val="0"/>
              </a:spcAft>
            </a:pPr>
            <a:r>
              <a:rPr sz="900" b="0" i="0" spc="15">
                <a:solidFill>
                  <a:srgbClr val="C3BDB6"/>
                </a:solidFill>
                <a:latin typeface="Quicksand"/>
              </a:rPr>
              <a:t>Key trends, perspectives on six focus areas and what we are reading</a:t>
            </a:r>
          </a:p>
        </p:txBody>
      </p:sp>
      <p:sp>
        <p:nvSpPr>
          <p:cNvPr id="20" name="Rule"/>
          <p:cNvSpPr/>
          <p:nvPr/>
        </p:nvSpPr>
        <p:spPr>
          <a:xfrm>
            <a:off x="4724400" y="5800725"/>
            <a:ext cx="4914900" cy="9525"/>
          </a:xfrm>
          <a:prstGeom prst="rect">
            <a:avLst/>
          </a:prstGeom>
          <a:solidFill>
            <a:srgbClr val="FFFFFF">
              <a:alpha val="16000"/>
            </a:srgbClr>
          </a:solidFill>
          <a:ln>
            <a:noFill/>
          </a:ln>
        </p:spPr>
        <p:txBody>
          <a:bodyPr rtlCol="0" anchor="ctr"/>
          <a:lstStyle/>
          <a:p>
            <a:pPr algn="ctr"/>
          </a:p>
        </p:txBody>
      </p:sp>
      <p:sp>
        <p:nvSpPr>
          <p:cNvPr id="21" name="TextBox 20"/>
          <p:cNvSpPr txBox="1"/>
          <p:nvPr/>
        </p:nvSpPr>
        <p:spPr>
          <a:xfrm>
            <a:off x="4724400" y="5928360"/>
            <a:ext cx="290364" cy="257175"/>
          </a:xfrm>
          <a:prstGeom prst="rect">
            <a:avLst/>
          </a:prstGeom>
          <a:noFill/>
        </p:spPr>
        <p:txBody>
          <a:bodyPr wrap="none" lIns="0" rIns="0" tIns="0" bIns="0" anchor="t">
            <a:noAutofit/>
          </a:bodyPr>
          <a:lstStyle/>
          <a:p>
            <a:pPr algn="l">
              <a:lnSpc>
                <a:spcPts val="1800"/>
              </a:lnSpc>
              <a:spcBef>
                <a:spcPts val="0"/>
              </a:spcBef>
              <a:spcAft>
                <a:spcPts val="0"/>
              </a:spcAft>
            </a:pPr>
            <a:r>
              <a:rPr sz="1500" b="0" i="0" spc="75">
                <a:solidFill>
                  <a:srgbClr val="D3AE84"/>
                </a:solidFill>
                <a:latin typeface="Cinzel"/>
              </a:rPr>
              <a:t>02</a:t>
            </a:r>
          </a:p>
        </p:txBody>
      </p:sp>
      <p:sp>
        <p:nvSpPr>
          <p:cNvPr id="22" name="TextBox 21"/>
          <p:cNvSpPr txBox="1"/>
          <p:nvPr/>
        </p:nvSpPr>
        <p:spPr>
          <a:xfrm>
            <a:off x="5162550" y="5940171"/>
            <a:ext cx="1283047" cy="142875"/>
          </a:xfrm>
          <a:prstGeom prst="rect">
            <a:avLst/>
          </a:prstGeom>
          <a:noFill/>
        </p:spPr>
        <p:txBody>
          <a:bodyPr wrap="none" lIns="0" rIns="0" tIns="0" bIns="0" anchor="t">
            <a:noAutofit/>
          </a:bodyPr>
          <a:lstStyle/>
          <a:p>
            <a:pPr algn="l">
              <a:lnSpc>
                <a:spcPts val="1350"/>
              </a:lnSpc>
              <a:spcBef>
                <a:spcPts val="0"/>
              </a:spcBef>
              <a:spcAft>
                <a:spcPts val="0"/>
              </a:spcAft>
            </a:pPr>
            <a:r>
              <a:rPr sz="900" b="1" i="0" spc="135">
                <a:solidFill>
                  <a:srgbClr val="FFFFFF"/>
                </a:solidFill>
                <a:latin typeface="Quicksand"/>
              </a:rPr>
              <a:t>SECTOR ACTIVITY</a:t>
            </a:r>
          </a:p>
        </p:txBody>
      </p:sp>
      <p:sp>
        <p:nvSpPr>
          <p:cNvPr id="23" name="TextBox 22"/>
          <p:cNvSpPr txBox="1"/>
          <p:nvPr/>
        </p:nvSpPr>
        <p:spPr>
          <a:xfrm>
            <a:off x="6610350" y="5940171"/>
            <a:ext cx="3105150" cy="485775"/>
          </a:xfrm>
          <a:prstGeom prst="rect">
            <a:avLst/>
          </a:prstGeom>
          <a:noFill/>
        </p:spPr>
        <p:txBody>
          <a:bodyPr wrap="square" lIns="0" rIns="0" tIns="0" bIns="0" anchor="t">
            <a:noAutofit/>
          </a:bodyPr>
          <a:lstStyle/>
          <a:p>
            <a:pPr algn="l">
              <a:lnSpc>
                <a:spcPts val="1350"/>
              </a:lnSpc>
              <a:spcBef>
                <a:spcPts val="0"/>
              </a:spcBef>
              <a:spcAft>
                <a:spcPts val="0"/>
              </a:spcAft>
            </a:pPr>
            <a:r>
              <a:rPr sz="900" b="0" i="0" spc="15">
                <a:solidFill>
                  <a:srgbClr val="C3BDB6"/>
                </a:solidFill>
                <a:latin typeface="Quicksand"/>
              </a:rPr>
              <a:t>Recent transactions, listed-company valuation, earnings commentary, cost indicators and the buyer landscape</a:t>
            </a:r>
          </a:p>
        </p:txBody>
      </p:sp>
      <p:sp>
        <p:nvSpPr>
          <p:cNvPr id="24" name="Rule"/>
          <p:cNvSpPr/>
          <p:nvPr/>
        </p:nvSpPr>
        <p:spPr>
          <a:xfrm>
            <a:off x="4724400" y="6591300"/>
            <a:ext cx="4914900" cy="9525"/>
          </a:xfrm>
          <a:prstGeom prst="rect">
            <a:avLst/>
          </a:prstGeom>
          <a:solidFill>
            <a:srgbClr val="FFFFFF">
              <a:alpha val="16000"/>
            </a:srgbClr>
          </a:solidFill>
          <a:ln>
            <a:noFill/>
          </a:ln>
        </p:spPr>
        <p:txBody>
          <a:bodyPr rtlCol="0" anchor="ctr"/>
          <a:lstStyle/>
          <a:p>
            <a:pPr algn="ctr"/>
          </a:p>
        </p:txBody>
      </p:sp>
      <p:sp>
        <p:nvSpPr>
          <p:cNvPr id="25" name="TextBox 24"/>
          <p:cNvSpPr txBox="1"/>
          <p:nvPr/>
        </p:nvSpPr>
        <p:spPr>
          <a:xfrm>
            <a:off x="4724400" y="6718935"/>
            <a:ext cx="282773" cy="257175"/>
          </a:xfrm>
          <a:prstGeom prst="rect">
            <a:avLst/>
          </a:prstGeom>
          <a:noFill/>
        </p:spPr>
        <p:txBody>
          <a:bodyPr wrap="none" lIns="0" rIns="0" tIns="0" bIns="0" anchor="t">
            <a:noAutofit/>
          </a:bodyPr>
          <a:lstStyle/>
          <a:p>
            <a:pPr algn="l">
              <a:lnSpc>
                <a:spcPts val="1800"/>
              </a:lnSpc>
              <a:spcBef>
                <a:spcPts val="0"/>
              </a:spcBef>
              <a:spcAft>
                <a:spcPts val="0"/>
              </a:spcAft>
            </a:pPr>
            <a:r>
              <a:rPr sz="1500" b="0" i="0" spc="75">
                <a:solidFill>
                  <a:srgbClr val="D3AE84"/>
                </a:solidFill>
                <a:latin typeface="Cinzel"/>
              </a:rPr>
              <a:t>03</a:t>
            </a:r>
          </a:p>
        </p:txBody>
      </p:sp>
      <p:sp>
        <p:nvSpPr>
          <p:cNvPr id="26" name="TextBox 25"/>
          <p:cNvSpPr txBox="1"/>
          <p:nvPr/>
        </p:nvSpPr>
        <p:spPr>
          <a:xfrm>
            <a:off x="5162550" y="6730746"/>
            <a:ext cx="1354038" cy="142875"/>
          </a:xfrm>
          <a:prstGeom prst="rect">
            <a:avLst/>
          </a:prstGeom>
          <a:noFill/>
        </p:spPr>
        <p:txBody>
          <a:bodyPr wrap="none" lIns="0" rIns="0" tIns="0" bIns="0" anchor="t">
            <a:noAutofit/>
          </a:bodyPr>
          <a:lstStyle/>
          <a:p>
            <a:pPr algn="l">
              <a:lnSpc>
                <a:spcPts val="1350"/>
              </a:lnSpc>
              <a:spcBef>
                <a:spcPts val="0"/>
              </a:spcBef>
              <a:spcAft>
                <a:spcPts val="0"/>
              </a:spcAft>
            </a:pPr>
            <a:r>
              <a:rPr sz="900" b="1" i="0" spc="135">
                <a:solidFill>
                  <a:srgbClr val="FFFFFF"/>
                </a:solidFill>
                <a:latin typeface="Quicksand"/>
              </a:rPr>
              <a:t>CONNECT WITH US</a:t>
            </a:r>
          </a:p>
        </p:txBody>
      </p:sp>
      <p:sp>
        <p:nvSpPr>
          <p:cNvPr id="27" name="TextBox 26"/>
          <p:cNvSpPr txBox="1"/>
          <p:nvPr/>
        </p:nvSpPr>
        <p:spPr>
          <a:xfrm>
            <a:off x="6610350" y="6730746"/>
            <a:ext cx="3014960" cy="142875"/>
          </a:xfrm>
          <a:prstGeom prst="rect">
            <a:avLst/>
          </a:prstGeom>
          <a:noFill/>
        </p:spPr>
        <p:txBody>
          <a:bodyPr wrap="none" lIns="0" rIns="0" tIns="0" bIns="0" anchor="t">
            <a:noAutofit/>
          </a:bodyPr>
          <a:lstStyle/>
          <a:p>
            <a:pPr algn="l">
              <a:lnSpc>
                <a:spcPts val="1350"/>
              </a:lnSpc>
              <a:spcBef>
                <a:spcPts val="0"/>
              </a:spcBef>
              <a:spcAft>
                <a:spcPts val="0"/>
              </a:spcAft>
            </a:pPr>
            <a:r>
              <a:rPr sz="900" b="0" i="0" spc="15">
                <a:solidFill>
                  <a:srgbClr val="C3BDB6"/>
                </a:solidFill>
                <a:latin typeface="Quicksand"/>
              </a:rPr>
              <a:t>The Middle Market team and Benchmark International</a:t>
            </a:r>
          </a:p>
        </p:txBody>
      </p:sp>
      <p:sp>
        <p:nvSpPr>
          <p:cNvPr id="28" name="Rule"/>
          <p:cNvSpPr/>
          <p:nvPr/>
        </p:nvSpPr>
        <p:spPr>
          <a:xfrm>
            <a:off x="4724400" y="7058025"/>
            <a:ext cx="4914900" cy="9525"/>
          </a:xfrm>
          <a:prstGeom prst="rect">
            <a:avLst/>
          </a:prstGeom>
          <a:solidFill>
            <a:srgbClr val="FFFFFF">
              <a:alpha val="16000"/>
            </a:srgbClr>
          </a:solidFill>
          <a:ln>
            <a:noFill/>
          </a:ln>
        </p:spPr>
        <p:txBody>
          <a:bodyPr rtlCol="0" anchor="ctr"/>
          <a:lstStyle/>
          <a:p>
            <a:pPr algn="ctr"/>
          </a:p>
        </p:txBody>
      </p:sp>
      <p:sp>
        <p:nvSpPr>
          <p:cNvPr id="29" name="TextBox 28"/>
          <p:cNvSpPr txBox="1"/>
          <p:nvPr/>
        </p:nvSpPr>
        <p:spPr>
          <a:xfrm>
            <a:off x="4724400" y="7206520"/>
            <a:ext cx="3397597" cy="114300"/>
          </a:xfrm>
          <a:prstGeom prst="rect">
            <a:avLst/>
          </a:prstGeom>
          <a:noFill/>
        </p:spPr>
        <p:txBody>
          <a:bodyPr wrap="none" lIns="0" rIns="0" tIns="0" bIns="0" anchor="t">
            <a:noAutofit/>
          </a:bodyPr>
          <a:lstStyle/>
          <a:p>
            <a:pPr algn="l">
              <a:lnSpc>
                <a:spcPts val="1050"/>
              </a:lnSpc>
              <a:spcBef>
                <a:spcPts val="0"/>
              </a:spcBef>
              <a:spcAft>
                <a:spcPts val="0"/>
              </a:spcAft>
            </a:pPr>
            <a:r>
              <a:rPr sz="712" b="1" i="0" spc="150">
                <a:solidFill>
                  <a:srgbClr val="C3BDB6"/>
                </a:solidFill>
                <a:latin typeface="Quicksand"/>
              </a:rPr>
              <a:t>OCTOBER 2026  |  JARED HARDIN, MANAGING DIRECTOR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B1A1A"/>
        </a:solidFill>
        <a:effectLst/>
      </p:bgPr>
    </p:bg>
    <p:spTree>
      <p:nvGrpSpPr>
        <p:cNvPr id="1" name=""/>
        <p:cNvGrpSpPr/>
        <p:nvPr/>
      </p:nvGrpSpPr>
      <p:grpSpPr/>
      <p:sp>
        <p:nvSpPr>
          <p:cNvPr id="3" name="Panel"/>
          <p:cNvSpPr/>
          <p:nvPr/>
        </p:nvSpPr>
        <p:spPr>
          <a:xfrm>
            <a:off x="0" y="0"/>
            <a:ext cx="10058400" cy="7772400"/>
          </a:xfrm>
          <a:prstGeom prst="rect">
            <a:avLst/>
          </a:prstGeom>
          <a:solidFill>
            <a:srgbClr val="1B1A1A"/>
          </a:solidFill>
          <a:ln>
            <a:noFill/>
          </a:ln>
        </p:spPr>
        <p:txBody>
          <a:bodyPr rtlCol="0" anchor="ctr"/>
          <a:lstStyle/>
          <a:p>
            <a:pPr algn="ctr"/>
          </a:p>
        </p:txBody>
      </p:sp>
      <p:pic>
        <p:nvPicPr>
          <p:cNvPr id="4" name="Picture" descr="knot.jpg"/>
          <p:cNvPicPr>
            <a:picLocks noChangeAspect="1"/>
          </p:cNvPicPr>
          <p:nvPr/>
        </p:nvPicPr>
        <p:blipFill>
          <a:blip r:embed="rId2">
            <a:alphaModFix amt="60000"/>
          </a:blip>
          <a:srcRect l="13603" r="13603"/>
          <a:stretch>
            <a:fillRect/>
          </a:stretch>
        </p:blipFill>
        <p:spPr>
          <a:xfrm>
            <a:off x="0" y="0"/>
            <a:ext cx="10058400" cy="7772400"/>
          </a:xfrm>
          <a:prstGeom prst="rect">
            <a:avLst/>
          </a:prstGeom>
        </p:spPr>
      </p:pic>
      <p:pic>
        <p:nvPicPr>
          <p:cNvPr id="5" name="Graphic" descr="S02_r0.png"/>
          <p:cNvPicPr>
            <a:picLocks noChangeAspect="1"/>
          </p:cNvPicPr>
          <p:nvPr/>
        </p:nvPicPr>
        <p:blipFill>
          <a:blip r:embed="rId3"/>
          <a:stretch>
            <a:fillRect/>
          </a:stretch>
        </p:blipFill>
        <p:spPr>
          <a:xfrm>
            <a:off x="4572000" y="0"/>
            <a:ext cx="5486400" cy="7772400"/>
          </a:xfrm>
          <a:prstGeom prst="rect">
            <a:avLst/>
          </a:prstGeom>
        </p:spPr>
      </p:pic>
      <p:pic>
        <p:nvPicPr>
          <p:cNvPr id="6" name="Graphic" descr="S02_r1.png"/>
          <p:cNvPicPr>
            <a:picLocks noChangeAspect="1"/>
          </p:cNvPicPr>
          <p:nvPr/>
        </p:nvPicPr>
        <p:blipFill>
          <a:blip r:embed="rId4"/>
          <a:stretch>
            <a:fillRect/>
          </a:stretch>
        </p:blipFill>
        <p:spPr>
          <a:xfrm>
            <a:off x="0" y="0"/>
            <a:ext cx="10058400" cy="7772400"/>
          </a:xfrm>
          <a:prstGeom prst="rect">
            <a:avLst/>
          </a:prstGeom>
        </p:spPr>
      </p:pic>
      <p:sp>
        <p:nvSpPr>
          <p:cNvPr id="7" name="TextBox 6"/>
          <p:cNvSpPr txBox="1"/>
          <p:nvPr/>
        </p:nvSpPr>
        <p:spPr>
          <a:xfrm>
            <a:off x="609600" y="1842135"/>
            <a:ext cx="1207889" cy="1543050"/>
          </a:xfrm>
          <a:prstGeom prst="rect">
            <a:avLst/>
          </a:prstGeom>
          <a:noFill/>
        </p:spPr>
        <p:txBody>
          <a:bodyPr wrap="none" lIns="0" rIns="0" tIns="0" bIns="0" anchor="t">
            <a:noAutofit/>
          </a:bodyPr>
          <a:lstStyle/>
          <a:p>
            <a:pPr algn="l">
              <a:lnSpc>
                <a:spcPts val="9000"/>
              </a:lnSpc>
              <a:spcBef>
                <a:spcPts val="0"/>
              </a:spcBef>
              <a:spcAft>
                <a:spcPts val="0"/>
              </a:spcAft>
            </a:pPr>
            <a:r>
              <a:rPr sz="9000" b="0" i="0" spc="300">
                <a:solidFill>
                  <a:srgbClr val="D3AE84"/>
                </a:solidFill>
                <a:latin typeface="Cinzel"/>
              </a:rPr>
              <a:t>01</a:t>
            </a:r>
          </a:p>
        </p:txBody>
      </p:sp>
      <p:sp>
        <p:nvSpPr>
          <p:cNvPr id="2" name="Title 1"/>
          <p:cNvSpPr>
            <a:spLocks noGrp="1"/>
          </p:cNvSpPr>
          <p:nvPr>
            <p:ph type="title"/>
          </p:nvPr>
        </p:nvSpPr>
        <p:spPr>
          <a:xfrm>
            <a:off x="609600" y="2836926"/>
            <a:ext cx="1900982" cy="514350"/>
          </a:xfrm>
        </p:spPr>
        <p:txBody>
          <a:bodyPr wrap="none" lIns="0" rIns="0" tIns="0" bIns="0" anchor="t">
            <a:noAutofit/>
          </a:bodyPr>
          <a:lstStyle/>
          <a:p>
            <a:pPr algn="l">
              <a:lnSpc>
                <a:spcPts val="4650"/>
              </a:lnSpc>
              <a:spcBef>
                <a:spcPts val="0"/>
              </a:spcBef>
              <a:spcAft>
                <a:spcPts val="0"/>
              </a:spcAft>
            </a:pPr>
            <a:r>
              <a:rPr sz="4050" b="1" i="0">
                <a:solidFill>
                  <a:srgbClr val="FFFFFF"/>
                </a:solidFill>
                <a:latin typeface="Newsreader"/>
              </a:rPr>
              <a:t>Insights</a:t>
            </a:r>
          </a:p>
        </p:txBody>
      </p:sp>
      <p:sp>
        <p:nvSpPr>
          <p:cNvPr id="8" name="Panel"/>
          <p:cNvSpPr/>
          <p:nvPr/>
        </p:nvSpPr>
        <p:spPr>
          <a:xfrm>
            <a:off x="609600" y="3714750"/>
            <a:ext cx="914400" cy="19050"/>
          </a:xfrm>
          <a:prstGeom prst="rect">
            <a:avLst/>
          </a:prstGeom>
          <a:solidFill>
            <a:srgbClr val="B68757"/>
          </a:solidFill>
          <a:ln>
            <a:noFill/>
          </a:ln>
        </p:spPr>
        <p:txBody>
          <a:bodyPr rtlCol="0" anchor="ctr"/>
          <a:lstStyle/>
          <a:p>
            <a:pPr algn="ctr"/>
          </a:p>
        </p:txBody>
      </p:sp>
      <p:sp>
        <p:nvSpPr>
          <p:cNvPr id="9" name="Rule"/>
          <p:cNvSpPr/>
          <p:nvPr/>
        </p:nvSpPr>
        <p:spPr>
          <a:xfrm>
            <a:off x="609600" y="3924300"/>
            <a:ext cx="3333750" cy="9525"/>
          </a:xfrm>
          <a:prstGeom prst="rect">
            <a:avLst/>
          </a:prstGeom>
          <a:solidFill>
            <a:srgbClr val="FFFFFF">
              <a:alpha val="16000"/>
            </a:srgbClr>
          </a:solidFill>
          <a:ln>
            <a:noFill/>
          </a:ln>
        </p:spPr>
        <p:txBody>
          <a:bodyPr rtlCol="0" anchor="ctr"/>
          <a:lstStyle/>
          <a:p>
            <a:pPr algn="ctr"/>
          </a:p>
        </p:txBody>
      </p:sp>
      <p:sp>
        <p:nvSpPr>
          <p:cNvPr id="10" name="Panel"/>
          <p:cNvSpPr/>
          <p:nvPr/>
        </p:nvSpPr>
        <p:spPr>
          <a:xfrm>
            <a:off x="609600" y="4057650"/>
            <a:ext cx="57150" cy="57150"/>
          </a:xfrm>
          <a:prstGeom prst="rect">
            <a:avLst/>
          </a:prstGeom>
          <a:solidFill>
            <a:srgbClr val="B68757"/>
          </a:solidFill>
          <a:ln>
            <a:noFill/>
          </a:ln>
        </p:spPr>
        <p:txBody>
          <a:bodyPr rtlCol="0" anchor="ctr"/>
          <a:lstStyle/>
          <a:p>
            <a:pPr algn="ctr"/>
          </a:p>
        </p:txBody>
      </p:sp>
      <p:sp>
        <p:nvSpPr>
          <p:cNvPr id="11" name="TextBox 10"/>
          <p:cNvSpPr txBox="1"/>
          <p:nvPr/>
        </p:nvSpPr>
        <p:spPr>
          <a:xfrm>
            <a:off x="781050" y="3983831"/>
            <a:ext cx="1471761" cy="152400"/>
          </a:xfrm>
          <a:prstGeom prst="rect">
            <a:avLst/>
          </a:prstGeom>
          <a:noFill/>
        </p:spPr>
        <p:txBody>
          <a:bodyPr wrap="none" lIns="0" rIns="0" tIns="0" bIns="0" anchor="t">
            <a:noAutofit/>
          </a:bodyPr>
          <a:lstStyle/>
          <a:p>
            <a:pPr algn="l">
              <a:lnSpc>
                <a:spcPts val="1425"/>
              </a:lnSpc>
              <a:spcBef>
                <a:spcPts val="0"/>
              </a:spcBef>
              <a:spcAft>
                <a:spcPts val="0"/>
              </a:spcAft>
            </a:pPr>
            <a:r>
              <a:rPr sz="938" b="0" i="0" spc="15">
                <a:solidFill>
                  <a:srgbClr val="C3BDB6"/>
                </a:solidFill>
                <a:latin typeface="Quicksand"/>
              </a:rPr>
              <a:t>Key trends in technology</a:t>
            </a:r>
          </a:p>
        </p:txBody>
      </p:sp>
      <p:sp>
        <p:nvSpPr>
          <p:cNvPr id="12" name="Rule"/>
          <p:cNvSpPr/>
          <p:nvPr/>
        </p:nvSpPr>
        <p:spPr>
          <a:xfrm>
            <a:off x="609600" y="4267200"/>
            <a:ext cx="3333750" cy="9525"/>
          </a:xfrm>
          <a:prstGeom prst="rect">
            <a:avLst/>
          </a:prstGeom>
          <a:solidFill>
            <a:srgbClr val="FFFFFF">
              <a:alpha val="16000"/>
            </a:srgbClr>
          </a:solidFill>
          <a:ln>
            <a:noFill/>
          </a:ln>
        </p:spPr>
        <p:txBody>
          <a:bodyPr rtlCol="0" anchor="ctr"/>
          <a:lstStyle/>
          <a:p>
            <a:pPr algn="ctr"/>
          </a:p>
        </p:txBody>
      </p:sp>
      <p:sp>
        <p:nvSpPr>
          <p:cNvPr id="13" name="Panel"/>
          <p:cNvSpPr/>
          <p:nvPr/>
        </p:nvSpPr>
        <p:spPr>
          <a:xfrm>
            <a:off x="609600" y="4400550"/>
            <a:ext cx="57150" cy="57150"/>
          </a:xfrm>
          <a:prstGeom prst="rect">
            <a:avLst/>
          </a:prstGeom>
          <a:solidFill>
            <a:srgbClr val="B68757"/>
          </a:solidFill>
          <a:ln>
            <a:noFill/>
          </a:ln>
        </p:spPr>
        <p:txBody>
          <a:bodyPr rtlCol="0" anchor="ctr"/>
          <a:lstStyle/>
          <a:p>
            <a:pPr algn="ctr"/>
          </a:p>
        </p:txBody>
      </p:sp>
      <p:sp>
        <p:nvSpPr>
          <p:cNvPr id="14" name="TextBox 13"/>
          <p:cNvSpPr txBox="1"/>
          <p:nvPr/>
        </p:nvSpPr>
        <p:spPr>
          <a:xfrm>
            <a:off x="781050" y="4326731"/>
            <a:ext cx="1823889" cy="152400"/>
          </a:xfrm>
          <a:prstGeom prst="rect">
            <a:avLst/>
          </a:prstGeom>
          <a:noFill/>
        </p:spPr>
        <p:txBody>
          <a:bodyPr wrap="none" lIns="0" rIns="0" tIns="0" bIns="0" anchor="t">
            <a:noAutofit/>
          </a:bodyPr>
          <a:lstStyle/>
          <a:p>
            <a:pPr algn="l">
              <a:lnSpc>
                <a:spcPts val="1425"/>
              </a:lnSpc>
              <a:spcBef>
                <a:spcPts val="0"/>
              </a:spcBef>
              <a:spcAft>
                <a:spcPts val="0"/>
              </a:spcAft>
            </a:pPr>
            <a:r>
              <a:rPr sz="938" b="0" i="0" spc="15">
                <a:solidFill>
                  <a:srgbClr val="C3BDB6"/>
                </a:solidFill>
                <a:latin typeface="Quicksand"/>
              </a:rPr>
              <a:t>Perspectives on six focus areas</a:t>
            </a:r>
          </a:p>
        </p:txBody>
      </p:sp>
      <p:sp>
        <p:nvSpPr>
          <p:cNvPr id="15" name="Rule"/>
          <p:cNvSpPr/>
          <p:nvPr/>
        </p:nvSpPr>
        <p:spPr>
          <a:xfrm>
            <a:off x="609600" y="4610100"/>
            <a:ext cx="3333750" cy="9525"/>
          </a:xfrm>
          <a:prstGeom prst="rect">
            <a:avLst/>
          </a:prstGeom>
          <a:solidFill>
            <a:srgbClr val="FFFFFF">
              <a:alpha val="16000"/>
            </a:srgbClr>
          </a:solidFill>
          <a:ln>
            <a:noFill/>
          </a:ln>
        </p:spPr>
        <p:txBody>
          <a:bodyPr rtlCol="0" anchor="ctr"/>
          <a:lstStyle/>
          <a:p>
            <a:pPr algn="ctr"/>
          </a:p>
        </p:txBody>
      </p:sp>
      <p:sp>
        <p:nvSpPr>
          <p:cNvPr id="16" name="Panel"/>
          <p:cNvSpPr/>
          <p:nvPr/>
        </p:nvSpPr>
        <p:spPr>
          <a:xfrm>
            <a:off x="609600" y="4743450"/>
            <a:ext cx="57150" cy="57150"/>
          </a:xfrm>
          <a:prstGeom prst="rect">
            <a:avLst/>
          </a:prstGeom>
          <a:solidFill>
            <a:srgbClr val="B68757"/>
          </a:solidFill>
          <a:ln>
            <a:noFill/>
          </a:ln>
        </p:spPr>
        <p:txBody>
          <a:bodyPr rtlCol="0" anchor="ctr"/>
          <a:lstStyle/>
          <a:p>
            <a:pPr algn="ctr"/>
          </a:p>
        </p:txBody>
      </p:sp>
      <p:sp>
        <p:nvSpPr>
          <p:cNvPr id="17" name="TextBox 16"/>
          <p:cNvSpPr txBox="1"/>
          <p:nvPr/>
        </p:nvSpPr>
        <p:spPr>
          <a:xfrm>
            <a:off x="781050" y="4669631"/>
            <a:ext cx="1165771" cy="152400"/>
          </a:xfrm>
          <a:prstGeom prst="rect">
            <a:avLst/>
          </a:prstGeom>
          <a:noFill/>
        </p:spPr>
        <p:txBody>
          <a:bodyPr wrap="none" lIns="0" rIns="0" tIns="0" bIns="0" anchor="t">
            <a:noAutofit/>
          </a:bodyPr>
          <a:lstStyle/>
          <a:p>
            <a:pPr algn="l">
              <a:lnSpc>
                <a:spcPts val="1425"/>
              </a:lnSpc>
              <a:spcBef>
                <a:spcPts val="0"/>
              </a:spcBef>
              <a:spcAft>
                <a:spcPts val="0"/>
              </a:spcAft>
            </a:pPr>
            <a:r>
              <a:rPr sz="938" b="0" i="0" spc="15">
                <a:solidFill>
                  <a:srgbClr val="C3BDB6"/>
                </a:solidFill>
                <a:latin typeface="Quicksand"/>
              </a:rPr>
              <a:t>What we're reading</a:t>
            </a:r>
          </a:p>
        </p:txBody>
      </p:sp>
      <p:sp>
        <p:nvSpPr>
          <p:cNvPr id="18" name="Rule"/>
          <p:cNvSpPr/>
          <p:nvPr/>
        </p:nvSpPr>
        <p:spPr>
          <a:xfrm>
            <a:off x="609600" y="4953000"/>
            <a:ext cx="3333750" cy="9525"/>
          </a:xfrm>
          <a:prstGeom prst="rect">
            <a:avLst/>
          </a:prstGeom>
          <a:solidFill>
            <a:srgbClr val="FFFFFF">
              <a:alpha val="16000"/>
            </a:srgbClr>
          </a:solidFill>
          <a:ln>
            <a:noFill/>
          </a:ln>
        </p:spPr>
        <p:txBody>
          <a:bodyPr rtlCol="0" anchor="ctr"/>
          <a:lstStyle/>
          <a:p>
            <a:pPr algn="ctr"/>
          </a:p>
        </p:txBody>
      </p:sp>
      <p:pic>
        <p:nvPicPr>
          <p:cNvPr id="19" name="Benchmark International" descr="Benchmark International"/>
          <p:cNvPicPr>
            <a:picLocks noChangeAspect="1"/>
          </p:cNvPicPr>
          <p:nvPr/>
        </p:nvPicPr>
        <p:blipFill>
          <a:blip r:embed="rId5"/>
          <a:stretch>
            <a:fillRect/>
          </a:stretch>
        </p:blipFill>
        <p:spPr>
          <a:xfrm>
            <a:off x="609600" y="7086600"/>
            <a:ext cx="1428750" cy="266700"/>
          </a:xfrm>
          <a:prstGeom prst="rect">
            <a:avLst/>
          </a:prstGeom>
        </p:spPr>
      </p:pic>
      <p:sp>
        <p:nvSpPr>
          <p:cNvPr id="20" name="TextBox 19"/>
          <p:cNvSpPr txBox="1"/>
          <p:nvPr/>
        </p:nvSpPr>
        <p:spPr>
          <a:xfrm>
            <a:off x="2209800" y="7168420"/>
            <a:ext cx="1679972" cy="114300"/>
          </a:xfrm>
          <a:prstGeom prst="rect">
            <a:avLst/>
          </a:prstGeom>
          <a:noFill/>
        </p:spPr>
        <p:txBody>
          <a:bodyPr wrap="none" lIns="0" rIns="0" tIns="0" bIns="0" anchor="t">
            <a:noAutofit/>
          </a:bodyPr>
          <a:lstStyle/>
          <a:p>
            <a:pPr algn="l">
              <a:lnSpc>
                <a:spcPts val="1050"/>
              </a:lnSpc>
              <a:spcBef>
                <a:spcPts val="0"/>
              </a:spcBef>
              <a:spcAft>
                <a:spcPts val="0"/>
              </a:spcAft>
            </a:pPr>
            <a:r>
              <a:rPr sz="712" b="1" i="0" spc="195">
                <a:solidFill>
                  <a:srgbClr val="C3BDB6"/>
                </a:solidFill>
                <a:latin typeface="Quicksand"/>
              </a:rPr>
              <a:t>TECHNOLOGY  |  Q4 2026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3" name="Panel"/>
          <p:cNvSpPr/>
          <p:nvPr/>
        </p:nvSpPr>
        <p:spPr>
          <a:xfrm>
            <a:off x="0" y="0"/>
            <a:ext cx="10058400" cy="7772400"/>
          </a:xfrm>
          <a:prstGeom prst="rect">
            <a:avLst/>
          </a:prstGeom>
          <a:solidFill>
            <a:srgbClr val="FFFFFF"/>
          </a:solidFill>
          <a:ln>
            <a:noFill/>
          </a:ln>
        </p:spPr>
        <p:txBody>
          <a:bodyPr rtlCol="0" anchor="ctr"/>
          <a:lstStyle/>
          <a:p>
            <a:pPr algn="ctr"/>
          </a:p>
        </p:txBody>
      </p:sp>
      <p:sp>
        <p:nvSpPr>
          <p:cNvPr id="4" name="Panel"/>
          <p:cNvSpPr/>
          <p:nvPr/>
        </p:nvSpPr>
        <p:spPr>
          <a:xfrm>
            <a:off x="0" y="0"/>
            <a:ext cx="57150" cy="7772400"/>
          </a:xfrm>
          <a:prstGeom prst="rect">
            <a:avLst/>
          </a:prstGeom>
          <a:solidFill>
            <a:srgbClr val="B68757"/>
          </a:solidFill>
          <a:ln>
            <a:noFill/>
          </a:ln>
        </p:spPr>
        <p:txBody>
          <a:bodyPr rtlCol="0" anchor="ctr"/>
          <a:lstStyle/>
          <a:p>
            <a:pPr algn="ctr"/>
          </a:p>
        </p:txBody>
      </p:sp>
      <p:sp>
        <p:nvSpPr>
          <p:cNvPr id="5" name="TextBox 4"/>
          <p:cNvSpPr txBox="1"/>
          <p:nvPr/>
        </p:nvSpPr>
        <p:spPr>
          <a:xfrm>
            <a:off x="419100" y="361760"/>
            <a:ext cx="2764185" cy="104775"/>
          </a:xfrm>
          <a:prstGeom prst="rect">
            <a:avLst/>
          </a:prstGeom>
          <a:noFill/>
        </p:spPr>
        <p:txBody>
          <a:bodyPr wrap="none" lIns="0" rIns="0" tIns="0" bIns="0" anchor="t">
            <a:noAutofit/>
          </a:bodyPr>
          <a:lstStyle/>
          <a:p>
            <a:pPr algn="l">
              <a:lnSpc>
                <a:spcPts val="1050"/>
              </a:lnSpc>
              <a:spcBef>
                <a:spcPts val="0"/>
              </a:spcBef>
              <a:spcAft>
                <a:spcPts val="0"/>
              </a:spcAft>
            </a:pPr>
            <a:r>
              <a:rPr sz="675" b="1" i="0" spc="195">
                <a:solidFill>
                  <a:srgbClr val="8C6239"/>
                </a:solidFill>
                <a:latin typeface="Quicksand"/>
              </a:rPr>
              <a:t>TECHNOLOGY  |  QUARTERLY SECTOR BRIEF</a:t>
            </a:r>
          </a:p>
        </p:txBody>
      </p:sp>
      <p:sp>
        <p:nvSpPr>
          <p:cNvPr id="6" name="TextBox 5"/>
          <p:cNvSpPr txBox="1"/>
          <p:nvPr/>
        </p:nvSpPr>
        <p:spPr>
          <a:xfrm>
            <a:off x="9112597" y="350901"/>
            <a:ext cx="526703" cy="152400"/>
          </a:xfrm>
          <a:prstGeom prst="rect">
            <a:avLst/>
          </a:prstGeom>
          <a:noFill/>
        </p:spPr>
        <p:txBody>
          <a:bodyPr wrap="none" lIns="0" rIns="0" tIns="0" bIns="0" anchor="t">
            <a:noAutofit/>
          </a:bodyPr>
          <a:lstStyle/>
          <a:p>
            <a:pPr algn="r">
              <a:lnSpc>
                <a:spcPts val="1350"/>
              </a:lnSpc>
              <a:spcBef>
                <a:spcPts val="0"/>
              </a:spcBef>
              <a:spcAft>
                <a:spcPts val="0"/>
              </a:spcAft>
            </a:pPr>
            <a:r>
              <a:rPr sz="900" b="0" i="0" spc="90">
                <a:solidFill>
                  <a:srgbClr val="6F6A66"/>
                </a:solidFill>
                <a:latin typeface="Cinzel"/>
              </a:rPr>
              <a:t>Q4 2026</a:t>
            </a:r>
          </a:p>
        </p:txBody>
      </p:sp>
      <p:sp>
        <p:nvSpPr>
          <p:cNvPr id="2" name="Title 1"/>
          <p:cNvSpPr>
            <a:spLocks noGrp="1"/>
          </p:cNvSpPr>
          <p:nvPr>
            <p:ph type="title"/>
          </p:nvPr>
        </p:nvSpPr>
        <p:spPr>
          <a:xfrm>
            <a:off x="419100" y="475488"/>
            <a:ext cx="3027759" cy="257175"/>
          </a:xfrm>
        </p:spPr>
        <p:txBody>
          <a:bodyPr wrap="none" lIns="0" rIns="0" tIns="0" bIns="0" anchor="t">
            <a:noAutofit/>
          </a:bodyPr>
          <a:lstStyle/>
          <a:p>
            <a:pPr algn="l">
              <a:lnSpc>
                <a:spcPts val="2550"/>
              </a:lnSpc>
              <a:spcBef>
                <a:spcPts val="0"/>
              </a:spcBef>
              <a:spcAft>
                <a:spcPts val="0"/>
              </a:spcAft>
            </a:pPr>
            <a:r>
              <a:rPr sz="2000" b="1" i="0">
                <a:solidFill>
                  <a:srgbClr val="1B1A1A"/>
                </a:solidFill>
                <a:latin typeface="Newsreader"/>
              </a:rPr>
              <a:t>Key Trends in Technology</a:t>
            </a:r>
          </a:p>
        </p:txBody>
      </p:sp>
      <p:sp>
        <p:nvSpPr>
          <p:cNvPr id="7" name="TextBox 6"/>
          <p:cNvSpPr txBox="1"/>
          <p:nvPr/>
        </p:nvSpPr>
        <p:spPr>
          <a:xfrm>
            <a:off x="419100" y="864394"/>
            <a:ext cx="6839099" cy="152400"/>
          </a:xfrm>
          <a:prstGeom prst="rect">
            <a:avLst/>
          </a:prstGeom>
          <a:noFill/>
        </p:spPr>
        <p:txBody>
          <a:bodyPr wrap="none" lIns="0" rIns="0" tIns="0" bIns="0" anchor="t">
            <a:noAutofit/>
          </a:bodyPr>
          <a:lstStyle/>
          <a:p>
            <a:pPr algn="l">
              <a:lnSpc>
                <a:spcPts val="1388"/>
              </a:lnSpc>
              <a:spcBef>
                <a:spcPts val="0"/>
              </a:spcBef>
              <a:spcAft>
                <a:spcPts val="0"/>
              </a:spcAft>
            </a:pPr>
            <a:r>
              <a:rPr sz="938" b="0" i="0" spc="15">
                <a:solidFill>
                  <a:srgbClr val="6F6A66"/>
                </a:solidFill>
                <a:latin typeface="Quicksand"/>
              </a:rPr>
              <a:t>Six developments are shaping demand, pricing and deal activity across the six focus areas as the fourth quarter begins.</a:t>
            </a:r>
          </a:p>
        </p:txBody>
      </p:sp>
      <p:sp>
        <p:nvSpPr>
          <p:cNvPr id="8" name="Panel"/>
          <p:cNvSpPr/>
          <p:nvPr/>
        </p:nvSpPr>
        <p:spPr>
          <a:xfrm>
            <a:off x="419100" y="1143000"/>
            <a:ext cx="9220200" cy="9525"/>
          </a:xfrm>
          <a:prstGeom prst="rect">
            <a:avLst/>
          </a:prstGeom>
          <a:solidFill>
            <a:srgbClr val="E3DCD3"/>
          </a:solidFill>
          <a:ln>
            <a:noFill/>
          </a:ln>
        </p:spPr>
        <p:txBody>
          <a:bodyPr rtlCol="0" anchor="ctr"/>
          <a:lstStyle/>
          <a:p>
            <a:pPr algn="ctr"/>
          </a:p>
        </p:txBody>
      </p:sp>
      <p:sp>
        <p:nvSpPr>
          <p:cNvPr id="9" name="Panel"/>
          <p:cNvSpPr/>
          <p:nvPr/>
        </p:nvSpPr>
        <p:spPr>
          <a:xfrm>
            <a:off x="419100" y="1238250"/>
            <a:ext cx="4524375" cy="1568351"/>
          </a:xfrm>
          <a:prstGeom prst="rect">
            <a:avLst/>
          </a:prstGeom>
          <a:solidFill>
            <a:srgbClr val="FAF7F3"/>
          </a:solidFill>
          <a:ln>
            <a:noFill/>
          </a:ln>
        </p:spPr>
        <p:txBody>
          <a:bodyPr rtlCol="0" anchor="ctr"/>
          <a:lstStyle/>
          <a:p>
            <a:pPr algn="ctr"/>
          </a:p>
        </p:txBody>
      </p:sp>
      <p:sp>
        <p:nvSpPr>
          <p:cNvPr id="10" name="Rule"/>
          <p:cNvSpPr/>
          <p:nvPr/>
        </p:nvSpPr>
        <p:spPr>
          <a:xfrm>
            <a:off x="419100" y="1238250"/>
            <a:ext cx="4524375" cy="28575"/>
          </a:xfrm>
          <a:prstGeom prst="rect">
            <a:avLst/>
          </a:prstGeom>
          <a:solidFill>
            <a:srgbClr val="B68757"/>
          </a:solidFill>
          <a:ln>
            <a:noFill/>
          </a:ln>
        </p:spPr>
        <p:txBody>
          <a:bodyPr rtlCol="0" anchor="ctr"/>
          <a:lstStyle/>
          <a:p>
            <a:pPr algn="ctr"/>
          </a:p>
        </p:txBody>
      </p:sp>
      <p:sp>
        <p:nvSpPr>
          <p:cNvPr id="11" name="Panel"/>
          <p:cNvSpPr/>
          <p:nvPr/>
        </p:nvSpPr>
        <p:spPr>
          <a:xfrm>
            <a:off x="590550" y="1381125"/>
            <a:ext cx="381000" cy="381000"/>
          </a:xfrm>
          <a:prstGeom prst="ellipse">
            <a:avLst/>
          </a:prstGeom>
          <a:solidFill>
            <a:srgbClr val="1B1A1A"/>
          </a:solidFill>
          <a:ln>
            <a:noFill/>
          </a:ln>
        </p:spPr>
        <p:txBody>
          <a:bodyPr rtlCol="0" anchor="ctr"/>
          <a:lstStyle/>
          <a:p>
            <a:pPr algn="ctr"/>
          </a:p>
        </p:txBody>
      </p:sp>
      <p:pic>
        <p:nvPicPr>
          <p:cNvPr id="12" name="Graphic" descr="S03_r0.png"/>
          <p:cNvPicPr>
            <a:picLocks noChangeAspect="1"/>
          </p:cNvPicPr>
          <p:nvPr/>
        </p:nvPicPr>
        <p:blipFill>
          <a:blip r:embed="rId2"/>
          <a:stretch>
            <a:fillRect/>
          </a:stretch>
        </p:blipFill>
        <p:spPr>
          <a:xfrm>
            <a:off x="657225" y="1447800"/>
            <a:ext cx="247650" cy="247650"/>
          </a:xfrm>
          <a:prstGeom prst="rect">
            <a:avLst/>
          </a:prstGeom>
        </p:spPr>
      </p:pic>
      <p:sp>
        <p:nvSpPr>
          <p:cNvPr id="13" name="TextBox 12"/>
          <p:cNvSpPr txBox="1"/>
          <p:nvPr/>
        </p:nvSpPr>
        <p:spPr>
          <a:xfrm>
            <a:off x="1085850" y="1471327"/>
            <a:ext cx="2710458" cy="161925"/>
          </a:xfrm>
          <a:prstGeom prst="rect">
            <a:avLst/>
          </a:prstGeom>
          <a:noFill/>
        </p:spPr>
        <p:txBody>
          <a:bodyPr wrap="none" lIns="0" rIns="0" tIns="0" bIns="0" anchor="t">
            <a:noAutofit/>
          </a:bodyPr>
          <a:lstStyle/>
          <a:p>
            <a:pPr algn="l">
              <a:lnSpc>
                <a:spcPts val="1350"/>
              </a:lnSpc>
              <a:spcBef>
                <a:spcPts val="0"/>
              </a:spcBef>
              <a:spcAft>
                <a:spcPts val="0"/>
              </a:spcAft>
            </a:pPr>
            <a:r>
              <a:rPr sz="1011" b="1" i="0" spc="8">
                <a:solidFill>
                  <a:srgbClr val="1B1A1A"/>
                </a:solidFill>
                <a:latin typeface="Quicksand"/>
              </a:rPr>
              <a:t>AI infrastructure sets the pace of demand</a:t>
            </a:r>
          </a:p>
        </p:txBody>
      </p:sp>
      <p:sp>
        <p:nvSpPr>
          <p:cNvPr id="14" name="TextBox 13"/>
          <p:cNvSpPr txBox="1"/>
          <p:nvPr/>
        </p:nvSpPr>
        <p:spPr>
          <a:xfrm>
            <a:off x="3890070" y="1399413"/>
            <a:ext cx="939105" cy="257175"/>
          </a:xfrm>
          <a:prstGeom prst="rect">
            <a:avLst/>
          </a:prstGeom>
          <a:noFill/>
        </p:spPr>
        <p:txBody>
          <a:bodyPr wrap="none" lIns="0" rIns="0" tIns="0" bIns="0" anchor="t">
            <a:noAutofit/>
          </a:bodyPr>
          <a:lstStyle/>
          <a:p>
            <a:pPr algn="l">
              <a:lnSpc>
                <a:spcPts val="2250"/>
              </a:lnSpc>
              <a:spcBef>
                <a:spcPts val="0"/>
              </a:spcBef>
              <a:spcAft>
                <a:spcPts val="0"/>
              </a:spcAft>
            </a:pPr>
            <a:r>
              <a:rPr sz="2000" b="1" i="0">
                <a:solidFill>
                  <a:srgbClr val="8C6239"/>
                </a:solidFill>
                <a:latin typeface="Newsreader"/>
              </a:rPr>
              <a:t>+62.5%</a:t>
            </a:r>
          </a:p>
        </p:txBody>
      </p:sp>
      <p:sp>
        <p:nvSpPr>
          <p:cNvPr id="15" name="TextBox 14"/>
          <p:cNvSpPr txBox="1"/>
          <p:nvPr/>
        </p:nvSpPr>
        <p:spPr>
          <a:xfrm>
            <a:off x="590550" y="1819561"/>
            <a:ext cx="4257675" cy="466725"/>
          </a:xfrm>
          <a:prstGeom prst="rect">
            <a:avLst/>
          </a:prstGeom>
          <a:noFill/>
        </p:spPr>
        <p:txBody>
          <a:bodyPr wrap="square" lIns="0" rIns="0" tIns="0" bIns="0" anchor="t">
            <a:noAutofit/>
          </a:bodyPr>
          <a:lstStyle/>
          <a:p>
            <a:pPr algn="l">
              <a:lnSpc>
                <a:spcPts val="1275"/>
              </a:lnSpc>
              <a:spcBef>
                <a:spcPts val="0"/>
              </a:spcBef>
              <a:spcAft>
                <a:spcPts val="0"/>
              </a:spcAft>
            </a:pPr>
            <a:r>
              <a:rPr sz="861" b="0" i="0" spc="15">
                <a:solidFill>
                  <a:srgbClr val="333231"/>
                </a:solidFill>
                <a:latin typeface="Quicksand"/>
              </a:rPr>
              <a:t>Gartner expects IT spending of $6.37 trillion in 2026, up 14.2%, with data center systems up 62.5% and IT services up 5.3% (</a:t>
            </a:r>
            <a:r>
              <a:rPr sz="861" b="0" i="0" spc="15" u="sng">
                <a:solidFill>
                  <a:srgbClr val="8C6239"/>
                </a:solidFill>
                <a:latin typeface="Quicksand"/>
                <a:hlinkClick r:id="rId3">
                  <a:extLst>
                    <a:ext uri="{A12FA001-AC4F-418D-AE19-62706E023703}">
                      <ahyp:hlinkClr xmlns:ahyp="http://schemas.microsoft.com/office/drawing/2018/hyperlinkcolor" val="tx"/>
                    </a:ext>
                  </a:extLst>
                </a:hlinkClick>
              </a:rPr>
              <a:t>Gartner</a:t>
            </a:r>
            <a:r>
              <a:rPr sz="861" b="0" i="0" spc="15">
                <a:solidFill>
                  <a:srgbClr val="333231"/>
                </a:solidFill>
                <a:latin typeface="Quicksand"/>
              </a:rPr>
              <a:t>). Cloud infrastructure revenue grew 43% in the second quarter (</a:t>
            </a:r>
            <a:r>
              <a:rPr sz="861" b="0" i="0" spc="15" u="sng">
                <a:solidFill>
                  <a:srgbClr val="8C6239"/>
                </a:solidFill>
                <a:latin typeface="Quicksand"/>
                <a:hlinkClick r:id="rId4">
                  <a:extLst>
                    <a:ext uri="{A12FA001-AC4F-418D-AE19-62706E023703}">
                      <ahyp:hlinkClr xmlns:ahyp="http://schemas.microsoft.com/office/drawing/2018/hyperlinkcolor" val="tx"/>
                    </a:ext>
                  </a:extLst>
                </a:hlinkClick>
              </a:rPr>
              <a:t>Synergy Research Group</a:t>
            </a:r>
            <a:r>
              <a:rPr sz="861" b="0" i="0" spc="15">
                <a:solidFill>
                  <a:srgbClr val="333231"/>
                </a:solidFill>
                <a:latin typeface="Quicksand"/>
              </a:rPr>
              <a:t>).</a:t>
            </a:r>
          </a:p>
        </p:txBody>
      </p:sp>
      <p:sp>
        <p:nvSpPr>
          <p:cNvPr id="16" name="Rule"/>
          <p:cNvSpPr/>
          <p:nvPr/>
        </p:nvSpPr>
        <p:spPr>
          <a:xfrm>
            <a:off x="590550" y="2463701"/>
            <a:ext cx="4181475" cy="9525"/>
          </a:xfrm>
          <a:prstGeom prst="rect">
            <a:avLst/>
          </a:prstGeom>
          <a:solidFill>
            <a:srgbClr val="E3DCD3"/>
          </a:solidFill>
          <a:ln>
            <a:noFill/>
          </a:ln>
        </p:spPr>
        <p:txBody>
          <a:bodyPr rtlCol="0" anchor="ctr"/>
          <a:lstStyle/>
          <a:p>
            <a:pPr algn="ctr"/>
          </a:p>
        </p:txBody>
      </p:sp>
      <p:sp>
        <p:nvSpPr>
          <p:cNvPr id="17" name="TextBox 16"/>
          <p:cNvSpPr txBox="1"/>
          <p:nvPr/>
        </p:nvSpPr>
        <p:spPr>
          <a:xfrm>
            <a:off x="590550" y="2511326"/>
            <a:ext cx="3666679" cy="114300"/>
          </a:xfrm>
          <a:prstGeom prst="rect">
            <a:avLst/>
          </a:prstGeom>
          <a:noFill/>
        </p:spPr>
        <p:txBody>
          <a:bodyPr wrap="none" lIns="0" rIns="0" tIns="0" bIns="0" anchor="t">
            <a:noAutofit/>
          </a:bodyPr>
          <a:lstStyle/>
          <a:p>
            <a:pPr algn="l">
              <a:lnSpc>
                <a:spcPts val="1275"/>
              </a:lnSpc>
              <a:spcBef>
                <a:spcPts val="0"/>
              </a:spcBef>
              <a:spcAft>
                <a:spcPts val="0"/>
              </a:spcAft>
            </a:pPr>
            <a:r>
              <a:rPr sz="938" b="0" i="1">
                <a:solidFill>
                  <a:srgbClr val="2A2928"/>
                </a:solidFill>
                <a:latin typeface="Newsreader"/>
              </a:rPr>
              <a:t>Firms tied to data center build-outs are outgrowing IT services as a whole.</a:t>
            </a:r>
          </a:p>
        </p:txBody>
      </p:sp>
      <p:sp>
        <p:nvSpPr>
          <p:cNvPr id="18" name="Panel"/>
          <p:cNvSpPr/>
          <p:nvPr/>
        </p:nvSpPr>
        <p:spPr>
          <a:xfrm>
            <a:off x="5114925" y="1238250"/>
            <a:ext cx="4524375" cy="1568351"/>
          </a:xfrm>
          <a:prstGeom prst="rect">
            <a:avLst/>
          </a:prstGeom>
          <a:solidFill>
            <a:srgbClr val="FAF7F3"/>
          </a:solidFill>
          <a:ln>
            <a:noFill/>
          </a:ln>
        </p:spPr>
        <p:txBody>
          <a:bodyPr rtlCol="0" anchor="ctr"/>
          <a:lstStyle/>
          <a:p>
            <a:pPr algn="ctr"/>
          </a:p>
        </p:txBody>
      </p:sp>
      <p:sp>
        <p:nvSpPr>
          <p:cNvPr id="19" name="Rule"/>
          <p:cNvSpPr/>
          <p:nvPr/>
        </p:nvSpPr>
        <p:spPr>
          <a:xfrm>
            <a:off x="5114925" y="1238250"/>
            <a:ext cx="4524375" cy="28575"/>
          </a:xfrm>
          <a:prstGeom prst="rect">
            <a:avLst/>
          </a:prstGeom>
          <a:solidFill>
            <a:srgbClr val="B68757"/>
          </a:solidFill>
          <a:ln>
            <a:noFill/>
          </a:ln>
        </p:spPr>
        <p:txBody>
          <a:bodyPr rtlCol="0" anchor="ctr"/>
          <a:lstStyle/>
          <a:p>
            <a:pPr algn="ctr"/>
          </a:p>
        </p:txBody>
      </p:sp>
      <p:sp>
        <p:nvSpPr>
          <p:cNvPr id="20" name="Panel"/>
          <p:cNvSpPr/>
          <p:nvPr/>
        </p:nvSpPr>
        <p:spPr>
          <a:xfrm>
            <a:off x="5286375" y="1381125"/>
            <a:ext cx="381000" cy="381000"/>
          </a:xfrm>
          <a:prstGeom prst="ellipse">
            <a:avLst/>
          </a:prstGeom>
          <a:solidFill>
            <a:srgbClr val="1B1A1A"/>
          </a:solidFill>
          <a:ln>
            <a:noFill/>
          </a:ln>
        </p:spPr>
        <p:txBody>
          <a:bodyPr rtlCol="0" anchor="ctr"/>
          <a:lstStyle/>
          <a:p>
            <a:pPr algn="ctr"/>
          </a:p>
        </p:txBody>
      </p:sp>
      <p:pic>
        <p:nvPicPr>
          <p:cNvPr id="21" name="Graphic" descr="S03_r1.png"/>
          <p:cNvPicPr>
            <a:picLocks noChangeAspect="1"/>
          </p:cNvPicPr>
          <p:nvPr/>
        </p:nvPicPr>
        <p:blipFill>
          <a:blip r:embed="rId5"/>
          <a:stretch>
            <a:fillRect/>
          </a:stretch>
        </p:blipFill>
        <p:spPr>
          <a:xfrm>
            <a:off x="5353050" y="1447800"/>
            <a:ext cx="247650" cy="247650"/>
          </a:xfrm>
          <a:prstGeom prst="rect">
            <a:avLst/>
          </a:prstGeom>
        </p:spPr>
      </p:pic>
      <p:sp>
        <p:nvSpPr>
          <p:cNvPr id="22" name="TextBox 21"/>
          <p:cNvSpPr txBox="1"/>
          <p:nvPr/>
        </p:nvSpPr>
        <p:spPr>
          <a:xfrm>
            <a:off x="5781675" y="1471327"/>
            <a:ext cx="2897535" cy="161925"/>
          </a:xfrm>
          <a:prstGeom prst="rect">
            <a:avLst/>
          </a:prstGeom>
          <a:noFill/>
        </p:spPr>
        <p:txBody>
          <a:bodyPr wrap="none" lIns="0" rIns="0" tIns="0" bIns="0" anchor="t">
            <a:noAutofit/>
          </a:bodyPr>
          <a:lstStyle/>
          <a:p>
            <a:pPr algn="l">
              <a:lnSpc>
                <a:spcPts val="1350"/>
              </a:lnSpc>
              <a:spcBef>
                <a:spcPts val="0"/>
              </a:spcBef>
              <a:spcAft>
                <a:spcPts val="0"/>
              </a:spcAft>
            </a:pPr>
            <a:r>
              <a:rPr sz="1011" b="1" i="0" spc="8">
                <a:solidFill>
                  <a:srgbClr val="1B1A1A"/>
                </a:solidFill>
                <a:latin typeface="Quicksand"/>
              </a:rPr>
              <a:t>Consolidators keep buying recurring revenue</a:t>
            </a:r>
          </a:p>
        </p:txBody>
      </p:sp>
      <p:sp>
        <p:nvSpPr>
          <p:cNvPr id="23" name="TextBox 22"/>
          <p:cNvSpPr txBox="1"/>
          <p:nvPr/>
        </p:nvSpPr>
        <p:spPr>
          <a:xfrm>
            <a:off x="9153525" y="1399413"/>
            <a:ext cx="371475" cy="257175"/>
          </a:xfrm>
          <a:prstGeom prst="rect">
            <a:avLst/>
          </a:prstGeom>
          <a:noFill/>
        </p:spPr>
        <p:txBody>
          <a:bodyPr wrap="none" lIns="0" rIns="0" tIns="0" bIns="0" anchor="t">
            <a:noAutofit/>
          </a:bodyPr>
          <a:lstStyle/>
          <a:p>
            <a:pPr algn="l">
              <a:lnSpc>
                <a:spcPts val="2250"/>
              </a:lnSpc>
              <a:spcBef>
                <a:spcPts val="0"/>
              </a:spcBef>
              <a:spcAft>
                <a:spcPts val="0"/>
              </a:spcAft>
            </a:pPr>
            <a:r>
              <a:rPr sz="2000" b="1" i="0">
                <a:solidFill>
                  <a:srgbClr val="8C6239"/>
                </a:solidFill>
                <a:latin typeface="Newsreader"/>
              </a:rPr>
              <a:t>64</a:t>
            </a:r>
          </a:p>
        </p:txBody>
      </p:sp>
      <p:sp>
        <p:nvSpPr>
          <p:cNvPr id="24" name="TextBox 23"/>
          <p:cNvSpPr txBox="1"/>
          <p:nvPr/>
        </p:nvSpPr>
        <p:spPr>
          <a:xfrm>
            <a:off x="5286375" y="1819561"/>
            <a:ext cx="4257675" cy="466725"/>
          </a:xfrm>
          <a:prstGeom prst="rect">
            <a:avLst/>
          </a:prstGeom>
          <a:noFill/>
        </p:spPr>
        <p:txBody>
          <a:bodyPr wrap="square" lIns="0" rIns="0" tIns="0" bIns="0" anchor="t">
            <a:noAutofit/>
          </a:bodyPr>
          <a:lstStyle/>
          <a:p>
            <a:pPr algn="l">
              <a:lnSpc>
                <a:spcPts val="1275"/>
              </a:lnSpc>
              <a:spcBef>
                <a:spcPts val="0"/>
              </a:spcBef>
              <a:spcAft>
                <a:spcPts val="0"/>
              </a:spcAft>
            </a:pPr>
            <a:r>
              <a:rPr sz="861" b="0" i="0" spc="15">
                <a:solidFill>
                  <a:srgbClr val="333231"/>
                </a:solidFill>
                <a:latin typeface="Quicksand"/>
              </a:rPr>
              <a:t>Buyers announced 64 acquisitions of managed service providers in the first quarter, 73% more than a year earlier, and outside investors led 80% of them. Evergreen Services Group alone completed 47 acquisitions in 2025 (</a:t>
            </a:r>
            <a:r>
              <a:rPr sz="861" b="0" i="0" spc="15" u="sng">
                <a:solidFill>
                  <a:srgbClr val="8C6239"/>
                </a:solidFill>
                <a:latin typeface="Quicksand"/>
                <a:hlinkClick r:id="rId6">
                  <a:extLst>
                    <a:ext uri="{A12FA001-AC4F-418D-AE19-62706E023703}">
                      <ahyp:hlinkClr xmlns:ahyp="http://schemas.microsoft.com/office/drawing/2018/hyperlinkcolor" val="tx"/>
                    </a:ext>
                  </a:extLst>
                </a:hlinkClick>
              </a:rPr>
              <a:t>Omdia</a:t>
            </a:r>
            <a:r>
              <a:rPr sz="861" b="0" i="0" spc="15">
                <a:solidFill>
                  <a:srgbClr val="333231"/>
                </a:solidFill>
                <a:latin typeface="Quicksand"/>
              </a:rPr>
              <a:t>).</a:t>
            </a:r>
          </a:p>
        </p:txBody>
      </p:sp>
      <p:sp>
        <p:nvSpPr>
          <p:cNvPr id="25" name="Rule"/>
          <p:cNvSpPr/>
          <p:nvPr/>
        </p:nvSpPr>
        <p:spPr>
          <a:xfrm>
            <a:off x="5286375" y="2463701"/>
            <a:ext cx="4181475" cy="9525"/>
          </a:xfrm>
          <a:prstGeom prst="rect">
            <a:avLst/>
          </a:prstGeom>
          <a:solidFill>
            <a:srgbClr val="E3DCD3"/>
          </a:solidFill>
          <a:ln>
            <a:noFill/>
          </a:ln>
        </p:spPr>
        <p:txBody>
          <a:bodyPr rtlCol="0" anchor="ctr"/>
          <a:lstStyle/>
          <a:p>
            <a:pPr algn="ctr"/>
          </a:p>
        </p:txBody>
      </p:sp>
      <p:sp>
        <p:nvSpPr>
          <p:cNvPr id="26" name="TextBox 25"/>
          <p:cNvSpPr txBox="1"/>
          <p:nvPr/>
        </p:nvSpPr>
        <p:spPr>
          <a:xfrm>
            <a:off x="5286375" y="2511326"/>
            <a:ext cx="3599855" cy="114300"/>
          </a:xfrm>
          <a:prstGeom prst="rect">
            <a:avLst/>
          </a:prstGeom>
          <a:noFill/>
        </p:spPr>
        <p:txBody>
          <a:bodyPr wrap="none" lIns="0" rIns="0" tIns="0" bIns="0" anchor="t">
            <a:noAutofit/>
          </a:bodyPr>
          <a:lstStyle/>
          <a:p>
            <a:pPr algn="l">
              <a:lnSpc>
                <a:spcPts val="1275"/>
              </a:lnSpc>
              <a:spcBef>
                <a:spcPts val="0"/>
              </a:spcBef>
              <a:spcAft>
                <a:spcPts val="0"/>
              </a:spcAft>
            </a:pPr>
            <a:r>
              <a:rPr sz="938" b="0" i="1">
                <a:solidFill>
                  <a:srgbClr val="2A2928"/>
                </a:solidFill>
                <a:latin typeface="Newsreader"/>
              </a:rPr>
              <a:t>Contracted managed revenue draws several funded buyers to a provider.</a:t>
            </a:r>
          </a:p>
        </p:txBody>
      </p:sp>
      <p:sp>
        <p:nvSpPr>
          <p:cNvPr id="27" name="Panel"/>
          <p:cNvSpPr/>
          <p:nvPr/>
        </p:nvSpPr>
        <p:spPr>
          <a:xfrm>
            <a:off x="419100" y="2930426"/>
            <a:ext cx="4524375" cy="1568500"/>
          </a:xfrm>
          <a:prstGeom prst="rect">
            <a:avLst/>
          </a:prstGeom>
          <a:solidFill>
            <a:srgbClr val="FAF7F3"/>
          </a:solidFill>
          <a:ln>
            <a:noFill/>
          </a:ln>
        </p:spPr>
        <p:txBody>
          <a:bodyPr rtlCol="0" anchor="ctr"/>
          <a:lstStyle/>
          <a:p>
            <a:pPr algn="ctr"/>
          </a:p>
        </p:txBody>
      </p:sp>
      <p:sp>
        <p:nvSpPr>
          <p:cNvPr id="28" name="Rule"/>
          <p:cNvSpPr/>
          <p:nvPr/>
        </p:nvSpPr>
        <p:spPr>
          <a:xfrm>
            <a:off x="419100" y="2930426"/>
            <a:ext cx="4524375" cy="28575"/>
          </a:xfrm>
          <a:prstGeom prst="rect">
            <a:avLst/>
          </a:prstGeom>
          <a:solidFill>
            <a:srgbClr val="B68757"/>
          </a:solidFill>
          <a:ln>
            <a:noFill/>
          </a:ln>
        </p:spPr>
        <p:txBody>
          <a:bodyPr rtlCol="0" anchor="ctr"/>
          <a:lstStyle/>
          <a:p>
            <a:pPr algn="ctr"/>
          </a:p>
        </p:txBody>
      </p:sp>
      <p:sp>
        <p:nvSpPr>
          <p:cNvPr id="29" name="Panel"/>
          <p:cNvSpPr/>
          <p:nvPr/>
        </p:nvSpPr>
        <p:spPr>
          <a:xfrm>
            <a:off x="590550" y="3073301"/>
            <a:ext cx="381000" cy="381000"/>
          </a:xfrm>
          <a:prstGeom prst="ellipse">
            <a:avLst/>
          </a:prstGeom>
          <a:solidFill>
            <a:srgbClr val="1B1A1A"/>
          </a:solidFill>
          <a:ln>
            <a:noFill/>
          </a:ln>
        </p:spPr>
        <p:txBody>
          <a:bodyPr rtlCol="0" anchor="ctr"/>
          <a:lstStyle/>
          <a:p>
            <a:pPr algn="ctr"/>
          </a:p>
        </p:txBody>
      </p:sp>
      <p:pic>
        <p:nvPicPr>
          <p:cNvPr id="30" name="Graphic" descr="S03_r2.png"/>
          <p:cNvPicPr>
            <a:picLocks noChangeAspect="1"/>
          </p:cNvPicPr>
          <p:nvPr/>
        </p:nvPicPr>
        <p:blipFill>
          <a:blip r:embed="rId7"/>
          <a:stretch>
            <a:fillRect/>
          </a:stretch>
        </p:blipFill>
        <p:spPr>
          <a:xfrm>
            <a:off x="657225" y="3139976"/>
            <a:ext cx="247650" cy="247650"/>
          </a:xfrm>
          <a:prstGeom prst="rect">
            <a:avLst/>
          </a:prstGeom>
        </p:spPr>
      </p:pic>
      <p:sp>
        <p:nvSpPr>
          <p:cNvPr id="31" name="TextBox 30"/>
          <p:cNvSpPr txBox="1"/>
          <p:nvPr/>
        </p:nvSpPr>
        <p:spPr>
          <a:xfrm>
            <a:off x="1085850" y="3077778"/>
            <a:ext cx="2897684" cy="333375"/>
          </a:xfrm>
          <a:prstGeom prst="rect">
            <a:avLst/>
          </a:prstGeom>
          <a:noFill/>
        </p:spPr>
        <p:txBody>
          <a:bodyPr wrap="square" lIns="0" rIns="0" tIns="0" bIns="0" anchor="t">
            <a:noAutofit/>
          </a:bodyPr>
          <a:lstStyle/>
          <a:p>
            <a:pPr algn="l">
              <a:lnSpc>
                <a:spcPts val="1350"/>
              </a:lnSpc>
              <a:spcBef>
                <a:spcPts val="0"/>
              </a:spcBef>
              <a:spcAft>
                <a:spcPts val="0"/>
              </a:spcAft>
            </a:pPr>
            <a:r>
              <a:rPr sz="1011" b="1" i="0" spc="8">
                <a:solidFill>
                  <a:srgbClr val="1B1A1A"/>
                </a:solidFill>
                <a:latin typeface="Quicksand"/>
              </a:rPr>
              <a:t>Financing became more expensive in the third quarter</a:t>
            </a:r>
          </a:p>
        </p:txBody>
      </p:sp>
      <p:sp>
        <p:nvSpPr>
          <p:cNvPr id="32" name="TextBox 31"/>
          <p:cNvSpPr txBox="1"/>
          <p:nvPr/>
        </p:nvSpPr>
        <p:spPr>
          <a:xfrm>
            <a:off x="4021634" y="3091589"/>
            <a:ext cx="807541" cy="257175"/>
          </a:xfrm>
          <a:prstGeom prst="rect">
            <a:avLst/>
          </a:prstGeom>
          <a:noFill/>
        </p:spPr>
        <p:txBody>
          <a:bodyPr wrap="none" lIns="0" rIns="0" tIns="0" bIns="0" anchor="t">
            <a:noAutofit/>
          </a:bodyPr>
          <a:lstStyle/>
          <a:p>
            <a:pPr algn="l">
              <a:lnSpc>
                <a:spcPts val="2250"/>
              </a:lnSpc>
              <a:spcBef>
                <a:spcPts val="0"/>
              </a:spcBef>
              <a:spcAft>
                <a:spcPts val="0"/>
              </a:spcAft>
            </a:pPr>
            <a:r>
              <a:rPr sz="2000" b="1" i="0">
                <a:solidFill>
                  <a:srgbClr val="8C6239"/>
                </a:solidFill>
                <a:latin typeface="Newsreader"/>
              </a:rPr>
              <a:t>5.24%</a:t>
            </a:r>
          </a:p>
        </p:txBody>
      </p:sp>
      <p:sp>
        <p:nvSpPr>
          <p:cNvPr id="33" name="TextBox 32"/>
          <p:cNvSpPr txBox="1"/>
          <p:nvPr/>
        </p:nvSpPr>
        <p:spPr>
          <a:xfrm>
            <a:off x="590550" y="3511737"/>
            <a:ext cx="4257675" cy="628650"/>
          </a:xfrm>
          <a:prstGeom prst="rect">
            <a:avLst/>
          </a:prstGeom>
          <a:noFill/>
        </p:spPr>
        <p:txBody>
          <a:bodyPr wrap="square" lIns="0" rIns="0" tIns="0" bIns="0" anchor="t">
            <a:noAutofit/>
          </a:bodyPr>
          <a:lstStyle/>
          <a:p>
            <a:pPr algn="l">
              <a:lnSpc>
                <a:spcPts val="1275"/>
              </a:lnSpc>
              <a:spcBef>
                <a:spcPts val="0"/>
              </a:spcBef>
              <a:spcAft>
                <a:spcPts val="0"/>
              </a:spcAft>
            </a:pPr>
            <a:r>
              <a:rPr sz="861" b="0" i="0" spc="15">
                <a:solidFill>
                  <a:srgbClr val="333231"/>
                </a:solidFill>
                <a:latin typeface="Quicksand"/>
              </a:rPr>
              <a:t>The Federal Reserve raised its target range to 3.75% to 4.00% on September 16 (</a:t>
            </a:r>
            <a:r>
              <a:rPr sz="861" b="0" i="0" spc="15" u="sng">
                <a:solidFill>
                  <a:srgbClr val="8C6239"/>
                </a:solidFill>
                <a:latin typeface="Quicksand"/>
                <a:hlinkClick r:id="rId8">
                  <a:extLst>
                    <a:ext uri="{A12FA001-AC4F-418D-AE19-62706E023703}">
                      <ahyp:hlinkClr xmlns:ahyp="http://schemas.microsoft.com/office/drawing/2018/hyperlinkcolor" val="tx"/>
                    </a:ext>
                  </a:extLst>
                </a:hlinkClick>
              </a:rPr>
              <a:t>Federal Reserve</a:t>
            </a:r>
            <a:r>
              <a:rPr sz="861" b="0" i="0" spc="15">
                <a:solidFill>
                  <a:srgbClr val="333231"/>
                </a:solidFill>
                <a:latin typeface="Quicksand"/>
              </a:rPr>
              <a:t>) and the 10-year Treasury yielded 5.24% on October 1 (</a:t>
            </a:r>
            <a:r>
              <a:rPr sz="861" b="0" i="0" spc="15" u="sng">
                <a:solidFill>
                  <a:srgbClr val="8C6239"/>
                </a:solidFill>
                <a:latin typeface="Quicksand"/>
                <a:hlinkClick r:id="rId9">
                  <a:extLst>
                    <a:ext uri="{A12FA001-AC4F-418D-AE19-62706E023703}">
                      <ahyp:hlinkClr xmlns:ahyp="http://schemas.microsoft.com/office/drawing/2018/hyperlinkcolor" val="tx"/>
                    </a:ext>
                  </a:extLst>
                </a:hlinkClick>
              </a:rPr>
              <a:t>US Treasury</a:t>
            </a:r>
            <a:r>
              <a:rPr sz="861" b="0" i="0" spc="15">
                <a:solidFill>
                  <a:srgbClr val="333231"/>
                </a:solidFill>
                <a:latin typeface="Quicksand"/>
              </a:rPr>
              <a:t>). Total debt on platform acquisitions fell to 2.9x EBITDA from 3.4x (</a:t>
            </a:r>
            <a:r>
              <a:rPr sz="861" b="0" i="0" spc="15" u="sng">
                <a:solidFill>
                  <a:srgbClr val="8C6239"/>
                </a:solidFill>
                <a:latin typeface="Quicksand"/>
                <a:hlinkClick r:id="rId10">
                  <a:extLst>
                    <a:ext uri="{A12FA001-AC4F-418D-AE19-62706E023703}">
                      <ahyp:hlinkClr xmlns:ahyp="http://schemas.microsoft.com/office/drawing/2018/hyperlinkcolor" val="tx"/>
                    </a:ext>
                  </a:extLst>
                </a:hlinkClick>
              </a:rPr>
              <a:t>GF Data via ACG</a:t>
            </a:r>
            <a:r>
              <a:rPr sz="861" b="0" i="0" spc="15">
                <a:solidFill>
                  <a:srgbClr val="333231"/>
                </a:solidFill>
                <a:latin typeface="Quicksand"/>
              </a:rPr>
              <a:t>).</a:t>
            </a:r>
          </a:p>
        </p:txBody>
      </p:sp>
      <p:sp>
        <p:nvSpPr>
          <p:cNvPr id="34" name="Rule"/>
          <p:cNvSpPr/>
          <p:nvPr/>
        </p:nvSpPr>
        <p:spPr>
          <a:xfrm>
            <a:off x="590550" y="4178201"/>
            <a:ext cx="4181475" cy="9525"/>
          </a:xfrm>
          <a:prstGeom prst="rect">
            <a:avLst/>
          </a:prstGeom>
          <a:solidFill>
            <a:srgbClr val="E3DCD3"/>
          </a:solidFill>
          <a:ln>
            <a:noFill/>
          </a:ln>
        </p:spPr>
        <p:txBody>
          <a:bodyPr rtlCol="0" anchor="ctr"/>
          <a:lstStyle/>
          <a:p>
            <a:pPr algn="ctr"/>
          </a:p>
        </p:txBody>
      </p:sp>
      <p:sp>
        <p:nvSpPr>
          <p:cNvPr id="35" name="TextBox 34"/>
          <p:cNvSpPr txBox="1"/>
          <p:nvPr/>
        </p:nvSpPr>
        <p:spPr>
          <a:xfrm>
            <a:off x="590550" y="4225826"/>
            <a:ext cx="3978622" cy="114300"/>
          </a:xfrm>
          <a:prstGeom prst="rect">
            <a:avLst/>
          </a:prstGeom>
          <a:noFill/>
        </p:spPr>
        <p:txBody>
          <a:bodyPr wrap="none" lIns="0" rIns="0" tIns="0" bIns="0" anchor="t">
            <a:noAutofit/>
          </a:bodyPr>
          <a:lstStyle/>
          <a:p>
            <a:pPr algn="l">
              <a:lnSpc>
                <a:spcPts val="1275"/>
              </a:lnSpc>
              <a:spcBef>
                <a:spcPts val="0"/>
              </a:spcBef>
              <a:spcAft>
                <a:spcPts val="0"/>
              </a:spcAft>
            </a:pPr>
            <a:r>
              <a:rPr sz="938" b="0" i="1">
                <a:solidFill>
                  <a:srgbClr val="2A2928"/>
                </a:solidFill>
                <a:latin typeface="Newsreader"/>
              </a:rPr>
              <a:t>Dearer debt puts a premium on documented earnings and contracted customers.</a:t>
            </a:r>
          </a:p>
        </p:txBody>
      </p:sp>
      <p:sp>
        <p:nvSpPr>
          <p:cNvPr id="36" name="Panel"/>
          <p:cNvSpPr/>
          <p:nvPr/>
        </p:nvSpPr>
        <p:spPr>
          <a:xfrm>
            <a:off x="5114925" y="2930426"/>
            <a:ext cx="4524375" cy="1568500"/>
          </a:xfrm>
          <a:prstGeom prst="rect">
            <a:avLst/>
          </a:prstGeom>
          <a:solidFill>
            <a:srgbClr val="FAF7F3"/>
          </a:solidFill>
          <a:ln>
            <a:noFill/>
          </a:ln>
        </p:spPr>
        <p:txBody>
          <a:bodyPr rtlCol="0" anchor="ctr"/>
          <a:lstStyle/>
          <a:p>
            <a:pPr algn="ctr"/>
          </a:p>
        </p:txBody>
      </p:sp>
      <p:sp>
        <p:nvSpPr>
          <p:cNvPr id="37" name="Rule"/>
          <p:cNvSpPr/>
          <p:nvPr/>
        </p:nvSpPr>
        <p:spPr>
          <a:xfrm>
            <a:off x="5114925" y="2930426"/>
            <a:ext cx="4524375" cy="28575"/>
          </a:xfrm>
          <a:prstGeom prst="rect">
            <a:avLst/>
          </a:prstGeom>
          <a:solidFill>
            <a:srgbClr val="B68757"/>
          </a:solidFill>
          <a:ln>
            <a:noFill/>
          </a:ln>
        </p:spPr>
        <p:txBody>
          <a:bodyPr rtlCol="0" anchor="ctr"/>
          <a:lstStyle/>
          <a:p>
            <a:pPr algn="ctr"/>
          </a:p>
        </p:txBody>
      </p:sp>
      <p:sp>
        <p:nvSpPr>
          <p:cNvPr id="38" name="Panel"/>
          <p:cNvSpPr/>
          <p:nvPr/>
        </p:nvSpPr>
        <p:spPr>
          <a:xfrm>
            <a:off x="5286375" y="3073301"/>
            <a:ext cx="381000" cy="381000"/>
          </a:xfrm>
          <a:prstGeom prst="ellipse">
            <a:avLst/>
          </a:prstGeom>
          <a:solidFill>
            <a:srgbClr val="1B1A1A"/>
          </a:solidFill>
          <a:ln>
            <a:noFill/>
          </a:ln>
        </p:spPr>
        <p:txBody>
          <a:bodyPr rtlCol="0" anchor="ctr"/>
          <a:lstStyle/>
          <a:p>
            <a:pPr algn="ctr"/>
          </a:p>
        </p:txBody>
      </p:sp>
      <p:pic>
        <p:nvPicPr>
          <p:cNvPr id="39" name="Graphic" descr="S03_r3.png"/>
          <p:cNvPicPr>
            <a:picLocks noChangeAspect="1"/>
          </p:cNvPicPr>
          <p:nvPr/>
        </p:nvPicPr>
        <p:blipFill>
          <a:blip r:embed="rId11"/>
          <a:stretch>
            <a:fillRect/>
          </a:stretch>
        </p:blipFill>
        <p:spPr>
          <a:xfrm>
            <a:off x="5353050" y="3139976"/>
            <a:ext cx="247650" cy="247650"/>
          </a:xfrm>
          <a:prstGeom prst="rect">
            <a:avLst/>
          </a:prstGeom>
        </p:spPr>
      </p:pic>
      <p:sp>
        <p:nvSpPr>
          <p:cNvPr id="40" name="TextBox 39"/>
          <p:cNvSpPr txBox="1"/>
          <p:nvPr/>
        </p:nvSpPr>
        <p:spPr>
          <a:xfrm>
            <a:off x="5781675" y="3077778"/>
            <a:ext cx="2842320" cy="333375"/>
          </a:xfrm>
          <a:prstGeom prst="rect">
            <a:avLst/>
          </a:prstGeom>
          <a:noFill/>
        </p:spPr>
        <p:txBody>
          <a:bodyPr wrap="square" lIns="0" rIns="0" tIns="0" bIns="0" anchor="t">
            <a:noAutofit/>
          </a:bodyPr>
          <a:lstStyle/>
          <a:p>
            <a:pPr algn="l">
              <a:lnSpc>
                <a:spcPts val="1350"/>
              </a:lnSpc>
              <a:spcBef>
                <a:spcPts val="0"/>
              </a:spcBef>
              <a:spcAft>
                <a:spcPts val="0"/>
              </a:spcAft>
            </a:pPr>
            <a:r>
              <a:rPr sz="1011" b="1" i="0" spc="8">
                <a:solidFill>
                  <a:srgbClr val="1B1A1A"/>
                </a:solidFill>
                <a:latin typeface="Quicksand"/>
              </a:rPr>
              <a:t>Security budgets grow while the defense mandate pauses</a:t>
            </a:r>
          </a:p>
        </p:txBody>
      </p:sp>
      <p:sp>
        <p:nvSpPr>
          <p:cNvPr id="41" name="TextBox 40"/>
          <p:cNvSpPr txBox="1"/>
          <p:nvPr/>
        </p:nvSpPr>
        <p:spPr>
          <a:xfrm>
            <a:off x="8662095" y="3091589"/>
            <a:ext cx="862905" cy="257175"/>
          </a:xfrm>
          <a:prstGeom prst="rect">
            <a:avLst/>
          </a:prstGeom>
          <a:noFill/>
        </p:spPr>
        <p:txBody>
          <a:bodyPr wrap="none" lIns="0" rIns="0" tIns="0" bIns="0" anchor="t">
            <a:noAutofit/>
          </a:bodyPr>
          <a:lstStyle/>
          <a:p>
            <a:pPr algn="l">
              <a:lnSpc>
                <a:spcPts val="2250"/>
              </a:lnSpc>
              <a:spcBef>
                <a:spcPts val="0"/>
              </a:spcBef>
              <a:spcAft>
                <a:spcPts val="0"/>
              </a:spcAft>
            </a:pPr>
            <a:r>
              <a:rPr sz="2000" b="1" i="0">
                <a:solidFill>
                  <a:srgbClr val="8C6239"/>
                </a:solidFill>
                <a:latin typeface="Newsreader"/>
              </a:rPr>
              <a:t>$240B</a:t>
            </a:r>
          </a:p>
        </p:txBody>
      </p:sp>
      <p:sp>
        <p:nvSpPr>
          <p:cNvPr id="42" name="TextBox 41"/>
          <p:cNvSpPr txBox="1"/>
          <p:nvPr/>
        </p:nvSpPr>
        <p:spPr>
          <a:xfrm>
            <a:off x="5286375" y="3511737"/>
            <a:ext cx="4257675" cy="628650"/>
          </a:xfrm>
          <a:prstGeom prst="rect">
            <a:avLst/>
          </a:prstGeom>
          <a:noFill/>
        </p:spPr>
        <p:txBody>
          <a:bodyPr wrap="square" lIns="0" rIns="0" tIns="0" bIns="0" anchor="t">
            <a:noAutofit/>
          </a:bodyPr>
          <a:lstStyle/>
          <a:p>
            <a:pPr algn="l">
              <a:lnSpc>
                <a:spcPts val="1275"/>
              </a:lnSpc>
              <a:spcBef>
                <a:spcPts val="0"/>
              </a:spcBef>
              <a:spcAft>
                <a:spcPts val="0"/>
              </a:spcAft>
            </a:pPr>
            <a:r>
              <a:rPr sz="861" b="0" i="0" spc="15">
                <a:solidFill>
                  <a:srgbClr val="333231"/>
                </a:solidFill>
                <a:latin typeface="Quicksand"/>
              </a:rPr>
              <a:t>Gartner forecasts information security spending of $240 billion in 2026, up 12.5% (</a:t>
            </a:r>
            <a:r>
              <a:rPr sz="861" b="0" i="0" spc="15" u="sng">
                <a:solidFill>
                  <a:srgbClr val="8C6239"/>
                </a:solidFill>
                <a:latin typeface="Quicksand"/>
                <a:hlinkClick r:id="rId12">
                  <a:extLst>
                    <a:ext uri="{A12FA001-AC4F-418D-AE19-62706E023703}">
                      <ahyp:hlinkClr xmlns:ahyp="http://schemas.microsoft.com/office/drawing/2018/hyperlinkcolor" val="tx"/>
                    </a:ext>
                  </a:extLst>
                </a:hlinkClick>
              </a:rPr>
              <a:t>Gartner</a:t>
            </a:r>
            <a:r>
              <a:rPr sz="861" b="0" i="0" spc="15">
                <a:solidFill>
                  <a:srgbClr val="333231"/>
                </a:solidFill>
                <a:latin typeface="Quicksand"/>
              </a:rPr>
              <a:t>), after reported cybercrime losses of $20.9 billion in 2025 (</a:t>
            </a:r>
            <a:r>
              <a:rPr sz="861" b="0" i="0" spc="15" u="sng">
                <a:solidFill>
                  <a:srgbClr val="8C6239"/>
                </a:solidFill>
                <a:latin typeface="Quicksand"/>
                <a:hlinkClick r:id="rId13">
                  <a:extLst>
                    <a:ext uri="{A12FA001-AC4F-418D-AE19-62706E023703}">
                      <ahyp:hlinkClr xmlns:ahyp="http://schemas.microsoft.com/office/drawing/2018/hyperlinkcolor" val="tx"/>
                    </a:ext>
                  </a:extLst>
                </a:hlinkClick>
              </a:rPr>
              <a:t>FBI</a:t>
            </a:r>
            <a:r>
              <a:rPr sz="861" b="0" i="0" spc="15">
                <a:solidFill>
                  <a:srgbClr val="333231"/>
                </a:solidFill>
                <a:latin typeface="Quicksand"/>
              </a:rPr>
              <a:t>). The Department of War suspended the third-party certification phase of CMMC on July 13 (</a:t>
            </a:r>
            <a:r>
              <a:rPr sz="861" b="0" i="0" spc="15" u="sng">
                <a:solidFill>
                  <a:srgbClr val="8C6239"/>
                </a:solidFill>
                <a:latin typeface="Quicksand"/>
                <a:hlinkClick r:id="rId14">
                  <a:extLst>
                    <a:ext uri="{A12FA001-AC4F-418D-AE19-62706E023703}">
                      <ahyp:hlinkClr xmlns:ahyp="http://schemas.microsoft.com/office/drawing/2018/hyperlinkcolor" val="tx"/>
                    </a:ext>
                  </a:extLst>
                </a:hlinkClick>
              </a:rPr>
              <a:t>DoD CIO</a:t>
            </a:r>
            <a:r>
              <a:rPr sz="861" b="0" i="0" spc="15">
                <a:solidFill>
                  <a:srgbClr val="333231"/>
                </a:solidFill>
                <a:latin typeface="Quicksand"/>
              </a:rPr>
              <a:t>).</a:t>
            </a:r>
          </a:p>
        </p:txBody>
      </p:sp>
      <p:sp>
        <p:nvSpPr>
          <p:cNvPr id="43" name="Rule"/>
          <p:cNvSpPr/>
          <p:nvPr/>
        </p:nvSpPr>
        <p:spPr>
          <a:xfrm>
            <a:off x="5286375" y="4178201"/>
            <a:ext cx="4181475" cy="9525"/>
          </a:xfrm>
          <a:prstGeom prst="rect">
            <a:avLst/>
          </a:prstGeom>
          <a:solidFill>
            <a:srgbClr val="E3DCD3"/>
          </a:solidFill>
          <a:ln>
            <a:noFill/>
          </a:ln>
        </p:spPr>
        <p:txBody>
          <a:bodyPr rtlCol="0" anchor="ctr"/>
          <a:lstStyle/>
          <a:p>
            <a:pPr algn="ctr"/>
          </a:p>
        </p:txBody>
      </p:sp>
      <p:sp>
        <p:nvSpPr>
          <p:cNvPr id="44" name="TextBox 43"/>
          <p:cNvSpPr txBox="1"/>
          <p:nvPr/>
        </p:nvSpPr>
        <p:spPr>
          <a:xfrm>
            <a:off x="5286375" y="4225826"/>
            <a:ext cx="3706118" cy="114300"/>
          </a:xfrm>
          <a:prstGeom prst="rect">
            <a:avLst/>
          </a:prstGeom>
          <a:noFill/>
        </p:spPr>
        <p:txBody>
          <a:bodyPr wrap="none" lIns="0" rIns="0" tIns="0" bIns="0" anchor="t">
            <a:noAutofit/>
          </a:bodyPr>
          <a:lstStyle/>
          <a:p>
            <a:pPr algn="l">
              <a:lnSpc>
                <a:spcPts val="1275"/>
              </a:lnSpc>
              <a:spcBef>
                <a:spcPts val="0"/>
              </a:spcBef>
              <a:spcAft>
                <a:spcPts val="0"/>
              </a:spcAft>
            </a:pPr>
            <a:r>
              <a:rPr sz="938" b="0" i="1">
                <a:solidFill>
                  <a:srgbClr val="2A2928"/>
                </a:solidFill>
                <a:latin typeface="Newsreader"/>
              </a:rPr>
              <a:t>Revenue tied to one compliance mandate needs a second source of demand.</a:t>
            </a:r>
          </a:p>
        </p:txBody>
      </p:sp>
      <p:sp>
        <p:nvSpPr>
          <p:cNvPr id="45" name="Panel"/>
          <p:cNvSpPr/>
          <p:nvPr/>
        </p:nvSpPr>
        <p:spPr>
          <a:xfrm>
            <a:off x="419100" y="4622750"/>
            <a:ext cx="4524375" cy="1568500"/>
          </a:xfrm>
          <a:prstGeom prst="rect">
            <a:avLst/>
          </a:prstGeom>
          <a:solidFill>
            <a:srgbClr val="FAF7F3"/>
          </a:solidFill>
          <a:ln>
            <a:noFill/>
          </a:ln>
        </p:spPr>
        <p:txBody>
          <a:bodyPr rtlCol="0" anchor="ctr"/>
          <a:lstStyle/>
          <a:p>
            <a:pPr algn="ctr"/>
          </a:p>
        </p:txBody>
      </p:sp>
      <p:sp>
        <p:nvSpPr>
          <p:cNvPr id="46" name="Rule"/>
          <p:cNvSpPr/>
          <p:nvPr/>
        </p:nvSpPr>
        <p:spPr>
          <a:xfrm>
            <a:off x="419100" y="4622750"/>
            <a:ext cx="4524375" cy="28575"/>
          </a:xfrm>
          <a:prstGeom prst="rect">
            <a:avLst/>
          </a:prstGeom>
          <a:solidFill>
            <a:srgbClr val="B68757"/>
          </a:solidFill>
          <a:ln>
            <a:noFill/>
          </a:ln>
        </p:spPr>
        <p:txBody>
          <a:bodyPr rtlCol="0" anchor="ctr"/>
          <a:lstStyle/>
          <a:p>
            <a:pPr algn="ctr"/>
          </a:p>
        </p:txBody>
      </p:sp>
      <p:sp>
        <p:nvSpPr>
          <p:cNvPr id="47" name="Panel"/>
          <p:cNvSpPr/>
          <p:nvPr/>
        </p:nvSpPr>
        <p:spPr>
          <a:xfrm>
            <a:off x="590550" y="4765625"/>
            <a:ext cx="381000" cy="381000"/>
          </a:xfrm>
          <a:prstGeom prst="ellipse">
            <a:avLst/>
          </a:prstGeom>
          <a:solidFill>
            <a:srgbClr val="1B1A1A"/>
          </a:solidFill>
          <a:ln>
            <a:noFill/>
          </a:ln>
        </p:spPr>
        <p:txBody>
          <a:bodyPr rtlCol="0" anchor="ctr"/>
          <a:lstStyle/>
          <a:p>
            <a:pPr algn="ctr"/>
          </a:p>
        </p:txBody>
      </p:sp>
      <p:pic>
        <p:nvPicPr>
          <p:cNvPr id="48" name="Graphic" descr="S03_r4.png"/>
          <p:cNvPicPr>
            <a:picLocks noChangeAspect="1"/>
          </p:cNvPicPr>
          <p:nvPr/>
        </p:nvPicPr>
        <p:blipFill>
          <a:blip r:embed="rId15"/>
          <a:stretch>
            <a:fillRect/>
          </a:stretch>
        </p:blipFill>
        <p:spPr>
          <a:xfrm>
            <a:off x="657225" y="4832300"/>
            <a:ext cx="247650" cy="247650"/>
          </a:xfrm>
          <a:prstGeom prst="rect">
            <a:avLst/>
          </a:prstGeom>
        </p:spPr>
      </p:pic>
      <p:sp>
        <p:nvSpPr>
          <p:cNvPr id="49" name="TextBox 48"/>
          <p:cNvSpPr txBox="1"/>
          <p:nvPr/>
        </p:nvSpPr>
        <p:spPr>
          <a:xfrm>
            <a:off x="1085850" y="4770102"/>
            <a:ext cx="3113038" cy="333375"/>
          </a:xfrm>
          <a:prstGeom prst="rect">
            <a:avLst/>
          </a:prstGeom>
          <a:noFill/>
        </p:spPr>
        <p:txBody>
          <a:bodyPr wrap="square" lIns="0" rIns="0" tIns="0" bIns="0" anchor="t">
            <a:noAutofit/>
          </a:bodyPr>
          <a:lstStyle/>
          <a:p>
            <a:pPr algn="l">
              <a:lnSpc>
                <a:spcPts val="1350"/>
              </a:lnSpc>
              <a:spcBef>
                <a:spcPts val="0"/>
              </a:spcBef>
              <a:spcAft>
                <a:spcPts val="0"/>
              </a:spcAft>
            </a:pPr>
            <a:r>
              <a:rPr sz="1011" b="1" i="0" spc="8">
                <a:solidFill>
                  <a:srgbClr val="1B1A1A"/>
                </a:solidFill>
                <a:latin typeface="Quicksand"/>
              </a:rPr>
              <a:t>Hardware order books are filling faster than factories ship</a:t>
            </a:r>
          </a:p>
        </p:txBody>
      </p:sp>
      <p:sp>
        <p:nvSpPr>
          <p:cNvPr id="50" name="TextBox 49"/>
          <p:cNvSpPr txBox="1"/>
          <p:nvPr/>
        </p:nvSpPr>
        <p:spPr>
          <a:xfrm>
            <a:off x="4236988" y="4783913"/>
            <a:ext cx="592187" cy="257175"/>
          </a:xfrm>
          <a:prstGeom prst="rect">
            <a:avLst/>
          </a:prstGeom>
          <a:noFill/>
        </p:spPr>
        <p:txBody>
          <a:bodyPr wrap="none" lIns="0" rIns="0" tIns="0" bIns="0" anchor="t">
            <a:noAutofit/>
          </a:bodyPr>
          <a:lstStyle/>
          <a:p>
            <a:pPr algn="l">
              <a:lnSpc>
                <a:spcPts val="2250"/>
              </a:lnSpc>
              <a:spcBef>
                <a:spcPts val="0"/>
              </a:spcBef>
              <a:spcAft>
                <a:spcPts val="0"/>
              </a:spcAft>
            </a:pPr>
            <a:r>
              <a:rPr sz="2000" b="1" i="0">
                <a:solidFill>
                  <a:srgbClr val="8C6239"/>
                </a:solidFill>
                <a:latin typeface="Newsreader"/>
              </a:rPr>
              <a:t>1.39</a:t>
            </a:r>
          </a:p>
        </p:txBody>
      </p:sp>
      <p:sp>
        <p:nvSpPr>
          <p:cNvPr id="51" name="TextBox 50"/>
          <p:cNvSpPr txBox="1"/>
          <p:nvPr/>
        </p:nvSpPr>
        <p:spPr>
          <a:xfrm>
            <a:off x="590550" y="5204061"/>
            <a:ext cx="4257675" cy="466725"/>
          </a:xfrm>
          <a:prstGeom prst="rect">
            <a:avLst/>
          </a:prstGeom>
          <a:noFill/>
        </p:spPr>
        <p:txBody>
          <a:bodyPr wrap="square" lIns="0" rIns="0" tIns="0" bIns="0" anchor="t">
            <a:noAutofit/>
          </a:bodyPr>
          <a:lstStyle/>
          <a:p>
            <a:pPr algn="l">
              <a:lnSpc>
                <a:spcPts val="1275"/>
              </a:lnSpc>
              <a:spcBef>
                <a:spcPts val="0"/>
              </a:spcBef>
              <a:spcAft>
                <a:spcPts val="0"/>
              </a:spcAft>
            </a:pPr>
            <a:r>
              <a:rPr sz="861" b="0" i="0" spc="15">
                <a:solidFill>
                  <a:srgbClr val="333231"/>
                </a:solidFill>
                <a:latin typeface="Quicksand"/>
              </a:rPr>
              <a:t>North American EMS bookings rose 53.5% in August while shipments rose 1.0%, a three-month book-to-bill ratio of 1.39 (</a:t>
            </a:r>
            <a:r>
              <a:rPr sz="861" b="0" i="0" spc="15" u="sng">
                <a:solidFill>
                  <a:srgbClr val="8C6239"/>
                </a:solidFill>
                <a:latin typeface="Quicksand"/>
                <a:hlinkClick r:id="rId16">
                  <a:extLst>
                    <a:ext uri="{A12FA001-AC4F-418D-AE19-62706E023703}">
                      <ahyp:hlinkClr xmlns:ahyp="http://schemas.microsoft.com/office/drawing/2018/hyperlinkcolor" val="tx"/>
                    </a:ext>
                  </a:extLst>
                </a:hlinkClick>
              </a:rPr>
              <a:t>Global Electronics Association</a:t>
            </a:r>
            <a:r>
              <a:rPr sz="861" b="0" i="0" spc="15">
                <a:solidFill>
                  <a:srgbClr val="333231"/>
                </a:solidFill>
                <a:latin typeface="Quicksand"/>
              </a:rPr>
              <a:t>). Section 301 duties replaced the expired 10% import surcharge on July 24 (</a:t>
            </a:r>
            <a:r>
              <a:rPr sz="861" b="0" i="0" spc="15" u="sng">
                <a:solidFill>
                  <a:srgbClr val="8C6239"/>
                </a:solidFill>
                <a:latin typeface="Quicksand"/>
                <a:hlinkClick r:id="rId17">
                  <a:extLst>
                    <a:ext uri="{A12FA001-AC4F-418D-AE19-62706E023703}">
                      <ahyp:hlinkClr xmlns:ahyp="http://schemas.microsoft.com/office/drawing/2018/hyperlinkcolor" val="tx"/>
                    </a:ext>
                  </a:extLst>
                </a:hlinkClick>
              </a:rPr>
              <a:t>Wiley Rein</a:t>
            </a:r>
            <a:r>
              <a:rPr sz="861" b="0" i="0" spc="15">
                <a:solidFill>
                  <a:srgbClr val="333231"/>
                </a:solidFill>
                <a:latin typeface="Quicksand"/>
              </a:rPr>
              <a:t>).</a:t>
            </a:r>
          </a:p>
        </p:txBody>
      </p:sp>
      <p:sp>
        <p:nvSpPr>
          <p:cNvPr id="52" name="Rule"/>
          <p:cNvSpPr/>
          <p:nvPr/>
        </p:nvSpPr>
        <p:spPr>
          <a:xfrm>
            <a:off x="590550" y="5848350"/>
            <a:ext cx="4181475" cy="9525"/>
          </a:xfrm>
          <a:prstGeom prst="rect">
            <a:avLst/>
          </a:prstGeom>
          <a:solidFill>
            <a:srgbClr val="E3DCD3"/>
          </a:solidFill>
          <a:ln>
            <a:noFill/>
          </a:ln>
        </p:spPr>
        <p:txBody>
          <a:bodyPr rtlCol="0" anchor="ctr"/>
          <a:lstStyle/>
          <a:p>
            <a:pPr algn="ctr"/>
          </a:p>
        </p:txBody>
      </p:sp>
      <p:sp>
        <p:nvSpPr>
          <p:cNvPr id="53" name="TextBox 52"/>
          <p:cNvSpPr txBox="1"/>
          <p:nvPr/>
        </p:nvSpPr>
        <p:spPr>
          <a:xfrm>
            <a:off x="590550" y="5895975"/>
            <a:ext cx="3591818" cy="114300"/>
          </a:xfrm>
          <a:prstGeom prst="rect">
            <a:avLst/>
          </a:prstGeom>
          <a:noFill/>
        </p:spPr>
        <p:txBody>
          <a:bodyPr wrap="none" lIns="0" rIns="0" tIns="0" bIns="0" anchor="t">
            <a:noAutofit/>
          </a:bodyPr>
          <a:lstStyle/>
          <a:p>
            <a:pPr algn="l">
              <a:lnSpc>
                <a:spcPts val="1275"/>
              </a:lnSpc>
              <a:spcBef>
                <a:spcPts val="0"/>
              </a:spcBef>
              <a:spcAft>
                <a:spcPts val="0"/>
              </a:spcAft>
            </a:pPr>
            <a:r>
              <a:rPr sz="938" b="0" i="1">
                <a:solidFill>
                  <a:srgbClr val="2A2928"/>
                </a:solidFill>
                <a:latin typeface="Newsreader"/>
              </a:rPr>
              <a:t>Backlog earns its value when it converts to shipments at steady margins.</a:t>
            </a:r>
          </a:p>
        </p:txBody>
      </p:sp>
      <p:sp>
        <p:nvSpPr>
          <p:cNvPr id="54" name="Panel"/>
          <p:cNvSpPr/>
          <p:nvPr/>
        </p:nvSpPr>
        <p:spPr>
          <a:xfrm>
            <a:off x="5114925" y="4622750"/>
            <a:ext cx="4524375" cy="1568500"/>
          </a:xfrm>
          <a:prstGeom prst="rect">
            <a:avLst/>
          </a:prstGeom>
          <a:solidFill>
            <a:srgbClr val="FAF7F3"/>
          </a:solidFill>
          <a:ln>
            <a:noFill/>
          </a:ln>
        </p:spPr>
        <p:txBody>
          <a:bodyPr rtlCol="0" anchor="ctr"/>
          <a:lstStyle/>
          <a:p>
            <a:pPr algn="ctr"/>
          </a:p>
        </p:txBody>
      </p:sp>
      <p:sp>
        <p:nvSpPr>
          <p:cNvPr id="55" name="Rule"/>
          <p:cNvSpPr/>
          <p:nvPr/>
        </p:nvSpPr>
        <p:spPr>
          <a:xfrm>
            <a:off x="5114925" y="4622750"/>
            <a:ext cx="4524375" cy="28575"/>
          </a:xfrm>
          <a:prstGeom prst="rect">
            <a:avLst/>
          </a:prstGeom>
          <a:solidFill>
            <a:srgbClr val="B68757"/>
          </a:solidFill>
          <a:ln>
            <a:noFill/>
          </a:ln>
        </p:spPr>
        <p:txBody>
          <a:bodyPr rtlCol="0" anchor="ctr"/>
          <a:lstStyle/>
          <a:p>
            <a:pPr algn="ctr"/>
          </a:p>
        </p:txBody>
      </p:sp>
      <p:sp>
        <p:nvSpPr>
          <p:cNvPr id="56" name="Panel"/>
          <p:cNvSpPr/>
          <p:nvPr/>
        </p:nvSpPr>
        <p:spPr>
          <a:xfrm>
            <a:off x="5286375" y="4765625"/>
            <a:ext cx="381000" cy="381000"/>
          </a:xfrm>
          <a:prstGeom prst="ellipse">
            <a:avLst/>
          </a:prstGeom>
          <a:solidFill>
            <a:srgbClr val="1B1A1A"/>
          </a:solidFill>
          <a:ln>
            <a:noFill/>
          </a:ln>
        </p:spPr>
        <p:txBody>
          <a:bodyPr rtlCol="0" anchor="ctr"/>
          <a:lstStyle/>
          <a:p>
            <a:pPr algn="ctr"/>
          </a:p>
        </p:txBody>
      </p:sp>
      <p:pic>
        <p:nvPicPr>
          <p:cNvPr id="57" name="Graphic" descr="S03_r5.png"/>
          <p:cNvPicPr>
            <a:picLocks noChangeAspect="1"/>
          </p:cNvPicPr>
          <p:nvPr/>
        </p:nvPicPr>
        <p:blipFill>
          <a:blip r:embed="rId18"/>
          <a:stretch>
            <a:fillRect/>
          </a:stretch>
        </p:blipFill>
        <p:spPr>
          <a:xfrm>
            <a:off x="5353050" y="4832300"/>
            <a:ext cx="247650" cy="247650"/>
          </a:xfrm>
          <a:prstGeom prst="rect">
            <a:avLst/>
          </a:prstGeom>
        </p:spPr>
      </p:pic>
      <p:sp>
        <p:nvSpPr>
          <p:cNvPr id="58" name="TextBox 57"/>
          <p:cNvSpPr txBox="1"/>
          <p:nvPr/>
        </p:nvSpPr>
        <p:spPr>
          <a:xfrm>
            <a:off x="5781675" y="4770102"/>
            <a:ext cx="2778770" cy="333375"/>
          </a:xfrm>
          <a:prstGeom prst="rect">
            <a:avLst/>
          </a:prstGeom>
          <a:noFill/>
        </p:spPr>
        <p:txBody>
          <a:bodyPr wrap="square" lIns="0" rIns="0" tIns="0" bIns="0" anchor="t">
            <a:noAutofit/>
          </a:bodyPr>
          <a:lstStyle/>
          <a:p>
            <a:pPr algn="l">
              <a:lnSpc>
                <a:spcPts val="1350"/>
              </a:lnSpc>
              <a:spcBef>
                <a:spcPts val="0"/>
              </a:spcBef>
              <a:spcAft>
                <a:spcPts val="0"/>
              </a:spcAft>
            </a:pPr>
            <a:r>
              <a:rPr sz="1011" b="1" i="0" spc="8">
                <a:solidFill>
                  <a:srgbClr val="1B1A1A"/>
                </a:solidFill>
                <a:latin typeface="Quicksand"/>
              </a:rPr>
              <a:t>Federal technology budgets rise as award timing slips</a:t>
            </a:r>
          </a:p>
        </p:txBody>
      </p:sp>
      <p:sp>
        <p:nvSpPr>
          <p:cNvPr id="59" name="TextBox 58"/>
          <p:cNvSpPr txBox="1"/>
          <p:nvPr/>
        </p:nvSpPr>
        <p:spPr>
          <a:xfrm>
            <a:off x="8598545" y="4783913"/>
            <a:ext cx="926455" cy="257175"/>
          </a:xfrm>
          <a:prstGeom prst="rect">
            <a:avLst/>
          </a:prstGeom>
          <a:noFill/>
        </p:spPr>
        <p:txBody>
          <a:bodyPr wrap="none" lIns="0" rIns="0" tIns="0" bIns="0" anchor="t">
            <a:noAutofit/>
          </a:bodyPr>
          <a:lstStyle/>
          <a:p>
            <a:pPr algn="l">
              <a:lnSpc>
                <a:spcPts val="2250"/>
              </a:lnSpc>
              <a:spcBef>
                <a:spcPts val="0"/>
              </a:spcBef>
              <a:spcAft>
                <a:spcPts val="0"/>
              </a:spcAft>
            </a:pPr>
            <a:r>
              <a:rPr sz="2000" b="1" i="0">
                <a:solidFill>
                  <a:srgbClr val="8C6239"/>
                </a:solidFill>
                <a:latin typeface="Newsreader"/>
              </a:rPr>
              <a:t>$75.7B</a:t>
            </a:r>
          </a:p>
        </p:txBody>
      </p:sp>
      <p:sp>
        <p:nvSpPr>
          <p:cNvPr id="60" name="TextBox 59"/>
          <p:cNvSpPr txBox="1"/>
          <p:nvPr/>
        </p:nvSpPr>
        <p:spPr>
          <a:xfrm>
            <a:off x="5286375" y="5204061"/>
            <a:ext cx="4257675" cy="466725"/>
          </a:xfrm>
          <a:prstGeom prst="rect">
            <a:avLst/>
          </a:prstGeom>
          <a:noFill/>
        </p:spPr>
        <p:txBody>
          <a:bodyPr wrap="square" lIns="0" rIns="0" tIns="0" bIns="0" anchor="t">
            <a:noAutofit/>
          </a:bodyPr>
          <a:lstStyle/>
          <a:p>
            <a:pPr algn="l">
              <a:lnSpc>
                <a:spcPts val="1275"/>
              </a:lnSpc>
              <a:spcBef>
                <a:spcPts val="0"/>
              </a:spcBef>
              <a:spcAft>
                <a:spcPts val="0"/>
              </a:spcAft>
            </a:pPr>
            <a:r>
              <a:rPr sz="861" b="0" i="0" spc="15">
                <a:solidFill>
                  <a:srgbClr val="333231"/>
                </a:solidFill>
                <a:latin typeface="Quicksand"/>
              </a:rPr>
              <a:t>The fiscal 2027 budget requests $75.7 billion for civilian agency IT against $67.9 billion in fiscal 2026 (</a:t>
            </a:r>
            <a:r>
              <a:rPr sz="861" b="0" i="0" spc="15" u="sng">
                <a:solidFill>
                  <a:srgbClr val="8C6239"/>
                </a:solidFill>
                <a:latin typeface="Quicksand"/>
                <a:hlinkClick r:id="rId19">
                  <a:extLst>
                    <a:ext uri="{A12FA001-AC4F-418D-AE19-62706E023703}">
                      <ahyp:hlinkClr xmlns:ahyp="http://schemas.microsoft.com/office/drawing/2018/hyperlinkcolor" val="tx"/>
                    </a:ext>
                  </a:extLst>
                </a:hlinkClick>
              </a:rPr>
              <a:t>FedScoop</a:t>
            </a:r>
            <a:r>
              <a:rPr sz="861" b="0" i="0" spc="15">
                <a:solidFill>
                  <a:srgbClr val="333231"/>
                </a:solidFill>
                <a:latin typeface="Quicksand"/>
              </a:rPr>
              <a:t>). A continuing resolution funds the government through December 11, which delays new program starts (</a:t>
            </a:r>
            <a:r>
              <a:rPr sz="861" b="0" i="0" spc="15" u="sng">
                <a:solidFill>
                  <a:srgbClr val="8C6239"/>
                </a:solidFill>
                <a:latin typeface="Quicksand"/>
                <a:hlinkClick r:id="rId20">
                  <a:extLst>
                    <a:ext uri="{A12FA001-AC4F-418D-AE19-62706E023703}">
                      <ahyp:hlinkClr xmlns:ahyp="http://schemas.microsoft.com/office/drawing/2018/hyperlinkcolor" val="tx"/>
                    </a:ext>
                  </a:extLst>
                </a:hlinkClick>
              </a:rPr>
              <a:t>SpacePolicyOnline</a:t>
            </a:r>
            <a:r>
              <a:rPr sz="861" b="0" i="0" spc="15">
                <a:solidFill>
                  <a:srgbClr val="333231"/>
                </a:solidFill>
                <a:latin typeface="Quicksand"/>
              </a:rPr>
              <a:t>).</a:t>
            </a:r>
          </a:p>
        </p:txBody>
      </p:sp>
      <p:sp>
        <p:nvSpPr>
          <p:cNvPr id="61" name="Rule"/>
          <p:cNvSpPr/>
          <p:nvPr/>
        </p:nvSpPr>
        <p:spPr>
          <a:xfrm>
            <a:off x="5286375" y="5848350"/>
            <a:ext cx="4181475" cy="9525"/>
          </a:xfrm>
          <a:prstGeom prst="rect">
            <a:avLst/>
          </a:prstGeom>
          <a:solidFill>
            <a:srgbClr val="E3DCD3"/>
          </a:solidFill>
          <a:ln>
            <a:noFill/>
          </a:ln>
        </p:spPr>
        <p:txBody>
          <a:bodyPr rtlCol="0" anchor="ctr"/>
          <a:lstStyle/>
          <a:p>
            <a:pPr algn="ctr"/>
          </a:p>
        </p:txBody>
      </p:sp>
      <p:sp>
        <p:nvSpPr>
          <p:cNvPr id="62" name="TextBox 61"/>
          <p:cNvSpPr txBox="1"/>
          <p:nvPr/>
        </p:nvSpPr>
        <p:spPr>
          <a:xfrm>
            <a:off x="5286375" y="5895975"/>
            <a:ext cx="3764607" cy="114300"/>
          </a:xfrm>
          <a:prstGeom prst="rect">
            <a:avLst/>
          </a:prstGeom>
          <a:noFill/>
        </p:spPr>
        <p:txBody>
          <a:bodyPr wrap="none" lIns="0" rIns="0" tIns="0" bIns="0" anchor="t">
            <a:noAutofit/>
          </a:bodyPr>
          <a:lstStyle/>
          <a:p>
            <a:pPr algn="l">
              <a:lnSpc>
                <a:spcPts val="1275"/>
              </a:lnSpc>
              <a:spcBef>
                <a:spcPts val="0"/>
              </a:spcBef>
              <a:spcAft>
                <a:spcPts val="0"/>
              </a:spcAft>
            </a:pPr>
            <a:r>
              <a:rPr sz="938" b="0" i="1">
                <a:solidFill>
                  <a:srgbClr val="2A2928"/>
                </a:solidFill>
                <a:latin typeface="Newsreader"/>
              </a:rPr>
              <a:t>Recompete dates and set-aside status deserve attention before a sale process.</a:t>
            </a:r>
          </a:p>
        </p:txBody>
      </p:sp>
      <p:sp>
        <p:nvSpPr>
          <p:cNvPr id="63" name="Panel"/>
          <p:cNvSpPr/>
          <p:nvPr/>
        </p:nvSpPr>
        <p:spPr>
          <a:xfrm>
            <a:off x="419100" y="6324600"/>
            <a:ext cx="9220200" cy="609600"/>
          </a:xfrm>
          <a:prstGeom prst="rect">
            <a:avLst/>
          </a:prstGeom>
          <a:solidFill>
            <a:srgbClr val="1B1A1A"/>
          </a:solidFill>
          <a:ln>
            <a:noFill/>
          </a:ln>
        </p:spPr>
        <p:txBody>
          <a:bodyPr rtlCol="0" anchor="ctr"/>
          <a:lstStyle/>
          <a:p>
            <a:pPr algn="ctr"/>
          </a:p>
        </p:txBody>
      </p:sp>
      <p:sp>
        <p:nvSpPr>
          <p:cNvPr id="64" name="TextBox 63"/>
          <p:cNvSpPr txBox="1"/>
          <p:nvPr/>
        </p:nvSpPr>
        <p:spPr>
          <a:xfrm>
            <a:off x="628650" y="6476810"/>
            <a:ext cx="1143000" cy="238125"/>
          </a:xfrm>
          <a:prstGeom prst="rect">
            <a:avLst/>
          </a:prstGeom>
          <a:noFill/>
        </p:spPr>
        <p:txBody>
          <a:bodyPr wrap="square" lIns="0" rIns="0" tIns="0" bIns="0" anchor="t">
            <a:noAutofit/>
          </a:bodyPr>
          <a:lstStyle/>
          <a:p>
            <a:pPr algn="l">
              <a:lnSpc>
                <a:spcPts val="1050"/>
              </a:lnSpc>
              <a:spcBef>
                <a:spcPts val="0"/>
              </a:spcBef>
              <a:spcAft>
                <a:spcPts val="0"/>
              </a:spcAft>
            </a:pPr>
            <a:r>
              <a:rPr sz="675" b="1" i="0" spc="180">
                <a:solidFill>
                  <a:srgbClr val="D3AE84"/>
                </a:solidFill>
                <a:latin typeface="Quicksand"/>
              </a:rPr>
              <a:t>WHAT IT MEANS</a:t>
            </a:r>
            <a:br/>
            <a:r>
              <a:rPr sz="675" b="1" i="0" spc="180">
                <a:solidFill>
                  <a:srgbClr val="D3AE84"/>
                </a:solidFill>
                <a:latin typeface="Quicksand"/>
              </a:rPr>
              <a:t>FOR OWNERS</a:t>
            </a:r>
          </a:p>
        </p:txBody>
      </p:sp>
      <p:sp>
        <p:nvSpPr>
          <p:cNvPr id="65" name="Panel"/>
          <p:cNvSpPr/>
          <p:nvPr/>
        </p:nvSpPr>
        <p:spPr>
          <a:xfrm>
            <a:off x="1885950" y="6438900"/>
            <a:ext cx="9525" cy="381000"/>
          </a:xfrm>
          <a:prstGeom prst="rect">
            <a:avLst/>
          </a:prstGeom>
          <a:solidFill>
            <a:srgbClr val="FFFFFF">
              <a:alpha val="20000"/>
            </a:srgbClr>
          </a:solidFill>
          <a:ln>
            <a:noFill/>
          </a:ln>
        </p:spPr>
        <p:txBody>
          <a:bodyPr rtlCol="0" anchor="ctr"/>
          <a:lstStyle/>
          <a:p>
            <a:pPr algn="ctr"/>
          </a:p>
        </p:txBody>
      </p:sp>
      <p:sp>
        <p:nvSpPr>
          <p:cNvPr id="66" name="TextBox 65"/>
          <p:cNvSpPr txBox="1"/>
          <p:nvPr/>
        </p:nvSpPr>
        <p:spPr>
          <a:xfrm>
            <a:off x="2085975" y="6319456"/>
            <a:ext cx="7419975" cy="495300"/>
          </a:xfrm>
          <a:prstGeom prst="rect">
            <a:avLst/>
          </a:prstGeom>
          <a:noFill/>
        </p:spPr>
        <p:txBody>
          <a:bodyPr wrap="square" lIns="0" rIns="0" tIns="0" bIns="0" anchor="t">
            <a:noAutofit/>
          </a:bodyPr>
          <a:lstStyle/>
          <a:p>
            <a:pPr algn="l">
              <a:lnSpc>
                <a:spcPts val="1425"/>
              </a:lnSpc>
              <a:spcBef>
                <a:spcPts val="0"/>
              </a:spcBef>
              <a:spcAft>
                <a:spcPts val="0"/>
              </a:spcAft>
            </a:pPr>
            <a:r>
              <a:rPr sz="1011" b="0" i="0">
                <a:solidFill>
                  <a:srgbClr val="FFFFFF"/>
                </a:solidFill>
                <a:latin typeface="Newsreader"/>
              </a:rPr>
              <a:t>Buyers pay most readily for contracted, recurring revenue and for capability that customers or regulators require. Completed middle-market transactions averaged 7.0x EBITDA in the second quarter (</a:t>
            </a:r>
            <a:r>
              <a:rPr sz="1011" b="0" i="0" u="sng">
                <a:solidFill>
                  <a:srgbClr val="D3AE84"/>
                </a:solidFill>
                <a:latin typeface="Newsreader"/>
                <a:hlinkClick r:id="rId10">
                  <a:extLst>
                    <a:ext uri="{A12FA001-AC4F-418D-AE19-62706E023703}">
                      <ahyp:hlinkClr xmlns:ahyp="http://schemas.microsoft.com/office/drawing/2018/hyperlinkcolor" val="tx"/>
                    </a:ext>
                  </a:extLst>
                </a:hlinkClick>
              </a:rPr>
              <a:t>GF Data via ACG</a:t>
            </a:r>
            <a:r>
              <a:rPr sz="1011" b="0" i="0">
                <a:solidFill>
                  <a:srgbClr val="FFFFFF"/>
                </a:solidFill>
                <a:latin typeface="Newsreader"/>
              </a:rPr>
              <a:t>), and 87% of sales above $5 million drew three or more offers (</a:t>
            </a:r>
            <a:r>
              <a:rPr sz="1011" b="0" i="0" u="sng">
                <a:solidFill>
                  <a:srgbClr val="D3AE84"/>
                </a:solidFill>
                <a:latin typeface="Newsreader"/>
                <a:hlinkClick r:id="rId21">
                  <a:extLst>
                    <a:ext uri="{A12FA001-AC4F-418D-AE19-62706E023703}">
                      <ahyp:hlinkClr xmlns:ahyp="http://schemas.microsoft.com/office/drawing/2018/hyperlinkcolor" val="tx"/>
                    </a:ext>
                  </a:extLst>
                </a:hlinkClick>
              </a:rPr>
              <a:t>IBBA and M&amp;A Source</a:t>
            </a:r>
            <a:r>
              <a:rPr sz="1011" b="0" i="0">
                <a:solidFill>
                  <a:srgbClr val="FFFFFF"/>
                </a:solidFill>
                <a:latin typeface="Newsreader"/>
              </a:rPr>
              <a:t>).</a:t>
            </a:r>
          </a:p>
        </p:txBody>
      </p:sp>
      <p:sp>
        <p:nvSpPr>
          <p:cNvPr id="67" name="Panel"/>
          <p:cNvSpPr/>
          <p:nvPr/>
        </p:nvSpPr>
        <p:spPr>
          <a:xfrm>
            <a:off x="419100" y="7029450"/>
            <a:ext cx="9220200" cy="9525"/>
          </a:xfrm>
          <a:prstGeom prst="rect">
            <a:avLst/>
          </a:prstGeom>
          <a:solidFill>
            <a:srgbClr val="E3DCD3"/>
          </a:solidFill>
          <a:ln>
            <a:noFill/>
          </a:ln>
        </p:spPr>
        <p:txBody>
          <a:bodyPr rtlCol="0" anchor="ctr"/>
          <a:lstStyle/>
          <a:p>
            <a:pPr algn="ctr"/>
          </a:p>
        </p:txBody>
      </p:sp>
      <p:pic>
        <p:nvPicPr>
          <p:cNvPr id="68" name="Graphic" descr="S03_r6.png"/>
          <p:cNvPicPr>
            <a:picLocks noChangeAspect="1"/>
          </p:cNvPicPr>
          <p:nvPr/>
        </p:nvPicPr>
        <p:blipFill>
          <a:blip r:embed="rId22"/>
          <a:stretch>
            <a:fillRect/>
          </a:stretch>
        </p:blipFill>
        <p:spPr>
          <a:xfrm>
            <a:off x="419100" y="7143750"/>
            <a:ext cx="914400" cy="171450"/>
          </a:xfrm>
          <a:prstGeom prst="rect">
            <a:avLst/>
          </a:prstGeom>
        </p:spPr>
      </p:pic>
      <p:sp>
        <p:nvSpPr>
          <p:cNvPr id="69" name="TextBox 68"/>
          <p:cNvSpPr txBox="1"/>
          <p:nvPr/>
        </p:nvSpPr>
        <p:spPr>
          <a:xfrm>
            <a:off x="1543050" y="7091172"/>
            <a:ext cx="7810500" cy="223838"/>
          </a:xfrm>
          <a:prstGeom prst="rect">
            <a:avLst/>
          </a:prstGeom>
          <a:noFill/>
        </p:spPr>
        <p:txBody>
          <a:bodyPr wrap="square" lIns="0" rIns="0" tIns="0" bIns="0" anchor="t">
            <a:noAutofit/>
          </a:bodyPr>
          <a:lstStyle/>
          <a:p>
            <a:pPr algn="l">
              <a:lnSpc>
                <a:spcPts val="938"/>
              </a:lnSpc>
              <a:spcBef>
                <a:spcPts val="0"/>
              </a:spcBef>
              <a:spcAft>
                <a:spcPts val="0"/>
              </a:spcAft>
            </a:pPr>
            <a:r>
              <a:rPr sz="675" b="0" i="0" spc="8">
                <a:solidFill>
                  <a:srgbClr val="6F6A66"/>
                </a:solidFill>
                <a:latin typeface="Quicksand"/>
              </a:rPr>
              <a:t>Figures are the latest published as of October 5, 2026 and each is linked to its source. EMS is electronics manufacturing services. CMMC is the Cybersecurity Maturity Model Certification for defense suppliers.</a:t>
            </a:r>
          </a:p>
        </p:txBody>
      </p:sp>
      <p:sp>
        <p:nvSpPr>
          <p:cNvPr id="70" name="TextBox 69"/>
          <p:cNvSpPr txBox="1"/>
          <p:nvPr/>
        </p:nvSpPr>
        <p:spPr>
          <a:xfrm>
            <a:off x="9497020" y="7149370"/>
            <a:ext cx="142280" cy="114300"/>
          </a:xfrm>
          <a:prstGeom prst="rect">
            <a:avLst/>
          </a:prstGeom>
          <a:noFill/>
        </p:spPr>
        <p:txBody>
          <a:bodyPr wrap="none" lIns="0" rIns="0" tIns="0" bIns="0" anchor="t">
            <a:noAutofit/>
          </a:bodyPr>
          <a:lstStyle/>
          <a:p>
            <a:pPr algn="r">
              <a:lnSpc>
                <a:spcPts val="1050"/>
              </a:lnSpc>
              <a:spcBef>
                <a:spcPts val="0"/>
              </a:spcBef>
              <a:spcAft>
                <a:spcPts val="0"/>
              </a:spcAft>
            </a:pPr>
            <a:r>
              <a:rPr sz="712" b="1" i="0" spc="150">
                <a:solidFill>
                  <a:srgbClr val="1B1A1A"/>
                </a:solidFill>
                <a:latin typeface="Quicksand"/>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3" name="Panel"/>
          <p:cNvSpPr/>
          <p:nvPr/>
        </p:nvSpPr>
        <p:spPr>
          <a:xfrm>
            <a:off x="0" y="0"/>
            <a:ext cx="10058400" cy="7772400"/>
          </a:xfrm>
          <a:prstGeom prst="rect">
            <a:avLst/>
          </a:prstGeom>
          <a:solidFill>
            <a:srgbClr val="FFFFFF"/>
          </a:solidFill>
          <a:ln>
            <a:noFill/>
          </a:ln>
        </p:spPr>
        <p:txBody>
          <a:bodyPr rtlCol="0" anchor="ctr"/>
          <a:lstStyle/>
          <a:p>
            <a:pPr algn="ctr"/>
          </a:p>
        </p:txBody>
      </p:sp>
      <p:sp>
        <p:nvSpPr>
          <p:cNvPr id="4" name="Panel"/>
          <p:cNvSpPr/>
          <p:nvPr/>
        </p:nvSpPr>
        <p:spPr>
          <a:xfrm>
            <a:off x="0" y="0"/>
            <a:ext cx="57150" cy="7772400"/>
          </a:xfrm>
          <a:prstGeom prst="rect">
            <a:avLst/>
          </a:prstGeom>
          <a:solidFill>
            <a:srgbClr val="B68757"/>
          </a:solidFill>
          <a:ln>
            <a:noFill/>
          </a:ln>
        </p:spPr>
        <p:txBody>
          <a:bodyPr rtlCol="0" anchor="ctr"/>
          <a:lstStyle/>
          <a:p>
            <a:pPr algn="ctr"/>
          </a:p>
        </p:txBody>
      </p:sp>
      <p:sp>
        <p:nvSpPr>
          <p:cNvPr id="5" name="TextBox 4"/>
          <p:cNvSpPr txBox="1"/>
          <p:nvPr/>
        </p:nvSpPr>
        <p:spPr>
          <a:xfrm>
            <a:off x="419100" y="361760"/>
            <a:ext cx="2764185" cy="104775"/>
          </a:xfrm>
          <a:prstGeom prst="rect">
            <a:avLst/>
          </a:prstGeom>
          <a:noFill/>
        </p:spPr>
        <p:txBody>
          <a:bodyPr wrap="none" lIns="0" rIns="0" tIns="0" bIns="0" anchor="t">
            <a:noAutofit/>
          </a:bodyPr>
          <a:lstStyle/>
          <a:p>
            <a:pPr algn="l">
              <a:lnSpc>
                <a:spcPts val="1050"/>
              </a:lnSpc>
              <a:spcBef>
                <a:spcPts val="0"/>
              </a:spcBef>
              <a:spcAft>
                <a:spcPts val="0"/>
              </a:spcAft>
            </a:pPr>
            <a:r>
              <a:rPr sz="675" b="1" i="0" spc="195">
                <a:solidFill>
                  <a:srgbClr val="8C6239"/>
                </a:solidFill>
                <a:latin typeface="Quicksand"/>
              </a:rPr>
              <a:t>TECHNOLOGY  |  QUARTERLY SECTOR BRIEF</a:t>
            </a:r>
          </a:p>
        </p:txBody>
      </p:sp>
      <p:sp>
        <p:nvSpPr>
          <p:cNvPr id="6" name="TextBox 5"/>
          <p:cNvSpPr txBox="1"/>
          <p:nvPr/>
        </p:nvSpPr>
        <p:spPr>
          <a:xfrm>
            <a:off x="9112597" y="350901"/>
            <a:ext cx="526703" cy="152400"/>
          </a:xfrm>
          <a:prstGeom prst="rect">
            <a:avLst/>
          </a:prstGeom>
          <a:noFill/>
        </p:spPr>
        <p:txBody>
          <a:bodyPr wrap="none" lIns="0" rIns="0" tIns="0" bIns="0" anchor="t">
            <a:noAutofit/>
          </a:bodyPr>
          <a:lstStyle/>
          <a:p>
            <a:pPr algn="r">
              <a:lnSpc>
                <a:spcPts val="1350"/>
              </a:lnSpc>
              <a:spcBef>
                <a:spcPts val="0"/>
              </a:spcBef>
              <a:spcAft>
                <a:spcPts val="0"/>
              </a:spcAft>
            </a:pPr>
            <a:r>
              <a:rPr sz="900" b="0" i="0" spc="90">
                <a:solidFill>
                  <a:srgbClr val="6F6A66"/>
                </a:solidFill>
                <a:latin typeface="Cinzel"/>
              </a:rPr>
              <a:t>Q4 2026</a:t>
            </a:r>
          </a:p>
        </p:txBody>
      </p:sp>
      <p:sp>
        <p:nvSpPr>
          <p:cNvPr id="2" name="Title 1"/>
          <p:cNvSpPr>
            <a:spLocks noGrp="1"/>
          </p:cNvSpPr>
          <p:nvPr>
            <p:ph type="title"/>
          </p:nvPr>
        </p:nvSpPr>
        <p:spPr>
          <a:xfrm>
            <a:off x="419100" y="475488"/>
            <a:ext cx="3673078" cy="257175"/>
          </a:xfrm>
        </p:spPr>
        <p:txBody>
          <a:bodyPr wrap="none" lIns="0" rIns="0" tIns="0" bIns="0" anchor="t">
            <a:noAutofit/>
          </a:bodyPr>
          <a:lstStyle/>
          <a:p>
            <a:pPr algn="l">
              <a:lnSpc>
                <a:spcPts val="2550"/>
              </a:lnSpc>
              <a:spcBef>
                <a:spcPts val="0"/>
              </a:spcBef>
              <a:spcAft>
                <a:spcPts val="0"/>
              </a:spcAft>
            </a:pPr>
            <a:r>
              <a:rPr sz="2000" b="1" i="0">
                <a:solidFill>
                  <a:srgbClr val="1B1A1A"/>
                </a:solidFill>
                <a:latin typeface="Newsreader"/>
              </a:rPr>
              <a:t>Perspectives on Six Focus Areas</a:t>
            </a:r>
          </a:p>
        </p:txBody>
      </p:sp>
      <p:sp>
        <p:nvSpPr>
          <p:cNvPr id="7" name="TextBox 6"/>
          <p:cNvSpPr txBox="1"/>
          <p:nvPr/>
        </p:nvSpPr>
        <p:spPr>
          <a:xfrm>
            <a:off x="419100" y="864394"/>
            <a:ext cx="7879110" cy="152400"/>
          </a:xfrm>
          <a:prstGeom prst="rect">
            <a:avLst/>
          </a:prstGeom>
          <a:noFill/>
        </p:spPr>
        <p:txBody>
          <a:bodyPr wrap="none" lIns="0" rIns="0" tIns="0" bIns="0" anchor="t">
            <a:noAutofit/>
          </a:bodyPr>
          <a:lstStyle/>
          <a:p>
            <a:pPr algn="l">
              <a:lnSpc>
                <a:spcPts val="1388"/>
              </a:lnSpc>
              <a:spcBef>
                <a:spcPts val="0"/>
              </a:spcBef>
              <a:spcAft>
                <a:spcPts val="0"/>
              </a:spcAft>
            </a:pPr>
            <a:r>
              <a:rPr sz="938" b="0" i="0" spc="15">
                <a:solidFill>
                  <a:srgbClr val="6F6A66"/>
                </a:solidFill>
                <a:latin typeface="Quicksand"/>
              </a:rPr>
              <a:t>Each focus area has its own buyers and drivers, and the listed companies shown are the reference set used for valuation later in this brief.</a:t>
            </a:r>
          </a:p>
        </p:txBody>
      </p:sp>
      <p:sp>
        <p:nvSpPr>
          <p:cNvPr id="8" name="Panel"/>
          <p:cNvSpPr/>
          <p:nvPr/>
        </p:nvSpPr>
        <p:spPr>
          <a:xfrm>
            <a:off x="419100" y="1143000"/>
            <a:ext cx="9220200" cy="9525"/>
          </a:xfrm>
          <a:prstGeom prst="rect">
            <a:avLst/>
          </a:prstGeom>
          <a:solidFill>
            <a:srgbClr val="E3DCD3"/>
          </a:solidFill>
          <a:ln>
            <a:noFill/>
          </a:ln>
        </p:spPr>
        <p:txBody>
          <a:bodyPr rtlCol="0" anchor="ctr"/>
          <a:lstStyle/>
          <a:p>
            <a:pPr algn="ctr"/>
          </a:p>
        </p:txBody>
      </p:sp>
      <p:sp>
        <p:nvSpPr>
          <p:cNvPr id="9" name="Panel"/>
          <p:cNvSpPr/>
          <p:nvPr/>
        </p:nvSpPr>
        <p:spPr>
          <a:xfrm>
            <a:off x="423862" y="1243012"/>
            <a:ext cx="2962275" cy="2762250"/>
          </a:xfrm>
          <a:prstGeom prst="rect">
            <a:avLst/>
          </a:prstGeom>
          <a:solidFill>
            <a:srgbClr val="FFFFFF"/>
          </a:solidFill>
          <a:ln w="9525">
            <a:solidFill>
              <a:srgbClr val="E3DCD3"/>
            </a:solidFill>
          </a:ln>
        </p:spPr>
        <p:txBody>
          <a:bodyPr rtlCol="0" anchor="ctr"/>
          <a:lstStyle/>
          <a:p>
            <a:pPr algn="ctr"/>
          </a:p>
        </p:txBody>
      </p:sp>
      <p:sp>
        <p:nvSpPr>
          <p:cNvPr id="10" name="Panel"/>
          <p:cNvSpPr/>
          <p:nvPr/>
        </p:nvSpPr>
        <p:spPr>
          <a:xfrm>
            <a:off x="428625" y="1247775"/>
            <a:ext cx="2952750" cy="438150"/>
          </a:xfrm>
          <a:prstGeom prst="rect">
            <a:avLst/>
          </a:prstGeom>
          <a:solidFill>
            <a:srgbClr val="1B1A1A"/>
          </a:solidFill>
          <a:ln>
            <a:noFill/>
          </a:ln>
        </p:spPr>
        <p:txBody>
          <a:bodyPr rtlCol="0" anchor="ctr"/>
          <a:lstStyle/>
          <a:p>
            <a:pPr algn="ctr"/>
          </a:p>
        </p:txBody>
      </p:sp>
      <p:pic>
        <p:nvPicPr>
          <p:cNvPr id="11" name="Graphic" descr="S04_r0.png"/>
          <p:cNvPicPr>
            <a:picLocks noChangeAspect="1"/>
          </p:cNvPicPr>
          <p:nvPr/>
        </p:nvPicPr>
        <p:blipFill>
          <a:blip r:embed="rId2"/>
          <a:stretch>
            <a:fillRect/>
          </a:stretch>
        </p:blipFill>
        <p:spPr>
          <a:xfrm>
            <a:off x="561975" y="1333500"/>
            <a:ext cx="266700" cy="266700"/>
          </a:xfrm>
          <a:prstGeom prst="rect">
            <a:avLst/>
          </a:prstGeom>
        </p:spPr>
      </p:pic>
      <p:sp>
        <p:nvSpPr>
          <p:cNvPr id="12" name="TextBox 11"/>
          <p:cNvSpPr txBox="1"/>
          <p:nvPr/>
        </p:nvSpPr>
        <p:spPr>
          <a:xfrm>
            <a:off x="933450" y="1388840"/>
            <a:ext cx="2069157" cy="133350"/>
          </a:xfrm>
          <a:prstGeom prst="rect">
            <a:avLst/>
          </a:prstGeom>
          <a:noFill/>
        </p:spPr>
        <p:txBody>
          <a:bodyPr wrap="none" lIns="0" rIns="0" tIns="0" bIns="0" anchor="t">
            <a:noAutofit/>
          </a:bodyPr>
          <a:lstStyle/>
          <a:p>
            <a:pPr algn="l">
              <a:lnSpc>
                <a:spcPts val="1050"/>
              </a:lnSpc>
              <a:spcBef>
                <a:spcPts val="0"/>
              </a:spcBef>
              <a:spcAft>
                <a:spcPts val="0"/>
              </a:spcAft>
            </a:pPr>
            <a:r>
              <a:rPr sz="788" b="1" i="0" spc="135">
                <a:solidFill>
                  <a:srgbClr val="FFFFFF"/>
                </a:solidFill>
                <a:latin typeface="Quicksand"/>
              </a:rPr>
              <a:t>MANAGED IT &amp; CLOUD SERVICES</a:t>
            </a:r>
          </a:p>
        </p:txBody>
      </p:sp>
      <p:sp>
        <p:nvSpPr>
          <p:cNvPr id="13" name="TextBox 12"/>
          <p:cNvSpPr txBox="1"/>
          <p:nvPr/>
        </p:nvSpPr>
        <p:spPr>
          <a:xfrm>
            <a:off x="571500" y="1784794"/>
            <a:ext cx="2743200" cy="552450"/>
          </a:xfrm>
          <a:prstGeom prst="rect">
            <a:avLst/>
          </a:prstGeom>
          <a:noFill/>
        </p:spPr>
        <p:txBody>
          <a:bodyPr wrap="square" lIns="0" rIns="0" tIns="0" bIns="0" anchor="t">
            <a:noAutofit/>
          </a:bodyPr>
          <a:lstStyle/>
          <a:p>
            <a:pPr algn="l">
              <a:lnSpc>
                <a:spcPts val="1612"/>
              </a:lnSpc>
              <a:spcBef>
                <a:spcPts val="0"/>
              </a:spcBef>
              <a:spcAft>
                <a:spcPts val="0"/>
              </a:spcAft>
            </a:pPr>
            <a:r>
              <a:rPr sz="1162" b="0" i="1">
                <a:solidFill>
                  <a:srgbClr val="1B1A1A"/>
                </a:solidFill>
                <a:latin typeface="Newsreader"/>
              </a:rPr>
              <a:t>Consolidators are buying recurring revenue and the strongest providers are earning record margins.</a:t>
            </a:r>
          </a:p>
        </p:txBody>
      </p:sp>
      <p:sp>
        <p:nvSpPr>
          <p:cNvPr id="14" name="TextBox 13"/>
          <p:cNvSpPr txBox="1"/>
          <p:nvPr/>
        </p:nvSpPr>
        <p:spPr>
          <a:xfrm>
            <a:off x="571500" y="2504884"/>
            <a:ext cx="947291" cy="104775"/>
          </a:xfrm>
          <a:prstGeom prst="rect">
            <a:avLst/>
          </a:prstGeom>
          <a:noFill/>
        </p:spPr>
        <p:txBody>
          <a:bodyPr wrap="none" lIns="0" rIns="0" tIns="0" bIns="0" anchor="t">
            <a:noAutofit/>
          </a:bodyPr>
          <a:lstStyle/>
          <a:p>
            <a:pPr algn="l">
              <a:lnSpc>
                <a:spcPts val="975"/>
              </a:lnSpc>
              <a:spcBef>
                <a:spcPts val="0"/>
              </a:spcBef>
              <a:spcAft>
                <a:spcPts val="0"/>
              </a:spcAft>
            </a:pPr>
            <a:r>
              <a:rPr sz="675" b="1" i="0" spc="150">
                <a:solidFill>
                  <a:srgbClr val="8C6239"/>
                </a:solidFill>
                <a:latin typeface="Quicksand"/>
              </a:rPr>
              <a:t>ACTIVE BUYERS</a:t>
            </a:r>
          </a:p>
        </p:txBody>
      </p:sp>
      <p:sp>
        <p:nvSpPr>
          <p:cNvPr id="15" name="TextBox 14"/>
          <p:cNvSpPr txBox="1"/>
          <p:nvPr/>
        </p:nvSpPr>
        <p:spPr>
          <a:xfrm>
            <a:off x="571500" y="2656713"/>
            <a:ext cx="2743200" cy="447675"/>
          </a:xfrm>
          <a:prstGeom prst="rect">
            <a:avLst/>
          </a:prstGeom>
          <a:noFill/>
        </p:spPr>
        <p:txBody>
          <a:bodyPr wrap="square" lIns="0" rIns="0" tIns="0" bIns="0" anchor="t">
            <a:noAutofit/>
          </a:bodyPr>
          <a:lstStyle/>
          <a:p>
            <a:pPr algn="l">
              <a:lnSpc>
                <a:spcPts val="1238"/>
              </a:lnSpc>
              <a:spcBef>
                <a:spcPts val="0"/>
              </a:spcBef>
              <a:spcAft>
                <a:spcPts val="0"/>
              </a:spcAft>
            </a:pPr>
            <a:r>
              <a:rPr sz="825" b="0" i="0" spc="15">
                <a:solidFill>
                  <a:srgbClr val="333231"/>
                </a:solidFill>
                <a:latin typeface="Quicksand"/>
              </a:rPr>
              <a:t>Evergreen Services Group, The 20 MSP, Integris, Thrive, CompassMSP and Magna5; ePlus and Cognizant among public buyers</a:t>
            </a:r>
          </a:p>
        </p:txBody>
      </p:sp>
      <p:sp>
        <p:nvSpPr>
          <p:cNvPr id="16" name="Rule"/>
          <p:cNvSpPr/>
          <p:nvPr/>
        </p:nvSpPr>
        <p:spPr>
          <a:xfrm>
            <a:off x="571500" y="3362325"/>
            <a:ext cx="2667000" cy="9525"/>
          </a:xfrm>
          <a:prstGeom prst="rect">
            <a:avLst/>
          </a:prstGeom>
          <a:solidFill>
            <a:srgbClr val="E3DCD3"/>
          </a:solidFill>
          <a:ln>
            <a:noFill/>
          </a:ln>
        </p:spPr>
        <p:txBody>
          <a:bodyPr rtlCol="0" anchor="ctr"/>
          <a:lstStyle/>
          <a:p>
            <a:pPr algn="ctr"/>
          </a:p>
        </p:txBody>
      </p:sp>
      <p:sp>
        <p:nvSpPr>
          <p:cNvPr id="17" name="TextBox 16"/>
          <p:cNvSpPr txBox="1"/>
          <p:nvPr/>
        </p:nvSpPr>
        <p:spPr>
          <a:xfrm>
            <a:off x="571500" y="3451574"/>
            <a:ext cx="1773436" cy="104775"/>
          </a:xfrm>
          <a:prstGeom prst="rect">
            <a:avLst/>
          </a:prstGeom>
          <a:noFill/>
        </p:spPr>
        <p:txBody>
          <a:bodyPr wrap="none" lIns="0" rIns="0" tIns="0" bIns="0" anchor="t">
            <a:noAutofit/>
          </a:bodyPr>
          <a:lstStyle/>
          <a:p>
            <a:pPr algn="l">
              <a:lnSpc>
                <a:spcPts val="975"/>
              </a:lnSpc>
              <a:spcBef>
                <a:spcPts val="0"/>
              </a:spcBef>
              <a:spcAft>
                <a:spcPts val="0"/>
              </a:spcAft>
            </a:pPr>
            <a:r>
              <a:rPr sz="638" b="1" i="0" spc="150">
                <a:solidFill>
                  <a:srgbClr val="6F6A66"/>
                </a:solidFill>
                <a:latin typeface="Quicksand"/>
              </a:rPr>
              <a:t>LISTED REFERENCE COMPANIES</a:t>
            </a:r>
          </a:p>
        </p:txBody>
      </p:sp>
      <p:pic>
        <p:nvPicPr>
          <p:cNvPr id="18" name="CDW" descr="CDW"/>
          <p:cNvPicPr>
            <a:picLocks noChangeAspect="1"/>
          </p:cNvPicPr>
          <p:nvPr/>
        </p:nvPicPr>
        <p:blipFill>
          <a:blip r:embed="rId3"/>
          <a:stretch>
            <a:fillRect/>
          </a:stretch>
        </p:blipFill>
        <p:spPr>
          <a:xfrm>
            <a:off x="571500" y="3648075"/>
            <a:ext cx="238125" cy="238125"/>
          </a:xfrm>
          <a:prstGeom prst="rect">
            <a:avLst/>
          </a:prstGeom>
        </p:spPr>
      </p:pic>
      <p:pic>
        <p:nvPicPr>
          <p:cNvPr id="19" name="Insight Enterprises" descr="Insight Enterprises"/>
          <p:cNvPicPr>
            <a:picLocks noChangeAspect="1"/>
          </p:cNvPicPr>
          <p:nvPr/>
        </p:nvPicPr>
        <p:blipFill>
          <a:blip r:embed="rId4"/>
          <a:stretch>
            <a:fillRect/>
          </a:stretch>
        </p:blipFill>
        <p:spPr>
          <a:xfrm>
            <a:off x="857250" y="3648075"/>
            <a:ext cx="238125" cy="238125"/>
          </a:xfrm>
          <a:prstGeom prst="rect">
            <a:avLst/>
          </a:prstGeom>
        </p:spPr>
      </p:pic>
      <p:pic>
        <p:nvPicPr>
          <p:cNvPr id="20" name="ePlus" descr="ePlus"/>
          <p:cNvPicPr>
            <a:picLocks noChangeAspect="1"/>
          </p:cNvPicPr>
          <p:nvPr/>
        </p:nvPicPr>
        <p:blipFill>
          <a:blip r:embed="rId5"/>
          <a:stretch>
            <a:fillRect/>
          </a:stretch>
        </p:blipFill>
        <p:spPr>
          <a:xfrm>
            <a:off x="1143000" y="3648075"/>
            <a:ext cx="238125" cy="238125"/>
          </a:xfrm>
          <a:prstGeom prst="rect">
            <a:avLst/>
          </a:prstGeom>
        </p:spPr>
      </p:pic>
      <p:pic>
        <p:nvPicPr>
          <p:cNvPr id="21" name="PC Connection" descr="PC Connection"/>
          <p:cNvPicPr>
            <a:picLocks noChangeAspect="1"/>
          </p:cNvPicPr>
          <p:nvPr/>
        </p:nvPicPr>
        <p:blipFill>
          <a:blip r:embed="rId6"/>
          <a:stretch>
            <a:fillRect/>
          </a:stretch>
        </p:blipFill>
        <p:spPr>
          <a:xfrm>
            <a:off x="1428750" y="3648075"/>
            <a:ext cx="238125" cy="238125"/>
          </a:xfrm>
          <a:prstGeom prst="rect">
            <a:avLst/>
          </a:prstGeom>
        </p:spPr>
      </p:pic>
      <p:pic>
        <p:nvPicPr>
          <p:cNvPr id="22" name="Kyndryl" descr="Kyndryl"/>
          <p:cNvPicPr>
            <a:picLocks noChangeAspect="1"/>
          </p:cNvPicPr>
          <p:nvPr/>
        </p:nvPicPr>
        <p:blipFill>
          <a:blip r:embed="rId7"/>
          <a:stretch>
            <a:fillRect/>
          </a:stretch>
        </p:blipFill>
        <p:spPr>
          <a:xfrm>
            <a:off x="1714500" y="3648075"/>
            <a:ext cx="238125" cy="238125"/>
          </a:xfrm>
          <a:prstGeom prst="rect">
            <a:avLst/>
          </a:prstGeom>
        </p:spPr>
      </p:pic>
      <p:pic>
        <p:nvPicPr>
          <p:cNvPr id="23" name="DXC Technology" descr="DXC Technology"/>
          <p:cNvPicPr>
            <a:picLocks noChangeAspect="1"/>
          </p:cNvPicPr>
          <p:nvPr/>
        </p:nvPicPr>
        <p:blipFill>
          <a:blip r:embed="rId8"/>
          <a:stretch>
            <a:fillRect/>
          </a:stretch>
        </p:blipFill>
        <p:spPr>
          <a:xfrm>
            <a:off x="2000250" y="3648075"/>
            <a:ext cx="238125" cy="238125"/>
          </a:xfrm>
          <a:prstGeom prst="rect">
            <a:avLst/>
          </a:prstGeom>
        </p:spPr>
      </p:pic>
      <p:pic>
        <p:nvPicPr>
          <p:cNvPr id="24" name="Accenture" descr="Accenture"/>
          <p:cNvPicPr>
            <a:picLocks noChangeAspect="1"/>
          </p:cNvPicPr>
          <p:nvPr/>
        </p:nvPicPr>
        <p:blipFill>
          <a:blip r:embed="rId9"/>
          <a:stretch>
            <a:fillRect/>
          </a:stretch>
        </p:blipFill>
        <p:spPr>
          <a:xfrm>
            <a:off x="2286000" y="3648075"/>
            <a:ext cx="238125" cy="238125"/>
          </a:xfrm>
          <a:prstGeom prst="rect">
            <a:avLst/>
          </a:prstGeom>
        </p:spPr>
      </p:pic>
      <p:pic>
        <p:nvPicPr>
          <p:cNvPr id="25" name="Cognizant" descr="Cognizant"/>
          <p:cNvPicPr>
            <a:picLocks noChangeAspect="1"/>
          </p:cNvPicPr>
          <p:nvPr/>
        </p:nvPicPr>
        <p:blipFill>
          <a:blip r:embed="rId10"/>
          <a:stretch>
            <a:fillRect/>
          </a:stretch>
        </p:blipFill>
        <p:spPr>
          <a:xfrm>
            <a:off x="2571750" y="3648075"/>
            <a:ext cx="238125" cy="238125"/>
          </a:xfrm>
          <a:prstGeom prst="rect">
            <a:avLst/>
          </a:prstGeom>
        </p:spPr>
      </p:pic>
      <p:pic>
        <p:nvPicPr>
          <p:cNvPr id="26" name="EPAM Systems" descr="EPAM Systems"/>
          <p:cNvPicPr>
            <a:picLocks noChangeAspect="1"/>
          </p:cNvPicPr>
          <p:nvPr/>
        </p:nvPicPr>
        <p:blipFill>
          <a:blip r:embed="rId11"/>
          <a:stretch>
            <a:fillRect/>
          </a:stretch>
        </p:blipFill>
        <p:spPr>
          <a:xfrm>
            <a:off x="2857500" y="3648075"/>
            <a:ext cx="238125" cy="238125"/>
          </a:xfrm>
          <a:prstGeom prst="rect">
            <a:avLst/>
          </a:prstGeom>
        </p:spPr>
      </p:pic>
      <p:sp>
        <p:nvSpPr>
          <p:cNvPr id="27" name="Panel"/>
          <p:cNvSpPr/>
          <p:nvPr/>
        </p:nvSpPr>
        <p:spPr>
          <a:xfrm>
            <a:off x="3548062" y="1243012"/>
            <a:ext cx="2962275" cy="2762250"/>
          </a:xfrm>
          <a:prstGeom prst="rect">
            <a:avLst/>
          </a:prstGeom>
          <a:solidFill>
            <a:srgbClr val="FFFFFF"/>
          </a:solidFill>
          <a:ln w="9525">
            <a:solidFill>
              <a:srgbClr val="E3DCD3"/>
            </a:solidFill>
          </a:ln>
        </p:spPr>
        <p:txBody>
          <a:bodyPr rtlCol="0" anchor="ctr"/>
          <a:lstStyle/>
          <a:p>
            <a:pPr algn="ctr"/>
          </a:p>
        </p:txBody>
      </p:sp>
      <p:sp>
        <p:nvSpPr>
          <p:cNvPr id="28" name="Panel"/>
          <p:cNvSpPr/>
          <p:nvPr/>
        </p:nvSpPr>
        <p:spPr>
          <a:xfrm>
            <a:off x="3552825" y="1247775"/>
            <a:ext cx="2952750" cy="438150"/>
          </a:xfrm>
          <a:prstGeom prst="rect">
            <a:avLst/>
          </a:prstGeom>
          <a:solidFill>
            <a:srgbClr val="1B1A1A"/>
          </a:solidFill>
          <a:ln>
            <a:noFill/>
          </a:ln>
        </p:spPr>
        <p:txBody>
          <a:bodyPr rtlCol="0" anchor="ctr"/>
          <a:lstStyle/>
          <a:p>
            <a:pPr algn="ctr"/>
          </a:p>
        </p:txBody>
      </p:sp>
      <p:pic>
        <p:nvPicPr>
          <p:cNvPr id="29" name="Graphic" descr="S04_r10.png"/>
          <p:cNvPicPr>
            <a:picLocks noChangeAspect="1"/>
          </p:cNvPicPr>
          <p:nvPr/>
        </p:nvPicPr>
        <p:blipFill>
          <a:blip r:embed="rId12"/>
          <a:stretch>
            <a:fillRect/>
          </a:stretch>
        </p:blipFill>
        <p:spPr>
          <a:xfrm>
            <a:off x="3686175" y="1333500"/>
            <a:ext cx="266700" cy="266700"/>
          </a:xfrm>
          <a:prstGeom prst="rect">
            <a:avLst/>
          </a:prstGeom>
        </p:spPr>
      </p:pic>
      <p:sp>
        <p:nvSpPr>
          <p:cNvPr id="30" name="TextBox 29"/>
          <p:cNvSpPr txBox="1"/>
          <p:nvPr/>
        </p:nvSpPr>
        <p:spPr>
          <a:xfrm>
            <a:off x="4057650" y="1388840"/>
            <a:ext cx="1063377" cy="133350"/>
          </a:xfrm>
          <a:prstGeom prst="rect">
            <a:avLst/>
          </a:prstGeom>
          <a:noFill/>
        </p:spPr>
        <p:txBody>
          <a:bodyPr wrap="none" lIns="0" rIns="0" tIns="0" bIns="0" anchor="t">
            <a:noAutofit/>
          </a:bodyPr>
          <a:lstStyle/>
          <a:p>
            <a:pPr algn="l">
              <a:lnSpc>
                <a:spcPts val="1050"/>
              </a:lnSpc>
              <a:spcBef>
                <a:spcPts val="0"/>
              </a:spcBef>
              <a:spcAft>
                <a:spcPts val="0"/>
              </a:spcAft>
            </a:pPr>
            <a:r>
              <a:rPr sz="788" b="1" i="0" spc="135">
                <a:solidFill>
                  <a:srgbClr val="FFFFFF"/>
                </a:solidFill>
                <a:latin typeface="Quicksand"/>
              </a:rPr>
              <a:t>CYBERSECURITY</a:t>
            </a:r>
          </a:p>
        </p:txBody>
      </p:sp>
      <p:sp>
        <p:nvSpPr>
          <p:cNvPr id="31" name="TextBox 30"/>
          <p:cNvSpPr txBox="1"/>
          <p:nvPr/>
        </p:nvSpPr>
        <p:spPr>
          <a:xfrm>
            <a:off x="3695700" y="1784794"/>
            <a:ext cx="2743200" cy="347662"/>
          </a:xfrm>
          <a:prstGeom prst="rect">
            <a:avLst/>
          </a:prstGeom>
          <a:noFill/>
        </p:spPr>
        <p:txBody>
          <a:bodyPr wrap="square" lIns="0" rIns="0" tIns="0" bIns="0" anchor="t">
            <a:noAutofit/>
          </a:bodyPr>
          <a:lstStyle/>
          <a:p>
            <a:pPr algn="l">
              <a:lnSpc>
                <a:spcPts val="1612"/>
              </a:lnSpc>
              <a:spcBef>
                <a:spcPts val="0"/>
              </a:spcBef>
              <a:spcAft>
                <a:spcPts val="0"/>
              </a:spcAft>
            </a:pPr>
            <a:r>
              <a:rPr sz="1162" b="0" i="1">
                <a:solidFill>
                  <a:srgbClr val="1B1A1A"/>
                </a:solidFill>
                <a:latin typeface="Newsreader"/>
              </a:rPr>
              <a:t>Losses and staffing shortages are moving security budgets to outside providers.</a:t>
            </a:r>
          </a:p>
        </p:txBody>
      </p:sp>
      <p:sp>
        <p:nvSpPr>
          <p:cNvPr id="32" name="TextBox 31"/>
          <p:cNvSpPr txBox="1"/>
          <p:nvPr/>
        </p:nvSpPr>
        <p:spPr>
          <a:xfrm>
            <a:off x="3695700" y="2504884"/>
            <a:ext cx="947291" cy="104775"/>
          </a:xfrm>
          <a:prstGeom prst="rect">
            <a:avLst/>
          </a:prstGeom>
          <a:noFill/>
        </p:spPr>
        <p:txBody>
          <a:bodyPr wrap="none" lIns="0" rIns="0" tIns="0" bIns="0" anchor="t">
            <a:noAutofit/>
          </a:bodyPr>
          <a:lstStyle/>
          <a:p>
            <a:pPr algn="l">
              <a:lnSpc>
                <a:spcPts val="975"/>
              </a:lnSpc>
              <a:spcBef>
                <a:spcPts val="0"/>
              </a:spcBef>
              <a:spcAft>
                <a:spcPts val="0"/>
              </a:spcAft>
            </a:pPr>
            <a:r>
              <a:rPr sz="675" b="1" i="0" spc="150">
                <a:solidFill>
                  <a:srgbClr val="8C6239"/>
                </a:solidFill>
                <a:latin typeface="Quicksand"/>
              </a:rPr>
              <a:t>ACTIVE BUYERS</a:t>
            </a:r>
          </a:p>
        </p:txBody>
      </p:sp>
      <p:sp>
        <p:nvSpPr>
          <p:cNvPr id="33" name="TextBox 32"/>
          <p:cNvSpPr txBox="1"/>
          <p:nvPr/>
        </p:nvSpPr>
        <p:spPr>
          <a:xfrm>
            <a:off x="3695700" y="2656713"/>
            <a:ext cx="2743200" cy="447675"/>
          </a:xfrm>
          <a:prstGeom prst="rect">
            <a:avLst/>
          </a:prstGeom>
          <a:noFill/>
        </p:spPr>
        <p:txBody>
          <a:bodyPr wrap="square" lIns="0" rIns="0" tIns="0" bIns="0" anchor="t">
            <a:noAutofit/>
          </a:bodyPr>
          <a:lstStyle/>
          <a:p>
            <a:pPr algn="l">
              <a:lnSpc>
                <a:spcPts val="1238"/>
              </a:lnSpc>
              <a:spcBef>
                <a:spcPts val="0"/>
              </a:spcBef>
              <a:spcAft>
                <a:spcPts val="0"/>
              </a:spcAft>
            </a:pPr>
            <a:r>
              <a:rPr sz="825" b="0" i="0" spc="15">
                <a:solidFill>
                  <a:srgbClr val="333231"/>
                </a:solidFill>
                <a:latin typeface="Quicksand"/>
              </a:rPr>
              <a:t>LevelBlue, CyberMaxx, A-LIGN and Accenture in services; Palo Alto Networks, Google and ServiceNow in software</a:t>
            </a:r>
          </a:p>
        </p:txBody>
      </p:sp>
      <p:sp>
        <p:nvSpPr>
          <p:cNvPr id="34" name="Rule"/>
          <p:cNvSpPr/>
          <p:nvPr/>
        </p:nvSpPr>
        <p:spPr>
          <a:xfrm>
            <a:off x="3695700" y="3362325"/>
            <a:ext cx="2667000" cy="9525"/>
          </a:xfrm>
          <a:prstGeom prst="rect">
            <a:avLst/>
          </a:prstGeom>
          <a:solidFill>
            <a:srgbClr val="E3DCD3"/>
          </a:solidFill>
          <a:ln>
            <a:noFill/>
          </a:ln>
        </p:spPr>
        <p:txBody>
          <a:bodyPr rtlCol="0" anchor="ctr"/>
          <a:lstStyle/>
          <a:p>
            <a:pPr algn="ctr"/>
          </a:p>
        </p:txBody>
      </p:sp>
      <p:sp>
        <p:nvSpPr>
          <p:cNvPr id="35" name="TextBox 34"/>
          <p:cNvSpPr txBox="1"/>
          <p:nvPr/>
        </p:nvSpPr>
        <p:spPr>
          <a:xfrm>
            <a:off x="3695700" y="3451574"/>
            <a:ext cx="1773436" cy="104775"/>
          </a:xfrm>
          <a:prstGeom prst="rect">
            <a:avLst/>
          </a:prstGeom>
          <a:noFill/>
        </p:spPr>
        <p:txBody>
          <a:bodyPr wrap="none" lIns="0" rIns="0" tIns="0" bIns="0" anchor="t">
            <a:noAutofit/>
          </a:bodyPr>
          <a:lstStyle/>
          <a:p>
            <a:pPr algn="l">
              <a:lnSpc>
                <a:spcPts val="975"/>
              </a:lnSpc>
              <a:spcBef>
                <a:spcPts val="0"/>
              </a:spcBef>
              <a:spcAft>
                <a:spcPts val="0"/>
              </a:spcAft>
            </a:pPr>
            <a:r>
              <a:rPr sz="638" b="1" i="0" spc="150">
                <a:solidFill>
                  <a:srgbClr val="6F6A66"/>
                </a:solidFill>
                <a:latin typeface="Quicksand"/>
              </a:rPr>
              <a:t>LISTED REFERENCE COMPANIES</a:t>
            </a:r>
          </a:p>
        </p:txBody>
      </p:sp>
      <p:pic>
        <p:nvPicPr>
          <p:cNvPr id="36" name="CrowdStrike" descr="CrowdStrike"/>
          <p:cNvPicPr>
            <a:picLocks noChangeAspect="1"/>
          </p:cNvPicPr>
          <p:nvPr/>
        </p:nvPicPr>
        <p:blipFill>
          <a:blip r:embed="rId13"/>
          <a:stretch>
            <a:fillRect/>
          </a:stretch>
        </p:blipFill>
        <p:spPr>
          <a:xfrm>
            <a:off x="3695700" y="3648075"/>
            <a:ext cx="238125" cy="238125"/>
          </a:xfrm>
          <a:prstGeom prst="rect">
            <a:avLst/>
          </a:prstGeom>
        </p:spPr>
      </p:pic>
      <p:pic>
        <p:nvPicPr>
          <p:cNvPr id="37" name="Palo Alto Networks" descr="Palo Alto Networks"/>
          <p:cNvPicPr>
            <a:picLocks noChangeAspect="1"/>
          </p:cNvPicPr>
          <p:nvPr/>
        </p:nvPicPr>
        <p:blipFill>
          <a:blip r:embed="rId14"/>
          <a:stretch>
            <a:fillRect/>
          </a:stretch>
        </p:blipFill>
        <p:spPr>
          <a:xfrm>
            <a:off x="3981450" y="3648075"/>
            <a:ext cx="238125" cy="238125"/>
          </a:xfrm>
          <a:prstGeom prst="rect">
            <a:avLst/>
          </a:prstGeom>
        </p:spPr>
      </p:pic>
      <p:pic>
        <p:nvPicPr>
          <p:cNvPr id="38" name="Fortinet" descr="Fortinet"/>
          <p:cNvPicPr>
            <a:picLocks noChangeAspect="1"/>
          </p:cNvPicPr>
          <p:nvPr/>
        </p:nvPicPr>
        <p:blipFill>
          <a:blip r:embed="rId15"/>
          <a:stretch>
            <a:fillRect/>
          </a:stretch>
        </p:blipFill>
        <p:spPr>
          <a:xfrm>
            <a:off x="4267200" y="3648075"/>
            <a:ext cx="238125" cy="238125"/>
          </a:xfrm>
          <a:prstGeom prst="rect">
            <a:avLst/>
          </a:prstGeom>
        </p:spPr>
      </p:pic>
      <p:pic>
        <p:nvPicPr>
          <p:cNvPr id="39" name="Zscaler" descr="Zscaler"/>
          <p:cNvPicPr>
            <a:picLocks noChangeAspect="1"/>
          </p:cNvPicPr>
          <p:nvPr/>
        </p:nvPicPr>
        <p:blipFill>
          <a:blip r:embed="rId16"/>
          <a:stretch>
            <a:fillRect/>
          </a:stretch>
        </p:blipFill>
        <p:spPr>
          <a:xfrm>
            <a:off x="4552950" y="3648075"/>
            <a:ext cx="238125" cy="238125"/>
          </a:xfrm>
          <a:prstGeom prst="rect">
            <a:avLst/>
          </a:prstGeom>
        </p:spPr>
      </p:pic>
      <p:pic>
        <p:nvPicPr>
          <p:cNvPr id="40" name="Okta" descr="Okta"/>
          <p:cNvPicPr>
            <a:picLocks noChangeAspect="1"/>
          </p:cNvPicPr>
          <p:nvPr/>
        </p:nvPicPr>
        <p:blipFill>
          <a:blip r:embed="rId17"/>
          <a:stretch>
            <a:fillRect/>
          </a:stretch>
        </p:blipFill>
        <p:spPr>
          <a:xfrm>
            <a:off x="4838700" y="3648075"/>
            <a:ext cx="238125" cy="238125"/>
          </a:xfrm>
          <a:prstGeom prst="rect">
            <a:avLst/>
          </a:prstGeom>
        </p:spPr>
      </p:pic>
      <p:pic>
        <p:nvPicPr>
          <p:cNvPr id="41" name="Tenable" descr="Tenable"/>
          <p:cNvPicPr>
            <a:picLocks noChangeAspect="1"/>
          </p:cNvPicPr>
          <p:nvPr/>
        </p:nvPicPr>
        <p:blipFill>
          <a:blip r:embed="rId18"/>
          <a:stretch>
            <a:fillRect/>
          </a:stretch>
        </p:blipFill>
        <p:spPr>
          <a:xfrm>
            <a:off x="5124450" y="3648075"/>
            <a:ext cx="238125" cy="238125"/>
          </a:xfrm>
          <a:prstGeom prst="rect">
            <a:avLst/>
          </a:prstGeom>
        </p:spPr>
      </p:pic>
      <p:pic>
        <p:nvPicPr>
          <p:cNvPr id="42" name="Qualys" descr="Qualys"/>
          <p:cNvPicPr>
            <a:picLocks noChangeAspect="1"/>
          </p:cNvPicPr>
          <p:nvPr/>
        </p:nvPicPr>
        <p:blipFill>
          <a:blip r:embed="rId19"/>
          <a:stretch>
            <a:fillRect/>
          </a:stretch>
        </p:blipFill>
        <p:spPr>
          <a:xfrm>
            <a:off x="5410200" y="3648075"/>
            <a:ext cx="238125" cy="238125"/>
          </a:xfrm>
          <a:prstGeom prst="rect">
            <a:avLst/>
          </a:prstGeom>
        </p:spPr>
      </p:pic>
      <p:pic>
        <p:nvPicPr>
          <p:cNvPr id="43" name="Check Point" descr="Check Point"/>
          <p:cNvPicPr>
            <a:picLocks noChangeAspect="1"/>
          </p:cNvPicPr>
          <p:nvPr/>
        </p:nvPicPr>
        <p:blipFill>
          <a:blip r:embed="rId20"/>
          <a:stretch>
            <a:fillRect/>
          </a:stretch>
        </p:blipFill>
        <p:spPr>
          <a:xfrm>
            <a:off x="5695950" y="3648075"/>
            <a:ext cx="238125" cy="238125"/>
          </a:xfrm>
          <a:prstGeom prst="rect">
            <a:avLst/>
          </a:prstGeom>
        </p:spPr>
      </p:pic>
      <p:sp>
        <p:nvSpPr>
          <p:cNvPr id="44" name="Panel"/>
          <p:cNvSpPr/>
          <p:nvPr/>
        </p:nvSpPr>
        <p:spPr>
          <a:xfrm>
            <a:off x="6672262" y="1243012"/>
            <a:ext cx="2962275" cy="2762250"/>
          </a:xfrm>
          <a:prstGeom prst="rect">
            <a:avLst/>
          </a:prstGeom>
          <a:solidFill>
            <a:srgbClr val="FFFFFF"/>
          </a:solidFill>
          <a:ln w="9525">
            <a:solidFill>
              <a:srgbClr val="E3DCD3"/>
            </a:solidFill>
          </a:ln>
        </p:spPr>
        <p:txBody>
          <a:bodyPr rtlCol="0" anchor="ctr"/>
          <a:lstStyle/>
          <a:p>
            <a:pPr algn="ctr"/>
          </a:p>
        </p:txBody>
      </p:sp>
      <p:sp>
        <p:nvSpPr>
          <p:cNvPr id="45" name="Panel"/>
          <p:cNvSpPr/>
          <p:nvPr/>
        </p:nvSpPr>
        <p:spPr>
          <a:xfrm>
            <a:off x="6677025" y="1247775"/>
            <a:ext cx="2952750" cy="438150"/>
          </a:xfrm>
          <a:prstGeom prst="rect">
            <a:avLst/>
          </a:prstGeom>
          <a:solidFill>
            <a:srgbClr val="1B1A1A"/>
          </a:solidFill>
          <a:ln>
            <a:noFill/>
          </a:ln>
        </p:spPr>
        <p:txBody>
          <a:bodyPr rtlCol="0" anchor="ctr"/>
          <a:lstStyle/>
          <a:p>
            <a:pPr algn="ctr"/>
          </a:p>
        </p:txBody>
      </p:sp>
      <p:pic>
        <p:nvPicPr>
          <p:cNvPr id="46" name="Graphic" descr="S04_r19.png"/>
          <p:cNvPicPr>
            <a:picLocks noChangeAspect="1"/>
          </p:cNvPicPr>
          <p:nvPr/>
        </p:nvPicPr>
        <p:blipFill>
          <a:blip r:embed="rId21"/>
          <a:stretch>
            <a:fillRect/>
          </a:stretch>
        </p:blipFill>
        <p:spPr>
          <a:xfrm>
            <a:off x="6810375" y="1333500"/>
            <a:ext cx="266700" cy="266700"/>
          </a:xfrm>
          <a:prstGeom prst="rect">
            <a:avLst/>
          </a:prstGeom>
        </p:spPr>
      </p:pic>
      <p:sp>
        <p:nvSpPr>
          <p:cNvPr id="47" name="TextBox 46"/>
          <p:cNvSpPr txBox="1"/>
          <p:nvPr/>
        </p:nvSpPr>
        <p:spPr>
          <a:xfrm>
            <a:off x="7181850" y="1388840"/>
            <a:ext cx="1215777" cy="133350"/>
          </a:xfrm>
          <a:prstGeom prst="rect">
            <a:avLst/>
          </a:prstGeom>
          <a:noFill/>
        </p:spPr>
        <p:txBody>
          <a:bodyPr wrap="none" lIns="0" rIns="0" tIns="0" bIns="0" anchor="t">
            <a:noAutofit/>
          </a:bodyPr>
          <a:lstStyle/>
          <a:p>
            <a:pPr algn="l">
              <a:lnSpc>
                <a:spcPts val="1050"/>
              </a:lnSpc>
              <a:spcBef>
                <a:spcPts val="0"/>
              </a:spcBef>
              <a:spcAft>
                <a:spcPts val="0"/>
              </a:spcAft>
            </a:pPr>
            <a:r>
              <a:rPr sz="788" b="1" i="0" spc="135">
                <a:solidFill>
                  <a:srgbClr val="FFFFFF"/>
                </a:solidFill>
                <a:latin typeface="Quicksand"/>
              </a:rPr>
              <a:t>TELECOM &amp; UCAAS</a:t>
            </a:r>
          </a:p>
        </p:txBody>
      </p:sp>
      <p:sp>
        <p:nvSpPr>
          <p:cNvPr id="48" name="TextBox 47"/>
          <p:cNvSpPr txBox="1"/>
          <p:nvPr/>
        </p:nvSpPr>
        <p:spPr>
          <a:xfrm>
            <a:off x="6819900" y="1784794"/>
            <a:ext cx="2743200" cy="347662"/>
          </a:xfrm>
          <a:prstGeom prst="rect">
            <a:avLst/>
          </a:prstGeom>
          <a:noFill/>
        </p:spPr>
        <p:txBody>
          <a:bodyPr wrap="square" lIns="0" rIns="0" tIns="0" bIns="0" anchor="t">
            <a:noAutofit/>
          </a:bodyPr>
          <a:lstStyle/>
          <a:p>
            <a:pPr algn="l">
              <a:lnSpc>
                <a:spcPts val="1612"/>
              </a:lnSpc>
              <a:spcBef>
                <a:spcPts val="0"/>
              </a:spcBef>
              <a:spcAft>
                <a:spcPts val="0"/>
              </a:spcAft>
            </a:pPr>
            <a:r>
              <a:rPr sz="1162" b="0" i="1">
                <a:solidFill>
                  <a:srgbClr val="1B1A1A"/>
                </a:solidFill>
                <a:latin typeface="Newsreader"/>
              </a:rPr>
              <a:t>Infrastructure investors are buying fiber while cloud voice grows about 5% a year.</a:t>
            </a:r>
          </a:p>
        </p:txBody>
      </p:sp>
      <p:sp>
        <p:nvSpPr>
          <p:cNvPr id="49" name="TextBox 48"/>
          <p:cNvSpPr txBox="1"/>
          <p:nvPr/>
        </p:nvSpPr>
        <p:spPr>
          <a:xfrm>
            <a:off x="6819900" y="2504884"/>
            <a:ext cx="947291" cy="104775"/>
          </a:xfrm>
          <a:prstGeom prst="rect">
            <a:avLst/>
          </a:prstGeom>
          <a:noFill/>
        </p:spPr>
        <p:txBody>
          <a:bodyPr wrap="none" lIns="0" rIns="0" tIns="0" bIns="0" anchor="t">
            <a:noAutofit/>
          </a:bodyPr>
          <a:lstStyle/>
          <a:p>
            <a:pPr algn="l">
              <a:lnSpc>
                <a:spcPts val="975"/>
              </a:lnSpc>
              <a:spcBef>
                <a:spcPts val="0"/>
              </a:spcBef>
              <a:spcAft>
                <a:spcPts val="0"/>
              </a:spcAft>
            </a:pPr>
            <a:r>
              <a:rPr sz="675" b="1" i="0" spc="150">
                <a:solidFill>
                  <a:srgbClr val="8C6239"/>
                </a:solidFill>
                <a:latin typeface="Quicksand"/>
              </a:rPr>
              <a:t>ACTIVE BUYERS</a:t>
            </a:r>
          </a:p>
        </p:txBody>
      </p:sp>
      <p:sp>
        <p:nvSpPr>
          <p:cNvPr id="50" name="TextBox 49"/>
          <p:cNvSpPr txBox="1"/>
          <p:nvPr/>
        </p:nvSpPr>
        <p:spPr>
          <a:xfrm>
            <a:off x="6819900" y="2656713"/>
            <a:ext cx="2743200" cy="447675"/>
          </a:xfrm>
          <a:prstGeom prst="rect">
            <a:avLst/>
          </a:prstGeom>
          <a:noFill/>
        </p:spPr>
        <p:txBody>
          <a:bodyPr wrap="square" lIns="0" rIns="0" tIns="0" bIns="0" anchor="t">
            <a:noAutofit/>
          </a:bodyPr>
          <a:lstStyle/>
          <a:p>
            <a:pPr algn="l">
              <a:lnSpc>
                <a:spcPts val="1238"/>
              </a:lnSpc>
              <a:spcBef>
                <a:spcPts val="0"/>
              </a:spcBef>
              <a:spcAft>
                <a:spcPts val="0"/>
              </a:spcAft>
            </a:pPr>
            <a:r>
              <a:rPr sz="825" b="0" i="0" spc="15">
                <a:solidFill>
                  <a:srgbClr val="333231"/>
                </a:solidFill>
                <a:latin typeface="Quicksand"/>
              </a:rPr>
              <a:t>Verizon, AT&amp;T and T-Mobile with KKR and EQT in fiber; Point Broadband, Ezee Fiber, Vero Fiber, Rightfiber and TDS Telecom regionally</a:t>
            </a:r>
          </a:p>
        </p:txBody>
      </p:sp>
      <p:sp>
        <p:nvSpPr>
          <p:cNvPr id="51" name="Rule"/>
          <p:cNvSpPr/>
          <p:nvPr/>
        </p:nvSpPr>
        <p:spPr>
          <a:xfrm>
            <a:off x="6819900" y="3362325"/>
            <a:ext cx="2667000" cy="9525"/>
          </a:xfrm>
          <a:prstGeom prst="rect">
            <a:avLst/>
          </a:prstGeom>
          <a:solidFill>
            <a:srgbClr val="E3DCD3"/>
          </a:solidFill>
          <a:ln>
            <a:noFill/>
          </a:ln>
        </p:spPr>
        <p:txBody>
          <a:bodyPr rtlCol="0" anchor="ctr"/>
          <a:lstStyle/>
          <a:p>
            <a:pPr algn="ctr"/>
          </a:p>
        </p:txBody>
      </p:sp>
      <p:sp>
        <p:nvSpPr>
          <p:cNvPr id="52" name="TextBox 51"/>
          <p:cNvSpPr txBox="1"/>
          <p:nvPr/>
        </p:nvSpPr>
        <p:spPr>
          <a:xfrm>
            <a:off x="6819900" y="3451574"/>
            <a:ext cx="1773436" cy="104775"/>
          </a:xfrm>
          <a:prstGeom prst="rect">
            <a:avLst/>
          </a:prstGeom>
          <a:noFill/>
        </p:spPr>
        <p:txBody>
          <a:bodyPr wrap="none" lIns="0" rIns="0" tIns="0" bIns="0" anchor="t">
            <a:noAutofit/>
          </a:bodyPr>
          <a:lstStyle/>
          <a:p>
            <a:pPr algn="l">
              <a:lnSpc>
                <a:spcPts val="975"/>
              </a:lnSpc>
              <a:spcBef>
                <a:spcPts val="0"/>
              </a:spcBef>
              <a:spcAft>
                <a:spcPts val="0"/>
              </a:spcAft>
            </a:pPr>
            <a:r>
              <a:rPr sz="638" b="1" i="0" spc="150">
                <a:solidFill>
                  <a:srgbClr val="6F6A66"/>
                </a:solidFill>
                <a:latin typeface="Quicksand"/>
              </a:rPr>
              <a:t>LISTED REFERENCE COMPANIES</a:t>
            </a:r>
          </a:p>
        </p:txBody>
      </p:sp>
      <p:pic>
        <p:nvPicPr>
          <p:cNvPr id="53" name="RingCentral" descr="RingCentral"/>
          <p:cNvPicPr>
            <a:picLocks noChangeAspect="1"/>
          </p:cNvPicPr>
          <p:nvPr/>
        </p:nvPicPr>
        <p:blipFill>
          <a:blip r:embed="rId22"/>
          <a:stretch>
            <a:fillRect/>
          </a:stretch>
        </p:blipFill>
        <p:spPr>
          <a:xfrm>
            <a:off x="6819900" y="3648075"/>
            <a:ext cx="238125" cy="238125"/>
          </a:xfrm>
          <a:prstGeom prst="rect">
            <a:avLst/>
          </a:prstGeom>
        </p:spPr>
      </p:pic>
      <p:pic>
        <p:nvPicPr>
          <p:cNvPr id="54" name="8x8" descr="8x8"/>
          <p:cNvPicPr>
            <a:picLocks noChangeAspect="1"/>
          </p:cNvPicPr>
          <p:nvPr/>
        </p:nvPicPr>
        <p:blipFill>
          <a:blip r:embed="rId23"/>
          <a:stretch>
            <a:fillRect/>
          </a:stretch>
        </p:blipFill>
        <p:spPr>
          <a:xfrm>
            <a:off x="7105650" y="3648075"/>
            <a:ext cx="238125" cy="238125"/>
          </a:xfrm>
          <a:prstGeom prst="rect">
            <a:avLst/>
          </a:prstGeom>
        </p:spPr>
      </p:pic>
      <p:pic>
        <p:nvPicPr>
          <p:cNvPr id="55" name="Zoom" descr="Zoom"/>
          <p:cNvPicPr>
            <a:picLocks noChangeAspect="1"/>
          </p:cNvPicPr>
          <p:nvPr/>
        </p:nvPicPr>
        <p:blipFill>
          <a:blip r:embed="rId24"/>
          <a:stretch>
            <a:fillRect/>
          </a:stretch>
        </p:blipFill>
        <p:spPr>
          <a:xfrm>
            <a:off x="7391400" y="3648075"/>
            <a:ext cx="238125" cy="238125"/>
          </a:xfrm>
          <a:prstGeom prst="rect">
            <a:avLst/>
          </a:prstGeom>
        </p:spPr>
      </p:pic>
      <p:pic>
        <p:nvPicPr>
          <p:cNvPr id="56" name="Five9" descr="Five9"/>
          <p:cNvPicPr>
            <a:picLocks noChangeAspect="1"/>
          </p:cNvPicPr>
          <p:nvPr/>
        </p:nvPicPr>
        <p:blipFill>
          <a:blip r:embed="rId25"/>
          <a:stretch>
            <a:fillRect/>
          </a:stretch>
        </p:blipFill>
        <p:spPr>
          <a:xfrm>
            <a:off x="7677150" y="3648075"/>
            <a:ext cx="238125" cy="238125"/>
          </a:xfrm>
          <a:prstGeom prst="rect">
            <a:avLst/>
          </a:prstGeom>
        </p:spPr>
      </p:pic>
      <p:pic>
        <p:nvPicPr>
          <p:cNvPr id="57" name="Bandwidth" descr="Bandwidth"/>
          <p:cNvPicPr>
            <a:picLocks noChangeAspect="1"/>
          </p:cNvPicPr>
          <p:nvPr/>
        </p:nvPicPr>
        <p:blipFill>
          <a:blip r:embed="rId26"/>
          <a:stretch>
            <a:fillRect/>
          </a:stretch>
        </p:blipFill>
        <p:spPr>
          <a:xfrm>
            <a:off x="7962900" y="3648075"/>
            <a:ext cx="238125" cy="238125"/>
          </a:xfrm>
          <a:prstGeom prst="rect">
            <a:avLst/>
          </a:prstGeom>
        </p:spPr>
      </p:pic>
      <p:pic>
        <p:nvPicPr>
          <p:cNvPr id="58" name="Ooma" descr="Ooma"/>
          <p:cNvPicPr>
            <a:picLocks noChangeAspect="1"/>
          </p:cNvPicPr>
          <p:nvPr/>
        </p:nvPicPr>
        <p:blipFill>
          <a:blip r:embed="rId27"/>
          <a:stretch>
            <a:fillRect/>
          </a:stretch>
        </p:blipFill>
        <p:spPr>
          <a:xfrm>
            <a:off x="8248650" y="3648075"/>
            <a:ext cx="238125" cy="238125"/>
          </a:xfrm>
          <a:prstGeom prst="rect">
            <a:avLst/>
          </a:prstGeom>
        </p:spPr>
      </p:pic>
      <p:pic>
        <p:nvPicPr>
          <p:cNvPr id="59" name="Crexendo" descr="Crexendo"/>
          <p:cNvPicPr>
            <a:picLocks noChangeAspect="1"/>
          </p:cNvPicPr>
          <p:nvPr/>
        </p:nvPicPr>
        <p:blipFill>
          <a:blip r:embed="rId28"/>
          <a:stretch>
            <a:fillRect/>
          </a:stretch>
        </p:blipFill>
        <p:spPr>
          <a:xfrm>
            <a:off x="8534400" y="3648075"/>
            <a:ext cx="238125" cy="238125"/>
          </a:xfrm>
          <a:prstGeom prst="rect">
            <a:avLst/>
          </a:prstGeom>
        </p:spPr>
      </p:pic>
      <p:pic>
        <p:nvPicPr>
          <p:cNvPr id="60" name="Shenandoah Telecommunications" descr="Shenandoah Telecommunications"/>
          <p:cNvPicPr>
            <a:picLocks noChangeAspect="1"/>
          </p:cNvPicPr>
          <p:nvPr/>
        </p:nvPicPr>
        <p:blipFill>
          <a:blip r:embed="rId29"/>
          <a:stretch>
            <a:fillRect/>
          </a:stretch>
        </p:blipFill>
        <p:spPr>
          <a:xfrm>
            <a:off x="8820150" y="3648075"/>
            <a:ext cx="238125" cy="238125"/>
          </a:xfrm>
          <a:prstGeom prst="rect">
            <a:avLst/>
          </a:prstGeom>
        </p:spPr>
      </p:pic>
      <p:pic>
        <p:nvPicPr>
          <p:cNvPr id="61" name="Telephone and Data Systems" descr="Telephone and Data Systems"/>
          <p:cNvPicPr>
            <a:picLocks noChangeAspect="1"/>
          </p:cNvPicPr>
          <p:nvPr/>
        </p:nvPicPr>
        <p:blipFill>
          <a:blip r:embed="rId30"/>
          <a:stretch>
            <a:fillRect/>
          </a:stretch>
        </p:blipFill>
        <p:spPr>
          <a:xfrm>
            <a:off x="9105900" y="3648075"/>
            <a:ext cx="238125" cy="238125"/>
          </a:xfrm>
          <a:prstGeom prst="rect">
            <a:avLst/>
          </a:prstGeom>
        </p:spPr>
      </p:pic>
      <p:sp>
        <p:nvSpPr>
          <p:cNvPr id="62" name="Panel"/>
          <p:cNvSpPr/>
          <p:nvPr/>
        </p:nvSpPr>
        <p:spPr>
          <a:xfrm>
            <a:off x="423862" y="4167188"/>
            <a:ext cx="2962275" cy="2762250"/>
          </a:xfrm>
          <a:prstGeom prst="rect">
            <a:avLst/>
          </a:prstGeom>
          <a:solidFill>
            <a:srgbClr val="FFFFFF"/>
          </a:solidFill>
          <a:ln w="9525">
            <a:solidFill>
              <a:srgbClr val="E3DCD3"/>
            </a:solidFill>
          </a:ln>
        </p:spPr>
        <p:txBody>
          <a:bodyPr rtlCol="0" anchor="ctr"/>
          <a:lstStyle/>
          <a:p>
            <a:pPr algn="ctr"/>
          </a:p>
        </p:txBody>
      </p:sp>
      <p:sp>
        <p:nvSpPr>
          <p:cNvPr id="63" name="Panel"/>
          <p:cNvSpPr/>
          <p:nvPr/>
        </p:nvSpPr>
        <p:spPr>
          <a:xfrm>
            <a:off x="428625" y="4171950"/>
            <a:ext cx="2952750" cy="438150"/>
          </a:xfrm>
          <a:prstGeom prst="rect">
            <a:avLst/>
          </a:prstGeom>
          <a:solidFill>
            <a:srgbClr val="1B1A1A"/>
          </a:solidFill>
          <a:ln>
            <a:noFill/>
          </a:ln>
        </p:spPr>
        <p:txBody>
          <a:bodyPr rtlCol="0" anchor="ctr"/>
          <a:lstStyle/>
          <a:p>
            <a:pPr algn="ctr"/>
          </a:p>
        </p:txBody>
      </p:sp>
      <p:pic>
        <p:nvPicPr>
          <p:cNvPr id="64" name="Graphic" descr="S04_r29.png"/>
          <p:cNvPicPr>
            <a:picLocks noChangeAspect="1"/>
          </p:cNvPicPr>
          <p:nvPr/>
        </p:nvPicPr>
        <p:blipFill>
          <a:blip r:embed="rId31"/>
          <a:stretch>
            <a:fillRect/>
          </a:stretch>
        </p:blipFill>
        <p:spPr>
          <a:xfrm>
            <a:off x="561975" y="4257675"/>
            <a:ext cx="266700" cy="266700"/>
          </a:xfrm>
          <a:prstGeom prst="rect">
            <a:avLst/>
          </a:prstGeom>
        </p:spPr>
      </p:pic>
      <p:sp>
        <p:nvSpPr>
          <p:cNvPr id="65" name="TextBox 64"/>
          <p:cNvSpPr txBox="1"/>
          <p:nvPr/>
        </p:nvSpPr>
        <p:spPr>
          <a:xfrm>
            <a:off x="933450" y="4313015"/>
            <a:ext cx="1504950" cy="133350"/>
          </a:xfrm>
          <a:prstGeom prst="rect">
            <a:avLst/>
          </a:prstGeom>
          <a:noFill/>
        </p:spPr>
        <p:txBody>
          <a:bodyPr wrap="none" lIns="0" rIns="0" tIns="0" bIns="0" anchor="t">
            <a:noAutofit/>
          </a:bodyPr>
          <a:lstStyle/>
          <a:p>
            <a:pPr algn="l">
              <a:lnSpc>
                <a:spcPts val="1050"/>
              </a:lnSpc>
              <a:spcBef>
                <a:spcPts val="0"/>
              </a:spcBef>
              <a:spcAft>
                <a:spcPts val="0"/>
              </a:spcAft>
            </a:pPr>
            <a:r>
              <a:rPr sz="788" b="1" i="0" spc="135">
                <a:solidFill>
                  <a:srgbClr val="FFFFFF"/>
                </a:solidFill>
                <a:latin typeface="Quicksand"/>
              </a:rPr>
              <a:t>SYSTEMS INTEGRATION</a:t>
            </a:r>
          </a:p>
        </p:txBody>
      </p:sp>
      <p:sp>
        <p:nvSpPr>
          <p:cNvPr id="66" name="TextBox 65"/>
          <p:cNvSpPr txBox="1"/>
          <p:nvPr/>
        </p:nvSpPr>
        <p:spPr>
          <a:xfrm>
            <a:off x="571500" y="4708970"/>
            <a:ext cx="2743200" cy="347662"/>
          </a:xfrm>
          <a:prstGeom prst="rect">
            <a:avLst/>
          </a:prstGeom>
          <a:noFill/>
        </p:spPr>
        <p:txBody>
          <a:bodyPr wrap="square" lIns="0" rIns="0" tIns="0" bIns="0" anchor="t">
            <a:noAutofit/>
          </a:bodyPr>
          <a:lstStyle/>
          <a:p>
            <a:pPr algn="l">
              <a:lnSpc>
                <a:spcPts val="1612"/>
              </a:lnSpc>
              <a:spcBef>
                <a:spcPts val="0"/>
              </a:spcBef>
              <a:spcAft>
                <a:spcPts val="0"/>
              </a:spcAft>
            </a:pPr>
            <a:r>
              <a:rPr sz="1162" b="0" i="1">
                <a:solidFill>
                  <a:srgbClr val="1B1A1A"/>
                </a:solidFill>
                <a:latin typeface="Newsreader"/>
              </a:rPr>
              <a:t>Data center construction and security upgrades are filling integrator backlogs.</a:t>
            </a:r>
          </a:p>
        </p:txBody>
      </p:sp>
      <p:sp>
        <p:nvSpPr>
          <p:cNvPr id="67" name="TextBox 66"/>
          <p:cNvSpPr txBox="1"/>
          <p:nvPr/>
        </p:nvSpPr>
        <p:spPr>
          <a:xfrm>
            <a:off x="571500" y="5429060"/>
            <a:ext cx="947291" cy="104775"/>
          </a:xfrm>
          <a:prstGeom prst="rect">
            <a:avLst/>
          </a:prstGeom>
          <a:noFill/>
        </p:spPr>
        <p:txBody>
          <a:bodyPr wrap="none" lIns="0" rIns="0" tIns="0" bIns="0" anchor="t">
            <a:noAutofit/>
          </a:bodyPr>
          <a:lstStyle/>
          <a:p>
            <a:pPr algn="l">
              <a:lnSpc>
                <a:spcPts val="975"/>
              </a:lnSpc>
              <a:spcBef>
                <a:spcPts val="0"/>
              </a:spcBef>
              <a:spcAft>
                <a:spcPts val="0"/>
              </a:spcAft>
            </a:pPr>
            <a:r>
              <a:rPr sz="675" b="1" i="0" spc="150">
                <a:solidFill>
                  <a:srgbClr val="8C6239"/>
                </a:solidFill>
                <a:latin typeface="Quicksand"/>
              </a:rPr>
              <a:t>ACTIVE BUYERS</a:t>
            </a:r>
          </a:p>
        </p:txBody>
      </p:sp>
      <p:sp>
        <p:nvSpPr>
          <p:cNvPr id="68" name="TextBox 67"/>
          <p:cNvSpPr txBox="1"/>
          <p:nvPr/>
        </p:nvSpPr>
        <p:spPr>
          <a:xfrm>
            <a:off x="571500" y="5580888"/>
            <a:ext cx="2743200" cy="447675"/>
          </a:xfrm>
          <a:prstGeom prst="rect">
            <a:avLst/>
          </a:prstGeom>
          <a:noFill/>
        </p:spPr>
        <p:txBody>
          <a:bodyPr wrap="square" lIns="0" rIns="0" tIns="0" bIns="0" anchor="t">
            <a:noAutofit/>
          </a:bodyPr>
          <a:lstStyle/>
          <a:p>
            <a:pPr algn="l">
              <a:lnSpc>
                <a:spcPts val="1238"/>
              </a:lnSpc>
              <a:spcBef>
                <a:spcPts val="0"/>
              </a:spcBef>
              <a:spcAft>
                <a:spcPts val="0"/>
              </a:spcAft>
            </a:pPr>
            <a:r>
              <a:rPr sz="825" b="0" i="0" spc="15">
                <a:solidFill>
                  <a:srgbClr val="333231"/>
                </a:solidFill>
                <a:latin typeface="Quicksand"/>
              </a:rPr>
              <a:t>Pavion, Convergint, Everon, Securitas Technology and Knox Lane in security; 26North in audiovisual; Myriad360 and Net at Work in IT</a:t>
            </a:r>
          </a:p>
        </p:txBody>
      </p:sp>
      <p:sp>
        <p:nvSpPr>
          <p:cNvPr id="69" name="Rule"/>
          <p:cNvSpPr/>
          <p:nvPr/>
        </p:nvSpPr>
        <p:spPr>
          <a:xfrm>
            <a:off x="571500" y="6286500"/>
            <a:ext cx="2667000" cy="9525"/>
          </a:xfrm>
          <a:prstGeom prst="rect">
            <a:avLst/>
          </a:prstGeom>
          <a:solidFill>
            <a:srgbClr val="E3DCD3"/>
          </a:solidFill>
          <a:ln>
            <a:noFill/>
          </a:ln>
        </p:spPr>
        <p:txBody>
          <a:bodyPr rtlCol="0" anchor="ctr"/>
          <a:lstStyle/>
          <a:p>
            <a:pPr algn="ctr"/>
          </a:p>
        </p:txBody>
      </p:sp>
      <p:sp>
        <p:nvSpPr>
          <p:cNvPr id="70" name="TextBox 69"/>
          <p:cNvSpPr txBox="1"/>
          <p:nvPr/>
        </p:nvSpPr>
        <p:spPr>
          <a:xfrm>
            <a:off x="571500" y="6375749"/>
            <a:ext cx="1773436" cy="104775"/>
          </a:xfrm>
          <a:prstGeom prst="rect">
            <a:avLst/>
          </a:prstGeom>
          <a:noFill/>
        </p:spPr>
        <p:txBody>
          <a:bodyPr wrap="none" lIns="0" rIns="0" tIns="0" bIns="0" anchor="t">
            <a:noAutofit/>
          </a:bodyPr>
          <a:lstStyle/>
          <a:p>
            <a:pPr algn="l">
              <a:lnSpc>
                <a:spcPts val="975"/>
              </a:lnSpc>
              <a:spcBef>
                <a:spcPts val="0"/>
              </a:spcBef>
              <a:spcAft>
                <a:spcPts val="0"/>
              </a:spcAft>
            </a:pPr>
            <a:r>
              <a:rPr sz="638" b="1" i="0" spc="150">
                <a:solidFill>
                  <a:srgbClr val="6F6A66"/>
                </a:solidFill>
                <a:latin typeface="Quicksand"/>
              </a:rPr>
              <a:t>LISTED REFERENCE COMPANIES</a:t>
            </a:r>
          </a:p>
        </p:txBody>
      </p:sp>
      <p:pic>
        <p:nvPicPr>
          <p:cNvPr id="71" name="Wesco" descr="Wesco"/>
          <p:cNvPicPr>
            <a:picLocks noChangeAspect="1"/>
          </p:cNvPicPr>
          <p:nvPr/>
        </p:nvPicPr>
        <p:blipFill>
          <a:blip r:embed="rId32"/>
          <a:stretch>
            <a:fillRect/>
          </a:stretch>
        </p:blipFill>
        <p:spPr>
          <a:xfrm>
            <a:off x="571500" y="6572250"/>
            <a:ext cx="238125" cy="238125"/>
          </a:xfrm>
          <a:prstGeom prst="rect">
            <a:avLst/>
          </a:prstGeom>
        </p:spPr>
      </p:pic>
      <p:pic>
        <p:nvPicPr>
          <p:cNvPr id="72" name="ScanSource" descr="ScanSource"/>
          <p:cNvPicPr>
            <a:picLocks noChangeAspect="1"/>
          </p:cNvPicPr>
          <p:nvPr/>
        </p:nvPicPr>
        <p:blipFill>
          <a:blip r:embed="rId33"/>
          <a:stretch>
            <a:fillRect/>
          </a:stretch>
        </p:blipFill>
        <p:spPr>
          <a:xfrm>
            <a:off x="857250" y="6572250"/>
            <a:ext cx="238125" cy="238125"/>
          </a:xfrm>
          <a:prstGeom prst="rect">
            <a:avLst/>
          </a:prstGeom>
        </p:spPr>
      </p:pic>
      <p:pic>
        <p:nvPicPr>
          <p:cNvPr id="73" name="Climb Global Solutions" descr="Climb Global Solutions"/>
          <p:cNvPicPr>
            <a:picLocks noChangeAspect="1"/>
          </p:cNvPicPr>
          <p:nvPr/>
        </p:nvPicPr>
        <p:blipFill>
          <a:blip r:embed="rId34"/>
          <a:stretch>
            <a:fillRect/>
          </a:stretch>
        </p:blipFill>
        <p:spPr>
          <a:xfrm>
            <a:off x="1143000" y="6572250"/>
            <a:ext cx="238125" cy="238125"/>
          </a:xfrm>
          <a:prstGeom prst="rect">
            <a:avLst/>
          </a:prstGeom>
        </p:spPr>
      </p:pic>
      <p:pic>
        <p:nvPicPr>
          <p:cNvPr id="74" name="TD SYNNEX" descr="TD SYNNEX"/>
          <p:cNvPicPr>
            <a:picLocks noChangeAspect="1"/>
          </p:cNvPicPr>
          <p:nvPr/>
        </p:nvPicPr>
        <p:blipFill>
          <a:blip r:embed="rId35"/>
          <a:stretch>
            <a:fillRect/>
          </a:stretch>
        </p:blipFill>
        <p:spPr>
          <a:xfrm>
            <a:off x="1428750" y="6572250"/>
            <a:ext cx="238125" cy="238125"/>
          </a:xfrm>
          <a:prstGeom prst="rect">
            <a:avLst/>
          </a:prstGeom>
        </p:spPr>
      </p:pic>
      <p:pic>
        <p:nvPicPr>
          <p:cNvPr id="75" name="Unisys" descr="Unisys"/>
          <p:cNvPicPr>
            <a:picLocks noChangeAspect="1"/>
          </p:cNvPicPr>
          <p:nvPr/>
        </p:nvPicPr>
        <p:blipFill>
          <a:blip r:embed="rId36"/>
          <a:stretch>
            <a:fillRect/>
          </a:stretch>
        </p:blipFill>
        <p:spPr>
          <a:xfrm>
            <a:off x="1714500" y="6572250"/>
            <a:ext cx="238125" cy="238125"/>
          </a:xfrm>
          <a:prstGeom prst="rect">
            <a:avLst/>
          </a:prstGeom>
        </p:spPr>
      </p:pic>
      <p:pic>
        <p:nvPicPr>
          <p:cNvPr id="76" name="Napco Security" descr="Napco Security"/>
          <p:cNvPicPr>
            <a:picLocks noChangeAspect="1"/>
          </p:cNvPicPr>
          <p:nvPr/>
        </p:nvPicPr>
        <p:blipFill>
          <a:blip r:embed="rId37"/>
          <a:stretch>
            <a:fillRect/>
          </a:stretch>
        </p:blipFill>
        <p:spPr>
          <a:xfrm>
            <a:off x="2000250" y="6572250"/>
            <a:ext cx="238125" cy="238125"/>
          </a:xfrm>
          <a:prstGeom prst="rect">
            <a:avLst/>
          </a:prstGeom>
        </p:spPr>
      </p:pic>
      <p:pic>
        <p:nvPicPr>
          <p:cNvPr id="77" name="Computacenter" descr="Computacenter"/>
          <p:cNvPicPr>
            <a:picLocks noChangeAspect="1"/>
          </p:cNvPicPr>
          <p:nvPr/>
        </p:nvPicPr>
        <p:blipFill>
          <a:blip r:embed="rId38"/>
          <a:stretch>
            <a:fillRect/>
          </a:stretch>
        </p:blipFill>
        <p:spPr>
          <a:xfrm>
            <a:off x="2286000" y="6572250"/>
            <a:ext cx="238125" cy="238125"/>
          </a:xfrm>
          <a:prstGeom prst="rect">
            <a:avLst/>
          </a:prstGeom>
        </p:spPr>
      </p:pic>
      <p:pic>
        <p:nvPicPr>
          <p:cNvPr id="78" name="Bechtle" descr="Bechtle"/>
          <p:cNvPicPr>
            <a:picLocks noChangeAspect="1"/>
          </p:cNvPicPr>
          <p:nvPr/>
        </p:nvPicPr>
        <p:blipFill>
          <a:blip r:embed="rId39"/>
          <a:stretch>
            <a:fillRect/>
          </a:stretch>
        </p:blipFill>
        <p:spPr>
          <a:xfrm>
            <a:off x="2571750" y="6572250"/>
            <a:ext cx="238125" cy="238125"/>
          </a:xfrm>
          <a:prstGeom prst="rect">
            <a:avLst/>
          </a:prstGeom>
        </p:spPr>
      </p:pic>
      <p:pic>
        <p:nvPicPr>
          <p:cNvPr id="79" name="ADT" descr="ADT"/>
          <p:cNvPicPr>
            <a:picLocks noChangeAspect="1"/>
          </p:cNvPicPr>
          <p:nvPr/>
        </p:nvPicPr>
        <p:blipFill>
          <a:blip r:embed="rId40"/>
          <a:stretch>
            <a:fillRect/>
          </a:stretch>
        </p:blipFill>
        <p:spPr>
          <a:xfrm>
            <a:off x="2857500" y="6572250"/>
            <a:ext cx="238125" cy="238125"/>
          </a:xfrm>
          <a:prstGeom prst="rect">
            <a:avLst/>
          </a:prstGeom>
        </p:spPr>
      </p:pic>
      <p:sp>
        <p:nvSpPr>
          <p:cNvPr id="80" name="Panel"/>
          <p:cNvSpPr/>
          <p:nvPr/>
        </p:nvSpPr>
        <p:spPr>
          <a:xfrm>
            <a:off x="3548062" y="4167188"/>
            <a:ext cx="2962275" cy="2762250"/>
          </a:xfrm>
          <a:prstGeom prst="rect">
            <a:avLst/>
          </a:prstGeom>
          <a:solidFill>
            <a:srgbClr val="FFFFFF"/>
          </a:solidFill>
          <a:ln w="9525">
            <a:solidFill>
              <a:srgbClr val="E3DCD3"/>
            </a:solidFill>
          </a:ln>
        </p:spPr>
        <p:txBody>
          <a:bodyPr rtlCol="0" anchor="ctr"/>
          <a:lstStyle/>
          <a:p>
            <a:pPr algn="ctr"/>
          </a:p>
        </p:txBody>
      </p:sp>
      <p:sp>
        <p:nvSpPr>
          <p:cNvPr id="81" name="Panel"/>
          <p:cNvSpPr/>
          <p:nvPr/>
        </p:nvSpPr>
        <p:spPr>
          <a:xfrm>
            <a:off x="3552825" y="4171950"/>
            <a:ext cx="2952750" cy="438150"/>
          </a:xfrm>
          <a:prstGeom prst="rect">
            <a:avLst/>
          </a:prstGeom>
          <a:solidFill>
            <a:srgbClr val="1B1A1A"/>
          </a:solidFill>
          <a:ln>
            <a:noFill/>
          </a:ln>
        </p:spPr>
        <p:txBody>
          <a:bodyPr rtlCol="0" anchor="ctr"/>
          <a:lstStyle/>
          <a:p>
            <a:pPr algn="ctr"/>
          </a:p>
        </p:txBody>
      </p:sp>
      <p:pic>
        <p:nvPicPr>
          <p:cNvPr id="82" name="Graphic" descr="S04_r39.png"/>
          <p:cNvPicPr>
            <a:picLocks noChangeAspect="1"/>
          </p:cNvPicPr>
          <p:nvPr/>
        </p:nvPicPr>
        <p:blipFill>
          <a:blip r:embed="rId41"/>
          <a:stretch>
            <a:fillRect/>
          </a:stretch>
        </p:blipFill>
        <p:spPr>
          <a:xfrm>
            <a:off x="3686175" y="4257675"/>
            <a:ext cx="266700" cy="266700"/>
          </a:xfrm>
          <a:prstGeom prst="rect">
            <a:avLst/>
          </a:prstGeom>
        </p:spPr>
      </p:pic>
      <p:sp>
        <p:nvSpPr>
          <p:cNvPr id="83" name="TextBox 82"/>
          <p:cNvSpPr txBox="1"/>
          <p:nvPr/>
        </p:nvSpPr>
        <p:spPr>
          <a:xfrm>
            <a:off x="4057650" y="4313015"/>
            <a:ext cx="1781770" cy="133350"/>
          </a:xfrm>
          <a:prstGeom prst="rect">
            <a:avLst/>
          </a:prstGeom>
          <a:noFill/>
        </p:spPr>
        <p:txBody>
          <a:bodyPr wrap="none" lIns="0" rIns="0" tIns="0" bIns="0" anchor="t">
            <a:noAutofit/>
          </a:bodyPr>
          <a:lstStyle/>
          <a:p>
            <a:pPr algn="l">
              <a:lnSpc>
                <a:spcPts val="1050"/>
              </a:lnSpc>
              <a:spcBef>
                <a:spcPts val="0"/>
              </a:spcBef>
              <a:spcAft>
                <a:spcPts val="0"/>
              </a:spcAft>
            </a:pPr>
            <a:r>
              <a:rPr sz="788" b="1" i="0" spc="135">
                <a:solidFill>
                  <a:srgbClr val="FFFFFF"/>
                </a:solidFill>
                <a:latin typeface="Quicksand"/>
              </a:rPr>
              <a:t>ELECTRONICS &amp; HARDWARE</a:t>
            </a:r>
          </a:p>
        </p:txBody>
      </p:sp>
      <p:sp>
        <p:nvSpPr>
          <p:cNvPr id="84" name="TextBox 83"/>
          <p:cNvSpPr txBox="1"/>
          <p:nvPr/>
        </p:nvSpPr>
        <p:spPr>
          <a:xfrm>
            <a:off x="3695700" y="4708970"/>
            <a:ext cx="2743200" cy="347662"/>
          </a:xfrm>
          <a:prstGeom prst="rect">
            <a:avLst/>
          </a:prstGeom>
          <a:noFill/>
        </p:spPr>
        <p:txBody>
          <a:bodyPr wrap="square" lIns="0" rIns="0" tIns="0" bIns="0" anchor="t">
            <a:noAutofit/>
          </a:bodyPr>
          <a:lstStyle/>
          <a:p>
            <a:pPr algn="l">
              <a:lnSpc>
                <a:spcPts val="1612"/>
              </a:lnSpc>
              <a:spcBef>
                <a:spcPts val="0"/>
              </a:spcBef>
              <a:spcAft>
                <a:spcPts val="0"/>
              </a:spcAft>
            </a:pPr>
            <a:r>
              <a:rPr sz="1162" b="0" i="1">
                <a:solidFill>
                  <a:srgbClr val="1B1A1A"/>
                </a:solidFill>
                <a:latin typeface="Newsreader"/>
              </a:rPr>
              <a:t>Order books are filling faster than factories can ship.</a:t>
            </a:r>
          </a:p>
        </p:txBody>
      </p:sp>
      <p:sp>
        <p:nvSpPr>
          <p:cNvPr id="85" name="TextBox 84"/>
          <p:cNvSpPr txBox="1"/>
          <p:nvPr/>
        </p:nvSpPr>
        <p:spPr>
          <a:xfrm>
            <a:off x="3695700" y="5429060"/>
            <a:ext cx="947291" cy="104775"/>
          </a:xfrm>
          <a:prstGeom prst="rect">
            <a:avLst/>
          </a:prstGeom>
          <a:noFill/>
        </p:spPr>
        <p:txBody>
          <a:bodyPr wrap="none" lIns="0" rIns="0" tIns="0" bIns="0" anchor="t">
            <a:noAutofit/>
          </a:bodyPr>
          <a:lstStyle/>
          <a:p>
            <a:pPr algn="l">
              <a:lnSpc>
                <a:spcPts val="975"/>
              </a:lnSpc>
              <a:spcBef>
                <a:spcPts val="0"/>
              </a:spcBef>
              <a:spcAft>
                <a:spcPts val="0"/>
              </a:spcAft>
            </a:pPr>
            <a:r>
              <a:rPr sz="675" b="1" i="0" spc="150">
                <a:solidFill>
                  <a:srgbClr val="8C6239"/>
                </a:solidFill>
                <a:latin typeface="Quicksand"/>
              </a:rPr>
              <a:t>ACTIVE BUYERS</a:t>
            </a:r>
          </a:p>
        </p:txBody>
      </p:sp>
      <p:sp>
        <p:nvSpPr>
          <p:cNvPr id="86" name="TextBox 85"/>
          <p:cNvSpPr txBox="1"/>
          <p:nvPr/>
        </p:nvSpPr>
        <p:spPr>
          <a:xfrm>
            <a:off x="3695700" y="5580888"/>
            <a:ext cx="2743200" cy="447675"/>
          </a:xfrm>
          <a:prstGeom prst="rect">
            <a:avLst/>
          </a:prstGeom>
          <a:noFill/>
        </p:spPr>
        <p:txBody>
          <a:bodyPr wrap="square" lIns="0" rIns="0" tIns="0" bIns="0" anchor="t">
            <a:noAutofit/>
          </a:bodyPr>
          <a:lstStyle/>
          <a:p>
            <a:pPr algn="l">
              <a:lnSpc>
                <a:spcPts val="1238"/>
              </a:lnSpc>
              <a:spcBef>
                <a:spcPts val="0"/>
              </a:spcBef>
              <a:spcAft>
                <a:spcPts val="0"/>
              </a:spcAft>
            </a:pPr>
            <a:r>
              <a:rPr sz="825" b="0" i="0" spc="15">
                <a:solidFill>
                  <a:srgbClr val="333231"/>
                </a:solidFill>
                <a:latin typeface="Quicksand"/>
              </a:rPr>
              <a:t>Jabil, Sanmina and Flex among public manufacturers; Transom Capital, Tide Rock, Align Capital Partners and Arcline among sponsors</a:t>
            </a:r>
          </a:p>
        </p:txBody>
      </p:sp>
      <p:sp>
        <p:nvSpPr>
          <p:cNvPr id="87" name="Rule"/>
          <p:cNvSpPr/>
          <p:nvPr/>
        </p:nvSpPr>
        <p:spPr>
          <a:xfrm>
            <a:off x="3695700" y="6286500"/>
            <a:ext cx="2667000" cy="9525"/>
          </a:xfrm>
          <a:prstGeom prst="rect">
            <a:avLst/>
          </a:prstGeom>
          <a:solidFill>
            <a:srgbClr val="E3DCD3"/>
          </a:solidFill>
          <a:ln>
            <a:noFill/>
          </a:ln>
        </p:spPr>
        <p:txBody>
          <a:bodyPr rtlCol="0" anchor="ctr"/>
          <a:lstStyle/>
          <a:p>
            <a:pPr algn="ctr"/>
          </a:p>
        </p:txBody>
      </p:sp>
      <p:sp>
        <p:nvSpPr>
          <p:cNvPr id="88" name="TextBox 87"/>
          <p:cNvSpPr txBox="1"/>
          <p:nvPr/>
        </p:nvSpPr>
        <p:spPr>
          <a:xfrm>
            <a:off x="3695700" y="6375749"/>
            <a:ext cx="1773436" cy="104775"/>
          </a:xfrm>
          <a:prstGeom prst="rect">
            <a:avLst/>
          </a:prstGeom>
          <a:noFill/>
        </p:spPr>
        <p:txBody>
          <a:bodyPr wrap="none" lIns="0" rIns="0" tIns="0" bIns="0" anchor="t">
            <a:noAutofit/>
          </a:bodyPr>
          <a:lstStyle/>
          <a:p>
            <a:pPr algn="l">
              <a:lnSpc>
                <a:spcPts val="975"/>
              </a:lnSpc>
              <a:spcBef>
                <a:spcPts val="0"/>
              </a:spcBef>
              <a:spcAft>
                <a:spcPts val="0"/>
              </a:spcAft>
            </a:pPr>
            <a:r>
              <a:rPr sz="638" b="1" i="0" spc="150">
                <a:solidFill>
                  <a:srgbClr val="6F6A66"/>
                </a:solidFill>
                <a:latin typeface="Quicksand"/>
              </a:rPr>
              <a:t>LISTED REFERENCE COMPANIES</a:t>
            </a:r>
          </a:p>
        </p:txBody>
      </p:sp>
      <p:pic>
        <p:nvPicPr>
          <p:cNvPr id="89" name="Jabil" descr="Jabil"/>
          <p:cNvPicPr>
            <a:picLocks noChangeAspect="1"/>
          </p:cNvPicPr>
          <p:nvPr/>
        </p:nvPicPr>
        <p:blipFill>
          <a:blip r:embed="rId42"/>
          <a:stretch>
            <a:fillRect/>
          </a:stretch>
        </p:blipFill>
        <p:spPr>
          <a:xfrm>
            <a:off x="3695700" y="6572250"/>
            <a:ext cx="238125" cy="238125"/>
          </a:xfrm>
          <a:prstGeom prst="rect">
            <a:avLst/>
          </a:prstGeom>
        </p:spPr>
      </p:pic>
      <p:pic>
        <p:nvPicPr>
          <p:cNvPr id="90" name="Flex" descr="Flex"/>
          <p:cNvPicPr>
            <a:picLocks noChangeAspect="1"/>
          </p:cNvPicPr>
          <p:nvPr/>
        </p:nvPicPr>
        <p:blipFill>
          <a:blip r:embed="rId43"/>
          <a:stretch>
            <a:fillRect/>
          </a:stretch>
        </p:blipFill>
        <p:spPr>
          <a:xfrm>
            <a:off x="3981450" y="6572250"/>
            <a:ext cx="238125" cy="238125"/>
          </a:xfrm>
          <a:prstGeom prst="rect">
            <a:avLst/>
          </a:prstGeom>
        </p:spPr>
      </p:pic>
      <p:pic>
        <p:nvPicPr>
          <p:cNvPr id="91" name="Celestica" descr="Celestica"/>
          <p:cNvPicPr>
            <a:picLocks noChangeAspect="1"/>
          </p:cNvPicPr>
          <p:nvPr/>
        </p:nvPicPr>
        <p:blipFill>
          <a:blip r:embed="rId44"/>
          <a:stretch>
            <a:fillRect/>
          </a:stretch>
        </p:blipFill>
        <p:spPr>
          <a:xfrm>
            <a:off x="4267200" y="6572250"/>
            <a:ext cx="238125" cy="238125"/>
          </a:xfrm>
          <a:prstGeom prst="rect">
            <a:avLst/>
          </a:prstGeom>
        </p:spPr>
      </p:pic>
      <p:pic>
        <p:nvPicPr>
          <p:cNvPr id="92" name="Sanmina" descr="Sanmina"/>
          <p:cNvPicPr>
            <a:picLocks noChangeAspect="1"/>
          </p:cNvPicPr>
          <p:nvPr/>
        </p:nvPicPr>
        <p:blipFill>
          <a:blip r:embed="rId45"/>
          <a:stretch>
            <a:fillRect/>
          </a:stretch>
        </p:blipFill>
        <p:spPr>
          <a:xfrm>
            <a:off x="4552950" y="6572250"/>
            <a:ext cx="238125" cy="238125"/>
          </a:xfrm>
          <a:prstGeom prst="rect">
            <a:avLst/>
          </a:prstGeom>
        </p:spPr>
      </p:pic>
      <p:pic>
        <p:nvPicPr>
          <p:cNvPr id="93" name="Plexus" descr="Plexus"/>
          <p:cNvPicPr>
            <a:picLocks noChangeAspect="1"/>
          </p:cNvPicPr>
          <p:nvPr/>
        </p:nvPicPr>
        <p:blipFill>
          <a:blip r:embed="rId46"/>
          <a:stretch>
            <a:fillRect/>
          </a:stretch>
        </p:blipFill>
        <p:spPr>
          <a:xfrm>
            <a:off x="4838700" y="6572250"/>
            <a:ext cx="238125" cy="238125"/>
          </a:xfrm>
          <a:prstGeom prst="rect">
            <a:avLst/>
          </a:prstGeom>
        </p:spPr>
      </p:pic>
      <p:pic>
        <p:nvPicPr>
          <p:cNvPr id="94" name="Benchmark Electronics" descr="Benchmark Electronics"/>
          <p:cNvPicPr>
            <a:picLocks noChangeAspect="1"/>
          </p:cNvPicPr>
          <p:nvPr/>
        </p:nvPicPr>
        <p:blipFill>
          <a:blip r:embed="rId47"/>
          <a:stretch>
            <a:fillRect/>
          </a:stretch>
        </p:blipFill>
        <p:spPr>
          <a:xfrm>
            <a:off x="5124450" y="6572250"/>
            <a:ext cx="238125" cy="238125"/>
          </a:xfrm>
          <a:prstGeom prst="rect">
            <a:avLst/>
          </a:prstGeom>
        </p:spPr>
      </p:pic>
      <p:pic>
        <p:nvPicPr>
          <p:cNvPr id="95" name="Kimball Electronics" descr="Kimball Electronics"/>
          <p:cNvPicPr>
            <a:picLocks noChangeAspect="1"/>
          </p:cNvPicPr>
          <p:nvPr/>
        </p:nvPicPr>
        <p:blipFill>
          <a:blip r:embed="rId48"/>
          <a:stretch>
            <a:fillRect/>
          </a:stretch>
        </p:blipFill>
        <p:spPr>
          <a:xfrm>
            <a:off x="5410200" y="6572250"/>
            <a:ext cx="238125" cy="238125"/>
          </a:xfrm>
          <a:prstGeom prst="rect">
            <a:avLst/>
          </a:prstGeom>
        </p:spPr>
      </p:pic>
      <p:pic>
        <p:nvPicPr>
          <p:cNvPr id="96" name="TTM Technologies" descr="TTM Technologies"/>
          <p:cNvPicPr>
            <a:picLocks noChangeAspect="1"/>
          </p:cNvPicPr>
          <p:nvPr/>
        </p:nvPicPr>
        <p:blipFill>
          <a:blip r:embed="rId49"/>
          <a:stretch>
            <a:fillRect/>
          </a:stretch>
        </p:blipFill>
        <p:spPr>
          <a:xfrm>
            <a:off x="5695950" y="6572250"/>
            <a:ext cx="238125" cy="238125"/>
          </a:xfrm>
          <a:prstGeom prst="rect">
            <a:avLst/>
          </a:prstGeom>
        </p:spPr>
      </p:pic>
      <p:pic>
        <p:nvPicPr>
          <p:cNvPr id="97" name="Keysight" descr="Keysight"/>
          <p:cNvPicPr>
            <a:picLocks noChangeAspect="1"/>
          </p:cNvPicPr>
          <p:nvPr/>
        </p:nvPicPr>
        <p:blipFill>
          <a:blip r:embed="rId50"/>
          <a:stretch>
            <a:fillRect/>
          </a:stretch>
        </p:blipFill>
        <p:spPr>
          <a:xfrm>
            <a:off x="5981700" y="6572250"/>
            <a:ext cx="238125" cy="238125"/>
          </a:xfrm>
          <a:prstGeom prst="rect">
            <a:avLst/>
          </a:prstGeom>
        </p:spPr>
      </p:pic>
      <p:sp>
        <p:nvSpPr>
          <p:cNvPr id="98" name="Panel"/>
          <p:cNvSpPr/>
          <p:nvPr/>
        </p:nvSpPr>
        <p:spPr>
          <a:xfrm>
            <a:off x="6672262" y="4167188"/>
            <a:ext cx="2962275" cy="2762250"/>
          </a:xfrm>
          <a:prstGeom prst="rect">
            <a:avLst/>
          </a:prstGeom>
          <a:solidFill>
            <a:srgbClr val="FFFFFF"/>
          </a:solidFill>
          <a:ln w="9525">
            <a:solidFill>
              <a:srgbClr val="E3DCD3"/>
            </a:solidFill>
          </a:ln>
        </p:spPr>
        <p:txBody>
          <a:bodyPr rtlCol="0" anchor="ctr"/>
          <a:lstStyle/>
          <a:p>
            <a:pPr algn="ctr"/>
          </a:p>
        </p:txBody>
      </p:sp>
      <p:sp>
        <p:nvSpPr>
          <p:cNvPr id="99" name="Panel"/>
          <p:cNvSpPr/>
          <p:nvPr/>
        </p:nvSpPr>
        <p:spPr>
          <a:xfrm>
            <a:off x="6677025" y="4171950"/>
            <a:ext cx="2952750" cy="438150"/>
          </a:xfrm>
          <a:prstGeom prst="rect">
            <a:avLst/>
          </a:prstGeom>
          <a:solidFill>
            <a:srgbClr val="1B1A1A"/>
          </a:solidFill>
          <a:ln>
            <a:noFill/>
          </a:ln>
        </p:spPr>
        <p:txBody>
          <a:bodyPr rtlCol="0" anchor="ctr"/>
          <a:lstStyle/>
          <a:p>
            <a:pPr algn="ctr"/>
          </a:p>
        </p:txBody>
      </p:sp>
      <p:pic>
        <p:nvPicPr>
          <p:cNvPr id="100" name="Graphic" descr="S04_r49.png"/>
          <p:cNvPicPr>
            <a:picLocks noChangeAspect="1"/>
          </p:cNvPicPr>
          <p:nvPr/>
        </p:nvPicPr>
        <p:blipFill>
          <a:blip r:embed="rId51"/>
          <a:stretch>
            <a:fillRect/>
          </a:stretch>
        </p:blipFill>
        <p:spPr>
          <a:xfrm>
            <a:off x="6810375" y="4257675"/>
            <a:ext cx="266700" cy="266700"/>
          </a:xfrm>
          <a:prstGeom prst="rect">
            <a:avLst/>
          </a:prstGeom>
        </p:spPr>
      </p:pic>
      <p:sp>
        <p:nvSpPr>
          <p:cNvPr id="101" name="TextBox 100"/>
          <p:cNvSpPr txBox="1"/>
          <p:nvPr/>
        </p:nvSpPr>
        <p:spPr>
          <a:xfrm>
            <a:off x="7181850" y="4313015"/>
            <a:ext cx="1793974" cy="133350"/>
          </a:xfrm>
          <a:prstGeom prst="rect">
            <a:avLst/>
          </a:prstGeom>
          <a:noFill/>
        </p:spPr>
        <p:txBody>
          <a:bodyPr wrap="none" lIns="0" rIns="0" tIns="0" bIns="0" anchor="t">
            <a:noAutofit/>
          </a:bodyPr>
          <a:lstStyle/>
          <a:p>
            <a:pPr algn="l">
              <a:lnSpc>
                <a:spcPts val="1050"/>
              </a:lnSpc>
              <a:spcBef>
                <a:spcPts val="0"/>
              </a:spcBef>
              <a:spcAft>
                <a:spcPts val="0"/>
              </a:spcAft>
            </a:pPr>
            <a:r>
              <a:rPr sz="788" b="1" i="0" spc="135">
                <a:solidFill>
                  <a:srgbClr val="FFFFFF"/>
                </a:solidFill>
                <a:latin typeface="Quicksand"/>
              </a:rPr>
              <a:t>GOVERNMENT TECHNOLOGY</a:t>
            </a:r>
          </a:p>
        </p:txBody>
      </p:sp>
      <p:sp>
        <p:nvSpPr>
          <p:cNvPr id="102" name="TextBox 101"/>
          <p:cNvSpPr txBox="1"/>
          <p:nvPr/>
        </p:nvSpPr>
        <p:spPr>
          <a:xfrm>
            <a:off x="6819900" y="4708970"/>
            <a:ext cx="2743200" cy="552450"/>
          </a:xfrm>
          <a:prstGeom prst="rect">
            <a:avLst/>
          </a:prstGeom>
          <a:noFill/>
        </p:spPr>
        <p:txBody>
          <a:bodyPr wrap="square" lIns="0" rIns="0" tIns="0" bIns="0" anchor="t">
            <a:noAutofit/>
          </a:bodyPr>
          <a:lstStyle/>
          <a:p>
            <a:pPr algn="l">
              <a:lnSpc>
                <a:spcPts val="1612"/>
              </a:lnSpc>
              <a:spcBef>
                <a:spcPts val="0"/>
              </a:spcBef>
              <a:spcAft>
                <a:spcPts val="0"/>
              </a:spcAft>
            </a:pPr>
            <a:r>
              <a:rPr sz="1162" b="0" i="1">
                <a:solidFill>
                  <a:srgbClr val="1B1A1A"/>
                </a:solidFill>
                <a:latin typeface="Newsreader"/>
              </a:rPr>
              <a:t>Budgets for cyber, AI and mission software are rising while award timing and procurement rules shift.</a:t>
            </a:r>
          </a:p>
        </p:txBody>
      </p:sp>
      <p:sp>
        <p:nvSpPr>
          <p:cNvPr id="103" name="TextBox 102"/>
          <p:cNvSpPr txBox="1"/>
          <p:nvPr/>
        </p:nvSpPr>
        <p:spPr>
          <a:xfrm>
            <a:off x="6819900" y="5429060"/>
            <a:ext cx="947291" cy="104775"/>
          </a:xfrm>
          <a:prstGeom prst="rect">
            <a:avLst/>
          </a:prstGeom>
          <a:noFill/>
        </p:spPr>
        <p:txBody>
          <a:bodyPr wrap="none" lIns="0" rIns="0" tIns="0" bIns="0" anchor="t">
            <a:noAutofit/>
          </a:bodyPr>
          <a:lstStyle/>
          <a:p>
            <a:pPr algn="l">
              <a:lnSpc>
                <a:spcPts val="975"/>
              </a:lnSpc>
              <a:spcBef>
                <a:spcPts val="0"/>
              </a:spcBef>
              <a:spcAft>
                <a:spcPts val="0"/>
              </a:spcAft>
            </a:pPr>
            <a:r>
              <a:rPr sz="675" b="1" i="0" spc="150">
                <a:solidFill>
                  <a:srgbClr val="8C6239"/>
                </a:solidFill>
                <a:latin typeface="Quicksand"/>
              </a:rPr>
              <a:t>ACTIVE BUYERS</a:t>
            </a:r>
          </a:p>
        </p:txBody>
      </p:sp>
      <p:sp>
        <p:nvSpPr>
          <p:cNvPr id="104" name="TextBox 103"/>
          <p:cNvSpPr txBox="1"/>
          <p:nvPr/>
        </p:nvSpPr>
        <p:spPr>
          <a:xfrm>
            <a:off x="6819900" y="5580888"/>
            <a:ext cx="2743200" cy="447675"/>
          </a:xfrm>
          <a:prstGeom prst="rect">
            <a:avLst/>
          </a:prstGeom>
          <a:noFill/>
        </p:spPr>
        <p:txBody>
          <a:bodyPr wrap="square" lIns="0" rIns="0" tIns="0" bIns="0" anchor="t">
            <a:noAutofit/>
          </a:bodyPr>
          <a:lstStyle/>
          <a:p>
            <a:pPr algn="l">
              <a:lnSpc>
                <a:spcPts val="1238"/>
              </a:lnSpc>
              <a:spcBef>
                <a:spcPts val="0"/>
              </a:spcBef>
              <a:spcAft>
                <a:spcPts val="0"/>
              </a:spcAft>
            </a:pPr>
            <a:r>
              <a:rPr sz="825" b="0" i="0" spc="15">
                <a:solidFill>
                  <a:srgbClr val="333231"/>
                </a:solidFill>
                <a:latin typeface="Quicksand"/>
              </a:rPr>
              <a:t>Leidos, Booz Allen, Parsons and SAIC; sponsor-backed ERT, Xpect Solutions, B&amp;A and Detroit Defense</a:t>
            </a:r>
          </a:p>
        </p:txBody>
      </p:sp>
      <p:sp>
        <p:nvSpPr>
          <p:cNvPr id="105" name="Rule"/>
          <p:cNvSpPr/>
          <p:nvPr/>
        </p:nvSpPr>
        <p:spPr>
          <a:xfrm>
            <a:off x="6819900" y="6286500"/>
            <a:ext cx="2667000" cy="9525"/>
          </a:xfrm>
          <a:prstGeom prst="rect">
            <a:avLst/>
          </a:prstGeom>
          <a:solidFill>
            <a:srgbClr val="E3DCD3"/>
          </a:solidFill>
          <a:ln>
            <a:noFill/>
          </a:ln>
        </p:spPr>
        <p:txBody>
          <a:bodyPr rtlCol="0" anchor="ctr"/>
          <a:lstStyle/>
          <a:p>
            <a:pPr algn="ctr"/>
          </a:p>
        </p:txBody>
      </p:sp>
      <p:sp>
        <p:nvSpPr>
          <p:cNvPr id="106" name="TextBox 105"/>
          <p:cNvSpPr txBox="1"/>
          <p:nvPr/>
        </p:nvSpPr>
        <p:spPr>
          <a:xfrm>
            <a:off x="6819900" y="6375749"/>
            <a:ext cx="1773436" cy="104775"/>
          </a:xfrm>
          <a:prstGeom prst="rect">
            <a:avLst/>
          </a:prstGeom>
          <a:noFill/>
        </p:spPr>
        <p:txBody>
          <a:bodyPr wrap="none" lIns="0" rIns="0" tIns="0" bIns="0" anchor="t">
            <a:noAutofit/>
          </a:bodyPr>
          <a:lstStyle/>
          <a:p>
            <a:pPr algn="l">
              <a:lnSpc>
                <a:spcPts val="975"/>
              </a:lnSpc>
              <a:spcBef>
                <a:spcPts val="0"/>
              </a:spcBef>
              <a:spcAft>
                <a:spcPts val="0"/>
              </a:spcAft>
            </a:pPr>
            <a:r>
              <a:rPr sz="638" b="1" i="0" spc="150">
                <a:solidFill>
                  <a:srgbClr val="6F6A66"/>
                </a:solidFill>
                <a:latin typeface="Quicksand"/>
              </a:rPr>
              <a:t>LISTED REFERENCE COMPANIES</a:t>
            </a:r>
          </a:p>
        </p:txBody>
      </p:sp>
      <p:pic>
        <p:nvPicPr>
          <p:cNvPr id="107" name="Booz Allen Hamilton" descr="Booz Allen Hamilton"/>
          <p:cNvPicPr>
            <a:picLocks noChangeAspect="1"/>
          </p:cNvPicPr>
          <p:nvPr/>
        </p:nvPicPr>
        <p:blipFill>
          <a:blip r:embed="rId52"/>
          <a:stretch>
            <a:fillRect/>
          </a:stretch>
        </p:blipFill>
        <p:spPr>
          <a:xfrm>
            <a:off x="6819900" y="6572250"/>
            <a:ext cx="238125" cy="238125"/>
          </a:xfrm>
          <a:prstGeom prst="rect">
            <a:avLst/>
          </a:prstGeom>
        </p:spPr>
      </p:pic>
      <p:pic>
        <p:nvPicPr>
          <p:cNvPr id="108" name="CACI" descr="CACI"/>
          <p:cNvPicPr>
            <a:picLocks noChangeAspect="1"/>
          </p:cNvPicPr>
          <p:nvPr/>
        </p:nvPicPr>
        <p:blipFill>
          <a:blip r:embed="rId53"/>
          <a:stretch>
            <a:fillRect/>
          </a:stretch>
        </p:blipFill>
        <p:spPr>
          <a:xfrm>
            <a:off x="7105650" y="6572250"/>
            <a:ext cx="238125" cy="238125"/>
          </a:xfrm>
          <a:prstGeom prst="rect">
            <a:avLst/>
          </a:prstGeom>
        </p:spPr>
      </p:pic>
      <p:pic>
        <p:nvPicPr>
          <p:cNvPr id="109" name="SAIC" descr="SAIC"/>
          <p:cNvPicPr>
            <a:picLocks noChangeAspect="1"/>
          </p:cNvPicPr>
          <p:nvPr/>
        </p:nvPicPr>
        <p:blipFill>
          <a:blip r:embed="rId54"/>
          <a:stretch>
            <a:fillRect/>
          </a:stretch>
        </p:blipFill>
        <p:spPr>
          <a:xfrm>
            <a:off x="7391400" y="6572250"/>
            <a:ext cx="238125" cy="238125"/>
          </a:xfrm>
          <a:prstGeom prst="rect">
            <a:avLst/>
          </a:prstGeom>
        </p:spPr>
      </p:pic>
      <p:pic>
        <p:nvPicPr>
          <p:cNvPr id="110" name="Leidos" descr="Leidos"/>
          <p:cNvPicPr>
            <a:picLocks noChangeAspect="1"/>
          </p:cNvPicPr>
          <p:nvPr/>
        </p:nvPicPr>
        <p:blipFill>
          <a:blip r:embed="rId55"/>
          <a:stretch>
            <a:fillRect/>
          </a:stretch>
        </p:blipFill>
        <p:spPr>
          <a:xfrm>
            <a:off x="7677150" y="6572250"/>
            <a:ext cx="238125" cy="238125"/>
          </a:xfrm>
          <a:prstGeom prst="rect">
            <a:avLst/>
          </a:prstGeom>
        </p:spPr>
      </p:pic>
      <p:pic>
        <p:nvPicPr>
          <p:cNvPr id="111" name="Parsons" descr="Parsons"/>
          <p:cNvPicPr>
            <a:picLocks noChangeAspect="1"/>
          </p:cNvPicPr>
          <p:nvPr/>
        </p:nvPicPr>
        <p:blipFill>
          <a:blip r:embed="rId56"/>
          <a:stretch>
            <a:fillRect/>
          </a:stretch>
        </p:blipFill>
        <p:spPr>
          <a:xfrm>
            <a:off x="7962900" y="6572250"/>
            <a:ext cx="238125" cy="238125"/>
          </a:xfrm>
          <a:prstGeom prst="rect">
            <a:avLst/>
          </a:prstGeom>
        </p:spPr>
      </p:pic>
      <p:pic>
        <p:nvPicPr>
          <p:cNvPr id="112" name="ICF" descr="ICF"/>
          <p:cNvPicPr>
            <a:picLocks noChangeAspect="1"/>
          </p:cNvPicPr>
          <p:nvPr/>
        </p:nvPicPr>
        <p:blipFill>
          <a:blip r:embed="rId57"/>
          <a:stretch>
            <a:fillRect/>
          </a:stretch>
        </p:blipFill>
        <p:spPr>
          <a:xfrm>
            <a:off x="8248650" y="6572250"/>
            <a:ext cx="238125" cy="238125"/>
          </a:xfrm>
          <a:prstGeom prst="rect">
            <a:avLst/>
          </a:prstGeom>
        </p:spPr>
      </p:pic>
      <p:pic>
        <p:nvPicPr>
          <p:cNvPr id="113" name="Tyler Technologies" descr="Tyler Technologies"/>
          <p:cNvPicPr>
            <a:picLocks noChangeAspect="1"/>
          </p:cNvPicPr>
          <p:nvPr/>
        </p:nvPicPr>
        <p:blipFill>
          <a:blip r:embed="rId58"/>
          <a:stretch>
            <a:fillRect/>
          </a:stretch>
        </p:blipFill>
        <p:spPr>
          <a:xfrm>
            <a:off x="8534400" y="6572250"/>
            <a:ext cx="238125" cy="238125"/>
          </a:xfrm>
          <a:prstGeom prst="rect">
            <a:avLst/>
          </a:prstGeom>
        </p:spPr>
      </p:pic>
      <p:sp>
        <p:nvSpPr>
          <p:cNvPr id="114" name="Panel"/>
          <p:cNvSpPr/>
          <p:nvPr/>
        </p:nvSpPr>
        <p:spPr>
          <a:xfrm>
            <a:off x="419100" y="7029450"/>
            <a:ext cx="9220200" cy="9525"/>
          </a:xfrm>
          <a:prstGeom prst="rect">
            <a:avLst/>
          </a:prstGeom>
          <a:solidFill>
            <a:srgbClr val="E3DCD3"/>
          </a:solidFill>
          <a:ln>
            <a:noFill/>
          </a:ln>
        </p:spPr>
        <p:txBody>
          <a:bodyPr rtlCol="0" anchor="ctr"/>
          <a:lstStyle/>
          <a:p>
            <a:pPr algn="ctr"/>
          </a:p>
        </p:txBody>
      </p:sp>
      <p:pic>
        <p:nvPicPr>
          <p:cNvPr id="115" name="Graphic" descr="S03_r6.png"/>
          <p:cNvPicPr>
            <a:picLocks noChangeAspect="1"/>
          </p:cNvPicPr>
          <p:nvPr/>
        </p:nvPicPr>
        <p:blipFill>
          <a:blip r:embed="rId59"/>
          <a:stretch>
            <a:fillRect/>
          </a:stretch>
        </p:blipFill>
        <p:spPr>
          <a:xfrm>
            <a:off x="419100" y="7143750"/>
            <a:ext cx="914400" cy="171450"/>
          </a:xfrm>
          <a:prstGeom prst="rect">
            <a:avLst/>
          </a:prstGeom>
        </p:spPr>
      </p:pic>
      <p:sp>
        <p:nvSpPr>
          <p:cNvPr id="116" name="TextBox 115"/>
          <p:cNvSpPr txBox="1"/>
          <p:nvPr/>
        </p:nvSpPr>
        <p:spPr>
          <a:xfrm>
            <a:off x="1543050" y="7091172"/>
            <a:ext cx="7810500" cy="223838"/>
          </a:xfrm>
          <a:prstGeom prst="rect">
            <a:avLst/>
          </a:prstGeom>
          <a:noFill/>
        </p:spPr>
        <p:txBody>
          <a:bodyPr wrap="square" lIns="0" rIns="0" tIns="0" bIns="0" anchor="t">
            <a:noAutofit/>
          </a:bodyPr>
          <a:lstStyle/>
          <a:p>
            <a:pPr algn="l">
              <a:lnSpc>
                <a:spcPts val="938"/>
              </a:lnSpc>
              <a:spcBef>
                <a:spcPts val="0"/>
              </a:spcBef>
              <a:spcAft>
                <a:spcPts val="0"/>
              </a:spcAft>
            </a:pPr>
            <a:r>
              <a:rPr sz="675" b="0" i="0" spc="8">
                <a:solidFill>
                  <a:srgbClr val="6F6A66"/>
                </a:solidFill>
                <a:latin typeface="Quicksand"/>
              </a:rPr>
              <a:t>Active buyers are drawn from transactions announced between January 2025 and October 2026 and cited on the transactions page and in the full report. Company marks are the property of their owners and are shown for identification.</a:t>
            </a:r>
          </a:p>
        </p:txBody>
      </p:sp>
      <p:sp>
        <p:nvSpPr>
          <p:cNvPr id="117" name="TextBox 116"/>
          <p:cNvSpPr txBox="1"/>
          <p:nvPr/>
        </p:nvSpPr>
        <p:spPr>
          <a:xfrm>
            <a:off x="9492407" y="7149370"/>
            <a:ext cx="146893" cy="114300"/>
          </a:xfrm>
          <a:prstGeom prst="rect">
            <a:avLst/>
          </a:prstGeom>
          <a:noFill/>
        </p:spPr>
        <p:txBody>
          <a:bodyPr wrap="none" lIns="0" rIns="0" tIns="0" bIns="0" anchor="t">
            <a:noAutofit/>
          </a:bodyPr>
          <a:lstStyle/>
          <a:p>
            <a:pPr algn="r">
              <a:lnSpc>
                <a:spcPts val="1050"/>
              </a:lnSpc>
              <a:spcBef>
                <a:spcPts val="0"/>
              </a:spcBef>
              <a:spcAft>
                <a:spcPts val="0"/>
              </a:spcAft>
            </a:pPr>
            <a:r>
              <a:rPr sz="712" b="1" i="0" spc="150">
                <a:solidFill>
                  <a:srgbClr val="1B1A1A"/>
                </a:solidFill>
                <a:latin typeface="Quicksand"/>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3" name="Panel"/>
          <p:cNvSpPr/>
          <p:nvPr/>
        </p:nvSpPr>
        <p:spPr>
          <a:xfrm>
            <a:off x="0" y="0"/>
            <a:ext cx="10058400" cy="7772400"/>
          </a:xfrm>
          <a:prstGeom prst="rect">
            <a:avLst/>
          </a:prstGeom>
          <a:solidFill>
            <a:srgbClr val="FFFFFF"/>
          </a:solidFill>
          <a:ln>
            <a:noFill/>
          </a:ln>
        </p:spPr>
        <p:txBody>
          <a:bodyPr rtlCol="0" anchor="ctr"/>
          <a:lstStyle/>
          <a:p>
            <a:pPr algn="ctr"/>
          </a:p>
        </p:txBody>
      </p:sp>
      <p:sp>
        <p:nvSpPr>
          <p:cNvPr id="4" name="Panel"/>
          <p:cNvSpPr/>
          <p:nvPr/>
        </p:nvSpPr>
        <p:spPr>
          <a:xfrm>
            <a:off x="0" y="0"/>
            <a:ext cx="57150" cy="7772400"/>
          </a:xfrm>
          <a:prstGeom prst="rect">
            <a:avLst/>
          </a:prstGeom>
          <a:solidFill>
            <a:srgbClr val="B68757"/>
          </a:solidFill>
          <a:ln>
            <a:noFill/>
          </a:ln>
        </p:spPr>
        <p:txBody>
          <a:bodyPr rtlCol="0" anchor="ctr"/>
          <a:lstStyle/>
          <a:p>
            <a:pPr algn="ctr"/>
          </a:p>
        </p:txBody>
      </p:sp>
      <p:sp>
        <p:nvSpPr>
          <p:cNvPr id="5" name="TextBox 4"/>
          <p:cNvSpPr txBox="1"/>
          <p:nvPr/>
        </p:nvSpPr>
        <p:spPr>
          <a:xfrm>
            <a:off x="419100" y="361760"/>
            <a:ext cx="2764185" cy="104775"/>
          </a:xfrm>
          <a:prstGeom prst="rect">
            <a:avLst/>
          </a:prstGeom>
          <a:noFill/>
        </p:spPr>
        <p:txBody>
          <a:bodyPr wrap="none" lIns="0" rIns="0" tIns="0" bIns="0" anchor="t">
            <a:noAutofit/>
          </a:bodyPr>
          <a:lstStyle/>
          <a:p>
            <a:pPr algn="l">
              <a:lnSpc>
                <a:spcPts val="1050"/>
              </a:lnSpc>
              <a:spcBef>
                <a:spcPts val="0"/>
              </a:spcBef>
              <a:spcAft>
                <a:spcPts val="0"/>
              </a:spcAft>
            </a:pPr>
            <a:r>
              <a:rPr sz="675" b="1" i="0" spc="195">
                <a:solidFill>
                  <a:srgbClr val="8C6239"/>
                </a:solidFill>
                <a:latin typeface="Quicksand"/>
              </a:rPr>
              <a:t>TECHNOLOGY  |  QUARTERLY SECTOR BRIEF</a:t>
            </a:r>
          </a:p>
        </p:txBody>
      </p:sp>
      <p:sp>
        <p:nvSpPr>
          <p:cNvPr id="6" name="TextBox 5"/>
          <p:cNvSpPr txBox="1"/>
          <p:nvPr/>
        </p:nvSpPr>
        <p:spPr>
          <a:xfrm>
            <a:off x="9112597" y="350901"/>
            <a:ext cx="526703" cy="152400"/>
          </a:xfrm>
          <a:prstGeom prst="rect">
            <a:avLst/>
          </a:prstGeom>
          <a:noFill/>
        </p:spPr>
        <p:txBody>
          <a:bodyPr wrap="none" lIns="0" rIns="0" tIns="0" bIns="0" anchor="t">
            <a:noAutofit/>
          </a:bodyPr>
          <a:lstStyle/>
          <a:p>
            <a:pPr algn="r">
              <a:lnSpc>
                <a:spcPts val="1350"/>
              </a:lnSpc>
              <a:spcBef>
                <a:spcPts val="0"/>
              </a:spcBef>
              <a:spcAft>
                <a:spcPts val="0"/>
              </a:spcAft>
            </a:pPr>
            <a:r>
              <a:rPr sz="900" b="0" i="0" spc="90">
                <a:solidFill>
                  <a:srgbClr val="6F6A66"/>
                </a:solidFill>
                <a:latin typeface="Cinzel"/>
              </a:rPr>
              <a:t>Q4 2026</a:t>
            </a:r>
          </a:p>
        </p:txBody>
      </p:sp>
      <p:sp>
        <p:nvSpPr>
          <p:cNvPr id="2" name="Title 1"/>
          <p:cNvSpPr>
            <a:spLocks noGrp="1"/>
          </p:cNvSpPr>
          <p:nvPr>
            <p:ph type="title"/>
          </p:nvPr>
        </p:nvSpPr>
        <p:spPr>
          <a:xfrm>
            <a:off x="419100" y="475488"/>
            <a:ext cx="2394198" cy="257175"/>
          </a:xfrm>
        </p:spPr>
        <p:txBody>
          <a:bodyPr wrap="none" lIns="0" rIns="0" tIns="0" bIns="0" anchor="t">
            <a:noAutofit/>
          </a:bodyPr>
          <a:lstStyle/>
          <a:p>
            <a:pPr algn="l">
              <a:lnSpc>
                <a:spcPts val="2550"/>
              </a:lnSpc>
              <a:spcBef>
                <a:spcPts val="0"/>
              </a:spcBef>
              <a:spcAft>
                <a:spcPts val="0"/>
              </a:spcAft>
            </a:pPr>
            <a:r>
              <a:rPr sz="2000" b="1" i="0">
                <a:solidFill>
                  <a:srgbClr val="1B1A1A"/>
                </a:solidFill>
                <a:latin typeface="Newsreader"/>
              </a:rPr>
              <a:t>What We're Reading</a:t>
            </a:r>
          </a:p>
        </p:txBody>
      </p:sp>
      <p:sp>
        <p:nvSpPr>
          <p:cNvPr id="7" name="TextBox 6"/>
          <p:cNvSpPr txBox="1"/>
          <p:nvPr/>
        </p:nvSpPr>
        <p:spPr>
          <a:xfrm>
            <a:off x="419100" y="864394"/>
            <a:ext cx="3419029" cy="152400"/>
          </a:xfrm>
          <a:prstGeom prst="rect">
            <a:avLst/>
          </a:prstGeom>
          <a:noFill/>
        </p:spPr>
        <p:txBody>
          <a:bodyPr wrap="none" lIns="0" rIns="0" tIns="0" bIns="0" anchor="t">
            <a:noAutofit/>
          </a:bodyPr>
          <a:lstStyle/>
          <a:p>
            <a:pPr algn="l">
              <a:lnSpc>
                <a:spcPts val="1388"/>
              </a:lnSpc>
              <a:spcBef>
                <a:spcPts val="0"/>
              </a:spcBef>
              <a:spcAft>
                <a:spcPts val="0"/>
              </a:spcAft>
            </a:pPr>
            <a:r>
              <a:rPr sz="938" b="0" i="0" spc="15">
                <a:solidFill>
                  <a:srgbClr val="6F6A66"/>
                </a:solidFill>
                <a:latin typeface="Quicksand"/>
              </a:rPr>
              <a:t>Primary sources and trade reporting from the third quarter.</a:t>
            </a:r>
          </a:p>
        </p:txBody>
      </p:sp>
      <p:sp>
        <p:nvSpPr>
          <p:cNvPr id="8" name="Panel"/>
          <p:cNvSpPr/>
          <p:nvPr/>
        </p:nvSpPr>
        <p:spPr>
          <a:xfrm>
            <a:off x="419100" y="1143000"/>
            <a:ext cx="9220200" cy="9525"/>
          </a:xfrm>
          <a:prstGeom prst="rect">
            <a:avLst/>
          </a:prstGeom>
          <a:solidFill>
            <a:srgbClr val="E3DCD3"/>
          </a:solidFill>
          <a:ln>
            <a:noFill/>
          </a:ln>
        </p:spPr>
        <p:txBody>
          <a:bodyPr rtlCol="0" anchor="ctr"/>
          <a:lstStyle/>
          <a:p>
            <a:pPr algn="ctr"/>
          </a:p>
        </p:txBody>
      </p:sp>
      <p:sp>
        <p:nvSpPr>
          <p:cNvPr id="9" name="Panel"/>
          <p:cNvSpPr/>
          <p:nvPr/>
        </p:nvSpPr>
        <p:spPr>
          <a:xfrm>
            <a:off x="419100" y="1238250"/>
            <a:ext cx="1809750" cy="5695950"/>
          </a:xfrm>
          <a:prstGeom prst="rect">
            <a:avLst/>
          </a:prstGeom>
          <a:solidFill>
            <a:srgbClr val="1B1A1A"/>
          </a:solidFill>
          <a:ln>
            <a:noFill/>
          </a:ln>
        </p:spPr>
        <p:txBody>
          <a:bodyPr rtlCol="0" anchor="ctr"/>
          <a:lstStyle/>
          <a:p>
            <a:pPr algn="ctr"/>
          </a:p>
        </p:txBody>
      </p:sp>
      <p:pic>
        <p:nvPicPr>
          <p:cNvPr id="10" name="Picture" descr="knot.jpg"/>
          <p:cNvPicPr>
            <a:picLocks noChangeAspect="1"/>
          </p:cNvPicPr>
          <p:nvPr/>
        </p:nvPicPr>
        <p:blipFill>
          <a:blip r:embed="rId2">
            <a:alphaModFix amt="50000"/>
          </a:blip>
          <a:srcRect l="30109" t="1500" r="52555" b="1500"/>
          <a:stretch>
            <a:fillRect/>
          </a:stretch>
        </p:blipFill>
        <p:spPr>
          <a:xfrm>
            <a:off x="419100" y="1238250"/>
            <a:ext cx="1809750" cy="5695950"/>
          </a:xfrm>
          <a:prstGeom prst="rect">
            <a:avLst/>
          </a:prstGeom>
        </p:spPr>
      </p:pic>
      <p:pic>
        <p:nvPicPr>
          <p:cNvPr id="11" name="Graphic" descr="S05_r0.png"/>
          <p:cNvPicPr>
            <a:picLocks noChangeAspect="1"/>
          </p:cNvPicPr>
          <p:nvPr/>
        </p:nvPicPr>
        <p:blipFill>
          <a:blip r:embed="rId3"/>
          <a:stretch>
            <a:fillRect/>
          </a:stretch>
        </p:blipFill>
        <p:spPr>
          <a:xfrm>
            <a:off x="609600" y="1504950"/>
            <a:ext cx="419100" cy="419100"/>
          </a:xfrm>
          <a:prstGeom prst="rect">
            <a:avLst/>
          </a:prstGeom>
        </p:spPr>
      </p:pic>
      <p:sp>
        <p:nvSpPr>
          <p:cNvPr id="12" name="TextBox 11"/>
          <p:cNvSpPr txBox="1"/>
          <p:nvPr/>
        </p:nvSpPr>
        <p:spPr>
          <a:xfrm>
            <a:off x="609600" y="2074545"/>
            <a:ext cx="1504950" cy="971550"/>
          </a:xfrm>
          <a:prstGeom prst="rect">
            <a:avLst/>
          </a:prstGeom>
          <a:noFill/>
        </p:spPr>
        <p:txBody>
          <a:bodyPr wrap="square" lIns="0" rIns="0" tIns="0" bIns="0" anchor="t">
            <a:noAutofit/>
          </a:bodyPr>
          <a:lstStyle/>
          <a:p>
            <a:pPr algn="l">
              <a:lnSpc>
                <a:spcPts val="2700"/>
              </a:lnSpc>
              <a:spcBef>
                <a:spcPts val="0"/>
              </a:spcBef>
              <a:spcAft>
                <a:spcPts val="0"/>
              </a:spcAft>
            </a:pPr>
            <a:r>
              <a:rPr sz="2250" b="1" i="0">
                <a:solidFill>
                  <a:srgbClr val="FFFFFF"/>
                </a:solidFill>
                <a:latin typeface="Newsreader"/>
              </a:rPr>
              <a:t>What We're Reading</a:t>
            </a:r>
          </a:p>
        </p:txBody>
      </p:sp>
      <p:sp>
        <p:nvSpPr>
          <p:cNvPr id="13" name="Panel"/>
          <p:cNvSpPr/>
          <p:nvPr/>
        </p:nvSpPr>
        <p:spPr>
          <a:xfrm>
            <a:off x="609600" y="3314700"/>
            <a:ext cx="533400" cy="19050"/>
          </a:xfrm>
          <a:prstGeom prst="rect">
            <a:avLst/>
          </a:prstGeom>
          <a:solidFill>
            <a:srgbClr val="B68757"/>
          </a:solidFill>
          <a:ln>
            <a:noFill/>
          </a:ln>
        </p:spPr>
        <p:txBody>
          <a:bodyPr rtlCol="0" anchor="ctr"/>
          <a:lstStyle/>
          <a:p>
            <a:pPr algn="ctr"/>
          </a:p>
        </p:txBody>
      </p:sp>
      <p:sp>
        <p:nvSpPr>
          <p:cNvPr id="14" name="TextBox 13"/>
          <p:cNvSpPr txBox="1"/>
          <p:nvPr/>
        </p:nvSpPr>
        <p:spPr>
          <a:xfrm>
            <a:off x="609600" y="3482721"/>
            <a:ext cx="1504950" cy="1228725"/>
          </a:xfrm>
          <a:prstGeom prst="rect">
            <a:avLst/>
          </a:prstGeom>
          <a:noFill/>
        </p:spPr>
        <p:txBody>
          <a:bodyPr wrap="square" lIns="0" rIns="0" tIns="0" bIns="0" anchor="t">
            <a:noAutofit/>
          </a:bodyPr>
          <a:lstStyle/>
          <a:p>
            <a:pPr algn="l">
              <a:lnSpc>
                <a:spcPts val="1425"/>
              </a:lnSpc>
              <a:spcBef>
                <a:spcPts val="0"/>
              </a:spcBef>
              <a:spcAft>
                <a:spcPts val="0"/>
              </a:spcAft>
            </a:pPr>
            <a:r>
              <a:rPr sz="900" b="0" i="0" spc="15">
                <a:solidFill>
                  <a:srgbClr val="E8E2DA"/>
                </a:solidFill>
                <a:latin typeface="Quicksand"/>
              </a:rPr>
              <a:t>Four pieces from the quarter that bear on how technology businesses are valued and sold, each with the passage we marked and the reason it matters to an owner.</a:t>
            </a:r>
          </a:p>
        </p:txBody>
      </p:sp>
      <p:sp>
        <p:nvSpPr>
          <p:cNvPr id="15" name="Panel"/>
          <p:cNvSpPr/>
          <p:nvPr/>
        </p:nvSpPr>
        <p:spPr>
          <a:xfrm>
            <a:off x="2400300" y="1238250"/>
            <a:ext cx="3543300" cy="2771775"/>
          </a:xfrm>
          <a:prstGeom prst="rect">
            <a:avLst/>
          </a:prstGeom>
          <a:solidFill>
            <a:srgbClr val="FAF7F3"/>
          </a:solidFill>
          <a:ln>
            <a:noFill/>
          </a:ln>
        </p:spPr>
        <p:txBody>
          <a:bodyPr rtlCol="0" anchor="ctr"/>
          <a:lstStyle/>
          <a:p>
            <a:pPr algn="ctr"/>
          </a:p>
        </p:txBody>
      </p:sp>
      <p:sp>
        <p:nvSpPr>
          <p:cNvPr id="16" name="Rule"/>
          <p:cNvSpPr/>
          <p:nvPr/>
        </p:nvSpPr>
        <p:spPr>
          <a:xfrm>
            <a:off x="2400300" y="1238250"/>
            <a:ext cx="3543300" cy="28575"/>
          </a:xfrm>
          <a:prstGeom prst="rect">
            <a:avLst/>
          </a:prstGeom>
          <a:solidFill>
            <a:srgbClr val="B68757"/>
          </a:solidFill>
          <a:ln>
            <a:noFill/>
          </a:ln>
        </p:spPr>
        <p:txBody>
          <a:bodyPr rtlCol="0" anchor="ctr"/>
          <a:lstStyle/>
          <a:p>
            <a:pPr algn="ctr"/>
          </a:p>
        </p:txBody>
      </p:sp>
      <p:sp>
        <p:nvSpPr>
          <p:cNvPr id="17" name="TextBox 16"/>
          <p:cNvSpPr txBox="1"/>
          <p:nvPr/>
        </p:nvSpPr>
        <p:spPr>
          <a:xfrm>
            <a:off x="2552700" y="1375124"/>
            <a:ext cx="565249" cy="104775"/>
          </a:xfrm>
          <a:prstGeom prst="rect">
            <a:avLst/>
          </a:prstGeom>
          <a:noFill/>
        </p:spPr>
        <p:txBody>
          <a:bodyPr wrap="none" lIns="0" rIns="0" tIns="0" bIns="0" anchor="t">
            <a:noAutofit/>
          </a:bodyPr>
          <a:lstStyle/>
          <a:p>
            <a:pPr algn="l">
              <a:lnSpc>
                <a:spcPts val="975"/>
              </a:lnSpc>
              <a:spcBef>
                <a:spcPts val="0"/>
              </a:spcBef>
              <a:spcAft>
                <a:spcPts val="0"/>
              </a:spcAft>
            </a:pPr>
            <a:r>
              <a:rPr sz="638" b="1" i="0" spc="150">
                <a:solidFill>
                  <a:srgbClr val="8C6239"/>
                </a:solidFill>
                <a:latin typeface="Quicksand"/>
              </a:rPr>
              <a:t>GARTNER</a:t>
            </a:r>
          </a:p>
        </p:txBody>
      </p:sp>
      <p:sp>
        <p:nvSpPr>
          <p:cNvPr id="18" name="TextBox 17"/>
          <p:cNvSpPr txBox="1"/>
          <p:nvPr/>
        </p:nvSpPr>
        <p:spPr>
          <a:xfrm>
            <a:off x="5231755" y="1377220"/>
            <a:ext cx="616595" cy="114300"/>
          </a:xfrm>
          <a:prstGeom prst="rect">
            <a:avLst/>
          </a:prstGeom>
          <a:noFill/>
        </p:spPr>
        <p:txBody>
          <a:bodyPr wrap="none" lIns="0" rIns="0" tIns="0" bIns="0" anchor="t">
            <a:noAutofit/>
          </a:bodyPr>
          <a:lstStyle/>
          <a:p>
            <a:pPr algn="l">
              <a:lnSpc>
                <a:spcPts val="975"/>
              </a:lnSpc>
              <a:spcBef>
                <a:spcPts val="0"/>
              </a:spcBef>
              <a:spcAft>
                <a:spcPts val="0"/>
              </a:spcAft>
            </a:pPr>
            <a:r>
              <a:rPr sz="712" b="0" i="0" spc="15">
                <a:solidFill>
                  <a:srgbClr val="6F6A66"/>
                </a:solidFill>
                <a:latin typeface="Quicksand"/>
              </a:rPr>
              <a:t>July 27, 2026</a:t>
            </a:r>
          </a:p>
        </p:txBody>
      </p:sp>
      <p:sp>
        <p:nvSpPr>
          <p:cNvPr id="19" name="TextBox 18"/>
          <p:cNvSpPr txBox="1"/>
          <p:nvPr/>
        </p:nvSpPr>
        <p:spPr>
          <a:xfrm>
            <a:off x="2552700" y="1551622"/>
            <a:ext cx="3314700" cy="328612"/>
          </a:xfrm>
          <a:prstGeom prst="rect">
            <a:avLst/>
          </a:prstGeom>
          <a:noFill/>
        </p:spPr>
        <p:txBody>
          <a:bodyPr wrap="square" lIns="0" rIns="0" tIns="0" bIns="0" anchor="t">
            <a:noAutofit/>
          </a:bodyPr>
          <a:lstStyle/>
          <a:p>
            <a:pPr algn="l">
              <a:lnSpc>
                <a:spcPts val="1462"/>
              </a:lnSpc>
              <a:spcBef>
                <a:spcPts val="0"/>
              </a:spcBef>
              <a:spcAft>
                <a:spcPts val="0"/>
              </a:spcAft>
            </a:pPr>
            <a:r>
              <a:rPr sz="1125" b="1" i="0">
                <a:solidFill>
                  <a:srgbClr val="1B1A1A"/>
                </a:solidFill>
                <a:latin typeface="Newsreader"/>
              </a:rPr>
              <a:t>Gartner Forecasts Worldwide IT Spending to Grow 14.2% in 2026, Totaling $6.37 Trillion</a:t>
            </a:r>
          </a:p>
        </p:txBody>
      </p:sp>
      <p:sp>
        <p:nvSpPr>
          <p:cNvPr id="20" name="Rule"/>
          <p:cNvSpPr/>
          <p:nvPr/>
        </p:nvSpPr>
        <p:spPr>
          <a:xfrm>
            <a:off x="2552700" y="2047875"/>
            <a:ext cx="19050" cy="495300"/>
          </a:xfrm>
          <a:prstGeom prst="rect">
            <a:avLst/>
          </a:prstGeom>
          <a:solidFill>
            <a:srgbClr val="B68757"/>
          </a:solidFill>
          <a:ln>
            <a:noFill/>
          </a:ln>
        </p:spPr>
        <p:txBody>
          <a:bodyPr rtlCol="0" anchor="ctr"/>
          <a:lstStyle/>
          <a:p>
            <a:pPr algn="ctr"/>
          </a:p>
        </p:txBody>
      </p:sp>
      <p:sp>
        <p:nvSpPr>
          <p:cNvPr id="21" name="TextBox 20"/>
          <p:cNvSpPr txBox="1"/>
          <p:nvPr/>
        </p:nvSpPr>
        <p:spPr>
          <a:xfrm>
            <a:off x="2686050" y="2014538"/>
            <a:ext cx="3181350" cy="280988"/>
          </a:xfrm>
          <a:prstGeom prst="rect">
            <a:avLst/>
          </a:prstGeom>
          <a:noFill/>
        </p:spPr>
        <p:txBody>
          <a:bodyPr wrap="square" lIns="0" rIns="0" tIns="0" bIns="0" anchor="t">
            <a:noAutofit/>
          </a:bodyPr>
          <a:lstStyle/>
          <a:p>
            <a:pPr algn="l">
              <a:lnSpc>
                <a:spcPts val="1312"/>
              </a:lnSpc>
              <a:spcBef>
                <a:spcPts val="0"/>
              </a:spcBef>
              <a:spcAft>
                <a:spcPts val="0"/>
              </a:spcAft>
            </a:pPr>
            <a:r>
              <a:rPr sz="938" b="0" i="1">
                <a:solidFill>
                  <a:srgbClr val="2A2928"/>
                </a:solidFill>
                <a:latin typeface="Newsreader"/>
              </a:rPr>
              <a:t>“Building the compute capacity required for AI is the largest infrastructure project ever attempted by humanity.”</a:t>
            </a:r>
          </a:p>
        </p:txBody>
      </p:sp>
      <p:sp>
        <p:nvSpPr>
          <p:cNvPr id="22" name="TextBox 21"/>
          <p:cNvSpPr txBox="1"/>
          <p:nvPr/>
        </p:nvSpPr>
        <p:spPr>
          <a:xfrm>
            <a:off x="2686050" y="2396395"/>
            <a:ext cx="2476946" cy="114300"/>
          </a:xfrm>
          <a:prstGeom prst="rect">
            <a:avLst/>
          </a:prstGeom>
          <a:noFill/>
        </p:spPr>
        <p:txBody>
          <a:bodyPr wrap="none" lIns="0" rIns="0" tIns="0" bIns="0" anchor="t">
            <a:noAutofit/>
          </a:bodyPr>
          <a:lstStyle/>
          <a:p>
            <a:pPr algn="l">
              <a:lnSpc>
                <a:spcPts val="1050"/>
              </a:lnSpc>
              <a:spcBef>
                <a:spcPts val="0"/>
              </a:spcBef>
              <a:spcAft>
                <a:spcPts val="0"/>
              </a:spcAft>
            </a:pPr>
            <a:r>
              <a:rPr sz="712" b="0" i="0" spc="15">
                <a:solidFill>
                  <a:srgbClr val="6F6A66"/>
                </a:solidFill>
                <a:latin typeface="Quicksand"/>
              </a:rPr>
              <a:t>John-David Lovelock, Distinguished VP Analyst, Gartner</a:t>
            </a:r>
          </a:p>
        </p:txBody>
      </p:sp>
      <p:sp>
        <p:nvSpPr>
          <p:cNvPr id="23" name="TextBox 22"/>
          <p:cNvSpPr txBox="1"/>
          <p:nvPr/>
        </p:nvSpPr>
        <p:spPr>
          <a:xfrm>
            <a:off x="2552700" y="2965228"/>
            <a:ext cx="3314700" cy="576262"/>
          </a:xfrm>
          <a:prstGeom prst="rect">
            <a:avLst/>
          </a:prstGeom>
          <a:noFill/>
        </p:spPr>
        <p:txBody>
          <a:bodyPr wrap="square" lIns="0" rIns="0" tIns="0" bIns="0" anchor="t">
            <a:noAutofit/>
          </a:bodyPr>
          <a:lstStyle/>
          <a:p>
            <a:pPr algn="l">
              <a:lnSpc>
                <a:spcPts val="1162"/>
              </a:lnSpc>
              <a:spcBef>
                <a:spcPts val="0"/>
              </a:spcBef>
              <a:spcAft>
                <a:spcPts val="0"/>
              </a:spcAft>
            </a:pPr>
            <a:r>
              <a:rPr sz="788" b="1" i="0" spc="15">
                <a:solidFill>
                  <a:srgbClr val="1B1A1A"/>
                </a:solidFill>
                <a:latin typeface="Quicksand"/>
              </a:rPr>
              <a:t>Key takeaway.</a:t>
            </a:r>
            <a:r>
              <a:rPr sz="788" b="0" i="0" spc="15">
                <a:solidFill>
                  <a:srgbClr val="333231"/>
                </a:solidFill>
                <a:latin typeface="Quicksand"/>
              </a:rPr>
              <a:t> Data center systems spending is forecast to rise 62.5% to $822 billion while IT services rise 5.3% to $1.57 trillion, so service firms tied to the infrastructure build-out are growing faster than the rest of the market.</a:t>
            </a:r>
          </a:p>
        </p:txBody>
      </p:sp>
      <p:sp>
        <p:nvSpPr>
          <p:cNvPr id="24" name="Panel">
            <a:hlinkClick r:id="rId4"/>
          </p:cNvPr>
          <p:cNvSpPr/>
          <p:nvPr/>
        </p:nvSpPr>
        <p:spPr>
          <a:xfrm>
            <a:off x="2552700" y="3657600"/>
            <a:ext cx="904875" cy="228600"/>
          </a:xfrm>
          <a:prstGeom prst="rect">
            <a:avLst/>
          </a:prstGeom>
          <a:solidFill>
            <a:srgbClr val="1B1A1A"/>
          </a:solidFill>
          <a:ln>
            <a:noFill/>
          </a:ln>
        </p:spPr>
        <p:txBody>
          <a:bodyPr rtlCol="0" anchor="ctr"/>
          <a:lstStyle/>
          <a:p>
            <a:pPr algn="ctr"/>
          </a:p>
        </p:txBody>
      </p:sp>
      <p:sp>
        <p:nvSpPr>
          <p:cNvPr id="25" name="TextBox 24">
            <a:hlinkClick r:id="rId4"/>
          </p:cNvPr>
          <p:cNvSpPr txBox="1"/>
          <p:nvPr/>
        </p:nvSpPr>
        <p:spPr>
          <a:xfrm>
            <a:off x="2686050" y="3705034"/>
            <a:ext cx="695325" cy="104775"/>
          </a:xfrm>
          <a:prstGeom prst="rect">
            <a:avLst/>
          </a:prstGeom>
          <a:noFill/>
        </p:spPr>
        <p:txBody>
          <a:bodyPr wrap="none" lIns="0" rIns="0" tIns="0" bIns="0" anchor="t">
            <a:noAutofit/>
          </a:bodyPr>
          <a:lstStyle/>
          <a:p>
            <a:pPr algn="l">
              <a:lnSpc>
                <a:spcPts val="900"/>
              </a:lnSpc>
              <a:spcBef>
                <a:spcPts val="0"/>
              </a:spcBef>
              <a:spcAft>
                <a:spcPts val="0"/>
              </a:spcAft>
            </a:pPr>
            <a:r>
              <a:rPr sz="675" b="1" i="0" spc="150">
                <a:solidFill>
                  <a:srgbClr val="FFFFFF"/>
                </a:solidFill>
                <a:latin typeface="Quicksand"/>
              </a:rPr>
              <a:t>READ HERE</a:t>
            </a:r>
          </a:p>
        </p:txBody>
      </p:sp>
      <p:sp>
        <p:nvSpPr>
          <p:cNvPr id="26" name="Panel"/>
          <p:cNvSpPr/>
          <p:nvPr/>
        </p:nvSpPr>
        <p:spPr>
          <a:xfrm>
            <a:off x="6096000" y="1238250"/>
            <a:ext cx="3543300" cy="2771775"/>
          </a:xfrm>
          <a:prstGeom prst="rect">
            <a:avLst/>
          </a:prstGeom>
          <a:solidFill>
            <a:srgbClr val="FAF7F3"/>
          </a:solidFill>
          <a:ln>
            <a:noFill/>
          </a:ln>
        </p:spPr>
        <p:txBody>
          <a:bodyPr rtlCol="0" anchor="ctr"/>
          <a:lstStyle/>
          <a:p>
            <a:pPr algn="ctr"/>
          </a:p>
        </p:txBody>
      </p:sp>
      <p:sp>
        <p:nvSpPr>
          <p:cNvPr id="27" name="Rule"/>
          <p:cNvSpPr/>
          <p:nvPr/>
        </p:nvSpPr>
        <p:spPr>
          <a:xfrm>
            <a:off x="6096000" y="1238250"/>
            <a:ext cx="3543300" cy="28575"/>
          </a:xfrm>
          <a:prstGeom prst="rect">
            <a:avLst/>
          </a:prstGeom>
          <a:solidFill>
            <a:srgbClr val="B68757"/>
          </a:solidFill>
          <a:ln>
            <a:noFill/>
          </a:ln>
        </p:spPr>
        <p:txBody>
          <a:bodyPr rtlCol="0" anchor="ctr"/>
          <a:lstStyle/>
          <a:p>
            <a:pPr algn="ctr"/>
          </a:p>
        </p:txBody>
      </p:sp>
      <p:sp>
        <p:nvSpPr>
          <p:cNvPr id="28" name="TextBox 27"/>
          <p:cNvSpPr txBox="1"/>
          <p:nvPr/>
        </p:nvSpPr>
        <p:spPr>
          <a:xfrm>
            <a:off x="6248400" y="1375124"/>
            <a:ext cx="861417" cy="104775"/>
          </a:xfrm>
          <a:prstGeom prst="rect">
            <a:avLst/>
          </a:prstGeom>
          <a:noFill/>
        </p:spPr>
        <p:txBody>
          <a:bodyPr wrap="none" lIns="0" rIns="0" tIns="0" bIns="0" anchor="t">
            <a:noAutofit/>
          </a:bodyPr>
          <a:lstStyle/>
          <a:p>
            <a:pPr algn="l">
              <a:lnSpc>
                <a:spcPts val="975"/>
              </a:lnSpc>
              <a:spcBef>
                <a:spcPts val="0"/>
              </a:spcBef>
              <a:spcAft>
                <a:spcPts val="0"/>
              </a:spcAft>
            </a:pPr>
            <a:r>
              <a:rPr sz="638" b="1" i="0" spc="150">
                <a:solidFill>
                  <a:srgbClr val="8C6239"/>
                </a:solidFill>
                <a:latin typeface="Quicksand"/>
              </a:rPr>
              <a:t>CHANNEL DIVE</a:t>
            </a:r>
          </a:p>
        </p:txBody>
      </p:sp>
      <p:sp>
        <p:nvSpPr>
          <p:cNvPr id="29" name="TextBox 28"/>
          <p:cNvSpPr txBox="1"/>
          <p:nvPr/>
        </p:nvSpPr>
        <p:spPr>
          <a:xfrm>
            <a:off x="8817769" y="1377220"/>
            <a:ext cx="726281" cy="114300"/>
          </a:xfrm>
          <a:prstGeom prst="rect">
            <a:avLst/>
          </a:prstGeom>
          <a:noFill/>
        </p:spPr>
        <p:txBody>
          <a:bodyPr wrap="none" lIns="0" rIns="0" tIns="0" bIns="0" anchor="t">
            <a:noAutofit/>
          </a:bodyPr>
          <a:lstStyle/>
          <a:p>
            <a:pPr algn="l">
              <a:lnSpc>
                <a:spcPts val="975"/>
              </a:lnSpc>
              <a:spcBef>
                <a:spcPts val="0"/>
              </a:spcBef>
              <a:spcAft>
                <a:spcPts val="0"/>
              </a:spcAft>
            </a:pPr>
            <a:r>
              <a:rPr sz="712" b="0" i="0" spc="15">
                <a:solidFill>
                  <a:srgbClr val="6F6A66"/>
                </a:solidFill>
                <a:latin typeface="Quicksand"/>
              </a:rPr>
              <a:t>August 19, 2026</a:t>
            </a:r>
          </a:p>
        </p:txBody>
      </p:sp>
      <p:sp>
        <p:nvSpPr>
          <p:cNvPr id="30" name="TextBox 29"/>
          <p:cNvSpPr txBox="1"/>
          <p:nvPr/>
        </p:nvSpPr>
        <p:spPr>
          <a:xfrm>
            <a:off x="6248400" y="1551622"/>
            <a:ext cx="3314700" cy="328612"/>
          </a:xfrm>
          <a:prstGeom prst="rect">
            <a:avLst/>
          </a:prstGeom>
          <a:noFill/>
        </p:spPr>
        <p:txBody>
          <a:bodyPr wrap="square" lIns="0" rIns="0" tIns="0" bIns="0" anchor="t">
            <a:noAutofit/>
          </a:bodyPr>
          <a:lstStyle/>
          <a:p>
            <a:pPr algn="l">
              <a:lnSpc>
                <a:spcPts val="1462"/>
              </a:lnSpc>
              <a:spcBef>
                <a:spcPts val="0"/>
              </a:spcBef>
              <a:spcAft>
                <a:spcPts val="0"/>
              </a:spcAft>
            </a:pPr>
            <a:r>
              <a:rPr sz="1125" b="1" i="0">
                <a:solidFill>
                  <a:srgbClr val="1B1A1A"/>
                </a:solidFill>
                <a:latin typeface="Newsreader"/>
              </a:rPr>
              <a:t>Private equity, cybersecurity drive managed services industry consolidation</a:t>
            </a:r>
          </a:p>
        </p:txBody>
      </p:sp>
      <p:sp>
        <p:nvSpPr>
          <p:cNvPr id="31" name="Rule"/>
          <p:cNvSpPr/>
          <p:nvPr/>
        </p:nvSpPr>
        <p:spPr>
          <a:xfrm>
            <a:off x="6248400" y="2047875"/>
            <a:ext cx="19050" cy="495300"/>
          </a:xfrm>
          <a:prstGeom prst="rect">
            <a:avLst/>
          </a:prstGeom>
          <a:solidFill>
            <a:srgbClr val="B68757"/>
          </a:solidFill>
          <a:ln>
            <a:noFill/>
          </a:ln>
        </p:spPr>
        <p:txBody>
          <a:bodyPr rtlCol="0" anchor="ctr"/>
          <a:lstStyle/>
          <a:p>
            <a:pPr algn="ctr"/>
          </a:p>
        </p:txBody>
      </p:sp>
      <p:sp>
        <p:nvSpPr>
          <p:cNvPr id="32" name="TextBox 31"/>
          <p:cNvSpPr txBox="1"/>
          <p:nvPr/>
        </p:nvSpPr>
        <p:spPr>
          <a:xfrm>
            <a:off x="6381750" y="2014538"/>
            <a:ext cx="3181350" cy="280988"/>
          </a:xfrm>
          <a:prstGeom prst="rect">
            <a:avLst/>
          </a:prstGeom>
          <a:noFill/>
        </p:spPr>
        <p:txBody>
          <a:bodyPr wrap="square" lIns="0" rIns="0" tIns="0" bIns="0" anchor="t">
            <a:noAutofit/>
          </a:bodyPr>
          <a:lstStyle/>
          <a:p>
            <a:pPr algn="l">
              <a:lnSpc>
                <a:spcPts val="1312"/>
              </a:lnSpc>
              <a:spcBef>
                <a:spcPts val="0"/>
              </a:spcBef>
              <a:spcAft>
                <a:spcPts val="0"/>
              </a:spcAft>
            </a:pPr>
            <a:r>
              <a:rPr sz="938" b="0" i="1">
                <a:solidFill>
                  <a:srgbClr val="2A2928"/>
                </a:solidFill>
                <a:latin typeface="Newsreader"/>
              </a:rPr>
              <a:t>“ARR is what attracted private equity to the managed services space. It's nice because it's so predictable.”</a:t>
            </a:r>
          </a:p>
        </p:txBody>
      </p:sp>
      <p:sp>
        <p:nvSpPr>
          <p:cNvPr id="33" name="TextBox 32"/>
          <p:cNvSpPr txBox="1"/>
          <p:nvPr/>
        </p:nvSpPr>
        <p:spPr>
          <a:xfrm>
            <a:off x="6381750" y="2396395"/>
            <a:ext cx="1749475" cy="114300"/>
          </a:xfrm>
          <a:prstGeom prst="rect">
            <a:avLst/>
          </a:prstGeom>
          <a:noFill/>
        </p:spPr>
        <p:txBody>
          <a:bodyPr wrap="none" lIns="0" rIns="0" tIns="0" bIns="0" anchor="t">
            <a:noAutofit/>
          </a:bodyPr>
          <a:lstStyle/>
          <a:p>
            <a:pPr algn="l">
              <a:lnSpc>
                <a:spcPts val="1050"/>
              </a:lnSpc>
              <a:spcBef>
                <a:spcPts val="0"/>
              </a:spcBef>
              <a:spcAft>
                <a:spcPts val="0"/>
              </a:spcAft>
            </a:pPr>
            <a:r>
              <a:rPr sz="712" b="0" i="0" spc="15">
                <a:solidFill>
                  <a:srgbClr val="6F6A66"/>
                </a:solidFill>
                <a:latin typeface="Quicksand"/>
              </a:rPr>
              <a:t>Jessica Davis, Principal Analyst, Omdia</a:t>
            </a:r>
          </a:p>
        </p:txBody>
      </p:sp>
      <p:sp>
        <p:nvSpPr>
          <p:cNvPr id="34" name="TextBox 33"/>
          <p:cNvSpPr txBox="1"/>
          <p:nvPr/>
        </p:nvSpPr>
        <p:spPr>
          <a:xfrm>
            <a:off x="6248400" y="3112865"/>
            <a:ext cx="3314700" cy="428625"/>
          </a:xfrm>
          <a:prstGeom prst="rect">
            <a:avLst/>
          </a:prstGeom>
          <a:noFill/>
        </p:spPr>
        <p:txBody>
          <a:bodyPr wrap="square" lIns="0" rIns="0" tIns="0" bIns="0" anchor="t">
            <a:noAutofit/>
          </a:bodyPr>
          <a:lstStyle/>
          <a:p>
            <a:pPr algn="l">
              <a:lnSpc>
                <a:spcPts val="1162"/>
              </a:lnSpc>
              <a:spcBef>
                <a:spcPts val="0"/>
              </a:spcBef>
              <a:spcAft>
                <a:spcPts val="0"/>
              </a:spcAft>
            </a:pPr>
            <a:r>
              <a:rPr sz="788" b="1" i="0" spc="15">
                <a:solidFill>
                  <a:srgbClr val="1B1A1A"/>
                </a:solidFill>
                <a:latin typeface="Quicksand"/>
              </a:rPr>
              <a:t>Key takeaway.</a:t>
            </a:r>
            <a:r>
              <a:rPr sz="788" b="0" i="0" spc="15">
                <a:solidFill>
                  <a:srgbClr val="333231"/>
                </a:solidFill>
                <a:latin typeface="Quicksand"/>
              </a:rPr>
              <a:t> Acquisitions of managed service providers rose 73% to 64 in the first quarter, with 37 in North America. Predictable annual recurring revenue is what investors are paying for.</a:t>
            </a:r>
          </a:p>
        </p:txBody>
      </p:sp>
      <p:sp>
        <p:nvSpPr>
          <p:cNvPr id="35" name="Panel">
            <a:hlinkClick r:id="rId5"/>
          </p:cNvPr>
          <p:cNvSpPr/>
          <p:nvPr/>
        </p:nvSpPr>
        <p:spPr>
          <a:xfrm>
            <a:off x="6248400" y="3657600"/>
            <a:ext cx="904875" cy="228600"/>
          </a:xfrm>
          <a:prstGeom prst="rect">
            <a:avLst/>
          </a:prstGeom>
          <a:solidFill>
            <a:srgbClr val="1B1A1A"/>
          </a:solidFill>
          <a:ln>
            <a:noFill/>
          </a:ln>
        </p:spPr>
        <p:txBody>
          <a:bodyPr rtlCol="0" anchor="ctr"/>
          <a:lstStyle/>
          <a:p>
            <a:pPr algn="ctr"/>
          </a:p>
        </p:txBody>
      </p:sp>
      <p:sp>
        <p:nvSpPr>
          <p:cNvPr id="36" name="TextBox 35">
            <a:hlinkClick r:id="rId5"/>
          </p:cNvPr>
          <p:cNvSpPr txBox="1"/>
          <p:nvPr/>
        </p:nvSpPr>
        <p:spPr>
          <a:xfrm>
            <a:off x="6381750" y="3705034"/>
            <a:ext cx="695325" cy="104775"/>
          </a:xfrm>
          <a:prstGeom prst="rect">
            <a:avLst/>
          </a:prstGeom>
          <a:noFill/>
        </p:spPr>
        <p:txBody>
          <a:bodyPr wrap="none" lIns="0" rIns="0" tIns="0" bIns="0" anchor="t">
            <a:noAutofit/>
          </a:bodyPr>
          <a:lstStyle/>
          <a:p>
            <a:pPr algn="l">
              <a:lnSpc>
                <a:spcPts val="900"/>
              </a:lnSpc>
              <a:spcBef>
                <a:spcPts val="0"/>
              </a:spcBef>
              <a:spcAft>
                <a:spcPts val="0"/>
              </a:spcAft>
            </a:pPr>
            <a:r>
              <a:rPr sz="675" b="1" i="0" spc="150">
                <a:solidFill>
                  <a:srgbClr val="FFFFFF"/>
                </a:solidFill>
                <a:latin typeface="Quicksand"/>
              </a:rPr>
              <a:t>READ HERE</a:t>
            </a:r>
          </a:p>
        </p:txBody>
      </p:sp>
      <p:sp>
        <p:nvSpPr>
          <p:cNvPr id="37" name="Panel"/>
          <p:cNvSpPr/>
          <p:nvPr/>
        </p:nvSpPr>
        <p:spPr>
          <a:xfrm>
            <a:off x="2400300" y="4162425"/>
            <a:ext cx="3543300" cy="2771775"/>
          </a:xfrm>
          <a:prstGeom prst="rect">
            <a:avLst/>
          </a:prstGeom>
          <a:solidFill>
            <a:srgbClr val="FAF7F3"/>
          </a:solidFill>
          <a:ln>
            <a:noFill/>
          </a:ln>
        </p:spPr>
        <p:txBody>
          <a:bodyPr rtlCol="0" anchor="ctr"/>
          <a:lstStyle/>
          <a:p>
            <a:pPr algn="ctr"/>
          </a:p>
        </p:txBody>
      </p:sp>
      <p:sp>
        <p:nvSpPr>
          <p:cNvPr id="38" name="Rule"/>
          <p:cNvSpPr/>
          <p:nvPr/>
        </p:nvSpPr>
        <p:spPr>
          <a:xfrm>
            <a:off x="2400300" y="4162425"/>
            <a:ext cx="3543300" cy="28575"/>
          </a:xfrm>
          <a:prstGeom prst="rect">
            <a:avLst/>
          </a:prstGeom>
          <a:solidFill>
            <a:srgbClr val="B68757"/>
          </a:solidFill>
          <a:ln>
            <a:noFill/>
          </a:ln>
        </p:spPr>
        <p:txBody>
          <a:bodyPr rtlCol="0" anchor="ctr"/>
          <a:lstStyle/>
          <a:p>
            <a:pPr algn="ctr"/>
          </a:p>
        </p:txBody>
      </p:sp>
      <p:sp>
        <p:nvSpPr>
          <p:cNvPr id="39" name="TextBox 38"/>
          <p:cNvSpPr txBox="1"/>
          <p:nvPr/>
        </p:nvSpPr>
        <p:spPr>
          <a:xfrm>
            <a:off x="2552700" y="4299299"/>
            <a:ext cx="2048024" cy="104775"/>
          </a:xfrm>
          <a:prstGeom prst="rect">
            <a:avLst/>
          </a:prstGeom>
          <a:noFill/>
        </p:spPr>
        <p:txBody>
          <a:bodyPr wrap="none" lIns="0" rIns="0" tIns="0" bIns="0" anchor="t">
            <a:noAutofit/>
          </a:bodyPr>
          <a:lstStyle/>
          <a:p>
            <a:pPr algn="l">
              <a:lnSpc>
                <a:spcPts val="975"/>
              </a:lnSpc>
              <a:spcBef>
                <a:spcPts val="0"/>
              </a:spcBef>
              <a:spcAft>
                <a:spcPts val="0"/>
              </a:spcAft>
            </a:pPr>
            <a:r>
              <a:rPr sz="638" b="1" i="0" spc="150">
                <a:solidFill>
                  <a:srgbClr val="8C6239"/>
                </a:solidFill>
                <a:latin typeface="Quicksand"/>
              </a:rPr>
              <a:t>GLOBAL ELECTRONICS ASSOCIATION</a:t>
            </a:r>
          </a:p>
        </p:txBody>
      </p:sp>
      <p:sp>
        <p:nvSpPr>
          <p:cNvPr id="40" name="TextBox 39"/>
          <p:cNvSpPr txBox="1"/>
          <p:nvPr/>
        </p:nvSpPr>
        <p:spPr>
          <a:xfrm>
            <a:off x="5116711" y="4301395"/>
            <a:ext cx="731639" cy="114300"/>
          </a:xfrm>
          <a:prstGeom prst="rect">
            <a:avLst/>
          </a:prstGeom>
          <a:noFill/>
        </p:spPr>
        <p:txBody>
          <a:bodyPr wrap="none" lIns="0" rIns="0" tIns="0" bIns="0" anchor="t">
            <a:noAutofit/>
          </a:bodyPr>
          <a:lstStyle/>
          <a:p>
            <a:pPr algn="l">
              <a:lnSpc>
                <a:spcPts val="975"/>
              </a:lnSpc>
              <a:spcBef>
                <a:spcPts val="0"/>
              </a:spcBef>
              <a:spcAft>
                <a:spcPts val="0"/>
              </a:spcAft>
            </a:pPr>
            <a:r>
              <a:rPr sz="712" b="0" i="0" spc="15">
                <a:solidFill>
                  <a:srgbClr val="6F6A66"/>
                </a:solidFill>
                <a:latin typeface="Quicksand"/>
              </a:rPr>
              <a:t>October 1, 2026</a:t>
            </a:r>
          </a:p>
        </p:txBody>
      </p:sp>
      <p:sp>
        <p:nvSpPr>
          <p:cNvPr id="41" name="TextBox 40"/>
          <p:cNvSpPr txBox="1"/>
          <p:nvPr/>
        </p:nvSpPr>
        <p:spPr>
          <a:xfrm>
            <a:off x="2552700" y="4475798"/>
            <a:ext cx="3314700" cy="328612"/>
          </a:xfrm>
          <a:prstGeom prst="rect">
            <a:avLst/>
          </a:prstGeom>
          <a:noFill/>
        </p:spPr>
        <p:txBody>
          <a:bodyPr wrap="square" lIns="0" rIns="0" tIns="0" bIns="0" anchor="t">
            <a:noAutofit/>
          </a:bodyPr>
          <a:lstStyle/>
          <a:p>
            <a:pPr algn="l">
              <a:lnSpc>
                <a:spcPts val="1462"/>
              </a:lnSpc>
              <a:spcBef>
                <a:spcPts val="0"/>
              </a:spcBef>
              <a:spcAft>
                <a:spcPts val="0"/>
              </a:spcAft>
            </a:pPr>
            <a:r>
              <a:rPr sz="1125" b="1" i="0">
                <a:solidFill>
                  <a:srgbClr val="1B1A1A"/>
                </a:solidFill>
                <a:latin typeface="Newsreader"/>
              </a:rPr>
              <a:t>North American EMS Orders Outpace Shipments in August as Bookings Rise 53.5% Year-Over-Year</a:t>
            </a:r>
          </a:p>
        </p:txBody>
      </p:sp>
      <p:sp>
        <p:nvSpPr>
          <p:cNvPr id="42" name="Rule"/>
          <p:cNvSpPr/>
          <p:nvPr/>
        </p:nvSpPr>
        <p:spPr>
          <a:xfrm>
            <a:off x="2552700" y="4972050"/>
            <a:ext cx="19050" cy="661988"/>
          </a:xfrm>
          <a:prstGeom prst="rect">
            <a:avLst/>
          </a:prstGeom>
          <a:solidFill>
            <a:srgbClr val="B68757"/>
          </a:solidFill>
          <a:ln>
            <a:noFill/>
          </a:ln>
        </p:spPr>
        <p:txBody>
          <a:bodyPr rtlCol="0" anchor="ctr"/>
          <a:lstStyle/>
          <a:p>
            <a:pPr algn="ctr"/>
          </a:p>
        </p:txBody>
      </p:sp>
      <p:sp>
        <p:nvSpPr>
          <p:cNvPr id="43" name="TextBox 42"/>
          <p:cNvSpPr txBox="1"/>
          <p:nvPr/>
        </p:nvSpPr>
        <p:spPr>
          <a:xfrm>
            <a:off x="2686050" y="4938712"/>
            <a:ext cx="3181350" cy="447675"/>
          </a:xfrm>
          <a:prstGeom prst="rect">
            <a:avLst/>
          </a:prstGeom>
          <a:noFill/>
        </p:spPr>
        <p:txBody>
          <a:bodyPr wrap="square" lIns="0" rIns="0" tIns="0" bIns="0" anchor="t">
            <a:noAutofit/>
          </a:bodyPr>
          <a:lstStyle/>
          <a:p>
            <a:pPr algn="l">
              <a:lnSpc>
                <a:spcPts val="1312"/>
              </a:lnSpc>
              <a:spcBef>
                <a:spcPts val="0"/>
              </a:spcBef>
              <a:spcAft>
                <a:spcPts val="0"/>
              </a:spcAft>
            </a:pPr>
            <a:r>
              <a:rPr sz="938" b="0" i="1">
                <a:solidFill>
                  <a:srgbClr val="2A2928"/>
                </a:solidFill>
                <a:latin typeface="Newsreader"/>
              </a:rPr>
              <a:t>“Strong bookings support the production outlook, but securing the materials needed to fulfill those orders remains a challenge.”</a:t>
            </a:r>
          </a:p>
        </p:txBody>
      </p:sp>
      <p:sp>
        <p:nvSpPr>
          <p:cNvPr id="44" name="TextBox 43"/>
          <p:cNvSpPr txBox="1"/>
          <p:nvPr/>
        </p:nvSpPr>
        <p:spPr>
          <a:xfrm>
            <a:off x="2686050" y="5487257"/>
            <a:ext cx="3029396" cy="114300"/>
          </a:xfrm>
          <a:prstGeom prst="rect">
            <a:avLst/>
          </a:prstGeom>
          <a:noFill/>
        </p:spPr>
        <p:txBody>
          <a:bodyPr wrap="none" lIns="0" rIns="0" tIns="0" bIns="0" anchor="t">
            <a:noAutofit/>
          </a:bodyPr>
          <a:lstStyle/>
          <a:p>
            <a:pPr algn="l">
              <a:lnSpc>
                <a:spcPts val="1050"/>
              </a:lnSpc>
              <a:spcBef>
                <a:spcPts val="0"/>
              </a:spcBef>
              <a:spcAft>
                <a:spcPts val="0"/>
              </a:spcAft>
            </a:pPr>
            <a:r>
              <a:rPr sz="712" b="0" i="0" spc="15">
                <a:solidFill>
                  <a:srgbClr val="6F6A66"/>
                </a:solidFill>
                <a:latin typeface="Quicksand"/>
              </a:rPr>
              <a:t>Dr. Shawn DuBravac, Chief Economist, Global Electronics Association</a:t>
            </a:r>
          </a:p>
        </p:txBody>
      </p:sp>
      <p:sp>
        <p:nvSpPr>
          <p:cNvPr id="45" name="TextBox 44"/>
          <p:cNvSpPr txBox="1"/>
          <p:nvPr/>
        </p:nvSpPr>
        <p:spPr>
          <a:xfrm>
            <a:off x="2552700" y="6037040"/>
            <a:ext cx="3314700" cy="428625"/>
          </a:xfrm>
          <a:prstGeom prst="rect">
            <a:avLst/>
          </a:prstGeom>
          <a:noFill/>
        </p:spPr>
        <p:txBody>
          <a:bodyPr wrap="square" lIns="0" rIns="0" tIns="0" bIns="0" anchor="t">
            <a:noAutofit/>
          </a:bodyPr>
          <a:lstStyle/>
          <a:p>
            <a:pPr algn="l">
              <a:lnSpc>
                <a:spcPts val="1162"/>
              </a:lnSpc>
              <a:spcBef>
                <a:spcPts val="0"/>
              </a:spcBef>
              <a:spcAft>
                <a:spcPts val="0"/>
              </a:spcAft>
            </a:pPr>
            <a:r>
              <a:rPr sz="788" b="1" i="0" spc="15">
                <a:solidFill>
                  <a:srgbClr val="1B1A1A"/>
                </a:solidFill>
                <a:latin typeface="Quicksand"/>
              </a:rPr>
              <a:t>Key takeaway.</a:t>
            </a:r>
            <a:r>
              <a:rPr sz="788" b="0" i="0" spc="15">
                <a:solidFill>
                  <a:srgbClr val="333231"/>
                </a:solidFill>
                <a:latin typeface="Quicksand"/>
              </a:rPr>
              <a:t> Bookings rose 53.5% while shipments rose 1.0%. Buyers value backlog that converts to shipments, which makes component supply a diligence question.</a:t>
            </a:r>
          </a:p>
        </p:txBody>
      </p:sp>
      <p:sp>
        <p:nvSpPr>
          <p:cNvPr id="46" name="Panel">
            <a:hlinkClick r:id="rId6"/>
          </p:cNvPr>
          <p:cNvSpPr/>
          <p:nvPr/>
        </p:nvSpPr>
        <p:spPr>
          <a:xfrm>
            <a:off x="2552700" y="6581775"/>
            <a:ext cx="904875" cy="228600"/>
          </a:xfrm>
          <a:prstGeom prst="rect">
            <a:avLst/>
          </a:prstGeom>
          <a:solidFill>
            <a:srgbClr val="1B1A1A"/>
          </a:solidFill>
          <a:ln>
            <a:noFill/>
          </a:ln>
        </p:spPr>
        <p:txBody>
          <a:bodyPr rtlCol="0" anchor="ctr"/>
          <a:lstStyle/>
          <a:p>
            <a:pPr algn="ctr"/>
          </a:p>
        </p:txBody>
      </p:sp>
      <p:sp>
        <p:nvSpPr>
          <p:cNvPr id="47" name="TextBox 46">
            <a:hlinkClick r:id="rId6"/>
          </p:cNvPr>
          <p:cNvSpPr txBox="1"/>
          <p:nvPr/>
        </p:nvSpPr>
        <p:spPr>
          <a:xfrm>
            <a:off x="2686050" y="6629210"/>
            <a:ext cx="695325" cy="104775"/>
          </a:xfrm>
          <a:prstGeom prst="rect">
            <a:avLst/>
          </a:prstGeom>
          <a:noFill/>
        </p:spPr>
        <p:txBody>
          <a:bodyPr wrap="none" lIns="0" rIns="0" tIns="0" bIns="0" anchor="t">
            <a:noAutofit/>
          </a:bodyPr>
          <a:lstStyle/>
          <a:p>
            <a:pPr algn="l">
              <a:lnSpc>
                <a:spcPts val="900"/>
              </a:lnSpc>
              <a:spcBef>
                <a:spcPts val="0"/>
              </a:spcBef>
              <a:spcAft>
                <a:spcPts val="0"/>
              </a:spcAft>
            </a:pPr>
            <a:r>
              <a:rPr sz="675" b="1" i="0" spc="150">
                <a:solidFill>
                  <a:srgbClr val="FFFFFF"/>
                </a:solidFill>
                <a:latin typeface="Quicksand"/>
              </a:rPr>
              <a:t>READ HERE</a:t>
            </a:r>
          </a:p>
        </p:txBody>
      </p:sp>
      <p:sp>
        <p:nvSpPr>
          <p:cNvPr id="48" name="Panel"/>
          <p:cNvSpPr/>
          <p:nvPr/>
        </p:nvSpPr>
        <p:spPr>
          <a:xfrm>
            <a:off x="6096000" y="4162425"/>
            <a:ext cx="3543300" cy="2771775"/>
          </a:xfrm>
          <a:prstGeom prst="rect">
            <a:avLst/>
          </a:prstGeom>
          <a:solidFill>
            <a:srgbClr val="FAF7F3"/>
          </a:solidFill>
          <a:ln>
            <a:noFill/>
          </a:ln>
        </p:spPr>
        <p:txBody>
          <a:bodyPr rtlCol="0" anchor="ctr"/>
          <a:lstStyle/>
          <a:p>
            <a:pPr algn="ctr"/>
          </a:p>
        </p:txBody>
      </p:sp>
      <p:sp>
        <p:nvSpPr>
          <p:cNvPr id="49" name="Rule"/>
          <p:cNvSpPr/>
          <p:nvPr/>
        </p:nvSpPr>
        <p:spPr>
          <a:xfrm>
            <a:off x="6096000" y="4162425"/>
            <a:ext cx="3543300" cy="28575"/>
          </a:xfrm>
          <a:prstGeom prst="rect">
            <a:avLst/>
          </a:prstGeom>
          <a:solidFill>
            <a:srgbClr val="B68757"/>
          </a:solidFill>
          <a:ln>
            <a:noFill/>
          </a:ln>
        </p:spPr>
        <p:txBody>
          <a:bodyPr rtlCol="0" anchor="ctr"/>
          <a:lstStyle/>
          <a:p>
            <a:pPr algn="ctr"/>
          </a:p>
        </p:txBody>
      </p:sp>
      <p:sp>
        <p:nvSpPr>
          <p:cNvPr id="50" name="TextBox 49"/>
          <p:cNvSpPr txBox="1"/>
          <p:nvPr/>
        </p:nvSpPr>
        <p:spPr>
          <a:xfrm>
            <a:off x="6248400" y="4299299"/>
            <a:ext cx="2669828" cy="228600"/>
          </a:xfrm>
          <a:prstGeom prst="rect">
            <a:avLst/>
          </a:prstGeom>
          <a:noFill/>
        </p:spPr>
        <p:txBody>
          <a:bodyPr wrap="square" lIns="0" rIns="0" tIns="0" bIns="0" anchor="t">
            <a:noAutofit/>
          </a:bodyPr>
          <a:lstStyle/>
          <a:p>
            <a:pPr algn="l">
              <a:lnSpc>
                <a:spcPts val="975"/>
              </a:lnSpc>
              <a:spcBef>
                <a:spcPts val="0"/>
              </a:spcBef>
              <a:spcAft>
                <a:spcPts val="0"/>
              </a:spcAft>
            </a:pPr>
            <a:r>
              <a:rPr sz="638" b="1" i="0" spc="150">
                <a:solidFill>
                  <a:srgbClr val="8C6239"/>
                </a:solidFill>
                <a:latin typeface="Quicksand"/>
              </a:rPr>
              <a:t>DEPARTMENT OF WAR, CHIEF INFORMATION OFFICER</a:t>
            </a:r>
          </a:p>
        </p:txBody>
      </p:sp>
      <p:sp>
        <p:nvSpPr>
          <p:cNvPr id="51" name="TextBox 50"/>
          <p:cNvSpPr txBox="1"/>
          <p:nvPr/>
        </p:nvSpPr>
        <p:spPr>
          <a:xfrm>
            <a:off x="8937278" y="4301395"/>
            <a:ext cx="606772" cy="114300"/>
          </a:xfrm>
          <a:prstGeom prst="rect">
            <a:avLst/>
          </a:prstGeom>
          <a:noFill/>
        </p:spPr>
        <p:txBody>
          <a:bodyPr wrap="none" lIns="0" rIns="0" tIns="0" bIns="0" anchor="t">
            <a:noAutofit/>
          </a:bodyPr>
          <a:lstStyle/>
          <a:p>
            <a:pPr algn="l">
              <a:lnSpc>
                <a:spcPts val="975"/>
              </a:lnSpc>
              <a:spcBef>
                <a:spcPts val="0"/>
              </a:spcBef>
              <a:spcAft>
                <a:spcPts val="0"/>
              </a:spcAft>
            </a:pPr>
            <a:r>
              <a:rPr sz="712" b="0" i="0" spc="15">
                <a:solidFill>
                  <a:srgbClr val="6F6A66"/>
                </a:solidFill>
                <a:latin typeface="Quicksand"/>
              </a:rPr>
              <a:t>July 13, 2026</a:t>
            </a:r>
          </a:p>
        </p:txBody>
      </p:sp>
      <p:sp>
        <p:nvSpPr>
          <p:cNvPr id="52" name="TextBox 51"/>
          <p:cNvSpPr txBox="1"/>
          <p:nvPr/>
        </p:nvSpPr>
        <p:spPr>
          <a:xfrm>
            <a:off x="6248400" y="4599622"/>
            <a:ext cx="3155156" cy="142875"/>
          </a:xfrm>
          <a:prstGeom prst="rect">
            <a:avLst/>
          </a:prstGeom>
          <a:noFill/>
        </p:spPr>
        <p:txBody>
          <a:bodyPr wrap="none" lIns="0" rIns="0" tIns="0" bIns="0" anchor="t">
            <a:noAutofit/>
          </a:bodyPr>
          <a:lstStyle/>
          <a:p>
            <a:pPr algn="l">
              <a:lnSpc>
                <a:spcPts val="1462"/>
              </a:lnSpc>
              <a:spcBef>
                <a:spcPts val="0"/>
              </a:spcBef>
              <a:spcAft>
                <a:spcPts val="0"/>
              </a:spcAft>
            </a:pPr>
            <a:r>
              <a:rPr sz="1125" b="1" i="0">
                <a:solidFill>
                  <a:srgbClr val="1B1A1A"/>
                </a:solidFill>
                <a:latin typeface="Newsreader"/>
              </a:rPr>
              <a:t>About CMMC: Phase II requirements suspended</a:t>
            </a:r>
          </a:p>
        </p:txBody>
      </p:sp>
      <p:sp>
        <p:nvSpPr>
          <p:cNvPr id="53" name="Rule"/>
          <p:cNvSpPr/>
          <p:nvPr/>
        </p:nvSpPr>
        <p:spPr>
          <a:xfrm>
            <a:off x="6248400" y="4910138"/>
            <a:ext cx="19050" cy="495300"/>
          </a:xfrm>
          <a:prstGeom prst="rect">
            <a:avLst/>
          </a:prstGeom>
          <a:solidFill>
            <a:srgbClr val="B68757"/>
          </a:solidFill>
          <a:ln>
            <a:noFill/>
          </a:ln>
        </p:spPr>
        <p:txBody>
          <a:bodyPr rtlCol="0" anchor="ctr"/>
          <a:lstStyle/>
          <a:p>
            <a:pPr algn="ctr"/>
          </a:p>
        </p:txBody>
      </p:sp>
      <p:sp>
        <p:nvSpPr>
          <p:cNvPr id="54" name="TextBox 53"/>
          <p:cNvSpPr txBox="1"/>
          <p:nvPr/>
        </p:nvSpPr>
        <p:spPr>
          <a:xfrm>
            <a:off x="6381750" y="4876800"/>
            <a:ext cx="3181350" cy="280988"/>
          </a:xfrm>
          <a:prstGeom prst="rect">
            <a:avLst/>
          </a:prstGeom>
          <a:noFill/>
        </p:spPr>
        <p:txBody>
          <a:bodyPr wrap="square" lIns="0" rIns="0" tIns="0" bIns="0" anchor="t">
            <a:noAutofit/>
          </a:bodyPr>
          <a:lstStyle/>
          <a:p>
            <a:pPr algn="l">
              <a:lnSpc>
                <a:spcPts val="1312"/>
              </a:lnSpc>
              <a:spcBef>
                <a:spcPts val="0"/>
              </a:spcBef>
              <a:spcAft>
                <a:spcPts val="0"/>
              </a:spcAft>
            </a:pPr>
            <a:r>
              <a:rPr sz="938" b="0" i="1">
                <a:solidFill>
                  <a:srgbClr val="2A2928"/>
                </a:solidFill>
                <a:latin typeface="Newsreader"/>
              </a:rPr>
              <a:t>“All Phase I self-assessment requirements remain firmly in place.”</a:t>
            </a:r>
          </a:p>
        </p:txBody>
      </p:sp>
      <p:sp>
        <p:nvSpPr>
          <p:cNvPr id="55" name="TextBox 54"/>
          <p:cNvSpPr txBox="1"/>
          <p:nvPr/>
        </p:nvSpPr>
        <p:spPr>
          <a:xfrm>
            <a:off x="6381750" y="5258657"/>
            <a:ext cx="3004096" cy="114300"/>
          </a:xfrm>
          <a:prstGeom prst="rect">
            <a:avLst/>
          </a:prstGeom>
          <a:noFill/>
        </p:spPr>
        <p:txBody>
          <a:bodyPr wrap="none" lIns="0" rIns="0" tIns="0" bIns="0" anchor="t">
            <a:noAutofit/>
          </a:bodyPr>
          <a:lstStyle/>
          <a:p>
            <a:pPr algn="l">
              <a:lnSpc>
                <a:spcPts val="1050"/>
              </a:lnSpc>
              <a:spcBef>
                <a:spcPts val="0"/>
              </a:spcBef>
              <a:spcAft>
                <a:spcPts val="0"/>
              </a:spcAft>
            </a:pPr>
            <a:r>
              <a:rPr sz="712" b="0" i="0" spc="15">
                <a:solidFill>
                  <a:srgbClr val="6F6A66"/>
                </a:solidFill>
                <a:latin typeface="Quicksand"/>
              </a:rPr>
              <a:t>Department of War Chief Information Officer, CMMC program page</a:t>
            </a:r>
          </a:p>
        </p:txBody>
      </p:sp>
      <p:sp>
        <p:nvSpPr>
          <p:cNvPr id="56" name="TextBox 55"/>
          <p:cNvSpPr txBox="1"/>
          <p:nvPr/>
        </p:nvSpPr>
        <p:spPr>
          <a:xfrm>
            <a:off x="6248400" y="6037040"/>
            <a:ext cx="3314700" cy="428625"/>
          </a:xfrm>
          <a:prstGeom prst="rect">
            <a:avLst/>
          </a:prstGeom>
          <a:noFill/>
        </p:spPr>
        <p:txBody>
          <a:bodyPr wrap="square" lIns="0" rIns="0" tIns="0" bIns="0" anchor="t">
            <a:noAutofit/>
          </a:bodyPr>
          <a:lstStyle/>
          <a:p>
            <a:pPr algn="l">
              <a:lnSpc>
                <a:spcPts val="1162"/>
              </a:lnSpc>
              <a:spcBef>
                <a:spcPts val="0"/>
              </a:spcBef>
              <a:spcAft>
                <a:spcPts val="0"/>
              </a:spcAft>
            </a:pPr>
            <a:r>
              <a:rPr sz="788" b="1" i="0" spc="15">
                <a:solidFill>
                  <a:srgbClr val="1B1A1A"/>
                </a:solidFill>
                <a:latin typeface="Quicksand"/>
              </a:rPr>
              <a:t>Key takeaway.</a:t>
            </a:r>
            <a:r>
              <a:rPr sz="788" b="0" i="0" spc="15">
                <a:solidFill>
                  <a:srgbClr val="333231"/>
                </a:solidFill>
                <a:latin typeface="Quicksand"/>
              </a:rPr>
              <a:t> Third-party certification for defense suppliers is paused while a task force reviews the program. Self-assessment against NIST 800-171 still applies (</a:t>
            </a:r>
            <a:r>
              <a:rPr sz="788" b="0" i="0" spc="15" u="sng">
                <a:solidFill>
                  <a:srgbClr val="8C6239"/>
                </a:solidFill>
                <a:latin typeface="Quicksand"/>
                <a:hlinkClick r:id="rId7">
                  <a:extLst>
                    <a:ext uri="{A12FA001-AC4F-418D-AE19-62706E023703}">
                      <ahyp:hlinkClr xmlns:ahyp="http://schemas.microsoft.com/office/drawing/2018/hyperlinkcolor" val="tx"/>
                    </a:ext>
                  </a:extLst>
                </a:hlinkClick>
              </a:rPr>
              <a:t>McGuireWoods analysis</a:t>
            </a:r>
            <a:r>
              <a:rPr sz="788" b="0" i="0" spc="15">
                <a:solidFill>
                  <a:srgbClr val="333231"/>
                </a:solidFill>
                <a:latin typeface="Quicksand"/>
              </a:rPr>
              <a:t>).</a:t>
            </a:r>
          </a:p>
        </p:txBody>
      </p:sp>
      <p:sp>
        <p:nvSpPr>
          <p:cNvPr id="57" name="Panel">
            <a:hlinkClick r:id="rId8"/>
          </p:cNvPr>
          <p:cNvSpPr/>
          <p:nvPr/>
        </p:nvSpPr>
        <p:spPr>
          <a:xfrm>
            <a:off x="6248400" y="6581775"/>
            <a:ext cx="904875" cy="228600"/>
          </a:xfrm>
          <a:prstGeom prst="rect">
            <a:avLst/>
          </a:prstGeom>
          <a:solidFill>
            <a:srgbClr val="1B1A1A"/>
          </a:solidFill>
          <a:ln>
            <a:noFill/>
          </a:ln>
        </p:spPr>
        <p:txBody>
          <a:bodyPr rtlCol="0" anchor="ctr"/>
          <a:lstStyle/>
          <a:p>
            <a:pPr algn="ctr"/>
          </a:p>
        </p:txBody>
      </p:sp>
      <p:sp>
        <p:nvSpPr>
          <p:cNvPr id="58" name="TextBox 57">
            <a:hlinkClick r:id="rId8"/>
          </p:cNvPr>
          <p:cNvSpPr txBox="1"/>
          <p:nvPr/>
        </p:nvSpPr>
        <p:spPr>
          <a:xfrm>
            <a:off x="6381750" y="6629210"/>
            <a:ext cx="695325" cy="104775"/>
          </a:xfrm>
          <a:prstGeom prst="rect">
            <a:avLst/>
          </a:prstGeom>
          <a:noFill/>
        </p:spPr>
        <p:txBody>
          <a:bodyPr wrap="none" lIns="0" rIns="0" tIns="0" bIns="0" anchor="t">
            <a:noAutofit/>
          </a:bodyPr>
          <a:lstStyle/>
          <a:p>
            <a:pPr algn="l">
              <a:lnSpc>
                <a:spcPts val="900"/>
              </a:lnSpc>
              <a:spcBef>
                <a:spcPts val="0"/>
              </a:spcBef>
              <a:spcAft>
                <a:spcPts val="0"/>
              </a:spcAft>
            </a:pPr>
            <a:r>
              <a:rPr sz="675" b="1" i="0" spc="150">
                <a:solidFill>
                  <a:srgbClr val="FFFFFF"/>
                </a:solidFill>
                <a:latin typeface="Quicksand"/>
              </a:rPr>
              <a:t>READ HERE</a:t>
            </a:r>
          </a:p>
        </p:txBody>
      </p:sp>
      <p:sp>
        <p:nvSpPr>
          <p:cNvPr id="59" name="Panel"/>
          <p:cNvSpPr/>
          <p:nvPr/>
        </p:nvSpPr>
        <p:spPr>
          <a:xfrm>
            <a:off x="419100" y="7029450"/>
            <a:ext cx="9220200" cy="9525"/>
          </a:xfrm>
          <a:prstGeom prst="rect">
            <a:avLst/>
          </a:prstGeom>
          <a:solidFill>
            <a:srgbClr val="E3DCD3"/>
          </a:solidFill>
          <a:ln>
            <a:noFill/>
          </a:ln>
        </p:spPr>
        <p:txBody>
          <a:bodyPr rtlCol="0" anchor="ctr"/>
          <a:lstStyle/>
          <a:p>
            <a:pPr algn="ctr"/>
          </a:p>
        </p:txBody>
      </p:sp>
      <p:pic>
        <p:nvPicPr>
          <p:cNvPr id="60" name="Graphic" descr="S03_r6.png"/>
          <p:cNvPicPr>
            <a:picLocks noChangeAspect="1"/>
          </p:cNvPicPr>
          <p:nvPr/>
        </p:nvPicPr>
        <p:blipFill>
          <a:blip r:embed="rId9"/>
          <a:stretch>
            <a:fillRect/>
          </a:stretch>
        </p:blipFill>
        <p:spPr>
          <a:xfrm>
            <a:off x="419100" y="7143750"/>
            <a:ext cx="914400" cy="171450"/>
          </a:xfrm>
          <a:prstGeom prst="rect">
            <a:avLst/>
          </a:prstGeom>
        </p:spPr>
      </p:pic>
      <p:sp>
        <p:nvSpPr>
          <p:cNvPr id="61" name="TextBox 60"/>
          <p:cNvSpPr txBox="1"/>
          <p:nvPr/>
        </p:nvSpPr>
        <p:spPr>
          <a:xfrm>
            <a:off x="1543050" y="7091172"/>
            <a:ext cx="7810500" cy="223838"/>
          </a:xfrm>
          <a:prstGeom prst="rect">
            <a:avLst/>
          </a:prstGeom>
          <a:noFill/>
        </p:spPr>
        <p:txBody>
          <a:bodyPr wrap="square" lIns="0" rIns="0" tIns="0" bIns="0" anchor="t">
            <a:noAutofit/>
          </a:bodyPr>
          <a:lstStyle/>
          <a:p>
            <a:pPr algn="l">
              <a:lnSpc>
                <a:spcPts val="938"/>
              </a:lnSpc>
              <a:spcBef>
                <a:spcPts val="0"/>
              </a:spcBef>
              <a:spcAft>
                <a:spcPts val="0"/>
              </a:spcAft>
            </a:pPr>
            <a:r>
              <a:rPr sz="675" b="0" i="0" spc="8">
                <a:solidFill>
                  <a:srgbClr val="6F6A66"/>
                </a:solidFill>
                <a:latin typeface="Quicksand"/>
              </a:rPr>
              <a:t>Quotations are reproduced as published. ARR is annual recurring revenue. EMS is electronics manufacturing services. NIST 800-171 is the federal standard for protecting controlled unclassified information.</a:t>
            </a:r>
          </a:p>
        </p:txBody>
      </p:sp>
      <p:sp>
        <p:nvSpPr>
          <p:cNvPr id="62" name="TextBox 61"/>
          <p:cNvSpPr txBox="1"/>
          <p:nvPr/>
        </p:nvSpPr>
        <p:spPr>
          <a:xfrm>
            <a:off x="9493448" y="7149370"/>
            <a:ext cx="145852" cy="114300"/>
          </a:xfrm>
          <a:prstGeom prst="rect">
            <a:avLst/>
          </a:prstGeom>
          <a:noFill/>
        </p:spPr>
        <p:txBody>
          <a:bodyPr wrap="none" lIns="0" rIns="0" tIns="0" bIns="0" anchor="t">
            <a:noAutofit/>
          </a:bodyPr>
          <a:lstStyle/>
          <a:p>
            <a:pPr algn="r">
              <a:lnSpc>
                <a:spcPts val="1050"/>
              </a:lnSpc>
              <a:spcBef>
                <a:spcPts val="0"/>
              </a:spcBef>
              <a:spcAft>
                <a:spcPts val="0"/>
              </a:spcAft>
            </a:pPr>
            <a:r>
              <a:rPr sz="712" b="1" i="0" spc="150">
                <a:solidFill>
                  <a:srgbClr val="1B1A1A"/>
                </a:solidFill>
                <a:latin typeface="Quicksand"/>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B1A1A"/>
        </a:solidFill>
        <a:effectLst/>
      </p:bgPr>
    </p:bg>
    <p:spTree>
      <p:nvGrpSpPr>
        <p:cNvPr id="1" name=""/>
        <p:cNvGrpSpPr/>
        <p:nvPr/>
      </p:nvGrpSpPr>
      <p:grpSpPr/>
      <p:sp>
        <p:nvSpPr>
          <p:cNvPr id="3" name="Panel"/>
          <p:cNvSpPr/>
          <p:nvPr/>
        </p:nvSpPr>
        <p:spPr>
          <a:xfrm>
            <a:off x="0" y="0"/>
            <a:ext cx="10058400" cy="7772400"/>
          </a:xfrm>
          <a:prstGeom prst="rect">
            <a:avLst/>
          </a:prstGeom>
          <a:solidFill>
            <a:srgbClr val="1B1A1A"/>
          </a:solidFill>
          <a:ln>
            <a:noFill/>
          </a:ln>
        </p:spPr>
        <p:txBody>
          <a:bodyPr rtlCol="0" anchor="ctr"/>
          <a:lstStyle/>
          <a:p>
            <a:pPr algn="ctr"/>
          </a:p>
        </p:txBody>
      </p:sp>
      <p:pic>
        <p:nvPicPr>
          <p:cNvPr id="4" name="Picture" descr="knot.jpg"/>
          <p:cNvPicPr>
            <a:picLocks noChangeAspect="1"/>
          </p:cNvPicPr>
          <p:nvPr/>
        </p:nvPicPr>
        <p:blipFill>
          <a:blip r:embed="rId2">
            <a:alphaModFix amt="60000"/>
          </a:blip>
          <a:srcRect l="13603" r="13603"/>
          <a:stretch>
            <a:fillRect/>
          </a:stretch>
        </p:blipFill>
        <p:spPr>
          <a:xfrm>
            <a:off x="0" y="0"/>
            <a:ext cx="10058400" cy="7772400"/>
          </a:xfrm>
          <a:prstGeom prst="rect">
            <a:avLst/>
          </a:prstGeom>
        </p:spPr>
      </p:pic>
      <p:pic>
        <p:nvPicPr>
          <p:cNvPr id="5" name="Graphic" descr="S06_r0.png"/>
          <p:cNvPicPr>
            <a:picLocks noChangeAspect="1"/>
          </p:cNvPicPr>
          <p:nvPr/>
        </p:nvPicPr>
        <p:blipFill>
          <a:blip r:embed="rId3"/>
          <a:stretch>
            <a:fillRect/>
          </a:stretch>
        </p:blipFill>
        <p:spPr>
          <a:xfrm>
            <a:off x="4572000" y="0"/>
            <a:ext cx="5486400" cy="7772400"/>
          </a:xfrm>
          <a:prstGeom prst="rect">
            <a:avLst/>
          </a:prstGeom>
        </p:spPr>
      </p:pic>
      <p:pic>
        <p:nvPicPr>
          <p:cNvPr id="6" name="Graphic" descr="S02_r1.png"/>
          <p:cNvPicPr>
            <a:picLocks noChangeAspect="1"/>
          </p:cNvPicPr>
          <p:nvPr/>
        </p:nvPicPr>
        <p:blipFill>
          <a:blip r:embed="rId4"/>
          <a:stretch>
            <a:fillRect/>
          </a:stretch>
        </p:blipFill>
        <p:spPr>
          <a:xfrm>
            <a:off x="0" y="0"/>
            <a:ext cx="10058400" cy="7772400"/>
          </a:xfrm>
          <a:prstGeom prst="rect">
            <a:avLst/>
          </a:prstGeom>
        </p:spPr>
      </p:pic>
      <p:sp>
        <p:nvSpPr>
          <p:cNvPr id="7" name="TextBox 6"/>
          <p:cNvSpPr txBox="1"/>
          <p:nvPr/>
        </p:nvSpPr>
        <p:spPr>
          <a:xfrm>
            <a:off x="609600" y="1842135"/>
            <a:ext cx="1418183" cy="1543050"/>
          </a:xfrm>
          <a:prstGeom prst="rect">
            <a:avLst/>
          </a:prstGeom>
          <a:noFill/>
        </p:spPr>
        <p:txBody>
          <a:bodyPr wrap="none" lIns="0" rIns="0" tIns="0" bIns="0" anchor="t">
            <a:noAutofit/>
          </a:bodyPr>
          <a:lstStyle/>
          <a:p>
            <a:pPr algn="l">
              <a:lnSpc>
                <a:spcPts val="9000"/>
              </a:lnSpc>
              <a:spcBef>
                <a:spcPts val="0"/>
              </a:spcBef>
              <a:spcAft>
                <a:spcPts val="0"/>
              </a:spcAft>
            </a:pPr>
            <a:r>
              <a:rPr sz="9000" b="0" i="0" spc="300">
                <a:solidFill>
                  <a:srgbClr val="D3AE84"/>
                </a:solidFill>
                <a:latin typeface="Cinzel"/>
              </a:rPr>
              <a:t>02</a:t>
            </a:r>
          </a:p>
        </p:txBody>
      </p:sp>
      <p:sp>
        <p:nvSpPr>
          <p:cNvPr id="2" name="Title 1"/>
          <p:cNvSpPr>
            <a:spLocks noGrp="1"/>
          </p:cNvSpPr>
          <p:nvPr>
            <p:ph type="title"/>
          </p:nvPr>
        </p:nvSpPr>
        <p:spPr>
          <a:xfrm>
            <a:off x="609600" y="2836926"/>
            <a:ext cx="3509218" cy="514350"/>
          </a:xfrm>
        </p:spPr>
        <p:txBody>
          <a:bodyPr wrap="none" lIns="0" rIns="0" tIns="0" bIns="0" anchor="t">
            <a:noAutofit/>
          </a:bodyPr>
          <a:lstStyle/>
          <a:p>
            <a:pPr algn="l">
              <a:lnSpc>
                <a:spcPts val="4650"/>
              </a:lnSpc>
              <a:spcBef>
                <a:spcPts val="0"/>
              </a:spcBef>
              <a:spcAft>
                <a:spcPts val="0"/>
              </a:spcAft>
            </a:pPr>
            <a:r>
              <a:rPr sz="4050" b="1" i="0">
                <a:solidFill>
                  <a:srgbClr val="FFFFFF"/>
                </a:solidFill>
                <a:latin typeface="Newsreader"/>
              </a:rPr>
              <a:t>Sector Activity</a:t>
            </a:r>
          </a:p>
        </p:txBody>
      </p:sp>
      <p:sp>
        <p:nvSpPr>
          <p:cNvPr id="8" name="Panel"/>
          <p:cNvSpPr/>
          <p:nvPr/>
        </p:nvSpPr>
        <p:spPr>
          <a:xfrm>
            <a:off x="609600" y="3714750"/>
            <a:ext cx="914400" cy="19050"/>
          </a:xfrm>
          <a:prstGeom prst="rect">
            <a:avLst/>
          </a:prstGeom>
          <a:solidFill>
            <a:srgbClr val="B68757"/>
          </a:solidFill>
          <a:ln>
            <a:noFill/>
          </a:ln>
        </p:spPr>
        <p:txBody>
          <a:bodyPr rtlCol="0" anchor="ctr"/>
          <a:lstStyle/>
          <a:p>
            <a:pPr algn="ctr"/>
          </a:p>
        </p:txBody>
      </p:sp>
      <p:sp>
        <p:nvSpPr>
          <p:cNvPr id="9" name="Rule"/>
          <p:cNvSpPr/>
          <p:nvPr/>
        </p:nvSpPr>
        <p:spPr>
          <a:xfrm>
            <a:off x="609600" y="3924300"/>
            <a:ext cx="3333750" cy="9525"/>
          </a:xfrm>
          <a:prstGeom prst="rect">
            <a:avLst/>
          </a:prstGeom>
          <a:solidFill>
            <a:srgbClr val="FFFFFF">
              <a:alpha val="16000"/>
            </a:srgbClr>
          </a:solidFill>
          <a:ln>
            <a:noFill/>
          </a:ln>
        </p:spPr>
        <p:txBody>
          <a:bodyPr rtlCol="0" anchor="ctr"/>
          <a:lstStyle/>
          <a:p>
            <a:pPr algn="ctr"/>
          </a:p>
        </p:txBody>
      </p:sp>
      <p:sp>
        <p:nvSpPr>
          <p:cNvPr id="10" name="Panel"/>
          <p:cNvSpPr/>
          <p:nvPr/>
        </p:nvSpPr>
        <p:spPr>
          <a:xfrm>
            <a:off x="609600" y="4057650"/>
            <a:ext cx="57150" cy="57150"/>
          </a:xfrm>
          <a:prstGeom prst="rect">
            <a:avLst/>
          </a:prstGeom>
          <a:solidFill>
            <a:srgbClr val="B68757"/>
          </a:solidFill>
          <a:ln>
            <a:noFill/>
          </a:ln>
        </p:spPr>
        <p:txBody>
          <a:bodyPr rtlCol="0" anchor="ctr"/>
          <a:lstStyle/>
          <a:p>
            <a:pPr algn="ctr"/>
          </a:p>
        </p:txBody>
      </p:sp>
      <p:sp>
        <p:nvSpPr>
          <p:cNvPr id="11" name="TextBox 10"/>
          <p:cNvSpPr txBox="1"/>
          <p:nvPr/>
        </p:nvSpPr>
        <p:spPr>
          <a:xfrm>
            <a:off x="781050" y="3983831"/>
            <a:ext cx="1825377" cy="152400"/>
          </a:xfrm>
          <a:prstGeom prst="rect">
            <a:avLst/>
          </a:prstGeom>
          <a:noFill/>
        </p:spPr>
        <p:txBody>
          <a:bodyPr wrap="none" lIns="0" rIns="0" tIns="0" bIns="0" anchor="t">
            <a:noAutofit/>
          </a:bodyPr>
          <a:lstStyle/>
          <a:p>
            <a:pPr algn="l">
              <a:lnSpc>
                <a:spcPts val="1425"/>
              </a:lnSpc>
              <a:spcBef>
                <a:spcPts val="0"/>
              </a:spcBef>
              <a:spcAft>
                <a:spcPts val="0"/>
              </a:spcAft>
            </a:pPr>
            <a:r>
              <a:rPr sz="938" b="0" i="0" spc="15">
                <a:solidFill>
                  <a:srgbClr val="C3BDB6"/>
                </a:solidFill>
                <a:latin typeface="Quicksand"/>
              </a:rPr>
              <a:t>Select recent M&amp;A transactions</a:t>
            </a:r>
          </a:p>
        </p:txBody>
      </p:sp>
      <p:sp>
        <p:nvSpPr>
          <p:cNvPr id="12" name="Rule"/>
          <p:cNvSpPr/>
          <p:nvPr/>
        </p:nvSpPr>
        <p:spPr>
          <a:xfrm>
            <a:off x="609600" y="4267200"/>
            <a:ext cx="3333750" cy="9525"/>
          </a:xfrm>
          <a:prstGeom prst="rect">
            <a:avLst/>
          </a:prstGeom>
          <a:solidFill>
            <a:srgbClr val="FFFFFF">
              <a:alpha val="16000"/>
            </a:srgbClr>
          </a:solidFill>
          <a:ln>
            <a:noFill/>
          </a:ln>
        </p:spPr>
        <p:txBody>
          <a:bodyPr rtlCol="0" anchor="ctr"/>
          <a:lstStyle/>
          <a:p>
            <a:pPr algn="ctr"/>
          </a:p>
        </p:txBody>
      </p:sp>
      <p:sp>
        <p:nvSpPr>
          <p:cNvPr id="13" name="Panel"/>
          <p:cNvSpPr/>
          <p:nvPr/>
        </p:nvSpPr>
        <p:spPr>
          <a:xfrm>
            <a:off x="609600" y="4400550"/>
            <a:ext cx="57150" cy="57150"/>
          </a:xfrm>
          <a:prstGeom prst="rect">
            <a:avLst/>
          </a:prstGeom>
          <a:solidFill>
            <a:srgbClr val="B68757"/>
          </a:solidFill>
          <a:ln>
            <a:noFill/>
          </a:ln>
        </p:spPr>
        <p:txBody>
          <a:bodyPr rtlCol="0" anchor="ctr"/>
          <a:lstStyle/>
          <a:p>
            <a:pPr algn="ctr"/>
          </a:p>
        </p:txBody>
      </p:sp>
      <p:sp>
        <p:nvSpPr>
          <p:cNvPr id="14" name="TextBox 13"/>
          <p:cNvSpPr txBox="1"/>
          <p:nvPr/>
        </p:nvSpPr>
        <p:spPr>
          <a:xfrm>
            <a:off x="781050" y="4326731"/>
            <a:ext cx="2201168" cy="152400"/>
          </a:xfrm>
          <a:prstGeom prst="rect">
            <a:avLst/>
          </a:prstGeom>
          <a:noFill/>
        </p:spPr>
        <p:txBody>
          <a:bodyPr wrap="none" lIns="0" rIns="0" tIns="0" bIns="0" anchor="t">
            <a:noAutofit/>
          </a:bodyPr>
          <a:lstStyle/>
          <a:p>
            <a:pPr algn="l">
              <a:lnSpc>
                <a:spcPts val="1425"/>
              </a:lnSpc>
              <a:spcBef>
                <a:spcPts val="0"/>
              </a:spcBef>
              <a:spcAft>
                <a:spcPts val="0"/>
              </a:spcAft>
            </a:pPr>
            <a:r>
              <a:rPr sz="938" b="0" i="0" spc="15">
                <a:solidFill>
                  <a:srgbClr val="C3BDB6"/>
                </a:solidFill>
                <a:latin typeface="Quicksand"/>
              </a:rPr>
              <a:t>Benchmark International transactions</a:t>
            </a:r>
          </a:p>
        </p:txBody>
      </p:sp>
      <p:sp>
        <p:nvSpPr>
          <p:cNvPr id="15" name="Rule"/>
          <p:cNvSpPr/>
          <p:nvPr/>
        </p:nvSpPr>
        <p:spPr>
          <a:xfrm>
            <a:off x="609600" y="4610100"/>
            <a:ext cx="3333750" cy="9525"/>
          </a:xfrm>
          <a:prstGeom prst="rect">
            <a:avLst/>
          </a:prstGeom>
          <a:solidFill>
            <a:srgbClr val="FFFFFF">
              <a:alpha val="16000"/>
            </a:srgbClr>
          </a:solidFill>
          <a:ln>
            <a:noFill/>
          </a:ln>
        </p:spPr>
        <p:txBody>
          <a:bodyPr rtlCol="0" anchor="ctr"/>
          <a:lstStyle/>
          <a:p>
            <a:pPr algn="ctr"/>
          </a:p>
        </p:txBody>
      </p:sp>
      <p:sp>
        <p:nvSpPr>
          <p:cNvPr id="16" name="Panel"/>
          <p:cNvSpPr/>
          <p:nvPr/>
        </p:nvSpPr>
        <p:spPr>
          <a:xfrm>
            <a:off x="609600" y="4743450"/>
            <a:ext cx="57150" cy="57150"/>
          </a:xfrm>
          <a:prstGeom prst="rect">
            <a:avLst/>
          </a:prstGeom>
          <a:solidFill>
            <a:srgbClr val="B68757"/>
          </a:solidFill>
          <a:ln>
            <a:noFill/>
          </a:ln>
        </p:spPr>
        <p:txBody>
          <a:bodyPr rtlCol="0" anchor="ctr"/>
          <a:lstStyle/>
          <a:p>
            <a:pPr algn="ctr"/>
          </a:p>
        </p:txBody>
      </p:sp>
      <p:sp>
        <p:nvSpPr>
          <p:cNvPr id="17" name="TextBox 16"/>
          <p:cNvSpPr txBox="1"/>
          <p:nvPr/>
        </p:nvSpPr>
        <p:spPr>
          <a:xfrm>
            <a:off x="781050" y="4669631"/>
            <a:ext cx="2927300" cy="152400"/>
          </a:xfrm>
          <a:prstGeom prst="rect">
            <a:avLst/>
          </a:prstGeom>
          <a:noFill/>
        </p:spPr>
        <p:txBody>
          <a:bodyPr wrap="none" lIns="0" rIns="0" tIns="0" bIns="0" anchor="t">
            <a:noAutofit/>
          </a:bodyPr>
          <a:lstStyle/>
          <a:p>
            <a:pPr algn="l">
              <a:lnSpc>
                <a:spcPts val="1425"/>
              </a:lnSpc>
              <a:spcBef>
                <a:spcPts val="0"/>
              </a:spcBef>
              <a:spcAft>
                <a:spcPts val="0"/>
              </a:spcAft>
            </a:pPr>
            <a:r>
              <a:rPr sz="938" b="0" i="0" spc="15">
                <a:solidFill>
                  <a:srgbClr val="C3BDB6"/>
                </a:solidFill>
                <a:latin typeface="Quicksand"/>
              </a:rPr>
              <a:t>Public companies: valuation and operating metrics</a:t>
            </a:r>
          </a:p>
        </p:txBody>
      </p:sp>
      <p:sp>
        <p:nvSpPr>
          <p:cNvPr id="18" name="Rule"/>
          <p:cNvSpPr/>
          <p:nvPr/>
        </p:nvSpPr>
        <p:spPr>
          <a:xfrm>
            <a:off x="609600" y="4953000"/>
            <a:ext cx="3333750" cy="9525"/>
          </a:xfrm>
          <a:prstGeom prst="rect">
            <a:avLst/>
          </a:prstGeom>
          <a:solidFill>
            <a:srgbClr val="FFFFFF">
              <a:alpha val="16000"/>
            </a:srgbClr>
          </a:solidFill>
          <a:ln>
            <a:noFill/>
          </a:ln>
        </p:spPr>
        <p:txBody>
          <a:bodyPr rtlCol="0" anchor="ctr"/>
          <a:lstStyle/>
          <a:p>
            <a:pPr algn="ctr"/>
          </a:p>
        </p:txBody>
      </p:sp>
      <p:sp>
        <p:nvSpPr>
          <p:cNvPr id="19" name="Panel"/>
          <p:cNvSpPr/>
          <p:nvPr/>
        </p:nvSpPr>
        <p:spPr>
          <a:xfrm>
            <a:off x="609600" y="5086350"/>
            <a:ext cx="57150" cy="57150"/>
          </a:xfrm>
          <a:prstGeom prst="rect">
            <a:avLst/>
          </a:prstGeom>
          <a:solidFill>
            <a:srgbClr val="B68757"/>
          </a:solidFill>
          <a:ln>
            <a:noFill/>
          </a:ln>
        </p:spPr>
        <p:txBody>
          <a:bodyPr rtlCol="0" anchor="ctr"/>
          <a:lstStyle/>
          <a:p>
            <a:pPr algn="ctr"/>
          </a:p>
        </p:txBody>
      </p:sp>
      <p:sp>
        <p:nvSpPr>
          <p:cNvPr id="20" name="TextBox 19"/>
          <p:cNvSpPr txBox="1"/>
          <p:nvPr/>
        </p:nvSpPr>
        <p:spPr>
          <a:xfrm>
            <a:off x="781050" y="5012531"/>
            <a:ext cx="1569690" cy="152400"/>
          </a:xfrm>
          <a:prstGeom prst="rect">
            <a:avLst/>
          </a:prstGeom>
          <a:noFill/>
        </p:spPr>
        <p:txBody>
          <a:bodyPr wrap="none" lIns="0" rIns="0" tIns="0" bIns="0" anchor="t">
            <a:noAutofit/>
          </a:bodyPr>
          <a:lstStyle/>
          <a:p>
            <a:pPr algn="l">
              <a:lnSpc>
                <a:spcPts val="1425"/>
              </a:lnSpc>
              <a:spcBef>
                <a:spcPts val="0"/>
              </a:spcBef>
              <a:spcAft>
                <a:spcPts val="0"/>
              </a:spcAft>
            </a:pPr>
            <a:r>
              <a:rPr sz="938" b="0" i="0" spc="15">
                <a:solidFill>
                  <a:srgbClr val="C3BDB6"/>
                </a:solidFill>
                <a:latin typeface="Quicksand"/>
              </a:rPr>
              <a:t>Earnings and commentary</a:t>
            </a:r>
          </a:p>
        </p:txBody>
      </p:sp>
      <p:sp>
        <p:nvSpPr>
          <p:cNvPr id="21" name="Rule"/>
          <p:cNvSpPr/>
          <p:nvPr/>
        </p:nvSpPr>
        <p:spPr>
          <a:xfrm>
            <a:off x="609600" y="5295900"/>
            <a:ext cx="3333750" cy="9525"/>
          </a:xfrm>
          <a:prstGeom prst="rect">
            <a:avLst/>
          </a:prstGeom>
          <a:solidFill>
            <a:srgbClr val="FFFFFF">
              <a:alpha val="16000"/>
            </a:srgbClr>
          </a:solidFill>
          <a:ln>
            <a:noFill/>
          </a:ln>
        </p:spPr>
        <p:txBody>
          <a:bodyPr rtlCol="0" anchor="ctr"/>
          <a:lstStyle/>
          <a:p>
            <a:pPr algn="ctr"/>
          </a:p>
        </p:txBody>
      </p:sp>
      <p:sp>
        <p:nvSpPr>
          <p:cNvPr id="22" name="Panel"/>
          <p:cNvSpPr/>
          <p:nvPr/>
        </p:nvSpPr>
        <p:spPr>
          <a:xfrm>
            <a:off x="609600" y="5429250"/>
            <a:ext cx="57150" cy="57150"/>
          </a:xfrm>
          <a:prstGeom prst="rect">
            <a:avLst/>
          </a:prstGeom>
          <a:solidFill>
            <a:srgbClr val="B68757"/>
          </a:solidFill>
          <a:ln>
            <a:noFill/>
          </a:ln>
        </p:spPr>
        <p:txBody>
          <a:bodyPr rtlCol="0" anchor="ctr"/>
          <a:lstStyle/>
          <a:p>
            <a:pPr algn="ctr"/>
          </a:p>
        </p:txBody>
      </p:sp>
      <p:sp>
        <p:nvSpPr>
          <p:cNvPr id="23" name="TextBox 22"/>
          <p:cNvSpPr txBox="1"/>
          <p:nvPr/>
        </p:nvSpPr>
        <p:spPr>
          <a:xfrm>
            <a:off x="781050" y="5355431"/>
            <a:ext cx="1663452" cy="152400"/>
          </a:xfrm>
          <a:prstGeom prst="rect">
            <a:avLst/>
          </a:prstGeom>
          <a:noFill/>
        </p:spPr>
        <p:txBody>
          <a:bodyPr wrap="none" lIns="0" rIns="0" tIns="0" bIns="0" anchor="t">
            <a:noAutofit/>
          </a:bodyPr>
          <a:lstStyle/>
          <a:p>
            <a:pPr algn="l">
              <a:lnSpc>
                <a:spcPts val="1425"/>
              </a:lnSpc>
              <a:spcBef>
                <a:spcPts val="0"/>
              </a:spcBef>
              <a:spcAft>
                <a:spcPts val="0"/>
              </a:spcAft>
            </a:pPr>
            <a:r>
              <a:rPr sz="938" b="0" i="0" spc="15">
                <a:solidFill>
                  <a:srgbClr val="C3BDB6"/>
                </a:solidFill>
                <a:latin typeface="Quicksand"/>
              </a:rPr>
              <a:t>Cost and demand indicators</a:t>
            </a:r>
          </a:p>
        </p:txBody>
      </p:sp>
      <p:sp>
        <p:nvSpPr>
          <p:cNvPr id="24" name="Rule"/>
          <p:cNvSpPr/>
          <p:nvPr/>
        </p:nvSpPr>
        <p:spPr>
          <a:xfrm>
            <a:off x="609600" y="5638800"/>
            <a:ext cx="3333750" cy="9525"/>
          </a:xfrm>
          <a:prstGeom prst="rect">
            <a:avLst/>
          </a:prstGeom>
          <a:solidFill>
            <a:srgbClr val="FFFFFF">
              <a:alpha val="16000"/>
            </a:srgbClr>
          </a:solidFill>
          <a:ln>
            <a:noFill/>
          </a:ln>
        </p:spPr>
        <p:txBody>
          <a:bodyPr rtlCol="0" anchor="ctr"/>
          <a:lstStyle/>
          <a:p>
            <a:pPr algn="ctr"/>
          </a:p>
        </p:txBody>
      </p:sp>
      <p:sp>
        <p:nvSpPr>
          <p:cNvPr id="25" name="Panel"/>
          <p:cNvSpPr/>
          <p:nvPr/>
        </p:nvSpPr>
        <p:spPr>
          <a:xfrm>
            <a:off x="609600" y="5772150"/>
            <a:ext cx="57150" cy="57150"/>
          </a:xfrm>
          <a:prstGeom prst="rect">
            <a:avLst/>
          </a:prstGeom>
          <a:solidFill>
            <a:srgbClr val="B68757"/>
          </a:solidFill>
          <a:ln>
            <a:noFill/>
          </a:ln>
        </p:spPr>
        <p:txBody>
          <a:bodyPr rtlCol="0" anchor="ctr"/>
          <a:lstStyle/>
          <a:p>
            <a:pPr algn="ctr"/>
          </a:p>
        </p:txBody>
      </p:sp>
      <p:sp>
        <p:nvSpPr>
          <p:cNvPr id="26" name="TextBox 25"/>
          <p:cNvSpPr txBox="1"/>
          <p:nvPr/>
        </p:nvSpPr>
        <p:spPr>
          <a:xfrm>
            <a:off x="781050" y="5698331"/>
            <a:ext cx="1909465" cy="152400"/>
          </a:xfrm>
          <a:prstGeom prst="rect">
            <a:avLst/>
          </a:prstGeom>
          <a:noFill/>
        </p:spPr>
        <p:txBody>
          <a:bodyPr wrap="none" lIns="0" rIns="0" tIns="0" bIns="0" anchor="t">
            <a:noAutofit/>
          </a:bodyPr>
          <a:lstStyle/>
          <a:p>
            <a:pPr algn="l">
              <a:lnSpc>
                <a:spcPts val="1425"/>
              </a:lnSpc>
              <a:spcBef>
                <a:spcPts val="0"/>
              </a:spcBef>
              <a:spcAft>
                <a:spcPts val="0"/>
              </a:spcAft>
            </a:pPr>
            <a:r>
              <a:rPr sz="938" b="0" i="0" spc="15">
                <a:solidFill>
                  <a:srgbClr val="C3BDB6"/>
                </a:solidFill>
                <a:latin typeface="Quicksand"/>
              </a:rPr>
              <a:t>Landscape of select participants</a:t>
            </a:r>
          </a:p>
        </p:txBody>
      </p:sp>
      <p:sp>
        <p:nvSpPr>
          <p:cNvPr id="27" name="Rule"/>
          <p:cNvSpPr/>
          <p:nvPr/>
        </p:nvSpPr>
        <p:spPr>
          <a:xfrm>
            <a:off x="609600" y="5981700"/>
            <a:ext cx="3333750" cy="9525"/>
          </a:xfrm>
          <a:prstGeom prst="rect">
            <a:avLst/>
          </a:prstGeom>
          <a:solidFill>
            <a:srgbClr val="FFFFFF">
              <a:alpha val="16000"/>
            </a:srgbClr>
          </a:solidFill>
          <a:ln>
            <a:noFill/>
          </a:ln>
        </p:spPr>
        <p:txBody>
          <a:bodyPr rtlCol="0" anchor="ctr"/>
          <a:lstStyle/>
          <a:p>
            <a:pPr algn="ctr"/>
          </a:p>
        </p:txBody>
      </p:sp>
      <p:pic>
        <p:nvPicPr>
          <p:cNvPr id="28" name="Benchmark International" descr="Benchmark International"/>
          <p:cNvPicPr>
            <a:picLocks noChangeAspect="1"/>
          </p:cNvPicPr>
          <p:nvPr/>
        </p:nvPicPr>
        <p:blipFill>
          <a:blip r:embed="rId5"/>
          <a:stretch>
            <a:fillRect/>
          </a:stretch>
        </p:blipFill>
        <p:spPr>
          <a:xfrm>
            <a:off x="609600" y="7086600"/>
            <a:ext cx="1428750" cy="266700"/>
          </a:xfrm>
          <a:prstGeom prst="rect">
            <a:avLst/>
          </a:prstGeom>
        </p:spPr>
      </p:pic>
      <p:sp>
        <p:nvSpPr>
          <p:cNvPr id="29" name="TextBox 28"/>
          <p:cNvSpPr txBox="1"/>
          <p:nvPr/>
        </p:nvSpPr>
        <p:spPr>
          <a:xfrm>
            <a:off x="2209800" y="7168420"/>
            <a:ext cx="1679972" cy="114300"/>
          </a:xfrm>
          <a:prstGeom prst="rect">
            <a:avLst/>
          </a:prstGeom>
          <a:noFill/>
        </p:spPr>
        <p:txBody>
          <a:bodyPr wrap="none" lIns="0" rIns="0" tIns="0" bIns="0" anchor="t">
            <a:noAutofit/>
          </a:bodyPr>
          <a:lstStyle/>
          <a:p>
            <a:pPr algn="l">
              <a:lnSpc>
                <a:spcPts val="1050"/>
              </a:lnSpc>
              <a:spcBef>
                <a:spcPts val="0"/>
              </a:spcBef>
              <a:spcAft>
                <a:spcPts val="0"/>
              </a:spcAft>
            </a:pPr>
            <a:r>
              <a:rPr sz="712" b="1" i="0" spc="195">
                <a:solidFill>
                  <a:srgbClr val="C3BDB6"/>
                </a:solidFill>
                <a:latin typeface="Quicksand"/>
              </a:rPr>
              <a:t>TECHNOLOGY  |  Q4 2026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3" name="Panel"/>
          <p:cNvSpPr/>
          <p:nvPr/>
        </p:nvSpPr>
        <p:spPr>
          <a:xfrm>
            <a:off x="0" y="0"/>
            <a:ext cx="10058400" cy="7772400"/>
          </a:xfrm>
          <a:prstGeom prst="rect">
            <a:avLst/>
          </a:prstGeom>
          <a:solidFill>
            <a:srgbClr val="FFFFFF"/>
          </a:solidFill>
          <a:ln>
            <a:noFill/>
          </a:ln>
        </p:spPr>
        <p:txBody>
          <a:bodyPr rtlCol="0" anchor="ctr"/>
          <a:lstStyle/>
          <a:p>
            <a:pPr algn="ctr"/>
          </a:p>
        </p:txBody>
      </p:sp>
      <p:sp>
        <p:nvSpPr>
          <p:cNvPr id="4" name="Panel"/>
          <p:cNvSpPr/>
          <p:nvPr/>
        </p:nvSpPr>
        <p:spPr>
          <a:xfrm>
            <a:off x="0" y="0"/>
            <a:ext cx="57150" cy="7772400"/>
          </a:xfrm>
          <a:prstGeom prst="rect">
            <a:avLst/>
          </a:prstGeom>
          <a:solidFill>
            <a:srgbClr val="B68757"/>
          </a:solidFill>
          <a:ln>
            <a:noFill/>
          </a:ln>
        </p:spPr>
        <p:txBody>
          <a:bodyPr rtlCol="0" anchor="ctr"/>
          <a:lstStyle/>
          <a:p>
            <a:pPr algn="ctr"/>
          </a:p>
        </p:txBody>
      </p:sp>
      <p:sp>
        <p:nvSpPr>
          <p:cNvPr id="5" name="TextBox 4"/>
          <p:cNvSpPr txBox="1"/>
          <p:nvPr/>
        </p:nvSpPr>
        <p:spPr>
          <a:xfrm>
            <a:off x="419100" y="361760"/>
            <a:ext cx="2764185" cy="104775"/>
          </a:xfrm>
          <a:prstGeom prst="rect">
            <a:avLst/>
          </a:prstGeom>
          <a:noFill/>
        </p:spPr>
        <p:txBody>
          <a:bodyPr wrap="none" lIns="0" rIns="0" tIns="0" bIns="0" anchor="t">
            <a:noAutofit/>
          </a:bodyPr>
          <a:lstStyle/>
          <a:p>
            <a:pPr algn="l">
              <a:lnSpc>
                <a:spcPts val="1050"/>
              </a:lnSpc>
              <a:spcBef>
                <a:spcPts val="0"/>
              </a:spcBef>
              <a:spcAft>
                <a:spcPts val="0"/>
              </a:spcAft>
            </a:pPr>
            <a:r>
              <a:rPr sz="675" b="1" i="0" spc="195">
                <a:solidFill>
                  <a:srgbClr val="8C6239"/>
                </a:solidFill>
                <a:latin typeface="Quicksand"/>
              </a:rPr>
              <a:t>TECHNOLOGY  |  QUARTERLY SECTOR BRIEF</a:t>
            </a:r>
          </a:p>
        </p:txBody>
      </p:sp>
      <p:sp>
        <p:nvSpPr>
          <p:cNvPr id="6" name="TextBox 5"/>
          <p:cNvSpPr txBox="1"/>
          <p:nvPr/>
        </p:nvSpPr>
        <p:spPr>
          <a:xfrm>
            <a:off x="9112597" y="350901"/>
            <a:ext cx="526703" cy="152400"/>
          </a:xfrm>
          <a:prstGeom prst="rect">
            <a:avLst/>
          </a:prstGeom>
          <a:noFill/>
        </p:spPr>
        <p:txBody>
          <a:bodyPr wrap="none" lIns="0" rIns="0" tIns="0" bIns="0" anchor="t">
            <a:noAutofit/>
          </a:bodyPr>
          <a:lstStyle/>
          <a:p>
            <a:pPr algn="r">
              <a:lnSpc>
                <a:spcPts val="1350"/>
              </a:lnSpc>
              <a:spcBef>
                <a:spcPts val="0"/>
              </a:spcBef>
              <a:spcAft>
                <a:spcPts val="0"/>
              </a:spcAft>
            </a:pPr>
            <a:r>
              <a:rPr sz="900" b="0" i="0" spc="90">
                <a:solidFill>
                  <a:srgbClr val="6F6A66"/>
                </a:solidFill>
                <a:latin typeface="Cinzel"/>
              </a:rPr>
              <a:t>Q4 2026</a:t>
            </a:r>
          </a:p>
        </p:txBody>
      </p:sp>
      <p:sp>
        <p:nvSpPr>
          <p:cNvPr id="2" name="Title 1"/>
          <p:cNvSpPr>
            <a:spLocks noGrp="1"/>
          </p:cNvSpPr>
          <p:nvPr>
            <p:ph type="title"/>
          </p:nvPr>
        </p:nvSpPr>
        <p:spPr>
          <a:xfrm>
            <a:off x="419100" y="475488"/>
            <a:ext cx="5200650" cy="257175"/>
          </a:xfrm>
        </p:spPr>
        <p:txBody>
          <a:bodyPr wrap="none" lIns="0" rIns="0" tIns="0" bIns="0" anchor="t">
            <a:noAutofit/>
          </a:bodyPr>
          <a:lstStyle/>
          <a:p>
            <a:pPr algn="l">
              <a:lnSpc>
                <a:spcPts val="2550"/>
              </a:lnSpc>
              <a:spcBef>
                <a:spcPts val="0"/>
              </a:spcBef>
              <a:spcAft>
                <a:spcPts val="0"/>
              </a:spcAft>
            </a:pPr>
            <a:r>
              <a:rPr sz="2000" b="1" i="0">
                <a:solidFill>
                  <a:srgbClr val="1B1A1A"/>
                </a:solidFill>
                <a:latin typeface="Newsreader"/>
              </a:rPr>
              <a:t>Select Recent Technology M&amp;A Transactions</a:t>
            </a:r>
          </a:p>
        </p:txBody>
      </p:sp>
      <p:sp>
        <p:nvSpPr>
          <p:cNvPr id="7" name="TextBox 6"/>
          <p:cNvSpPr txBox="1"/>
          <p:nvPr/>
        </p:nvSpPr>
        <p:spPr>
          <a:xfrm>
            <a:off x="419100" y="864394"/>
            <a:ext cx="6893719" cy="152400"/>
          </a:xfrm>
          <a:prstGeom prst="rect">
            <a:avLst/>
          </a:prstGeom>
          <a:noFill/>
        </p:spPr>
        <p:txBody>
          <a:bodyPr wrap="none" lIns="0" rIns="0" tIns="0" bIns="0" anchor="t">
            <a:noAutofit/>
          </a:bodyPr>
          <a:lstStyle/>
          <a:p>
            <a:pPr algn="l">
              <a:lnSpc>
                <a:spcPts val="1388"/>
              </a:lnSpc>
              <a:spcBef>
                <a:spcPts val="0"/>
              </a:spcBef>
              <a:spcAft>
                <a:spcPts val="0"/>
              </a:spcAft>
            </a:pPr>
            <a:r>
              <a:rPr sz="938" b="0" i="0" spc="15">
                <a:solidFill>
                  <a:srgbClr val="6F6A66"/>
                </a:solidFill>
                <a:latin typeface="Quicksand"/>
              </a:rPr>
              <a:t>One transaction from each focus area, chosen from those announced or completed between June and September 2026.</a:t>
            </a:r>
          </a:p>
        </p:txBody>
      </p:sp>
      <p:sp>
        <p:nvSpPr>
          <p:cNvPr id="8" name="Panel"/>
          <p:cNvSpPr/>
          <p:nvPr/>
        </p:nvSpPr>
        <p:spPr>
          <a:xfrm>
            <a:off x="419100" y="1143000"/>
            <a:ext cx="9220200" cy="9525"/>
          </a:xfrm>
          <a:prstGeom prst="rect">
            <a:avLst/>
          </a:prstGeom>
          <a:solidFill>
            <a:srgbClr val="E3DCD3"/>
          </a:solidFill>
          <a:ln>
            <a:noFill/>
          </a:ln>
        </p:spPr>
        <p:txBody>
          <a:bodyPr rtlCol="0" anchor="ctr"/>
          <a:lstStyle/>
          <a:p>
            <a:pPr algn="ctr"/>
          </a:p>
        </p:txBody>
      </p:sp>
      <p:sp>
        <p:nvSpPr>
          <p:cNvPr id="9" name="Panel"/>
          <p:cNvSpPr/>
          <p:nvPr/>
        </p:nvSpPr>
        <p:spPr>
          <a:xfrm>
            <a:off x="419100" y="1238250"/>
            <a:ext cx="2971800" cy="2771775"/>
          </a:xfrm>
          <a:prstGeom prst="rect">
            <a:avLst/>
          </a:prstGeom>
          <a:solidFill>
            <a:srgbClr val="FAF7F3"/>
          </a:solidFill>
          <a:ln>
            <a:noFill/>
          </a:ln>
        </p:spPr>
        <p:txBody>
          <a:bodyPr rtlCol="0" anchor="ctr"/>
          <a:lstStyle/>
          <a:p>
            <a:pPr algn="ctr"/>
          </a:p>
        </p:txBody>
      </p:sp>
      <p:sp>
        <p:nvSpPr>
          <p:cNvPr id="10" name="Rule"/>
          <p:cNvSpPr/>
          <p:nvPr/>
        </p:nvSpPr>
        <p:spPr>
          <a:xfrm>
            <a:off x="419100" y="1238250"/>
            <a:ext cx="2971800" cy="28575"/>
          </a:xfrm>
          <a:prstGeom prst="rect">
            <a:avLst/>
          </a:prstGeom>
          <a:solidFill>
            <a:srgbClr val="B68757"/>
          </a:solidFill>
          <a:ln>
            <a:noFill/>
          </a:ln>
        </p:spPr>
        <p:txBody>
          <a:bodyPr rtlCol="0" anchor="ctr"/>
          <a:lstStyle/>
          <a:p>
            <a:pPr algn="ctr"/>
          </a:p>
        </p:txBody>
      </p:sp>
      <p:sp>
        <p:nvSpPr>
          <p:cNvPr id="11" name="Panel"/>
          <p:cNvSpPr/>
          <p:nvPr/>
        </p:nvSpPr>
        <p:spPr>
          <a:xfrm>
            <a:off x="419100" y="1323975"/>
            <a:ext cx="742652" cy="209550"/>
          </a:xfrm>
          <a:prstGeom prst="rect">
            <a:avLst/>
          </a:prstGeom>
          <a:solidFill>
            <a:srgbClr val="1B1A1A"/>
          </a:solidFill>
          <a:ln>
            <a:noFill/>
          </a:ln>
        </p:spPr>
        <p:txBody>
          <a:bodyPr rtlCol="0" anchor="ctr"/>
          <a:lstStyle/>
          <a:p>
            <a:pPr algn="ctr"/>
          </a:p>
        </p:txBody>
      </p:sp>
      <p:sp>
        <p:nvSpPr>
          <p:cNvPr id="12" name="TextBox 11"/>
          <p:cNvSpPr txBox="1"/>
          <p:nvPr/>
        </p:nvSpPr>
        <p:spPr>
          <a:xfrm>
            <a:off x="504825" y="1356074"/>
            <a:ext cx="628352" cy="104775"/>
          </a:xfrm>
          <a:prstGeom prst="rect">
            <a:avLst/>
          </a:prstGeom>
          <a:noFill/>
        </p:spPr>
        <p:txBody>
          <a:bodyPr wrap="none" lIns="0" rIns="0" tIns="0" bIns="0" anchor="t">
            <a:noAutofit/>
          </a:bodyPr>
          <a:lstStyle/>
          <a:p>
            <a:pPr algn="l">
              <a:lnSpc>
                <a:spcPts val="900"/>
              </a:lnSpc>
              <a:spcBef>
                <a:spcPts val="0"/>
              </a:spcBef>
              <a:spcAft>
                <a:spcPts val="0"/>
              </a:spcAft>
            </a:pPr>
            <a:r>
              <a:rPr sz="638" b="1" i="0" spc="135">
                <a:solidFill>
                  <a:srgbClr val="D3AE84"/>
                </a:solidFill>
                <a:latin typeface="Quicksand"/>
              </a:rPr>
              <a:t>JUNE 2026</a:t>
            </a:r>
          </a:p>
        </p:txBody>
      </p:sp>
      <p:sp>
        <p:nvSpPr>
          <p:cNvPr id="13" name="TextBox 12"/>
          <p:cNvSpPr txBox="1"/>
          <p:nvPr/>
        </p:nvSpPr>
        <p:spPr>
          <a:xfrm>
            <a:off x="1633984" y="1356074"/>
            <a:ext cx="1614041" cy="104775"/>
          </a:xfrm>
          <a:prstGeom prst="rect">
            <a:avLst/>
          </a:prstGeom>
          <a:noFill/>
        </p:spPr>
        <p:txBody>
          <a:bodyPr wrap="none" lIns="0" rIns="0" tIns="0" bIns="0" anchor="t">
            <a:noAutofit/>
          </a:bodyPr>
          <a:lstStyle/>
          <a:p>
            <a:pPr algn="r">
              <a:lnSpc>
                <a:spcPts val="900"/>
              </a:lnSpc>
              <a:spcBef>
                <a:spcPts val="0"/>
              </a:spcBef>
              <a:spcAft>
                <a:spcPts val="0"/>
              </a:spcAft>
            </a:pPr>
            <a:r>
              <a:rPr sz="638" b="1" i="0" spc="105">
                <a:solidFill>
                  <a:srgbClr val="8C6239"/>
                </a:solidFill>
                <a:latin typeface="Quicksand"/>
              </a:rPr>
              <a:t>MANAGED IT &amp; CLOUD SERVICES</a:t>
            </a:r>
          </a:p>
        </p:txBody>
      </p:sp>
      <p:sp>
        <p:nvSpPr>
          <p:cNvPr id="14" name="Panel"/>
          <p:cNvSpPr/>
          <p:nvPr/>
        </p:nvSpPr>
        <p:spPr>
          <a:xfrm>
            <a:off x="566738" y="1633538"/>
            <a:ext cx="1047750" cy="428625"/>
          </a:xfrm>
          <a:prstGeom prst="rect">
            <a:avLst/>
          </a:prstGeom>
          <a:solidFill>
            <a:srgbClr val="FFFFFF"/>
          </a:solidFill>
          <a:ln w="9525">
            <a:solidFill>
              <a:srgbClr val="E3DCD3"/>
            </a:solidFill>
          </a:ln>
        </p:spPr>
        <p:txBody>
          <a:bodyPr rtlCol="0" anchor="ctr"/>
          <a:lstStyle/>
          <a:p>
            <a:pPr algn="ctr"/>
          </a:p>
        </p:txBody>
      </p:sp>
      <p:sp>
        <p:nvSpPr>
          <p:cNvPr id="15" name="TextBox 14"/>
          <p:cNvSpPr txBox="1"/>
          <p:nvPr/>
        </p:nvSpPr>
        <p:spPr>
          <a:xfrm>
            <a:off x="878681" y="1779651"/>
            <a:ext cx="423714" cy="114300"/>
          </a:xfrm>
          <a:prstGeom prst="rect">
            <a:avLst/>
          </a:prstGeom>
          <a:noFill/>
        </p:spPr>
        <p:txBody>
          <a:bodyPr wrap="none" lIns="0" rIns="0" tIns="0" bIns="0" anchor="t">
            <a:noAutofit/>
          </a:bodyPr>
          <a:lstStyle/>
          <a:p>
            <a:pPr algn="ctr">
              <a:lnSpc>
                <a:spcPts val="938"/>
              </a:lnSpc>
              <a:spcBef>
                <a:spcPts val="0"/>
              </a:spcBef>
              <a:spcAft>
                <a:spcPts val="0"/>
              </a:spcAft>
            </a:pPr>
            <a:r>
              <a:rPr sz="712" b="1" i="0" spc="38">
                <a:solidFill>
                  <a:srgbClr val="1B1A1A"/>
                </a:solidFill>
                <a:latin typeface="Quicksand"/>
              </a:rPr>
              <a:t>ASTREYA</a:t>
            </a:r>
          </a:p>
        </p:txBody>
      </p:sp>
      <p:sp>
        <p:nvSpPr>
          <p:cNvPr id="16" name="TextBox 15"/>
          <p:cNvSpPr txBox="1"/>
          <p:nvPr/>
        </p:nvSpPr>
        <p:spPr>
          <a:xfrm>
            <a:off x="1676400" y="1740789"/>
            <a:ext cx="457200" cy="195262"/>
          </a:xfrm>
          <a:prstGeom prst="rect">
            <a:avLst/>
          </a:prstGeom>
          <a:noFill/>
        </p:spPr>
        <p:txBody>
          <a:bodyPr wrap="square" lIns="0" rIns="0" tIns="0" bIns="0" anchor="t">
            <a:noAutofit/>
          </a:bodyPr>
          <a:lstStyle/>
          <a:p>
            <a:pPr algn="ctr">
              <a:lnSpc>
                <a:spcPts val="788"/>
              </a:lnSpc>
              <a:spcBef>
                <a:spcPts val="0"/>
              </a:spcBef>
              <a:spcAft>
                <a:spcPts val="0"/>
              </a:spcAft>
            </a:pPr>
            <a:r>
              <a:rPr sz="600" b="0" i="0" spc="60">
                <a:solidFill>
                  <a:srgbClr val="6F6A66"/>
                </a:solidFill>
                <a:latin typeface="Quicksand"/>
              </a:rPr>
              <a:t>ACQUIRED BY</a:t>
            </a:r>
          </a:p>
        </p:txBody>
      </p:sp>
      <p:sp>
        <p:nvSpPr>
          <p:cNvPr id="17" name="Panel"/>
          <p:cNvSpPr/>
          <p:nvPr/>
        </p:nvSpPr>
        <p:spPr>
          <a:xfrm>
            <a:off x="2195512" y="1633538"/>
            <a:ext cx="1047750" cy="428625"/>
          </a:xfrm>
          <a:prstGeom prst="rect">
            <a:avLst/>
          </a:prstGeom>
          <a:solidFill>
            <a:srgbClr val="FFFFFF"/>
          </a:solidFill>
          <a:ln w="9525">
            <a:solidFill>
              <a:srgbClr val="E3DCD3"/>
            </a:solidFill>
          </a:ln>
        </p:spPr>
        <p:txBody>
          <a:bodyPr rtlCol="0" anchor="ctr"/>
          <a:lstStyle/>
          <a:p>
            <a:pPr algn="ctr"/>
          </a:p>
        </p:txBody>
      </p:sp>
      <p:pic>
        <p:nvPicPr>
          <p:cNvPr id="18" name="Cognizant" descr="Cognizant"/>
          <p:cNvPicPr>
            <a:picLocks noChangeAspect="1"/>
          </p:cNvPicPr>
          <p:nvPr/>
        </p:nvPicPr>
        <p:blipFill>
          <a:blip r:embed="rId2"/>
          <a:stretch>
            <a:fillRect/>
          </a:stretch>
        </p:blipFill>
        <p:spPr>
          <a:xfrm>
            <a:off x="2300139" y="1743075"/>
            <a:ext cx="209550" cy="209550"/>
          </a:xfrm>
          <a:prstGeom prst="rect">
            <a:avLst/>
          </a:prstGeom>
        </p:spPr>
      </p:pic>
      <p:sp>
        <p:nvSpPr>
          <p:cNvPr id="19" name="TextBox 18"/>
          <p:cNvSpPr txBox="1"/>
          <p:nvPr/>
        </p:nvSpPr>
        <p:spPr>
          <a:xfrm>
            <a:off x="2576364" y="1779651"/>
            <a:ext cx="562273" cy="114300"/>
          </a:xfrm>
          <a:prstGeom prst="rect">
            <a:avLst/>
          </a:prstGeom>
          <a:noFill/>
        </p:spPr>
        <p:txBody>
          <a:bodyPr wrap="none" lIns="0" rIns="0" tIns="0" bIns="0" anchor="t">
            <a:noAutofit/>
          </a:bodyPr>
          <a:lstStyle/>
          <a:p>
            <a:pPr algn="ctr">
              <a:lnSpc>
                <a:spcPts val="938"/>
              </a:lnSpc>
              <a:spcBef>
                <a:spcPts val="0"/>
              </a:spcBef>
              <a:spcAft>
                <a:spcPts val="0"/>
              </a:spcAft>
            </a:pPr>
            <a:r>
              <a:rPr sz="712" b="1" i="0" spc="38">
                <a:solidFill>
                  <a:srgbClr val="1B1A1A"/>
                </a:solidFill>
                <a:latin typeface="Quicksand"/>
              </a:rPr>
              <a:t>COGNIZANT</a:t>
            </a:r>
          </a:p>
        </p:txBody>
      </p:sp>
      <p:sp>
        <p:nvSpPr>
          <p:cNvPr id="20" name="TextBox 19"/>
          <p:cNvSpPr txBox="1"/>
          <p:nvPr/>
        </p:nvSpPr>
        <p:spPr>
          <a:xfrm>
            <a:off x="561975" y="2156079"/>
            <a:ext cx="2762250" cy="319088"/>
          </a:xfrm>
          <a:prstGeom prst="rect">
            <a:avLst/>
          </a:prstGeom>
          <a:noFill/>
        </p:spPr>
        <p:txBody>
          <a:bodyPr wrap="square" lIns="0" rIns="0" tIns="0" bIns="0" anchor="t">
            <a:noAutofit/>
          </a:bodyPr>
          <a:lstStyle/>
          <a:p>
            <a:pPr algn="l">
              <a:lnSpc>
                <a:spcPts val="1312"/>
              </a:lnSpc>
              <a:spcBef>
                <a:spcPts val="0"/>
              </a:spcBef>
              <a:spcAft>
                <a:spcPts val="0"/>
              </a:spcAft>
            </a:pPr>
            <a:r>
              <a:rPr sz="975" b="1" i="0" spc="15">
                <a:solidFill>
                  <a:srgbClr val="1B1A1A"/>
                </a:solidFill>
                <a:latin typeface="Quicksand"/>
              </a:rPr>
              <a:t>Cognizant completes its acquisition of Astreya</a:t>
            </a:r>
          </a:p>
        </p:txBody>
      </p:sp>
      <p:sp>
        <p:nvSpPr>
          <p:cNvPr id="21" name="TextBox 20"/>
          <p:cNvSpPr txBox="1"/>
          <p:nvPr/>
        </p:nvSpPr>
        <p:spPr>
          <a:xfrm>
            <a:off x="561975" y="2529173"/>
            <a:ext cx="2762250" cy="771525"/>
          </a:xfrm>
          <a:prstGeom prst="rect">
            <a:avLst/>
          </a:prstGeom>
          <a:noFill/>
        </p:spPr>
        <p:txBody>
          <a:bodyPr wrap="square" lIns="0" rIns="0" tIns="0" bIns="0" anchor="t">
            <a:noAutofit/>
          </a:bodyPr>
          <a:lstStyle/>
          <a:p>
            <a:pPr algn="l">
              <a:lnSpc>
                <a:spcPts val="1238"/>
              </a:lnSpc>
              <a:spcBef>
                <a:spcPts val="0"/>
              </a:spcBef>
              <a:spcAft>
                <a:spcPts val="0"/>
              </a:spcAft>
            </a:pPr>
            <a:r>
              <a:rPr sz="861" b="0" i="0" spc="15">
                <a:solidFill>
                  <a:srgbClr val="333231"/>
                </a:solidFill>
                <a:latin typeface="Quicksand"/>
              </a:rPr>
              <a:t>Astreya provides managed IT services with about 2,600 employees. The purchase adds AI infrastructure and managed services capability and was reported at approximately $600 million (</a:t>
            </a:r>
            <a:r>
              <a:rPr sz="861" b="0" i="0" spc="15" u="sng">
                <a:solidFill>
                  <a:srgbClr val="8C6239"/>
                </a:solidFill>
                <a:latin typeface="Quicksand"/>
                <a:hlinkClick r:id="rId3">
                  <a:extLst>
                    <a:ext uri="{A12FA001-AC4F-418D-AE19-62706E023703}">
                      <ahyp:hlinkClr xmlns:ahyp="http://schemas.microsoft.com/office/drawing/2018/hyperlinkcolor" val="tx"/>
                    </a:ext>
                  </a:extLst>
                </a:hlinkClick>
              </a:rPr>
              <a:t>Cognizant</a:t>
            </a:r>
            <a:r>
              <a:rPr sz="861" b="0" i="0" spc="15">
                <a:solidFill>
                  <a:srgbClr val="333231"/>
                </a:solidFill>
                <a:latin typeface="Quicksand"/>
              </a:rPr>
              <a:t>; </a:t>
            </a:r>
            <a:r>
              <a:rPr sz="861" b="0" i="0" spc="15" u="sng">
                <a:solidFill>
                  <a:srgbClr val="8C6239"/>
                </a:solidFill>
                <a:latin typeface="Quicksand"/>
                <a:hlinkClick r:id="rId4">
                  <a:extLst>
                    <a:ext uri="{A12FA001-AC4F-418D-AE19-62706E023703}">
                      <ahyp:hlinkClr xmlns:ahyp="http://schemas.microsoft.com/office/drawing/2018/hyperlinkcolor" val="tx"/>
                    </a:ext>
                  </a:extLst>
                </a:hlinkClick>
              </a:rPr>
              <a:t>Coverager</a:t>
            </a:r>
            <a:r>
              <a:rPr sz="861" b="0" i="0" spc="15">
                <a:solidFill>
                  <a:srgbClr val="333231"/>
                </a:solidFill>
                <a:latin typeface="Quicksand"/>
              </a:rPr>
              <a:t>).</a:t>
            </a:r>
          </a:p>
        </p:txBody>
      </p:sp>
      <p:sp>
        <p:nvSpPr>
          <p:cNvPr id="22" name="Rule"/>
          <p:cNvSpPr/>
          <p:nvPr/>
        </p:nvSpPr>
        <p:spPr>
          <a:xfrm>
            <a:off x="561975" y="3514725"/>
            <a:ext cx="2686050" cy="9525"/>
          </a:xfrm>
          <a:prstGeom prst="rect">
            <a:avLst/>
          </a:prstGeom>
          <a:solidFill>
            <a:srgbClr val="E3DCD3"/>
          </a:solidFill>
          <a:ln>
            <a:noFill/>
          </a:ln>
        </p:spPr>
        <p:txBody>
          <a:bodyPr rtlCol="0" anchor="ctr"/>
          <a:lstStyle/>
          <a:p>
            <a:pPr algn="ctr"/>
          </a:p>
        </p:txBody>
      </p:sp>
      <p:sp>
        <p:nvSpPr>
          <p:cNvPr id="23" name="TextBox 22"/>
          <p:cNvSpPr txBox="1"/>
          <p:nvPr/>
        </p:nvSpPr>
        <p:spPr>
          <a:xfrm>
            <a:off x="561975" y="3579590"/>
            <a:ext cx="2762250" cy="285750"/>
          </a:xfrm>
          <a:prstGeom prst="rect">
            <a:avLst/>
          </a:prstGeom>
          <a:noFill/>
        </p:spPr>
        <p:txBody>
          <a:bodyPr wrap="square" lIns="0" rIns="0" tIns="0" bIns="0" anchor="t">
            <a:noAutofit/>
          </a:bodyPr>
          <a:lstStyle/>
          <a:p>
            <a:pPr algn="l">
              <a:lnSpc>
                <a:spcPts val="1125"/>
              </a:lnSpc>
              <a:spcBef>
                <a:spcPts val="0"/>
              </a:spcBef>
              <a:spcAft>
                <a:spcPts val="0"/>
              </a:spcAft>
            </a:pPr>
            <a:r>
              <a:rPr sz="638" b="1" i="0" spc="120">
                <a:solidFill>
                  <a:srgbClr val="8C6239"/>
                </a:solidFill>
                <a:latin typeface="Quicksand"/>
              </a:rPr>
              <a:t>WHAT IT SHOWS  </a:t>
            </a:r>
            <a:r>
              <a:rPr sz="788" b="0" i="0" spc="15">
                <a:solidFill>
                  <a:srgbClr val="333231"/>
                </a:solidFill>
                <a:latin typeface="Quicksand"/>
              </a:rPr>
              <a:t>Large IT services firms are buying managed services scale and AI infrastructure skills.</a:t>
            </a:r>
          </a:p>
        </p:txBody>
      </p:sp>
      <p:sp>
        <p:nvSpPr>
          <p:cNvPr id="24" name="Panel"/>
          <p:cNvSpPr/>
          <p:nvPr/>
        </p:nvSpPr>
        <p:spPr>
          <a:xfrm>
            <a:off x="3543300" y="1238250"/>
            <a:ext cx="2971800" cy="2771775"/>
          </a:xfrm>
          <a:prstGeom prst="rect">
            <a:avLst/>
          </a:prstGeom>
          <a:solidFill>
            <a:srgbClr val="FAF7F3"/>
          </a:solidFill>
          <a:ln>
            <a:noFill/>
          </a:ln>
        </p:spPr>
        <p:txBody>
          <a:bodyPr rtlCol="0" anchor="ctr"/>
          <a:lstStyle/>
          <a:p>
            <a:pPr algn="ctr"/>
          </a:p>
        </p:txBody>
      </p:sp>
      <p:sp>
        <p:nvSpPr>
          <p:cNvPr id="25" name="Rule"/>
          <p:cNvSpPr/>
          <p:nvPr/>
        </p:nvSpPr>
        <p:spPr>
          <a:xfrm>
            <a:off x="3543300" y="1238250"/>
            <a:ext cx="2971800" cy="28575"/>
          </a:xfrm>
          <a:prstGeom prst="rect">
            <a:avLst/>
          </a:prstGeom>
          <a:solidFill>
            <a:srgbClr val="B68757"/>
          </a:solidFill>
          <a:ln>
            <a:noFill/>
          </a:ln>
        </p:spPr>
        <p:txBody>
          <a:bodyPr rtlCol="0" anchor="ctr"/>
          <a:lstStyle/>
          <a:p>
            <a:pPr algn="ctr"/>
          </a:p>
        </p:txBody>
      </p:sp>
      <p:sp>
        <p:nvSpPr>
          <p:cNvPr id="26" name="Panel"/>
          <p:cNvSpPr/>
          <p:nvPr/>
        </p:nvSpPr>
        <p:spPr>
          <a:xfrm>
            <a:off x="3543300" y="1323975"/>
            <a:ext cx="742652" cy="209550"/>
          </a:xfrm>
          <a:prstGeom prst="rect">
            <a:avLst/>
          </a:prstGeom>
          <a:solidFill>
            <a:srgbClr val="1B1A1A"/>
          </a:solidFill>
          <a:ln>
            <a:noFill/>
          </a:ln>
        </p:spPr>
        <p:txBody>
          <a:bodyPr rtlCol="0" anchor="ctr"/>
          <a:lstStyle/>
          <a:p>
            <a:pPr algn="ctr"/>
          </a:p>
        </p:txBody>
      </p:sp>
      <p:sp>
        <p:nvSpPr>
          <p:cNvPr id="27" name="TextBox 26"/>
          <p:cNvSpPr txBox="1"/>
          <p:nvPr/>
        </p:nvSpPr>
        <p:spPr>
          <a:xfrm>
            <a:off x="3629025" y="1356074"/>
            <a:ext cx="628352" cy="104775"/>
          </a:xfrm>
          <a:prstGeom prst="rect">
            <a:avLst/>
          </a:prstGeom>
          <a:noFill/>
        </p:spPr>
        <p:txBody>
          <a:bodyPr wrap="none" lIns="0" rIns="0" tIns="0" bIns="0" anchor="t">
            <a:noAutofit/>
          </a:bodyPr>
          <a:lstStyle/>
          <a:p>
            <a:pPr algn="l">
              <a:lnSpc>
                <a:spcPts val="900"/>
              </a:lnSpc>
              <a:spcBef>
                <a:spcPts val="0"/>
              </a:spcBef>
              <a:spcAft>
                <a:spcPts val="0"/>
              </a:spcAft>
            </a:pPr>
            <a:r>
              <a:rPr sz="638" b="1" i="0" spc="135">
                <a:solidFill>
                  <a:srgbClr val="D3AE84"/>
                </a:solidFill>
                <a:latin typeface="Quicksand"/>
              </a:rPr>
              <a:t>JUNE 2026</a:t>
            </a:r>
          </a:p>
        </p:txBody>
      </p:sp>
      <p:sp>
        <p:nvSpPr>
          <p:cNvPr id="28" name="TextBox 27"/>
          <p:cNvSpPr txBox="1"/>
          <p:nvPr/>
        </p:nvSpPr>
        <p:spPr>
          <a:xfrm>
            <a:off x="5564684" y="1356074"/>
            <a:ext cx="807541" cy="104775"/>
          </a:xfrm>
          <a:prstGeom prst="rect">
            <a:avLst/>
          </a:prstGeom>
          <a:noFill/>
        </p:spPr>
        <p:txBody>
          <a:bodyPr wrap="none" lIns="0" rIns="0" tIns="0" bIns="0" anchor="t">
            <a:noAutofit/>
          </a:bodyPr>
          <a:lstStyle/>
          <a:p>
            <a:pPr algn="r">
              <a:lnSpc>
                <a:spcPts val="900"/>
              </a:lnSpc>
              <a:spcBef>
                <a:spcPts val="0"/>
              </a:spcBef>
              <a:spcAft>
                <a:spcPts val="0"/>
              </a:spcAft>
            </a:pPr>
            <a:r>
              <a:rPr sz="638" b="1" i="0" spc="105">
                <a:solidFill>
                  <a:srgbClr val="8C6239"/>
                </a:solidFill>
                <a:latin typeface="Quicksand"/>
              </a:rPr>
              <a:t>CYBERSECURITY</a:t>
            </a:r>
          </a:p>
        </p:txBody>
      </p:sp>
      <p:sp>
        <p:nvSpPr>
          <p:cNvPr id="29" name="Panel"/>
          <p:cNvSpPr/>
          <p:nvPr/>
        </p:nvSpPr>
        <p:spPr>
          <a:xfrm>
            <a:off x="3690938" y="1633538"/>
            <a:ext cx="1047750" cy="428625"/>
          </a:xfrm>
          <a:prstGeom prst="rect">
            <a:avLst/>
          </a:prstGeom>
          <a:solidFill>
            <a:srgbClr val="FFFFFF"/>
          </a:solidFill>
          <a:ln w="9525">
            <a:solidFill>
              <a:srgbClr val="E3DCD3"/>
            </a:solidFill>
          </a:ln>
        </p:spPr>
        <p:txBody>
          <a:bodyPr rtlCol="0" anchor="ctr"/>
          <a:lstStyle/>
          <a:p>
            <a:pPr algn="ctr"/>
          </a:p>
        </p:txBody>
      </p:sp>
      <p:sp>
        <p:nvSpPr>
          <p:cNvPr id="30" name="TextBox 29"/>
          <p:cNvSpPr txBox="1"/>
          <p:nvPr/>
        </p:nvSpPr>
        <p:spPr>
          <a:xfrm>
            <a:off x="4015532" y="1779651"/>
            <a:ext cx="398562" cy="114300"/>
          </a:xfrm>
          <a:prstGeom prst="rect">
            <a:avLst/>
          </a:prstGeom>
          <a:noFill/>
        </p:spPr>
        <p:txBody>
          <a:bodyPr wrap="none" lIns="0" rIns="0" tIns="0" bIns="0" anchor="t">
            <a:noAutofit/>
          </a:bodyPr>
          <a:lstStyle/>
          <a:p>
            <a:pPr algn="ctr">
              <a:lnSpc>
                <a:spcPts val="938"/>
              </a:lnSpc>
              <a:spcBef>
                <a:spcPts val="0"/>
              </a:spcBef>
              <a:spcAft>
                <a:spcPts val="0"/>
              </a:spcAft>
            </a:pPr>
            <a:r>
              <a:rPr sz="712" b="1" i="0" spc="38">
                <a:solidFill>
                  <a:srgbClr val="1B1A1A"/>
                </a:solidFill>
                <a:latin typeface="Quicksand"/>
              </a:rPr>
              <a:t>DRAGOS</a:t>
            </a:r>
          </a:p>
        </p:txBody>
      </p:sp>
      <p:sp>
        <p:nvSpPr>
          <p:cNvPr id="31" name="TextBox 30"/>
          <p:cNvSpPr txBox="1"/>
          <p:nvPr/>
        </p:nvSpPr>
        <p:spPr>
          <a:xfrm>
            <a:off x="4800600" y="1740789"/>
            <a:ext cx="457200" cy="195262"/>
          </a:xfrm>
          <a:prstGeom prst="rect">
            <a:avLst/>
          </a:prstGeom>
          <a:noFill/>
        </p:spPr>
        <p:txBody>
          <a:bodyPr wrap="square" lIns="0" rIns="0" tIns="0" bIns="0" anchor="t">
            <a:noAutofit/>
          </a:bodyPr>
          <a:lstStyle/>
          <a:p>
            <a:pPr algn="ctr">
              <a:lnSpc>
                <a:spcPts val="788"/>
              </a:lnSpc>
              <a:spcBef>
                <a:spcPts val="0"/>
              </a:spcBef>
              <a:spcAft>
                <a:spcPts val="0"/>
              </a:spcAft>
            </a:pPr>
            <a:r>
              <a:rPr sz="600" b="0" i="0" spc="60">
                <a:solidFill>
                  <a:srgbClr val="6F6A66"/>
                </a:solidFill>
                <a:latin typeface="Quicksand"/>
              </a:rPr>
              <a:t>ACQUIRED BY</a:t>
            </a:r>
          </a:p>
        </p:txBody>
      </p:sp>
      <p:sp>
        <p:nvSpPr>
          <p:cNvPr id="32" name="Panel"/>
          <p:cNvSpPr/>
          <p:nvPr/>
        </p:nvSpPr>
        <p:spPr>
          <a:xfrm>
            <a:off x="5319712" y="1633538"/>
            <a:ext cx="1047750" cy="428625"/>
          </a:xfrm>
          <a:prstGeom prst="rect">
            <a:avLst/>
          </a:prstGeom>
          <a:solidFill>
            <a:srgbClr val="FFFFFF"/>
          </a:solidFill>
          <a:ln w="9525">
            <a:solidFill>
              <a:srgbClr val="E3DCD3"/>
            </a:solidFill>
          </a:ln>
        </p:spPr>
        <p:txBody>
          <a:bodyPr rtlCol="0" anchor="ctr"/>
          <a:lstStyle/>
          <a:p>
            <a:pPr algn="ctr"/>
          </a:p>
        </p:txBody>
      </p:sp>
      <p:pic>
        <p:nvPicPr>
          <p:cNvPr id="33" name="Accenture" descr="Accenture"/>
          <p:cNvPicPr>
            <a:picLocks noChangeAspect="1"/>
          </p:cNvPicPr>
          <p:nvPr/>
        </p:nvPicPr>
        <p:blipFill>
          <a:blip r:embed="rId5"/>
          <a:stretch>
            <a:fillRect/>
          </a:stretch>
        </p:blipFill>
        <p:spPr>
          <a:xfrm>
            <a:off x="5422255" y="1743075"/>
            <a:ext cx="209550" cy="209550"/>
          </a:xfrm>
          <a:prstGeom prst="rect">
            <a:avLst/>
          </a:prstGeom>
        </p:spPr>
      </p:pic>
      <p:sp>
        <p:nvSpPr>
          <p:cNvPr id="34" name="TextBox 33"/>
          <p:cNvSpPr txBox="1"/>
          <p:nvPr/>
        </p:nvSpPr>
        <p:spPr>
          <a:xfrm>
            <a:off x="5698480" y="1779651"/>
            <a:ext cx="566440" cy="114300"/>
          </a:xfrm>
          <a:prstGeom prst="rect">
            <a:avLst/>
          </a:prstGeom>
          <a:noFill/>
        </p:spPr>
        <p:txBody>
          <a:bodyPr wrap="none" lIns="0" rIns="0" tIns="0" bIns="0" anchor="t">
            <a:noAutofit/>
          </a:bodyPr>
          <a:lstStyle/>
          <a:p>
            <a:pPr algn="ctr">
              <a:lnSpc>
                <a:spcPts val="938"/>
              </a:lnSpc>
              <a:spcBef>
                <a:spcPts val="0"/>
              </a:spcBef>
              <a:spcAft>
                <a:spcPts val="0"/>
              </a:spcAft>
            </a:pPr>
            <a:r>
              <a:rPr sz="712" b="1" i="0" spc="38">
                <a:solidFill>
                  <a:srgbClr val="1B1A1A"/>
                </a:solidFill>
                <a:latin typeface="Quicksand"/>
              </a:rPr>
              <a:t>ACCENTURE</a:t>
            </a:r>
          </a:p>
        </p:txBody>
      </p:sp>
      <p:sp>
        <p:nvSpPr>
          <p:cNvPr id="35" name="TextBox 34"/>
          <p:cNvSpPr txBox="1"/>
          <p:nvPr/>
        </p:nvSpPr>
        <p:spPr>
          <a:xfrm>
            <a:off x="3686175" y="2156079"/>
            <a:ext cx="2762250" cy="319088"/>
          </a:xfrm>
          <a:prstGeom prst="rect">
            <a:avLst/>
          </a:prstGeom>
          <a:noFill/>
        </p:spPr>
        <p:txBody>
          <a:bodyPr wrap="square" lIns="0" rIns="0" tIns="0" bIns="0" anchor="t">
            <a:noAutofit/>
          </a:bodyPr>
          <a:lstStyle/>
          <a:p>
            <a:pPr algn="l">
              <a:lnSpc>
                <a:spcPts val="1312"/>
              </a:lnSpc>
              <a:spcBef>
                <a:spcPts val="0"/>
              </a:spcBef>
              <a:spcAft>
                <a:spcPts val="0"/>
              </a:spcAft>
            </a:pPr>
            <a:r>
              <a:rPr sz="975" b="1" i="0" spc="15">
                <a:solidFill>
                  <a:srgbClr val="1B1A1A"/>
                </a:solidFill>
                <a:latin typeface="Quicksand"/>
              </a:rPr>
              <a:t>Accenture agrees to buy a majority of Dragos</a:t>
            </a:r>
          </a:p>
        </p:txBody>
      </p:sp>
      <p:sp>
        <p:nvSpPr>
          <p:cNvPr id="36" name="TextBox 35"/>
          <p:cNvSpPr txBox="1"/>
          <p:nvPr/>
        </p:nvSpPr>
        <p:spPr>
          <a:xfrm>
            <a:off x="3686175" y="2529173"/>
            <a:ext cx="2762250" cy="614362"/>
          </a:xfrm>
          <a:prstGeom prst="rect">
            <a:avLst/>
          </a:prstGeom>
          <a:noFill/>
        </p:spPr>
        <p:txBody>
          <a:bodyPr wrap="square" lIns="0" rIns="0" tIns="0" bIns="0" anchor="t">
            <a:noAutofit/>
          </a:bodyPr>
          <a:lstStyle/>
          <a:p>
            <a:pPr algn="l">
              <a:lnSpc>
                <a:spcPts val="1238"/>
              </a:lnSpc>
              <a:spcBef>
                <a:spcPts val="0"/>
              </a:spcBef>
              <a:spcAft>
                <a:spcPts val="0"/>
              </a:spcAft>
            </a:pPr>
            <a:r>
              <a:rPr sz="861" b="0" i="0" spc="15">
                <a:solidFill>
                  <a:srgbClr val="333231"/>
                </a:solidFill>
                <a:latin typeface="Quicksand"/>
              </a:rPr>
              <a:t>Accenture agreed to buy a majority of the industrial security firm Dragos and all of two smaller companies, runZero and NetRise, for a combined $4.175 billion (</a:t>
            </a:r>
            <a:r>
              <a:rPr sz="861" b="0" i="0" spc="15" u="sng">
                <a:solidFill>
                  <a:srgbClr val="8C6239"/>
                </a:solidFill>
                <a:latin typeface="Quicksand"/>
                <a:hlinkClick r:id="rId6">
                  <a:extLst>
                    <a:ext uri="{A12FA001-AC4F-418D-AE19-62706E023703}">
                      <ahyp:hlinkClr xmlns:ahyp="http://schemas.microsoft.com/office/drawing/2018/hyperlinkcolor" val="tx"/>
                    </a:ext>
                  </a:extLst>
                </a:hlinkClick>
              </a:rPr>
              <a:t>SecurityWeek</a:t>
            </a:r>
            <a:r>
              <a:rPr sz="861" b="0" i="0" spc="15">
                <a:solidFill>
                  <a:srgbClr val="333231"/>
                </a:solidFill>
                <a:latin typeface="Quicksand"/>
              </a:rPr>
              <a:t>).</a:t>
            </a:r>
          </a:p>
        </p:txBody>
      </p:sp>
      <p:sp>
        <p:nvSpPr>
          <p:cNvPr id="37" name="Rule"/>
          <p:cNvSpPr/>
          <p:nvPr/>
        </p:nvSpPr>
        <p:spPr>
          <a:xfrm>
            <a:off x="3686175" y="3514725"/>
            <a:ext cx="2686050" cy="9525"/>
          </a:xfrm>
          <a:prstGeom prst="rect">
            <a:avLst/>
          </a:prstGeom>
          <a:solidFill>
            <a:srgbClr val="E3DCD3"/>
          </a:solidFill>
          <a:ln>
            <a:noFill/>
          </a:ln>
        </p:spPr>
        <p:txBody>
          <a:bodyPr rtlCol="0" anchor="ctr"/>
          <a:lstStyle/>
          <a:p>
            <a:pPr algn="ctr"/>
          </a:p>
        </p:txBody>
      </p:sp>
      <p:sp>
        <p:nvSpPr>
          <p:cNvPr id="38" name="TextBox 37"/>
          <p:cNvSpPr txBox="1"/>
          <p:nvPr/>
        </p:nvSpPr>
        <p:spPr>
          <a:xfrm>
            <a:off x="3686175" y="3579590"/>
            <a:ext cx="2762250" cy="285750"/>
          </a:xfrm>
          <a:prstGeom prst="rect">
            <a:avLst/>
          </a:prstGeom>
          <a:noFill/>
        </p:spPr>
        <p:txBody>
          <a:bodyPr wrap="square" lIns="0" rIns="0" tIns="0" bIns="0" anchor="t">
            <a:noAutofit/>
          </a:bodyPr>
          <a:lstStyle/>
          <a:p>
            <a:pPr algn="l">
              <a:lnSpc>
                <a:spcPts val="1125"/>
              </a:lnSpc>
              <a:spcBef>
                <a:spcPts val="0"/>
              </a:spcBef>
              <a:spcAft>
                <a:spcPts val="0"/>
              </a:spcAft>
            </a:pPr>
            <a:r>
              <a:rPr sz="638" b="1" i="0" spc="120">
                <a:solidFill>
                  <a:srgbClr val="8C6239"/>
                </a:solidFill>
                <a:latin typeface="Quicksand"/>
              </a:rPr>
              <a:t>WHAT IT SHOWS  </a:t>
            </a:r>
            <a:r>
              <a:rPr sz="788" b="0" i="0" spc="15">
                <a:solidFill>
                  <a:srgbClr val="333231"/>
                </a:solidFill>
                <a:latin typeface="Quicksand"/>
              </a:rPr>
              <a:t>Security for industrial and operational systems is drawing strategic prices.</a:t>
            </a:r>
          </a:p>
        </p:txBody>
      </p:sp>
      <p:sp>
        <p:nvSpPr>
          <p:cNvPr id="39" name="Panel"/>
          <p:cNvSpPr/>
          <p:nvPr/>
        </p:nvSpPr>
        <p:spPr>
          <a:xfrm>
            <a:off x="6667500" y="1238250"/>
            <a:ext cx="2971800" cy="2771775"/>
          </a:xfrm>
          <a:prstGeom prst="rect">
            <a:avLst/>
          </a:prstGeom>
          <a:solidFill>
            <a:srgbClr val="FAF7F3"/>
          </a:solidFill>
          <a:ln>
            <a:noFill/>
          </a:ln>
        </p:spPr>
        <p:txBody>
          <a:bodyPr rtlCol="0" anchor="ctr"/>
          <a:lstStyle/>
          <a:p>
            <a:pPr algn="ctr"/>
          </a:p>
        </p:txBody>
      </p:sp>
      <p:sp>
        <p:nvSpPr>
          <p:cNvPr id="40" name="Rule"/>
          <p:cNvSpPr/>
          <p:nvPr/>
        </p:nvSpPr>
        <p:spPr>
          <a:xfrm>
            <a:off x="6667500" y="1238250"/>
            <a:ext cx="2971800" cy="28575"/>
          </a:xfrm>
          <a:prstGeom prst="rect">
            <a:avLst/>
          </a:prstGeom>
          <a:solidFill>
            <a:srgbClr val="B68757"/>
          </a:solidFill>
          <a:ln>
            <a:noFill/>
          </a:ln>
        </p:spPr>
        <p:txBody>
          <a:bodyPr rtlCol="0" anchor="ctr"/>
          <a:lstStyle/>
          <a:p>
            <a:pPr algn="ctr"/>
          </a:p>
        </p:txBody>
      </p:sp>
      <p:sp>
        <p:nvSpPr>
          <p:cNvPr id="41" name="Panel"/>
          <p:cNvSpPr/>
          <p:nvPr/>
        </p:nvSpPr>
        <p:spPr>
          <a:xfrm>
            <a:off x="6667500" y="1323975"/>
            <a:ext cx="1082576" cy="209550"/>
          </a:xfrm>
          <a:prstGeom prst="rect">
            <a:avLst/>
          </a:prstGeom>
          <a:solidFill>
            <a:srgbClr val="1B1A1A"/>
          </a:solidFill>
          <a:ln>
            <a:noFill/>
          </a:ln>
        </p:spPr>
        <p:txBody>
          <a:bodyPr rtlCol="0" anchor="ctr"/>
          <a:lstStyle/>
          <a:p>
            <a:pPr algn="ctr"/>
          </a:p>
        </p:txBody>
      </p:sp>
      <p:sp>
        <p:nvSpPr>
          <p:cNvPr id="42" name="TextBox 41"/>
          <p:cNvSpPr txBox="1"/>
          <p:nvPr/>
        </p:nvSpPr>
        <p:spPr>
          <a:xfrm>
            <a:off x="6753225" y="1356074"/>
            <a:ext cx="968276" cy="104775"/>
          </a:xfrm>
          <a:prstGeom prst="rect">
            <a:avLst/>
          </a:prstGeom>
          <a:noFill/>
        </p:spPr>
        <p:txBody>
          <a:bodyPr wrap="none" lIns="0" rIns="0" tIns="0" bIns="0" anchor="t">
            <a:noAutofit/>
          </a:bodyPr>
          <a:lstStyle/>
          <a:p>
            <a:pPr algn="l">
              <a:lnSpc>
                <a:spcPts val="900"/>
              </a:lnSpc>
              <a:spcBef>
                <a:spcPts val="0"/>
              </a:spcBef>
              <a:spcAft>
                <a:spcPts val="0"/>
              </a:spcAft>
            </a:pPr>
            <a:r>
              <a:rPr sz="638" b="1" i="0" spc="135">
                <a:solidFill>
                  <a:srgbClr val="D3AE84"/>
                </a:solidFill>
                <a:latin typeface="Quicksand"/>
              </a:rPr>
              <a:t>SEPTEMBER 2026</a:t>
            </a:r>
          </a:p>
        </p:txBody>
      </p:sp>
      <p:sp>
        <p:nvSpPr>
          <p:cNvPr id="43" name="TextBox 42"/>
          <p:cNvSpPr txBox="1"/>
          <p:nvPr/>
        </p:nvSpPr>
        <p:spPr>
          <a:xfrm>
            <a:off x="8566547" y="1356074"/>
            <a:ext cx="929878" cy="104775"/>
          </a:xfrm>
          <a:prstGeom prst="rect">
            <a:avLst/>
          </a:prstGeom>
          <a:noFill/>
        </p:spPr>
        <p:txBody>
          <a:bodyPr wrap="none" lIns="0" rIns="0" tIns="0" bIns="0" anchor="t">
            <a:noAutofit/>
          </a:bodyPr>
          <a:lstStyle/>
          <a:p>
            <a:pPr algn="r">
              <a:lnSpc>
                <a:spcPts val="900"/>
              </a:lnSpc>
              <a:spcBef>
                <a:spcPts val="0"/>
              </a:spcBef>
              <a:spcAft>
                <a:spcPts val="0"/>
              </a:spcAft>
            </a:pPr>
            <a:r>
              <a:rPr sz="638" b="1" i="0" spc="105">
                <a:solidFill>
                  <a:srgbClr val="8C6239"/>
                </a:solidFill>
                <a:latin typeface="Quicksand"/>
              </a:rPr>
              <a:t>TELECOM &amp; UCAAS</a:t>
            </a:r>
          </a:p>
        </p:txBody>
      </p:sp>
      <p:sp>
        <p:nvSpPr>
          <p:cNvPr id="44" name="Panel"/>
          <p:cNvSpPr/>
          <p:nvPr/>
        </p:nvSpPr>
        <p:spPr>
          <a:xfrm>
            <a:off x="6815138" y="1633538"/>
            <a:ext cx="1047750" cy="428625"/>
          </a:xfrm>
          <a:prstGeom prst="rect">
            <a:avLst/>
          </a:prstGeom>
          <a:solidFill>
            <a:srgbClr val="FFFFFF"/>
          </a:solidFill>
          <a:ln w="9525">
            <a:solidFill>
              <a:srgbClr val="E3DCD3"/>
            </a:solidFill>
          </a:ln>
        </p:spPr>
        <p:txBody>
          <a:bodyPr rtlCol="0" anchor="ctr"/>
          <a:lstStyle/>
          <a:p>
            <a:pPr algn="ctr"/>
          </a:p>
        </p:txBody>
      </p:sp>
      <p:sp>
        <p:nvSpPr>
          <p:cNvPr id="45" name="TextBox 44"/>
          <p:cNvSpPr txBox="1"/>
          <p:nvPr/>
        </p:nvSpPr>
        <p:spPr>
          <a:xfrm>
            <a:off x="6896100" y="1720120"/>
            <a:ext cx="885825" cy="233362"/>
          </a:xfrm>
          <a:prstGeom prst="rect">
            <a:avLst/>
          </a:prstGeom>
          <a:noFill/>
        </p:spPr>
        <p:txBody>
          <a:bodyPr wrap="square" lIns="0" rIns="0" tIns="0" bIns="0" anchor="t">
            <a:noAutofit/>
          </a:bodyPr>
          <a:lstStyle/>
          <a:p>
            <a:pPr algn="ctr">
              <a:lnSpc>
                <a:spcPts val="938"/>
              </a:lnSpc>
              <a:spcBef>
                <a:spcPts val="0"/>
              </a:spcBef>
              <a:spcAft>
                <a:spcPts val="0"/>
              </a:spcAft>
            </a:pPr>
            <a:r>
              <a:rPr sz="712" b="1" i="0" spc="38">
                <a:solidFill>
                  <a:srgbClr val="1B1A1A"/>
                </a:solidFill>
                <a:latin typeface="Quicksand"/>
              </a:rPr>
              <a:t>GRANITE STATE COMMUNICATIONS</a:t>
            </a:r>
          </a:p>
        </p:txBody>
      </p:sp>
      <p:sp>
        <p:nvSpPr>
          <p:cNvPr id="46" name="TextBox 45"/>
          <p:cNvSpPr txBox="1"/>
          <p:nvPr/>
        </p:nvSpPr>
        <p:spPr>
          <a:xfrm>
            <a:off x="7924800" y="1740789"/>
            <a:ext cx="457200" cy="195262"/>
          </a:xfrm>
          <a:prstGeom prst="rect">
            <a:avLst/>
          </a:prstGeom>
          <a:noFill/>
        </p:spPr>
        <p:txBody>
          <a:bodyPr wrap="square" lIns="0" rIns="0" tIns="0" bIns="0" anchor="t">
            <a:noAutofit/>
          </a:bodyPr>
          <a:lstStyle/>
          <a:p>
            <a:pPr algn="ctr">
              <a:lnSpc>
                <a:spcPts val="788"/>
              </a:lnSpc>
              <a:spcBef>
                <a:spcPts val="0"/>
              </a:spcBef>
              <a:spcAft>
                <a:spcPts val="0"/>
              </a:spcAft>
            </a:pPr>
            <a:r>
              <a:rPr sz="600" b="0" i="0" spc="60">
                <a:solidFill>
                  <a:srgbClr val="6F6A66"/>
                </a:solidFill>
                <a:latin typeface="Quicksand"/>
              </a:rPr>
              <a:t>ACQUIRED BY</a:t>
            </a:r>
          </a:p>
        </p:txBody>
      </p:sp>
      <p:sp>
        <p:nvSpPr>
          <p:cNvPr id="47" name="Panel"/>
          <p:cNvSpPr/>
          <p:nvPr/>
        </p:nvSpPr>
        <p:spPr>
          <a:xfrm>
            <a:off x="8443912" y="1633538"/>
            <a:ext cx="1047750" cy="428625"/>
          </a:xfrm>
          <a:prstGeom prst="rect">
            <a:avLst/>
          </a:prstGeom>
          <a:solidFill>
            <a:srgbClr val="FFFFFF"/>
          </a:solidFill>
          <a:ln w="9525">
            <a:solidFill>
              <a:srgbClr val="E3DCD3"/>
            </a:solidFill>
          </a:ln>
        </p:spPr>
        <p:txBody>
          <a:bodyPr rtlCol="0" anchor="ctr"/>
          <a:lstStyle/>
          <a:p>
            <a:pPr algn="ctr"/>
          </a:p>
        </p:txBody>
      </p:sp>
      <p:pic>
        <p:nvPicPr>
          <p:cNvPr id="48" name="Telephone and Data Systems" descr="Telephone and Data Systems"/>
          <p:cNvPicPr>
            <a:picLocks noChangeAspect="1"/>
          </p:cNvPicPr>
          <p:nvPr/>
        </p:nvPicPr>
        <p:blipFill>
          <a:blip r:embed="rId7"/>
          <a:stretch>
            <a:fillRect/>
          </a:stretch>
        </p:blipFill>
        <p:spPr>
          <a:xfrm>
            <a:off x="8524875" y="1743075"/>
            <a:ext cx="209550" cy="209550"/>
          </a:xfrm>
          <a:prstGeom prst="rect">
            <a:avLst/>
          </a:prstGeom>
        </p:spPr>
      </p:pic>
      <p:sp>
        <p:nvSpPr>
          <p:cNvPr id="49" name="TextBox 48"/>
          <p:cNvSpPr txBox="1"/>
          <p:nvPr/>
        </p:nvSpPr>
        <p:spPr>
          <a:xfrm>
            <a:off x="8801100" y="1720120"/>
            <a:ext cx="609600" cy="233362"/>
          </a:xfrm>
          <a:prstGeom prst="rect">
            <a:avLst/>
          </a:prstGeom>
          <a:noFill/>
        </p:spPr>
        <p:txBody>
          <a:bodyPr wrap="square" lIns="0" rIns="0" tIns="0" bIns="0" anchor="t">
            <a:noAutofit/>
          </a:bodyPr>
          <a:lstStyle/>
          <a:p>
            <a:pPr algn="ctr">
              <a:lnSpc>
                <a:spcPts val="938"/>
              </a:lnSpc>
              <a:spcBef>
                <a:spcPts val="0"/>
              </a:spcBef>
              <a:spcAft>
                <a:spcPts val="0"/>
              </a:spcAft>
            </a:pPr>
            <a:r>
              <a:rPr sz="712" b="1" i="0" spc="38">
                <a:solidFill>
                  <a:srgbClr val="1B1A1A"/>
                </a:solidFill>
                <a:latin typeface="Quicksand"/>
              </a:rPr>
              <a:t>TDS TELECOM</a:t>
            </a:r>
          </a:p>
        </p:txBody>
      </p:sp>
      <p:sp>
        <p:nvSpPr>
          <p:cNvPr id="50" name="TextBox 49"/>
          <p:cNvSpPr txBox="1"/>
          <p:nvPr/>
        </p:nvSpPr>
        <p:spPr>
          <a:xfrm>
            <a:off x="6810375" y="2156079"/>
            <a:ext cx="2762250" cy="319088"/>
          </a:xfrm>
          <a:prstGeom prst="rect">
            <a:avLst/>
          </a:prstGeom>
          <a:noFill/>
        </p:spPr>
        <p:txBody>
          <a:bodyPr wrap="square" lIns="0" rIns="0" tIns="0" bIns="0" anchor="t">
            <a:noAutofit/>
          </a:bodyPr>
          <a:lstStyle/>
          <a:p>
            <a:pPr algn="l">
              <a:lnSpc>
                <a:spcPts val="1312"/>
              </a:lnSpc>
              <a:spcBef>
                <a:spcPts val="0"/>
              </a:spcBef>
              <a:spcAft>
                <a:spcPts val="0"/>
              </a:spcAft>
            </a:pPr>
            <a:r>
              <a:rPr sz="975" b="1" i="0" spc="15">
                <a:solidFill>
                  <a:srgbClr val="1B1A1A"/>
                </a:solidFill>
                <a:latin typeface="Quicksand"/>
              </a:rPr>
              <a:t>TDS Telecom acquires Granite State Communications</a:t>
            </a:r>
          </a:p>
        </p:txBody>
      </p:sp>
      <p:sp>
        <p:nvSpPr>
          <p:cNvPr id="51" name="TextBox 50"/>
          <p:cNvSpPr txBox="1"/>
          <p:nvPr/>
        </p:nvSpPr>
        <p:spPr>
          <a:xfrm>
            <a:off x="6810375" y="2529173"/>
            <a:ext cx="2762250" cy="771525"/>
          </a:xfrm>
          <a:prstGeom prst="rect">
            <a:avLst/>
          </a:prstGeom>
          <a:noFill/>
        </p:spPr>
        <p:txBody>
          <a:bodyPr wrap="square" lIns="0" rIns="0" tIns="0" bIns="0" anchor="t">
            <a:noAutofit/>
          </a:bodyPr>
          <a:lstStyle/>
          <a:p>
            <a:pPr algn="l">
              <a:lnSpc>
                <a:spcPts val="1238"/>
              </a:lnSpc>
              <a:spcBef>
                <a:spcPts val="0"/>
              </a:spcBef>
              <a:spcAft>
                <a:spcPts val="0"/>
              </a:spcAft>
            </a:pPr>
            <a:r>
              <a:rPr sz="861" b="0" i="0" spc="15">
                <a:solidFill>
                  <a:srgbClr val="333231"/>
                </a:solidFill>
                <a:latin typeface="Quicksand"/>
              </a:rPr>
              <a:t>Granite State is a fiber and voice provider in New Hampshire with 11,000 service addresses. Regional operators and infrastructure funds are buying local fiber networks of this size; terms were not disclosed (</a:t>
            </a:r>
            <a:r>
              <a:rPr sz="861" b="0" i="0" spc="15" u="sng">
                <a:solidFill>
                  <a:srgbClr val="8C6239"/>
                </a:solidFill>
                <a:latin typeface="Quicksand"/>
                <a:hlinkClick r:id="rId8">
                  <a:extLst>
                    <a:ext uri="{A12FA001-AC4F-418D-AE19-62706E023703}">
                      <ahyp:hlinkClr xmlns:ahyp="http://schemas.microsoft.com/office/drawing/2018/hyperlinkcolor" val="tx"/>
                    </a:ext>
                  </a:extLst>
                </a:hlinkClick>
              </a:rPr>
              <a:t>Broadband Communities ISP roundup</a:t>
            </a:r>
            <a:r>
              <a:rPr sz="861" b="0" i="0" spc="15">
                <a:solidFill>
                  <a:srgbClr val="333231"/>
                </a:solidFill>
                <a:latin typeface="Quicksand"/>
              </a:rPr>
              <a:t>).</a:t>
            </a:r>
          </a:p>
        </p:txBody>
      </p:sp>
      <p:sp>
        <p:nvSpPr>
          <p:cNvPr id="52" name="Rule"/>
          <p:cNvSpPr/>
          <p:nvPr/>
        </p:nvSpPr>
        <p:spPr>
          <a:xfrm>
            <a:off x="6810375" y="3514725"/>
            <a:ext cx="2686050" cy="9525"/>
          </a:xfrm>
          <a:prstGeom prst="rect">
            <a:avLst/>
          </a:prstGeom>
          <a:solidFill>
            <a:srgbClr val="E3DCD3"/>
          </a:solidFill>
          <a:ln>
            <a:noFill/>
          </a:ln>
        </p:spPr>
        <p:txBody>
          <a:bodyPr rtlCol="0" anchor="ctr"/>
          <a:lstStyle/>
          <a:p>
            <a:pPr algn="ctr"/>
          </a:p>
        </p:txBody>
      </p:sp>
      <p:sp>
        <p:nvSpPr>
          <p:cNvPr id="53" name="TextBox 52"/>
          <p:cNvSpPr txBox="1"/>
          <p:nvPr/>
        </p:nvSpPr>
        <p:spPr>
          <a:xfrm>
            <a:off x="6810375" y="3579590"/>
            <a:ext cx="2762250" cy="285750"/>
          </a:xfrm>
          <a:prstGeom prst="rect">
            <a:avLst/>
          </a:prstGeom>
          <a:noFill/>
        </p:spPr>
        <p:txBody>
          <a:bodyPr wrap="square" lIns="0" rIns="0" tIns="0" bIns="0" anchor="t">
            <a:noAutofit/>
          </a:bodyPr>
          <a:lstStyle/>
          <a:p>
            <a:pPr algn="l">
              <a:lnSpc>
                <a:spcPts val="1125"/>
              </a:lnSpc>
              <a:spcBef>
                <a:spcPts val="0"/>
              </a:spcBef>
              <a:spcAft>
                <a:spcPts val="0"/>
              </a:spcAft>
            </a:pPr>
            <a:r>
              <a:rPr sz="638" b="1" i="0" spc="120">
                <a:solidFill>
                  <a:srgbClr val="8C6239"/>
                </a:solidFill>
                <a:latin typeface="Quicksand"/>
              </a:rPr>
              <a:t>WHAT IT SHOWS  </a:t>
            </a:r>
            <a:r>
              <a:rPr sz="788" b="0" i="0" spc="15">
                <a:solidFill>
                  <a:srgbClr val="333231"/>
                </a:solidFill>
                <a:latin typeface="Quicksand"/>
              </a:rPr>
              <a:t>Local fiber operators have regional buyers as well as infrastructure funds.</a:t>
            </a:r>
          </a:p>
        </p:txBody>
      </p:sp>
      <p:sp>
        <p:nvSpPr>
          <p:cNvPr id="54" name="Panel"/>
          <p:cNvSpPr/>
          <p:nvPr/>
        </p:nvSpPr>
        <p:spPr>
          <a:xfrm>
            <a:off x="419100" y="4162425"/>
            <a:ext cx="2971800" cy="2771775"/>
          </a:xfrm>
          <a:prstGeom prst="rect">
            <a:avLst/>
          </a:prstGeom>
          <a:solidFill>
            <a:srgbClr val="FAF7F3"/>
          </a:solidFill>
          <a:ln>
            <a:noFill/>
          </a:ln>
        </p:spPr>
        <p:txBody>
          <a:bodyPr rtlCol="0" anchor="ctr"/>
          <a:lstStyle/>
          <a:p>
            <a:pPr algn="ctr"/>
          </a:p>
        </p:txBody>
      </p:sp>
      <p:sp>
        <p:nvSpPr>
          <p:cNvPr id="55" name="Rule"/>
          <p:cNvSpPr/>
          <p:nvPr/>
        </p:nvSpPr>
        <p:spPr>
          <a:xfrm>
            <a:off x="419100" y="4162425"/>
            <a:ext cx="2971800" cy="28575"/>
          </a:xfrm>
          <a:prstGeom prst="rect">
            <a:avLst/>
          </a:prstGeom>
          <a:solidFill>
            <a:srgbClr val="B68757"/>
          </a:solidFill>
          <a:ln>
            <a:noFill/>
          </a:ln>
        </p:spPr>
        <p:txBody>
          <a:bodyPr rtlCol="0" anchor="ctr"/>
          <a:lstStyle/>
          <a:p>
            <a:pPr algn="ctr"/>
          </a:p>
        </p:txBody>
      </p:sp>
      <p:sp>
        <p:nvSpPr>
          <p:cNvPr id="56" name="Panel"/>
          <p:cNvSpPr/>
          <p:nvPr/>
        </p:nvSpPr>
        <p:spPr>
          <a:xfrm>
            <a:off x="419100" y="4248150"/>
            <a:ext cx="1082576" cy="209550"/>
          </a:xfrm>
          <a:prstGeom prst="rect">
            <a:avLst/>
          </a:prstGeom>
          <a:solidFill>
            <a:srgbClr val="1B1A1A"/>
          </a:solidFill>
          <a:ln>
            <a:noFill/>
          </a:ln>
        </p:spPr>
        <p:txBody>
          <a:bodyPr rtlCol="0" anchor="ctr"/>
          <a:lstStyle/>
          <a:p>
            <a:pPr algn="ctr"/>
          </a:p>
        </p:txBody>
      </p:sp>
      <p:sp>
        <p:nvSpPr>
          <p:cNvPr id="57" name="TextBox 56"/>
          <p:cNvSpPr txBox="1"/>
          <p:nvPr/>
        </p:nvSpPr>
        <p:spPr>
          <a:xfrm>
            <a:off x="504825" y="4280249"/>
            <a:ext cx="968276" cy="104775"/>
          </a:xfrm>
          <a:prstGeom prst="rect">
            <a:avLst/>
          </a:prstGeom>
          <a:noFill/>
        </p:spPr>
        <p:txBody>
          <a:bodyPr wrap="none" lIns="0" rIns="0" tIns="0" bIns="0" anchor="t">
            <a:noAutofit/>
          </a:bodyPr>
          <a:lstStyle/>
          <a:p>
            <a:pPr algn="l">
              <a:lnSpc>
                <a:spcPts val="900"/>
              </a:lnSpc>
              <a:spcBef>
                <a:spcPts val="0"/>
              </a:spcBef>
              <a:spcAft>
                <a:spcPts val="0"/>
              </a:spcAft>
            </a:pPr>
            <a:r>
              <a:rPr sz="638" b="1" i="0" spc="135">
                <a:solidFill>
                  <a:srgbClr val="D3AE84"/>
                </a:solidFill>
                <a:latin typeface="Quicksand"/>
              </a:rPr>
              <a:t>SEPTEMBER 2026</a:t>
            </a:r>
          </a:p>
        </p:txBody>
      </p:sp>
      <p:sp>
        <p:nvSpPr>
          <p:cNvPr id="58" name="TextBox 57"/>
          <p:cNvSpPr txBox="1"/>
          <p:nvPr/>
        </p:nvSpPr>
        <p:spPr>
          <a:xfrm>
            <a:off x="2086273" y="4280249"/>
            <a:ext cx="1161752" cy="104775"/>
          </a:xfrm>
          <a:prstGeom prst="rect">
            <a:avLst/>
          </a:prstGeom>
          <a:noFill/>
        </p:spPr>
        <p:txBody>
          <a:bodyPr wrap="none" lIns="0" rIns="0" tIns="0" bIns="0" anchor="t">
            <a:noAutofit/>
          </a:bodyPr>
          <a:lstStyle/>
          <a:p>
            <a:pPr algn="r">
              <a:lnSpc>
                <a:spcPts val="900"/>
              </a:lnSpc>
              <a:spcBef>
                <a:spcPts val="0"/>
              </a:spcBef>
              <a:spcAft>
                <a:spcPts val="0"/>
              </a:spcAft>
            </a:pPr>
            <a:r>
              <a:rPr sz="638" b="1" i="0" spc="105">
                <a:solidFill>
                  <a:srgbClr val="8C6239"/>
                </a:solidFill>
                <a:latin typeface="Quicksand"/>
              </a:rPr>
              <a:t>SYSTEMS INTEGRATION</a:t>
            </a:r>
          </a:p>
        </p:txBody>
      </p:sp>
      <p:sp>
        <p:nvSpPr>
          <p:cNvPr id="59" name="Panel"/>
          <p:cNvSpPr/>
          <p:nvPr/>
        </p:nvSpPr>
        <p:spPr>
          <a:xfrm>
            <a:off x="566738" y="4557712"/>
            <a:ext cx="1047750" cy="428625"/>
          </a:xfrm>
          <a:prstGeom prst="rect">
            <a:avLst/>
          </a:prstGeom>
          <a:solidFill>
            <a:srgbClr val="FFFFFF"/>
          </a:solidFill>
          <a:ln w="9525">
            <a:solidFill>
              <a:srgbClr val="E3DCD3"/>
            </a:solidFill>
          </a:ln>
        </p:spPr>
        <p:txBody>
          <a:bodyPr rtlCol="0" anchor="ctr"/>
          <a:lstStyle/>
          <a:p>
            <a:pPr algn="ctr"/>
          </a:p>
        </p:txBody>
      </p:sp>
      <p:sp>
        <p:nvSpPr>
          <p:cNvPr id="60" name="TextBox 59"/>
          <p:cNvSpPr txBox="1"/>
          <p:nvPr/>
        </p:nvSpPr>
        <p:spPr>
          <a:xfrm>
            <a:off x="647700" y="4644295"/>
            <a:ext cx="885825" cy="233362"/>
          </a:xfrm>
          <a:prstGeom prst="rect">
            <a:avLst/>
          </a:prstGeom>
          <a:noFill/>
        </p:spPr>
        <p:txBody>
          <a:bodyPr wrap="square" lIns="0" rIns="0" tIns="0" bIns="0" anchor="t">
            <a:noAutofit/>
          </a:bodyPr>
          <a:lstStyle/>
          <a:p>
            <a:pPr algn="ctr">
              <a:lnSpc>
                <a:spcPts val="938"/>
              </a:lnSpc>
              <a:spcBef>
                <a:spcPts val="0"/>
              </a:spcBef>
              <a:spcAft>
                <a:spcPts val="0"/>
              </a:spcAft>
            </a:pPr>
            <a:r>
              <a:rPr sz="712" b="1" i="0" spc="38">
                <a:solidFill>
                  <a:srgbClr val="1B1A1A"/>
                </a:solidFill>
                <a:latin typeface="Quicksand"/>
              </a:rPr>
              <a:t>COMMUNICATION COMPANY</a:t>
            </a:r>
          </a:p>
        </p:txBody>
      </p:sp>
      <p:sp>
        <p:nvSpPr>
          <p:cNvPr id="61" name="TextBox 60"/>
          <p:cNvSpPr txBox="1"/>
          <p:nvPr/>
        </p:nvSpPr>
        <p:spPr>
          <a:xfrm>
            <a:off x="1676400" y="4664964"/>
            <a:ext cx="457200" cy="195262"/>
          </a:xfrm>
          <a:prstGeom prst="rect">
            <a:avLst/>
          </a:prstGeom>
          <a:noFill/>
        </p:spPr>
        <p:txBody>
          <a:bodyPr wrap="square" lIns="0" rIns="0" tIns="0" bIns="0" anchor="t">
            <a:noAutofit/>
          </a:bodyPr>
          <a:lstStyle/>
          <a:p>
            <a:pPr algn="ctr">
              <a:lnSpc>
                <a:spcPts val="788"/>
              </a:lnSpc>
              <a:spcBef>
                <a:spcPts val="0"/>
              </a:spcBef>
              <a:spcAft>
                <a:spcPts val="0"/>
              </a:spcAft>
            </a:pPr>
            <a:r>
              <a:rPr sz="600" b="0" i="0" spc="60">
                <a:solidFill>
                  <a:srgbClr val="6F6A66"/>
                </a:solidFill>
                <a:latin typeface="Quicksand"/>
              </a:rPr>
              <a:t>ACQUIRED BY</a:t>
            </a:r>
          </a:p>
        </p:txBody>
      </p:sp>
      <p:sp>
        <p:nvSpPr>
          <p:cNvPr id="62" name="Panel"/>
          <p:cNvSpPr/>
          <p:nvPr/>
        </p:nvSpPr>
        <p:spPr>
          <a:xfrm>
            <a:off x="2195512" y="4557712"/>
            <a:ext cx="1047750" cy="428625"/>
          </a:xfrm>
          <a:prstGeom prst="rect">
            <a:avLst/>
          </a:prstGeom>
          <a:solidFill>
            <a:srgbClr val="FFFFFF"/>
          </a:solidFill>
          <a:ln w="9525">
            <a:solidFill>
              <a:srgbClr val="E3DCD3"/>
            </a:solidFill>
          </a:ln>
        </p:spPr>
        <p:txBody>
          <a:bodyPr rtlCol="0" anchor="ctr"/>
          <a:lstStyle/>
          <a:p>
            <a:pPr algn="ctr"/>
          </a:p>
        </p:txBody>
      </p:sp>
      <p:sp>
        <p:nvSpPr>
          <p:cNvPr id="63" name="TextBox 62"/>
          <p:cNvSpPr txBox="1"/>
          <p:nvPr/>
        </p:nvSpPr>
        <p:spPr>
          <a:xfrm>
            <a:off x="2544068" y="4703826"/>
            <a:ext cx="350490" cy="114300"/>
          </a:xfrm>
          <a:prstGeom prst="rect">
            <a:avLst/>
          </a:prstGeom>
          <a:noFill/>
        </p:spPr>
        <p:txBody>
          <a:bodyPr wrap="none" lIns="0" rIns="0" tIns="0" bIns="0" anchor="t">
            <a:noAutofit/>
          </a:bodyPr>
          <a:lstStyle/>
          <a:p>
            <a:pPr algn="ctr">
              <a:lnSpc>
                <a:spcPts val="938"/>
              </a:lnSpc>
              <a:spcBef>
                <a:spcPts val="0"/>
              </a:spcBef>
              <a:spcAft>
                <a:spcPts val="0"/>
              </a:spcAft>
            </a:pPr>
            <a:r>
              <a:rPr sz="712" b="1" i="0" spc="38">
                <a:solidFill>
                  <a:srgbClr val="1B1A1A"/>
                </a:solidFill>
                <a:latin typeface="Quicksand"/>
              </a:rPr>
              <a:t>PAVION</a:t>
            </a:r>
          </a:p>
        </p:txBody>
      </p:sp>
      <p:sp>
        <p:nvSpPr>
          <p:cNvPr id="64" name="TextBox 63"/>
          <p:cNvSpPr txBox="1"/>
          <p:nvPr/>
        </p:nvSpPr>
        <p:spPr>
          <a:xfrm>
            <a:off x="561975" y="5080254"/>
            <a:ext cx="2640062" cy="152400"/>
          </a:xfrm>
          <a:prstGeom prst="rect">
            <a:avLst/>
          </a:prstGeom>
          <a:noFill/>
        </p:spPr>
        <p:txBody>
          <a:bodyPr wrap="none" lIns="0" rIns="0" tIns="0" bIns="0" anchor="t">
            <a:noAutofit/>
          </a:bodyPr>
          <a:lstStyle/>
          <a:p>
            <a:pPr algn="l">
              <a:lnSpc>
                <a:spcPts val="1312"/>
              </a:lnSpc>
              <a:spcBef>
                <a:spcPts val="0"/>
              </a:spcBef>
              <a:spcAft>
                <a:spcPts val="0"/>
              </a:spcAft>
            </a:pPr>
            <a:r>
              <a:rPr sz="975" b="1" i="0" spc="15">
                <a:solidFill>
                  <a:srgbClr val="1B1A1A"/>
                </a:solidFill>
                <a:latin typeface="Quicksand"/>
              </a:rPr>
              <a:t>Pavion acquires Communication Company</a:t>
            </a:r>
          </a:p>
        </p:txBody>
      </p:sp>
      <p:sp>
        <p:nvSpPr>
          <p:cNvPr id="65" name="TextBox 64"/>
          <p:cNvSpPr txBox="1"/>
          <p:nvPr/>
        </p:nvSpPr>
        <p:spPr>
          <a:xfrm>
            <a:off x="561975" y="5286661"/>
            <a:ext cx="2762250" cy="771525"/>
          </a:xfrm>
          <a:prstGeom prst="rect">
            <a:avLst/>
          </a:prstGeom>
          <a:noFill/>
        </p:spPr>
        <p:txBody>
          <a:bodyPr wrap="square" lIns="0" rIns="0" tIns="0" bIns="0" anchor="t">
            <a:noAutofit/>
          </a:bodyPr>
          <a:lstStyle/>
          <a:p>
            <a:pPr algn="l">
              <a:lnSpc>
                <a:spcPts val="1238"/>
              </a:lnSpc>
              <a:spcBef>
                <a:spcPts val="0"/>
              </a:spcBef>
              <a:spcAft>
                <a:spcPts val="0"/>
              </a:spcAft>
            </a:pPr>
            <a:r>
              <a:rPr sz="861" b="0" i="0" spc="15">
                <a:solidFill>
                  <a:srgbClr val="333231"/>
                </a:solidFill>
                <a:latin typeface="Quicksand"/>
              </a:rPr>
              <a:t>Communication Company is a Midwest life safety, security, audiovisual and communications integrator founded in 1976. Pavion is backed by Wind Point Partners; terms were not disclosed (</a:t>
            </a:r>
            <a:r>
              <a:rPr sz="861" b="0" i="0" spc="15" u="sng">
                <a:solidFill>
                  <a:srgbClr val="8C6239"/>
                </a:solidFill>
                <a:latin typeface="Quicksand"/>
                <a:hlinkClick r:id="rId9">
                  <a:extLst>
                    <a:ext uri="{A12FA001-AC4F-418D-AE19-62706E023703}">
                      <ahyp:hlinkClr xmlns:ahyp="http://schemas.microsoft.com/office/drawing/2018/hyperlinkcolor" val="tx"/>
                    </a:ext>
                  </a:extLst>
                </a:hlinkClick>
              </a:rPr>
              <a:t>Pavion</a:t>
            </a:r>
            <a:r>
              <a:rPr sz="861" b="0" i="0" spc="15">
                <a:solidFill>
                  <a:srgbClr val="333231"/>
                </a:solidFill>
                <a:latin typeface="Quicksand"/>
              </a:rPr>
              <a:t>).</a:t>
            </a:r>
          </a:p>
        </p:txBody>
      </p:sp>
      <p:sp>
        <p:nvSpPr>
          <p:cNvPr id="66" name="Rule"/>
          <p:cNvSpPr/>
          <p:nvPr/>
        </p:nvSpPr>
        <p:spPr>
          <a:xfrm>
            <a:off x="561975" y="6438900"/>
            <a:ext cx="2686050" cy="9525"/>
          </a:xfrm>
          <a:prstGeom prst="rect">
            <a:avLst/>
          </a:prstGeom>
          <a:solidFill>
            <a:srgbClr val="E3DCD3"/>
          </a:solidFill>
          <a:ln>
            <a:noFill/>
          </a:ln>
        </p:spPr>
        <p:txBody>
          <a:bodyPr rtlCol="0" anchor="ctr"/>
          <a:lstStyle/>
          <a:p>
            <a:pPr algn="ctr"/>
          </a:p>
        </p:txBody>
      </p:sp>
      <p:sp>
        <p:nvSpPr>
          <p:cNvPr id="67" name="TextBox 66"/>
          <p:cNvSpPr txBox="1"/>
          <p:nvPr/>
        </p:nvSpPr>
        <p:spPr>
          <a:xfrm>
            <a:off x="561975" y="6503765"/>
            <a:ext cx="2762250" cy="285750"/>
          </a:xfrm>
          <a:prstGeom prst="rect">
            <a:avLst/>
          </a:prstGeom>
          <a:noFill/>
        </p:spPr>
        <p:txBody>
          <a:bodyPr wrap="square" lIns="0" rIns="0" tIns="0" bIns="0" anchor="t">
            <a:noAutofit/>
          </a:bodyPr>
          <a:lstStyle/>
          <a:p>
            <a:pPr algn="l">
              <a:lnSpc>
                <a:spcPts val="1125"/>
              </a:lnSpc>
              <a:spcBef>
                <a:spcPts val="0"/>
              </a:spcBef>
              <a:spcAft>
                <a:spcPts val="0"/>
              </a:spcAft>
            </a:pPr>
            <a:r>
              <a:rPr sz="638" b="1" i="0" spc="120">
                <a:solidFill>
                  <a:srgbClr val="8C6239"/>
                </a:solidFill>
                <a:latin typeface="Quicksand"/>
              </a:rPr>
              <a:t>WHAT IT SHOWS  </a:t>
            </a:r>
            <a:r>
              <a:rPr sz="788" b="0" i="0" spc="15">
                <a:solidFill>
                  <a:srgbClr val="333231"/>
                </a:solidFill>
                <a:latin typeface="Quicksand"/>
              </a:rPr>
              <a:t>Sponsor-backed security and life safety platforms continue to add regional integrators.</a:t>
            </a:r>
          </a:p>
        </p:txBody>
      </p:sp>
      <p:sp>
        <p:nvSpPr>
          <p:cNvPr id="68" name="Panel"/>
          <p:cNvSpPr/>
          <p:nvPr/>
        </p:nvSpPr>
        <p:spPr>
          <a:xfrm>
            <a:off x="3543300" y="4162425"/>
            <a:ext cx="2971800" cy="2771775"/>
          </a:xfrm>
          <a:prstGeom prst="rect">
            <a:avLst/>
          </a:prstGeom>
          <a:solidFill>
            <a:srgbClr val="FAF7F3"/>
          </a:solidFill>
          <a:ln>
            <a:noFill/>
          </a:ln>
        </p:spPr>
        <p:txBody>
          <a:bodyPr rtlCol="0" anchor="ctr"/>
          <a:lstStyle/>
          <a:p>
            <a:pPr algn="ctr"/>
          </a:p>
        </p:txBody>
      </p:sp>
      <p:sp>
        <p:nvSpPr>
          <p:cNvPr id="69" name="Rule"/>
          <p:cNvSpPr/>
          <p:nvPr/>
        </p:nvSpPr>
        <p:spPr>
          <a:xfrm>
            <a:off x="3543300" y="4162425"/>
            <a:ext cx="2971800" cy="28575"/>
          </a:xfrm>
          <a:prstGeom prst="rect">
            <a:avLst/>
          </a:prstGeom>
          <a:solidFill>
            <a:srgbClr val="B68757"/>
          </a:solidFill>
          <a:ln>
            <a:noFill/>
          </a:ln>
        </p:spPr>
        <p:txBody>
          <a:bodyPr rtlCol="0" anchor="ctr"/>
          <a:lstStyle/>
          <a:p>
            <a:pPr algn="ctr"/>
          </a:p>
        </p:txBody>
      </p:sp>
      <p:sp>
        <p:nvSpPr>
          <p:cNvPr id="70" name="Panel"/>
          <p:cNvSpPr/>
          <p:nvPr/>
        </p:nvSpPr>
        <p:spPr>
          <a:xfrm>
            <a:off x="3543300" y="4248150"/>
            <a:ext cx="889099" cy="209550"/>
          </a:xfrm>
          <a:prstGeom prst="rect">
            <a:avLst/>
          </a:prstGeom>
          <a:solidFill>
            <a:srgbClr val="1B1A1A"/>
          </a:solidFill>
          <a:ln>
            <a:noFill/>
          </a:ln>
        </p:spPr>
        <p:txBody>
          <a:bodyPr rtlCol="0" anchor="ctr"/>
          <a:lstStyle/>
          <a:p>
            <a:pPr algn="ctr"/>
          </a:p>
        </p:txBody>
      </p:sp>
      <p:sp>
        <p:nvSpPr>
          <p:cNvPr id="71" name="TextBox 70"/>
          <p:cNvSpPr txBox="1"/>
          <p:nvPr/>
        </p:nvSpPr>
        <p:spPr>
          <a:xfrm>
            <a:off x="3629025" y="4280249"/>
            <a:ext cx="774799" cy="104775"/>
          </a:xfrm>
          <a:prstGeom prst="rect">
            <a:avLst/>
          </a:prstGeom>
          <a:noFill/>
        </p:spPr>
        <p:txBody>
          <a:bodyPr wrap="none" lIns="0" rIns="0" tIns="0" bIns="0" anchor="t">
            <a:noAutofit/>
          </a:bodyPr>
          <a:lstStyle/>
          <a:p>
            <a:pPr algn="l">
              <a:lnSpc>
                <a:spcPts val="900"/>
              </a:lnSpc>
              <a:spcBef>
                <a:spcPts val="0"/>
              </a:spcBef>
              <a:spcAft>
                <a:spcPts val="0"/>
              </a:spcAft>
            </a:pPr>
            <a:r>
              <a:rPr sz="638" b="1" i="0" spc="135">
                <a:solidFill>
                  <a:srgbClr val="D3AE84"/>
                </a:solidFill>
                <a:latin typeface="Quicksand"/>
              </a:rPr>
              <a:t>AUGUST 2026</a:t>
            </a:r>
          </a:p>
        </p:txBody>
      </p:sp>
      <p:sp>
        <p:nvSpPr>
          <p:cNvPr id="72" name="TextBox 71"/>
          <p:cNvSpPr txBox="1"/>
          <p:nvPr/>
        </p:nvSpPr>
        <p:spPr>
          <a:xfrm>
            <a:off x="4987975" y="4280249"/>
            <a:ext cx="1384250" cy="104775"/>
          </a:xfrm>
          <a:prstGeom prst="rect">
            <a:avLst/>
          </a:prstGeom>
          <a:noFill/>
        </p:spPr>
        <p:txBody>
          <a:bodyPr wrap="none" lIns="0" rIns="0" tIns="0" bIns="0" anchor="t">
            <a:noAutofit/>
          </a:bodyPr>
          <a:lstStyle/>
          <a:p>
            <a:pPr algn="r">
              <a:lnSpc>
                <a:spcPts val="900"/>
              </a:lnSpc>
              <a:spcBef>
                <a:spcPts val="0"/>
              </a:spcBef>
              <a:spcAft>
                <a:spcPts val="0"/>
              </a:spcAft>
            </a:pPr>
            <a:r>
              <a:rPr sz="638" b="1" i="0" spc="105">
                <a:solidFill>
                  <a:srgbClr val="8C6239"/>
                </a:solidFill>
                <a:latin typeface="Quicksand"/>
              </a:rPr>
              <a:t>ELECTRONICS &amp; HARDWARE</a:t>
            </a:r>
          </a:p>
        </p:txBody>
      </p:sp>
      <p:sp>
        <p:nvSpPr>
          <p:cNvPr id="73" name="Panel"/>
          <p:cNvSpPr/>
          <p:nvPr/>
        </p:nvSpPr>
        <p:spPr>
          <a:xfrm>
            <a:off x="3690938" y="4557712"/>
            <a:ext cx="1047750" cy="428625"/>
          </a:xfrm>
          <a:prstGeom prst="rect">
            <a:avLst/>
          </a:prstGeom>
          <a:solidFill>
            <a:srgbClr val="FFFFFF"/>
          </a:solidFill>
          <a:ln w="9525">
            <a:solidFill>
              <a:srgbClr val="E3DCD3"/>
            </a:solidFill>
          </a:ln>
        </p:spPr>
        <p:txBody>
          <a:bodyPr rtlCol="0" anchor="ctr"/>
          <a:lstStyle/>
          <a:p>
            <a:pPr algn="ctr"/>
          </a:p>
        </p:txBody>
      </p:sp>
      <p:sp>
        <p:nvSpPr>
          <p:cNvPr id="74" name="TextBox 73"/>
          <p:cNvSpPr txBox="1"/>
          <p:nvPr/>
        </p:nvSpPr>
        <p:spPr>
          <a:xfrm>
            <a:off x="3771900" y="4644295"/>
            <a:ext cx="885825" cy="233362"/>
          </a:xfrm>
          <a:prstGeom prst="rect">
            <a:avLst/>
          </a:prstGeom>
          <a:noFill/>
        </p:spPr>
        <p:txBody>
          <a:bodyPr wrap="square" lIns="0" rIns="0" tIns="0" bIns="0" anchor="t">
            <a:noAutofit/>
          </a:bodyPr>
          <a:lstStyle/>
          <a:p>
            <a:pPr algn="ctr">
              <a:lnSpc>
                <a:spcPts val="938"/>
              </a:lnSpc>
              <a:spcBef>
                <a:spcPts val="0"/>
              </a:spcBef>
              <a:spcAft>
                <a:spcPts val="0"/>
              </a:spcAft>
            </a:pPr>
            <a:r>
              <a:rPr sz="712" b="1" i="0" spc="38">
                <a:solidFill>
                  <a:srgbClr val="1B1A1A"/>
                </a:solidFill>
                <a:latin typeface="Quicksand"/>
              </a:rPr>
              <a:t>D-FEND SOLUTIONS</a:t>
            </a:r>
          </a:p>
        </p:txBody>
      </p:sp>
      <p:sp>
        <p:nvSpPr>
          <p:cNvPr id="75" name="TextBox 74"/>
          <p:cNvSpPr txBox="1"/>
          <p:nvPr/>
        </p:nvSpPr>
        <p:spPr>
          <a:xfrm>
            <a:off x="4800600" y="4664964"/>
            <a:ext cx="457200" cy="195262"/>
          </a:xfrm>
          <a:prstGeom prst="rect">
            <a:avLst/>
          </a:prstGeom>
          <a:noFill/>
        </p:spPr>
        <p:txBody>
          <a:bodyPr wrap="square" lIns="0" rIns="0" tIns="0" bIns="0" anchor="t">
            <a:noAutofit/>
          </a:bodyPr>
          <a:lstStyle/>
          <a:p>
            <a:pPr algn="ctr">
              <a:lnSpc>
                <a:spcPts val="788"/>
              </a:lnSpc>
              <a:spcBef>
                <a:spcPts val="0"/>
              </a:spcBef>
              <a:spcAft>
                <a:spcPts val="0"/>
              </a:spcAft>
            </a:pPr>
            <a:r>
              <a:rPr sz="600" b="0" i="0" spc="60">
                <a:solidFill>
                  <a:srgbClr val="6F6A66"/>
                </a:solidFill>
                <a:latin typeface="Quicksand"/>
              </a:rPr>
              <a:t>ACQUIRED BY</a:t>
            </a:r>
          </a:p>
        </p:txBody>
      </p:sp>
      <p:sp>
        <p:nvSpPr>
          <p:cNvPr id="76" name="Panel"/>
          <p:cNvSpPr/>
          <p:nvPr/>
        </p:nvSpPr>
        <p:spPr>
          <a:xfrm>
            <a:off x="5319712" y="4557712"/>
            <a:ext cx="1047750" cy="428625"/>
          </a:xfrm>
          <a:prstGeom prst="rect">
            <a:avLst/>
          </a:prstGeom>
          <a:solidFill>
            <a:srgbClr val="FFFFFF"/>
          </a:solidFill>
          <a:ln w="9525">
            <a:solidFill>
              <a:srgbClr val="E3DCD3"/>
            </a:solidFill>
          </a:ln>
        </p:spPr>
        <p:txBody>
          <a:bodyPr rtlCol="0" anchor="ctr"/>
          <a:lstStyle/>
          <a:p>
            <a:pPr algn="ctr"/>
          </a:p>
        </p:txBody>
      </p:sp>
      <p:pic>
        <p:nvPicPr>
          <p:cNvPr id="77" name="Motorola Solutions" descr="Motorola Solutions"/>
          <p:cNvPicPr>
            <a:picLocks noChangeAspect="1"/>
          </p:cNvPicPr>
          <p:nvPr/>
        </p:nvPicPr>
        <p:blipFill>
          <a:blip r:embed="rId10"/>
          <a:stretch>
            <a:fillRect/>
          </a:stretch>
        </p:blipFill>
        <p:spPr>
          <a:xfrm>
            <a:off x="5400675" y="4667250"/>
            <a:ext cx="209550" cy="209550"/>
          </a:xfrm>
          <a:prstGeom prst="rect">
            <a:avLst/>
          </a:prstGeom>
        </p:spPr>
      </p:pic>
      <p:sp>
        <p:nvSpPr>
          <p:cNvPr id="78" name="TextBox 77"/>
          <p:cNvSpPr txBox="1"/>
          <p:nvPr/>
        </p:nvSpPr>
        <p:spPr>
          <a:xfrm>
            <a:off x="5676900" y="4644295"/>
            <a:ext cx="609600" cy="233362"/>
          </a:xfrm>
          <a:prstGeom prst="rect">
            <a:avLst/>
          </a:prstGeom>
          <a:noFill/>
        </p:spPr>
        <p:txBody>
          <a:bodyPr wrap="square" lIns="0" rIns="0" tIns="0" bIns="0" anchor="t">
            <a:noAutofit/>
          </a:bodyPr>
          <a:lstStyle/>
          <a:p>
            <a:pPr algn="ctr">
              <a:lnSpc>
                <a:spcPts val="938"/>
              </a:lnSpc>
              <a:spcBef>
                <a:spcPts val="0"/>
              </a:spcBef>
              <a:spcAft>
                <a:spcPts val="0"/>
              </a:spcAft>
            </a:pPr>
            <a:r>
              <a:rPr sz="712" b="1" i="0" spc="38">
                <a:solidFill>
                  <a:srgbClr val="1B1A1A"/>
                </a:solidFill>
                <a:latin typeface="Quicksand"/>
              </a:rPr>
              <a:t>MOTOROLA SOLUTIONS</a:t>
            </a:r>
          </a:p>
        </p:txBody>
      </p:sp>
      <p:sp>
        <p:nvSpPr>
          <p:cNvPr id="79" name="TextBox 78"/>
          <p:cNvSpPr txBox="1"/>
          <p:nvPr/>
        </p:nvSpPr>
        <p:spPr>
          <a:xfrm>
            <a:off x="3686175" y="5080254"/>
            <a:ext cx="2762250" cy="319088"/>
          </a:xfrm>
          <a:prstGeom prst="rect">
            <a:avLst/>
          </a:prstGeom>
          <a:noFill/>
        </p:spPr>
        <p:txBody>
          <a:bodyPr wrap="square" lIns="0" rIns="0" tIns="0" bIns="0" anchor="t">
            <a:noAutofit/>
          </a:bodyPr>
          <a:lstStyle/>
          <a:p>
            <a:pPr algn="l">
              <a:lnSpc>
                <a:spcPts val="1312"/>
              </a:lnSpc>
              <a:spcBef>
                <a:spcPts val="0"/>
              </a:spcBef>
              <a:spcAft>
                <a:spcPts val="0"/>
              </a:spcAft>
            </a:pPr>
            <a:r>
              <a:rPr sz="975" b="1" i="0" spc="15">
                <a:solidFill>
                  <a:srgbClr val="1B1A1A"/>
                </a:solidFill>
                <a:latin typeface="Quicksand"/>
              </a:rPr>
              <a:t>Motorola Solutions buys D-Fend Solutions for $1.5 billion</a:t>
            </a:r>
          </a:p>
        </p:txBody>
      </p:sp>
      <p:sp>
        <p:nvSpPr>
          <p:cNvPr id="80" name="TextBox 79"/>
          <p:cNvSpPr txBox="1"/>
          <p:nvPr/>
        </p:nvSpPr>
        <p:spPr>
          <a:xfrm>
            <a:off x="3686175" y="5453348"/>
            <a:ext cx="2762250" cy="771525"/>
          </a:xfrm>
          <a:prstGeom prst="rect">
            <a:avLst/>
          </a:prstGeom>
          <a:noFill/>
        </p:spPr>
        <p:txBody>
          <a:bodyPr wrap="square" lIns="0" rIns="0" tIns="0" bIns="0" anchor="t">
            <a:noAutofit/>
          </a:bodyPr>
          <a:lstStyle/>
          <a:p>
            <a:pPr algn="l">
              <a:lnSpc>
                <a:spcPts val="1238"/>
              </a:lnSpc>
              <a:spcBef>
                <a:spcPts val="0"/>
              </a:spcBef>
              <a:spcAft>
                <a:spcPts val="0"/>
              </a:spcAft>
            </a:pPr>
            <a:r>
              <a:rPr sz="861" b="0" i="0" spc="15">
                <a:solidFill>
                  <a:srgbClr val="333231"/>
                </a:solidFill>
                <a:latin typeface="Quicksand"/>
              </a:rPr>
              <a:t>D-Fend makes counter-drone radio frequency technology. Defense and public safety electronics have drawn the highest prices in the focus area, after the same buyer paid $4.4 billion for Silvus Technologies in 2025 (</a:t>
            </a:r>
            <a:r>
              <a:rPr sz="861" b="0" i="0" spc="15" u="sng">
                <a:solidFill>
                  <a:srgbClr val="8C6239"/>
                </a:solidFill>
                <a:latin typeface="Quicksand"/>
                <a:hlinkClick r:id="rId11">
                  <a:extLst>
                    <a:ext uri="{A12FA001-AC4F-418D-AE19-62706E023703}">
                      <ahyp:hlinkClr xmlns:ahyp="http://schemas.microsoft.com/office/drawing/2018/hyperlinkcolor" val="tx"/>
                    </a:ext>
                  </a:extLst>
                </a:hlinkClick>
              </a:rPr>
              <a:t>GovCon Wire</a:t>
            </a:r>
            <a:r>
              <a:rPr sz="861" b="0" i="0" spc="15">
                <a:solidFill>
                  <a:srgbClr val="333231"/>
                </a:solidFill>
                <a:latin typeface="Quicksand"/>
              </a:rPr>
              <a:t>).</a:t>
            </a:r>
          </a:p>
        </p:txBody>
      </p:sp>
      <p:sp>
        <p:nvSpPr>
          <p:cNvPr id="81" name="Rule"/>
          <p:cNvSpPr/>
          <p:nvPr/>
        </p:nvSpPr>
        <p:spPr>
          <a:xfrm>
            <a:off x="3686175" y="6296025"/>
            <a:ext cx="2686050" cy="9525"/>
          </a:xfrm>
          <a:prstGeom prst="rect">
            <a:avLst/>
          </a:prstGeom>
          <a:solidFill>
            <a:srgbClr val="E3DCD3"/>
          </a:solidFill>
          <a:ln>
            <a:noFill/>
          </a:ln>
        </p:spPr>
        <p:txBody>
          <a:bodyPr rtlCol="0" anchor="ctr"/>
          <a:lstStyle/>
          <a:p>
            <a:pPr algn="ctr"/>
          </a:p>
        </p:txBody>
      </p:sp>
      <p:sp>
        <p:nvSpPr>
          <p:cNvPr id="82" name="TextBox 81"/>
          <p:cNvSpPr txBox="1"/>
          <p:nvPr/>
        </p:nvSpPr>
        <p:spPr>
          <a:xfrm>
            <a:off x="3686175" y="6360890"/>
            <a:ext cx="2762250" cy="428625"/>
          </a:xfrm>
          <a:prstGeom prst="rect">
            <a:avLst/>
          </a:prstGeom>
          <a:noFill/>
        </p:spPr>
        <p:txBody>
          <a:bodyPr wrap="square" lIns="0" rIns="0" tIns="0" bIns="0" anchor="t">
            <a:noAutofit/>
          </a:bodyPr>
          <a:lstStyle/>
          <a:p>
            <a:pPr algn="l">
              <a:lnSpc>
                <a:spcPts val="1125"/>
              </a:lnSpc>
              <a:spcBef>
                <a:spcPts val="0"/>
              </a:spcBef>
              <a:spcAft>
                <a:spcPts val="0"/>
              </a:spcAft>
            </a:pPr>
            <a:r>
              <a:rPr sz="638" b="1" i="0" spc="120">
                <a:solidFill>
                  <a:srgbClr val="8C6239"/>
                </a:solidFill>
                <a:latin typeface="Quicksand"/>
              </a:rPr>
              <a:t>WHAT IT SHOWS  </a:t>
            </a:r>
            <a:r>
              <a:rPr sz="788" b="0" i="0" spc="15">
                <a:solidFill>
                  <a:srgbClr val="333231"/>
                </a:solidFill>
                <a:latin typeface="Quicksand"/>
              </a:rPr>
              <a:t>Defense and public safety electronics command the highest disclosed prices in hardware.</a:t>
            </a:r>
          </a:p>
        </p:txBody>
      </p:sp>
      <p:sp>
        <p:nvSpPr>
          <p:cNvPr id="83" name="Panel"/>
          <p:cNvSpPr/>
          <p:nvPr/>
        </p:nvSpPr>
        <p:spPr>
          <a:xfrm>
            <a:off x="6667500" y="4162425"/>
            <a:ext cx="2971800" cy="2771775"/>
          </a:xfrm>
          <a:prstGeom prst="rect">
            <a:avLst/>
          </a:prstGeom>
          <a:solidFill>
            <a:srgbClr val="FAF7F3"/>
          </a:solidFill>
          <a:ln>
            <a:noFill/>
          </a:ln>
        </p:spPr>
        <p:txBody>
          <a:bodyPr rtlCol="0" anchor="ctr"/>
          <a:lstStyle/>
          <a:p>
            <a:pPr algn="ctr"/>
          </a:p>
        </p:txBody>
      </p:sp>
      <p:sp>
        <p:nvSpPr>
          <p:cNvPr id="84" name="Rule"/>
          <p:cNvSpPr/>
          <p:nvPr/>
        </p:nvSpPr>
        <p:spPr>
          <a:xfrm>
            <a:off x="6667500" y="4162425"/>
            <a:ext cx="2971800" cy="28575"/>
          </a:xfrm>
          <a:prstGeom prst="rect">
            <a:avLst/>
          </a:prstGeom>
          <a:solidFill>
            <a:srgbClr val="B68757"/>
          </a:solidFill>
          <a:ln>
            <a:noFill/>
          </a:ln>
        </p:spPr>
        <p:txBody>
          <a:bodyPr rtlCol="0" anchor="ctr"/>
          <a:lstStyle/>
          <a:p>
            <a:pPr algn="ctr"/>
          </a:p>
        </p:txBody>
      </p:sp>
      <p:sp>
        <p:nvSpPr>
          <p:cNvPr id="85" name="Panel"/>
          <p:cNvSpPr/>
          <p:nvPr/>
        </p:nvSpPr>
        <p:spPr>
          <a:xfrm>
            <a:off x="6667500" y="4248150"/>
            <a:ext cx="889099" cy="209550"/>
          </a:xfrm>
          <a:prstGeom prst="rect">
            <a:avLst/>
          </a:prstGeom>
          <a:solidFill>
            <a:srgbClr val="1B1A1A"/>
          </a:solidFill>
          <a:ln>
            <a:noFill/>
          </a:ln>
        </p:spPr>
        <p:txBody>
          <a:bodyPr rtlCol="0" anchor="ctr"/>
          <a:lstStyle/>
          <a:p>
            <a:pPr algn="ctr"/>
          </a:p>
        </p:txBody>
      </p:sp>
      <p:sp>
        <p:nvSpPr>
          <p:cNvPr id="86" name="TextBox 85"/>
          <p:cNvSpPr txBox="1"/>
          <p:nvPr/>
        </p:nvSpPr>
        <p:spPr>
          <a:xfrm>
            <a:off x="6753225" y="4280249"/>
            <a:ext cx="774799" cy="104775"/>
          </a:xfrm>
          <a:prstGeom prst="rect">
            <a:avLst/>
          </a:prstGeom>
          <a:noFill/>
        </p:spPr>
        <p:txBody>
          <a:bodyPr wrap="none" lIns="0" rIns="0" tIns="0" bIns="0" anchor="t">
            <a:noAutofit/>
          </a:bodyPr>
          <a:lstStyle/>
          <a:p>
            <a:pPr algn="l">
              <a:lnSpc>
                <a:spcPts val="900"/>
              </a:lnSpc>
              <a:spcBef>
                <a:spcPts val="0"/>
              </a:spcBef>
              <a:spcAft>
                <a:spcPts val="0"/>
              </a:spcAft>
            </a:pPr>
            <a:r>
              <a:rPr sz="638" b="1" i="0" spc="135">
                <a:solidFill>
                  <a:srgbClr val="D3AE84"/>
                </a:solidFill>
                <a:latin typeface="Quicksand"/>
              </a:rPr>
              <a:t>AUGUST 2026</a:t>
            </a:r>
          </a:p>
        </p:txBody>
      </p:sp>
      <p:sp>
        <p:nvSpPr>
          <p:cNvPr id="87" name="TextBox 86"/>
          <p:cNvSpPr txBox="1"/>
          <p:nvPr/>
        </p:nvSpPr>
        <p:spPr>
          <a:xfrm>
            <a:off x="8101905" y="4280249"/>
            <a:ext cx="1394520" cy="104775"/>
          </a:xfrm>
          <a:prstGeom prst="rect">
            <a:avLst/>
          </a:prstGeom>
          <a:noFill/>
        </p:spPr>
        <p:txBody>
          <a:bodyPr wrap="none" lIns="0" rIns="0" tIns="0" bIns="0" anchor="t">
            <a:noAutofit/>
          </a:bodyPr>
          <a:lstStyle/>
          <a:p>
            <a:pPr algn="r">
              <a:lnSpc>
                <a:spcPts val="900"/>
              </a:lnSpc>
              <a:spcBef>
                <a:spcPts val="0"/>
              </a:spcBef>
              <a:spcAft>
                <a:spcPts val="0"/>
              </a:spcAft>
            </a:pPr>
            <a:r>
              <a:rPr sz="638" b="1" i="0" spc="105">
                <a:solidFill>
                  <a:srgbClr val="8C6239"/>
                </a:solidFill>
                <a:latin typeface="Quicksand"/>
              </a:rPr>
              <a:t>GOVERNMENT TECHNOLOGY</a:t>
            </a:r>
          </a:p>
        </p:txBody>
      </p:sp>
      <p:sp>
        <p:nvSpPr>
          <p:cNvPr id="88" name="Panel"/>
          <p:cNvSpPr/>
          <p:nvPr/>
        </p:nvSpPr>
        <p:spPr>
          <a:xfrm>
            <a:off x="6815138" y="4557712"/>
            <a:ext cx="1047750" cy="428625"/>
          </a:xfrm>
          <a:prstGeom prst="rect">
            <a:avLst/>
          </a:prstGeom>
          <a:solidFill>
            <a:srgbClr val="FFFFFF"/>
          </a:solidFill>
          <a:ln w="9525">
            <a:solidFill>
              <a:srgbClr val="E3DCD3"/>
            </a:solidFill>
          </a:ln>
        </p:spPr>
        <p:txBody>
          <a:bodyPr rtlCol="0" anchor="ctr"/>
          <a:lstStyle/>
          <a:p>
            <a:pPr algn="ctr"/>
          </a:p>
        </p:txBody>
      </p:sp>
      <p:sp>
        <p:nvSpPr>
          <p:cNvPr id="89" name="TextBox 88"/>
          <p:cNvSpPr txBox="1"/>
          <p:nvPr/>
        </p:nvSpPr>
        <p:spPr>
          <a:xfrm>
            <a:off x="6896100" y="4584764"/>
            <a:ext cx="885825" cy="352425"/>
          </a:xfrm>
          <a:prstGeom prst="rect">
            <a:avLst/>
          </a:prstGeom>
          <a:noFill/>
        </p:spPr>
        <p:txBody>
          <a:bodyPr wrap="square" lIns="0" rIns="0" tIns="0" bIns="0" anchor="t">
            <a:noAutofit/>
          </a:bodyPr>
          <a:lstStyle/>
          <a:p>
            <a:pPr algn="ctr">
              <a:lnSpc>
                <a:spcPts val="938"/>
              </a:lnSpc>
              <a:spcBef>
                <a:spcPts val="0"/>
              </a:spcBef>
              <a:spcAft>
                <a:spcPts val="0"/>
              </a:spcAft>
            </a:pPr>
            <a:r>
              <a:rPr sz="712" b="1" i="0" spc="38">
                <a:solidFill>
                  <a:srgbClr val="1B1A1A"/>
                </a:solidFill>
                <a:latin typeface="Quicksand"/>
              </a:rPr>
              <a:t>ULTRA I&amp;C MISSION SOLUTIONS</a:t>
            </a:r>
          </a:p>
        </p:txBody>
      </p:sp>
      <p:sp>
        <p:nvSpPr>
          <p:cNvPr id="90" name="TextBox 89"/>
          <p:cNvSpPr txBox="1"/>
          <p:nvPr/>
        </p:nvSpPr>
        <p:spPr>
          <a:xfrm>
            <a:off x="7924800" y="4664964"/>
            <a:ext cx="457200" cy="195262"/>
          </a:xfrm>
          <a:prstGeom prst="rect">
            <a:avLst/>
          </a:prstGeom>
          <a:noFill/>
        </p:spPr>
        <p:txBody>
          <a:bodyPr wrap="square" lIns="0" rIns="0" tIns="0" bIns="0" anchor="t">
            <a:noAutofit/>
          </a:bodyPr>
          <a:lstStyle/>
          <a:p>
            <a:pPr algn="ctr">
              <a:lnSpc>
                <a:spcPts val="788"/>
              </a:lnSpc>
              <a:spcBef>
                <a:spcPts val="0"/>
              </a:spcBef>
              <a:spcAft>
                <a:spcPts val="0"/>
              </a:spcAft>
            </a:pPr>
            <a:r>
              <a:rPr sz="600" b="0" i="0" spc="60">
                <a:solidFill>
                  <a:srgbClr val="6F6A66"/>
                </a:solidFill>
                <a:latin typeface="Quicksand"/>
              </a:rPr>
              <a:t>ACQUIRED BY</a:t>
            </a:r>
          </a:p>
        </p:txBody>
      </p:sp>
      <p:sp>
        <p:nvSpPr>
          <p:cNvPr id="91" name="Panel"/>
          <p:cNvSpPr/>
          <p:nvPr/>
        </p:nvSpPr>
        <p:spPr>
          <a:xfrm>
            <a:off x="8443912" y="4557712"/>
            <a:ext cx="1047750" cy="428625"/>
          </a:xfrm>
          <a:prstGeom prst="rect">
            <a:avLst/>
          </a:prstGeom>
          <a:solidFill>
            <a:srgbClr val="FFFFFF"/>
          </a:solidFill>
          <a:ln w="9525">
            <a:solidFill>
              <a:srgbClr val="E3DCD3"/>
            </a:solidFill>
          </a:ln>
        </p:spPr>
        <p:txBody>
          <a:bodyPr rtlCol="0" anchor="ctr"/>
          <a:lstStyle/>
          <a:p>
            <a:pPr algn="ctr"/>
          </a:p>
        </p:txBody>
      </p:sp>
      <p:pic>
        <p:nvPicPr>
          <p:cNvPr id="92" name="Booz Allen Hamilton" descr="Booz Allen Hamilton"/>
          <p:cNvPicPr>
            <a:picLocks noChangeAspect="1"/>
          </p:cNvPicPr>
          <p:nvPr/>
        </p:nvPicPr>
        <p:blipFill>
          <a:blip r:embed="rId12"/>
          <a:stretch>
            <a:fillRect/>
          </a:stretch>
        </p:blipFill>
        <p:spPr>
          <a:xfrm>
            <a:off x="8527256" y="4667250"/>
            <a:ext cx="209550" cy="209550"/>
          </a:xfrm>
          <a:prstGeom prst="rect">
            <a:avLst/>
          </a:prstGeom>
        </p:spPr>
      </p:pic>
      <p:sp>
        <p:nvSpPr>
          <p:cNvPr id="93" name="TextBox 92"/>
          <p:cNvSpPr txBox="1"/>
          <p:nvPr/>
        </p:nvSpPr>
        <p:spPr>
          <a:xfrm>
            <a:off x="8803481" y="4703826"/>
            <a:ext cx="604689" cy="114300"/>
          </a:xfrm>
          <a:prstGeom prst="rect">
            <a:avLst/>
          </a:prstGeom>
          <a:noFill/>
        </p:spPr>
        <p:txBody>
          <a:bodyPr wrap="none" lIns="0" rIns="0" tIns="0" bIns="0" anchor="t">
            <a:noAutofit/>
          </a:bodyPr>
          <a:lstStyle/>
          <a:p>
            <a:pPr algn="ctr">
              <a:lnSpc>
                <a:spcPts val="938"/>
              </a:lnSpc>
              <a:spcBef>
                <a:spcPts val="0"/>
              </a:spcBef>
              <a:spcAft>
                <a:spcPts val="0"/>
              </a:spcAft>
            </a:pPr>
            <a:r>
              <a:rPr sz="712" b="1" i="0" spc="38">
                <a:solidFill>
                  <a:srgbClr val="1B1A1A"/>
                </a:solidFill>
                <a:latin typeface="Quicksand"/>
              </a:rPr>
              <a:t>BOOZ ALLEN</a:t>
            </a:r>
          </a:p>
        </p:txBody>
      </p:sp>
      <p:sp>
        <p:nvSpPr>
          <p:cNvPr id="94" name="TextBox 93"/>
          <p:cNvSpPr txBox="1"/>
          <p:nvPr/>
        </p:nvSpPr>
        <p:spPr>
          <a:xfrm>
            <a:off x="6810375" y="5080254"/>
            <a:ext cx="2762250" cy="319088"/>
          </a:xfrm>
          <a:prstGeom prst="rect">
            <a:avLst/>
          </a:prstGeom>
          <a:noFill/>
        </p:spPr>
        <p:txBody>
          <a:bodyPr wrap="square" lIns="0" rIns="0" tIns="0" bIns="0" anchor="t">
            <a:noAutofit/>
          </a:bodyPr>
          <a:lstStyle/>
          <a:p>
            <a:pPr algn="l">
              <a:lnSpc>
                <a:spcPts val="1312"/>
              </a:lnSpc>
              <a:spcBef>
                <a:spcPts val="0"/>
              </a:spcBef>
              <a:spcAft>
                <a:spcPts val="0"/>
              </a:spcAft>
            </a:pPr>
            <a:r>
              <a:rPr sz="975" b="1" i="0" spc="15">
                <a:solidFill>
                  <a:srgbClr val="1B1A1A"/>
                </a:solidFill>
                <a:latin typeface="Quicksand"/>
              </a:rPr>
              <a:t>Booz Allen closes its $720 million purchase of Ultra I&amp;C Mission Solutions</a:t>
            </a:r>
          </a:p>
        </p:txBody>
      </p:sp>
      <p:sp>
        <p:nvSpPr>
          <p:cNvPr id="95" name="TextBox 94"/>
          <p:cNvSpPr txBox="1"/>
          <p:nvPr/>
        </p:nvSpPr>
        <p:spPr>
          <a:xfrm>
            <a:off x="6810375" y="5453348"/>
            <a:ext cx="2762250" cy="614362"/>
          </a:xfrm>
          <a:prstGeom prst="rect">
            <a:avLst/>
          </a:prstGeom>
          <a:noFill/>
        </p:spPr>
        <p:txBody>
          <a:bodyPr wrap="square" lIns="0" rIns="0" tIns="0" bIns="0" anchor="t">
            <a:noAutofit/>
          </a:bodyPr>
          <a:lstStyle/>
          <a:p>
            <a:pPr algn="l">
              <a:lnSpc>
                <a:spcPts val="1238"/>
              </a:lnSpc>
              <a:spcBef>
                <a:spcPts val="0"/>
              </a:spcBef>
              <a:spcAft>
                <a:spcPts val="0"/>
              </a:spcAft>
            </a:pPr>
            <a:r>
              <a:rPr sz="861" b="0" i="0" spc="15">
                <a:solidFill>
                  <a:srgbClr val="333231"/>
                </a:solidFill>
                <a:latin typeface="Quicksand"/>
              </a:rPr>
              <a:t>The business supplies defense software, encryption and edge computing. Large contractors are paying disclosed prices for cyber and software capability with funded backlog (</a:t>
            </a:r>
            <a:r>
              <a:rPr sz="861" b="0" i="0" spc="15" u="sng">
                <a:solidFill>
                  <a:srgbClr val="8C6239"/>
                </a:solidFill>
                <a:latin typeface="Quicksand"/>
                <a:hlinkClick r:id="rId13">
                  <a:extLst>
                    <a:ext uri="{A12FA001-AC4F-418D-AE19-62706E023703}">
                      <ahyp:hlinkClr xmlns:ahyp="http://schemas.microsoft.com/office/drawing/2018/hyperlinkcolor" val="tx"/>
                    </a:ext>
                  </a:extLst>
                </a:hlinkClick>
              </a:rPr>
              <a:t>GovCon Wire</a:t>
            </a:r>
            <a:r>
              <a:rPr sz="861" b="0" i="0" spc="15">
                <a:solidFill>
                  <a:srgbClr val="333231"/>
                </a:solidFill>
                <a:latin typeface="Quicksand"/>
              </a:rPr>
              <a:t>).</a:t>
            </a:r>
          </a:p>
        </p:txBody>
      </p:sp>
      <p:sp>
        <p:nvSpPr>
          <p:cNvPr id="96" name="Rule"/>
          <p:cNvSpPr/>
          <p:nvPr/>
        </p:nvSpPr>
        <p:spPr>
          <a:xfrm>
            <a:off x="6810375" y="6438900"/>
            <a:ext cx="2686050" cy="9525"/>
          </a:xfrm>
          <a:prstGeom prst="rect">
            <a:avLst/>
          </a:prstGeom>
          <a:solidFill>
            <a:srgbClr val="E3DCD3"/>
          </a:solidFill>
          <a:ln>
            <a:noFill/>
          </a:ln>
        </p:spPr>
        <p:txBody>
          <a:bodyPr rtlCol="0" anchor="ctr"/>
          <a:lstStyle/>
          <a:p>
            <a:pPr algn="ctr"/>
          </a:p>
        </p:txBody>
      </p:sp>
      <p:sp>
        <p:nvSpPr>
          <p:cNvPr id="97" name="TextBox 96"/>
          <p:cNvSpPr txBox="1"/>
          <p:nvPr/>
        </p:nvSpPr>
        <p:spPr>
          <a:xfrm>
            <a:off x="6810375" y="6503765"/>
            <a:ext cx="2762250" cy="285750"/>
          </a:xfrm>
          <a:prstGeom prst="rect">
            <a:avLst/>
          </a:prstGeom>
          <a:noFill/>
        </p:spPr>
        <p:txBody>
          <a:bodyPr wrap="square" lIns="0" rIns="0" tIns="0" bIns="0" anchor="t">
            <a:noAutofit/>
          </a:bodyPr>
          <a:lstStyle/>
          <a:p>
            <a:pPr algn="l">
              <a:lnSpc>
                <a:spcPts val="1125"/>
              </a:lnSpc>
              <a:spcBef>
                <a:spcPts val="0"/>
              </a:spcBef>
              <a:spcAft>
                <a:spcPts val="0"/>
              </a:spcAft>
            </a:pPr>
            <a:r>
              <a:rPr sz="638" b="1" i="0" spc="120">
                <a:solidFill>
                  <a:srgbClr val="8C6239"/>
                </a:solidFill>
                <a:latin typeface="Quicksand"/>
              </a:rPr>
              <a:t>WHAT IT SHOWS  </a:t>
            </a:r>
            <a:r>
              <a:rPr sz="788" b="0" i="0" spc="15">
                <a:solidFill>
                  <a:srgbClr val="333231"/>
                </a:solidFill>
                <a:latin typeface="Quicksand"/>
              </a:rPr>
              <a:t>Prime contractors are paying for software and cyber capability.</a:t>
            </a:r>
          </a:p>
        </p:txBody>
      </p:sp>
      <p:sp>
        <p:nvSpPr>
          <p:cNvPr id="98" name="Panel"/>
          <p:cNvSpPr/>
          <p:nvPr/>
        </p:nvSpPr>
        <p:spPr>
          <a:xfrm>
            <a:off x="419100" y="7029450"/>
            <a:ext cx="9220200" cy="9525"/>
          </a:xfrm>
          <a:prstGeom prst="rect">
            <a:avLst/>
          </a:prstGeom>
          <a:solidFill>
            <a:srgbClr val="E3DCD3"/>
          </a:solidFill>
          <a:ln>
            <a:noFill/>
          </a:ln>
        </p:spPr>
        <p:txBody>
          <a:bodyPr rtlCol="0" anchor="ctr"/>
          <a:lstStyle/>
          <a:p>
            <a:pPr algn="ctr"/>
          </a:p>
        </p:txBody>
      </p:sp>
      <p:pic>
        <p:nvPicPr>
          <p:cNvPr id="99" name="Graphic" descr="S03_r6.png"/>
          <p:cNvPicPr>
            <a:picLocks noChangeAspect="1"/>
          </p:cNvPicPr>
          <p:nvPr/>
        </p:nvPicPr>
        <p:blipFill>
          <a:blip r:embed="rId14"/>
          <a:stretch>
            <a:fillRect/>
          </a:stretch>
        </p:blipFill>
        <p:spPr>
          <a:xfrm>
            <a:off x="419100" y="7143750"/>
            <a:ext cx="914400" cy="171450"/>
          </a:xfrm>
          <a:prstGeom prst="rect">
            <a:avLst/>
          </a:prstGeom>
        </p:spPr>
      </p:pic>
      <p:sp>
        <p:nvSpPr>
          <p:cNvPr id="100" name="TextBox 99"/>
          <p:cNvSpPr txBox="1"/>
          <p:nvPr/>
        </p:nvSpPr>
        <p:spPr>
          <a:xfrm>
            <a:off x="1543050" y="7091172"/>
            <a:ext cx="7810500" cy="223838"/>
          </a:xfrm>
          <a:prstGeom prst="rect">
            <a:avLst/>
          </a:prstGeom>
          <a:noFill/>
        </p:spPr>
        <p:txBody>
          <a:bodyPr wrap="square" lIns="0" rIns="0" tIns="0" bIns="0" anchor="t">
            <a:noAutofit/>
          </a:bodyPr>
          <a:lstStyle/>
          <a:p>
            <a:pPr algn="l">
              <a:lnSpc>
                <a:spcPts val="938"/>
              </a:lnSpc>
              <a:spcBef>
                <a:spcPts val="0"/>
              </a:spcBef>
              <a:spcAft>
                <a:spcPts val="0"/>
              </a:spcAft>
            </a:pPr>
            <a:r>
              <a:rPr sz="675" b="0" i="0" spc="8">
                <a:solidFill>
                  <a:srgbClr val="6F6A66"/>
                </a:solidFill>
                <a:latin typeface="Quicksand"/>
              </a:rPr>
              <a:t>Transaction values are as reported by the linked source. Company names and marks are the property of their owners and are shown for identification. Transactions advised by Benchmark International follow on the next page.</a:t>
            </a:r>
          </a:p>
        </p:txBody>
      </p:sp>
      <p:sp>
        <p:nvSpPr>
          <p:cNvPr id="101" name="TextBox 100"/>
          <p:cNvSpPr txBox="1"/>
          <p:nvPr/>
        </p:nvSpPr>
        <p:spPr>
          <a:xfrm>
            <a:off x="9499550" y="7149370"/>
            <a:ext cx="139750" cy="114300"/>
          </a:xfrm>
          <a:prstGeom prst="rect">
            <a:avLst/>
          </a:prstGeom>
          <a:noFill/>
        </p:spPr>
        <p:txBody>
          <a:bodyPr wrap="none" lIns="0" rIns="0" tIns="0" bIns="0" anchor="t">
            <a:noAutofit/>
          </a:bodyPr>
          <a:lstStyle/>
          <a:p>
            <a:pPr algn="r">
              <a:lnSpc>
                <a:spcPts val="1050"/>
              </a:lnSpc>
              <a:spcBef>
                <a:spcPts val="0"/>
              </a:spcBef>
              <a:spcAft>
                <a:spcPts val="0"/>
              </a:spcAft>
            </a:pPr>
            <a:r>
              <a:rPr sz="712" b="1" i="0" spc="150">
                <a:solidFill>
                  <a:srgbClr val="1B1A1A"/>
                </a:solidFill>
                <a:latin typeface="Quicksand"/>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3" name="Panel"/>
          <p:cNvSpPr/>
          <p:nvPr/>
        </p:nvSpPr>
        <p:spPr>
          <a:xfrm>
            <a:off x="0" y="0"/>
            <a:ext cx="10058400" cy="7772400"/>
          </a:xfrm>
          <a:prstGeom prst="rect">
            <a:avLst/>
          </a:prstGeom>
          <a:solidFill>
            <a:srgbClr val="FFFFFF"/>
          </a:solidFill>
          <a:ln>
            <a:noFill/>
          </a:ln>
        </p:spPr>
        <p:txBody>
          <a:bodyPr rtlCol="0" anchor="ctr"/>
          <a:lstStyle/>
          <a:p>
            <a:pPr algn="ctr"/>
          </a:p>
        </p:txBody>
      </p:sp>
      <p:sp>
        <p:nvSpPr>
          <p:cNvPr id="4" name="Panel"/>
          <p:cNvSpPr/>
          <p:nvPr/>
        </p:nvSpPr>
        <p:spPr>
          <a:xfrm>
            <a:off x="0" y="0"/>
            <a:ext cx="57150" cy="7772400"/>
          </a:xfrm>
          <a:prstGeom prst="rect">
            <a:avLst/>
          </a:prstGeom>
          <a:solidFill>
            <a:srgbClr val="B68757"/>
          </a:solidFill>
          <a:ln>
            <a:noFill/>
          </a:ln>
        </p:spPr>
        <p:txBody>
          <a:bodyPr rtlCol="0" anchor="ctr"/>
          <a:lstStyle/>
          <a:p>
            <a:pPr algn="ctr"/>
          </a:p>
        </p:txBody>
      </p:sp>
      <p:sp>
        <p:nvSpPr>
          <p:cNvPr id="5" name="TextBox 4"/>
          <p:cNvSpPr txBox="1"/>
          <p:nvPr/>
        </p:nvSpPr>
        <p:spPr>
          <a:xfrm>
            <a:off x="419100" y="361760"/>
            <a:ext cx="2764185" cy="104775"/>
          </a:xfrm>
          <a:prstGeom prst="rect">
            <a:avLst/>
          </a:prstGeom>
          <a:noFill/>
        </p:spPr>
        <p:txBody>
          <a:bodyPr wrap="none" lIns="0" rIns="0" tIns="0" bIns="0" anchor="t">
            <a:noAutofit/>
          </a:bodyPr>
          <a:lstStyle/>
          <a:p>
            <a:pPr algn="l">
              <a:lnSpc>
                <a:spcPts val="1050"/>
              </a:lnSpc>
              <a:spcBef>
                <a:spcPts val="0"/>
              </a:spcBef>
              <a:spcAft>
                <a:spcPts val="0"/>
              </a:spcAft>
            </a:pPr>
            <a:r>
              <a:rPr sz="675" b="1" i="0" spc="195">
                <a:solidFill>
                  <a:srgbClr val="8C6239"/>
                </a:solidFill>
                <a:latin typeface="Quicksand"/>
              </a:rPr>
              <a:t>TECHNOLOGY  |  QUARTERLY SECTOR BRIEF</a:t>
            </a:r>
          </a:p>
        </p:txBody>
      </p:sp>
      <p:sp>
        <p:nvSpPr>
          <p:cNvPr id="6" name="TextBox 5"/>
          <p:cNvSpPr txBox="1"/>
          <p:nvPr/>
        </p:nvSpPr>
        <p:spPr>
          <a:xfrm>
            <a:off x="9112597" y="350901"/>
            <a:ext cx="526703" cy="152400"/>
          </a:xfrm>
          <a:prstGeom prst="rect">
            <a:avLst/>
          </a:prstGeom>
          <a:noFill/>
        </p:spPr>
        <p:txBody>
          <a:bodyPr wrap="none" lIns="0" rIns="0" tIns="0" bIns="0" anchor="t">
            <a:noAutofit/>
          </a:bodyPr>
          <a:lstStyle/>
          <a:p>
            <a:pPr algn="r">
              <a:lnSpc>
                <a:spcPts val="1350"/>
              </a:lnSpc>
              <a:spcBef>
                <a:spcPts val="0"/>
              </a:spcBef>
              <a:spcAft>
                <a:spcPts val="0"/>
              </a:spcAft>
            </a:pPr>
            <a:r>
              <a:rPr sz="900" b="0" i="0" spc="90">
                <a:solidFill>
                  <a:srgbClr val="6F6A66"/>
                </a:solidFill>
                <a:latin typeface="Cinzel"/>
              </a:rPr>
              <a:t>Q4 2026</a:t>
            </a:r>
          </a:p>
        </p:txBody>
      </p:sp>
      <p:sp>
        <p:nvSpPr>
          <p:cNvPr id="2" name="Title 1"/>
          <p:cNvSpPr>
            <a:spLocks noGrp="1"/>
          </p:cNvSpPr>
          <p:nvPr>
            <p:ph type="title"/>
          </p:nvPr>
        </p:nvSpPr>
        <p:spPr>
          <a:xfrm>
            <a:off x="419100" y="475488"/>
            <a:ext cx="6027539" cy="257175"/>
          </a:xfrm>
        </p:spPr>
        <p:txBody>
          <a:bodyPr wrap="none" lIns="0" rIns="0" tIns="0" bIns="0" anchor="t">
            <a:noAutofit/>
          </a:bodyPr>
          <a:lstStyle/>
          <a:p>
            <a:pPr algn="l">
              <a:lnSpc>
                <a:spcPts val="2550"/>
              </a:lnSpc>
              <a:spcBef>
                <a:spcPts val="0"/>
              </a:spcBef>
              <a:spcAft>
                <a:spcPts val="0"/>
              </a:spcAft>
            </a:pPr>
            <a:r>
              <a:rPr sz="2000" b="1" i="0">
                <a:solidFill>
                  <a:srgbClr val="1B1A1A"/>
                </a:solidFill>
                <a:latin typeface="Newsreader"/>
              </a:rPr>
              <a:t>Benchmark International's Technology Transactions</a:t>
            </a:r>
          </a:p>
        </p:txBody>
      </p:sp>
      <p:sp>
        <p:nvSpPr>
          <p:cNvPr id="7" name="TextBox 6"/>
          <p:cNvSpPr txBox="1"/>
          <p:nvPr/>
        </p:nvSpPr>
        <p:spPr>
          <a:xfrm>
            <a:off x="419100" y="864394"/>
            <a:ext cx="8437811" cy="152400"/>
          </a:xfrm>
          <a:prstGeom prst="rect">
            <a:avLst/>
          </a:prstGeom>
          <a:noFill/>
        </p:spPr>
        <p:txBody>
          <a:bodyPr wrap="none" lIns="0" rIns="0" tIns="0" bIns="0" anchor="t">
            <a:noAutofit/>
          </a:bodyPr>
          <a:lstStyle/>
          <a:p>
            <a:pPr algn="l">
              <a:lnSpc>
                <a:spcPts val="1388"/>
              </a:lnSpc>
              <a:spcBef>
                <a:spcPts val="0"/>
              </a:spcBef>
              <a:spcAft>
                <a:spcPts val="0"/>
              </a:spcAft>
            </a:pPr>
            <a:r>
              <a:rPr sz="938" b="0" i="0" spc="15">
                <a:solidFill>
                  <a:srgbClr val="6F6A66"/>
                </a:solidFill>
                <a:latin typeface="Quicksand"/>
              </a:rPr>
              <a:t>Electronics and hardware leads with five closed transactions and systems integration follows with four, and most buyers were operating companies.</a:t>
            </a:r>
          </a:p>
        </p:txBody>
      </p:sp>
      <p:sp>
        <p:nvSpPr>
          <p:cNvPr id="8" name="Panel"/>
          <p:cNvSpPr/>
          <p:nvPr/>
        </p:nvSpPr>
        <p:spPr>
          <a:xfrm>
            <a:off x="419100" y="1143000"/>
            <a:ext cx="9220200" cy="9525"/>
          </a:xfrm>
          <a:prstGeom prst="rect">
            <a:avLst/>
          </a:prstGeom>
          <a:solidFill>
            <a:srgbClr val="E3DCD3"/>
          </a:solidFill>
          <a:ln>
            <a:noFill/>
          </a:ln>
        </p:spPr>
        <p:txBody>
          <a:bodyPr rtlCol="0" anchor="ctr"/>
          <a:lstStyle/>
          <a:p>
            <a:pPr algn="ctr"/>
          </a:p>
        </p:txBody>
      </p:sp>
      <p:sp>
        <p:nvSpPr>
          <p:cNvPr id="9" name="Panel"/>
          <p:cNvSpPr/>
          <p:nvPr/>
        </p:nvSpPr>
        <p:spPr>
          <a:xfrm>
            <a:off x="419100" y="1238250"/>
            <a:ext cx="1943100" cy="5695950"/>
          </a:xfrm>
          <a:prstGeom prst="rect">
            <a:avLst/>
          </a:prstGeom>
          <a:solidFill>
            <a:srgbClr val="1B1A1A"/>
          </a:solidFill>
          <a:ln>
            <a:noFill/>
          </a:ln>
        </p:spPr>
        <p:txBody>
          <a:bodyPr rtlCol="0" anchor="ctr"/>
          <a:lstStyle/>
          <a:p>
            <a:pPr algn="ctr"/>
          </a:p>
        </p:txBody>
      </p:sp>
      <p:pic>
        <p:nvPicPr>
          <p:cNvPr id="10" name="Picture" descr="knot.jpg"/>
          <p:cNvPicPr>
            <a:picLocks noChangeAspect="1"/>
          </p:cNvPicPr>
          <p:nvPr/>
        </p:nvPicPr>
        <p:blipFill>
          <a:blip r:embed="rId2">
            <a:alphaModFix amt="50000"/>
          </a:blip>
          <a:srcRect l="30109" t="1500" r="51277" b="1500"/>
          <a:stretch>
            <a:fillRect/>
          </a:stretch>
        </p:blipFill>
        <p:spPr>
          <a:xfrm>
            <a:off x="419100" y="1238250"/>
            <a:ext cx="1943100" cy="5695950"/>
          </a:xfrm>
          <a:prstGeom prst="rect">
            <a:avLst/>
          </a:prstGeom>
        </p:spPr>
      </p:pic>
      <p:sp>
        <p:nvSpPr>
          <p:cNvPr id="11" name="TextBox 10"/>
          <p:cNvSpPr txBox="1"/>
          <p:nvPr/>
        </p:nvSpPr>
        <p:spPr>
          <a:xfrm>
            <a:off x="609600" y="1457134"/>
            <a:ext cx="1297484" cy="104775"/>
          </a:xfrm>
          <a:prstGeom prst="rect">
            <a:avLst/>
          </a:prstGeom>
          <a:noFill/>
        </p:spPr>
        <p:txBody>
          <a:bodyPr wrap="none" lIns="0" rIns="0" tIns="0" bIns="0" anchor="t">
            <a:noAutofit/>
          </a:bodyPr>
          <a:lstStyle/>
          <a:p>
            <a:pPr algn="l">
              <a:lnSpc>
                <a:spcPts val="975"/>
              </a:lnSpc>
              <a:spcBef>
                <a:spcPts val="0"/>
              </a:spcBef>
              <a:spcAft>
                <a:spcPts val="0"/>
              </a:spcAft>
            </a:pPr>
            <a:r>
              <a:rPr sz="675" b="1" i="0" spc="150">
                <a:solidFill>
                  <a:srgbClr val="D3AE84"/>
                </a:solidFill>
                <a:latin typeface="Quicksand"/>
              </a:rPr>
              <a:t>TRAILING 24 MONTHS</a:t>
            </a:r>
          </a:p>
        </p:txBody>
      </p:sp>
      <p:sp>
        <p:nvSpPr>
          <p:cNvPr id="12" name="Rule"/>
          <p:cNvSpPr/>
          <p:nvPr/>
        </p:nvSpPr>
        <p:spPr>
          <a:xfrm>
            <a:off x="609600" y="1685925"/>
            <a:ext cx="1562100" cy="9525"/>
          </a:xfrm>
          <a:prstGeom prst="rect">
            <a:avLst/>
          </a:prstGeom>
          <a:solidFill>
            <a:srgbClr val="FFFFFF">
              <a:alpha val="16000"/>
            </a:srgbClr>
          </a:solidFill>
          <a:ln>
            <a:noFill/>
          </a:ln>
        </p:spPr>
        <p:txBody>
          <a:bodyPr rtlCol="0" anchor="ctr"/>
          <a:lstStyle/>
          <a:p>
            <a:pPr algn="ctr"/>
          </a:p>
        </p:txBody>
      </p:sp>
      <p:sp>
        <p:nvSpPr>
          <p:cNvPr id="13" name="TextBox 12"/>
          <p:cNvSpPr txBox="1"/>
          <p:nvPr/>
        </p:nvSpPr>
        <p:spPr>
          <a:xfrm>
            <a:off x="609600" y="1806321"/>
            <a:ext cx="453033" cy="323850"/>
          </a:xfrm>
          <a:prstGeom prst="rect">
            <a:avLst/>
          </a:prstGeom>
          <a:noFill/>
        </p:spPr>
        <p:txBody>
          <a:bodyPr wrap="none" lIns="0" rIns="0" tIns="0" bIns="0" anchor="t">
            <a:noAutofit/>
          </a:bodyPr>
          <a:lstStyle/>
          <a:p>
            <a:pPr algn="l">
              <a:lnSpc>
                <a:spcPts val="2700"/>
              </a:lnSpc>
              <a:spcBef>
                <a:spcPts val="0"/>
              </a:spcBef>
              <a:spcAft>
                <a:spcPts val="0"/>
              </a:spcAft>
            </a:pPr>
            <a:r>
              <a:rPr sz="2550" b="1" i="0">
                <a:solidFill>
                  <a:srgbClr val="D3AE84"/>
                </a:solidFill>
                <a:latin typeface="Newsreader"/>
              </a:rPr>
              <a:t>13</a:t>
            </a:r>
          </a:p>
        </p:txBody>
      </p:sp>
      <p:sp>
        <p:nvSpPr>
          <p:cNvPr id="14" name="TextBox 13"/>
          <p:cNvSpPr txBox="1"/>
          <p:nvPr/>
        </p:nvSpPr>
        <p:spPr>
          <a:xfrm>
            <a:off x="609600" y="2191036"/>
            <a:ext cx="1638300" cy="304800"/>
          </a:xfrm>
          <a:prstGeom prst="rect">
            <a:avLst/>
          </a:prstGeom>
          <a:noFill/>
        </p:spPr>
        <p:txBody>
          <a:bodyPr wrap="square" lIns="0" rIns="0" tIns="0" bIns="0" anchor="t">
            <a:noAutofit/>
          </a:bodyPr>
          <a:lstStyle/>
          <a:p>
            <a:pPr algn="l">
              <a:lnSpc>
                <a:spcPts val="1275"/>
              </a:lnSpc>
              <a:spcBef>
                <a:spcPts val="0"/>
              </a:spcBef>
              <a:spcAft>
                <a:spcPts val="0"/>
              </a:spcAft>
            </a:pPr>
            <a:r>
              <a:rPr sz="861" b="0" i="0" spc="15">
                <a:solidFill>
                  <a:srgbClr val="E8E2DA"/>
                </a:solidFill>
                <a:latin typeface="Quicksand"/>
              </a:rPr>
              <a:t>transactions closed in these six focus areas</a:t>
            </a:r>
          </a:p>
        </p:txBody>
      </p:sp>
      <p:sp>
        <p:nvSpPr>
          <p:cNvPr id="15" name="Rule"/>
          <p:cNvSpPr/>
          <p:nvPr/>
        </p:nvSpPr>
        <p:spPr>
          <a:xfrm>
            <a:off x="609600" y="2667000"/>
            <a:ext cx="1562100" cy="9525"/>
          </a:xfrm>
          <a:prstGeom prst="rect">
            <a:avLst/>
          </a:prstGeom>
          <a:solidFill>
            <a:srgbClr val="FFFFFF">
              <a:alpha val="16000"/>
            </a:srgbClr>
          </a:solidFill>
          <a:ln>
            <a:noFill/>
          </a:ln>
        </p:spPr>
        <p:txBody>
          <a:bodyPr rtlCol="0" anchor="ctr"/>
          <a:lstStyle/>
          <a:p>
            <a:pPr algn="ctr"/>
          </a:p>
        </p:txBody>
      </p:sp>
      <p:sp>
        <p:nvSpPr>
          <p:cNvPr id="16" name="TextBox 15"/>
          <p:cNvSpPr txBox="1"/>
          <p:nvPr/>
        </p:nvSpPr>
        <p:spPr>
          <a:xfrm>
            <a:off x="609600" y="2787396"/>
            <a:ext cx="453033" cy="323850"/>
          </a:xfrm>
          <a:prstGeom prst="rect">
            <a:avLst/>
          </a:prstGeom>
          <a:noFill/>
        </p:spPr>
        <p:txBody>
          <a:bodyPr wrap="none" lIns="0" rIns="0" tIns="0" bIns="0" anchor="t">
            <a:noAutofit/>
          </a:bodyPr>
          <a:lstStyle/>
          <a:p>
            <a:pPr algn="l">
              <a:lnSpc>
                <a:spcPts val="2700"/>
              </a:lnSpc>
              <a:spcBef>
                <a:spcPts val="0"/>
              </a:spcBef>
              <a:spcAft>
                <a:spcPts val="0"/>
              </a:spcAft>
            </a:pPr>
            <a:r>
              <a:rPr sz="2550" b="1" i="0">
                <a:solidFill>
                  <a:srgbClr val="D3AE84"/>
                </a:solidFill>
                <a:latin typeface="Newsreader"/>
              </a:rPr>
              <a:t>38</a:t>
            </a:r>
          </a:p>
        </p:txBody>
      </p:sp>
      <p:sp>
        <p:nvSpPr>
          <p:cNvPr id="17" name="TextBox 16"/>
          <p:cNvSpPr txBox="1"/>
          <p:nvPr/>
        </p:nvSpPr>
        <p:spPr>
          <a:xfrm>
            <a:off x="609600" y="3172111"/>
            <a:ext cx="1638300" cy="628650"/>
          </a:xfrm>
          <a:prstGeom prst="rect">
            <a:avLst/>
          </a:prstGeom>
          <a:noFill/>
        </p:spPr>
        <p:txBody>
          <a:bodyPr wrap="square" lIns="0" rIns="0" tIns="0" bIns="0" anchor="t">
            <a:noAutofit/>
          </a:bodyPr>
          <a:lstStyle/>
          <a:p>
            <a:pPr algn="l">
              <a:lnSpc>
                <a:spcPts val="1275"/>
              </a:lnSpc>
              <a:spcBef>
                <a:spcPts val="0"/>
              </a:spcBef>
              <a:spcAft>
                <a:spcPts val="0"/>
              </a:spcAft>
            </a:pPr>
            <a:r>
              <a:rPr sz="861" b="0" i="0" spc="15">
                <a:solidFill>
                  <a:srgbClr val="E8E2DA"/>
                </a:solidFill>
                <a:latin typeface="Quicksand"/>
              </a:rPr>
              <a:t>further engagements in progress as of October 1, 2026, of which 19 are on the market</a:t>
            </a:r>
          </a:p>
        </p:txBody>
      </p:sp>
      <p:sp>
        <p:nvSpPr>
          <p:cNvPr id="18" name="Rule"/>
          <p:cNvSpPr/>
          <p:nvPr/>
        </p:nvSpPr>
        <p:spPr>
          <a:xfrm>
            <a:off x="609600" y="3971925"/>
            <a:ext cx="1562100" cy="9525"/>
          </a:xfrm>
          <a:prstGeom prst="rect">
            <a:avLst/>
          </a:prstGeom>
          <a:solidFill>
            <a:srgbClr val="FFFFFF">
              <a:alpha val="16000"/>
            </a:srgbClr>
          </a:solidFill>
          <a:ln>
            <a:noFill/>
          </a:ln>
        </p:spPr>
        <p:txBody>
          <a:bodyPr rtlCol="0" anchor="ctr"/>
          <a:lstStyle/>
          <a:p>
            <a:pPr algn="ctr"/>
          </a:p>
        </p:txBody>
      </p:sp>
      <p:sp>
        <p:nvSpPr>
          <p:cNvPr id="19" name="TextBox 18"/>
          <p:cNvSpPr txBox="1"/>
          <p:nvPr/>
        </p:nvSpPr>
        <p:spPr>
          <a:xfrm>
            <a:off x="609600" y="4092321"/>
            <a:ext cx="1104602" cy="323850"/>
          </a:xfrm>
          <a:prstGeom prst="rect">
            <a:avLst/>
          </a:prstGeom>
          <a:noFill/>
        </p:spPr>
        <p:txBody>
          <a:bodyPr wrap="none" lIns="0" rIns="0" tIns="0" bIns="0" anchor="t">
            <a:noAutofit/>
          </a:bodyPr>
          <a:lstStyle/>
          <a:p>
            <a:pPr algn="l">
              <a:lnSpc>
                <a:spcPts val="2700"/>
              </a:lnSpc>
              <a:spcBef>
                <a:spcPts val="0"/>
              </a:spcBef>
              <a:spcAft>
                <a:spcPts val="0"/>
              </a:spcAft>
            </a:pPr>
            <a:r>
              <a:rPr sz="2550" b="1" i="0">
                <a:solidFill>
                  <a:srgbClr val="D3AE84"/>
                </a:solidFill>
                <a:latin typeface="Newsreader"/>
              </a:rPr>
              <a:t>7 of 11</a:t>
            </a:r>
          </a:p>
        </p:txBody>
      </p:sp>
      <p:sp>
        <p:nvSpPr>
          <p:cNvPr id="20" name="TextBox 19"/>
          <p:cNvSpPr txBox="1"/>
          <p:nvPr/>
        </p:nvSpPr>
        <p:spPr>
          <a:xfrm>
            <a:off x="609600" y="4477036"/>
            <a:ext cx="1638300" cy="466725"/>
          </a:xfrm>
          <a:prstGeom prst="rect">
            <a:avLst/>
          </a:prstGeom>
          <a:noFill/>
        </p:spPr>
        <p:txBody>
          <a:bodyPr wrap="square" lIns="0" rIns="0" tIns="0" bIns="0" anchor="t">
            <a:noAutofit/>
          </a:bodyPr>
          <a:lstStyle/>
          <a:p>
            <a:pPr algn="l">
              <a:lnSpc>
                <a:spcPts val="1275"/>
              </a:lnSpc>
              <a:spcBef>
                <a:spcPts val="0"/>
              </a:spcBef>
              <a:spcAft>
                <a:spcPts val="0"/>
              </a:spcAft>
            </a:pPr>
            <a:r>
              <a:rPr sz="861" b="0" i="0" spc="15">
                <a:solidFill>
                  <a:srgbClr val="E8E2DA"/>
                </a:solidFill>
                <a:latin typeface="Quicksand"/>
              </a:rPr>
              <a:t>named sellers were bought by a company in their own or an adjacent field</a:t>
            </a:r>
          </a:p>
        </p:txBody>
      </p:sp>
      <p:sp>
        <p:nvSpPr>
          <p:cNvPr id="21" name="Rule"/>
          <p:cNvSpPr/>
          <p:nvPr/>
        </p:nvSpPr>
        <p:spPr>
          <a:xfrm>
            <a:off x="609600" y="5776912"/>
            <a:ext cx="1562100" cy="9525"/>
          </a:xfrm>
          <a:prstGeom prst="rect">
            <a:avLst/>
          </a:prstGeom>
          <a:solidFill>
            <a:srgbClr val="FFFFFF">
              <a:alpha val="16000"/>
            </a:srgbClr>
          </a:solidFill>
          <a:ln>
            <a:noFill/>
          </a:ln>
        </p:spPr>
        <p:txBody>
          <a:bodyPr rtlCol="0" anchor="ctr"/>
          <a:lstStyle/>
          <a:p>
            <a:pPr algn="ctr"/>
          </a:p>
        </p:txBody>
      </p:sp>
      <p:sp>
        <p:nvSpPr>
          <p:cNvPr id="22" name="TextBox 21"/>
          <p:cNvSpPr txBox="1"/>
          <p:nvPr/>
        </p:nvSpPr>
        <p:spPr>
          <a:xfrm>
            <a:off x="609600" y="5899976"/>
            <a:ext cx="1638300" cy="762000"/>
          </a:xfrm>
          <a:prstGeom prst="rect">
            <a:avLst/>
          </a:prstGeom>
          <a:noFill/>
        </p:spPr>
        <p:txBody>
          <a:bodyPr wrap="square" lIns="0" rIns="0" tIns="0" bIns="0" anchor="t">
            <a:noAutofit/>
          </a:bodyPr>
          <a:lstStyle/>
          <a:p>
            <a:pPr algn="l">
              <a:lnSpc>
                <a:spcPts val="1238"/>
              </a:lnSpc>
              <a:spcBef>
                <a:spcPts val="0"/>
              </a:spcBef>
              <a:spcAft>
                <a:spcPts val="0"/>
              </a:spcAft>
            </a:pPr>
            <a:r>
              <a:rPr sz="825" b="0" i="0" spc="15">
                <a:solidFill>
                  <a:srgbClr val="E8E2DA"/>
                </a:solidFill>
                <a:latin typeface="Quicksand"/>
              </a:rPr>
              <a:t>Ranked the leading privately owned sell-side M&amp;A advisor in the world in PitchBook's Q2 2026 Global League Tables (</a:t>
            </a:r>
            <a:r>
              <a:rPr sz="825" b="0" i="0" spc="15" u="sng">
                <a:solidFill>
                  <a:srgbClr val="D3AE84"/>
                </a:solidFill>
                <a:latin typeface="Quicksand"/>
                <a:hlinkClick r:id="rId3">
                  <a:extLst>
                    <a:ext uri="{A12FA001-AC4F-418D-AE19-62706E023703}">
                      <ahyp:hlinkClr xmlns:ahyp="http://schemas.microsoft.com/office/drawing/2018/hyperlinkcolor" val="tx"/>
                    </a:ext>
                  </a:extLst>
                </a:hlinkClick>
              </a:rPr>
              <a:t>Benchmark International</a:t>
            </a:r>
            <a:r>
              <a:rPr sz="825" b="0" i="0" spc="15">
                <a:solidFill>
                  <a:srgbClr val="E8E2DA"/>
                </a:solidFill>
                <a:latin typeface="Quicksand"/>
              </a:rPr>
              <a:t>).</a:t>
            </a:r>
          </a:p>
        </p:txBody>
      </p:sp>
      <p:sp>
        <p:nvSpPr>
          <p:cNvPr id="23" name="Panel">
            <a:hlinkClick r:id="rId4"/>
          </p:cNvPr>
          <p:cNvSpPr/>
          <p:nvPr/>
        </p:nvSpPr>
        <p:spPr>
          <a:xfrm>
            <a:off x="2514600" y="1238250"/>
            <a:ext cx="1695450" cy="1822400"/>
          </a:xfrm>
          <a:prstGeom prst="rect">
            <a:avLst/>
          </a:prstGeom>
          <a:solidFill>
            <a:srgbClr val="FFFFFF"/>
          </a:solidFill>
          <a:ln>
            <a:noFill/>
          </a:ln>
        </p:spPr>
        <p:txBody>
          <a:bodyPr rtlCol="0" anchor="ctr"/>
          <a:lstStyle/>
          <a:p>
            <a:pPr algn="ctr"/>
          </a:p>
        </p:txBody>
      </p:sp>
      <p:sp>
        <p:nvSpPr>
          <p:cNvPr id="24" name="Rule"/>
          <p:cNvSpPr/>
          <p:nvPr/>
        </p:nvSpPr>
        <p:spPr>
          <a:xfrm>
            <a:off x="2514600" y="1238250"/>
            <a:ext cx="1695450" cy="28575"/>
          </a:xfrm>
          <a:prstGeom prst="rect">
            <a:avLst/>
          </a:prstGeom>
          <a:solidFill>
            <a:srgbClr val="B68757"/>
          </a:solidFill>
          <a:ln>
            <a:noFill/>
          </a:ln>
        </p:spPr>
        <p:txBody>
          <a:bodyPr rtlCol="0" anchor="ctr"/>
          <a:lstStyle/>
          <a:p>
            <a:pPr algn="ctr"/>
          </a:p>
        </p:txBody>
      </p:sp>
      <p:sp>
        <p:nvSpPr>
          <p:cNvPr id="25" name="Rule"/>
          <p:cNvSpPr/>
          <p:nvPr/>
        </p:nvSpPr>
        <p:spPr>
          <a:xfrm>
            <a:off x="4200525" y="1238250"/>
            <a:ext cx="9525" cy="1822400"/>
          </a:xfrm>
          <a:prstGeom prst="rect">
            <a:avLst/>
          </a:prstGeom>
          <a:solidFill>
            <a:srgbClr val="E3DCD3"/>
          </a:solidFill>
          <a:ln>
            <a:noFill/>
          </a:ln>
        </p:spPr>
        <p:txBody>
          <a:bodyPr rtlCol="0" anchor="ctr"/>
          <a:lstStyle/>
          <a:p>
            <a:pPr algn="ctr"/>
          </a:p>
        </p:txBody>
      </p:sp>
      <p:sp>
        <p:nvSpPr>
          <p:cNvPr id="26" name="Rule"/>
          <p:cNvSpPr/>
          <p:nvPr/>
        </p:nvSpPr>
        <p:spPr>
          <a:xfrm>
            <a:off x="2514600" y="3051125"/>
            <a:ext cx="1695450" cy="9525"/>
          </a:xfrm>
          <a:prstGeom prst="rect">
            <a:avLst/>
          </a:prstGeom>
          <a:solidFill>
            <a:srgbClr val="E3DCD3"/>
          </a:solidFill>
          <a:ln>
            <a:noFill/>
          </a:ln>
        </p:spPr>
        <p:txBody>
          <a:bodyPr rtlCol="0" anchor="ctr"/>
          <a:lstStyle/>
          <a:p>
            <a:pPr algn="ctr"/>
          </a:p>
        </p:txBody>
      </p:sp>
      <p:sp>
        <p:nvSpPr>
          <p:cNvPr id="27" name="Rule"/>
          <p:cNvSpPr/>
          <p:nvPr/>
        </p:nvSpPr>
        <p:spPr>
          <a:xfrm>
            <a:off x="2514600" y="1238250"/>
            <a:ext cx="9525" cy="1822400"/>
          </a:xfrm>
          <a:prstGeom prst="rect">
            <a:avLst/>
          </a:prstGeom>
          <a:solidFill>
            <a:srgbClr val="E3DCD3"/>
          </a:solidFill>
          <a:ln>
            <a:noFill/>
          </a:ln>
        </p:spPr>
        <p:txBody>
          <a:bodyPr rtlCol="0" anchor="ctr"/>
          <a:lstStyle/>
          <a:p>
            <a:pPr algn="ctr"/>
          </a:p>
        </p:txBody>
      </p:sp>
      <p:sp>
        <p:nvSpPr>
          <p:cNvPr id="28" name="Panel"/>
          <p:cNvSpPr/>
          <p:nvPr/>
        </p:nvSpPr>
        <p:spPr>
          <a:xfrm>
            <a:off x="2633662" y="1366838"/>
            <a:ext cx="1457325" cy="409575"/>
          </a:xfrm>
          <a:prstGeom prst="rect">
            <a:avLst/>
          </a:prstGeom>
          <a:solidFill>
            <a:srgbClr val="FFFFFF"/>
          </a:solidFill>
          <a:ln w="9525">
            <a:solidFill>
              <a:srgbClr val="E3DCD3"/>
            </a:solidFill>
          </a:ln>
        </p:spPr>
        <p:txBody>
          <a:bodyPr rtlCol="0" anchor="ctr"/>
          <a:lstStyle/>
          <a:p>
            <a:pPr algn="ctr"/>
          </a:p>
        </p:txBody>
      </p:sp>
      <p:pic>
        <p:nvPicPr>
          <p:cNvPr id="29" name="MartianCraft" descr="MartianCraft"/>
          <p:cNvPicPr>
            <a:picLocks noChangeAspect="1"/>
          </p:cNvPicPr>
          <p:nvPr/>
        </p:nvPicPr>
        <p:blipFill>
          <a:blip r:embed="rId5"/>
          <a:stretch>
            <a:fillRect/>
          </a:stretch>
        </p:blipFill>
        <p:spPr>
          <a:xfrm>
            <a:off x="3192382" y="1409849"/>
            <a:ext cx="339886" cy="323701"/>
          </a:xfrm>
          <a:prstGeom prst="rect">
            <a:avLst/>
          </a:prstGeom>
        </p:spPr>
      </p:pic>
      <p:sp>
        <p:nvSpPr>
          <p:cNvPr id="30" name="TextBox 29">
            <a:hlinkClick r:id="rId4"/>
          </p:cNvPr>
          <p:cNvSpPr txBox="1"/>
          <p:nvPr/>
        </p:nvSpPr>
        <p:spPr>
          <a:xfrm>
            <a:off x="2628900" y="1740789"/>
            <a:ext cx="1466850" cy="95250"/>
          </a:xfrm>
          <a:prstGeom prst="rect">
            <a:avLst/>
          </a:prstGeom>
          <a:noFill/>
        </p:spPr>
        <p:txBody>
          <a:bodyPr wrap="none" lIns="0" rIns="0" tIns="0" bIns="0" anchor="t">
            <a:noAutofit/>
          </a:bodyPr>
          <a:lstStyle/>
          <a:p>
            <a:pPr algn="ctr">
              <a:lnSpc>
                <a:spcPts val="1275"/>
              </a:lnSpc>
              <a:spcBef>
                <a:spcPts val="0"/>
              </a:spcBef>
              <a:spcAft>
                <a:spcPts val="0"/>
              </a:spcAft>
            </a:pPr>
            <a:r>
              <a:rPr sz="600" b="0" i="0" spc="112">
                <a:solidFill>
                  <a:srgbClr val="6F6A66"/>
                </a:solidFill>
                <a:latin typeface="Quicksand"/>
              </a:rPr>
              <a:t>HAS BEEN ACQUIRED BY</a:t>
            </a:r>
          </a:p>
        </p:txBody>
      </p:sp>
      <p:sp>
        <p:nvSpPr>
          <p:cNvPr id="31" name="Panel"/>
          <p:cNvSpPr/>
          <p:nvPr/>
        </p:nvSpPr>
        <p:spPr>
          <a:xfrm>
            <a:off x="2633662" y="1947862"/>
            <a:ext cx="1457325" cy="409575"/>
          </a:xfrm>
          <a:prstGeom prst="rect">
            <a:avLst/>
          </a:prstGeom>
          <a:solidFill>
            <a:srgbClr val="FFFFFF"/>
          </a:solidFill>
          <a:ln w="9525">
            <a:solidFill>
              <a:srgbClr val="E3DCD3"/>
            </a:solidFill>
          </a:ln>
        </p:spPr>
        <p:txBody>
          <a:bodyPr rtlCol="0" anchor="ctr"/>
          <a:lstStyle/>
          <a:p>
            <a:pPr algn="ctr"/>
          </a:p>
        </p:txBody>
      </p:sp>
      <p:pic>
        <p:nvPicPr>
          <p:cNvPr id="32" name="Walnut Capital Partners" descr="Walnut Capital Partners"/>
          <p:cNvPicPr>
            <a:picLocks noChangeAspect="1"/>
          </p:cNvPicPr>
          <p:nvPr/>
        </p:nvPicPr>
        <p:blipFill>
          <a:blip r:embed="rId6"/>
          <a:stretch>
            <a:fillRect/>
          </a:stretch>
        </p:blipFill>
        <p:spPr>
          <a:xfrm>
            <a:off x="3163223" y="1990874"/>
            <a:ext cx="398204" cy="323701"/>
          </a:xfrm>
          <a:prstGeom prst="rect">
            <a:avLst/>
          </a:prstGeom>
        </p:spPr>
      </p:pic>
      <p:sp>
        <p:nvSpPr>
          <p:cNvPr id="33" name="TextBox 32">
            <a:hlinkClick r:id="rId4"/>
          </p:cNvPr>
          <p:cNvSpPr txBox="1"/>
          <p:nvPr/>
        </p:nvSpPr>
        <p:spPr>
          <a:xfrm>
            <a:off x="2628900" y="2431828"/>
            <a:ext cx="1466850" cy="409575"/>
          </a:xfrm>
          <a:prstGeom prst="rect">
            <a:avLst/>
          </a:prstGeom>
          <a:noFill/>
        </p:spPr>
        <p:txBody>
          <a:bodyPr wrap="square" lIns="0" rIns="0" tIns="0" bIns="0" anchor="t">
            <a:noAutofit/>
          </a:bodyPr>
          <a:lstStyle/>
          <a:p>
            <a:pPr algn="ctr">
              <a:lnSpc>
                <a:spcPts val="1088"/>
              </a:lnSpc>
              <a:spcBef>
                <a:spcPts val="0"/>
              </a:spcBef>
              <a:spcAft>
                <a:spcPts val="0"/>
              </a:spcAft>
            </a:pPr>
            <a:r>
              <a:rPr sz="788" b="0" i="0" spc="15">
                <a:solidFill>
                  <a:srgbClr val="333231"/>
                </a:solidFill>
                <a:latin typeface="Quicksand"/>
              </a:rPr>
              <a:t>Software design and development for mobile, Mac and backend systems</a:t>
            </a:r>
          </a:p>
        </p:txBody>
      </p:sp>
      <p:sp>
        <p:nvSpPr>
          <p:cNvPr id="34" name="TextBox 33">
            <a:hlinkClick r:id="rId4"/>
          </p:cNvPr>
          <p:cNvSpPr txBox="1"/>
          <p:nvPr/>
        </p:nvSpPr>
        <p:spPr>
          <a:xfrm>
            <a:off x="2628900" y="2850452"/>
            <a:ext cx="1466850" cy="95250"/>
          </a:xfrm>
          <a:prstGeom prst="rect">
            <a:avLst/>
          </a:prstGeom>
          <a:noFill/>
        </p:spPr>
        <p:txBody>
          <a:bodyPr wrap="none" lIns="0" rIns="0" tIns="0" bIns="0" anchor="t">
            <a:noAutofit/>
          </a:bodyPr>
          <a:lstStyle/>
          <a:p>
            <a:pPr algn="ctr">
              <a:lnSpc>
                <a:spcPts val="825"/>
              </a:lnSpc>
              <a:spcBef>
                <a:spcPts val="0"/>
              </a:spcBef>
              <a:spcAft>
                <a:spcPts val="0"/>
              </a:spcAft>
            </a:pPr>
            <a:r>
              <a:rPr sz="600" b="1" i="0" spc="105">
                <a:solidFill>
                  <a:srgbClr val="8C6239"/>
                </a:solidFill>
                <a:latin typeface="Quicksand"/>
              </a:rPr>
              <a:t>MANAGED IT &amp; CLOUD</a:t>
            </a:r>
          </a:p>
        </p:txBody>
      </p:sp>
      <p:sp>
        <p:nvSpPr>
          <p:cNvPr id="35" name="Panel">
            <a:hlinkClick r:id="rId7"/>
          </p:cNvPr>
          <p:cNvSpPr/>
          <p:nvPr/>
        </p:nvSpPr>
        <p:spPr>
          <a:xfrm>
            <a:off x="4324350" y="1238250"/>
            <a:ext cx="1695450" cy="1822400"/>
          </a:xfrm>
          <a:prstGeom prst="rect">
            <a:avLst/>
          </a:prstGeom>
          <a:solidFill>
            <a:srgbClr val="FFFFFF"/>
          </a:solidFill>
          <a:ln>
            <a:noFill/>
          </a:ln>
        </p:spPr>
        <p:txBody>
          <a:bodyPr rtlCol="0" anchor="ctr"/>
          <a:lstStyle/>
          <a:p>
            <a:pPr algn="ctr"/>
          </a:p>
        </p:txBody>
      </p:sp>
      <p:sp>
        <p:nvSpPr>
          <p:cNvPr id="36" name="Rule"/>
          <p:cNvSpPr/>
          <p:nvPr/>
        </p:nvSpPr>
        <p:spPr>
          <a:xfrm>
            <a:off x="4324350" y="1238250"/>
            <a:ext cx="1695450" cy="28575"/>
          </a:xfrm>
          <a:prstGeom prst="rect">
            <a:avLst/>
          </a:prstGeom>
          <a:solidFill>
            <a:srgbClr val="B68757"/>
          </a:solidFill>
          <a:ln>
            <a:noFill/>
          </a:ln>
        </p:spPr>
        <p:txBody>
          <a:bodyPr rtlCol="0" anchor="ctr"/>
          <a:lstStyle/>
          <a:p>
            <a:pPr algn="ctr"/>
          </a:p>
        </p:txBody>
      </p:sp>
      <p:sp>
        <p:nvSpPr>
          <p:cNvPr id="37" name="Rule"/>
          <p:cNvSpPr/>
          <p:nvPr/>
        </p:nvSpPr>
        <p:spPr>
          <a:xfrm>
            <a:off x="6010275" y="1238250"/>
            <a:ext cx="9525" cy="1822400"/>
          </a:xfrm>
          <a:prstGeom prst="rect">
            <a:avLst/>
          </a:prstGeom>
          <a:solidFill>
            <a:srgbClr val="E3DCD3"/>
          </a:solidFill>
          <a:ln>
            <a:noFill/>
          </a:ln>
        </p:spPr>
        <p:txBody>
          <a:bodyPr rtlCol="0" anchor="ctr"/>
          <a:lstStyle/>
          <a:p>
            <a:pPr algn="ctr"/>
          </a:p>
        </p:txBody>
      </p:sp>
      <p:sp>
        <p:nvSpPr>
          <p:cNvPr id="38" name="Rule"/>
          <p:cNvSpPr/>
          <p:nvPr/>
        </p:nvSpPr>
        <p:spPr>
          <a:xfrm>
            <a:off x="4324350" y="3051125"/>
            <a:ext cx="1695450" cy="9525"/>
          </a:xfrm>
          <a:prstGeom prst="rect">
            <a:avLst/>
          </a:prstGeom>
          <a:solidFill>
            <a:srgbClr val="E3DCD3"/>
          </a:solidFill>
          <a:ln>
            <a:noFill/>
          </a:ln>
        </p:spPr>
        <p:txBody>
          <a:bodyPr rtlCol="0" anchor="ctr"/>
          <a:lstStyle/>
          <a:p>
            <a:pPr algn="ctr"/>
          </a:p>
        </p:txBody>
      </p:sp>
      <p:sp>
        <p:nvSpPr>
          <p:cNvPr id="39" name="Rule"/>
          <p:cNvSpPr/>
          <p:nvPr/>
        </p:nvSpPr>
        <p:spPr>
          <a:xfrm>
            <a:off x="4324350" y="1238250"/>
            <a:ext cx="9525" cy="1822400"/>
          </a:xfrm>
          <a:prstGeom prst="rect">
            <a:avLst/>
          </a:prstGeom>
          <a:solidFill>
            <a:srgbClr val="E3DCD3"/>
          </a:solidFill>
          <a:ln>
            <a:noFill/>
          </a:ln>
        </p:spPr>
        <p:txBody>
          <a:bodyPr rtlCol="0" anchor="ctr"/>
          <a:lstStyle/>
          <a:p>
            <a:pPr algn="ctr"/>
          </a:p>
        </p:txBody>
      </p:sp>
      <p:sp>
        <p:nvSpPr>
          <p:cNvPr id="40" name="Panel"/>
          <p:cNvSpPr/>
          <p:nvPr/>
        </p:nvSpPr>
        <p:spPr>
          <a:xfrm>
            <a:off x="4443412" y="1366838"/>
            <a:ext cx="1457325" cy="409575"/>
          </a:xfrm>
          <a:prstGeom prst="rect">
            <a:avLst/>
          </a:prstGeom>
          <a:solidFill>
            <a:srgbClr val="FFFFFF"/>
          </a:solidFill>
          <a:ln w="9525">
            <a:solidFill>
              <a:srgbClr val="E3DCD3"/>
            </a:solidFill>
          </a:ln>
        </p:spPr>
        <p:txBody>
          <a:bodyPr rtlCol="0" anchor="ctr"/>
          <a:lstStyle/>
          <a:p>
            <a:pPr algn="ctr"/>
          </a:p>
        </p:txBody>
      </p:sp>
      <p:sp>
        <p:nvSpPr>
          <p:cNvPr id="41" name="TextBox 40">
            <a:hlinkClick r:id="rId7"/>
          </p:cNvPr>
          <p:cNvSpPr txBox="1"/>
          <p:nvPr/>
        </p:nvSpPr>
        <p:spPr>
          <a:xfrm>
            <a:off x="4785866" y="1496282"/>
            <a:ext cx="772418" cy="114300"/>
          </a:xfrm>
          <a:prstGeom prst="rect">
            <a:avLst/>
          </a:prstGeom>
          <a:noFill/>
        </p:spPr>
        <p:txBody>
          <a:bodyPr wrap="none" lIns="0" rIns="0" tIns="0" bIns="0" anchor="t">
            <a:noAutofit/>
          </a:bodyPr>
          <a:lstStyle/>
          <a:p>
            <a:pPr algn="ctr">
              <a:lnSpc>
                <a:spcPts val="975"/>
              </a:lnSpc>
              <a:spcBef>
                <a:spcPts val="0"/>
              </a:spcBef>
              <a:spcAft>
                <a:spcPts val="0"/>
              </a:spcAft>
            </a:pPr>
            <a:r>
              <a:rPr sz="712" b="1" i="0" spc="45">
                <a:solidFill>
                  <a:srgbClr val="1B1A1A"/>
                </a:solidFill>
                <a:latin typeface="Quicksand"/>
              </a:rPr>
              <a:t>EM3 NETWORKS</a:t>
            </a:r>
          </a:p>
        </p:txBody>
      </p:sp>
      <p:sp>
        <p:nvSpPr>
          <p:cNvPr id="42" name="TextBox 41">
            <a:hlinkClick r:id="rId7"/>
          </p:cNvPr>
          <p:cNvSpPr txBox="1"/>
          <p:nvPr/>
        </p:nvSpPr>
        <p:spPr>
          <a:xfrm>
            <a:off x="4438650" y="1740789"/>
            <a:ext cx="1466850" cy="95250"/>
          </a:xfrm>
          <a:prstGeom prst="rect">
            <a:avLst/>
          </a:prstGeom>
          <a:noFill/>
        </p:spPr>
        <p:txBody>
          <a:bodyPr wrap="none" lIns="0" rIns="0" tIns="0" bIns="0" anchor="t">
            <a:noAutofit/>
          </a:bodyPr>
          <a:lstStyle/>
          <a:p>
            <a:pPr algn="ctr">
              <a:lnSpc>
                <a:spcPts val="1275"/>
              </a:lnSpc>
              <a:spcBef>
                <a:spcPts val="0"/>
              </a:spcBef>
              <a:spcAft>
                <a:spcPts val="0"/>
              </a:spcAft>
            </a:pPr>
            <a:r>
              <a:rPr sz="600" b="0" i="0" spc="112">
                <a:solidFill>
                  <a:srgbClr val="6F6A66"/>
                </a:solidFill>
                <a:latin typeface="Quicksand"/>
              </a:rPr>
              <a:t>HAS BEEN ACQUIRED BY</a:t>
            </a:r>
          </a:p>
        </p:txBody>
      </p:sp>
      <p:sp>
        <p:nvSpPr>
          <p:cNvPr id="43" name="Panel"/>
          <p:cNvSpPr/>
          <p:nvPr/>
        </p:nvSpPr>
        <p:spPr>
          <a:xfrm>
            <a:off x="4443412" y="1947862"/>
            <a:ext cx="1457325" cy="409575"/>
          </a:xfrm>
          <a:prstGeom prst="rect">
            <a:avLst/>
          </a:prstGeom>
          <a:solidFill>
            <a:srgbClr val="FFFFFF"/>
          </a:solidFill>
          <a:ln w="9525">
            <a:solidFill>
              <a:srgbClr val="E3DCD3"/>
            </a:solidFill>
          </a:ln>
        </p:spPr>
        <p:txBody>
          <a:bodyPr rtlCol="0" anchor="ctr"/>
          <a:lstStyle/>
          <a:p>
            <a:pPr algn="ctr"/>
          </a:p>
        </p:txBody>
      </p:sp>
      <p:sp>
        <p:nvSpPr>
          <p:cNvPr id="44" name="TextBox 43">
            <a:hlinkClick r:id="rId7"/>
          </p:cNvPr>
          <p:cNvSpPr txBox="1"/>
          <p:nvPr/>
        </p:nvSpPr>
        <p:spPr>
          <a:xfrm>
            <a:off x="4683919" y="2077307"/>
            <a:ext cx="976164" cy="114300"/>
          </a:xfrm>
          <a:prstGeom prst="rect">
            <a:avLst/>
          </a:prstGeom>
          <a:noFill/>
        </p:spPr>
        <p:txBody>
          <a:bodyPr wrap="none" lIns="0" rIns="0" tIns="0" bIns="0" anchor="t">
            <a:noAutofit/>
          </a:bodyPr>
          <a:lstStyle/>
          <a:p>
            <a:pPr algn="ctr">
              <a:lnSpc>
                <a:spcPts val="975"/>
              </a:lnSpc>
              <a:spcBef>
                <a:spcPts val="0"/>
              </a:spcBef>
              <a:spcAft>
                <a:spcPts val="0"/>
              </a:spcAft>
            </a:pPr>
            <a:r>
              <a:rPr sz="712" b="1" i="0" spc="45">
                <a:solidFill>
                  <a:srgbClr val="1B1A1A"/>
                </a:solidFill>
                <a:latin typeface="Quicksand"/>
              </a:rPr>
              <a:t>CAPCON NETWORKS</a:t>
            </a:r>
          </a:p>
        </p:txBody>
      </p:sp>
      <p:sp>
        <p:nvSpPr>
          <p:cNvPr id="45" name="TextBox 44">
            <a:hlinkClick r:id="rId7"/>
          </p:cNvPr>
          <p:cNvSpPr txBox="1"/>
          <p:nvPr/>
        </p:nvSpPr>
        <p:spPr>
          <a:xfrm>
            <a:off x="4438650" y="2431828"/>
            <a:ext cx="1466850" cy="271462"/>
          </a:xfrm>
          <a:prstGeom prst="rect">
            <a:avLst/>
          </a:prstGeom>
          <a:noFill/>
        </p:spPr>
        <p:txBody>
          <a:bodyPr wrap="square" lIns="0" rIns="0" tIns="0" bIns="0" anchor="t">
            <a:noAutofit/>
          </a:bodyPr>
          <a:lstStyle/>
          <a:p>
            <a:pPr algn="ctr">
              <a:lnSpc>
                <a:spcPts val="1088"/>
              </a:lnSpc>
              <a:spcBef>
                <a:spcPts val="0"/>
              </a:spcBef>
              <a:spcAft>
                <a:spcPts val="0"/>
              </a:spcAft>
            </a:pPr>
            <a:r>
              <a:rPr sz="788" b="0" i="0" spc="15">
                <a:solidFill>
                  <a:srgbClr val="333231"/>
                </a:solidFill>
                <a:latin typeface="Quicksand"/>
              </a:rPr>
              <a:t>Dedicated leased lit fiber for schools, hospitals and libraries</a:t>
            </a:r>
          </a:p>
        </p:txBody>
      </p:sp>
      <p:sp>
        <p:nvSpPr>
          <p:cNvPr id="46" name="TextBox 45">
            <a:hlinkClick r:id="rId7"/>
          </p:cNvPr>
          <p:cNvSpPr txBox="1"/>
          <p:nvPr/>
        </p:nvSpPr>
        <p:spPr>
          <a:xfrm>
            <a:off x="4438650" y="2848814"/>
            <a:ext cx="1466850" cy="95250"/>
          </a:xfrm>
          <a:prstGeom prst="rect">
            <a:avLst/>
          </a:prstGeom>
          <a:noFill/>
        </p:spPr>
        <p:txBody>
          <a:bodyPr wrap="none" lIns="0" rIns="0" tIns="0" bIns="0" anchor="t">
            <a:noAutofit/>
          </a:bodyPr>
          <a:lstStyle/>
          <a:p>
            <a:pPr algn="ctr">
              <a:lnSpc>
                <a:spcPts val="825"/>
              </a:lnSpc>
              <a:spcBef>
                <a:spcPts val="0"/>
              </a:spcBef>
              <a:spcAft>
                <a:spcPts val="0"/>
              </a:spcAft>
            </a:pPr>
            <a:r>
              <a:rPr sz="600" b="1" i="0" spc="105">
                <a:solidFill>
                  <a:srgbClr val="8C6239"/>
                </a:solidFill>
                <a:latin typeface="Quicksand"/>
              </a:rPr>
              <a:t>TELECOM &amp; UCAAS</a:t>
            </a:r>
          </a:p>
        </p:txBody>
      </p:sp>
      <p:sp>
        <p:nvSpPr>
          <p:cNvPr id="47" name="Panel">
            <a:hlinkClick r:id="rId8"/>
          </p:cNvPr>
          <p:cNvSpPr/>
          <p:nvPr/>
        </p:nvSpPr>
        <p:spPr>
          <a:xfrm>
            <a:off x="6134100" y="1238250"/>
            <a:ext cx="1695450" cy="1822400"/>
          </a:xfrm>
          <a:prstGeom prst="rect">
            <a:avLst/>
          </a:prstGeom>
          <a:solidFill>
            <a:srgbClr val="FFFFFF"/>
          </a:solidFill>
          <a:ln>
            <a:noFill/>
          </a:ln>
        </p:spPr>
        <p:txBody>
          <a:bodyPr rtlCol="0" anchor="ctr"/>
          <a:lstStyle/>
          <a:p>
            <a:pPr algn="ctr"/>
          </a:p>
        </p:txBody>
      </p:sp>
      <p:sp>
        <p:nvSpPr>
          <p:cNvPr id="48" name="Rule"/>
          <p:cNvSpPr/>
          <p:nvPr/>
        </p:nvSpPr>
        <p:spPr>
          <a:xfrm>
            <a:off x="6134100" y="1238250"/>
            <a:ext cx="1695450" cy="28575"/>
          </a:xfrm>
          <a:prstGeom prst="rect">
            <a:avLst/>
          </a:prstGeom>
          <a:solidFill>
            <a:srgbClr val="B68757"/>
          </a:solidFill>
          <a:ln>
            <a:noFill/>
          </a:ln>
        </p:spPr>
        <p:txBody>
          <a:bodyPr rtlCol="0" anchor="ctr"/>
          <a:lstStyle/>
          <a:p>
            <a:pPr algn="ctr"/>
          </a:p>
        </p:txBody>
      </p:sp>
      <p:sp>
        <p:nvSpPr>
          <p:cNvPr id="49" name="Rule"/>
          <p:cNvSpPr/>
          <p:nvPr/>
        </p:nvSpPr>
        <p:spPr>
          <a:xfrm>
            <a:off x="7820025" y="1238250"/>
            <a:ext cx="9525" cy="1822400"/>
          </a:xfrm>
          <a:prstGeom prst="rect">
            <a:avLst/>
          </a:prstGeom>
          <a:solidFill>
            <a:srgbClr val="E3DCD3"/>
          </a:solidFill>
          <a:ln>
            <a:noFill/>
          </a:ln>
        </p:spPr>
        <p:txBody>
          <a:bodyPr rtlCol="0" anchor="ctr"/>
          <a:lstStyle/>
          <a:p>
            <a:pPr algn="ctr"/>
          </a:p>
        </p:txBody>
      </p:sp>
      <p:sp>
        <p:nvSpPr>
          <p:cNvPr id="50" name="Rule"/>
          <p:cNvSpPr/>
          <p:nvPr/>
        </p:nvSpPr>
        <p:spPr>
          <a:xfrm>
            <a:off x="6134100" y="3051125"/>
            <a:ext cx="1695450" cy="9525"/>
          </a:xfrm>
          <a:prstGeom prst="rect">
            <a:avLst/>
          </a:prstGeom>
          <a:solidFill>
            <a:srgbClr val="E3DCD3"/>
          </a:solidFill>
          <a:ln>
            <a:noFill/>
          </a:ln>
        </p:spPr>
        <p:txBody>
          <a:bodyPr rtlCol="0" anchor="ctr"/>
          <a:lstStyle/>
          <a:p>
            <a:pPr algn="ctr"/>
          </a:p>
        </p:txBody>
      </p:sp>
      <p:sp>
        <p:nvSpPr>
          <p:cNvPr id="51" name="Rule"/>
          <p:cNvSpPr/>
          <p:nvPr/>
        </p:nvSpPr>
        <p:spPr>
          <a:xfrm>
            <a:off x="6134100" y="1238250"/>
            <a:ext cx="9525" cy="1822400"/>
          </a:xfrm>
          <a:prstGeom prst="rect">
            <a:avLst/>
          </a:prstGeom>
          <a:solidFill>
            <a:srgbClr val="E3DCD3"/>
          </a:solidFill>
          <a:ln>
            <a:noFill/>
          </a:ln>
        </p:spPr>
        <p:txBody>
          <a:bodyPr rtlCol="0" anchor="ctr"/>
          <a:lstStyle/>
          <a:p>
            <a:pPr algn="ctr"/>
          </a:p>
        </p:txBody>
      </p:sp>
      <p:sp>
        <p:nvSpPr>
          <p:cNvPr id="52" name="Panel"/>
          <p:cNvSpPr/>
          <p:nvPr/>
        </p:nvSpPr>
        <p:spPr>
          <a:xfrm>
            <a:off x="6253162" y="1366838"/>
            <a:ext cx="1457325" cy="408682"/>
          </a:xfrm>
          <a:prstGeom prst="rect">
            <a:avLst/>
          </a:prstGeom>
          <a:solidFill>
            <a:srgbClr val="FFFFFF"/>
          </a:solidFill>
          <a:ln w="9525">
            <a:solidFill>
              <a:srgbClr val="E3DCD3"/>
            </a:solidFill>
          </a:ln>
        </p:spPr>
        <p:txBody>
          <a:bodyPr rtlCol="0" anchor="ctr"/>
          <a:lstStyle/>
          <a:p>
            <a:pPr algn="ctr"/>
          </a:p>
        </p:txBody>
      </p:sp>
      <p:sp>
        <p:nvSpPr>
          <p:cNvPr id="53" name="TextBox 52">
            <a:hlinkClick r:id="rId8"/>
          </p:cNvPr>
          <p:cNvSpPr txBox="1"/>
          <p:nvPr/>
        </p:nvSpPr>
        <p:spPr>
          <a:xfrm>
            <a:off x="6429077" y="1495836"/>
            <a:ext cx="1105495" cy="114300"/>
          </a:xfrm>
          <a:prstGeom prst="rect">
            <a:avLst/>
          </a:prstGeom>
          <a:noFill/>
        </p:spPr>
        <p:txBody>
          <a:bodyPr wrap="none" lIns="0" rIns="0" tIns="0" bIns="0" anchor="t">
            <a:noAutofit/>
          </a:bodyPr>
          <a:lstStyle/>
          <a:p>
            <a:pPr algn="ctr">
              <a:lnSpc>
                <a:spcPts val="975"/>
              </a:lnSpc>
              <a:spcBef>
                <a:spcPts val="0"/>
              </a:spcBef>
              <a:spcAft>
                <a:spcPts val="0"/>
              </a:spcAft>
            </a:pPr>
            <a:r>
              <a:rPr sz="712" b="1" i="0" spc="45">
                <a:solidFill>
                  <a:srgbClr val="1B1A1A"/>
                </a:solidFill>
                <a:latin typeface="Quicksand"/>
              </a:rPr>
              <a:t>CLEARLINE NETWORKS</a:t>
            </a:r>
          </a:p>
        </p:txBody>
      </p:sp>
      <p:sp>
        <p:nvSpPr>
          <p:cNvPr id="54" name="TextBox 53">
            <a:hlinkClick r:id="rId8"/>
          </p:cNvPr>
          <p:cNvSpPr txBox="1"/>
          <p:nvPr/>
        </p:nvSpPr>
        <p:spPr>
          <a:xfrm>
            <a:off x="6248400" y="1739896"/>
            <a:ext cx="1466850" cy="95250"/>
          </a:xfrm>
          <a:prstGeom prst="rect">
            <a:avLst/>
          </a:prstGeom>
          <a:noFill/>
        </p:spPr>
        <p:txBody>
          <a:bodyPr wrap="none" lIns="0" rIns="0" tIns="0" bIns="0" anchor="t">
            <a:noAutofit/>
          </a:bodyPr>
          <a:lstStyle/>
          <a:p>
            <a:pPr algn="ctr">
              <a:lnSpc>
                <a:spcPts val="1275"/>
              </a:lnSpc>
              <a:spcBef>
                <a:spcPts val="0"/>
              </a:spcBef>
              <a:spcAft>
                <a:spcPts val="0"/>
              </a:spcAft>
            </a:pPr>
            <a:r>
              <a:rPr sz="600" b="0" i="0" spc="112">
                <a:solidFill>
                  <a:srgbClr val="6F6A66"/>
                </a:solidFill>
                <a:latin typeface="Quicksand"/>
              </a:rPr>
              <a:t>HAS BEEN ACQUIRED BY</a:t>
            </a:r>
          </a:p>
        </p:txBody>
      </p:sp>
      <p:sp>
        <p:nvSpPr>
          <p:cNvPr id="55" name="Panel"/>
          <p:cNvSpPr/>
          <p:nvPr/>
        </p:nvSpPr>
        <p:spPr>
          <a:xfrm>
            <a:off x="6253162" y="1946970"/>
            <a:ext cx="1457325" cy="408682"/>
          </a:xfrm>
          <a:prstGeom prst="rect">
            <a:avLst/>
          </a:prstGeom>
          <a:solidFill>
            <a:srgbClr val="FFFFFF"/>
          </a:solidFill>
          <a:ln w="9525">
            <a:solidFill>
              <a:srgbClr val="E3DCD3"/>
            </a:solidFill>
          </a:ln>
        </p:spPr>
        <p:txBody>
          <a:bodyPr rtlCol="0" anchor="ctr"/>
          <a:lstStyle/>
          <a:p>
            <a:pPr algn="ctr"/>
          </a:p>
        </p:txBody>
      </p:sp>
      <p:sp>
        <p:nvSpPr>
          <p:cNvPr id="56" name="TextBox 55">
            <a:hlinkClick r:id="rId8"/>
          </p:cNvPr>
          <p:cNvSpPr txBox="1"/>
          <p:nvPr/>
        </p:nvSpPr>
        <p:spPr>
          <a:xfrm>
            <a:off x="6365528" y="2075968"/>
            <a:ext cx="1232595" cy="114300"/>
          </a:xfrm>
          <a:prstGeom prst="rect">
            <a:avLst/>
          </a:prstGeom>
          <a:noFill/>
        </p:spPr>
        <p:txBody>
          <a:bodyPr wrap="none" lIns="0" rIns="0" tIns="0" bIns="0" anchor="t">
            <a:noAutofit/>
          </a:bodyPr>
          <a:lstStyle/>
          <a:p>
            <a:pPr algn="ctr">
              <a:lnSpc>
                <a:spcPts val="975"/>
              </a:lnSpc>
              <a:spcBef>
                <a:spcPts val="0"/>
              </a:spcBef>
              <a:spcAft>
                <a:spcPts val="0"/>
              </a:spcAft>
            </a:pPr>
            <a:r>
              <a:rPr sz="712" b="1" i="0" spc="45">
                <a:solidFill>
                  <a:srgbClr val="1B1A1A"/>
                </a:solidFill>
                <a:latin typeface="Quicksand"/>
              </a:rPr>
              <a:t>ZEUS FIRE AND SECURITY</a:t>
            </a:r>
          </a:p>
        </p:txBody>
      </p:sp>
      <p:sp>
        <p:nvSpPr>
          <p:cNvPr id="57" name="TextBox 56">
            <a:hlinkClick r:id="rId8"/>
          </p:cNvPr>
          <p:cNvSpPr txBox="1"/>
          <p:nvPr/>
        </p:nvSpPr>
        <p:spPr>
          <a:xfrm>
            <a:off x="6248400" y="2430042"/>
            <a:ext cx="1466850" cy="409575"/>
          </a:xfrm>
          <a:prstGeom prst="rect">
            <a:avLst/>
          </a:prstGeom>
          <a:noFill/>
        </p:spPr>
        <p:txBody>
          <a:bodyPr wrap="square" lIns="0" rIns="0" tIns="0" bIns="0" anchor="t">
            <a:noAutofit/>
          </a:bodyPr>
          <a:lstStyle/>
          <a:p>
            <a:pPr algn="ctr">
              <a:lnSpc>
                <a:spcPts val="1088"/>
              </a:lnSpc>
              <a:spcBef>
                <a:spcPts val="0"/>
              </a:spcBef>
              <a:spcAft>
                <a:spcPts val="0"/>
              </a:spcAft>
            </a:pPr>
            <a:r>
              <a:rPr sz="788" b="0" i="0" spc="15">
                <a:solidFill>
                  <a:srgbClr val="333231"/>
                </a:solidFill>
                <a:latin typeface="Quicksand"/>
              </a:rPr>
              <a:t>Voice and data cabling, audiovisual and security systems</a:t>
            </a:r>
          </a:p>
        </p:txBody>
      </p:sp>
      <p:sp>
        <p:nvSpPr>
          <p:cNvPr id="58" name="TextBox 57">
            <a:hlinkClick r:id="rId8"/>
          </p:cNvPr>
          <p:cNvSpPr txBox="1"/>
          <p:nvPr/>
        </p:nvSpPr>
        <p:spPr>
          <a:xfrm>
            <a:off x="6248400" y="2848814"/>
            <a:ext cx="1466850" cy="95250"/>
          </a:xfrm>
          <a:prstGeom prst="rect">
            <a:avLst/>
          </a:prstGeom>
          <a:noFill/>
        </p:spPr>
        <p:txBody>
          <a:bodyPr wrap="none" lIns="0" rIns="0" tIns="0" bIns="0" anchor="t">
            <a:noAutofit/>
          </a:bodyPr>
          <a:lstStyle/>
          <a:p>
            <a:pPr algn="ctr">
              <a:lnSpc>
                <a:spcPts val="825"/>
              </a:lnSpc>
              <a:spcBef>
                <a:spcPts val="0"/>
              </a:spcBef>
              <a:spcAft>
                <a:spcPts val="0"/>
              </a:spcAft>
            </a:pPr>
            <a:r>
              <a:rPr sz="600" b="1" i="0" spc="105">
                <a:solidFill>
                  <a:srgbClr val="8C6239"/>
                </a:solidFill>
                <a:latin typeface="Quicksand"/>
              </a:rPr>
              <a:t>SYSTEMS INTEGRATION</a:t>
            </a:r>
          </a:p>
        </p:txBody>
      </p:sp>
      <p:sp>
        <p:nvSpPr>
          <p:cNvPr id="59" name="Panel">
            <a:hlinkClick r:id="rId9"/>
          </p:cNvPr>
          <p:cNvSpPr/>
          <p:nvPr/>
        </p:nvSpPr>
        <p:spPr>
          <a:xfrm>
            <a:off x="7943850" y="1238250"/>
            <a:ext cx="1695450" cy="1822400"/>
          </a:xfrm>
          <a:prstGeom prst="rect">
            <a:avLst/>
          </a:prstGeom>
          <a:solidFill>
            <a:srgbClr val="FFFFFF"/>
          </a:solidFill>
          <a:ln>
            <a:noFill/>
          </a:ln>
        </p:spPr>
        <p:txBody>
          <a:bodyPr rtlCol="0" anchor="ctr"/>
          <a:lstStyle/>
          <a:p>
            <a:pPr algn="ctr"/>
          </a:p>
        </p:txBody>
      </p:sp>
      <p:sp>
        <p:nvSpPr>
          <p:cNvPr id="60" name="Rule"/>
          <p:cNvSpPr/>
          <p:nvPr/>
        </p:nvSpPr>
        <p:spPr>
          <a:xfrm>
            <a:off x="7943850" y="1238250"/>
            <a:ext cx="1695450" cy="28575"/>
          </a:xfrm>
          <a:prstGeom prst="rect">
            <a:avLst/>
          </a:prstGeom>
          <a:solidFill>
            <a:srgbClr val="B68757"/>
          </a:solidFill>
          <a:ln>
            <a:noFill/>
          </a:ln>
        </p:spPr>
        <p:txBody>
          <a:bodyPr rtlCol="0" anchor="ctr"/>
          <a:lstStyle/>
          <a:p>
            <a:pPr algn="ctr"/>
          </a:p>
        </p:txBody>
      </p:sp>
      <p:sp>
        <p:nvSpPr>
          <p:cNvPr id="61" name="Rule"/>
          <p:cNvSpPr/>
          <p:nvPr/>
        </p:nvSpPr>
        <p:spPr>
          <a:xfrm>
            <a:off x="9629775" y="1238250"/>
            <a:ext cx="9525" cy="1822400"/>
          </a:xfrm>
          <a:prstGeom prst="rect">
            <a:avLst/>
          </a:prstGeom>
          <a:solidFill>
            <a:srgbClr val="E3DCD3"/>
          </a:solidFill>
          <a:ln>
            <a:noFill/>
          </a:ln>
        </p:spPr>
        <p:txBody>
          <a:bodyPr rtlCol="0" anchor="ctr"/>
          <a:lstStyle/>
          <a:p>
            <a:pPr algn="ctr"/>
          </a:p>
        </p:txBody>
      </p:sp>
      <p:sp>
        <p:nvSpPr>
          <p:cNvPr id="62" name="Rule"/>
          <p:cNvSpPr/>
          <p:nvPr/>
        </p:nvSpPr>
        <p:spPr>
          <a:xfrm>
            <a:off x="7943850" y="3051125"/>
            <a:ext cx="1695450" cy="9525"/>
          </a:xfrm>
          <a:prstGeom prst="rect">
            <a:avLst/>
          </a:prstGeom>
          <a:solidFill>
            <a:srgbClr val="E3DCD3"/>
          </a:solidFill>
          <a:ln>
            <a:noFill/>
          </a:ln>
        </p:spPr>
        <p:txBody>
          <a:bodyPr rtlCol="0" anchor="ctr"/>
          <a:lstStyle/>
          <a:p>
            <a:pPr algn="ctr"/>
          </a:p>
        </p:txBody>
      </p:sp>
      <p:sp>
        <p:nvSpPr>
          <p:cNvPr id="63" name="Rule"/>
          <p:cNvSpPr/>
          <p:nvPr/>
        </p:nvSpPr>
        <p:spPr>
          <a:xfrm>
            <a:off x="7943850" y="1238250"/>
            <a:ext cx="9525" cy="1822400"/>
          </a:xfrm>
          <a:prstGeom prst="rect">
            <a:avLst/>
          </a:prstGeom>
          <a:solidFill>
            <a:srgbClr val="E3DCD3"/>
          </a:solidFill>
          <a:ln>
            <a:noFill/>
          </a:ln>
        </p:spPr>
        <p:txBody>
          <a:bodyPr rtlCol="0" anchor="ctr"/>
          <a:lstStyle/>
          <a:p>
            <a:pPr algn="ctr"/>
          </a:p>
        </p:txBody>
      </p:sp>
      <p:sp>
        <p:nvSpPr>
          <p:cNvPr id="64" name="Panel"/>
          <p:cNvSpPr/>
          <p:nvPr/>
        </p:nvSpPr>
        <p:spPr>
          <a:xfrm>
            <a:off x="8062912" y="1366838"/>
            <a:ext cx="1457325" cy="407938"/>
          </a:xfrm>
          <a:prstGeom prst="rect">
            <a:avLst/>
          </a:prstGeom>
          <a:solidFill>
            <a:srgbClr val="FFFFFF"/>
          </a:solidFill>
          <a:ln w="9525">
            <a:solidFill>
              <a:srgbClr val="E3DCD3"/>
            </a:solidFill>
          </a:ln>
        </p:spPr>
        <p:txBody>
          <a:bodyPr rtlCol="0" anchor="ctr"/>
          <a:lstStyle/>
          <a:p>
            <a:pPr algn="ctr"/>
          </a:p>
        </p:txBody>
      </p:sp>
      <p:sp>
        <p:nvSpPr>
          <p:cNvPr id="65" name="TextBox 64">
            <a:hlinkClick r:id="rId9"/>
          </p:cNvPr>
          <p:cNvSpPr txBox="1"/>
          <p:nvPr/>
        </p:nvSpPr>
        <p:spPr>
          <a:xfrm>
            <a:off x="8162925" y="1433477"/>
            <a:ext cx="1257300" cy="238125"/>
          </a:xfrm>
          <a:prstGeom prst="rect">
            <a:avLst/>
          </a:prstGeom>
          <a:noFill/>
        </p:spPr>
        <p:txBody>
          <a:bodyPr wrap="square" lIns="0" rIns="0" tIns="0" bIns="0" anchor="t">
            <a:noAutofit/>
          </a:bodyPr>
          <a:lstStyle/>
          <a:p>
            <a:pPr algn="ctr">
              <a:lnSpc>
                <a:spcPts val="975"/>
              </a:lnSpc>
              <a:spcBef>
                <a:spcPts val="0"/>
              </a:spcBef>
              <a:spcAft>
                <a:spcPts val="0"/>
              </a:spcAft>
            </a:pPr>
            <a:r>
              <a:rPr sz="712" b="1" i="0" spc="45">
                <a:solidFill>
                  <a:srgbClr val="1B1A1A"/>
                </a:solidFill>
                <a:latin typeface="Quicksand"/>
              </a:rPr>
              <a:t>HIGH TECH SOLUTIONS - SYSTEMS GROUP</a:t>
            </a:r>
          </a:p>
        </p:txBody>
      </p:sp>
      <p:sp>
        <p:nvSpPr>
          <p:cNvPr id="66" name="TextBox 65">
            <a:hlinkClick r:id="rId9"/>
          </p:cNvPr>
          <p:cNvSpPr txBox="1"/>
          <p:nvPr/>
        </p:nvSpPr>
        <p:spPr>
          <a:xfrm>
            <a:off x="8058150" y="1739152"/>
            <a:ext cx="1466850" cy="95250"/>
          </a:xfrm>
          <a:prstGeom prst="rect">
            <a:avLst/>
          </a:prstGeom>
          <a:noFill/>
        </p:spPr>
        <p:txBody>
          <a:bodyPr wrap="none" lIns="0" rIns="0" tIns="0" bIns="0" anchor="t">
            <a:noAutofit/>
          </a:bodyPr>
          <a:lstStyle/>
          <a:p>
            <a:pPr algn="ctr">
              <a:lnSpc>
                <a:spcPts val="1275"/>
              </a:lnSpc>
              <a:spcBef>
                <a:spcPts val="0"/>
              </a:spcBef>
              <a:spcAft>
                <a:spcPts val="0"/>
              </a:spcAft>
            </a:pPr>
            <a:r>
              <a:rPr sz="600" b="0" i="0" spc="112">
                <a:solidFill>
                  <a:srgbClr val="6F6A66"/>
                </a:solidFill>
                <a:latin typeface="Quicksand"/>
              </a:rPr>
              <a:t>HAS BEEN ACQUIRED BY</a:t>
            </a:r>
          </a:p>
        </p:txBody>
      </p:sp>
      <p:sp>
        <p:nvSpPr>
          <p:cNvPr id="67" name="Panel"/>
          <p:cNvSpPr/>
          <p:nvPr/>
        </p:nvSpPr>
        <p:spPr>
          <a:xfrm>
            <a:off x="8062912" y="1946225"/>
            <a:ext cx="1457325" cy="409575"/>
          </a:xfrm>
          <a:prstGeom prst="rect">
            <a:avLst/>
          </a:prstGeom>
          <a:solidFill>
            <a:srgbClr val="FFFFFF"/>
          </a:solidFill>
          <a:ln w="9525">
            <a:solidFill>
              <a:srgbClr val="E3DCD3"/>
            </a:solidFill>
          </a:ln>
        </p:spPr>
        <p:txBody>
          <a:bodyPr rtlCol="0" anchor="ctr"/>
          <a:lstStyle/>
          <a:p>
            <a:pPr algn="ctr"/>
          </a:p>
        </p:txBody>
      </p:sp>
      <p:pic>
        <p:nvPicPr>
          <p:cNvPr id="68" name="AI Fire" descr="AI Fire"/>
          <p:cNvPicPr>
            <a:picLocks noChangeAspect="1"/>
          </p:cNvPicPr>
          <p:nvPr/>
        </p:nvPicPr>
        <p:blipFill>
          <a:blip r:embed="rId10"/>
          <a:stretch>
            <a:fillRect/>
          </a:stretch>
        </p:blipFill>
        <p:spPr>
          <a:xfrm>
            <a:off x="8229674" y="1989237"/>
            <a:ext cx="1123652" cy="323701"/>
          </a:xfrm>
          <a:prstGeom prst="rect">
            <a:avLst/>
          </a:prstGeom>
        </p:spPr>
      </p:pic>
      <p:sp>
        <p:nvSpPr>
          <p:cNvPr id="69" name="TextBox 68">
            <a:hlinkClick r:id="rId9"/>
          </p:cNvPr>
          <p:cNvSpPr txBox="1"/>
          <p:nvPr/>
        </p:nvSpPr>
        <p:spPr>
          <a:xfrm>
            <a:off x="8058150" y="2430191"/>
            <a:ext cx="1466850" cy="409575"/>
          </a:xfrm>
          <a:prstGeom prst="rect">
            <a:avLst/>
          </a:prstGeom>
          <a:noFill/>
        </p:spPr>
        <p:txBody>
          <a:bodyPr wrap="square" lIns="0" rIns="0" tIns="0" bIns="0" anchor="t">
            <a:noAutofit/>
          </a:bodyPr>
          <a:lstStyle/>
          <a:p>
            <a:pPr algn="ctr">
              <a:lnSpc>
                <a:spcPts val="1088"/>
              </a:lnSpc>
              <a:spcBef>
                <a:spcPts val="0"/>
              </a:spcBef>
              <a:spcAft>
                <a:spcPts val="0"/>
              </a:spcAft>
            </a:pPr>
            <a:r>
              <a:rPr sz="788" b="0" i="0" spc="15">
                <a:solidFill>
                  <a:srgbClr val="333231"/>
                </a:solidFill>
                <a:latin typeface="Quicksand"/>
              </a:rPr>
              <a:t>Fire alarm, security, access control and video surveillance systems</a:t>
            </a:r>
          </a:p>
        </p:txBody>
      </p:sp>
      <p:sp>
        <p:nvSpPr>
          <p:cNvPr id="70" name="TextBox 69">
            <a:hlinkClick r:id="rId9"/>
          </p:cNvPr>
          <p:cNvSpPr txBox="1"/>
          <p:nvPr/>
        </p:nvSpPr>
        <p:spPr>
          <a:xfrm>
            <a:off x="8058150" y="2848814"/>
            <a:ext cx="1466850" cy="95250"/>
          </a:xfrm>
          <a:prstGeom prst="rect">
            <a:avLst/>
          </a:prstGeom>
          <a:noFill/>
        </p:spPr>
        <p:txBody>
          <a:bodyPr wrap="none" lIns="0" rIns="0" tIns="0" bIns="0" anchor="t">
            <a:noAutofit/>
          </a:bodyPr>
          <a:lstStyle/>
          <a:p>
            <a:pPr algn="ctr">
              <a:lnSpc>
                <a:spcPts val="825"/>
              </a:lnSpc>
              <a:spcBef>
                <a:spcPts val="0"/>
              </a:spcBef>
              <a:spcAft>
                <a:spcPts val="0"/>
              </a:spcAft>
            </a:pPr>
            <a:r>
              <a:rPr sz="600" b="1" i="0" spc="105">
                <a:solidFill>
                  <a:srgbClr val="8C6239"/>
                </a:solidFill>
                <a:latin typeface="Quicksand"/>
              </a:rPr>
              <a:t>SYSTEMS INTEGRATION</a:t>
            </a:r>
          </a:p>
        </p:txBody>
      </p:sp>
      <p:sp>
        <p:nvSpPr>
          <p:cNvPr id="71" name="Panel">
            <a:hlinkClick r:id="rId11"/>
          </p:cNvPr>
          <p:cNvSpPr/>
          <p:nvPr/>
        </p:nvSpPr>
        <p:spPr>
          <a:xfrm>
            <a:off x="2514600" y="3174950"/>
            <a:ext cx="1695450" cy="1822400"/>
          </a:xfrm>
          <a:prstGeom prst="rect">
            <a:avLst/>
          </a:prstGeom>
          <a:solidFill>
            <a:srgbClr val="FFFFFF"/>
          </a:solidFill>
          <a:ln>
            <a:noFill/>
          </a:ln>
        </p:spPr>
        <p:txBody>
          <a:bodyPr rtlCol="0" anchor="ctr"/>
          <a:lstStyle/>
          <a:p>
            <a:pPr algn="ctr"/>
          </a:p>
        </p:txBody>
      </p:sp>
      <p:sp>
        <p:nvSpPr>
          <p:cNvPr id="72" name="Rule"/>
          <p:cNvSpPr/>
          <p:nvPr/>
        </p:nvSpPr>
        <p:spPr>
          <a:xfrm>
            <a:off x="2514600" y="3174950"/>
            <a:ext cx="1695450" cy="28575"/>
          </a:xfrm>
          <a:prstGeom prst="rect">
            <a:avLst/>
          </a:prstGeom>
          <a:solidFill>
            <a:srgbClr val="B68757"/>
          </a:solidFill>
          <a:ln>
            <a:noFill/>
          </a:ln>
        </p:spPr>
        <p:txBody>
          <a:bodyPr rtlCol="0" anchor="ctr"/>
          <a:lstStyle/>
          <a:p>
            <a:pPr algn="ctr"/>
          </a:p>
        </p:txBody>
      </p:sp>
      <p:sp>
        <p:nvSpPr>
          <p:cNvPr id="73" name="Rule"/>
          <p:cNvSpPr/>
          <p:nvPr/>
        </p:nvSpPr>
        <p:spPr>
          <a:xfrm>
            <a:off x="4200525" y="3174950"/>
            <a:ext cx="9525" cy="1822400"/>
          </a:xfrm>
          <a:prstGeom prst="rect">
            <a:avLst/>
          </a:prstGeom>
          <a:solidFill>
            <a:srgbClr val="E3DCD3"/>
          </a:solidFill>
          <a:ln>
            <a:noFill/>
          </a:ln>
        </p:spPr>
        <p:txBody>
          <a:bodyPr rtlCol="0" anchor="ctr"/>
          <a:lstStyle/>
          <a:p>
            <a:pPr algn="ctr"/>
          </a:p>
        </p:txBody>
      </p:sp>
      <p:sp>
        <p:nvSpPr>
          <p:cNvPr id="74" name="Rule"/>
          <p:cNvSpPr/>
          <p:nvPr/>
        </p:nvSpPr>
        <p:spPr>
          <a:xfrm>
            <a:off x="2514600" y="4987826"/>
            <a:ext cx="1695450" cy="9525"/>
          </a:xfrm>
          <a:prstGeom prst="rect">
            <a:avLst/>
          </a:prstGeom>
          <a:solidFill>
            <a:srgbClr val="E3DCD3"/>
          </a:solidFill>
          <a:ln>
            <a:noFill/>
          </a:ln>
        </p:spPr>
        <p:txBody>
          <a:bodyPr rtlCol="0" anchor="ctr"/>
          <a:lstStyle/>
          <a:p>
            <a:pPr algn="ctr"/>
          </a:p>
        </p:txBody>
      </p:sp>
      <p:sp>
        <p:nvSpPr>
          <p:cNvPr id="75" name="Rule"/>
          <p:cNvSpPr/>
          <p:nvPr/>
        </p:nvSpPr>
        <p:spPr>
          <a:xfrm>
            <a:off x="2514600" y="3174950"/>
            <a:ext cx="9525" cy="1822400"/>
          </a:xfrm>
          <a:prstGeom prst="rect">
            <a:avLst/>
          </a:prstGeom>
          <a:solidFill>
            <a:srgbClr val="E3DCD3"/>
          </a:solidFill>
          <a:ln>
            <a:noFill/>
          </a:ln>
        </p:spPr>
        <p:txBody>
          <a:bodyPr rtlCol="0" anchor="ctr"/>
          <a:lstStyle/>
          <a:p>
            <a:pPr algn="ctr"/>
          </a:p>
        </p:txBody>
      </p:sp>
      <p:sp>
        <p:nvSpPr>
          <p:cNvPr id="76" name="Panel"/>
          <p:cNvSpPr/>
          <p:nvPr/>
        </p:nvSpPr>
        <p:spPr>
          <a:xfrm>
            <a:off x="2633662" y="3303538"/>
            <a:ext cx="1457325" cy="408682"/>
          </a:xfrm>
          <a:prstGeom prst="rect">
            <a:avLst/>
          </a:prstGeom>
          <a:solidFill>
            <a:srgbClr val="FFFFFF"/>
          </a:solidFill>
          <a:ln w="9525">
            <a:solidFill>
              <a:srgbClr val="E3DCD3"/>
            </a:solidFill>
          </a:ln>
        </p:spPr>
        <p:txBody>
          <a:bodyPr rtlCol="0" anchor="ctr"/>
          <a:lstStyle/>
          <a:p>
            <a:pPr algn="ctr"/>
          </a:p>
        </p:txBody>
      </p:sp>
      <p:sp>
        <p:nvSpPr>
          <p:cNvPr id="77" name="TextBox 76">
            <a:hlinkClick r:id="rId11"/>
          </p:cNvPr>
          <p:cNvSpPr txBox="1"/>
          <p:nvPr/>
        </p:nvSpPr>
        <p:spPr>
          <a:xfrm>
            <a:off x="2826097" y="3432536"/>
            <a:ext cx="1072307" cy="114300"/>
          </a:xfrm>
          <a:prstGeom prst="rect">
            <a:avLst/>
          </a:prstGeom>
          <a:noFill/>
        </p:spPr>
        <p:txBody>
          <a:bodyPr wrap="none" lIns="0" rIns="0" tIns="0" bIns="0" anchor="t">
            <a:noAutofit/>
          </a:bodyPr>
          <a:lstStyle/>
          <a:p>
            <a:pPr algn="ctr">
              <a:lnSpc>
                <a:spcPts val="975"/>
              </a:lnSpc>
              <a:spcBef>
                <a:spcPts val="0"/>
              </a:spcBef>
              <a:spcAft>
                <a:spcPts val="0"/>
              </a:spcAft>
            </a:pPr>
            <a:r>
              <a:rPr sz="712" b="1" i="0" spc="45">
                <a:solidFill>
                  <a:srgbClr val="1B1A1A"/>
                </a:solidFill>
                <a:latin typeface="Quicksand"/>
              </a:rPr>
              <a:t>SHEFFIELD SCIENTIFIC</a:t>
            </a:r>
          </a:p>
        </p:txBody>
      </p:sp>
      <p:sp>
        <p:nvSpPr>
          <p:cNvPr id="78" name="TextBox 77">
            <a:hlinkClick r:id="rId11"/>
          </p:cNvPr>
          <p:cNvSpPr txBox="1"/>
          <p:nvPr/>
        </p:nvSpPr>
        <p:spPr>
          <a:xfrm>
            <a:off x="2628900" y="3676596"/>
            <a:ext cx="1466850" cy="95250"/>
          </a:xfrm>
          <a:prstGeom prst="rect">
            <a:avLst/>
          </a:prstGeom>
          <a:noFill/>
        </p:spPr>
        <p:txBody>
          <a:bodyPr wrap="none" lIns="0" rIns="0" tIns="0" bIns="0" anchor="t">
            <a:noAutofit/>
          </a:bodyPr>
          <a:lstStyle/>
          <a:p>
            <a:pPr algn="ctr">
              <a:lnSpc>
                <a:spcPts val="1275"/>
              </a:lnSpc>
              <a:spcBef>
                <a:spcPts val="0"/>
              </a:spcBef>
              <a:spcAft>
                <a:spcPts val="0"/>
              </a:spcAft>
            </a:pPr>
            <a:r>
              <a:rPr sz="600" b="0" i="0" spc="112">
                <a:solidFill>
                  <a:srgbClr val="6F6A66"/>
                </a:solidFill>
                <a:latin typeface="Quicksand"/>
              </a:rPr>
              <a:t>HAS BEEN ACQUIRED BY</a:t>
            </a:r>
          </a:p>
        </p:txBody>
      </p:sp>
      <p:sp>
        <p:nvSpPr>
          <p:cNvPr id="79" name="Panel"/>
          <p:cNvSpPr/>
          <p:nvPr/>
        </p:nvSpPr>
        <p:spPr>
          <a:xfrm>
            <a:off x="2633662" y="3883670"/>
            <a:ext cx="1457325" cy="408682"/>
          </a:xfrm>
          <a:prstGeom prst="rect">
            <a:avLst/>
          </a:prstGeom>
          <a:solidFill>
            <a:srgbClr val="FFFFFF"/>
          </a:solidFill>
          <a:ln w="9525">
            <a:solidFill>
              <a:srgbClr val="E3DCD3"/>
            </a:solidFill>
          </a:ln>
        </p:spPr>
        <p:txBody>
          <a:bodyPr rtlCol="0" anchor="ctr"/>
          <a:lstStyle/>
          <a:p>
            <a:pPr algn="ctr"/>
          </a:p>
        </p:txBody>
      </p:sp>
      <p:sp>
        <p:nvSpPr>
          <p:cNvPr id="80" name="TextBox 79">
            <a:hlinkClick r:id="rId11"/>
          </p:cNvPr>
          <p:cNvSpPr txBox="1"/>
          <p:nvPr/>
        </p:nvSpPr>
        <p:spPr>
          <a:xfrm>
            <a:off x="2733675" y="3950756"/>
            <a:ext cx="1257300" cy="238125"/>
          </a:xfrm>
          <a:prstGeom prst="rect">
            <a:avLst/>
          </a:prstGeom>
          <a:noFill/>
        </p:spPr>
        <p:txBody>
          <a:bodyPr wrap="square" lIns="0" rIns="0" tIns="0" bIns="0" anchor="t">
            <a:noAutofit/>
          </a:bodyPr>
          <a:lstStyle/>
          <a:p>
            <a:pPr algn="ctr">
              <a:lnSpc>
                <a:spcPts val="975"/>
              </a:lnSpc>
              <a:spcBef>
                <a:spcPts val="0"/>
              </a:spcBef>
              <a:spcAft>
                <a:spcPts val="0"/>
              </a:spcAft>
            </a:pPr>
            <a:r>
              <a:rPr sz="712" b="1" i="0" spc="45">
                <a:solidFill>
                  <a:srgbClr val="1B1A1A"/>
                </a:solidFill>
                <a:latin typeface="Quicksand"/>
              </a:rPr>
              <a:t>TRM, A 424 CAPITAL COMPANY</a:t>
            </a:r>
          </a:p>
        </p:txBody>
      </p:sp>
      <p:sp>
        <p:nvSpPr>
          <p:cNvPr id="81" name="TextBox 80">
            <a:hlinkClick r:id="rId11"/>
          </p:cNvPr>
          <p:cNvSpPr txBox="1"/>
          <p:nvPr/>
        </p:nvSpPr>
        <p:spPr>
          <a:xfrm>
            <a:off x="2628900" y="4366742"/>
            <a:ext cx="1466850" cy="409575"/>
          </a:xfrm>
          <a:prstGeom prst="rect">
            <a:avLst/>
          </a:prstGeom>
          <a:noFill/>
        </p:spPr>
        <p:txBody>
          <a:bodyPr wrap="square" lIns="0" rIns="0" tIns="0" bIns="0" anchor="t">
            <a:noAutofit/>
          </a:bodyPr>
          <a:lstStyle/>
          <a:p>
            <a:pPr algn="ctr">
              <a:lnSpc>
                <a:spcPts val="1088"/>
              </a:lnSpc>
              <a:spcBef>
                <a:spcPts val="0"/>
              </a:spcBef>
              <a:spcAft>
                <a:spcPts val="0"/>
              </a:spcAft>
            </a:pPr>
            <a:r>
              <a:rPr sz="788" b="0" i="0" spc="15">
                <a:solidFill>
                  <a:srgbClr val="333231"/>
                </a:solidFill>
                <a:latin typeface="Quicksand"/>
              </a:rPr>
              <a:t>Asset management consulting and risk software for power generators</a:t>
            </a:r>
          </a:p>
        </p:txBody>
      </p:sp>
      <p:sp>
        <p:nvSpPr>
          <p:cNvPr id="82" name="TextBox 81">
            <a:hlinkClick r:id="rId11"/>
          </p:cNvPr>
          <p:cNvSpPr txBox="1"/>
          <p:nvPr/>
        </p:nvSpPr>
        <p:spPr>
          <a:xfrm>
            <a:off x="2628900" y="4785515"/>
            <a:ext cx="1466850" cy="95250"/>
          </a:xfrm>
          <a:prstGeom prst="rect">
            <a:avLst/>
          </a:prstGeom>
          <a:noFill/>
        </p:spPr>
        <p:txBody>
          <a:bodyPr wrap="none" lIns="0" rIns="0" tIns="0" bIns="0" anchor="t">
            <a:noAutofit/>
          </a:bodyPr>
          <a:lstStyle/>
          <a:p>
            <a:pPr algn="ctr">
              <a:lnSpc>
                <a:spcPts val="825"/>
              </a:lnSpc>
              <a:spcBef>
                <a:spcPts val="0"/>
              </a:spcBef>
              <a:spcAft>
                <a:spcPts val="0"/>
              </a:spcAft>
            </a:pPr>
            <a:r>
              <a:rPr sz="600" b="1" i="0" spc="105">
                <a:solidFill>
                  <a:srgbClr val="8C6239"/>
                </a:solidFill>
                <a:latin typeface="Quicksand"/>
              </a:rPr>
              <a:t>SYSTEMS INTEGRATION</a:t>
            </a:r>
          </a:p>
        </p:txBody>
      </p:sp>
      <p:sp>
        <p:nvSpPr>
          <p:cNvPr id="83" name="Panel">
            <a:hlinkClick r:id="rId12"/>
          </p:cNvPr>
          <p:cNvSpPr/>
          <p:nvPr/>
        </p:nvSpPr>
        <p:spPr>
          <a:xfrm>
            <a:off x="4324350" y="3174950"/>
            <a:ext cx="1695450" cy="1822400"/>
          </a:xfrm>
          <a:prstGeom prst="rect">
            <a:avLst/>
          </a:prstGeom>
          <a:solidFill>
            <a:srgbClr val="FFFFFF"/>
          </a:solidFill>
          <a:ln>
            <a:noFill/>
          </a:ln>
        </p:spPr>
        <p:txBody>
          <a:bodyPr rtlCol="0" anchor="ctr"/>
          <a:lstStyle/>
          <a:p>
            <a:pPr algn="ctr"/>
          </a:p>
        </p:txBody>
      </p:sp>
      <p:sp>
        <p:nvSpPr>
          <p:cNvPr id="84" name="Rule"/>
          <p:cNvSpPr/>
          <p:nvPr/>
        </p:nvSpPr>
        <p:spPr>
          <a:xfrm>
            <a:off x="4324350" y="3174950"/>
            <a:ext cx="1695450" cy="28575"/>
          </a:xfrm>
          <a:prstGeom prst="rect">
            <a:avLst/>
          </a:prstGeom>
          <a:solidFill>
            <a:srgbClr val="B68757"/>
          </a:solidFill>
          <a:ln>
            <a:noFill/>
          </a:ln>
        </p:spPr>
        <p:txBody>
          <a:bodyPr rtlCol="0" anchor="ctr"/>
          <a:lstStyle/>
          <a:p>
            <a:pPr algn="ctr"/>
          </a:p>
        </p:txBody>
      </p:sp>
      <p:sp>
        <p:nvSpPr>
          <p:cNvPr id="85" name="Rule"/>
          <p:cNvSpPr/>
          <p:nvPr/>
        </p:nvSpPr>
        <p:spPr>
          <a:xfrm>
            <a:off x="6010275" y="3174950"/>
            <a:ext cx="9525" cy="1822400"/>
          </a:xfrm>
          <a:prstGeom prst="rect">
            <a:avLst/>
          </a:prstGeom>
          <a:solidFill>
            <a:srgbClr val="E3DCD3"/>
          </a:solidFill>
          <a:ln>
            <a:noFill/>
          </a:ln>
        </p:spPr>
        <p:txBody>
          <a:bodyPr rtlCol="0" anchor="ctr"/>
          <a:lstStyle/>
          <a:p>
            <a:pPr algn="ctr"/>
          </a:p>
        </p:txBody>
      </p:sp>
      <p:sp>
        <p:nvSpPr>
          <p:cNvPr id="86" name="Rule"/>
          <p:cNvSpPr/>
          <p:nvPr/>
        </p:nvSpPr>
        <p:spPr>
          <a:xfrm>
            <a:off x="4324350" y="4987826"/>
            <a:ext cx="1695450" cy="9525"/>
          </a:xfrm>
          <a:prstGeom prst="rect">
            <a:avLst/>
          </a:prstGeom>
          <a:solidFill>
            <a:srgbClr val="E3DCD3"/>
          </a:solidFill>
          <a:ln>
            <a:noFill/>
          </a:ln>
        </p:spPr>
        <p:txBody>
          <a:bodyPr rtlCol="0" anchor="ctr"/>
          <a:lstStyle/>
          <a:p>
            <a:pPr algn="ctr"/>
          </a:p>
        </p:txBody>
      </p:sp>
      <p:sp>
        <p:nvSpPr>
          <p:cNvPr id="87" name="Rule"/>
          <p:cNvSpPr/>
          <p:nvPr/>
        </p:nvSpPr>
        <p:spPr>
          <a:xfrm>
            <a:off x="4324350" y="3174950"/>
            <a:ext cx="9525" cy="1822400"/>
          </a:xfrm>
          <a:prstGeom prst="rect">
            <a:avLst/>
          </a:prstGeom>
          <a:solidFill>
            <a:srgbClr val="E3DCD3"/>
          </a:solidFill>
          <a:ln>
            <a:noFill/>
          </a:ln>
        </p:spPr>
        <p:txBody>
          <a:bodyPr rtlCol="0" anchor="ctr"/>
          <a:lstStyle/>
          <a:p>
            <a:pPr algn="ctr"/>
          </a:p>
        </p:txBody>
      </p:sp>
      <p:sp>
        <p:nvSpPr>
          <p:cNvPr id="88" name="Panel"/>
          <p:cNvSpPr/>
          <p:nvPr/>
        </p:nvSpPr>
        <p:spPr>
          <a:xfrm>
            <a:off x="4443412" y="3303538"/>
            <a:ext cx="1457325" cy="408682"/>
          </a:xfrm>
          <a:prstGeom prst="rect">
            <a:avLst/>
          </a:prstGeom>
          <a:solidFill>
            <a:srgbClr val="FFFFFF"/>
          </a:solidFill>
          <a:ln w="9525">
            <a:solidFill>
              <a:srgbClr val="E3DCD3"/>
            </a:solidFill>
          </a:ln>
        </p:spPr>
        <p:txBody>
          <a:bodyPr rtlCol="0" anchor="ctr"/>
          <a:lstStyle/>
          <a:p>
            <a:pPr algn="ctr"/>
          </a:p>
        </p:txBody>
      </p:sp>
      <p:sp>
        <p:nvSpPr>
          <p:cNvPr id="89" name="TextBox 88">
            <a:hlinkClick r:id="rId12"/>
          </p:cNvPr>
          <p:cNvSpPr txBox="1"/>
          <p:nvPr/>
        </p:nvSpPr>
        <p:spPr>
          <a:xfrm>
            <a:off x="4543425" y="3370624"/>
            <a:ext cx="1257300" cy="238125"/>
          </a:xfrm>
          <a:prstGeom prst="rect">
            <a:avLst/>
          </a:prstGeom>
          <a:noFill/>
        </p:spPr>
        <p:txBody>
          <a:bodyPr wrap="square" lIns="0" rIns="0" tIns="0" bIns="0" anchor="t">
            <a:noAutofit/>
          </a:bodyPr>
          <a:lstStyle/>
          <a:p>
            <a:pPr algn="ctr">
              <a:lnSpc>
                <a:spcPts val="975"/>
              </a:lnSpc>
              <a:spcBef>
                <a:spcPts val="0"/>
              </a:spcBef>
              <a:spcAft>
                <a:spcPts val="0"/>
              </a:spcAft>
            </a:pPr>
            <a:r>
              <a:rPr sz="712" b="1" i="0" spc="45">
                <a:solidFill>
                  <a:srgbClr val="1B1A1A"/>
                </a:solidFill>
                <a:latin typeface="Quicksand"/>
              </a:rPr>
              <a:t>PARAGON MANUFACTURING</a:t>
            </a:r>
          </a:p>
        </p:txBody>
      </p:sp>
      <p:sp>
        <p:nvSpPr>
          <p:cNvPr id="90" name="TextBox 89">
            <a:hlinkClick r:id="rId12"/>
          </p:cNvPr>
          <p:cNvSpPr txBox="1"/>
          <p:nvPr/>
        </p:nvSpPr>
        <p:spPr>
          <a:xfrm>
            <a:off x="4438650" y="3676596"/>
            <a:ext cx="1466850" cy="95250"/>
          </a:xfrm>
          <a:prstGeom prst="rect">
            <a:avLst/>
          </a:prstGeom>
          <a:noFill/>
        </p:spPr>
        <p:txBody>
          <a:bodyPr wrap="none" lIns="0" rIns="0" tIns="0" bIns="0" anchor="t">
            <a:noAutofit/>
          </a:bodyPr>
          <a:lstStyle/>
          <a:p>
            <a:pPr algn="ctr">
              <a:lnSpc>
                <a:spcPts val="1275"/>
              </a:lnSpc>
              <a:spcBef>
                <a:spcPts val="0"/>
              </a:spcBef>
              <a:spcAft>
                <a:spcPts val="0"/>
              </a:spcAft>
            </a:pPr>
            <a:r>
              <a:rPr sz="600" b="0" i="0" spc="112">
                <a:solidFill>
                  <a:srgbClr val="6F6A66"/>
                </a:solidFill>
                <a:latin typeface="Quicksand"/>
              </a:rPr>
              <a:t>HAS BEEN ACQUIRED BY</a:t>
            </a:r>
          </a:p>
        </p:txBody>
      </p:sp>
      <p:sp>
        <p:nvSpPr>
          <p:cNvPr id="91" name="Panel"/>
          <p:cNvSpPr/>
          <p:nvPr/>
        </p:nvSpPr>
        <p:spPr>
          <a:xfrm>
            <a:off x="4443412" y="3883670"/>
            <a:ext cx="1457325" cy="408682"/>
          </a:xfrm>
          <a:prstGeom prst="rect">
            <a:avLst/>
          </a:prstGeom>
          <a:solidFill>
            <a:srgbClr val="FFFFFF"/>
          </a:solidFill>
          <a:ln w="9525">
            <a:solidFill>
              <a:srgbClr val="E3DCD3"/>
            </a:solidFill>
          </a:ln>
        </p:spPr>
        <p:txBody>
          <a:bodyPr rtlCol="0" anchor="ctr"/>
          <a:lstStyle/>
          <a:p>
            <a:pPr algn="ctr"/>
          </a:p>
        </p:txBody>
      </p:sp>
      <p:sp>
        <p:nvSpPr>
          <p:cNvPr id="92" name="TextBox 91">
            <a:hlinkClick r:id="rId12"/>
          </p:cNvPr>
          <p:cNvSpPr txBox="1"/>
          <p:nvPr/>
        </p:nvSpPr>
        <p:spPr>
          <a:xfrm>
            <a:off x="4543425" y="3950756"/>
            <a:ext cx="1257300" cy="238125"/>
          </a:xfrm>
          <a:prstGeom prst="rect">
            <a:avLst/>
          </a:prstGeom>
          <a:noFill/>
        </p:spPr>
        <p:txBody>
          <a:bodyPr wrap="square" lIns="0" rIns="0" tIns="0" bIns="0" anchor="t">
            <a:noAutofit/>
          </a:bodyPr>
          <a:lstStyle/>
          <a:p>
            <a:pPr algn="ctr">
              <a:lnSpc>
                <a:spcPts val="975"/>
              </a:lnSpc>
              <a:spcBef>
                <a:spcPts val="0"/>
              </a:spcBef>
              <a:spcAft>
                <a:spcPts val="0"/>
              </a:spcAft>
            </a:pPr>
            <a:r>
              <a:rPr sz="712" b="1" i="0" spc="45">
                <a:solidFill>
                  <a:srgbClr val="1B1A1A"/>
                </a:solidFill>
                <a:latin typeface="Quicksand"/>
              </a:rPr>
              <a:t>BLUEROCK GLOBAL PRIVATE EQUITY</a:t>
            </a:r>
          </a:p>
        </p:txBody>
      </p:sp>
      <p:sp>
        <p:nvSpPr>
          <p:cNvPr id="93" name="TextBox 92">
            <a:hlinkClick r:id="rId12"/>
          </p:cNvPr>
          <p:cNvSpPr txBox="1"/>
          <p:nvPr/>
        </p:nvSpPr>
        <p:spPr>
          <a:xfrm>
            <a:off x="4438650" y="4366742"/>
            <a:ext cx="1466850" cy="409575"/>
          </a:xfrm>
          <a:prstGeom prst="rect">
            <a:avLst/>
          </a:prstGeom>
          <a:noFill/>
        </p:spPr>
        <p:txBody>
          <a:bodyPr wrap="square" lIns="0" rIns="0" tIns="0" bIns="0" anchor="t">
            <a:noAutofit/>
          </a:bodyPr>
          <a:lstStyle/>
          <a:p>
            <a:pPr algn="ctr">
              <a:lnSpc>
                <a:spcPts val="1088"/>
              </a:lnSpc>
              <a:spcBef>
                <a:spcPts val="0"/>
              </a:spcBef>
              <a:spcAft>
                <a:spcPts val="0"/>
              </a:spcAft>
            </a:pPr>
            <a:r>
              <a:rPr sz="788" b="0" i="0" spc="15">
                <a:solidFill>
                  <a:srgbClr val="333231"/>
                </a:solidFill>
                <a:latin typeface="Quicksand"/>
              </a:rPr>
              <a:t>Build-to-print cables, harnesses and electro-mechanical assemblies</a:t>
            </a:r>
          </a:p>
        </p:txBody>
      </p:sp>
      <p:sp>
        <p:nvSpPr>
          <p:cNvPr id="94" name="TextBox 93">
            <a:hlinkClick r:id="rId12"/>
          </p:cNvPr>
          <p:cNvSpPr txBox="1"/>
          <p:nvPr/>
        </p:nvSpPr>
        <p:spPr>
          <a:xfrm>
            <a:off x="4438650" y="4785515"/>
            <a:ext cx="1466850" cy="95250"/>
          </a:xfrm>
          <a:prstGeom prst="rect">
            <a:avLst/>
          </a:prstGeom>
          <a:noFill/>
        </p:spPr>
        <p:txBody>
          <a:bodyPr wrap="none" lIns="0" rIns="0" tIns="0" bIns="0" anchor="t">
            <a:noAutofit/>
          </a:bodyPr>
          <a:lstStyle/>
          <a:p>
            <a:pPr algn="ctr">
              <a:lnSpc>
                <a:spcPts val="825"/>
              </a:lnSpc>
              <a:spcBef>
                <a:spcPts val="0"/>
              </a:spcBef>
              <a:spcAft>
                <a:spcPts val="0"/>
              </a:spcAft>
            </a:pPr>
            <a:r>
              <a:rPr sz="600" b="1" i="0" spc="105">
                <a:solidFill>
                  <a:srgbClr val="8C6239"/>
                </a:solidFill>
                <a:latin typeface="Quicksand"/>
              </a:rPr>
              <a:t>ELECTRONICS &amp; HARDWARE</a:t>
            </a:r>
          </a:p>
        </p:txBody>
      </p:sp>
      <p:sp>
        <p:nvSpPr>
          <p:cNvPr id="95" name="Panel">
            <a:hlinkClick r:id="rId13"/>
          </p:cNvPr>
          <p:cNvSpPr/>
          <p:nvPr/>
        </p:nvSpPr>
        <p:spPr>
          <a:xfrm>
            <a:off x="6134100" y="3174950"/>
            <a:ext cx="1695450" cy="1822400"/>
          </a:xfrm>
          <a:prstGeom prst="rect">
            <a:avLst/>
          </a:prstGeom>
          <a:solidFill>
            <a:srgbClr val="FFFFFF"/>
          </a:solidFill>
          <a:ln>
            <a:noFill/>
          </a:ln>
        </p:spPr>
        <p:txBody>
          <a:bodyPr rtlCol="0" anchor="ctr"/>
          <a:lstStyle/>
          <a:p>
            <a:pPr algn="ctr"/>
          </a:p>
        </p:txBody>
      </p:sp>
      <p:sp>
        <p:nvSpPr>
          <p:cNvPr id="96" name="Rule"/>
          <p:cNvSpPr/>
          <p:nvPr/>
        </p:nvSpPr>
        <p:spPr>
          <a:xfrm>
            <a:off x="6134100" y="3174950"/>
            <a:ext cx="1695450" cy="28575"/>
          </a:xfrm>
          <a:prstGeom prst="rect">
            <a:avLst/>
          </a:prstGeom>
          <a:solidFill>
            <a:srgbClr val="B68757"/>
          </a:solidFill>
          <a:ln>
            <a:noFill/>
          </a:ln>
        </p:spPr>
        <p:txBody>
          <a:bodyPr rtlCol="0" anchor="ctr"/>
          <a:lstStyle/>
          <a:p>
            <a:pPr algn="ctr"/>
          </a:p>
        </p:txBody>
      </p:sp>
      <p:sp>
        <p:nvSpPr>
          <p:cNvPr id="97" name="Rule"/>
          <p:cNvSpPr/>
          <p:nvPr/>
        </p:nvSpPr>
        <p:spPr>
          <a:xfrm>
            <a:off x="7820025" y="3174950"/>
            <a:ext cx="9525" cy="1822400"/>
          </a:xfrm>
          <a:prstGeom prst="rect">
            <a:avLst/>
          </a:prstGeom>
          <a:solidFill>
            <a:srgbClr val="E3DCD3"/>
          </a:solidFill>
          <a:ln>
            <a:noFill/>
          </a:ln>
        </p:spPr>
        <p:txBody>
          <a:bodyPr rtlCol="0" anchor="ctr"/>
          <a:lstStyle/>
          <a:p>
            <a:pPr algn="ctr"/>
          </a:p>
        </p:txBody>
      </p:sp>
      <p:sp>
        <p:nvSpPr>
          <p:cNvPr id="98" name="Rule"/>
          <p:cNvSpPr/>
          <p:nvPr/>
        </p:nvSpPr>
        <p:spPr>
          <a:xfrm>
            <a:off x="6134100" y="4987826"/>
            <a:ext cx="1695450" cy="9525"/>
          </a:xfrm>
          <a:prstGeom prst="rect">
            <a:avLst/>
          </a:prstGeom>
          <a:solidFill>
            <a:srgbClr val="E3DCD3"/>
          </a:solidFill>
          <a:ln>
            <a:noFill/>
          </a:ln>
        </p:spPr>
        <p:txBody>
          <a:bodyPr rtlCol="0" anchor="ctr"/>
          <a:lstStyle/>
          <a:p>
            <a:pPr algn="ctr"/>
          </a:p>
        </p:txBody>
      </p:sp>
      <p:sp>
        <p:nvSpPr>
          <p:cNvPr id="99" name="Rule"/>
          <p:cNvSpPr/>
          <p:nvPr/>
        </p:nvSpPr>
        <p:spPr>
          <a:xfrm>
            <a:off x="6134100" y="3174950"/>
            <a:ext cx="9525" cy="1822400"/>
          </a:xfrm>
          <a:prstGeom prst="rect">
            <a:avLst/>
          </a:prstGeom>
          <a:solidFill>
            <a:srgbClr val="E3DCD3"/>
          </a:solidFill>
          <a:ln>
            <a:noFill/>
          </a:ln>
        </p:spPr>
        <p:txBody>
          <a:bodyPr rtlCol="0" anchor="ctr"/>
          <a:lstStyle/>
          <a:p>
            <a:pPr algn="ctr"/>
          </a:p>
        </p:txBody>
      </p:sp>
      <p:sp>
        <p:nvSpPr>
          <p:cNvPr id="100" name="Panel"/>
          <p:cNvSpPr/>
          <p:nvPr/>
        </p:nvSpPr>
        <p:spPr>
          <a:xfrm>
            <a:off x="6253162" y="3303538"/>
            <a:ext cx="1457325" cy="409575"/>
          </a:xfrm>
          <a:prstGeom prst="rect">
            <a:avLst/>
          </a:prstGeom>
          <a:solidFill>
            <a:srgbClr val="FFFFFF"/>
          </a:solidFill>
          <a:ln w="9525">
            <a:solidFill>
              <a:srgbClr val="E3DCD3"/>
            </a:solidFill>
          </a:ln>
        </p:spPr>
        <p:txBody>
          <a:bodyPr rtlCol="0" anchor="ctr"/>
          <a:lstStyle/>
          <a:p>
            <a:pPr algn="ctr"/>
          </a:p>
        </p:txBody>
      </p:sp>
      <p:pic>
        <p:nvPicPr>
          <p:cNvPr id="101" name="Boostr" descr="Boostr"/>
          <p:cNvPicPr>
            <a:picLocks noChangeAspect="1"/>
          </p:cNvPicPr>
          <p:nvPr/>
        </p:nvPicPr>
        <p:blipFill>
          <a:blip r:embed="rId14"/>
          <a:stretch>
            <a:fillRect/>
          </a:stretch>
        </p:blipFill>
        <p:spPr>
          <a:xfrm>
            <a:off x="6679774" y="3346549"/>
            <a:ext cx="603953" cy="323701"/>
          </a:xfrm>
          <a:prstGeom prst="rect">
            <a:avLst/>
          </a:prstGeom>
        </p:spPr>
      </p:pic>
      <p:sp>
        <p:nvSpPr>
          <p:cNvPr id="102" name="TextBox 101">
            <a:hlinkClick r:id="rId13"/>
          </p:cNvPr>
          <p:cNvSpPr txBox="1"/>
          <p:nvPr/>
        </p:nvSpPr>
        <p:spPr>
          <a:xfrm>
            <a:off x="6248400" y="3677489"/>
            <a:ext cx="1466850" cy="95250"/>
          </a:xfrm>
          <a:prstGeom prst="rect">
            <a:avLst/>
          </a:prstGeom>
          <a:noFill/>
        </p:spPr>
        <p:txBody>
          <a:bodyPr wrap="none" lIns="0" rIns="0" tIns="0" bIns="0" anchor="t">
            <a:noAutofit/>
          </a:bodyPr>
          <a:lstStyle/>
          <a:p>
            <a:pPr algn="ctr">
              <a:lnSpc>
                <a:spcPts val="1275"/>
              </a:lnSpc>
              <a:spcBef>
                <a:spcPts val="0"/>
              </a:spcBef>
              <a:spcAft>
                <a:spcPts val="0"/>
              </a:spcAft>
            </a:pPr>
            <a:r>
              <a:rPr sz="600" b="0" i="0" spc="112">
                <a:solidFill>
                  <a:srgbClr val="6F6A66"/>
                </a:solidFill>
                <a:latin typeface="Quicksand"/>
              </a:rPr>
              <a:t>HAS BEEN ACQUIRED BY</a:t>
            </a:r>
          </a:p>
        </p:txBody>
      </p:sp>
      <p:sp>
        <p:nvSpPr>
          <p:cNvPr id="103" name="Panel"/>
          <p:cNvSpPr/>
          <p:nvPr/>
        </p:nvSpPr>
        <p:spPr>
          <a:xfrm>
            <a:off x="6253162" y="3884563"/>
            <a:ext cx="1457325" cy="409575"/>
          </a:xfrm>
          <a:prstGeom prst="rect">
            <a:avLst/>
          </a:prstGeom>
          <a:solidFill>
            <a:srgbClr val="FFFFFF"/>
          </a:solidFill>
          <a:ln w="9525">
            <a:solidFill>
              <a:srgbClr val="E3DCD3"/>
            </a:solidFill>
          </a:ln>
        </p:spPr>
        <p:txBody>
          <a:bodyPr rtlCol="0" anchor="ctr"/>
          <a:lstStyle/>
          <a:p>
            <a:pPr algn="ctr"/>
          </a:p>
        </p:txBody>
      </p:sp>
      <p:pic>
        <p:nvPicPr>
          <p:cNvPr id="104" name="Balius Partners" descr="Balius Partners"/>
          <p:cNvPicPr>
            <a:picLocks noChangeAspect="1"/>
          </p:cNvPicPr>
          <p:nvPr/>
        </p:nvPicPr>
        <p:blipFill>
          <a:blip r:embed="rId15"/>
          <a:stretch>
            <a:fillRect/>
          </a:stretch>
        </p:blipFill>
        <p:spPr>
          <a:xfrm>
            <a:off x="6773803" y="3927574"/>
            <a:ext cx="415895" cy="323701"/>
          </a:xfrm>
          <a:prstGeom prst="rect">
            <a:avLst/>
          </a:prstGeom>
        </p:spPr>
      </p:pic>
      <p:sp>
        <p:nvSpPr>
          <p:cNvPr id="105" name="TextBox 104">
            <a:hlinkClick r:id="rId13"/>
          </p:cNvPr>
          <p:cNvSpPr txBox="1"/>
          <p:nvPr/>
        </p:nvSpPr>
        <p:spPr>
          <a:xfrm>
            <a:off x="6248400" y="4368528"/>
            <a:ext cx="1466850" cy="409575"/>
          </a:xfrm>
          <a:prstGeom prst="rect">
            <a:avLst/>
          </a:prstGeom>
          <a:noFill/>
        </p:spPr>
        <p:txBody>
          <a:bodyPr wrap="square" lIns="0" rIns="0" tIns="0" bIns="0" anchor="t">
            <a:noAutofit/>
          </a:bodyPr>
          <a:lstStyle/>
          <a:p>
            <a:pPr algn="ctr">
              <a:lnSpc>
                <a:spcPts val="1088"/>
              </a:lnSpc>
              <a:spcBef>
                <a:spcPts val="0"/>
              </a:spcBef>
              <a:spcAft>
                <a:spcPts val="0"/>
              </a:spcAft>
            </a:pPr>
            <a:r>
              <a:rPr sz="788" b="0" i="0" spc="15">
                <a:solidFill>
                  <a:srgbClr val="333231"/>
                </a:solidFill>
                <a:latin typeface="Quicksand"/>
              </a:rPr>
              <a:t>Indoor and outdoor display assemblies for school sports programs</a:t>
            </a:r>
          </a:p>
        </p:txBody>
      </p:sp>
      <p:sp>
        <p:nvSpPr>
          <p:cNvPr id="106" name="TextBox 105">
            <a:hlinkClick r:id="rId13"/>
          </p:cNvPr>
          <p:cNvSpPr txBox="1"/>
          <p:nvPr/>
        </p:nvSpPr>
        <p:spPr>
          <a:xfrm>
            <a:off x="6248400" y="4787152"/>
            <a:ext cx="1466850" cy="95250"/>
          </a:xfrm>
          <a:prstGeom prst="rect">
            <a:avLst/>
          </a:prstGeom>
          <a:noFill/>
        </p:spPr>
        <p:txBody>
          <a:bodyPr wrap="none" lIns="0" rIns="0" tIns="0" bIns="0" anchor="t">
            <a:noAutofit/>
          </a:bodyPr>
          <a:lstStyle/>
          <a:p>
            <a:pPr algn="ctr">
              <a:lnSpc>
                <a:spcPts val="825"/>
              </a:lnSpc>
              <a:spcBef>
                <a:spcPts val="0"/>
              </a:spcBef>
              <a:spcAft>
                <a:spcPts val="0"/>
              </a:spcAft>
            </a:pPr>
            <a:r>
              <a:rPr sz="600" b="1" i="0" spc="105">
                <a:solidFill>
                  <a:srgbClr val="8C6239"/>
                </a:solidFill>
                <a:latin typeface="Quicksand"/>
              </a:rPr>
              <a:t>ELECTRONICS &amp; HARDWARE</a:t>
            </a:r>
          </a:p>
        </p:txBody>
      </p:sp>
      <p:sp>
        <p:nvSpPr>
          <p:cNvPr id="107" name="Panel">
            <a:hlinkClick r:id="rId16"/>
          </p:cNvPr>
          <p:cNvSpPr/>
          <p:nvPr/>
        </p:nvSpPr>
        <p:spPr>
          <a:xfrm>
            <a:off x="7943850" y="3174950"/>
            <a:ext cx="1695450" cy="1822400"/>
          </a:xfrm>
          <a:prstGeom prst="rect">
            <a:avLst/>
          </a:prstGeom>
          <a:solidFill>
            <a:srgbClr val="FFFFFF"/>
          </a:solidFill>
          <a:ln>
            <a:noFill/>
          </a:ln>
        </p:spPr>
        <p:txBody>
          <a:bodyPr rtlCol="0" anchor="ctr"/>
          <a:lstStyle/>
          <a:p>
            <a:pPr algn="ctr"/>
          </a:p>
        </p:txBody>
      </p:sp>
      <p:sp>
        <p:nvSpPr>
          <p:cNvPr id="108" name="Rule"/>
          <p:cNvSpPr/>
          <p:nvPr/>
        </p:nvSpPr>
        <p:spPr>
          <a:xfrm>
            <a:off x="7943850" y="3174950"/>
            <a:ext cx="1695450" cy="28575"/>
          </a:xfrm>
          <a:prstGeom prst="rect">
            <a:avLst/>
          </a:prstGeom>
          <a:solidFill>
            <a:srgbClr val="B68757"/>
          </a:solidFill>
          <a:ln>
            <a:noFill/>
          </a:ln>
        </p:spPr>
        <p:txBody>
          <a:bodyPr rtlCol="0" anchor="ctr"/>
          <a:lstStyle/>
          <a:p>
            <a:pPr algn="ctr"/>
          </a:p>
        </p:txBody>
      </p:sp>
      <p:sp>
        <p:nvSpPr>
          <p:cNvPr id="109" name="Rule"/>
          <p:cNvSpPr/>
          <p:nvPr/>
        </p:nvSpPr>
        <p:spPr>
          <a:xfrm>
            <a:off x="9629775" y="3174950"/>
            <a:ext cx="9525" cy="1822400"/>
          </a:xfrm>
          <a:prstGeom prst="rect">
            <a:avLst/>
          </a:prstGeom>
          <a:solidFill>
            <a:srgbClr val="E3DCD3"/>
          </a:solidFill>
          <a:ln>
            <a:noFill/>
          </a:ln>
        </p:spPr>
        <p:txBody>
          <a:bodyPr rtlCol="0" anchor="ctr"/>
          <a:lstStyle/>
          <a:p>
            <a:pPr algn="ctr"/>
          </a:p>
        </p:txBody>
      </p:sp>
      <p:sp>
        <p:nvSpPr>
          <p:cNvPr id="110" name="Rule"/>
          <p:cNvSpPr/>
          <p:nvPr/>
        </p:nvSpPr>
        <p:spPr>
          <a:xfrm>
            <a:off x="7943850" y="4987826"/>
            <a:ext cx="1695450" cy="9525"/>
          </a:xfrm>
          <a:prstGeom prst="rect">
            <a:avLst/>
          </a:prstGeom>
          <a:solidFill>
            <a:srgbClr val="E3DCD3"/>
          </a:solidFill>
          <a:ln>
            <a:noFill/>
          </a:ln>
        </p:spPr>
        <p:txBody>
          <a:bodyPr rtlCol="0" anchor="ctr"/>
          <a:lstStyle/>
          <a:p>
            <a:pPr algn="ctr"/>
          </a:p>
        </p:txBody>
      </p:sp>
      <p:sp>
        <p:nvSpPr>
          <p:cNvPr id="111" name="Rule"/>
          <p:cNvSpPr/>
          <p:nvPr/>
        </p:nvSpPr>
        <p:spPr>
          <a:xfrm>
            <a:off x="7943850" y="3174950"/>
            <a:ext cx="9525" cy="1822400"/>
          </a:xfrm>
          <a:prstGeom prst="rect">
            <a:avLst/>
          </a:prstGeom>
          <a:solidFill>
            <a:srgbClr val="E3DCD3"/>
          </a:solidFill>
          <a:ln>
            <a:noFill/>
          </a:ln>
        </p:spPr>
        <p:txBody>
          <a:bodyPr rtlCol="0" anchor="ctr"/>
          <a:lstStyle/>
          <a:p>
            <a:pPr algn="ctr"/>
          </a:p>
        </p:txBody>
      </p:sp>
      <p:sp>
        <p:nvSpPr>
          <p:cNvPr id="112" name="Panel"/>
          <p:cNvSpPr/>
          <p:nvPr/>
        </p:nvSpPr>
        <p:spPr>
          <a:xfrm>
            <a:off x="8062912" y="3303538"/>
            <a:ext cx="1457325" cy="408682"/>
          </a:xfrm>
          <a:prstGeom prst="rect">
            <a:avLst/>
          </a:prstGeom>
          <a:solidFill>
            <a:srgbClr val="FFFFFF"/>
          </a:solidFill>
          <a:ln w="9525">
            <a:solidFill>
              <a:srgbClr val="E3DCD3"/>
            </a:solidFill>
          </a:ln>
        </p:spPr>
        <p:txBody>
          <a:bodyPr rtlCol="0" anchor="ctr"/>
          <a:lstStyle/>
          <a:p>
            <a:pPr algn="ctr"/>
          </a:p>
        </p:txBody>
      </p:sp>
      <p:sp>
        <p:nvSpPr>
          <p:cNvPr id="113" name="TextBox 112">
            <a:hlinkClick r:id="rId16"/>
          </p:cNvPr>
          <p:cNvSpPr txBox="1"/>
          <p:nvPr/>
        </p:nvSpPr>
        <p:spPr>
          <a:xfrm>
            <a:off x="8162925" y="3370624"/>
            <a:ext cx="1257300" cy="238125"/>
          </a:xfrm>
          <a:prstGeom prst="rect">
            <a:avLst/>
          </a:prstGeom>
          <a:noFill/>
        </p:spPr>
        <p:txBody>
          <a:bodyPr wrap="square" lIns="0" rIns="0" tIns="0" bIns="0" anchor="t">
            <a:noAutofit/>
          </a:bodyPr>
          <a:lstStyle/>
          <a:p>
            <a:pPr algn="ctr">
              <a:lnSpc>
                <a:spcPts val="975"/>
              </a:lnSpc>
              <a:spcBef>
                <a:spcPts val="0"/>
              </a:spcBef>
              <a:spcAft>
                <a:spcPts val="0"/>
              </a:spcAft>
            </a:pPr>
            <a:r>
              <a:rPr sz="712" b="1" i="0" spc="45">
                <a:solidFill>
                  <a:srgbClr val="1B1A1A"/>
                </a:solidFill>
                <a:latin typeface="Quicksand"/>
              </a:rPr>
              <a:t>A.T. PARKER (SOLAR ELECTRONICS)</a:t>
            </a:r>
          </a:p>
        </p:txBody>
      </p:sp>
      <p:sp>
        <p:nvSpPr>
          <p:cNvPr id="114" name="TextBox 113">
            <a:hlinkClick r:id="rId16"/>
          </p:cNvPr>
          <p:cNvSpPr txBox="1"/>
          <p:nvPr/>
        </p:nvSpPr>
        <p:spPr>
          <a:xfrm>
            <a:off x="8058150" y="3676596"/>
            <a:ext cx="1466850" cy="95250"/>
          </a:xfrm>
          <a:prstGeom prst="rect">
            <a:avLst/>
          </a:prstGeom>
          <a:noFill/>
        </p:spPr>
        <p:txBody>
          <a:bodyPr wrap="none" lIns="0" rIns="0" tIns="0" bIns="0" anchor="t">
            <a:noAutofit/>
          </a:bodyPr>
          <a:lstStyle/>
          <a:p>
            <a:pPr algn="ctr">
              <a:lnSpc>
                <a:spcPts val="1275"/>
              </a:lnSpc>
              <a:spcBef>
                <a:spcPts val="0"/>
              </a:spcBef>
              <a:spcAft>
                <a:spcPts val="0"/>
              </a:spcAft>
            </a:pPr>
            <a:r>
              <a:rPr sz="600" b="0" i="0" spc="112">
                <a:solidFill>
                  <a:srgbClr val="6F6A66"/>
                </a:solidFill>
                <a:latin typeface="Quicksand"/>
              </a:rPr>
              <a:t>HAS BEEN ACQUIRED BY</a:t>
            </a:r>
          </a:p>
        </p:txBody>
      </p:sp>
      <p:sp>
        <p:nvSpPr>
          <p:cNvPr id="115" name="Panel"/>
          <p:cNvSpPr/>
          <p:nvPr/>
        </p:nvSpPr>
        <p:spPr>
          <a:xfrm>
            <a:off x="8062912" y="3883670"/>
            <a:ext cx="1457325" cy="408682"/>
          </a:xfrm>
          <a:prstGeom prst="rect">
            <a:avLst/>
          </a:prstGeom>
          <a:solidFill>
            <a:srgbClr val="FFFFFF"/>
          </a:solidFill>
          <a:ln w="9525">
            <a:solidFill>
              <a:srgbClr val="E3DCD3"/>
            </a:solidFill>
          </a:ln>
        </p:spPr>
        <p:txBody>
          <a:bodyPr rtlCol="0" anchor="ctr"/>
          <a:lstStyle/>
          <a:p>
            <a:pPr algn="ctr"/>
          </a:p>
        </p:txBody>
      </p:sp>
      <p:sp>
        <p:nvSpPr>
          <p:cNvPr id="116" name="TextBox 115">
            <a:hlinkClick r:id="rId16"/>
          </p:cNvPr>
          <p:cNvSpPr txBox="1"/>
          <p:nvPr/>
        </p:nvSpPr>
        <p:spPr>
          <a:xfrm>
            <a:off x="8306693" y="4012668"/>
            <a:ext cx="969764" cy="114300"/>
          </a:xfrm>
          <a:prstGeom prst="rect">
            <a:avLst/>
          </a:prstGeom>
          <a:noFill/>
        </p:spPr>
        <p:txBody>
          <a:bodyPr wrap="none" lIns="0" rIns="0" tIns="0" bIns="0" anchor="t">
            <a:noAutofit/>
          </a:bodyPr>
          <a:lstStyle/>
          <a:p>
            <a:pPr algn="ctr">
              <a:lnSpc>
                <a:spcPts val="975"/>
              </a:lnSpc>
              <a:spcBef>
                <a:spcPts val="0"/>
              </a:spcBef>
              <a:spcAft>
                <a:spcPts val="0"/>
              </a:spcAft>
            </a:pPr>
            <a:r>
              <a:rPr sz="712" b="1" i="0" spc="45">
                <a:solidFill>
                  <a:srgbClr val="1B1A1A"/>
                </a:solidFill>
                <a:latin typeface="Quicksand"/>
              </a:rPr>
              <a:t>ASSESSIMUS GROUP</a:t>
            </a:r>
          </a:p>
        </p:txBody>
      </p:sp>
      <p:sp>
        <p:nvSpPr>
          <p:cNvPr id="117" name="TextBox 116">
            <a:hlinkClick r:id="rId16"/>
          </p:cNvPr>
          <p:cNvSpPr txBox="1"/>
          <p:nvPr/>
        </p:nvSpPr>
        <p:spPr>
          <a:xfrm>
            <a:off x="8058150" y="4366742"/>
            <a:ext cx="1466850" cy="409575"/>
          </a:xfrm>
          <a:prstGeom prst="rect">
            <a:avLst/>
          </a:prstGeom>
          <a:noFill/>
        </p:spPr>
        <p:txBody>
          <a:bodyPr wrap="square" lIns="0" rIns="0" tIns="0" bIns="0" anchor="t">
            <a:noAutofit/>
          </a:bodyPr>
          <a:lstStyle/>
          <a:p>
            <a:pPr algn="ctr">
              <a:lnSpc>
                <a:spcPts val="1088"/>
              </a:lnSpc>
              <a:spcBef>
                <a:spcPts val="0"/>
              </a:spcBef>
              <a:spcAft>
                <a:spcPts val="0"/>
              </a:spcAft>
            </a:pPr>
            <a:r>
              <a:rPr sz="788" b="0" i="0" spc="15">
                <a:solidFill>
                  <a:srgbClr val="333231"/>
                </a:solidFill>
                <a:latin typeface="Quicksand"/>
              </a:rPr>
              <a:t>Test equipment for electromagnetic compatibility laboratories</a:t>
            </a:r>
          </a:p>
        </p:txBody>
      </p:sp>
      <p:sp>
        <p:nvSpPr>
          <p:cNvPr id="118" name="TextBox 117">
            <a:hlinkClick r:id="rId16"/>
          </p:cNvPr>
          <p:cNvSpPr txBox="1"/>
          <p:nvPr/>
        </p:nvSpPr>
        <p:spPr>
          <a:xfrm>
            <a:off x="8058150" y="4785515"/>
            <a:ext cx="1466850" cy="95250"/>
          </a:xfrm>
          <a:prstGeom prst="rect">
            <a:avLst/>
          </a:prstGeom>
          <a:noFill/>
        </p:spPr>
        <p:txBody>
          <a:bodyPr wrap="none" lIns="0" rIns="0" tIns="0" bIns="0" anchor="t">
            <a:noAutofit/>
          </a:bodyPr>
          <a:lstStyle/>
          <a:p>
            <a:pPr algn="ctr">
              <a:lnSpc>
                <a:spcPts val="825"/>
              </a:lnSpc>
              <a:spcBef>
                <a:spcPts val="0"/>
              </a:spcBef>
              <a:spcAft>
                <a:spcPts val="0"/>
              </a:spcAft>
            </a:pPr>
            <a:r>
              <a:rPr sz="600" b="1" i="0" spc="105">
                <a:solidFill>
                  <a:srgbClr val="8C6239"/>
                </a:solidFill>
                <a:latin typeface="Quicksand"/>
              </a:rPr>
              <a:t>ELECTRONICS &amp; HARDWARE</a:t>
            </a:r>
          </a:p>
        </p:txBody>
      </p:sp>
      <p:sp>
        <p:nvSpPr>
          <p:cNvPr id="119" name="Panel">
            <a:hlinkClick r:id="rId17"/>
          </p:cNvPr>
          <p:cNvSpPr/>
          <p:nvPr/>
        </p:nvSpPr>
        <p:spPr>
          <a:xfrm>
            <a:off x="2514600" y="5111651"/>
            <a:ext cx="1695450" cy="1822400"/>
          </a:xfrm>
          <a:prstGeom prst="rect">
            <a:avLst/>
          </a:prstGeom>
          <a:solidFill>
            <a:srgbClr val="FFFFFF"/>
          </a:solidFill>
          <a:ln>
            <a:noFill/>
          </a:ln>
        </p:spPr>
        <p:txBody>
          <a:bodyPr rtlCol="0" anchor="ctr"/>
          <a:lstStyle/>
          <a:p>
            <a:pPr algn="ctr"/>
          </a:p>
        </p:txBody>
      </p:sp>
      <p:sp>
        <p:nvSpPr>
          <p:cNvPr id="120" name="Rule"/>
          <p:cNvSpPr/>
          <p:nvPr/>
        </p:nvSpPr>
        <p:spPr>
          <a:xfrm>
            <a:off x="2514600" y="5111651"/>
            <a:ext cx="1695450" cy="28575"/>
          </a:xfrm>
          <a:prstGeom prst="rect">
            <a:avLst/>
          </a:prstGeom>
          <a:solidFill>
            <a:srgbClr val="B68757"/>
          </a:solidFill>
          <a:ln>
            <a:noFill/>
          </a:ln>
        </p:spPr>
        <p:txBody>
          <a:bodyPr rtlCol="0" anchor="ctr"/>
          <a:lstStyle/>
          <a:p>
            <a:pPr algn="ctr"/>
          </a:p>
        </p:txBody>
      </p:sp>
      <p:sp>
        <p:nvSpPr>
          <p:cNvPr id="121" name="Rule"/>
          <p:cNvSpPr/>
          <p:nvPr/>
        </p:nvSpPr>
        <p:spPr>
          <a:xfrm>
            <a:off x="4200525" y="5111651"/>
            <a:ext cx="9525" cy="1822400"/>
          </a:xfrm>
          <a:prstGeom prst="rect">
            <a:avLst/>
          </a:prstGeom>
          <a:solidFill>
            <a:srgbClr val="E3DCD3"/>
          </a:solidFill>
          <a:ln>
            <a:noFill/>
          </a:ln>
        </p:spPr>
        <p:txBody>
          <a:bodyPr rtlCol="0" anchor="ctr"/>
          <a:lstStyle/>
          <a:p>
            <a:pPr algn="ctr"/>
          </a:p>
        </p:txBody>
      </p:sp>
      <p:sp>
        <p:nvSpPr>
          <p:cNvPr id="122" name="Rule"/>
          <p:cNvSpPr/>
          <p:nvPr/>
        </p:nvSpPr>
        <p:spPr>
          <a:xfrm>
            <a:off x="2514600" y="6924526"/>
            <a:ext cx="1695450" cy="9525"/>
          </a:xfrm>
          <a:prstGeom prst="rect">
            <a:avLst/>
          </a:prstGeom>
          <a:solidFill>
            <a:srgbClr val="E3DCD3"/>
          </a:solidFill>
          <a:ln>
            <a:noFill/>
          </a:ln>
        </p:spPr>
        <p:txBody>
          <a:bodyPr rtlCol="0" anchor="ctr"/>
          <a:lstStyle/>
          <a:p>
            <a:pPr algn="ctr"/>
          </a:p>
        </p:txBody>
      </p:sp>
      <p:sp>
        <p:nvSpPr>
          <p:cNvPr id="123" name="Rule"/>
          <p:cNvSpPr/>
          <p:nvPr/>
        </p:nvSpPr>
        <p:spPr>
          <a:xfrm>
            <a:off x="2514600" y="5111651"/>
            <a:ext cx="9525" cy="1822400"/>
          </a:xfrm>
          <a:prstGeom prst="rect">
            <a:avLst/>
          </a:prstGeom>
          <a:solidFill>
            <a:srgbClr val="E3DCD3"/>
          </a:solidFill>
          <a:ln>
            <a:noFill/>
          </a:ln>
        </p:spPr>
        <p:txBody>
          <a:bodyPr rtlCol="0" anchor="ctr"/>
          <a:lstStyle/>
          <a:p>
            <a:pPr algn="ctr"/>
          </a:p>
        </p:txBody>
      </p:sp>
      <p:sp>
        <p:nvSpPr>
          <p:cNvPr id="124" name="Panel"/>
          <p:cNvSpPr/>
          <p:nvPr/>
        </p:nvSpPr>
        <p:spPr>
          <a:xfrm>
            <a:off x="2633662" y="5240238"/>
            <a:ext cx="1457325" cy="408682"/>
          </a:xfrm>
          <a:prstGeom prst="rect">
            <a:avLst/>
          </a:prstGeom>
          <a:solidFill>
            <a:srgbClr val="FFFFFF"/>
          </a:solidFill>
          <a:ln w="9525">
            <a:solidFill>
              <a:srgbClr val="E3DCD3"/>
            </a:solidFill>
          </a:ln>
        </p:spPr>
        <p:txBody>
          <a:bodyPr rtlCol="0" anchor="ctr"/>
          <a:lstStyle/>
          <a:p>
            <a:pPr algn="ctr"/>
          </a:p>
        </p:txBody>
      </p:sp>
      <p:sp>
        <p:nvSpPr>
          <p:cNvPr id="125" name="TextBox 124">
            <a:hlinkClick r:id="rId17"/>
          </p:cNvPr>
          <p:cNvSpPr txBox="1"/>
          <p:nvPr/>
        </p:nvSpPr>
        <p:spPr>
          <a:xfrm>
            <a:off x="2733675" y="5307324"/>
            <a:ext cx="1257300" cy="238125"/>
          </a:xfrm>
          <a:prstGeom prst="rect">
            <a:avLst/>
          </a:prstGeom>
          <a:noFill/>
        </p:spPr>
        <p:txBody>
          <a:bodyPr wrap="square" lIns="0" rIns="0" tIns="0" bIns="0" anchor="t">
            <a:noAutofit/>
          </a:bodyPr>
          <a:lstStyle/>
          <a:p>
            <a:pPr algn="ctr">
              <a:lnSpc>
                <a:spcPts val="975"/>
              </a:lnSpc>
              <a:spcBef>
                <a:spcPts val="0"/>
              </a:spcBef>
              <a:spcAft>
                <a:spcPts val="0"/>
              </a:spcAft>
            </a:pPr>
            <a:r>
              <a:rPr sz="712" b="1" i="0" spc="45">
                <a:solidFill>
                  <a:srgbClr val="1B1A1A"/>
                </a:solidFill>
                <a:latin typeface="Quicksand"/>
              </a:rPr>
              <a:t>LASER LENS TEK (AMERICAN PHOTONICS)</a:t>
            </a:r>
          </a:p>
        </p:txBody>
      </p:sp>
      <p:sp>
        <p:nvSpPr>
          <p:cNvPr id="126" name="TextBox 125">
            <a:hlinkClick r:id="rId17"/>
          </p:cNvPr>
          <p:cNvSpPr txBox="1"/>
          <p:nvPr/>
        </p:nvSpPr>
        <p:spPr>
          <a:xfrm>
            <a:off x="2628900" y="5613297"/>
            <a:ext cx="1466850" cy="95250"/>
          </a:xfrm>
          <a:prstGeom prst="rect">
            <a:avLst/>
          </a:prstGeom>
          <a:noFill/>
        </p:spPr>
        <p:txBody>
          <a:bodyPr wrap="none" lIns="0" rIns="0" tIns="0" bIns="0" anchor="t">
            <a:noAutofit/>
          </a:bodyPr>
          <a:lstStyle/>
          <a:p>
            <a:pPr algn="ctr">
              <a:lnSpc>
                <a:spcPts val="1275"/>
              </a:lnSpc>
              <a:spcBef>
                <a:spcPts val="0"/>
              </a:spcBef>
              <a:spcAft>
                <a:spcPts val="0"/>
              </a:spcAft>
            </a:pPr>
            <a:r>
              <a:rPr sz="600" b="0" i="0" spc="112">
                <a:solidFill>
                  <a:srgbClr val="6F6A66"/>
                </a:solidFill>
                <a:latin typeface="Quicksand"/>
              </a:rPr>
              <a:t>HAS BEEN ACQUIRED BY</a:t>
            </a:r>
          </a:p>
        </p:txBody>
      </p:sp>
      <p:sp>
        <p:nvSpPr>
          <p:cNvPr id="127" name="Panel"/>
          <p:cNvSpPr/>
          <p:nvPr/>
        </p:nvSpPr>
        <p:spPr>
          <a:xfrm>
            <a:off x="2633662" y="5820370"/>
            <a:ext cx="1457325" cy="408682"/>
          </a:xfrm>
          <a:prstGeom prst="rect">
            <a:avLst/>
          </a:prstGeom>
          <a:solidFill>
            <a:srgbClr val="FFFFFF"/>
          </a:solidFill>
          <a:ln w="9525">
            <a:solidFill>
              <a:srgbClr val="E3DCD3"/>
            </a:solidFill>
          </a:ln>
        </p:spPr>
        <p:txBody>
          <a:bodyPr rtlCol="0" anchor="ctr"/>
          <a:lstStyle/>
          <a:p>
            <a:pPr algn="ctr"/>
          </a:p>
        </p:txBody>
      </p:sp>
      <p:sp>
        <p:nvSpPr>
          <p:cNvPr id="128" name="TextBox 127">
            <a:hlinkClick r:id="rId17"/>
          </p:cNvPr>
          <p:cNvSpPr txBox="1"/>
          <p:nvPr/>
        </p:nvSpPr>
        <p:spPr>
          <a:xfrm>
            <a:off x="2733675" y="5887456"/>
            <a:ext cx="1257300" cy="238125"/>
          </a:xfrm>
          <a:prstGeom prst="rect">
            <a:avLst/>
          </a:prstGeom>
          <a:noFill/>
        </p:spPr>
        <p:txBody>
          <a:bodyPr wrap="square" lIns="0" rIns="0" tIns="0" bIns="0" anchor="t">
            <a:noAutofit/>
          </a:bodyPr>
          <a:lstStyle/>
          <a:p>
            <a:pPr algn="ctr">
              <a:lnSpc>
                <a:spcPts val="975"/>
              </a:lnSpc>
              <a:spcBef>
                <a:spcPts val="0"/>
              </a:spcBef>
              <a:spcAft>
                <a:spcPts val="0"/>
              </a:spcAft>
            </a:pPr>
            <a:r>
              <a:rPr sz="712" b="1" i="0" spc="45">
                <a:solidFill>
                  <a:srgbClr val="1B1A1A"/>
                </a:solidFill>
                <a:latin typeface="Quicksand"/>
              </a:rPr>
              <a:t>BLUEROCK GLOBAL PRIVATE EQUITY</a:t>
            </a:r>
          </a:p>
        </p:txBody>
      </p:sp>
      <p:sp>
        <p:nvSpPr>
          <p:cNvPr id="129" name="TextBox 128">
            <a:hlinkClick r:id="rId17"/>
          </p:cNvPr>
          <p:cNvSpPr txBox="1"/>
          <p:nvPr/>
        </p:nvSpPr>
        <p:spPr>
          <a:xfrm>
            <a:off x="2628900" y="6303443"/>
            <a:ext cx="1466850" cy="409575"/>
          </a:xfrm>
          <a:prstGeom prst="rect">
            <a:avLst/>
          </a:prstGeom>
          <a:noFill/>
        </p:spPr>
        <p:txBody>
          <a:bodyPr wrap="square" lIns="0" rIns="0" tIns="0" bIns="0" anchor="t">
            <a:noAutofit/>
          </a:bodyPr>
          <a:lstStyle/>
          <a:p>
            <a:pPr algn="ctr">
              <a:lnSpc>
                <a:spcPts val="1088"/>
              </a:lnSpc>
              <a:spcBef>
                <a:spcPts val="0"/>
              </a:spcBef>
              <a:spcAft>
                <a:spcPts val="0"/>
              </a:spcAft>
            </a:pPr>
            <a:r>
              <a:rPr sz="788" b="0" i="0" spc="15">
                <a:solidFill>
                  <a:srgbClr val="333231"/>
                </a:solidFill>
                <a:latin typeface="Quicksand"/>
              </a:rPr>
              <a:t>Precision optical components and coatings for laser systems</a:t>
            </a:r>
          </a:p>
        </p:txBody>
      </p:sp>
      <p:sp>
        <p:nvSpPr>
          <p:cNvPr id="130" name="TextBox 129">
            <a:hlinkClick r:id="rId17"/>
          </p:cNvPr>
          <p:cNvSpPr txBox="1"/>
          <p:nvPr/>
        </p:nvSpPr>
        <p:spPr>
          <a:xfrm>
            <a:off x="2628900" y="6722215"/>
            <a:ext cx="1466850" cy="95250"/>
          </a:xfrm>
          <a:prstGeom prst="rect">
            <a:avLst/>
          </a:prstGeom>
          <a:noFill/>
        </p:spPr>
        <p:txBody>
          <a:bodyPr wrap="none" lIns="0" rIns="0" tIns="0" bIns="0" anchor="t">
            <a:noAutofit/>
          </a:bodyPr>
          <a:lstStyle/>
          <a:p>
            <a:pPr algn="ctr">
              <a:lnSpc>
                <a:spcPts val="825"/>
              </a:lnSpc>
              <a:spcBef>
                <a:spcPts val="0"/>
              </a:spcBef>
              <a:spcAft>
                <a:spcPts val="0"/>
              </a:spcAft>
            </a:pPr>
            <a:r>
              <a:rPr sz="600" b="1" i="0" spc="105">
                <a:solidFill>
                  <a:srgbClr val="8C6239"/>
                </a:solidFill>
                <a:latin typeface="Quicksand"/>
              </a:rPr>
              <a:t>ELECTRONICS &amp; HARDWARE</a:t>
            </a:r>
          </a:p>
        </p:txBody>
      </p:sp>
      <p:sp>
        <p:nvSpPr>
          <p:cNvPr id="131" name="Panel">
            <a:hlinkClick r:id="rId18"/>
          </p:cNvPr>
          <p:cNvSpPr/>
          <p:nvPr/>
        </p:nvSpPr>
        <p:spPr>
          <a:xfrm>
            <a:off x="4324350" y="5111651"/>
            <a:ext cx="1695450" cy="1822400"/>
          </a:xfrm>
          <a:prstGeom prst="rect">
            <a:avLst/>
          </a:prstGeom>
          <a:solidFill>
            <a:srgbClr val="FFFFFF"/>
          </a:solidFill>
          <a:ln>
            <a:noFill/>
          </a:ln>
        </p:spPr>
        <p:txBody>
          <a:bodyPr rtlCol="0" anchor="ctr"/>
          <a:lstStyle/>
          <a:p>
            <a:pPr algn="ctr"/>
          </a:p>
        </p:txBody>
      </p:sp>
      <p:sp>
        <p:nvSpPr>
          <p:cNvPr id="132" name="Rule"/>
          <p:cNvSpPr/>
          <p:nvPr/>
        </p:nvSpPr>
        <p:spPr>
          <a:xfrm>
            <a:off x="4324350" y="5111651"/>
            <a:ext cx="1695450" cy="28575"/>
          </a:xfrm>
          <a:prstGeom prst="rect">
            <a:avLst/>
          </a:prstGeom>
          <a:solidFill>
            <a:srgbClr val="B68757"/>
          </a:solidFill>
          <a:ln>
            <a:noFill/>
          </a:ln>
        </p:spPr>
        <p:txBody>
          <a:bodyPr rtlCol="0" anchor="ctr"/>
          <a:lstStyle/>
          <a:p>
            <a:pPr algn="ctr"/>
          </a:p>
        </p:txBody>
      </p:sp>
      <p:sp>
        <p:nvSpPr>
          <p:cNvPr id="133" name="Rule"/>
          <p:cNvSpPr/>
          <p:nvPr/>
        </p:nvSpPr>
        <p:spPr>
          <a:xfrm>
            <a:off x="6010275" y="5111651"/>
            <a:ext cx="9525" cy="1822400"/>
          </a:xfrm>
          <a:prstGeom prst="rect">
            <a:avLst/>
          </a:prstGeom>
          <a:solidFill>
            <a:srgbClr val="E3DCD3"/>
          </a:solidFill>
          <a:ln>
            <a:noFill/>
          </a:ln>
        </p:spPr>
        <p:txBody>
          <a:bodyPr rtlCol="0" anchor="ctr"/>
          <a:lstStyle/>
          <a:p>
            <a:pPr algn="ctr"/>
          </a:p>
        </p:txBody>
      </p:sp>
      <p:sp>
        <p:nvSpPr>
          <p:cNvPr id="134" name="Rule"/>
          <p:cNvSpPr/>
          <p:nvPr/>
        </p:nvSpPr>
        <p:spPr>
          <a:xfrm>
            <a:off x="4324350" y="6924526"/>
            <a:ext cx="1695450" cy="9525"/>
          </a:xfrm>
          <a:prstGeom prst="rect">
            <a:avLst/>
          </a:prstGeom>
          <a:solidFill>
            <a:srgbClr val="E3DCD3"/>
          </a:solidFill>
          <a:ln>
            <a:noFill/>
          </a:ln>
        </p:spPr>
        <p:txBody>
          <a:bodyPr rtlCol="0" anchor="ctr"/>
          <a:lstStyle/>
          <a:p>
            <a:pPr algn="ctr"/>
          </a:p>
        </p:txBody>
      </p:sp>
      <p:sp>
        <p:nvSpPr>
          <p:cNvPr id="135" name="Rule"/>
          <p:cNvSpPr/>
          <p:nvPr/>
        </p:nvSpPr>
        <p:spPr>
          <a:xfrm>
            <a:off x="4324350" y="5111651"/>
            <a:ext cx="9525" cy="1822400"/>
          </a:xfrm>
          <a:prstGeom prst="rect">
            <a:avLst/>
          </a:prstGeom>
          <a:solidFill>
            <a:srgbClr val="E3DCD3"/>
          </a:solidFill>
          <a:ln>
            <a:noFill/>
          </a:ln>
        </p:spPr>
        <p:txBody>
          <a:bodyPr rtlCol="0" anchor="ctr"/>
          <a:lstStyle/>
          <a:p>
            <a:pPr algn="ctr"/>
          </a:p>
        </p:txBody>
      </p:sp>
      <p:sp>
        <p:nvSpPr>
          <p:cNvPr id="136" name="Panel"/>
          <p:cNvSpPr/>
          <p:nvPr/>
        </p:nvSpPr>
        <p:spPr>
          <a:xfrm>
            <a:off x="4443412" y="5240238"/>
            <a:ext cx="1457325" cy="409575"/>
          </a:xfrm>
          <a:prstGeom prst="rect">
            <a:avLst/>
          </a:prstGeom>
          <a:solidFill>
            <a:srgbClr val="FFFFFF"/>
          </a:solidFill>
          <a:ln w="9525">
            <a:solidFill>
              <a:srgbClr val="E3DCD3"/>
            </a:solidFill>
          </a:ln>
        </p:spPr>
        <p:txBody>
          <a:bodyPr rtlCol="0" anchor="ctr"/>
          <a:lstStyle/>
          <a:p>
            <a:pPr algn="ctr"/>
          </a:p>
        </p:txBody>
      </p:sp>
      <p:sp>
        <p:nvSpPr>
          <p:cNvPr id="137" name="TextBox 136">
            <a:hlinkClick r:id="rId18"/>
          </p:cNvPr>
          <p:cNvSpPr txBox="1"/>
          <p:nvPr/>
        </p:nvSpPr>
        <p:spPr>
          <a:xfrm>
            <a:off x="4543425" y="5307771"/>
            <a:ext cx="1257300" cy="238125"/>
          </a:xfrm>
          <a:prstGeom prst="rect">
            <a:avLst/>
          </a:prstGeom>
          <a:noFill/>
        </p:spPr>
        <p:txBody>
          <a:bodyPr wrap="square" lIns="0" rIns="0" tIns="0" bIns="0" anchor="t">
            <a:noAutofit/>
          </a:bodyPr>
          <a:lstStyle/>
          <a:p>
            <a:pPr algn="ctr">
              <a:lnSpc>
                <a:spcPts val="975"/>
              </a:lnSpc>
              <a:spcBef>
                <a:spcPts val="0"/>
              </a:spcBef>
              <a:spcAft>
                <a:spcPts val="0"/>
              </a:spcAft>
            </a:pPr>
            <a:r>
              <a:rPr sz="712" b="1" i="0" spc="45">
                <a:solidFill>
                  <a:srgbClr val="1B1A1A"/>
                </a:solidFill>
                <a:latin typeface="Quicksand"/>
              </a:rPr>
              <a:t>COMPLETE CONTROL SERVICES</a:t>
            </a:r>
          </a:p>
        </p:txBody>
      </p:sp>
      <p:sp>
        <p:nvSpPr>
          <p:cNvPr id="138" name="TextBox 137">
            <a:hlinkClick r:id="rId18"/>
          </p:cNvPr>
          <p:cNvSpPr txBox="1"/>
          <p:nvPr/>
        </p:nvSpPr>
        <p:spPr>
          <a:xfrm>
            <a:off x="4438650" y="5614190"/>
            <a:ext cx="1466850" cy="95250"/>
          </a:xfrm>
          <a:prstGeom prst="rect">
            <a:avLst/>
          </a:prstGeom>
          <a:noFill/>
        </p:spPr>
        <p:txBody>
          <a:bodyPr wrap="none" lIns="0" rIns="0" tIns="0" bIns="0" anchor="t">
            <a:noAutofit/>
          </a:bodyPr>
          <a:lstStyle/>
          <a:p>
            <a:pPr algn="ctr">
              <a:lnSpc>
                <a:spcPts val="1275"/>
              </a:lnSpc>
              <a:spcBef>
                <a:spcPts val="0"/>
              </a:spcBef>
              <a:spcAft>
                <a:spcPts val="0"/>
              </a:spcAft>
            </a:pPr>
            <a:r>
              <a:rPr sz="600" b="0" i="0" spc="112">
                <a:solidFill>
                  <a:srgbClr val="6F6A66"/>
                </a:solidFill>
                <a:latin typeface="Quicksand"/>
              </a:rPr>
              <a:t>HAS BEEN ACQUIRED BY</a:t>
            </a:r>
          </a:p>
        </p:txBody>
      </p:sp>
      <p:sp>
        <p:nvSpPr>
          <p:cNvPr id="139" name="Panel"/>
          <p:cNvSpPr/>
          <p:nvPr/>
        </p:nvSpPr>
        <p:spPr>
          <a:xfrm>
            <a:off x="4443412" y="5821263"/>
            <a:ext cx="1457325" cy="409575"/>
          </a:xfrm>
          <a:prstGeom prst="rect">
            <a:avLst/>
          </a:prstGeom>
          <a:solidFill>
            <a:srgbClr val="FFFFFF"/>
          </a:solidFill>
          <a:ln w="9525">
            <a:solidFill>
              <a:srgbClr val="E3DCD3"/>
            </a:solidFill>
          </a:ln>
        </p:spPr>
        <p:txBody>
          <a:bodyPr rtlCol="0" anchor="ctr"/>
          <a:lstStyle/>
          <a:p>
            <a:pPr algn="ctr"/>
          </a:p>
        </p:txBody>
      </p:sp>
      <p:sp>
        <p:nvSpPr>
          <p:cNvPr id="140" name="TextBox 139">
            <a:hlinkClick r:id="rId18"/>
          </p:cNvPr>
          <p:cNvSpPr txBox="1"/>
          <p:nvPr/>
        </p:nvSpPr>
        <p:spPr>
          <a:xfrm>
            <a:off x="4781699" y="5950708"/>
            <a:ext cx="780752" cy="114300"/>
          </a:xfrm>
          <a:prstGeom prst="rect">
            <a:avLst/>
          </a:prstGeom>
          <a:noFill/>
        </p:spPr>
        <p:txBody>
          <a:bodyPr wrap="none" lIns="0" rIns="0" tIns="0" bIns="0" anchor="t">
            <a:noAutofit/>
          </a:bodyPr>
          <a:lstStyle/>
          <a:p>
            <a:pPr algn="ctr">
              <a:lnSpc>
                <a:spcPts val="975"/>
              </a:lnSpc>
              <a:spcBef>
                <a:spcPts val="0"/>
              </a:spcBef>
              <a:spcAft>
                <a:spcPts val="0"/>
              </a:spcAft>
            </a:pPr>
            <a:r>
              <a:rPr sz="712" b="1" i="0" spc="45">
                <a:solidFill>
                  <a:srgbClr val="1B1A1A"/>
                </a:solidFill>
                <a:latin typeface="Quicksand"/>
              </a:rPr>
              <a:t>AMTECH DRIVES</a:t>
            </a:r>
          </a:p>
        </p:txBody>
      </p:sp>
      <p:sp>
        <p:nvSpPr>
          <p:cNvPr id="141" name="TextBox 140">
            <a:hlinkClick r:id="rId18"/>
          </p:cNvPr>
          <p:cNvSpPr txBox="1"/>
          <p:nvPr/>
        </p:nvSpPr>
        <p:spPr>
          <a:xfrm>
            <a:off x="4438650" y="6305229"/>
            <a:ext cx="1466850" cy="271462"/>
          </a:xfrm>
          <a:prstGeom prst="rect">
            <a:avLst/>
          </a:prstGeom>
          <a:noFill/>
        </p:spPr>
        <p:txBody>
          <a:bodyPr wrap="square" lIns="0" rIns="0" tIns="0" bIns="0" anchor="t">
            <a:noAutofit/>
          </a:bodyPr>
          <a:lstStyle/>
          <a:p>
            <a:pPr algn="ctr">
              <a:lnSpc>
                <a:spcPts val="1088"/>
              </a:lnSpc>
              <a:spcBef>
                <a:spcPts val="0"/>
              </a:spcBef>
              <a:spcAft>
                <a:spcPts val="0"/>
              </a:spcAft>
            </a:pPr>
            <a:r>
              <a:rPr sz="788" b="0" i="0" spc="15">
                <a:solidFill>
                  <a:srgbClr val="333231"/>
                </a:solidFill>
                <a:latin typeface="Quicksand"/>
              </a:rPr>
              <a:t>Instrumentation, calibration and controls integration</a:t>
            </a:r>
          </a:p>
        </p:txBody>
      </p:sp>
      <p:sp>
        <p:nvSpPr>
          <p:cNvPr id="142" name="TextBox 141">
            <a:hlinkClick r:id="rId18"/>
          </p:cNvPr>
          <p:cNvSpPr txBox="1"/>
          <p:nvPr/>
        </p:nvSpPr>
        <p:spPr>
          <a:xfrm>
            <a:off x="4438650" y="6722215"/>
            <a:ext cx="1466850" cy="95250"/>
          </a:xfrm>
          <a:prstGeom prst="rect">
            <a:avLst/>
          </a:prstGeom>
          <a:noFill/>
        </p:spPr>
        <p:txBody>
          <a:bodyPr wrap="none" lIns="0" rIns="0" tIns="0" bIns="0" anchor="t">
            <a:noAutofit/>
          </a:bodyPr>
          <a:lstStyle/>
          <a:p>
            <a:pPr algn="ctr">
              <a:lnSpc>
                <a:spcPts val="825"/>
              </a:lnSpc>
              <a:spcBef>
                <a:spcPts val="0"/>
              </a:spcBef>
              <a:spcAft>
                <a:spcPts val="0"/>
              </a:spcAft>
            </a:pPr>
            <a:r>
              <a:rPr sz="600" b="1" i="0" spc="105">
                <a:solidFill>
                  <a:srgbClr val="8C6239"/>
                </a:solidFill>
                <a:latin typeface="Quicksand"/>
              </a:rPr>
              <a:t>ELECTRONICS &amp; HARDWARE</a:t>
            </a:r>
          </a:p>
        </p:txBody>
      </p:sp>
      <p:sp>
        <p:nvSpPr>
          <p:cNvPr id="143" name="Panel">
            <a:hlinkClick r:id="rId19"/>
          </p:cNvPr>
          <p:cNvSpPr/>
          <p:nvPr/>
        </p:nvSpPr>
        <p:spPr>
          <a:xfrm>
            <a:off x="6134100" y="5111651"/>
            <a:ext cx="1695450" cy="1822400"/>
          </a:xfrm>
          <a:prstGeom prst="rect">
            <a:avLst/>
          </a:prstGeom>
          <a:solidFill>
            <a:srgbClr val="FFFFFF"/>
          </a:solidFill>
          <a:ln>
            <a:noFill/>
          </a:ln>
        </p:spPr>
        <p:txBody>
          <a:bodyPr rtlCol="0" anchor="ctr"/>
          <a:lstStyle/>
          <a:p>
            <a:pPr algn="ctr"/>
          </a:p>
        </p:txBody>
      </p:sp>
      <p:sp>
        <p:nvSpPr>
          <p:cNvPr id="144" name="Rule"/>
          <p:cNvSpPr/>
          <p:nvPr/>
        </p:nvSpPr>
        <p:spPr>
          <a:xfrm>
            <a:off x="6134100" y="5111651"/>
            <a:ext cx="1695450" cy="28575"/>
          </a:xfrm>
          <a:prstGeom prst="rect">
            <a:avLst/>
          </a:prstGeom>
          <a:solidFill>
            <a:srgbClr val="B68757"/>
          </a:solidFill>
          <a:ln>
            <a:noFill/>
          </a:ln>
        </p:spPr>
        <p:txBody>
          <a:bodyPr rtlCol="0" anchor="ctr"/>
          <a:lstStyle/>
          <a:p>
            <a:pPr algn="ctr"/>
          </a:p>
        </p:txBody>
      </p:sp>
      <p:sp>
        <p:nvSpPr>
          <p:cNvPr id="145" name="Rule"/>
          <p:cNvSpPr/>
          <p:nvPr/>
        </p:nvSpPr>
        <p:spPr>
          <a:xfrm>
            <a:off x="7820025" y="5111651"/>
            <a:ext cx="9525" cy="1822400"/>
          </a:xfrm>
          <a:prstGeom prst="rect">
            <a:avLst/>
          </a:prstGeom>
          <a:solidFill>
            <a:srgbClr val="E3DCD3"/>
          </a:solidFill>
          <a:ln>
            <a:noFill/>
          </a:ln>
        </p:spPr>
        <p:txBody>
          <a:bodyPr rtlCol="0" anchor="ctr"/>
          <a:lstStyle/>
          <a:p>
            <a:pPr algn="ctr"/>
          </a:p>
        </p:txBody>
      </p:sp>
      <p:sp>
        <p:nvSpPr>
          <p:cNvPr id="146" name="Rule"/>
          <p:cNvSpPr/>
          <p:nvPr/>
        </p:nvSpPr>
        <p:spPr>
          <a:xfrm>
            <a:off x="6134100" y="6924526"/>
            <a:ext cx="1695450" cy="9525"/>
          </a:xfrm>
          <a:prstGeom prst="rect">
            <a:avLst/>
          </a:prstGeom>
          <a:solidFill>
            <a:srgbClr val="E3DCD3"/>
          </a:solidFill>
          <a:ln>
            <a:noFill/>
          </a:ln>
        </p:spPr>
        <p:txBody>
          <a:bodyPr rtlCol="0" anchor="ctr"/>
          <a:lstStyle/>
          <a:p>
            <a:pPr algn="ctr"/>
          </a:p>
        </p:txBody>
      </p:sp>
      <p:sp>
        <p:nvSpPr>
          <p:cNvPr id="147" name="Rule"/>
          <p:cNvSpPr/>
          <p:nvPr/>
        </p:nvSpPr>
        <p:spPr>
          <a:xfrm>
            <a:off x="6134100" y="5111651"/>
            <a:ext cx="9525" cy="1822400"/>
          </a:xfrm>
          <a:prstGeom prst="rect">
            <a:avLst/>
          </a:prstGeom>
          <a:solidFill>
            <a:srgbClr val="E3DCD3"/>
          </a:solidFill>
          <a:ln>
            <a:noFill/>
          </a:ln>
        </p:spPr>
        <p:txBody>
          <a:bodyPr rtlCol="0" anchor="ctr"/>
          <a:lstStyle/>
          <a:p>
            <a:pPr algn="ctr"/>
          </a:p>
        </p:txBody>
      </p:sp>
      <p:sp>
        <p:nvSpPr>
          <p:cNvPr id="148" name="Panel"/>
          <p:cNvSpPr/>
          <p:nvPr/>
        </p:nvSpPr>
        <p:spPr>
          <a:xfrm>
            <a:off x="6253162" y="5240238"/>
            <a:ext cx="1457325" cy="409575"/>
          </a:xfrm>
          <a:prstGeom prst="rect">
            <a:avLst/>
          </a:prstGeom>
          <a:solidFill>
            <a:srgbClr val="FFFFFF"/>
          </a:solidFill>
          <a:ln w="9525">
            <a:solidFill>
              <a:srgbClr val="E3DCD3"/>
            </a:solidFill>
          </a:ln>
        </p:spPr>
        <p:txBody>
          <a:bodyPr rtlCol="0" anchor="ctr"/>
          <a:lstStyle/>
          <a:p>
            <a:pPr algn="ctr"/>
          </a:p>
        </p:txBody>
      </p:sp>
      <p:pic>
        <p:nvPicPr>
          <p:cNvPr id="149" name="Invocon" descr="Invocon"/>
          <p:cNvPicPr>
            <a:picLocks noChangeAspect="1"/>
          </p:cNvPicPr>
          <p:nvPr/>
        </p:nvPicPr>
        <p:blipFill>
          <a:blip r:embed="rId20"/>
          <a:stretch>
            <a:fillRect/>
          </a:stretch>
        </p:blipFill>
        <p:spPr>
          <a:xfrm>
            <a:off x="6818869" y="5283250"/>
            <a:ext cx="325763" cy="323701"/>
          </a:xfrm>
          <a:prstGeom prst="rect">
            <a:avLst/>
          </a:prstGeom>
        </p:spPr>
      </p:pic>
      <p:sp>
        <p:nvSpPr>
          <p:cNvPr id="150" name="TextBox 149">
            <a:hlinkClick r:id="rId19"/>
          </p:cNvPr>
          <p:cNvSpPr txBox="1"/>
          <p:nvPr/>
        </p:nvSpPr>
        <p:spPr>
          <a:xfrm>
            <a:off x="6248400" y="5614190"/>
            <a:ext cx="1466850" cy="95250"/>
          </a:xfrm>
          <a:prstGeom prst="rect">
            <a:avLst/>
          </a:prstGeom>
          <a:noFill/>
        </p:spPr>
        <p:txBody>
          <a:bodyPr wrap="none" lIns="0" rIns="0" tIns="0" bIns="0" anchor="t">
            <a:noAutofit/>
          </a:bodyPr>
          <a:lstStyle/>
          <a:p>
            <a:pPr algn="ctr">
              <a:lnSpc>
                <a:spcPts val="1275"/>
              </a:lnSpc>
              <a:spcBef>
                <a:spcPts val="0"/>
              </a:spcBef>
              <a:spcAft>
                <a:spcPts val="0"/>
              </a:spcAft>
            </a:pPr>
            <a:r>
              <a:rPr sz="600" b="0" i="0" spc="112">
                <a:solidFill>
                  <a:srgbClr val="6F6A66"/>
                </a:solidFill>
                <a:latin typeface="Quicksand"/>
              </a:rPr>
              <a:t>HAS BEEN ACQUIRED BY</a:t>
            </a:r>
          </a:p>
        </p:txBody>
      </p:sp>
      <p:sp>
        <p:nvSpPr>
          <p:cNvPr id="151" name="Panel"/>
          <p:cNvSpPr/>
          <p:nvPr/>
        </p:nvSpPr>
        <p:spPr>
          <a:xfrm>
            <a:off x="6253162" y="5821263"/>
            <a:ext cx="1457325" cy="407938"/>
          </a:xfrm>
          <a:prstGeom prst="rect">
            <a:avLst/>
          </a:prstGeom>
          <a:solidFill>
            <a:srgbClr val="FFFFFF"/>
          </a:solidFill>
          <a:ln w="9525">
            <a:solidFill>
              <a:srgbClr val="E3DCD3"/>
            </a:solidFill>
          </a:ln>
        </p:spPr>
        <p:txBody>
          <a:bodyPr rtlCol="0" anchor="ctr"/>
          <a:lstStyle/>
          <a:p>
            <a:pPr algn="ctr"/>
          </a:p>
        </p:txBody>
      </p:sp>
      <p:pic>
        <p:nvPicPr>
          <p:cNvPr id="152" name="Cemtrex" descr="Cemtrex"/>
          <p:cNvPicPr>
            <a:picLocks noChangeAspect="1"/>
          </p:cNvPicPr>
          <p:nvPr/>
        </p:nvPicPr>
        <p:blipFill>
          <a:blip r:embed="rId21"/>
          <a:stretch>
            <a:fillRect/>
          </a:stretch>
        </p:blipFill>
        <p:spPr>
          <a:xfrm>
            <a:off x="6353521" y="5897017"/>
            <a:ext cx="1256609" cy="256282"/>
          </a:xfrm>
          <a:prstGeom prst="rect">
            <a:avLst/>
          </a:prstGeom>
        </p:spPr>
      </p:pic>
      <p:sp>
        <p:nvSpPr>
          <p:cNvPr id="153" name="TextBox 152">
            <a:hlinkClick r:id="rId19"/>
          </p:cNvPr>
          <p:cNvSpPr txBox="1"/>
          <p:nvPr/>
        </p:nvSpPr>
        <p:spPr>
          <a:xfrm>
            <a:off x="6248400" y="6303591"/>
            <a:ext cx="1466850" cy="409575"/>
          </a:xfrm>
          <a:prstGeom prst="rect">
            <a:avLst/>
          </a:prstGeom>
          <a:noFill/>
        </p:spPr>
        <p:txBody>
          <a:bodyPr wrap="square" lIns="0" rIns="0" tIns="0" bIns="0" anchor="t">
            <a:noAutofit/>
          </a:bodyPr>
          <a:lstStyle/>
          <a:p>
            <a:pPr algn="ctr">
              <a:lnSpc>
                <a:spcPts val="1088"/>
              </a:lnSpc>
              <a:spcBef>
                <a:spcPts val="0"/>
              </a:spcBef>
              <a:spcAft>
                <a:spcPts val="0"/>
              </a:spcAft>
            </a:pPr>
            <a:r>
              <a:rPr sz="788" b="0" i="0" spc="15">
                <a:solidFill>
                  <a:srgbClr val="333231"/>
                </a:solidFill>
                <a:latin typeface="Quicksand"/>
              </a:rPr>
              <a:t>Instrumentation and wireless sensing for satellites and launch vehicles</a:t>
            </a:r>
          </a:p>
        </p:txBody>
      </p:sp>
      <p:sp>
        <p:nvSpPr>
          <p:cNvPr id="154" name="TextBox 153">
            <a:hlinkClick r:id="rId19"/>
          </p:cNvPr>
          <p:cNvSpPr txBox="1"/>
          <p:nvPr/>
        </p:nvSpPr>
        <p:spPr>
          <a:xfrm>
            <a:off x="6248400" y="6722215"/>
            <a:ext cx="1466850" cy="95250"/>
          </a:xfrm>
          <a:prstGeom prst="rect">
            <a:avLst/>
          </a:prstGeom>
          <a:noFill/>
        </p:spPr>
        <p:txBody>
          <a:bodyPr wrap="none" lIns="0" rIns="0" tIns="0" bIns="0" anchor="t">
            <a:noAutofit/>
          </a:bodyPr>
          <a:lstStyle/>
          <a:p>
            <a:pPr algn="ctr">
              <a:lnSpc>
                <a:spcPts val="825"/>
              </a:lnSpc>
              <a:spcBef>
                <a:spcPts val="0"/>
              </a:spcBef>
              <a:spcAft>
                <a:spcPts val="0"/>
              </a:spcAft>
            </a:pPr>
            <a:r>
              <a:rPr sz="600" b="1" i="0" spc="105">
                <a:solidFill>
                  <a:srgbClr val="8C6239"/>
                </a:solidFill>
                <a:latin typeface="Quicksand"/>
              </a:rPr>
              <a:t>GOVERNMENT TECHNOLOGY</a:t>
            </a:r>
          </a:p>
        </p:txBody>
      </p:sp>
      <p:sp>
        <p:nvSpPr>
          <p:cNvPr id="155" name="Panel"/>
          <p:cNvSpPr/>
          <p:nvPr/>
        </p:nvSpPr>
        <p:spPr>
          <a:xfrm>
            <a:off x="7943850" y="5111651"/>
            <a:ext cx="1695450" cy="1822400"/>
          </a:xfrm>
          <a:prstGeom prst="rect">
            <a:avLst/>
          </a:prstGeom>
          <a:solidFill>
            <a:srgbClr val="2A2928"/>
          </a:solidFill>
          <a:ln>
            <a:noFill/>
          </a:ln>
        </p:spPr>
        <p:txBody>
          <a:bodyPr rtlCol="0" anchor="ctr"/>
          <a:lstStyle/>
          <a:p>
            <a:pPr algn="ctr"/>
          </a:p>
        </p:txBody>
      </p:sp>
      <p:sp>
        <p:nvSpPr>
          <p:cNvPr id="156" name="TextBox 155"/>
          <p:cNvSpPr txBox="1"/>
          <p:nvPr/>
        </p:nvSpPr>
        <p:spPr>
          <a:xfrm>
            <a:off x="8077200" y="5350121"/>
            <a:ext cx="356592" cy="266700"/>
          </a:xfrm>
          <a:prstGeom prst="rect">
            <a:avLst/>
          </a:prstGeom>
          <a:noFill/>
        </p:spPr>
        <p:txBody>
          <a:bodyPr wrap="none" lIns="0" rIns="0" tIns="0" bIns="0" anchor="t">
            <a:noAutofit/>
          </a:bodyPr>
          <a:lstStyle/>
          <a:p>
            <a:pPr algn="l">
              <a:lnSpc>
                <a:spcPts val="2250"/>
              </a:lnSpc>
              <a:spcBef>
                <a:spcPts val="0"/>
              </a:spcBef>
              <a:spcAft>
                <a:spcPts val="0"/>
              </a:spcAft>
            </a:pPr>
            <a:r>
              <a:rPr sz="2100" b="1" i="0">
                <a:solidFill>
                  <a:srgbClr val="D3AE84"/>
                </a:solidFill>
                <a:latin typeface="Newsreader"/>
              </a:rPr>
              <a:t>+2</a:t>
            </a:r>
          </a:p>
        </p:txBody>
      </p:sp>
      <p:sp>
        <p:nvSpPr>
          <p:cNvPr id="157" name="TextBox 156"/>
          <p:cNvSpPr txBox="1"/>
          <p:nvPr/>
        </p:nvSpPr>
        <p:spPr>
          <a:xfrm>
            <a:off x="8077200" y="5712452"/>
            <a:ext cx="1504950" cy="919162"/>
          </a:xfrm>
          <a:prstGeom prst="rect">
            <a:avLst/>
          </a:prstGeom>
          <a:noFill/>
        </p:spPr>
        <p:txBody>
          <a:bodyPr wrap="square" lIns="0" rIns="0" tIns="0" bIns="0" anchor="t">
            <a:noAutofit/>
          </a:bodyPr>
          <a:lstStyle/>
          <a:p>
            <a:pPr algn="l">
              <a:lnSpc>
                <a:spcPts val="1238"/>
              </a:lnSpc>
              <a:spcBef>
                <a:spcPts val="0"/>
              </a:spcBef>
              <a:spcAft>
                <a:spcPts val="0"/>
              </a:spcAft>
            </a:pPr>
            <a:r>
              <a:rPr sz="825" b="0" i="0" spc="15">
                <a:solidFill>
                  <a:srgbClr val="E8E2DA"/>
                </a:solidFill>
                <a:latin typeface="Quicksand"/>
              </a:rPr>
              <a:t>Two further closed transactions, in systems integration and government technology, are counted in the total and are not named.</a:t>
            </a:r>
          </a:p>
        </p:txBody>
      </p:sp>
      <p:sp>
        <p:nvSpPr>
          <p:cNvPr id="158" name="Panel"/>
          <p:cNvSpPr/>
          <p:nvPr/>
        </p:nvSpPr>
        <p:spPr>
          <a:xfrm>
            <a:off x="419100" y="7029450"/>
            <a:ext cx="9220200" cy="9525"/>
          </a:xfrm>
          <a:prstGeom prst="rect">
            <a:avLst/>
          </a:prstGeom>
          <a:solidFill>
            <a:srgbClr val="E3DCD3"/>
          </a:solidFill>
          <a:ln>
            <a:noFill/>
          </a:ln>
        </p:spPr>
        <p:txBody>
          <a:bodyPr rtlCol="0" anchor="ctr"/>
          <a:lstStyle/>
          <a:p>
            <a:pPr algn="ctr"/>
          </a:p>
        </p:txBody>
      </p:sp>
      <p:pic>
        <p:nvPicPr>
          <p:cNvPr id="159" name="Graphic" descr="S03_r6.png"/>
          <p:cNvPicPr>
            <a:picLocks noChangeAspect="1"/>
          </p:cNvPicPr>
          <p:nvPr/>
        </p:nvPicPr>
        <p:blipFill>
          <a:blip r:embed="rId22"/>
          <a:stretch>
            <a:fillRect/>
          </a:stretch>
        </p:blipFill>
        <p:spPr>
          <a:xfrm>
            <a:off x="419100" y="7143750"/>
            <a:ext cx="914400" cy="171450"/>
          </a:xfrm>
          <a:prstGeom prst="rect">
            <a:avLst/>
          </a:prstGeom>
        </p:spPr>
      </p:pic>
      <p:sp>
        <p:nvSpPr>
          <p:cNvPr id="160" name="TextBox 159"/>
          <p:cNvSpPr txBox="1"/>
          <p:nvPr/>
        </p:nvSpPr>
        <p:spPr>
          <a:xfrm>
            <a:off x="1543050" y="7091172"/>
            <a:ext cx="7810500" cy="223838"/>
          </a:xfrm>
          <a:prstGeom prst="rect">
            <a:avLst/>
          </a:prstGeom>
          <a:noFill/>
        </p:spPr>
        <p:txBody>
          <a:bodyPr wrap="square" lIns="0" rIns="0" tIns="0" bIns="0" anchor="t">
            <a:noAutofit/>
          </a:bodyPr>
          <a:lstStyle/>
          <a:p>
            <a:pPr algn="l">
              <a:lnSpc>
                <a:spcPts val="938"/>
              </a:lnSpc>
              <a:spcBef>
                <a:spcPts val="0"/>
              </a:spcBef>
              <a:spcAft>
                <a:spcPts val="0"/>
              </a:spcAft>
            </a:pPr>
            <a:r>
              <a:rPr sz="675" b="0" i="0" spc="8">
                <a:solidFill>
                  <a:srgbClr val="6F6A66"/>
                </a:solidFill>
                <a:latin typeface="Quicksand"/>
              </a:rPr>
              <a:t>Each tile links to the announcement on benchmarkintl.com. Transactions closed in the 24 months to September 2026. Engagements in progress are shown in aggregate. Company names and marks are the property of their owners.</a:t>
            </a:r>
          </a:p>
        </p:txBody>
      </p:sp>
      <p:sp>
        <p:nvSpPr>
          <p:cNvPr id="161" name="TextBox 160"/>
          <p:cNvSpPr txBox="1"/>
          <p:nvPr/>
        </p:nvSpPr>
        <p:spPr>
          <a:xfrm>
            <a:off x="9495979" y="7149370"/>
            <a:ext cx="143321" cy="114300"/>
          </a:xfrm>
          <a:prstGeom prst="rect">
            <a:avLst/>
          </a:prstGeom>
          <a:noFill/>
        </p:spPr>
        <p:txBody>
          <a:bodyPr wrap="none" lIns="0" rIns="0" tIns="0" bIns="0" anchor="t">
            <a:noAutofit/>
          </a:bodyPr>
          <a:lstStyle/>
          <a:p>
            <a:pPr algn="r">
              <a:lnSpc>
                <a:spcPts val="1050"/>
              </a:lnSpc>
              <a:spcBef>
                <a:spcPts val="0"/>
              </a:spcBef>
              <a:spcAft>
                <a:spcPts val="0"/>
              </a:spcAft>
            </a:pPr>
            <a:r>
              <a:rPr sz="712" b="1" i="0" spc="150">
                <a:solidFill>
                  <a:srgbClr val="1B1A1A"/>
                </a:solidFill>
                <a:latin typeface="Quicksand"/>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3" name="Panel"/>
          <p:cNvSpPr/>
          <p:nvPr/>
        </p:nvSpPr>
        <p:spPr>
          <a:xfrm>
            <a:off x="0" y="0"/>
            <a:ext cx="10058400" cy="7772400"/>
          </a:xfrm>
          <a:prstGeom prst="rect">
            <a:avLst/>
          </a:prstGeom>
          <a:solidFill>
            <a:srgbClr val="FFFFFF"/>
          </a:solidFill>
          <a:ln>
            <a:noFill/>
          </a:ln>
        </p:spPr>
        <p:txBody>
          <a:bodyPr rtlCol="0" anchor="ctr"/>
          <a:lstStyle/>
          <a:p>
            <a:pPr algn="ctr"/>
          </a:p>
        </p:txBody>
      </p:sp>
      <p:sp>
        <p:nvSpPr>
          <p:cNvPr id="4" name="Panel"/>
          <p:cNvSpPr/>
          <p:nvPr/>
        </p:nvSpPr>
        <p:spPr>
          <a:xfrm>
            <a:off x="0" y="0"/>
            <a:ext cx="57150" cy="7772400"/>
          </a:xfrm>
          <a:prstGeom prst="rect">
            <a:avLst/>
          </a:prstGeom>
          <a:solidFill>
            <a:srgbClr val="B68757"/>
          </a:solidFill>
          <a:ln>
            <a:noFill/>
          </a:ln>
        </p:spPr>
        <p:txBody>
          <a:bodyPr rtlCol="0" anchor="ctr"/>
          <a:lstStyle/>
          <a:p>
            <a:pPr algn="ctr"/>
          </a:p>
        </p:txBody>
      </p:sp>
      <p:sp>
        <p:nvSpPr>
          <p:cNvPr id="5" name="TextBox 4"/>
          <p:cNvSpPr txBox="1"/>
          <p:nvPr/>
        </p:nvSpPr>
        <p:spPr>
          <a:xfrm>
            <a:off x="419100" y="361760"/>
            <a:ext cx="2764185" cy="104775"/>
          </a:xfrm>
          <a:prstGeom prst="rect">
            <a:avLst/>
          </a:prstGeom>
          <a:noFill/>
        </p:spPr>
        <p:txBody>
          <a:bodyPr wrap="none" lIns="0" rIns="0" tIns="0" bIns="0" anchor="t">
            <a:noAutofit/>
          </a:bodyPr>
          <a:lstStyle/>
          <a:p>
            <a:pPr algn="l">
              <a:lnSpc>
                <a:spcPts val="1050"/>
              </a:lnSpc>
              <a:spcBef>
                <a:spcPts val="0"/>
              </a:spcBef>
              <a:spcAft>
                <a:spcPts val="0"/>
              </a:spcAft>
            </a:pPr>
            <a:r>
              <a:rPr sz="675" b="1" i="0" spc="195">
                <a:solidFill>
                  <a:srgbClr val="8C6239"/>
                </a:solidFill>
                <a:latin typeface="Quicksand"/>
              </a:rPr>
              <a:t>TECHNOLOGY  |  QUARTERLY SECTOR BRIEF</a:t>
            </a:r>
          </a:p>
        </p:txBody>
      </p:sp>
      <p:sp>
        <p:nvSpPr>
          <p:cNvPr id="6" name="TextBox 5"/>
          <p:cNvSpPr txBox="1"/>
          <p:nvPr/>
        </p:nvSpPr>
        <p:spPr>
          <a:xfrm>
            <a:off x="9112597" y="350901"/>
            <a:ext cx="526703" cy="152400"/>
          </a:xfrm>
          <a:prstGeom prst="rect">
            <a:avLst/>
          </a:prstGeom>
          <a:noFill/>
        </p:spPr>
        <p:txBody>
          <a:bodyPr wrap="none" lIns="0" rIns="0" tIns="0" bIns="0" anchor="t">
            <a:noAutofit/>
          </a:bodyPr>
          <a:lstStyle/>
          <a:p>
            <a:pPr algn="r">
              <a:lnSpc>
                <a:spcPts val="1350"/>
              </a:lnSpc>
              <a:spcBef>
                <a:spcPts val="0"/>
              </a:spcBef>
              <a:spcAft>
                <a:spcPts val="0"/>
              </a:spcAft>
            </a:pPr>
            <a:r>
              <a:rPr sz="900" b="0" i="0" spc="90">
                <a:solidFill>
                  <a:srgbClr val="6F6A66"/>
                </a:solidFill>
                <a:latin typeface="Cinzel"/>
              </a:rPr>
              <a:t>Q4 2026</a:t>
            </a:r>
          </a:p>
        </p:txBody>
      </p:sp>
      <p:sp>
        <p:nvSpPr>
          <p:cNvPr id="2" name="Title 1"/>
          <p:cNvSpPr>
            <a:spLocks noGrp="1"/>
          </p:cNvSpPr>
          <p:nvPr>
            <p:ph type="title"/>
          </p:nvPr>
        </p:nvSpPr>
        <p:spPr>
          <a:xfrm>
            <a:off x="419100" y="475488"/>
            <a:ext cx="3357562" cy="257175"/>
          </a:xfrm>
        </p:spPr>
        <p:txBody>
          <a:bodyPr wrap="none" lIns="0" rIns="0" tIns="0" bIns="0" anchor="t">
            <a:noAutofit/>
          </a:bodyPr>
          <a:lstStyle/>
          <a:p>
            <a:pPr algn="l">
              <a:lnSpc>
                <a:spcPts val="2550"/>
              </a:lnSpc>
              <a:spcBef>
                <a:spcPts val="0"/>
              </a:spcBef>
              <a:spcAft>
                <a:spcPts val="0"/>
              </a:spcAft>
            </a:pPr>
            <a:r>
              <a:rPr sz="2000" b="1" i="0">
                <a:solidFill>
                  <a:srgbClr val="1B1A1A"/>
                </a:solidFill>
                <a:latin typeface="Newsreader"/>
              </a:rPr>
              <a:t>Public Companies: Valuation</a:t>
            </a:r>
          </a:p>
        </p:txBody>
      </p:sp>
      <p:sp>
        <p:nvSpPr>
          <p:cNvPr id="7" name="TextBox 6"/>
          <p:cNvSpPr txBox="1"/>
          <p:nvPr/>
        </p:nvSpPr>
        <p:spPr>
          <a:xfrm>
            <a:off x="419100" y="864394"/>
            <a:ext cx="8605540" cy="152400"/>
          </a:xfrm>
          <a:prstGeom prst="rect">
            <a:avLst/>
          </a:prstGeom>
          <a:noFill/>
        </p:spPr>
        <p:txBody>
          <a:bodyPr wrap="none" lIns="0" rIns="0" tIns="0" bIns="0" anchor="t">
            <a:noAutofit/>
          </a:bodyPr>
          <a:lstStyle/>
          <a:p>
            <a:pPr algn="l">
              <a:lnSpc>
                <a:spcPts val="1388"/>
              </a:lnSpc>
              <a:spcBef>
                <a:spcPts val="0"/>
              </a:spcBef>
              <a:spcAft>
                <a:spcPts val="0"/>
              </a:spcAft>
            </a:pPr>
            <a:r>
              <a:rPr sz="938" b="0" i="0" spc="15">
                <a:solidFill>
                  <a:srgbClr val="6F6A66"/>
                </a:solidFill>
                <a:latin typeface="Quicksand"/>
              </a:rPr>
              <a:t>Electronics manufacturers re-rated from 12.1x to 21.8x EBITDA in a year, while IT services and government contractors trade below three-year medians.</a:t>
            </a:r>
          </a:p>
        </p:txBody>
      </p:sp>
      <p:sp>
        <p:nvSpPr>
          <p:cNvPr id="8" name="Panel"/>
          <p:cNvSpPr/>
          <p:nvPr/>
        </p:nvSpPr>
        <p:spPr>
          <a:xfrm>
            <a:off x="419100" y="1143000"/>
            <a:ext cx="9220200" cy="9525"/>
          </a:xfrm>
          <a:prstGeom prst="rect">
            <a:avLst/>
          </a:prstGeom>
          <a:solidFill>
            <a:srgbClr val="E3DCD3"/>
          </a:solidFill>
          <a:ln>
            <a:noFill/>
          </a:ln>
        </p:spPr>
        <p:txBody>
          <a:bodyPr rtlCol="0" anchor="ctr"/>
          <a:lstStyle/>
          <a:p>
            <a:pPr algn="ctr"/>
          </a:p>
        </p:txBody>
      </p:sp>
      <p:sp>
        <p:nvSpPr>
          <p:cNvPr id="9" name="Panel"/>
          <p:cNvSpPr/>
          <p:nvPr/>
        </p:nvSpPr>
        <p:spPr>
          <a:xfrm>
            <a:off x="419100" y="1238250"/>
            <a:ext cx="2838450" cy="3886200"/>
          </a:xfrm>
          <a:prstGeom prst="rect">
            <a:avLst/>
          </a:prstGeom>
          <a:solidFill>
            <a:srgbClr val="FAF7F3"/>
          </a:solidFill>
          <a:ln>
            <a:noFill/>
          </a:ln>
        </p:spPr>
        <p:txBody>
          <a:bodyPr rtlCol="0" anchor="ctr"/>
          <a:lstStyle/>
          <a:p>
            <a:pPr algn="ctr"/>
          </a:p>
        </p:txBody>
      </p:sp>
      <p:sp>
        <p:nvSpPr>
          <p:cNvPr id="10" name="Rule"/>
          <p:cNvSpPr/>
          <p:nvPr/>
        </p:nvSpPr>
        <p:spPr>
          <a:xfrm>
            <a:off x="419100" y="1238250"/>
            <a:ext cx="2838450" cy="28575"/>
          </a:xfrm>
          <a:prstGeom prst="rect">
            <a:avLst/>
          </a:prstGeom>
          <a:solidFill>
            <a:srgbClr val="B68757"/>
          </a:solidFill>
          <a:ln>
            <a:noFill/>
          </a:ln>
        </p:spPr>
        <p:txBody>
          <a:bodyPr rtlCol="0" anchor="ctr"/>
          <a:lstStyle/>
          <a:p>
            <a:pPr algn="ctr"/>
          </a:p>
        </p:txBody>
      </p:sp>
      <p:sp>
        <p:nvSpPr>
          <p:cNvPr id="11" name="TextBox 10"/>
          <p:cNvSpPr txBox="1"/>
          <p:nvPr/>
        </p:nvSpPr>
        <p:spPr>
          <a:xfrm>
            <a:off x="571500" y="1384554"/>
            <a:ext cx="2190452" cy="152400"/>
          </a:xfrm>
          <a:prstGeom prst="rect">
            <a:avLst/>
          </a:prstGeom>
          <a:noFill/>
        </p:spPr>
        <p:txBody>
          <a:bodyPr wrap="none" lIns="0" rIns="0" tIns="0" bIns="0" anchor="t">
            <a:noAutofit/>
          </a:bodyPr>
          <a:lstStyle/>
          <a:p>
            <a:pPr algn="l">
              <a:lnSpc>
                <a:spcPts val="1312"/>
              </a:lnSpc>
              <a:spcBef>
                <a:spcPts val="0"/>
              </a:spcBef>
              <a:spcAft>
                <a:spcPts val="0"/>
              </a:spcAft>
            </a:pPr>
            <a:r>
              <a:rPr sz="975" b="1" i="0" spc="15">
                <a:solidFill>
                  <a:srgbClr val="1B1A1A"/>
                </a:solidFill>
                <a:latin typeface="Quicksand"/>
              </a:rPr>
              <a:t>Share price change, past 52 weeks</a:t>
            </a:r>
          </a:p>
        </p:txBody>
      </p:sp>
      <p:sp>
        <p:nvSpPr>
          <p:cNvPr id="12" name="TextBox 11"/>
          <p:cNvSpPr txBox="1"/>
          <p:nvPr/>
        </p:nvSpPr>
        <p:spPr>
          <a:xfrm>
            <a:off x="571500" y="1549718"/>
            <a:ext cx="2359075" cy="123825"/>
          </a:xfrm>
          <a:prstGeom prst="rect">
            <a:avLst/>
          </a:prstGeom>
          <a:noFill/>
        </p:spPr>
        <p:txBody>
          <a:bodyPr wrap="none" lIns="0" rIns="0" tIns="0" bIns="0" anchor="t">
            <a:noAutofit/>
          </a:bodyPr>
          <a:lstStyle/>
          <a:p>
            <a:pPr algn="l">
              <a:lnSpc>
                <a:spcPts val="1050"/>
              </a:lnSpc>
              <a:spcBef>
                <a:spcPts val="0"/>
              </a:spcBef>
              <a:spcAft>
                <a:spcPts val="0"/>
              </a:spcAft>
            </a:pPr>
            <a:r>
              <a:rPr sz="750" b="0" i="0" spc="15">
                <a:solidFill>
                  <a:srgbClr val="6F6A66"/>
                </a:solidFill>
                <a:latin typeface="Quicksand"/>
              </a:rPr>
              <a:t>Median of the listed companies in each focus area</a:t>
            </a:r>
          </a:p>
        </p:txBody>
      </p:sp>
      <p:graphicFrame>
        <p:nvGraphicFramePr>
          <p:cNvPr id="13" name="Chart"/>
          <p:cNvGraphicFramePr>
            <a:graphicFrameLocks noGrp="1"/>
          </p:cNvGraphicFramePr>
          <p:nvPr/>
        </p:nvGraphicFramePr>
        <p:xfrm>
          <a:off x="571500" y="1776412"/>
          <a:ext cx="2533650" cy="2543175"/>
        </p:xfrm>
        <a:graphic>
          <a:graphicData uri="http://schemas.openxmlformats.org/drawingml/2006/chart">
            <c:chart xmlns:c="http://schemas.openxmlformats.org/drawingml/2006/chart" r:id="rId2"/>
          </a:graphicData>
        </a:graphic>
      </p:graphicFrame>
      <p:sp>
        <p:nvSpPr>
          <p:cNvPr id="14" name="TextBox 13"/>
          <p:cNvSpPr txBox="1"/>
          <p:nvPr/>
        </p:nvSpPr>
        <p:spPr>
          <a:xfrm>
            <a:off x="571500" y="4297680"/>
            <a:ext cx="2609850" cy="676275"/>
          </a:xfrm>
          <a:prstGeom prst="rect">
            <a:avLst/>
          </a:prstGeom>
          <a:noFill/>
        </p:spPr>
        <p:txBody>
          <a:bodyPr wrap="square" lIns="0" rIns="0" tIns="0" bIns="0" anchor="t">
            <a:noAutofit/>
          </a:bodyPr>
          <a:lstStyle/>
          <a:p>
            <a:pPr algn="l">
              <a:lnSpc>
                <a:spcPts val="1088"/>
              </a:lnSpc>
              <a:spcBef>
                <a:spcPts val="0"/>
              </a:spcBef>
              <a:spcAft>
                <a:spcPts val="0"/>
              </a:spcAft>
            </a:pPr>
            <a:r>
              <a:rPr sz="750" b="0" i="0" spc="15">
                <a:solidFill>
                  <a:srgbClr val="6F6A66"/>
                </a:solidFill>
                <a:latin typeface="Quicksand"/>
              </a:rPr>
              <a:t>Shares rose over the year at 3 of 9 IT services companies, 6 of 8 security companies, 5 of 9 communications companies, 4 of 9 integration companies, 8 of 9 electronics companies, 2 of 7 government companies.</a:t>
            </a:r>
          </a:p>
        </p:txBody>
      </p:sp>
      <p:sp>
        <p:nvSpPr>
          <p:cNvPr id="15" name="Panel"/>
          <p:cNvSpPr/>
          <p:nvPr/>
        </p:nvSpPr>
        <p:spPr>
          <a:xfrm>
            <a:off x="3390900" y="1238250"/>
            <a:ext cx="3505200" cy="3886200"/>
          </a:xfrm>
          <a:prstGeom prst="rect">
            <a:avLst/>
          </a:prstGeom>
          <a:solidFill>
            <a:srgbClr val="FAF7F3"/>
          </a:solidFill>
          <a:ln>
            <a:noFill/>
          </a:ln>
        </p:spPr>
        <p:txBody>
          <a:bodyPr rtlCol="0" anchor="ctr"/>
          <a:lstStyle/>
          <a:p>
            <a:pPr algn="ctr"/>
          </a:p>
        </p:txBody>
      </p:sp>
      <p:sp>
        <p:nvSpPr>
          <p:cNvPr id="16" name="Rule"/>
          <p:cNvSpPr/>
          <p:nvPr/>
        </p:nvSpPr>
        <p:spPr>
          <a:xfrm>
            <a:off x="3390900" y="1238250"/>
            <a:ext cx="3505200" cy="28575"/>
          </a:xfrm>
          <a:prstGeom prst="rect">
            <a:avLst/>
          </a:prstGeom>
          <a:solidFill>
            <a:srgbClr val="B68757"/>
          </a:solidFill>
          <a:ln>
            <a:noFill/>
          </a:ln>
        </p:spPr>
        <p:txBody>
          <a:bodyPr rtlCol="0" anchor="ctr"/>
          <a:lstStyle/>
          <a:p>
            <a:pPr algn="ctr"/>
          </a:p>
        </p:txBody>
      </p:sp>
      <p:sp>
        <p:nvSpPr>
          <p:cNvPr id="17" name="TextBox 16"/>
          <p:cNvSpPr txBox="1"/>
          <p:nvPr/>
        </p:nvSpPr>
        <p:spPr>
          <a:xfrm>
            <a:off x="3543300" y="1384554"/>
            <a:ext cx="2186285" cy="152400"/>
          </a:xfrm>
          <a:prstGeom prst="rect">
            <a:avLst/>
          </a:prstGeom>
          <a:noFill/>
        </p:spPr>
        <p:txBody>
          <a:bodyPr wrap="none" lIns="0" rIns="0" tIns="0" bIns="0" anchor="t">
            <a:noAutofit/>
          </a:bodyPr>
          <a:lstStyle/>
          <a:p>
            <a:pPr algn="l">
              <a:lnSpc>
                <a:spcPts val="1312"/>
              </a:lnSpc>
              <a:spcBef>
                <a:spcPts val="0"/>
              </a:spcBef>
              <a:spcAft>
                <a:spcPts val="0"/>
              </a:spcAft>
            </a:pPr>
            <a:r>
              <a:rPr sz="975" b="1" i="0" spc="15">
                <a:solidFill>
                  <a:srgbClr val="1B1A1A"/>
                </a:solidFill>
                <a:latin typeface="Quicksand"/>
              </a:rPr>
              <a:t>Enterprise value to trailing EBITDA</a:t>
            </a:r>
          </a:p>
        </p:txBody>
      </p:sp>
      <p:sp>
        <p:nvSpPr>
          <p:cNvPr id="18" name="TextBox 17"/>
          <p:cNvSpPr txBox="1"/>
          <p:nvPr/>
        </p:nvSpPr>
        <p:spPr>
          <a:xfrm>
            <a:off x="3543300" y="1549718"/>
            <a:ext cx="3276600" cy="257175"/>
          </a:xfrm>
          <a:prstGeom prst="rect">
            <a:avLst/>
          </a:prstGeom>
          <a:noFill/>
        </p:spPr>
        <p:txBody>
          <a:bodyPr wrap="square" lIns="0" rIns="0" tIns="0" bIns="0" anchor="t">
            <a:noAutofit/>
          </a:bodyPr>
          <a:lstStyle/>
          <a:p>
            <a:pPr algn="l">
              <a:lnSpc>
                <a:spcPts val="1050"/>
              </a:lnSpc>
              <a:spcBef>
                <a:spcPts val="0"/>
              </a:spcBef>
              <a:spcAft>
                <a:spcPts val="0"/>
              </a:spcAft>
            </a:pPr>
            <a:r>
              <a:rPr sz="750" b="0" i="0" spc="15">
                <a:solidFill>
                  <a:srgbClr val="6F6A66"/>
                </a:solidFill>
                <a:latin typeface="Quicksand"/>
              </a:rPr>
              <a:t>Median multiple a year ago, today and over three years, same companies at each point</a:t>
            </a:r>
          </a:p>
        </p:txBody>
      </p:sp>
      <p:graphicFrame>
        <p:nvGraphicFramePr>
          <p:cNvPr id="19" name="Chart: enterprise value to EBITDA by focus area"/>
          <p:cNvGraphicFramePr>
            <a:graphicFrameLocks noGrp="1"/>
          </p:cNvGraphicFramePr>
          <p:nvPr/>
        </p:nvGraphicFramePr>
        <p:xfrm>
          <a:off x="3543300" y="1909762"/>
          <a:ext cx="3200400" cy="3048000"/>
        </p:xfrm>
        <a:graphic>
          <a:graphicData uri="http://schemas.openxmlformats.org/drawingml/2006/chart">
            <c:chart xmlns:c="http://schemas.openxmlformats.org/drawingml/2006/chart" r:id="rId3"/>
          </a:graphicData>
        </a:graphic>
      </p:graphicFrame>
      <p:sp>
        <p:nvSpPr>
          <p:cNvPr id="20" name="Panel"/>
          <p:cNvSpPr/>
          <p:nvPr/>
        </p:nvSpPr>
        <p:spPr>
          <a:xfrm>
            <a:off x="7029450" y="1238250"/>
            <a:ext cx="2609850" cy="3886200"/>
          </a:xfrm>
          <a:prstGeom prst="rect">
            <a:avLst/>
          </a:prstGeom>
          <a:solidFill>
            <a:srgbClr val="1B1A1A"/>
          </a:solidFill>
          <a:ln>
            <a:noFill/>
          </a:ln>
        </p:spPr>
        <p:txBody>
          <a:bodyPr rtlCol="0" anchor="ctr"/>
          <a:lstStyle/>
          <a:p>
            <a:pPr algn="ctr"/>
          </a:p>
        </p:txBody>
      </p:sp>
      <p:sp>
        <p:nvSpPr>
          <p:cNvPr id="21" name="TextBox 20"/>
          <p:cNvSpPr txBox="1"/>
          <p:nvPr/>
        </p:nvSpPr>
        <p:spPr>
          <a:xfrm>
            <a:off x="7181850" y="1375124"/>
            <a:ext cx="2115741" cy="104775"/>
          </a:xfrm>
          <a:prstGeom prst="rect">
            <a:avLst/>
          </a:prstGeom>
          <a:noFill/>
        </p:spPr>
        <p:txBody>
          <a:bodyPr wrap="none" lIns="0" rIns="0" tIns="0" bIns="0" anchor="t">
            <a:noAutofit/>
          </a:bodyPr>
          <a:lstStyle/>
          <a:p>
            <a:pPr algn="l">
              <a:lnSpc>
                <a:spcPts val="975"/>
              </a:lnSpc>
              <a:spcBef>
                <a:spcPts val="0"/>
              </a:spcBef>
              <a:spcAft>
                <a:spcPts val="0"/>
              </a:spcAft>
            </a:pPr>
            <a:r>
              <a:rPr sz="638" b="1" i="0" spc="150">
                <a:solidFill>
                  <a:srgbClr val="D3AE84"/>
                </a:solidFill>
                <a:latin typeface="Quicksand"/>
              </a:rPr>
              <a:t>PRIVATE-MARKET REFERENCE POINTS</a:t>
            </a:r>
          </a:p>
        </p:txBody>
      </p:sp>
      <p:sp>
        <p:nvSpPr>
          <p:cNvPr id="22" name="Rule"/>
          <p:cNvSpPr/>
          <p:nvPr/>
        </p:nvSpPr>
        <p:spPr>
          <a:xfrm>
            <a:off x="7181850" y="1590675"/>
            <a:ext cx="2305050" cy="9525"/>
          </a:xfrm>
          <a:prstGeom prst="rect">
            <a:avLst/>
          </a:prstGeom>
          <a:solidFill>
            <a:srgbClr val="FFFFFF">
              <a:alpha val="16000"/>
            </a:srgbClr>
          </a:solidFill>
          <a:ln>
            <a:noFill/>
          </a:ln>
        </p:spPr>
        <p:txBody>
          <a:bodyPr rtlCol="0" anchor="ctr"/>
          <a:lstStyle/>
          <a:p>
            <a:pPr algn="ctr"/>
          </a:p>
        </p:txBody>
      </p:sp>
      <p:sp>
        <p:nvSpPr>
          <p:cNvPr id="23" name="TextBox 22"/>
          <p:cNvSpPr txBox="1"/>
          <p:nvPr/>
        </p:nvSpPr>
        <p:spPr>
          <a:xfrm>
            <a:off x="7181850" y="1684782"/>
            <a:ext cx="754112" cy="266700"/>
          </a:xfrm>
          <a:prstGeom prst="rect">
            <a:avLst/>
          </a:prstGeom>
          <a:noFill/>
        </p:spPr>
        <p:txBody>
          <a:bodyPr wrap="none" lIns="0" rIns="0" tIns="0" bIns="0" anchor="t">
            <a:noAutofit/>
          </a:bodyPr>
          <a:lstStyle/>
          <a:p>
            <a:pPr algn="l">
              <a:lnSpc>
                <a:spcPts val="2250"/>
              </a:lnSpc>
              <a:spcBef>
                <a:spcPts val="0"/>
              </a:spcBef>
              <a:spcAft>
                <a:spcPts val="0"/>
              </a:spcAft>
            </a:pPr>
            <a:r>
              <a:rPr sz="2100" b="1" i="0">
                <a:solidFill>
                  <a:srgbClr val="D3AE84"/>
                </a:solidFill>
                <a:latin typeface="Newsreader"/>
              </a:rPr>
              <a:t>12.5x</a:t>
            </a:r>
          </a:p>
        </p:txBody>
      </p:sp>
      <p:sp>
        <p:nvSpPr>
          <p:cNvPr id="24" name="TextBox 23"/>
          <p:cNvSpPr txBox="1"/>
          <p:nvPr/>
        </p:nvSpPr>
        <p:spPr>
          <a:xfrm>
            <a:off x="7181850" y="1998440"/>
            <a:ext cx="2381250" cy="276225"/>
          </a:xfrm>
          <a:prstGeom prst="rect">
            <a:avLst/>
          </a:prstGeom>
          <a:noFill/>
        </p:spPr>
        <p:txBody>
          <a:bodyPr wrap="square" lIns="0" rIns="0" tIns="0" bIns="0" anchor="t">
            <a:noAutofit/>
          </a:bodyPr>
          <a:lstStyle/>
          <a:p>
            <a:pPr algn="l">
              <a:lnSpc>
                <a:spcPts val="1125"/>
              </a:lnSpc>
              <a:spcBef>
                <a:spcPts val="0"/>
              </a:spcBef>
              <a:spcAft>
                <a:spcPts val="0"/>
              </a:spcAft>
            </a:pPr>
            <a:r>
              <a:rPr sz="788" b="0" i="0" spc="15">
                <a:solidFill>
                  <a:srgbClr val="E8E2DA"/>
                </a:solidFill>
                <a:latin typeface="Quicksand"/>
              </a:rPr>
              <a:t>Median US buyout multiple of EBITDA in 2025 (</a:t>
            </a:r>
            <a:r>
              <a:rPr sz="788" b="0" i="0" spc="15" u="sng">
                <a:solidFill>
                  <a:srgbClr val="D3AE84"/>
                </a:solidFill>
                <a:latin typeface="Quicksand"/>
                <a:hlinkClick r:id="rId4">
                  <a:extLst>
                    <a:ext uri="{A12FA001-AC4F-418D-AE19-62706E023703}">
                      <ahyp:hlinkClr xmlns:ahyp="http://schemas.microsoft.com/office/drawing/2018/hyperlinkcolor" val="tx"/>
                    </a:ext>
                  </a:extLst>
                </a:hlinkClick>
              </a:rPr>
              <a:t>PitchBook</a:t>
            </a:r>
            <a:r>
              <a:rPr sz="788" b="0" i="0" spc="15">
                <a:solidFill>
                  <a:srgbClr val="E8E2DA"/>
                </a:solidFill>
                <a:latin typeface="Quicksand"/>
              </a:rPr>
              <a:t>)</a:t>
            </a:r>
          </a:p>
        </p:txBody>
      </p:sp>
      <p:sp>
        <p:nvSpPr>
          <p:cNvPr id="25" name="Rule"/>
          <p:cNvSpPr/>
          <p:nvPr/>
        </p:nvSpPr>
        <p:spPr>
          <a:xfrm>
            <a:off x="7181850" y="2409825"/>
            <a:ext cx="2305050" cy="9525"/>
          </a:xfrm>
          <a:prstGeom prst="rect">
            <a:avLst/>
          </a:prstGeom>
          <a:solidFill>
            <a:srgbClr val="FFFFFF">
              <a:alpha val="16000"/>
            </a:srgbClr>
          </a:solidFill>
          <a:ln>
            <a:noFill/>
          </a:ln>
        </p:spPr>
        <p:txBody>
          <a:bodyPr rtlCol="0" anchor="ctr"/>
          <a:lstStyle/>
          <a:p>
            <a:pPr algn="ctr"/>
          </a:p>
        </p:txBody>
      </p:sp>
      <p:sp>
        <p:nvSpPr>
          <p:cNvPr id="26" name="TextBox 25"/>
          <p:cNvSpPr txBox="1"/>
          <p:nvPr/>
        </p:nvSpPr>
        <p:spPr>
          <a:xfrm>
            <a:off x="7181850" y="2503932"/>
            <a:ext cx="591145" cy="266700"/>
          </a:xfrm>
          <a:prstGeom prst="rect">
            <a:avLst/>
          </a:prstGeom>
          <a:noFill/>
        </p:spPr>
        <p:txBody>
          <a:bodyPr wrap="none" lIns="0" rIns="0" tIns="0" bIns="0" anchor="t">
            <a:noAutofit/>
          </a:bodyPr>
          <a:lstStyle/>
          <a:p>
            <a:pPr algn="l">
              <a:lnSpc>
                <a:spcPts val="2250"/>
              </a:lnSpc>
              <a:spcBef>
                <a:spcPts val="0"/>
              </a:spcBef>
              <a:spcAft>
                <a:spcPts val="0"/>
              </a:spcAft>
            </a:pPr>
            <a:r>
              <a:rPr sz="2100" b="1" i="0">
                <a:solidFill>
                  <a:srgbClr val="D3AE84"/>
                </a:solidFill>
                <a:latin typeface="Newsreader"/>
              </a:rPr>
              <a:t>7.0x</a:t>
            </a:r>
          </a:p>
        </p:txBody>
      </p:sp>
      <p:sp>
        <p:nvSpPr>
          <p:cNvPr id="27" name="TextBox 26"/>
          <p:cNvSpPr txBox="1"/>
          <p:nvPr/>
        </p:nvSpPr>
        <p:spPr>
          <a:xfrm>
            <a:off x="7181850" y="2817590"/>
            <a:ext cx="2381250" cy="419100"/>
          </a:xfrm>
          <a:prstGeom prst="rect">
            <a:avLst/>
          </a:prstGeom>
          <a:noFill/>
        </p:spPr>
        <p:txBody>
          <a:bodyPr wrap="square" lIns="0" rIns="0" tIns="0" bIns="0" anchor="t">
            <a:noAutofit/>
          </a:bodyPr>
          <a:lstStyle/>
          <a:p>
            <a:pPr algn="l">
              <a:lnSpc>
                <a:spcPts val="1125"/>
              </a:lnSpc>
              <a:spcBef>
                <a:spcPts val="0"/>
              </a:spcBef>
              <a:spcAft>
                <a:spcPts val="0"/>
              </a:spcAft>
            </a:pPr>
            <a:r>
              <a:rPr sz="788" b="0" i="0" spc="15">
                <a:solidFill>
                  <a:srgbClr val="E8E2DA"/>
                </a:solidFill>
                <a:latin typeface="Quicksand"/>
              </a:rPr>
              <a:t>Average for completed middle-market transactions in all industries, second quarter of 2026 (</a:t>
            </a:r>
            <a:r>
              <a:rPr sz="788" b="0" i="0" spc="15" u="sng">
                <a:solidFill>
                  <a:srgbClr val="D3AE84"/>
                </a:solidFill>
                <a:latin typeface="Quicksand"/>
                <a:hlinkClick r:id="rId5">
                  <a:extLst>
                    <a:ext uri="{A12FA001-AC4F-418D-AE19-62706E023703}">
                      <ahyp:hlinkClr xmlns:ahyp="http://schemas.microsoft.com/office/drawing/2018/hyperlinkcolor" val="tx"/>
                    </a:ext>
                  </a:extLst>
                </a:hlinkClick>
              </a:rPr>
              <a:t>GF Data via ACG</a:t>
            </a:r>
            <a:r>
              <a:rPr sz="788" b="0" i="0" spc="15">
                <a:solidFill>
                  <a:srgbClr val="E8E2DA"/>
                </a:solidFill>
                <a:latin typeface="Quicksand"/>
              </a:rPr>
              <a:t>)</a:t>
            </a:r>
          </a:p>
        </p:txBody>
      </p:sp>
      <p:sp>
        <p:nvSpPr>
          <p:cNvPr id="28" name="Rule"/>
          <p:cNvSpPr/>
          <p:nvPr/>
        </p:nvSpPr>
        <p:spPr>
          <a:xfrm>
            <a:off x="7181850" y="3371850"/>
            <a:ext cx="2305050" cy="9525"/>
          </a:xfrm>
          <a:prstGeom prst="rect">
            <a:avLst/>
          </a:prstGeom>
          <a:solidFill>
            <a:srgbClr val="FFFFFF">
              <a:alpha val="16000"/>
            </a:srgbClr>
          </a:solidFill>
          <a:ln>
            <a:noFill/>
          </a:ln>
        </p:spPr>
        <p:txBody>
          <a:bodyPr rtlCol="0" anchor="ctr"/>
          <a:lstStyle/>
          <a:p>
            <a:pPr algn="ctr"/>
          </a:p>
        </p:txBody>
      </p:sp>
      <p:sp>
        <p:nvSpPr>
          <p:cNvPr id="29" name="TextBox 28"/>
          <p:cNvSpPr txBox="1"/>
          <p:nvPr/>
        </p:nvSpPr>
        <p:spPr>
          <a:xfrm>
            <a:off x="7181850" y="3465957"/>
            <a:ext cx="591145" cy="266700"/>
          </a:xfrm>
          <a:prstGeom prst="rect">
            <a:avLst/>
          </a:prstGeom>
          <a:noFill/>
        </p:spPr>
        <p:txBody>
          <a:bodyPr wrap="none" lIns="0" rIns="0" tIns="0" bIns="0" anchor="t">
            <a:noAutofit/>
          </a:bodyPr>
          <a:lstStyle/>
          <a:p>
            <a:pPr algn="l">
              <a:lnSpc>
                <a:spcPts val="2250"/>
              </a:lnSpc>
              <a:spcBef>
                <a:spcPts val="0"/>
              </a:spcBef>
              <a:spcAft>
                <a:spcPts val="0"/>
              </a:spcAft>
            </a:pPr>
            <a:r>
              <a:rPr sz="2100" b="1" i="0">
                <a:solidFill>
                  <a:srgbClr val="D3AE84"/>
                </a:solidFill>
                <a:latin typeface="Newsreader"/>
              </a:rPr>
              <a:t>5.8x</a:t>
            </a:r>
          </a:p>
        </p:txBody>
      </p:sp>
      <p:sp>
        <p:nvSpPr>
          <p:cNvPr id="30" name="TextBox 29"/>
          <p:cNvSpPr txBox="1"/>
          <p:nvPr/>
        </p:nvSpPr>
        <p:spPr>
          <a:xfrm>
            <a:off x="7181850" y="3779615"/>
            <a:ext cx="2381250" cy="419100"/>
          </a:xfrm>
          <a:prstGeom prst="rect">
            <a:avLst/>
          </a:prstGeom>
          <a:noFill/>
        </p:spPr>
        <p:txBody>
          <a:bodyPr wrap="square" lIns="0" rIns="0" tIns="0" bIns="0" anchor="t">
            <a:noAutofit/>
          </a:bodyPr>
          <a:lstStyle/>
          <a:p>
            <a:pPr algn="l">
              <a:lnSpc>
                <a:spcPts val="1125"/>
              </a:lnSpc>
              <a:spcBef>
                <a:spcPts val="0"/>
              </a:spcBef>
              <a:spcAft>
                <a:spcPts val="0"/>
              </a:spcAft>
            </a:pPr>
            <a:r>
              <a:rPr sz="788" b="0" i="0" spc="15">
                <a:solidFill>
                  <a:srgbClr val="E8E2DA"/>
                </a:solidFill>
                <a:latin typeface="Quicksand"/>
              </a:rPr>
              <a:t>Transactions of $5 million to $50 million in all industries, second quarter of 2026 (</a:t>
            </a:r>
            <a:r>
              <a:rPr sz="788" b="0" i="0" spc="15" u="sng">
                <a:solidFill>
                  <a:srgbClr val="D3AE84"/>
                </a:solidFill>
                <a:latin typeface="Quicksand"/>
                <a:hlinkClick r:id="rId6">
                  <a:extLst>
                    <a:ext uri="{A12FA001-AC4F-418D-AE19-62706E023703}">
                      <ahyp:hlinkClr xmlns:ahyp="http://schemas.microsoft.com/office/drawing/2018/hyperlinkcolor" val="tx"/>
                    </a:ext>
                  </a:extLst>
                </a:hlinkClick>
              </a:rPr>
              <a:t>IBBA and M&amp;A Source</a:t>
            </a:r>
            <a:r>
              <a:rPr sz="788" b="0" i="0" spc="15">
                <a:solidFill>
                  <a:srgbClr val="E8E2DA"/>
                </a:solidFill>
                <a:latin typeface="Quicksand"/>
              </a:rPr>
              <a:t>)</a:t>
            </a:r>
          </a:p>
        </p:txBody>
      </p:sp>
      <p:sp>
        <p:nvSpPr>
          <p:cNvPr id="31" name="Rule"/>
          <p:cNvSpPr/>
          <p:nvPr/>
        </p:nvSpPr>
        <p:spPr>
          <a:xfrm>
            <a:off x="7181850" y="4333875"/>
            <a:ext cx="2305050" cy="9525"/>
          </a:xfrm>
          <a:prstGeom prst="rect">
            <a:avLst/>
          </a:prstGeom>
          <a:solidFill>
            <a:srgbClr val="FFFFFF">
              <a:alpha val="16000"/>
            </a:srgbClr>
          </a:solidFill>
          <a:ln>
            <a:noFill/>
          </a:ln>
        </p:spPr>
        <p:txBody>
          <a:bodyPr rtlCol="0" anchor="ctr"/>
          <a:lstStyle/>
          <a:p>
            <a:pPr algn="ctr"/>
          </a:p>
        </p:txBody>
      </p:sp>
      <p:sp>
        <p:nvSpPr>
          <p:cNvPr id="32" name="TextBox 31"/>
          <p:cNvSpPr txBox="1"/>
          <p:nvPr/>
        </p:nvSpPr>
        <p:spPr>
          <a:xfrm>
            <a:off x="7181850" y="4414838"/>
            <a:ext cx="2381250" cy="614362"/>
          </a:xfrm>
          <a:prstGeom prst="rect">
            <a:avLst/>
          </a:prstGeom>
          <a:noFill/>
        </p:spPr>
        <p:txBody>
          <a:bodyPr wrap="square" lIns="0" rIns="0" tIns="0" bIns="0" anchor="t">
            <a:noAutofit/>
          </a:bodyPr>
          <a:lstStyle/>
          <a:p>
            <a:pPr algn="l">
              <a:lnSpc>
                <a:spcPts val="1312"/>
              </a:lnSpc>
              <a:spcBef>
                <a:spcPts val="0"/>
              </a:spcBef>
              <a:spcAft>
                <a:spcPts val="0"/>
              </a:spcAft>
            </a:pPr>
            <a:r>
              <a:rPr sz="938" b="0" i="1">
                <a:solidFill>
                  <a:srgbClr val="FFFFFF"/>
                </a:solidFill>
                <a:latin typeface="Newsreader"/>
              </a:rPr>
              <a:t>Listed multiples describe companies many times larger than a founder-owned business and show relative standing among the focus areas.</a:t>
            </a:r>
          </a:p>
        </p:txBody>
      </p:sp>
      <p:sp>
        <p:nvSpPr>
          <p:cNvPr id="33" name="TextBox 32"/>
          <p:cNvSpPr txBox="1"/>
          <p:nvPr/>
        </p:nvSpPr>
        <p:spPr>
          <a:xfrm>
            <a:off x="419100" y="5261324"/>
            <a:ext cx="2324546" cy="104775"/>
          </a:xfrm>
          <a:prstGeom prst="rect">
            <a:avLst/>
          </a:prstGeom>
          <a:noFill/>
        </p:spPr>
        <p:txBody>
          <a:bodyPr wrap="none" lIns="0" rIns="0" tIns="0" bIns="0" anchor="t">
            <a:noAutofit/>
          </a:bodyPr>
          <a:lstStyle/>
          <a:p>
            <a:pPr algn="l">
              <a:lnSpc>
                <a:spcPts val="975"/>
              </a:lnSpc>
              <a:spcBef>
                <a:spcPts val="0"/>
              </a:spcBef>
              <a:spcAft>
                <a:spcPts val="0"/>
              </a:spcAft>
            </a:pPr>
            <a:r>
              <a:rPr sz="638" b="1" i="0" spc="150">
                <a:solidFill>
                  <a:srgbClr val="6F6A66"/>
                </a:solidFill>
                <a:latin typeface="Quicksand"/>
              </a:rPr>
              <a:t>LISTED COMPANIES IN EACH PEER GROUP</a:t>
            </a:r>
          </a:p>
        </p:txBody>
      </p:sp>
      <p:sp>
        <p:nvSpPr>
          <p:cNvPr id="34" name="Panel"/>
          <p:cNvSpPr/>
          <p:nvPr/>
        </p:nvSpPr>
        <p:spPr>
          <a:xfrm>
            <a:off x="423862" y="5472112"/>
            <a:ext cx="1447800" cy="1276350"/>
          </a:xfrm>
          <a:prstGeom prst="rect">
            <a:avLst/>
          </a:prstGeom>
          <a:noFill/>
          <a:ln w="9525">
            <a:solidFill>
              <a:srgbClr val="E3DCD3"/>
            </a:solidFill>
          </a:ln>
        </p:spPr>
        <p:txBody>
          <a:bodyPr rtlCol="0" anchor="ctr"/>
          <a:lstStyle/>
          <a:p>
            <a:pPr algn="ctr"/>
          </a:p>
        </p:txBody>
      </p:sp>
      <p:sp>
        <p:nvSpPr>
          <p:cNvPr id="35" name="TextBox 34"/>
          <p:cNvSpPr txBox="1"/>
          <p:nvPr/>
        </p:nvSpPr>
        <p:spPr>
          <a:xfrm>
            <a:off x="514350" y="5541264"/>
            <a:ext cx="1209229" cy="95250"/>
          </a:xfrm>
          <a:prstGeom prst="rect">
            <a:avLst/>
          </a:prstGeom>
          <a:noFill/>
        </p:spPr>
        <p:txBody>
          <a:bodyPr wrap="none" lIns="0" rIns="0" tIns="0" bIns="0" anchor="t">
            <a:noAutofit/>
          </a:bodyPr>
          <a:lstStyle/>
          <a:p>
            <a:pPr algn="l">
              <a:lnSpc>
                <a:spcPts val="975"/>
              </a:lnSpc>
              <a:spcBef>
                <a:spcPts val="0"/>
              </a:spcBef>
              <a:spcAft>
                <a:spcPts val="0"/>
              </a:spcAft>
            </a:pPr>
            <a:r>
              <a:rPr sz="600" b="1" i="0" spc="150">
                <a:solidFill>
                  <a:srgbClr val="1B1A1A"/>
                </a:solidFill>
                <a:latin typeface="Quicksand"/>
              </a:rPr>
              <a:t>MANAGED IT &amp; CLOUD</a:t>
            </a:r>
          </a:p>
        </p:txBody>
      </p:sp>
      <p:pic>
        <p:nvPicPr>
          <p:cNvPr id="36" name="CDW" descr="CDW"/>
          <p:cNvPicPr>
            <a:picLocks noChangeAspect="1"/>
          </p:cNvPicPr>
          <p:nvPr/>
        </p:nvPicPr>
        <p:blipFill>
          <a:blip r:embed="rId7"/>
          <a:stretch>
            <a:fillRect/>
          </a:stretch>
        </p:blipFill>
        <p:spPr>
          <a:xfrm>
            <a:off x="514350" y="5753100"/>
            <a:ext cx="228600" cy="228600"/>
          </a:xfrm>
          <a:prstGeom prst="rect">
            <a:avLst/>
          </a:prstGeom>
        </p:spPr>
      </p:pic>
      <p:pic>
        <p:nvPicPr>
          <p:cNvPr id="37" name="Insight Enterprises" descr="Insight Enterprises"/>
          <p:cNvPicPr>
            <a:picLocks noChangeAspect="1"/>
          </p:cNvPicPr>
          <p:nvPr/>
        </p:nvPicPr>
        <p:blipFill>
          <a:blip r:embed="rId8"/>
          <a:stretch>
            <a:fillRect/>
          </a:stretch>
        </p:blipFill>
        <p:spPr>
          <a:xfrm>
            <a:off x="790575" y="5753100"/>
            <a:ext cx="228600" cy="228600"/>
          </a:xfrm>
          <a:prstGeom prst="rect">
            <a:avLst/>
          </a:prstGeom>
        </p:spPr>
      </p:pic>
      <p:pic>
        <p:nvPicPr>
          <p:cNvPr id="38" name="ePlus" descr="ePlus"/>
          <p:cNvPicPr>
            <a:picLocks noChangeAspect="1"/>
          </p:cNvPicPr>
          <p:nvPr/>
        </p:nvPicPr>
        <p:blipFill>
          <a:blip r:embed="rId9"/>
          <a:stretch>
            <a:fillRect/>
          </a:stretch>
        </p:blipFill>
        <p:spPr>
          <a:xfrm>
            <a:off x="1066800" y="5753100"/>
            <a:ext cx="228600" cy="228600"/>
          </a:xfrm>
          <a:prstGeom prst="rect">
            <a:avLst/>
          </a:prstGeom>
        </p:spPr>
      </p:pic>
      <p:pic>
        <p:nvPicPr>
          <p:cNvPr id="39" name="PC Connection" descr="PC Connection"/>
          <p:cNvPicPr>
            <a:picLocks noChangeAspect="1"/>
          </p:cNvPicPr>
          <p:nvPr/>
        </p:nvPicPr>
        <p:blipFill>
          <a:blip r:embed="rId10"/>
          <a:stretch>
            <a:fillRect/>
          </a:stretch>
        </p:blipFill>
        <p:spPr>
          <a:xfrm>
            <a:off x="1343025" y="5753100"/>
            <a:ext cx="228600" cy="228600"/>
          </a:xfrm>
          <a:prstGeom prst="rect">
            <a:avLst/>
          </a:prstGeom>
        </p:spPr>
      </p:pic>
      <p:pic>
        <p:nvPicPr>
          <p:cNvPr id="40" name="Kyndryl" descr="Kyndryl"/>
          <p:cNvPicPr>
            <a:picLocks noChangeAspect="1"/>
          </p:cNvPicPr>
          <p:nvPr/>
        </p:nvPicPr>
        <p:blipFill>
          <a:blip r:embed="rId11"/>
          <a:stretch>
            <a:fillRect/>
          </a:stretch>
        </p:blipFill>
        <p:spPr>
          <a:xfrm>
            <a:off x="514350" y="6029325"/>
            <a:ext cx="228600" cy="228600"/>
          </a:xfrm>
          <a:prstGeom prst="rect">
            <a:avLst/>
          </a:prstGeom>
        </p:spPr>
      </p:pic>
      <p:pic>
        <p:nvPicPr>
          <p:cNvPr id="41" name="DXC Technology" descr="DXC Technology"/>
          <p:cNvPicPr>
            <a:picLocks noChangeAspect="1"/>
          </p:cNvPicPr>
          <p:nvPr/>
        </p:nvPicPr>
        <p:blipFill>
          <a:blip r:embed="rId12"/>
          <a:stretch>
            <a:fillRect/>
          </a:stretch>
        </p:blipFill>
        <p:spPr>
          <a:xfrm>
            <a:off x="790575" y="6029325"/>
            <a:ext cx="228600" cy="228600"/>
          </a:xfrm>
          <a:prstGeom prst="rect">
            <a:avLst/>
          </a:prstGeom>
        </p:spPr>
      </p:pic>
      <p:pic>
        <p:nvPicPr>
          <p:cNvPr id="42" name="Accenture" descr="Accenture"/>
          <p:cNvPicPr>
            <a:picLocks noChangeAspect="1"/>
          </p:cNvPicPr>
          <p:nvPr/>
        </p:nvPicPr>
        <p:blipFill>
          <a:blip r:embed="rId13"/>
          <a:stretch>
            <a:fillRect/>
          </a:stretch>
        </p:blipFill>
        <p:spPr>
          <a:xfrm>
            <a:off x="1066800" y="6029325"/>
            <a:ext cx="228600" cy="228600"/>
          </a:xfrm>
          <a:prstGeom prst="rect">
            <a:avLst/>
          </a:prstGeom>
        </p:spPr>
      </p:pic>
      <p:pic>
        <p:nvPicPr>
          <p:cNvPr id="43" name="Cognizant" descr="Cognizant"/>
          <p:cNvPicPr>
            <a:picLocks noChangeAspect="1"/>
          </p:cNvPicPr>
          <p:nvPr/>
        </p:nvPicPr>
        <p:blipFill>
          <a:blip r:embed="rId14"/>
          <a:stretch>
            <a:fillRect/>
          </a:stretch>
        </p:blipFill>
        <p:spPr>
          <a:xfrm>
            <a:off x="1343025" y="6029325"/>
            <a:ext cx="228600" cy="228600"/>
          </a:xfrm>
          <a:prstGeom prst="rect">
            <a:avLst/>
          </a:prstGeom>
        </p:spPr>
      </p:pic>
      <p:pic>
        <p:nvPicPr>
          <p:cNvPr id="44" name="EPAM Systems" descr="EPAM Systems"/>
          <p:cNvPicPr>
            <a:picLocks noChangeAspect="1"/>
          </p:cNvPicPr>
          <p:nvPr/>
        </p:nvPicPr>
        <p:blipFill>
          <a:blip r:embed="rId15"/>
          <a:stretch>
            <a:fillRect/>
          </a:stretch>
        </p:blipFill>
        <p:spPr>
          <a:xfrm>
            <a:off x="514350" y="6305550"/>
            <a:ext cx="228600" cy="228600"/>
          </a:xfrm>
          <a:prstGeom prst="rect">
            <a:avLst/>
          </a:prstGeom>
        </p:spPr>
      </p:pic>
      <p:sp>
        <p:nvSpPr>
          <p:cNvPr id="45" name="Panel"/>
          <p:cNvSpPr/>
          <p:nvPr/>
        </p:nvSpPr>
        <p:spPr>
          <a:xfrm>
            <a:off x="1976438" y="5472112"/>
            <a:ext cx="1447800" cy="1276350"/>
          </a:xfrm>
          <a:prstGeom prst="rect">
            <a:avLst/>
          </a:prstGeom>
          <a:noFill/>
          <a:ln w="9525">
            <a:solidFill>
              <a:srgbClr val="E3DCD3"/>
            </a:solidFill>
          </a:ln>
        </p:spPr>
        <p:txBody>
          <a:bodyPr rtlCol="0" anchor="ctr"/>
          <a:lstStyle/>
          <a:p>
            <a:pPr algn="ctr"/>
          </a:p>
        </p:txBody>
      </p:sp>
      <p:sp>
        <p:nvSpPr>
          <p:cNvPr id="46" name="TextBox 45"/>
          <p:cNvSpPr txBox="1"/>
          <p:nvPr/>
        </p:nvSpPr>
        <p:spPr>
          <a:xfrm>
            <a:off x="2066925" y="5541264"/>
            <a:ext cx="901601" cy="95250"/>
          </a:xfrm>
          <a:prstGeom prst="rect">
            <a:avLst/>
          </a:prstGeom>
          <a:noFill/>
        </p:spPr>
        <p:txBody>
          <a:bodyPr wrap="none" lIns="0" rIns="0" tIns="0" bIns="0" anchor="t">
            <a:noAutofit/>
          </a:bodyPr>
          <a:lstStyle/>
          <a:p>
            <a:pPr algn="l">
              <a:lnSpc>
                <a:spcPts val="975"/>
              </a:lnSpc>
              <a:spcBef>
                <a:spcPts val="0"/>
              </a:spcBef>
              <a:spcAft>
                <a:spcPts val="0"/>
              </a:spcAft>
            </a:pPr>
            <a:r>
              <a:rPr sz="600" b="1" i="0" spc="150">
                <a:solidFill>
                  <a:srgbClr val="1B1A1A"/>
                </a:solidFill>
                <a:latin typeface="Quicksand"/>
              </a:rPr>
              <a:t>CYBERSECURITY</a:t>
            </a:r>
          </a:p>
        </p:txBody>
      </p:sp>
      <p:pic>
        <p:nvPicPr>
          <p:cNvPr id="47" name="CrowdStrike" descr="CrowdStrike"/>
          <p:cNvPicPr>
            <a:picLocks noChangeAspect="1"/>
          </p:cNvPicPr>
          <p:nvPr/>
        </p:nvPicPr>
        <p:blipFill>
          <a:blip r:embed="rId16"/>
          <a:stretch>
            <a:fillRect/>
          </a:stretch>
        </p:blipFill>
        <p:spPr>
          <a:xfrm>
            <a:off x="2066925" y="5753100"/>
            <a:ext cx="228600" cy="228600"/>
          </a:xfrm>
          <a:prstGeom prst="rect">
            <a:avLst/>
          </a:prstGeom>
        </p:spPr>
      </p:pic>
      <p:pic>
        <p:nvPicPr>
          <p:cNvPr id="48" name="Palo Alto Networks" descr="Palo Alto Networks"/>
          <p:cNvPicPr>
            <a:picLocks noChangeAspect="1"/>
          </p:cNvPicPr>
          <p:nvPr/>
        </p:nvPicPr>
        <p:blipFill>
          <a:blip r:embed="rId17"/>
          <a:stretch>
            <a:fillRect/>
          </a:stretch>
        </p:blipFill>
        <p:spPr>
          <a:xfrm>
            <a:off x="2343150" y="5753100"/>
            <a:ext cx="228600" cy="228600"/>
          </a:xfrm>
          <a:prstGeom prst="rect">
            <a:avLst/>
          </a:prstGeom>
        </p:spPr>
      </p:pic>
      <p:pic>
        <p:nvPicPr>
          <p:cNvPr id="49" name="Fortinet" descr="Fortinet"/>
          <p:cNvPicPr>
            <a:picLocks noChangeAspect="1"/>
          </p:cNvPicPr>
          <p:nvPr/>
        </p:nvPicPr>
        <p:blipFill>
          <a:blip r:embed="rId18"/>
          <a:stretch>
            <a:fillRect/>
          </a:stretch>
        </p:blipFill>
        <p:spPr>
          <a:xfrm>
            <a:off x="2619375" y="5753100"/>
            <a:ext cx="228600" cy="228600"/>
          </a:xfrm>
          <a:prstGeom prst="rect">
            <a:avLst/>
          </a:prstGeom>
        </p:spPr>
      </p:pic>
      <p:pic>
        <p:nvPicPr>
          <p:cNvPr id="50" name="Zscaler" descr="Zscaler"/>
          <p:cNvPicPr>
            <a:picLocks noChangeAspect="1"/>
          </p:cNvPicPr>
          <p:nvPr/>
        </p:nvPicPr>
        <p:blipFill>
          <a:blip r:embed="rId19"/>
          <a:stretch>
            <a:fillRect/>
          </a:stretch>
        </p:blipFill>
        <p:spPr>
          <a:xfrm>
            <a:off x="2895600" y="5753100"/>
            <a:ext cx="228600" cy="228600"/>
          </a:xfrm>
          <a:prstGeom prst="rect">
            <a:avLst/>
          </a:prstGeom>
        </p:spPr>
      </p:pic>
      <p:pic>
        <p:nvPicPr>
          <p:cNvPr id="51" name="Okta" descr="Okta"/>
          <p:cNvPicPr>
            <a:picLocks noChangeAspect="1"/>
          </p:cNvPicPr>
          <p:nvPr/>
        </p:nvPicPr>
        <p:blipFill>
          <a:blip r:embed="rId20"/>
          <a:stretch>
            <a:fillRect/>
          </a:stretch>
        </p:blipFill>
        <p:spPr>
          <a:xfrm>
            <a:off x="2066925" y="6029325"/>
            <a:ext cx="228600" cy="228600"/>
          </a:xfrm>
          <a:prstGeom prst="rect">
            <a:avLst/>
          </a:prstGeom>
        </p:spPr>
      </p:pic>
      <p:pic>
        <p:nvPicPr>
          <p:cNvPr id="52" name="Tenable" descr="Tenable"/>
          <p:cNvPicPr>
            <a:picLocks noChangeAspect="1"/>
          </p:cNvPicPr>
          <p:nvPr/>
        </p:nvPicPr>
        <p:blipFill>
          <a:blip r:embed="rId21"/>
          <a:stretch>
            <a:fillRect/>
          </a:stretch>
        </p:blipFill>
        <p:spPr>
          <a:xfrm>
            <a:off x="2343150" y="6029325"/>
            <a:ext cx="228600" cy="228600"/>
          </a:xfrm>
          <a:prstGeom prst="rect">
            <a:avLst/>
          </a:prstGeom>
        </p:spPr>
      </p:pic>
      <p:pic>
        <p:nvPicPr>
          <p:cNvPr id="53" name="Qualys" descr="Qualys"/>
          <p:cNvPicPr>
            <a:picLocks noChangeAspect="1"/>
          </p:cNvPicPr>
          <p:nvPr/>
        </p:nvPicPr>
        <p:blipFill>
          <a:blip r:embed="rId22"/>
          <a:stretch>
            <a:fillRect/>
          </a:stretch>
        </p:blipFill>
        <p:spPr>
          <a:xfrm>
            <a:off x="2619375" y="6029325"/>
            <a:ext cx="228600" cy="228600"/>
          </a:xfrm>
          <a:prstGeom prst="rect">
            <a:avLst/>
          </a:prstGeom>
        </p:spPr>
      </p:pic>
      <p:pic>
        <p:nvPicPr>
          <p:cNvPr id="54" name="Check Point" descr="Check Point"/>
          <p:cNvPicPr>
            <a:picLocks noChangeAspect="1"/>
          </p:cNvPicPr>
          <p:nvPr/>
        </p:nvPicPr>
        <p:blipFill>
          <a:blip r:embed="rId23"/>
          <a:stretch>
            <a:fillRect/>
          </a:stretch>
        </p:blipFill>
        <p:spPr>
          <a:xfrm>
            <a:off x="2895600" y="6029325"/>
            <a:ext cx="228600" cy="228600"/>
          </a:xfrm>
          <a:prstGeom prst="rect">
            <a:avLst/>
          </a:prstGeom>
        </p:spPr>
      </p:pic>
      <p:sp>
        <p:nvSpPr>
          <p:cNvPr id="55" name="Panel"/>
          <p:cNvSpPr/>
          <p:nvPr/>
        </p:nvSpPr>
        <p:spPr>
          <a:xfrm>
            <a:off x="3529012" y="5472112"/>
            <a:ext cx="1447800" cy="1276350"/>
          </a:xfrm>
          <a:prstGeom prst="rect">
            <a:avLst/>
          </a:prstGeom>
          <a:noFill/>
          <a:ln w="9525">
            <a:solidFill>
              <a:srgbClr val="E3DCD3"/>
            </a:solidFill>
          </a:ln>
        </p:spPr>
        <p:txBody>
          <a:bodyPr rtlCol="0" anchor="ctr"/>
          <a:lstStyle/>
          <a:p>
            <a:pPr algn="ctr"/>
          </a:p>
        </p:txBody>
      </p:sp>
      <p:sp>
        <p:nvSpPr>
          <p:cNvPr id="56" name="TextBox 55"/>
          <p:cNvSpPr txBox="1"/>
          <p:nvPr/>
        </p:nvSpPr>
        <p:spPr>
          <a:xfrm>
            <a:off x="3619500" y="5541264"/>
            <a:ext cx="1029742" cy="95250"/>
          </a:xfrm>
          <a:prstGeom prst="rect">
            <a:avLst/>
          </a:prstGeom>
          <a:noFill/>
        </p:spPr>
        <p:txBody>
          <a:bodyPr wrap="none" lIns="0" rIns="0" tIns="0" bIns="0" anchor="t">
            <a:noAutofit/>
          </a:bodyPr>
          <a:lstStyle/>
          <a:p>
            <a:pPr algn="l">
              <a:lnSpc>
                <a:spcPts val="975"/>
              </a:lnSpc>
              <a:spcBef>
                <a:spcPts val="0"/>
              </a:spcBef>
              <a:spcAft>
                <a:spcPts val="0"/>
              </a:spcAft>
            </a:pPr>
            <a:r>
              <a:rPr sz="600" b="1" i="0" spc="150">
                <a:solidFill>
                  <a:srgbClr val="1B1A1A"/>
                </a:solidFill>
                <a:latin typeface="Quicksand"/>
              </a:rPr>
              <a:t>TELECOM &amp; UCAAS</a:t>
            </a:r>
          </a:p>
        </p:txBody>
      </p:sp>
      <p:pic>
        <p:nvPicPr>
          <p:cNvPr id="57" name="RingCentral" descr="RingCentral"/>
          <p:cNvPicPr>
            <a:picLocks noChangeAspect="1"/>
          </p:cNvPicPr>
          <p:nvPr/>
        </p:nvPicPr>
        <p:blipFill>
          <a:blip r:embed="rId24"/>
          <a:stretch>
            <a:fillRect/>
          </a:stretch>
        </p:blipFill>
        <p:spPr>
          <a:xfrm>
            <a:off x="3619500" y="5753100"/>
            <a:ext cx="228600" cy="228600"/>
          </a:xfrm>
          <a:prstGeom prst="rect">
            <a:avLst/>
          </a:prstGeom>
        </p:spPr>
      </p:pic>
      <p:pic>
        <p:nvPicPr>
          <p:cNvPr id="58" name="8x8" descr="8x8"/>
          <p:cNvPicPr>
            <a:picLocks noChangeAspect="1"/>
          </p:cNvPicPr>
          <p:nvPr/>
        </p:nvPicPr>
        <p:blipFill>
          <a:blip r:embed="rId25"/>
          <a:stretch>
            <a:fillRect/>
          </a:stretch>
        </p:blipFill>
        <p:spPr>
          <a:xfrm>
            <a:off x="3895725" y="5753100"/>
            <a:ext cx="228600" cy="228600"/>
          </a:xfrm>
          <a:prstGeom prst="rect">
            <a:avLst/>
          </a:prstGeom>
        </p:spPr>
      </p:pic>
      <p:pic>
        <p:nvPicPr>
          <p:cNvPr id="59" name="Zoom" descr="Zoom"/>
          <p:cNvPicPr>
            <a:picLocks noChangeAspect="1"/>
          </p:cNvPicPr>
          <p:nvPr/>
        </p:nvPicPr>
        <p:blipFill>
          <a:blip r:embed="rId26"/>
          <a:stretch>
            <a:fillRect/>
          </a:stretch>
        </p:blipFill>
        <p:spPr>
          <a:xfrm>
            <a:off x="4171950" y="5753100"/>
            <a:ext cx="228600" cy="228600"/>
          </a:xfrm>
          <a:prstGeom prst="rect">
            <a:avLst/>
          </a:prstGeom>
        </p:spPr>
      </p:pic>
      <p:pic>
        <p:nvPicPr>
          <p:cNvPr id="60" name="Five9" descr="Five9"/>
          <p:cNvPicPr>
            <a:picLocks noChangeAspect="1"/>
          </p:cNvPicPr>
          <p:nvPr/>
        </p:nvPicPr>
        <p:blipFill>
          <a:blip r:embed="rId27"/>
          <a:stretch>
            <a:fillRect/>
          </a:stretch>
        </p:blipFill>
        <p:spPr>
          <a:xfrm>
            <a:off x="4448175" y="5753100"/>
            <a:ext cx="228600" cy="228600"/>
          </a:xfrm>
          <a:prstGeom prst="rect">
            <a:avLst/>
          </a:prstGeom>
        </p:spPr>
      </p:pic>
      <p:pic>
        <p:nvPicPr>
          <p:cNvPr id="61" name="Bandwidth" descr="Bandwidth"/>
          <p:cNvPicPr>
            <a:picLocks noChangeAspect="1"/>
          </p:cNvPicPr>
          <p:nvPr/>
        </p:nvPicPr>
        <p:blipFill>
          <a:blip r:embed="rId28"/>
          <a:stretch>
            <a:fillRect/>
          </a:stretch>
        </p:blipFill>
        <p:spPr>
          <a:xfrm>
            <a:off x="3619500" y="6029325"/>
            <a:ext cx="228600" cy="228600"/>
          </a:xfrm>
          <a:prstGeom prst="rect">
            <a:avLst/>
          </a:prstGeom>
        </p:spPr>
      </p:pic>
      <p:pic>
        <p:nvPicPr>
          <p:cNvPr id="62" name="Ooma" descr="Ooma"/>
          <p:cNvPicPr>
            <a:picLocks noChangeAspect="1"/>
          </p:cNvPicPr>
          <p:nvPr/>
        </p:nvPicPr>
        <p:blipFill>
          <a:blip r:embed="rId29"/>
          <a:stretch>
            <a:fillRect/>
          </a:stretch>
        </p:blipFill>
        <p:spPr>
          <a:xfrm>
            <a:off x="3895725" y="6029325"/>
            <a:ext cx="228600" cy="228600"/>
          </a:xfrm>
          <a:prstGeom prst="rect">
            <a:avLst/>
          </a:prstGeom>
        </p:spPr>
      </p:pic>
      <p:pic>
        <p:nvPicPr>
          <p:cNvPr id="63" name="Crexendo" descr="Crexendo"/>
          <p:cNvPicPr>
            <a:picLocks noChangeAspect="1"/>
          </p:cNvPicPr>
          <p:nvPr/>
        </p:nvPicPr>
        <p:blipFill>
          <a:blip r:embed="rId30"/>
          <a:stretch>
            <a:fillRect/>
          </a:stretch>
        </p:blipFill>
        <p:spPr>
          <a:xfrm>
            <a:off x="4171950" y="6029325"/>
            <a:ext cx="228600" cy="228600"/>
          </a:xfrm>
          <a:prstGeom prst="rect">
            <a:avLst/>
          </a:prstGeom>
        </p:spPr>
      </p:pic>
      <p:pic>
        <p:nvPicPr>
          <p:cNvPr id="64" name="Shenandoah Telecommunications" descr="Shenandoah Telecommunications"/>
          <p:cNvPicPr>
            <a:picLocks noChangeAspect="1"/>
          </p:cNvPicPr>
          <p:nvPr/>
        </p:nvPicPr>
        <p:blipFill>
          <a:blip r:embed="rId31"/>
          <a:stretch>
            <a:fillRect/>
          </a:stretch>
        </p:blipFill>
        <p:spPr>
          <a:xfrm>
            <a:off x="4448175" y="6029325"/>
            <a:ext cx="228600" cy="228600"/>
          </a:xfrm>
          <a:prstGeom prst="rect">
            <a:avLst/>
          </a:prstGeom>
        </p:spPr>
      </p:pic>
      <p:pic>
        <p:nvPicPr>
          <p:cNvPr id="65" name="Telephone and Data Systems" descr="Telephone and Data Systems"/>
          <p:cNvPicPr>
            <a:picLocks noChangeAspect="1"/>
          </p:cNvPicPr>
          <p:nvPr/>
        </p:nvPicPr>
        <p:blipFill>
          <a:blip r:embed="rId32"/>
          <a:stretch>
            <a:fillRect/>
          </a:stretch>
        </p:blipFill>
        <p:spPr>
          <a:xfrm>
            <a:off x="3619500" y="6305550"/>
            <a:ext cx="228600" cy="228600"/>
          </a:xfrm>
          <a:prstGeom prst="rect">
            <a:avLst/>
          </a:prstGeom>
        </p:spPr>
      </p:pic>
      <p:sp>
        <p:nvSpPr>
          <p:cNvPr id="66" name="Panel"/>
          <p:cNvSpPr/>
          <p:nvPr/>
        </p:nvSpPr>
        <p:spPr>
          <a:xfrm>
            <a:off x="5081588" y="5472112"/>
            <a:ext cx="1447800" cy="1276350"/>
          </a:xfrm>
          <a:prstGeom prst="rect">
            <a:avLst/>
          </a:prstGeom>
          <a:noFill/>
          <a:ln w="9525">
            <a:solidFill>
              <a:srgbClr val="E3DCD3"/>
            </a:solidFill>
          </a:ln>
        </p:spPr>
        <p:txBody>
          <a:bodyPr rtlCol="0" anchor="ctr"/>
          <a:lstStyle/>
          <a:p>
            <a:pPr algn="ctr"/>
          </a:p>
        </p:txBody>
      </p:sp>
      <p:sp>
        <p:nvSpPr>
          <p:cNvPr id="67" name="TextBox 66"/>
          <p:cNvSpPr txBox="1"/>
          <p:nvPr/>
        </p:nvSpPr>
        <p:spPr>
          <a:xfrm>
            <a:off x="5172075" y="5541264"/>
            <a:ext cx="1274118" cy="95250"/>
          </a:xfrm>
          <a:prstGeom prst="rect">
            <a:avLst/>
          </a:prstGeom>
          <a:noFill/>
        </p:spPr>
        <p:txBody>
          <a:bodyPr wrap="none" lIns="0" rIns="0" tIns="0" bIns="0" anchor="t">
            <a:noAutofit/>
          </a:bodyPr>
          <a:lstStyle/>
          <a:p>
            <a:pPr algn="l">
              <a:lnSpc>
                <a:spcPts val="975"/>
              </a:lnSpc>
              <a:spcBef>
                <a:spcPts val="0"/>
              </a:spcBef>
              <a:spcAft>
                <a:spcPts val="0"/>
              </a:spcAft>
            </a:pPr>
            <a:r>
              <a:rPr sz="600" b="1" i="0" spc="150">
                <a:solidFill>
                  <a:srgbClr val="1B1A1A"/>
                </a:solidFill>
                <a:latin typeface="Quicksand"/>
              </a:rPr>
              <a:t>SYSTEMS INTEGRATION</a:t>
            </a:r>
          </a:p>
        </p:txBody>
      </p:sp>
      <p:pic>
        <p:nvPicPr>
          <p:cNvPr id="68" name="Wesco" descr="Wesco"/>
          <p:cNvPicPr>
            <a:picLocks noChangeAspect="1"/>
          </p:cNvPicPr>
          <p:nvPr/>
        </p:nvPicPr>
        <p:blipFill>
          <a:blip r:embed="rId33"/>
          <a:stretch>
            <a:fillRect/>
          </a:stretch>
        </p:blipFill>
        <p:spPr>
          <a:xfrm>
            <a:off x="5172075" y="5753100"/>
            <a:ext cx="228600" cy="228600"/>
          </a:xfrm>
          <a:prstGeom prst="rect">
            <a:avLst/>
          </a:prstGeom>
        </p:spPr>
      </p:pic>
      <p:pic>
        <p:nvPicPr>
          <p:cNvPr id="69" name="ScanSource" descr="ScanSource"/>
          <p:cNvPicPr>
            <a:picLocks noChangeAspect="1"/>
          </p:cNvPicPr>
          <p:nvPr/>
        </p:nvPicPr>
        <p:blipFill>
          <a:blip r:embed="rId34"/>
          <a:stretch>
            <a:fillRect/>
          </a:stretch>
        </p:blipFill>
        <p:spPr>
          <a:xfrm>
            <a:off x="5448300" y="5753100"/>
            <a:ext cx="228600" cy="228600"/>
          </a:xfrm>
          <a:prstGeom prst="rect">
            <a:avLst/>
          </a:prstGeom>
        </p:spPr>
      </p:pic>
      <p:pic>
        <p:nvPicPr>
          <p:cNvPr id="70" name="Climb Global Solutions" descr="Climb Global Solutions"/>
          <p:cNvPicPr>
            <a:picLocks noChangeAspect="1"/>
          </p:cNvPicPr>
          <p:nvPr/>
        </p:nvPicPr>
        <p:blipFill>
          <a:blip r:embed="rId35"/>
          <a:stretch>
            <a:fillRect/>
          </a:stretch>
        </p:blipFill>
        <p:spPr>
          <a:xfrm>
            <a:off x="5724525" y="5753100"/>
            <a:ext cx="228600" cy="228600"/>
          </a:xfrm>
          <a:prstGeom prst="rect">
            <a:avLst/>
          </a:prstGeom>
        </p:spPr>
      </p:pic>
      <p:pic>
        <p:nvPicPr>
          <p:cNvPr id="71" name="TD SYNNEX" descr="TD SYNNEX"/>
          <p:cNvPicPr>
            <a:picLocks noChangeAspect="1"/>
          </p:cNvPicPr>
          <p:nvPr/>
        </p:nvPicPr>
        <p:blipFill>
          <a:blip r:embed="rId36"/>
          <a:stretch>
            <a:fillRect/>
          </a:stretch>
        </p:blipFill>
        <p:spPr>
          <a:xfrm>
            <a:off x="6000750" y="5753100"/>
            <a:ext cx="228600" cy="228600"/>
          </a:xfrm>
          <a:prstGeom prst="rect">
            <a:avLst/>
          </a:prstGeom>
        </p:spPr>
      </p:pic>
      <p:pic>
        <p:nvPicPr>
          <p:cNvPr id="72" name="Unisys" descr="Unisys"/>
          <p:cNvPicPr>
            <a:picLocks noChangeAspect="1"/>
          </p:cNvPicPr>
          <p:nvPr/>
        </p:nvPicPr>
        <p:blipFill>
          <a:blip r:embed="rId37"/>
          <a:stretch>
            <a:fillRect/>
          </a:stretch>
        </p:blipFill>
        <p:spPr>
          <a:xfrm>
            <a:off x="5172075" y="6029325"/>
            <a:ext cx="228600" cy="228600"/>
          </a:xfrm>
          <a:prstGeom prst="rect">
            <a:avLst/>
          </a:prstGeom>
        </p:spPr>
      </p:pic>
      <p:pic>
        <p:nvPicPr>
          <p:cNvPr id="73" name="Napco Security" descr="Napco Security"/>
          <p:cNvPicPr>
            <a:picLocks noChangeAspect="1"/>
          </p:cNvPicPr>
          <p:nvPr/>
        </p:nvPicPr>
        <p:blipFill>
          <a:blip r:embed="rId38"/>
          <a:stretch>
            <a:fillRect/>
          </a:stretch>
        </p:blipFill>
        <p:spPr>
          <a:xfrm>
            <a:off x="5448300" y="6029325"/>
            <a:ext cx="228600" cy="228600"/>
          </a:xfrm>
          <a:prstGeom prst="rect">
            <a:avLst/>
          </a:prstGeom>
        </p:spPr>
      </p:pic>
      <p:pic>
        <p:nvPicPr>
          <p:cNvPr id="74" name="Computacenter" descr="Computacenter"/>
          <p:cNvPicPr>
            <a:picLocks noChangeAspect="1"/>
          </p:cNvPicPr>
          <p:nvPr/>
        </p:nvPicPr>
        <p:blipFill>
          <a:blip r:embed="rId39"/>
          <a:stretch>
            <a:fillRect/>
          </a:stretch>
        </p:blipFill>
        <p:spPr>
          <a:xfrm>
            <a:off x="5724525" y="6029325"/>
            <a:ext cx="228600" cy="228600"/>
          </a:xfrm>
          <a:prstGeom prst="rect">
            <a:avLst/>
          </a:prstGeom>
        </p:spPr>
      </p:pic>
      <p:pic>
        <p:nvPicPr>
          <p:cNvPr id="75" name="Bechtle" descr="Bechtle"/>
          <p:cNvPicPr>
            <a:picLocks noChangeAspect="1"/>
          </p:cNvPicPr>
          <p:nvPr/>
        </p:nvPicPr>
        <p:blipFill>
          <a:blip r:embed="rId40"/>
          <a:stretch>
            <a:fillRect/>
          </a:stretch>
        </p:blipFill>
        <p:spPr>
          <a:xfrm>
            <a:off x="6000750" y="6029325"/>
            <a:ext cx="228600" cy="228600"/>
          </a:xfrm>
          <a:prstGeom prst="rect">
            <a:avLst/>
          </a:prstGeom>
        </p:spPr>
      </p:pic>
      <p:pic>
        <p:nvPicPr>
          <p:cNvPr id="76" name="ADT" descr="ADT"/>
          <p:cNvPicPr>
            <a:picLocks noChangeAspect="1"/>
          </p:cNvPicPr>
          <p:nvPr/>
        </p:nvPicPr>
        <p:blipFill>
          <a:blip r:embed="rId41"/>
          <a:stretch>
            <a:fillRect/>
          </a:stretch>
        </p:blipFill>
        <p:spPr>
          <a:xfrm>
            <a:off x="5172075" y="6305550"/>
            <a:ext cx="228600" cy="228600"/>
          </a:xfrm>
          <a:prstGeom prst="rect">
            <a:avLst/>
          </a:prstGeom>
        </p:spPr>
      </p:pic>
      <p:sp>
        <p:nvSpPr>
          <p:cNvPr id="77" name="Panel"/>
          <p:cNvSpPr/>
          <p:nvPr/>
        </p:nvSpPr>
        <p:spPr>
          <a:xfrm>
            <a:off x="6634162" y="5472112"/>
            <a:ext cx="1447800" cy="1276350"/>
          </a:xfrm>
          <a:prstGeom prst="rect">
            <a:avLst/>
          </a:prstGeom>
          <a:noFill/>
          <a:ln w="9525">
            <a:solidFill>
              <a:srgbClr val="E3DCD3"/>
            </a:solidFill>
          </a:ln>
        </p:spPr>
        <p:txBody>
          <a:bodyPr rtlCol="0" anchor="ctr"/>
          <a:lstStyle/>
          <a:p>
            <a:pPr algn="ctr"/>
          </a:p>
        </p:txBody>
      </p:sp>
      <p:sp>
        <p:nvSpPr>
          <p:cNvPr id="78" name="TextBox 77"/>
          <p:cNvSpPr txBox="1"/>
          <p:nvPr/>
        </p:nvSpPr>
        <p:spPr>
          <a:xfrm>
            <a:off x="6724650" y="5541264"/>
            <a:ext cx="1343025" cy="219075"/>
          </a:xfrm>
          <a:prstGeom prst="rect">
            <a:avLst/>
          </a:prstGeom>
          <a:noFill/>
        </p:spPr>
        <p:txBody>
          <a:bodyPr wrap="square" lIns="0" rIns="0" tIns="0" bIns="0" anchor="t">
            <a:noAutofit/>
          </a:bodyPr>
          <a:lstStyle/>
          <a:p>
            <a:pPr algn="l">
              <a:lnSpc>
                <a:spcPts val="975"/>
              </a:lnSpc>
              <a:spcBef>
                <a:spcPts val="0"/>
              </a:spcBef>
              <a:spcAft>
                <a:spcPts val="0"/>
              </a:spcAft>
            </a:pPr>
            <a:r>
              <a:rPr sz="600" b="1" i="0" spc="150">
                <a:solidFill>
                  <a:srgbClr val="1B1A1A"/>
                </a:solidFill>
                <a:latin typeface="Quicksand"/>
              </a:rPr>
              <a:t>ELECTRONICS &amp; HARDWARE</a:t>
            </a:r>
          </a:p>
        </p:txBody>
      </p:sp>
      <p:pic>
        <p:nvPicPr>
          <p:cNvPr id="79" name="Jabil" descr="Jabil"/>
          <p:cNvPicPr>
            <a:picLocks noChangeAspect="1"/>
          </p:cNvPicPr>
          <p:nvPr/>
        </p:nvPicPr>
        <p:blipFill>
          <a:blip r:embed="rId42"/>
          <a:stretch>
            <a:fillRect/>
          </a:stretch>
        </p:blipFill>
        <p:spPr>
          <a:xfrm>
            <a:off x="6724650" y="5876925"/>
            <a:ext cx="228600" cy="228600"/>
          </a:xfrm>
          <a:prstGeom prst="rect">
            <a:avLst/>
          </a:prstGeom>
        </p:spPr>
      </p:pic>
      <p:pic>
        <p:nvPicPr>
          <p:cNvPr id="80" name="Flex" descr="Flex"/>
          <p:cNvPicPr>
            <a:picLocks noChangeAspect="1"/>
          </p:cNvPicPr>
          <p:nvPr/>
        </p:nvPicPr>
        <p:blipFill>
          <a:blip r:embed="rId43"/>
          <a:stretch>
            <a:fillRect/>
          </a:stretch>
        </p:blipFill>
        <p:spPr>
          <a:xfrm>
            <a:off x="7000875" y="5876925"/>
            <a:ext cx="228600" cy="228600"/>
          </a:xfrm>
          <a:prstGeom prst="rect">
            <a:avLst/>
          </a:prstGeom>
        </p:spPr>
      </p:pic>
      <p:pic>
        <p:nvPicPr>
          <p:cNvPr id="81" name="Celestica" descr="Celestica"/>
          <p:cNvPicPr>
            <a:picLocks noChangeAspect="1"/>
          </p:cNvPicPr>
          <p:nvPr/>
        </p:nvPicPr>
        <p:blipFill>
          <a:blip r:embed="rId44"/>
          <a:stretch>
            <a:fillRect/>
          </a:stretch>
        </p:blipFill>
        <p:spPr>
          <a:xfrm>
            <a:off x="7277100" y="5876925"/>
            <a:ext cx="228600" cy="228600"/>
          </a:xfrm>
          <a:prstGeom prst="rect">
            <a:avLst/>
          </a:prstGeom>
        </p:spPr>
      </p:pic>
      <p:pic>
        <p:nvPicPr>
          <p:cNvPr id="82" name="Sanmina" descr="Sanmina"/>
          <p:cNvPicPr>
            <a:picLocks noChangeAspect="1"/>
          </p:cNvPicPr>
          <p:nvPr/>
        </p:nvPicPr>
        <p:blipFill>
          <a:blip r:embed="rId45"/>
          <a:stretch>
            <a:fillRect/>
          </a:stretch>
        </p:blipFill>
        <p:spPr>
          <a:xfrm>
            <a:off x="7553325" y="5876925"/>
            <a:ext cx="228600" cy="228600"/>
          </a:xfrm>
          <a:prstGeom prst="rect">
            <a:avLst/>
          </a:prstGeom>
        </p:spPr>
      </p:pic>
      <p:pic>
        <p:nvPicPr>
          <p:cNvPr id="83" name="Plexus" descr="Plexus"/>
          <p:cNvPicPr>
            <a:picLocks noChangeAspect="1"/>
          </p:cNvPicPr>
          <p:nvPr/>
        </p:nvPicPr>
        <p:blipFill>
          <a:blip r:embed="rId46"/>
          <a:stretch>
            <a:fillRect/>
          </a:stretch>
        </p:blipFill>
        <p:spPr>
          <a:xfrm>
            <a:off x="6724650" y="6153150"/>
            <a:ext cx="228600" cy="228600"/>
          </a:xfrm>
          <a:prstGeom prst="rect">
            <a:avLst/>
          </a:prstGeom>
        </p:spPr>
      </p:pic>
      <p:pic>
        <p:nvPicPr>
          <p:cNvPr id="84" name="Benchmark Electronics" descr="Benchmark Electronics"/>
          <p:cNvPicPr>
            <a:picLocks noChangeAspect="1"/>
          </p:cNvPicPr>
          <p:nvPr/>
        </p:nvPicPr>
        <p:blipFill>
          <a:blip r:embed="rId47"/>
          <a:stretch>
            <a:fillRect/>
          </a:stretch>
        </p:blipFill>
        <p:spPr>
          <a:xfrm>
            <a:off x="7000875" y="6153150"/>
            <a:ext cx="228600" cy="228600"/>
          </a:xfrm>
          <a:prstGeom prst="rect">
            <a:avLst/>
          </a:prstGeom>
        </p:spPr>
      </p:pic>
      <p:pic>
        <p:nvPicPr>
          <p:cNvPr id="85" name="Kimball Electronics" descr="Kimball Electronics"/>
          <p:cNvPicPr>
            <a:picLocks noChangeAspect="1"/>
          </p:cNvPicPr>
          <p:nvPr/>
        </p:nvPicPr>
        <p:blipFill>
          <a:blip r:embed="rId48"/>
          <a:stretch>
            <a:fillRect/>
          </a:stretch>
        </p:blipFill>
        <p:spPr>
          <a:xfrm>
            <a:off x="7277100" y="6153150"/>
            <a:ext cx="228600" cy="228600"/>
          </a:xfrm>
          <a:prstGeom prst="rect">
            <a:avLst/>
          </a:prstGeom>
        </p:spPr>
      </p:pic>
      <p:pic>
        <p:nvPicPr>
          <p:cNvPr id="86" name="TTM Technologies" descr="TTM Technologies"/>
          <p:cNvPicPr>
            <a:picLocks noChangeAspect="1"/>
          </p:cNvPicPr>
          <p:nvPr/>
        </p:nvPicPr>
        <p:blipFill>
          <a:blip r:embed="rId49"/>
          <a:stretch>
            <a:fillRect/>
          </a:stretch>
        </p:blipFill>
        <p:spPr>
          <a:xfrm>
            <a:off x="7553325" y="6153150"/>
            <a:ext cx="228600" cy="228600"/>
          </a:xfrm>
          <a:prstGeom prst="rect">
            <a:avLst/>
          </a:prstGeom>
        </p:spPr>
      </p:pic>
      <p:pic>
        <p:nvPicPr>
          <p:cNvPr id="87" name="Keysight" descr="Keysight"/>
          <p:cNvPicPr>
            <a:picLocks noChangeAspect="1"/>
          </p:cNvPicPr>
          <p:nvPr/>
        </p:nvPicPr>
        <p:blipFill>
          <a:blip r:embed="rId50"/>
          <a:stretch>
            <a:fillRect/>
          </a:stretch>
        </p:blipFill>
        <p:spPr>
          <a:xfrm>
            <a:off x="6724650" y="6429375"/>
            <a:ext cx="228600" cy="228600"/>
          </a:xfrm>
          <a:prstGeom prst="rect">
            <a:avLst/>
          </a:prstGeom>
        </p:spPr>
      </p:pic>
      <p:sp>
        <p:nvSpPr>
          <p:cNvPr id="88" name="Panel"/>
          <p:cNvSpPr/>
          <p:nvPr/>
        </p:nvSpPr>
        <p:spPr>
          <a:xfrm>
            <a:off x="8186738" y="5472112"/>
            <a:ext cx="1447800" cy="1276350"/>
          </a:xfrm>
          <a:prstGeom prst="rect">
            <a:avLst/>
          </a:prstGeom>
          <a:noFill/>
          <a:ln w="9525">
            <a:solidFill>
              <a:srgbClr val="E3DCD3"/>
            </a:solidFill>
          </a:ln>
        </p:spPr>
        <p:txBody>
          <a:bodyPr rtlCol="0" anchor="ctr"/>
          <a:lstStyle/>
          <a:p>
            <a:pPr algn="ctr"/>
          </a:p>
        </p:txBody>
      </p:sp>
      <p:sp>
        <p:nvSpPr>
          <p:cNvPr id="89" name="TextBox 88"/>
          <p:cNvSpPr txBox="1"/>
          <p:nvPr/>
        </p:nvSpPr>
        <p:spPr>
          <a:xfrm>
            <a:off x="8277225" y="5541264"/>
            <a:ext cx="1343025" cy="219075"/>
          </a:xfrm>
          <a:prstGeom prst="rect">
            <a:avLst/>
          </a:prstGeom>
          <a:noFill/>
        </p:spPr>
        <p:txBody>
          <a:bodyPr wrap="square" lIns="0" rIns="0" tIns="0" bIns="0" anchor="t">
            <a:noAutofit/>
          </a:bodyPr>
          <a:lstStyle/>
          <a:p>
            <a:pPr algn="l">
              <a:lnSpc>
                <a:spcPts val="975"/>
              </a:lnSpc>
              <a:spcBef>
                <a:spcPts val="0"/>
              </a:spcBef>
              <a:spcAft>
                <a:spcPts val="0"/>
              </a:spcAft>
            </a:pPr>
            <a:r>
              <a:rPr sz="600" b="1" i="0" spc="150">
                <a:solidFill>
                  <a:srgbClr val="1B1A1A"/>
                </a:solidFill>
                <a:latin typeface="Quicksand"/>
              </a:rPr>
              <a:t>GOVERNMENT TECHNOLOGY</a:t>
            </a:r>
          </a:p>
        </p:txBody>
      </p:sp>
      <p:pic>
        <p:nvPicPr>
          <p:cNvPr id="90" name="Booz Allen Hamilton" descr="Booz Allen Hamilton"/>
          <p:cNvPicPr>
            <a:picLocks noChangeAspect="1"/>
          </p:cNvPicPr>
          <p:nvPr/>
        </p:nvPicPr>
        <p:blipFill>
          <a:blip r:embed="rId51"/>
          <a:stretch>
            <a:fillRect/>
          </a:stretch>
        </p:blipFill>
        <p:spPr>
          <a:xfrm>
            <a:off x="8277225" y="5876925"/>
            <a:ext cx="228600" cy="228600"/>
          </a:xfrm>
          <a:prstGeom prst="rect">
            <a:avLst/>
          </a:prstGeom>
        </p:spPr>
      </p:pic>
      <p:pic>
        <p:nvPicPr>
          <p:cNvPr id="91" name="CACI" descr="CACI"/>
          <p:cNvPicPr>
            <a:picLocks noChangeAspect="1"/>
          </p:cNvPicPr>
          <p:nvPr/>
        </p:nvPicPr>
        <p:blipFill>
          <a:blip r:embed="rId52"/>
          <a:stretch>
            <a:fillRect/>
          </a:stretch>
        </p:blipFill>
        <p:spPr>
          <a:xfrm>
            <a:off x="8553450" y="5876925"/>
            <a:ext cx="228600" cy="228600"/>
          </a:xfrm>
          <a:prstGeom prst="rect">
            <a:avLst/>
          </a:prstGeom>
        </p:spPr>
      </p:pic>
      <p:pic>
        <p:nvPicPr>
          <p:cNvPr id="92" name="SAIC" descr="SAIC"/>
          <p:cNvPicPr>
            <a:picLocks noChangeAspect="1"/>
          </p:cNvPicPr>
          <p:nvPr/>
        </p:nvPicPr>
        <p:blipFill>
          <a:blip r:embed="rId53"/>
          <a:stretch>
            <a:fillRect/>
          </a:stretch>
        </p:blipFill>
        <p:spPr>
          <a:xfrm>
            <a:off x="8829675" y="5876925"/>
            <a:ext cx="228600" cy="228600"/>
          </a:xfrm>
          <a:prstGeom prst="rect">
            <a:avLst/>
          </a:prstGeom>
        </p:spPr>
      </p:pic>
      <p:pic>
        <p:nvPicPr>
          <p:cNvPr id="93" name="Leidos" descr="Leidos"/>
          <p:cNvPicPr>
            <a:picLocks noChangeAspect="1"/>
          </p:cNvPicPr>
          <p:nvPr/>
        </p:nvPicPr>
        <p:blipFill>
          <a:blip r:embed="rId54"/>
          <a:stretch>
            <a:fillRect/>
          </a:stretch>
        </p:blipFill>
        <p:spPr>
          <a:xfrm>
            <a:off x="9105900" y="5876925"/>
            <a:ext cx="228600" cy="228600"/>
          </a:xfrm>
          <a:prstGeom prst="rect">
            <a:avLst/>
          </a:prstGeom>
        </p:spPr>
      </p:pic>
      <p:pic>
        <p:nvPicPr>
          <p:cNvPr id="94" name="Parsons" descr="Parsons"/>
          <p:cNvPicPr>
            <a:picLocks noChangeAspect="1"/>
          </p:cNvPicPr>
          <p:nvPr/>
        </p:nvPicPr>
        <p:blipFill>
          <a:blip r:embed="rId55"/>
          <a:stretch>
            <a:fillRect/>
          </a:stretch>
        </p:blipFill>
        <p:spPr>
          <a:xfrm>
            <a:off x="8277225" y="6153150"/>
            <a:ext cx="228600" cy="228600"/>
          </a:xfrm>
          <a:prstGeom prst="rect">
            <a:avLst/>
          </a:prstGeom>
        </p:spPr>
      </p:pic>
      <p:pic>
        <p:nvPicPr>
          <p:cNvPr id="95" name="ICF" descr="ICF"/>
          <p:cNvPicPr>
            <a:picLocks noChangeAspect="1"/>
          </p:cNvPicPr>
          <p:nvPr/>
        </p:nvPicPr>
        <p:blipFill>
          <a:blip r:embed="rId56"/>
          <a:stretch>
            <a:fillRect/>
          </a:stretch>
        </p:blipFill>
        <p:spPr>
          <a:xfrm>
            <a:off x="8553450" y="6153150"/>
            <a:ext cx="228600" cy="228600"/>
          </a:xfrm>
          <a:prstGeom prst="rect">
            <a:avLst/>
          </a:prstGeom>
        </p:spPr>
      </p:pic>
      <p:pic>
        <p:nvPicPr>
          <p:cNvPr id="96" name="Tyler Technologies" descr="Tyler Technologies"/>
          <p:cNvPicPr>
            <a:picLocks noChangeAspect="1"/>
          </p:cNvPicPr>
          <p:nvPr/>
        </p:nvPicPr>
        <p:blipFill>
          <a:blip r:embed="rId57"/>
          <a:stretch>
            <a:fillRect/>
          </a:stretch>
        </p:blipFill>
        <p:spPr>
          <a:xfrm>
            <a:off x="8829675" y="6153150"/>
            <a:ext cx="228600" cy="228600"/>
          </a:xfrm>
          <a:prstGeom prst="rect">
            <a:avLst/>
          </a:prstGeom>
        </p:spPr>
      </p:pic>
      <p:sp>
        <p:nvSpPr>
          <p:cNvPr id="97" name="Panel"/>
          <p:cNvSpPr/>
          <p:nvPr/>
        </p:nvSpPr>
        <p:spPr>
          <a:xfrm>
            <a:off x="419100" y="7029450"/>
            <a:ext cx="9220200" cy="9525"/>
          </a:xfrm>
          <a:prstGeom prst="rect">
            <a:avLst/>
          </a:prstGeom>
          <a:solidFill>
            <a:srgbClr val="E3DCD3"/>
          </a:solidFill>
          <a:ln>
            <a:noFill/>
          </a:ln>
        </p:spPr>
        <p:txBody>
          <a:bodyPr rtlCol="0" anchor="ctr"/>
          <a:lstStyle/>
          <a:p>
            <a:pPr algn="ctr"/>
          </a:p>
        </p:txBody>
      </p:sp>
      <p:pic>
        <p:nvPicPr>
          <p:cNvPr id="98" name="Graphic" descr="S03_r6.png"/>
          <p:cNvPicPr>
            <a:picLocks noChangeAspect="1"/>
          </p:cNvPicPr>
          <p:nvPr/>
        </p:nvPicPr>
        <p:blipFill>
          <a:blip r:embed="rId58"/>
          <a:stretch>
            <a:fillRect/>
          </a:stretch>
        </p:blipFill>
        <p:spPr>
          <a:xfrm>
            <a:off x="419100" y="7143750"/>
            <a:ext cx="914400" cy="171450"/>
          </a:xfrm>
          <a:prstGeom prst="rect">
            <a:avLst/>
          </a:prstGeom>
        </p:spPr>
      </p:pic>
      <p:sp>
        <p:nvSpPr>
          <p:cNvPr id="99" name="TextBox 98"/>
          <p:cNvSpPr txBox="1"/>
          <p:nvPr/>
        </p:nvSpPr>
        <p:spPr>
          <a:xfrm>
            <a:off x="1543050" y="7091172"/>
            <a:ext cx="7810500" cy="223838"/>
          </a:xfrm>
          <a:prstGeom prst="rect">
            <a:avLst/>
          </a:prstGeom>
          <a:noFill/>
        </p:spPr>
        <p:txBody>
          <a:bodyPr wrap="square" lIns="0" rIns="0" tIns="0" bIns="0" anchor="t">
            <a:noAutofit/>
          </a:bodyPr>
          <a:lstStyle/>
          <a:p>
            <a:pPr algn="l">
              <a:lnSpc>
                <a:spcPts val="938"/>
              </a:lnSpc>
              <a:spcBef>
                <a:spcPts val="0"/>
              </a:spcBef>
              <a:spcAft>
                <a:spcPts val="0"/>
              </a:spcAft>
            </a:pPr>
            <a:r>
              <a:rPr sz="675" b="0" i="0" spc="8">
                <a:solidFill>
                  <a:srgbClr val="6F6A66"/>
                </a:solidFill>
                <a:latin typeface="Quicksand"/>
              </a:rPr>
              <a:t>Source: </a:t>
            </a:r>
            <a:r>
              <a:rPr sz="675" b="0" i="0" spc="8" u="sng">
                <a:solidFill>
                  <a:srgbClr val="8C6239"/>
                </a:solidFill>
                <a:latin typeface="Quicksand"/>
                <a:hlinkClick r:id="rId59">
                  <a:extLst>
                    <a:ext uri="{A12FA001-AC4F-418D-AE19-62706E023703}">
                      <ahyp:hlinkClr xmlns:ahyp="http://schemas.microsoft.com/office/drawing/2018/hyperlinkcolor" val="tx"/>
                    </a:ext>
                  </a:extLst>
                </a:hlinkClick>
              </a:rPr>
              <a:t>StockAnalysis</a:t>
            </a:r>
            <a:r>
              <a:rPr sz="675" b="0" i="0" spc="8">
                <a:solidFill>
                  <a:srgbClr val="6F6A66"/>
                </a:solidFill>
                <a:latin typeface="Quicksand"/>
              </a:rPr>
              <a:t>, retrieved October 5, 6 and 14, 2026, on reported EBITDA. The multiple chart covers the 38 companies with a multiple between zero and 60x at each point (faded marks are the 13 left out); share price change covers all 51. Year-ago multiples are at the quarter end nearest September 30, 2025, or June 30, 2025 for Computacenter, which reports half-yearly.</a:t>
            </a:r>
          </a:p>
        </p:txBody>
      </p:sp>
      <p:sp>
        <p:nvSpPr>
          <p:cNvPr id="100" name="TextBox 99"/>
          <p:cNvSpPr txBox="1"/>
          <p:nvPr/>
        </p:nvSpPr>
        <p:spPr>
          <a:xfrm>
            <a:off x="9494193" y="7149370"/>
            <a:ext cx="145107" cy="114300"/>
          </a:xfrm>
          <a:prstGeom prst="rect">
            <a:avLst/>
          </a:prstGeom>
          <a:noFill/>
        </p:spPr>
        <p:txBody>
          <a:bodyPr wrap="none" lIns="0" rIns="0" tIns="0" bIns="0" anchor="t">
            <a:noAutofit/>
          </a:bodyPr>
          <a:lstStyle/>
          <a:p>
            <a:pPr algn="r">
              <a:lnSpc>
                <a:spcPts val="1050"/>
              </a:lnSpc>
              <a:spcBef>
                <a:spcPts val="0"/>
              </a:spcBef>
              <a:spcAft>
                <a:spcPts val="0"/>
              </a:spcAft>
            </a:pPr>
            <a:r>
              <a:rPr sz="712" b="1" i="0" spc="150">
                <a:solidFill>
                  <a:srgbClr val="1B1A1A"/>
                </a:solidFill>
                <a:latin typeface="Quicksand"/>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3" name="Panel"/>
          <p:cNvSpPr/>
          <p:nvPr/>
        </p:nvSpPr>
        <p:spPr>
          <a:xfrm>
            <a:off x="0" y="0"/>
            <a:ext cx="10058400" cy="7772400"/>
          </a:xfrm>
          <a:prstGeom prst="rect">
            <a:avLst/>
          </a:prstGeom>
          <a:solidFill>
            <a:srgbClr val="FFFFFF"/>
          </a:solidFill>
          <a:ln>
            <a:noFill/>
          </a:ln>
        </p:spPr>
        <p:txBody>
          <a:bodyPr rtlCol="0" anchor="ctr"/>
          <a:lstStyle/>
          <a:p>
            <a:pPr algn="ctr"/>
          </a:p>
        </p:txBody>
      </p:sp>
      <p:sp>
        <p:nvSpPr>
          <p:cNvPr id="4" name="Panel"/>
          <p:cNvSpPr/>
          <p:nvPr/>
        </p:nvSpPr>
        <p:spPr>
          <a:xfrm>
            <a:off x="0" y="0"/>
            <a:ext cx="57150" cy="7772400"/>
          </a:xfrm>
          <a:prstGeom prst="rect">
            <a:avLst/>
          </a:prstGeom>
          <a:solidFill>
            <a:srgbClr val="B68757"/>
          </a:solidFill>
          <a:ln>
            <a:noFill/>
          </a:ln>
        </p:spPr>
        <p:txBody>
          <a:bodyPr rtlCol="0" anchor="ctr"/>
          <a:lstStyle/>
          <a:p>
            <a:pPr algn="ctr"/>
          </a:p>
        </p:txBody>
      </p:sp>
      <p:sp>
        <p:nvSpPr>
          <p:cNvPr id="5" name="TextBox 4"/>
          <p:cNvSpPr txBox="1"/>
          <p:nvPr/>
        </p:nvSpPr>
        <p:spPr>
          <a:xfrm>
            <a:off x="419100" y="361760"/>
            <a:ext cx="2764185" cy="104775"/>
          </a:xfrm>
          <a:prstGeom prst="rect">
            <a:avLst/>
          </a:prstGeom>
          <a:noFill/>
        </p:spPr>
        <p:txBody>
          <a:bodyPr wrap="none" lIns="0" rIns="0" tIns="0" bIns="0" anchor="t">
            <a:noAutofit/>
          </a:bodyPr>
          <a:lstStyle/>
          <a:p>
            <a:pPr algn="l">
              <a:lnSpc>
                <a:spcPts val="1050"/>
              </a:lnSpc>
              <a:spcBef>
                <a:spcPts val="0"/>
              </a:spcBef>
              <a:spcAft>
                <a:spcPts val="0"/>
              </a:spcAft>
            </a:pPr>
            <a:r>
              <a:rPr sz="675" b="1" i="0" spc="195">
                <a:solidFill>
                  <a:srgbClr val="8C6239"/>
                </a:solidFill>
                <a:latin typeface="Quicksand"/>
              </a:rPr>
              <a:t>TECHNOLOGY  |  QUARTERLY SECTOR BRIEF</a:t>
            </a:r>
          </a:p>
        </p:txBody>
      </p:sp>
      <p:sp>
        <p:nvSpPr>
          <p:cNvPr id="6" name="TextBox 5"/>
          <p:cNvSpPr txBox="1"/>
          <p:nvPr/>
        </p:nvSpPr>
        <p:spPr>
          <a:xfrm>
            <a:off x="9112597" y="350901"/>
            <a:ext cx="526703" cy="152400"/>
          </a:xfrm>
          <a:prstGeom prst="rect">
            <a:avLst/>
          </a:prstGeom>
          <a:noFill/>
        </p:spPr>
        <p:txBody>
          <a:bodyPr wrap="none" lIns="0" rIns="0" tIns="0" bIns="0" anchor="t">
            <a:noAutofit/>
          </a:bodyPr>
          <a:lstStyle/>
          <a:p>
            <a:pPr algn="r">
              <a:lnSpc>
                <a:spcPts val="1350"/>
              </a:lnSpc>
              <a:spcBef>
                <a:spcPts val="0"/>
              </a:spcBef>
              <a:spcAft>
                <a:spcPts val="0"/>
              </a:spcAft>
            </a:pPr>
            <a:r>
              <a:rPr sz="900" b="0" i="0" spc="90">
                <a:solidFill>
                  <a:srgbClr val="6F6A66"/>
                </a:solidFill>
                <a:latin typeface="Cinzel"/>
              </a:rPr>
              <a:t>Q4 2026</a:t>
            </a:r>
          </a:p>
        </p:txBody>
      </p:sp>
      <p:sp>
        <p:nvSpPr>
          <p:cNvPr id="2" name="Title 1"/>
          <p:cNvSpPr>
            <a:spLocks noGrp="1"/>
          </p:cNvSpPr>
          <p:nvPr>
            <p:ph type="title"/>
          </p:nvPr>
        </p:nvSpPr>
        <p:spPr>
          <a:xfrm>
            <a:off x="419100" y="475488"/>
            <a:ext cx="4378970" cy="257175"/>
          </a:xfrm>
        </p:spPr>
        <p:txBody>
          <a:bodyPr wrap="none" lIns="0" rIns="0" tIns="0" bIns="0" anchor="t">
            <a:noAutofit/>
          </a:bodyPr>
          <a:lstStyle/>
          <a:p>
            <a:pPr algn="l">
              <a:lnSpc>
                <a:spcPts val="2550"/>
              </a:lnSpc>
              <a:spcBef>
                <a:spcPts val="0"/>
              </a:spcBef>
              <a:spcAft>
                <a:spcPts val="0"/>
              </a:spcAft>
            </a:pPr>
            <a:r>
              <a:rPr sz="2000" b="1" i="0">
                <a:solidFill>
                  <a:srgbClr val="1B1A1A"/>
                </a:solidFill>
                <a:latin typeface="Newsreader"/>
              </a:rPr>
              <a:t>Public Companies: Operating Metrics</a:t>
            </a:r>
          </a:p>
        </p:txBody>
      </p:sp>
      <p:sp>
        <p:nvSpPr>
          <p:cNvPr id="7" name="TextBox 6"/>
          <p:cNvSpPr txBox="1"/>
          <p:nvPr/>
        </p:nvSpPr>
        <p:spPr>
          <a:xfrm>
            <a:off x="419100" y="864394"/>
            <a:ext cx="8510588" cy="152400"/>
          </a:xfrm>
          <a:prstGeom prst="rect">
            <a:avLst/>
          </a:prstGeom>
          <a:noFill/>
        </p:spPr>
        <p:txBody>
          <a:bodyPr wrap="none" lIns="0" rIns="0" tIns="0" bIns="0" anchor="t">
            <a:noAutofit/>
          </a:bodyPr>
          <a:lstStyle/>
          <a:p>
            <a:pPr algn="l">
              <a:lnSpc>
                <a:spcPts val="1388"/>
              </a:lnSpc>
              <a:spcBef>
                <a:spcPts val="0"/>
              </a:spcBef>
              <a:spcAft>
                <a:spcPts val="0"/>
              </a:spcAft>
            </a:pPr>
            <a:r>
              <a:rPr sz="938" b="0" i="0" spc="15">
                <a:solidFill>
                  <a:srgbClr val="6F6A66"/>
                </a:solidFill>
                <a:latin typeface="Quicksand"/>
              </a:rPr>
              <a:t>Electronics manufacturers are growing about 20% a year, government contractors are flat, and security software converts the most revenue to cash.</a:t>
            </a:r>
          </a:p>
        </p:txBody>
      </p:sp>
      <p:sp>
        <p:nvSpPr>
          <p:cNvPr id="8" name="Panel"/>
          <p:cNvSpPr/>
          <p:nvPr/>
        </p:nvSpPr>
        <p:spPr>
          <a:xfrm>
            <a:off x="419100" y="1143000"/>
            <a:ext cx="9220200" cy="9525"/>
          </a:xfrm>
          <a:prstGeom prst="rect">
            <a:avLst/>
          </a:prstGeom>
          <a:solidFill>
            <a:srgbClr val="E3DCD3"/>
          </a:solidFill>
          <a:ln>
            <a:noFill/>
          </a:ln>
        </p:spPr>
        <p:txBody>
          <a:bodyPr rtlCol="0" anchor="ctr"/>
          <a:lstStyle/>
          <a:p>
            <a:pPr algn="ctr"/>
          </a:p>
        </p:txBody>
      </p:sp>
      <p:sp>
        <p:nvSpPr>
          <p:cNvPr id="9" name="Panel"/>
          <p:cNvSpPr/>
          <p:nvPr/>
        </p:nvSpPr>
        <p:spPr>
          <a:xfrm>
            <a:off x="419100" y="1238250"/>
            <a:ext cx="4533900" cy="2771775"/>
          </a:xfrm>
          <a:prstGeom prst="rect">
            <a:avLst/>
          </a:prstGeom>
          <a:solidFill>
            <a:srgbClr val="FAF7F3"/>
          </a:solidFill>
          <a:ln>
            <a:noFill/>
          </a:ln>
        </p:spPr>
        <p:txBody>
          <a:bodyPr rtlCol="0" anchor="ctr"/>
          <a:lstStyle/>
          <a:p>
            <a:pPr algn="ctr"/>
          </a:p>
        </p:txBody>
      </p:sp>
      <p:sp>
        <p:nvSpPr>
          <p:cNvPr id="10" name="Rule"/>
          <p:cNvSpPr/>
          <p:nvPr/>
        </p:nvSpPr>
        <p:spPr>
          <a:xfrm>
            <a:off x="419100" y="1238250"/>
            <a:ext cx="4533900" cy="28575"/>
          </a:xfrm>
          <a:prstGeom prst="rect">
            <a:avLst/>
          </a:prstGeom>
          <a:solidFill>
            <a:srgbClr val="B68757"/>
          </a:solidFill>
          <a:ln>
            <a:noFill/>
          </a:ln>
        </p:spPr>
        <p:txBody>
          <a:bodyPr rtlCol="0" anchor="ctr"/>
          <a:lstStyle/>
          <a:p>
            <a:pPr algn="ctr"/>
          </a:p>
        </p:txBody>
      </p:sp>
      <p:sp>
        <p:nvSpPr>
          <p:cNvPr id="11" name="TextBox 10"/>
          <p:cNvSpPr txBox="1"/>
          <p:nvPr/>
        </p:nvSpPr>
        <p:spPr>
          <a:xfrm>
            <a:off x="590550" y="1384554"/>
            <a:ext cx="2522190" cy="152400"/>
          </a:xfrm>
          <a:prstGeom prst="rect">
            <a:avLst/>
          </a:prstGeom>
          <a:noFill/>
        </p:spPr>
        <p:txBody>
          <a:bodyPr wrap="none" lIns="0" rIns="0" tIns="0" bIns="0" anchor="t">
            <a:noAutofit/>
          </a:bodyPr>
          <a:lstStyle/>
          <a:p>
            <a:pPr algn="l">
              <a:lnSpc>
                <a:spcPts val="1312"/>
              </a:lnSpc>
              <a:spcBef>
                <a:spcPts val="0"/>
              </a:spcBef>
              <a:spcAft>
                <a:spcPts val="0"/>
              </a:spcAft>
            </a:pPr>
            <a:r>
              <a:rPr sz="975" b="1" i="0" spc="15">
                <a:solidFill>
                  <a:srgbClr val="1B1A1A"/>
                </a:solidFill>
                <a:latin typeface="Quicksand"/>
              </a:rPr>
              <a:t>Revenue growth, trailing twelve months</a:t>
            </a:r>
          </a:p>
        </p:txBody>
      </p:sp>
      <p:sp>
        <p:nvSpPr>
          <p:cNvPr id="12" name="TextBox 11"/>
          <p:cNvSpPr txBox="1"/>
          <p:nvPr/>
        </p:nvSpPr>
        <p:spPr>
          <a:xfrm>
            <a:off x="590550" y="1549718"/>
            <a:ext cx="1049387" cy="123825"/>
          </a:xfrm>
          <a:prstGeom prst="rect">
            <a:avLst/>
          </a:prstGeom>
          <a:noFill/>
        </p:spPr>
        <p:txBody>
          <a:bodyPr wrap="none" lIns="0" rIns="0" tIns="0" bIns="0" anchor="t">
            <a:noAutofit/>
          </a:bodyPr>
          <a:lstStyle/>
          <a:p>
            <a:pPr algn="l">
              <a:lnSpc>
                <a:spcPts val="1050"/>
              </a:lnSpc>
              <a:spcBef>
                <a:spcPts val="0"/>
              </a:spcBef>
              <a:spcAft>
                <a:spcPts val="0"/>
              </a:spcAft>
            </a:pPr>
            <a:r>
              <a:rPr sz="750" b="0" i="0" spc="15">
                <a:solidFill>
                  <a:srgbClr val="6F6A66"/>
                </a:solidFill>
                <a:latin typeface="Quicksand"/>
              </a:rPr>
              <a:t>Median by focus area</a:t>
            </a:r>
          </a:p>
        </p:txBody>
      </p:sp>
      <p:graphicFrame>
        <p:nvGraphicFramePr>
          <p:cNvPr id="13" name="Chart"/>
          <p:cNvGraphicFramePr>
            <a:graphicFrameLocks noGrp="1"/>
          </p:cNvGraphicFramePr>
          <p:nvPr/>
        </p:nvGraphicFramePr>
        <p:xfrm>
          <a:off x="590550" y="1776412"/>
          <a:ext cx="4171950" cy="2000250"/>
        </p:xfrm>
        <a:graphic>
          <a:graphicData uri="http://schemas.openxmlformats.org/drawingml/2006/chart">
            <c:chart xmlns:c="http://schemas.openxmlformats.org/drawingml/2006/chart" r:id="rId2"/>
          </a:graphicData>
        </a:graphic>
      </p:graphicFrame>
      <p:sp>
        <p:nvSpPr>
          <p:cNvPr id="14" name="Panel"/>
          <p:cNvSpPr/>
          <p:nvPr/>
        </p:nvSpPr>
        <p:spPr>
          <a:xfrm>
            <a:off x="5105400" y="1238250"/>
            <a:ext cx="4533900" cy="2771775"/>
          </a:xfrm>
          <a:prstGeom prst="rect">
            <a:avLst/>
          </a:prstGeom>
          <a:solidFill>
            <a:srgbClr val="FAF7F3"/>
          </a:solidFill>
          <a:ln>
            <a:noFill/>
          </a:ln>
        </p:spPr>
        <p:txBody>
          <a:bodyPr rtlCol="0" anchor="ctr"/>
          <a:lstStyle/>
          <a:p>
            <a:pPr algn="ctr"/>
          </a:p>
        </p:txBody>
      </p:sp>
      <p:sp>
        <p:nvSpPr>
          <p:cNvPr id="15" name="Rule"/>
          <p:cNvSpPr/>
          <p:nvPr/>
        </p:nvSpPr>
        <p:spPr>
          <a:xfrm>
            <a:off x="5105400" y="1238250"/>
            <a:ext cx="4533900" cy="28575"/>
          </a:xfrm>
          <a:prstGeom prst="rect">
            <a:avLst/>
          </a:prstGeom>
          <a:solidFill>
            <a:srgbClr val="B68757"/>
          </a:solidFill>
          <a:ln>
            <a:noFill/>
          </a:ln>
        </p:spPr>
        <p:txBody>
          <a:bodyPr rtlCol="0" anchor="ctr"/>
          <a:lstStyle/>
          <a:p>
            <a:pPr algn="ctr"/>
          </a:p>
        </p:txBody>
      </p:sp>
      <p:sp>
        <p:nvSpPr>
          <p:cNvPr id="16" name="TextBox 15"/>
          <p:cNvSpPr txBox="1"/>
          <p:nvPr/>
        </p:nvSpPr>
        <p:spPr>
          <a:xfrm>
            <a:off x="5276850" y="1384554"/>
            <a:ext cx="3090565" cy="152400"/>
          </a:xfrm>
          <a:prstGeom prst="rect">
            <a:avLst/>
          </a:prstGeom>
          <a:noFill/>
        </p:spPr>
        <p:txBody>
          <a:bodyPr wrap="none" lIns="0" rIns="0" tIns="0" bIns="0" anchor="t">
            <a:noAutofit/>
          </a:bodyPr>
          <a:lstStyle/>
          <a:p>
            <a:pPr algn="l">
              <a:lnSpc>
                <a:spcPts val="1312"/>
              </a:lnSpc>
              <a:spcBef>
                <a:spcPts val="0"/>
              </a:spcBef>
              <a:spcAft>
                <a:spcPts val="0"/>
              </a:spcAft>
            </a:pPr>
            <a:r>
              <a:rPr sz="975" b="1" i="0" spc="15">
                <a:solidFill>
                  <a:srgbClr val="1B1A1A"/>
                </a:solidFill>
                <a:latin typeface="Quicksand"/>
              </a:rPr>
              <a:t>Fastest revenue growth among the 51 companies</a:t>
            </a:r>
          </a:p>
        </p:txBody>
      </p:sp>
      <p:sp>
        <p:nvSpPr>
          <p:cNvPr id="17" name="TextBox 16"/>
          <p:cNvSpPr txBox="1"/>
          <p:nvPr/>
        </p:nvSpPr>
        <p:spPr>
          <a:xfrm>
            <a:off x="5276850" y="1549718"/>
            <a:ext cx="3540472" cy="123825"/>
          </a:xfrm>
          <a:prstGeom prst="rect">
            <a:avLst/>
          </a:prstGeom>
          <a:noFill/>
        </p:spPr>
        <p:txBody>
          <a:bodyPr wrap="none" lIns="0" rIns="0" tIns="0" bIns="0" anchor="t">
            <a:noAutofit/>
          </a:bodyPr>
          <a:lstStyle/>
          <a:p>
            <a:pPr algn="l">
              <a:lnSpc>
                <a:spcPts val="1050"/>
              </a:lnSpc>
              <a:spcBef>
                <a:spcPts val="0"/>
              </a:spcBef>
              <a:spcAft>
                <a:spcPts val="0"/>
              </a:spcAft>
            </a:pPr>
            <a:r>
              <a:rPr sz="750" b="0" i="0" spc="15">
                <a:solidFill>
                  <a:srgbClr val="6F6A66"/>
                </a:solidFill>
                <a:latin typeface="Quicksand"/>
              </a:rPr>
              <a:t>Trailing twelve months against the prior twelve; growth includes acquisitions</a:t>
            </a:r>
          </a:p>
        </p:txBody>
      </p:sp>
      <p:graphicFrame>
        <p:nvGraphicFramePr>
          <p:cNvPr id="18" name="Chart"/>
          <p:cNvGraphicFramePr>
            <a:graphicFrameLocks noGrp="1"/>
          </p:cNvGraphicFramePr>
          <p:nvPr/>
        </p:nvGraphicFramePr>
        <p:xfrm>
          <a:off x="5276850" y="1776412"/>
          <a:ext cx="4171950" cy="2119312"/>
        </p:xfrm>
        <a:graphic>
          <a:graphicData uri="http://schemas.openxmlformats.org/drawingml/2006/chart">
            <c:chart xmlns:c="http://schemas.openxmlformats.org/drawingml/2006/chart" r:id="rId3"/>
          </a:graphicData>
        </a:graphic>
      </p:graphicFrame>
      <p:sp>
        <p:nvSpPr>
          <p:cNvPr id="19" name="Panel"/>
          <p:cNvSpPr/>
          <p:nvPr/>
        </p:nvSpPr>
        <p:spPr>
          <a:xfrm>
            <a:off x="419100" y="4162425"/>
            <a:ext cx="4533900" cy="2771775"/>
          </a:xfrm>
          <a:prstGeom prst="rect">
            <a:avLst/>
          </a:prstGeom>
          <a:solidFill>
            <a:srgbClr val="FAF7F3"/>
          </a:solidFill>
          <a:ln>
            <a:noFill/>
          </a:ln>
        </p:spPr>
        <p:txBody>
          <a:bodyPr rtlCol="0" anchor="ctr"/>
          <a:lstStyle/>
          <a:p>
            <a:pPr algn="ctr"/>
          </a:p>
        </p:txBody>
      </p:sp>
      <p:sp>
        <p:nvSpPr>
          <p:cNvPr id="20" name="Rule"/>
          <p:cNvSpPr/>
          <p:nvPr/>
        </p:nvSpPr>
        <p:spPr>
          <a:xfrm>
            <a:off x="419100" y="4162425"/>
            <a:ext cx="4533900" cy="28575"/>
          </a:xfrm>
          <a:prstGeom prst="rect">
            <a:avLst/>
          </a:prstGeom>
          <a:solidFill>
            <a:srgbClr val="B68757"/>
          </a:solidFill>
          <a:ln>
            <a:noFill/>
          </a:ln>
        </p:spPr>
        <p:txBody>
          <a:bodyPr rtlCol="0" anchor="ctr"/>
          <a:lstStyle/>
          <a:p>
            <a:pPr algn="ctr"/>
          </a:p>
        </p:txBody>
      </p:sp>
      <p:sp>
        <p:nvSpPr>
          <p:cNvPr id="21" name="TextBox 20"/>
          <p:cNvSpPr txBox="1"/>
          <p:nvPr/>
        </p:nvSpPr>
        <p:spPr>
          <a:xfrm>
            <a:off x="590550" y="4308729"/>
            <a:ext cx="2426345" cy="152400"/>
          </a:xfrm>
          <a:prstGeom prst="rect">
            <a:avLst/>
          </a:prstGeom>
          <a:noFill/>
        </p:spPr>
        <p:txBody>
          <a:bodyPr wrap="none" lIns="0" rIns="0" tIns="0" bIns="0" anchor="t">
            <a:noAutofit/>
          </a:bodyPr>
          <a:lstStyle/>
          <a:p>
            <a:pPr algn="l">
              <a:lnSpc>
                <a:spcPts val="1312"/>
              </a:lnSpc>
              <a:spcBef>
                <a:spcPts val="0"/>
              </a:spcBef>
              <a:spcAft>
                <a:spcPts val="0"/>
              </a:spcAft>
            </a:pPr>
            <a:r>
              <a:rPr sz="975" b="1" i="0" spc="15">
                <a:solidFill>
                  <a:srgbClr val="1B1A1A"/>
                </a:solidFill>
                <a:latin typeface="Quicksand"/>
              </a:rPr>
              <a:t>EBITDA margin, trailing twelve months</a:t>
            </a:r>
          </a:p>
        </p:txBody>
      </p:sp>
      <p:sp>
        <p:nvSpPr>
          <p:cNvPr id="22" name="TextBox 21"/>
          <p:cNvSpPr txBox="1"/>
          <p:nvPr/>
        </p:nvSpPr>
        <p:spPr>
          <a:xfrm>
            <a:off x="590550" y="4473892"/>
            <a:ext cx="2007245" cy="123825"/>
          </a:xfrm>
          <a:prstGeom prst="rect">
            <a:avLst/>
          </a:prstGeom>
          <a:noFill/>
        </p:spPr>
        <p:txBody>
          <a:bodyPr wrap="none" lIns="0" rIns="0" tIns="0" bIns="0" anchor="t">
            <a:noAutofit/>
          </a:bodyPr>
          <a:lstStyle/>
          <a:p>
            <a:pPr algn="l">
              <a:lnSpc>
                <a:spcPts val="1050"/>
              </a:lnSpc>
              <a:spcBef>
                <a:spcPts val="0"/>
              </a:spcBef>
              <a:spcAft>
                <a:spcPts val="0"/>
              </a:spcAft>
            </a:pPr>
            <a:r>
              <a:rPr sz="750" b="0" i="0" spc="15">
                <a:solidFill>
                  <a:srgbClr val="6F6A66"/>
                </a:solidFill>
                <a:latin typeface="Quicksand"/>
              </a:rPr>
              <a:t>Median by focus area, on reported EBITDA</a:t>
            </a:r>
          </a:p>
        </p:txBody>
      </p:sp>
      <p:graphicFrame>
        <p:nvGraphicFramePr>
          <p:cNvPr id="23" name="Chart"/>
          <p:cNvGraphicFramePr>
            <a:graphicFrameLocks noGrp="1"/>
          </p:cNvGraphicFramePr>
          <p:nvPr/>
        </p:nvGraphicFramePr>
        <p:xfrm>
          <a:off x="590550" y="4700588"/>
          <a:ext cx="4171950" cy="2000250"/>
        </p:xfrm>
        <a:graphic>
          <a:graphicData uri="http://schemas.openxmlformats.org/drawingml/2006/chart">
            <c:chart xmlns:c="http://schemas.openxmlformats.org/drawingml/2006/chart" r:id="rId4"/>
          </a:graphicData>
        </a:graphic>
      </p:graphicFrame>
      <p:sp>
        <p:nvSpPr>
          <p:cNvPr id="24" name="Panel"/>
          <p:cNvSpPr/>
          <p:nvPr/>
        </p:nvSpPr>
        <p:spPr>
          <a:xfrm>
            <a:off x="5105400" y="4162425"/>
            <a:ext cx="4533900" cy="2771775"/>
          </a:xfrm>
          <a:prstGeom prst="rect">
            <a:avLst/>
          </a:prstGeom>
          <a:solidFill>
            <a:srgbClr val="FAF7F3"/>
          </a:solidFill>
          <a:ln>
            <a:noFill/>
          </a:ln>
        </p:spPr>
        <p:txBody>
          <a:bodyPr rtlCol="0" anchor="ctr"/>
          <a:lstStyle/>
          <a:p>
            <a:pPr algn="ctr"/>
          </a:p>
        </p:txBody>
      </p:sp>
      <p:sp>
        <p:nvSpPr>
          <p:cNvPr id="25" name="Rule"/>
          <p:cNvSpPr/>
          <p:nvPr/>
        </p:nvSpPr>
        <p:spPr>
          <a:xfrm>
            <a:off x="5105400" y="4162425"/>
            <a:ext cx="4533900" cy="28575"/>
          </a:xfrm>
          <a:prstGeom prst="rect">
            <a:avLst/>
          </a:prstGeom>
          <a:solidFill>
            <a:srgbClr val="B68757"/>
          </a:solidFill>
          <a:ln>
            <a:noFill/>
          </a:ln>
        </p:spPr>
        <p:txBody>
          <a:bodyPr rtlCol="0" anchor="ctr"/>
          <a:lstStyle/>
          <a:p>
            <a:pPr algn="ctr"/>
          </a:p>
        </p:txBody>
      </p:sp>
      <p:sp>
        <p:nvSpPr>
          <p:cNvPr id="26" name="TextBox 25"/>
          <p:cNvSpPr txBox="1"/>
          <p:nvPr/>
        </p:nvSpPr>
        <p:spPr>
          <a:xfrm>
            <a:off x="5276850" y="4308729"/>
            <a:ext cx="2879080" cy="152400"/>
          </a:xfrm>
          <a:prstGeom prst="rect">
            <a:avLst/>
          </a:prstGeom>
          <a:noFill/>
        </p:spPr>
        <p:txBody>
          <a:bodyPr wrap="none" lIns="0" rIns="0" tIns="0" bIns="0" anchor="t">
            <a:noAutofit/>
          </a:bodyPr>
          <a:lstStyle/>
          <a:p>
            <a:pPr algn="l">
              <a:lnSpc>
                <a:spcPts val="1312"/>
              </a:lnSpc>
              <a:spcBef>
                <a:spcPts val="0"/>
              </a:spcBef>
              <a:spcAft>
                <a:spcPts val="0"/>
              </a:spcAft>
            </a:pPr>
            <a:r>
              <a:rPr sz="975" b="1" i="0" spc="15">
                <a:solidFill>
                  <a:srgbClr val="1B1A1A"/>
                </a:solidFill>
                <a:latin typeface="Quicksand"/>
              </a:rPr>
              <a:t>Free cash flow margin, trailing twelve months</a:t>
            </a:r>
          </a:p>
        </p:txBody>
      </p:sp>
      <p:sp>
        <p:nvSpPr>
          <p:cNvPr id="27" name="TextBox 26"/>
          <p:cNvSpPr txBox="1"/>
          <p:nvPr/>
        </p:nvSpPr>
        <p:spPr>
          <a:xfrm>
            <a:off x="5276850" y="4473892"/>
            <a:ext cx="1049387" cy="123825"/>
          </a:xfrm>
          <a:prstGeom prst="rect">
            <a:avLst/>
          </a:prstGeom>
          <a:noFill/>
        </p:spPr>
        <p:txBody>
          <a:bodyPr wrap="none" lIns="0" rIns="0" tIns="0" bIns="0" anchor="t">
            <a:noAutofit/>
          </a:bodyPr>
          <a:lstStyle/>
          <a:p>
            <a:pPr algn="l">
              <a:lnSpc>
                <a:spcPts val="1050"/>
              </a:lnSpc>
              <a:spcBef>
                <a:spcPts val="0"/>
              </a:spcBef>
              <a:spcAft>
                <a:spcPts val="0"/>
              </a:spcAft>
            </a:pPr>
            <a:r>
              <a:rPr sz="750" b="0" i="0" spc="15">
                <a:solidFill>
                  <a:srgbClr val="6F6A66"/>
                </a:solidFill>
                <a:latin typeface="Quicksand"/>
              </a:rPr>
              <a:t>Median by focus area</a:t>
            </a:r>
          </a:p>
        </p:txBody>
      </p:sp>
      <p:graphicFrame>
        <p:nvGraphicFramePr>
          <p:cNvPr id="28" name="Chart"/>
          <p:cNvGraphicFramePr>
            <a:graphicFrameLocks noGrp="1"/>
          </p:cNvGraphicFramePr>
          <p:nvPr/>
        </p:nvGraphicFramePr>
        <p:xfrm>
          <a:off x="5276850" y="4700588"/>
          <a:ext cx="4171950" cy="2000250"/>
        </p:xfrm>
        <a:graphic>
          <a:graphicData uri="http://schemas.openxmlformats.org/drawingml/2006/chart">
            <c:chart xmlns:c="http://schemas.openxmlformats.org/drawingml/2006/chart" r:id="rId5"/>
          </a:graphicData>
        </a:graphic>
      </p:graphicFrame>
      <p:sp>
        <p:nvSpPr>
          <p:cNvPr id="29" name="Panel"/>
          <p:cNvSpPr/>
          <p:nvPr/>
        </p:nvSpPr>
        <p:spPr>
          <a:xfrm>
            <a:off x="419100" y="7029450"/>
            <a:ext cx="9220200" cy="9525"/>
          </a:xfrm>
          <a:prstGeom prst="rect">
            <a:avLst/>
          </a:prstGeom>
          <a:solidFill>
            <a:srgbClr val="E3DCD3"/>
          </a:solidFill>
          <a:ln>
            <a:noFill/>
          </a:ln>
        </p:spPr>
        <p:txBody>
          <a:bodyPr rtlCol="0" anchor="ctr"/>
          <a:lstStyle/>
          <a:p>
            <a:pPr algn="ctr"/>
          </a:p>
        </p:txBody>
      </p:sp>
      <p:pic>
        <p:nvPicPr>
          <p:cNvPr id="30" name="Graphic" descr="S03_r6.png"/>
          <p:cNvPicPr>
            <a:picLocks noChangeAspect="1"/>
          </p:cNvPicPr>
          <p:nvPr/>
        </p:nvPicPr>
        <p:blipFill>
          <a:blip r:embed="rId6"/>
          <a:stretch>
            <a:fillRect/>
          </a:stretch>
        </p:blipFill>
        <p:spPr>
          <a:xfrm>
            <a:off x="419100" y="7143750"/>
            <a:ext cx="914400" cy="171450"/>
          </a:xfrm>
          <a:prstGeom prst="rect">
            <a:avLst/>
          </a:prstGeom>
        </p:spPr>
      </p:pic>
      <p:sp>
        <p:nvSpPr>
          <p:cNvPr id="31" name="TextBox 30"/>
          <p:cNvSpPr txBox="1"/>
          <p:nvPr/>
        </p:nvSpPr>
        <p:spPr>
          <a:xfrm>
            <a:off x="1543050" y="7091172"/>
            <a:ext cx="7810500" cy="223838"/>
          </a:xfrm>
          <a:prstGeom prst="rect">
            <a:avLst/>
          </a:prstGeom>
          <a:noFill/>
        </p:spPr>
        <p:txBody>
          <a:bodyPr wrap="square" lIns="0" rIns="0" tIns="0" bIns="0" anchor="t">
            <a:noAutofit/>
          </a:bodyPr>
          <a:lstStyle/>
          <a:p>
            <a:pPr algn="l">
              <a:lnSpc>
                <a:spcPts val="938"/>
              </a:lnSpc>
              <a:spcBef>
                <a:spcPts val="0"/>
              </a:spcBef>
              <a:spcAft>
                <a:spcPts val="0"/>
              </a:spcAft>
            </a:pPr>
            <a:r>
              <a:rPr sz="675" b="0" i="0" spc="8">
                <a:solidFill>
                  <a:srgbClr val="6F6A66"/>
                </a:solidFill>
                <a:latin typeface="Quicksand"/>
              </a:rPr>
              <a:t>Source: </a:t>
            </a:r>
            <a:r>
              <a:rPr sz="675" b="0" i="0" spc="8" u="sng">
                <a:solidFill>
                  <a:srgbClr val="8C6239"/>
                </a:solidFill>
                <a:latin typeface="Quicksand"/>
                <a:hlinkClick r:id="rId7">
                  <a:extLst>
                    <a:ext uri="{A12FA001-AC4F-418D-AE19-62706E023703}">
                      <ahyp:hlinkClr xmlns:ahyp="http://schemas.microsoft.com/office/drawing/2018/hyperlinkcolor" val="tx"/>
                    </a:ext>
                  </a:extLst>
                </a:hlinkClick>
              </a:rPr>
              <a:t>StockAnalysis</a:t>
            </a:r>
            <a:r>
              <a:rPr sz="675" b="0" i="0" spc="8">
                <a:solidFill>
                  <a:srgbClr val="6F6A66"/>
                </a:solidFill>
                <a:latin typeface="Quicksand"/>
              </a:rPr>
              <a:t>, retrieved October 5, 6 and 14, 2026. Trailing periods end between June and August 2026. EBITDA is as reported and is lower than the adjusted EBITDA companies present, most visibly for security software. Medians cover all listed companies in each focus area.</a:t>
            </a:r>
          </a:p>
        </p:txBody>
      </p:sp>
      <p:sp>
        <p:nvSpPr>
          <p:cNvPr id="32" name="TextBox 31"/>
          <p:cNvSpPr txBox="1"/>
          <p:nvPr/>
        </p:nvSpPr>
        <p:spPr>
          <a:xfrm>
            <a:off x="9510415" y="7149370"/>
            <a:ext cx="128885" cy="114300"/>
          </a:xfrm>
          <a:prstGeom prst="rect">
            <a:avLst/>
          </a:prstGeom>
          <a:noFill/>
        </p:spPr>
        <p:txBody>
          <a:bodyPr wrap="none" lIns="0" rIns="0" tIns="0" bIns="0" anchor="t">
            <a:noAutofit/>
          </a:bodyPr>
          <a:lstStyle/>
          <a:p>
            <a:pPr algn="r">
              <a:lnSpc>
                <a:spcPts val="1050"/>
              </a:lnSpc>
              <a:spcBef>
                <a:spcPts val="0"/>
              </a:spcBef>
              <a:spcAft>
                <a:spcPts val="0"/>
              </a:spcAft>
            </a:pPr>
            <a:r>
              <a:rPr sz="712" b="1" i="0" spc="150">
                <a:solidFill>
                  <a:srgbClr val="1B1A1A"/>
                </a:solidFill>
                <a:latin typeface="Quicksand"/>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3" name="Panel"/>
          <p:cNvSpPr/>
          <p:nvPr/>
        </p:nvSpPr>
        <p:spPr>
          <a:xfrm>
            <a:off x="0" y="0"/>
            <a:ext cx="10058400" cy="7772400"/>
          </a:xfrm>
          <a:prstGeom prst="rect">
            <a:avLst/>
          </a:prstGeom>
          <a:solidFill>
            <a:srgbClr val="FFFFFF"/>
          </a:solidFill>
          <a:ln>
            <a:noFill/>
          </a:ln>
        </p:spPr>
        <p:txBody>
          <a:bodyPr rtlCol="0" anchor="ctr"/>
          <a:lstStyle/>
          <a:p>
            <a:pPr algn="ctr"/>
          </a:p>
        </p:txBody>
      </p:sp>
      <p:sp>
        <p:nvSpPr>
          <p:cNvPr id="4" name="Panel"/>
          <p:cNvSpPr/>
          <p:nvPr/>
        </p:nvSpPr>
        <p:spPr>
          <a:xfrm>
            <a:off x="0" y="0"/>
            <a:ext cx="57150" cy="7772400"/>
          </a:xfrm>
          <a:prstGeom prst="rect">
            <a:avLst/>
          </a:prstGeom>
          <a:solidFill>
            <a:srgbClr val="B68757"/>
          </a:solidFill>
          <a:ln>
            <a:noFill/>
          </a:ln>
        </p:spPr>
        <p:txBody>
          <a:bodyPr rtlCol="0" anchor="ctr"/>
          <a:lstStyle/>
          <a:p>
            <a:pPr algn="ctr"/>
          </a:p>
        </p:txBody>
      </p:sp>
      <p:sp>
        <p:nvSpPr>
          <p:cNvPr id="5" name="TextBox 4"/>
          <p:cNvSpPr txBox="1"/>
          <p:nvPr/>
        </p:nvSpPr>
        <p:spPr>
          <a:xfrm>
            <a:off x="419100" y="361760"/>
            <a:ext cx="2764185" cy="104775"/>
          </a:xfrm>
          <a:prstGeom prst="rect">
            <a:avLst/>
          </a:prstGeom>
          <a:noFill/>
        </p:spPr>
        <p:txBody>
          <a:bodyPr wrap="none" lIns="0" rIns="0" tIns="0" bIns="0" anchor="t">
            <a:noAutofit/>
          </a:bodyPr>
          <a:lstStyle/>
          <a:p>
            <a:pPr algn="l">
              <a:lnSpc>
                <a:spcPts val="1050"/>
              </a:lnSpc>
              <a:spcBef>
                <a:spcPts val="0"/>
              </a:spcBef>
              <a:spcAft>
                <a:spcPts val="0"/>
              </a:spcAft>
            </a:pPr>
            <a:r>
              <a:rPr sz="675" b="1" i="0" spc="195">
                <a:solidFill>
                  <a:srgbClr val="8C6239"/>
                </a:solidFill>
                <a:latin typeface="Quicksand"/>
              </a:rPr>
              <a:t>TECHNOLOGY  |  QUARTERLY SECTOR BRIEF</a:t>
            </a:r>
          </a:p>
        </p:txBody>
      </p:sp>
      <p:sp>
        <p:nvSpPr>
          <p:cNvPr id="6" name="TextBox 5"/>
          <p:cNvSpPr txBox="1"/>
          <p:nvPr/>
        </p:nvSpPr>
        <p:spPr>
          <a:xfrm>
            <a:off x="9112597" y="350901"/>
            <a:ext cx="526703" cy="152400"/>
          </a:xfrm>
          <a:prstGeom prst="rect">
            <a:avLst/>
          </a:prstGeom>
          <a:noFill/>
        </p:spPr>
        <p:txBody>
          <a:bodyPr wrap="none" lIns="0" rIns="0" tIns="0" bIns="0" anchor="t">
            <a:noAutofit/>
          </a:bodyPr>
          <a:lstStyle/>
          <a:p>
            <a:pPr algn="r">
              <a:lnSpc>
                <a:spcPts val="1350"/>
              </a:lnSpc>
              <a:spcBef>
                <a:spcPts val="0"/>
              </a:spcBef>
              <a:spcAft>
                <a:spcPts val="0"/>
              </a:spcAft>
            </a:pPr>
            <a:r>
              <a:rPr sz="900" b="0" i="0" spc="90">
                <a:solidFill>
                  <a:srgbClr val="6F6A66"/>
                </a:solidFill>
                <a:latin typeface="Cinzel"/>
              </a:rPr>
              <a:t>Q4 2026</a:t>
            </a:r>
          </a:p>
        </p:txBody>
      </p:sp>
      <p:sp>
        <p:nvSpPr>
          <p:cNvPr id="2" name="Title 1"/>
          <p:cNvSpPr>
            <a:spLocks noGrp="1"/>
          </p:cNvSpPr>
          <p:nvPr>
            <p:ph type="title"/>
          </p:nvPr>
        </p:nvSpPr>
        <p:spPr>
          <a:xfrm>
            <a:off x="419100" y="475488"/>
            <a:ext cx="3157389" cy="257175"/>
          </a:xfrm>
        </p:spPr>
        <p:txBody>
          <a:bodyPr wrap="none" lIns="0" rIns="0" tIns="0" bIns="0" anchor="t">
            <a:noAutofit/>
          </a:bodyPr>
          <a:lstStyle/>
          <a:p>
            <a:pPr algn="l">
              <a:lnSpc>
                <a:spcPts val="2550"/>
              </a:lnSpc>
              <a:spcBef>
                <a:spcPts val="0"/>
              </a:spcBef>
              <a:spcAft>
                <a:spcPts val="0"/>
              </a:spcAft>
            </a:pPr>
            <a:r>
              <a:rPr sz="2000" b="1" i="0">
                <a:solidFill>
                  <a:srgbClr val="1B1A1A"/>
                </a:solidFill>
                <a:latin typeface="Newsreader"/>
              </a:rPr>
              <a:t>Earnings and Commentary</a:t>
            </a:r>
          </a:p>
        </p:txBody>
      </p:sp>
      <p:sp>
        <p:nvSpPr>
          <p:cNvPr id="7" name="TextBox 6"/>
          <p:cNvSpPr txBox="1"/>
          <p:nvPr/>
        </p:nvSpPr>
        <p:spPr>
          <a:xfrm>
            <a:off x="419100" y="864394"/>
            <a:ext cx="8120807" cy="152400"/>
          </a:xfrm>
          <a:prstGeom prst="rect">
            <a:avLst/>
          </a:prstGeom>
          <a:noFill/>
        </p:spPr>
        <p:txBody>
          <a:bodyPr wrap="none" lIns="0" rIns="0" tIns="0" bIns="0" anchor="t">
            <a:noAutofit/>
          </a:bodyPr>
          <a:lstStyle/>
          <a:p>
            <a:pPr algn="l">
              <a:lnSpc>
                <a:spcPts val="1388"/>
              </a:lnSpc>
              <a:spcBef>
                <a:spcPts val="0"/>
              </a:spcBef>
              <a:spcAft>
                <a:spcPts val="0"/>
              </a:spcAft>
            </a:pPr>
            <a:r>
              <a:rPr sz="938" b="0" i="0" spc="15">
                <a:solidFill>
                  <a:srgbClr val="6F6A66"/>
                </a:solidFill>
                <a:latin typeface="Quicksand"/>
              </a:rPr>
              <a:t>Data center suppliers grew fastest, security vendors tied their outlook to AI adoption, and government contractors described a harder market.</a:t>
            </a:r>
          </a:p>
        </p:txBody>
      </p:sp>
      <p:sp>
        <p:nvSpPr>
          <p:cNvPr id="8" name="Panel"/>
          <p:cNvSpPr/>
          <p:nvPr/>
        </p:nvSpPr>
        <p:spPr>
          <a:xfrm>
            <a:off x="419100" y="1143000"/>
            <a:ext cx="9220200" cy="9525"/>
          </a:xfrm>
          <a:prstGeom prst="rect">
            <a:avLst/>
          </a:prstGeom>
          <a:solidFill>
            <a:srgbClr val="E3DCD3"/>
          </a:solidFill>
          <a:ln>
            <a:noFill/>
          </a:ln>
        </p:spPr>
        <p:txBody>
          <a:bodyPr rtlCol="0" anchor="ctr"/>
          <a:lstStyle/>
          <a:p>
            <a:pPr algn="ctr"/>
          </a:p>
        </p:txBody>
      </p:sp>
      <p:sp>
        <p:nvSpPr>
          <p:cNvPr id="9" name="Panel"/>
          <p:cNvSpPr/>
          <p:nvPr/>
        </p:nvSpPr>
        <p:spPr>
          <a:xfrm>
            <a:off x="419100" y="1238250"/>
            <a:ext cx="2857500" cy="5695950"/>
          </a:xfrm>
          <a:prstGeom prst="rect">
            <a:avLst/>
          </a:prstGeom>
          <a:solidFill>
            <a:srgbClr val="FAF7F3"/>
          </a:solidFill>
          <a:ln>
            <a:noFill/>
          </a:ln>
        </p:spPr>
        <p:txBody>
          <a:bodyPr rtlCol="0" anchor="ctr"/>
          <a:lstStyle/>
          <a:p>
            <a:pPr algn="ctr"/>
          </a:p>
        </p:txBody>
      </p:sp>
      <p:sp>
        <p:nvSpPr>
          <p:cNvPr id="10" name="Rule"/>
          <p:cNvSpPr/>
          <p:nvPr/>
        </p:nvSpPr>
        <p:spPr>
          <a:xfrm>
            <a:off x="419100" y="1238250"/>
            <a:ext cx="2857500" cy="28575"/>
          </a:xfrm>
          <a:prstGeom prst="rect">
            <a:avLst/>
          </a:prstGeom>
          <a:solidFill>
            <a:srgbClr val="B68757"/>
          </a:solidFill>
          <a:ln>
            <a:noFill/>
          </a:ln>
        </p:spPr>
        <p:txBody>
          <a:bodyPr rtlCol="0" anchor="ctr"/>
          <a:lstStyle/>
          <a:p>
            <a:pPr algn="ctr"/>
          </a:p>
        </p:txBody>
      </p:sp>
      <p:sp>
        <p:nvSpPr>
          <p:cNvPr id="11" name="TextBox 10"/>
          <p:cNvSpPr txBox="1"/>
          <p:nvPr/>
        </p:nvSpPr>
        <p:spPr>
          <a:xfrm>
            <a:off x="552450" y="1384554"/>
            <a:ext cx="2591544" cy="152400"/>
          </a:xfrm>
          <a:prstGeom prst="rect">
            <a:avLst/>
          </a:prstGeom>
          <a:noFill/>
        </p:spPr>
        <p:txBody>
          <a:bodyPr wrap="none" lIns="0" rIns="0" tIns="0" bIns="0" anchor="t">
            <a:noAutofit/>
          </a:bodyPr>
          <a:lstStyle/>
          <a:p>
            <a:pPr algn="l">
              <a:lnSpc>
                <a:spcPts val="1312"/>
              </a:lnSpc>
              <a:spcBef>
                <a:spcPts val="0"/>
              </a:spcBef>
              <a:spcAft>
                <a:spcPts val="0"/>
              </a:spcAft>
            </a:pPr>
            <a:r>
              <a:rPr sz="975" b="1" i="0" spc="15">
                <a:solidFill>
                  <a:srgbClr val="1B1A1A"/>
                </a:solidFill>
                <a:latin typeface="Quicksand"/>
              </a:rPr>
              <a:t>Revenue growth, latest reported quarter</a:t>
            </a:r>
          </a:p>
        </p:txBody>
      </p:sp>
      <p:sp>
        <p:nvSpPr>
          <p:cNvPr id="12" name="TextBox 11"/>
          <p:cNvSpPr txBox="1"/>
          <p:nvPr/>
        </p:nvSpPr>
        <p:spPr>
          <a:xfrm>
            <a:off x="552450" y="1549718"/>
            <a:ext cx="2667000" cy="257175"/>
          </a:xfrm>
          <a:prstGeom prst="rect">
            <a:avLst/>
          </a:prstGeom>
          <a:noFill/>
        </p:spPr>
        <p:txBody>
          <a:bodyPr wrap="square" lIns="0" rIns="0" tIns="0" bIns="0" anchor="t">
            <a:noAutofit/>
          </a:bodyPr>
          <a:lstStyle/>
          <a:p>
            <a:pPr algn="l">
              <a:lnSpc>
                <a:spcPts val="1050"/>
              </a:lnSpc>
              <a:spcBef>
                <a:spcPts val="0"/>
              </a:spcBef>
              <a:spcAft>
                <a:spcPts val="0"/>
              </a:spcAft>
            </a:pPr>
            <a:r>
              <a:rPr sz="750" b="0" i="0" spc="15">
                <a:solidFill>
                  <a:srgbClr val="6F6A66"/>
                </a:solidFill>
                <a:latin typeface="Quicksand"/>
              </a:rPr>
              <a:t>Year over year, as stated in each earnings release; quarters ended June to August 2026</a:t>
            </a:r>
          </a:p>
        </p:txBody>
      </p:sp>
      <p:graphicFrame>
        <p:nvGraphicFramePr>
          <p:cNvPr id="13" name="Chart"/>
          <p:cNvGraphicFramePr>
            <a:graphicFrameLocks noGrp="1"/>
          </p:cNvGraphicFramePr>
          <p:nvPr/>
        </p:nvGraphicFramePr>
        <p:xfrm>
          <a:off x="552450" y="1909762"/>
          <a:ext cx="2705100" cy="4105275"/>
        </p:xfrm>
        <a:graphic>
          <a:graphicData uri="http://schemas.openxmlformats.org/drawingml/2006/chart">
            <c:chart xmlns:c="http://schemas.openxmlformats.org/drawingml/2006/chart" r:id="rId2"/>
          </a:graphicData>
        </a:graphic>
      </p:graphicFrame>
      <p:sp>
        <p:nvSpPr>
          <p:cNvPr id="14" name="TextBox 13"/>
          <p:cNvSpPr txBox="1"/>
          <p:nvPr/>
        </p:nvSpPr>
        <p:spPr>
          <a:xfrm>
            <a:off x="552450" y="6076760"/>
            <a:ext cx="2667000" cy="461962"/>
          </a:xfrm>
          <a:prstGeom prst="rect">
            <a:avLst/>
          </a:prstGeom>
          <a:noFill/>
        </p:spPr>
        <p:txBody>
          <a:bodyPr wrap="square" lIns="0" rIns="0" tIns="0" bIns="0" anchor="t">
            <a:noAutofit/>
          </a:bodyPr>
          <a:lstStyle/>
          <a:p>
            <a:pPr algn="l">
              <a:lnSpc>
                <a:spcPts val="938"/>
              </a:lnSpc>
              <a:spcBef>
                <a:spcPts val="0"/>
              </a:spcBef>
              <a:spcAft>
                <a:spcPts val="0"/>
              </a:spcAft>
            </a:pPr>
            <a:r>
              <a:rPr sz="675" b="0" i="0" spc="15">
                <a:solidFill>
                  <a:srgbClr val="6F6A66"/>
                </a:solidFill>
                <a:latin typeface="Quicksand"/>
              </a:rPr>
              <a:t>Earnings releases: </a:t>
            </a:r>
            <a:r>
              <a:rPr sz="675" b="0" i="0" spc="15" u="sng">
                <a:solidFill>
                  <a:srgbClr val="8C6239"/>
                </a:solidFill>
                <a:latin typeface="Quicksand"/>
                <a:hlinkClick r:id="rId3">
                  <a:extLst>
                    <a:ext uri="{A12FA001-AC4F-418D-AE19-62706E023703}">
                      <ahyp:hlinkClr xmlns:ahyp="http://schemas.microsoft.com/office/drawing/2018/hyperlinkcolor" val="tx"/>
                    </a:ext>
                  </a:extLst>
                </a:hlinkClick>
              </a:rPr>
              <a:t>Celestica</a:t>
            </a:r>
            <a:r>
              <a:rPr sz="675" b="0" i="0" spc="15">
                <a:solidFill>
                  <a:srgbClr val="6F6A66"/>
                </a:solidFill>
                <a:latin typeface="Quicksand"/>
              </a:rPr>
              <a:t>, </a:t>
            </a:r>
            <a:r>
              <a:rPr sz="675" b="0" i="0" spc="15" u="sng">
                <a:solidFill>
                  <a:srgbClr val="8C6239"/>
                </a:solidFill>
                <a:latin typeface="Quicksand"/>
                <a:hlinkClick r:id="rId4">
                  <a:extLst>
                    <a:ext uri="{A12FA001-AC4F-418D-AE19-62706E023703}">
                      <ahyp:hlinkClr xmlns:ahyp="http://schemas.microsoft.com/office/drawing/2018/hyperlinkcolor" val="tx"/>
                    </a:ext>
                  </a:extLst>
                </a:hlinkClick>
              </a:rPr>
              <a:t>TD SYNNEX</a:t>
            </a:r>
            <a:r>
              <a:rPr sz="675" b="0" i="0" spc="15">
                <a:solidFill>
                  <a:srgbClr val="6F6A66"/>
                </a:solidFill>
                <a:latin typeface="Quicksand"/>
              </a:rPr>
              <a:t>, </a:t>
            </a:r>
            <a:r>
              <a:rPr sz="675" b="0" i="0" spc="15" u="sng">
                <a:solidFill>
                  <a:srgbClr val="8C6239"/>
                </a:solidFill>
                <a:latin typeface="Quicksand"/>
                <a:hlinkClick r:id="rId5">
                  <a:extLst>
                    <a:ext uri="{A12FA001-AC4F-418D-AE19-62706E023703}">
                      <ahyp:hlinkClr xmlns:ahyp="http://schemas.microsoft.com/office/drawing/2018/hyperlinkcolor" val="tx"/>
                    </a:ext>
                  </a:extLst>
                </a:hlinkClick>
              </a:rPr>
              <a:t>Palo Alto Networks</a:t>
            </a:r>
            <a:r>
              <a:rPr sz="675" b="0" i="0" spc="15">
                <a:solidFill>
                  <a:srgbClr val="6F6A66"/>
                </a:solidFill>
                <a:latin typeface="Quicksand"/>
              </a:rPr>
              <a:t>, </a:t>
            </a:r>
            <a:r>
              <a:rPr sz="675" b="0" i="0" spc="15" u="sng">
                <a:solidFill>
                  <a:srgbClr val="8C6239"/>
                </a:solidFill>
                <a:latin typeface="Quicksand"/>
                <a:hlinkClick r:id="rId6">
                  <a:extLst>
                    <a:ext uri="{A12FA001-AC4F-418D-AE19-62706E023703}">
                      <ahyp:hlinkClr xmlns:ahyp="http://schemas.microsoft.com/office/drawing/2018/hyperlinkcolor" val="tx"/>
                    </a:ext>
                  </a:extLst>
                </a:hlinkClick>
              </a:rPr>
              <a:t>CrowdStrike</a:t>
            </a:r>
            <a:r>
              <a:rPr sz="675" b="0" i="0" spc="15">
                <a:solidFill>
                  <a:srgbClr val="6F6A66"/>
                </a:solidFill>
                <a:latin typeface="Quicksand"/>
              </a:rPr>
              <a:t>, </a:t>
            </a:r>
            <a:r>
              <a:rPr sz="675" b="0" i="0" spc="15" u="sng">
                <a:solidFill>
                  <a:srgbClr val="8C6239"/>
                </a:solidFill>
                <a:latin typeface="Quicksand"/>
                <a:hlinkClick r:id="rId7">
                  <a:extLst>
                    <a:ext uri="{A12FA001-AC4F-418D-AE19-62706E023703}">
                      <ahyp:hlinkClr xmlns:ahyp="http://schemas.microsoft.com/office/drawing/2018/hyperlinkcolor" val="tx"/>
                    </a:ext>
                  </a:extLst>
                </a:hlinkClick>
              </a:rPr>
              <a:t>Fortinet</a:t>
            </a:r>
            <a:r>
              <a:rPr sz="675" b="0" i="0" spc="15">
                <a:solidFill>
                  <a:srgbClr val="6F6A66"/>
                </a:solidFill>
                <a:latin typeface="Quicksand"/>
              </a:rPr>
              <a:t>, </a:t>
            </a:r>
            <a:r>
              <a:rPr sz="675" b="0" i="0" spc="15" u="sng">
                <a:solidFill>
                  <a:srgbClr val="8C6239"/>
                </a:solidFill>
                <a:latin typeface="Quicksand"/>
                <a:hlinkClick r:id="rId8">
                  <a:extLst>
                    <a:ext uri="{A12FA001-AC4F-418D-AE19-62706E023703}">
                      <ahyp:hlinkClr xmlns:ahyp="http://schemas.microsoft.com/office/drawing/2018/hyperlinkcolor" val="tx"/>
                    </a:ext>
                  </a:extLst>
                </a:hlinkClick>
              </a:rPr>
              <a:t>Flex</a:t>
            </a:r>
            <a:r>
              <a:rPr sz="675" b="0" i="0" spc="15">
                <a:solidFill>
                  <a:srgbClr val="6F6A66"/>
                </a:solidFill>
                <a:latin typeface="Quicksand"/>
              </a:rPr>
              <a:t>, </a:t>
            </a:r>
            <a:r>
              <a:rPr sz="675" b="0" i="0" spc="15" u="sng">
                <a:solidFill>
                  <a:srgbClr val="8C6239"/>
                </a:solidFill>
                <a:latin typeface="Quicksand"/>
                <a:hlinkClick r:id="rId9">
                  <a:extLst>
                    <a:ext uri="{A12FA001-AC4F-418D-AE19-62706E023703}">
                      <ahyp:hlinkClr xmlns:ahyp="http://schemas.microsoft.com/office/drawing/2018/hyperlinkcolor" val="tx"/>
                    </a:ext>
                  </a:extLst>
                </a:hlinkClick>
              </a:rPr>
              <a:t>CACI</a:t>
            </a:r>
            <a:r>
              <a:rPr sz="675" b="0" i="0" spc="15">
                <a:solidFill>
                  <a:srgbClr val="6F6A66"/>
                </a:solidFill>
                <a:latin typeface="Quicksand"/>
              </a:rPr>
              <a:t>, </a:t>
            </a:r>
            <a:r>
              <a:rPr sz="675" b="0" i="0" spc="15" u="sng">
                <a:solidFill>
                  <a:srgbClr val="8C6239"/>
                </a:solidFill>
                <a:latin typeface="Quicksand"/>
                <a:hlinkClick r:id="rId10">
                  <a:extLst>
                    <a:ext uri="{A12FA001-AC4F-418D-AE19-62706E023703}">
                      <ahyp:hlinkClr xmlns:ahyp="http://schemas.microsoft.com/office/drawing/2018/hyperlinkcolor" val="tx"/>
                    </a:ext>
                  </a:extLst>
                </a:hlinkClick>
              </a:rPr>
              <a:t>Insight Enterprises</a:t>
            </a:r>
            <a:r>
              <a:rPr sz="675" b="0" i="0" spc="15">
                <a:solidFill>
                  <a:srgbClr val="6F6A66"/>
                </a:solidFill>
                <a:latin typeface="Quicksand"/>
              </a:rPr>
              <a:t>, </a:t>
            </a:r>
            <a:r>
              <a:rPr sz="675" b="0" i="0" spc="15" u="sng">
                <a:solidFill>
                  <a:srgbClr val="8C6239"/>
                </a:solidFill>
                <a:latin typeface="Quicksand"/>
                <a:hlinkClick r:id="rId11">
                  <a:extLst>
                    <a:ext uri="{A12FA001-AC4F-418D-AE19-62706E023703}">
                      <ahyp:hlinkClr xmlns:ahyp="http://schemas.microsoft.com/office/drawing/2018/hyperlinkcolor" val="tx"/>
                    </a:ext>
                  </a:extLst>
                </a:hlinkClick>
              </a:rPr>
              <a:t>Wesco</a:t>
            </a:r>
            <a:r>
              <a:rPr sz="675" b="0" i="0" spc="15">
                <a:solidFill>
                  <a:srgbClr val="6F6A66"/>
                </a:solidFill>
                <a:latin typeface="Quicksand"/>
              </a:rPr>
              <a:t>, </a:t>
            </a:r>
            <a:r>
              <a:rPr sz="675" b="0" i="0" spc="15" u="sng">
                <a:solidFill>
                  <a:srgbClr val="8C6239"/>
                </a:solidFill>
                <a:latin typeface="Quicksand"/>
                <a:hlinkClick r:id="rId12">
                  <a:extLst>
                    <a:ext uri="{A12FA001-AC4F-418D-AE19-62706E023703}">
                      <ahyp:hlinkClr xmlns:ahyp="http://schemas.microsoft.com/office/drawing/2018/hyperlinkcolor" val="tx"/>
                    </a:ext>
                  </a:extLst>
                </a:hlinkClick>
              </a:rPr>
              <a:t>CDW</a:t>
            </a:r>
            <a:r>
              <a:rPr sz="675" b="0" i="0" spc="15">
                <a:solidFill>
                  <a:srgbClr val="6F6A66"/>
                </a:solidFill>
                <a:latin typeface="Quicksand"/>
              </a:rPr>
              <a:t>, </a:t>
            </a:r>
            <a:r>
              <a:rPr sz="675" b="0" i="0" spc="15" u="sng">
                <a:solidFill>
                  <a:srgbClr val="8C6239"/>
                </a:solidFill>
                <a:latin typeface="Quicksand"/>
                <a:hlinkClick r:id="rId13">
                  <a:extLst>
                    <a:ext uri="{A12FA001-AC4F-418D-AE19-62706E023703}">
                      <ahyp:hlinkClr xmlns:ahyp="http://schemas.microsoft.com/office/drawing/2018/hyperlinkcolor" val="tx"/>
                    </a:ext>
                  </a:extLst>
                </a:hlinkClick>
              </a:rPr>
              <a:t>Napco Security</a:t>
            </a:r>
            <a:r>
              <a:rPr sz="675" b="0" i="0" spc="15">
                <a:solidFill>
                  <a:srgbClr val="6F6A66"/>
                </a:solidFill>
                <a:latin typeface="Quicksand"/>
              </a:rPr>
              <a:t>, </a:t>
            </a:r>
            <a:r>
              <a:rPr sz="675" b="0" i="0" spc="15" u="sng">
                <a:solidFill>
                  <a:srgbClr val="8C6239"/>
                </a:solidFill>
                <a:latin typeface="Quicksand"/>
                <a:hlinkClick r:id="rId14">
                  <a:extLst>
                    <a:ext uri="{A12FA001-AC4F-418D-AE19-62706E023703}">
                      <ahyp:hlinkClr xmlns:ahyp="http://schemas.microsoft.com/office/drawing/2018/hyperlinkcolor" val="tx"/>
                    </a:ext>
                  </a:extLst>
                </a:hlinkClick>
              </a:rPr>
              <a:t>Tyler Technologies</a:t>
            </a:r>
            <a:r>
              <a:rPr sz="675" b="0" i="0" spc="15">
                <a:solidFill>
                  <a:srgbClr val="6F6A66"/>
                </a:solidFill>
                <a:latin typeface="Quicksand"/>
              </a:rPr>
              <a:t>, </a:t>
            </a:r>
            <a:r>
              <a:rPr sz="675" b="0" i="0" spc="15" u="sng">
                <a:solidFill>
                  <a:srgbClr val="8C6239"/>
                </a:solidFill>
                <a:latin typeface="Quicksand"/>
                <a:hlinkClick r:id="rId15">
                  <a:extLst>
                    <a:ext uri="{A12FA001-AC4F-418D-AE19-62706E023703}">
                      <ahyp:hlinkClr xmlns:ahyp="http://schemas.microsoft.com/office/drawing/2018/hyperlinkcolor" val="tx"/>
                    </a:ext>
                  </a:extLst>
                </a:hlinkClick>
              </a:rPr>
              <a:t>Leidos</a:t>
            </a:r>
            <a:r>
              <a:rPr sz="675" b="0" i="0" spc="15">
                <a:solidFill>
                  <a:srgbClr val="6F6A66"/>
                </a:solidFill>
                <a:latin typeface="Quicksand"/>
              </a:rPr>
              <a:t>, </a:t>
            </a:r>
            <a:r>
              <a:rPr sz="675" b="0" i="0" spc="15" u="sng">
                <a:solidFill>
                  <a:srgbClr val="8C6239"/>
                </a:solidFill>
                <a:latin typeface="Quicksand"/>
                <a:hlinkClick r:id="rId16">
                  <a:extLst>
                    <a:ext uri="{A12FA001-AC4F-418D-AE19-62706E023703}">
                      <ahyp:hlinkClr xmlns:ahyp="http://schemas.microsoft.com/office/drawing/2018/hyperlinkcolor" val="tx"/>
                    </a:ext>
                  </a:extLst>
                </a:hlinkClick>
              </a:rPr>
              <a:t>Accenture</a:t>
            </a:r>
            <a:r>
              <a:rPr sz="675" b="0" i="0" spc="15">
                <a:solidFill>
                  <a:srgbClr val="6F6A66"/>
                </a:solidFill>
                <a:latin typeface="Quicksand"/>
              </a:rPr>
              <a:t>, </a:t>
            </a:r>
            <a:r>
              <a:rPr sz="675" b="0" i="0" spc="15" u="sng">
                <a:solidFill>
                  <a:srgbClr val="8C6239"/>
                </a:solidFill>
                <a:latin typeface="Quicksand"/>
                <a:hlinkClick r:id="rId17">
                  <a:extLst>
                    <a:ext uri="{A12FA001-AC4F-418D-AE19-62706E023703}">
                      <ahyp:hlinkClr xmlns:ahyp="http://schemas.microsoft.com/office/drawing/2018/hyperlinkcolor" val="tx"/>
                    </a:ext>
                  </a:extLst>
                </a:hlinkClick>
              </a:rPr>
              <a:t>RingCentral</a:t>
            </a:r>
            <a:r>
              <a:rPr sz="675" b="0" i="0" spc="15">
                <a:solidFill>
                  <a:srgbClr val="6F6A66"/>
                </a:solidFill>
                <a:latin typeface="Quicksand"/>
              </a:rPr>
              <a:t>, </a:t>
            </a:r>
            <a:r>
              <a:rPr sz="675" b="0" i="0" spc="15" u="sng">
                <a:solidFill>
                  <a:srgbClr val="8C6239"/>
                </a:solidFill>
                <a:latin typeface="Quicksand"/>
                <a:hlinkClick r:id="rId18">
                  <a:extLst>
                    <a:ext uri="{A12FA001-AC4F-418D-AE19-62706E023703}">
                      <ahyp:hlinkClr xmlns:ahyp="http://schemas.microsoft.com/office/drawing/2018/hyperlinkcolor" val="tx"/>
                    </a:ext>
                  </a:extLst>
                </a:hlinkClick>
              </a:rPr>
              <a:t>Zoom</a:t>
            </a:r>
            <a:r>
              <a:rPr sz="675" b="0" i="0" spc="15">
                <a:solidFill>
                  <a:srgbClr val="6F6A66"/>
                </a:solidFill>
                <a:latin typeface="Quicksand"/>
              </a:rPr>
              <a:t>, </a:t>
            </a:r>
            <a:r>
              <a:rPr sz="675" b="0" i="0" spc="15" u="sng">
                <a:solidFill>
                  <a:srgbClr val="8C6239"/>
                </a:solidFill>
                <a:latin typeface="Quicksand"/>
                <a:hlinkClick r:id="rId19">
                  <a:extLst>
                    <a:ext uri="{A12FA001-AC4F-418D-AE19-62706E023703}">
                      <ahyp:hlinkClr xmlns:ahyp="http://schemas.microsoft.com/office/drawing/2018/hyperlinkcolor" val="tx"/>
                    </a:ext>
                  </a:extLst>
                </a:hlinkClick>
              </a:rPr>
              <a:t>Booz Allen Hamilton</a:t>
            </a:r>
            <a:r>
              <a:rPr sz="675" b="0" i="0" spc="15">
                <a:solidFill>
                  <a:srgbClr val="6F6A66"/>
                </a:solidFill>
                <a:latin typeface="Quicksand"/>
              </a:rPr>
              <a:t>.</a:t>
            </a:r>
          </a:p>
        </p:txBody>
      </p:sp>
      <p:sp>
        <p:nvSpPr>
          <p:cNvPr id="15" name="Panel"/>
          <p:cNvSpPr/>
          <p:nvPr/>
        </p:nvSpPr>
        <p:spPr>
          <a:xfrm>
            <a:off x="3429000" y="1238250"/>
            <a:ext cx="1981200" cy="419100"/>
          </a:xfrm>
          <a:prstGeom prst="rect">
            <a:avLst/>
          </a:prstGeom>
          <a:solidFill>
            <a:srgbClr val="1B1A1A"/>
          </a:solidFill>
          <a:ln>
            <a:noFill/>
          </a:ln>
        </p:spPr>
        <p:txBody>
          <a:bodyPr rtlCol="0" anchor="ctr"/>
          <a:lstStyle/>
          <a:p>
            <a:pPr algn="ctr"/>
          </a:p>
        </p:txBody>
      </p:sp>
      <p:pic>
        <p:nvPicPr>
          <p:cNvPr id="16" name="Graphic" descr="S11_r0.png"/>
          <p:cNvPicPr>
            <a:picLocks noChangeAspect="1"/>
          </p:cNvPicPr>
          <p:nvPr/>
        </p:nvPicPr>
        <p:blipFill>
          <a:blip r:embed="rId20"/>
          <a:stretch>
            <a:fillRect/>
          </a:stretch>
        </p:blipFill>
        <p:spPr>
          <a:xfrm>
            <a:off x="3533775" y="1333500"/>
            <a:ext cx="228600" cy="228600"/>
          </a:xfrm>
          <a:prstGeom prst="rect">
            <a:avLst/>
          </a:prstGeom>
        </p:spPr>
      </p:pic>
      <p:sp>
        <p:nvSpPr>
          <p:cNvPr id="17" name="TextBox 16"/>
          <p:cNvSpPr txBox="1"/>
          <p:nvPr/>
        </p:nvSpPr>
        <p:spPr>
          <a:xfrm>
            <a:off x="3848100" y="1310545"/>
            <a:ext cx="1533525" cy="238125"/>
          </a:xfrm>
          <a:prstGeom prst="rect">
            <a:avLst/>
          </a:prstGeom>
          <a:noFill/>
        </p:spPr>
        <p:txBody>
          <a:bodyPr wrap="square" lIns="0" rIns="0" tIns="0" bIns="0" anchor="t">
            <a:noAutofit/>
          </a:bodyPr>
          <a:lstStyle/>
          <a:p>
            <a:pPr algn="l">
              <a:lnSpc>
                <a:spcPts val="975"/>
              </a:lnSpc>
              <a:spcBef>
                <a:spcPts val="0"/>
              </a:spcBef>
              <a:spcAft>
                <a:spcPts val="0"/>
              </a:spcAft>
            </a:pPr>
            <a:r>
              <a:rPr sz="712" b="1" i="0" spc="120">
                <a:solidFill>
                  <a:srgbClr val="FFFFFF"/>
                </a:solidFill>
                <a:latin typeface="Quicksand"/>
              </a:rPr>
              <a:t>AI INFRASTRUCTURE DEMAND</a:t>
            </a:r>
          </a:p>
        </p:txBody>
      </p:sp>
      <p:sp>
        <p:nvSpPr>
          <p:cNvPr id="18" name="Rule"/>
          <p:cNvSpPr/>
          <p:nvPr/>
        </p:nvSpPr>
        <p:spPr>
          <a:xfrm>
            <a:off x="3429000" y="1676400"/>
            <a:ext cx="1981200" cy="9525"/>
          </a:xfrm>
          <a:prstGeom prst="rect">
            <a:avLst/>
          </a:prstGeom>
          <a:solidFill>
            <a:srgbClr val="E3DCD3"/>
          </a:solidFill>
          <a:ln>
            <a:noFill/>
          </a:ln>
        </p:spPr>
        <p:txBody>
          <a:bodyPr rtlCol="0" anchor="ctr"/>
          <a:lstStyle/>
          <a:p>
            <a:pPr algn="ctr"/>
          </a:p>
        </p:txBody>
      </p:sp>
      <p:pic>
        <p:nvPicPr>
          <p:cNvPr id="19" name="CDW" descr="CDW"/>
          <p:cNvPicPr>
            <a:picLocks noChangeAspect="1"/>
          </p:cNvPicPr>
          <p:nvPr/>
        </p:nvPicPr>
        <p:blipFill>
          <a:blip r:embed="rId21"/>
          <a:stretch>
            <a:fillRect/>
          </a:stretch>
        </p:blipFill>
        <p:spPr>
          <a:xfrm>
            <a:off x="3429000" y="1800225"/>
            <a:ext cx="209550" cy="209550"/>
          </a:xfrm>
          <a:prstGeom prst="rect">
            <a:avLst/>
          </a:prstGeom>
        </p:spPr>
      </p:pic>
      <p:sp>
        <p:nvSpPr>
          <p:cNvPr id="20" name="TextBox 19">
            <a:hlinkClick r:id="rId12"/>
          </p:cNvPr>
          <p:cNvSpPr txBox="1"/>
          <p:nvPr/>
        </p:nvSpPr>
        <p:spPr>
          <a:xfrm>
            <a:off x="3714750" y="1767745"/>
            <a:ext cx="1771650" cy="238125"/>
          </a:xfrm>
          <a:prstGeom prst="rect">
            <a:avLst/>
          </a:prstGeom>
          <a:noFill/>
        </p:spPr>
        <p:txBody>
          <a:bodyPr wrap="square" lIns="0" rIns="0" tIns="0" bIns="0" anchor="t">
            <a:noAutofit/>
          </a:bodyPr>
          <a:lstStyle/>
          <a:p>
            <a:pPr algn="l">
              <a:lnSpc>
                <a:spcPts val="975"/>
              </a:lnSpc>
              <a:spcBef>
                <a:spcPts val="0"/>
              </a:spcBef>
              <a:spcAft>
                <a:spcPts val="0"/>
              </a:spcAft>
            </a:pPr>
            <a:r>
              <a:rPr sz="712" b="0" i="0" spc="15">
                <a:solidFill>
                  <a:srgbClr val="6F6A66"/>
                </a:solidFill>
                <a:latin typeface="Quicksand"/>
              </a:rPr>
              <a:t>Christine A. Leahy, Chair and Chief Executive Officer, CDW</a:t>
            </a:r>
          </a:p>
        </p:txBody>
      </p:sp>
      <p:sp>
        <p:nvSpPr>
          <p:cNvPr id="21" name="TextBox 20"/>
          <p:cNvSpPr txBox="1"/>
          <p:nvPr/>
        </p:nvSpPr>
        <p:spPr>
          <a:xfrm>
            <a:off x="3429000" y="2052638"/>
            <a:ext cx="2057400" cy="781050"/>
          </a:xfrm>
          <a:prstGeom prst="rect">
            <a:avLst/>
          </a:prstGeom>
          <a:noFill/>
        </p:spPr>
        <p:txBody>
          <a:bodyPr wrap="square" lIns="0" rIns="0" tIns="0" bIns="0" anchor="t">
            <a:noAutofit/>
          </a:bodyPr>
          <a:lstStyle/>
          <a:p>
            <a:pPr algn="l">
              <a:lnSpc>
                <a:spcPts val="1312"/>
              </a:lnSpc>
              <a:spcBef>
                <a:spcPts val="0"/>
              </a:spcBef>
              <a:spcAft>
                <a:spcPts val="0"/>
              </a:spcAft>
            </a:pPr>
            <a:r>
              <a:rPr sz="938" b="0" i="1">
                <a:solidFill>
                  <a:srgbClr val="2A2928"/>
                </a:solidFill>
                <a:latin typeface="Newsreader"/>
              </a:rPr>
              <a:t>“CDW delivered strong second quarter results as customers advanced investments in infrastructure modernization, cloud, and AI-enabled technologies.”</a:t>
            </a:r>
          </a:p>
        </p:txBody>
      </p:sp>
      <p:sp>
        <p:nvSpPr>
          <p:cNvPr id="22" name="Rule"/>
          <p:cNvSpPr/>
          <p:nvPr/>
        </p:nvSpPr>
        <p:spPr>
          <a:xfrm>
            <a:off x="3429000" y="3005138"/>
            <a:ext cx="1981200" cy="9525"/>
          </a:xfrm>
          <a:prstGeom prst="rect">
            <a:avLst/>
          </a:prstGeom>
          <a:solidFill>
            <a:srgbClr val="E3DCD3"/>
          </a:solidFill>
          <a:ln>
            <a:noFill/>
          </a:ln>
        </p:spPr>
        <p:txBody>
          <a:bodyPr rtlCol="0" anchor="ctr"/>
          <a:lstStyle/>
          <a:p>
            <a:pPr algn="ctr"/>
          </a:p>
        </p:txBody>
      </p:sp>
      <p:pic>
        <p:nvPicPr>
          <p:cNvPr id="23" name="Wesco" descr="Wesco"/>
          <p:cNvPicPr>
            <a:picLocks noChangeAspect="1"/>
          </p:cNvPicPr>
          <p:nvPr/>
        </p:nvPicPr>
        <p:blipFill>
          <a:blip r:embed="rId22"/>
          <a:stretch>
            <a:fillRect/>
          </a:stretch>
        </p:blipFill>
        <p:spPr>
          <a:xfrm>
            <a:off x="3429000" y="3128962"/>
            <a:ext cx="209550" cy="209550"/>
          </a:xfrm>
          <a:prstGeom prst="rect">
            <a:avLst/>
          </a:prstGeom>
        </p:spPr>
      </p:pic>
      <p:sp>
        <p:nvSpPr>
          <p:cNvPr id="24" name="TextBox 23">
            <a:hlinkClick r:id="rId11"/>
          </p:cNvPr>
          <p:cNvSpPr txBox="1"/>
          <p:nvPr/>
        </p:nvSpPr>
        <p:spPr>
          <a:xfrm>
            <a:off x="3714750" y="3096482"/>
            <a:ext cx="1771650" cy="238125"/>
          </a:xfrm>
          <a:prstGeom prst="rect">
            <a:avLst/>
          </a:prstGeom>
          <a:noFill/>
        </p:spPr>
        <p:txBody>
          <a:bodyPr wrap="square" lIns="0" rIns="0" tIns="0" bIns="0" anchor="t">
            <a:noAutofit/>
          </a:bodyPr>
          <a:lstStyle/>
          <a:p>
            <a:pPr algn="l">
              <a:lnSpc>
                <a:spcPts val="975"/>
              </a:lnSpc>
              <a:spcBef>
                <a:spcPts val="0"/>
              </a:spcBef>
              <a:spcAft>
                <a:spcPts val="0"/>
              </a:spcAft>
            </a:pPr>
            <a:r>
              <a:rPr sz="712" b="0" i="0" spc="15">
                <a:solidFill>
                  <a:srgbClr val="6F6A66"/>
                </a:solidFill>
                <a:latin typeface="Quicksand"/>
              </a:rPr>
              <a:t>John Engel, Chairman, President, and CEO, Wesco</a:t>
            </a:r>
          </a:p>
        </p:txBody>
      </p:sp>
      <p:sp>
        <p:nvSpPr>
          <p:cNvPr id="25" name="TextBox 24"/>
          <p:cNvSpPr txBox="1"/>
          <p:nvPr/>
        </p:nvSpPr>
        <p:spPr>
          <a:xfrm>
            <a:off x="3429000" y="3381375"/>
            <a:ext cx="2057400" cy="447675"/>
          </a:xfrm>
          <a:prstGeom prst="rect">
            <a:avLst/>
          </a:prstGeom>
          <a:noFill/>
        </p:spPr>
        <p:txBody>
          <a:bodyPr wrap="square" lIns="0" rIns="0" tIns="0" bIns="0" anchor="t">
            <a:noAutofit/>
          </a:bodyPr>
          <a:lstStyle/>
          <a:p>
            <a:pPr algn="l">
              <a:lnSpc>
                <a:spcPts val="1312"/>
              </a:lnSpc>
              <a:spcBef>
                <a:spcPts val="0"/>
              </a:spcBef>
              <a:spcAft>
                <a:spcPts val="0"/>
              </a:spcAft>
            </a:pPr>
            <a:r>
              <a:rPr sz="938" b="0" i="1">
                <a:solidFill>
                  <a:srgbClr val="2A2928"/>
                </a:solidFill>
                <a:latin typeface="Newsreader"/>
              </a:rPr>
              <a:t>“We have now posted four consecutive quarters of double-digit sales growth fueled by data centers.”</a:t>
            </a:r>
          </a:p>
        </p:txBody>
      </p:sp>
      <p:sp>
        <p:nvSpPr>
          <p:cNvPr id="26" name="Rule"/>
          <p:cNvSpPr/>
          <p:nvPr/>
        </p:nvSpPr>
        <p:spPr>
          <a:xfrm>
            <a:off x="3429000" y="4000500"/>
            <a:ext cx="1981200" cy="9525"/>
          </a:xfrm>
          <a:prstGeom prst="rect">
            <a:avLst/>
          </a:prstGeom>
          <a:solidFill>
            <a:srgbClr val="E3DCD3"/>
          </a:solidFill>
          <a:ln>
            <a:noFill/>
          </a:ln>
        </p:spPr>
        <p:txBody>
          <a:bodyPr rtlCol="0" anchor="ctr"/>
          <a:lstStyle/>
          <a:p>
            <a:pPr algn="ctr"/>
          </a:p>
        </p:txBody>
      </p:sp>
      <p:pic>
        <p:nvPicPr>
          <p:cNvPr id="27" name="Jabil" descr="Jabil"/>
          <p:cNvPicPr>
            <a:picLocks noChangeAspect="1"/>
          </p:cNvPicPr>
          <p:nvPr/>
        </p:nvPicPr>
        <p:blipFill>
          <a:blip r:embed="rId23"/>
          <a:stretch>
            <a:fillRect/>
          </a:stretch>
        </p:blipFill>
        <p:spPr>
          <a:xfrm>
            <a:off x="3429000" y="4105275"/>
            <a:ext cx="209550" cy="209550"/>
          </a:xfrm>
          <a:prstGeom prst="rect">
            <a:avLst/>
          </a:prstGeom>
        </p:spPr>
      </p:pic>
      <p:sp>
        <p:nvSpPr>
          <p:cNvPr id="28" name="TextBox 27">
            <a:hlinkClick r:id="rId24"/>
          </p:cNvPr>
          <p:cNvSpPr txBox="1"/>
          <p:nvPr/>
        </p:nvSpPr>
        <p:spPr>
          <a:xfrm>
            <a:off x="3714750" y="4134707"/>
            <a:ext cx="1122015" cy="114300"/>
          </a:xfrm>
          <a:prstGeom prst="rect">
            <a:avLst/>
          </a:prstGeom>
          <a:noFill/>
        </p:spPr>
        <p:txBody>
          <a:bodyPr wrap="none" lIns="0" rIns="0" tIns="0" bIns="0" anchor="t">
            <a:noAutofit/>
          </a:bodyPr>
          <a:lstStyle/>
          <a:p>
            <a:pPr algn="l">
              <a:lnSpc>
                <a:spcPts val="975"/>
              </a:lnSpc>
              <a:spcBef>
                <a:spcPts val="0"/>
              </a:spcBef>
              <a:spcAft>
                <a:spcPts val="0"/>
              </a:spcAft>
            </a:pPr>
            <a:r>
              <a:rPr sz="712" b="0" i="0" spc="15">
                <a:solidFill>
                  <a:srgbClr val="6F6A66"/>
                </a:solidFill>
                <a:latin typeface="Quicksand"/>
              </a:rPr>
              <a:t>Mike Dastoor, CEO, Jabil</a:t>
            </a:r>
          </a:p>
        </p:txBody>
      </p:sp>
      <p:sp>
        <p:nvSpPr>
          <p:cNvPr id="29" name="TextBox 28"/>
          <p:cNvSpPr txBox="1"/>
          <p:nvPr/>
        </p:nvSpPr>
        <p:spPr>
          <a:xfrm>
            <a:off x="3429000" y="4338638"/>
            <a:ext cx="2057400" cy="1114425"/>
          </a:xfrm>
          <a:prstGeom prst="rect">
            <a:avLst/>
          </a:prstGeom>
          <a:noFill/>
        </p:spPr>
        <p:txBody>
          <a:bodyPr wrap="square" lIns="0" rIns="0" tIns="0" bIns="0" anchor="t">
            <a:noAutofit/>
          </a:bodyPr>
          <a:lstStyle/>
          <a:p>
            <a:pPr algn="l">
              <a:lnSpc>
                <a:spcPts val="1312"/>
              </a:lnSpc>
              <a:spcBef>
                <a:spcPts val="0"/>
              </a:spcBef>
              <a:spcAft>
                <a:spcPts val="0"/>
              </a:spcAft>
            </a:pPr>
            <a:r>
              <a:rPr sz="938" b="0" i="1">
                <a:solidFill>
                  <a:srgbClr val="2A2928"/>
                </a:solidFill>
                <a:latin typeface="Newsreader"/>
              </a:rPr>
              <a:t>“Our fiscal 2027 outlook reflects the strength of Jabil's diversified portfolio, with accelerating AI demand complemented by solid growth in automotive, healthcare, energy infrastructure, defense and aerospace, and warehouse and retail automation.”</a:t>
            </a:r>
          </a:p>
        </p:txBody>
      </p:sp>
      <p:sp>
        <p:nvSpPr>
          <p:cNvPr id="30" name="Panel"/>
          <p:cNvSpPr/>
          <p:nvPr/>
        </p:nvSpPr>
        <p:spPr>
          <a:xfrm>
            <a:off x="3429000" y="5962650"/>
            <a:ext cx="1981200" cy="971550"/>
          </a:xfrm>
          <a:prstGeom prst="rect">
            <a:avLst/>
          </a:prstGeom>
          <a:solidFill>
            <a:srgbClr val="FAF7F3"/>
          </a:solidFill>
          <a:ln>
            <a:noFill/>
          </a:ln>
        </p:spPr>
        <p:txBody>
          <a:bodyPr rtlCol="0" anchor="ctr"/>
          <a:lstStyle/>
          <a:p>
            <a:pPr algn="ctr"/>
          </a:p>
        </p:txBody>
      </p:sp>
      <p:sp>
        <p:nvSpPr>
          <p:cNvPr id="31" name="Rule"/>
          <p:cNvSpPr/>
          <p:nvPr/>
        </p:nvSpPr>
        <p:spPr>
          <a:xfrm>
            <a:off x="3429000" y="5962650"/>
            <a:ext cx="1981200" cy="28575"/>
          </a:xfrm>
          <a:prstGeom prst="rect">
            <a:avLst/>
          </a:prstGeom>
          <a:solidFill>
            <a:srgbClr val="B68757"/>
          </a:solidFill>
          <a:ln>
            <a:noFill/>
          </a:ln>
        </p:spPr>
        <p:txBody>
          <a:bodyPr rtlCol="0" anchor="ctr"/>
          <a:lstStyle/>
          <a:p>
            <a:pPr algn="ctr"/>
          </a:p>
        </p:txBody>
      </p:sp>
      <p:sp>
        <p:nvSpPr>
          <p:cNvPr id="32" name="TextBox 31"/>
          <p:cNvSpPr txBox="1"/>
          <p:nvPr/>
        </p:nvSpPr>
        <p:spPr>
          <a:xfrm>
            <a:off x="3533775" y="6070949"/>
            <a:ext cx="880467" cy="104775"/>
          </a:xfrm>
          <a:prstGeom prst="rect">
            <a:avLst/>
          </a:prstGeom>
          <a:noFill/>
        </p:spPr>
        <p:txBody>
          <a:bodyPr wrap="none" lIns="0" rIns="0" tIns="0" bIns="0" anchor="t">
            <a:noAutofit/>
          </a:bodyPr>
          <a:lstStyle/>
          <a:p>
            <a:pPr algn="l">
              <a:lnSpc>
                <a:spcPts val="975"/>
              </a:lnSpc>
              <a:spcBef>
                <a:spcPts val="0"/>
              </a:spcBef>
              <a:spcAft>
                <a:spcPts val="0"/>
              </a:spcAft>
            </a:pPr>
            <a:r>
              <a:rPr sz="638" b="1" i="0" spc="120">
                <a:solidFill>
                  <a:srgbClr val="8C6239"/>
                </a:solidFill>
                <a:latin typeface="Quicksand"/>
              </a:rPr>
              <a:t>READ-THROUGH</a:t>
            </a:r>
          </a:p>
        </p:txBody>
      </p:sp>
      <p:sp>
        <p:nvSpPr>
          <p:cNvPr id="33" name="TextBox 32"/>
          <p:cNvSpPr txBox="1"/>
          <p:nvPr/>
        </p:nvSpPr>
        <p:spPr>
          <a:xfrm>
            <a:off x="3533775" y="6213253"/>
            <a:ext cx="1847850" cy="576262"/>
          </a:xfrm>
          <a:prstGeom prst="rect">
            <a:avLst/>
          </a:prstGeom>
          <a:noFill/>
        </p:spPr>
        <p:txBody>
          <a:bodyPr wrap="square" lIns="0" rIns="0" tIns="0" bIns="0" anchor="t">
            <a:noAutofit/>
          </a:bodyPr>
          <a:lstStyle/>
          <a:p>
            <a:pPr algn="l">
              <a:lnSpc>
                <a:spcPts val="1162"/>
              </a:lnSpc>
              <a:spcBef>
                <a:spcPts val="0"/>
              </a:spcBef>
              <a:spcAft>
                <a:spcPts val="0"/>
              </a:spcAft>
            </a:pPr>
            <a:r>
              <a:rPr sz="788" b="0" i="0" spc="15">
                <a:solidFill>
                  <a:srgbClr val="333231"/>
                </a:solidFill>
                <a:latin typeface="Quicksand"/>
              </a:rPr>
              <a:t>Demand tied to data center build-outs runs through IT solutions, distribution and contract manufacturing alike.</a:t>
            </a:r>
          </a:p>
        </p:txBody>
      </p:sp>
      <p:sp>
        <p:nvSpPr>
          <p:cNvPr id="34" name="Panel"/>
          <p:cNvSpPr/>
          <p:nvPr/>
        </p:nvSpPr>
        <p:spPr>
          <a:xfrm>
            <a:off x="5543550" y="1238250"/>
            <a:ext cx="1981200" cy="419100"/>
          </a:xfrm>
          <a:prstGeom prst="rect">
            <a:avLst/>
          </a:prstGeom>
          <a:solidFill>
            <a:srgbClr val="1B1A1A"/>
          </a:solidFill>
          <a:ln>
            <a:noFill/>
          </a:ln>
        </p:spPr>
        <p:txBody>
          <a:bodyPr rtlCol="0" anchor="ctr"/>
          <a:lstStyle/>
          <a:p>
            <a:pPr algn="ctr"/>
          </a:p>
        </p:txBody>
      </p:sp>
      <p:pic>
        <p:nvPicPr>
          <p:cNvPr id="35" name="Graphic" descr="S11_r4.png"/>
          <p:cNvPicPr>
            <a:picLocks noChangeAspect="1"/>
          </p:cNvPicPr>
          <p:nvPr/>
        </p:nvPicPr>
        <p:blipFill>
          <a:blip r:embed="rId25"/>
          <a:stretch>
            <a:fillRect/>
          </a:stretch>
        </p:blipFill>
        <p:spPr>
          <a:xfrm>
            <a:off x="5648325" y="1333500"/>
            <a:ext cx="228600" cy="228600"/>
          </a:xfrm>
          <a:prstGeom prst="rect">
            <a:avLst/>
          </a:prstGeom>
        </p:spPr>
      </p:pic>
      <p:sp>
        <p:nvSpPr>
          <p:cNvPr id="36" name="TextBox 35"/>
          <p:cNvSpPr txBox="1"/>
          <p:nvPr/>
        </p:nvSpPr>
        <p:spPr>
          <a:xfrm>
            <a:off x="5962650" y="1310545"/>
            <a:ext cx="1533525" cy="238125"/>
          </a:xfrm>
          <a:prstGeom prst="rect">
            <a:avLst/>
          </a:prstGeom>
          <a:noFill/>
        </p:spPr>
        <p:txBody>
          <a:bodyPr wrap="square" lIns="0" rIns="0" tIns="0" bIns="0" anchor="t">
            <a:noAutofit/>
          </a:bodyPr>
          <a:lstStyle/>
          <a:p>
            <a:pPr algn="l">
              <a:lnSpc>
                <a:spcPts val="975"/>
              </a:lnSpc>
              <a:spcBef>
                <a:spcPts val="0"/>
              </a:spcBef>
              <a:spcAft>
                <a:spcPts val="0"/>
              </a:spcAft>
            </a:pPr>
            <a:r>
              <a:rPr sz="712" b="1" i="0" spc="120">
                <a:solidFill>
                  <a:srgbClr val="FFFFFF"/>
                </a:solidFill>
                <a:latin typeface="Quicksand"/>
              </a:rPr>
              <a:t>SECURITY AND COMMUNICATIONS</a:t>
            </a:r>
          </a:p>
        </p:txBody>
      </p:sp>
      <p:sp>
        <p:nvSpPr>
          <p:cNvPr id="37" name="Rule"/>
          <p:cNvSpPr/>
          <p:nvPr/>
        </p:nvSpPr>
        <p:spPr>
          <a:xfrm>
            <a:off x="5543550" y="1676400"/>
            <a:ext cx="1981200" cy="9525"/>
          </a:xfrm>
          <a:prstGeom prst="rect">
            <a:avLst/>
          </a:prstGeom>
          <a:solidFill>
            <a:srgbClr val="E3DCD3"/>
          </a:solidFill>
          <a:ln>
            <a:noFill/>
          </a:ln>
        </p:spPr>
        <p:txBody>
          <a:bodyPr rtlCol="0" anchor="ctr"/>
          <a:lstStyle/>
          <a:p>
            <a:pPr algn="ctr"/>
          </a:p>
        </p:txBody>
      </p:sp>
      <p:pic>
        <p:nvPicPr>
          <p:cNvPr id="38" name="CrowdStrike" descr="CrowdStrike"/>
          <p:cNvPicPr>
            <a:picLocks noChangeAspect="1"/>
          </p:cNvPicPr>
          <p:nvPr/>
        </p:nvPicPr>
        <p:blipFill>
          <a:blip r:embed="rId26"/>
          <a:stretch>
            <a:fillRect/>
          </a:stretch>
        </p:blipFill>
        <p:spPr>
          <a:xfrm>
            <a:off x="5543550" y="1800225"/>
            <a:ext cx="209550" cy="209550"/>
          </a:xfrm>
          <a:prstGeom prst="rect">
            <a:avLst/>
          </a:prstGeom>
        </p:spPr>
      </p:pic>
      <p:sp>
        <p:nvSpPr>
          <p:cNvPr id="39" name="TextBox 38">
            <a:hlinkClick r:id="rId6"/>
          </p:cNvPr>
          <p:cNvSpPr txBox="1"/>
          <p:nvPr/>
        </p:nvSpPr>
        <p:spPr>
          <a:xfrm>
            <a:off x="5829300" y="1767745"/>
            <a:ext cx="1771650" cy="238125"/>
          </a:xfrm>
          <a:prstGeom prst="rect">
            <a:avLst/>
          </a:prstGeom>
          <a:noFill/>
        </p:spPr>
        <p:txBody>
          <a:bodyPr wrap="square" lIns="0" rIns="0" tIns="0" bIns="0" anchor="t">
            <a:noAutofit/>
          </a:bodyPr>
          <a:lstStyle/>
          <a:p>
            <a:pPr algn="l">
              <a:lnSpc>
                <a:spcPts val="975"/>
              </a:lnSpc>
              <a:spcBef>
                <a:spcPts val="0"/>
              </a:spcBef>
              <a:spcAft>
                <a:spcPts val="0"/>
              </a:spcAft>
            </a:pPr>
            <a:r>
              <a:rPr sz="712" b="0" i="0" spc="15">
                <a:solidFill>
                  <a:srgbClr val="6F6A66"/>
                </a:solidFill>
                <a:latin typeface="Quicksand"/>
              </a:rPr>
              <a:t>George Kurtz, Founder and Chief Executive Officer, CrowdStrike</a:t>
            </a:r>
          </a:p>
        </p:txBody>
      </p:sp>
      <p:sp>
        <p:nvSpPr>
          <p:cNvPr id="40" name="TextBox 39"/>
          <p:cNvSpPr txBox="1"/>
          <p:nvPr/>
        </p:nvSpPr>
        <p:spPr>
          <a:xfrm>
            <a:off x="5543550" y="2052638"/>
            <a:ext cx="2057400" cy="447675"/>
          </a:xfrm>
          <a:prstGeom prst="rect">
            <a:avLst/>
          </a:prstGeom>
          <a:noFill/>
        </p:spPr>
        <p:txBody>
          <a:bodyPr wrap="square" lIns="0" rIns="0" tIns="0" bIns="0" anchor="t">
            <a:noAutofit/>
          </a:bodyPr>
          <a:lstStyle/>
          <a:p>
            <a:pPr algn="l">
              <a:lnSpc>
                <a:spcPts val="1312"/>
              </a:lnSpc>
              <a:spcBef>
                <a:spcPts val="0"/>
              </a:spcBef>
              <a:spcAft>
                <a:spcPts val="0"/>
              </a:spcAft>
            </a:pPr>
            <a:r>
              <a:rPr sz="938" b="0" i="1">
                <a:solidFill>
                  <a:srgbClr val="2A2928"/>
                </a:solidFill>
                <a:latin typeface="Newsreader"/>
              </a:rPr>
              <a:t>“Every enterprise will run on AI, and securing it is the largest market opportunity in our history.”</a:t>
            </a:r>
          </a:p>
        </p:txBody>
      </p:sp>
      <p:sp>
        <p:nvSpPr>
          <p:cNvPr id="41" name="Rule"/>
          <p:cNvSpPr/>
          <p:nvPr/>
        </p:nvSpPr>
        <p:spPr>
          <a:xfrm>
            <a:off x="5543550" y="2671762"/>
            <a:ext cx="1981200" cy="9525"/>
          </a:xfrm>
          <a:prstGeom prst="rect">
            <a:avLst/>
          </a:prstGeom>
          <a:solidFill>
            <a:srgbClr val="E3DCD3"/>
          </a:solidFill>
          <a:ln>
            <a:noFill/>
          </a:ln>
        </p:spPr>
        <p:txBody>
          <a:bodyPr rtlCol="0" anchor="ctr"/>
          <a:lstStyle/>
          <a:p>
            <a:pPr algn="ctr"/>
          </a:p>
        </p:txBody>
      </p:sp>
      <p:pic>
        <p:nvPicPr>
          <p:cNvPr id="42" name="Palo Alto Networks" descr="Palo Alto Networks"/>
          <p:cNvPicPr>
            <a:picLocks noChangeAspect="1"/>
          </p:cNvPicPr>
          <p:nvPr/>
        </p:nvPicPr>
        <p:blipFill>
          <a:blip r:embed="rId27"/>
          <a:stretch>
            <a:fillRect/>
          </a:stretch>
        </p:blipFill>
        <p:spPr>
          <a:xfrm>
            <a:off x="5543550" y="2795588"/>
            <a:ext cx="209550" cy="209550"/>
          </a:xfrm>
          <a:prstGeom prst="rect">
            <a:avLst/>
          </a:prstGeom>
        </p:spPr>
      </p:pic>
      <p:sp>
        <p:nvSpPr>
          <p:cNvPr id="43" name="TextBox 42">
            <a:hlinkClick r:id="rId5"/>
          </p:cNvPr>
          <p:cNvSpPr txBox="1"/>
          <p:nvPr/>
        </p:nvSpPr>
        <p:spPr>
          <a:xfrm>
            <a:off x="5829300" y="2763107"/>
            <a:ext cx="1771650" cy="238125"/>
          </a:xfrm>
          <a:prstGeom prst="rect">
            <a:avLst/>
          </a:prstGeom>
          <a:noFill/>
        </p:spPr>
        <p:txBody>
          <a:bodyPr wrap="square" lIns="0" rIns="0" tIns="0" bIns="0" anchor="t">
            <a:noAutofit/>
          </a:bodyPr>
          <a:lstStyle/>
          <a:p>
            <a:pPr algn="l">
              <a:lnSpc>
                <a:spcPts val="975"/>
              </a:lnSpc>
              <a:spcBef>
                <a:spcPts val="0"/>
              </a:spcBef>
              <a:spcAft>
                <a:spcPts val="0"/>
              </a:spcAft>
            </a:pPr>
            <a:r>
              <a:rPr sz="712" b="0" i="0" spc="15">
                <a:solidFill>
                  <a:srgbClr val="6F6A66"/>
                </a:solidFill>
                <a:latin typeface="Quicksand"/>
              </a:rPr>
              <a:t>Nikesh Arora, Chairman and Chief Executive Officer, Palo Alto Networks</a:t>
            </a:r>
          </a:p>
        </p:txBody>
      </p:sp>
      <p:sp>
        <p:nvSpPr>
          <p:cNvPr id="44" name="TextBox 43"/>
          <p:cNvSpPr txBox="1"/>
          <p:nvPr/>
        </p:nvSpPr>
        <p:spPr>
          <a:xfrm>
            <a:off x="5543550" y="3048000"/>
            <a:ext cx="2057400" cy="947738"/>
          </a:xfrm>
          <a:prstGeom prst="rect">
            <a:avLst/>
          </a:prstGeom>
          <a:noFill/>
        </p:spPr>
        <p:txBody>
          <a:bodyPr wrap="square" lIns="0" rIns="0" tIns="0" bIns="0" anchor="t">
            <a:noAutofit/>
          </a:bodyPr>
          <a:lstStyle/>
          <a:p>
            <a:pPr algn="l">
              <a:lnSpc>
                <a:spcPts val="1312"/>
              </a:lnSpc>
              <a:spcBef>
                <a:spcPts val="0"/>
              </a:spcBef>
              <a:spcAft>
                <a:spcPts val="0"/>
              </a:spcAft>
            </a:pPr>
            <a:r>
              <a:rPr sz="938" b="0" i="1">
                <a:solidFill>
                  <a:srgbClr val="2A2928"/>
                </a:solidFill>
                <a:latin typeface="Newsreader"/>
              </a:rPr>
              <a:t>“The latest advancements in AI are elevating cybersecurity to the top of the CIO priority list, and will serve as durable tailwinds as we progress towards our $20 billion FY30 NGS ARR target.”</a:t>
            </a:r>
          </a:p>
        </p:txBody>
      </p:sp>
      <p:sp>
        <p:nvSpPr>
          <p:cNvPr id="45" name="Rule"/>
          <p:cNvSpPr/>
          <p:nvPr/>
        </p:nvSpPr>
        <p:spPr>
          <a:xfrm>
            <a:off x="5543550" y="4167188"/>
            <a:ext cx="1981200" cy="9525"/>
          </a:xfrm>
          <a:prstGeom prst="rect">
            <a:avLst/>
          </a:prstGeom>
          <a:solidFill>
            <a:srgbClr val="E3DCD3"/>
          </a:solidFill>
          <a:ln>
            <a:noFill/>
          </a:ln>
        </p:spPr>
        <p:txBody>
          <a:bodyPr rtlCol="0" anchor="ctr"/>
          <a:lstStyle/>
          <a:p>
            <a:pPr algn="ctr"/>
          </a:p>
        </p:txBody>
      </p:sp>
      <p:pic>
        <p:nvPicPr>
          <p:cNvPr id="46" name="RingCentral" descr="RingCentral"/>
          <p:cNvPicPr>
            <a:picLocks noChangeAspect="1"/>
          </p:cNvPicPr>
          <p:nvPr/>
        </p:nvPicPr>
        <p:blipFill>
          <a:blip r:embed="rId28"/>
          <a:stretch>
            <a:fillRect/>
          </a:stretch>
        </p:blipFill>
        <p:spPr>
          <a:xfrm>
            <a:off x="5543550" y="4291012"/>
            <a:ext cx="209550" cy="209550"/>
          </a:xfrm>
          <a:prstGeom prst="rect">
            <a:avLst/>
          </a:prstGeom>
        </p:spPr>
      </p:pic>
      <p:sp>
        <p:nvSpPr>
          <p:cNvPr id="47" name="TextBox 46">
            <a:hlinkClick r:id="rId17"/>
          </p:cNvPr>
          <p:cNvSpPr txBox="1"/>
          <p:nvPr/>
        </p:nvSpPr>
        <p:spPr>
          <a:xfrm>
            <a:off x="5829300" y="4258532"/>
            <a:ext cx="1771650" cy="238125"/>
          </a:xfrm>
          <a:prstGeom prst="rect">
            <a:avLst/>
          </a:prstGeom>
          <a:noFill/>
        </p:spPr>
        <p:txBody>
          <a:bodyPr wrap="square" lIns="0" rIns="0" tIns="0" bIns="0" anchor="t">
            <a:noAutofit/>
          </a:bodyPr>
          <a:lstStyle/>
          <a:p>
            <a:pPr algn="l">
              <a:lnSpc>
                <a:spcPts val="975"/>
              </a:lnSpc>
              <a:spcBef>
                <a:spcPts val="0"/>
              </a:spcBef>
              <a:spcAft>
                <a:spcPts val="0"/>
              </a:spcAft>
            </a:pPr>
            <a:r>
              <a:rPr sz="712" b="0" i="0" spc="15">
                <a:solidFill>
                  <a:srgbClr val="6F6A66"/>
                </a:solidFill>
                <a:latin typeface="Quicksand"/>
              </a:rPr>
              <a:t>Vlad Shmunis, Founder, Chairman and CEO, RingCentral</a:t>
            </a:r>
          </a:p>
        </p:txBody>
      </p:sp>
      <p:sp>
        <p:nvSpPr>
          <p:cNvPr id="48" name="TextBox 47"/>
          <p:cNvSpPr txBox="1"/>
          <p:nvPr/>
        </p:nvSpPr>
        <p:spPr>
          <a:xfrm>
            <a:off x="5543550" y="4543425"/>
            <a:ext cx="2057400" cy="614362"/>
          </a:xfrm>
          <a:prstGeom prst="rect">
            <a:avLst/>
          </a:prstGeom>
          <a:noFill/>
        </p:spPr>
        <p:txBody>
          <a:bodyPr wrap="square" lIns="0" rIns="0" tIns="0" bIns="0" anchor="t">
            <a:noAutofit/>
          </a:bodyPr>
          <a:lstStyle/>
          <a:p>
            <a:pPr algn="l">
              <a:lnSpc>
                <a:spcPts val="1312"/>
              </a:lnSpc>
              <a:spcBef>
                <a:spcPts val="0"/>
              </a:spcBef>
              <a:spcAft>
                <a:spcPts val="0"/>
              </a:spcAft>
            </a:pPr>
            <a:r>
              <a:rPr sz="938" b="0" i="1">
                <a:solidFill>
                  <a:srgbClr val="2A2928"/>
                </a:solidFill>
                <a:latin typeface="Newsreader"/>
              </a:rPr>
              <a:t>“Customers using at least one paid AI product now represent approximately 13% of ARR, having doubled year-over-year.”</a:t>
            </a:r>
          </a:p>
        </p:txBody>
      </p:sp>
      <p:sp>
        <p:nvSpPr>
          <p:cNvPr id="49" name="Panel"/>
          <p:cNvSpPr/>
          <p:nvPr/>
        </p:nvSpPr>
        <p:spPr>
          <a:xfrm>
            <a:off x="5543550" y="5962650"/>
            <a:ext cx="1981200" cy="971550"/>
          </a:xfrm>
          <a:prstGeom prst="rect">
            <a:avLst/>
          </a:prstGeom>
          <a:solidFill>
            <a:srgbClr val="FAF7F3"/>
          </a:solidFill>
          <a:ln>
            <a:noFill/>
          </a:ln>
        </p:spPr>
        <p:txBody>
          <a:bodyPr rtlCol="0" anchor="ctr"/>
          <a:lstStyle/>
          <a:p>
            <a:pPr algn="ctr"/>
          </a:p>
        </p:txBody>
      </p:sp>
      <p:sp>
        <p:nvSpPr>
          <p:cNvPr id="50" name="Rule"/>
          <p:cNvSpPr/>
          <p:nvPr/>
        </p:nvSpPr>
        <p:spPr>
          <a:xfrm>
            <a:off x="5543550" y="5962650"/>
            <a:ext cx="1981200" cy="28575"/>
          </a:xfrm>
          <a:prstGeom prst="rect">
            <a:avLst/>
          </a:prstGeom>
          <a:solidFill>
            <a:srgbClr val="B68757"/>
          </a:solidFill>
          <a:ln>
            <a:noFill/>
          </a:ln>
        </p:spPr>
        <p:txBody>
          <a:bodyPr rtlCol="0" anchor="ctr"/>
          <a:lstStyle/>
          <a:p>
            <a:pPr algn="ctr"/>
          </a:p>
        </p:txBody>
      </p:sp>
      <p:sp>
        <p:nvSpPr>
          <p:cNvPr id="51" name="TextBox 50"/>
          <p:cNvSpPr txBox="1"/>
          <p:nvPr/>
        </p:nvSpPr>
        <p:spPr>
          <a:xfrm>
            <a:off x="5648325" y="6070949"/>
            <a:ext cx="880467" cy="104775"/>
          </a:xfrm>
          <a:prstGeom prst="rect">
            <a:avLst/>
          </a:prstGeom>
          <a:noFill/>
        </p:spPr>
        <p:txBody>
          <a:bodyPr wrap="none" lIns="0" rIns="0" tIns="0" bIns="0" anchor="t">
            <a:noAutofit/>
          </a:bodyPr>
          <a:lstStyle/>
          <a:p>
            <a:pPr algn="l">
              <a:lnSpc>
                <a:spcPts val="975"/>
              </a:lnSpc>
              <a:spcBef>
                <a:spcPts val="0"/>
              </a:spcBef>
              <a:spcAft>
                <a:spcPts val="0"/>
              </a:spcAft>
            </a:pPr>
            <a:r>
              <a:rPr sz="638" b="1" i="0" spc="120">
                <a:solidFill>
                  <a:srgbClr val="8C6239"/>
                </a:solidFill>
                <a:latin typeface="Quicksand"/>
              </a:rPr>
              <a:t>READ-THROUGH</a:t>
            </a:r>
          </a:p>
        </p:txBody>
      </p:sp>
      <p:sp>
        <p:nvSpPr>
          <p:cNvPr id="52" name="TextBox 51"/>
          <p:cNvSpPr txBox="1"/>
          <p:nvPr/>
        </p:nvSpPr>
        <p:spPr>
          <a:xfrm>
            <a:off x="5648325" y="6213253"/>
            <a:ext cx="1847850" cy="428625"/>
          </a:xfrm>
          <a:prstGeom prst="rect">
            <a:avLst/>
          </a:prstGeom>
          <a:noFill/>
        </p:spPr>
        <p:txBody>
          <a:bodyPr wrap="square" lIns="0" rIns="0" tIns="0" bIns="0" anchor="t">
            <a:noAutofit/>
          </a:bodyPr>
          <a:lstStyle/>
          <a:p>
            <a:pPr algn="l">
              <a:lnSpc>
                <a:spcPts val="1162"/>
              </a:lnSpc>
              <a:spcBef>
                <a:spcPts val="0"/>
              </a:spcBef>
              <a:spcAft>
                <a:spcPts val="0"/>
              </a:spcAft>
            </a:pPr>
            <a:r>
              <a:rPr sz="788" b="0" i="0" spc="15">
                <a:solidFill>
                  <a:srgbClr val="333231"/>
                </a:solidFill>
                <a:latin typeface="Quicksand"/>
              </a:rPr>
              <a:t>Security and communications vendors now tie their growth to how quickly customers adopt AI.</a:t>
            </a:r>
          </a:p>
        </p:txBody>
      </p:sp>
      <p:sp>
        <p:nvSpPr>
          <p:cNvPr id="53" name="Panel"/>
          <p:cNvSpPr/>
          <p:nvPr/>
        </p:nvSpPr>
        <p:spPr>
          <a:xfrm>
            <a:off x="7658100" y="1238250"/>
            <a:ext cx="1981200" cy="419100"/>
          </a:xfrm>
          <a:prstGeom prst="rect">
            <a:avLst/>
          </a:prstGeom>
          <a:solidFill>
            <a:srgbClr val="1B1A1A"/>
          </a:solidFill>
          <a:ln>
            <a:noFill/>
          </a:ln>
        </p:spPr>
        <p:txBody>
          <a:bodyPr rtlCol="0" anchor="ctr"/>
          <a:lstStyle/>
          <a:p>
            <a:pPr algn="ctr"/>
          </a:p>
        </p:txBody>
      </p:sp>
      <p:pic>
        <p:nvPicPr>
          <p:cNvPr id="54" name="Graphic" descr="S11_r8.png"/>
          <p:cNvPicPr>
            <a:picLocks noChangeAspect="1"/>
          </p:cNvPicPr>
          <p:nvPr/>
        </p:nvPicPr>
        <p:blipFill>
          <a:blip r:embed="rId29"/>
          <a:stretch>
            <a:fillRect/>
          </a:stretch>
        </p:blipFill>
        <p:spPr>
          <a:xfrm>
            <a:off x="7762875" y="1333500"/>
            <a:ext cx="228600" cy="228600"/>
          </a:xfrm>
          <a:prstGeom prst="rect">
            <a:avLst/>
          </a:prstGeom>
        </p:spPr>
      </p:pic>
      <p:sp>
        <p:nvSpPr>
          <p:cNvPr id="55" name="TextBox 54"/>
          <p:cNvSpPr txBox="1"/>
          <p:nvPr/>
        </p:nvSpPr>
        <p:spPr>
          <a:xfrm>
            <a:off x="8077200" y="1310545"/>
            <a:ext cx="1533525" cy="238125"/>
          </a:xfrm>
          <a:prstGeom prst="rect">
            <a:avLst/>
          </a:prstGeom>
          <a:noFill/>
        </p:spPr>
        <p:txBody>
          <a:bodyPr wrap="square" lIns="0" rIns="0" tIns="0" bIns="0" anchor="t">
            <a:noAutofit/>
          </a:bodyPr>
          <a:lstStyle/>
          <a:p>
            <a:pPr algn="l">
              <a:lnSpc>
                <a:spcPts val="975"/>
              </a:lnSpc>
              <a:spcBef>
                <a:spcPts val="0"/>
              </a:spcBef>
              <a:spcAft>
                <a:spcPts val="0"/>
              </a:spcAft>
            </a:pPr>
            <a:r>
              <a:rPr sz="712" b="1" i="0" spc="120">
                <a:solidFill>
                  <a:srgbClr val="FFFFFF"/>
                </a:solidFill>
                <a:latin typeface="Quicksand"/>
              </a:rPr>
              <a:t>GOVERNMENT AND PUBLIC SECTOR</a:t>
            </a:r>
          </a:p>
        </p:txBody>
      </p:sp>
      <p:sp>
        <p:nvSpPr>
          <p:cNvPr id="56" name="Rule"/>
          <p:cNvSpPr/>
          <p:nvPr/>
        </p:nvSpPr>
        <p:spPr>
          <a:xfrm>
            <a:off x="7658100" y="1676400"/>
            <a:ext cx="1981200" cy="9525"/>
          </a:xfrm>
          <a:prstGeom prst="rect">
            <a:avLst/>
          </a:prstGeom>
          <a:solidFill>
            <a:srgbClr val="E3DCD3"/>
          </a:solidFill>
          <a:ln>
            <a:noFill/>
          </a:ln>
        </p:spPr>
        <p:txBody>
          <a:bodyPr rtlCol="0" anchor="ctr"/>
          <a:lstStyle/>
          <a:p>
            <a:pPr algn="ctr"/>
          </a:p>
        </p:txBody>
      </p:sp>
      <p:pic>
        <p:nvPicPr>
          <p:cNvPr id="57" name="Booz Allen Hamilton" descr="Booz Allen Hamilton"/>
          <p:cNvPicPr>
            <a:picLocks noChangeAspect="1"/>
          </p:cNvPicPr>
          <p:nvPr/>
        </p:nvPicPr>
        <p:blipFill>
          <a:blip r:embed="rId30"/>
          <a:stretch>
            <a:fillRect/>
          </a:stretch>
        </p:blipFill>
        <p:spPr>
          <a:xfrm>
            <a:off x="7658100" y="1800225"/>
            <a:ext cx="209550" cy="209550"/>
          </a:xfrm>
          <a:prstGeom prst="rect">
            <a:avLst/>
          </a:prstGeom>
        </p:spPr>
      </p:pic>
      <p:sp>
        <p:nvSpPr>
          <p:cNvPr id="58" name="TextBox 57">
            <a:hlinkClick r:id="rId19"/>
          </p:cNvPr>
          <p:cNvSpPr txBox="1"/>
          <p:nvPr/>
        </p:nvSpPr>
        <p:spPr>
          <a:xfrm>
            <a:off x="7943850" y="1767745"/>
            <a:ext cx="1771650" cy="238125"/>
          </a:xfrm>
          <a:prstGeom prst="rect">
            <a:avLst/>
          </a:prstGeom>
          <a:noFill/>
        </p:spPr>
        <p:txBody>
          <a:bodyPr wrap="square" lIns="0" rIns="0" tIns="0" bIns="0" anchor="t">
            <a:noAutofit/>
          </a:bodyPr>
          <a:lstStyle/>
          <a:p>
            <a:pPr algn="l">
              <a:lnSpc>
                <a:spcPts val="975"/>
              </a:lnSpc>
              <a:spcBef>
                <a:spcPts val="0"/>
              </a:spcBef>
              <a:spcAft>
                <a:spcPts val="0"/>
              </a:spcAft>
            </a:pPr>
            <a:r>
              <a:rPr sz="712" b="0" i="0" spc="15">
                <a:solidFill>
                  <a:srgbClr val="6F6A66"/>
                </a:solidFill>
                <a:latin typeface="Quicksand"/>
              </a:rPr>
              <a:t>Horacio Rozanski, Chairman and CEO, Booz Allen Hamilton</a:t>
            </a:r>
          </a:p>
        </p:txBody>
      </p:sp>
      <p:sp>
        <p:nvSpPr>
          <p:cNvPr id="59" name="TextBox 58"/>
          <p:cNvSpPr txBox="1"/>
          <p:nvPr/>
        </p:nvSpPr>
        <p:spPr>
          <a:xfrm>
            <a:off x="7658100" y="2052638"/>
            <a:ext cx="2057400" cy="447675"/>
          </a:xfrm>
          <a:prstGeom prst="rect">
            <a:avLst/>
          </a:prstGeom>
          <a:noFill/>
        </p:spPr>
        <p:txBody>
          <a:bodyPr wrap="square" lIns="0" rIns="0" tIns="0" bIns="0" anchor="t">
            <a:noAutofit/>
          </a:bodyPr>
          <a:lstStyle/>
          <a:p>
            <a:pPr algn="l">
              <a:lnSpc>
                <a:spcPts val="1312"/>
              </a:lnSpc>
              <a:spcBef>
                <a:spcPts val="0"/>
              </a:spcBef>
              <a:spcAft>
                <a:spcPts val="0"/>
              </a:spcAft>
            </a:pPr>
            <a:r>
              <a:rPr sz="938" b="0" i="1">
                <a:solidFill>
                  <a:srgbClr val="2A2928"/>
                </a:solidFill>
                <a:latin typeface="Newsreader"/>
              </a:rPr>
              <a:t>“Booz Allen is on track with the expectations we set for the fiscal year amid challenging market dynamics.”</a:t>
            </a:r>
          </a:p>
        </p:txBody>
      </p:sp>
      <p:sp>
        <p:nvSpPr>
          <p:cNvPr id="60" name="Rule"/>
          <p:cNvSpPr/>
          <p:nvPr/>
        </p:nvSpPr>
        <p:spPr>
          <a:xfrm>
            <a:off x="7658100" y="2671762"/>
            <a:ext cx="1981200" cy="9525"/>
          </a:xfrm>
          <a:prstGeom prst="rect">
            <a:avLst/>
          </a:prstGeom>
          <a:solidFill>
            <a:srgbClr val="E3DCD3"/>
          </a:solidFill>
          <a:ln>
            <a:noFill/>
          </a:ln>
        </p:spPr>
        <p:txBody>
          <a:bodyPr rtlCol="0" anchor="ctr"/>
          <a:lstStyle/>
          <a:p>
            <a:pPr algn="ctr"/>
          </a:p>
        </p:txBody>
      </p:sp>
      <p:pic>
        <p:nvPicPr>
          <p:cNvPr id="61" name="CACI" descr="CACI"/>
          <p:cNvPicPr>
            <a:picLocks noChangeAspect="1"/>
          </p:cNvPicPr>
          <p:nvPr/>
        </p:nvPicPr>
        <p:blipFill>
          <a:blip r:embed="rId31"/>
          <a:stretch>
            <a:fillRect/>
          </a:stretch>
        </p:blipFill>
        <p:spPr>
          <a:xfrm>
            <a:off x="7658100" y="2795588"/>
            <a:ext cx="209550" cy="209550"/>
          </a:xfrm>
          <a:prstGeom prst="rect">
            <a:avLst/>
          </a:prstGeom>
        </p:spPr>
      </p:pic>
      <p:sp>
        <p:nvSpPr>
          <p:cNvPr id="62" name="TextBox 61">
            <a:hlinkClick r:id="rId9"/>
          </p:cNvPr>
          <p:cNvSpPr txBox="1"/>
          <p:nvPr/>
        </p:nvSpPr>
        <p:spPr>
          <a:xfrm>
            <a:off x="7943850" y="2763107"/>
            <a:ext cx="1771650" cy="238125"/>
          </a:xfrm>
          <a:prstGeom prst="rect">
            <a:avLst/>
          </a:prstGeom>
          <a:noFill/>
        </p:spPr>
        <p:txBody>
          <a:bodyPr wrap="square" lIns="0" rIns="0" tIns="0" bIns="0" anchor="t">
            <a:noAutofit/>
          </a:bodyPr>
          <a:lstStyle/>
          <a:p>
            <a:pPr algn="l">
              <a:lnSpc>
                <a:spcPts val="975"/>
              </a:lnSpc>
              <a:spcBef>
                <a:spcPts val="0"/>
              </a:spcBef>
              <a:spcAft>
                <a:spcPts val="0"/>
              </a:spcAft>
            </a:pPr>
            <a:r>
              <a:rPr sz="712" b="0" i="0" spc="15">
                <a:solidFill>
                  <a:srgbClr val="6F6A66"/>
                </a:solidFill>
                <a:latin typeface="Quicksand"/>
              </a:rPr>
              <a:t>John Mengucci, President and Chief Executive Officer, CACI</a:t>
            </a:r>
          </a:p>
        </p:txBody>
      </p:sp>
      <p:sp>
        <p:nvSpPr>
          <p:cNvPr id="63" name="TextBox 62"/>
          <p:cNvSpPr txBox="1"/>
          <p:nvPr/>
        </p:nvSpPr>
        <p:spPr>
          <a:xfrm>
            <a:off x="7658100" y="3048000"/>
            <a:ext cx="2057400" cy="1114425"/>
          </a:xfrm>
          <a:prstGeom prst="rect">
            <a:avLst/>
          </a:prstGeom>
          <a:noFill/>
        </p:spPr>
        <p:txBody>
          <a:bodyPr wrap="square" lIns="0" rIns="0" tIns="0" bIns="0" anchor="t">
            <a:noAutofit/>
          </a:bodyPr>
          <a:lstStyle/>
          <a:p>
            <a:pPr algn="l">
              <a:lnSpc>
                <a:spcPts val="1312"/>
              </a:lnSpc>
              <a:spcBef>
                <a:spcPts val="0"/>
              </a:spcBef>
              <a:spcAft>
                <a:spcPts val="0"/>
              </a:spcAft>
            </a:pPr>
            <a:r>
              <a:rPr sz="938" b="0" i="1">
                <a:solidFill>
                  <a:srgbClr val="2A2928"/>
                </a:solidFill>
                <a:latin typeface="Newsreader"/>
              </a:rPr>
              <a:t>“In a challenging environment, we grew free cash flow by 66%, delivered high-single digit organic revenue growth, expanded EBITDA margin to 12.3%, won $10 billion in contract awards, and grew both funded and total backlog.”</a:t>
            </a:r>
          </a:p>
        </p:txBody>
      </p:sp>
      <p:sp>
        <p:nvSpPr>
          <p:cNvPr id="64" name="Rule"/>
          <p:cNvSpPr/>
          <p:nvPr/>
        </p:nvSpPr>
        <p:spPr>
          <a:xfrm>
            <a:off x="7658100" y="4333875"/>
            <a:ext cx="1981200" cy="9525"/>
          </a:xfrm>
          <a:prstGeom prst="rect">
            <a:avLst/>
          </a:prstGeom>
          <a:solidFill>
            <a:srgbClr val="E3DCD3"/>
          </a:solidFill>
          <a:ln>
            <a:noFill/>
          </a:ln>
        </p:spPr>
        <p:txBody>
          <a:bodyPr rtlCol="0" anchor="ctr"/>
          <a:lstStyle/>
          <a:p>
            <a:pPr algn="ctr"/>
          </a:p>
        </p:txBody>
      </p:sp>
      <p:pic>
        <p:nvPicPr>
          <p:cNvPr id="65" name="Tyler Technologies" descr="Tyler Technologies"/>
          <p:cNvPicPr>
            <a:picLocks noChangeAspect="1"/>
          </p:cNvPicPr>
          <p:nvPr/>
        </p:nvPicPr>
        <p:blipFill>
          <a:blip r:embed="rId32"/>
          <a:stretch>
            <a:fillRect/>
          </a:stretch>
        </p:blipFill>
        <p:spPr>
          <a:xfrm>
            <a:off x="7658100" y="4519612"/>
            <a:ext cx="209550" cy="209550"/>
          </a:xfrm>
          <a:prstGeom prst="rect">
            <a:avLst/>
          </a:prstGeom>
        </p:spPr>
      </p:pic>
      <p:sp>
        <p:nvSpPr>
          <p:cNvPr id="66" name="TextBox 65">
            <a:hlinkClick r:id="rId14"/>
          </p:cNvPr>
          <p:cNvSpPr txBox="1"/>
          <p:nvPr/>
        </p:nvSpPr>
        <p:spPr>
          <a:xfrm>
            <a:off x="7943850" y="4425220"/>
            <a:ext cx="1771650" cy="361950"/>
          </a:xfrm>
          <a:prstGeom prst="rect">
            <a:avLst/>
          </a:prstGeom>
          <a:noFill/>
        </p:spPr>
        <p:txBody>
          <a:bodyPr wrap="square" lIns="0" rIns="0" tIns="0" bIns="0" anchor="t">
            <a:noAutofit/>
          </a:bodyPr>
          <a:lstStyle/>
          <a:p>
            <a:pPr algn="l">
              <a:lnSpc>
                <a:spcPts val="975"/>
              </a:lnSpc>
              <a:spcBef>
                <a:spcPts val="0"/>
              </a:spcBef>
              <a:spcAft>
                <a:spcPts val="0"/>
              </a:spcAft>
            </a:pPr>
            <a:r>
              <a:rPr sz="712" b="0" i="0" spc="15">
                <a:solidFill>
                  <a:srgbClr val="6F6A66"/>
                </a:solidFill>
                <a:latin typeface="Quicksand"/>
              </a:rPr>
              <a:t>Lynn Moore, Executive Chair, President and Chief Executive Officer, Tyler Technologies</a:t>
            </a:r>
          </a:p>
        </p:txBody>
      </p:sp>
      <p:sp>
        <p:nvSpPr>
          <p:cNvPr id="67" name="TextBox 66"/>
          <p:cNvSpPr txBox="1"/>
          <p:nvPr/>
        </p:nvSpPr>
        <p:spPr>
          <a:xfrm>
            <a:off x="7658100" y="4833938"/>
            <a:ext cx="2057400" cy="781050"/>
          </a:xfrm>
          <a:prstGeom prst="rect">
            <a:avLst/>
          </a:prstGeom>
          <a:noFill/>
        </p:spPr>
        <p:txBody>
          <a:bodyPr wrap="square" lIns="0" rIns="0" tIns="0" bIns="0" anchor="t">
            <a:noAutofit/>
          </a:bodyPr>
          <a:lstStyle/>
          <a:p>
            <a:pPr algn="l">
              <a:lnSpc>
                <a:spcPts val="1312"/>
              </a:lnSpc>
              <a:spcBef>
                <a:spcPts val="0"/>
              </a:spcBef>
              <a:spcAft>
                <a:spcPts val="0"/>
              </a:spcAft>
            </a:pPr>
            <a:r>
              <a:rPr sz="938" b="0" i="1">
                <a:solidFill>
                  <a:srgbClr val="2A2928"/>
                </a:solidFill>
                <a:latin typeface="Newsreader"/>
              </a:rPr>
              <a:t>“Public sector demand remains healthy, reflecting sustained modernization priorities for the public sector that translated into record SaaS and total bookings.”</a:t>
            </a:r>
          </a:p>
        </p:txBody>
      </p:sp>
      <p:sp>
        <p:nvSpPr>
          <p:cNvPr id="68" name="Panel"/>
          <p:cNvSpPr/>
          <p:nvPr/>
        </p:nvSpPr>
        <p:spPr>
          <a:xfrm>
            <a:off x="7658100" y="5962650"/>
            <a:ext cx="1981200" cy="971550"/>
          </a:xfrm>
          <a:prstGeom prst="rect">
            <a:avLst/>
          </a:prstGeom>
          <a:solidFill>
            <a:srgbClr val="FAF7F3"/>
          </a:solidFill>
          <a:ln>
            <a:noFill/>
          </a:ln>
        </p:spPr>
        <p:txBody>
          <a:bodyPr rtlCol="0" anchor="ctr"/>
          <a:lstStyle/>
          <a:p>
            <a:pPr algn="ctr"/>
          </a:p>
        </p:txBody>
      </p:sp>
      <p:sp>
        <p:nvSpPr>
          <p:cNvPr id="69" name="Rule"/>
          <p:cNvSpPr/>
          <p:nvPr/>
        </p:nvSpPr>
        <p:spPr>
          <a:xfrm>
            <a:off x="7658100" y="5962650"/>
            <a:ext cx="1981200" cy="28575"/>
          </a:xfrm>
          <a:prstGeom prst="rect">
            <a:avLst/>
          </a:prstGeom>
          <a:solidFill>
            <a:srgbClr val="B68757"/>
          </a:solidFill>
          <a:ln>
            <a:noFill/>
          </a:ln>
        </p:spPr>
        <p:txBody>
          <a:bodyPr rtlCol="0" anchor="ctr"/>
          <a:lstStyle/>
          <a:p>
            <a:pPr algn="ctr"/>
          </a:p>
        </p:txBody>
      </p:sp>
      <p:sp>
        <p:nvSpPr>
          <p:cNvPr id="70" name="TextBox 69"/>
          <p:cNvSpPr txBox="1"/>
          <p:nvPr/>
        </p:nvSpPr>
        <p:spPr>
          <a:xfrm>
            <a:off x="7762875" y="6070949"/>
            <a:ext cx="880467" cy="104775"/>
          </a:xfrm>
          <a:prstGeom prst="rect">
            <a:avLst/>
          </a:prstGeom>
          <a:noFill/>
        </p:spPr>
        <p:txBody>
          <a:bodyPr wrap="none" lIns="0" rIns="0" tIns="0" bIns="0" anchor="t">
            <a:noAutofit/>
          </a:bodyPr>
          <a:lstStyle/>
          <a:p>
            <a:pPr algn="l">
              <a:lnSpc>
                <a:spcPts val="975"/>
              </a:lnSpc>
              <a:spcBef>
                <a:spcPts val="0"/>
              </a:spcBef>
              <a:spcAft>
                <a:spcPts val="0"/>
              </a:spcAft>
            </a:pPr>
            <a:r>
              <a:rPr sz="638" b="1" i="0" spc="120">
                <a:solidFill>
                  <a:srgbClr val="8C6239"/>
                </a:solidFill>
                <a:latin typeface="Quicksand"/>
              </a:rPr>
              <a:t>READ-THROUGH</a:t>
            </a:r>
          </a:p>
        </p:txBody>
      </p:sp>
      <p:sp>
        <p:nvSpPr>
          <p:cNvPr id="71" name="TextBox 70"/>
          <p:cNvSpPr txBox="1"/>
          <p:nvPr/>
        </p:nvSpPr>
        <p:spPr>
          <a:xfrm>
            <a:off x="7762875" y="6213253"/>
            <a:ext cx="1847850" cy="428625"/>
          </a:xfrm>
          <a:prstGeom prst="rect">
            <a:avLst/>
          </a:prstGeom>
          <a:noFill/>
        </p:spPr>
        <p:txBody>
          <a:bodyPr wrap="square" lIns="0" rIns="0" tIns="0" bIns="0" anchor="t">
            <a:noAutofit/>
          </a:bodyPr>
          <a:lstStyle/>
          <a:p>
            <a:pPr algn="l">
              <a:lnSpc>
                <a:spcPts val="1162"/>
              </a:lnSpc>
              <a:spcBef>
                <a:spcPts val="0"/>
              </a:spcBef>
              <a:spcAft>
                <a:spcPts val="0"/>
              </a:spcAft>
            </a:pPr>
            <a:r>
              <a:rPr sz="788" b="0" i="0" spc="15">
                <a:solidFill>
                  <a:srgbClr val="333231"/>
                </a:solidFill>
                <a:latin typeface="Quicksand"/>
              </a:rPr>
              <a:t>Contractors describe a harder market even as bookings and backlog grow.</a:t>
            </a:r>
          </a:p>
        </p:txBody>
      </p:sp>
      <p:sp>
        <p:nvSpPr>
          <p:cNvPr id="72" name="Panel"/>
          <p:cNvSpPr/>
          <p:nvPr/>
        </p:nvSpPr>
        <p:spPr>
          <a:xfrm>
            <a:off x="419100" y="7029450"/>
            <a:ext cx="9220200" cy="9525"/>
          </a:xfrm>
          <a:prstGeom prst="rect">
            <a:avLst/>
          </a:prstGeom>
          <a:solidFill>
            <a:srgbClr val="E3DCD3"/>
          </a:solidFill>
          <a:ln>
            <a:noFill/>
          </a:ln>
        </p:spPr>
        <p:txBody>
          <a:bodyPr rtlCol="0" anchor="ctr"/>
          <a:lstStyle/>
          <a:p>
            <a:pPr algn="ctr"/>
          </a:p>
        </p:txBody>
      </p:sp>
      <p:pic>
        <p:nvPicPr>
          <p:cNvPr id="73" name="Graphic" descr="S03_r6.png"/>
          <p:cNvPicPr>
            <a:picLocks noChangeAspect="1"/>
          </p:cNvPicPr>
          <p:nvPr/>
        </p:nvPicPr>
        <p:blipFill>
          <a:blip r:embed="rId33"/>
          <a:stretch>
            <a:fillRect/>
          </a:stretch>
        </p:blipFill>
        <p:spPr>
          <a:xfrm>
            <a:off x="419100" y="7143750"/>
            <a:ext cx="914400" cy="171450"/>
          </a:xfrm>
          <a:prstGeom prst="rect">
            <a:avLst/>
          </a:prstGeom>
        </p:spPr>
      </p:pic>
      <p:sp>
        <p:nvSpPr>
          <p:cNvPr id="74" name="TextBox 73"/>
          <p:cNvSpPr txBox="1"/>
          <p:nvPr/>
        </p:nvSpPr>
        <p:spPr>
          <a:xfrm>
            <a:off x="1543050" y="7091172"/>
            <a:ext cx="7810500" cy="223838"/>
          </a:xfrm>
          <a:prstGeom prst="rect">
            <a:avLst/>
          </a:prstGeom>
          <a:noFill/>
        </p:spPr>
        <p:txBody>
          <a:bodyPr wrap="square" lIns="0" rIns="0" tIns="0" bIns="0" anchor="t">
            <a:noAutofit/>
          </a:bodyPr>
          <a:lstStyle/>
          <a:p>
            <a:pPr algn="l">
              <a:lnSpc>
                <a:spcPts val="938"/>
              </a:lnSpc>
              <a:spcBef>
                <a:spcPts val="0"/>
              </a:spcBef>
              <a:spcAft>
                <a:spcPts val="0"/>
              </a:spcAft>
            </a:pPr>
            <a:r>
              <a:rPr sz="675" b="0" i="0" spc="8">
                <a:solidFill>
                  <a:srgbClr val="6F6A66"/>
                </a:solidFill>
                <a:latin typeface="Quicksand"/>
              </a:rPr>
              <a:t>Figures and quotations are from each company's earnings release, linked under the chart. Accenture growth is in US dollars, Palo Alto Networks includes acquired businesses, and the CACI quotation describes its full fiscal year. Jabil reported fourth-quarter revenue of $10.6 billion against $8.3 billion and is not charted because its release states no percentage.</a:t>
            </a:r>
          </a:p>
        </p:txBody>
      </p:sp>
      <p:sp>
        <p:nvSpPr>
          <p:cNvPr id="75" name="TextBox 74"/>
          <p:cNvSpPr txBox="1"/>
          <p:nvPr/>
        </p:nvSpPr>
        <p:spPr>
          <a:xfrm>
            <a:off x="9530655" y="7149370"/>
            <a:ext cx="108645" cy="114300"/>
          </a:xfrm>
          <a:prstGeom prst="rect">
            <a:avLst/>
          </a:prstGeom>
          <a:noFill/>
        </p:spPr>
        <p:txBody>
          <a:bodyPr wrap="none" lIns="0" rIns="0" tIns="0" bIns="0" anchor="t">
            <a:noAutofit/>
          </a:bodyPr>
          <a:lstStyle/>
          <a:p>
            <a:pPr algn="r">
              <a:lnSpc>
                <a:spcPts val="1050"/>
              </a:lnSpc>
              <a:spcBef>
                <a:spcPts val="0"/>
              </a:spcBef>
              <a:spcAft>
                <a:spcPts val="0"/>
              </a:spcAft>
            </a:pPr>
            <a:r>
              <a:rPr sz="712" b="1" i="0" spc="150">
                <a:solidFill>
                  <a:srgbClr val="1B1A1A"/>
                </a:solidFill>
                <a:latin typeface="Quicksand"/>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3" name="Panel"/>
          <p:cNvSpPr/>
          <p:nvPr/>
        </p:nvSpPr>
        <p:spPr>
          <a:xfrm>
            <a:off x="0" y="0"/>
            <a:ext cx="10058400" cy="7772400"/>
          </a:xfrm>
          <a:prstGeom prst="rect">
            <a:avLst/>
          </a:prstGeom>
          <a:solidFill>
            <a:srgbClr val="FFFFFF"/>
          </a:solidFill>
          <a:ln>
            <a:noFill/>
          </a:ln>
        </p:spPr>
        <p:txBody>
          <a:bodyPr rtlCol="0" anchor="ctr"/>
          <a:lstStyle/>
          <a:p>
            <a:pPr algn="ctr"/>
          </a:p>
        </p:txBody>
      </p:sp>
      <p:sp>
        <p:nvSpPr>
          <p:cNvPr id="4" name="Panel"/>
          <p:cNvSpPr/>
          <p:nvPr/>
        </p:nvSpPr>
        <p:spPr>
          <a:xfrm>
            <a:off x="0" y="0"/>
            <a:ext cx="57150" cy="7772400"/>
          </a:xfrm>
          <a:prstGeom prst="rect">
            <a:avLst/>
          </a:prstGeom>
          <a:solidFill>
            <a:srgbClr val="B68757"/>
          </a:solidFill>
          <a:ln>
            <a:noFill/>
          </a:ln>
        </p:spPr>
        <p:txBody>
          <a:bodyPr rtlCol="0" anchor="ctr"/>
          <a:lstStyle/>
          <a:p>
            <a:pPr algn="ctr"/>
          </a:p>
        </p:txBody>
      </p:sp>
      <p:sp>
        <p:nvSpPr>
          <p:cNvPr id="5" name="TextBox 4"/>
          <p:cNvSpPr txBox="1"/>
          <p:nvPr/>
        </p:nvSpPr>
        <p:spPr>
          <a:xfrm>
            <a:off x="419100" y="361760"/>
            <a:ext cx="2764185" cy="104775"/>
          </a:xfrm>
          <a:prstGeom prst="rect">
            <a:avLst/>
          </a:prstGeom>
          <a:noFill/>
        </p:spPr>
        <p:txBody>
          <a:bodyPr wrap="none" lIns="0" rIns="0" tIns="0" bIns="0" anchor="t">
            <a:noAutofit/>
          </a:bodyPr>
          <a:lstStyle/>
          <a:p>
            <a:pPr algn="l">
              <a:lnSpc>
                <a:spcPts val="1050"/>
              </a:lnSpc>
              <a:spcBef>
                <a:spcPts val="0"/>
              </a:spcBef>
              <a:spcAft>
                <a:spcPts val="0"/>
              </a:spcAft>
            </a:pPr>
            <a:r>
              <a:rPr sz="675" b="1" i="0" spc="195">
                <a:solidFill>
                  <a:srgbClr val="8C6239"/>
                </a:solidFill>
                <a:latin typeface="Quicksand"/>
              </a:rPr>
              <a:t>TECHNOLOGY  |  QUARTERLY SECTOR BRIEF</a:t>
            </a:r>
          </a:p>
        </p:txBody>
      </p:sp>
      <p:sp>
        <p:nvSpPr>
          <p:cNvPr id="6" name="TextBox 5"/>
          <p:cNvSpPr txBox="1"/>
          <p:nvPr/>
        </p:nvSpPr>
        <p:spPr>
          <a:xfrm>
            <a:off x="9112597" y="350901"/>
            <a:ext cx="526703" cy="152400"/>
          </a:xfrm>
          <a:prstGeom prst="rect">
            <a:avLst/>
          </a:prstGeom>
          <a:noFill/>
        </p:spPr>
        <p:txBody>
          <a:bodyPr wrap="none" lIns="0" rIns="0" tIns="0" bIns="0" anchor="t">
            <a:noAutofit/>
          </a:bodyPr>
          <a:lstStyle/>
          <a:p>
            <a:pPr algn="r">
              <a:lnSpc>
                <a:spcPts val="1350"/>
              </a:lnSpc>
              <a:spcBef>
                <a:spcPts val="0"/>
              </a:spcBef>
              <a:spcAft>
                <a:spcPts val="0"/>
              </a:spcAft>
            </a:pPr>
            <a:r>
              <a:rPr sz="900" b="0" i="0" spc="90">
                <a:solidFill>
                  <a:srgbClr val="6F6A66"/>
                </a:solidFill>
                <a:latin typeface="Cinzel"/>
              </a:rPr>
              <a:t>Q4 2026</a:t>
            </a:r>
          </a:p>
        </p:txBody>
      </p:sp>
      <p:sp>
        <p:nvSpPr>
          <p:cNvPr id="2" name="Title 1"/>
          <p:cNvSpPr>
            <a:spLocks noGrp="1"/>
          </p:cNvSpPr>
          <p:nvPr>
            <p:ph type="title"/>
          </p:nvPr>
        </p:nvSpPr>
        <p:spPr>
          <a:xfrm>
            <a:off x="419100" y="475488"/>
            <a:ext cx="3834557" cy="257175"/>
          </a:xfrm>
        </p:spPr>
        <p:txBody>
          <a:bodyPr wrap="none" lIns="0" rIns="0" tIns="0" bIns="0" anchor="t">
            <a:noAutofit/>
          </a:bodyPr>
          <a:lstStyle/>
          <a:p>
            <a:pPr algn="l">
              <a:lnSpc>
                <a:spcPts val="2550"/>
              </a:lnSpc>
              <a:spcBef>
                <a:spcPts val="0"/>
              </a:spcBef>
              <a:spcAft>
                <a:spcPts val="0"/>
              </a:spcAft>
            </a:pPr>
            <a:r>
              <a:rPr sz="2000" b="1" i="0">
                <a:solidFill>
                  <a:srgbClr val="1B1A1A"/>
                </a:solidFill>
                <a:latin typeface="Newsreader"/>
              </a:rPr>
              <a:t>Key Cost and Demand Indicators</a:t>
            </a:r>
          </a:p>
        </p:txBody>
      </p:sp>
      <p:sp>
        <p:nvSpPr>
          <p:cNvPr id="7" name="TextBox 6"/>
          <p:cNvSpPr txBox="1"/>
          <p:nvPr/>
        </p:nvSpPr>
        <p:spPr>
          <a:xfrm>
            <a:off x="419100" y="864394"/>
            <a:ext cx="7685782" cy="152400"/>
          </a:xfrm>
          <a:prstGeom prst="rect">
            <a:avLst/>
          </a:prstGeom>
          <a:noFill/>
        </p:spPr>
        <p:txBody>
          <a:bodyPr wrap="none" lIns="0" rIns="0" tIns="0" bIns="0" anchor="t">
            <a:noAutofit/>
          </a:bodyPr>
          <a:lstStyle/>
          <a:p>
            <a:pPr algn="l">
              <a:lnSpc>
                <a:spcPts val="1388"/>
              </a:lnSpc>
              <a:spcBef>
                <a:spcPts val="0"/>
              </a:spcBef>
              <a:spcAft>
                <a:spcPts val="0"/>
              </a:spcAft>
            </a:pPr>
            <a:r>
              <a:rPr sz="938" b="0" i="0" spc="15">
                <a:solidFill>
                  <a:srgbClr val="6F6A66"/>
                </a:solidFill>
                <a:latin typeface="Quicksand"/>
              </a:rPr>
              <a:t>Component and copper prices turned up in 2026, data center construction is surging, and IT services employment keeps drifting lower.</a:t>
            </a:r>
          </a:p>
        </p:txBody>
      </p:sp>
      <p:sp>
        <p:nvSpPr>
          <p:cNvPr id="8" name="Panel"/>
          <p:cNvSpPr/>
          <p:nvPr/>
        </p:nvSpPr>
        <p:spPr>
          <a:xfrm>
            <a:off x="419100" y="1143000"/>
            <a:ext cx="9220200" cy="9525"/>
          </a:xfrm>
          <a:prstGeom prst="rect">
            <a:avLst/>
          </a:prstGeom>
          <a:solidFill>
            <a:srgbClr val="E3DCD3"/>
          </a:solidFill>
          <a:ln>
            <a:noFill/>
          </a:ln>
        </p:spPr>
        <p:txBody>
          <a:bodyPr rtlCol="0" anchor="ctr"/>
          <a:lstStyle/>
          <a:p>
            <a:pPr algn="ctr"/>
          </a:p>
        </p:txBody>
      </p:sp>
      <p:sp>
        <p:nvSpPr>
          <p:cNvPr id="9" name="Panel"/>
          <p:cNvSpPr/>
          <p:nvPr/>
        </p:nvSpPr>
        <p:spPr>
          <a:xfrm>
            <a:off x="419100" y="1238250"/>
            <a:ext cx="4533900" cy="2771775"/>
          </a:xfrm>
          <a:prstGeom prst="rect">
            <a:avLst/>
          </a:prstGeom>
          <a:solidFill>
            <a:srgbClr val="FAF7F3"/>
          </a:solidFill>
          <a:ln>
            <a:noFill/>
          </a:ln>
        </p:spPr>
        <p:txBody>
          <a:bodyPr rtlCol="0" anchor="ctr"/>
          <a:lstStyle/>
          <a:p>
            <a:pPr algn="ctr"/>
          </a:p>
        </p:txBody>
      </p:sp>
      <p:sp>
        <p:nvSpPr>
          <p:cNvPr id="10" name="Rule"/>
          <p:cNvSpPr/>
          <p:nvPr/>
        </p:nvSpPr>
        <p:spPr>
          <a:xfrm>
            <a:off x="419100" y="1238250"/>
            <a:ext cx="4533900" cy="28575"/>
          </a:xfrm>
          <a:prstGeom prst="rect">
            <a:avLst/>
          </a:prstGeom>
          <a:solidFill>
            <a:srgbClr val="B68757"/>
          </a:solidFill>
          <a:ln>
            <a:noFill/>
          </a:ln>
        </p:spPr>
        <p:txBody>
          <a:bodyPr rtlCol="0" anchor="ctr"/>
          <a:lstStyle/>
          <a:p>
            <a:pPr algn="ctr"/>
          </a:p>
        </p:txBody>
      </p:sp>
      <p:sp>
        <p:nvSpPr>
          <p:cNvPr id="11" name="TextBox 10"/>
          <p:cNvSpPr txBox="1"/>
          <p:nvPr/>
        </p:nvSpPr>
        <p:spPr>
          <a:xfrm>
            <a:off x="571500" y="1375029"/>
            <a:ext cx="3043684" cy="152400"/>
          </a:xfrm>
          <a:prstGeom prst="rect">
            <a:avLst/>
          </a:prstGeom>
          <a:noFill/>
        </p:spPr>
        <p:txBody>
          <a:bodyPr wrap="none" lIns="0" rIns="0" tIns="0" bIns="0" anchor="t">
            <a:noAutofit/>
          </a:bodyPr>
          <a:lstStyle/>
          <a:p>
            <a:pPr algn="l">
              <a:lnSpc>
                <a:spcPts val="1312"/>
              </a:lnSpc>
              <a:spcBef>
                <a:spcPts val="0"/>
              </a:spcBef>
              <a:spcAft>
                <a:spcPts val="0"/>
              </a:spcAft>
            </a:pPr>
            <a:r>
              <a:rPr sz="975" b="1" i="0" spc="15">
                <a:solidFill>
                  <a:srgbClr val="1B1A1A"/>
                </a:solidFill>
                <a:latin typeface="Quicksand"/>
              </a:rPr>
              <a:t>Semiconductor and electronic component prices</a:t>
            </a:r>
          </a:p>
        </p:txBody>
      </p:sp>
      <p:sp>
        <p:nvSpPr>
          <p:cNvPr id="12" name="TextBox 11"/>
          <p:cNvSpPr txBox="1"/>
          <p:nvPr/>
        </p:nvSpPr>
        <p:spPr>
          <a:xfrm>
            <a:off x="571500" y="1540192"/>
            <a:ext cx="4305300" cy="257175"/>
          </a:xfrm>
          <a:prstGeom prst="rect">
            <a:avLst/>
          </a:prstGeom>
          <a:noFill/>
        </p:spPr>
        <p:txBody>
          <a:bodyPr wrap="square" lIns="0" rIns="0" tIns="0" bIns="0" anchor="t">
            <a:noAutofit/>
          </a:bodyPr>
          <a:lstStyle/>
          <a:p>
            <a:pPr algn="l">
              <a:lnSpc>
                <a:spcPts val="1050"/>
              </a:lnSpc>
              <a:spcBef>
                <a:spcPts val="0"/>
              </a:spcBef>
              <a:spcAft>
                <a:spcPts val="0"/>
              </a:spcAft>
            </a:pPr>
            <a:r>
              <a:rPr sz="750" b="0" i="0" spc="15">
                <a:solidFill>
                  <a:srgbClr val="6F6A66"/>
                </a:solidFill>
                <a:latin typeface="Quicksand"/>
              </a:rPr>
              <a:t>Producer price index, semiconductor and other electronic component manufacturing. Index, September 2021 = 100. Source: Bureau of Labor Statistics via </a:t>
            </a:r>
            <a:r>
              <a:rPr sz="750" b="0" i="0" spc="15" u="sng">
                <a:solidFill>
                  <a:srgbClr val="8C6239"/>
                </a:solidFill>
                <a:latin typeface="Quicksand"/>
                <a:hlinkClick r:id="rId2">
                  <a:extLst>
                    <a:ext uri="{A12FA001-AC4F-418D-AE19-62706E023703}">
                      <ahyp:hlinkClr xmlns:ahyp="http://schemas.microsoft.com/office/drawing/2018/hyperlinkcolor" val="tx"/>
                    </a:ext>
                  </a:extLst>
                </a:hlinkClick>
              </a:rPr>
              <a:t>FRED</a:t>
            </a:r>
          </a:p>
        </p:txBody>
      </p:sp>
      <p:graphicFrame>
        <p:nvGraphicFramePr>
          <p:cNvPr id="13" name="Chart"/>
          <p:cNvGraphicFramePr>
            <a:graphicFrameLocks noGrp="1"/>
          </p:cNvGraphicFramePr>
          <p:nvPr/>
        </p:nvGraphicFramePr>
        <p:xfrm>
          <a:off x="571500" y="1900238"/>
          <a:ext cx="2933700" cy="1428750"/>
        </p:xfrm>
        <a:graphic>
          <a:graphicData uri="http://schemas.openxmlformats.org/drawingml/2006/chart">
            <c:chart xmlns:c="http://schemas.openxmlformats.org/drawingml/2006/chart" r:id="rId3"/>
          </a:graphicData>
        </a:graphic>
      </p:graphicFrame>
      <p:sp>
        <p:nvSpPr>
          <p:cNvPr id="14" name="TextBox 13"/>
          <p:cNvSpPr txBox="1"/>
          <p:nvPr/>
        </p:nvSpPr>
        <p:spPr>
          <a:xfrm>
            <a:off x="3619500" y="1917002"/>
            <a:ext cx="1202382" cy="95250"/>
          </a:xfrm>
          <a:prstGeom prst="rect">
            <a:avLst/>
          </a:prstGeom>
          <a:noFill/>
        </p:spPr>
        <p:txBody>
          <a:bodyPr wrap="none" lIns="0" rIns="0" tIns="0" bIns="0" anchor="t">
            <a:noAutofit/>
          </a:bodyPr>
          <a:lstStyle/>
          <a:p>
            <a:pPr algn="l">
              <a:lnSpc>
                <a:spcPts val="975"/>
              </a:lnSpc>
              <a:spcBef>
                <a:spcPts val="0"/>
              </a:spcBef>
              <a:spcAft>
                <a:spcPts val="0"/>
              </a:spcAft>
            </a:pPr>
            <a:r>
              <a:rPr sz="600" b="1" i="0" spc="150">
                <a:solidFill>
                  <a:srgbClr val="6F6A66"/>
                </a:solidFill>
                <a:latin typeface="Quicksand"/>
              </a:rPr>
              <a:t>CHANGE TO AUG 2026</a:t>
            </a:r>
          </a:p>
        </p:txBody>
      </p:sp>
      <p:sp>
        <p:nvSpPr>
          <p:cNvPr id="15" name="Rule"/>
          <p:cNvSpPr/>
          <p:nvPr/>
        </p:nvSpPr>
        <p:spPr>
          <a:xfrm>
            <a:off x="3619500" y="2109788"/>
            <a:ext cx="1181100" cy="9525"/>
          </a:xfrm>
          <a:prstGeom prst="rect">
            <a:avLst/>
          </a:prstGeom>
          <a:solidFill>
            <a:srgbClr val="E3DCD3"/>
          </a:solidFill>
          <a:ln>
            <a:noFill/>
          </a:ln>
        </p:spPr>
        <p:txBody>
          <a:bodyPr rtlCol="0" anchor="ctr"/>
          <a:lstStyle/>
          <a:p>
            <a:pPr algn="ctr"/>
          </a:p>
        </p:txBody>
      </p:sp>
      <p:sp>
        <p:nvSpPr>
          <p:cNvPr id="16" name="TextBox 15"/>
          <p:cNvSpPr txBox="1"/>
          <p:nvPr/>
        </p:nvSpPr>
        <p:spPr>
          <a:xfrm>
            <a:off x="3619500" y="2160365"/>
            <a:ext cx="345281" cy="133350"/>
          </a:xfrm>
          <a:prstGeom prst="rect">
            <a:avLst/>
          </a:prstGeom>
          <a:noFill/>
        </p:spPr>
        <p:txBody>
          <a:bodyPr wrap="none" lIns="0" rIns="0" tIns="0" bIns="0" anchor="t">
            <a:noAutofit/>
          </a:bodyPr>
          <a:lstStyle/>
          <a:p>
            <a:pPr algn="l">
              <a:lnSpc>
                <a:spcPts val="1088"/>
              </a:lnSpc>
              <a:spcBef>
                <a:spcPts val="0"/>
              </a:spcBef>
              <a:spcAft>
                <a:spcPts val="0"/>
              </a:spcAft>
            </a:pPr>
            <a:r>
              <a:rPr sz="788" b="0" i="0" spc="15">
                <a:solidFill>
                  <a:srgbClr val="6F6A66"/>
                </a:solidFill>
                <a:latin typeface="Quicksand"/>
              </a:rPr>
              <a:t>1 year</a:t>
            </a:r>
          </a:p>
        </p:txBody>
      </p:sp>
      <p:sp>
        <p:nvSpPr>
          <p:cNvPr id="17" name="TextBox 16"/>
          <p:cNvSpPr txBox="1"/>
          <p:nvPr/>
        </p:nvSpPr>
        <p:spPr>
          <a:xfrm>
            <a:off x="4457700" y="2160365"/>
            <a:ext cx="400050" cy="133350"/>
          </a:xfrm>
          <a:prstGeom prst="rect">
            <a:avLst/>
          </a:prstGeom>
          <a:noFill/>
        </p:spPr>
        <p:txBody>
          <a:bodyPr wrap="none" lIns="0" rIns="0" tIns="0" bIns="0" anchor="t">
            <a:noAutofit/>
          </a:bodyPr>
          <a:lstStyle/>
          <a:p>
            <a:pPr algn="l">
              <a:lnSpc>
                <a:spcPts val="1088"/>
              </a:lnSpc>
              <a:spcBef>
                <a:spcPts val="0"/>
              </a:spcBef>
              <a:spcAft>
                <a:spcPts val="0"/>
              </a:spcAft>
            </a:pPr>
            <a:r>
              <a:rPr sz="788" b="1" i="0" spc="15">
                <a:solidFill>
                  <a:srgbClr val="1B1A1A"/>
                </a:solidFill>
                <a:latin typeface="Quicksand"/>
              </a:rPr>
              <a:t>+26.7%</a:t>
            </a:r>
          </a:p>
        </p:txBody>
      </p:sp>
      <p:sp>
        <p:nvSpPr>
          <p:cNvPr id="18" name="Rule"/>
          <p:cNvSpPr/>
          <p:nvPr/>
        </p:nvSpPr>
        <p:spPr>
          <a:xfrm>
            <a:off x="3619500" y="2371725"/>
            <a:ext cx="1181100" cy="9525"/>
          </a:xfrm>
          <a:prstGeom prst="rect">
            <a:avLst/>
          </a:prstGeom>
          <a:solidFill>
            <a:srgbClr val="E3DCD3"/>
          </a:solidFill>
          <a:ln>
            <a:noFill/>
          </a:ln>
        </p:spPr>
        <p:txBody>
          <a:bodyPr rtlCol="0" anchor="ctr"/>
          <a:lstStyle/>
          <a:p>
            <a:pPr algn="ctr"/>
          </a:p>
        </p:txBody>
      </p:sp>
      <p:sp>
        <p:nvSpPr>
          <p:cNvPr id="19" name="TextBox 18"/>
          <p:cNvSpPr txBox="1"/>
          <p:nvPr/>
        </p:nvSpPr>
        <p:spPr>
          <a:xfrm>
            <a:off x="3619500" y="2422303"/>
            <a:ext cx="409426" cy="133350"/>
          </a:xfrm>
          <a:prstGeom prst="rect">
            <a:avLst/>
          </a:prstGeom>
          <a:noFill/>
        </p:spPr>
        <p:txBody>
          <a:bodyPr wrap="none" lIns="0" rIns="0" tIns="0" bIns="0" anchor="t">
            <a:noAutofit/>
          </a:bodyPr>
          <a:lstStyle/>
          <a:p>
            <a:pPr algn="l">
              <a:lnSpc>
                <a:spcPts val="1088"/>
              </a:lnSpc>
              <a:spcBef>
                <a:spcPts val="0"/>
              </a:spcBef>
              <a:spcAft>
                <a:spcPts val="0"/>
              </a:spcAft>
            </a:pPr>
            <a:r>
              <a:rPr sz="788" b="0" i="0" spc="15">
                <a:solidFill>
                  <a:srgbClr val="6F6A66"/>
                </a:solidFill>
                <a:latin typeface="Quicksand"/>
              </a:rPr>
              <a:t>3 years</a:t>
            </a:r>
          </a:p>
        </p:txBody>
      </p:sp>
      <p:sp>
        <p:nvSpPr>
          <p:cNvPr id="20" name="TextBox 19"/>
          <p:cNvSpPr txBox="1"/>
          <p:nvPr/>
        </p:nvSpPr>
        <p:spPr>
          <a:xfrm>
            <a:off x="4460528" y="2422303"/>
            <a:ext cx="397222" cy="133350"/>
          </a:xfrm>
          <a:prstGeom prst="rect">
            <a:avLst/>
          </a:prstGeom>
          <a:noFill/>
        </p:spPr>
        <p:txBody>
          <a:bodyPr wrap="none" lIns="0" rIns="0" tIns="0" bIns="0" anchor="t">
            <a:noAutofit/>
          </a:bodyPr>
          <a:lstStyle/>
          <a:p>
            <a:pPr algn="l">
              <a:lnSpc>
                <a:spcPts val="1088"/>
              </a:lnSpc>
              <a:spcBef>
                <a:spcPts val="0"/>
              </a:spcBef>
              <a:spcAft>
                <a:spcPts val="0"/>
              </a:spcAft>
            </a:pPr>
            <a:r>
              <a:rPr sz="788" b="1" i="0" spc="15">
                <a:solidFill>
                  <a:srgbClr val="1B1A1A"/>
                </a:solidFill>
                <a:latin typeface="Quicksand"/>
              </a:rPr>
              <a:t>+32.3%</a:t>
            </a:r>
          </a:p>
        </p:txBody>
      </p:sp>
      <p:sp>
        <p:nvSpPr>
          <p:cNvPr id="21" name="Rule"/>
          <p:cNvSpPr/>
          <p:nvPr/>
        </p:nvSpPr>
        <p:spPr>
          <a:xfrm>
            <a:off x="3619500" y="2633662"/>
            <a:ext cx="1181100" cy="9525"/>
          </a:xfrm>
          <a:prstGeom prst="rect">
            <a:avLst/>
          </a:prstGeom>
          <a:solidFill>
            <a:srgbClr val="E3DCD3"/>
          </a:solidFill>
          <a:ln>
            <a:noFill/>
          </a:ln>
        </p:spPr>
        <p:txBody>
          <a:bodyPr rtlCol="0" anchor="ctr"/>
          <a:lstStyle/>
          <a:p>
            <a:pPr algn="ctr"/>
          </a:p>
        </p:txBody>
      </p:sp>
      <p:sp>
        <p:nvSpPr>
          <p:cNvPr id="22" name="TextBox 21"/>
          <p:cNvSpPr txBox="1"/>
          <p:nvPr/>
        </p:nvSpPr>
        <p:spPr>
          <a:xfrm>
            <a:off x="3619500" y="2684240"/>
            <a:ext cx="762893" cy="133350"/>
          </a:xfrm>
          <a:prstGeom prst="rect">
            <a:avLst/>
          </a:prstGeom>
          <a:noFill/>
        </p:spPr>
        <p:txBody>
          <a:bodyPr wrap="none" lIns="0" rIns="0" tIns="0" bIns="0" anchor="t">
            <a:noAutofit/>
          </a:bodyPr>
          <a:lstStyle/>
          <a:p>
            <a:pPr algn="l">
              <a:lnSpc>
                <a:spcPts val="1088"/>
              </a:lnSpc>
              <a:spcBef>
                <a:spcPts val="0"/>
              </a:spcBef>
              <a:spcAft>
                <a:spcPts val="0"/>
              </a:spcAft>
            </a:pPr>
            <a:r>
              <a:rPr sz="788" b="0" i="0" spc="15">
                <a:solidFill>
                  <a:srgbClr val="6F6A66"/>
                </a:solidFill>
                <a:latin typeface="Quicksand"/>
              </a:rPr>
              <a:t>Since Sep 2021</a:t>
            </a:r>
          </a:p>
        </p:txBody>
      </p:sp>
      <p:sp>
        <p:nvSpPr>
          <p:cNvPr id="23" name="TextBox 22"/>
          <p:cNvSpPr txBox="1"/>
          <p:nvPr/>
        </p:nvSpPr>
        <p:spPr>
          <a:xfrm>
            <a:off x="4468267" y="2684240"/>
            <a:ext cx="389483" cy="133350"/>
          </a:xfrm>
          <a:prstGeom prst="rect">
            <a:avLst/>
          </a:prstGeom>
          <a:noFill/>
        </p:spPr>
        <p:txBody>
          <a:bodyPr wrap="none" lIns="0" rIns="0" tIns="0" bIns="0" anchor="t">
            <a:noAutofit/>
          </a:bodyPr>
          <a:lstStyle/>
          <a:p>
            <a:pPr algn="l">
              <a:lnSpc>
                <a:spcPts val="1088"/>
              </a:lnSpc>
              <a:spcBef>
                <a:spcPts val="0"/>
              </a:spcBef>
              <a:spcAft>
                <a:spcPts val="0"/>
              </a:spcAft>
            </a:pPr>
            <a:r>
              <a:rPr sz="788" b="1" i="0" spc="15">
                <a:solidFill>
                  <a:srgbClr val="1B1A1A"/>
                </a:solidFill>
                <a:latin typeface="Quicksand"/>
              </a:rPr>
              <a:t>+37.7%</a:t>
            </a:r>
          </a:p>
        </p:txBody>
      </p:sp>
      <p:sp>
        <p:nvSpPr>
          <p:cNvPr id="24" name="Rule"/>
          <p:cNvSpPr/>
          <p:nvPr/>
        </p:nvSpPr>
        <p:spPr>
          <a:xfrm>
            <a:off x="3619500" y="2895600"/>
            <a:ext cx="1181100" cy="9525"/>
          </a:xfrm>
          <a:prstGeom prst="rect">
            <a:avLst/>
          </a:prstGeom>
          <a:solidFill>
            <a:srgbClr val="E3DCD3"/>
          </a:solidFill>
          <a:ln>
            <a:noFill/>
          </a:ln>
        </p:spPr>
        <p:txBody>
          <a:bodyPr rtlCol="0" anchor="ctr"/>
          <a:lstStyle/>
          <a:p>
            <a:pPr algn="ctr"/>
          </a:p>
        </p:txBody>
      </p:sp>
      <p:sp>
        <p:nvSpPr>
          <p:cNvPr id="25" name="TextBox 24"/>
          <p:cNvSpPr txBox="1"/>
          <p:nvPr/>
        </p:nvSpPr>
        <p:spPr>
          <a:xfrm>
            <a:off x="571500" y="3575876"/>
            <a:ext cx="4305300" cy="285750"/>
          </a:xfrm>
          <a:prstGeom prst="rect">
            <a:avLst/>
          </a:prstGeom>
          <a:noFill/>
        </p:spPr>
        <p:txBody>
          <a:bodyPr wrap="square" lIns="0" rIns="0" tIns="0" bIns="0" anchor="t">
            <a:noAutofit/>
          </a:bodyPr>
          <a:lstStyle/>
          <a:p>
            <a:pPr algn="l">
              <a:lnSpc>
                <a:spcPts val="1200"/>
              </a:lnSpc>
              <a:spcBef>
                <a:spcPts val="0"/>
              </a:spcBef>
              <a:spcAft>
                <a:spcPts val="0"/>
              </a:spcAft>
            </a:pPr>
            <a:r>
              <a:rPr sz="825" b="0" i="0" spc="15">
                <a:solidFill>
                  <a:srgbClr val="333231"/>
                </a:solidFill>
                <a:latin typeface="Quicksand"/>
              </a:rPr>
              <a:t>Component prices were flat for four years and have risen sharply since February 2026, which raises input costs for manufacturers and integrators.</a:t>
            </a:r>
          </a:p>
        </p:txBody>
      </p:sp>
      <p:sp>
        <p:nvSpPr>
          <p:cNvPr id="26" name="Panel"/>
          <p:cNvSpPr/>
          <p:nvPr/>
        </p:nvSpPr>
        <p:spPr>
          <a:xfrm>
            <a:off x="5105400" y="1238250"/>
            <a:ext cx="4533900" cy="2771775"/>
          </a:xfrm>
          <a:prstGeom prst="rect">
            <a:avLst/>
          </a:prstGeom>
          <a:solidFill>
            <a:srgbClr val="FAF7F3"/>
          </a:solidFill>
          <a:ln>
            <a:noFill/>
          </a:ln>
        </p:spPr>
        <p:txBody>
          <a:bodyPr rtlCol="0" anchor="ctr"/>
          <a:lstStyle/>
          <a:p>
            <a:pPr algn="ctr"/>
          </a:p>
        </p:txBody>
      </p:sp>
      <p:sp>
        <p:nvSpPr>
          <p:cNvPr id="27" name="Rule"/>
          <p:cNvSpPr/>
          <p:nvPr/>
        </p:nvSpPr>
        <p:spPr>
          <a:xfrm>
            <a:off x="5105400" y="1238250"/>
            <a:ext cx="4533900" cy="28575"/>
          </a:xfrm>
          <a:prstGeom prst="rect">
            <a:avLst/>
          </a:prstGeom>
          <a:solidFill>
            <a:srgbClr val="B68757"/>
          </a:solidFill>
          <a:ln>
            <a:noFill/>
          </a:ln>
        </p:spPr>
        <p:txBody>
          <a:bodyPr rtlCol="0" anchor="ctr"/>
          <a:lstStyle/>
          <a:p>
            <a:pPr algn="ctr"/>
          </a:p>
        </p:txBody>
      </p:sp>
      <p:sp>
        <p:nvSpPr>
          <p:cNvPr id="28" name="TextBox 27"/>
          <p:cNvSpPr txBox="1"/>
          <p:nvPr/>
        </p:nvSpPr>
        <p:spPr>
          <a:xfrm>
            <a:off x="5257800" y="1375029"/>
            <a:ext cx="850106" cy="152400"/>
          </a:xfrm>
          <a:prstGeom prst="rect">
            <a:avLst/>
          </a:prstGeom>
          <a:noFill/>
        </p:spPr>
        <p:txBody>
          <a:bodyPr wrap="none" lIns="0" rIns="0" tIns="0" bIns="0" anchor="t">
            <a:noAutofit/>
          </a:bodyPr>
          <a:lstStyle/>
          <a:p>
            <a:pPr algn="l">
              <a:lnSpc>
                <a:spcPts val="1312"/>
              </a:lnSpc>
              <a:spcBef>
                <a:spcPts val="0"/>
              </a:spcBef>
              <a:spcAft>
                <a:spcPts val="0"/>
              </a:spcAft>
            </a:pPr>
            <a:r>
              <a:rPr sz="975" b="1" i="0" spc="15">
                <a:solidFill>
                  <a:srgbClr val="1B1A1A"/>
                </a:solidFill>
                <a:latin typeface="Quicksand"/>
              </a:rPr>
              <a:t>Copper price</a:t>
            </a:r>
          </a:p>
        </p:txBody>
      </p:sp>
      <p:sp>
        <p:nvSpPr>
          <p:cNvPr id="29" name="TextBox 28"/>
          <p:cNvSpPr txBox="1"/>
          <p:nvPr/>
        </p:nvSpPr>
        <p:spPr>
          <a:xfrm>
            <a:off x="5257800" y="1540192"/>
            <a:ext cx="4305300" cy="257175"/>
          </a:xfrm>
          <a:prstGeom prst="rect">
            <a:avLst/>
          </a:prstGeom>
          <a:noFill/>
        </p:spPr>
        <p:txBody>
          <a:bodyPr wrap="square" lIns="0" rIns="0" tIns="0" bIns="0" anchor="t">
            <a:noAutofit/>
          </a:bodyPr>
          <a:lstStyle/>
          <a:p>
            <a:pPr algn="l">
              <a:lnSpc>
                <a:spcPts val="1050"/>
              </a:lnSpc>
              <a:spcBef>
                <a:spcPts val="0"/>
              </a:spcBef>
              <a:spcAft>
                <a:spcPts val="0"/>
              </a:spcAft>
            </a:pPr>
            <a:r>
              <a:rPr sz="750" b="0" i="0" spc="15">
                <a:solidFill>
                  <a:srgbClr val="6F6A66"/>
                </a:solidFill>
                <a:latin typeface="Quicksand"/>
              </a:rPr>
              <a:t>Global price of copper, US dollars per metric ton, monthly average. Index, September 2021 = 100. Source: International Monetary Fund via </a:t>
            </a:r>
            <a:r>
              <a:rPr sz="750" b="0" i="0" spc="15" u="sng">
                <a:solidFill>
                  <a:srgbClr val="8C6239"/>
                </a:solidFill>
                <a:latin typeface="Quicksand"/>
                <a:hlinkClick r:id="rId4">
                  <a:extLst>
                    <a:ext uri="{A12FA001-AC4F-418D-AE19-62706E023703}">
                      <ahyp:hlinkClr xmlns:ahyp="http://schemas.microsoft.com/office/drawing/2018/hyperlinkcolor" val="tx"/>
                    </a:ext>
                  </a:extLst>
                </a:hlinkClick>
              </a:rPr>
              <a:t>FRED</a:t>
            </a:r>
          </a:p>
        </p:txBody>
      </p:sp>
      <p:graphicFrame>
        <p:nvGraphicFramePr>
          <p:cNvPr id="30" name="Chart"/>
          <p:cNvGraphicFramePr>
            <a:graphicFrameLocks noGrp="1"/>
          </p:cNvGraphicFramePr>
          <p:nvPr/>
        </p:nvGraphicFramePr>
        <p:xfrm>
          <a:off x="5257800" y="1900238"/>
          <a:ext cx="2933700" cy="1428750"/>
        </p:xfrm>
        <a:graphic>
          <a:graphicData uri="http://schemas.openxmlformats.org/drawingml/2006/chart">
            <c:chart xmlns:c="http://schemas.openxmlformats.org/drawingml/2006/chart" r:id="rId5"/>
          </a:graphicData>
        </a:graphic>
      </p:graphicFrame>
      <p:sp>
        <p:nvSpPr>
          <p:cNvPr id="31" name="TextBox 30"/>
          <p:cNvSpPr txBox="1"/>
          <p:nvPr/>
        </p:nvSpPr>
        <p:spPr>
          <a:xfrm>
            <a:off x="8305800" y="1917002"/>
            <a:ext cx="1186309" cy="95250"/>
          </a:xfrm>
          <a:prstGeom prst="rect">
            <a:avLst/>
          </a:prstGeom>
          <a:noFill/>
        </p:spPr>
        <p:txBody>
          <a:bodyPr wrap="none" lIns="0" rIns="0" tIns="0" bIns="0" anchor="t">
            <a:noAutofit/>
          </a:bodyPr>
          <a:lstStyle/>
          <a:p>
            <a:pPr algn="l">
              <a:lnSpc>
                <a:spcPts val="975"/>
              </a:lnSpc>
              <a:spcBef>
                <a:spcPts val="0"/>
              </a:spcBef>
              <a:spcAft>
                <a:spcPts val="0"/>
              </a:spcAft>
            </a:pPr>
            <a:r>
              <a:rPr sz="600" b="1" i="0" spc="150">
                <a:solidFill>
                  <a:srgbClr val="6F6A66"/>
                </a:solidFill>
                <a:latin typeface="Quicksand"/>
              </a:rPr>
              <a:t>CHANGE TO JUL 2026</a:t>
            </a:r>
          </a:p>
        </p:txBody>
      </p:sp>
      <p:sp>
        <p:nvSpPr>
          <p:cNvPr id="32" name="Rule"/>
          <p:cNvSpPr/>
          <p:nvPr/>
        </p:nvSpPr>
        <p:spPr>
          <a:xfrm>
            <a:off x="8305800" y="2109788"/>
            <a:ext cx="1181100" cy="9525"/>
          </a:xfrm>
          <a:prstGeom prst="rect">
            <a:avLst/>
          </a:prstGeom>
          <a:solidFill>
            <a:srgbClr val="E3DCD3"/>
          </a:solidFill>
          <a:ln>
            <a:noFill/>
          </a:ln>
        </p:spPr>
        <p:txBody>
          <a:bodyPr rtlCol="0" anchor="ctr"/>
          <a:lstStyle/>
          <a:p>
            <a:pPr algn="ctr"/>
          </a:p>
        </p:txBody>
      </p:sp>
      <p:sp>
        <p:nvSpPr>
          <p:cNvPr id="33" name="TextBox 32"/>
          <p:cNvSpPr txBox="1"/>
          <p:nvPr/>
        </p:nvSpPr>
        <p:spPr>
          <a:xfrm>
            <a:off x="8305800" y="2160365"/>
            <a:ext cx="345281" cy="133350"/>
          </a:xfrm>
          <a:prstGeom prst="rect">
            <a:avLst/>
          </a:prstGeom>
          <a:noFill/>
        </p:spPr>
        <p:txBody>
          <a:bodyPr wrap="none" lIns="0" rIns="0" tIns="0" bIns="0" anchor="t">
            <a:noAutofit/>
          </a:bodyPr>
          <a:lstStyle/>
          <a:p>
            <a:pPr algn="l">
              <a:lnSpc>
                <a:spcPts val="1088"/>
              </a:lnSpc>
              <a:spcBef>
                <a:spcPts val="0"/>
              </a:spcBef>
              <a:spcAft>
                <a:spcPts val="0"/>
              </a:spcAft>
            </a:pPr>
            <a:r>
              <a:rPr sz="788" b="0" i="0" spc="15">
                <a:solidFill>
                  <a:srgbClr val="6F6A66"/>
                </a:solidFill>
                <a:latin typeface="Quicksand"/>
              </a:rPr>
              <a:t>1 year</a:t>
            </a:r>
          </a:p>
        </p:txBody>
      </p:sp>
      <p:sp>
        <p:nvSpPr>
          <p:cNvPr id="34" name="TextBox 33"/>
          <p:cNvSpPr txBox="1"/>
          <p:nvPr/>
        </p:nvSpPr>
        <p:spPr>
          <a:xfrm>
            <a:off x="9147274" y="2160365"/>
            <a:ext cx="396776" cy="133350"/>
          </a:xfrm>
          <a:prstGeom prst="rect">
            <a:avLst/>
          </a:prstGeom>
          <a:noFill/>
        </p:spPr>
        <p:txBody>
          <a:bodyPr wrap="none" lIns="0" rIns="0" tIns="0" bIns="0" anchor="t">
            <a:noAutofit/>
          </a:bodyPr>
          <a:lstStyle/>
          <a:p>
            <a:pPr algn="l">
              <a:lnSpc>
                <a:spcPts val="1088"/>
              </a:lnSpc>
              <a:spcBef>
                <a:spcPts val="0"/>
              </a:spcBef>
              <a:spcAft>
                <a:spcPts val="0"/>
              </a:spcAft>
            </a:pPr>
            <a:r>
              <a:rPr sz="788" b="1" i="0" spc="15">
                <a:solidFill>
                  <a:srgbClr val="1B1A1A"/>
                </a:solidFill>
                <a:latin typeface="Quicksand"/>
              </a:rPr>
              <a:t>+38.6%</a:t>
            </a:r>
          </a:p>
        </p:txBody>
      </p:sp>
      <p:sp>
        <p:nvSpPr>
          <p:cNvPr id="35" name="Rule"/>
          <p:cNvSpPr/>
          <p:nvPr/>
        </p:nvSpPr>
        <p:spPr>
          <a:xfrm>
            <a:off x="8305800" y="2371725"/>
            <a:ext cx="1181100" cy="9525"/>
          </a:xfrm>
          <a:prstGeom prst="rect">
            <a:avLst/>
          </a:prstGeom>
          <a:solidFill>
            <a:srgbClr val="E3DCD3"/>
          </a:solidFill>
          <a:ln>
            <a:noFill/>
          </a:ln>
        </p:spPr>
        <p:txBody>
          <a:bodyPr rtlCol="0" anchor="ctr"/>
          <a:lstStyle/>
          <a:p>
            <a:pPr algn="ctr"/>
          </a:p>
        </p:txBody>
      </p:sp>
      <p:sp>
        <p:nvSpPr>
          <p:cNvPr id="36" name="TextBox 35"/>
          <p:cNvSpPr txBox="1"/>
          <p:nvPr/>
        </p:nvSpPr>
        <p:spPr>
          <a:xfrm>
            <a:off x="8305800" y="2422303"/>
            <a:ext cx="409426" cy="133350"/>
          </a:xfrm>
          <a:prstGeom prst="rect">
            <a:avLst/>
          </a:prstGeom>
          <a:noFill/>
        </p:spPr>
        <p:txBody>
          <a:bodyPr wrap="none" lIns="0" rIns="0" tIns="0" bIns="0" anchor="t">
            <a:noAutofit/>
          </a:bodyPr>
          <a:lstStyle/>
          <a:p>
            <a:pPr algn="l">
              <a:lnSpc>
                <a:spcPts val="1088"/>
              </a:lnSpc>
              <a:spcBef>
                <a:spcPts val="0"/>
              </a:spcBef>
              <a:spcAft>
                <a:spcPts val="0"/>
              </a:spcAft>
            </a:pPr>
            <a:r>
              <a:rPr sz="788" b="0" i="0" spc="15">
                <a:solidFill>
                  <a:srgbClr val="6F6A66"/>
                </a:solidFill>
                <a:latin typeface="Quicksand"/>
              </a:rPr>
              <a:t>3 years</a:t>
            </a:r>
          </a:p>
        </p:txBody>
      </p:sp>
      <p:sp>
        <p:nvSpPr>
          <p:cNvPr id="37" name="TextBox 36"/>
          <p:cNvSpPr txBox="1"/>
          <p:nvPr/>
        </p:nvSpPr>
        <p:spPr>
          <a:xfrm>
            <a:off x="9145786" y="2422303"/>
            <a:ext cx="398264" cy="133350"/>
          </a:xfrm>
          <a:prstGeom prst="rect">
            <a:avLst/>
          </a:prstGeom>
          <a:noFill/>
        </p:spPr>
        <p:txBody>
          <a:bodyPr wrap="none" lIns="0" rIns="0" tIns="0" bIns="0" anchor="t">
            <a:noAutofit/>
          </a:bodyPr>
          <a:lstStyle/>
          <a:p>
            <a:pPr algn="l">
              <a:lnSpc>
                <a:spcPts val="1088"/>
              </a:lnSpc>
              <a:spcBef>
                <a:spcPts val="0"/>
              </a:spcBef>
              <a:spcAft>
                <a:spcPts val="0"/>
              </a:spcAft>
            </a:pPr>
            <a:r>
              <a:rPr sz="788" b="1" i="0" spc="15">
                <a:solidFill>
                  <a:srgbClr val="1B1A1A"/>
                </a:solidFill>
                <a:latin typeface="Quicksand"/>
              </a:rPr>
              <a:t>+59.8%</a:t>
            </a:r>
          </a:p>
        </p:txBody>
      </p:sp>
      <p:sp>
        <p:nvSpPr>
          <p:cNvPr id="38" name="Rule"/>
          <p:cNvSpPr/>
          <p:nvPr/>
        </p:nvSpPr>
        <p:spPr>
          <a:xfrm>
            <a:off x="8305800" y="2633662"/>
            <a:ext cx="1181100" cy="9525"/>
          </a:xfrm>
          <a:prstGeom prst="rect">
            <a:avLst/>
          </a:prstGeom>
          <a:solidFill>
            <a:srgbClr val="E3DCD3"/>
          </a:solidFill>
          <a:ln>
            <a:noFill/>
          </a:ln>
        </p:spPr>
        <p:txBody>
          <a:bodyPr rtlCol="0" anchor="ctr"/>
          <a:lstStyle/>
          <a:p>
            <a:pPr algn="ctr"/>
          </a:p>
        </p:txBody>
      </p:sp>
      <p:sp>
        <p:nvSpPr>
          <p:cNvPr id="39" name="TextBox 38"/>
          <p:cNvSpPr txBox="1"/>
          <p:nvPr/>
        </p:nvSpPr>
        <p:spPr>
          <a:xfrm>
            <a:off x="8305800" y="2684240"/>
            <a:ext cx="762893" cy="133350"/>
          </a:xfrm>
          <a:prstGeom prst="rect">
            <a:avLst/>
          </a:prstGeom>
          <a:noFill/>
        </p:spPr>
        <p:txBody>
          <a:bodyPr wrap="none" lIns="0" rIns="0" tIns="0" bIns="0" anchor="t">
            <a:noAutofit/>
          </a:bodyPr>
          <a:lstStyle/>
          <a:p>
            <a:pPr algn="l">
              <a:lnSpc>
                <a:spcPts val="1088"/>
              </a:lnSpc>
              <a:spcBef>
                <a:spcPts val="0"/>
              </a:spcBef>
              <a:spcAft>
                <a:spcPts val="0"/>
              </a:spcAft>
            </a:pPr>
            <a:r>
              <a:rPr sz="788" b="0" i="0" spc="15">
                <a:solidFill>
                  <a:srgbClr val="6F6A66"/>
                </a:solidFill>
                <a:latin typeface="Quicksand"/>
              </a:rPr>
              <a:t>Since Sep 2021</a:t>
            </a:r>
          </a:p>
        </p:txBody>
      </p:sp>
      <p:sp>
        <p:nvSpPr>
          <p:cNvPr id="40" name="TextBox 39"/>
          <p:cNvSpPr txBox="1"/>
          <p:nvPr/>
        </p:nvSpPr>
        <p:spPr>
          <a:xfrm>
            <a:off x="9141768" y="2684240"/>
            <a:ext cx="402282" cy="133350"/>
          </a:xfrm>
          <a:prstGeom prst="rect">
            <a:avLst/>
          </a:prstGeom>
          <a:noFill/>
        </p:spPr>
        <p:txBody>
          <a:bodyPr wrap="none" lIns="0" rIns="0" tIns="0" bIns="0" anchor="t">
            <a:noAutofit/>
          </a:bodyPr>
          <a:lstStyle/>
          <a:p>
            <a:pPr algn="l">
              <a:lnSpc>
                <a:spcPts val="1088"/>
              </a:lnSpc>
              <a:spcBef>
                <a:spcPts val="0"/>
              </a:spcBef>
              <a:spcAft>
                <a:spcPts val="0"/>
              </a:spcAft>
            </a:pPr>
            <a:r>
              <a:rPr sz="788" b="1" i="0" spc="15">
                <a:solidFill>
                  <a:srgbClr val="1B1A1A"/>
                </a:solidFill>
                <a:latin typeface="Quicksand"/>
              </a:rPr>
              <a:t>+45.2%</a:t>
            </a:r>
          </a:p>
        </p:txBody>
      </p:sp>
      <p:sp>
        <p:nvSpPr>
          <p:cNvPr id="41" name="Rule"/>
          <p:cNvSpPr/>
          <p:nvPr/>
        </p:nvSpPr>
        <p:spPr>
          <a:xfrm>
            <a:off x="8305800" y="2895600"/>
            <a:ext cx="1181100" cy="9525"/>
          </a:xfrm>
          <a:prstGeom prst="rect">
            <a:avLst/>
          </a:prstGeom>
          <a:solidFill>
            <a:srgbClr val="E3DCD3"/>
          </a:solidFill>
          <a:ln>
            <a:noFill/>
          </a:ln>
        </p:spPr>
        <p:txBody>
          <a:bodyPr rtlCol="0" anchor="ctr"/>
          <a:lstStyle/>
          <a:p>
            <a:pPr algn="ctr"/>
          </a:p>
        </p:txBody>
      </p:sp>
      <p:sp>
        <p:nvSpPr>
          <p:cNvPr id="42" name="TextBox 41"/>
          <p:cNvSpPr txBox="1"/>
          <p:nvPr/>
        </p:nvSpPr>
        <p:spPr>
          <a:xfrm>
            <a:off x="5257800" y="3575876"/>
            <a:ext cx="4305300" cy="285750"/>
          </a:xfrm>
          <a:prstGeom prst="rect">
            <a:avLst/>
          </a:prstGeom>
          <a:noFill/>
        </p:spPr>
        <p:txBody>
          <a:bodyPr wrap="square" lIns="0" rIns="0" tIns="0" bIns="0" anchor="t">
            <a:noAutofit/>
          </a:bodyPr>
          <a:lstStyle/>
          <a:p>
            <a:pPr algn="l">
              <a:lnSpc>
                <a:spcPts val="1200"/>
              </a:lnSpc>
              <a:spcBef>
                <a:spcPts val="0"/>
              </a:spcBef>
              <a:spcAft>
                <a:spcPts val="0"/>
              </a:spcAft>
            </a:pPr>
            <a:r>
              <a:rPr sz="825" b="0" i="0" spc="15">
                <a:solidFill>
                  <a:srgbClr val="333231"/>
                </a:solidFill>
                <a:latin typeface="Quicksand"/>
              </a:rPr>
              <a:t>Copper feeds cabling, power and fiber construction budgets, and it reached a record monthly average in 2026.</a:t>
            </a:r>
          </a:p>
        </p:txBody>
      </p:sp>
      <p:sp>
        <p:nvSpPr>
          <p:cNvPr id="43" name="Panel"/>
          <p:cNvSpPr/>
          <p:nvPr/>
        </p:nvSpPr>
        <p:spPr>
          <a:xfrm>
            <a:off x="419100" y="4162425"/>
            <a:ext cx="4533900" cy="2771775"/>
          </a:xfrm>
          <a:prstGeom prst="rect">
            <a:avLst/>
          </a:prstGeom>
          <a:solidFill>
            <a:srgbClr val="FAF7F3"/>
          </a:solidFill>
          <a:ln>
            <a:noFill/>
          </a:ln>
        </p:spPr>
        <p:txBody>
          <a:bodyPr rtlCol="0" anchor="ctr"/>
          <a:lstStyle/>
          <a:p>
            <a:pPr algn="ctr"/>
          </a:p>
        </p:txBody>
      </p:sp>
      <p:sp>
        <p:nvSpPr>
          <p:cNvPr id="44" name="Rule"/>
          <p:cNvSpPr/>
          <p:nvPr/>
        </p:nvSpPr>
        <p:spPr>
          <a:xfrm>
            <a:off x="419100" y="4162425"/>
            <a:ext cx="4533900" cy="28575"/>
          </a:xfrm>
          <a:prstGeom prst="rect">
            <a:avLst/>
          </a:prstGeom>
          <a:solidFill>
            <a:srgbClr val="B68757"/>
          </a:solidFill>
          <a:ln>
            <a:noFill/>
          </a:ln>
        </p:spPr>
        <p:txBody>
          <a:bodyPr rtlCol="0" anchor="ctr"/>
          <a:lstStyle/>
          <a:p>
            <a:pPr algn="ctr"/>
          </a:p>
        </p:txBody>
      </p:sp>
      <p:sp>
        <p:nvSpPr>
          <p:cNvPr id="45" name="TextBox 44"/>
          <p:cNvSpPr txBox="1"/>
          <p:nvPr/>
        </p:nvSpPr>
        <p:spPr>
          <a:xfrm>
            <a:off x="571500" y="4299204"/>
            <a:ext cx="3153668" cy="152400"/>
          </a:xfrm>
          <a:prstGeom prst="rect">
            <a:avLst/>
          </a:prstGeom>
          <a:noFill/>
        </p:spPr>
        <p:txBody>
          <a:bodyPr wrap="none" lIns="0" rIns="0" tIns="0" bIns="0" anchor="t">
            <a:noAutofit/>
          </a:bodyPr>
          <a:lstStyle/>
          <a:p>
            <a:pPr algn="l">
              <a:lnSpc>
                <a:spcPts val="1312"/>
              </a:lnSpc>
              <a:spcBef>
                <a:spcPts val="0"/>
              </a:spcBef>
              <a:spcAft>
                <a:spcPts val="0"/>
              </a:spcAft>
            </a:pPr>
            <a:r>
              <a:rPr sz="975" b="1" i="0" spc="15">
                <a:solidFill>
                  <a:srgbClr val="1B1A1A"/>
                </a:solidFill>
                <a:latin typeface="Quicksand"/>
              </a:rPr>
              <a:t>Private office construction, including data centers</a:t>
            </a:r>
          </a:p>
        </p:txBody>
      </p:sp>
      <p:sp>
        <p:nvSpPr>
          <p:cNvPr id="46" name="TextBox 45"/>
          <p:cNvSpPr txBox="1"/>
          <p:nvPr/>
        </p:nvSpPr>
        <p:spPr>
          <a:xfrm>
            <a:off x="571500" y="4464368"/>
            <a:ext cx="4305300" cy="257175"/>
          </a:xfrm>
          <a:prstGeom prst="rect">
            <a:avLst/>
          </a:prstGeom>
          <a:noFill/>
        </p:spPr>
        <p:txBody>
          <a:bodyPr wrap="square" lIns="0" rIns="0" tIns="0" bIns="0" anchor="t">
            <a:noAutofit/>
          </a:bodyPr>
          <a:lstStyle/>
          <a:p>
            <a:pPr algn="l">
              <a:lnSpc>
                <a:spcPts val="1050"/>
              </a:lnSpc>
              <a:spcBef>
                <a:spcPts val="0"/>
              </a:spcBef>
              <a:spcAft>
                <a:spcPts val="0"/>
              </a:spcAft>
            </a:pPr>
            <a:r>
              <a:rPr sz="750" b="0" i="0" spc="15">
                <a:solidFill>
                  <a:srgbClr val="6F6A66"/>
                </a:solidFill>
                <a:latin typeface="Quicksand"/>
              </a:rPr>
              <a:t>Annualized spending; the Census Bureau counts data centers in this category. Index, September 2021 = 100. Source: US Census Bureau via </a:t>
            </a:r>
            <a:r>
              <a:rPr sz="750" b="0" i="0" spc="15" u="sng">
                <a:solidFill>
                  <a:srgbClr val="8C6239"/>
                </a:solidFill>
                <a:latin typeface="Quicksand"/>
                <a:hlinkClick r:id="rId6">
                  <a:extLst>
                    <a:ext uri="{A12FA001-AC4F-418D-AE19-62706E023703}">
                      <ahyp:hlinkClr xmlns:ahyp="http://schemas.microsoft.com/office/drawing/2018/hyperlinkcolor" val="tx"/>
                    </a:ext>
                  </a:extLst>
                </a:hlinkClick>
              </a:rPr>
              <a:t>FRED</a:t>
            </a:r>
          </a:p>
        </p:txBody>
      </p:sp>
      <p:graphicFrame>
        <p:nvGraphicFramePr>
          <p:cNvPr id="47" name="Chart"/>
          <p:cNvGraphicFramePr>
            <a:graphicFrameLocks noGrp="1"/>
          </p:cNvGraphicFramePr>
          <p:nvPr/>
        </p:nvGraphicFramePr>
        <p:xfrm>
          <a:off x="571500" y="4824412"/>
          <a:ext cx="2933700" cy="1428750"/>
        </p:xfrm>
        <a:graphic>
          <a:graphicData uri="http://schemas.openxmlformats.org/drawingml/2006/chart">
            <c:chart xmlns:c="http://schemas.openxmlformats.org/drawingml/2006/chart" r:id="rId7"/>
          </a:graphicData>
        </a:graphic>
      </p:graphicFrame>
      <p:sp>
        <p:nvSpPr>
          <p:cNvPr id="48" name="TextBox 47"/>
          <p:cNvSpPr txBox="1"/>
          <p:nvPr/>
        </p:nvSpPr>
        <p:spPr>
          <a:xfrm>
            <a:off x="3619500" y="4841176"/>
            <a:ext cx="1202382" cy="95250"/>
          </a:xfrm>
          <a:prstGeom prst="rect">
            <a:avLst/>
          </a:prstGeom>
          <a:noFill/>
        </p:spPr>
        <p:txBody>
          <a:bodyPr wrap="none" lIns="0" rIns="0" tIns="0" bIns="0" anchor="t">
            <a:noAutofit/>
          </a:bodyPr>
          <a:lstStyle/>
          <a:p>
            <a:pPr algn="l">
              <a:lnSpc>
                <a:spcPts val="975"/>
              </a:lnSpc>
              <a:spcBef>
                <a:spcPts val="0"/>
              </a:spcBef>
              <a:spcAft>
                <a:spcPts val="0"/>
              </a:spcAft>
            </a:pPr>
            <a:r>
              <a:rPr sz="600" b="1" i="0" spc="150">
                <a:solidFill>
                  <a:srgbClr val="6F6A66"/>
                </a:solidFill>
                <a:latin typeface="Quicksand"/>
              </a:rPr>
              <a:t>CHANGE TO AUG 2026</a:t>
            </a:r>
          </a:p>
        </p:txBody>
      </p:sp>
      <p:sp>
        <p:nvSpPr>
          <p:cNvPr id="49" name="Rule"/>
          <p:cNvSpPr/>
          <p:nvPr/>
        </p:nvSpPr>
        <p:spPr>
          <a:xfrm>
            <a:off x="3619500" y="5033962"/>
            <a:ext cx="1181100" cy="9525"/>
          </a:xfrm>
          <a:prstGeom prst="rect">
            <a:avLst/>
          </a:prstGeom>
          <a:solidFill>
            <a:srgbClr val="E3DCD3"/>
          </a:solidFill>
          <a:ln>
            <a:noFill/>
          </a:ln>
        </p:spPr>
        <p:txBody>
          <a:bodyPr rtlCol="0" anchor="ctr"/>
          <a:lstStyle/>
          <a:p>
            <a:pPr algn="ctr"/>
          </a:p>
        </p:txBody>
      </p:sp>
      <p:sp>
        <p:nvSpPr>
          <p:cNvPr id="50" name="TextBox 49"/>
          <p:cNvSpPr txBox="1"/>
          <p:nvPr/>
        </p:nvSpPr>
        <p:spPr>
          <a:xfrm>
            <a:off x="3619500" y="5084540"/>
            <a:ext cx="345281" cy="133350"/>
          </a:xfrm>
          <a:prstGeom prst="rect">
            <a:avLst/>
          </a:prstGeom>
          <a:noFill/>
        </p:spPr>
        <p:txBody>
          <a:bodyPr wrap="none" lIns="0" rIns="0" tIns="0" bIns="0" anchor="t">
            <a:noAutofit/>
          </a:bodyPr>
          <a:lstStyle/>
          <a:p>
            <a:pPr algn="l">
              <a:lnSpc>
                <a:spcPts val="1088"/>
              </a:lnSpc>
              <a:spcBef>
                <a:spcPts val="0"/>
              </a:spcBef>
              <a:spcAft>
                <a:spcPts val="0"/>
              </a:spcAft>
            </a:pPr>
            <a:r>
              <a:rPr sz="788" b="0" i="0" spc="15">
                <a:solidFill>
                  <a:srgbClr val="6F6A66"/>
                </a:solidFill>
                <a:latin typeface="Quicksand"/>
              </a:rPr>
              <a:t>1 year</a:t>
            </a:r>
          </a:p>
        </p:txBody>
      </p:sp>
      <p:sp>
        <p:nvSpPr>
          <p:cNvPr id="51" name="TextBox 50"/>
          <p:cNvSpPr txBox="1"/>
          <p:nvPr/>
        </p:nvSpPr>
        <p:spPr>
          <a:xfrm>
            <a:off x="4460230" y="5084540"/>
            <a:ext cx="397520" cy="133350"/>
          </a:xfrm>
          <a:prstGeom prst="rect">
            <a:avLst/>
          </a:prstGeom>
          <a:noFill/>
        </p:spPr>
        <p:txBody>
          <a:bodyPr wrap="none" lIns="0" rIns="0" tIns="0" bIns="0" anchor="t">
            <a:noAutofit/>
          </a:bodyPr>
          <a:lstStyle/>
          <a:p>
            <a:pPr algn="l">
              <a:lnSpc>
                <a:spcPts val="1088"/>
              </a:lnSpc>
              <a:spcBef>
                <a:spcPts val="0"/>
              </a:spcBef>
              <a:spcAft>
                <a:spcPts val="0"/>
              </a:spcAft>
            </a:pPr>
            <a:r>
              <a:rPr sz="788" b="1" i="0" spc="15">
                <a:solidFill>
                  <a:srgbClr val="1B1A1A"/>
                </a:solidFill>
                <a:latin typeface="Quicksand"/>
              </a:rPr>
              <a:t>+29.8%</a:t>
            </a:r>
          </a:p>
        </p:txBody>
      </p:sp>
      <p:sp>
        <p:nvSpPr>
          <p:cNvPr id="52" name="Rule"/>
          <p:cNvSpPr/>
          <p:nvPr/>
        </p:nvSpPr>
        <p:spPr>
          <a:xfrm>
            <a:off x="3619500" y="5295900"/>
            <a:ext cx="1181100" cy="9525"/>
          </a:xfrm>
          <a:prstGeom prst="rect">
            <a:avLst/>
          </a:prstGeom>
          <a:solidFill>
            <a:srgbClr val="E3DCD3"/>
          </a:solidFill>
          <a:ln>
            <a:noFill/>
          </a:ln>
        </p:spPr>
        <p:txBody>
          <a:bodyPr rtlCol="0" anchor="ctr"/>
          <a:lstStyle/>
          <a:p>
            <a:pPr algn="ctr"/>
          </a:p>
        </p:txBody>
      </p:sp>
      <p:sp>
        <p:nvSpPr>
          <p:cNvPr id="53" name="TextBox 52"/>
          <p:cNvSpPr txBox="1"/>
          <p:nvPr/>
        </p:nvSpPr>
        <p:spPr>
          <a:xfrm>
            <a:off x="3619500" y="5346478"/>
            <a:ext cx="409426" cy="133350"/>
          </a:xfrm>
          <a:prstGeom prst="rect">
            <a:avLst/>
          </a:prstGeom>
          <a:noFill/>
        </p:spPr>
        <p:txBody>
          <a:bodyPr wrap="none" lIns="0" rIns="0" tIns="0" bIns="0" anchor="t">
            <a:noAutofit/>
          </a:bodyPr>
          <a:lstStyle/>
          <a:p>
            <a:pPr algn="l">
              <a:lnSpc>
                <a:spcPts val="1088"/>
              </a:lnSpc>
              <a:spcBef>
                <a:spcPts val="0"/>
              </a:spcBef>
              <a:spcAft>
                <a:spcPts val="0"/>
              </a:spcAft>
            </a:pPr>
            <a:r>
              <a:rPr sz="788" b="0" i="0" spc="15">
                <a:solidFill>
                  <a:srgbClr val="6F6A66"/>
                </a:solidFill>
                <a:latin typeface="Quicksand"/>
              </a:rPr>
              <a:t>3 years</a:t>
            </a:r>
          </a:p>
        </p:txBody>
      </p:sp>
      <p:sp>
        <p:nvSpPr>
          <p:cNvPr id="54" name="TextBox 53"/>
          <p:cNvSpPr txBox="1"/>
          <p:nvPr/>
        </p:nvSpPr>
        <p:spPr>
          <a:xfrm>
            <a:off x="4457700" y="5346478"/>
            <a:ext cx="400050" cy="133350"/>
          </a:xfrm>
          <a:prstGeom prst="rect">
            <a:avLst/>
          </a:prstGeom>
          <a:noFill/>
        </p:spPr>
        <p:txBody>
          <a:bodyPr wrap="none" lIns="0" rIns="0" tIns="0" bIns="0" anchor="t">
            <a:noAutofit/>
          </a:bodyPr>
          <a:lstStyle/>
          <a:p>
            <a:pPr algn="l">
              <a:lnSpc>
                <a:spcPts val="1088"/>
              </a:lnSpc>
              <a:spcBef>
                <a:spcPts val="0"/>
              </a:spcBef>
              <a:spcAft>
                <a:spcPts val="0"/>
              </a:spcAft>
            </a:pPr>
            <a:r>
              <a:rPr sz="788" b="1" i="0" spc="15">
                <a:solidFill>
                  <a:srgbClr val="1B1A1A"/>
                </a:solidFill>
                <a:latin typeface="Quicksand"/>
              </a:rPr>
              <a:t>+53.4%</a:t>
            </a:r>
          </a:p>
        </p:txBody>
      </p:sp>
      <p:sp>
        <p:nvSpPr>
          <p:cNvPr id="55" name="Rule"/>
          <p:cNvSpPr/>
          <p:nvPr/>
        </p:nvSpPr>
        <p:spPr>
          <a:xfrm>
            <a:off x="3619500" y="5557838"/>
            <a:ext cx="1181100" cy="9525"/>
          </a:xfrm>
          <a:prstGeom prst="rect">
            <a:avLst/>
          </a:prstGeom>
          <a:solidFill>
            <a:srgbClr val="E3DCD3"/>
          </a:solidFill>
          <a:ln>
            <a:noFill/>
          </a:ln>
        </p:spPr>
        <p:txBody>
          <a:bodyPr rtlCol="0" anchor="ctr"/>
          <a:lstStyle/>
          <a:p>
            <a:pPr algn="ctr"/>
          </a:p>
        </p:txBody>
      </p:sp>
      <p:sp>
        <p:nvSpPr>
          <p:cNvPr id="56" name="TextBox 55"/>
          <p:cNvSpPr txBox="1"/>
          <p:nvPr/>
        </p:nvSpPr>
        <p:spPr>
          <a:xfrm>
            <a:off x="3619500" y="5608415"/>
            <a:ext cx="762893" cy="133350"/>
          </a:xfrm>
          <a:prstGeom prst="rect">
            <a:avLst/>
          </a:prstGeom>
          <a:noFill/>
        </p:spPr>
        <p:txBody>
          <a:bodyPr wrap="none" lIns="0" rIns="0" tIns="0" bIns="0" anchor="t">
            <a:noAutofit/>
          </a:bodyPr>
          <a:lstStyle/>
          <a:p>
            <a:pPr algn="l">
              <a:lnSpc>
                <a:spcPts val="1088"/>
              </a:lnSpc>
              <a:spcBef>
                <a:spcPts val="0"/>
              </a:spcBef>
              <a:spcAft>
                <a:spcPts val="0"/>
              </a:spcAft>
            </a:pPr>
            <a:r>
              <a:rPr sz="788" b="0" i="0" spc="15">
                <a:solidFill>
                  <a:srgbClr val="6F6A66"/>
                </a:solidFill>
                <a:latin typeface="Quicksand"/>
              </a:rPr>
              <a:t>Since Sep 2021</a:t>
            </a:r>
          </a:p>
        </p:txBody>
      </p:sp>
      <p:sp>
        <p:nvSpPr>
          <p:cNvPr id="57" name="TextBox 56"/>
          <p:cNvSpPr txBox="1"/>
          <p:nvPr/>
        </p:nvSpPr>
        <p:spPr>
          <a:xfrm>
            <a:off x="4482257" y="5608415"/>
            <a:ext cx="375493" cy="133350"/>
          </a:xfrm>
          <a:prstGeom prst="rect">
            <a:avLst/>
          </a:prstGeom>
          <a:noFill/>
        </p:spPr>
        <p:txBody>
          <a:bodyPr wrap="none" lIns="0" rIns="0" tIns="0" bIns="0" anchor="t">
            <a:noAutofit/>
          </a:bodyPr>
          <a:lstStyle/>
          <a:p>
            <a:pPr algn="l">
              <a:lnSpc>
                <a:spcPts val="1088"/>
              </a:lnSpc>
              <a:spcBef>
                <a:spcPts val="0"/>
              </a:spcBef>
              <a:spcAft>
                <a:spcPts val="0"/>
              </a:spcAft>
            </a:pPr>
            <a:r>
              <a:rPr sz="788" b="1" i="0" spc="15">
                <a:solidFill>
                  <a:srgbClr val="1B1A1A"/>
                </a:solidFill>
                <a:latin typeface="Quicksand"/>
              </a:rPr>
              <a:t>+73.1%</a:t>
            </a:r>
          </a:p>
        </p:txBody>
      </p:sp>
      <p:sp>
        <p:nvSpPr>
          <p:cNvPr id="58" name="Rule"/>
          <p:cNvSpPr/>
          <p:nvPr/>
        </p:nvSpPr>
        <p:spPr>
          <a:xfrm>
            <a:off x="3619500" y="5819775"/>
            <a:ext cx="1181100" cy="9525"/>
          </a:xfrm>
          <a:prstGeom prst="rect">
            <a:avLst/>
          </a:prstGeom>
          <a:solidFill>
            <a:srgbClr val="E3DCD3"/>
          </a:solidFill>
          <a:ln>
            <a:noFill/>
          </a:ln>
        </p:spPr>
        <p:txBody>
          <a:bodyPr rtlCol="0" anchor="ctr"/>
          <a:lstStyle/>
          <a:p>
            <a:pPr algn="ctr"/>
          </a:p>
        </p:txBody>
      </p:sp>
      <p:sp>
        <p:nvSpPr>
          <p:cNvPr id="59" name="TextBox 58"/>
          <p:cNvSpPr txBox="1"/>
          <p:nvPr/>
        </p:nvSpPr>
        <p:spPr>
          <a:xfrm>
            <a:off x="571500" y="6500050"/>
            <a:ext cx="4305300" cy="285750"/>
          </a:xfrm>
          <a:prstGeom prst="rect">
            <a:avLst/>
          </a:prstGeom>
          <a:noFill/>
        </p:spPr>
        <p:txBody>
          <a:bodyPr wrap="square" lIns="0" rIns="0" tIns="0" bIns="0" anchor="t">
            <a:noAutofit/>
          </a:bodyPr>
          <a:lstStyle/>
          <a:p>
            <a:pPr algn="l">
              <a:lnSpc>
                <a:spcPts val="1200"/>
              </a:lnSpc>
              <a:spcBef>
                <a:spcPts val="0"/>
              </a:spcBef>
              <a:spcAft>
                <a:spcPts val="0"/>
              </a:spcAft>
            </a:pPr>
            <a:r>
              <a:rPr sz="825" b="0" i="0" spc="15">
                <a:solidFill>
                  <a:srgbClr val="333231"/>
                </a:solidFill>
                <a:latin typeface="Quicksand"/>
              </a:rPr>
              <a:t>Data centers accounted for $85.0 billion of the August 2026 annual rate, against $49.1 billion a year earlier.</a:t>
            </a:r>
          </a:p>
        </p:txBody>
      </p:sp>
      <p:sp>
        <p:nvSpPr>
          <p:cNvPr id="60" name="Panel"/>
          <p:cNvSpPr/>
          <p:nvPr/>
        </p:nvSpPr>
        <p:spPr>
          <a:xfrm>
            <a:off x="5105400" y="4162425"/>
            <a:ext cx="4533900" cy="2771775"/>
          </a:xfrm>
          <a:prstGeom prst="rect">
            <a:avLst/>
          </a:prstGeom>
          <a:solidFill>
            <a:srgbClr val="FAF7F3"/>
          </a:solidFill>
          <a:ln>
            <a:noFill/>
          </a:ln>
        </p:spPr>
        <p:txBody>
          <a:bodyPr rtlCol="0" anchor="ctr"/>
          <a:lstStyle/>
          <a:p>
            <a:pPr algn="ctr"/>
          </a:p>
        </p:txBody>
      </p:sp>
      <p:sp>
        <p:nvSpPr>
          <p:cNvPr id="61" name="Rule"/>
          <p:cNvSpPr/>
          <p:nvPr/>
        </p:nvSpPr>
        <p:spPr>
          <a:xfrm>
            <a:off x="5105400" y="4162425"/>
            <a:ext cx="4533900" cy="28575"/>
          </a:xfrm>
          <a:prstGeom prst="rect">
            <a:avLst/>
          </a:prstGeom>
          <a:solidFill>
            <a:srgbClr val="B68757"/>
          </a:solidFill>
          <a:ln>
            <a:noFill/>
          </a:ln>
        </p:spPr>
        <p:txBody>
          <a:bodyPr rtlCol="0" anchor="ctr"/>
          <a:lstStyle/>
          <a:p>
            <a:pPr algn="ctr"/>
          </a:p>
        </p:txBody>
      </p:sp>
      <p:sp>
        <p:nvSpPr>
          <p:cNvPr id="62" name="TextBox 61"/>
          <p:cNvSpPr txBox="1"/>
          <p:nvPr/>
        </p:nvSpPr>
        <p:spPr>
          <a:xfrm>
            <a:off x="5257800" y="4299204"/>
            <a:ext cx="3887391" cy="152400"/>
          </a:xfrm>
          <a:prstGeom prst="rect">
            <a:avLst/>
          </a:prstGeom>
          <a:noFill/>
        </p:spPr>
        <p:txBody>
          <a:bodyPr wrap="none" lIns="0" rIns="0" tIns="0" bIns="0" anchor="t">
            <a:noAutofit/>
          </a:bodyPr>
          <a:lstStyle/>
          <a:p>
            <a:pPr algn="l">
              <a:lnSpc>
                <a:spcPts val="1312"/>
              </a:lnSpc>
              <a:spcBef>
                <a:spcPts val="0"/>
              </a:spcBef>
              <a:spcAft>
                <a:spcPts val="0"/>
              </a:spcAft>
            </a:pPr>
            <a:r>
              <a:rPr sz="975" b="1" i="0" spc="15">
                <a:solidFill>
                  <a:srgbClr val="1B1A1A"/>
                </a:solidFill>
                <a:latin typeface="Quicksand"/>
              </a:rPr>
              <a:t>Employment in computer systems design and related services</a:t>
            </a:r>
          </a:p>
        </p:txBody>
      </p:sp>
      <p:sp>
        <p:nvSpPr>
          <p:cNvPr id="63" name="TextBox 62"/>
          <p:cNvSpPr txBox="1"/>
          <p:nvPr/>
        </p:nvSpPr>
        <p:spPr>
          <a:xfrm>
            <a:off x="5257800" y="4464368"/>
            <a:ext cx="4305300" cy="257175"/>
          </a:xfrm>
          <a:prstGeom prst="rect">
            <a:avLst/>
          </a:prstGeom>
          <a:noFill/>
        </p:spPr>
        <p:txBody>
          <a:bodyPr wrap="square" lIns="0" rIns="0" tIns="0" bIns="0" anchor="t">
            <a:noAutofit/>
          </a:bodyPr>
          <a:lstStyle/>
          <a:p>
            <a:pPr algn="l">
              <a:lnSpc>
                <a:spcPts val="1050"/>
              </a:lnSpc>
              <a:spcBef>
                <a:spcPts val="0"/>
              </a:spcBef>
              <a:spcAft>
                <a:spcPts val="0"/>
              </a:spcAft>
            </a:pPr>
            <a:r>
              <a:rPr sz="750" b="0" i="0" spc="15">
                <a:solidFill>
                  <a:srgbClr val="6F6A66"/>
                </a:solidFill>
                <a:latin typeface="Quicksand"/>
              </a:rPr>
              <a:t>All employees, seasonally adjusted. Index, September 2021 = 100. Source: Bureau of Labor Statistics via </a:t>
            </a:r>
            <a:r>
              <a:rPr sz="750" b="0" i="0" spc="15" u="sng">
                <a:solidFill>
                  <a:srgbClr val="8C6239"/>
                </a:solidFill>
                <a:latin typeface="Quicksand"/>
                <a:hlinkClick r:id="rId8">
                  <a:extLst>
                    <a:ext uri="{A12FA001-AC4F-418D-AE19-62706E023703}">
                      <ahyp:hlinkClr xmlns:ahyp="http://schemas.microsoft.com/office/drawing/2018/hyperlinkcolor" val="tx"/>
                    </a:ext>
                  </a:extLst>
                </a:hlinkClick>
              </a:rPr>
              <a:t>FRED</a:t>
            </a:r>
          </a:p>
        </p:txBody>
      </p:sp>
      <p:graphicFrame>
        <p:nvGraphicFramePr>
          <p:cNvPr id="64" name="Chart"/>
          <p:cNvGraphicFramePr>
            <a:graphicFrameLocks noGrp="1"/>
          </p:cNvGraphicFramePr>
          <p:nvPr/>
        </p:nvGraphicFramePr>
        <p:xfrm>
          <a:off x="5257800" y="4824412"/>
          <a:ext cx="2933700" cy="1428750"/>
        </p:xfrm>
        <a:graphic>
          <a:graphicData uri="http://schemas.openxmlformats.org/drawingml/2006/chart">
            <c:chart xmlns:c="http://schemas.openxmlformats.org/drawingml/2006/chart" r:id="rId9"/>
          </a:graphicData>
        </a:graphic>
      </p:graphicFrame>
      <p:sp>
        <p:nvSpPr>
          <p:cNvPr id="65" name="TextBox 64"/>
          <p:cNvSpPr txBox="1"/>
          <p:nvPr/>
        </p:nvSpPr>
        <p:spPr>
          <a:xfrm>
            <a:off x="8305800" y="4841176"/>
            <a:ext cx="1182737" cy="95250"/>
          </a:xfrm>
          <a:prstGeom prst="rect">
            <a:avLst/>
          </a:prstGeom>
          <a:noFill/>
        </p:spPr>
        <p:txBody>
          <a:bodyPr wrap="none" lIns="0" rIns="0" tIns="0" bIns="0" anchor="t">
            <a:noAutofit/>
          </a:bodyPr>
          <a:lstStyle/>
          <a:p>
            <a:pPr algn="l">
              <a:lnSpc>
                <a:spcPts val="975"/>
              </a:lnSpc>
              <a:spcBef>
                <a:spcPts val="0"/>
              </a:spcBef>
              <a:spcAft>
                <a:spcPts val="0"/>
              </a:spcAft>
            </a:pPr>
            <a:r>
              <a:rPr sz="600" b="1" i="0" spc="150">
                <a:solidFill>
                  <a:srgbClr val="6F6A66"/>
                </a:solidFill>
                <a:latin typeface="Quicksand"/>
              </a:rPr>
              <a:t>CHANGE TO SEP 2026</a:t>
            </a:r>
          </a:p>
        </p:txBody>
      </p:sp>
      <p:sp>
        <p:nvSpPr>
          <p:cNvPr id="66" name="Rule"/>
          <p:cNvSpPr/>
          <p:nvPr/>
        </p:nvSpPr>
        <p:spPr>
          <a:xfrm>
            <a:off x="8305800" y="5033962"/>
            <a:ext cx="1181100" cy="9525"/>
          </a:xfrm>
          <a:prstGeom prst="rect">
            <a:avLst/>
          </a:prstGeom>
          <a:solidFill>
            <a:srgbClr val="E3DCD3"/>
          </a:solidFill>
          <a:ln>
            <a:noFill/>
          </a:ln>
        </p:spPr>
        <p:txBody>
          <a:bodyPr rtlCol="0" anchor="ctr"/>
          <a:lstStyle/>
          <a:p>
            <a:pPr algn="ctr"/>
          </a:p>
        </p:txBody>
      </p:sp>
      <p:sp>
        <p:nvSpPr>
          <p:cNvPr id="67" name="TextBox 66"/>
          <p:cNvSpPr txBox="1"/>
          <p:nvPr/>
        </p:nvSpPr>
        <p:spPr>
          <a:xfrm>
            <a:off x="8305800" y="5084540"/>
            <a:ext cx="345281" cy="133350"/>
          </a:xfrm>
          <a:prstGeom prst="rect">
            <a:avLst/>
          </a:prstGeom>
          <a:noFill/>
        </p:spPr>
        <p:txBody>
          <a:bodyPr wrap="none" lIns="0" rIns="0" tIns="0" bIns="0" anchor="t">
            <a:noAutofit/>
          </a:bodyPr>
          <a:lstStyle/>
          <a:p>
            <a:pPr algn="l">
              <a:lnSpc>
                <a:spcPts val="1088"/>
              </a:lnSpc>
              <a:spcBef>
                <a:spcPts val="0"/>
              </a:spcBef>
              <a:spcAft>
                <a:spcPts val="0"/>
              </a:spcAft>
            </a:pPr>
            <a:r>
              <a:rPr sz="788" b="0" i="0" spc="15">
                <a:solidFill>
                  <a:srgbClr val="6F6A66"/>
                </a:solidFill>
                <a:latin typeface="Quicksand"/>
              </a:rPr>
              <a:t>1 year</a:t>
            </a:r>
          </a:p>
        </p:txBody>
      </p:sp>
      <p:sp>
        <p:nvSpPr>
          <p:cNvPr id="68" name="TextBox 67"/>
          <p:cNvSpPr txBox="1"/>
          <p:nvPr/>
        </p:nvSpPr>
        <p:spPr>
          <a:xfrm>
            <a:off x="9220200" y="5084540"/>
            <a:ext cx="323850" cy="133350"/>
          </a:xfrm>
          <a:prstGeom prst="rect">
            <a:avLst/>
          </a:prstGeom>
          <a:noFill/>
        </p:spPr>
        <p:txBody>
          <a:bodyPr wrap="none" lIns="0" rIns="0" tIns="0" bIns="0" anchor="t">
            <a:noAutofit/>
          </a:bodyPr>
          <a:lstStyle/>
          <a:p>
            <a:pPr algn="l">
              <a:lnSpc>
                <a:spcPts val="1088"/>
              </a:lnSpc>
              <a:spcBef>
                <a:spcPts val="0"/>
              </a:spcBef>
              <a:spcAft>
                <a:spcPts val="0"/>
              </a:spcAft>
            </a:pPr>
            <a:r>
              <a:rPr sz="788" b="1" i="0" spc="15">
                <a:solidFill>
                  <a:srgbClr val="1B1A1A"/>
                </a:solidFill>
                <a:latin typeface="Quicksand"/>
              </a:rPr>
              <a:t>−1.3%</a:t>
            </a:r>
          </a:p>
        </p:txBody>
      </p:sp>
      <p:sp>
        <p:nvSpPr>
          <p:cNvPr id="69" name="Rule"/>
          <p:cNvSpPr/>
          <p:nvPr/>
        </p:nvSpPr>
        <p:spPr>
          <a:xfrm>
            <a:off x="8305800" y="5295900"/>
            <a:ext cx="1181100" cy="9525"/>
          </a:xfrm>
          <a:prstGeom prst="rect">
            <a:avLst/>
          </a:prstGeom>
          <a:solidFill>
            <a:srgbClr val="E3DCD3"/>
          </a:solidFill>
          <a:ln>
            <a:noFill/>
          </a:ln>
        </p:spPr>
        <p:txBody>
          <a:bodyPr rtlCol="0" anchor="ctr"/>
          <a:lstStyle/>
          <a:p>
            <a:pPr algn="ctr"/>
          </a:p>
        </p:txBody>
      </p:sp>
      <p:sp>
        <p:nvSpPr>
          <p:cNvPr id="70" name="TextBox 69"/>
          <p:cNvSpPr txBox="1"/>
          <p:nvPr/>
        </p:nvSpPr>
        <p:spPr>
          <a:xfrm>
            <a:off x="8305800" y="5346478"/>
            <a:ext cx="409426" cy="133350"/>
          </a:xfrm>
          <a:prstGeom prst="rect">
            <a:avLst/>
          </a:prstGeom>
          <a:noFill/>
        </p:spPr>
        <p:txBody>
          <a:bodyPr wrap="none" lIns="0" rIns="0" tIns="0" bIns="0" anchor="t">
            <a:noAutofit/>
          </a:bodyPr>
          <a:lstStyle/>
          <a:p>
            <a:pPr algn="l">
              <a:lnSpc>
                <a:spcPts val="1088"/>
              </a:lnSpc>
              <a:spcBef>
                <a:spcPts val="0"/>
              </a:spcBef>
              <a:spcAft>
                <a:spcPts val="0"/>
              </a:spcAft>
            </a:pPr>
            <a:r>
              <a:rPr sz="788" b="0" i="0" spc="15">
                <a:solidFill>
                  <a:srgbClr val="6F6A66"/>
                </a:solidFill>
                <a:latin typeface="Quicksand"/>
              </a:rPr>
              <a:t>3 years</a:t>
            </a:r>
          </a:p>
        </p:txBody>
      </p:sp>
      <p:sp>
        <p:nvSpPr>
          <p:cNvPr id="71" name="TextBox 70"/>
          <p:cNvSpPr txBox="1"/>
          <p:nvPr/>
        </p:nvSpPr>
        <p:spPr>
          <a:xfrm>
            <a:off x="9216182" y="5346478"/>
            <a:ext cx="327868" cy="133350"/>
          </a:xfrm>
          <a:prstGeom prst="rect">
            <a:avLst/>
          </a:prstGeom>
          <a:noFill/>
        </p:spPr>
        <p:txBody>
          <a:bodyPr wrap="none" lIns="0" rIns="0" tIns="0" bIns="0" anchor="t">
            <a:noAutofit/>
          </a:bodyPr>
          <a:lstStyle/>
          <a:p>
            <a:pPr algn="l">
              <a:lnSpc>
                <a:spcPts val="1088"/>
              </a:lnSpc>
              <a:spcBef>
                <a:spcPts val="0"/>
              </a:spcBef>
              <a:spcAft>
                <a:spcPts val="0"/>
              </a:spcAft>
            </a:pPr>
            <a:r>
              <a:rPr sz="788" b="1" i="0" spc="15">
                <a:solidFill>
                  <a:srgbClr val="1B1A1A"/>
                </a:solidFill>
                <a:latin typeface="Quicksand"/>
              </a:rPr>
              <a:t>−4.1%</a:t>
            </a:r>
          </a:p>
        </p:txBody>
      </p:sp>
      <p:sp>
        <p:nvSpPr>
          <p:cNvPr id="72" name="Rule"/>
          <p:cNvSpPr/>
          <p:nvPr/>
        </p:nvSpPr>
        <p:spPr>
          <a:xfrm>
            <a:off x="8305800" y="5557838"/>
            <a:ext cx="1181100" cy="9525"/>
          </a:xfrm>
          <a:prstGeom prst="rect">
            <a:avLst/>
          </a:prstGeom>
          <a:solidFill>
            <a:srgbClr val="E3DCD3"/>
          </a:solidFill>
          <a:ln>
            <a:noFill/>
          </a:ln>
        </p:spPr>
        <p:txBody>
          <a:bodyPr rtlCol="0" anchor="ctr"/>
          <a:lstStyle/>
          <a:p>
            <a:pPr algn="ctr"/>
          </a:p>
        </p:txBody>
      </p:sp>
      <p:sp>
        <p:nvSpPr>
          <p:cNvPr id="73" name="TextBox 72"/>
          <p:cNvSpPr txBox="1"/>
          <p:nvPr/>
        </p:nvSpPr>
        <p:spPr>
          <a:xfrm>
            <a:off x="8305800" y="5608415"/>
            <a:ext cx="762893" cy="133350"/>
          </a:xfrm>
          <a:prstGeom prst="rect">
            <a:avLst/>
          </a:prstGeom>
          <a:noFill/>
        </p:spPr>
        <p:txBody>
          <a:bodyPr wrap="none" lIns="0" rIns="0" tIns="0" bIns="0" anchor="t">
            <a:noAutofit/>
          </a:bodyPr>
          <a:lstStyle/>
          <a:p>
            <a:pPr algn="l">
              <a:lnSpc>
                <a:spcPts val="1088"/>
              </a:lnSpc>
              <a:spcBef>
                <a:spcPts val="0"/>
              </a:spcBef>
              <a:spcAft>
                <a:spcPts val="0"/>
              </a:spcAft>
            </a:pPr>
            <a:r>
              <a:rPr sz="788" b="0" i="0" spc="15">
                <a:solidFill>
                  <a:srgbClr val="6F6A66"/>
                </a:solidFill>
                <a:latin typeface="Quicksand"/>
              </a:rPr>
              <a:t>Since Sep 2021</a:t>
            </a:r>
          </a:p>
        </p:txBody>
      </p:sp>
      <p:sp>
        <p:nvSpPr>
          <p:cNvPr id="74" name="TextBox 73"/>
          <p:cNvSpPr txBox="1"/>
          <p:nvPr/>
        </p:nvSpPr>
        <p:spPr>
          <a:xfrm>
            <a:off x="9197876" y="5608415"/>
            <a:ext cx="346174" cy="133350"/>
          </a:xfrm>
          <a:prstGeom prst="rect">
            <a:avLst/>
          </a:prstGeom>
          <a:noFill/>
        </p:spPr>
        <p:txBody>
          <a:bodyPr wrap="none" lIns="0" rIns="0" tIns="0" bIns="0" anchor="t">
            <a:noAutofit/>
          </a:bodyPr>
          <a:lstStyle/>
          <a:p>
            <a:pPr algn="l">
              <a:lnSpc>
                <a:spcPts val="1088"/>
              </a:lnSpc>
              <a:spcBef>
                <a:spcPts val="0"/>
              </a:spcBef>
              <a:spcAft>
                <a:spcPts val="0"/>
              </a:spcAft>
            </a:pPr>
            <a:r>
              <a:rPr sz="788" b="1" i="0" spc="15">
                <a:solidFill>
                  <a:srgbClr val="1B1A1A"/>
                </a:solidFill>
                <a:latin typeface="Quicksand"/>
              </a:rPr>
              <a:t>+0.3%</a:t>
            </a:r>
          </a:p>
        </p:txBody>
      </p:sp>
      <p:sp>
        <p:nvSpPr>
          <p:cNvPr id="75" name="Rule"/>
          <p:cNvSpPr/>
          <p:nvPr/>
        </p:nvSpPr>
        <p:spPr>
          <a:xfrm>
            <a:off x="8305800" y="5819775"/>
            <a:ext cx="1181100" cy="9525"/>
          </a:xfrm>
          <a:prstGeom prst="rect">
            <a:avLst/>
          </a:prstGeom>
          <a:solidFill>
            <a:srgbClr val="E3DCD3"/>
          </a:solidFill>
          <a:ln>
            <a:noFill/>
          </a:ln>
        </p:spPr>
        <p:txBody>
          <a:bodyPr rtlCol="0" anchor="ctr"/>
          <a:lstStyle/>
          <a:p>
            <a:pPr algn="ctr"/>
          </a:p>
        </p:txBody>
      </p:sp>
      <p:sp>
        <p:nvSpPr>
          <p:cNvPr id="76" name="TextBox 75"/>
          <p:cNvSpPr txBox="1"/>
          <p:nvPr/>
        </p:nvSpPr>
        <p:spPr>
          <a:xfrm>
            <a:off x="5257800" y="6500050"/>
            <a:ext cx="4305300" cy="285750"/>
          </a:xfrm>
          <a:prstGeom prst="rect">
            <a:avLst/>
          </a:prstGeom>
          <a:noFill/>
        </p:spPr>
        <p:txBody>
          <a:bodyPr wrap="square" lIns="0" rIns="0" tIns="0" bIns="0" anchor="t">
            <a:noAutofit/>
          </a:bodyPr>
          <a:lstStyle/>
          <a:p>
            <a:pPr algn="l">
              <a:lnSpc>
                <a:spcPts val="1200"/>
              </a:lnSpc>
              <a:spcBef>
                <a:spcPts val="0"/>
              </a:spcBef>
              <a:spcAft>
                <a:spcPts val="0"/>
              </a:spcAft>
            </a:pPr>
            <a:r>
              <a:rPr sz="825" b="0" i="0" spc="15">
                <a:solidFill>
                  <a:srgbClr val="333231"/>
                </a:solidFill>
                <a:latin typeface="Quicksand"/>
              </a:rPr>
              <a:t>Headcount at IT services firms has fallen 5% from its March 2023 peak even as technology spending has grown.</a:t>
            </a:r>
          </a:p>
        </p:txBody>
      </p:sp>
      <p:sp>
        <p:nvSpPr>
          <p:cNvPr id="77" name="Panel"/>
          <p:cNvSpPr/>
          <p:nvPr/>
        </p:nvSpPr>
        <p:spPr>
          <a:xfrm>
            <a:off x="419100" y="7029450"/>
            <a:ext cx="9220200" cy="9525"/>
          </a:xfrm>
          <a:prstGeom prst="rect">
            <a:avLst/>
          </a:prstGeom>
          <a:solidFill>
            <a:srgbClr val="E3DCD3"/>
          </a:solidFill>
          <a:ln>
            <a:noFill/>
          </a:ln>
        </p:spPr>
        <p:txBody>
          <a:bodyPr rtlCol="0" anchor="ctr"/>
          <a:lstStyle/>
          <a:p>
            <a:pPr algn="ctr"/>
          </a:p>
        </p:txBody>
      </p:sp>
      <p:pic>
        <p:nvPicPr>
          <p:cNvPr id="78" name="Graphic" descr="S03_r6.png"/>
          <p:cNvPicPr>
            <a:picLocks noChangeAspect="1"/>
          </p:cNvPicPr>
          <p:nvPr/>
        </p:nvPicPr>
        <p:blipFill>
          <a:blip r:embed="rId10"/>
          <a:stretch>
            <a:fillRect/>
          </a:stretch>
        </p:blipFill>
        <p:spPr>
          <a:xfrm>
            <a:off x="419100" y="7143750"/>
            <a:ext cx="914400" cy="171450"/>
          </a:xfrm>
          <a:prstGeom prst="rect">
            <a:avLst/>
          </a:prstGeom>
        </p:spPr>
      </p:pic>
      <p:sp>
        <p:nvSpPr>
          <p:cNvPr id="79" name="TextBox 78"/>
          <p:cNvSpPr txBox="1"/>
          <p:nvPr/>
        </p:nvSpPr>
        <p:spPr>
          <a:xfrm>
            <a:off x="1543050" y="7091172"/>
            <a:ext cx="7810500" cy="223838"/>
          </a:xfrm>
          <a:prstGeom prst="rect">
            <a:avLst/>
          </a:prstGeom>
          <a:noFill/>
        </p:spPr>
        <p:txBody>
          <a:bodyPr wrap="square" lIns="0" rIns="0" tIns="0" bIns="0" anchor="t">
            <a:noAutofit/>
          </a:bodyPr>
          <a:lstStyle/>
          <a:p>
            <a:pPr algn="l">
              <a:lnSpc>
                <a:spcPts val="938"/>
              </a:lnSpc>
              <a:spcBef>
                <a:spcPts val="0"/>
              </a:spcBef>
              <a:spcAft>
                <a:spcPts val="0"/>
              </a:spcAft>
            </a:pPr>
            <a:r>
              <a:rPr sz="675" b="0" i="0" spc="8">
                <a:solidFill>
                  <a:srgbClr val="6F6A66"/>
                </a:solidFill>
                <a:latin typeface="Quicksand"/>
              </a:rPr>
              <a:t>Each series is indexed to September 2021 and runs to its latest month: August 2026 for component prices and construction, July 2026 for copper, September 2026 for employment. Recent months are preliminary. The data center figures are from the </a:t>
            </a:r>
            <a:r>
              <a:rPr sz="675" b="0" i="0" spc="8" u="sng">
                <a:solidFill>
                  <a:srgbClr val="8C6239"/>
                </a:solidFill>
                <a:latin typeface="Quicksand"/>
                <a:hlinkClick r:id="rId11">
                  <a:extLst>
                    <a:ext uri="{A12FA001-AC4F-418D-AE19-62706E023703}">
                      <ahyp:hlinkClr xmlns:ahyp="http://schemas.microsoft.com/office/drawing/2018/hyperlinkcolor" val="tx"/>
                    </a:ext>
                  </a:extLst>
                </a:hlinkClick>
              </a:rPr>
              <a:t>Census Bureau construction spending release of October 1, 2026</a:t>
            </a:r>
            <a:r>
              <a:rPr sz="675" b="0" i="0" spc="8">
                <a:solidFill>
                  <a:srgbClr val="6F6A66"/>
                </a:solidFill>
                <a:latin typeface="Quicksand"/>
              </a:rPr>
              <a:t>.</a:t>
            </a:r>
          </a:p>
        </p:txBody>
      </p:sp>
      <p:sp>
        <p:nvSpPr>
          <p:cNvPr id="80" name="TextBox 79"/>
          <p:cNvSpPr txBox="1"/>
          <p:nvPr/>
        </p:nvSpPr>
        <p:spPr>
          <a:xfrm>
            <a:off x="9514433" y="7149370"/>
            <a:ext cx="124867" cy="114300"/>
          </a:xfrm>
          <a:prstGeom prst="rect">
            <a:avLst/>
          </a:prstGeom>
          <a:noFill/>
        </p:spPr>
        <p:txBody>
          <a:bodyPr wrap="none" lIns="0" rIns="0" tIns="0" bIns="0" anchor="t">
            <a:noAutofit/>
          </a:bodyPr>
          <a:lstStyle/>
          <a:p>
            <a:pPr algn="r">
              <a:lnSpc>
                <a:spcPts val="1050"/>
              </a:lnSpc>
              <a:spcBef>
                <a:spcPts val="0"/>
              </a:spcBef>
              <a:spcAft>
                <a:spcPts val="0"/>
              </a:spcAft>
            </a:pPr>
            <a:r>
              <a:rPr sz="712" b="1" i="0" spc="150">
                <a:solidFill>
                  <a:srgbClr val="1B1A1A"/>
                </a:solidFill>
                <a:latin typeface="Quicksand"/>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3" name="Panel"/>
          <p:cNvSpPr/>
          <p:nvPr/>
        </p:nvSpPr>
        <p:spPr>
          <a:xfrm>
            <a:off x="0" y="0"/>
            <a:ext cx="10058400" cy="7772400"/>
          </a:xfrm>
          <a:prstGeom prst="rect">
            <a:avLst/>
          </a:prstGeom>
          <a:solidFill>
            <a:srgbClr val="FFFFFF"/>
          </a:solidFill>
          <a:ln>
            <a:noFill/>
          </a:ln>
        </p:spPr>
        <p:txBody>
          <a:bodyPr rtlCol="0" anchor="ctr"/>
          <a:lstStyle/>
          <a:p>
            <a:pPr algn="ctr"/>
          </a:p>
        </p:txBody>
      </p:sp>
      <p:sp>
        <p:nvSpPr>
          <p:cNvPr id="4" name="Panel"/>
          <p:cNvSpPr/>
          <p:nvPr/>
        </p:nvSpPr>
        <p:spPr>
          <a:xfrm>
            <a:off x="0" y="0"/>
            <a:ext cx="57150" cy="7772400"/>
          </a:xfrm>
          <a:prstGeom prst="rect">
            <a:avLst/>
          </a:prstGeom>
          <a:solidFill>
            <a:srgbClr val="B68757"/>
          </a:solidFill>
          <a:ln>
            <a:noFill/>
          </a:ln>
        </p:spPr>
        <p:txBody>
          <a:bodyPr rtlCol="0" anchor="ctr"/>
          <a:lstStyle/>
          <a:p>
            <a:pPr algn="ctr"/>
          </a:p>
        </p:txBody>
      </p:sp>
      <p:sp>
        <p:nvSpPr>
          <p:cNvPr id="5" name="TextBox 4"/>
          <p:cNvSpPr txBox="1"/>
          <p:nvPr/>
        </p:nvSpPr>
        <p:spPr>
          <a:xfrm>
            <a:off x="419100" y="361760"/>
            <a:ext cx="2764185" cy="104775"/>
          </a:xfrm>
          <a:prstGeom prst="rect">
            <a:avLst/>
          </a:prstGeom>
          <a:noFill/>
        </p:spPr>
        <p:txBody>
          <a:bodyPr wrap="none" lIns="0" rIns="0" tIns="0" bIns="0" anchor="t">
            <a:noAutofit/>
          </a:bodyPr>
          <a:lstStyle/>
          <a:p>
            <a:pPr algn="l">
              <a:lnSpc>
                <a:spcPts val="1050"/>
              </a:lnSpc>
              <a:spcBef>
                <a:spcPts val="0"/>
              </a:spcBef>
              <a:spcAft>
                <a:spcPts val="0"/>
              </a:spcAft>
            </a:pPr>
            <a:r>
              <a:rPr sz="675" b="1" i="0" spc="195">
                <a:solidFill>
                  <a:srgbClr val="8C6239"/>
                </a:solidFill>
                <a:latin typeface="Quicksand"/>
              </a:rPr>
              <a:t>TECHNOLOGY  |  QUARTERLY SECTOR BRIEF</a:t>
            </a:r>
          </a:p>
        </p:txBody>
      </p:sp>
      <p:sp>
        <p:nvSpPr>
          <p:cNvPr id="6" name="TextBox 5"/>
          <p:cNvSpPr txBox="1"/>
          <p:nvPr/>
        </p:nvSpPr>
        <p:spPr>
          <a:xfrm>
            <a:off x="9112597" y="350901"/>
            <a:ext cx="526703" cy="152400"/>
          </a:xfrm>
          <a:prstGeom prst="rect">
            <a:avLst/>
          </a:prstGeom>
          <a:noFill/>
        </p:spPr>
        <p:txBody>
          <a:bodyPr wrap="none" lIns="0" rIns="0" tIns="0" bIns="0" anchor="t">
            <a:noAutofit/>
          </a:bodyPr>
          <a:lstStyle/>
          <a:p>
            <a:pPr algn="r">
              <a:lnSpc>
                <a:spcPts val="1350"/>
              </a:lnSpc>
              <a:spcBef>
                <a:spcPts val="0"/>
              </a:spcBef>
              <a:spcAft>
                <a:spcPts val="0"/>
              </a:spcAft>
            </a:pPr>
            <a:r>
              <a:rPr sz="900" b="0" i="0" spc="90">
                <a:solidFill>
                  <a:srgbClr val="6F6A66"/>
                </a:solidFill>
                <a:latin typeface="Cinzel"/>
              </a:rPr>
              <a:t>Q4 2026</a:t>
            </a:r>
          </a:p>
        </p:txBody>
      </p:sp>
      <p:sp>
        <p:nvSpPr>
          <p:cNvPr id="2" name="Title 1"/>
          <p:cNvSpPr>
            <a:spLocks noGrp="1"/>
          </p:cNvSpPr>
          <p:nvPr>
            <p:ph type="title"/>
          </p:nvPr>
        </p:nvSpPr>
        <p:spPr>
          <a:xfrm>
            <a:off x="419100" y="475488"/>
            <a:ext cx="3551486" cy="257175"/>
          </a:xfrm>
        </p:spPr>
        <p:txBody>
          <a:bodyPr wrap="none" lIns="0" rIns="0" tIns="0" bIns="0" anchor="t">
            <a:noAutofit/>
          </a:bodyPr>
          <a:lstStyle/>
          <a:p>
            <a:pPr algn="l">
              <a:lnSpc>
                <a:spcPts val="2550"/>
              </a:lnSpc>
              <a:spcBef>
                <a:spcPts val="0"/>
              </a:spcBef>
              <a:spcAft>
                <a:spcPts val="0"/>
              </a:spcAft>
            </a:pPr>
            <a:r>
              <a:rPr sz="2000" b="1" i="0">
                <a:solidFill>
                  <a:srgbClr val="1B1A1A"/>
                </a:solidFill>
                <a:latin typeface="Newsreader"/>
              </a:rPr>
              <a:t>Landscape: Select Participants</a:t>
            </a:r>
          </a:p>
        </p:txBody>
      </p:sp>
      <p:sp>
        <p:nvSpPr>
          <p:cNvPr id="7" name="TextBox 6"/>
          <p:cNvSpPr txBox="1"/>
          <p:nvPr/>
        </p:nvSpPr>
        <p:spPr>
          <a:xfrm>
            <a:off x="419100" y="864394"/>
            <a:ext cx="8345239" cy="152400"/>
          </a:xfrm>
          <a:prstGeom prst="rect">
            <a:avLst/>
          </a:prstGeom>
          <a:noFill/>
        </p:spPr>
        <p:txBody>
          <a:bodyPr wrap="none" lIns="0" rIns="0" tIns="0" bIns="0" anchor="t">
            <a:noAutofit/>
          </a:bodyPr>
          <a:lstStyle/>
          <a:p>
            <a:pPr algn="l">
              <a:lnSpc>
                <a:spcPts val="1388"/>
              </a:lnSpc>
              <a:spcBef>
                <a:spcPts val="0"/>
              </a:spcBef>
              <a:spcAft>
                <a:spcPts val="0"/>
              </a:spcAft>
            </a:pPr>
            <a:r>
              <a:rPr sz="938" b="0" i="0" spc="15">
                <a:solidFill>
                  <a:srgbClr val="6F6A66"/>
                </a:solidFill>
                <a:latin typeface="Quicksand"/>
              </a:rPr>
              <a:t>The listed reference companies in each focus area, and the private platforms, sponsors and strategic buyers acquiring founder-owned businesses.</a:t>
            </a:r>
          </a:p>
        </p:txBody>
      </p:sp>
      <p:sp>
        <p:nvSpPr>
          <p:cNvPr id="8" name="Panel"/>
          <p:cNvSpPr/>
          <p:nvPr/>
        </p:nvSpPr>
        <p:spPr>
          <a:xfrm>
            <a:off x="419100" y="1143000"/>
            <a:ext cx="9220200" cy="9525"/>
          </a:xfrm>
          <a:prstGeom prst="rect">
            <a:avLst/>
          </a:prstGeom>
          <a:solidFill>
            <a:srgbClr val="E3DCD3"/>
          </a:solidFill>
          <a:ln>
            <a:noFill/>
          </a:ln>
        </p:spPr>
        <p:txBody>
          <a:bodyPr rtlCol="0" anchor="ctr"/>
          <a:lstStyle/>
          <a:p>
            <a:pPr algn="ctr"/>
          </a:p>
        </p:txBody>
      </p:sp>
      <p:sp>
        <p:nvSpPr>
          <p:cNvPr id="9" name="Panel"/>
          <p:cNvSpPr/>
          <p:nvPr/>
        </p:nvSpPr>
        <p:spPr>
          <a:xfrm>
            <a:off x="419100" y="1238250"/>
            <a:ext cx="1457325" cy="5695950"/>
          </a:xfrm>
          <a:prstGeom prst="rect">
            <a:avLst/>
          </a:prstGeom>
          <a:solidFill>
            <a:srgbClr val="FAF7F3"/>
          </a:solidFill>
          <a:ln>
            <a:noFill/>
          </a:ln>
        </p:spPr>
        <p:txBody>
          <a:bodyPr rtlCol="0" anchor="ctr"/>
          <a:lstStyle/>
          <a:p>
            <a:pPr algn="ctr"/>
          </a:p>
        </p:txBody>
      </p:sp>
      <p:sp>
        <p:nvSpPr>
          <p:cNvPr id="10" name="Panel"/>
          <p:cNvSpPr/>
          <p:nvPr/>
        </p:nvSpPr>
        <p:spPr>
          <a:xfrm>
            <a:off x="419100" y="1238250"/>
            <a:ext cx="1457325" cy="552450"/>
          </a:xfrm>
          <a:prstGeom prst="rect">
            <a:avLst/>
          </a:prstGeom>
          <a:solidFill>
            <a:srgbClr val="1B1A1A"/>
          </a:solidFill>
          <a:ln>
            <a:noFill/>
          </a:ln>
        </p:spPr>
        <p:txBody>
          <a:bodyPr rtlCol="0" anchor="ctr"/>
          <a:lstStyle/>
          <a:p>
            <a:pPr algn="ctr"/>
          </a:p>
        </p:txBody>
      </p:sp>
      <p:pic>
        <p:nvPicPr>
          <p:cNvPr id="11" name="Graphic" descr="S13_r0.png"/>
          <p:cNvPicPr>
            <a:picLocks noChangeAspect="1"/>
          </p:cNvPicPr>
          <p:nvPr/>
        </p:nvPicPr>
        <p:blipFill>
          <a:blip r:embed="rId2"/>
          <a:stretch>
            <a:fillRect/>
          </a:stretch>
        </p:blipFill>
        <p:spPr>
          <a:xfrm>
            <a:off x="514350" y="1400175"/>
            <a:ext cx="228600" cy="228600"/>
          </a:xfrm>
          <a:prstGeom prst="rect">
            <a:avLst/>
          </a:prstGeom>
        </p:spPr>
      </p:pic>
      <p:sp>
        <p:nvSpPr>
          <p:cNvPr id="12" name="TextBox 11"/>
          <p:cNvSpPr txBox="1"/>
          <p:nvPr/>
        </p:nvSpPr>
        <p:spPr>
          <a:xfrm>
            <a:off x="819150" y="1380934"/>
            <a:ext cx="1038225" cy="223838"/>
          </a:xfrm>
          <a:prstGeom prst="rect">
            <a:avLst/>
          </a:prstGeom>
          <a:noFill/>
        </p:spPr>
        <p:txBody>
          <a:bodyPr wrap="square" lIns="0" rIns="0" tIns="0" bIns="0" anchor="t">
            <a:noAutofit/>
          </a:bodyPr>
          <a:lstStyle/>
          <a:p>
            <a:pPr algn="l">
              <a:lnSpc>
                <a:spcPts val="938"/>
              </a:lnSpc>
              <a:spcBef>
                <a:spcPts val="0"/>
              </a:spcBef>
              <a:spcAft>
                <a:spcPts val="0"/>
              </a:spcAft>
            </a:pPr>
            <a:r>
              <a:rPr sz="675" b="1" i="0" spc="98">
                <a:solidFill>
                  <a:srgbClr val="FFFFFF"/>
                </a:solidFill>
                <a:latin typeface="Quicksand"/>
              </a:rPr>
              <a:t>MANAGED IT &amp; CLOUD SERVICES</a:t>
            </a:r>
          </a:p>
        </p:txBody>
      </p:sp>
      <p:sp>
        <p:nvSpPr>
          <p:cNvPr id="13" name="TextBox 12"/>
          <p:cNvSpPr txBox="1"/>
          <p:nvPr/>
        </p:nvSpPr>
        <p:spPr>
          <a:xfrm>
            <a:off x="514350" y="1883664"/>
            <a:ext cx="1063972" cy="95250"/>
          </a:xfrm>
          <a:prstGeom prst="rect">
            <a:avLst/>
          </a:prstGeom>
          <a:noFill/>
        </p:spPr>
        <p:txBody>
          <a:bodyPr wrap="none" lIns="0" rIns="0" tIns="0" bIns="0" anchor="t">
            <a:noAutofit/>
          </a:bodyPr>
          <a:lstStyle/>
          <a:p>
            <a:pPr algn="l">
              <a:lnSpc>
                <a:spcPts val="975"/>
              </a:lnSpc>
              <a:spcBef>
                <a:spcPts val="0"/>
              </a:spcBef>
              <a:spcAft>
                <a:spcPts val="0"/>
              </a:spcAft>
            </a:pPr>
            <a:r>
              <a:rPr sz="600" b="1" i="0" spc="150">
                <a:solidFill>
                  <a:srgbClr val="8C6239"/>
                </a:solidFill>
                <a:latin typeface="Quicksand"/>
              </a:rPr>
              <a:t>LISTED COMPANIES</a:t>
            </a:r>
          </a:p>
        </p:txBody>
      </p:sp>
      <p:pic>
        <p:nvPicPr>
          <p:cNvPr id="14" name="CDW" descr="CDW"/>
          <p:cNvPicPr>
            <a:picLocks noChangeAspect="1"/>
          </p:cNvPicPr>
          <p:nvPr/>
        </p:nvPicPr>
        <p:blipFill>
          <a:blip r:embed="rId3"/>
          <a:stretch>
            <a:fillRect/>
          </a:stretch>
        </p:blipFill>
        <p:spPr>
          <a:xfrm>
            <a:off x="514350" y="2102644"/>
            <a:ext cx="171450" cy="171450"/>
          </a:xfrm>
          <a:prstGeom prst="rect">
            <a:avLst/>
          </a:prstGeom>
        </p:spPr>
      </p:pic>
      <p:sp>
        <p:nvSpPr>
          <p:cNvPr id="15" name="TextBox 14"/>
          <p:cNvSpPr txBox="1"/>
          <p:nvPr/>
        </p:nvSpPr>
        <p:spPr>
          <a:xfrm>
            <a:off x="742950" y="2104549"/>
            <a:ext cx="285155" cy="123825"/>
          </a:xfrm>
          <a:prstGeom prst="rect">
            <a:avLst/>
          </a:prstGeom>
          <a:noFill/>
        </p:spPr>
        <p:txBody>
          <a:bodyPr wrap="none" lIns="0" rIns="0" tIns="0" bIns="0" anchor="t">
            <a:noAutofit/>
          </a:bodyPr>
          <a:lstStyle/>
          <a:p>
            <a:pPr algn="l">
              <a:lnSpc>
                <a:spcPts val="1050"/>
              </a:lnSpc>
              <a:spcBef>
                <a:spcPts val="0"/>
              </a:spcBef>
              <a:spcAft>
                <a:spcPts val="0"/>
              </a:spcAft>
            </a:pPr>
            <a:r>
              <a:rPr sz="750" b="0" i="0" spc="15">
                <a:solidFill>
                  <a:srgbClr val="333231"/>
                </a:solidFill>
                <a:latin typeface="Quicksand"/>
              </a:rPr>
              <a:t>CDW</a:t>
            </a:r>
          </a:p>
        </p:txBody>
      </p:sp>
      <p:pic>
        <p:nvPicPr>
          <p:cNvPr id="16" name="Insight Enterprises" descr="Insight Enterprises"/>
          <p:cNvPicPr>
            <a:picLocks noChangeAspect="1"/>
          </p:cNvPicPr>
          <p:nvPr/>
        </p:nvPicPr>
        <p:blipFill>
          <a:blip r:embed="rId4"/>
          <a:stretch>
            <a:fillRect/>
          </a:stretch>
        </p:blipFill>
        <p:spPr>
          <a:xfrm>
            <a:off x="514350" y="2326481"/>
            <a:ext cx="171450" cy="171450"/>
          </a:xfrm>
          <a:prstGeom prst="rect">
            <a:avLst/>
          </a:prstGeom>
        </p:spPr>
      </p:pic>
      <p:sp>
        <p:nvSpPr>
          <p:cNvPr id="17" name="TextBox 16"/>
          <p:cNvSpPr txBox="1"/>
          <p:nvPr/>
        </p:nvSpPr>
        <p:spPr>
          <a:xfrm>
            <a:off x="742950" y="2328386"/>
            <a:ext cx="898624" cy="123825"/>
          </a:xfrm>
          <a:prstGeom prst="rect">
            <a:avLst/>
          </a:prstGeom>
          <a:noFill/>
        </p:spPr>
        <p:txBody>
          <a:bodyPr wrap="none" lIns="0" rIns="0" tIns="0" bIns="0" anchor="t">
            <a:noAutofit/>
          </a:bodyPr>
          <a:lstStyle/>
          <a:p>
            <a:pPr algn="l">
              <a:lnSpc>
                <a:spcPts val="1050"/>
              </a:lnSpc>
              <a:spcBef>
                <a:spcPts val="0"/>
              </a:spcBef>
              <a:spcAft>
                <a:spcPts val="0"/>
              </a:spcAft>
            </a:pPr>
            <a:r>
              <a:rPr sz="750" b="0" i="0" spc="15">
                <a:solidFill>
                  <a:srgbClr val="333231"/>
                </a:solidFill>
                <a:latin typeface="Quicksand"/>
              </a:rPr>
              <a:t>Insight Enterprises</a:t>
            </a:r>
          </a:p>
        </p:txBody>
      </p:sp>
      <p:pic>
        <p:nvPicPr>
          <p:cNvPr id="18" name="ePlus" descr="ePlus"/>
          <p:cNvPicPr>
            <a:picLocks noChangeAspect="1"/>
          </p:cNvPicPr>
          <p:nvPr/>
        </p:nvPicPr>
        <p:blipFill>
          <a:blip r:embed="rId5"/>
          <a:stretch>
            <a:fillRect/>
          </a:stretch>
        </p:blipFill>
        <p:spPr>
          <a:xfrm>
            <a:off x="514350" y="2550319"/>
            <a:ext cx="171450" cy="171450"/>
          </a:xfrm>
          <a:prstGeom prst="rect">
            <a:avLst/>
          </a:prstGeom>
        </p:spPr>
      </p:pic>
      <p:sp>
        <p:nvSpPr>
          <p:cNvPr id="19" name="TextBox 18"/>
          <p:cNvSpPr txBox="1"/>
          <p:nvPr/>
        </p:nvSpPr>
        <p:spPr>
          <a:xfrm>
            <a:off x="742950" y="2552224"/>
            <a:ext cx="297656" cy="123825"/>
          </a:xfrm>
          <a:prstGeom prst="rect">
            <a:avLst/>
          </a:prstGeom>
          <a:noFill/>
        </p:spPr>
        <p:txBody>
          <a:bodyPr wrap="none" lIns="0" rIns="0" tIns="0" bIns="0" anchor="t">
            <a:noAutofit/>
          </a:bodyPr>
          <a:lstStyle/>
          <a:p>
            <a:pPr algn="l">
              <a:lnSpc>
                <a:spcPts val="1050"/>
              </a:lnSpc>
              <a:spcBef>
                <a:spcPts val="0"/>
              </a:spcBef>
              <a:spcAft>
                <a:spcPts val="0"/>
              </a:spcAft>
            </a:pPr>
            <a:r>
              <a:rPr sz="750" b="0" i="0" spc="15">
                <a:solidFill>
                  <a:srgbClr val="333231"/>
                </a:solidFill>
                <a:latin typeface="Quicksand"/>
              </a:rPr>
              <a:t>ePlus</a:t>
            </a:r>
          </a:p>
        </p:txBody>
      </p:sp>
      <p:pic>
        <p:nvPicPr>
          <p:cNvPr id="20" name="PC Connection" descr="PC Connection"/>
          <p:cNvPicPr>
            <a:picLocks noChangeAspect="1"/>
          </p:cNvPicPr>
          <p:nvPr/>
        </p:nvPicPr>
        <p:blipFill>
          <a:blip r:embed="rId6"/>
          <a:stretch>
            <a:fillRect/>
          </a:stretch>
        </p:blipFill>
        <p:spPr>
          <a:xfrm>
            <a:off x="514350" y="2774156"/>
            <a:ext cx="171450" cy="171450"/>
          </a:xfrm>
          <a:prstGeom prst="rect">
            <a:avLst/>
          </a:prstGeom>
        </p:spPr>
      </p:pic>
      <p:sp>
        <p:nvSpPr>
          <p:cNvPr id="21" name="TextBox 20"/>
          <p:cNvSpPr txBox="1"/>
          <p:nvPr/>
        </p:nvSpPr>
        <p:spPr>
          <a:xfrm>
            <a:off x="742950" y="2776061"/>
            <a:ext cx="725239" cy="123825"/>
          </a:xfrm>
          <a:prstGeom prst="rect">
            <a:avLst/>
          </a:prstGeom>
          <a:noFill/>
        </p:spPr>
        <p:txBody>
          <a:bodyPr wrap="none" lIns="0" rIns="0" tIns="0" bIns="0" anchor="t">
            <a:noAutofit/>
          </a:bodyPr>
          <a:lstStyle/>
          <a:p>
            <a:pPr algn="l">
              <a:lnSpc>
                <a:spcPts val="1050"/>
              </a:lnSpc>
              <a:spcBef>
                <a:spcPts val="0"/>
              </a:spcBef>
              <a:spcAft>
                <a:spcPts val="0"/>
              </a:spcAft>
            </a:pPr>
            <a:r>
              <a:rPr sz="750" b="0" i="0" spc="15">
                <a:solidFill>
                  <a:srgbClr val="333231"/>
                </a:solidFill>
                <a:latin typeface="Quicksand"/>
              </a:rPr>
              <a:t>PC Connection</a:t>
            </a:r>
          </a:p>
        </p:txBody>
      </p:sp>
      <p:pic>
        <p:nvPicPr>
          <p:cNvPr id="22" name="Kyndryl" descr="Kyndryl"/>
          <p:cNvPicPr>
            <a:picLocks noChangeAspect="1"/>
          </p:cNvPicPr>
          <p:nvPr/>
        </p:nvPicPr>
        <p:blipFill>
          <a:blip r:embed="rId7"/>
          <a:stretch>
            <a:fillRect/>
          </a:stretch>
        </p:blipFill>
        <p:spPr>
          <a:xfrm>
            <a:off x="514350" y="2997994"/>
            <a:ext cx="171450" cy="171450"/>
          </a:xfrm>
          <a:prstGeom prst="rect">
            <a:avLst/>
          </a:prstGeom>
        </p:spPr>
      </p:pic>
      <p:sp>
        <p:nvSpPr>
          <p:cNvPr id="23" name="TextBox 22"/>
          <p:cNvSpPr txBox="1"/>
          <p:nvPr/>
        </p:nvSpPr>
        <p:spPr>
          <a:xfrm>
            <a:off x="742950" y="2999899"/>
            <a:ext cx="412552" cy="123825"/>
          </a:xfrm>
          <a:prstGeom prst="rect">
            <a:avLst/>
          </a:prstGeom>
          <a:noFill/>
        </p:spPr>
        <p:txBody>
          <a:bodyPr wrap="none" lIns="0" rIns="0" tIns="0" bIns="0" anchor="t">
            <a:noAutofit/>
          </a:bodyPr>
          <a:lstStyle/>
          <a:p>
            <a:pPr algn="l">
              <a:lnSpc>
                <a:spcPts val="1050"/>
              </a:lnSpc>
              <a:spcBef>
                <a:spcPts val="0"/>
              </a:spcBef>
              <a:spcAft>
                <a:spcPts val="0"/>
              </a:spcAft>
            </a:pPr>
            <a:r>
              <a:rPr sz="750" b="0" i="0" spc="15">
                <a:solidFill>
                  <a:srgbClr val="333231"/>
                </a:solidFill>
                <a:latin typeface="Quicksand"/>
              </a:rPr>
              <a:t>Kyndryl</a:t>
            </a:r>
          </a:p>
        </p:txBody>
      </p:sp>
      <p:pic>
        <p:nvPicPr>
          <p:cNvPr id="24" name="DXC Technology" descr="DXC Technology"/>
          <p:cNvPicPr>
            <a:picLocks noChangeAspect="1"/>
          </p:cNvPicPr>
          <p:nvPr/>
        </p:nvPicPr>
        <p:blipFill>
          <a:blip r:embed="rId8"/>
          <a:stretch>
            <a:fillRect/>
          </a:stretch>
        </p:blipFill>
        <p:spPr>
          <a:xfrm>
            <a:off x="514350" y="3221831"/>
            <a:ext cx="171450" cy="171450"/>
          </a:xfrm>
          <a:prstGeom prst="rect">
            <a:avLst/>
          </a:prstGeom>
        </p:spPr>
      </p:pic>
      <p:sp>
        <p:nvSpPr>
          <p:cNvPr id="25" name="TextBox 24"/>
          <p:cNvSpPr txBox="1"/>
          <p:nvPr/>
        </p:nvSpPr>
        <p:spPr>
          <a:xfrm>
            <a:off x="742950" y="3223736"/>
            <a:ext cx="800695" cy="123825"/>
          </a:xfrm>
          <a:prstGeom prst="rect">
            <a:avLst/>
          </a:prstGeom>
          <a:noFill/>
        </p:spPr>
        <p:txBody>
          <a:bodyPr wrap="none" lIns="0" rIns="0" tIns="0" bIns="0" anchor="t">
            <a:noAutofit/>
          </a:bodyPr>
          <a:lstStyle/>
          <a:p>
            <a:pPr algn="l">
              <a:lnSpc>
                <a:spcPts val="1050"/>
              </a:lnSpc>
              <a:spcBef>
                <a:spcPts val="0"/>
              </a:spcBef>
              <a:spcAft>
                <a:spcPts val="0"/>
              </a:spcAft>
            </a:pPr>
            <a:r>
              <a:rPr sz="750" b="0" i="0" spc="15">
                <a:solidFill>
                  <a:srgbClr val="333231"/>
                </a:solidFill>
                <a:latin typeface="Quicksand"/>
              </a:rPr>
              <a:t>DXC Technology</a:t>
            </a:r>
          </a:p>
        </p:txBody>
      </p:sp>
      <p:pic>
        <p:nvPicPr>
          <p:cNvPr id="26" name="Accenture" descr="Accenture"/>
          <p:cNvPicPr>
            <a:picLocks noChangeAspect="1"/>
          </p:cNvPicPr>
          <p:nvPr/>
        </p:nvPicPr>
        <p:blipFill>
          <a:blip r:embed="rId9"/>
          <a:stretch>
            <a:fillRect/>
          </a:stretch>
        </p:blipFill>
        <p:spPr>
          <a:xfrm>
            <a:off x="514350" y="3445669"/>
            <a:ext cx="171450" cy="171450"/>
          </a:xfrm>
          <a:prstGeom prst="rect">
            <a:avLst/>
          </a:prstGeom>
        </p:spPr>
      </p:pic>
      <p:sp>
        <p:nvSpPr>
          <p:cNvPr id="27" name="TextBox 26"/>
          <p:cNvSpPr txBox="1"/>
          <p:nvPr/>
        </p:nvSpPr>
        <p:spPr>
          <a:xfrm>
            <a:off x="742950" y="3447574"/>
            <a:ext cx="518368" cy="123825"/>
          </a:xfrm>
          <a:prstGeom prst="rect">
            <a:avLst/>
          </a:prstGeom>
          <a:noFill/>
        </p:spPr>
        <p:txBody>
          <a:bodyPr wrap="none" lIns="0" rIns="0" tIns="0" bIns="0" anchor="t">
            <a:noAutofit/>
          </a:bodyPr>
          <a:lstStyle/>
          <a:p>
            <a:pPr algn="l">
              <a:lnSpc>
                <a:spcPts val="1050"/>
              </a:lnSpc>
              <a:spcBef>
                <a:spcPts val="0"/>
              </a:spcBef>
              <a:spcAft>
                <a:spcPts val="0"/>
              </a:spcAft>
            </a:pPr>
            <a:r>
              <a:rPr sz="750" b="0" i="0" spc="15">
                <a:solidFill>
                  <a:srgbClr val="333231"/>
                </a:solidFill>
                <a:latin typeface="Quicksand"/>
              </a:rPr>
              <a:t>Accenture</a:t>
            </a:r>
          </a:p>
        </p:txBody>
      </p:sp>
      <p:pic>
        <p:nvPicPr>
          <p:cNvPr id="28" name="Cognizant" descr="Cognizant"/>
          <p:cNvPicPr>
            <a:picLocks noChangeAspect="1"/>
          </p:cNvPicPr>
          <p:nvPr/>
        </p:nvPicPr>
        <p:blipFill>
          <a:blip r:embed="rId10"/>
          <a:stretch>
            <a:fillRect/>
          </a:stretch>
        </p:blipFill>
        <p:spPr>
          <a:xfrm>
            <a:off x="514350" y="3669506"/>
            <a:ext cx="171450" cy="171450"/>
          </a:xfrm>
          <a:prstGeom prst="rect">
            <a:avLst/>
          </a:prstGeom>
        </p:spPr>
      </p:pic>
      <p:sp>
        <p:nvSpPr>
          <p:cNvPr id="29" name="TextBox 28"/>
          <p:cNvSpPr txBox="1"/>
          <p:nvPr/>
        </p:nvSpPr>
        <p:spPr>
          <a:xfrm>
            <a:off x="742950" y="3671411"/>
            <a:ext cx="519708" cy="123825"/>
          </a:xfrm>
          <a:prstGeom prst="rect">
            <a:avLst/>
          </a:prstGeom>
          <a:noFill/>
        </p:spPr>
        <p:txBody>
          <a:bodyPr wrap="none" lIns="0" rIns="0" tIns="0" bIns="0" anchor="t">
            <a:noAutofit/>
          </a:bodyPr>
          <a:lstStyle/>
          <a:p>
            <a:pPr algn="l">
              <a:lnSpc>
                <a:spcPts val="1050"/>
              </a:lnSpc>
              <a:spcBef>
                <a:spcPts val="0"/>
              </a:spcBef>
              <a:spcAft>
                <a:spcPts val="0"/>
              </a:spcAft>
            </a:pPr>
            <a:r>
              <a:rPr sz="750" b="0" i="0" spc="15">
                <a:solidFill>
                  <a:srgbClr val="333231"/>
                </a:solidFill>
                <a:latin typeface="Quicksand"/>
              </a:rPr>
              <a:t>Cognizant</a:t>
            </a:r>
          </a:p>
        </p:txBody>
      </p:sp>
      <p:pic>
        <p:nvPicPr>
          <p:cNvPr id="30" name="EPAM Systems" descr="EPAM Systems"/>
          <p:cNvPicPr>
            <a:picLocks noChangeAspect="1"/>
          </p:cNvPicPr>
          <p:nvPr/>
        </p:nvPicPr>
        <p:blipFill>
          <a:blip r:embed="rId11"/>
          <a:stretch>
            <a:fillRect/>
          </a:stretch>
        </p:blipFill>
        <p:spPr>
          <a:xfrm>
            <a:off x="514350" y="3893344"/>
            <a:ext cx="171450" cy="171450"/>
          </a:xfrm>
          <a:prstGeom prst="rect">
            <a:avLst/>
          </a:prstGeom>
        </p:spPr>
      </p:pic>
      <p:sp>
        <p:nvSpPr>
          <p:cNvPr id="31" name="TextBox 30"/>
          <p:cNvSpPr txBox="1"/>
          <p:nvPr/>
        </p:nvSpPr>
        <p:spPr>
          <a:xfrm>
            <a:off x="742950" y="3895249"/>
            <a:ext cx="722114" cy="123825"/>
          </a:xfrm>
          <a:prstGeom prst="rect">
            <a:avLst/>
          </a:prstGeom>
          <a:noFill/>
        </p:spPr>
        <p:txBody>
          <a:bodyPr wrap="none" lIns="0" rIns="0" tIns="0" bIns="0" anchor="t">
            <a:noAutofit/>
          </a:bodyPr>
          <a:lstStyle/>
          <a:p>
            <a:pPr algn="l">
              <a:lnSpc>
                <a:spcPts val="1050"/>
              </a:lnSpc>
              <a:spcBef>
                <a:spcPts val="0"/>
              </a:spcBef>
              <a:spcAft>
                <a:spcPts val="0"/>
              </a:spcAft>
            </a:pPr>
            <a:r>
              <a:rPr sz="750" b="0" i="0" spc="15">
                <a:solidFill>
                  <a:srgbClr val="333231"/>
                </a:solidFill>
                <a:latin typeface="Quicksand"/>
              </a:rPr>
              <a:t>EPAM Systems</a:t>
            </a:r>
          </a:p>
        </p:txBody>
      </p:sp>
      <p:sp>
        <p:nvSpPr>
          <p:cNvPr id="32" name="Rule"/>
          <p:cNvSpPr/>
          <p:nvPr/>
        </p:nvSpPr>
        <p:spPr>
          <a:xfrm>
            <a:off x="514350" y="4610100"/>
            <a:ext cx="1266825" cy="9525"/>
          </a:xfrm>
          <a:prstGeom prst="rect">
            <a:avLst/>
          </a:prstGeom>
          <a:solidFill>
            <a:srgbClr val="E3DCD3"/>
          </a:solidFill>
          <a:ln>
            <a:noFill/>
          </a:ln>
        </p:spPr>
        <p:txBody>
          <a:bodyPr rtlCol="0" anchor="ctr"/>
          <a:lstStyle/>
          <a:p>
            <a:pPr algn="ctr"/>
          </a:p>
        </p:txBody>
      </p:sp>
      <p:sp>
        <p:nvSpPr>
          <p:cNvPr id="33" name="TextBox 32"/>
          <p:cNvSpPr txBox="1"/>
          <p:nvPr/>
        </p:nvSpPr>
        <p:spPr>
          <a:xfrm>
            <a:off x="514350" y="4693539"/>
            <a:ext cx="934492" cy="95250"/>
          </a:xfrm>
          <a:prstGeom prst="rect">
            <a:avLst/>
          </a:prstGeom>
          <a:noFill/>
        </p:spPr>
        <p:txBody>
          <a:bodyPr wrap="none" lIns="0" rIns="0" tIns="0" bIns="0" anchor="t">
            <a:noAutofit/>
          </a:bodyPr>
          <a:lstStyle/>
          <a:p>
            <a:pPr algn="l">
              <a:lnSpc>
                <a:spcPts val="975"/>
              </a:lnSpc>
              <a:spcBef>
                <a:spcPts val="0"/>
              </a:spcBef>
              <a:spcAft>
                <a:spcPts val="0"/>
              </a:spcAft>
            </a:pPr>
            <a:r>
              <a:rPr sz="600" b="1" i="0" spc="150">
                <a:solidFill>
                  <a:srgbClr val="8C6239"/>
                </a:solidFill>
                <a:latin typeface="Quicksand"/>
              </a:rPr>
              <a:t>CONSOLIDATORS</a:t>
            </a:r>
          </a:p>
        </p:txBody>
      </p:sp>
      <p:sp>
        <p:nvSpPr>
          <p:cNvPr id="34" name="Panel"/>
          <p:cNvSpPr/>
          <p:nvPr/>
        </p:nvSpPr>
        <p:spPr>
          <a:xfrm>
            <a:off x="519112" y="4910138"/>
            <a:ext cx="1257300" cy="314325"/>
          </a:xfrm>
          <a:prstGeom prst="rect">
            <a:avLst/>
          </a:prstGeom>
          <a:solidFill>
            <a:srgbClr val="FFFFFF"/>
          </a:solidFill>
          <a:ln w="9525">
            <a:solidFill>
              <a:srgbClr val="E3DCD3"/>
            </a:solidFill>
          </a:ln>
        </p:spPr>
        <p:txBody>
          <a:bodyPr rtlCol="0" anchor="ctr"/>
          <a:lstStyle/>
          <a:p>
            <a:pPr algn="ctr"/>
          </a:p>
        </p:txBody>
      </p:sp>
      <p:sp>
        <p:nvSpPr>
          <p:cNvPr id="35" name="TextBox 34"/>
          <p:cNvSpPr txBox="1"/>
          <p:nvPr/>
        </p:nvSpPr>
        <p:spPr>
          <a:xfrm>
            <a:off x="581025" y="4930045"/>
            <a:ext cx="1209675" cy="238125"/>
          </a:xfrm>
          <a:prstGeom prst="rect">
            <a:avLst/>
          </a:prstGeom>
          <a:noFill/>
        </p:spPr>
        <p:txBody>
          <a:bodyPr wrap="square" lIns="0" rIns="0" tIns="0" bIns="0" anchor="t">
            <a:noAutofit/>
          </a:bodyPr>
          <a:lstStyle/>
          <a:p>
            <a:pPr algn="l">
              <a:lnSpc>
                <a:spcPts val="975"/>
              </a:lnSpc>
              <a:spcBef>
                <a:spcPts val="0"/>
              </a:spcBef>
              <a:spcAft>
                <a:spcPts val="0"/>
              </a:spcAft>
            </a:pPr>
            <a:r>
              <a:rPr sz="712" b="1" i="0" spc="15">
                <a:solidFill>
                  <a:srgbClr val="1B1A1A"/>
                </a:solidFill>
                <a:latin typeface="Quicksand"/>
              </a:rPr>
              <a:t>Evergreen Services Group</a:t>
            </a:r>
          </a:p>
        </p:txBody>
      </p:sp>
      <p:sp>
        <p:nvSpPr>
          <p:cNvPr id="36" name="Panel"/>
          <p:cNvSpPr/>
          <p:nvPr/>
        </p:nvSpPr>
        <p:spPr>
          <a:xfrm>
            <a:off x="519112" y="5281612"/>
            <a:ext cx="646361" cy="190500"/>
          </a:xfrm>
          <a:prstGeom prst="rect">
            <a:avLst/>
          </a:prstGeom>
          <a:solidFill>
            <a:srgbClr val="FFFFFF"/>
          </a:solidFill>
          <a:ln w="9525">
            <a:solidFill>
              <a:srgbClr val="E3DCD3"/>
            </a:solidFill>
          </a:ln>
        </p:spPr>
        <p:txBody>
          <a:bodyPr rtlCol="0" anchor="ctr"/>
          <a:lstStyle/>
          <a:p>
            <a:pPr algn="ctr"/>
          </a:p>
        </p:txBody>
      </p:sp>
      <p:sp>
        <p:nvSpPr>
          <p:cNvPr id="37" name="TextBox 36"/>
          <p:cNvSpPr txBox="1"/>
          <p:nvPr/>
        </p:nvSpPr>
        <p:spPr>
          <a:xfrm>
            <a:off x="581025" y="5301520"/>
            <a:ext cx="579686" cy="114300"/>
          </a:xfrm>
          <a:prstGeom prst="rect">
            <a:avLst/>
          </a:prstGeom>
          <a:noFill/>
        </p:spPr>
        <p:txBody>
          <a:bodyPr wrap="none" lIns="0" rIns="0" tIns="0" bIns="0" anchor="t">
            <a:noAutofit/>
          </a:bodyPr>
          <a:lstStyle/>
          <a:p>
            <a:pPr algn="l">
              <a:lnSpc>
                <a:spcPts val="975"/>
              </a:lnSpc>
              <a:spcBef>
                <a:spcPts val="0"/>
              </a:spcBef>
              <a:spcAft>
                <a:spcPts val="0"/>
              </a:spcAft>
            </a:pPr>
            <a:r>
              <a:rPr sz="712" b="1" i="0" spc="15">
                <a:solidFill>
                  <a:srgbClr val="1B1A1A"/>
                </a:solidFill>
                <a:latin typeface="Quicksand"/>
              </a:rPr>
              <a:t>The 20 MSP</a:t>
            </a:r>
          </a:p>
        </p:txBody>
      </p:sp>
      <p:sp>
        <p:nvSpPr>
          <p:cNvPr id="38" name="Panel"/>
          <p:cNvSpPr/>
          <p:nvPr/>
        </p:nvSpPr>
        <p:spPr>
          <a:xfrm>
            <a:off x="1222623" y="5281612"/>
            <a:ext cx="469404" cy="190500"/>
          </a:xfrm>
          <a:prstGeom prst="rect">
            <a:avLst/>
          </a:prstGeom>
          <a:solidFill>
            <a:srgbClr val="FFFFFF"/>
          </a:solidFill>
          <a:ln w="9525">
            <a:solidFill>
              <a:srgbClr val="E3DCD3"/>
            </a:solidFill>
          </a:ln>
        </p:spPr>
        <p:txBody>
          <a:bodyPr rtlCol="0" anchor="ctr"/>
          <a:lstStyle/>
          <a:p>
            <a:pPr algn="ctr"/>
          </a:p>
        </p:txBody>
      </p:sp>
      <p:sp>
        <p:nvSpPr>
          <p:cNvPr id="39" name="TextBox 38"/>
          <p:cNvSpPr txBox="1"/>
          <p:nvPr/>
        </p:nvSpPr>
        <p:spPr>
          <a:xfrm>
            <a:off x="1284536" y="5301520"/>
            <a:ext cx="402729" cy="114300"/>
          </a:xfrm>
          <a:prstGeom prst="rect">
            <a:avLst/>
          </a:prstGeom>
          <a:noFill/>
        </p:spPr>
        <p:txBody>
          <a:bodyPr wrap="none" lIns="0" rIns="0" tIns="0" bIns="0" anchor="t">
            <a:noAutofit/>
          </a:bodyPr>
          <a:lstStyle/>
          <a:p>
            <a:pPr algn="l">
              <a:lnSpc>
                <a:spcPts val="975"/>
              </a:lnSpc>
              <a:spcBef>
                <a:spcPts val="0"/>
              </a:spcBef>
              <a:spcAft>
                <a:spcPts val="0"/>
              </a:spcAft>
            </a:pPr>
            <a:r>
              <a:rPr sz="712" b="1" i="0" spc="15">
                <a:solidFill>
                  <a:srgbClr val="1B1A1A"/>
                </a:solidFill>
                <a:latin typeface="Quicksand"/>
              </a:rPr>
              <a:t>Integris</a:t>
            </a:r>
          </a:p>
        </p:txBody>
      </p:sp>
      <p:sp>
        <p:nvSpPr>
          <p:cNvPr id="40" name="Panel"/>
          <p:cNvSpPr/>
          <p:nvPr/>
        </p:nvSpPr>
        <p:spPr>
          <a:xfrm>
            <a:off x="519112" y="5529262"/>
            <a:ext cx="409426" cy="190500"/>
          </a:xfrm>
          <a:prstGeom prst="rect">
            <a:avLst/>
          </a:prstGeom>
          <a:solidFill>
            <a:srgbClr val="FFFFFF"/>
          </a:solidFill>
          <a:ln w="9525">
            <a:solidFill>
              <a:srgbClr val="E3DCD3"/>
            </a:solidFill>
          </a:ln>
        </p:spPr>
        <p:txBody>
          <a:bodyPr rtlCol="0" anchor="ctr"/>
          <a:lstStyle/>
          <a:p>
            <a:pPr algn="ctr"/>
          </a:p>
        </p:txBody>
      </p:sp>
      <p:sp>
        <p:nvSpPr>
          <p:cNvPr id="41" name="TextBox 40"/>
          <p:cNvSpPr txBox="1"/>
          <p:nvPr/>
        </p:nvSpPr>
        <p:spPr>
          <a:xfrm>
            <a:off x="581025" y="5549170"/>
            <a:ext cx="342751" cy="114300"/>
          </a:xfrm>
          <a:prstGeom prst="rect">
            <a:avLst/>
          </a:prstGeom>
          <a:noFill/>
        </p:spPr>
        <p:txBody>
          <a:bodyPr wrap="none" lIns="0" rIns="0" tIns="0" bIns="0" anchor="t">
            <a:noAutofit/>
          </a:bodyPr>
          <a:lstStyle/>
          <a:p>
            <a:pPr algn="l">
              <a:lnSpc>
                <a:spcPts val="975"/>
              </a:lnSpc>
              <a:spcBef>
                <a:spcPts val="0"/>
              </a:spcBef>
              <a:spcAft>
                <a:spcPts val="0"/>
              </a:spcAft>
            </a:pPr>
            <a:r>
              <a:rPr sz="712" b="1" i="0" spc="15">
                <a:solidFill>
                  <a:srgbClr val="1B1A1A"/>
                </a:solidFill>
                <a:latin typeface="Quicksand"/>
              </a:rPr>
              <a:t>Thrive</a:t>
            </a:r>
          </a:p>
        </p:txBody>
      </p:sp>
      <p:sp>
        <p:nvSpPr>
          <p:cNvPr id="42" name="Panel"/>
          <p:cNvSpPr/>
          <p:nvPr/>
        </p:nvSpPr>
        <p:spPr>
          <a:xfrm>
            <a:off x="985689" y="5529262"/>
            <a:ext cx="723156" cy="190500"/>
          </a:xfrm>
          <a:prstGeom prst="rect">
            <a:avLst/>
          </a:prstGeom>
          <a:solidFill>
            <a:srgbClr val="FFFFFF"/>
          </a:solidFill>
          <a:ln w="9525">
            <a:solidFill>
              <a:srgbClr val="E3DCD3"/>
            </a:solidFill>
          </a:ln>
        </p:spPr>
        <p:txBody>
          <a:bodyPr rtlCol="0" anchor="ctr"/>
          <a:lstStyle/>
          <a:p>
            <a:pPr algn="ctr"/>
          </a:p>
        </p:txBody>
      </p:sp>
      <p:sp>
        <p:nvSpPr>
          <p:cNvPr id="43" name="TextBox 42"/>
          <p:cNvSpPr txBox="1"/>
          <p:nvPr/>
        </p:nvSpPr>
        <p:spPr>
          <a:xfrm>
            <a:off x="1047601" y="5549170"/>
            <a:ext cx="656481" cy="114300"/>
          </a:xfrm>
          <a:prstGeom prst="rect">
            <a:avLst/>
          </a:prstGeom>
          <a:noFill/>
        </p:spPr>
        <p:txBody>
          <a:bodyPr wrap="none" lIns="0" rIns="0" tIns="0" bIns="0" anchor="t">
            <a:noAutofit/>
          </a:bodyPr>
          <a:lstStyle/>
          <a:p>
            <a:pPr algn="l">
              <a:lnSpc>
                <a:spcPts val="975"/>
              </a:lnSpc>
              <a:spcBef>
                <a:spcPts val="0"/>
              </a:spcBef>
              <a:spcAft>
                <a:spcPts val="0"/>
              </a:spcAft>
            </a:pPr>
            <a:r>
              <a:rPr sz="712" b="1" i="0" spc="15">
                <a:solidFill>
                  <a:srgbClr val="1B1A1A"/>
                </a:solidFill>
                <a:latin typeface="Quicksand"/>
              </a:rPr>
              <a:t>CompassMSP</a:t>
            </a:r>
          </a:p>
        </p:txBody>
      </p:sp>
      <p:sp>
        <p:nvSpPr>
          <p:cNvPr id="44" name="Panel"/>
          <p:cNvSpPr/>
          <p:nvPr/>
        </p:nvSpPr>
        <p:spPr>
          <a:xfrm>
            <a:off x="519112" y="5776912"/>
            <a:ext cx="486817" cy="190500"/>
          </a:xfrm>
          <a:prstGeom prst="rect">
            <a:avLst/>
          </a:prstGeom>
          <a:solidFill>
            <a:srgbClr val="FFFFFF"/>
          </a:solidFill>
          <a:ln w="9525">
            <a:solidFill>
              <a:srgbClr val="E3DCD3"/>
            </a:solidFill>
          </a:ln>
        </p:spPr>
        <p:txBody>
          <a:bodyPr rtlCol="0" anchor="ctr"/>
          <a:lstStyle/>
          <a:p>
            <a:pPr algn="ctr"/>
          </a:p>
        </p:txBody>
      </p:sp>
      <p:sp>
        <p:nvSpPr>
          <p:cNvPr id="45" name="TextBox 44"/>
          <p:cNvSpPr txBox="1"/>
          <p:nvPr/>
        </p:nvSpPr>
        <p:spPr>
          <a:xfrm>
            <a:off x="581025" y="5796820"/>
            <a:ext cx="420142" cy="114300"/>
          </a:xfrm>
          <a:prstGeom prst="rect">
            <a:avLst/>
          </a:prstGeom>
          <a:noFill/>
        </p:spPr>
        <p:txBody>
          <a:bodyPr wrap="none" lIns="0" rIns="0" tIns="0" bIns="0" anchor="t">
            <a:noAutofit/>
          </a:bodyPr>
          <a:lstStyle/>
          <a:p>
            <a:pPr algn="l">
              <a:lnSpc>
                <a:spcPts val="975"/>
              </a:lnSpc>
              <a:spcBef>
                <a:spcPts val="0"/>
              </a:spcBef>
              <a:spcAft>
                <a:spcPts val="0"/>
              </a:spcAft>
            </a:pPr>
            <a:r>
              <a:rPr sz="712" b="1" i="0" spc="15">
                <a:solidFill>
                  <a:srgbClr val="1B1A1A"/>
                </a:solidFill>
                <a:latin typeface="Quicksand"/>
              </a:rPr>
              <a:t>Magna5</a:t>
            </a:r>
          </a:p>
        </p:txBody>
      </p:sp>
      <p:sp>
        <p:nvSpPr>
          <p:cNvPr id="46" name="Panel"/>
          <p:cNvSpPr/>
          <p:nvPr/>
        </p:nvSpPr>
        <p:spPr>
          <a:xfrm>
            <a:off x="519112" y="6024562"/>
            <a:ext cx="1257300" cy="314325"/>
          </a:xfrm>
          <a:prstGeom prst="rect">
            <a:avLst/>
          </a:prstGeom>
          <a:solidFill>
            <a:srgbClr val="FFFFFF"/>
          </a:solidFill>
          <a:ln w="9525">
            <a:solidFill>
              <a:srgbClr val="E3DCD3"/>
            </a:solidFill>
          </a:ln>
        </p:spPr>
        <p:txBody>
          <a:bodyPr rtlCol="0" anchor="ctr"/>
          <a:lstStyle/>
          <a:p>
            <a:pPr algn="ctr"/>
          </a:p>
        </p:txBody>
      </p:sp>
      <p:sp>
        <p:nvSpPr>
          <p:cNvPr id="47" name="TextBox 46"/>
          <p:cNvSpPr txBox="1"/>
          <p:nvPr/>
        </p:nvSpPr>
        <p:spPr>
          <a:xfrm>
            <a:off x="581025" y="6044470"/>
            <a:ext cx="1209675" cy="238125"/>
          </a:xfrm>
          <a:prstGeom prst="rect">
            <a:avLst/>
          </a:prstGeom>
          <a:noFill/>
        </p:spPr>
        <p:txBody>
          <a:bodyPr wrap="square" lIns="0" rIns="0" tIns="0" bIns="0" anchor="t">
            <a:noAutofit/>
          </a:bodyPr>
          <a:lstStyle/>
          <a:p>
            <a:pPr algn="l">
              <a:lnSpc>
                <a:spcPts val="975"/>
              </a:lnSpc>
              <a:spcBef>
                <a:spcPts val="0"/>
              </a:spcBef>
              <a:spcAft>
                <a:spcPts val="0"/>
              </a:spcAft>
            </a:pPr>
            <a:r>
              <a:rPr sz="712" b="1" i="0" spc="15">
                <a:solidFill>
                  <a:srgbClr val="1B1A1A"/>
                </a:solidFill>
                <a:latin typeface="Quicksand"/>
              </a:rPr>
              <a:t>New Charter Technologies</a:t>
            </a:r>
          </a:p>
        </p:txBody>
      </p:sp>
      <p:sp>
        <p:nvSpPr>
          <p:cNvPr id="48" name="Panel"/>
          <p:cNvSpPr/>
          <p:nvPr/>
        </p:nvSpPr>
        <p:spPr>
          <a:xfrm>
            <a:off x="519112" y="6396038"/>
            <a:ext cx="392609" cy="190500"/>
          </a:xfrm>
          <a:prstGeom prst="rect">
            <a:avLst/>
          </a:prstGeom>
          <a:solidFill>
            <a:srgbClr val="FFFFFF"/>
          </a:solidFill>
          <a:ln w="9525">
            <a:solidFill>
              <a:srgbClr val="E3DCD3"/>
            </a:solidFill>
          </a:ln>
        </p:spPr>
        <p:txBody>
          <a:bodyPr rtlCol="0" anchor="ctr"/>
          <a:lstStyle/>
          <a:p>
            <a:pPr algn="ctr"/>
          </a:p>
        </p:txBody>
      </p:sp>
      <p:sp>
        <p:nvSpPr>
          <p:cNvPr id="49" name="TextBox 48"/>
          <p:cNvSpPr txBox="1"/>
          <p:nvPr/>
        </p:nvSpPr>
        <p:spPr>
          <a:xfrm>
            <a:off x="581025" y="6415945"/>
            <a:ext cx="325934" cy="114300"/>
          </a:xfrm>
          <a:prstGeom prst="rect">
            <a:avLst/>
          </a:prstGeom>
          <a:noFill/>
        </p:spPr>
        <p:txBody>
          <a:bodyPr wrap="none" lIns="0" rIns="0" tIns="0" bIns="0" anchor="t">
            <a:noAutofit/>
          </a:bodyPr>
          <a:lstStyle/>
          <a:p>
            <a:pPr algn="l">
              <a:lnSpc>
                <a:spcPts val="975"/>
              </a:lnSpc>
              <a:spcBef>
                <a:spcPts val="0"/>
              </a:spcBef>
              <a:spcAft>
                <a:spcPts val="0"/>
              </a:spcAft>
            </a:pPr>
            <a:r>
              <a:rPr sz="712" b="1" i="0" spc="15">
                <a:solidFill>
                  <a:srgbClr val="1B1A1A"/>
                </a:solidFill>
                <a:latin typeface="Quicksand"/>
              </a:rPr>
              <a:t>Arctiq</a:t>
            </a:r>
          </a:p>
        </p:txBody>
      </p:sp>
      <p:sp>
        <p:nvSpPr>
          <p:cNvPr id="50" name="Panel"/>
          <p:cNvSpPr/>
          <p:nvPr/>
        </p:nvSpPr>
        <p:spPr>
          <a:xfrm>
            <a:off x="968871" y="6396038"/>
            <a:ext cx="706338" cy="190500"/>
          </a:xfrm>
          <a:prstGeom prst="rect">
            <a:avLst/>
          </a:prstGeom>
          <a:solidFill>
            <a:srgbClr val="FFFFFF"/>
          </a:solidFill>
          <a:ln w="9525">
            <a:solidFill>
              <a:srgbClr val="E3DCD3"/>
            </a:solidFill>
          </a:ln>
        </p:spPr>
        <p:txBody>
          <a:bodyPr rtlCol="0" anchor="ctr"/>
          <a:lstStyle/>
          <a:p>
            <a:pPr algn="ctr"/>
          </a:p>
        </p:txBody>
      </p:sp>
      <p:sp>
        <p:nvSpPr>
          <p:cNvPr id="51" name="TextBox 50"/>
          <p:cNvSpPr txBox="1"/>
          <p:nvPr/>
        </p:nvSpPr>
        <p:spPr>
          <a:xfrm>
            <a:off x="1030784" y="6415945"/>
            <a:ext cx="639663" cy="114300"/>
          </a:xfrm>
          <a:prstGeom prst="rect">
            <a:avLst/>
          </a:prstGeom>
          <a:noFill/>
        </p:spPr>
        <p:txBody>
          <a:bodyPr wrap="none" lIns="0" rIns="0" tIns="0" bIns="0" anchor="t">
            <a:noAutofit/>
          </a:bodyPr>
          <a:lstStyle/>
          <a:p>
            <a:pPr algn="l">
              <a:lnSpc>
                <a:spcPts val="975"/>
              </a:lnSpc>
              <a:spcBef>
                <a:spcPts val="0"/>
              </a:spcBef>
              <a:spcAft>
                <a:spcPts val="0"/>
              </a:spcAft>
            </a:pPr>
            <a:r>
              <a:rPr sz="712" b="1" i="0" spc="15">
                <a:solidFill>
                  <a:srgbClr val="1B1A1A"/>
                </a:solidFill>
                <a:latin typeface="Quicksand"/>
              </a:rPr>
              <a:t>11:11 Systems</a:t>
            </a:r>
          </a:p>
        </p:txBody>
      </p:sp>
      <p:sp>
        <p:nvSpPr>
          <p:cNvPr id="52" name="Panel"/>
          <p:cNvSpPr/>
          <p:nvPr/>
        </p:nvSpPr>
        <p:spPr>
          <a:xfrm>
            <a:off x="519112" y="6643688"/>
            <a:ext cx="1222028" cy="190500"/>
          </a:xfrm>
          <a:prstGeom prst="rect">
            <a:avLst/>
          </a:prstGeom>
          <a:solidFill>
            <a:srgbClr val="FFFFFF"/>
          </a:solidFill>
          <a:ln w="9525">
            <a:solidFill>
              <a:srgbClr val="E3DCD3"/>
            </a:solidFill>
          </a:ln>
        </p:spPr>
        <p:txBody>
          <a:bodyPr rtlCol="0" anchor="ctr"/>
          <a:lstStyle/>
          <a:p>
            <a:pPr algn="ctr"/>
          </a:p>
        </p:txBody>
      </p:sp>
      <p:sp>
        <p:nvSpPr>
          <p:cNvPr id="53" name="TextBox 52"/>
          <p:cNvSpPr txBox="1"/>
          <p:nvPr/>
        </p:nvSpPr>
        <p:spPr>
          <a:xfrm>
            <a:off x="581025" y="6663595"/>
            <a:ext cx="1155353" cy="114300"/>
          </a:xfrm>
          <a:prstGeom prst="rect">
            <a:avLst/>
          </a:prstGeom>
          <a:noFill/>
        </p:spPr>
        <p:txBody>
          <a:bodyPr wrap="none" lIns="0" rIns="0" tIns="0" bIns="0" anchor="t">
            <a:noAutofit/>
          </a:bodyPr>
          <a:lstStyle/>
          <a:p>
            <a:pPr algn="l">
              <a:lnSpc>
                <a:spcPts val="975"/>
              </a:lnSpc>
              <a:spcBef>
                <a:spcPts val="0"/>
              </a:spcBef>
              <a:spcAft>
                <a:spcPts val="0"/>
              </a:spcAft>
            </a:pPr>
            <a:r>
              <a:rPr sz="712" b="1" i="0" spc="15">
                <a:solidFill>
                  <a:srgbClr val="1B1A1A"/>
                </a:solidFill>
                <a:latin typeface="Quicksand"/>
              </a:rPr>
              <a:t>Park Place Technologies</a:t>
            </a:r>
          </a:p>
        </p:txBody>
      </p:sp>
      <p:sp>
        <p:nvSpPr>
          <p:cNvPr id="54" name="Panel"/>
          <p:cNvSpPr/>
          <p:nvPr/>
        </p:nvSpPr>
        <p:spPr>
          <a:xfrm>
            <a:off x="1971675" y="1238250"/>
            <a:ext cx="1457325" cy="5695950"/>
          </a:xfrm>
          <a:prstGeom prst="rect">
            <a:avLst/>
          </a:prstGeom>
          <a:solidFill>
            <a:srgbClr val="FAF7F3"/>
          </a:solidFill>
          <a:ln>
            <a:noFill/>
          </a:ln>
        </p:spPr>
        <p:txBody>
          <a:bodyPr rtlCol="0" anchor="ctr"/>
          <a:lstStyle/>
          <a:p>
            <a:pPr algn="ctr"/>
          </a:p>
        </p:txBody>
      </p:sp>
      <p:sp>
        <p:nvSpPr>
          <p:cNvPr id="55" name="Panel"/>
          <p:cNvSpPr/>
          <p:nvPr/>
        </p:nvSpPr>
        <p:spPr>
          <a:xfrm>
            <a:off x="1971675" y="1238250"/>
            <a:ext cx="1457325" cy="552450"/>
          </a:xfrm>
          <a:prstGeom prst="rect">
            <a:avLst/>
          </a:prstGeom>
          <a:solidFill>
            <a:srgbClr val="1B1A1A"/>
          </a:solidFill>
          <a:ln>
            <a:noFill/>
          </a:ln>
        </p:spPr>
        <p:txBody>
          <a:bodyPr rtlCol="0" anchor="ctr"/>
          <a:lstStyle/>
          <a:p>
            <a:pPr algn="ctr"/>
          </a:p>
        </p:txBody>
      </p:sp>
      <p:pic>
        <p:nvPicPr>
          <p:cNvPr id="56" name="Graphic" descr="S11_r4.png"/>
          <p:cNvPicPr>
            <a:picLocks noChangeAspect="1"/>
          </p:cNvPicPr>
          <p:nvPr/>
        </p:nvPicPr>
        <p:blipFill>
          <a:blip r:embed="rId12"/>
          <a:stretch>
            <a:fillRect/>
          </a:stretch>
        </p:blipFill>
        <p:spPr>
          <a:xfrm>
            <a:off x="2066925" y="1400175"/>
            <a:ext cx="228600" cy="228600"/>
          </a:xfrm>
          <a:prstGeom prst="rect">
            <a:avLst/>
          </a:prstGeom>
        </p:spPr>
      </p:pic>
      <p:sp>
        <p:nvSpPr>
          <p:cNvPr id="57" name="TextBox 56"/>
          <p:cNvSpPr txBox="1"/>
          <p:nvPr/>
        </p:nvSpPr>
        <p:spPr>
          <a:xfrm>
            <a:off x="2371725" y="1440466"/>
            <a:ext cx="889546" cy="104775"/>
          </a:xfrm>
          <a:prstGeom prst="rect">
            <a:avLst/>
          </a:prstGeom>
          <a:noFill/>
        </p:spPr>
        <p:txBody>
          <a:bodyPr wrap="none" lIns="0" rIns="0" tIns="0" bIns="0" anchor="t">
            <a:noAutofit/>
          </a:bodyPr>
          <a:lstStyle/>
          <a:p>
            <a:pPr algn="l">
              <a:lnSpc>
                <a:spcPts val="938"/>
              </a:lnSpc>
              <a:spcBef>
                <a:spcPts val="0"/>
              </a:spcBef>
              <a:spcAft>
                <a:spcPts val="0"/>
              </a:spcAft>
            </a:pPr>
            <a:r>
              <a:rPr sz="675" b="1" i="0" spc="98">
                <a:solidFill>
                  <a:srgbClr val="FFFFFF"/>
                </a:solidFill>
                <a:latin typeface="Quicksand"/>
              </a:rPr>
              <a:t>CYBERSECURITY</a:t>
            </a:r>
          </a:p>
        </p:txBody>
      </p:sp>
      <p:sp>
        <p:nvSpPr>
          <p:cNvPr id="58" name="TextBox 57"/>
          <p:cNvSpPr txBox="1"/>
          <p:nvPr/>
        </p:nvSpPr>
        <p:spPr>
          <a:xfrm>
            <a:off x="2066925" y="1883664"/>
            <a:ext cx="1063972" cy="95250"/>
          </a:xfrm>
          <a:prstGeom prst="rect">
            <a:avLst/>
          </a:prstGeom>
          <a:noFill/>
        </p:spPr>
        <p:txBody>
          <a:bodyPr wrap="none" lIns="0" rIns="0" tIns="0" bIns="0" anchor="t">
            <a:noAutofit/>
          </a:bodyPr>
          <a:lstStyle/>
          <a:p>
            <a:pPr algn="l">
              <a:lnSpc>
                <a:spcPts val="975"/>
              </a:lnSpc>
              <a:spcBef>
                <a:spcPts val="0"/>
              </a:spcBef>
              <a:spcAft>
                <a:spcPts val="0"/>
              </a:spcAft>
            </a:pPr>
            <a:r>
              <a:rPr sz="600" b="1" i="0" spc="150">
                <a:solidFill>
                  <a:srgbClr val="8C6239"/>
                </a:solidFill>
                <a:latin typeface="Quicksand"/>
              </a:rPr>
              <a:t>LISTED COMPANIES</a:t>
            </a:r>
          </a:p>
        </p:txBody>
      </p:sp>
      <p:pic>
        <p:nvPicPr>
          <p:cNvPr id="59" name="CrowdStrike" descr="CrowdStrike"/>
          <p:cNvPicPr>
            <a:picLocks noChangeAspect="1"/>
          </p:cNvPicPr>
          <p:nvPr/>
        </p:nvPicPr>
        <p:blipFill>
          <a:blip r:embed="rId13"/>
          <a:stretch>
            <a:fillRect/>
          </a:stretch>
        </p:blipFill>
        <p:spPr>
          <a:xfrm>
            <a:off x="2066925" y="2102644"/>
            <a:ext cx="171450" cy="171450"/>
          </a:xfrm>
          <a:prstGeom prst="rect">
            <a:avLst/>
          </a:prstGeom>
        </p:spPr>
      </p:pic>
      <p:sp>
        <p:nvSpPr>
          <p:cNvPr id="60" name="TextBox 59"/>
          <p:cNvSpPr txBox="1"/>
          <p:nvPr/>
        </p:nvSpPr>
        <p:spPr>
          <a:xfrm>
            <a:off x="2295525" y="2104549"/>
            <a:ext cx="607368" cy="123825"/>
          </a:xfrm>
          <a:prstGeom prst="rect">
            <a:avLst/>
          </a:prstGeom>
          <a:noFill/>
        </p:spPr>
        <p:txBody>
          <a:bodyPr wrap="none" lIns="0" rIns="0" tIns="0" bIns="0" anchor="t">
            <a:noAutofit/>
          </a:bodyPr>
          <a:lstStyle/>
          <a:p>
            <a:pPr algn="l">
              <a:lnSpc>
                <a:spcPts val="1050"/>
              </a:lnSpc>
              <a:spcBef>
                <a:spcPts val="0"/>
              </a:spcBef>
              <a:spcAft>
                <a:spcPts val="0"/>
              </a:spcAft>
            </a:pPr>
            <a:r>
              <a:rPr sz="750" b="0" i="0" spc="15">
                <a:solidFill>
                  <a:srgbClr val="333231"/>
                </a:solidFill>
                <a:latin typeface="Quicksand"/>
              </a:rPr>
              <a:t>CrowdStrike</a:t>
            </a:r>
          </a:p>
        </p:txBody>
      </p:sp>
      <p:pic>
        <p:nvPicPr>
          <p:cNvPr id="61" name="Palo Alto Networks" descr="Palo Alto Networks"/>
          <p:cNvPicPr>
            <a:picLocks noChangeAspect="1"/>
          </p:cNvPicPr>
          <p:nvPr/>
        </p:nvPicPr>
        <p:blipFill>
          <a:blip r:embed="rId14"/>
          <a:stretch>
            <a:fillRect/>
          </a:stretch>
        </p:blipFill>
        <p:spPr>
          <a:xfrm>
            <a:off x="2066925" y="2326481"/>
            <a:ext cx="171450" cy="171450"/>
          </a:xfrm>
          <a:prstGeom prst="rect">
            <a:avLst/>
          </a:prstGeom>
        </p:spPr>
      </p:pic>
      <p:sp>
        <p:nvSpPr>
          <p:cNvPr id="62" name="TextBox 61"/>
          <p:cNvSpPr txBox="1"/>
          <p:nvPr/>
        </p:nvSpPr>
        <p:spPr>
          <a:xfrm>
            <a:off x="2295525" y="2328386"/>
            <a:ext cx="928836" cy="123825"/>
          </a:xfrm>
          <a:prstGeom prst="rect">
            <a:avLst/>
          </a:prstGeom>
          <a:noFill/>
        </p:spPr>
        <p:txBody>
          <a:bodyPr wrap="none" lIns="0" rIns="0" tIns="0" bIns="0" anchor="t">
            <a:noAutofit/>
          </a:bodyPr>
          <a:lstStyle/>
          <a:p>
            <a:pPr algn="l">
              <a:lnSpc>
                <a:spcPts val="1050"/>
              </a:lnSpc>
              <a:spcBef>
                <a:spcPts val="0"/>
              </a:spcBef>
              <a:spcAft>
                <a:spcPts val="0"/>
              </a:spcAft>
            </a:pPr>
            <a:r>
              <a:rPr sz="750" b="0" i="0" spc="15">
                <a:solidFill>
                  <a:srgbClr val="333231"/>
                </a:solidFill>
                <a:latin typeface="Quicksand"/>
              </a:rPr>
              <a:t>Palo Alto Networks</a:t>
            </a:r>
          </a:p>
        </p:txBody>
      </p:sp>
      <p:pic>
        <p:nvPicPr>
          <p:cNvPr id="63" name="Fortinet" descr="Fortinet"/>
          <p:cNvPicPr>
            <a:picLocks noChangeAspect="1"/>
          </p:cNvPicPr>
          <p:nvPr/>
        </p:nvPicPr>
        <p:blipFill>
          <a:blip r:embed="rId15"/>
          <a:stretch>
            <a:fillRect/>
          </a:stretch>
        </p:blipFill>
        <p:spPr>
          <a:xfrm>
            <a:off x="2066925" y="2550319"/>
            <a:ext cx="171450" cy="171450"/>
          </a:xfrm>
          <a:prstGeom prst="rect">
            <a:avLst/>
          </a:prstGeom>
        </p:spPr>
      </p:pic>
      <p:sp>
        <p:nvSpPr>
          <p:cNvPr id="64" name="TextBox 63"/>
          <p:cNvSpPr txBox="1"/>
          <p:nvPr/>
        </p:nvSpPr>
        <p:spPr>
          <a:xfrm>
            <a:off x="2295525" y="2552224"/>
            <a:ext cx="412998" cy="123825"/>
          </a:xfrm>
          <a:prstGeom prst="rect">
            <a:avLst/>
          </a:prstGeom>
          <a:noFill/>
        </p:spPr>
        <p:txBody>
          <a:bodyPr wrap="none" lIns="0" rIns="0" tIns="0" bIns="0" anchor="t">
            <a:noAutofit/>
          </a:bodyPr>
          <a:lstStyle/>
          <a:p>
            <a:pPr algn="l">
              <a:lnSpc>
                <a:spcPts val="1050"/>
              </a:lnSpc>
              <a:spcBef>
                <a:spcPts val="0"/>
              </a:spcBef>
              <a:spcAft>
                <a:spcPts val="0"/>
              </a:spcAft>
            </a:pPr>
            <a:r>
              <a:rPr sz="750" b="0" i="0" spc="15">
                <a:solidFill>
                  <a:srgbClr val="333231"/>
                </a:solidFill>
                <a:latin typeface="Quicksand"/>
              </a:rPr>
              <a:t>Fortinet</a:t>
            </a:r>
          </a:p>
        </p:txBody>
      </p:sp>
      <p:pic>
        <p:nvPicPr>
          <p:cNvPr id="65" name="Zscaler" descr="Zscaler"/>
          <p:cNvPicPr>
            <a:picLocks noChangeAspect="1"/>
          </p:cNvPicPr>
          <p:nvPr/>
        </p:nvPicPr>
        <p:blipFill>
          <a:blip r:embed="rId16"/>
          <a:stretch>
            <a:fillRect/>
          </a:stretch>
        </p:blipFill>
        <p:spPr>
          <a:xfrm>
            <a:off x="2066925" y="2774156"/>
            <a:ext cx="171450" cy="171450"/>
          </a:xfrm>
          <a:prstGeom prst="rect">
            <a:avLst/>
          </a:prstGeom>
        </p:spPr>
      </p:pic>
      <p:sp>
        <p:nvSpPr>
          <p:cNvPr id="66" name="TextBox 65"/>
          <p:cNvSpPr txBox="1"/>
          <p:nvPr/>
        </p:nvSpPr>
        <p:spPr>
          <a:xfrm>
            <a:off x="2295525" y="2776061"/>
            <a:ext cx="395139" cy="123825"/>
          </a:xfrm>
          <a:prstGeom prst="rect">
            <a:avLst/>
          </a:prstGeom>
          <a:noFill/>
        </p:spPr>
        <p:txBody>
          <a:bodyPr wrap="none" lIns="0" rIns="0" tIns="0" bIns="0" anchor="t">
            <a:noAutofit/>
          </a:bodyPr>
          <a:lstStyle/>
          <a:p>
            <a:pPr algn="l">
              <a:lnSpc>
                <a:spcPts val="1050"/>
              </a:lnSpc>
              <a:spcBef>
                <a:spcPts val="0"/>
              </a:spcBef>
              <a:spcAft>
                <a:spcPts val="0"/>
              </a:spcAft>
            </a:pPr>
            <a:r>
              <a:rPr sz="750" b="0" i="0" spc="15">
                <a:solidFill>
                  <a:srgbClr val="333231"/>
                </a:solidFill>
                <a:latin typeface="Quicksand"/>
              </a:rPr>
              <a:t>Zscaler</a:t>
            </a:r>
          </a:p>
        </p:txBody>
      </p:sp>
      <p:pic>
        <p:nvPicPr>
          <p:cNvPr id="67" name="Okta" descr="Okta"/>
          <p:cNvPicPr>
            <a:picLocks noChangeAspect="1"/>
          </p:cNvPicPr>
          <p:nvPr/>
        </p:nvPicPr>
        <p:blipFill>
          <a:blip r:embed="rId17"/>
          <a:stretch>
            <a:fillRect/>
          </a:stretch>
        </p:blipFill>
        <p:spPr>
          <a:xfrm>
            <a:off x="2066925" y="2997994"/>
            <a:ext cx="171450" cy="171450"/>
          </a:xfrm>
          <a:prstGeom prst="rect">
            <a:avLst/>
          </a:prstGeom>
        </p:spPr>
      </p:pic>
      <p:sp>
        <p:nvSpPr>
          <p:cNvPr id="68" name="TextBox 67"/>
          <p:cNvSpPr txBox="1"/>
          <p:nvPr/>
        </p:nvSpPr>
        <p:spPr>
          <a:xfrm>
            <a:off x="2295525" y="2999899"/>
            <a:ext cx="278755" cy="123825"/>
          </a:xfrm>
          <a:prstGeom prst="rect">
            <a:avLst/>
          </a:prstGeom>
          <a:noFill/>
        </p:spPr>
        <p:txBody>
          <a:bodyPr wrap="none" lIns="0" rIns="0" tIns="0" bIns="0" anchor="t">
            <a:noAutofit/>
          </a:bodyPr>
          <a:lstStyle/>
          <a:p>
            <a:pPr algn="l">
              <a:lnSpc>
                <a:spcPts val="1050"/>
              </a:lnSpc>
              <a:spcBef>
                <a:spcPts val="0"/>
              </a:spcBef>
              <a:spcAft>
                <a:spcPts val="0"/>
              </a:spcAft>
            </a:pPr>
            <a:r>
              <a:rPr sz="750" b="0" i="0" spc="15">
                <a:solidFill>
                  <a:srgbClr val="333231"/>
                </a:solidFill>
                <a:latin typeface="Quicksand"/>
              </a:rPr>
              <a:t>Okta</a:t>
            </a:r>
          </a:p>
        </p:txBody>
      </p:sp>
      <p:pic>
        <p:nvPicPr>
          <p:cNvPr id="69" name="Tenable" descr="Tenable"/>
          <p:cNvPicPr>
            <a:picLocks noChangeAspect="1"/>
          </p:cNvPicPr>
          <p:nvPr/>
        </p:nvPicPr>
        <p:blipFill>
          <a:blip r:embed="rId18"/>
          <a:stretch>
            <a:fillRect/>
          </a:stretch>
        </p:blipFill>
        <p:spPr>
          <a:xfrm>
            <a:off x="2066925" y="3221831"/>
            <a:ext cx="171450" cy="171450"/>
          </a:xfrm>
          <a:prstGeom prst="rect">
            <a:avLst/>
          </a:prstGeom>
        </p:spPr>
      </p:pic>
      <p:sp>
        <p:nvSpPr>
          <p:cNvPr id="70" name="TextBox 69"/>
          <p:cNvSpPr txBox="1"/>
          <p:nvPr/>
        </p:nvSpPr>
        <p:spPr>
          <a:xfrm>
            <a:off x="2295525" y="3223736"/>
            <a:ext cx="415677" cy="123825"/>
          </a:xfrm>
          <a:prstGeom prst="rect">
            <a:avLst/>
          </a:prstGeom>
          <a:noFill/>
        </p:spPr>
        <p:txBody>
          <a:bodyPr wrap="none" lIns="0" rIns="0" tIns="0" bIns="0" anchor="t">
            <a:noAutofit/>
          </a:bodyPr>
          <a:lstStyle/>
          <a:p>
            <a:pPr algn="l">
              <a:lnSpc>
                <a:spcPts val="1050"/>
              </a:lnSpc>
              <a:spcBef>
                <a:spcPts val="0"/>
              </a:spcBef>
              <a:spcAft>
                <a:spcPts val="0"/>
              </a:spcAft>
            </a:pPr>
            <a:r>
              <a:rPr sz="750" b="0" i="0" spc="15">
                <a:solidFill>
                  <a:srgbClr val="333231"/>
                </a:solidFill>
                <a:latin typeface="Quicksand"/>
              </a:rPr>
              <a:t>Tenable</a:t>
            </a:r>
          </a:p>
        </p:txBody>
      </p:sp>
      <p:pic>
        <p:nvPicPr>
          <p:cNvPr id="71" name="Qualys" descr="Qualys"/>
          <p:cNvPicPr>
            <a:picLocks noChangeAspect="1"/>
          </p:cNvPicPr>
          <p:nvPr/>
        </p:nvPicPr>
        <p:blipFill>
          <a:blip r:embed="rId19"/>
          <a:stretch>
            <a:fillRect/>
          </a:stretch>
        </p:blipFill>
        <p:spPr>
          <a:xfrm>
            <a:off x="2066925" y="3445669"/>
            <a:ext cx="171450" cy="171450"/>
          </a:xfrm>
          <a:prstGeom prst="rect">
            <a:avLst/>
          </a:prstGeom>
        </p:spPr>
      </p:pic>
      <p:sp>
        <p:nvSpPr>
          <p:cNvPr id="72" name="TextBox 71"/>
          <p:cNvSpPr txBox="1"/>
          <p:nvPr/>
        </p:nvSpPr>
        <p:spPr>
          <a:xfrm>
            <a:off x="2295525" y="3447574"/>
            <a:ext cx="372666" cy="123825"/>
          </a:xfrm>
          <a:prstGeom prst="rect">
            <a:avLst/>
          </a:prstGeom>
          <a:noFill/>
        </p:spPr>
        <p:txBody>
          <a:bodyPr wrap="none" lIns="0" rIns="0" tIns="0" bIns="0" anchor="t">
            <a:noAutofit/>
          </a:bodyPr>
          <a:lstStyle/>
          <a:p>
            <a:pPr algn="l">
              <a:lnSpc>
                <a:spcPts val="1050"/>
              </a:lnSpc>
              <a:spcBef>
                <a:spcPts val="0"/>
              </a:spcBef>
              <a:spcAft>
                <a:spcPts val="0"/>
              </a:spcAft>
            </a:pPr>
            <a:r>
              <a:rPr sz="750" b="0" i="0" spc="15">
                <a:solidFill>
                  <a:srgbClr val="333231"/>
                </a:solidFill>
                <a:latin typeface="Quicksand"/>
              </a:rPr>
              <a:t>Qualys</a:t>
            </a:r>
          </a:p>
        </p:txBody>
      </p:sp>
      <p:pic>
        <p:nvPicPr>
          <p:cNvPr id="73" name="Check Point" descr="Check Point"/>
          <p:cNvPicPr>
            <a:picLocks noChangeAspect="1"/>
          </p:cNvPicPr>
          <p:nvPr/>
        </p:nvPicPr>
        <p:blipFill>
          <a:blip r:embed="rId20"/>
          <a:stretch>
            <a:fillRect/>
          </a:stretch>
        </p:blipFill>
        <p:spPr>
          <a:xfrm>
            <a:off x="2066925" y="3669506"/>
            <a:ext cx="171450" cy="171450"/>
          </a:xfrm>
          <a:prstGeom prst="rect">
            <a:avLst/>
          </a:prstGeom>
        </p:spPr>
      </p:pic>
      <p:sp>
        <p:nvSpPr>
          <p:cNvPr id="74" name="TextBox 73"/>
          <p:cNvSpPr txBox="1"/>
          <p:nvPr/>
        </p:nvSpPr>
        <p:spPr>
          <a:xfrm>
            <a:off x="2295525" y="3671411"/>
            <a:ext cx="595610" cy="123825"/>
          </a:xfrm>
          <a:prstGeom prst="rect">
            <a:avLst/>
          </a:prstGeom>
          <a:noFill/>
        </p:spPr>
        <p:txBody>
          <a:bodyPr wrap="none" lIns="0" rIns="0" tIns="0" bIns="0" anchor="t">
            <a:noAutofit/>
          </a:bodyPr>
          <a:lstStyle/>
          <a:p>
            <a:pPr algn="l">
              <a:lnSpc>
                <a:spcPts val="1050"/>
              </a:lnSpc>
              <a:spcBef>
                <a:spcPts val="0"/>
              </a:spcBef>
              <a:spcAft>
                <a:spcPts val="0"/>
              </a:spcAft>
            </a:pPr>
            <a:r>
              <a:rPr sz="750" b="0" i="0" spc="15">
                <a:solidFill>
                  <a:srgbClr val="333231"/>
                </a:solidFill>
                <a:latin typeface="Quicksand"/>
              </a:rPr>
              <a:t>Check Point</a:t>
            </a:r>
          </a:p>
        </p:txBody>
      </p:sp>
      <p:sp>
        <p:nvSpPr>
          <p:cNvPr id="75" name="Rule"/>
          <p:cNvSpPr/>
          <p:nvPr/>
        </p:nvSpPr>
        <p:spPr>
          <a:xfrm>
            <a:off x="2066925" y="5229225"/>
            <a:ext cx="1266825" cy="9525"/>
          </a:xfrm>
          <a:prstGeom prst="rect">
            <a:avLst/>
          </a:prstGeom>
          <a:solidFill>
            <a:srgbClr val="E3DCD3"/>
          </a:solidFill>
          <a:ln>
            <a:noFill/>
          </a:ln>
        </p:spPr>
        <p:txBody>
          <a:bodyPr rtlCol="0" anchor="ctr"/>
          <a:lstStyle/>
          <a:p>
            <a:pPr algn="ctr"/>
          </a:p>
        </p:txBody>
      </p:sp>
      <p:sp>
        <p:nvSpPr>
          <p:cNvPr id="76" name="TextBox 75"/>
          <p:cNvSpPr txBox="1"/>
          <p:nvPr/>
        </p:nvSpPr>
        <p:spPr>
          <a:xfrm>
            <a:off x="2066925" y="5312664"/>
            <a:ext cx="1343025" cy="219075"/>
          </a:xfrm>
          <a:prstGeom prst="rect">
            <a:avLst/>
          </a:prstGeom>
          <a:noFill/>
        </p:spPr>
        <p:txBody>
          <a:bodyPr wrap="square" lIns="0" rIns="0" tIns="0" bIns="0" anchor="t">
            <a:noAutofit/>
          </a:bodyPr>
          <a:lstStyle/>
          <a:p>
            <a:pPr algn="l">
              <a:lnSpc>
                <a:spcPts val="975"/>
              </a:lnSpc>
              <a:spcBef>
                <a:spcPts val="0"/>
              </a:spcBef>
              <a:spcAft>
                <a:spcPts val="0"/>
              </a:spcAft>
            </a:pPr>
            <a:r>
              <a:rPr sz="600" b="1" i="0" spc="150">
                <a:solidFill>
                  <a:srgbClr val="8C6239"/>
                </a:solidFill>
                <a:latin typeface="Quicksand"/>
              </a:rPr>
              <a:t>SERVICE PLATFORMS AND SOFTWARE BUYERS</a:t>
            </a:r>
          </a:p>
        </p:txBody>
      </p:sp>
      <p:sp>
        <p:nvSpPr>
          <p:cNvPr id="77" name="Panel"/>
          <p:cNvSpPr/>
          <p:nvPr/>
        </p:nvSpPr>
        <p:spPr>
          <a:xfrm>
            <a:off x="2071688" y="5653088"/>
            <a:ext cx="562570" cy="190500"/>
          </a:xfrm>
          <a:prstGeom prst="rect">
            <a:avLst/>
          </a:prstGeom>
          <a:solidFill>
            <a:srgbClr val="FFFFFF"/>
          </a:solidFill>
          <a:ln w="9525">
            <a:solidFill>
              <a:srgbClr val="E3DCD3"/>
            </a:solidFill>
          </a:ln>
        </p:spPr>
        <p:txBody>
          <a:bodyPr rtlCol="0" anchor="ctr"/>
          <a:lstStyle/>
          <a:p>
            <a:pPr algn="ctr"/>
          </a:p>
        </p:txBody>
      </p:sp>
      <p:sp>
        <p:nvSpPr>
          <p:cNvPr id="78" name="TextBox 77"/>
          <p:cNvSpPr txBox="1"/>
          <p:nvPr/>
        </p:nvSpPr>
        <p:spPr>
          <a:xfrm>
            <a:off x="2133600" y="5672995"/>
            <a:ext cx="495895" cy="114300"/>
          </a:xfrm>
          <a:prstGeom prst="rect">
            <a:avLst/>
          </a:prstGeom>
          <a:noFill/>
        </p:spPr>
        <p:txBody>
          <a:bodyPr wrap="none" lIns="0" rIns="0" tIns="0" bIns="0" anchor="t">
            <a:noAutofit/>
          </a:bodyPr>
          <a:lstStyle/>
          <a:p>
            <a:pPr algn="l">
              <a:lnSpc>
                <a:spcPts val="975"/>
              </a:lnSpc>
              <a:spcBef>
                <a:spcPts val="0"/>
              </a:spcBef>
              <a:spcAft>
                <a:spcPts val="0"/>
              </a:spcAft>
            </a:pPr>
            <a:r>
              <a:rPr sz="712" b="1" i="0" spc="15">
                <a:solidFill>
                  <a:srgbClr val="1B1A1A"/>
                </a:solidFill>
                <a:latin typeface="Quicksand"/>
              </a:rPr>
              <a:t>LevelBlue</a:t>
            </a:r>
          </a:p>
        </p:txBody>
      </p:sp>
      <p:sp>
        <p:nvSpPr>
          <p:cNvPr id="79" name="Panel"/>
          <p:cNvSpPr/>
          <p:nvPr/>
        </p:nvSpPr>
        <p:spPr>
          <a:xfrm>
            <a:off x="2691408" y="5653088"/>
            <a:ext cx="619423" cy="190500"/>
          </a:xfrm>
          <a:prstGeom prst="rect">
            <a:avLst/>
          </a:prstGeom>
          <a:solidFill>
            <a:srgbClr val="FFFFFF"/>
          </a:solidFill>
          <a:ln w="9525">
            <a:solidFill>
              <a:srgbClr val="E3DCD3"/>
            </a:solidFill>
          </a:ln>
        </p:spPr>
        <p:txBody>
          <a:bodyPr rtlCol="0" anchor="ctr"/>
          <a:lstStyle/>
          <a:p>
            <a:pPr algn="ctr"/>
          </a:p>
        </p:txBody>
      </p:sp>
      <p:sp>
        <p:nvSpPr>
          <p:cNvPr id="80" name="TextBox 79"/>
          <p:cNvSpPr txBox="1"/>
          <p:nvPr/>
        </p:nvSpPr>
        <p:spPr>
          <a:xfrm>
            <a:off x="2753320" y="5672995"/>
            <a:ext cx="552748" cy="114300"/>
          </a:xfrm>
          <a:prstGeom prst="rect">
            <a:avLst/>
          </a:prstGeom>
          <a:noFill/>
        </p:spPr>
        <p:txBody>
          <a:bodyPr wrap="none" lIns="0" rIns="0" tIns="0" bIns="0" anchor="t">
            <a:noAutofit/>
          </a:bodyPr>
          <a:lstStyle/>
          <a:p>
            <a:pPr algn="l">
              <a:lnSpc>
                <a:spcPts val="975"/>
              </a:lnSpc>
              <a:spcBef>
                <a:spcPts val="0"/>
              </a:spcBef>
              <a:spcAft>
                <a:spcPts val="0"/>
              </a:spcAft>
            </a:pPr>
            <a:r>
              <a:rPr sz="712" b="1" i="0" spc="15">
                <a:solidFill>
                  <a:srgbClr val="1B1A1A"/>
                </a:solidFill>
                <a:latin typeface="Quicksand"/>
              </a:rPr>
              <a:t>CyberMaxx</a:t>
            </a:r>
          </a:p>
        </p:txBody>
      </p:sp>
      <p:sp>
        <p:nvSpPr>
          <p:cNvPr id="81" name="Panel"/>
          <p:cNvSpPr/>
          <p:nvPr/>
        </p:nvSpPr>
        <p:spPr>
          <a:xfrm>
            <a:off x="2071688" y="5900738"/>
            <a:ext cx="434280" cy="190500"/>
          </a:xfrm>
          <a:prstGeom prst="rect">
            <a:avLst/>
          </a:prstGeom>
          <a:solidFill>
            <a:srgbClr val="FFFFFF"/>
          </a:solidFill>
          <a:ln w="9525">
            <a:solidFill>
              <a:srgbClr val="E3DCD3"/>
            </a:solidFill>
          </a:ln>
        </p:spPr>
        <p:txBody>
          <a:bodyPr rtlCol="0" anchor="ctr"/>
          <a:lstStyle/>
          <a:p>
            <a:pPr algn="ctr"/>
          </a:p>
        </p:txBody>
      </p:sp>
      <p:sp>
        <p:nvSpPr>
          <p:cNvPr id="82" name="TextBox 81"/>
          <p:cNvSpPr txBox="1"/>
          <p:nvPr/>
        </p:nvSpPr>
        <p:spPr>
          <a:xfrm>
            <a:off x="2133600" y="5920645"/>
            <a:ext cx="367605" cy="114300"/>
          </a:xfrm>
          <a:prstGeom prst="rect">
            <a:avLst/>
          </a:prstGeom>
          <a:noFill/>
        </p:spPr>
        <p:txBody>
          <a:bodyPr wrap="none" lIns="0" rIns="0" tIns="0" bIns="0" anchor="t">
            <a:noAutofit/>
          </a:bodyPr>
          <a:lstStyle/>
          <a:p>
            <a:pPr algn="l">
              <a:lnSpc>
                <a:spcPts val="975"/>
              </a:lnSpc>
              <a:spcBef>
                <a:spcPts val="0"/>
              </a:spcBef>
              <a:spcAft>
                <a:spcPts val="0"/>
              </a:spcAft>
            </a:pPr>
            <a:r>
              <a:rPr sz="712" b="1" i="0" spc="15">
                <a:solidFill>
                  <a:srgbClr val="1B1A1A"/>
                </a:solidFill>
                <a:latin typeface="Quicksand"/>
              </a:rPr>
              <a:t>A-LIGN</a:t>
            </a:r>
          </a:p>
        </p:txBody>
      </p:sp>
      <p:sp>
        <p:nvSpPr>
          <p:cNvPr id="83" name="Panel"/>
          <p:cNvSpPr/>
          <p:nvPr/>
        </p:nvSpPr>
        <p:spPr>
          <a:xfrm>
            <a:off x="2563118" y="5900738"/>
            <a:ext cx="455712" cy="190500"/>
          </a:xfrm>
          <a:prstGeom prst="rect">
            <a:avLst/>
          </a:prstGeom>
          <a:solidFill>
            <a:srgbClr val="FFFFFF"/>
          </a:solidFill>
          <a:ln w="9525">
            <a:solidFill>
              <a:srgbClr val="E3DCD3"/>
            </a:solidFill>
          </a:ln>
        </p:spPr>
        <p:txBody>
          <a:bodyPr rtlCol="0" anchor="ctr"/>
          <a:lstStyle/>
          <a:p>
            <a:pPr algn="ctr"/>
          </a:p>
        </p:txBody>
      </p:sp>
      <p:sp>
        <p:nvSpPr>
          <p:cNvPr id="84" name="TextBox 83"/>
          <p:cNvSpPr txBox="1"/>
          <p:nvPr/>
        </p:nvSpPr>
        <p:spPr>
          <a:xfrm>
            <a:off x="2625030" y="5920645"/>
            <a:ext cx="389037" cy="114300"/>
          </a:xfrm>
          <a:prstGeom prst="rect">
            <a:avLst/>
          </a:prstGeom>
          <a:noFill/>
        </p:spPr>
        <p:txBody>
          <a:bodyPr wrap="none" lIns="0" rIns="0" tIns="0" bIns="0" anchor="t">
            <a:noAutofit/>
          </a:bodyPr>
          <a:lstStyle/>
          <a:p>
            <a:pPr algn="l">
              <a:lnSpc>
                <a:spcPts val="975"/>
              </a:lnSpc>
              <a:spcBef>
                <a:spcPts val="0"/>
              </a:spcBef>
              <a:spcAft>
                <a:spcPts val="0"/>
              </a:spcAft>
            </a:pPr>
            <a:r>
              <a:rPr sz="712" b="1" i="0" spc="15">
                <a:solidFill>
                  <a:srgbClr val="1B1A1A"/>
                </a:solidFill>
                <a:latin typeface="Quicksand"/>
              </a:rPr>
              <a:t>Sophos</a:t>
            </a:r>
          </a:p>
        </p:txBody>
      </p:sp>
      <p:sp>
        <p:nvSpPr>
          <p:cNvPr id="85" name="Panel"/>
          <p:cNvSpPr/>
          <p:nvPr/>
        </p:nvSpPr>
        <p:spPr>
          <a:xfrm>
            <a:off x="2071688" y="6148388"/>
            <a:ext cx="612874" cy="190500"/>
          </a:xfrm>
          <a:prstGeom prst="rect">
            <a:avLst/>
          </a:prstGeom>
          <a:solidFill>
            <a:srgbClr val="FFFFFF"/>
          </a:solidFill>
          <a:ln w="9525">
            <a:solidFill>
              <a:srgbClr val="E3DCD3"/>
            </a:solidFill>
          </a:ln>
        </p:spPr>
        <p:txBody>
          <a:bodyPr rtlCol="0" anchor="ctr"/>
          <a:lstStyle/>
          <a:p>
            <a:pPr algn="ctr"/>
          </a:p>
        </p:txBody>
      </p:sp>
      <p:sp>
        <p:nvSpPr>
          <p:cNvPr id="86" name="TextBox 85"/>
          <p:cNvSpPr txBox="1"/>
          <p:nvPr/>
        </p:nvSpPr>
        <p:spPr>
          <a:xfrm>
            <a:off x="2133600" y="6168295"/>
            <a:ext cx="546199" cy="114300"/>
          </a:xfrm>
          <a:prstGeom prst="rect">
            <a:avLst/>
          </a:prstGeom>
          <a:noFill/>
        </p:spPr>
        <p:txBody>
          <a:bodyPr wrap="none" lIns="0" rIns="0" tIns="0" bIns="0" anchor="t">
            <a:noAutofit/>
          </a:bodyPr>
          <a:lstStyle/>
          <a:p>
            <a:pPr algn="l">
              <a:lnSpc>
                <a:spcPts val="975"/>
              </a:lnSpc>
              <a:spcBef>
                <a:spcPts val="0"/>
              </a:spcBef>
              <a:spcAft>
                <a:spcPts val="0"/>
              </a:spcAft>
            </a:pPr>
            <a:r>
              <a:rPr sz="712" b="1" i="0" spc="15">
                <a:solidFill>
                  <a:srgbClr val="1B1A1A"/>
                </a:solidFill>
                <a:latin typeface="Quicksand"/>
              </a:rPr>
              <a:t>Proofpoint</a:t>
            </a:r>
          </a:p>
        </p:txBody>
      </p:sp>
      <p:sp>
        <p:nvSpPr>
          <p:cNvPr id="87" name="Panel"/>
          <p:cNvSpPr/>
          <p:nvPr/>
        </p:nvSpPr>
        <p:spPr>
          <a:xfrm>
            <a:off x="2071688" y="6396038"/>
            <a:ext cx="1068139" cy="190500"/>
          </a:xfrm>
          <a:prstGeom prst="rect">
            <a:avLst/>
          </a:prstGeom>
          <a:solidFill>
            <a:srgbClr val="FFFFFF"/>
          </a:solidFill>
          <a:ln w="9525">
            <a:solidFill>
              <a:srgbClr val="E3DCD3"/>
            </a:solidFill>
          </a:ln>
        </p:spPr>
        <p:txBody>
          <a:bodyPr rtlCol="0" anchor="ctr"/>
          <a:lstStyle/>
          <a:p>
            <a:pPr algn="ctr"/>
          </a:p>
        </p:txBody>
      </p:sp>
      <p:sp>
        <p:nvSpPr>
          <p:cNvPr id="88" name="TextBox 87"/>
          <p:cNvSpPr txBox="1"/>
          <p:nvPr/>
        </p:nvSpPr>
        <p:spPr>
          <a:xfrm>
            <a:off x="2133600" y="6415945"/>
            <a:ext cx="1001464" cy="114300"/>
          </a:xfrm>
          <a:prstGeom prst="rect">
            <a:avLst/>
          </a:prstGeom>
          <a:noFill/>
        </p:spPr>
        <p:txBody>
          <a:bodyPr wrap="none" lIns="0" rIns="0" tIns="0" bIns="0" anchor="t">
            <a:noAutofit/>
          </a:bodyPr>
          <a:lstStyle/>
          <a:p>
            <a:pPr algn="l">
              <a:lnSpc>
                <a:spcPts val="975"/>
              </a:lnSpc>
              <a:spcBef>
                <a:spcPts val="0"/>
              </a:spcBef>
              <a:spcAft>
                <a:spcPts val="0"/>
              </a:spcAft>
            </a:pPr>
            <a:r>
              <a:rPr sz="712" b="1" i="0" spc="15">
                <a:solidFill>
                  <a:srgbClr val="1B1A1A"/>
                </a:solidFill>
                <a:latin typeface="Quicksand"/>
              </a:rPr>
              <a:t>Barracuda Networks</a:t>
            </a:r>
          </a:p>
        </p:txBody>
      </p:sp>
      <p:sp>
        <p:nvSpPr>
          <p:cNvPr id="89" name="Panel"/>
          <p:cNvSpPr/>
          <p:nvPr/>
        </p:nvSpPr>
        <p:spPr>
          <a:xfrm>
            <a:off x="2071688" y="6643688"/>
            <a:ext cx="445889" cy="190500"/>
          </a:xfrm>
          <a:prstGeom prst="rect">
            <a:avLst/>
          </a:prstGeom>
          <a:solidFill>
            <a:srgbClr val="FFFFFF"/>
          </a:solidFill>
          <a:ln w="9525">
            <a:solidFill>
              <a:srgbClr val="E3DCD3"/>
            </a:solidFill>
          </a:ln>
        </p:spPr>
        <p:txBody>
          <a:bodyPr rtlCol="0" anchor="ctr"/>
          <a:lstStyle/>
          <a:p>
            <a:pPr algn="ctr"/>
          </a:p>
        </p:txBody>
      </p:sp>
      <p:sp>
        <p:nvSpPr>
          <p:cNvPr id="90" name="TextBox 89"/>
          <p:cNvSpPr txBox="1"/>
          <p:nvPr/>
        </p:nvSpPr>
        <p:spPr>
          <a:xfrm>
            <a:off x="2133600" y="6663595"/>
            <a:ext cx="379214" cy="114300"/>
          </a:xfrm>
          <a:prstGeom prst="rect">
            <a:avLst/>
          </a:prstGeom>
          <a:noFill/>
        </p:spPr>
        <p:txBody>
          <a:bodyPr wrap="none" lIns="0" rIns="0" tIns="0" bIns="0" anchor="t">
            <a:noAutofit/>
          </a:bodyPr>
          <a:lstStyle/>
          <a:p>
            <a:pPr algn="l">
              <a:lnSpc>
                <a:spcPts val="975"/>
              </a:lnSpc>
              <a:spcBef>
                <a:spcPts val="0"/>
              </a:spcBef>
              <a:spcAft>
                <a:spcPts val="0"/>
              </a:spcAft>
            </a:pPr>
            <a:r>
              <a:rPr sz="712" b="1" i="0" spc="15">
                <a:solidFill>
                  <a:srgbClr val="1B1A1A"/>
                </a:solidFill>
                <a:latin typeface="Quicksand"/>
              </a:rPr>
              <a:t>Google</a:t>
            </a:r>
          </a:p>
        </p:txBody>
      </p:sp>
      <p:sp>
        <p:nvSpPr>
          <p:cNvPr id="91" name="Panel"/>
          <p:cNvSpPr/>
          <p:nvPr/>
        </p:nvSpPr>
        <p:spPr>
          <a:xfrm>
            <a:off x="2574727" y="6643688"/>
            <a:ext cx="659309" cy="190500"/>
          </a:xfrm>
          <a:prstGeom prst="rect">
            <a:avLst/>
          </a:prstGeom>
          <a:solidFill>
            <a:srgbClr val="FFFFFF"/>
          </a:solidFill>
          <a:ln w="9525">
            <a:solidFill>
              <a:srgbClr val="E3DCD3"/>
            </a:solidFill>
          </a:ln>
        </p:spPr>
        <p:txBody>
          <a:bodyPr rtlCol="0" anchor="ctr"/>
          <a:lstStyle/>
          <a:p>
            <a:pPr algn="ctr"/>
          </a:p>
        </p:txBody>
      </p:sp>
      <p:sp>
        <p:nvSpPr>
          <p:cNvPr id="92" name="TextBox 91"/>
          <p:cNvSpPr txBox="1"/>
          <p:nvPr/>
        </p:nvSpPr>
        <p:spPr>
          <a:xfrm>
            <a:off x="2636639" y="6663595"/>
            <a:ext cx="592634" cy="114300"/>
          </a:xfrm>
          <a:prstGeom prst="rect">
            <a:avLst/>
          </a:prstGeom>
          <a:noFill/>
        </p:spPr>
        <p:txBody>
          <a:bodyPr wrap="none" lIns="0" rIns="0" tIns="0" bIns="0" anchor="t">
            <a:noAutofit/>
          </a:bodyPr>
          <a:lstStyle/>
          <a:p>
            <a:pPr algn="l">
              <a:lnSpc>
                <a:spcPts val="975"/>
              </a:lnSpc>
              <a:spcBef>
                <a:spcPts val="0"/>
              </a:spcBef>
              <a:spcAft>
                <a:spcPts val="0"/>
              </a:spcAft>
            </a:pPr>
            <a:r>
              <a:rPr sz="712" b="1" i="0" spc="15">
                <a:solidFill>
                  <a:srgbClr val="1B1A1A"/>
                </a:solidFill>
                <a:latin typeface="Quicksand"/>
              </a:rPr>
              <a:t>ServiceNow</a:t>
            </a:r>
          </a:p>
        </p:txBody>
      </p:sp>
      <p:sp>
        <p:nvSpPr>
          <p:cNvPr id="93" name="Panel"/>
          <p:cNvSpPr/>
          <p:nvPr/>
        </p:nvSpPr>
        <p:spPr>
          <a:xfrm>
            <a:off x="3524250" y="1238250"/>
            <a:ext cx="1457325" cy="5695950"/>
          </a:xfrm>
          <a:prstGeom prst="rect">
            <a:avLst/>
          </a:prstGeom>
          <a:solidFill>
            <a:srgbClr val="FAF7F3"/>
          </a:solidFill>
          <a:ln>
            <a:noFill/>
          </a:ln>
        </p:spPr>
        <p:txBody>
          <a:bodyPr rtlCol="0" anchor="ctr"/>
          <a:lstStyle/>
          <a:p>
            <a:pPr algn="ctr"/>
          </a:p>
        </p:txBody>
      </p:sp>
      <p:sp>
        <p:nvSpPr>
          <p:cNvPr id="94" name="Panel"/>
          <p:cNvSpPr/>
          <p:nvPr/>
        </p:nvSpPr>
        <p:spPr>
          <a:xfrm>
            <a:off x="3524250" y="1238250"/>
            <a:ext cx="1457325" cy="552450"/>
          </a:xfrm>
          <a:prstGeom prst="rect">
            <a:avLst/>
          </a:prstGeom>
          <a:solidFill>
            <a:srgbClr val="1B1A1A"/>
          </a:solidFill>
          <a:ln>
            <a:noFill/>
          </a:ln>
        </p:spPr>
        <p:txBody>
          <a:bodyPr rtlCol="0" anchor="ctr"/>
          <a:lstStyle/>
          <a:p>
            <a:pPr algn="ctr"/>
          </a:p>
        </p:txBody>
      </p:sp>
      <p:pic>
        <p:nvPicPr>
          <p:cNvPr id="95" name="Graphic" descr="S13_r19.png"/>
          <p:cNvPicPr>
            <a:picLocks noChangeAspect="1"/>
          </p:cNvPicPr>
          <p:nvPr/>
        </p:nvPicPr>
        <p:blipFill>
          <a:blip r:embed="rId21"/>
          <a:stretch>
            <a:fillRect/>
          </a:stretch>
        </p:blipFill>
        <p:spPr>
          <a:xfrm>
            <a:off x="3619500" y="1400175"/>
            <a:ext cx="228600" cy="228600"/>
          </a:xfrm>
          <a:prstGeom prst="rect">
            <a:avLst/>
          </a:prstGeom>
        </p:spPr>
      </p:pic>
      <p:sp>
        <p:nvSpPr>
          <p:cNvPr id="96" name="TextBox 95"/>
          <p:cNvSpPr txBox="1"/>
          <p:nvPr/>
        </p:nvSpPr>
        <p:spPr>
          <a:xfrm>
            <a:off x="3924300" y="1440466"/>
            <a:ext cx="1015603" cy="104775"/>
          </a:xfrm>
          <a:prstGeom prst="rect">
            <a:avLst/>
          </a:prstGeom>
          <a:noFill/>
        </p:spPr>
        <p:txBody>
          <a:bodyPr wrap="none" lIns="0" rIns="0" tIns="0" bIns="0" anchor="t">
            <a:noAutofit/>
          </a:bodyPr>
          <a:lstStyle/>
          <a:p>
            <a:pPr algn="l">
              <a:lnSpc>
                <a:spcPts val="938"/>
              </a:lnSpc>
              <a:spcBef>
                <a:spcPts val="0"/>
              </a:spcBef>
              <a:spcAft>
                <a:spcPts val="0"/>
              </a:spcAft>
            </a:pPr>
            <a:r>
              <a:rPr sz="675" b="1" i="0" spc="98">
                <a:solidFill>
                  <a:srgbClr val="FFFFFF"/>
                </a:solidFill>
                <a:latin typeface="Quicksand"/>
              </a:rPr>
              <a:t>TELECOM &amp; UCAAS</a:t>
            </a:r>
          </a:p>
        </p:txBody>
      </p:sp>
      <p:sp>
        <p:nvSpPr>
          <p:cNvPr id="97" name="TextBox 96"/>
          <p:cNvSpPr txBox="1"/>
          <p:nvPr/>
        </p:nvSpPr>
        <p:spPr>
          <a:xfrm>
            <a:off x="3619500" y="1883664"/>
            <a:ext cx="1063972" cy="95250"/>
          </a:xfrm>
          <a:prstGeom prst="rect">
            <a:avLst/>
          </a:prstGeom>
          <a:noFill/>
        </p:spPr>
        <p:txBody>
          <a:bodyPr wrap="none" lIns="0" rIns="0" tIns="0" bIns="0" anchor="t">
            <a:noAutofit/>
          </a:bodyPr>
          <a:lstStyle/>
          <a:p>
            <a:pPr algn="l">
              <a:lnSpc>
                <a:spcPts val="975"/>
              </a:lnSpc>
              <a:spcBef>
                <a:spcPts val="0"/>
              </a:spcBef>
              <a:spcAft>
                <a:spcPts val="0"/>
              </a:spcAft>
            </a:pPr>
            <a:r>
              <a:rPr sz="600" b="1" i="0" spc="150">
                <a:solidFill>
                  <a:srgbClr val="8C6239"/>
                </a:solidFill>
                <a:latin typeface="Quicksand"/>
              </a:rPr>
              <a:t>LISTED COMPANIES</a:t>
            </a:r>
          </a:p>
        </p:txBody>
      </p:sp>
      <p:pic>
        <p:nvPicPr>
          <p:cNvPr id="98" name="RingCentral" descr="RingCentral"/>
          <p:cNvPicPr>
            <a:picLocks noChangeAspect="1"/>
          </p:cNvPicPr>
          <p:nvPr/>
        </p:nvPicPr>
        <p:blipFill>
          <a:blip r:embed="rId22"/>
          <a:stretch>
            <a:fillRect/>
          </a:stretch>
        </p:blipFill>
        <p:spPr>
          <a:xfrm>
            <a:off x="3619500" y="2102644"/>
            <a:ext cx="171450" cy="171450"/>
          </a:xfrm>
          <a:prstGeom prst="rect">
            <a:avLst/>
          </a:prstGeom>
        </p:spPr>
      </p:pic>
      <p:sp>
        <p:nvSpPr>
          <p:cNvPr id="99" name="TextBox 98"/>
          <p:cNvSpPr txBox="1"/>
          <p:nvPr/>
        </p:nvSpPr>
        <p:spPr>
          <a:xfrm>
            <a:off x="3848100" y="2104549"/>
            <a:ext cx="594420" cy="123825"/>
          </a:xfrm>
          <a:prstGeom prst="rect">
            <a:avLst/>
          </a:prstGeom>
          <a:noFill/>
        </p:spPr>
        <p:txBody>
          <a:bodyPr wrap="none" lIns="0" rIns="0" tIns="0" bIns="0" anchor="t">
            <a:noAutofit/>
          </a:bodyPr>
          <a:lstStyle/>
          <a:p>
            <a:pPr algn="l">
              <a:lnSpc>
                <a:spcPts val="1050"/>
              </a:lnSpc>
              <a:spcBef>
                <a:spcPts val="0"/>
              </a:spcBef>
              <a:spcAft>
                <a:spcPts val="0"/>
              </a:spcAft>
            </a:pPr>
            <a:r>
              <a:rPr sz="750" b="0" i="0" spc="15">
                <a:solidFill>
                  <a:srgbClr val="333231"/>
                </a:solidFill>
                <a:latin typeface="Quicksand"/>
              </a:rPr>
              <a:t>RingCentral</a:t>
            </a:r>
          </a:p>
        </p:txBody>
      </p:sp>
      <p:pic>
        <p:nvPicPr>
          <p:cNvPr id="100" name="8x8" descr="8x8"/>
          <p:cNvPicPr>
            <a:picLocks noChangeAspect="1"/>
          </p:cNvPicPr>
          <p:nvPr/>
        </p:nvPicPr>
        <p:blipFill>
          <a:blip r:embed="rId23"/>
          <a:stretch>
            <a:fillRect/>
          </a:stretch>
        </p:blipFill>
        <p:spPr>
          <a:xfrm>
            <a:off x="3619500" y="2326481"/>
            <a:ext cx="171450" cy="171450"/>
          </a:xfrm>
          <a:prstGeom prst="rect">
            <a:avLst/>
          </a:prstGeom>
        </p:spPr>
      </p:pic>
      <p:sp>
        <p:nvSpPr>
          <p:cNvPr id="101" name="TextBox 100"/>
          <p:cNvSpPr txBox="1"/>
          <p:nvPr/>
        </p:nvSpPr>
        <p:spPr>
          <a:xfrm>
            <a:off x="3848100" y="2328386"/>
            <a:ext cx="211931" cy="123825"/>
          </a:xfrm>
          <a:prstGeom prst="rect">
            <a:avLst/>
          </a:prstGeom>
          <a:noFill/>
        </p:spPr>
        <p:txBody>
          <a:bodyPr wrap="none" lIns="0" rIns="0" tIns="0" bIns="0" anchor="t">
            <a:noAutofit/>
          </a:bodyPr>
          <a:lstStyle/>
          <a:p>
            <a:pPr algn="l">
              <a:lnSpc>
                <a:spcPts val="1050"/>
              </a:lnSpc>
              <a:spcBef>
                <a:spcPts val="0"/>
              </a:spcBef>
              <a:spcAft>
                <a:spcPts val="0"/>
              </a:spcAft>
            </a:pPr>
            <a:r>
              <a:rPr sz="750" b="0" i="0" spc="15">
                <a:solidFill>
                  <a:srgbClr val="333231"/>
                </a:solidFill>
                <a:latin typeface="Quicksand"/>
              </a:rPr>
              <a:t>8x8</a:t>
            </a:r>
          </a:p>
        </p:txBody>
      </p:sp>
      <p:pic>
        <p:nvPicPr>
          <p:cNvPr id="102" name="Zoom" descr="Zoom"/>
          <p:cNvPicPr>
            <a:picLocks noChangeAspect="1"/>
          </p:cNvPicPr>
          <p:nvPr/>
        </p:nvPicPr>
        <p:blipFill>
          <a:blip r:embed="rId24"/>
          <a:stretch>
            <a:fillRect/>
          </a:stretch>
        </p:blipFill>
        <p:spPr>
          <a:xfrm>
            <a:off x="3619500" y="2550319"/>
            <a:ext cx="171450" cy="171450"/>
          </a:xfrm>
          <a:prstGeom prst="rect">
            <a:avLst/>
          </a:prstGeom>
        </p:spPr>
      </p:pic>
      <p:sp>
        <p:nvSpPr>
          <p:cNvPr id="103" name="TextBox 102"/>
          <p:cNvSpPr txBox="1"/>
          <p:nvPr/>
        </p:nvSpPr>
        <p:spPr>
          <a:xfrm>
            <a:off x="3848100" y="2552224"/>
            <a:ext cx="327571" cy="123825"/>
          </a:xfrm>
          <a:prstGeom prst="rect">
            <a:avLst/>
          </a:prstGeom>
          <a:noFill/>
        </p:spPr>
        <p:txBody>
          <a:bodyPr wrap="none" lIns="0" rIns="0" tIns="0" bIns="0" anchor="t">
            <a:noAutofit/>
          </a:bodyPr>
          <a:lstStyle/>
          <a:p>
            <a:pPr algn="l">
              <a:lnSpc>
                <a:spcPts val="1050"/>
              </a:lnSpc>
              <a:spcBef>
                <a:spcPts val="0"/>
              </a:spcBef>
              <a:spcAft>
                <a:spcPts val="0"/>
              </a:spcAft>
            </a:pPr>
            <a:r>
              <a:rPr sz="750" b="0" i="0" spc="15">
                <a:solidFill>
                  <a:srgbClr val="333231"/>
                </a:solidFill>
                <a:latin typeface="Quicksand"/>
              </a:rPr>
              <a:t>Zoom</a:t>
            </a:r>
          </a:p>
        </p:txBody>
      </p:sp>
      <p:pic>
        <p:nvPicPr>
          <p:cNvPr id="104" name="Five9" descr="Five9"/>
          <p:cNvPicPr>
            <a:picLocks noChangeAspect="1"/>
          </p:cNvPicPr>
          <p:nvPr/>
        </p:nvPicPr>
        <p:blipFill>
          <a:blip r:embed="rId25"/>
          <a:stretch>
            <a:fillRect/>
          </a:stretch>
        </p:blipFill>
        <p:spPr>
          <a:xfrm>
            <a:off x="3619500" y="2774156"/>
            <a:ext cx="171450" cy="171450"/>
          </a:xfrm>
          <a:prstGeom prst="rect">
            <a:avLst/>
          </a:prstGeom>
        </p:spPr>
      </p:pic>
      <p:sp>
        <p:nvSpPr>
          <p:cNvPr id="105" name="TextBox 104"/>
          <p:cNvSpPr txBox="1"/>
          <p:nvPr/>
        </p:nvSpPr>
        <p:spPr>
          <a:xfrm>
            <a:off x="3848100" y="2776061"/>
            <a:ext cx="297954" cy="123825"/>
          </a:xfrm>
          <a:prstGeom prst="rect">
            <a:avLst/>
          </a:prstGeom>
          <a:noFill/>
        </p:spPr>
        <p:txBody>
          <a:bodyPr wrap="none" lIns="0" rIns="0" tIns="0" bIns="0" anchor="t">
            <a:noAutofit/>
          </a:bodyPr>
          <a:lstStyle/>
          <a:p>
            <a:pPr algn="l">
              <a:lnSpc>
                <a:spcPts val="1050"/>
              </a:lnSpc>
              <a:spcBef>
                <a:spcPts val="0"/>
              </a:spcBef>
              <a:spcAft>
                <a:spcPts val="0"/>
              </a:spcAft>
            </a:pPr>
            <a:r>
              <a:rPr sz="750" b="0" i="0" spc="15">
                <a:solidFill>
                  <a:srgbClr val="333231"/>
                </a:solidFill>
                <a:latin typeface="Quicksand"/>
              </a:rPr>
              <a:t>Five9</a:t>
            </a:r>
          </a:p>
        </p:txBody>
      </p:sp>
      <p:pic>
        <p:nvPicPr>
          <p:cNvPr id="106" name="Bandwidth" descr="Bandwidth"/>
          <p:cNvPicPr>
            <a:picLocks noChangeAspect="1"/>
          </p:cNvPicPr>
          <p:nvPr/>
        </p:nvPicPr>
        <p:blipFill>
          <a:blip r:embed="rId26"/>
          <a:stretch>
            <a:fillRect/>
          </a:stretch>
        </p:blipFill>
        <p:spPr>
          <a:xfrm>
            <a:off x="3619500" y="2997994"/>
            <a:ext cx="171450" cy="171450"/>
          </a:xfrm>
          <a:prstGeom prst="rect">
            <a:avLst/>
          </a:prstGeom>
        </p:spPr>
      </p:pic>
      <p:sp>
        <p:nvSpPr>
          <p:cNvPr id="107" name="TextBox 106"/>
          <p:cNvSpPr txBox="1"/>
          <p:nvPr/>
        </p:nvSpPr>
        <p:spPr>
          <a:xfrm>
            <a:off x="3848100" y="2999899"/>
            <a:ext cx="542925" cy="123825"/>
          </a:xfrm>
          <a:prstGeom prst="rect">
            <a:avLst/>
          </a:prstGeom>
          <a:noFill/>
        </p:spPr>
        <p:txBody>
          <a:bodyPr wrap="none" lIns="0" rIns="0" tIns="0" bIns="0" anchor="t">
            <a:noAutofit/>
          </a:bodyPr>
          <a:lstStyle/>
          <a:p>
            <a:pPr algn="l">
              <a:lnSpc>
                <a:spcPts val="1050"/>
              </a:lnSpc>
              <a:spcBef>
                <a:spcPts val="0"/>
              </a:spcBef>
              <a:spcAft>
                <a:spcPts val="0"/>
              </a:spcAft>
            </a:pPr>
            <a:r>
              <a:rPr sz="750" b="0" i="0" spc="15">
                <a:solidFill>
                  <a:srgbClr val="333231"/>
                </a:solidFill>
                <a:latin typeface="Quicksand"/>
              </a:rPr>
              <a:t>Bandwidth</a:t>
            </a:r>
          </a:p>
        </p:txBody>
      </p:sp>
      <p:pic>
        <p:nvPicPr>
          <p:cNvPr id="108" name="Ooma" descr="Ooma"/>
          <p:cNvPicPr>
            <a:picLocks noChangeAspect="1"/>
          </p:cNvPicPr>
          <p:nvPr/>
        </p:nvPicPr>
        <p:blipFill>
          <a:blip r:embed="rId27"/>
          <a:stretch>
            <a:fillRect/>
          </a:stretch>
        </p:blipFill>
        <p:spPr>
          <a:xfrm>
            <a:off x="3619500" y="3221831"/>
            <a:ext cx="171450" cy="171450"/>
          </a:xfrm>
          <a:prstGeom prst="rect">
            <a:avLst/>
          </a:prstGeom>
        </p:spPr>
      </p:pic>
      <p:sp>
        <p:nvSpPr>
          <p:cNvPr id="109" name="TextBox 108"/>
          <p:cNvSpPr txBox="1"/>
          <p:nvPr/>
        </p:nvSpPr>
        <p:spPr>
          <a:xfrm>
            <a:off x="3848100" y="3223736"/>
            <a:ext cx="340668" cy="123825"/>
          </a:xfrm>
          <a:prstGeom prst="rect">
            <a:avLst/>
          </a:prstGeom>
          <a:noFill/>
        </p:spPr>
        <p:txBody>
          <a:bodyPr wrap="none" lIns="0" rIns="0" tIns="0" bIns="0" anchor="t">
            <a:noAutofit/>
          </a:bodyPr>
          <a:lstStyle/>
          <a:p>
            <a:pPr algn="l">
              <a:lnSpc>
                <a:spcPts val="1050"/>
              </a:lnSpc>
              <a:spcBef>
                <a:spcPts val="0"/>
              </a:spcBef>
              <a:spcAft>
                <a:spcPts val="0"/>
              </a:spcAft>
            </a:pPr>
            <a:r>
              <a:rPr sz="750" b="0" i="0" spc="15">
                <a:solidFill>
                  <a:srgbClr val="333231"/>
                </a:solidFill>
                <a:latin typeface="Quicksand"/>
              </a:rPr>
              <a:t>Ooma</a:t>
            </a:r>
          </a:p>
        </p:txBody>
      </p:sp>
      <p:pic>
        <p:nvPicPr>
          <p:cNvPr id="110" name="Crexendo" descr="Crexendo"/>
          <p:cNvPicPr>
            <a:picLocks noChangeAspect="1"/>
          </p:cNvPicPr>
          <p:nvPr/>
        </p:nvPicPr>
        <p:blipFill>
          <a:blip r:embed="rId28"/>
          <a:stretch>
            <a:fillRect/>
          </a:stretch>
        </p:blipFill>
        <p:spPr>
          <a:xfrm>
            <a:off x="3619500" y="3445669"/>
            <a:ext cx="171450" cy="171450"/>
          </a:xfrm>
          <a:prstGeom prst="rect">
            <a:avLst/>
          </a:prstGeom>
        </p:spPr>
      </p:pic>
      <p:sp>
        <p:nvSpPr>
          <p:cNvPr id="111" name="TextBox 110"/>
          <p:cNvSpPr txBox="1"/>
          <p:nvPr/>
        </p:nvSpPr>
        <p:spPr>
          <a:xfrm>
            <a:off x="3848100" y="3447574"/>
            <a:ext cx="491579" cy="123825"/>
          </a:xfrm>
          <a:prstGeom prst="rect">
            <a:avLst/>
          </a:prstGeom>
          <a:noFill/>
        </p:spPr>
        <p:txBody>
          <a:bodyPr wrap="none" lIns="0" rIns="0" tIns="0" bIns="0" anchor="t">
            <a:noAutofit/>
          </a:bodyPr>
          <a:lstStyle/>
          <a:p>
            <a:pPr algn="l">
              <a:lnSpc>
                <a:spcPts val="1050"/>
              </a:lnSpc>
              <a:spcBef>
                <a:spcPts val="0"/>
              </a:spcBef>
              <a:spcAft>
                <a:spcPts val="0"/>
              </a:spcAft>
            </a:pPr>
            <a:r>
              <a:rPr sz="750" b="0" i="0" spc="15">
                <a:solidFill>
                  <a:srgbClr val="333231"/>
                </a:solidFill>
                <a:latin typeface="Quicksand"/>
              </a:rPr>
              <a:t>Crexendo</a:t>
            </a:r>
          </a:p>
        </p:txBody>
      </p:sp>
      <p:pic>
        <p:nvPicPr>
          <p:cNvPr id="112" name="Shenandoah Telecommunications" descr="Shenandoah Telecommunications"/>
          <p:cNvPicPr>
            <a:picLocks noChangeAspect="1"/>
          </p:cNvPicPr>
          <p:nvPr/>
        </p:nvPicPr>
        <p:blipFill>
          <a:blip r:embed="rId29"/>
          <a:stretch>
            <a:fillRect/>
          </a:stretch>
        </p:blipFill>
        <p:spPr>
          <a:xfrm>
            <a:off x="3619500" y="3669506"/>
            <a:ext cx="171450" cy="171450"/>
          </a:xfrm>
          <a:prstGeom prst="rect">
            <a:avLst/>
          </a:prstGeom>
        </p:spPr>
      </p:pic>
      <p:sp>
        <p:nvSpPr>
          <p:cNvPr id="113" name="TextBox 112"/>
          <p:cNvSpPr txBox="1"/>
          <p:nvPr/>
        </p:nvSpPr>
        <p:spPr>
          <a:xfrm>
            <a:off x="3848100" y="3671411"/>
            <a:ext cx="1042243" cy="123825"/>
          </a:xfrm>
          <a:prstGeom prst="rect">
            <a:avLst/>
          </a:prstGeom>
          <a:noFill/>
        </p:spPr>
        <p:txBody>
          <a:bodyPr wrap="none" lIns="0" rIns="0" tIns="0" bIns="0" anchor="t">
            <a:noAutofit/>
          </a:bodyPr>
          <a:lstStyle/>
          <a:p>
            <a:pPr algn="l">
              <a:lnSpc>
                <a:spcPts val="1050"/>
              </a:lnSpc>
              <a:spcBef>
                <a:spcPts val="0"/>
              </a:spcBef>
              <a:spcAft>
                <a:spcPts val="0"/>
              </a:spcAft>
            </a:pPr>
            <a:r>
              <a:rPr sz="750" b="0" i="0" spc="15">
                <a:solidFill>
                  <a:srgbClr val="333231"/>
                </a:solidFill>
                <a:latin typeface="Quicksand"/>
              </a:rPr>
              <a:t>Shenandoah Telecom</a:t>
            </a:r>
          </a:p>
        </p:txBody>
      </p:sp>
      <p:pic>
        <p:nvPicPr>
          <p:cNvPr id="114" name="Telephone and Data Systems" descr="Telephone and Data Systems"/>
          <p:cNvPicPr>
            <a:picLocks noChangeAspect="1"/>
          </p:cNvPicPr>
          <p:nvPr/>
        </p:nvPicPr>
        <p:blipFill>
          <a:blip r:embed="rId30"/>
          <a:stretch>
            <a:fillRect/>
          </a:stretch>
        </p:blipFill>
        <p:spPr>
          <a:xfrm>
            <a:off x="3619500" y="3893344"/>
            <a:ext cx="171450" cy="171450"/>
          </a:xfrm>
          <a:prstGeom prst="rect">
            <a:avLst/>
          </a:prstGeom>
        </p:spPr>
      </p:pic>
      <p:sp>
        <p:nvSpPr>
          <p:cNvPr id="115" name="TextBox 114"/>
          <p:cNvSpPr txBox="1"/>
          <p:nvPr/>
        </p:nvSpPr>
        <p:spPr>
          <a:xfrm>
            <a:off x="3848100" y="3895249"/>
            <a:ext cx="242441" cy="123825"/>
          </a:xfrm>
          <a:prstGeom prst="rect">
            <a:avLst/>
          </a:prstGeom>
          <a:noFill/>
        </p:spPr>
        <p:txBody>
          <a:bodyPr wrap="none" lIns="0" rIns="0" tIns="0" bIns="0" anchor="t">
            <a:noAutofit/>
          </a:bodyPr>
          <a:lstStyle/>
          <a:p>
            <a:pPr algn="l">
              <a:lnSpc>
                <a:spcPts val="1050"/>
              </a:lnSpc>
              <a:spcBef>
                <a:spcPts val="0"/>
              </a:spcBef>
              <a:spcAft>
                <a:spcPts val="0"/>
              </a:spcAft>
            </a:pPr>
            <a:r>
              <a:rPr sz="750" b="0" i="0" spc="15">
                <a:solidFill>
                  <a:srgbClr val="333231"/>
                </a:solidFill>
                <a:latin typeface="Quicksand"/>
              </a:rPr>
              <a:t>TDS</a:t>
            </a:r>
          </a:p>
        </p:txBody>
      </p:sp>
      <p:sp>
        <p:nvSpPr>
          <p:cNvPr id="116" name="Rule"/>
          <p:cNvSpPr/>
          <p:nvPr/>
        </p:nvSpPr>
        <p:spPr>
          <a:xfrm>
            <a:off x="3619500" y="4857750"/>
            <a:ext cx="1266825" cy="9525"/>
          </a:xfrm>
          <a:prstGeom prst="rect">
            <a:avLst/>
          </a:prstGeom>
          <a:solidFill>
            <a:srgbClr val="E3DCD3"/>
          </a:solidFill>
          <a:ln>
            <a:noFill/>
          </a:ln>
        </p:spPr>
        <p:txBody>
          <a:bodyPr rtlCol="0" anchor="ctr"/>
          <a:lstStyle/>
          <a:p>
            <a:pPr algn="ctr"/>
          </a:p>
        </p:txBody>
      </p:sp>
      <p:sp>
        <p:nvSpPr>
          <p:cNvPr id="117" name="TextBox 116"/>
          <p:cNvSpPr txBox="1"/>
          <p:nvPr/>
        </p:nvSpPr>
        <p:spPr>
          <a:xfrm>
            <a:off x="3619500" y="4941189"/>
            <a:ext cx="1343025" cy="342900"/>
          </a:xfrm>
          <a:prstGeom prst="rect">
            <a:avLst/>
          </a:prstGeom>
          <a:noFill/>
        </p:spPr>
        <p:txBody>
          <a:bodyPr wrap="square" lIns="0" rIns="0" tIns="0" bIns="0" anchor="t">
            <a:noAutofit/>
          </a:bodyPr>
          <a:lstStyle/>
          <a:p>
            <a:pPr algn="l">
              <a:lnSpc>
                <a:spcPts val="975"/>
              </a:lnSpc>
              <a:spcBef>
                <a:spcPts val="0"/>
              </a:spcBef>
              <a:spcAft>
                <a:spcPts val="0"/>
              </a:spcAft>
            </a:pPr>
            <a:r>
              <a:rPr sz="600" b="1" i="0" spc="150">
                <a:solidFill>
                  <a:srgbClr val="8C6239"/>
                </a:solidFill>
                <a:latin typeface="Quicksand"/>
              </a:rPr>
              <a:t>FIBER OPERATORS, INVESTORS AND CHANNEL</a:t>
            </a:r>
          </a:p>
        </p:txBody>
      </p:sp>
      <p:sp>
        <p:nvSpPr>
          <p:cNvPr id="118" name="Panel"/>
          <p:cNvSpPr/>
          <p:nvPr/>
        </p:nvSpPr>
        <p:spPr>
          <a:xfrm>
            <a:off x="3624262" y="5405438"/>
            <a:ext cx="463748" cy="190500"/>
          </a:xfrm>
          <a:prstGeom prst="rect">
            <a:avLst/>
          </a:prstGeom>
          <a:solidFill>
            <a:srgbClr val="FFFFFF"/>
          </a:solidFill>
          <a:ln w="9525">
            <a:solidFill>
              <a:srgbClr val="E3DCD3"/>
            </a:solidFill>
          </a:ln>
        </p:spPr>
        <p:txBody>
          <a:bodyPr rtlCol="0" anchor="ctr"/>
          <a:lstStyle/>
          <a:p>
            <a:pPr algn="ctr"/>
          </a:p>
        </p:txBody>
      </p:sp>
      <p:sp>
        <p:nvSpPr>
          <p:cNvPr id="119" name="TextBox 118"/>
          <p:cNvSpPr txBox="1"/>
          <p:nvPr/>
        </p:nvSpPr>
        <p:spPr>
          <a:xfrm>
            <a:off x="3686175" y="5425345"/>
            <a:ext cx="397073" cy="114300"/>
          </a:xfrm>
          <a:prstGeom prst="rect">
            <a:avLst/>
          </a:prstGeom>
          <a:noFill/>
        </p:spPr>
        <p:txBody>
          <a:bodyPr wrap="none" lIns="0" rIns="0" tIns="0" bIns="0" anchor="t">
            <a:noAutofit/>
          </a:bodyPr>
          <a:lstStyle/>
          <a:p>
            <a:pPr algn="l">
              <a:lnSpc>
                <a:spcPts val="975"/>
              </a:lnSpc>
              <a:spcBef>
                <a:spcPts val="0"/>
              </a:spcBef>
              <a:spcAft>
                <a:spcPts val="0"/>
              </a:spcAft>
            </a:pPr>
            <a:r>
              <a:rPr sz="712" b="1" i="0" spc="15">
                <a:solidFill>
                  <a:srgbClr val="1B1A1A"/>
                </a:solidFill>
                <a:latin typeface="Quicksand"/>
              </a:rPr>
              <a:t>Verizon</a:t>
            </a:r>
          </a:p>
        </p:txBody>
      </p:sp>
      <p:sp>
        <p:nvSpPr>
          <p:cNvPr id="120" name="Panel"/>
          <p:cNvSpPr/>
          <p:nvPr/>
        </p:nvSpPr>
        <p:spPr>
          <a:xfrm>
            <a:off x="4145161" y="5405438"/>
            <a:ext cx="362248" cy="190500"/>
          </a:xfrm>
          <a:prstGeom prst="rect">
            <a:avLst/>
          </a:prstGeom>
          <a:solidFill>
            <a:srgbClr val="FFFFFF"/>
          </a:solidFill>
          <a:ln w="9525">
            <a:solidFill>
              <a:srgbClr val="E3DCD3"/>
            </a:solidFill>
          </a:ln>
        </p:spPr>
        <p:txBody>
          <a:bodyPr rtlCol="0" anchor="ctr"/>
          <a:lstStyle/>
          <a:p>
            <a:pPr algn="ctr"/>
          </a:p>
        </p:txBody>
      </p:sp>
      <p:sp>
        <p:nvSpPr>
          <p:cNvPr id="121" name="TextBox 120"/>
          <p:cNvSpPr txBox="1"/>
          <p:nvPr/>
        </p:nvSpPr>
        <p:spPr>
          <a:xfrm>
            <a:off x="4207073" y="5425345"/>
            <a:ext cx="295573" cy="114300"/>
          </a:xfrm>
          <a:prstGeom prst="rect">
            <a:avLst/>
          </a:prstGeom>
          <a:noFill/>
        </p:spPr>
        <p:txBody>
          <a:bodyPr wrap="none" lIns="0" rIns="0" tIns="0" bIns="0" anchor="t">
            <a:noAutofit/>
          </a:bodyPr>
          <a:lstStyle/>
          <a:p>
            <a:pPr algn="l">
              <a:lnSpc>
                <a:spcPts val="975"/>
              </a:lnSpc>
              <a:spcBef>
                <a:spcPts val="0"/>
              </a:spcBef>
              <a:spcAft>
                <a:spcPts val="0"/>
              </a:spcAft>
            </a:pPr>
            <a:r>
              <a:rPr sz="712" b="1" i="0" spc="15">
                <a:solidFill>
                  <a:srgbClr val="1B1A1A"/>
                </a:solidFill>
                <a:latin typeface="Quicksand"/>
              </a:rPr>
              <a:t>AT&amp;T</a:t>
            </a:r>
          </a:p>
        </p:txBody>
      </p:sp>
      <p:sp>
        <p:nvSpPr>
          <p:cNvPr id="122" name="Panel"/>
          <p:cNvSpPr/>
          <p:nvPr/>
        </p:nvSpPr>
        <p:spPr>
          <a:xfrm>
            <a:off x="3624262" y="5653088"/>
            <a:ext cx="946696" cy="190500"/>
          </a:xfrm>
          <a:prstGeom prst="rect">
            <a:avLst/>
          </a:prstGeom>
          <a:solidFill>
            <a:srgbClr val="FFFFFF"/>
          </a:solidFill>
          <a:ln w="9525">
            <a:solidFill>
              <a:srgbClr val="E3DCD3"/>
            </a:solidFill>
          </a:ln>
        </p:spPr>
        <p:txBody>
          <a:bodyPr rtlCol="0" anchor="ctr"/>
          <a:lstStyle/>
          <a:p>
            <a:pPr algn="ctr"/>
          </a:p>
        </p:txBody>
      </p:sp>
      <p:sp>
        <p:nvSpPr>
          <p:cNvPr id="123" name="TextBox 122"/>
          <p:cNvSpPr txBox="1"/>
          <p:nvPr/>
        </p:nvSpPr>
        <p:spPr>
          <a:xfrm>
            <a:off x="3686175" y="5672995"/>
            <a:ext cx="880021" cy="114300"/>
          </a:xfrm>
          <a:prstGeom prst="rect">
            <a:avLst/>
          </a:prstGeom>
          <a:noFill/>
        </p:spPr>
        <p:txBody>
          <a:bodyPr wrap="none" lIns="0" rIns="0" tIns="0" bIns="0" anchor="t">
            <a:noAutofit/>
          </a:bodyPr>
          <a:lstStyle/>
          <a:p>
            <a:pPr algn="l">
              <a:lnSpc>
                <a:spcPts val="975"/>
              </a:lnSpc>
              <a:spcBef>
                <a:spcPts val="0"/>
              </a:spcBef>
              <a:spcAft>
                <a:spcPts val="0"/>
              </a:spcAft>
            </a:pPr>
            <a:r>
              <a:rPr sz="712" b="1" i="0" spc="15">
                <a:solidFill>
                  <a:srgbClr val="1B1A1A"/>
                </a:solidFill>
                <a:latin typeface="Quicksand"/>
              </a:rPr>
              <a:t>T-Mobile with KKR</a:t>
            </a:r>
          </a:p>
        </p:txBody>
      </p:sp>
      <p:sp>
        <p:nvSpPr>
          <p:cNvPr id="124" name="Panel"/>
          <p:cNvSpPr/>
          <p:nvPr/>
        </p:nvSpPr>
        <p:spPr>
          <a:xfrm>
            <a:off x="3624262" y="5900738"/>
            <a:ext cx="356146" cy="190500"/>
          </a:xfrm>
          <a:prstGeom prst="rect">
            <a:avLst/>
          </a:prstGeom>
          <a:solidFill>
            <a:srgbClr val="FFFFFF"/>
          </a:solidFill>
          <a:ln w="9525">
            <a:solidFill>
              <a:srgbClr val="E3DCD3"/>
            </a:solidFill>
          </a:ln>
        </p:spPr>
        <p:txBody>
          <a:bodyPr rtlCol="0" anchor="ctr"/>
          <a:lstStyle/>
          <a:p>
            <a:pPr algn="ctr"/>
          </a:p>
        </p:txBody>
      </p:sp>
      <p:sp>
        <p:nvSpPr>
          <p:cNvPr id="125" name="TextBox 124"/>
          <p:cNvSpPr txBox="1"/>
          <p:nvPr/>
        </p:nvSpPr>
        <p:spPr>
          <a:xfrm>
            <a:off x="3686175" y="5920645"/>
            <a:ext cx="289471" cy="114300"/>
          </a:xfrm>
          <a:prstGeom prst="rect">
            <a:avLst/>
          </a:prstGeom>
          <a:noFill/>
        </p:spPr>
        <p:txBody>
          <a:bodyPr wrap="none" lIns="0" rIns="0" tIns="0" bIns="0" anchor="t">
            <a:noAutofit/>
          </a:bodyPr>
          <a:lstStyle/>
          <a:p>
            <a:pPr algn="l">
              <a:lnSpc>
                <a:spcPts val="975"/>
              </a:lnSpc>
              <a:spcBef>
                <a:spcPts val="0"/>
              </a:spcBef>
              <a:spcAft>
                <a:spcPts val="0"/>
              </a:spcAft>
            </a:pPr>
            <a:r>
              <a:rPr sz="712" b="1" i="0" spc="15">
                <a:solidFill>
                  <a:srgbClr val="1B1A1A"/>
                </a:solidFill>
                <a:latin typeface="Quicksand"/>
              </a:rPr>
              <a:t>Zayo</a:t>
            </a:r>
          </a:p>
        </p:txBody>
      </p:sp>
      <p:sp>
        <p:nvSpPr>
          <p:cNvPr id="126" name="Panel"/>
          <p:cNvSpPr/>
          <p:nvPr/>
        </p:nvSpPr>
        <p:spPr>
          <a:xfrm>
            <a:off x="4037558" y="5900738"/>
            <a:ext cx="614362" cy="190500"/>
          </a:xfrm>
          <a:prstGeom prst="rect">
            <a:avLst/>
          </a:prstGeom>
          <a:solidFill>
            <a:srgbClr val="FFFFFF"/>
          </a:solidFill>
          <a:ln w="9525">
            <a:solidFill>
              <a:srgbClr val="E3DCD3"/>
            </a:solidFill>
          </a:ln>
        </p:spPr>
        <p:txBody>
          <a:bodyPr rtlCol="0" anchor="ctr"/>
          <a:lstStyle/>
          <a:p>
            <a:pPr algn="ctr"/>
          </a:p>
        </p:txBody>
      </p:sp>
      <p:sp>
        <p:nvSpPr>
          <p:cNvPr id="127" name="TextBox 126"/>
          <p:cNvSpPr txBox="1"/>
          <p:nvPr/>
        </p:nvSpPr>
        <p:spPr>
          <a:xfrm>
            <a:off x="4099471" y="5920645"/>
            <a:ext cx="547688" cy="114300"/>
          </a:xfrm>
          <a:prstGeom prst="rect">
            <a:avLst/>
          </a:prstGeom>
          <a:noFill/>
        </p:spPr>
        <p:txBody>
          <a:bodyPr wrap="none" lIns="0" rIns="0" tIns="0" bIns="0" anchor="t">
            <a:noAutofit/>
          </a:bodyPr>
          <a:lstStyle/>
          <a:p>
            <a:pPr algn="l">
              <a:lnSpc>
                <a:spcPts val="975"/>
              </a:lnSpc>
              <a:spcBef>
                <a:spcPts val="0"/>
              </a:spcBef>
              <a:spcAft>
                <a:spcPts val="0"/>
              </a:spcAft>
            </a:pPr>
            <a:r>
              <a:rPr sz="712" b="1" i="0" spc="15">
                <a:solidFill>
                  <a:srgbClr val="1B1A1A"/>
                </a:solidFill>
                <a:latin typeface="Quicksand"/>
              </a:rPr>
              <a:t>Stonepeak</a:t>
            </a:r>
          </a:p>
        </p:txBody>
      </p:sp>
      <p:sp>
        <p:nvSpPr>
          <p:cNvPr id="128" name="Panel"/>
          <p:cNvSpPr/>
          <p:nvPr/>
        </p:nvSpPr>
        <p:spPr>
          <a:xfrm>
            <a:off x="3624262" y="6148388"/>
            <a:ext cx="891332" cy="190500"/>
          </a:xfrm>
          <a:prstGeom prst="rect">
            <a:avLst/>
          </a:prstGeom>
          <a:solidFill>
            <a:srgbClr val="FFFFFF"/>
          </a:solidFill>
          <a:ln w="9525">
            <a:solidFill>
              <a:srgbClr val="E3DCD3"/>
            </a:solidFill>
          </a:ln>
        </p:spPr>
        <p:txBody>
          <a:bodyPr rtlCol="0" anchor="ctr"/>
          <a:lstStyle/>
          <a:p>
            <a:pPr algn="ctr"/>
          </a:p>
        </p:txBody>
      </p:sp>
      <p:sp>
        <p:nvSpPr>
          <p:cNvPr id="129" name="TextBox 128"/>
          <p:cNvSpPr txBox="1"/>
          <p:nvPr/>
        </p:nvSpPr>
        <p:spPr>
          <a:xfrm>
            <a:off x="3686175" y="6168295"/>
            <a:ext cx="824657" cy="114300"/>
          </a:xfrm>
          <a:prstGeom prst="rect">
            <a:avLst/>
          </a:prstGeom>
          <a:noFill/>
        </p:spPr>
        <p:txBody>
          <a:bodyPr wrap="none" lIns="0" rIns="0" tIns="0" bIns="0" anchor="t">
            <a:noAutofit/>
          </a:bodyPr>
          <a:lstStyle/>
          <a:p>
            <a:pPr algn="l">
              <a:lnSpc>
                <a:spcPts val="975"/>
              </a:lnSpc>
              <a:spcBef>
                <a:spcPts val="0"/>
              </a:spcBef>
              <a:spcAft>
                <a:spcPts val="0"/>
              </a:spcAft>
            </a:pPr>
            <a:r>
              <a:rPr sz="712" b="1" i="0" spc="15">
                <a:solidFill>
                  <a:srgbClr val="1B1A1A"/>
                </a:solidFill>
                <a:latin typeface="Quicksand"/>
              </a:rPr>
              <a:t>Point Broadband</a:t>
            </a:r>
          </a:p>
        </p:txBody>
      </p:sp>
      <p:sp>
        <p:nvSpPr>
          <p:cNvPr id="130" name="Panel"/>
          <p:cNvSpPr/>
          <p:nvPr/>
        </p:nvSpPr>
        <p:spPr>
          <a:xfrm>
            <a:off x="3624262" y="6396038"/>
            <a:ext cx="591443" cy="190500"/>
          </a:xfrm>
          <a:prstGeom prst="rect">
            <a:avLst/>
          </a:prstGeom>
          <a:solidFill>
            <a:srgbClr val="FFFFFF"/>
          </a:solidFill>
          <a:ln w="9525">
            <a:solidFill>
              <a:srgbClr val="E3DCD3"/>
            </a:solidFill>
          </a:ln>
        </p:spPr>
        <p:txBody>
          <a:bodyPr rtlCol="0" anchor="ctr"/>
          <a:lstStyle/>
          <a:p>
            <a:pPr algn="ctr"/>
          </a:p>
        </p:txBody>
      </p:sp>
      <p:sp>
        <p:nvSpPr>
          <p:cNvPr id="131" name="TextBox 130"/>
          <p:cNvSpPr txBox="1"/>
          <p:nvPr/>
        </p:nvSpPr>
        <p:spPr>
          <a:xfrm>
            <a:off x="3686175" y="6415945"/>
            <a:ext cx="524768" cy="114300"/>
          </a:xfrm>
          <a:prstGeom prst="rect">
            <a:avLst/>
          </a:prstGeom>
          <a:noFill/>
        </p:spPr>
        <p:txBody>
          <a:bodyPr wrap="none" lIns="0" rIns="0" tIns="0" bIns="0" anchor="t">
            <a:noAutofit/>
          </a:bodyPr>
          <a:lstStyle/>
          <a:p>
            <a:pPr algn="l">
              <a:lnSpc>
                <a:spcPts val="975"/>
              </a:lnSpc>
              <a:spcBef>
                <a:spcPts val="0"/>
              </a:spcBef>
              <a:spcAft>
                <a:spcPts val="0"/>
              </a:spcAft>
            </a:pPr>
            <a:r>
              <a:rPr sz="712" b="1" i="0" spc="15">
                <a:solidFill>
                  <a:srgbClr val="1B1A1A"/>
                </a:solidFill>
                <a:latin typeface="Quicksand"/>
              </a:rPr>
              <a:t>Ezee Fiber</a:t>
            </a:r>
          </a:p>
        </p:txBody>
      </p:sp>
      <p:sp>
        <p:nvSpPr>
          <p:cNvPr id="132" name="Panel"/>
          <p:cNvSpPr/>
          <p:nvPr/>
        </p:nvSpPr>
        <p:spPr>
          <a:xfrm>
            <a:off x="4272855" y="6396038"/>
            <a:ext cx="596354" cy="190500"/>
          </a:xfrm>
          <a:prstGeom prst="rect">
            <a:avLst/>
          </a:prstGeom>
          <a:solidFill>
            <a:srgbClr val="FFFFFF"/>
          </a:solidFill>
          <a:ln w="9525">
            <a:solidFill>
              <a:srgbClr val="E3DCD3"/>
            </a:solidFill>
          </a:ln>
        </p:spPr>
        <p:txBody>
          <a:bodyPr rtlCol="0" anchor="ctr"/>
          <a:lstStyle/>
          <a:p>
            <a:pPr algn="ctr"/>
          </a:p>
        </p:txBody>
      </p:sp>
      <p:sp>
        <p:nvSpPr>
          <p:cNvPr id="133" name="TextBox 132"/>
          <p:cNvSpPr txBox="1"/>
          <p:nvPr/>
        </p:nvSpPr>
        <p:spPr>
          <a:xfrm>
            <a:off x="4334768" y="6415945"/>
            <a:ext cx="529679" cy="114300"/>
          </a:xfrm>
          <a:prstGeom prst="rect">
            <a:avLst/>
          </a:prstGeom>
          <a:noFill/>
        </p:spPr>
        <p:txBody>
          <a:bodyPr wrap="none" lIns="0" rIns="0" tIns="0" bIns="0" anchor="t">
            <a:noAutofit/>
          </a:bodyPr>
          <a:lstStyle/>
          <a:p>
            <a:pPr algn="l">
              <a:lnSpc>
                <a:spcPts val="975"/>
              </a:lnSpc>
              <a:spcBef>
                <a:spcPts val="0"/>
              </a:spcBef>
              <a:spcAft>
                <a:spcPts val="0"/>
              </a:spcAft>
            </a:pPr>
            <a:r>
              <a:rPr sz="712" b="1" i="0" spc="15">
                <a:solidFill>
                  <a:srgbClr val="1B1A1A"/>
                </a:solidFill>
                <a:latin typeface="Quicksand"/>
              </a:rPr>
              <a:t>Vero Fiber</a:t>
            </a:r>
          </a:p>
        </p:txBody>
      </p:sp>
      <p:sp>
        <p:nvSpPr>
          <p:cNvPr id="134" name="Panel"/>
          <p:cNvSpPr/>
          <p:nvPr/>
        </p:nvSpPr>
        <p:spPr>
          <a:xfrm>
            <a:off x="3624262" y="6643688"/>
            <a:ext cx="582364" cy="190500"/>
          </a:xfrm>
          <a:prstGeom prst="rect">
            <a:avLst/>
          </a:prstGeom>
          <a:solidFill>
            <a:srgbClr val="FFFFFF"/>
          </a:solidFill>
          <a:ln w="9525">
            <a:solidFill>
              <a:srgbClr val="E3DCD3"/>
            </a:solidFill>
          </a:ln>
        </p:spPr>
        <p:txBody>
          <a:bodyPr rtlCol="0" anchor="ctr"/>
          <a:lstStyle/>
          <a:p>
            <a:pPr algn="ctr"/>
          </a:p>
        </p:txBody>
      </p:sp>
      <p:sp>
        <p:nvSpPr>
          <p:cNvPr id="135" name="TextBox 134"/>
          <p:cNvSpPr txBox="1"/>
          <p:nvPr/>
        </p:nvSpPr>
        <p:spPr>
          <a:xfrm>
            <a:off x="3686175" y="6663595"/>
            <a:ext cx="515689" cy="114300"/>
          </a:xfrm>
          <a:prstGeom prst="rect">
            <a:avLst/>
          </a:prstGeom>
          <a:noFill/>
        </p:spPr>
        <p:txBody>
          <a:bodyPr wrap="none" lIns="0" rIns="0" tIns="0" bIns="0" anchor="t">
            <a:noAutofit/>
          </a:bodyPr>
          <a:lstStyle/>
          <a:p>
            <a:pPr algn="l">
              <a:lnSpc>
                <a:spcPts val="975"/>
              </a:lnSpc>
              <a:spcBef>
                <a:spcPts val="0"/>
              </a:spcBef>
              <a:spcAft>
                <a:spcPts val="0"/>
              </a:spcAft>
            </a:pPr>
            <a:r>
              <a:rPr sz="712" b="1" i="0" spc="15">
                <a:solidFill>
                  <a:srgbClr val="1B1A1A"/>
                </a:solidFill>
                <a:latin typeface="Quicksand"/>
              </a:rPr>
              <a:t>Rightfiber</a:t>
            </a:r>
          </a:p>
        </p:txBody>
      </p:sp>
      <p:sp>
        <p:nvSpPr>
          <p:cNvPr id="136" name="Panel"/>
          <p:cNvSpPr/>
          <p:nvPr/>
        </p:nvSpPr>
        <p:spPr>
          <a:xfrm>
            <a:off x="4263777" y="6643688"/>
            <a:ext cx="573286" cy="190500"/>
          </a:xfrm>
          <a:prstGeom prst="rect">
            <a:avLst/>
          </a:prstGeom>
          <a:solidFill>
            <a:srgbClr val="FFFFFF"/>
          </a:solidFill>
          <a:ln w="9525">
            <a:solidFill>
              <a:srgbClr val="E3DCD3"/>
            </a:solidFill>
          </a:ln>
        </p:spPr>
        <p:txBody>
          <a:bodyPr rtlCol="0" anchor="ctr"/>
          <a:lstStyle/>
          <a:p>
            <a:pPr algn="ctr"/>
          </a:p>
        </p:txBody>
      </p:sp>
      <p:sp>
        <p:nvSpPr>
          <p:cNvPr id="137" name="TextBox 136"/>
          <p:cNvSpPr txBox="1"/>
          <p:nvPr/>
        </p:nvSpPr>
        <p:spPr>
          <a:xfrm>
            <a:off x="4325689" y="6663595"/>
            <a:ext cx="506611" cy="114300"/>
          </a:xfrm>
          <a:prstGeom prst="rect">
            <a:avLst/>
          </a:prstGeom>
          <a:noFill/>
        </p:spPr>
        <p:txBody>
          <a:bodyPr wrap="none" lIns="0" rIns="0" tIns="0" bIns="0" anchor="t">
            <a:noAutofit/>
          </a:bodyPr>
          <a:lstStyle/>
          <a:p>
            <a:pPr algn="l">
              <a:lnSpc>
                <a:spcPts val="975"/>
              </a:lnSpc>
              <a:spcBef>
                <a:spcPts val="0"/>
              </a:spcBef>
              <a:spcAft>
                <a:spcPts val="0"/>
              </a:spcAft>
            </a:pPr>
            <a:r>
              <a:rPr sz="712" b="1" i="0" spc="15">
                <a:solidFill>
                  <a:srgbClr val="1B1A1A"/>
                </a:solidFill>
                <a:latin typeface="Quicksand"/>
              </a:rPr>
              <a:t>AppDirect</a:t>
            </a:r>
          </a:p>
        </p:txBody>
      </p:sp>
      <p:sp>
        <p:nvSpPr>
          <p:cNvPr id="138" name="Panel"/>
          <p:cNvSpPr/>
          <p:nvPr/>
        </p:nvSpPr>
        <p:spPr>
          <a:xfrm>
            <a:off x="5076825" y="1238250"/>
            <a:ext cx="1457325" cy="5695950"/>
          </a:xfrm>
          <a:prstGeom prst="rect">
            <a:avLst/>
          </a:prstGeom>
          <a:solidFill>
            <a:srgbClr val="FAF7F3"/>
          </a:solidFill>
          <a:ln>
            <a:noFill/>
          </a:ln>
        </p:spPr>
        <p:txBody>
          <a:bodyPr rtlCol="0" anchor="ctr"/>
          <a:lstStyle/>
          <a:p>
            <a:pPr algn="ctr"/>
          </a:p>
        </p:txBody>
      </p:sp>
      <p:sp>
        <p:nvSpPr>
          <p:cNvPr id="139" name="Panel"/>
          <p:cNvSpPr/>
          <p:nvPr/>
        </p:nvSpPr>
        <p:spPr>
          <a:xfrm>
            <a:off x="5076825" y="1238250"/>
            <a:ext cx="1457325" cy="552450"/>
          </a:xfrm>
          <a:prstGeom prst="rect">
            <a:avLst/>
          </a:prstGeom>
          <a:solidFill>
            <a:srgbClr val="1B1A1A"/>
          </a:solidFill>
          <a:ln>
            <a:noFill/>
          </a:ln>
        </p:spPr>
        <p:txBody>
          <a:bodyPr rtlCol="0" anchor="ctr"/>
          <a:lstStyle/>
          <a:p>
            <a:pPr algn="ctr"/>
          </a:p>
        </p:txBody>
      </p:sp>
      <p:pic>
        <p:nvPicPr>
          <p:cNvPr id="140" name="Graphic" descr="S13_r29.png"/>
          <p:cNvPicPr>
            <a:picLocks noChangeAspect="1"/>
          </p:cNvPicPr>
          <p:nvPr/>
        </p:nvPicPr>
        <p:blipFill>
          <a:blip r:embed="rId31"/>
          <a:stretch>
            <a:fillRect/>
          </a:stretch>
        </p:blipFill>
        <p:spPr>
          <a:xfrm>
            <a:off x="5172075" y="1400175"/>
            <a:ext cx="228600" cy="228600"/>
          </a:xfrm>
          <a:prstGeom prst="rect">
            <a:avLst/>
          </a:prstGeom>
        </p:spPr>
      </p:pic>
      <p:sp>
        <p:nvSpPr>
          <p:cNvPr id="141" name="TextBox 140"/>
          <p:cNvSpPr txBox="1"/>
          <p:nvPr/>
        </p:nvSpPr>
        <p:spPr>
          <a:xfrm>
            <a:off x="5476875" y="1380934"/>
            <a:ext cx="1038225" cy="223838"/>
          </a:xfrm>
          <a:prstGeom prst="rect">
            <a:avLst/>
          </a:prstGeom>
          <a:noFill/>
        </p:spPr>
        <p:txBody>
          <a:bodyPr wrap="square" lIns="0" rIns="0" tIns="0" bIns="0" anchor="t">
            <a:noAutofit/>
          </a:bodyPr>
          <a:lstStyle/>
          <a:p>
            <a:pPr algn="l">
              <a:lnSpc>
                <a:spcPts val="938"/>
              </a:lnSpc>
              <a:spcBef>
                <a:spcPts val="0"/>
              </a:spcBef>
              <a:spcAft>
                <a:spcPts val="0"/>
              </a:spcAft>
            </a:pPr>
            <a:r>
              <a:rPr sz="675" b="1" i="0" spc="98">
                <a:solidFill>
                  <a:srgbClr val="FFFFFF"/>
                </a:solidFill>
                <a:latin typeface="Quicksand"/>
              </a:rPr>
              <a:t>SYSTEMS INTEGRATION</a:t>
            </a:r>
          </a:p>
        </p:txBody>
      </p:sp>
      <p:sp>
        <p:nvSpPr>
          <p:cNvPr id="142" name="TextBox 141"/>
          <p:cNvSpPr txBox="1"/>
          <p:nvPr/>
        </p:nvSpPr>
        <p:spPr>
          <a:xfrm>
            <a:off x="5172075" y="1883664"/>
            <a:ext cx="1063972" cy="95250"/>
          </a:xfrm>
          <a:prstGeom prst="rect">
            <a:avLst/>
          </a:prstGeom>
          <a:noFill/>
        </p:spPr>
        <p:txBody>
          <a:bodyPr wrap="none" lIns="0" rIns="0" tIns="0" bIns="0" anchor="t">
            <a:noAutofit/>
          </a:bodyPr>
          <a:lstStyle/>
          <a:p>
            <a:pPr algn="l">
              <a:lnSpc>
                <a:spcPts val="975"/>
              </a:lnSpc>
              <a:spcBef>
                <a:spcPts val="0"/>
              </a:spcBef>
              <a:spcAft>
                <a:spcPts val="0"/>
              </a:spcAft>
            </a:pPr>
            <a:r>
              <a:rPr sz="600" b="1" i="0" spc="150">
                <a:solidFill>
                  <a:srgbClr val="8C6239"/>
                </a:solidFill>
                <a:latin typeface="Quicksand"/>
              </a:rPr>
              <a:t>LISTED COMPANIES</a:t>
            </a:r>
          </a:p>
        </p:txBody>
      </p:sp>
      <p:pic>
        <p:nvPicPr>
          <p:cNvPr id="143" name="Wesco" descr="Wesco"/>
          <p:cNvPicPr>
            <a:picLocks noChangeAspect="1"/>
          </p:cNvPicPr>
          <p:nvPr/>
        </p:nvPicPr>
        <p:blipFill>
          <a:blip r:embed="rId32"/>
          <a:stretch>
            <a:fillRect/>
          </a:stretch>
        </p:blipFill>
        <p:spPr>
          <a:xfrm>
            <a:off x="5172075" y="2102644"/>
            <a:ext cx="171450" cy="171450"/>
          </a:xfrm>
          <a:prstGeom prst="rect">
            <a:avLst/>
          </a:prstGeom>
        </p:spPr>
      </p:pic>
      <p:sp>
        <p:nvSpPr>
          <p:cNvPr id="144" name="TextBox 143"/>
          <p:cNvSpPr txBox="1"/>
          <p:nvPr/>
        </p:nvSpPr>
        <p:spPr>
          <a:xfrm>
            <a:off x="5400675" y="2104549"/>
            <a:ext cx="362694" cy="123825"/>
          </a:xfrm>
          <a:prstGeom prst="rect">
            <a:avLst/>
          </a:prstGeom>
          <a:noFill/>
        </p:spPr>
        <p:txBody>
          <a:bodyPr wrap="none" lIns="0" rIns="0" tIns="0" bIns="0" anchor="t">
            <a:noAutofit/>
          </a:bodyPr>
          <a:lstStyle/>
          <a:p>
            <a:pPr algn="l">
              <a:lnSpc>
                <a:spcPts val="1050"/>
              </a:lnSpc>
              <a:spcBef>
                <a:spcPts val="0"/>
              </a:spcBef>
              <a:spcAft>
                <a:spcPts val="0"/>
              </a:spcAft>
            </a:pPr>
            <a:r>
              <a:rPr sz="750" b="0" i="0" spc="15">
                <a:solidFill>
                  <a:srgbClr val="333231"/>
                </a:solidFill>
                <a:latin typeface="Quicksand"/>
              </a:rPr>
              <a:t>Wesco</a:t>
            </a:r>
          </a:p>
        </p:txBody>
      </p:sp>
      <p:pic>
        <p:nvPicPr>
          <p:cNvPr id="145" name="ScanSource" descr="ScanSource"/>
          <p:cNvPicPr>
            <a:picLocks noChangeAspect="1"/>
          </p:cNvPicPr>
          <p:nvPr/>
        </p:nvPicPr>
        <p:blipFill>
          <a:blip r:embed="rId33"/>
          <a:stretch>
            <a:fillRect/>
          </a:stretch>
        </p:blipFill>
        <p:spPr>
          <a:xfrm>
            <a:off x="5172075" y="2326481"/>
            <a:ext cx="171450" cy="171450"/>
          </a:xfrm>
          <a:prstGeom prst="rect">
            <a:avLst/>
          </a:prstGeom>
        </p:spPr>
      </p:pic>
      <p:sp>
        <p:nvSpPr>
          <p:cNvPr id="146" name="TextBox 145"/>
          <p:cNvSpPr txBox="1"/>
          <p:nvPr/>
        </p:nvSpPr>
        <p:spPr>
          <a:xfrm>
            <a:off x="5400675" y="2328386"/>
            <a:ext cx="594866" cy="123825"/>
          </a:xfrm>
          <a:prstGeom prst="rect">
            <a:avLst/>
          </a:prstGeom>
          <a:noFill/>
        </p:spPr>
        <p:txBody>
          <a:bodyPr wrap="none" lIns="0" rIns="0" tIns="0" bIns="0" anchor="t">
            <a:noAutofit/>
          </a:bodyPr>
          <a:lstStyle/>
          <a:p>
            <a:pPr algn="l">
              <a:lnSpc>
                <a:spcPts val="1050"/>
              </a:lnSpc>
              <a:spcBef>
                <a:spcPts val="0"/>
              </a:spcBef>
              <a:spcAft>
                <a:spcPts val="0"/>
              </a:spcAft>
            </a:pPr>
            <a:r>
              <a:rPr sz="750" b="0" i="0" spc="15">
                <a:solidFill>
                  <a:srgbClr val="333231"/>
                </a:solidFill>
                <a:latin typeface="Quicksand"/>
              </a:rPr>
              <a:t>ScanSource</a:t>
            </a:r>
          </a:p>
        </p:txBody>
      </p:sp>
      <p:pic>
        <p:nvPicPr>
          <p:cNvPr id="147" name="Climb Global Solutions" descr="Climb Global Solutions"/>
          <p:cNvPicPr>
            <a:picLocks noChangeAspect="1"/>
          </p:cNvPicPr>
          <p:nvPr/>
        </p:nvPicPr>
        <p:blipFill>
          <a:blip r:embed="rId34"/>
          <a:stretch>
            <a:fillRect/>
          </a:stretch>
        </p:blipFill>
        <p:spPr>
          <a:xfrm>
            <a:off x="5172075" y="2550319"/>
            <a:ext cx="171450" cy="171450"/>
          </a:xfrm>
          <a:prstGeom prst="rect">
            <a:avLst/>
          </a:prstGeom>
        </p:spPr>
      </p:pic>
      <p:sp>
        <p:nvSpPr>
          <p:cNvPr id="148" name="TextBox 147"/>
          <p:cNvSpPr txBox="1"/>
          <p:nvPr/>
        </p:nvSpPr>
        <p:spPr>
          <a:xfrm>
            <a:off x="5400675" y="2552224"/>
            <a:ext cx="637133" cy="123825"/>
          </a:xfrm>
          <a:prstGeom prst="rect">
            <a:avLst/>
          </a:prstGeom>
          <a:noFill/>
        </p:spPr>
        <p:txBody>
          <a:bodyPr wrap="none" lIns="0" rIns="0" tIns="0" bIns="0" anchor="t">
            <a:noAutofit/>
          </a:bodyPr>
          <a:lstStyle/>
          <a:p>
            <a:pPr algn="l">
              <a:lnSpc>
                <a:spcPts val="1050"/>
              </a:lnSpc>
              <a:spcBef>
                <a:spcPts val="0"/>
              </a:spcBef>
              <a:spcAft>
                <a:spcPts val="0"/>
              </a:spcAft>
            </a:pPr>
            <a:r>
              <a:rPr sz="750" b="0" i="0" spc="15">
                <a:solidFill>
                  <a:srgbClr val="333231"/>
                </a:solidFill>
                <a:latin typeface="Quicksand"/>
              </a:rPr>
              <a:t>Climb Global</a:t>
            </a:r>
          </a:p>
        </p:txBody>
      </p:sp>
      <p:pic>
        <p:nvPicPr>
          <p:cNvPr id="149" name="TD SYNNEX" descr="TD SYNNEX"/>
          <p:cNvPicPr>
            <a:picLocks noChangeAspect="1"/>
          </p:cNvPicPr>
          <p:nvPr/>
        </p:nvPicPr>
        <p:blipFill>
          <a:blip r:embed="rId35"/>
          <a:stretch>
            <a:fillRect/>
          </a:stretch>
        </p:blipFill>
        <p:spPr>
          <a:xfrm>
            <a:off x="5172075" y="2774156"/>
            <a:ext cx="171450" cy="171450"/>
          </a:xfrm>
          <a:prstGeom prst="rect">
            <a:avLst/>
          </a:prstGeom>
        </p:spPr>
      </p:pic>
      <p:sp>
        <p:nvSpPr>
          <p:cNvPr id="150" name="TextBox 149"/>
          <p:cNvSpPr txBox="1"/>
          <p:nvPr/>
        </p:nvSpPr>
        <p:spPr>
          <a:xfrm>
            <a:off x="5400675" y="2776061"/>
            <a:ext cx="582216" cy="123825"/>
          </a:xfrm>
          <a:prstGeom prst="rect">
            <a:avLst/>
          </a:prstGeom>
          <a:noFill/>
        </p:spPr>
        <p:txBody>
          <a:bodyPr wrap="none" lIns="0" rIns="0" tIns="0" bIns="0" anchor="t">
            <a:noAutofit/>
          </a:bodyPr>
          <a:lstStyle/>
          <a:p>
            <a:pPr algn="l">
              <a:lnSpc>
                <a:spcPts val="1050"/>
              </a:lnSpc>
              <a:spcBef>
                <a:spcPts val="0"/>
              </a:spcBef>
              <a:spcAft>
                <a:spcPts val="0"/>
              </a:spcAft>
            </a:pPr>
            <a:r>
              <a:rPr sz="750" b="0" i="0" spc="15">
                <a:solidFill>
                  <a:srgbClr val="333231"/>
                </a:solidFill>
                <a:latin typeface="Quicksand"/>
              </a:rPr>
              <a:t>TD SYNNEX</a:t>
            </a:r>
          </a:p>
        </p:txBody>
      </p:sp>
      <p:pic>
        <p:nvPicPr>
          <p:cNvPr id="151" name="Unisys" descr="Unisys"/>
          <p:cNvPicPr>
            <a:picLocks noChangeAspect="1"/>
          </p:cNvPicPr>
          <p:nvPr/>
        </p:nvPicPr>
        <p:blipFill>
          <a:blip r:embed="rId36"/>
          <a:stretch>
            <a:fillRect/>
          </a:stretch>
        </p:blipFill>
        <p:spPr>
          <a:xfrm>
            <a:off x="5172075" y="2997994"/>
            <a:ext cx="171450" cy="171450"/>
          </a:xfrm>
          <a:prstGeom prst="rect">
            <a:avLst/>
          </a:prstGeom>
        </p:spPr>
      </p:pic>
      <p:sp>
        <p:nvSpPr>
          <p:cNvPr id="152" name="TextBox 151"/>
          <p:cNvSpPr txBox="1"/>
          <p:nvPr/>
        </p:nvSpPr>
        <p:spPr>
          <a:xfrm>
            <a:off x="5400675" y="2999899"/>
            <a:ext cx="354509" cy="123825"/>
          </a:xfrm>
          <a:prstGeom prst="rect">
            <a:avLst/>
          </a:prstGeom>
          <a:noFill/>
        </p:spPr>
        <p:txBody>
          <a:bodyPr wrap="none" lIns="0" rIns="0" tIns="0" bIns="0" anchor="t">
            <a:noAutofit/>
          </a:bodyPr>
          <a:lstStyle/>
          <a:p>
            <a:pPr algn="l">
              <a:lnSpc>
                <a:spcPts val="1050"/>
              </a:lnSpc>
              <a:spcBef>
                <a:spcPts val="0"/>
              </a:spcBef>
              <a:spcAft>
                <a:spcPts val="0"/>
              </a:spcAft>
            </a:pPr>
            <a:r>
              <a:rPr sz="750" b="0" i="0" spc="15">
                <a:solidFill>
                  <a:srgbClr val="333231"/>
                </a:solidFill>
                <a:latin typeface="Quicksand"/>
              </a:rPr>
              <a:t>Unisys</a:t>
            </a:r>
          </a:p>
        </p:txBody>
      </p:sp>
      <p:pic>
        <p:nvPicPr>
          <p:cNvPr id="153" name="Napco Security" descr="Napco Security"/>
          <p:cNvPicPr>
            <a:picLocks noChangeAspect="1"/>
          </p:cNvPicPr>
          <p:nvPr/>
        </p:nvPicPr>
        <p:blipFill>
          <a:blip r:embed="rId37"/>
          <a:stretch>
            <a:fillRect/>
          </a:stretch>
        </p:blipFill>
        <p:spPr>
          <a:xfrm>
            <a:off x="5172075" y="3221831"/>
            <a:ext cx="171450" cy="171450"/>
          </a:xfrm>
          <a:prstGeom prst="rect">
            <a:avLst/>
          </a:prstGeom>
        </p:spPr>
      </p:pic>
      <p:sp>
        <p:nvSpPr>
          <p:cNvPr id="154" name="TextBox 153"/>
          <p:cNvSpPr txBox="1"/>
          <p:nvPr/>
        </p:nvSpPr>
        <p:spPr>
          <a:xfrm>
            <a:off x="5400675" y="3223736"/>
            <a:ext cx="755898" cy="123825"/>
          </a:xfrm>
          <a:prstGeom prst="rect">
            <a:avLst/>
          </a:prstGeom>
          <a:noFill/>
        </p:spPr>
        <p:txBody>
          <a:bodyPr wrap="none" lIns="0" rIns="0" tIns="0" bIns="0" anchor="t">
            <a:noAutofit/>
          </a:bodyPr>
          <a:lstStyle/>
          <a:p>
            <a:pPr algn="l">
              <a:lnSpc>
                <a:spcPts val="1050"/>
              </a:lnSpc>
              <a:spcBef>
                <a:spcPts val="0"/>
              </a:spcBef>
              <a:spcAft>
                <a:spcPts val="0"/>
              </a:spcAft>
            </a:pPr>
            <a:r>
              <a:rPr sz="750" b="0" i="0" spc="15">
                <a:solidFill>
                  <a:srgbClr val="333231"/>
                </a:solidFill>
                <a:latin typeface="Quicksand"/>
              </a:rPr>
              <a:t>Napco Security</a:t>
            </a:r>
          </a:p>
        </p:txBody>
      </p:sp>
      <p:pic>
        <p:nvPicPr>
          <p:cNvPr id="155" name="Computacenter" descr="Computacenter"/>
          <p:cNvPicPr>
            <a:picLocks noChangeAspect="1"/>
          </p:cNvPicPr>
          <p:nvPr/>
        </p:nvPicPr>
        <p:blipFill>
          <a:blip r:embed="rId38"/>
          <a:stretch>
            <a:fillRect/>
          </a:stretch>
        </p:blipFill>
        <p:spPr>
          <a:xfrm>
            <a:off x="5172075" y="3445669"/>
            <a:ext cx="171450" cy="171450"/>
          </a:xfrm>
          <a:prstGeom prst="rect">
            <a:avLst/>
          </a:prstGeom>
        </p:spPr>
      </p:pic>
      <p:sp>
        <p:nvSpPr>
          <p:cNvPr id="156" name="TextBox 155"/>
          <p:cNvSpPr txBox="1"/>
          <p:nvPr/>
        </p:nvSpPr>
        <p:spPr>
          <a:xfrm>
            <a:off x="5400675" y="3447574"/>
            <a:ext cx="771079" cy="123825"/>
          </a:xfrm>
          <a:prstGeom prst="rect">
            <a:avLst/>
          </a:prstGeom>
          <a:noFill/>
        </p:spPr>
        <p:txBody>
          <a:bodyPr wrap="none" lIns="0" rIns="0" tIns="0" bIns="0" anchor="t">
            <a:noAutofit/>
          </a:bodyPr>
          <a:lstStyle/>
          <a:p>
            <a:pPr algn="l">
              <a:lnSpc>
                <a:spcPts val="1050"/>
              </a:lnSpc>
              <a:spcBef>
                <a:spcPts val="0"/>
              </a:spcBef>
              <a:spcAft>
                <a:spcPts val="0"/>
              </a:spcAft>
            </a:pPr>
            <a:r>
              <a:rPr sz="750" b="0" i="0" spc="15">
                <a:solidFill>
                  <a:srgbClr val="333231"/>
                </a:solidFill>
                <a:latin typeface="Quicksand"/>
              </a:rPr>
              <a:t>Computacenter</a:t>
            </a:r>
          </a:p>
        </p:txBody>
      </p:sp>
      <p:pic>
        <p:nvPicPr>
          <p:cNvPr id="157" name="Bechtle" descr="Bechtle"/>
          <p:cNvPicPr>
            <a:picLocks noChangeAspect="1"/>
          </p:cNvPicPr>
          <p:nvPr/>
        </p:nvPicPr>
        <p:blipFill>
          <a:blip r:embed="rId39"/>
          <a:stretch>
            <a:fillRect/>
          </a:stretch>
        </p:blipFill>
        <p:spPr>
          <a:xfrm>
            <a:off x="5172075" y="3669506"/>
            <a:ext cx="171450" cy="171450"/>
          </a:xfrm>
          <a:prstGeom prst="rect">
            <a:avLst/>
          </a:prstGeom>
        </p:spPr>
      </p:pic>
      <p:sp>
        <p:nvSpPr>
          <p:cNvPr id="158" name="TextBox 157"/>
          <p:cNvSpPr txBox="1"/>
          <p:nvPr/>
        </p:nvSpPr>
        <p:spPr>
          <a:xfrm>
            <a:off x="5400675" y="3671411"/>
            <a:ext cx="396776" cy="123825"/>
          </a:xfrm>
          <a:prstGeom prst="rect">
            <a:avLst/>
          </a:prstGeom>
          <a:noFill/>
        </p:spPr>
        <p:txBody>
          <a:bodyPr wrap="none" lIns="0" rIns="0" tIns="0" bIns="0" anchor="t">
            <a:noAutofit/>
          </a:bodyPr>
          <a:lstStyle/>
          <a:p>
            <a:pPr algn="l">
              <a:lnSpc>
                <a:spcPts val="1050"/>
              </a:lnSpc>
              <a:spcBef>
                <a:spcPts val="0"/>
              </a:spcBef>
              <a:spcAft>
                <a:spcPts val="0"/>
              </a:spcAft>
            </a:pPr>
            <a:r>
              <a:rPr sz="750" b="0" i="0" spc="15">
                <a:solidFill>
                  <a:srgbClr val="333231"/>
                </a:solidFill>
                <a:latin typeface="Quicksand"/>
              </a:rPr>
              <a:t>Bechtle</a:t>
            </a:r>
          </a:p>
        </p:txBody>
      </p:sp>
      <p:pic>
        <p:nvPicPr>
          <p:cNvPr id="159" name="ADT" descr="ADT"/>
          <p:cNvPicPr>
            <a:picLocks noChangeAspect="1"/>
          </p:cNvPicPr>
          <p:nvPr/>
        </p:nvPicPr>
        <p:blipFill>
          <a:blip r:embed="rId40"/>
          <a:stretch>
            <a:fillRect/>
          </a:stretch>
        </p:blipFill>
        <p:spPr>
          <a:xfrm>
            <a:off x="5172075" y="3893344"/>
            <a:ext cx="171450" cy="171450"/>
          </a:xfrm>
          <a:prstGeom prst="rect">
            <a:avLst/>
          </a:prstGeom>
        </p:spPr>
      </p:pic>
      <p:sp>
        <p:nvSpPr>
          <p:cNvPr id="160" name="TextBox 159"/>
          <p:cNvSpPr txBox="1"/>
          <p:nvPr/>
        </p:nvSpPr>
        <p:spPr>
          <a:xfrm>
            <a:off x="5400675" y="3895249"/>
            <a:ext cx="248692" cy="123825"/>
          </a:xfrm>
          <a:prstGeom prst="rect">
            <a:avLst/>
          </a:prstGeom>
          <a:noFill/>
        </p:spPr>
        <p:txBody>
          <a:bodyPr wrap="none" lIns="0" rIns="0" tIns="0" bIns="0" anchor="t">
            <a:noAutofit/>
          </a:bodyPr>
          <a:lstStyle/>
          <a:p>
            <a:pPr algn="l">
              <a:lnSpc>
                <a:spcPts val="1050"/>
              </a:lnSpc>
              <a:spcBef>
                <a:spcPts val="0"/>
              </a:spcBef>
              <a:spcAft>
                <a:spcPts val="0"/>
              </a:spcAft>
            </a:pPr>
            <a:r>
              <a:rPr sz="750" b="0" i="0" spc="15">
                <a:solidFill>
                  <a:srgbClr val="333231"/>
                </a:solidFill>
                <a:latin typeface="Quicksand"/>
              </a:rPr>
              <a:t>ADT</a:t>
            </a:r>
          </a:p>
        </p:txBody>
      </p:sp>
      <p:sp>
        <p:nvSpPr>
          <p:cNvPr id="161" name="Rule"/>
          <p:cNvSpPr/>
          <p:nvPr/>
        </p:nvSpPr>
        <p:spPr>
          <a:xfrm>
            <a:off x="5172075" y="4114800"/>
            <a:ext cx="1266825" cy="9525"/>
          </a:xfrm>
          <a:prstGeom prst="rect">
            <a:avLst/>
          </a:prstGeom>
          <a:solidFill>
            <a:srgbClr val="E3DCD3"/>
          </a:solidFill>
          <a:ln>
            <a:noFill/>
          </a:ln>
        </p:spPr>
        <p:txBody>
          <a:bodyPr rtlCol="0" anchor="ctr"/>
          <a:lstStyle/>
          <a:p>
            <a:pPr algn="ctr"/>
          </a:p>
        </p:txBody>
      </p:sp>
      <p:sp>
        <p:nvSpPr>
          <p:cNvPr id="162" name="TextBox 161"/>
          <p:cNvSpPr txBox="1"/>
          <p:nvPr/>
        </p:nvSpPr>
        <p:spPr>
          <a:xfrm>
            <a:off x="5172075" y="4198239"/>
            <a:ext cx="1343025" cy="342900"/>
          </a:xfrm>
          <a:prstGeom prst="rect">
            <a:avLst/>
          </a:prstGeom>
          <a:noFill/>
        </p:spPr>
        <p:txBody>
          <a:bodyPr wrap="square" lIns="0" rIns="0" tIns="0" bIns="0" anchor="t">
            <a:noAutofit/>
          </a:bodyPr>
          <a:lstStyle/>
          <a:p>
            <a:pPr algn="l">
              <a:lnSpc>
                <a:spcPts val="975"/>
              </a:lnSpc>
              <a:spcBef>
                <a:spcPts val="0"/>
              </a:spcBef>
              <a:spcAft>
                <a:spcPts val="0"/>
              </a:spcAft>
            </a:pPr>
            <a:r>
              <a:rPr sz="600" b="1" i="0" spc="150">
                <a:solidFill>
                  <a:srgbClr val="8C6239"/>
                </a:solidFill>
                <a:latin typeface="Quicksand"/>
              </a:rPr>
              <a:t>SECURITY, AUDIOVISUAL AND IT PLATFORMS</a:t>
            </a:r>
          </a:p>
        </p:txBody>
      </p:sp>
      <p:sp>
        <p:nvSpPr>
          <p:cNvPr id="163" name="Panel"/>
          <p:cNvSpPr/>
          <p:nvPr/>
        </p:nvSpPr>
        <p:spPr>
          <a:xfrm>
            <a:off x="5176838" y="4662488"/>
            <a:ext cx="427732" cy="190500"/>
          </a:xfrm>
          <a:prstGeom prst="rect">
            <a:avLst/>
          </a:prstGeom>
          <a:solidFill>
            <a:srgbClr val="FFFFFF"/>
          </a:solidFill>
          <a:ln w="9525">
            <a:solidFill>
              <a:srgbClr val="E3DCD3"/>
            </a:solidFill>
          </a:ln>
        </p:spPr>
        <p:txBody>
          <a:bodyPr rtlCol="0" anchor="ctr"/>
          <a:lstStyle/>
          <a:p>
            <a:pPr algn="ctr"/>
          </a:p>
        </p:txBody>
      </p:sp>
      <p:sp>
        <p:nvSpPr>
          <p:cNvPr id="164" name="TextBox 163"/>
          <p:cNvSpPr txBox="1"/>
          <p:nvPr/>
        </p:nvSpPr>
        <p:spPr>
          <a:xfrm>
            <a:off x="5238750" y="4682395"/>
            <a:ext cx="361057" cy="114300"/>
          </a:xfrm>
          <a:prstGeom prst="rect">
            <a:avLst/>
          </a:prstGeom>
          <a:noFill/>
        </p:spPr>
        <p:txBody>
          <a:bodyPr wrap="none" lIns="0" rIns="0" tIns="0" bIns="0" anchor="t">
            <a:noAutofit/>
          </a:bodyPr>
          <a:lstStyle/>
          <a:p>
            <a:pPr algn="l">
              <a:lnSpc>
                <a:spcPts val="975"/>
              </a:lnSpc>
              <a:spcBef>
                <a:spcPts val="0"/>
              </a:spcBef>
              <a:spcAft>
                <a:spcPts val="0"/>
              </a:spcAft>
            </a:pPr>
            <a:r>
              <a:rPr sz="712" b="1" i="0" spc="15">
                <a:solidFill>
                  <a:srgbClr val="1B1A1A"/>
                </a:solidFill>
                <a:latin typeface="Quicksand"/>
              </a:rPr>
              <a:t>Pavion</a:t>
            </a:r>
          </a:p>
        </p:txBody>
      </p:sp>
      <p:sp>
        <p:nvSpPr>
          <p:cNvPr id="165" name="Panel"/>
          <p:cNvSpPr/>
          <p:nvPr/>
        </p:nvSpPr>
        <p:spPr>
          <a:xfrm>
            <a:off x="5661720" y="4662488"/>
            <a:ext cx="621357" cy="190500"/>
          </a:xfrm>
          <a:prstGeom prst="rect">
            <a:avLst/>
          </a:prstGeom>
          <a:solidFill>
            <a:srgbClr val="FFFFFF"/>
          </a:solidFill>
          <a:ln w="9525">
            <a:solidFill>
              <a:srgbClr val="E3DCD3"/>
            </a:solidFill>
          </a:ln>
        </p:spPr>
        <p:txBody>
          <a:bodyPr rtlCol="0" anchor="ctr"/>
          <a:lstStyle/>
          <a:p>
            <a:pPr algn="ctr"/>
          </a:p>
        </p:txBody>
      </p:sp>
      <p:sp>
        <p:nvSpPr>
          <p:cNvPr id="166" name="TextBox 165"/>
          <p:cNvSpPr txBox="1"/>
          <p:nvPr/>
        </p:nvSpPr>
        <p:spPr>
          <a:xfrm>
            <a:off x="5723632" y="4682395"/>
            <a:ext cx="554682" cy="114300"/>
          </a:xfrm>
          <a:prstGeom prst="rect">
            <a:avLst/>
          </a:prstGeom>
          <a:noFill/>
        </p:spPr>
        <p:txBody>
          <a:bodyPr wrap="none" lIns="0" rIns="0" tIns="0" bIns="0" anchor="t">
            <a:noAutofit/>
          </a:bodyPr>
          <a:lstStyle/>
          <a:p>
            <a:pPr algn="l">
              <a:lnSpc>
                <a:spcPts val="975"/>
              </a:lnSpc>
              <a:spcBef>
                <a:spcPts val="0"/>
              </a:spcBef>
              <a:spcAft>
                <a:spcPts val="0"/>
              </a:spcAft>
            </a:pPr>
            <a:r>
              <a:rPr sz="712" b="1" i="0" spc="15">
                <a:solidFill>
                  <a:srgbClr val="1B1A1A"/>
                </a:solidFill>
                <a:latin typeface="Quicksand"/>
              </a:rPr>
              <a:t>Convergint</a:t>
            </a:r>
          </a:p>
        </p:txBody>
      </p:sp>
      <p:sp>
        <p:nvSpPr>
          <p:cNvPr id="167" name="Panel"/>
          <p:cNvSpPr/>
          <p:nvPr/>
        </p:nvSpPr>
        <p:spPr>
          <a:xfrm>
            <a:off x="5176838" y="4910138"/>
            <a:ext cx="437257" cy="190500"/>
          </a:xfrm>
          <a:prstGeom prst="rect">
            <a:avLst/>
          </a:prstGeom>
          <a:solidFill>
            <a:srgbClr val="FFFFFF"/>
          </a:solidFill>
          <a:ln w="9525">
            <a:solidFill>
              <a:srgbClr val="E3DCD3"/>
            </a:solidFill>
          </a:ln>
        </p:spPr>
        <p:txBody>
          <a:bodyPr rtlCol="0" anchor="ctr"/>
          <a:lstStyle/>
          <a:p>
            <a:pPr algn="ctr"/>
          </a:p>
        </p:txBody>
      </p:sp>
      <p:sp>
        <p:nvSpPr>
          <p:cNvPr id="168" name="TextBox 167"/>
          <p:cNvSpPr txBox="1"/>
          <p:nvPr/>
        </p:nvSpPr>
        <p:spPr>
          <a:xfrm>
            <a:off x="5238750" y="4930045"/>
            <a:ext cx="370582" cy="114300"/>
          </a:xfrm>
          <a:prstGeom prst="rect">
            <a:avLst/>
          </a:prstGeom>
          <a:noFill/>
        </p:spPr>
        <p:txBody>
          <a:bodyPr wrap="none" lIns="0" rIns="0" tIns="0" bIns="0" anchor="t">
            <a:noAutofit/>
          </a:bodyPr>
          <a:lstStyle/>
          <a:p>
            <a:pPr algn="l">
              <a:lnSpc>
                <a:spcPts val="975"/>
              </a:lnSpc>
              <a:spcBef>
                <a:spcPts val="0"/>
              </a:spcBef>
              <a:spcAft>
                <a:spcPts val="0"/>
              </a:spcAft>
            </a:pPr>
            <a:r>
              <a:rPr sz="712" b="1" i="0" spc="15">
                <a:solidFill>
                  <a:srgbClr val="1B1A1A"/>
                </a:solidFill>
                <a:latin typeface="Quicksand"/>
              </a:rPr>
              <a:t>Everon</a:t>
            </a:r>
          </a:p>
        </p:txBody>
      </p:sp>
      <p:sp>
        <p:nvSpPr>
          <p:cNvPr id="169" name="Panel"/>
          <p:cNvSpPr/>
          <p:nvPr/>
        </p:nvSpPr>
        <p:spPr>
          <a:xfrm>
            <a:off x="5176838" y="5157788"/>
            <a:ext cx="1093440" cy="190500"/>
          </a:xfrm>
          <a:prstGeom prst="rect">
            <a:avLst/>
          </a:prstGeom>
          <a:solidFill>
            <a:srgbClr val="FFFFFF"/>
          </a:solidFill>
          <a:ln w="9525">
            <a:solidFill>
              <a:srgbClr val="E3DCD3"/>
            </a:solidFill>
          </a:ln>
        </p:spPr>
        <p:txBody>
          <a:bodyPr rtlCol="0" anchor="ctr"/>
          <a:lstStyle/>
          <a:p>
            <a:pPr algn="ctr"/>
          </a:p>
        </p:txBody>
      </p:sp>
      <p:sp>
        <p:nvSpPr>
          <p:cNvPr id="170" name="TextBox 169"/>
          <p:cNvSpPr txBox="1"/>
          <p:nvPr/>
        </p:nvSpPr>
        <p:spPr>
          <a:xfrm>
            <a:off x="5238750" y="5177695"/>
            <a:ext cx="1026765" cy="114300"/>
          </a:xfrm>
          <a:prstGeom prst="rect">
            <a:avLst/>
          </a:prstGeom>
          <a:noFill/>
        </p:spPr>
        <p:txBody>
          <a:bodyPr wrap="none" lIns="0" rIns="0" tIns="0" bIns="0" anchor="t">
            <a:noAutofit/>
          </a:bodyPr>
          <a:lstStyle/>
          <a:p>
            <a:pPr algn="l">
              <a:lnSpc>
                <a:spcPts val="975"/>
              </a:lnSpc>
              <a:spcBef>
                <a:spcPts val="0"/>
              </a:spcBef>
              <a:spcAft>
                <a:spcPts val="0"/>
              </a:spcAft>
            </a:pPr>
            <a:r>
              <a:rPr sz="712" b="1" i="0" spc="15">
                <a:solidFill>
                  <a:srgbClr val="1B1A1A"/>
                </a:solidFill>
                <a:latin typeface="Quicksand"/>
              </a:rPr>
              <a:t>Securitas Technology</a:t>
            </a:r>
          </a:p>
        </p:txBody>
      </p:sp>
      <p:sp>
        <p:nvSpPr>
          <p:cNvPr id="171" name="Panel"/>
          <p:cNvSpPr/>
          <p:nvPr/>
        </p:nvSpPr>
        <p:spPr>
          <a:xfrm>
            <a:off x="5176838" y="5405438"/>
            <a:ext cx="594420" cy="190500"/>
          </a:xfrm>
          <a:prstGeom prst="rect">
            <a:avLst/>
          </a:prstGeom>
          <a:solidFill>
            <a:srgbClr val="FFFFFF"/>
          </a:solidFill>
          <a:ln w="9525">
            <a:solidFill>
              <a:srgbClr val="E3DCD3"/>
            </a:solidFill>
          </a:ln>
        </p:spPr>
        <p:txBody>
          <a:bodyPr rtlCol="0" anchor="ctr"/>
          <a:lstStyle/>
          <a:p>
            <a:pPr algn="ctr"/>
          </a:p>
        </p:txBody>
      </p:sp>
      <p:sp>
        <p:nvSpPr>
          <p:cNvPr id="172" name="TextBox 171"/>
          <p:cNvSpPr txBox="1"/>
          <p:nvPr/>
        </p:nvSpPr>
        <p:spPr>
          <a:xfrm>
            <a:off x="5238750" y="5425345"/>
            <a:ext cx="527745" cy="114300"/>
          </a:xfrm>
          <a:prstGeom prst="rect">
            <a:avLst/>
          </a:prstGeom>
          <a:noFill/>
        </p:spPr>
        <p:txBody>
          <a:bodyPr wrap="none" lIns="0" rIns="0" tIns="0" bIns="0" anchor="t">
            <a:noAutofit/>
          </a:bodyPr>
          <a:lstStyle/>
          <a:p>
            <a:pPr algn="l">
              <a:lnSpc>
                <a:spcPts val="975"/>
              </a:lnSpc>
              <a:spcBef>
                <a:spcPts val="0"/>
              </a:spcBef>
              <a:spcAft>
                <a:spcPts val="0"/>
              </a:spcAft>
            </a:pPr>
            <a:r>
              <a:rPr sz="712" b="1" i="0" spc="15">
                <a:solidFill>
                  <a:srgbClr val="1B1A1A"/>
                </a:solidFill>
                <a:latin typeface="Quicksand"/>
              </a:rPr>
              <a:t>Knox Lane</a:t>
            </a:r>
          </a:p>
        </p:txBody>
      </p:sp>
      <p:sp>
        <p:nvSpPr>
          <p:cNvPr id="173" name="Panel"/>
          <p:cNvSpPr/>
          <p:nvPr/>
        </p:nvSpPr>
        <p:spPr>
          <a:xfrm>
            <a:off x="5176838" y="5653088"/>
            <a:ext cx="1242566" cy="190500"/>
          </a:xfrm>
          <a:prstGeom prst="rect">
            <a:avLst/>
          </a:prstGeom>
          <a:solidFill>
            <a:srgbClr val="FFFFFF"/>
          </a:solidFill>
          <a:ln w="9525">
            <a:solidFill>
              <a:srgbClr val="E3DCD3"/>
            </a:solidFill>
          </a:ln>
        </p:spPr>
        <p:txBody>
          <a:bodyPr rtlCol="0" anchor="ctr"/>
          <a:lstStyle/>
          <a:p>
            <a:pPr algn="ctr"/>
          </a:p>
        </p:txBody>
      </p:sp>
      <p:sp>
        <p:nvSpPr>
          <p:cNvPr id="174" name="TextBox 173"/>
          <p:cNvSpPr txBox="1"/>
          <p:nvPr/>
        </p:nvSpPr>
        <p:spPr>
          <a:xfrm>
            <a:off x="5238750" y="5672995"/>
            <a:ext cx="1175891" cy="114300"/>
          </a:xfrm>
          <a:prstGeom prst="rect">
            <a:avLst/>
          </a:prstGeom>
          <a:noFill/>
        </p:spPr>
        <p:txBody>
          <a:bodyPr wrap="none" lIns="0" rIns="0" tIns="0" bIns="0" anchor="t">
            <a:noAutofit/>
          </a:bodyPr>
          <a:lstStyle/>
          <a:p>
            <a:pPr algn="l">
              <a:lnSpc>
                <a:spcPts val="975"/>
              </a:lnSpc>
              <a:spcBef>
                <a:spcPts val="0"/>
              </a:spcBef>
              <a:spcAft>
                <a:spcPts val="0"/>
              </a:spcAft>
            </a:pPr>
            <a:r>
              <a:rPr sz="712" b="1" i="0" spc="15">
                <a:solidFill>
                  <a:srgbClr val="1B1A1A"/>
                </a:solidFill>
                <a:latin typeface="Quicksand"/>
              </a:rPr>
              <a:t>Sciens Building Solutions</a:t>
            </a:r>
          </a:p>
        </p:txBody>
      </p:sp>
      <p:sp>
        <p:nvSpPr>
          <p:cNvPr id="175" name="Panel"/>
          <p:cNvSpPr/>
          <p:nvPr/>
        </p:nvSpPr>
        <p:spPr>
          <a:xfrm>
            <a:off x="5176838" y="5900738"/>
            <a:ext cx="1078409" cy="190500"/>
          </a:xfrm>
          <a:prstGeom prst="rect">
            <a:avLst/>
          </a:prstGeom>
          <a:solidFill>
            <a:srgbClr val="FFFFFF"/>
          </a:solidFill>
          <a:ln w="9525">
            <a:solidFill>
              <a:srgbClr val="E3DCD3"/>
            </a:solidFill>
          </a:ln>
        </p:spPr>
        <p:txBody>
          <a:bodyPr rtlCol="0" anchor="ctr"/>
          <a:lstStyle/>
          <a:p>
            <a:pPr algn="ctr"/>
          </a:p>
        </p:txBody>
      </p:sp>
      <p:sp>
        <p:nvSpPr>
          <p:cNvPr id="176" name="TextBox 175"/>
          <p:cNvSpPr txBox="1"/>
          <p:nvPr/>
        </p:nvSpPr>
        <p:spPr>
          <a:xfrm>
            <a:off x="5238750" y="5920645"/>
            <a:ext cx="1011734" cy="114300"/>
          </a:xfrm>
          <a:prstGeom prst="rect">
            <a:avLst/>
          </a:prstGeom>
          <a:noFill/>
        </p:spPr>
        <p:txBody>
          <a:bodyPr wrap="none" lIns="0" rIns="0" tIns="0" bIns="0" anchor="t">
            <a:noAutofit/>
          </a:bodyPr>
          <a:lstStyle/>
          <a:p>
            <a:pPr algn="l">
              <a:lnSpc>
                <a:spcPts val="975"/>
              </a:lnSpc>
              <a:spcBef>
                <a:spcPts val="0"/>
              </a:spcBef>
              <a:spcAft>
                <a:spcPts val="0"/>
              </a:spcAft>
            </a:pPr>
            <a:r>
              <a:rPr sz="712" b="1" i="0" spc="15">
                <a:solidFill>
                  <a:srgbClr val="1B1A1A"/>
                </a:solidFill>
                <a:latin typeface="Quicksand"/>
              </a:rPr>
              <a:t>AVI-SPL with 26North</a:t>
            </a:r>
          </a:p>
        </p:txBody>
      </p:sp>
      <p:sp>
        <p:nvSpPr>
          <p:cNvPr id="177" name="Panel"/>
          <p:cNvSpPr/>
          <p:nvPr/>
        </p:nvSpPr>
        <p:spPr>
          <a:xfrm>
            <a:off x="5176838" y="6148388"/>
            <a:ext cx="672703" cy="190500"/>
          </a:xfrm>
          <a:prstGeom prst="rect">
            <a:avLst/>
          </a:prstGeom>
          <a:solidFill>
            <a:srgbClr val="FFFFFF"/>
          </a:solidFill>
          <a:ln w="9525">
            <a:solidFill>
              <a:srgbClr val="E3DCD3"/>
            </a:solidFill>
          </a:ln>
        </p:spPr>
        <p:txBody>
          <a:bodyPr rtlCol="0" anchor="ctr"/>
          <a:lstStyle/>
          <a:p>
            <a:pPr algn="ctr"/>
          </a:p>
        </p:txBody>
      </p:sp>
      <p:sp>
        <p:nvSpPr>
          <p:cNvPr id="178" name="TextBox 177"/>
          <p:cNvSpPr txBox="1"/>
          <p:nvPr/>
        </p:nvSpPr>
        <p:spPr>
          <a:xfrm>
            <a:off x="5238750" y="6168295"/>
            <a:ext cx="606028" cy="114300"/>
          </a:xfrm>
          <a:prstGeom prst="rect">
            <a:avLst/>
          </a:prstGeom>
          <a:noFill/>
        </p:spPr>
        <p:txBody>
          <a:bodyPr wrap="none" lIns="0" rIns="0" tIns="0" bIns="0" anchor="t">
            <a:noAutofit/>
          </a:bodyPr>
          <a:lstStyle/>
          <a:p>
            <a:pPr algn="l">
              <a:lnSpc>
                <a:spcPts val="975"/>
              </a:lnSpc>
              <a:spcBef>
                <a:spcPts val="0"/>
              </a:spcBef>
              <a:spcAft>
                <a:spcPts val="0"/>
              </a:spcAft>
            </a:pPr>
            <a:r>
              <a:rPr sz="712" b="1" i="0" spc="15">
                <a:solidFill>
                  <a:srgbClr val="1B1A1A"/>
                </a:solidFill>
                <a:latin typeface="Quicksand"/>
              </a:rPr>
              <a:t>AVI Systems</a:t>
            </a:r>
          </a:p>
        </p:txBody>
      </p:sp>
      <p:sp>
        <p:nvSpPr>
          <p:cNvPr id="179" name="Panel"/>
          <p:cNvSpPr/>
          <p:nvPr/>
        </p:nvSpPr>
        <p:spPr>
          <a:xfrm>
            <a:off x="5176838" y="6396038"/>
            <a:ext cx="596801" cy="190500"/>
          </a:xfrm>
          <a:prstGeom prst="rect">
            <a:avLst/>
          </a:prstGeom>
          <a:solidFill>
            <a:srgbClr val="FFFFFF"/>
          </a:solidFill>
          <a:ln w="9525">
            <a:solidFill>
              <a:srgbClr val="E3DCD3"/>
            </a:solidFill>
          </a:ln>
        </p:spPr>
        <p:txBody>
          <a:bodyPr rtlCol="0" anchor="ctr"/>
          <a:lstStyle/>
          <a:p>
            <a:pPr algn="ctr"/>
          </a:p>
        </p:txBody>
      </p:sp>
      <p:sp>
        <p:nvSpPr>
          <p:cNvPr id="180" name="TextBox 179"/>
          <p:cNvSpPr txBox="1"/>
          <p:nvPr/>
        </p:nvSpPr>
        <p:spPr>
          <a:xfrm>
            <a:off x="5238750" y="6415945"/>
            <a:ext cx="530126" cy="114300"/>
          </a:xfrm>
          <a:prstGeom prst="rect">
            <a:avLst/>
          </a:prstGeom>
          <a:noFill/>
        </p:spPr>
        <p:txBody>
          <a:bodyPr wrap="none" lIns="0" rIns="0" tIns="0" bIns="0" anchor="t">
            <a:noAutofit/>
          </a:bodyPr>
          <a:lstStyle/>
          <a:p>
            <a:pPr algn="l">
              <a:lnSpc>
                <a:spcPts val="975"/>
              </a:lnSpc>
              <a:spcBef>
                <a:spcPts val="0"/>
              </a:spcBef>
              <a:spcAft>
                <a:spcPts val="0"/>
              </a:spcAft>
            </a:pPr>
            <a:r>
              <a:rPr sz="712" b="1" i="0" spc="15">
                <a:solidFill>
                  <a:srgbClr val="1B1A1A"/>
                </a:solidFill>
                <a:latin typeface="Quicksand"/>
              </a:rPr>
              <a:t>Myriad360</a:t>
            </a:r>
          </a:p>
        </p:txBody>
      </p:sp>
      <p:sp>
        <p:nvSpPr>
          <p:cNvPr id="181" name="Panel"/>
          <p:cNvSpPr/>
          <p:nvPr/>
        </p:nvSpPr>
        <p:spPr>
          <a:xfrm>
            <a:off x="5176838" y="6643688"/>
            <a:ext cx="677466" cy="190500"/>
          </a:xfrm>
          <a:prstGeom prst="rect">
            <a:avLst/>
          </a:prstGeom>
          <a:solidFill>
            <a:srgbClr val="FFFFFF"/>
          </a:solidFill>
          <a:ln w="9525">
            <a:solidFill>
              <a:srgbClr val="E3DCD3"/>
            </a:solidFill>
          </a:ln>
        </p:spPr>
        <p:txBody>
          <a:bodyPr rtlCol="0" anchor="ctr"/>
          <a:lstStyle/>
          <a:p>
            <a:pPr algn="ctr"/>
          </a:p>
        </p:txBody>
      </p:sp>
      <p:sp>
        <p:nvSpPr>
          <p:cNvPr id="182" name="TextBox 181"/>
          <p:cNvSpPr txBox="1"/>
          <p:nvPr/>
        </p:nvSpPr>
        <p:spPr>
          <a:xfrm>
            <a:off x="5238750" y="6663595"/>
            <a:ext cx="610791" cy="114300"/>
          </a:xfrm>
          <a:prstGeom prst="rect">
            <a:avLst/>
          </a:prstGeom>
          <a:noFill/>
        </p:spPr>
        <p:txBody>
          <a:bodyPr wrap="none" lIns="0" rIns="0" tIns="0" bIns="0" anchor="t">
            <a:noAutofit/>
          </a:bodyPr>
          <a:lstStyle/>
          <a:p>
            <a:pPr algn="l">
              <a:lnSpc>
                <a:spcPts val="975"/>
              </a:lnSpc>
              <a:spcBef>
                <a:spcPts val="0"/>
              </a:spcBef>
              <a:spcAft>
                <a:spcPts val="0"/>
              </a:spcAft>
            </a:pPr>
            <a:r>
              <a:rPr sz="712" b="1" i="0" spc="15">
                <a:solidFill>
                  <a:srgbClr val="1B1A1A"/>
                </a:solidFill>
                <a:latin typeface="Quicksand"/>
              </a:rPr>
              <a:t>Net at Work</a:t>
            </a:r>
          </a:p>
        </p:txBody>
      </p:sp>
      <p:sp>
        <p:nvSpPr>
          <p:cNvPr id="183" name="Panel"/>
          <p:cNvSpPr/>
          <p:nvPr/>
        </p:nvSpPr>
        <p:spPr>
          <a:xfrm>
            <a:off x="6629400" y="1238250"/>
            <a:ext cx="1457325" cy="5695950"/>
          </a:xfrm>
          <a:prstGeom prst="rect">
            <a:avLst/>
          </a:prstGeom>
          <a:solidFill>
            <a:srgbClr val="FAF7F3"/>
          </a:solidFill>
          <a:ln>
            <a:noFill/>
          </a:ln>
        </p:spPr>
        <p:txBody>
          <a:bodyPr rtlCol="0" anchor="ctr"/>
          <a:lstStyle/>
          <a:p>
            <a:pPr algn="ctr"/>
          </a:p>
        </p:txBody>
      </p:sp>
      <p:sp>
        <p:nvSpPr>
          <p:cNvPr id="184" name="Panel"/>
          <p:cNvSpPr/>
          <p:nvPr/>
        </p:nvSpPr>
        <p:spPr>
          <a:xfrm>
            <a:off x="6629400" y="1238250"/>
            <a:ext cx="1457325" cy="552450"/>
          </a:xfrm>
          <a:prstGeom prst="rect">
            <a:avLst/>
          </a:prstGeom>
          <a:solidFill>
            <a:srgbClr val="1B1A1A"/>
          </a:solidFill>
          <a:ln>
            <a:noFill/>
          </a:ln>
        </p:spPr>
        <p:txBody>
          <a:bodyPr rtlCol="0" anchor="ctr"/>
          <a:lstStyle/>
          <a:p>
            <a:pPr algn="ctr"/>
          </a:p>
        </p:txBody>
      </p:sp>
      <p:pic>
        <p:nvPicPr>
          <p:cNvPr id="185" name="Graphic" descr="S11_r0.png"/>
          <p:cNvPicPr>
            <a:picLocks noChangeAspect="1"/>
          </p:cNvPicPr>
          <p:nvPr/>
        </p:nvPicPr>
        <p:blipFill>
          <a:blip r:embed="rId41"/>
          <a:stretch>
            <a:fillRect/>
          </a:stretch>
        </p:blipFill>
        <p:spPr>
          <a:xfrm>
            <a:off x="6724650" y="1400175"/>
            <a:ext cx="228600" cy="228600"/>
          </a:xfrm>
          <a:prstGeom prst="rect">
            <a:avLst/>
          </a:prstGeom>
        </p:spPr>
      </p:pic>
      <p:sp>
        <p:nvSpPr>
          <p:cNvPr id="186" name="TextBox 185"/>
          <p:cNvSpPr txBox="1"/>
          <p:nvPr/>
        </p:nvSpPr>
        <p:spPr>
          <a:xfrm>
            <a:off x="7029450" y="1380934"/>
            <a:ext cx="1038225" cy="223838"/>
          </a:xfrm>
          <a:prstGeom prst="rect">
            <a:avLst/>
          </a:prstGeom>
          <a:noFill/>
        </p:spPr>
        <p:txBody>
          <a:bodyPr wrap="square" lIns="0" rIns="0" tIns="0" bIns="0" anchor="t">
            <a:noAutofit/>
          </a:bodyPr>
          <a:lstStyle/>
          <a:p>
            <a:pPr algn="l">
              <a:lnSpc>
                <a:spcPts val="938"/>
              </a:lnSpc>
              <a:spcBef>
                <a:spcPts val="0"/>
              </a:spcBef>
              <a:spcAft>
                <a:spcPts val="0"/>
              </a:spcAft>
            </a:pPr>
            <a:r>
              <a:rPr sz="675" b="1" i="0" spc="98">
                <a:solidFill>
                  <a:srgbClr val="FFFFFF"/>
                </a:solidFill>
                <a:latin typeface="Quicksand"/>
              </a:rPr>
              <a:t>ELECTRONICS &amp; HARDWARE</a:t>
            </a:r>
          </a:p>
        </p:txBody>
      </p:sp>
      <p:sp>
        <p:nvSpPr>
          <p:cNvPr id="187" name="TextBox 186"/>
          <p:cNvSpPr txBox="1"/>
          <p:nvPr/>
        </p:nvSpPr>
        <p:spPr>
          <a:xfrm>
            <a:off x="6724650" y="1883664"/>
            <a:ext cx="1063972" cy="95250"/>
          </a:xfrm>
          <a:prstGeom prst="rect">
            <a:avLst/>
          </a:prstGeom>
          <a:noFill/>
        </p:spPr>
        <p:txBody>
          <a:bodyPr wrap="none" lIns="0" rIns="0" tIns="0" bIns="0" anchor="t">
            <a:noAutofit/>
          </a:bodyPr>
          <a:lstStyle/>
          <a:p>
            <a:pPr algn="l">
              <a:lnSpc>
                <a:spcPts val="975"/>
              </a:lnSpc>
              <a:spcBef>
                <a:spcPts val="0"/>
              </a:spcBef>
              <a:spcAft>
                <a:spcPts val="0"/>
              </a:spcAft>
            </a:pPr>
            <a:r>
              <a:rPr sz="600" b="1" i="0" spc="150">
                <a:solidFill>
                  <a:srgbClr val="8C6239"/>
                </a:solidFill>
                <a:latin typeface="Quicksand"/>
              </a:rPr>
              <a:t>LISTED COMPANIES</a:t>
            </a:r>
          </a:p>
        </p:txBody>
      </p:sp>
      <p:pic>
        <p:nvPicPr>
          <p:cNvPr id="188" name="Jabil" descr="Jabil"/>
          <p:cNvPicPr>
            <a:picLocks noChangeAspect="1"/>
          </p:cNvPicPr>
          <p:nvPr/>
        </p:nvPicPr>
        <p:blipFill>
          <a:blip r:embed="rId42"/>
          <a:stretch>
            <a:fillRect/>
          </a:stretch>
        </p:blipFill>
        <p:spPr>
          <a:xfrm>
            <a:off x="6724650" y="2102644"/>
            <a:ext cx="171450" cy="171450"/>
          </a:xfrm>
          <a:prstGeom prst="rect">
            <a:avLst/>
          </a:prstGeom>
        </p:spPr>
      </p:pic>
      <p:sp>
        <p:nvSpPr>
          <p:cNvPr id="189" name="TextBox 188"/>
          <p:cNvSpPr txBox="1"/>
          <p:nvPr/>
        </p:nvSpPr>
        <p:spPr>
          <a:xfrm>
            <a:off x="6953250" y="2104549"/>
            <a:ext cx="278904" cy="123825"/>
          </a:xfrm>
          <a:prstGeom prst="rect">
            <a:avLst/>
          </a:prstGeom>
          <a:noFill/>
        </p:spPr>
        <p:txBody>
          <a:bodyPr wrap="none" lIns="0" rIns="0" tIns="0" bIns="0" anchor="t">
            <a:noAutofit/>
          </a:bodyPr>
          <a:lstStyle/>
          <a:p>
            <a:pPr algn="l">
              <a:lnSpc>
                <a:spcPts val="1050"/>
              </a:lnSpc>
              <a:spcBef>
                <a:spcPts val="0"/>
              </a:spcBef>
              <a:spcAft>
                <a:spcPts val="0"/>
              </a:spcAft>
            </a:pPr>
            <a:r>
              <a:rPr sz="750" b="0" i="0" spc="15">
                <a:solidFill>
                  <a:srgbClr val="333231"/>
                </a:solidFill>
                <a:latin typeface="Quicksand"/>
              </a:rPr>
              <a:t>Jabil</a:t>
            </a:r>
          </a:p>
        </p:txBody>
      </p:sp>
      <p:pic>
        <p:nvPicPr>
          <p:cNvPr id="190" name="Flex" descr="Flex"/>
          <p:cNvPicPr>
            <a:picLocks noChangeAspect="1"/>
          </p:cNvPicPr>
          <p:nvPr/>
        </p:nvPicPr>
        <p:blipFill>
          <a:blip r:embed="rId43"/>
          <a:stretch>
            <a:fillRect/>
          </a:stretch>
        </p:blipFill>
        <p:spPr>
          <a:xfrm>
            <a:off x="6724650" y="2326481"/>
            <a:ext cx="171450" cy="171450"/>
          </a:xfrm>
          <a:prstGeom prst="rect">
            <a:avLst/>
          </a:prstGeom>
        </p:spPr>
      </p:pic>
      <p:sp>
        <p:nvSpPr>
          <p:cNvPr id="191" name="TextBox 190"/>
          <p:cNvSpPr txBox="1"/>
          <p:nvPr/>
        </p:nvSpPr>
        <p:spPr>
          <a:xfrm>
            <a:off x="6953250" y="2328386"/>
            <a:ext cx="239018" cy="123825"/>
          </a:xfrm>
          <a:prstGeom prst="rect">
            <a:avLst/>
          </a:prstGeom>
          <a:noFill/>
        </p:spPr>
        <p:txBody>
          <a:bodyPr wrap="none" lIns="0" rIns="0" tIns="0" bIns="0" anchor="t">
            <a:noAutofit/>
          </a:bodyPr>
          <a:lstStyle/>
          <a:p>
            <a:pPr algn="l">
              <a:lnSpc>
                <a:spcPts val="1050"/>
              </a:lnSpc>
              <a:spcBef>
                <a:spcPts val="0"/>
              </a:spcBef>
              <a:spcAft>
                <a:spcPts val="0"/>
              </a:spcAft>
            </a:pPr>
            <a:r>
              <a:rPr sz="750" b="0" i="0" spc="15">
                <a:solidFill>
                  <a:srgbClr val="333231"/>
                </a:solidFill>
                <a:latin typeface="Quicksand"/>
              </a:rPr>
              <a:t>Flex</a:t>
            </a:r>
          </a:p>
        </p:txBody>
      </p:sp>
      <p:pic>
        <p:nvPicPr>
          <p:cNvPr id="192" name="Celestica" descr="Celestica"/>
          <p:cNvPicPr>
            <a:picLocks noChangeAspect="1"/>
          </p:cNvPicPr>
          <p:nvPr/>
        </p:nvPicPr>
        <p:blipFill>
          <a:blip r:embed="rId44"/>
          <a:stretch>
            <a:fillRect/>
          </a:stretch>
        </p:blipFill>
        <p:spPr>
          <a:xfrm>
            <a:off x="6724650" y="2550319"/>
            <a:ext cx="171450" cy="171450"/>
          </a:xfrm>
          <a:prstGeom prst="rect">
            <a:avLst/>
          </a:prstGeom>
        </p:spPr>
      </p:pic>
      <p:sp>
        <p:nvSpPr>
          <p:cNvPr id="193" name="TextBox 192"/>
          <p:cNvSpPr txBox="1"/>
          <p:nvPr/>
        </p:nvSpPr>
        <p:spPr>
          <a:xfrm>
            <a:off x="6953250" y="2552224"/>
            <a:ext cx="469553" cy="123825"/>
          </a:xfrm>
          <a:prstGeom prst="rect">
            <a:avLst/>
          </a:prstGeom>
          <a:noFill/>
        </p:spPr>
        <p:txBody>
          <a:bodyPr wrap="none" lIns="0" rIns="0" tIns="0" bIns="0" anchor="t">
            <a:noAutofit/>
          </a:bodyPr>
          <a:lstStyle/>
          <a:p>
            <a:pPr algn="l">
              <a:lnSpc>
                <a:spcPts val="1050"/>
              </a:lnSpc>
              <a:spcBef>
                <a:spcPts val="0"/>
              </a:spcBef>
              <a:spcAft>
                <a:spcPts val="0"/>
              </a:spcAft>
            </a:pPr>
            <a:r>
              <a:rPr sz="750" b="0" i="0" spc="15">
                <a:solidFill>
                  <a:srgbClr val="333231"/>
                </a:solidFill>
                <a:latin typeface="Quicksand"/>
              </a:rPr>
              <a:t>Celestica</a:t>
            </a:r>
          </a:p>
        </p:txBody>
      </p:sp>
      <p:pic>
        <p:nvPicPr>
          <p:cNvPr id="194" name="Sanmina" descr="Sanmina"/>
          <p:cNvPicPr>
            <a:picLocks noChangeAspect="1"/>
          </p:cNvPicPr>
          <p:nvPr/>
        </p:nvPicPr>
        <p:blipFill>
          <a:blip r:embed="rId45"/>
          <a:stretch>
            <a:fillRect/>
          </a:stretch>
        </p:blipFill>
        <p:spPr>
          <a:xfrm>
            <a:off x="6724650" y="2774156"/>
            <a:ext cx="171450" cy="171450"/>
          </a:xfrm>
          <a:prstGeom prst="rect">
            <a:avLst/>
          </a:prstGeom>
        </p:spPr>
      </p:pic>
      <p:sp>
        <p:nvSpPr>
          <p:cNvPr id="195" name="TextBox 194"/>
          <p:cNvSpPr txBox="1"/>
          <p:nvPr/>
        </p:nvSpPr>
        <p:spPr>
          <a:xfrm>
            <a:off x="6953250" y="2776061"/>
            <a:ext cx="456902" cy="123825"/>
          </a:xfrm>
          <a:prstGeom prst="rect">
            <a:avLst/>
          </a:prstGeom>
          <a:noFill/>
        </p:spPr>
        <p:txBody>
          <a:bodyPr wrap="none" lIns="0" rIns="0" tIns="0" bIns="0" anchor="t">
            <a:noAutofit/>
          </a:bodyPr>
          <a:lstStyle/>
          <a:p>
            <a:pPr algn="l">
              <a:lnSpc>
                <a:spcPts val="1050"/>
              </a:lnSpc>
              <a:spcBef>
                <a:spcPts val="0"/>
              </a:spcBef>
              <a:spcAft>
                <a:spcPts val="0"/>
              </a:spcAft>
            </a:pPr>
            <a:r>
              <a:rPr sz="750" b="0" i="0" spc="15">
                <a:solidFill>
                  <a:srgbClr val="333231"/>
                </a:solidFill>
                <a:latin typeface="Quicksand"/>
              </a:rPr>
              <a:t>Sanmina</a:t>
            </a:r>
          </a:p>
        </p:txBody>
      </p:sp>
      <p:pic>
        <p:nvPicPr>
          <p:cNvPr id="196" name="Plexus" descr="Plexus"/>
          <p:cNvPicPr>
            <a:picLocks noChangeAspect="1"/>
          </p:cNvPicPr>
          <p:nvPr/>
        </p:nvPicPr>
        <p:blipFill>
          <a:blip r:embed="rId46"/>
          <a:stretch>
            <a:fillRect/>
          </a:stretch>
        </p:blipFill>
        <p:spPr>
          <a:xfrm>
            <a:off x="6724650" y="2997994"/>
            <a:ext cx="171450" cy="171450"/>
          </a:xfrm>
          <a:prstGeom prst="rect">
            <a:avLst/>
          </a:prstGeom>
        </p:spPr>
      </p:pic>
      <p:sp>
        <p:nvSpPr>
          <p:cNvPr id="197" name="TextBox 196"/>
          <p:cNvSpPr txBox="1"/>
          <p:nvPr/>
        </p:nvSpPr>
        <p:spPr>
          <a:xfrm>
            <a:off x="6953250" y="2999899"/>
            <a:ext cx="344091" cy="123825"/>
          </a:xfrm>
          <a:prstGeom prst="rect">
            <a:avLst/>
          </a:prstGeom>
          <a:noFill/>
        </p:spPr>
        <p:txBody>
          <a:bodyPr wrap="none" lIns="0" rIns="0" tIns="0" bIns="0" anchor="t">
            <a:noAutofit/>
          </a:bodyPr>
          <a:lstStyle/>
          <a:p>
            <a:pPr algn="l">
              <a:lnSpc>
                <a:spcPts val="1050"/>
              </a:lnSpc>
              <a:spcBef>
                <a:spcPts val="0"/>
              </a:spcBef>
              <a:spcAft>
                <a:spcPts val="0"/>
              </a:spcAft>
            </a:pPr>
            <a:r>
              <a:rPr sz="750" b="0" i="0" spc="15">
                <a:solidFill>
                  <a:srgbClr val="333231"/>
                </a:solidFill>
                <a:latin typeface="Quicksand"/>
              </a:rPr>
              <a:t>Plexus</a:t>
            </a:r>
          </a:p>
        </p:txBody>
      </p:sp>
      <p:pic>
        <p:nvPicPr>
          <p:cNvPr id="198" name="Benchmark Electronics" descr="Benchmark Electronics"/>
          <p:cNvPicPr>
            <a:picLocks noChangeAspect="1"/>
          </p:cNvPicPr>
          <p:nvPr/>
        </p:nvPicPr>
        <p:blipFill>
          <a:blip r:embed="rId47"/>
          <a:stretch>
            <a:fillRect/>
          </a:stretch>
        </p:blipFill>
        <p:spPr>
          <a:xfrm>
            <a:off x="6724650" y="3221831"/>
            <a:ext cx="171450" cy="171450"/>
          </a:xfrm>
          <a:prstGeom prst="rect">
            <a:avLst/>
          </a:prstGeom>
        </p:spPr>
      </p:pic>
      <p:sp>
        <p:nvSpPr>
          <p:cNvPr id="199" name="TextBox 198"/>
          <p:cNvSpPr txBox="1"/>
          <p:nvPr/>
        </p:nvSpPr>
        <p:spPr>
          <a:xfrm>
            <a:off x="6953250" y="3223736"/>
            <a:ext cx="813643" cy="123825"/>
          </a:xfrm>
          <a:prstGeom prst="rect">
            <a:avLst/>
          </a:prstGeom>
          <a:noFill/>
        </p:spPr>
        <p:txBody>
          <a:bodyPr wrap="none" lIns="0" rIns="0" tIns="0" bIns="0" anchor="t">
            <a:noAutofit/>
          </a:bodyPr>
          <a:lstStyle/>
          <a:p>
            <a:pPr algn="l">
              <a:lnSpc>
                <a:spcPts val="1050"/>
              </a:lnSpc>
              <a:spcBef>
                <a:spcPts val="0"/>
              </a:spcBef>
              <a:spcAft>
                <a:spcPts val="0"/>
              </a:spcAft>
            </a:pPr>
            <a:r>
              <a:rPr sz="750" b="0" i="0" spc="15">
                <a:solidFill>
                  <a:srgbClr val="333231"/>
                </a:solidFill>
                <a:latin typeface="Quicksand"/>
              </a:rPr>
              <a:t>Benchmark Elec.</a:t>
            </a:r>
          </a:p>
        </p:txBody>
      </p:sp>
      <p:pic>
        <p:nvPicPr>
          <p:cNvPr id="200" name="Kimball Electronics" descr="Kimball Electronics"/>
          <p:cNvPicPr>
            <a:picLocks noChangeAspect="1"/>
          </p:cNvPicPr>
          <p:nvPr/>
        </p:nvPicPr>
        <p:blipFill>
          <a:blip r:embed="rId48"/>
          <a:stretch>
            <a:fillRect/>
          </a:stretch>
        </p:blipFill>
        <p:spPr>
          <a:xfrm>
            <a:off x="6724650" y="3445669"/>
            <a:ext cx="171450" cy="171450"/>
          </a:xfrm>
          <a:prstGeom prst="rect">
            <a:avLst/>
          </a:prstGeom>
        </p:spPr>
      </p:pic>
      <p:sp>
        <p:nvSpPr>
          <p:cNvPr id="201" name="TextBox 200"/>
          <p:cNvSpPr txBox="1"/>
          <p:nvPr/>
        </p:nvSpPr>
        <p:spPr>
          <a:xfrm>
            <a:off x="6953250" y="3447574"/>
            <a:ext cx="922288" cy="123825"/>
          </a:xfrm>
          <a:prstGeom prst="rect">
            <a:avLst/>
          </a:prstGeom>
          <a:noFill/>
        </p:spPr>
        <p:txBody>
          <a:bodyPr wrap="none" lIns="0" rIns="0" tIns="0" bIns="0" anchor="t">
            <a:noAutofit/>
          </a:bodyPr>
          <a:lstStyle/>
          <a:p>
            <a:pPr algn="l">
              <a:lnSpc>
                <a:spcPts val="1050"/>
              </a:lnSpc>
              <a:spcBef>
                <a:spcPts val="0"/>
              </a:spcBef>
              <a:spcAft>
                <a:spcPts val="0"/>
              </a:spcAft>
            </a:pPr>
            <a:r>
              <a:rPr sz="750" b="0" i="0" spc="15">
                <a:solidFill>
                  <a:srgbClr val="333231"/>
                </a:solidFill>
                <a:latin typeface="Quicksand"/>
              </a:rPr>
              <a:t>Kimball Electronics</a:t>
            </a:r>
          </a:p>
        </p:txBody>
      </p:sp>
      <p:pic>
        <p:nvPicPr>
          <p:cNvPr id="202" name="TTM Technologies" descr="TTM Technologies"/>
          <p:cNvPicPr>
            <a:picLocks noChangeAspect="1"/>
          </p:cNvPicPr>
          <p:nvPr/>
        </p:nvPicPr>
        <p:blipFill>
          <a:blip r:embed="rId49"/>
          <a:stretch>
            <a:fillRect/>
          </a:stretch>
        </p:blipFill>
        <p:spPr>
          <a:xfrm>
            <a:off x="6724650" y="3669506"/>
            <a:ext cx="171450" cy="171450"/>
          </a:xfrm>
          <a:prstGeom prst="rect">
            <a:avLst/>
          </a:prstGeom>
        </p:spPr>
      </p:pic>
      <p:sp>
        <p:nvSpPr>
          <p:cNvPr id="203" name="TextBox 202"/>
          <p:cNvSpPr txBox="1"/>
          <p:nvPr/>
        </p:nvSpPr>
        <p:spPr>
          <a:xfrm>
            <a:off x="6953250" y="3671411"/>
            <a:ext cx="883146" cy="123825"/>
          </a:xfrm>
          <a:prstGeom prst="rect">
            <a:avLst/>
          </a:prstGeom>
          <a:noFill/>
        </p:spPr>
        <p:txBody>
          <a:bodyPr wrap="none" lIns="0" rIns="0" tIns="0" bIns="0" anchor="t">
            <a:noAutofit/>
          </a:bodyPr>
          <a:lstStyle/>
          <a:p>
            <a:pPr algn="l">
              <a:lnSpc>
                <a:spcPts val="1050"/>
              </a:lnSpc>
              <a:spcBef>
                <a:spcPts val="0"/>
              </a:spcBef>
              <a:spcAft>
                <a:spcPts val="0"/>
              </a:spcAft>
            </a:pPr>
            <a:r>
              <a:rPr sz="750" b="0" i="0" spc="15">
                <a:solidFill>
                  <a:srgbClr val="333231"/>
                </a:solidFill>
                <a:latin typeface="Quicksand"/>
              </a:rPr>
              <a:t>TTM Technologies</a:t>
            </a:r>
          </a:p>
        </p:txBody>
      </p:sp>
      <p:pic>
        <p:nvPicPr>
          <p:cNvPr id="204" name="Keysight" descr="Keysight"/>
          <p:cNvPicPr>
            <a:picLocks noChangeAspect="1"/>
          </p:cNvPicPr>
          <p:nvPr/>
        </p:nvPicPr>
        <p:blipFill>
          <a:blip r:embed="rId50"/>
          <a:stretch>
            <a:fillRect/>
          </a:stretch>
        </p:blipFill>
        <p:spPr>
          <a:xfrm>
            <a:off x="6724650" y="3893344"/>
            <a:ext cx="171450" cy="171450"/>
          </a:xfrm>
          <a:prstGeom prst="rect">
            <a:avLst/>
          </a:prstGeom>
        </p:spPr>
      </p:pic>
      <p:sp>
        <p:nvSpPr>
          <p:cNvPr id="205" name="TextBox 204"/>
          <p:cNvSpPr txBox="1"/>
          <p:nvPr/>
        </p:nvSpPr>
        <p:spPr>
          <a:xfrm>
            <a:off x="6953250" y="3895249"/>
            <a:ext cx="452140" cy="123825"/>
          </a:xfrm>
          <a:prstGeom prst="rect">
            <a:avLst/>
          </a:prstGeom>
          <a:noFill/>
        </p:spPr>
        <p:txBody>
          <a:bodyPr wrap="none" lIns="0" rIns="0" tIns="0" bIns="0" anchor="t">
            <a:noAutofit/>
          </a:bodyPr>
          <a:lstStyle/>
          <a:p>
            <a:pPr algn="l">
              <a:lnSpc>
                <a:spcPts val="1050"/>
              </a:lnSpc>
              <a:spcBef>
                <a:spcPts val="0"/>
              </a:spcBef>
              <a:spcAft>
                <a:spcPts val="0"/>
              </a:spcAft>
            </a:pPr>
            <a:r>
              <a:rPr sz="750" b="0" i="0" spc="15">
                <a:solidFill>
                  <a:srgbClr val="333231"/>
                </a:solidFill>
                <a:latin typeface="Quicksand"/>
              </a:rPr>
              <a:t>Keysight</a:t>
            </a:r>
          </a:p>
        </p:txBody>
      </p:sp>
      <p:sp>
        <p:nvSpPr>
          <p:cNvPr id="206" name="Rule"/>
          <p:cNvSpPr/>
          <p:nvPr/>
        </p:nvSpPr>
        <p:spPr>
          <a:xfrm>
            <a:off x="6724650" y="4733925"/>
            <a:ext cx="1266825" cy="9525"/>
          </a:xfrm>
          <a:prstGeom prst="rect">
            <a:avLst/>
          </a:prstGeom>
          <a:solidFill>
            <a:srgbClr val="E3DCD3"/>
          </a:solidFill>
          <a:ln>
            <a:noFill/>
          </a:ln>
        </p:spPr>
        <p:txBody>
          <a:bodyPr rtlCol="0" anchor="ctr"/>
          <a:lstStyle/>
          <a:p>
            <a:pPr algn="ctr"/>
          </a:p>
        </p:txBody>
      </p:sp>
      <p:sp>
        <p:nvSpPr>
          <p:cNvPr id="207" name="TextBox 206"/>
          <p:cNvSpPr txBox="1"/>
          <p:nvPr/>
        </p:nvSpPr>
        <p:spPr>
          <a:xfrm>
            <a:off x="6724650" y="4817364"/>
            <a:ext cx="1343025" cy="219075"/>
          </a:xfrm>
          <a:prstGeom prst="rect">
            <a:avLst/>
          </a:prstGeom>
          <a:noFill/>
        </p:spPr>
        <p:txBody>
          <a:bodyPr wrap="square" lIns="0" rIns="0" tIns="0" bIns="0" anchor="t">
            <a:noAutofit/>
          </a:bodyPr>
          <a:lstStyle/>
          <a:p>
            <a:pPr algn="l">
              <a:lnSpc>
                <a:spcPts val="975"/>
              </a:lnSpc>
              <a:spcBef>
                <a:spcPts val="0"/>
              </a:spcBef>
              <a:spcAft>
                <a:spcPts val="0"/>
              </a:spcAft>
            </a:pPr>
            <a:r>
              <a:rPr sz="600" b="1" i="0" spc="150">
                <a:solidFill>
                  <a:srgbClr val="8C6239"/>
                </a:solidFill>
                <a:latin typeface="Quicksand"/>
              </a:rPr>
              <a:t>SPONSORS AND STRATEGIC BUYERS</a:t>
            </a:r>
          </a:p>
        </p:txBody>
      </p:sp>
      <p:sp>
        <p:nvSpPr>
          <p:cNvPr id="208" name="Panel"/>
          <p:cNvSpPr/>
          <p:nvPr/>
        </p:nvSpPr>
        <p:spPr>
          <a:xfrm>
            <a:off x="6729412" y="5157788"/>
            <a:ext cx="871538" cy="190500"/>
          </a:xfrm>
          <a:prstGeom prst="rect">
            <a:avLst/>
          </a:prstGeom>
          <a:solidFill>
            <a:srgbClr val="FFFFFF"/>
          </a:solidFill>
          <a:ln w="9525">
            <a:solidFill>
              <a:srgbClr val="E3DCD3"/>
            </a:solidFill>
          </a:ln>
        </p:spPr>
        <p:txBody>
          <a:bodyPr rtlCol="0" anchor="ctr"/>
          <a:lstStyle/>
          <a:p>
            <a:pPr algn="ctr"/>
          </a:p>
        </p:txBody>
      </p:sp>
      <p:sp>
        <p:nvSpPr>
          <p:cNvPr id="209" name="TextBox 208"/>
          <p:cNvSpPr txBox="1"/>
          <p:nvPr/>
        </p:nvSpPr>
        <p:spPr>
          <a:xfrm>
            <a:off x="6791325" y="5177695"/>
            <a:ext cx="804862" cy="114300"/>
          </a:xfrm>
          <a:prstGeom prst="rect">
            <a:avLst/>
          </a:prstGeom>
          <a:noFill/>
        </p:spPr>
        <p:txBody>
          <a:bodyPr wrap="none" lIns="0" rIns="0" tIns="0" bIns="0" anchor="t">
            <a:noAutofit/>
          </a:bodyPr>
          <a:lstStyle/>
          <a:p>
            <a:pPr algn="l">
              <a:lnSpc>
                <a:spcPts val="975"/>
              </a:lnSpc>
              <a:spcBef>
                <a:spcPts val="0"/>
              </a:spcBef>
              <a:spcAft>
                <a:spcPts val="0"/>
              </a:spcAft>
            </a:pPr>
            <a:r>
              <a:rPr sz="712" b="1" i="0" spc="15">
                <a:solidFill>
                  <a:srgbClr val="1B1A1A"/>
                </a:solidFill>
                <a:latin typeface="Quicksand"/>
              </a:rPr>
              <a:t>Transom Capital</a:t>
            </a:r>
          </a:p>
        </p:txBody>
      </p:sp>
      <p:sp>
        <p:nvSpPr>
          <p:cNvPr id="210" name="Panel"/>
          <p:cNvSpPr/>
          <p:nvPr/>
        </p:nvSpPr>
        <p:spPr>
          <a:xfrm>
            <a:off x="6729412" y="5405438"/>
            <a:ext cx="571351" cy="190500"/>
          </a:xfrm>
          <a:prstGeom prst="rect">
            <a:avLst/>
          </a:prstGeom>
          <a:solidFill>
            <a:srgbClr val="FFFFFF"/>
          </a:solidFill>
          <a:ln w="9525">
            <a:solidFill>
              <a:srgbClr val="E3DCD3"/>
            </a:solidFill>
          </a:ln>
        </p:spPr>
        <p:txBody>
          <a:bodyPr rtlCol="0" anchor="ctr"/>
          <a:lstStyle/>
          <a:p>
            <a:pPr algn="ctr"/>
          </a:p>
        </p:txBody>
      </p:sp>
      <p:sp>
        <p:nvSpPr>
          <p:cNvPr id="211" name="TextBox 210"/>
          <p:cNvSpPr txBox="1"/>
          <p:nvPr/>
        </p:nvSpPr>
        <p:spPr>
          <a:xfrm>
            <a:off x="6791325" y="5425345"/>
            <a:ext cx="504676" cy="114300"/>
          </a:xfrm>
          <a:prstGeom prst="rect">
            <a:avLst/>
          </a:prstGeom>
          <a:noFill/>
        </p:spPr>
        <p:txBody>
          <a:bodyPr wrap="none" lIns="0" rIns="0" tIns="0" bIns="0" anchor="t">
            <a:noAutofit/>
          </a:bodyPr>
          <a:lstStyle/>
          <a:p>
            <a:pPr algn="l">
              <a:lnSpc>
                <a:spcPts val="975"/>
              </a:lnSpc>
              <a:spcBef>
                <a:spcPts val="0"/>
              </a:spcBef>
              <a:spcAft>
                <a:spcPts val="0"/>
              </a:spcAft>
            </a:pPr>
            <a:r>
              <a:rPr sz="712" b="1" i="0" spc="15">
                <a:solidFill>
                  <a:srgbClr val="1B1A1A"/>
                </a:solidFill>
                <a:latin typeface="Quicksand"/>
              </a:rPr>
              <a:t>Tide Rock</a:t>
            </a:r>
          </a:p>
        </p:txBody>
      </p:sp>
      <p:sp>
        <p:nvSpPr>
          <p:cNvPr id="212" name="Panel"/>
          <p:cNvSpPr/>
          <p:nvPr/>
        </p:nvSpPr>
        <p:spPr>
          <a:xfrm>
            <a:off x="6729412" y="5653088"/>
            <a:ext cx="1119188" cy="190500"/>
          </a:xfrm>
          <a:prstGeom prst="rect">
            <a:avLst/>
          </a:prstGeom>
          <a:solidFill>
            <a:srgbClr val="FFFFFF"/>
          </a:solidFill>
          <a:ln w="9525">
            <a:solidFill>
              <a:srgbClr val="E3DCD3"/>
            </a:solidFill>
          </a:ln>
        </p:spPr>
        <p:txBody>
          <a:bodyPr rtlCol="0" anchor="ctr"/>
          <a:lstStyle/>
          <a:p>
            <a:pPr algn="ctr"/>
          </a:p>
        </p:txBody>
      </p:sp>
      <p:sp>
        <p:nvSpPr>
          <p:cNvPr id="213" name="TextBox 212"/>
          <p:cNvSpPr txBox="1"/>
          <p:nvPr/>
        </p:nvSpPr>
        <p:spPr>
          <a:xfrm>
            <a:off x="6791325" y="5672995"/>
            <a:ext cx="1052512" cy="114300"/>
          </a:xfrm>
          <a:prstGeom prst="rect">
            <a:avLst/>
          </a:prstGeom>
          <a:noFill/>
        </p:spPr>
        <p:txBody>
          <a:bodyPr wrap="none" lIns="0" rIns="0" tIns="0" bIns="0" anchor="t">
            <a:noAutofit/>
          </a:bodyPr>
          <a:lstStyle/>
          <a:p>
            <a:pPr algn="l">
              <a:lnSpc>
                <a:spcPts val="975"/>
              </a:lnSpc>
              <a:spcBef>
                <a:spcPts val="0"/>
              </a:spcBef>
              <a:spcAft>
                <a:spcPts val="0"/>
              </a:spcAft>
            </a:pPr>
            <a:r>
              <a:rPr sz="712" b="1" i="0" spc="15">
                <a:solidFill>
                  <a:srgbClr val="1B1A1A"/>
                </a:solidFill>
                <a:latin typeface="Quicksand"/>
              </a:rPr>
              <a:t>Align Capital Partners</a:t>
            </a:r>
          </a:p>
        </p:txBody>
      </p:sp>
      <p:sp>
        <p:nvSpPr>
          <p:cNvPr id="214" name="Panel"/>
          <p:cNvSpPr/>
          <p:nvPr/>
        </p:nvSpPr>
        <p:spPr>
          <a:xfrm>
            <a:off x="6729412" y="5900738"/>
            <a:ext cx="432495" cy="190500"/>
          </a:xfrm>
          <a:prstGeom prst="rect">
            <a:avLst/>
          </a:prstGeom>
          <a:solidFill>
            <a:srgbClr val="FFFFFF"/>
          </a:solidFill>
          <a:ln w="9525">
            <a:solidFill>
              <a:srgbClr val="E3DCD3"/>
            </a:solidFill>
          </a:ln>
        </p:spPr>
        <p:txBody>
          <a:bodyPr rtlCol="0" anchor="ctr"/>
          <a:lstStyle/>
          <a:p>
            <a:pPr algn="ctr"/>
          </a:p>
        </p:txBody>
      </p:sp>
      <p:sp>
        <p:nvSpPr>
          <p:cNvPr id="215" name="TextBox 214"/>
          <p:cNvSpPr txBox="1"/>
          <p:nvPr/>
        </p:nvSpPr>
        <p:spPr>
          <a:xfrm>
            <a:off x="6791325" y="5920645"/>
            <a:ext cx="365820" cy="114300"/>
          </a:xfrm>
          <a:prstGeom prst="rect">
            <a:avLst/>
          </a:prstGeom>
          <a:noFill/>
        </p:spPr>
        <p:txBody>
          <a:bodyPr wrap="none" lIns="0" rIns="0" tIns="0" bIns="0" anchor="t">
            <a:noAutofit/>
          </a:bodyPr>
          <a:lstStyle/>
          <a:p>
            <a:pPr algn="l">
              <a:lnSpc>
                <a:spcPts val="975"/>
              </a:lnSpc>
              <a:spcBef>
                <a:spcPts val="0"/>
              </a:spcBef>
              <a:spcAft>
                <a:spcPts val="0"/>
              </a:spcAft>
            </a:pPr>
            <a:r>
              <a:rPr sz="712" b="1" i="0" spc="15">
                <a:solidFill>
                  <a:srgbClr val="1B1A1A"/>
                </a:solidFill>
                <a:latin typeface="Quicksand"/>
              </a:rPr>
              <a:t>Arcline</a:t>
            </a:r>
          </a:p>
        </p:txBody>
      </p:sp>
      <p:sp>
        <p:nvSpPr>
          <p:cNvPr id="216" name="Panel"/>
          <p:cNvSpPr/>
          <p:nvPr/>
        </p:nvSpPr>
        <p:spPr>
          <a:xfrm>
            <a:off x="6729412" y="6148388"/>
            <a:ext cx="982117" cy="190500"/>
          </a:xfrm>
          <a:prstGeom prst="rect">
            <a:avLst/>
          </a:prstGeom>
          <a:solidFill>
            <a:srgbClr val="FFFFFF"/>
          </a:solidFill>
          <a:ln w="9525">
            <a:solidFill>
              <a:srgbClr val="E3DCD3"/>
            </a:solidFill>
          </a:ln>
        </p:spPr>
        <p:txBody>
          <a:bodyPr rtlCol="0" anchor="ctr"/>
          <a:lstStyle/>
          <a:p>
            <a:pPr algn="ctr"/>
          </a:p>
        </p:txBody>
      </p:sp>
      <p:sp>
        <p:nvSpPr>
          <p:cNvPr id="217" name="TextBox 216"/>
          <p:cNvSpPr txBox="1"/>
          <p:nvPr/>
        </p:nvSpPr>
        <p:spPr>
          <a:xfrm>
            <a:off x="6791325" y="6168295"/>
            <a:ext cx="915442" cy="114300"/>
          </a:xfrm>
          <a:prstGeom prst="rect">
            <a:avLst/>
          </a:prstGeom>
          <a:noFill/>
        </p:spPr>
        <p:txBody>
          <a:bodyPr wrap="none" lIns="0" rIns="0" tIns="0" bIns="0" anchor="t">
            <a:noAutofit/>
          </a:bodyPr>
          <a:lstStyle/>
          <a:p>
            <a:pPr algn="l">
              <a:lnSpc>
                <a:spcPts val="975"/>
              </a:lnSpc>
              <a:spcBef>
                <a:spcPts val="0"/>
              </a:spcBef>
              <a:spcAft>
                <a:spcPts val="0"/>
              </a:spcAft>
            </a:pPr>
            <a:r>
              <a:rPr sz="712" b="1" i="0" spc="15">
                <a:solidFill>
                  <a:srgbClr val="1B1A1A"/>
                </a:solidFill>
                <a:latin typeface="Quicksand"/>
              </a:rPr>
              <a:t>Motorola Solutions</a:t>
            </a:r>
          </a:p>
        </p:txBody>
      </p:sp>
      <p:sp>
        <p:nvSpPr>
          <p:cNvPr id="218" name="Panel"/>
          <p:cNvSpPr/>
          <p:nvPr/>
        </p:nvSpPr>
        <p:spPr>
          <a:xfrm>
            <a:off x="6729412" y="6396038"/>
            <a:ext cx="1181546" cy="190500"/>
          </a:xfrm>
          <a:prstGeom prst="rect">
            <a:avLst/>
          </a:prstGeom>
          <a:solidFill>
            <a:srgbClr val="FFFFFF"/>
          </a:solidFill>
          <a:ln w="9525">
            <a:solidFill>
              <a:srgbClr val="E3DCD3"/>
            </a:solidFill>
          </a:ln>
        </p:spPr>
        <p:txBody>
          <a:bodyPr rtlCol="0" anchor="ctr"/>
          <a:lstStyle/>
          <a:p>
            <a:pPr algn="ctr"/>
          </a:p>
        </p:txBody>
      </p:sp>
      <p:sp>
        <p:nvSpPr>
          <p:cNvPr id="219" name="TextBox 218"/>
          <p:cNvSpPr txBox="1"/>
          <p:nvPr/>
        </p:nvSpPr>
        <p:spPr>
          <a:xfrm>
            <a:off x="6791325" y="6415945"/>
            <a:ext cx="1114871" cy="114300"/>
          </a:xfrm>
          <a:prstGeom prst="rect">
            <a:avLst/>
          </a:prstGeom>
          <a:noFill/>
        </p:spPr>
        <p:txBody>
          <a:bodyPr wrap="none" lIns="0" rIns="0" tIns="0" bIns="0" anchor="t">
            <a:noAutofit/>
          </a:bodyPr>
          <a:lstStyle/>
          <a:p>
            <a:pPr algn="l">
              <a:lnSpc>
                <a:spcPts val="975"/>
              </a:lnSpc>
              <a:spcBef>
                <a:spcPts val="0"/>
              </a:spcBef>
              <a:spcAft>
                <a:spcPts val="0"/>
              </a:spcAft>
            </a:pPr>
            <a:r>
              <a:rPr sz="712" b="1" i="0" spc="15">
                <a:solidFill>
                  <a:srgbClr val="1B1A1A"/>
                </a:solidFill>
                <a:latin typeface="Quicksand"/>
              </a:rPr>
              <a:t>Navitas Semiconductor</a:t>
            </a:r>
          </a:p>
        </p:txBody>
      </p:sp>
      <p:sp>
        <p:nvSpPr>
          <p:cNvPr id="220" name="Panel"/>
          <p:cNvSpPr/>
          <p:nvPr/>
        </p:nvSpPr>
        <p:spPr>
          <a:xfrm>
            <a:off x="6729412" y="6643688"/>
            <a:ext cx="477589" cy="190500"/>
          </a:xfrm>
          <a:prstGeom prst="rect">
            <a:avLst/>
          </a:prstGeom>
          <a:solidFill>
            <a:srgbClr val="FFFFFF"/>
          </a:solidFill>
          <a:ln w="9525">
            <a:solidFill>
              <a:srgbClr val="E3DCD3"/>
            </a:solidFill>
          </a:ln>
        </p:spPr>
        <p:txBody>
          <a:bodyPr rtlCol="0" anchor="ctr"/>
          <a:lstStyle/>
          <a:p>
            <a:pPr algn="ctr"/>
          </a:p>
        </p:txBody>
      </p:sp>
      <p:sp>
        <p:nvSpPr>
          <p:cNvPr id="221" name="TextBox 220"/>
          <p:cNvSpPr txBox="1"/>
          <p:nvPr/>
        </p:nvSpPr>
        <p:spPr>
          <a:xfrm>
            <a:off x="6791325" y="6663595"/>
            <a:ext cx="410914" cy="114300"/>
          </a:xfrm>
          <a:prstGeom prst="rect">
            <a:avLst/>
          </a:prstGeom>
          <a:noFill/>
        </p:spPr>
        <p:txBody>
          <a:bodyPr wrap="none" lIns="0" rIns="0" tIns="0" bIns="0" anchor="t">
            <a:noAutofit/>
          </a:bodyPr>
          <a:lstStyle/>
          <a:p>
            <a:pPr algn="l">
              <a:lnSpc>
                <a:spcPts val="975"/>
              </a:lnSpc>
              <a:spcBef>
                <a:spcPts val="0"/>
              </a:spcBef>
              <a:spcAft>
                <a:spcPts val="0"/>
              </a:spcAft>
            </a:pPr>
            <a:r>
              <a:rPr sz="712" b="1" i="0" spc="15">
                <a:solidFill>
                  <a:srgbClr val="1B1A1A"/>
                </a:solidFill>
                <a:latin typeface="Quicksand"/>
              </a:rPr>
              <a:t>Qualitel</a:t>
            </a:r>
          </a:p>
        </p:txBody>
      </p:sp>
      <p:sp>
        <p:nvSpPr>
          <p:cNvPr id="222" name="Panel"/>
          <p:cNvSpPr/>
          <p:nvPr/>
        </p:nvSpPr>
        <p:spPr>
          <a:xfrm>
            <a:off x="7264152" y="6643688"/>
            <a:ext cx="533549" cy="190500"/>
          </a:xfrm>
          <a:prstGeom prst="rect">
            <a:avLst/>
          </a:prstGeom>
          <a:solidFill>
            <a:srgbClr val="FFFFFF"/>
          </a:solidFill>
          <a:ln w="9525">
            <a:solidFill>
              <a:srgbClr val="E3DCD3"/>
            </a:solidFill>
          </a:ln>
        </p:spPr>
        <p:txBody>
          <a:bodyPr rtlCol="0" anchor="ctr"/>
          <a:lstStyle/>
          <a:p>
            <a:pPr algn="ctr"/>
          </a:p>
        </p:txBody>
      </p:sp>
      <p:sp>
        <p:nvSpPr>
          <p:cNvPr id="223" name="TextBox 222"/>
          <p:cNvSpPr txBox="1"/>
          <p:nvPr/>
        </p:nvSpPr>
        <p:spPr>
          <a:xfrm>
            <a:off x="7326064" y="6663595"/>
            <a:ext cx="466874" cy="114300"/>
          </a:xfrm>
          <a:prstGeom prst="rect">
            <a:avLst/>
          </a:prstGeom>
          <a:noFill/>
        </p:spPr>
        <p:txBody>
          <a:bodyPr wrap="none" lIns="0" rIns="0" tIns="0" bIns="0" anchor="t">
            <a:noAutofit/>
          </a:bodyPr>
          <a:lstStyle/>
          <a:p>
            <a:pPr algn="l">
              <a:lnSpc>
                <a:spcPts val="975"/>
              </a:lnSpc>
              <a:spcBef>
                <a:spcPts val="0"/>
              </a:spcBef>
              <a:spcAft>
                <a:spcPts val="0"/>
              </a:spcAft>
            </a:pPr>
            <a:r>
              <a:rPr sz="712" b="1" i="0" spc="15">
                <a:solidFill>
                  <a:srgbClr val="1B1A1A"/>
                </a:solidFill>
                <a:latin typeface="Quicksand"/>
              </a:rPr>
              <a:t>StenTech</a:t>
            </a:r>
          </a:p>
        </p:txBody>
      </p:sp>
      <p:sp>
        <p:nvSpPr>
          <p:cNvPr id="224" name="Panel"/>
          <p:cNvSpPr/>
          <p:nvPr/>
        </p:nvSpPr>
        <p:spPr>
          <a:xfrm>
            <a:off x="8181975" y="1238250"/>
            <a:ext cx="1457325" cy="5695950"/>
          </a:xfrm>
          <a:prstGeom prst="rect">
            <a:avLst/>
          </a:prstGeom>
          <a:solidFill>
            <a:srgbClr val="FAF7F3"/>
          </a:solidFill>
          <a:ln>
            <a:noFill/>
          </a:ln>
        </p:spPr>
        <p:txBody>
          <a:bodyPr rtlCol="0" anchor="ctr"/>
          <a:lstStyle/>
          <a:p>
            <a:pPr algn="ctr"/>
          </a:p>
        </p:txBody>
      </p:sp>
      <p:sp>
        <p:nvSpPr>
          <p:cNvPr id="225" name="Panel"/>
          <p:cNvSpPr/>
          <p:nvPr/>
        </p:nvSpPr>
        <p:spPr>
          <a:xfrm>
            <a:off x="8181975" y="1238250"/>
            <a:ext cx="1457325" cy="552450"/>
          </a:xfrm>
          <a:prstGeom prst="rect">
            <a:avLst/>
          </a:prstGeom>
          <a:solidFill>
            <a:srgbClr val="1B1A1A"/>
          </a:solidFill>
          <a:ln>
            <a:noFill/>
          </a:ln>
        </p:spPr>
        <p:txBody>
          <a:bodyPr rtlCol="0" anchor="ctr"/>
          <a:lstStyle/>
          <a:p>
            <a:pPr algn="ctr"/>
          </a:p>
        </p:txBody>
      </p:sp>
      <p:pic>
        <p:nvPicPr>
          <p:cNvPr id="226" name="Graphic" descr="S11_r8.png"/>
          <p:cNvPicPr>
            <a:picLocks noChangeAspect="1"/>
          </p:cNvPicPr>
          <p:nvPr/>
        </p:nvPicPr>
        <p:blipFill>
          <a:blip r:embed="rId51"/>
          <a:stretch>
            <a:fillRect/>
          </a:stretch>
        </p:blipFill>
        <p:spPr>
          <a:xfrm>
            <a:off x="8277225" y="1400175"/>
            <a:ext cx="228600" cy="228600"/>
          </a:xfrm>
          <a:prstGeom prst="rect">
            <a:avLst/>
          </a:prstGeom>
        </p:spPr>
      </p:pic>
      <p:sp>
        <p:nvSpPr>
          <p:cNvPr id="227" name="TextBox 226"/>
          <p:cNvSpPr txBox="1"/>
          <p:nvPr/>
        </p:nvSpPr>
        <p:spPr>
          <a:xfrm>
            <a:off x="8582025" y="1380934"/>
            <a:ext cx="1038225" cy="223838"/>
          </a:xfrm>
          <a:prstGeom prst="rect">
            <a:avLst/>
          </a:prstGeom>
          <a:noFill/>
        </p:spPr>
        <p:txBody>
          <a:bodyPr wrap="square" lIns="0" rIns="0" tIns="0" bIns="0" anchor="t">
            <a:noAutofit/>
          </a:bodyPr>
          <a:lstStyle/>
          <a:p>
            <a:pPr algn="l">
              <a:lnSpc>
                <a:spcPts val="938"/>
              </a:lnSpc>
              <a:spcBef>
                <a:spcPts val="0"/>
              </a:spcBef>
              <a:spcAft>
                <a:spcPts val="0"/>
              </a:spcAft>
            </a:pPr>
            <a:r>
              <a:rPr sz="675" b="1" i="0" spc="98">
                <a:solidFill>
                  <a:srgbClr val="FFFFFF"/>
                </a:solidFill>
                <a:latin typeface="Quicksand"/>
              </a:rPr>
              <a:t>GOVERNMENT TECHNOLOGY</a:t>
            </a:r>
          </a:p>
        </p:txBody>
      </p:sp>
      <p:sp>
        <p:nvSpPr>
          <p:cNvPr id="228" name="TextBox 227"/>
          <p:cNvSpPr txBox="1"/>
          <p:nvPr/>
        </p:nvSpPr>
        <p:spPr>
          <a:xfrm>
            <a:off x="8277225" y="1883664"/>
            <a:ext cx="1063972" cy="95250"/>
          </a:xfrm>
          <a:prstGeom prst="rect">
            <a:avLst/>
          </a:prstGeom>
          <a:noFill/>
        </p:spPr>
        <p:txBody>
          <a:bodyPr wrap="none" lIns="0" rIns="0" tIns="0" bIns="0" anchor="t">
            <a:noAutofit/>
          </a:bodyPr>
          <a:lstStyle/>
          <a:p>
            <a:pPr algn="l">
              <a:lnSpc>
                <a:spcPts val="975"/>
              </a:lnSpc>
              <a:spcBef>
                <a:spcPts val="0"/>
              </a:spcBef>
              <a:spcAft>
                <a:spcPts val="0"/>
              </a:spcAft>
            </a:pPr>
            <a:r>
              <a:rPr sz="600" b="1" i="0" spc="150">
                <a:solidFill>
                  <a:srgbClr val="8C6239"/>
                </a:solidFill>
                <a:latin typeface="Quicksand"/>
              </a:rPr>
              <a:t>LISTED COMPANIES</a:t>
            </a:r>
          </a:p>
        </p:txBody>
      </p:sp>
      <p:pic>
        <p:nvPicPr>
          <p:cNvPr id="229" name="Booz Allen Hamilton" descr="Booz Allen Hamilton"/>
          <p:cNvPicPr>
            <a:picLocks noChangeAspect="1"/>
          </p:cNvPicPr>
          <p:nvPr/>
        </p:nvPicPr>
        <p:blipFill>
          <a:blip r:embed="rId52"/>
          <a:stretch>
            <a:fillRect/>
          </a:stretch>
        </p:blipFill>
        <p:spPr>
          <a:xfrm>
            <a:off x="8277225" y="2102644"/>
            <a:ext cx="171450" cy="171450"/>
          </a:xfrm>
          <a:prstGeom prst="rect">
            <a:avLst/>
          </a:prstGeom>
        </p:spPr>
      </p:pic>
      <p:sp>
        <p:nvSpPr>
          <p:cNvPr id="230" name="TextBox 229"/>
          <p:cNvSpPr txBox="1"/>
          <p:nvPr/>
        </p:nvSpPr>
        <p:spPr>
          <a:xfrm>
            <a:off x="8505825" y="2104549"/>
            <a:ext cx="537270" cy="123825"/>
          </a:xfrm>
          <a:prstGeom prst="rect">
            <a:avLst/>
          </a:prstGeom>
          <a:noFill/>
        </p:spPr>
        <p:txBody>
          <a:bodyPr wrap="none" lIns="0" rIns="0" tIns="0" bIns="0" anchor="t">
            <a:noAutofit/>
          </a:bodyPr>
          <a:lstStyle/>
          <a:p>
            <a:pPr algn="l">
              <a:lnSpc>
                <a:spcPts val="1050"/>
              </a:lnSpc>
              <a:spcBef>
                <a:spcPts val="0"/>
              </a:spcBef>
              <a:spcAft>
                <a:spcPts val="0"/>
              </a:spcAft>
            </a:pPr>
            <a:r>
              <a:rPr sz="750" b="0" i="0" spc="15">
                <a:solidFill>
                  <a:srgbClr val="333231"/>
                </a:solidFill>
                <a:latin typeface="Quicksand"/>
              </a:rPr>
              <a:t>Booz Allen</a:t>
            </a:r>
          </a:p>
        </p:txBody>
      </p:sp>
      <p:pic>
        <p:nvPicPr>
          <p:cNvPr id="231" name="CACI" descr="CACI"/>
          <p:cNvPicPr>
            <a:picLocks noChangeAspect="1"/>
          </p:cNvPicPr>
          <p:nvPr/>
        </p:nvPicPr>
        <p:blipFill>
          <a:blip r:embed="rId53"/>
          <a:stretch>
            <a:fillRect/>
          </a:stretch>
        </p:blipFill>
        <p:spPr>
          <a:xfrm>
            <a:off x="8277225" y="2326481"/>
            <a:ext cx="171450" cy="171450"/>
          </a:xfrm>
          <a:prstGeom prst="rect">
            <a:avLst/>
          </a:prstGeom>
        </p:spPr>
      </p:pic>
      <p:sp>
        <p:nvSpPr>
          <p:cNvPr id="232" name="TextBox 231"/>
          <p:cNvSpPr txBox="1"/>
          <p:nvPr/>
        </p:nvSpPr>
        <p:spPr>
          <a:xfrm>
            <a:off x="8505825" y="2328386"/>
            <a:ext cx="274141" cy="123825"/>
          </a:xfrm>
          <a:prstGeom prst="rect">
            <a:avLst/>
          </a:prstGeom>
          <a:noFill/>
        </p:spPr>
        <p:txBody>
          <a:bodyPr wrap="none" lIns="0" rIns="0" tIns="0" bIns="0" anchor="t">
            <a:noAutofit/>
          </a:bodyPr>
          <a:lstStyle/>
          <a:p>
            <a:pPr algn="l">
              <a:lnSpc>
                <a:spcPts val="1050"/>
              </a:lnSpc>
              <a:spcBef>
                <a:spcPts val="0"/>
              </a:spcBef>
              <a:spcAft>
                <a:spcPts val="0"/>
              </a:spcAft>
            </a:pPr>
            <a:r>
              <a:rPr sz="750" b="0" i="0" spc="15">
                <a:solidFill>
                  <a:srgbClr val="333231"/>
                </a:solidFill>
                <a:latin typeface="Quicksand"/>
              </a:rPr>
              <a:t>CACI</a:t>
            </a:r>
          </a:p>
        </p:txBody>
      </p:sp>
      <p:pic>
        <p:nvPicPr>
          <p:cNvPr id="233" name="SAIC" descr="SAIC"/>
          <p:cNvPicPr>
            <a:picLocks noChangeAspect="1"/>
          </p:cNvPicPr>
          <p:nvPr/>
        </p:nvPicPr>
        <p:blipFill>
          <a:blip r:embed="rId54"/>
          <a:stretch>
            <a:fillRect/>
          </a:stretch>
        </p:blipFill>
        <p:spPr>
          <a:xfrm>
            <a:off x="8277225" y="2550319"/>
            <a:ext cx="171450" cy="171450"/>
          </a:xfrm>
          <a:prstGeom prst="rect">
            <a:avLst/>
          </a:prstGeom>
        </p:spPr>
      </p:pic>
      <p:sp>
        <p:nvSpPr>
          <p:cNvPr id="234" name="TextBox 233"/>
          <p:cNvSpPr txBox="1"/>
          <p:nvPr/>
        </p:nvSpPr>
        <p:spPr>
          <a:xfrm>
            <a:off x="8505825" y="2552224"/>
            <a:ext cx="265956" cy="123825"/>
          </a:xfrm>
          <a:prstGeom prst="rect">
            <a:avLst/>
          </a:prstGeom>
          <a:noFill/>
        </p:spPr>
        <p:txBody>
          <a:bodyPr wrap="none" lIns="0" rIns="0" tIns="0" bIns="0" anchor="t">
            <a:noAutofit/>
          </a:bodyPr>
          <a:lstStyle/>
          <a:p>
            <a:pPr algn="l">
              <a:lnSpc>
                <a:spcPts val="1050"/>
              </a:lnSpc>
              <a:spcBef>
                <a:spcPts val="0"/>
              </a:spcBef>
              <a:spcAft>
                <a:spcPts val="0"/>
              </a:spcAft>
            </a:pPr>
            <a:r>
              <a:rPr sz="750" b="0" i="0" spc="15">
                <a:solidFill>
                  <a:srgbClr val="333231"/>
                </a:solidFill>
                <a:latin typeface="Quicksand"/>
              </a:rPr>
              <a:t>SAIC</a:t>
            </a:r>
          </a:p>
        </p:txBody>
      </p:sp>
      <p:pic>
        <p:nvPicPr>
          <p:cNvPr id="235" name="Leidos" descr="Leidos"/>
          <p:cNvPicPr>
            <a:picLocks noChangeAspect="1"/>
          </p:cNvPicPr>
          <p:nvPr/>
        </p:nvPicPr>
        <p:blipFill>
          <a:blip r:embed="rId55"/>
          <a:stretch>
            <a:fillRect/>
          </a:stretch>
        </p:blipFill>
        <p:spPr>
          <a:xfrm>
            <a:off x="8277225" y="2774156"/>
            <a:ext cx="171450" cy="171450"/>
          </a:xfrm>
          <a:prstGeom prst="rect">
            <a:avLst/>
          </a:prstGeom>
        </p:spPr>
      </p:pic>
      <p:sp>
        <p:nvSpPr>
          <p:cNvPr id="236" name="TextBox 235"/>
          <p:cNvSpPr txBox="1"/>
          <p:nvPr/>
        </p:nvSpPr>
        <p:spPr>
          <a:xfrm>
            <a:off x="8505825" y="2776061"/>
            <a:ext cx="353467" cy="123825"/>
          </a:xfrm>
          <a:prstGeom prst="rect">
            <a:avLst/>
          </a:prstGeom>
          <a:noFill/>
        </p:spPr>
        <p:txBody>
          <a:bodyPr wrap="none" lIns="0" rIns="0" tIns="0" bIns="0" anchor="t">
            <a:noAutofit/>
          </a:bodyPr>
          <a:lstStyle/>
          <a:p>
            <a:pPr algn="l">
              <a:lnSpc>
                <a:spcPts val="1050"/>
              </a:lnSpc>
              <a:spcBef>
                <a:spcPts val="0"/>
              </a:spcBef>
              <a:spcAft>
                <a:spcPts val="0"/>
              </a:spcAft>
            </a:pPr>
            <a:r>
              <a:rPr sz="750" b="0" i="0" spc="15">
                <a:solidFill>
                  <a:srgbClr val="333231"/>
                </a:solidFill>
                <a:latin typeface="Quicksand"/>
              </a:rPr>
              <a:t>Leidos</a:t>
            </a:r>
          </a:p>
        </p:txBody>
      </p:sp>
      <p:pic>
        <p:nvPicPr>
          <p:cNvPr id="237" name="Parsons" descr="Parsons"/>
          <p:cNvPicPr>
            <a:picLocks noChangeAspect="1"/>
          </p:cNvPicPr>
          <p:nvPr/>
        </p:nvPicPr>
        <p:blipFill>
          <a:blip r:embed="rId56"/>
          <a:stretch>
            <a:fillRect/>
          </a:stretch>
        </p:blipFill>
        <p:spPr>
          <a:xfrm>
            <a:off x="8277225" y="2997994"/>
            <a:ext cx="171450" cy="171450"/>
          </a:xfrm>
          <a:prstGeom prst="rect">
            <a:avLst/>
          </a:prstGeom>
        </p:spPr>
      </p:pic>
      <p:sp>
        <p:nvSpPr>
          <p:cNvPr id="238" name="TextBox 237"/>
          <p:cNvSpPr txBox="1"/>
          <p:nvPr/>
        </p:nvSpPr>
        <p:spPr>
          <a:xfrm>
            <a:off x="8505825" y="2999899"/>
            <a:ext cx="423118" cy="123825"/>
          </a:xfrm>
          <a:prstGeom prst="rect">
            <a:avLst/>
          </a:prstGeom>
          <a:noFill/>
        </p:spPr>
        <p:txBody>
          <a:bodyPr wrap="none" lIns="0" rIns="0" tIns="0" bIns="0" anchor="t">
            <a:noAutofit/>
          </a:bodyPr>
          <a:lstStyle/>
          <a:p>
            <a:pPr algn="l">
              <a:lnSpc>
                <a:spcPts val="1050"/>
              </a:lnSpc>
              <a:spcBef>
                <a:spcPts val="0"/>
              </a:spcBef>
              <a:spcAft>
                <a:spcPts val="0"/>
              </a:spcAft>
            </a:pPr>
            <a:r>
              <a:rPr sz="750" b="0" i="0" spc="15">
                <a:solidFill>
                  <a:srgbClr val="333231"/>
                </a:solidFill>
                <a:latin typeface="Quicksand"/>
              </a:rPr>
              <a:t>Parsons</a:t>
            </a:r>
          </a:p>
        </p:txBody>
      </p:sp>
      <p:pic>
        <p:nvPicPr>
          <p:cNvPr id="239" name="ICF" descr="ICF"/>
          <p:cNvPicPr>
            <a:picLocks noChangeAspect="1"/>
          </p:cNvPicPr>
          <p:nvPr/>
        </p:nvPicPr>
        <p:blipFill>
          <a:blip r:embed="rId57"/>
          <a:stretch>
            <a:fillRect/>
          </a:stretch>
        </p:blipFill>
        <p:spPr>
          <a:xfrm>
            <a:off x="8277225" y="3221831"/>
            <a:ext cx="171450" cy="171450"/>
          </a:xfrm>
          <a:prstGeom prst="rect">
            <a:avLst/>
          </a:prstGeom>
        </p:spPr>
      </p:pic>
      <p:sp>
        <p:nvSpPr>
          <p:cNvPr id="240" name="TextBox 239"/>
          <p:cNvSpPr txBox="1"/>
          <p:nvPr/>
        </p:nvSpPr>
        <p:spPr>
          <a:xfrm>
            <a:off x="8505825" y="3223736"/>
            <a:ext cx="202853" cy="123825"/>
          </a:xfrm>
          <a:prstGeom prst="rect">
            <a:avLst/>
          </a:prstGeom>
          <a:noFill/>
        </p:spPr>
        <p:txBody>
          <a:bodyPr wrap="none" lIns="0" rIns="0" tIns="0" bIns="0" anchor="t">
            <a:noAutofit/>
          </a:bodyPr>
          <a:lstStyle/>
          <a:p>
            <a:pPr algn="l">
              <a:lnSpc>
                <a:spcPts val="1050"/>
              </a:lnSpc>
              <a:spcBef>
                <a:spcPts val="0"/>
              </a:spcBef>
              <a:spcAft>
                <a:spcPts val="0"/>
              </a:spcAft>
            </a:pPr>
            <a:r>
              <a:rPr sz="750" b="0" i="0" spc="15">
                <a:solidFill>
                  <a:srgbClr val="333231"/>
                </a:solidFill>
                <a:latin typeface="Quicksand"/>
              </a:rPr>
              <a:t>ICF</a:t>
            </a:r>
          </a:p>
        </p:txBody>
      </p:sp>
      <p:pic>
        <p:nvPicPr>
          <p:cNvPr id="241" name="Tyler Technologies" descr="Tyler Technologies"/>
          <p:cNvPicPr>
            <a:picLocks noChangeAspect="1"/>
          </p:cNvPicPr>
          <p:nvPr/>
        </p:nvPicPr>
        <p:blipFill>
          <a:blip r:embed="rId58"/>
          <a:stretch>
            <a:fillRect/>
          </a:stretch>
        </p:blipFill>
        <p:spPr>
          <a:xfrm>
            <a:off x="8277225" y="3445669"/>
            <a:ext cx="171450" cy="171450"/>
          </a:xfrm>
          <a:prstGeom prst="rect">
            <a:avLst/>
          </a:prstGeom>
        </p:spPr>
      </p:pic>
      <p:sp>
        <p:nvSpPr>
          <p:cNvPr id="242" name="TextBox 241"/>
          <p:cNvSpPr txBox="1"/>
          <p:nvPr/>
        </p:nvSpPr>
        <p:spPr>
          <a:xfrm>
            <a:off x="8505825" y="3447574"/>
            <a:ext cx="904577" cy="123825"/>
          </a:xfrm>
          <a:prstGeom prst="rect">
            <a:avLst/>
          </a:prstGeom>
          <a:noFill/>
        </p:spPr>
        <p:txBody>
          <a:bodyPr wrap="none" lIns="0" rIns="0" tIns="0" bIns="0" anchor="t">
            <a:noAutofit/>
          </a:bodyPr>
          <a:lstStyle/>
          <a:p>
            <a:pPr algn="l">
              <a:lnSpc>
                <a:spcPts val="1050"/>
              </a:lnSpc>
              <a:spcBef>
                <a:spcPts val="0"/>
              </a:spcBef>
              <a:spcAft>
                <a:spcPts val="0"/>
              </a:spcAft>
            </a:pPr>
            <a:r>
              <a:rPr sz="750" b="0" i="0" spc="15">
                <a:solidFill>
                  <a:srgbClr val="333231"/>
                </a:solidFill>
                <a:latin typeface="Quicksand"/>
              </a:rPr>
              <a:t>Tyler Technologies</a:t>
            </a:r>
          </a:p>
        </p:txBody>
      </p:sp>
      <p:sp>
        <p:nvSpPr>
          <p:cNvPr id="243" name="Rule"/>
          <p:cNvSpPr/>
          <p:nvPr/>
        </p:nvSpPr>
        <p:spPr>
          <a:xfrm>
            <a:off x="8277225" y="5353050"/>
            <a:ext cx="1266825" cy="9525"/>
          </a:xfrm>
          <a:prstGeom prst="rect">
            <a:avLst/>
          </a:prstGeom>
          <a:solidFill>
            <a:srgbClr val="E3DCD3"/>
          </a:solidFill>
          <a:ln>
            <a:noFill/>
          </a:ln>
        </p:spPr>
        <p:txBody>
          <a:bodyPr rtlCol="0" anchor="ctr"/>
          <a:lstStyle/>
          <a:p>
            <a:pPr algn="ctr"/>
          </a:p>
        </p:txBody>
      </p:sp>
      <p:sp>
        <p:nvSpPr>
          <p:cNvPr id="244" name="TextBox 243"/>
          <p:cNvSpPr txBox="1"/>
          <p:nvPr/>
        </p:nvSpPr>
        <p:spPr>
          <a:xfrm>
            <a:off x="8277225" y="5436489"/>
            <a:ext cx="1343025" cy="219075"/>
          </a:xfrm>
          <a:prstGeom prst="rect">
            <a:avLst/>
          </a:prstGeom>
          <a:noFill/>
        </p:spPr>
        <p:txBody>
          <a:bodyPr wrap="square" lIns="0" rIns="0" tIns="0" bIns="0" anchor="t">
            <a:noAutofit/>
          </a:bodyPr>
          <a:lstStyle/>
          <a:p>
            <a:pPr algn="l">
              <a:lnSpc>
                <a:spcPts val="975"/>
              </a:lnSpc>
              <a:spcBef>
                <a:spcPts val="0"/>
              </a:spcBef>
              <a:spcAft>
                <a:spcPts val="0"/>
              </a:spcAft>
            </a:pPr>
            <a:r>
              <a:rPr sz="600" b="1" i="0" spc="150">
                <a:solidFill>
                  <a:srgbClr val="8C6239"/>
                </a:solidFill>
                <a:latin typeface="Quicksand"/>
              </a:rPr>
              <a:t>SPONSOR-BACKED PLATFORMS</a:t>
            </a:r>
          </a:p>
        </p:txBody>
      </p:sp>
      <p:sp>
        <p:nvSpPr>
          <p:cNvPr id="245" name="Panel"/>
          <p:cNvSpPr/>
          <p:nvPr/>
        </p:nvSpPr>
        <p:spPr>
          <a:xfrm>
            <a:off x="8281988" y="5776912"/>
            <a:ext cx="298847" cy="190500"/>
          </a:xfrm>
          <a:prstGeom prst="rect">
            <a:avLst/>
          </a:prstGeom>
          <a:solidFill>
            <a:srgbClr val="FFFFFF"/>
          </a:solidFill>
          <a:ln w="9525">
            <a:solidFill>
              <a:srgbClr val="E3DCD3"/>
            </a:solidFill>
          </a:ln>
        </p:spPr>
        <p:txBody>
          <a:bodyPr rtlCol="0" anchor="ctr"/>
          <a:lstStyle/>
          <a:p>
            <a:pPr algn="ctr"/>
          </a:p>
        </p:txBody>
      </p:sp>
      <p:sp>
        <p:nvSpPr>
          <p:cNvPr id="246" name="TextBox 245"/>
          <p:cNvSpPr txBox="1"/>
          <p:nvPr/>
        </p:nvSpPr>
        <p:spPr>
          <a:xfrm>
            <a:off x="8343900" y="5796820"/>
            <a:ext cx="232172" cy="114300"/>
          </a:xfrm>
          <a:prstGeom prst="rect">
            <a:avLst/>
          </a:prstGeom>
          <a:noFill/>
        </p:spPr>
        <p:txBody>
          <a:bodyPr wrap="none" lIns="0" rIns="0" tIns="0" bIns="0" anchor="t">
            <a:noAutofit/>
          </a:bodyPr>
          <a:lstStyle/>
          <a:p>
            <a:pPr algn="l">
              <a:lnSpc>
                <a:spcPts val="975"/>
              </a:lnSpc>
              <a:spcBef>
                <a:spcPts val="0"/>
              </a:spcBef>
              <a:spcAft>
                <a:spcPts val="0"/>
              </a:spcAft>
            </a:pPr>
            <a:r>
              <a:rPr sz="712" b="1" i="0" spc="15">
                <a:solidFill>
                  <a:srgbClr val="1B1A1A"/>
                </a:solidFill>
                <a:latin typeface="Quicksand"/>
              </a:rPr>
              <a:t>ERT</a:t>
            </a:r>
          </a:p>
        </p:txBody>
      </p:sp>
      <p:sp>
        <p:nvSpPr>
          <p:cNvPr id="247" name="Panel"/>
          <p:cNvSpPr/>
          <p:nvPr/>
        </p:nvSpPr>
        <p:spPr>
          <a:xfrm>
            <a:off x="8637984" y="5776912"/>
            <a:ext cx="831354" cy="190500"/>
          </a:xfrm>
          <a:prstGeom prst="rect">
            <a:avLst/>
          </a:prstGeom>
          <a:solidFill>
            <a:srgbClr val="FFFFFF"/>
          </a:solidFill>
          <a:ln w="9525">
            <a:solidFill>
              <a:srgbClr val="E3DCD3"/>
            </a:solidFill>
          </a:ln>
        </p:spPr>
        <p:txBody>
          <a:bodyPr rtlCol="0" anchor="ctr"/>
          <a:lstStyle/>
          <a:p>
            <a:pPr algn="ctr"/>
          </a:p>
        </p:txBody>
      </p:sp>
      <p:sp>
        <p:nvSpPr>
          <p:cNvPr id="248" name="TextBox 247"/>
          <p:cNvSpPr txBox="1"/>
          <p:nvPr/>
        </p:nvSpPr>
        <p:spPr>
          <a:xfrm>
            <a:off x="8699897" y="5796820"/>
            <a:ext cx="764679" cy="114300"/>
          </a:xfrm>
          <a:prstGeom prst="rect">
            <a:avLst/>
          </a:prstGeom>
          <a:noFill/>
        </p:spPr>
        <p:txBody>
          <a:bodyPr wrap="none" lIns="0" rIns="0" tIns="0" bIns="0" anchor="t">
            <a:noAutofit/>
          </a:bodyPr>
          <a:lstStyle/>
          <a:p>
            <a:pPr algn="l">
              <a:lnSpc>
                <a:spcPts val="975"/>
              </a:lnSpc>
              <a:spcBef>
                <a:spcPts val="0"/>
              </a:spcBef>
              <a:spcAft>
                <a:spcPts val="0"/>
              </a:spcAft>
            </a:pPr>
            <a:r>
              <a:rPr sz="712" b="1" i="0" spc="15">
                <a:solidFill>
                  <a:srgbClr val="1B1A1A"/>
                </a:solidFill>
                <a:latin typeface="Quicksand"/>
              </a:rPr>
              <a:t>Xpect Solutions</a:t>
            </a:r>
          </a:p>
        </p:txBody>
      </p:sp>
      <p:sp>
        <p:nvSpPr>
          <p:cNvPr id="249" name="Panel"/>
          <p:cNvSpPr/>
          <p:nvPr/>
        </p:nvSpPr>
        <p:spPr>
          <a:xfrm>
            <a:off x="8281988" y="6024562"/>
            <a:ext cx="310902" cy="190500"/>
          </a:xfrm>
          <a:prstGeom prst="rect">
            <a:avLst/>
          </a:prstGeom>
          <a:solidFill>
            <a:srgbClr val="FFFFFF"/>
          </a:solidFill>
          <a:ln w="9525">
            <a:solidFill>
              <a:srgbClr val="E3DCD3"/>
            </a:solidFill>
          </a:ln>
        </p:spPr>
        <p:txBody>
          <a:bodyPr rtlCol="0" anchor="ctr"/>
          <a:lstStyle/>
          <a:p>
            <a:pPr algn="ctr"/>
          </a:p>
        </p:txBody>
      </p:sp>
      <p:sp>
        <p:nvSpPr>
          <p:cNvPr id="250" name="TextBox 249"/>
          <p:cNvSpPr txBox="1"/>
          <p:nvPr/>
        </p:nvSpPr>
        <p:spPr>
          <a:xfrm>
            <a:off x="8343900" y="6044470"/>
            <a:ext cx="244227" cy="114300"/>
          </a:xfrm>
          <a:prstGeom prst="rect">
            <a:avLst/>
          </a:prstGeom>
          <a:noFill/>
        </p:spPr>
        <p:txBody>
          <a:bodyPr wrap="none" lIns="0" rIns="0" tIns="0" bIns="0" anchor="t">
            <a:noAutofit/>
          </a:bodyPr>
          <a:lstStyle/>
          <a:p>
            <a:pPr algn="l">
              <a:lnSpc>
                <a:spcPts val="975"/>
              </a:lnSpc>
              <a:spcBef>
                <a:spcPts val="0"/>
              </a:spcBef>
              <a:spcAft>
                <a:spcPts val="0"/>
              </a:spcAft>
            </a:pPr>
            <a:r>
              <a:rPr sz="712" b="1" i="0" spc="15">
                <a:solidFill>
                  <a:srgbClr val="1B1A1A"/>
                </a:solidFill>
                <a:latin typeface="Quicksand"/>
              </a:rPr>
              <a:t>B&amp;A</a:t>
            </a:r>
          </a:p>
        </p:txBody>
      </p:sp>
      <p:sp>
        <p:nvSpPr>
          <p:cNvPr id="251" name="Panel"/>
          <p:cNvSpPr/>
          <p:nvPr/>
        </p:nvSpPr>
        <p:spPr>
          <a:xfrm>
            <a:off x="8650039" y="6024562"/>
            <a:ext cx="845641" cy="190500"/>
          </a:xfrm>
          <a:prstGeom prst="rect">
            <a:avLst/>
          </a:prstGeom>
          <a:solidFill>
            <a:srgbClr val="FFFFFF"/>
          </a:solidFill>
          <a:ln w="9525">
            <a:solidFill>
              <a:srgbClr val="E3DCD3"/>
            </a:solidFill>
          </a:ln>
        </p:spPr>
        <p:txBody>
          <a:bodyPr rtlCol="0" anchor="ctr"/>
          <a:lstStyle/>
          <a:p>
            <a:pPr algn="ctr"/>
          </a:p>
        </p:txBody>
      </p:sp>
      <p:sp>
        <p:nvSpPr>
          <p:cNvPr id="252" name="TextBox 251"/>
          <p:cNvSpPr txBox="1"/>
          <p:nvPr/>
        </p:nvSpPr>
        <p:spPr>
          <a:xfrm>
            <a:off x="8711952" y="6044470"/>
            <a:ext cx="778966" cy="114300"/>
          </a:xfrm>
          <a:prstGeom prst="rect">
            <a:avLst/>
          </a:prstGeom>
          <a:noFill/>
        </p:spPr>
        <p:txBody>
          <a:bodyPr wrap="none" lIns="0" rIns="0" tIns="0" bIns="0" anchor="t">
            <a:noAutofit/>
          </a:bodyPr>
          <a:lstStyle/>
          <a:p>
            <a:pPr algn="l">
              <a:lnSpc>
                <a:spcPts val="975"/>
              </a:lnSpc>
              <a:spcBef>
                <a:spcPts val="0"/>
              </a:spcBef>
              <a:spcAft>
                <a:spcPts val="0"/>
              </a:spcAft>
            </a:pPr>
            <a:r>
              <a:rPr sz="712" b="1" i="0" spc="15">
                <a:solidFill>
                  <a:srgbClr val="1B1A1A"/>
                </a:solidFill>
                <a:latin typeface="Quicksand"/>
              </a:rPr>
              <a:t>Detroit Defense</a:t>
            </a:r>
          </a:p>
        </p:txBody>
      </p:sp>
      <p:sp>
        <p:nvSpPr>
          <p:cNvPr id="253" name="Panel"/>
          <p:cNvSpPr/>
          <p:nvPr/>
        </p:nvSpPr>
        <p:spPr>
          <a:xfrm>
            <a:off x="8281988" y="6272212"/>
            <a:ext cx="639217" cy="190500"/>
          </a:xfrm>
          <a:prstGeom prst="rect">
            <a:avLst/>
          </a:prstGeom>
          <a:solidFill>
            <a:srgbClr val="FFFFFF"/>
          </a:solidFill>
          <a:ln w="9525">
            <a:solidFill>
              <a:srgbClr val="E3DCD3"/>
            </a:solidFill>
          </a:ln>
        </p:spPr>
        <p:txBody>
          <a:bodyPr rtlCol="0" anchor="ctr"/>
          <a:lstStyle/>
          <a:p>
            <a:pPr algn="ctr"/>
          </a:p>
        </p:txBody>
      </p:sp>
      <p:sp>
        <p:nvSpPr>
          <p:cNvPr id="254" name="TextBox 253"/>
          <p:cNvSpPr txBox="1"/>
          <p:nvPr/>
        </p:nvSpPr>
        <p:spPr>
          <a:xfrm>
            <a:off x="8343900" y="6292120"/>
            <a:ext cx="572542" cy="114300"/>
          </a:xfrm>
          <a:prstGeom prst="rect">
            <a:avLst/>
          </a:prstGeom>
          <a:noFill/>
        </p:spPr>
        <p:txBody>
          <a:bodyPr wrap="none" lIns="0" rIns="0" tIns="0" bIns="0" anchor="t">
            <a:noAutofit/>
          </a:bodyPr>
          <a:lstStyle/>
          <a:p>
            <a:pPr algn="l">
              <a:lnSpc>
                <a:spcPts val="975"/>
              </a:lnSpc>
              <a:spcBef>
                <a:spcPts val="0"/>
              </a:spcBef>
              <a:spcAft>
                <a:spcPts val="0"/>
              </a:spcAft>
            </a:pPr>
            <a:r>
              <a:rPr sz="712" b="1" i="0" spc="15">
                <a:solidFill>
                  <a:srgbClr val="1B1A1A"/>
                </a:solidFill>
                <a:latin typeface="Quicksand"/>
              </a:rPr>
              <a:t>ITC Federal</a:t>
            </a:r>
          </a:p>
        </p:txBody>
      </p:sp>
      <p:sp>
        <p:nvSpPr>
          <p:cNvPr id="255" name="Panel"/>
          <p:cNvSpPr/>
          <p:nvPr/>
        </p:nvSpPr>
        <p:spPr>
          <a:xfrm>
            <a:off x="8281988" y="6519862"/>
            <a:ext cx="1257300" cy="314325"/>
          </a:xfrm>
          <a:prstGeom prst="rect">
            <a:avLst/>
          </a:prstGeom>
          <a:solidFill>
            <a:srgbClr val="FFFFFF"/>
          </a:solidFill>
          <a:ln w="9525">
            <a:solidFill>
              <a:srgbClr val="E3DCD3"/>
            </a:solidFill>
          </a:ln>
        </p:spPr>
        <p:txBody>
          <a:bodyPr rtlCol="0" anchor="ctr"/>
          <a:lstStyle/>
          <a:p>
            <a:pPr algn="ctr"/>
          </a:p>
        </p:txBody>
      </p:sp>
      <p:sp>
        <p:nvSpPr>
          <p:cNvPr id="256" name="TextBox 255"/>
          <p:cNvSpPr txBox="1"/>
          <p:nvPr/>
        </p:nvSpPr>
        <p:spPr>
          <a:xfrm>
            <a:off x="8343900" y="6539770"/>
            <a:ext cx="1209675" cy="238125"/>
          </a:xfrm>
          <a:prstGeom prst="rect">
            <a:avLst/>
          </a:prstGeom>
          <a:noFill/>
        </p:spPr>
        <p:txBody>
          <a:bodyPr wrap="square" lIns="0" rIns="0" tIns="0" bIns="0" anchor="t">
            <a:noAutofit/>
          </a:bodyPr>
          <a:lstStyle/>
          <a:p>
            <a:pPr algn="l">
              <a:lnSpc>
                <a:spcPts val="975"/>
              </a:lnSpc>
              <a:spcBef>
                <a:spcPts val="0"/>
              </a:spcBef>
              <a:spcAft>
                <a:spcPts val="0"/>
              </a:spcAft>
            </a:pPr>
            <a:r>
              <a:rPr sz="712" b="1" i="0" spc="15">
                <a:solidFill>
                  <a:srgbClr val="1B1A1A"/>
                </a:solidFill>
                <a:latin typeface="Quicksand"/>
              </a:rPr>
              <a:t>Falfurrias Management Partners</a:t>
            </a:r>
          </a:p>
        </p:txBody>
      </p:sp>
      <p:sp>
        <p:nvSpPr>
          <p:cNvPr id="257" name="Panel"/>
          <p:cNvSpPr/>
          <p:nvPr/>
        </p:nvSpPr>
        <p:spPr>
          <a:xfrm>
            <a:off x="419100" y="7029450"/>
            <a:ext cx="9220200" cy="9525"/>
          </a:xfrm>
          <a:prstGeom prst="rect">
            <a:avLst/>
          </a:prstGeom>
          <a:solidFill>
            <a:srgbClr val="E3DCD3"/>
          </a:solidFill>
          <a:ln>
            <a:noFill/>
          </a:ln>
        </p:spPr>
        <p:txBody>
          <a:bodyPr rtlCol="0" anchor="ctr"/>
          <a:lstStyle/>
          <a:p>
            <a:pPr algn="ctr"/>
          </a:p>
        </p:txBody>
      </p:sp>
      <p:pic>
        <p:nvPicPr>
          <p:cNvPr id="258" name="Graphic" descr="S03_r6.png"/>
          <p:cNvPicPr>
            <a:picLocks noChangeAspect="1"/>
          </p:cNvPicPr>
          <p:nvPr/>
        </p:nvPicPr>
        <p:blipFill>
          <a:blip r:embed="rId59"/>
          <a:stretch>
            <a:fillRect/>
          </a:stretch>
        </p:blipFill>
        <p:spPr>
          <a:xfrm>
            <a:off x="419100" y="7143750"/>
            <a:ext cx="914400" cy="171450"/>
          </a:xfrm>
          <a:prstGeom prst="rect">
            <a:avLst/>
          </a:prstGeom>
        </p:spPr>
      </p:pic>
      <p:sp>
        <p:nvSpPr>
          <p:cNvPr id="259" name="TextBox 258"/>
          <p:cNvSpPr txBox="1"/>
          <p:nvPr/>
        </p:nvSpPr>
        <p:spPr>
          <a:xfrm>
            <a:off x="1543050" y="7091172"/>
            <a:ext cx="7810500" cy="223838"/>
          </a:xfrm>
          <a:prstGeom prst="rect">
            <a:avLst/>
          </a:prstGeom>
          <a:noFill/>
        </p:spPr>
        <p:txBody>
          <a:bodyPr wrap="square" lIns="0" rIns="0" tIns="0" bIns="0" anchor="t">
            <a:noAutofit/>
          </a:bodyPr>
          <a:lstStyle/>
          <a:p>
            <a:pPr algn="l">
              <a:lnSpc>
                <a:spcPts val="938"/>
              </a:lnSpc>
              <a:spcBef>
                <a:spcPts val="0"/>
              </a:spcBef>
              <a:spcAft>
                <a:spcPts val="0"/>
              </a:spcAft>
            </a:pPr>
            <a:r>
              <a:rPr sz="675" b="0" i="0" spc="8">
                <a:solidFill>
                  <a:srgbClr val="6F6A66"/>
                </a:solidFill>
                <a:latin typeface="Quicksand"/>
              </a:rPr>
              <a:t>Private participants are buyers in transactions announced between January 2025 and October 2026 and cited in the full report. The list is illustrative. Company names and marks are the property of their owners and are shown for identification.</a:t>
            </a:r>
          </a:p>
        </p:txBody>
      </p:sp>
      <p:sp>
        <p:nvSpPr>
          <p:cNvPr id="260" name="TextBox 259"/>
          <p:cNvSpPr txBox="1"/>
          <p:nvPr/>
        </p:nvSpPr>
        <p:spPr>
          <a:xfrm>
            <a:off x="9517261" y="7149370"/>
            <a:ext cx="122039" cy="114300"/>
          </a:xfrm>
          <a:prstGeom prst="rect">
            <a:avLst/>
          </a:prstGeom>
          <a:noFill/>
        </p:spPr>
        <p:txBody>
          <a:bodyPr wrap="none" lIns="0" rIns="0" tIns="0" bIns="0" anchor="t">
            <a:noAutofit/>
          </a:bodyPr>
          <a:lstStyle/>
          <a:p>
            <a:pPr algn="r">
              <a:lnSpc>
                <a:spcPts val="1050"/>
              </a:lnSpc>
              <a:spcBef>
                <a:spcPts val="0"/>
              </a:spcBef>
              <a:spcAft>
                <a:spcPts val="0"/>
              </a:spcAft>
            </a:pPr>
            <a:r>
              <a:rPr sz="712" b="1" i="0" spc="150">
                <a:solidFill>
                  <a:srgbClr val="1B1A1A"/>
                </a:solidFill>
                <a:latin typeface="Quicksand"/>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B1A1A"/>
        </a:solidFill>
        <a:effectLst/>
      </p:bgPr>
    </p:bg>
    <p:spTree>
      <p:nvGrpSpPr>
        <p:cNvPr id="1" name=""/>
        <p:cNvGrpSpPr/>
        <p:nvPr/>
      </p:nvGrpSpPr>
      <p:grpSpPr/>
      <p:sp>
        <p:nvSpPr>
          <p:cNvPr id="3" name="Panel"/>
          <p:cNvSpPr/>
          <p:nvPr/>
        </p:nvSpPr>
        <p:spPr>
          <a:xfrm>
            <a:off x="0" y="0"/>
            <a:ext cx="10058400" cy="7772400"/>
          </a:xfrm>
          <a:prstGeom prst="rect">
            <a:avLst/>
          </a:prstGeom>
          <a:solidFill>
            <a:srgbClr val="1B1A1A"/>
          </a:solidFill>
          <a:ln>
            <a:noFill/>
          </a:ln>
        </p:spPr>
        <p:txBody>
          <a:bodyPr rtlCol="0" anchor="ctr"/>
          <a:lstStyle/>
          <a:p>
            <a:pPr algn="ctr"/>
          </a:p>
        </p:txBody>
      </p:sp>
      <p:pic>
        <p:nvPicPr>
          <p:cNvPr id="4" name="Picture" descr="knot.jpg"/>
          <p:cNvPicPr>
            <a:picLocks noChangeAspect="1"/>
          </p:cNvPicPr>
          <p:nvPr/>
        </p:nvPicPr>
        <p:blipFill>
          <a:blip r:embed="rId2">
            <a:alphaModFix amt="60000"/>
          </a:blip>
          <a:srcRect l="13603" r="13603"/>
          <a:stretch>
            <a:fillRect/>
          </a:stretch>
        </p:blipFill>
        <p:spPr>
          <a:xfrm>
            <a:off x="0" y="0"/>
            <a:ext cx="10058400" cy="7772400"/>
          </a:xfrm>
          <a:prstGeom prst="rect">
            <a:avLst/>
          </a:prstGeom>
        </p:spPr>
      </p:pic>
      <p:pic>
        <p:nvPicPr>
          <p:cNvPr id="5" name="Graphic" descr="S14_r0.png"/>
          <p:cNvPicPr>
            <a:picLocks noChangeAspect="1"/>
          </p:cNvPicPr>
          <p:nvPr/>
        </p:nvPicPr>
        <p:blipFill>
          <a:blip r:embed="rId3"/>
          <a:stretch>
            <a:fillRect/>
          </a:stretch>
        </p:blipFill>
        <p:spPr>
          <a:xfrm>
            <a:off x="4572000" y="0"/>
            <a:ext cx="5486400" cy="7772400"/>
          </a:xfrm>
          <a:prstGeom prst="rect">
            <a:avLst/>
          </a:prstGeom>
        </p:spPr>
      </p:pic>
      <p:pic>
        <p:nvPicPr>
          <p:cNvPr id="6" name="Graphic" descr="S02_r1.png"/>
          <p:cNvPicPr>
            <a:picLocks noChangeAspect="1"/>
          </p:cNvPicPr>
          <p:nvPr/>
        </p:nvPicPr>
        <p:blipFill>
          <a:blip r:embed="rId4"/>
          <a:stretch>
            <a:fillRect/>
          </a:stretch>
        </p:blipFill>
        <p:spPr>
          <a:xfrm>
            <a:off x="0" y="0"/>
            <a:ext cx="10058400" cy="7772400"/>
          </a:xfrm>
          <a:prstGeom prst="rect">
            <a:avLst/>
          </a:prstGeom>
        </p:spPr>
      </p:pic>
      <p:sp>
        <p:nvSpPr>
          <p:cNvPr id="7" name="TextBox 6"/>
          <p:cNvSpPr txBox="1"/>
          <p:nvPr/>
        </p:nvSpPr>
        <p:spPr>
          <a:xfrm>
            <a:off x="609600" y="1842135"/>
            <a:ext cx="1372493" cy="1543050"/>
          </a:xfrm>
          <a:prstGeom prst="rect">
            <a:avLst/>
          </a:prstGeom>
          <a:noFill/>
        </p:spPr>
        <p:txBody>
          <a:bodyPr wrap="none" lIns="0" rIns="0" tIns="0" bIns="0" anchor="t">
            <a:noAutofit/>
          </a:bodyPr>
          <a:lstStyle/>
          <a:p>
            <a:pPr algn="l">
              <a:lnSpc>
                <a:spcPts val="9000"/>
              </a:lnSpc>
              <a:spcBef>
                <a:spcPts val="0"/>
              </a:spcBef>
              <a:spcAft>
                <a:spcPts val="0"/>
              </a:spcAft>
            </a:pPr>
            <a:r>
              <a:rPr sz="9000" b="0" i="0" spc="300">
                <a:solidFill>
                  <a:srgbClr val="D3AE84"/>
                </a:solidFill>
                <a:latin typeface="Cinzel"/>
              </a:rPr>
              <a:t>03</a:t>
            </a:r>
          </a:p>
        </p:txBody>
      </p:sp>
      <p:sp>
        <p:nvSpPr>
          <p:cNvPr id="2" name="Title 1"/>
          <p:cNvSpPr>
            <a:spLocks noGrp="1"/>
          </p:cNvSpPr>
          <p:nvPr>
            <p:ph type="title"/>
          </p:nvPr>
        </p:nvSpPr>
        <p:spPr>
          <a:xfrm>
            <a:off x="609600" y="2836926"/>
            <a:ext cx="3993207" cy="514350"/>
          </a:xfrm>
        </p:spPr>
        <p:txBody>
          <a:bodyPr wrap="none" lIns="0" rIns="0" tIns="0" bIns="0" anchor="t">
            <a:noAutofit/>
          </a:bodyPr>
          <a:lstStyle/>
          <a:p>
            <a:pPr algn="l">
              <a:lnSpc>
                <a:spcPts val="4650"/>
              </a:lnSpc>
              <a:spcBef>
                <a:spcPts val="0"/>
              </a:spcBef>
              <a:spcAft>
                <a:spcPts val="0"/>
              </a:spcAft>
            </a:pPr>
            <a:r>
              <a:rPr sz="4050" b="1" i="0">
                <a:solidFill>
                  <a:srgbClr val="FFFFFF"/>
                </a:solidFill>
                <a:latin typeface="Newsreader"/>
              </a:rPr>
              <a:t>Connect With Us</a:t>
            </a:r>
          </a:p>
        </p:txBody>
      </p:sp>
      <p:sp>
        <p:nvSpPr>
          <p:cNvPr id="8" name="Panel"/>
          <p:cNvSpPr/>
          <p:nvPr/>
        </p:nvSpPr>
        <p:spPr>
          <a:xfrm>
            <a:off x="609600" y="3714750"/>
            <a:ext cx="914400" cy="19050"/>
          </a:xfrm>
          <a:prstGeom prst="rect">
            <a:avLst/>
          </a:prstGeom>
          <a:solidFill>
            <a:srgbClr val="B68757"/>
          </a:solidFill>
          <a:ln>
            <a:noFill/>
          </a:ln>
        </p:spPr>
        <p:txBody>
          <a:bodyPr rtlCol="0" anchor="ctr"/>
          <a:lstStyle/>
          <a:p>
            <a:pPr algn="ctr"/>
          </a:p>
        </p:txBody>
      </p:sp>
      <p:sp>
        <p:nvSpPr>
          <p:cNvPr id="9" name="Rule"/>
          <p:cNvSpPr/>
          <p:nvPr/>
        </p:nvSpPr>
        <p:spPr>
          <a:xfrm>
            <a:off x="609600" y="3924300"/>
            <a:ext cx="3333750" cy="9525"/>
          </a:xfrm>
          <a:prstGeom prst="rect">
            <a:avLst/>
          </a:prstGeom>
          <a:solidFill>
            <a:srgbClr val="FFFFFF">
              <a:alpha val="16000"/>
            </a:srgbClr>
          </a:solidFill>
          <a:ln>
            <a:noFill/>
          </a:ln>
        </p:spPr>
        <p:txBody>
          <a:bodyPr rtlCol="0" anchor="ctr"/>
          <a:lstStyle/>
          <a:p>
            <a:pPr algn="ctr"/>
          </a:p>
        </p:txBody>
      </p:sp>
      <p:sp>
        <p:nvSpPr>
          <p:cNvPr id="10" name="Panel"/>
          <p:cNvSpPr/>
          <p:nvPr/>
        </p:nvSpPr>
        <p:spPr>
          <a:xfrm>
            <a:off x="609600" y="4057650"/>
            <a:ext cx="57150" cy="57150"/>
          </a:xfrm>
          <a:prstGeom prst="rect">
            <a:avLst/>
          </a:prstGeom>
          <a:solidFill>
            <a:srgbClr val="B68757"/>
          </a:solidFill>
          <a:ln>
            <a:noFill/>
          </a:ln>
        </p:spPr>
        <p:txBody>
          <a:bodyPr rtlCol="0" anchor="ctr"/>
          <a:lstStyle/>
          <a:p>
            <a:pPr algn="ctr"/>
          </a:p>
        </p:txBody>
      </p:sp>
      <p:sp>
        <p:nvSpPr>
          <p:cNvPr id="11" name="TextBox 10"/>
          <p:cNvSpPr txBox="1"/>
          <p:nvPr/>
        </p:nvSpPr>
        <p:spPr>
          <a:xfrm>
            <a:off x="781050" y="3983831"/>
            <a:ext cx="1211014" cy="152400"/>
          </a:xfrm>
          <a:prstGeom prst="rect">
            <a:avLst/>
          </a:prstGeom>
          <a:noFill/>
        </p:spPr>
        <p:txBody>
          <a:bodyPr wrap="none" lIns="0" rIns="0" tIns="0" bIns="0" anchor="t">
            <a:noAutofit/>
          </a:bodyPr>
          <a:lstStyle/>
          <a:p>
            <a:pPr algn="l">
              <a:lnSpc>
                <a:spcPts val="1425"/>
              </a:lnSpc>
              <a:spcBef>
                <a:spcPts val="0"/>
              </a:spcBef>
              <a:spcAft>
                <a:spcPts val="0"/>
              </a:spcAft>
            </a:pPr>
            <a:r>
              <a:rPr sz="938" b="0" i="0" spc="15">
                <a:solidFill>
                  <a:srgbClr val="C3BDB6"/>
                </a:solidFill>
                <a:latin typeface="Quicksand"/>
              </a:rPr>
              <a:t>Start a conversation</a:t>
            </a:r>
          </a:p>
        </p:txBody>
      </p:sp>
      <p:sp>
        <p:nvSpPr>
          <p:cNvPr id="12" name="Rule"/>
          <p:cNvSpPr/>
          <p:nvPr/>
        </p:nvSpPr>
        <p:spPr>
          <a:xfrm>
            <a:off x="609600" y="4267200"/>
            <a:ext cx="3333750" cy="9525"/>
          </a:xfrm>
          <a:prstGeom prst="rect">
            <a:avLst/>
          </a:prstGeom>
          <a:solidFill>
            <a:srgbClr val="FFFFFF">
              <a:alpha val="16000"/>
            </a:srgbClr>
          </a:solidFill>
          <a:ln>
            <a:noFill/>
          </a:ln>
        </p:spPr>
        <p:txBody>
          <a:bodyPr rtlCol="0" anchor="ctr"/>
          <a:lstStyle/>
          <a:p>
            <a:pPr algn="ctr"/>
          </a:p>
        </p:txBody>
      </p:sp>
      <p:sp>
        <p:nvSpPr>
          <p:cNvPr id="13" name="Panel"/>
          <p:cNvSpPr/>
          <p:nvPr/>
        </p:nvSpPr>
        <p:spPr>
          <a:xfrm>
            <a:off x="609600" y="4400550"/>
            <a:ext cx="57150" cy="57150"/>
          </a:xfrm>
          <a:prstGeom prst="rect">
            <a:avLst/>
          </a:prstGeom>
          <a:solidFill>
            <a:srgbClr val="B68757"/>
          </a:solidFill>
          <a:ln>
            <a:noFill/>
          </a:ln>
        </p:spPr>
        <p:txBody>
          <a:bodyPr rtlCol="0" anchor="ctr"/>
          <a:lstStyle/>
          <a:p>
            <a:pPr algn="ctr"/>
          </a:p>
        </p:txBody>
      </p:sp>
      <p:sp>
        <p:nvSpPr>
          <p:cNvPr id="14" name="TextBox 13"/>
          <p:cNvSpPr txBox="1"/>
          <p:nvPr/>
        </p:nvSpPr>
        <p:spPr>
          <a:xfrm>
            <a:off x="781050" y="4326731"/>
            <a:ext cx="597991" cy="152400"/>
          </a:xfrm>
          <a:prstGeom prst="rect">
            <a:avLst/>
          </a:prstGeom>
          <a:noFill/>
        </p:spPr>
        <p:txBody>
          <a:bodyPr wrap="none" lIns="0" rIns="0" tIns="0" bIns="0" anchor="t">
            <a:noAutofit/>
          </a:bodyPr>
          <a:lstStyle/>
          <a:p>
            <a:pPr algn="l">
              <a:lnSpc>
                <a:spcPts val="1425"/>
              </a:lnSpc>
              <a:spcBef>
                <a:spcPts val="0"/>
              </a:spcBef>
              <a:spcAft>
                <a:spcPts val="0"/>
              </a:spcAft>
            </a:pPr>
            <a:r>
              <a:rPr sz="938" b="0" i="0" spc="15">
                <a:solidFill>
                  <a:srgbClr val="C3BDB6"/>
                </a:solidFill>
                <a:latin typeface="Quicksand"/>
              </a:rPr>
              <a:t>Our team</a:t>
            </a:r>
          </a:p>
        </p:txBody>
      </p:sp>
      <p:sp>
        <p:nvSpPr>
          <p:cNvPr id="15" name="Rule"/>
          <p:cNvSpPr/>
          <p:nvPr/>
        </p:nvSpPr>
        <p:spPr>
          <a:xfrm>
            <a:off x="609600" y="4610100"/>
            <a:ext cx="3333750" cy="9525"/>
          </a:xfrm>
          <a:prstGeom prst="rect">
            <a:avLst/>
          </a:prstGeom>
          <a:solidFill>
            <a:srgbClr val="FFFFFF">
              <a:alpha val="16000"/>
            </a:srgbClr>
          </a:solidFill>
          <a:ln>
            <a:noFill/>
          </a:ln>
        </p:spPr>
        <p:txBody>
          <a:bodyPr rtlCol="0" anchor="ctr"/>
          <a:lstStyle/>
          <a:p>
            <a:pPr algn="ctr"/>
          </a:p>
        </p:txBody>
      </p:sp>
      <p:sp>
        <p:nvSpPr>
          <p:cNvPr id="16" name="Panel"/>
          <p:cNvSpPr/>
          <p:nvPr/>
        </p:nvSpPr>
        <p:spPr>
          <a:xfrm>
            <a:off x="609600" y="4743450"/>
            <a:ext cx="57150" cy="57150"/>
          </a:xfrm>
          <a:prstGeom prst="rect">
            <a:avLst/>
          </a:prstGeom>
          <a:solidFill>
            <a:srgbClr val="B68757"/>
          </a:solidFill>
          <a:ln>
            <a:noFill/>
          </a:ln>
        </p:spPr>
        <p:txBody>
          <a:bodyPr rtlCol="0" anchor="ctr"/>
          <a:lstStyle/>
          <a:p>
            <a:pPr algn="ctr"/>
          </a:p>
        </p:txBody>
      </p:sp>
      <p:sp>
        <p:nvSpPr>
          <p:cNvPr id="17" name="TextBox 16"/>
          <p:cNvSpPr txBox="1"/>
          <p:nvPr/>
        </p:nvSpPr>
        <p:spPr>
          <a:xfrm>
            <a:off x="781050" y="4669631"/>
            <a:ext cx="1465213" cy="152400"/>
          </a:xfrm>
          <a:prstGeom prst="rect">
            <a:avLst/>
          </a:prstGeom>
          <a:noFill/>
        </p:spPr>
        <p:txBody>
          <a:bodyPr wrap="none" lIns="0" rIns="0" tIns="0" bIns="0" anchor="t">
            <a:noAutofit/>
          </a:bodyPr>
          <a:lstStyle/>
          <a:p>
            <a:pPr algn="l">
              <a:lnSpc>
                <a:spcPts val="1425"/>
              </a:lnSpc>
              <a:spcBef>
                <a:spcPts val="0"/>
              </a:spcBef>
              <a:spcAft>
                <a:spcPts val="0"/>
              </a:spcAft>
            </a:pPr>
            <a:r>
              <a:rPr sz="938" b="0" i="0" spc="15">
                <a:solidFill>
                  <a:srgbClr val="C3BDB6"/>
                </a:solidFill>
                <a:latin typeface="Quicksand"/>
              </a:rPr>
              <a:t>Benchmark International</a:t>
            </a:r>
          </a:p>
        </p:txBody>
      </p:sp>
      <p:sp>
        <p:nvSpPr>
          <p:cNvPr id="18" name="Rule"/>
          <p:cNvSpPr/>
          <p:nvPr/>
        </p:nvSpPr>
        <p:spPr>
          <a:xfrm>
            <a:off x="609600" y="4953000"/>
            <a:ext cx="3333750" cy="9525"/>
          </a:xfrm>
          <a:prstGeom prst="rect">
            <a:avLst/>
          </a:prstGeom>
          <a:solidFill>
            <a:srgbClr val="FFFFFF">
              <a:alpha val="16000"/>
            </a:srgbClr>
          </a:solidFill>
          <a:ln>
            <a:noFill/>
          </a:ln>
        </p:spPr>
        <p:txBody>
          <a:bodyPr rtlCol="0" anchor="ctr"/>
          <a:lstStyle/>
          <a:p>
            <a:pPr algn="ctr"/>
          </a:p>
        </p:txBody>
      </p:sp>
      <p:sp>
        <p:nvSpPr>
          <p:cNvPr id="19" name="Panel"/>
          <p:cNvSpPr/>
          <p:nvPr/>
        </p:nvSpPr>
        <p:spPr>
          <a:xfrm>
            <a:off x="609600" y="5086350"/>
            <a:ext cx="57150" cy="57150"/>
          </a:xfrm>
          <a:prstGeom prst="rect">
            <a:avLst/>
          </a:prstGeom>
          <a:solidFill>
            <a:srgbClr val="B68757"/>
          </a:solidFill>
          <a:ln>
            <a:noFill/>
          </a:ln>
        </p:spPr>
        <p:txBody>
          <a:bodyPr rtlCol="0" anchor="ctr"/>
          <a:lstStyle/>
          <a:p>
            <a:pPr algn="ctr"/>
          </a:p>
        </p:txBody>
      </p:sp>
      <p:sp>
        <p:nvSpPr>
          <p:cNvPr id="20" name="TextBox 19"/>
          <p:cNvSpPr txBox="1"/>
          <p:nvPr/>
        </p:nvSpPr>
        <p:spPr>
          <a:xfrm>
            <a:off x="781050" y="5012531"/>
            <a:ext cx="1419374" cy="152400"/>
          </a:xfrm>
          <a:prstGeom prst="rect">
            <a:avLst/>
          </a:prstGeom>
          <a:noFill/>
        </p:spPr>
        <p:txBody>
          <a:bodyPr wrap="none" lIns="0" rIns="0" tIns="0" bIns="0" anchor="t">
            <a:noAutofit/>
          </a:bodyPr>
          <a:lstStyle/>
          <a:p>
            <a:pPr algn="l">
              <a:lnSpc>
                <a:spcPts val="1425"/>
              </a:lnSpc>
              <a:spcBef>
                <a:spcPts val="0"/>
              </a:spcBef>
              <a:spcAft>
                <a:spcPts val="0"/>
              </a:spcAft>
            </a:pPr>
            <a:r>
              <a:rPr sz="938" b="0" i="0" spc="15">
                <a:solidFill>
                  <a:srgbClr val="C3BDB6"/>
                </a:solidFill>
                <a:latin typeface="Quicksand"/>
              </a:rPr>
              <a:t>Disclosures and sources</a:t>
            </a:r>
          </a:p>
        </p:txBody>
      </p:sp>
      <p:sp>
        <p:nvSpPr>
          <p:cNvPr id="21" name="Rule"/>
          <p:cNvSpPr/>
          <p:nvPr/>
        </p:nvSpPr>
        <p:spPr>
          <a:xfrm>
            <a:off x="609600" y="5295900"/>
            <a:ext cx="3333750" cy="9525"/>
          </a:xfrm>
          <a:prstGeom prst="rect">
            <a:avLst/>
          </a:prstGeom>
          <a:solidFill>
            <a:srgbClr val="FFFFFF">
              <a:alpha val="16000"/>
            </a:srgbClr>
          </a:solidFill>
          <a:ln>
            <a:noFill/>
          </a:ln>
        </p:spPr>
        <p:txBody>
          <a:bodyPr rtlCol="0" anchor="ctr"/>
          <a:lstStyle/>
          <a:p>
            <a:pPr algn="ctr"/>
          </a:p>
        </p:txBody>
      </p:sp>
      <p:pic>
        <p:nvPicPr>
          <p:cNvPr id="22" name="Benchmark International" descr="Benchmark International"/>
          <p:cNvPicPr>
            <a:picLocks noChangeAspect="1"/>
          </p:cNvPicPr>
          <p:nvPr/>
        </p:nvPicPr>
        <p:blipFill>
          <a:blip r:embed="rId5"/>
          <a:stretch>
            <a:fillRect/>
          </a:stretch>
        </p:blipFill>
        <p:spPr>
          <a:xfrm>
            <a:off x="609600" y="7086600"/>
            <a:ext cx="1428750" cy="266700"/>
          </a:xfrm>
          <a:prstGeom prst="rect">
            <a:avLst/>
          </a:prstGeom>
        </p:spPr>
      </p:pic>
      <p:sp>
        <p:nvSpPr>
          <p:cNvPr id="23" name="TextBox 22"/>
          <p:cNvSpPr txBox="1"/>
          <p:nvPr/>
        </p:nvSpPr>
        <p:spPr>
          <a:xfrm>
            <a:off x="2209800" y="7168420"/>
            <a:ext cx="1679972" cy="114300"/>
          </a:xfrm>
          <a:prstGeom prst="rect">
            <a:avLst/>
          </a:prstGeom>
          <a:noFill/>
        </p:spPr>
        <p:txBody>
          <a:bodyPr wrap="none" lIns="0" rIns="0" tIns="0" bIns="0" anchor="t">
            <a:noAutofit/>
          </a:bodyPr>
          <a:lstStyle/>
          <a:p>
            <a:pPr algn="l">
              <a:lnSpc>
                <a:spcPts val="1050"/>
              </a:lnSpc>
              <a:spcBef>
                <a:spcPts val="0"/>
              </a:spcBef>
              <a:spcAft>
                <a:spcPts val="0"/>
              </a:spcAft>
            </a:pPr>
            <a:r>
              <a:rPr sz="712" b="1" i="0" spc="195">
                <a:solidFill>
                  <a:srgbClr val="C3BDB6"/>
                </a:solidFill>
                <a:latin typeface="Quicksand"/>
              </a:rPr>
              <a:t>TECHNOLOGY  |  Q4 2026</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3" name="Panel"/>
          <p:cNvSpPr/>
          <p:nvPr/>
        </p:nvSpPr>
        <p:spPr>
          <a:xfrm>
            <a:off x="0" y="0"/>
            <a:ext cx="10058400" cy="7772400"/>
          </a:xfrm>
          <a:prstGeom prst="rect">
            <a:avLst/>
          </a:prstGeom>
          <a:solidFill>
            <a:srgbClr val="FFFFFF"/>
          </a:solidFill>
          <a:ln>
            <a:noFill/>
          </a:ln>
        </p:spPr>
        <p:txBody>
          <a:bodyPr rtlCol="0" anchor="ctr"/>
          <a:lstStyle/>
          <a:p>
            <a:pPr algn="ctr"/>
          </a:p>
        </p:txBody>
      </p:sp>
      <p:sp>
        <p:nvSpPr>
          <p:cNvPr id="4" name="Panel"/>
          <p:cNvSpPr/>
          <p:nvPr/>
        </p:nvSpPr>
        <p:spPr>
          <a:xfrm>
            <a:off x="0" y="0"/>
            <a:ext cx="57150" cy="7772400"/>
          </a:xfrm>
          <a:prstGeom prst="rect">
            <a:avLst/>
          </a:prstGeom>
          <a:solidFill>
            <a:srgbClr val="B68757"/>
          </a:solidFill>
          <a:ln>
            <a:noFill/>
          </a:ln>
        </p:spPr>
        <p:txBody>
          <a:bodyPr rtlCol="0" anchor="ctr"/>
          <a:lstStyle/>
          <a:p>
            <a:pPr algn="ctr"/>
          </a:p>
        </p:txBody>
      </p:sp>
      <p:sp>
        <p:nvSpPr>
          <p:cNvPr id="5" name="TextBox 4"/>
          <p:cNvSpPr txBox="1"/>
          <p:nvPr/>
        </p:nvSpPr>
        <p:spPr>
          <a:xfrm>
            <a:off x="419100" y="361760"/>
            <a:ext cx="2764185" cy="104775"/>
          </a:xfrm>
          <a:prstGeom prst="rect">
            <a:avLst/>
          </a:prstGeom>
          <a:noFill/>
        </p:spPr>
        <p:txBody>
          <a:bodyPr wrap="none" lIns="0" rIns="0" tIns="0" bIns="0" anchor="t">
            <a:noAutofit/>
          </a:bodyPr>
          <a:lstStyle/>
          <a:p>
            <a:pPr algn="l">
              <a:lnSpc>
                <a:spcPts val="1050"/>
              </a:lnSpc>
              <a:spcBef>
                <a:spcPts val="0"/>
              </a:spcBef>
              <a:spcAft>
                <a:spcPts val="0"/>
              </a:spcAft>
            </a:pPr>
            <a:r>
              <a:rPr sz="675" b="1" i="0" spc="195">
                <a:solidFill>
                  <a:srgbClr val="8C6239"/>
                </a:solidFill>
                <a:latin typeface="Quicksand"/>
              </a:rPr>
              <a:t>TECHNOLOGY  |  QUARTERLY SECTOR BRIEF</a:t>
            </a:r>
          </a:p>
        </p:txBody>
      </p:sp>
      <p:sp>
        <p:nvSpPr>
          <p:cNvPr id="6" name="TextBox 5"/>
          <p:cNvSpPr txBox="1"/>
          <p:nvPr/>
        </p:nvSpPr>
        <p:spPr>
          <a:xfrm>
            <a:off x="9112597" y="350901"/>
            <a:ext cx="526703" cy="152400"/>
          </a:xfrm>
          <a:prstGeom prst="rect">
            <a:avLst/>
          </a:prstGeom>
          <a:noFill/>
        </p:spPr>
        <p:txBody>
          <a:bodyPr wrap="none" lIns="0" rIns="0" tIns="0" bIns="0" anchor="t">
            <a:noAutofit/>
          </a:bodyPr>
          <a:lstStyle/>
          <a:p>
            <a:pPr algn="r">
              <a:lnSpc>
                <a:spcPts val="1350"/>
              </a:lnSpc>
              <a:spcBef>
                <a:spcPts val="0"/>
              </a:spcBef>
              <a:spcAft>
                <a:spcPts val="0"/>
              </a:spcAft>
            </a:pPr>
            <a:r>
              <a:rPr sz="900" b="0" i="0" spc="90">
                <a:solidFill>
                  <a:srgbClr val="6F6A66"/>
                </a:solidFill>
                <a:latin typeface="Cinzel"/>
              </a:rPr>
              <a:t>Q4 2026</a:t>
            </a:r>
          </a:p>
        </p:txBody>
      </p:sp>
      <p:sp>
        <p:nvSpPr>
          <p:cNvPr id="2" name="Title 1"/>
          <p:cNvSpPr>
            <a:spLocks noGrp="1"/>
          </p:cNvSpPr>
          <p:nvPr>
            <p:ph type="title"/>
          </p:nvPr>
        </p:nvSpPr>
        <p:spPr>
          <a:xfrm>
            <a:off x="419100" y="475488"/>
            <a:ext cx="2025253" cy="257175"/>
          </a:xfrm>
        </p:spPr>
        <p:txBody>
          <a:bodyPr wrap="none" lIns="0" rIns="0" tIns="0" bIns="0" anchor="t">
            <a:noAutofit/>
          </a:bodyPr>
          <a:lstStyle/>
          <a:p>
            <a:pPr algn="l">
              <a:lnSpc>
                <a:spcPts val="2550"/>
              </a:lnSpc>
              <a:spcBef>
                <a:spcPts val="0"/>
              </a:spcBef>
              <a:spcAft>
                <a:spcPts val="0"/>
              </a:spcAft>
            </a:pPr>
            <a:r>
              <a:rPr sz="2000" b="1" i="0">
                <a:solidFill>
                  <a:srgbClr val="1B1A1A"/>
                </a:solidFill>
                <a:latin typeface="Newsreader"/>
              </a:rPr>
              <a:t>Connect With Us</a:t>
            </a:r>
          </a:p>
        </p:txBody>
      </p:sp>
      <p:sp>
        <p:nvSpPr>
          <p:cNvPr id="7" name="TextBox 6"/>
          <p:cNvSpPr txBox="1"/>
          <p:nvPr/>
        </p:nvSpPr>
        <p:spPr>
          <a:xfrm>
            <a:off x="419100" y="864394"/>
            <a:ext cx="3462040" cy="152400"/>
          </a:xfrm>
          <a:prstGeom prst="rect">
            <a:avLst/>
          </a:prstGeom>
          <a:noFill/>
        </p:spPr>
        <p:txBody>
          <a:bodyPr wrap="none" lIns="0" rIns="0" tIns="0" bIns="0" anchor="t">
            <a:noAutofit/>
          </a:bodyPr>
          <a:lstStyle/>
          <a:p>
            <a:pPr algn="l">
              <a:lnSpc>
                <a:spcPts val="1388"/>
              </a:lnSpc>
              <a:spcBef>
                <a:spcPts val="0"/>
              </a:spcBef>
              <a:spcAft>
                <a:spcPts val="0"/>
              </a:spcAft>
            </a:pPr>
            <a:r>
              <a:rPr sz="938" b="0" i="0" spc="15">
                <a:solidFill>
                  <a:srgbClr val="6F6A66"/>
                </a:solidFill>
                <a:latin typeface="Quicksand"/>
              </a:rPr>
              <a:t>A first conversation is confidential and carries no obligation.</a:t>
            </a:r>
          </a:p>
        </p:txBody>
      </p:sp>
      <p:sp>
        <p:nvSpPr>
          <p:cNvPr id="8" name="Panel"/>
          <p:cNvSpPr/>
          <p:nvPr/>
        </p:nvSpPr>
        <p:spPr>
          <a:xfrm>
            <a:off x="419100" y="1143000"/>
            <a:ext cx="9220200" cy="9525"/>
          </a:xfrm>
          <a:prstGeom prst="rect">
            <a:avLst/>
          </a:prstGeom>
          <a:solidFill>
            <a:srgbClr val="E3DCD3"/>
          </a:solidFill>
          <a:ln>
            <a:noFill/>
          </a:ln>
        </p:spPr>
        <p:txBody>
          <a:bodyPr rtlCol="0" anchor="ctr"/>
          <a:lstStyle/>
          <a:p>
            <a:pPr algn="ctr"/>
          </a:p>
        </p:txBody>
      </p:sp>
      <p:sp>
        <p:nvSpPr>
          <p:cNvPr id="9" name="TextBox 8"/>
          <p:cNvSpPr txBox="1"/>
          <p:nvPr/>
        </p:nvSpPr>
        <p:spPr>
          <a:xfrm>
            <a:off x="419100" y="1476184"/>
            <a:ext cx="2934593" cy="104775"/>
          </a:xfrm>
          <a:prstGeom prst="rect">
            <a:avLst/>
          </a:prstGeom>
          <a:noFill/>
        </p:spPr>
        <p:txBody>
          <a:bodyPr wrap="none" lIns="0" rIns="0" tIns="0" bIns="0" anchor="t">
            <a:noAutofit/>
          </a:bodyPr>
          <a:lstStyle/>
          <a:p>
            <a:pPr algn="l">
              <a:lnSpc>
                <a:spcPts val="975"/>
              </a:lnSpc>
              <a:spcBef>
                <a:spcPts val="0"/>
              </a:spcBef>
              <a:spcAft>
                <a:spcPts val="0"/>
              </a:spcAft>
            </a:pPr>
            <a:r>
              <a:rPr sz="675" b="1" i="0" spc="150">
                <a:solidFill>
                  <a:srgbClr val="8C6239"/>
                </a:solidFill>
                <a:latin typeface="Quicksand"/>
              </a:rPr>
              <a:t>CONFIDENTIAL. NO PRESSURE. NO COMMITMENTS.</a:t>
            </a:r>
          </a:p>
        </p:txBody>
      </p:sp>
      <p:sp>
        <p:nvSpPr>
          <p:cNvPr id="10" name="TextBox 9"/>
          <p:cNvSpPr txBox="1"/>
          <p:nvPr/>
        </p:nvSpPr>
        <p:spPr>
          <a:xfrm>
            <a:off x="419100" y="1669161"/>
            <a:ext cx="5219700" cy="914400"/>
          </a:xfrm>
          <a:prstGeom prst="rect">
            <a:avLst/>
          </a:prstGeom>
          <a:noFill/>
        </p:spPr>
        <p:txBody>
          <a:bodyPr wrap="square" lIns="0" rIns="0" tIns="0" bIns="0" anchor="t">
            <a:noAutofit/>
          </a:bodyPr>
          <a:lstStyle/>
          <a:p>
            <a:pPr algn="l">
              <a:lnSpc>
                <a:spcPts val="3900"/>
              </a:lnSpc>
              <a:spcBef>
                <a:spcPts val="0"/>
              </a:spcBef>
              <a:spcAft>
                <a:spcPts val="0"/>
              </a:spcAft>
            </a:pPr>
            <a:r>
              <a:rPr sz="3300" b="1" i="0">
                <a:solidFill>
                  <a:srgbClr val="1B1A1A"/>
                </a:solidFill>
                <a:latin typeface="Newsreader"/>
              </a:rPr>
              <a:t>It all starts with a conversation.</a:t>
            </a:r>
          </a:p>
        </p:txBody>
      </p:sp>
      <p:sp>
        <p:nvSpPr>
          <p:cNvPr id="11" name="Panel"/>
          <p:cNvSpPr/>
          <p:nvPr/>
        </p:nvSpPr>
        <p:spPr>
          <a:xfrm>
            <a:off x="419100" y="2924175"/>
            <a:ext cx="685800" cy="19050"/>
          </a:xfrm>
          <a:prstGeom prst="rect">
            <a:avLst/>
          </a:prstGeom>
          <a:solidFill>
            <a:srgbClr val="B68757"/>
          </a:solidFill>
          <a:ln>
            <a:noFill/>
          </a:ln>
        </p:spPr>
        <p:txBody>
          <a:bodyPr rtlCol="0" anchor="ctr"/>
          <a:lstStyle/>
          <a:p>
            <a:pPr algn="ctr"/>
          </a:p>
        </p:txBody>
      </p:sp>
      <p:sp>
        <p:nvSpPr>
          <p:cNvPr id="12" name="TextBox 11"/>
          <p:cNvSpPr txBox="1"/>
          <p:nvPr/>
        </p:nvSpPr>
        <p:spPr>
          <a:xfrm>
            <a:off x="419100" y="3115437"/>
            <a:ext cx="4838700" cy="828675"/>
          </a:xfrm>
          <a:prstGeom prst="rect">
            <a:avLst/>
          </a:prstGeom>
          <a:noFill/>
        </p:spPr>
        <p:txBody>
          <a:bodyPr wrap="square" lIns="0" rIns="0" tIns="0" bIns="0" anchor="t">
            <a:noAutofit/>
          </a:bodyPr>
          <a:lstStyle/>
          <a:p>
            <a:pPr algn="l">
              <a:lnSpc>
                <a:spcPts val="1725"/>
              </a:lnSpc>
              <a:spcBef>
                <a:spcPts val="0"/>
              </a:spcBef>
              <a:spcAft>
                <a:spcPts val="0"/>
              </a:spcAft>
            </a:pPr>
            <a:r>
              <a:rPr sz="1050" b="0" i="0" spc="15">
                <a:solidFill>
                  <a:srgbClr val="333231"/>
                </a:solidFill>
                <a:latin typeface="Quicksand"/>
              </a:rPr>
              <a:t>Our first step is always a confidential conversation exploring your goals, your company and your options. Owners considering a sale, a recapitalization or a growth partnership in any of the six focus areas, and the advisors who work with them, are welcome to call or write.</a:t>
            </a:r>
          </a:p>
        </p:txBody>
      </p:sp>
      <p:sp>
        <p:nvSpPr>
          <p:cNvPr id="13" name="Panel"/>
          <p:cNvSpPr/>
          <p:nvPr/>
        </p:nvSpPr>
        <p:spPr>
          <a:xfrm>
            <a:off x="419100" y="4314825"/>
            <a:ext cx="4762500" cy="1323975"/>
          </a:xfrm>
          <a:prstGeom prst="rect">
            <a:avLst/>
          </a:prstGeom>
          <a:solidFill>
            <a:srgbClr val="FAF7F3"/>
          </a:solidFill>
          <a:ln>
            <a:noFill/>
          </a:ln>
        </p:spPr>
        <p:txBody>
          <a:bodyPr rtlCol="0" anchor="ctr"/>
          <a:lstStyle/>
          <a:p>
            <a:pPr algn="ctr"/>
          </a:p>
        </p:txBody>
      </p:sp>
      <p:sp>
        <p:nvSpPr>
          <p:cNvPr id="14" name="Rule"/>
          <p:cNvSpPr/>
          <p:nvPr/>
        </p:nvSpPr>
        <p:spPr>
          <a:xfrm>
            <a:off x="419100" y="4314825"/>
            <a:ext cx="4762500" cy="28575"/>
          </a:xfrm>
          <a:prstGeom prst="rect">
            <a:avLst/>
          </a:prstGeom>
          <a:solidFill>
            <a:srgbClr val="B68757"/>
          </a:solidFill>
          <a:ln>
            <a:noFill/>
          </a:ln>
        </p:spPr>
        <p:txBody>
          <a:bodyPr rtlCol="0" anchor="ctr"/>
          <a:lstStyle/>
          <a:p>
            <a:pPr algn="ctr"/>
          </a:p>
        </p:txBody>
      </p:sp>
      <p:pic>
        <p:nvPicPr>
          <p:cNvPr id="15" name="Jared Hardin" descr="Jared Hardin"/>
          <p:cNvPicPr>
            <a:picLocks noChangeAspect="1"/>
          </p:cNvPicPr>
          <p:nvPr/>
        </p:nvPicPr>
        <p:blipFill>
          <a:blip r:embed="rId2"/>
          <a:stretch>
            <a:fillRect/>
          </a:stretch>
        </p:blipFill>
        <p:spPr>
          <a:xfrm>
            <a:off x="628650" y="4533900"/>
            <a:ext cx="914400" cy="914400"/>
          </a:xfrm>
          <a:prstGeom prst="ellipse">
            <a:avLst/>
          </a:prstGeom>
        </p:spPr>
      </p:pic>
      <p:sp>
        <p:nvSpPr>
          <p:cNvPr id="16" name="TextBox 15"/>
          <p:cNvSpPr txBox="1"/>
          <p:nvPr/>
        </p:nvSpPr>
        <p:spPr>
          <a:xfrm>
            <a:off x="1733550" y="4506087"/>
            <a:ext cx="1335435" cy="219075"/>
          </a:xfrm>
          <a:prstGeom prst="rect">
            <a:avLst/>
          </a:prstGeom>
          <a:noFill/>
        </p:spPr>
        <p:txBody>
          <a:bodyPr wrap="none" lIns="0" rIns="0" tIns="0" bIns="0" anchor="t">
            <a:noAutofit/>
          </a:bodyPr>
          <a:lstStyle/>
          <a:p>
            <a:pPr algn="l">
              <a:lnSpc>
                <a:spcPts val="2175"/>
              </a:lnSpc>
              <a:spcBef>
                <a:spcPts val="0"/>
              </a:spcBef>
              <a:spcAft>
                <a:spcPts val="0"/>
              </a:spcAft>
            </a:pPr>
            <a:r>
              <a:rPr sz="1700" b="1" i="0">
                <a:solidFill>
                  <a:srgbClr val="1B1A1A"/>
                </a:solidFill>
                <a:latin typeface="Newsreader"/>
              </a:rPr>
              <a:t>Jared Hardin</a:t>
            </a:r>
          </a:p>
        </p:txBody>
      </p:sp>
      <p:sp>
        <p:nvSpPr>
          <p:cNvPr id="17" name="TextBox 16"/>
          <p:cNvSpPr txBox="1"/>
          <p:nvPr/>
        </p:nvSpPr>
        <p:spPr>
          <a:xfrm>
            <a:off x="1733550" y="4800410"/>
            <a:ext cx="2350443" cy="104775"/>
          </a:xfrm>
          <a:prstGeom prst="rect">
            <a:avLst/>
          </a:prstGeom>
          <a:noFill/>
        </p:spPr>
        <p:txBody>
          <a:bodyPr wrap="none" lIns="0" rIns="0" tIns="0" bIns="0" anchor="t">
            <a:noAutofit/>
          </a:bodyPr>
          <a:lstStyle/>
          <a:p>
            <a:pPr algn="l">
              <a:lnSpc>
                <a:spcPts val="1050"/>
              </a:lnSpc>
              <a:spcBef>
                <a:spcPts val="0"/>
              </a:spcBef>
              <a:spcAft>
                <a:spcPts val="0"/>
              </a:spcAft>
            </a:pPr>
            <a:r>
              <a:rPr sz="675" b="1" i="0" spc="165">
                <a:solidFill>
                  <a:srgbClr val="8C6239"/>
                </a:solidFill>
                <a:latin typeface="Quicksand"/>
              </a:rPr>
              <a:t>MANAGING DIRECTOR, MIDDLE MARKET</a:t>
            </a:r>
          </a:p>
        </p:txBody>
      </p:sp>
      <p:sp>
        <p:nvSpPr>
          <p:cNvPr id="18" name="TextBox 17"/>
          <p:cNvSpPr txBox="1"/>
          <p:nvPr/>
        </p:nvSpPr>
        <p:spPr>
          <a:xfrm>
            <a:off x="1733550" y="5008816"/>
            <a:ext cx="2369493" cy="352425"/>
          </a:xfrm>
          <a:prstGeom prst="rect">
            <a:avLst/>
          </a:prstGeom>
          <a:noFill/>
        </p:spPr>
        <p:txBody>
          <a:bodyPr wrap="square" lIns="0" rIns="0" tIns="0" bIns="0" anchor="t">
            <a:noAutofit/>
          </a:bodyPr>
          <a:lstStyle/>
          <a:p>
            <a:pPr algn="l">
              <a:lnSpc>
                <a:spcPts val="1575"/>
              </a:lnSpc>
              <a:spcBef>
                <a:spcPts val="0"/>
              </a:spcBef>
              <a:spcAft>
                <a:spcPts val="0"/>
              </a:spcAft>
            </a:pPr>
            <a:r>
              <a:rPr sz="975" b="0" i="0" spc="15" u="sng">
                <a:solidFill>
                  <a:srgbClr val="8C6239"/>
                </a:solidFill>
                <a:latin typeface="Quicksand"/>
                <a:hlinkClick r:id="rId3">
                  <a:extLst>
                    <a:ext uri="{A12FA001-AC4F-418D-AE19-62706E023703}">
                      <ahyp:hlinkClr xmlns:ahyp="http://schemas.microsoft.com/office/drawing/2018/hyperlinkcolor" val="tx"/>
                    </a:ext>
                  </a:extLst>
                </a:hlinkClick>
              </a:rPr>
              <a:t>813-771-6675</a:t>
            </a:r>
            <a:br/>
            <a:r>
              <a:rPr sz="975" b="0" i="0" spc="15" u="sng">
                <a:solidFill>
                  <a:srgbClr val="8C6239"/>
                </a:solidFill>
                <a:latin typeface="Quicksand"/>
                <a:hlinkClick r:id="rId4">
                  <a:extLst>
                    <a:ext uri="{A12FA001-AC4F-418D-AE19-62706E023703}">
                      <ahyp:hlinkClr xmlns:ahyp="http://schemas.microsoft.com/office/drawing/2018/hyperlinkcolor" val="tx"/>
                    </a:ext>
                  </a:extLst>
                </a:hlinkClick>
              </a:rPr>
              <a:t>j.hardin@benchmarkintl.com</a:t>
            </a:r>
          </a:p>
        </p:txBody>
      </p:sp>
      <p:sp>
        <p:nvSpPr>
          <p:cNvPr id="19" name="Panel">
            <a:hlinkClick r:id="rId5"/>
          </p:cNvPr>
          <p:cNvSpPr/>
          <p:nvPr/>
        </p:nvSpPr>
        <p:spPr>
          <a:xfrm>
            <a:off x="423862" y="6586538"/>
            <a:ext cx="2049066" cy="342900"/>
          </a:xfrm>
          <a:prstGeom prst="rect">
            <a:avLst/>
          </a:prstGeom>
          <a:solidFill>
            <a:srgbClr val="A0754A"/>
          </a:solidFill>
          <a:ln w="9525">
            <a:solidFill>
              <a:srgbClr val="A0754A"/>
            </a:solidFill>
          </a:ln>
        </p:spPr>
        <p:txBody>
          <a:bodyPr rtlCol="0" anchor="ctr"/>
          <a:lstStyle/>
          <a:p>
            <a:pPr algn="ctr"/>
          </a:p>
        </p:txBody>
      </p:sp>
      <p:sp>
        <p:nvSpPr>
          <p:cNvPr id="20" name="TextBox 19">
            <a:hlinkClick r:id="rId5"/>
          </p:cNvPr>
          <p:cNvSpPr txBox="1"/>
          <p:nvPr/>
        </p:nvSpPr>
        <p:spPr>
          <a:xfrm>
            <a:off x="600075" y="6682645"/>
            <a:ext cx="1753791" cy="114300"/>
          </a:xfrm>
          <a:prstGeom prst="rect">
            <a:avLst/>
          </a:prstGeom>
          <a:noFill/>
        </p:spPr>
        <p:txBody>
          <a:bodyPr wrap="none" lIns="0" rIns="0" tIns="0" bIns="0" anchor="t">
            <a:noAutofit/>
          </a:bodyPr>
          <a:lstStyle/>
          <a:p>
            <a:pPr algn="l">
              <a:lnSpc>
                <a:spcPts val="975"/>
              </a:lnSpc>
              <a:spcBef>
                <a:spcPts val="0"/>
              </a:spcBef>
              <a:spcAft>
                <a:spcPts val="0"/>
              </a:spcAft>
            </a:pPr>
            <a:r>
              <a:rPr sz="712" b="1" i="0" spc="150">
                <a:solidFill>
                  <a:srgbClr val="FFFFFF"/>
                </a:solidFill>
                <a:latin typeface="Quicksand"/>
              </a:rPr>
              <a:t>SCHEDULE A CONVERSATION</a:t>
            </a:r>
          </a:p>
        </p:txBody>
      </p:sp>
      <p:sp>
        <p:nvSpPr>
          <p:cNvPr id="21" name="Panel">
            <a:hlinkClick r:id="rId6"/>
          </p:cNvPr>
          <p:cNvSpPr/>
          <p:nvPr/>
        </p:nvSpPr>
        <p:spPr>
          <a:xfrm>
            <a:off x="2596753" y="6586538"/>
            <a:ext cx="2323505" cy="342900"/>
          </a:xfrm>
          <a:prstGeom prst="rect">
            <a:avLst/>
          </a:prstGeom>
          <a:noFill/>
          <a:ln w="9525">
            <a:solidFill>
              <a:srgbClr val="1B1A1A"/>
            </a:solidFill>
          </a:ln>
        </p:spPr>
        <p:txBody>
          <a:bodyPr rtlCol="0" anchor="ctr"/>
          <a:lstStyle/>
          <a:p>
            <a:pPr algn="ctr"/>
          </a:p>
        </p:txBody>
      </p:sp>
      <p:sp>
        <p:nvSpPr>
          <p:cNvPr id="22" name="TextBox 21">
            <a:hlinkClick r:id="rId6"/>
          </p:cNvPr>
          <p:cNvSpPr txBox="1"/>
          <p:nvPr/>
        </p:nvSpPr>
        <p:spPr>
          <a:xfrm>
            <a:off x="2772966" y="6682645"/>
            <a:ext cx="2028230" cy="114300"/>
          </a:xfrm>
          <a:prstGeom prst="rect">
            <a:avLst/>
          </a:prstGeom>
          <a:noFill/>
        </p:spPr>
        <p:txBody>
          <a:bodyPr wrap="none" lIns="0" rIns="0" tIns="0" bIns="0" anchor="t">
            <a:noAutofit/>
          </a:bodyPr>
          <a:lstStyle/>
          <a:p>
            <a:pPr algn="l">
              <a:lnSpc>
                <a:spcPts val="975"/>
              </a:lnSpc>
              <a:spcBef>
                <a:spcPts val="0"/>
              </a:spcBef>
              <a:spcAft>
                <a:spcPts val="0"/>
              </a:spcAft>
            </a:pPr>
            <a:r>
              <a:rPr sz="712" b="1" i="0" spc="150">
                <a:solidFill>
                  <a:srgbClr val="1B1A1A"/>
                </a:solidFill>
                <a:latin typeface="Quicksand"/>
              </a:rPr>
              <a:t>READ THE FULL Q4 2026 REPORT</a:t>
            </a:r>
          </a:p>
        </p:txBody>
      </p:sp>
      <p:sp>
        <p:nvSpPr>
          <p:cNvPr id="23" name="Panel"/>
          <p:cNvSpPr/>
          <p:nvPr/>
        </p:nvSpPr>
        <p:spPr>
          <a:xfrm>
            <a:off x="5848350" y="1238250"/>
            <a:ext cx="3790950" cy="5695950"/>
          </a:xfrm>
          <a:prstGeom prst="rect">
            <a:avLst/>
          </a:prstGeom>
          <a:solidFill>
            <a:srgbClr val="1B1A1A"/>
          </a:solidFill>
          <a:ln>
            <a:noFill/>
          </a:ln>
        </p:spPr>
        <p:txBody>
          <a:bodyPr rtlCol="0" anchor="ctr"/>
          <a:lstStyle/>
          <a:p>
            <a:pPr algn="ctr"/>
          </a:p>
        </p:txBody>
      </p:sp>
      <p:pic>
        <p:nvPicPr>
          <p:cNvPr id="24" name="A man in a suit seated by a window" descr="A man in a suit seated by a window"/>
          <p:cNvPicPr>
            <a:picLocks noChangeAspect="1"/>
          </p:cNvPicPr>
          <p:nvPr/>
        </p:nvPicPr>
        <p:blipFill>
          <a:blip r:embed="rId7"/>
          <a:srcRect l="9116" r="9116"/>
          <a:stretch>
            <a:fillRect/>
          </a:stretch>
        </p:blipFill>
        <p:spPr>
          <a:xfrm>
            <a:off x="5848350" y="1238250"/>
            <a:ext cx="3790950" cy="5695950"/>
          </a:xfrm>
          <a:prstGeom prst="rect">
            <a:avLst/>
          </a:prstGeom>
        </p:spPr>
      </p:pic>
      <p:pic>
        <p:nvPicPr>
          <p:cNvPr id="25" name="Graphic" descr="S15_r0.png"/>
          <p:cNvPicPr>
            <a:picLocks noChangeAspect="1"/>
          </p:cNvPicPr>
          <p:nvPr/>
        </p:nvPicPr>
        <p:blipFill>
          <a:blip r:embed="rId8"/>
          <a:stretch>
            <a:fillRect/>
          </a:stretch>
        </p:blipFill>
        <p:spPr>
          <a:xfrm>
            <a:off x="5848350" y="1238250"/>
            <a:ext cx="3790950" cy="5695950"/>
          </a:xfrm>
          <a:prstGeom prst="rect">
            <a:avLst/>
          </a:prstGeom>
        </p:spPr>
      </p:pic>
      <p:sp>
        <p:nvSpPr>
          <p:cNvPr id="26" name="Panel"/>
          <p:cNvSpPr/>
          <p:nvPr/>
        </p:nvSpPr>
        <p:spPr>
          <a:xfrm>
            <a:off x="6081712" y="5434012"/>
            <a:ext cx="3324225" cy="1266825"/>
          </a:xfrm>
          <a:prstGeom prst="rect">
            <a:avLst/>
          </a:prstGeom>
          <a:noFill/>
          <a:ln w="9525">
            <a:solidFill>
              <a:srgbClr val="D3AE84"/>
            </a:solidFill>
            <a:prstDash val="dash"/>
          </a:ln>
        </p:spPr>
        <p:txBody>
          <a:bodyPr rtlCol="0" anchor="ctr"/>
          <a:lstStyle/>
          <a:p>
            <a:pPr algn="ctr"/>
          </a:p>
        </p:txBody>
      </p:sp>
      <p:sp>
        <p:nvSpPr>
          <p:cNvPr id="27" name="TextBox 26"/>
          <p:cNvSpPr txBox="1"/>
          <p:nvPr/>
        </p:nvSpPr>
        <p:spPr>
          <a:xfrm>
            <a:off x="6257925" y="5581460"/>
            <a:ext cx="1068139" cy="104775"/>
          </a:xfrm>
          <a:prstGeom prst="rect">
            <a:avLst/>
          </a:prstGeom>
          <a:noFill/>
        </p:spPr>
        <p:txBody>
          <a:bodyPr wrap="none" lIns="0" rIns="0" tIns="0" bIns="0" anchor="t">
            <a:noAutofit/>
          </a:bodyPr>
          <a:lstStyle/>
          <a:p>
            <a:pPr algn="l">
              <a:lnSpc>
                <a:spcPts val="975"/>
              </a:lnSpc>
              <a:spcBef>
                <a:spcPts val="0"/>
              </a:spcBef>
              <a:spcAft>
                <a:spcPts val="0"/>
              </a:spcAft>
            </a:pPr>
            <a:r>
              <a:rPr sz="675" b="1" i="0" spc="150">
                <a:solidFill>
                  <a:srgbClr val="D3AE84"/>
                </a:solidFill>
                <a:latin typeface="Quicksand"/>
              </a:rPr>
              <a:t>UPCOMING EVENT</a:t>
            </a:r>
          </a:p>
        </p:txBody>
      </p:sp>
      <p:sp>
        <p:nvSpPr>
          <p:cNvPr id="28" name="TextBox 27"/>
          <p:cNvSpPr txBox="1"/>
          <p:nvPr/>
        </p:nvSpPr>
        <p:spPr>
          <a:xfrm>
            <a:off x="6257925" y="5735955"/>
            <a:ext cx="2684413" cy="190500"/>
          </a:xfrm>
          <a:prstGeom prst="rect">
            <a:avLst/>
          </a:prstGeom>
          <a:noFill/>
        </p:spPr>
        <p:txBody>
          <a:bodyPr wrap="none" lIns="0" rIns="0" tIns="0" bIns="0" anchor="t">
            <a:noAutofit/>
          </a:bodyPr>
          <a:lstStyle/>
          <a:p>
            <a:pPr algn="l">
              <a:lnSpc>
                <a:spcPts val="1950"/>
              </a:lnSpc>
              <a:spcBef>
                <a:spcPts val="0"/>
              </a:spcBef>
              <a:spcAft>
                <a:spcPts val="0"/>
              </a:spcAft>
            </a:pPr>
            <a:r>
              <a:rPr sz="1500" b="1" i="0">
                <a:solidFill>
                  <a:srgbClr val="FFFFFF"/>
                </a:solidFill>
                <a:latin typeface="Newsreader"/>
              </a:rPr>
              <a:t>Event name, dates and location</a:t>
            </a:r>
          </a:p>
        </p:txBody>
      </p:sp>
      <p:sp>
        <p:nvSpPr>
          <p:cNvPr id="29" name="TextBox 28"/>
          <p:cNvSpPr txBox="1"/>
          <p:nvPr/>
        </p:nvSpPr>
        <p:spPr>
          <a:xfrm>
            <a:off x="6257925" y="6039136"/>
            <a:ext cx="3048000" cy="466725"/>
          </a:xfrm>
          <a:prstGeom prst="rect">
            <a:avLst/>
          </a:prstGeom>
          <a:noFill/>
        </p:spPr>
        <p:txBody>
          <a:bodyPr wrap="square" lIns="0" rIns="0" tIns="0" bIns="0" anchor="t">
            <a:noAutofit/>
          </a:bodyPr>
          <a:lstStyle/>
          <a:p>
            <a:pPr algn="l">
              <a:lnSpc>
                <a:spcPts val="1275"/>
              </a:lnSpc>
              <a:spcBef>
                <a:spcPts val="0"/>
              </a:spcBef>
              <a:spcAft>
                <a:spcPts val="0"/>
              </a:spcAft>
            </a:pPr>
            <a:r>
              <a:rPr sz="861" b="0" i="0" spc="15">
                <a:solidFill>
                  <a:srgbClr val="E8E2DA"/>
                </a:solidFill>
                <a:latin typeface="Quicksand"/>
              </a:rPr>
              <a:t>This panel is reserved for the next conference or event where the Middle Market team will be meeting technology owners.</a:t>
            </a:r>
          </a:p>
        </p:txBody>
      </p:sp>
      <p:sp>
        <p:nvSpPr>
          <p:cNvPr id="30" name="Panel"/>
          <p:cNvSpPr/>
          <p:nvPr/>
        </p:nvSpPr>
        <p:spPr>
          <a:xfrm>
            <a:off x="419100" y="7029450"/>
            <a:ext cx="9220200" cy="9525"/>
          </a:xfrm>
          <a:prstGeom prst="rect">
            <a:avLst/>
          </a:prstGeom>
          <a:solidFill>
            <a:srgbClr val="E3DCD3"/>
          </a:solidFill>
          <a:ln>
            <a:noFill/>
          </a:ln>
        </p:spPr>
        <p:txBody>
          <a:bodyPr rtlCol="0" anchor="ctr"/>
          <a:lstStyle/>
          <a:p>
            <a:pPr algn="ctr"/>
          </a:p>
        </p:txBody>
      </p:sp>
      <p:pic>
        <p:nvPicPr>
          <p:cNvPr id="31" name="Graphic" descr="S03_r6.png"/>
          <p:cNvPicPr>
            <a:picLocks noChangeAspect="1"/>
          </p:cNvPicPr>
          <p:nvPr/>
        </p:nvPicPr>
        <p:blipFill>
          <a:blip r:embed="rId9"/>
          <a:stretch>
            <a:fillRect/>
          </a:stretch>
        </p:blipFill>
        <p:spPr>
          <a:xfrm>
            <a:off x="419100" y="7143750"/>
            <a:ext cx="914400" cy="171450"/>
          </a:xfrm>
          <a:prstGeom prst="rect">
            <a:avLst/>
          </a:prstGeom>
        </p:spPr>
      </p:pic>
      <p:sp>
        <p:nvSpPr>
          <p:cNvPr id="32" name="TextBox 31"/>
          <p:cNvSpPr txBox="1"/>
          <p:nvPr/>
        </p:nvSpPr>
        <p:spPr>
          <a:xfrm>
            <a:off x="1543050" y="7091172"/>
            <a:ext cx="3917156" cy="104775"/>
          </a:xfrm>
          <a:prstGeom prst="rect">
            <a:avLst/>
          </a:prstGeom>
          <a:noFill/>
        </p:spPr>
        <p:txBody>
          <a:bodyPr wrap="none" lIns="0" rIns="0" tIns="0" bIns="0" anchor="t">
            <a:noAutofit/>
          </a:bodyPr>
          <a:lstStyle/>
          <a:p>
            <a:pPr algn="l">
              <a:lnSpc>
                <a:spcPts val="938"/>
              </a:lnSpc>
              <a:spcBef>
                <a:spcPts val="0"/>
              </a:spcBef>
              <a:spcAft>
                <a:spcPts val="0"/>
              </a:spcAft>
            </a:pPr>
            <a:r>
              <a:rPr sz="675" b="0" i="0" spc="8">
                <a:solidFill>
                  <a:srgbClr val="6F6A66"/>
                </a:solidFill>
                <a:latin typeface="Quicksand"/>
              </a:rPr>
              <a:t>Benchmark International Middle Market, 4030 West Boy Scout Blvd., Suite 500, Tampa, FL 33607.</a:t>
            </a:r>
          </a:p>
        </p:txBody>
      </p:sp>
      <p:sp>
        <p:nvSpPr>
          <p:cNvPr id="33" name="TextBox 32"/>
          <p:cNvSpPr txBox="1"/>
          <p:nvPr/>
        </p:nvSpPr>
        <p:spPr>
          <a:xfrm>
            <a:off x="9513838" y="7149370"/>
            <a:ext cx="125462" cy="114300"/>
          </a:xfrm>
          <a:prstGeom prst="rect">
            <a:avLst/>
          </a:prstGeom>
          <a:noFill/>
        </p:spPr>
        <p:txBody>
          <a:bodyPr wrap="none" lIns="0" rIns="0" tIns="0" bIns="0" anchor="t">
            <a:noAutofit/>
          </a:bodyPr>
          <a:lstStyle/>
          <a:p>
            <a:pPr algn="r">
              <a:lnSpc>
                <a:spcPts val="1050"/>
              </a:lnSpc>
              <a:spcBef>
                <a:spcPts val="0"/>
              </a:spcBef>
              <a:spcAft>
                <a:spcPts val="0"/>
              </a:spcAft>
            </a:pPr>
            <a:r>
              <a:rPr sz="712" b="1" i="0" spc="150">
                <a:solidFill>
                  <a:srgbClr val="1B1A1A"/>
                </a:solidFill>
                <a:latin typeface="Quicksand"/>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3" name="Panel"/>
          <p:cNvSpPr/>
          <p:nvPr/>
        </p:nvSpPr>
        <p:spPr>
          <a:xfrm>
            <a:off x="0" y="0"/>
            <a:ext cx="10058400" cy="7772400"/>
          </a:xfrm>
          <a:prstGeom prst="rect">
            <a:avLst/>
          </a:prstGeom>
          <a:solidFill>
            <a:srgbClr val="FFFFFF"/>
          </a:solidFill>
          <a:ln>
            <a:noFill/>
          </a:ln>
        </p:spPr>
        <p:txBody>
          <a:bodyPr rtlCol="0" anchor="ctr"/>
          <a:lstStyle/>
          <a:p>
            <a:pPr algn="ctr"/>
          </a:p>
        </p:txBody>
      </p:sp>
      <p:sp>
        <p:nvSpPr>
          <p:cNvPr id="4" name="Panel"/>
          <p:cNvSpPr/>
          <p:nvPr/>
        </p:nvSpPr>
        <p:spPr>
          <a:xfrm>
            <a:off x="0" y="0"/>
            <a:ext cx="57150" cy="7772400"/>
          </a:xfrm>
          <a:prstGeom prst="rect">
            <a:avLst/>
          </a:prstGeom>
          <a:solidFill>
            <a:srgbClr val="B68757"/>
          </a:solidFill>
          <a:ln>
            <a:noFill/>
          </a:ln>
        </p:spPr>
        <p:txBody>
          <a:bodyPr rtlCol="0" anchor="ctr"/>
          <a:lstStyle/>
          <a:p>
            <a:pPr algn="ctr"/>
          </a:p>
        </p:txBody>
      </p:sp>
      <p:sp>
        <p:nvSpPr>
          <p:cNvPr id="5" name="TextBox 4"/>
          <p:cNvSpPr txBox="1"/>
          <p:nvPr/>
        </p:nvSpPr>
        <p:spPr>
          <a:xfrm>
            <a:off x="419100" y="361760"/>
            <a:ext cx="2764185" cy="104775"/>
          </a:xfrm>
          <a:prstGeom prst="rect">
            <a:avLst/>
          </a:prstGeom>
          <a:noFill/>
        </p:spPr>
        <p:txBody>
          <a:bodyPr wrap="none" lIns="0" rIns="0" tIns="0" bIns="0" anchor="t">
            <a:noAutofit/>
          </a:bodyPr>
          <a:lstStyle/>
          <a:p>
            <a:pPr algn="l">
              <a:lnSpc>
                <a:spcPts val="1050"/>
              </a:lnSpc>
              <a:spcBef>
                <a:spcPts val="0"/>
              </a:spcBef>
              <a:spcAft>
                <a:spcPts val="0"/>
              </a:spcAft>
            </a:pPr>
            <a:r>
              <a:rPr sz="675" b="1" i="0" spc="195">
                <a:solidFill>
                  <a:srgbClr val="8C6239"/>
                </a:solidFill>
                <a:latin typeface="Quicksand"/>
              </a:rPr>
              <a:t>TECHNOLOGY  |  QUARTERLY SECTOR BRIEF</a:t>
            </a:r>
          </a:p>
        </p:txBody>
      </p:sp>
      <p:sp>
        <p:nvSpPr>
          <p:cNvPr id="6" name="TextBox 5"/>
          <p:cNvSpPr txBox="1"/>
          <p:nvPr/>
        </p:nvSpPr>
        <p:spPr>
          <a:xfrm>
            <a:off x="9112597" y="350901"/>
            <a:ext cx="526703" cy="152400"/>
          </a:xfrm>
          <a:prstGeom prst="rect">
            <a:avLst/>
          </a:prstGeom>
          <a:noFill/>
        </p:spPr>
        <p:txBody>
          <a:bodyPr wrap="none" lIns="0" rIns="0" tIns="0" bIns="0" anchor="t">
            <a:noAutofit/>
          </a:bodyPr>
          <a:lstStyle/>
          <a:p>
            <a:pPr algn="r">
              <a:lnSpc>
                <a:spcPts val="1350"/>
              </a:lnSpc>
              <a:spcBef>
                <a:spcPts val="0"/>
              </a:spcBef>
              <a:spcAft>
                <a:spcPts val="0"/>
              </a:spcAft>
            </a:pPr>
            <a:r>
              <a:rPr sz="900" b="0" i="0" spc="90">
                <a:solidFill>
                  <a:srgbClr val="6F6A66"/>
                </a:solidFill>
                <a:latin typeface="Cinzel"/>
              </a:rPr>
              <a:t>Q4 2026</a:t>
            </a:r>
          </a:p>
        </p:txBody>
      </p:sp>
      <p:sp>
        <p:nvSpPr>
          <p:cNvPr id="2" name="Title 1"/>
          <p:cNvSpPr>
            <a:spLocks noGrp="1"/>
          </p:cNvSpPr>
          <p:nvPr>
            <p:ph type="title"/>
          </p:nvPr>
        </p:nvSpPr>
        <p:spPr>
          <a:xfrm>
            <a:off x="419100" y="475488"/>
            <a:ext cx="1188690" cy="257175"/>
          </a:xfrm>
        </p:spPr>
        <p:txBody>
          <a:bodyPr wrap="none" lIns="0" rIns="0" tIns="0" bIns="0" anchor="t">
            <a:noAutofit/>
          </a:bodyPr>
          <a:lstStyle/>
          <a:p>
            <a:pPr algn="l">
              <a:lnSpc>
                <a:spcPts val="2550"/>
              </a:lnSpc>
              <a:spcBef>
                <a:spcPts val="0"/>
              </a:spcBef>
              <a:spcAft>
                <a:spcPts val="0"/>
              </a:spcAft>
            </a:pPr>
            <a:r>
              <a:rPr sz="2000" b="1" i="0">
                <a:solidFill>
                  <a:srgbClr val="1B1A1A"/>
                </a:solidFill>
                <a:latin typeface="Newsreader"/>
              </a:rPr>
              <a:t>Our Team</a:t>
            </a:r>
          </a:p>
        </p:txBody>
      </p:sp>
      <p:sp>
        <p:nvSpPr>
          <p:cNvPr id="7" name="TextBox 6"/>
          <p:cNvSpPr txBox="1"/>
          <p:nvPr/>
        </p:nvSpPr>
        <p:spPr>
          <a:xfrm>
            <a:off x="419100" y="864394"/>
            <a:ext cx="6024711" cy="152400"/>
          </a:xfrm>
          <a:prstGeom prst="rect">
            <a:avLst/>
          </a:prstGeom>
          <a:noFill/>
        </p:spPr>
        <p:txBody>
          <a:bodyPr wrap="none" lIns="0" rIns="0" tIns="0" bIns="0" anchor="t">
            <a:noAutofit/>
          </a:bodyPr>
          <a:lstStyle/>
          <a:p>
            <a:pPr algn="l">
              <a:lnSpc>
                <a:spcPts val="1388"/>
              </a:lnSpc>
              <a:spcBef>
                <a:spcPts val="0"/>
              </a:spcBef>
              <a:spcAft>
                <a:spcPts val="0"/>
              </a:spcAft>
            </a:pPr>
            <a:r>
              <a:rPr sz="938" b="0" i="0" spc="15">
                <a:solidFill>
                  <a:srgbClr val="6F6A66"/>
                </a:solidFill>
                <a:latin typeface="Quicksand"/>
              </a:rPr>
              <a:t>The Middle Market team leads each engagement from the first conversation through signing and closing.</a:t>
            </a:r>
          </a:p>
        </p:txBody>
      </p:sp>
      <p:sp>
        <p:nvSpPr>
          <p:cNvPr id="8" name="Panel"/>
          <p:cNvSpPr/>
          <p:nvPr/>
        </p:nvSpPr>
        <p:spPr>
          <a:xfrm>
            <a:off x="419100" y="1143000"/>
            <a:ext cx="9220200" cy="9525"/>
          </a:xfrm>
          <a:prstGeom prst="rect">
            <a:avLst/>
          </a:prstGeom>
          <a:solidFill>
            <a:srgbClr val="E3DCD3"/>
          </a:solidFill>
          <a:ln>
            <a:noFill/>
          </a:ln>
        </p:spPr>
        <p:txBody>
          <a:bodyPr rtlCol="0" anchor="ctr"/>
          <a:lstStyle/>
          <a:p>
            <a:pPr algn="ctr"/>
          </a:p>
        </p:txBody>
      </p:sp>
      <p:sp>
        <p:nvSpPr>
          <p:cNvPr id="9" name="Panel"/>
          <p:cNvSpPr/>
          <p:nvPr/>
        </p:nvSpPr>
        <p:spPr>
          <a:xfrm>
            <a:off x="419100" y="1238250"/>
            <a:ext cx="2038350" cy="5695950"/>
          </a:xfrm>
          <a:prstGeom prst="rect">
            <a:avLst/>
          </a:prstGeom>
          <a:solidFill>
            <a:srgbClr val="1B1A1A"/>
          </a:solidFill>
          <a:ln>
            <a:noFill/>
          </a:ln>
        </p:spPr>
        <p:txBody>
          <a:bodyPr rtlCol="0" anchor="ctr"/>
          <a:lstStyle/>
          <a:p>
            <a:pPr algn="ctr"/>
          </a:p>
        </p:txBody>
      </p:sp>
      <p:pic>
        <p:nvPicPr>
          <p:cNvPr id="10" name="Picture" descr="knot.jpg"/>
          <p:cNvPicPr>
            <a:picLocks noChangeAspect="1"/>
          </p:cNvPicPr>
          <p:nvPr/>
        </p:nvPicPr>
        <p:blipFill>
          <a:blip r:embed="rId2">
            <a:alphaModFix amt="50000"/>
          </a:blip>
          <a:srcRect l="30109" t="1500" r="50365" b="1500"/>
          <a:stretch>
            <a:fillRect/>
          </a:stretch>
        </p:blipFill>
        <p:spPr>
          <a:xfrm>
            <a:off x="419100" y="1238250"/>
            <a:ext cx="2038350" cy="5695950"/>
          </a:xfrm>
          <a:prstGeom prst="rect">
            <a:avLst/>
          </a:prstGeom>
        </p:spPr>
      </p:pic>
      <p:sp>
        <p:nvSpPr>
          <p:cNvPr id="11" name="TextBox 10"/>
          <p:cNvSpPr txBox="1"/>
          <p:nvPr/>
        </p:nvSpPr>
        <p:spPr>
          <a:xfrm>
            <a:off x="609600" y="1447419"/>
            <a:ext cx="1733550" cy="542925"/>
          </a:xfrm>
          <a:prstGeom prst="rect">
            <a:avLst/>
          </a:prstGeom>
          <a:noFill/>
        </p:spPr>
        <p:txBody>
          <a:bodyPr wrap="square" lIns="0" rIns="0" tIns="0" bIns="0" anchor="t">
            <a:noAutofit/>
          </a:bodyPr>
          <a:lstStyle/>
          <a:p>
            <a:pPr algn="l">
              <a:lnSpc>
                <a:spcPts val="2325"/>
              </a:lnSpc>
              <a:spcBef>
                <a:spcPts val="0"/>
              </a:spcBef>
              <a:spcAft>
                <a:spcPts val="0"/>
              </a:spcAft>
            </a:pPr>
            <a:r>
              <a:rPr sz="1950" b="1" i="0">
                <a:solidFill>
                  <a:srgbClr val="FFFFFF"/>
                </a:solidFill>
                <a:latin typeface="Newsreader"/>
              </a:rPr>
              <a:t>Middle Market</a:t>
            </a:r>
          </a:p>
        </p:txBody>
      </p:sp>
      <p:sp>
        <p:nvSpPr>
          <p:cNvPr id="12" name="Panel"/>
          <p:cNvSpPr/>
          <p:nvPr/>
        </p:nvSpPr>
        <p:spPr>
          <a:xfrm>
            <a:off x="609600" y="2228850"/>
            <a:ext cx="533400" cy="19050"/>
          </a:xfrm>
          <a:prstGeom prst="rect">
            <a:avLst/>
          </a:prstGeom>
          <a:solidFill>
            <a:srgbClr val="B68757"/>
          </a:solidFill>
          <a:ln>
            <a:noFill/>
          </a:ln>
        </p:spPr>
        <p:txBody>
          <a:bodyPr rtlCol="0" anchor="ctr"/>
          <a:lstStyle/>
          <a:p>
            <a:pPr algn="ctr"/>
          </a:p>
        </p:txBody>
      </p:sp>
      <p:sp>
        <p:nvSpPr>
          <p:cNvPr id="13" name="TextBox 12"/>
          <p:cNvSpPr txBox="1"/>
          <p:nvPr/>
        </p:nvSpPr>
        <p:spPr>
          <a:xfrm>
            <a:off x="609600" y="2377821"/>
            <a:ext cx="1733550" cy="1228725"/>
          </a:xfrm>
          <a:prstGeom prst="rect">
            <a:avLst/>
          </a:prstGeom>
          <a:noFill/>
        </p:spPr>
        <p:txBody>
          <a:bodyPr wrap="square" lIns="0" rIns="0" tIns="0" bIns="0" anchor="t">
            <a:noAutofit/>
          </a:bodyPr>
          <a:lstStyle/>
          <a:p>
            <a:pPr algn="l">
              <a:lnSpc>
                <a:spcPts val="1425"/>
              </a:lnSpc>
              <a:spcBef>
                <a:spcPts val="0"/>
              </a:spcBef>
              <a:spcAft>
                <a:spcPts val="0"/>
              </a:spcAft>
            </a:pPr>
            <a:r>
              <a:rPr sz="900" b="0" i="0" spc="15">
                <a:solidFill>
                  <a:srgbClr val="E8E2DA"/>
                </a:solidFill>
                <a:latin typeface="Quicksand"/>
              </a:rPr>
              <a:t>The Middle Market team represents owners of privately held companies with $50 million to $500 million of total enterprise value in sales, recapitalizations and growth partnerships.</a:t>
            </a:r>
          </a:p>
        </p:txBody>
      </p:sp>
      <p:sp>
        <p:nvSpPr>
          <p:cNvPr id="14" name="TextBox 13"/>
          <p:cNvSpPr txBox="1"/>
          <p:nvPr/>
        </p:nvSpPr>
        <p:spPr>
          <a:xfrm>
            <a:off x="609600" y="3890772"/>
            <a:ext cx="962025" cy="104775"/>
          </a:xfrm>
          <a:prstGeom prst="rect">
            <a:avLst/>
          </a:prstGeom>
          <a:noFill/>
        </p:spPr>
        <p:txBody>
          <a:bodyPr wrap="none" lIns="0" rIns="0" tIns="0" bIns="0" anchor="t">
            <a:noAutofit/>
          </a:bodyPr>
          <a:lstStyle/>
          <a:p>
            <a:pPr algn="l">
              <a:lnSpc>
                <a:spcPts val="975"/>
              </a:lnSpc>
              <a:spcBef>
                <a:spcPts val="0"/>
              </a:spcBef>
              <a:spcAft>
                <a:spcPts val="0"/>
              </a:spcAft>
            </a:pPr>
            <a:r>
              <a:rPr sz="675" b="1" i="0" spc="150">
                <a:solidFill>
                  <a:srgbClr val="D3AE84"/>
                </a:solidFill>
                <a:latin typeface="Quicksand"/>
              </a:rPr>
              <a:t>HEADQUARTERS</a:t>
            </a:r>
          </a:p>
        </p:txBody>
      </p:sp>
      <p:sp>
        <p:nvSpPr>
          <p:cNvPr id="15" name="Rule"/>
          <p:cNvSpPr/>
          <p:nvPr/>
        </p:nvSpPr>
        <p:spPr>
          <a:xfrm>
            <a:off x="609600" y="4100512"/>
            <a:ext cx="1657350" cy="9525"/>
          </a:xfrm>
          <a:prstGeom prst="rect">
            <a:avLst/>
          </a:prstGeom>
          <a:solidFill>
            <a:srgbClr val="FFFFFF">
              <a:alpha val="16000"/>
            </a:srgbClr>
          </a:solidFill>
          <a:ln>
            <a:noFill/>
          </a:ln>
        </p:spPr>
        <p:txBody>
          <a:bodyPr rtlCol="0" anchor="ctr"/>
          <a:lstStyle/>
          <a:p>
            <a:pPr algn="ctr"/>
          </a:p>
        </p:txBody>
      </p:sp>
      <p:sp>
        <p:nvSpPr>
          <p:cNvPr id="16" name="TextBox 15"/>
          <p:cNvSpPr txBox="1"/>
          <p:nvPr/>
        </p:nvSpPr>
        <p:spPr>
          <a:xfrm>
            <a:off x="609600" y="4206812"/>
            <a:ext cx="920055" cy="171450"/>
          </a:xfrm>
          <a:prstGeom prst="rect">
            <a:avLst/>
          </a:prstGeom>
          <a:noFill/>
        </p:spPr>
        <p:txBody>
          <a:bodyPr wrap="none" lIns="0" rIns="0" tIns="0" bIns="0" anchor="t">
            <a:noAutofit/>
          </a:bodyPr>
          <a:lstStyle/>
          <a:p>
            <a:pPr algn="l">
              <a:lnSpc>
                <a:spcPts val="1350"/>
              </a:lnSpc>
              <a:spcBef>
                <a:spcPts val="0"/>
              </a:spcBef>
              <a:spcAft>
                <a:spcPts val="0"/>
              </a:spcAft>
            </a:pPr>
            <a:r>
              <a:rPr sz="975" b="0" i="0" spc="225">
                <a:solidFill>
                  <a:srgbClr val="D3AE84"/>
                </a:solidFill>
                <a:latin typeface="Cinzel"/>
              </a:rPr>
              <a:t>AMERICAS</a:t>
            </a:r>
          </a:p>
        </p:txBody>
      </p:sp>
      <p:sp>
        <p:nvSpPr>
          <p:cNvPr id="17" name="TextBox 16"/>
          <p:cNvSpPr txBox="1"/>
          <p:nvPr/>
        </p:nvSpPr>
        <p:spPr>
          <a:xfrm>
            <a:off x="609600" y="4389215"/>
            <a:ext cx="1733550" cy="428625"/>
          </a:xfrm>
          <a:prstGeom prst="rect">
            <a:avLst/>
          </a:prstGeom>
          <a:noFill/>
        </p:spPr>
        <p:txBody>
          <a:bodyPr wrap="square" lIns="0" rIns="0" tIns="0" bIns="0" anchor="t">
            <a:noAutofit/>
          </a:bodyPr>
          <a:lstStyle/>
          <a:p>
            <a:pPr algn="l">
              <a:lnSpc>
                <a:spcPts val="1162"/>
              </a:lnSpc>
              <a:spcBef>
                <a:spcPts val="0"/>
              </a:spcBef>
              <a:spcAft>
                <a:spcPts val="0"/>
              </a:spcAft>
            </a:pPr>
            <a:r>
              <a:rPr sz="788" b="0" i="0" spc="15">
                <a:solidFill>
                  <a:srgbClr val="E8E2DA"/>
                </a:solidFill>
                <a:latin typeface="Quicksand"/>
              </a:rPr>
              <a:t>4030 West Boy Scout Blvd.</a:t>
            </a:r>
            <a:br/>
            <a:r>
              <a:rPr sz="788" b="0" i="0" spc="15">
                <a:solidFill>
                  <a:srgbClr val="E8E2DA"/>
                </a:solidFill>
                <a:latin typeface="Quicksand"/>
              </a:rPr>
              <a:t>Suite 500, Tampa, FL 33607</a:t>
            </a:r>
            <a:br/>
            <a:r>
              <a:rPr sz="788" b="0" i="0" spc="15">
                <a:solidFill>
                  <a:srgbClr val="E8E2DA"/>
                </a:solidFill>
                <a:latin typeface="Quicksand"/>
              </a:rPr>
              <a:t>+1 813 898 2350</a:t>
            </a:r>
          </a:p>
        </p:txBody>
      </p:sp>
      <p:sp>
        <p:nvSpPr>
          <p:cNvPr id="18" name="Rule"/>
          <p:cNvSpPr/>
          <p:nvPr/>
        </p:nvSpPr>
        <p:spPr>
          <a:xfrm>
            <a:off x="609600" y="4962525"/>
            <a:ext cx="1657350" cy="9525"/>
          </a:xfrm>
          <a:prstGeom prst="rect">
            <a:avLst/>
          </a:prstGeom>
          <a:solidFill>
            <a:srgbClr val="FFFFFF">
              <a:alpha val="16000"/>
            </a:srgbClr>
          </a:solidFill>
          <a:ln>
            <a:noFill/>
          </a:ln>
        </p:spPr>
        <p:txBody>
          <a:bodyPr rtlCol="0" anchor="ctr"/>
          <a:lstStyle/>
          <a:p>
            <a:pPr algn="ctr"/>
          </a:p>
        </p:txBody>
      </p:sp>
      <p:sp>
        <p:nvSpPr>
          <p:cNvPr id="19" name="TextBox 18"/>
          <p:cNvSpPr txBox="1"/>
          <p:nvPr/>
        </p:nvSpPr>
        <p:spPr>
          <a:xfrm>
            <a:off x="609600" y="5068824"/>
            <a:ext cx="717500" cy="171450"/>
          </a:xfrm>
          <a:prstGeom prst="rect">
            <a:avLst/>
          </a:prstGeom>
          <a:noFill/>
        </p:spPr>
        <p:txBody>
          <a:bodyPr wrap="none" lIns="0" rIns="0" tIns="0" bIns="0" anchor="t">
            <a:noAutofit/>
          </a:bodyPr>
          <a:lstStyle/>
          <a:p>
            <a:pPr algn="l">
              <a:lnSpc>
                <a:spcPts val="1350"/>
              </a:lnSpc>
              <a:spcBef>
                <a:spcPts val="0"/>
              </a:spcBef>
              <a:spcAft>
                <a:spcPts val="0"/>
              </a:spcAft>
            </a:pPr>
            <a:r>
              <a:rPr sz="975" b="0" i="0" spc="225">
                <a:solidFill>
                  <a:srgbClr val="D3AE84"/>
                </a:solidFill>
                <a:latin typeface="Cinzel"/>
              </a:rPr>
              <a:t>EUROPE</a:t>
            </a:r>
          </a:p>
        </p:txBody>
      </p:sp>
      <p:sp>
        <p:nvSpPr>
          <p:cNvPr id="20" name="TextBox 19"/>
          <p:cNvSpPr txBox="1"/>
          <p:nvPr/>
        </p:nvSpPr>
        <p:spPr>
          <a:xfrm>
            <a:off x="609600" y="5251228"/>
            <a:ext cx="1733550" cy="428625"/>
          </a:xfrm>
          <a:prstGeom prst="rect">
            <a:avLst/>
          </a:prstGeom>
          <a:noFill/>
        </p:spPr>
        <p:txBody>
          <a:bodyPr wrap="square" lIns="0" rIns="0" tIns="0" bIns="0" anchor="t">
            <a:noAutofit/>
          </a:bodyPr>
          <a:lstStyle/>
          <a:p>
            <a:pPr algn="l">
              <a:lnSpc>
                <a:spcPts val="1162"/>
              </a:lnSpc>
              <a:spcBef>
                <a:spcPts val="0"/>
              </a:spcBef>
              <a:spcAft>
                <a:spcPts val="0"/>
              </a:spcAft>
            </a:pPr>
            <a:r>
              <a:rPr sz="788" b="0" i="0" spc="15">
                <a:solidFill>
                  <a:srgbClr val="E8E2DA"/>
                </a:solidFill>
                <a:latin typeface="Quicksand"/>
              </a:rPr>
              <a:t>One New Bailey, 4 Stanley St.</a:t>
            </a:r>
            <a:br/>
            <a:r>
              <a:rPr sz="788" b="0" i="0" spc="15">
                <a:solidFill>
                  <a:srgbClr val="E8E2DA"/>
                </a:solidFill>
                <a:latin typeface="Quicksand"/>
              </a:rPr>
              <a:t>Manchester, M3 5JL</a:t>
            </a:r>
            <a:br/>
            <a:r>
              <a:rPr sz="788" b="0" i="0" spc="15">
                <a:solidFill>
                  <a:srgbClr val="E8E2DA"/>
                </a:solidFill>
                <a:latin typeface="Quicksand"/>
              </a:rPr>
              <a:t>+44 (0) 161 359 4400</a:t>
            </a:r>
          </a:p>
        </p:txBody>
      </p:sp>
      <p:sp>
        <p:nvSpPr>
          <p:cNvPr id="21" name="Rule"/>
          <p:cNvSpPr/>
          <p:nvPr/>
        </p:nvSpPr>
        <p:spPr>
          <a:xfrm>
            <a:off x="609600" y="5824538"/>
            <a:ext cx="1657350" cy="9525"/>
          </a:xfrm>
          <a:prstGeom prst="rect">
            <a:avLst/>
          </a:prstGeom>
          <a:solidFill>
            <a:srgbClr val="FFFFFF">
              <a:alpha val="16000"/>
            </a:srgbClr>
          </a:solidFill>
          <a:ln>
            <a:noFill/>
          </a:ln>
        </p:spPr>
        <p:txBody>
          <a:bodyPr rtlCol="0" anchor="ctr"/>
          <a:lstStyle/>
          <a:p>
            <a:pPr algn="ctr"/>
          </a:p>
        </p:txBody>
      </p:sp>
      <p:sp>
        <p:nvSpPr>
          <p:cNvPr id="22" name="TextBox 21"/>
          <p:cNvSpPr txBox="1"/>
          <p:nvPr/>
        </p:nvSpPr>
        <p:spPr>
          <a:xfrm>
            <a:off x="609600" y="5930836"/>
            <a:ext cx="685651" cy="171450"/>
          </a:xfrm>
          <a:prstGeom prst="rect">
            <a:avLst/>
          </a:prstGeom>
          <a:noFill/>
        </p:spPr>
        <p:txBody>
          <a:bodyPr wrap="none" lIns="0" rIns="0" tIns="0" bIns="0" anchor="t">
            <a:noAutofit/>
          </a:bodyPr>
          <a:lstStyle/>
          <a:p>
            <a:pPr algn="l">
              <a:lnSpc>
                <a:spcPts val="1350"/>
              </a:lnSpc>
              <a:spcBef>
                <a:spcPts val="0"/>
              </a:spcBef>
              <a:spcAft>
                <a:spcPts val="0"/>
              </a:spcAft>
            </a:pPr>
            <a:r>
              <a:rPr sz="975" b="0" i="0" spc="225">
                <a:solidFill>
                  <a:srgbClr val="D3AE84"/>
                </a:solidFill>
                <a:latin typeface="Cinzel"/>
              </a:rPr>
              <a:t>AFRICA</a:t>
            </a:r>
          </a:p>
        </p:txBody>
      </p:sp>
      <p:sp>
        <p:nvSpPr>
          <p:cNvPr id="23" name="TextBox 22"/>
          <p:cNvSpPr txBox="1"/>
          <p:nvPr/>
        </p:nvSpPr>
        <p:spPr>
          <a:xfrm>
            <a:off x="609600" y="6113240"/>
            <a:ext cx="1733550" cy="428625"/>
          </a:xfrm>
          <a:prstGeom prst="rect">
            <a:avLst/>
          </a:prstGeom>
          <a:noFill/>
        </p:spPr>
        <p:txBody>
          <a:bodyPr wrap="square" lIns="0" rIns="0" tIns="0" bIns="0" anchor="t">
            <a:noAutofit/>
          </a:bodyPr>
          <a:lstStyle/>
          <a:p>
            <a:pPr algn="l">
              <a:lnSpc>
                <a:spcPts val="1162"/>
              </a:lnSpc>
              <a:spcBef>
                <a:spcPts val="0"/>
              </a:spcBef>
              <a:spcAft>
                <a:spcPts val="0"/>
              </a:spcAft>
            </a:pPr>
            <a:r>
              <a:rPr sz="788" b="0" i="0" spc="15">
                <a:solidFill>
                  <a:srgbClr val="E8E2DA"/>
                </a:solidFill>
                <a:latin typeface="Quicksand"/>
              </a:rPr>
              <a:t>Airport Office Park, Freight Rd.</a:t>
            </a:r>
            <a:br/>
            <a:r>
              <a:rPr sz="788" b="0" i="0" spc="15">
                <a:solidFill>
                  <a:srgbClr val="E8E2DA"/>
                </a:solidFill>
                <a:latin typeface="Quicksand"/>
              </a:rPr>
              <a:t>Cape Town Airport, 7525</a:t>
            </a:r>
            <a:br/>
            <a:r>
              <a:rPr sz="788" b="0" i="0" spc="15">
                <a:solidFill>
                  <a:srgbClr val="E8E2DA"/>
                </a:solidFill>
                <a:latin typeface="Quicksand"/>
              </a:rPr>
              <a:t>+27 (0) 21 300 2055</a:t>
            </a:r>
          </a:p>
        </p:txBody>
      </p:sp>
      <p:sp>
        <p:nvSpPr>
          <p:cNvPr id="24" name="Panel"/>
          <p:cNvSpPr/>
          <p:nvPr/>
        </p:nvSpPr>
        <p:spPr>
          <a:xfrm>
            <a:off x="2628900" y="1238250"/>
            <a:ext cx="1652588" cy="2628900"/>
          </a:xfrm>
          <a:prstGeom prst="rect">
            <a:avLst/>
          </a:prstGeom>
          <a:solidFill>
            <a:srgbClr val="FAF7F3"/>
          </a:solidFill>
          <a:ln>
            <a:noFill/>
          </a:ln>
        </p:spPr>
        <p:txBody>
          <a:bodyPr rtlCol="0" anchor="ctr"/>
          <a:lstStyle/>
          <a:p>
            <a:pPr algn="ctr"/>
          </a:p>
        </p:txBody>
      </p:sp>
      <p:sp>
        <p:nvSpPr>
          <p:cNvPr id="25" name="Rule"/>
          <p:cNvSpPr/>
          <p:nvPr/>
        </p:nvSpPr>
        <p:spPr>
          <a:xfrm>
            <a:off x="2628900" y="1238250"/>
            <a:ext cx="1652588" cy="28575"/>
          </a:xfrm>
          <a:prstGeom prst="rect">
            <a:avLst/>
          </a:prstGeom>
          <a:solidFill>
            <a:srgbClr val="B68757"/>
          </a:solidFill>
          <a:ln>
            <a:noFill/>
          </a:ln>
        </p:spPr>
        <p:txBody>
          <a:bodyPr rtlCol="0" anchor="ctr"/>
          <a:lstStyle/>
          <a:p>
            <a:pPr algn="ctr"/>
          </a:p>
        </p:txBody>
      </p:sp>
      <p:pic>
        <p:nvPicPr>
          <p:cNvPr id="26" name="Jordan Houtz" descr="Jordan Houtz"/>
          <p:cNvPicPr>
            <a:picLocks noChangeAspect="1"/>
          </p:cNvPicPr>
          <p:nvPr/>
        </p:nvPicPr>
        <p:blipFill>
          <a:blip r:embed="rId3"/>
          <a:stretch>
            <a:fillRect/>
          </a:stretch>
        </p:blipFill>
        <p:spPr>
          <a:xfrm>
            <a:off x="2883694" y="1438275"/>
            <a:ext cx="1143000" cy="1143000"/>
          </a:xfrm>
          <a:prstGeom prst="ellipse">
            <a:avLst/>
          </a:prstGeom>
        </p:spPr>
      </p:pic>
      <p:sp>
        <p:nvSpPr>
          <p:cNvPr id="27" name="TextBox 26"/>
          <p:cNvSpPr txBox="1"/>
          <p:nvPr/>
        </p:nvSpPr>
        <p:spPr>
          <a:xfrm>
            <a:off x="2906762" y="2678811"/>
            <a:ext cx="1096714" cy="180975"/>
          </a:xfrm>
          <a:prstGeom prst="rect">
            <a:avLst/>
          </a:prstGeom>
          <a:noFill/>
        </p:spPr>
        <p:txBody>
          <a:bodyPr wrap="none" lIns="0" rIns="0" tIns="0" bIns="0" anchor="t">
            <a:noAutofit/>
          </a:bodyPr>
          <a:lstStyle/>
          <a:p>
            <a:pPr algn="ctr">
              <a:lnSpc>
                <a:spcPts val="1800"/>
              </a:lnSpc>
              <a:spcBef>
                <a:spcPts val="0"/>
              </a:spcBef>
              <a:spcAft>
                <a:spcPts val="0"/>
              </a:spcAft>
            </a:pPr>
            <a:r>
              <a:rPr sz="1400" b="1" i="0">
                <a:solidFill>
                  <a:srgbClr val="1B1A1A"/>
                </a:solidFill>
                <a:latin typeface="Newsreader"/>
              </a:rPr>
              <a:t>Jordan Houtz</a:t>
            </a:r>
          </a:p>
        </p:txBody>
      </p:sp>
      <p:sp>
        <p:nvSpPr>
          <p:cNvPr id="28" name="TextBox 27"/>
          <p:cNvSpPr txBox="1"/>
          <p:nvPr/>
        </p:nvSpPr>
        <p:spPr>
          <a:xfrm>
            <a:off x="2919264" y="2956274"/>
            <a:ext cx="1071711" cy="104775"/>
          </a:xfrm>
          <a:prstGeom prst="rect">
            <a:avLst/>
          </a:prstGeom>
          <a:noFill/>
        </p:spPr>
        <p:txBody>
          <a:bodyPr wrap="none" lIns="0" rIns="0" tIns="0" bIns="0" anchor="t">
            <a:noAutofit/>
          </a:bodyPr>
          <a:lstStyle/>
          <a:p>
            <a:pPr algn="ctr">
              <a:lnSpc>
                <a:spcPts val="975"/>
              </a:lnSpc>
              <a:spcBef>
                <a:spcPts val="0"/>
              </a:spcBef>
              <a:spcAft>
                <a:spcPts val="0"/>
              </a:spcAft>
            </a:pPr>
            <a:r>
              <a:rPr sz="638" b="1" i="0" spc="105">
                <a:solidFill>
                  <a:srgbClr val="8C6239"/>
                </a:solidFill>
                <a:latin typeface="Quicksand"/>
              </a:rPr>
              <a:t>MANAGING DIRECTOR</a:t>
            </a:r>
          </a:p>
        </p:txBody>
      </p:sp>
      <p:sp>
        <p:nvSpPr>
          <p:cNvPr id="29" name="TextBox 28"/>
          <p:cNvSpPr txBox="1"/>
          <p:nvPr/>
        </p:nvSpPr>
        <p:spPr>
          <a:xfrm>
            <a:off x="2799755" y="3141440"/>
            <a:ext cx="1310878" cy="285750"/>
          </a:xfrm>
          <a:prstGeom prst="rect">
            <a:avLst/>
          </a:prstGeom>
          <a:noFill/>
        </p:spPr>
        <p:txBody>
          <a:bodyPr wrap="none" lIns="0" rIns="0" tIns="0" bIns="0" anchor="t">
            <a:noAutofit/>
          </a:bodyPr>
          <a:lstStyle/>
          <a:p>
            <a:pPr algn="ctr">
              <a:lnSpc>
                <a:spcPts val="1200"/>
              </a:lnSpc>
              <a:spcBef>
                <a:spcPts val="0"/>
              </a:spcBef>
              <a:spcAft>
                <a:spcPts val="0"/>
              </a:spcAft>
            </a:pPr>
            <a:r>
              <a:rPr sz="788" b="0" i="0" spc="15" u="sng">
                <a:solidFill>
                  <a:srgbClr val="8C6239"/>
                </a:solidFill>
                <a:latin typeface="Quicksand"/>
                <a:hlinkClick r:id="rId4">
                  <a:extLst>
                    <a:ext uri="{A12FA001-AC4F-418D-AE19-62706E023703}">
                      <ahyp:hlinkClr xmlns:ahyp="http://schemas.microsoft.com/office/drawing/2018/hyperlinkcolor" val="tx"/>
                    </a:ext>
                  </a:extLst>
                </a:hlinkClick>
              </a:rPr>
              <a:t>813-771-6675</a:t>
            </a:r>
            <a:br/>
            <a:r>
              <a:rPr sz="788" b="0" i="0" spc="15" u="sng">
                <a:solidFill>
                  <a:srgbClr val="8C6239"/>
                </a:solidFill>
                <a:latin typeface="Quicksand"/>
                <a:hlinkClick r:id="rId5">
                  <a:extLst>
                    <a:ext uri="{A12FA001-AC4F-418D-AE19-62706E023703}">
                      <ahyp:hlinkClr xmlns:ahyp="http://schemas.microsoft.com/office/drawing/2018/hyperlinkcolor" val="tx"/>
                    </a:ext>
                  </a:extLst>
                </a:hlinkClick>
              </a:rPr>
              <a:t>jhoutz@benchmarkintl.com</a:t>
            </a:r>
          </a:p>
        </p:txBody>
      </p:sp>
      <p:sp>
        <p:nvSpPr>
          <p:cNvPr id="30" name="Panel"/>
          <p:cNvSpPr/>
          <p:nvPr/>
        </p:nvSpPr>
        <p:spPr>
          <a:xfrm>
            <a:off x="4414838" y="1238250"/>
            <a:ext cx="1652588" cy="2628900"/>
          </a:xfrm>
          <a:prstGeom prst="rect">
            <a:avLst/>
          </a:prstGeom>
          <a:solidFill>
            <a:srgbClr val="FAF7F3"/>
          </a:solidFill>
          <a:ln>
            <a:noFill/>
          </a:ln>
        </p:spPr>
        <p:txBody>
          <a:bodyPr rtlCol="0" anchor="ctr"/>
          <a:lstStyle/>
          <a:p>
            <a:pPr algn="ctr"/>
          </a:p>
        </p:txBody>
      </p:sp>
      <p:sp>
        <p:nvSpPr>
          <p:cNvPr id="31" name="Rule"/>
          <p:cNvSpPr/>
          <p:nvPr/>
        </p:nvSpPr>
        <p:spPr>
          <a:xfrm>
            <a:off x="4414838" y="1238250"/>
            <a:ext cx="1652588" cy="28575"/>
          </a:xfrm>
          <a:prstGeom prst="rect">
            <a:avLst/>
          </a:prstGeom>
          <a:solidFill>
            <a:srgbClr val="B68757"/>
          </a:solidFill>
          <a:ln>
            <a:noFill/>
          </a:ln>
        </p:spPr>
        <p:txBody>
          <a:bodyPr rtlCol="0" anchor="ctr"/>
          <a:lstStyle/>
          <a:p>
            <a:pPr algn="ctr"/>
          </a:p>
        </p:txBody>
      </p:sp>
      <p:pic>
        <p:nvPicPr>
          <p:cNvPr id="32" name="Jared Hardin" descr="Jared Hardin"/>
          <p:cNvPicPr>
            <a:picLocks noChangeAspect="1"/>
          </p:cNvPicPr>
          <p:nvPr/>
        </p:nvPicPr>
        <p:blipFill>
          <a:blip r:embed="rId6"/>
          <a:stretch>
            <a:fillRect/>
          </a:stretch>
        </p:blipFill>
        <p:spPr>
          <a:xfrm>
            <a:off x="4669631" y="1438275"/>
            <a:ext cx="1143000" cy="1143000"/>
          </a:xfrm>
          <a:prstGeom prst="ellipse">
            <a:avLst/>
          </a:prstGeom>
        </p:spPr>
      </p:pic>
      <p:sp>
        <p:nvSpPr>
          <p:cNvPr id="33" name="TextBox 32"/>
          <p:cNvSpPr txBox="1"/>
          <p:nvPr/>
        </p:nvSpPr>
        <p:spPr>
          <a:xfrm>
            <a:off x="4713089" y="2678811"/>
            <a:ext cx="1055936" cy="180975"/>
          </a:xfrm>
          <a:prstGeom prst="rect">
            <a:avLst/>
          </a:prstGeom>
          <a:noFill/>
        </p:spPr>
        <p:txBody>
          <a:bodyPr wrap="none" lIns="0" rIns="0" tIns="0" bIns="0" anchor="t">
            <a:noAutofit/>
          </a:bodyPr>
          <a:lstStyle/>
          <a:p>
            <a:pPr algn="ctr">
              <a:lnSpc>
                <a:spcPts val="1800"/>
              </a:lnSpc>
              <a:spcBef>
                <a:spcPts val="0"/>
              </a:spcBef>
              <a:spcAft>
                <a:spcPts val="0"/>
              </a:spcAft>
            </a:pPr>
            <a:r>
              <a:rPr sz="1400" b="1" i="0">
                <a:solidFill>
                  <a:srgbClr val="1B1A1A"/>
                </a:solidFill>
                <a:latin typeface="Newsreader"/>
              </a:rPr>
              <a:t>Jared Hardin</a:t>
            </a:r>
          </a:p>
        </p:txBody>
      </p:sp>
      <p:sp>
        <p:nvSpPr>
          <p:cNvPr id="34" name="TextBox 33"/>
          <p:cNvSpPr txBox="1"/>
          <p:nvPr/>
        </p:nvSpPr>
        <p:spPr>
          <a:xfrm>
            <a:off x="4705201" y="2956274"/>
            <a:ext cx="1071711" cy="104775"/>
          </a:xfrm>
          <a:prstGeom prst="rect">
            <a:avLst/>
          </a:prstGeom>
          <a:noFill/>
        </p:spPr>
        <p:txBody>
          <a:bodyPr wrap="none" lIns="0" rIns="0" tIns="0" bIns="0" anchor="t">
            <a:noAutofit/>
          </a:bodyPr>
          <a:lstStyle/>
          <a:p>
            <a:pPr algn="ctr">
              <a:lnSpc>
                <a:spcPts val="975"/>
              </a:lnSpc>
              <a:spcBef>
                <a:spcPts val="0"/>
              </a:spcBef>
              <a:spcAft>
                <a:spcPts val="0"/>
              </a:spcAft>
            </a:pPr>
            <a:r>
              <a:rPr sz="638" b="1" i="0" spc="105">
                <a:solidFill>
                  <a:srgbClr val="8C6239"/>
                </a:solidFill>
                <a:latin typeface="Quicksand"/>
              </a:rPr>
              <a:t>MANAGING DIRECTOR</a:t>
            </a:r>
          </a:p>
        </p:txBody>
      </p:sp>
      <p:sp>
        <p:nvSpPr>
          <p:cNvPr id="35" name="TextBox 34"/>
          <p:cNvSpPr txBox="1"/>
          <p:nvPr/>
        </p:nvSpPr>
        <p:spPr>
          <a:xfrm>
            <a:off x="4555927" y="3141440"/>
            <a:ext cx="1370409" cy="285750"/>
          </a:xfrm>
          <a:prstGeom prst="rect">
            <a:avLst/>
          </a:prstGeom>
          <a:noFill/>
        </p:spPr>
        <p:txBody>
          <a:bodyPr wrap="none" lIns="0" rIns="0" tIns="0" bIns="0" anchor="t">
            <a:noAutofit/>
          </a:bodyPr>
          <a:lstStyle/>
          <a:p>
            <a:pPr algn="ctr">
              <a:lnSpc>
                <a:spcPts val="1200"/>
              </a:lnSpc>
              <a:spcBef>
                <a:spcPts val="0"/>
              </a:spcBef>
              <a:spcAft>
                <a:spcPts val="0"/>
              </a:spcAft>
            </a:pPr>
            <a:r>
              <a:rPr sz="788" b="0" i="0" spc="15" u="sng">
                <a:solidFill>
                  <a:srgbClr val="8C6239"/>
                </a:solidFill>
                <a:latin typeface="Quicksand"/>
                <a:hlinkClick r:id="rId4">
                  <a:extLst>
                    <a:ext uri="{A12FA001-AC4F-418D-AE19-62706E023703}">
                      <ahyp:hlinkClr xmlns:ahyp="http://schemas.microsoft.com/office/drawing/2018/hyperlinkcolor" val="tx"/>
                    </a:ext>
                  </a:extLst>
                </a:hlinkClick>
              </a:rPr>
              <a:t>813-771-6675</a:t>
            </a:r>
            <a:br/>
            <a:r>
              <a:rPr sz="788" b="0" i="0" spc="15" u="sng">
                <a:solidFill>
                  <a:srgbClr val="8C6239"/>
                </a:solidFill>
                <a:latin typeface="Quicksand"/>
                <a:hlinkClick r:id="rId7">
                  <a:extLst>
                    <a:ext uri="{A12FA001-AC4F-418D-AE19-62706E023703}">
                      <ahyp:hlinkClr xmlns:ahyp="http://schemas.microsoft.com/office/drawing/2018/hyperlinkcolor" val="tx"/>
                    </a:ext>
                  </a:extLst>
                </a:hlinkClick>
              </a:rPr>
              <a:t>j.hardin@benchmarkintl.com</a:t>
            </a:r>
          </a:p>
        </p:txBody>
      </p:sp>
      <p:sp>
        <p:nvSpPr>
          <p:cNvPr id="36" name="Panel"/>
          <p:cNvSpPr/>
          <p:nvPr/>
        </p:nvSpPr>
        <p:spPr>
          <a:xfrm>
            <a:off x="6200775" y="1238250"/>
            <a:ext cx="1652588" cy="2628900"/>
          </a:xfrm>
          <a:prstGeom prst="rect">
            <a:avLst/>
          </a:prstGeom>
          <a:solidFill>
            <a:srgbClr val="FAF7F3"/>
          </a:solidFill>
          <a:ln>
            <a:noFill/>
          </a:ln>
        </p:spPr>
        <p:txBody>
          <a:bodyPr rtlCol="0" anchor="ctr"/>
          <a:lstStyle/>
          <a:p>
            <a:pPr algn="ctr"/>
          </a:p>
        </p:txBody>
      </p:sp>
      <p:sp>
        <p:nvSpPr>
          <p:cNvPr id="37" name="Rule"/>
          <p:cNvSpPr/>
          <p:nvPr/>
        </p:nvSpPr>
        <p:spPr>
          <a:xfrm>
            <a:off x="6200775" y="1238250"/>
            <a:ext cx="1652588" cy="28575"/>
          </a:xfrm>
          <a:prstGeom prst="rect">
            <a:avLst/>
          </a:prstGeom>
          <a:solidFill>
            <a:srgbClr val="B68757"/>
          </a:solidFill>
          <a:ln>
            <a:noFill/>
          </a:ln>
        </p:spPr>
        <p:txBody>
          <a:bodyPr rtlCol="0" anchor="ctr"/>
          <a:lstStyle/>
          <a:p>
            <a:pPr algn="ctr"/>
          </a:p>
        </p:txBody>
      </p:sp>
      <p:pic>
        <p:nvPicPr>
          <p:cNvPr id="38" name="Alex Zykov" descr="Alex Zykov"/>
          <p:cNvPicPr>
            <a:picLocks noChangeAspect="1"/>
          </p:cNvPicPr>
          <p:nvPr/>
        </p:nvPicPr>
        <p:blipFill>
          <a:blip r:embed="rId8"/>
          <a:stretch>
            <a:fillRect/>
          </a:stretch>
        </p:blipFill>
        <p:spPr>
          <a:xfrm>
            <a:off x="6455569" y="1438275"/>
            <a:ext cx="1143000" cy="1143000"/>
          </a:xfrm>
          <a:prstGeom prst="ellipse">
            <a:avLst/>
          </a:prstGeom>
        </p:spPr>
      </p:pic>
      <p:sp>
        <p:nvSpPr>
          <p:cNvPr id="39" name="TextBox 38"/>
          <p:cNvSpPr txBox="1"/>
          <p:nvPr/>
        </p:nvSpPr>
        <p:spPr>
          <a:xfrm>
            <a:off x="6570911" y="2678811"/>
            <a:ext cx="912316" cy="180975"/>
          </a:xfrm>
          <a:prstGeom prst="rect">
            <a:avLst/>
          </a:prstGeom>
          <a:noFill/>
        </p:spPr>
        <p:txBody>
          <a:bodyPr wrap="none" lIns="0" rIns="0" tIns="0" bIns="0" anchor="t">
            <a:noAutofit/>
          </a:bodyPr>
          <a:lstStyle/>
          <a:p>
            <a:pPr algn="ctr">
              <a:lnSpc>
                <a:spcPts val="1800"/>
              </a:lnSpc>
              <a:spcBef>
                <a:spcPts val="0"/>
              </a:spcBef>
              <a:spcAft>
                <a:spcPts val="0"/>
              </a:spcAft>
            </a:pPr>
            <a:r>
              <a:rPr sz="1400" b="1" i="0">
                <a:solidFill>
                  <a:srgbClr val="1B1A1A"/>
                </a:solidFill>
                <a:latin typeface="Newsreader"/>
              </a:rPr>
              <a:t>Alex Zykov</a:t>
            </a:r>
          </a:p>
        </p:txBody>
      </p:sp>
      <p:sp>
        <p:nvSpPr>
          <p:cNvPr id="40" name="TextBox 39"/>
          <p:cNvSpPr txBox="1"/>
          <p:nvPr/>
        </p:nvSpPr>
        <p:spPr>
          <a:xfrm>
            <a:off x="6401842" y="2956274"/>
            <a:ext cx="1250305" cy="104775"/>
          </a:xfrm>
          <a:prstGeom prst="rect">
            <a:avLst/>
          </a:prstGeom>
          <a:noFill/>
        </p:spPr>
        <p:txBody>
          <a:bodyPr wrap="none" lIns="0" rIns="0" tIns="0" bIns="0" anchor="t">
            <a:noAutofit/>
          </a:bodyPr>
          <a:lstStyle/>
          <a:p>
            <a:pPr algn="ctr">
              <a:lnSpc>
                <a:spcPts val="975"/>
              </a:lnSpc>
              <a:spcBef>
                <a:spcPts val="0"/>
              </a:spcBef>
              <a:spcAft>
                <a:spcPts val="0"/>
              </a:spcAft>
            </a:pPr>
            <a:r>
              <a:rPr sz="638" b="1" i="0" spc="105">
                <a:solidFill>
                  <a:srgbClr val="8C6239"/>
                </a:solidFill>
                <a:latin typeface="Quicksand"/>
              </a:rPr>
              <a:t>TRANSACTION DIRECTOR</a:t>
            </a:r>
          </a:p>
        </p:txBody>
      </p:sp>
      <p:sp>
        <p:nvSpPr>
          <p:cNvPr id="41" name="TextBox 40"/>
          <p:cNvSpPr txBox="1"/>
          <p:nvPr/>
        </p:nvSpPr>
        <p:spPr>
          <a:xfrm>
            <a:off x="6348264" y="3141440"/>
            <a:ext cx="1357461" cy="285750"/>
          </a:xfrm>
          <a:prstGeom prst="rect">
            <a:avLst/>
          </a:prstGeom>
          <a:noFill/>
        </p:spPr>
        <p:txBody>
          <a:bodyPr wrap="none" lIns="0" rIns="0" tIns="0" bIns="0" anchor="t">
            <a:noAutofit/>
          </a:bodyPr>
          <a:lstStyle/>
          <a:p>
            <a:pPr algn="ctr">
              <a:lnSpc>
                <a:spcPts val="1200"/>
              </a:lnSpc>
              <a:spcBef>
                <a:spcPts val="0"/>
              </a:spcBef>
              <a:spcAft>
                <a:spcPts val="0"/>
              </a:spcAft>
            </a:pPr>
            <a:r>
              <a:rPr sz="788" b="0" i="0" spc="15" u="sng">
                <a:solidFill>
                  <a:srgbClr val="8C6239"/>
                </a:solidFill>
                <a:latin typeface="Quicksand"/>
                <a:hlinkClick r:id="rId9">
                  <a:extLst>
                    <a:ext uri="{A12FA001-AC4F-418D-AE19-62706E023703}">
                      <ahyp:hlinkClr xmlns:ahyp="http://schemas.microsoft.com/office/drawing/2018/hyperlinkcolor" val="tx"/>
                    </a:ext>
                  </a:extLst>
                </a:hlinkClick>
              </a:rPr>
              <a:t>813-898-2372</a:t>
            </a:r>
            <a:br/>
            <a:r>
              <a:rPr sz="788" b="0" i="0" spc="15" u="sng">
                <a:solidFill>
                  <a:srgbClr val="8C6239"/>
                </a:solidFill>
                <a:latin typeface="Quicksand"/>
                <a:hlinkClick r:id="rId10">
                  <a:extLst>
                    <a:ext uri="{A12FA001-AC4F-418D-AE19-62706E023703}">
                      <ahyp:hlinkClr xmlns:ahyp="http://schemas.microsoft.com/office/drawing/2018/hyperlinkcolor" val="tx"/>
                    </a:ext>
                  </a:extLst>
                </a:hlinkClick>
              </a:rPr>
              <a:t>azykov@benchmarkintl.com</a:t>
            </a:r>
          </a:p>
        </p:txBody>
      </p:sp>
      <p:sp>
        <p:nvSpPr>
          <p:cNvPr id="42" name="Panel"/>
          <p:cNvSpPr/>
          <p:nvPr/>
        </p:nvSpPr>
        <p:spPr>
          <a:xfrm>
            <a:off x="7986712" y="1238250"/>
            <a:ext cx="1652588" cy="2628900"/>
          </a:xfrm>
          <a:prstGeom prst="rect">
            <a:avLst/>
          </a:prstGeom>
          <a:solidFill>
            <a:srgbClr val="FAF7F3"/>
          </a:solidFill>
          <a:ln>
            <a:noFill/>
          </a:ln>
        </p:spPr>
        <p:txBody>
          <a:bodyPr rtlCol="0" anchor="ctr"/>
          <a:lstStyle/>
          <a:p>
            <a:pPr algn="ctr"/>
          </a:p>
        </p:txBody>
      </p:sp>
      <p:sp>
        <p:nvSpPr>
          <p:cNvPr id="43" name="Rule"/>
          <p:cNvSpPr/>
          <p:nvPr/>
        </p:nvSpPr>
        <p:spPr>
          <a:xfrm>
            <a:off x="7986712" y="1238250"/>
            <a:ext cx="1652588" cy="28575"/>
          </a:xfrm>
          <a:prstGeom prst="rect">
            <a:avLst/>
          </a:prstGeom>
          <a:solidFill>
            <a:srgbClr val="B68757"/>
          </a:solidFill>
          <a:ln>
            <a:noFill/>
          </a:ln>
        </p:spPr>
        <p:txBody>
          <a:bodyPr rtlCol="0" anchor="ctr"/>
          <a:lstStyle/>
          <a:p>
            <a:pPr algn="ctr"/>
          </a:p>
        </p:txBody>
      </p:sp>
      <p:pic>
        <p:nvPicPr>
          <p:cNvPr id="44" name="Shannon Hess" descr="Shannon Hess"/>
          <p:cNvPicPr>
            <a:picLocks noChangeAspect="1"/>
          </p:cNvPicPr>
          <p:nvPr/>
        </p:nvPicPr>
        <p:blipFill>
          <a:blip r:embed="rId11"/>
          <a:stretch>
            <a:fillRect/>
          </a:stretch>
        </p:blipFill>
        <p:spPr>
          <a:xfrm>
            <a:off x="8241506" y="1438275"/>
            <a:ext cx="1143000" cy="1143000"/>
          </a:xfrm>
          <a:prstGeom prst="ellipse">
            <a:avLst/>
          </a:prstGeom>
        </p:spPr>
      </p:pic>
      <p:sp>
        <p:nvSpPr>
          <p:cNvPr id="45" name="TextBox 44"/>
          <p:cNvSpPr txBox="1"/>
          <p:nvPr/>
        </p:nvSpPr>
        <p:spPr>
          <a:xfrm>
            <a:off x="8239274" y="2678811"/>
            <a:ext cx="1147316" cy="180975"/>
          </a:xfrm>
          <a:prstGeom prst="rect">
            <a:avLst/>
          </a:prstGeom>
          <a:noFill/>
        </p:spPr>
        <p:txBody>
          <a:bodyPr wrap="none" lIns="0" rIns="0" tIns="0" bIns="0" anchor="t">
            <a:noAutofit/>
          </a:bodyPr>
          <a:lstStyle/>
          <a:p>
            <a:pPr algn="ctr">
              <a:lnSpc>
                <a:spcPts val="1800"/>
              </a:lnSpc>
              <a:spcBef>
                <a:spcPts val="0"/>
              </a:spcBef>
              <a:spcAft>
                <a:spcPts val="0"/>
              </a:spcAft>
            </a:pPr>
            <a:r>
              <a:rPr sz="1400" b="1" i="0">
                <a:solidFill>
                  <a:srgbClr val="1B1A1A"/>
                </a:solidFill>
                <a:latin typeface="Newsreader"/>
              </a:rPr>
              <a:t>Shannon Hess</a:t>
            </a:r>
          </a:p>
        </p:txBody>
      </p:sp>
      <p:sp>
        <p:nvSpPr>
          <p:cNvPr id="46" name="TextBox 45"/>
          <p:cNvSpPr txBox="1"/>
          <p:nvPr/>
        </p:nvSpPr>
        <p:spPr>
          <a:xfrm>
            <a:off x="8062912" y="2956274"/>
            <a:ext cx="1500188" cy="228600"/>
          </a:xfrm>
          <a:prstGeom prst="rect">
            <a:avLst/>
          </a:prstGeom>
          <a:noFill/>
        </p:spPr>
        <p:txBody>
          <a:bodyPr wrap="square" lIns="0" rIns="0" tIns="0" bIns="0" anchor="t">
            <a:noAutofit/>
          </a:bodyPr>
          <a:lstStyle/>
          <a:p>
            <a:pPr algn="ctr">
              <a:lnSpc>
                <a:spcPts val="975"/>
              </a:lnSpc>
              <a:spcBef>
                <a:spcPts val="0"/>
              </a:spcBef>
              <a:spcAft>
                <a:spcPts val="0"/>
              </a:spcAft>
            </a:pPr>
            <a:r>
              <a:rPr sz="638" b="1" i="0" spc="105">
                <a:solidFill>
                  <a:srgbClr val="8C6239"/>
                </a:solidFill>
                <a:latin typeface="Quicksand"/>
              </a:rPr>
              <a:t>CLIENT ENGAGEMENT DIRECTOR</a:t>
            </a:r>
          </a:p>
        </p:txBody>
      </p:sp>
      <p:sp>
        <p:nvSpPr>
          <p:cNvPr id="47" name="TextBox 46"/>
          <p:cNvSpPr txBox="1"/>
          <p:nvPr/>
        </p:nvSpPr>
        <p:spPr>
          <a:xfrm>
            <a:off x="8197304" y="3265265"/>
            <a:ext cx="1231255" cy="285750"/>
          </a:xfrm>
          <a:prstGeom prst="rect">
            <a:avLst/>
          </a:prstGeom>
          <a:noFill/>
        </p:spPr>
        <p:txBody>
          <a:bodyPr wrap="none" lIns="0" rIns="0" tIns="0" bIns="0" anchor="t">
            <a:noAutofit/>
          </a:bodyPr>
          <a:lstStyle/>
          <a:p>
            <a:pPr algn="ctr">
              <a:lnSpc>
                <a:spcPts val="1200"/>
              </a:lnSpc>
              <a:spcBef>
                <a:spcPts val="0"/>
              </a:spcBef>
              <a:spcAft>
                <a:spcPts val="0"/>
              </a:spcAft>
            </a:pPr>
            <a:r>
              <a:rPr sz="788" b="0" i="0" spc="15" u="sng">
                <a:solidFill>
                  <a:srgbClr val="8C6239"/>
                </a:solidFill>
                <a:latin typeface="Quicksand"/>
                <a:hlinkClick r:id="rId12">
                  <a:extLst>
                    <a:ext uri="{A12FA001-AC4F-418D-AE19-62706E023703}">
                      <ahyp:hlinkClr xmlns:ahyp="http://schemas.microsoft.com/office/drawing/2018/hyperlinkcolor" val="tx"/>
                    </a:ext>
                  </a:extLst>
                </a:hlinkClick>
              </a:rPr>
              <a:t>813-898-2397</a:t>
            </a:r>
            <a:br/>
            <a:r>
              <a:rPr sz="788" b="0" i="0" spc="15" u="sng">
                <a:solidFill>
                  <a:srgbClr val="8C6239"/>
                </a:solidFill>
                <a:latin typeface="Quicksand"/>
                <a:hlinkClick r:id="rId13">
                  <a:extLst>
                    <a:ext uri="{A12FA001-AC4F-418D-AE19-62706E023703}">
                      <ahyp:hlinkClr xmlns:ahyp="http://schemas.microsoft.com/office/drawing/2018/hyperlinkcolor" val="tx"/>
                    </a:ext>
                  </a:extLst>
                </a:hlinkClick>
              </a:rPr>
              <a:t>hess@benchmarkintl.com</a:t>
            </a:r>
          </a:p>
        </p:txBody>
      </p:sp>
      <p:sp>
        <p:nvSpPr>
          <p:cNvPr id="48" name="Panel"/>
          <p:cNvSpPr/>
          <p:nvPr/>
        </p:nvSpPr>
        <p:spPr>
          <a:xfrm>
            <a:off x="2633662" y="4024312"/>
            <a:ext cx="2238375" cy="771525"/>
          </a:xfrm>
          <a:prstGeom prst="rect">
            <a:avLst/>
          </a:prstGeom>
          <a:solidFill>
            <a:srgbClr val="FFFFFF"/>
          </a:solidFill>
          <a:ln w="9525">
            <a:solidFill>
              <a:srgbClr val="E3DCD3"/>
            </a:solidFill>
          </a:ln>
        </p:spPr>
        <p:txBody>
          <a:bodyPr rtlCol="0" anchor="ctr"/>
          <a:lstStyle/>
          <a:p>
            <a:pPr algn="ctr"/>
          </a:p>
        </p:txBody>
      </p:sp>
      <p:pic>
        <p:nvPicPr>
          <p:cNvPr id="49" name="Sunny Garten" descr="Sunny Garten"/>
          <p:cNvPicPr>
            <a:picLocks noChangeAspect="1"/>
          </p:cNvPicPr>
          <p:nvPr/>
        </p:nvPicPr>
        <p:blipFill>
          <a:blip r:embed="rId14"/>
          <a:stretch>
            <a:fillRect/>
          </a:stretch>
        </p:blipFill>
        <p:spPr>
          <a:xfrm>
            <a:off x="2752725" y="4152900"/>
            <a:ext cx="514350" cy="514350"/>
          </a:xfrm>
          <a:prstGeom prst="ellipse">
            <a:avLst/>
          </a:prstGeom>
        </p:spPr>
      </p:pic>
      <p:sp>
        <p:nvSpPr>
          <p:cNvPr id="50" name="TextBox 49"/>
          <p:cNvSpPr txBox="1"/>
          <p:nvPr/>
        </p:nvSpPr>
        <p:spPr>
          <a:xfrm>
            <a:off x="3381375" y="4120896"/>
            <a:ext cx="834479" cy="142875"/>
          </a:xfrm>
          <a:prstGeom prst="rect">
            <a:avLst/>
          </a:prstGeom>
          <a:noFill/>
        </p:spPr>
        <p:txBody>
          <a:bodyPr wrap="none" lIns="0" rIns="0" tIns="0" bIns="0" anchor="t">
            <a:noAutofit/>
          </a:bodyPr>
          <a:lstStyle/>
          <a:p>
            <a:pPr algn="l">
              <a:lnSpc>
                <a:spcPts val="1200"/>
              </a:lnSpc>
              <a:spcBef>
                <a:spcPts val="0"/>
              </a:spcBef>
              <a:spcAft>
                <a:spcPts val="0"/>
              </a:spcAft>
            </a:pPr>
            <a:r>
              <a:rPr sz="900" b="1" i="0" spc="15">
                <a:solidFill>
                  <a:srgbClr val="1B1A1A"/>
                </a:solidFill>
                <a:latin typeface="Quicksand"/>
              </a:rPr>
              <a:t>Sunny Garten</a:t>
            </a:r>
          </a:p>
        </p:txBody>
      </p:sp>
      <p:sp>
        <p:nvSpPr>
          <p:cNvPr id="51" name="TextBox 50"/>
          <p:cNvSpPr txBox="1"/>
          <p:nvPr/>
        </p:nvSpPr>
        <p:spPr>
          <a:xfrm>
            <a:off x="3381375" y="4269105"/>
            <a:ext cx="1050875" cy="123825"/>
          </a:xfrm>
          <a:prstGeom prst="rect">
            <a:avLst/>
          </a:prstGeom>
          <a:noFill/>
        </p:spPr>
        <p:txBody>
          <a:bodyPr wrap="none" lIns="0" rIns="0" tIns="0" bIns="0" anchor="t">
            <a:noAutofit/>
          </a:bodyPr>
          <a:lstStyle/>
          <a:p>
            <a:pPr algn="l">
              <a:lnSpc>
                <a:spcPts val="1050"/>
              </a:lnSpc>
              <a:spcBef>
                <a:spcPts val="0"/>
              </a:spcBef>
              <a:spcAft>
                <a:spcPts val="0"/>
              </a:spcAft>
            </a:pPr>
            <a:r>
              <a:rPr sz="750" b="0" i="0" spc="15">
                <a:solidFill>
                  <a:srgbClr val="6F6A66"/>
                </a:solidFill>
                <a:latin typeface="Quicksand"/>
              </a:rPr>
              <a:t>Senior Deal Associate</a:t>
            </a:r>
          </a:p>
        </p:txBody>
      </p:sp>
      <p:sp>
        <p:nvSpPr>
          <p:cNvPr id="52" name="TextBox 51"/>
          <p:cNvSpPr txBox="1"/>
          <p:nvPr/>
        </p:nvSpPr>
        <p:spPr>
          <a:xfrm>
            <a:off x="3381375" y="4425220"/>
            <a:ext cx="1290042" cy="238125"/>
          </a:xfrm>
          <a:prstGeom prst="rect">
            <a:avLst/>
          </a:prstGeom>
          <a:noFill/>
        </p:spPr>
        <p:txBody>
          <a:bodyPr wrap="none" lIns="0" rIns="0" tIns="0" bIns="0" anchor="t">
            <a:noAutofit/>
          </a:bodyPr>
          <a:lstStyle/>
          <a:p>
            <a:pPr algn="l">
              <a:lnSpc>
                <a:spcPts val="975"/>
              </a:lnSpc>
              <a:spcBef>
                <a:spcPts val="0"/>
              </a:spcBef>
              <a:spcAft>
                <a:spcPts val="0"/>
              </a:spcAft>
            </a:pPr>
            <a:r>
              <a:rPr sz="712" b="0" i="0" spc="15" u="sng">
                <a:solidFill>
                  <a:srgbClr val="8C6239"/>
                </a:solidFill>
                <a:latin typeface="Quicksand"/>
                <a:hlinkClick r:id="rId15">
                  <a:extLst>
                    <a:ext uri="{A12FA001-AC4F-418D-AE19-62706E023703}">
                      <ahyp:hlinkClr xmlns:ahyp="http://schemas.microsoft.com/office/drawing/2018/hyperlinkcolor" val="tx"/>
                    </a:ext>
                  </a:extLst>
                </a:hlinkClick>
              </a:rPr>
              <a:t>813-898-2357</a:t>
            </a:r>
            <a:br/>
            <a:r>
              <a:rPr sz="712" b="0" i="0" spc="15" u="sng">
                <a:solidFill>
                  <a:srgbClr val="8C6239"/>
                </a:solidFill>
                <a:latin typeface="Quicksand"/>
                <a:hlinkClick r:id="rId16">
                  <a:extLst>
                    <a:ext uri="{A12FA001-AC4F-418D-AE19-62706E023703}">
                      <ahyp:hlinkClr xmlns:ahyp="http://schemas.microsoft.com/office/drawing/2018/hyperlinkcolor" val="tx"/>
                    </a:ext>
                  </a:extLst>
                </a:hlinkClick>
              </a:rPr>
              <a:t>garten@benchmarkintl.com</a:t>
            </a:r>
          </a:p>
        </p:txBody>
      </p:sp>
      <p:sp>
        <p:nvSpPr>
          <p:cNvPr id="53" name="Panel"/>
          <p:cNvSpPr/>
          <p:nvPr/>
        </p:nvSpPr>
        <p:spPr>
          <a:xfrm>
            <a:off x="5014912" y="4024312"/>
            <a:ext cx="2238375" cy="771525"/>
          </a:xfrm>
          <a:prstGeom prst="rect">
            <a:avLst/>
          </a:prstGeom>
          <a:solidFill>
            <a:srgbClr val="FFFFFF"/>
          </a:solidFill>
          <a:ln w="9525">
            <a:solidFill>
              <a:srgbClr val="E3DCD3"/>
            </a:solidFill>
          </a:ln>
        </p:spPr>
        <p:txBody>
          <a:bodyPr rtlCol="0" anchor="ctr"/>
          <a:lstStyle/>
          <a:p>
            <a:pPr algn="ctr"/>
          </a:p>
        </p:txBody>
      </p:sp>
      <p:pic>
        <p:nvPicPr>
          <p:cNvPr id="54" name="Michael Wynn" descr="Michael Wynn"/>
          <p:cNvPicPr>
            <a:picLocks noChangeAspect="1"/>
          </p:cNvPicPr>
          <p:nvPr/>
        </p:nvPicPr>
        <p:blipFill>
          <a:blip r:embed="rId17"/>
          <a:stretch>
            <a:fillRect/>
          </a:stretch>
        </p:blipFill>
        <p:spPr>
          <a:xfrm>
            <a:off x="5133975" y="4152900"/>
            <a:ext cx="514350" cy="514350"/>
          </a:xfrm>
          <a:prstGeom prst="ellipse">
            <a:avLst/>
          </a:prstGeom>
        </p:spPr>
      </p:pic>
      <p:sp>
        <p:nvSpPr>
          <p:cNvPr id="55" name="TextBox 54"/>
          <p:cNvSpPr txBox="1"/>
          <p:nvPr/>
        </p:nvSpPr>
        <p:spPr>
          <a:xfrm>
            <a:off x="5762625" y="4120896"/>
            <a:ext cx="840284" cy="142875"/>
          </a:xfrm>
          <a:prstGeom prst="rect">
            <a:avLst/>
          </a:prstGeom>
          <a:noFill/>
        </p:spPr>
        <p:txBody>
          <a:bodyPr wrap="none" lIns="0" rIns="0" tIns="0" bIns="0" anchor="t">
            <a:noAutofit/>
          </a:bodyPr>
          <a:lstStyle/>
          <a:p>
            <a:pPr algn="l">
              <a:lnSpc>
                <a:spcPts val="1200"/>
              </a:lnSpc>
              <a:spcBef>
                <a:spcPts val="0"/>
              </a:spcBef>
              <a:spcAft>
                <a:spcPts val="0"/>
              </a:spcAft>
            </a:pPr>
            <a:r>
              <a:rPr sz="900" b="1" i="0" spc="15">
                <a:solidFill>
                  <a:srgbClr val="1B1A1A"/>
                </a:solidFill>
                <a:latin typeface="Quicksand"/>
              </a:rPr>
              <a:t>Michael Wynn</a:t>
            </a:r>
          </a:p>
        </p:txBody>
      </p:sp>
      <p:sp>
        <p:nvSpPr>
          <p:cNvPr id="56" name="TextBox 55"/>
          <p:cNvSpPr txBox="1"/>
          <p:nvPr/>
        </p:nvSpPr>
        <p:spPr>
          <a:xfrm>
            <a:off x="5762625" y="4269105"/>
            <a:ext cx="1050875" cy="123825"/>
          </a:xfrm>
          <a:prstGeom prst="rect">
            <a:avLst/>
          </a:prstGeom>
          <a:noFill/>
        </p:spPr>
        <p:txBody>
          <a:bodyPr wrap="none" lIns="0" rIns="0" tIns="0" bIns="0" anchor="t">
            <a:noAutofit/>
          </a:bodyPr>
          <a:lstStyle/>
          <a:p>
            <a:pPr algn="l">
              <a:lnSpc>
                <a:spcPts val="1050"/>
              </a:lnSpc>
              <a:spcBef>
                <a:spcPts val="0"/>
              </a:spcBef>
              <a:spcAft>
                <a:spcPts val="0"/>
              </a:spcAft>
            </a:pPr>
            <a:r>
              <a:rPr sz="750" b="0" i="0" spc="15">
                <a:solidFill>
                  <a:srgbClr val="6F6A66"/>
                </a:solidFill>
                <a:latin typeface="Quicksand"/>
              </a:rPr>
              <a:t>Senior Deal Associate</a:t>
            </a:r>
          </a:p>
        </p:txBody>
      </p:sp>
      <p:sp>
        <p:nvSpPr>
          <p:cNvPr id="57" name="TextBox 56"/>
          <p:cNvSpPr txBox="1"/>
          <p:nvPr/>
        </p:nvSpPr>
        <p:spPr>
          <a:xfrm>
            <a:off x="5762625" y="4425220"/>
            <a:ext cx="1315343" cy="238125"/>
          </a:xfrm>
          <a:prstGeom prst="rect">
            <a:avLst/>
          </a:prstGeom>
          <a:noFill/>
        </p:spPr>
        <p:txBody>
          <a:bodyPr wrap="none" lIns="0" rIns="0" tIns="0" bIns="0" anchor="t">
            <a:noAutofit/>
          </a:bodyPr>
          <a:lstStyle/>
          <a:p>
            <a:pPr algn="l">
              <a:lnSpc>
                <a:spcPts val="975"/>
              </a:lnSpc>
              <a:spcBef>
                <a:spcPts val="0"/>
              </a:spcBef>
              <a:spcAft>
                <a:spcPts val="0"/>
              </a:spcAft>
            </a:pPr>
            <a:r>
              <a:rPr sz="712" b="0" i="0" spc="15" u="sng">
                <a:solidFill>
                  <a:srgbClr val="8C6239"/>
                </a:solidFill>
                <a:latin typeface="Quicksand"/>
                <a:hlinkClick r:id="rId18">
                  <a:extLst>
                    <a:ext uri="{A12FA001-AC4F-418D-AE19-62706E023703}">
                      <ahyp:hlinkClr xmlns:ahyp="http://schemas.microsoft.com/office/drawing/2018/hyperlinkcolor" val="tx"/>
                    </a:ext>
                  </a:extLst>
                </a:hlinkClick>
              </a:rPr>
              <a:t>813-384-4972</a:t>
            </a:r>
            <a:br/>
            <a:r>
              <a:rPr sz="712" b="0" i="0" spc="15" u="sng">
                <a:solidFill>
                  <a:srgbClr val="8C6239"/>
                </a:solidFill>
                <a:latin typeface="Quicksand"/>
                <a:hlinkClick r:id="rId19">
                  <a:extLst>
                    <a:ext uri="{A12FA001-AC4F-418D-AE19-62706E023703}">
                      <ahyp:hlinkClr xmlns:ahyp="http://schemas.microsoft.com/office/drawing/2018/hyperlinkcolor" val="tx"/>
                    </a:ext>
                  </a:extLst>
                </a:hlinkClick>
              </a:rPr>
              <a:t>mwynn@benchmarkintl.com</a:t>
            </a:r>
          </a:p>
        </p:txBody>
      </p:sp>
      <p:sp>
        <p:nvSpPr>
          <p:cNvPr id="58" name="Panel"/>
          <p:cNvSpPr/>
          <p:nvPr/>
        </p:nvSpPr>
        <p:spPr>
          <a:xfrm>
            <a:off x="7396162" y="4024312"/>
            <a:ext cx="2238375" cy="771525"/>
          </a:xfrm>
          <a:prstGeom prst="rect">
            <a:avLst/>
          </a:prstGeom>
          <a:solidFill>
            <a:srgbClr val="FFFFFF"/>
          </a:solidFill>
          <a:ln w="9525">
            <a:solidFill>
              <a:srgbClr val="E3DCD3"/>
            </a:solidFill>
          </a:ln>
        </p:spPr>
        <p:txBody>
          <a:bodyPr rtlCol="0" anchor="ctr"/>
          <a:lstStyle/>
          <a:p>
            <a:pPr algn="ctr"/>
          </a:p>
        </p:txBody>
      </p:sp>
      <p:pic>
        <p:nvPicPr>
          <p:cNvPr id="59" name="Jason Lisiak" descr="Jason Lisiak"/>
          <p:cNvPicPr>
            <a:picLocks noChangeAspect="1"/>
          </p:cNvPicPr>
          <p:nvPr/>
        </p:nvPicPr>
        <p:blipFill>
          <a:blip r:embed="rId20"/>
          <a:stretch>
            <a:fillRect/>
          </a:stretch>
        </p:blipFill>
        <p:spPr>
          <a:xfrm>
            <a:off x="7515225" y="4152900"/>
            <a:ext cx="514350" cy="514350"/>
          </a:xfrm>
          <a:prstGeom prst="ellipse">
            <a:avLst/>
          </a:prstGeom>
        </p:spPr>
      </p:pic>
      <p:sp>
        <p:nvSpPr>
          <p:cNvPr id="60" name="TextBox 59"/>
          <p:cNvSpPr txBox="1"/>
          <p:nvPr/>
        </p:nvSpPr>
        <p:spPr>
          <a:xfrm>
            <a:off x="8143875" y="4182808"/>
            <a:ext cx="751582" cy="142875"/>
          </a:xfrm>
          <a:prstGeom prst="rect">
            <a:avLst/>
          </a:prstGeom>
          <a:noFill/>
        </p:spPr>
        <p:txBody>
          <a:bodyPr wrap="none" lIns="0" rIns="0" tIns="0" bIns="0" anchor="t">
            <a:noAutofit/>
          </a:bodyPr>
          <a:lstStyle/>
          <a:p>
            <a:pPr algn="l">
              <a:lnSpc>
                <a:spcPts val="1200"/>
              </a:lnSpc>
              <a:spcBef>
                <a:spcPts val="0"/>
              </a:spcBef>
              <a:spcAft>
                <a:spcPts val="0"/>
              </a:spcAft>
            </a:pPr>
            <a:r>
              <a:rPr sz="900" b="1" i="0" spc="15">
                <a:solidFill>
                  <a:srgbClr val="1B1A1A"/>
                </a:solidFill>
                <a:latin typeface="Quicksand"/>
              </a:rPr>
              <a:t>Jason Lisiak</a:t>
            </a:r>
          </a:p>
        </p:txBody>
      </p:sp>
      <p:sp>
        <p:nvSpPr>
          <p:cNvPr id="61" name="TextBox 60"/>
          <p:cNvSpPr txBox="1"/>
          <p:nvPr/>
        </p:nvSpPr>
        <p:spPr>
          <a:xfrm>
            <a:off x="8143875" y="4331018"/>
            <a:ext cx="950863" cy="123825"/>
          </a:xfrm>
          <a:prstGeom prst="rect">
            <a:avLst/>
          </a:prstGeom>
          <a:noFill/>
        </p:spPr>
        <p:txBody>
          <a:bodyPr wrap="none" lIns="0" rIns="0" tIns="0" bIns="0" anchor="t">
            <a:noAutofit/>
          </a:bodyPr>
          <a:lstStyle/>
          <a:p>
            <a:pPr algn="l">
              <a:lnSpc>
                <a:spcPts val="1050"/>
              </a:lnSpc>
              <a:spcBef>
                <a:spcPts val="0"/>
              </a:spcBef>
              <a:spcAft>
                <a:spcPts val="0"/>
              </a:spcAft>
            </a:pPr>
            <a:r>
              <a:rPr sz="750" b="0" i="0" spc="15">
                <a:solidFill>
                  <a:srgbClr val="6F6A66"/>
                </a:solidFill>
                <a:latin typeface="Quicksand"/>
              </a:rPr>
              <a:t>Research Associate</a:t>
            </a:r>
          </a:p>
        </p:txBody>
      </p:sp>
      <p:sp>
        <p:nvSpPr>
          <p:cNvPr id="62" name="TextBox 61"/>
          <p:cNvSpPr txBox="1"/>
          <p:nvPr/>
        </p:nvSpPr>
        <p:spPr>
          <a:xfrm>
            <a:off x="8143875" y="4487132"/>
            <a:ext cx="1223218" cy="114300"/>
          </a:xfrm>
          <a:prstGeom prst="rect">
            <a:avLst/>
          </a:prstGeom>
          <a:noFill/>
        </p:spPr>
        <p:txBody>
          <a:bodyPr wrap="none" lIns="0" rIns="0" tIns="0" bIns="0" anchor="t">
            <a:noAutofit/>
          </a:bodyPr>
          <a:lstStyle/>
          <a:p>
            <a:pPr algn="l">
              <a:lnSpc>
                <a:spcPts val="975"/>
              </a:lnSpc>
              <a:spcBef>
                <a:spcPts val="0"/>
              </a:spcBef>
              <a:spcAft>
                <a:spcPts val="0"/>
              </a:spcAft>
            </a:pPr>
            <a:r>
              <a:rPr sz="712" b="0" i="0" spc="15" u="sng">
                <a:solidFill>
                  <a:srgbClr val="8C6239"/>
                </a:solidFill>
                <a:latin typeface="Quicksand"/>
                <a:hlinkClick r:id="rId21">
                  <a:extLst>
                    <a:ext uri="{A12FA001-AC4F-418D-AE19-62706E023703}">
                      <ahyp:hlinkClr xmlns:ahyp="http://schemas.microsoft.com/office/drawing/2018/hyperlinkcolor" val="tx"/>
                    </a:ext>
                  </a:extLst>
                </a:hlinkClick>
              </a:rPr>
              <a:t>jlisiak@benchmarkintl.com</a:t>
            </a:r>
          </a:p>
        </p:txBody>
      </p:sp>
      <p:sp>
        <p:nvSpPr>
          <p:cNvPr id="63" name="Panel"/>
          <p:cNvSpPr/>
          <p:nvPr/>
        </p:nvSpPr>
        <p:spPr>
          <a:xfrm>
            <a:off x="2633662" y="4919662"/>
            <a:ext cx="2238375" cy="904875"/>
          </a:xfrm>
          <a:prstGeom prst="rect">
            <a:avLst/>
          </a:prstGeom>
          <a:solidFill>
            <a:srgbClr val="FFFFFF"/>
          </a:solidFill>
          <a:ln w="9525">
            <a:solidFill>
              <a:srgbClr val="E3DCD3"/>
            </a:solidFill>
          </a:ln>
        </p:spPr>
        <p:txBody>
          <a:bodyPr rtlCol="0" anchor="ctr"/>
          <a:lstStyle/>
          <a:p>
            <a:pPr algn="ctr"/>
          </a:p>
        </p:txBody>
      </p:sp>
      <p:pic>
        <p:nvPicPr>
          <p:cNvPr id="64" name="Alexandra Barr" descr="Alexandra Barr"/>
          <p:cNvPicPr>
            <a:picLocks noChangeAspect="1"/>
          </p:cNvPicPr>
          <p:nvPr/>
        </p:nvPicPr>
        <p:blipFill>
          <a:blip r:embed="rId22"/>
          <a:stretch>
            <a:fillRect/>
          </a:stretch>
        </p:blipFill>
        <p:spPr>
          <a:xfrm>
            <a:off x="2752725" y="5114925"/>
            <a:ext cx="514350" cy="514350"/>
          </a:xfrm>
          <a:prstGeom prst="ellipse">
            <a:avLst/>
          </a:prstGeom>
        </p:spPr>
      </p:pic>
      <p:sp>
        <p:nvSpPr>
          <p:cNvPr id="65" name="TextBox 64"/>
          <p:cNvSpPr txBox="1"/>
          <p:nvPr/>
        </p:nvSpPr>
        <p:spPr>
          <a:xfrm>
            <a:off x="3381375" y="5016246"/>
            <a:ext cx="919311" cy="142875"/>
          </a:xfrm>
          <a:prstGeom prst="rect">
            <a:avLst/>
          </a:prstGeom>
          <a:noFill/>
        </p:spPr>
        <p:txBody>
          <a:bodyPr wrap="none" lIns="0" rIns="0" tIns="0" bIns="0" anchor="t">
            <a:noAutofit/>
          </a:bodyPr>
          <a:lstStyle/>
          <a:p>
            <a:pPr algn="l">
              <a:lnSpc>
                <a:spcPts val="1200"/>
              </a:lnSpc>
              <a:spcBef>
                <a:spcPts val="0"/>
              </a:spcBef>
              <a:spcAft>
                <a:spcPts val="0"/>
              </a:spcAft>
            </a:pPr>
            <a:r>
              <a:rPr sz="900" b="1" i="0" spc="15">
                <a:solidFill>
                  <a:srgbClr val="1B1A1A"/>
                </a:solidFill>
                <a:latin typeface="Quicksand"/>
              </a:rPr>
              <a:t>Alexandra Barr</a:t>
            </a:r>
          </a:p>
        </p:txBody>
      </p:sp>
      <p:sp>
        <p:nvSpPr>
          <p:cNvPr id="66" name="TextBox 65"/>
          <p:cNvSpPr txBox="1"/>
          <p:nvPr/>
        </p:nvSpPr>
        <p:spPr>
          <a:xfrm>
            <a:off x="3381375" y="5164455"/>
            <a:ext cx="1447800" cy="257175"/>
          </a:xfrm>
          <a:prstGeom prst="rect">
            <a:avLst/>
          </a:prstGeom>
          <a:noFill/>
        </p:spPr>
        <p:txBody>
          <a:bodyPr wrap="square" lIns="0" rIns="0" tIns="0" bIns="0" anchor="t">
            <a:noAutofit/>
          </a:bodyPr>
          <a:lstStyle/>
          <a:p>
            <a:pPr algn="l">
              <a:lnSpc>
                <a:spcPts val="1050"/>
              </a:lnSpc>
              <a:spcBef>
                <a:spcPts val="0"/>
              </a:spcBef>
              <a:spcAft>
                <a:spcPts val="0"/>
              </a:spcAft>
            </a:pPr>
            <a:r>
              <a:rPr sz="750" b="0" i="0" spc="15">
                <a:solidFill>
                  <a:srgbClr val="6F6A66"/>
                </a:solidFill>
                <a:latin typeface="Quicksand"/>
              </a:rPr>
              <a:t>Transaction Support Associate</a:t>
            </a:r>
          </a:p>
        </p:txBody>
      </p:sp>
      <p:sp>
        <p:nvSpPr>
          <p:cNvPr id="67" name="TextBox 66"/>
          <p:cNvSpPr txBox="1"/>
          <p:nvPr/>
        </p:nvSpPr>
        <p:spPr>
          <a:xfrm>
            <a:off x="3381375" y="5453920"/>
            <a:ext cx="1447800" cy="238125"/>
          </a:xfrm>
          <a:prstGeom prst="rect">
            <a:avLst/>
          </a:prstGeom>
          <a:noFill/>
        </p:spPr>
        <p:txBody>
          <a:bodyPr wrap="none" lIns="0" rIns="0" tIns="0" bIns="0" anchor="t">
            <a:noAutofit/>
          </a:bodyPr>
          <a:lstStyle/>
          <a:p>
            <a:pPr algn="l">
              <a:lnSpc>
                <a:spcPts val="975"/>
              </a:lnSpc>
              <a:spcBef>
                <a:spcPts val="0"/>
              </a:spcBef>
              <a:spcAft>
                <a:spcPts val="0"/>
              </a:spcAft>
            </a:pPr>
            <a:r>
              <a:rPr sz="712" b="0" i="0" spc="15" u="sng">
                <a:solidFill>
                  <a:srgbClr val="8C6239"/>
                </a:solidFill>
                <a:latin typeface="Quicksand"/>
                <a:hlinkClick r:id="rId23">
                  <a:extLst>
                    <a:ext uri="{A12FA001-AC4F-418D-AE19-62706E023703}">
                      <ahyp:hlinkClr xmlns:ahyp="http://schemas.microsoft.com/office/drawing/2018/hyperlinkcolor" val="tx"/>
                    </a:ext>
                  </a:extLst>
                </a:hlinkClick>
              </a:rPr>
              <a:t>813-387-6046</a:t>
            </a:r>
            <a:br/>
            <a:r>
              <a:rPr sz="712" b="0" i="0" spc="15" u="sng">
                <a:solidFill>
                  <a:srgbClr val="8C6239"/>
                </a:solidFill>
                <a:latin typeface="Quicksand"/>
                <a:hlinkClick r:id="rId24">
                  <a:extLst>
                    <a:ext uri="{A12FA001-AC4F-418D-AE19-62706E023703}">
                      <ahyp:hlinkClr xmlns:ahyp="http://schemas.microsoft.com/office/drawing/2018/hyperlinkcolor" val="tx"/>
                    </a:ext>
                  </a:extLst>
                </a:hlinkClick>
              </a:rPr>
              <a:t>abarr@benchmarkintl.com</a:t>
            </a:r>
          </a:p>
        </p:txBody>
      </p:sp>
      <p:sp>
        <p:nvSpPr>
          <p:cNvPr id="68" name="Panel"/>
          <p:cNvSpPr/>
          <p:nvPr/>
        </p:nvSpPr>
        <p:spPr>
          <a:xfrm>
            <a:off x="5014912" y="4919662"/>
            <a:ext cx="2238375" cy="904875"/>
          </a:xfrm>
          <a:prstGeom prst="rect">
            <a:avLst/>
          </a:prstGeom>
          <a:solidFill>
            <a:srgbClr val="FFFFFF"/>
          </a:solidFill>
          <a:ln w="9525">
            <a:solidFill>
              <a:srgbClr val="E3DCD3"/>
            </a:solidFill>
          </a:ln>
        </p:spPr>
        <p:txBody>
          <a:bodyPr rtlCol="0" anchor="ctr"/>
          <a:lstStyle/>
          <a:p>
            <a:pPr algn="ctr"/>
          </a:p>
        </p:txBody>
      </p:sp>
      <p:pic>
        <p:nvPicPr>
          <p:cNvPr id="69" name="Josiah Warren" descr="Josiah Warren"/>
          <p:cNvPicPr>
            <a:picLocks noChangeAspect="1"/>
          </p:cNvPicPr>
          <p:nvPr/>
        </p:nvPicPr>
        <p:blipFill>
          <a:blip r:embed="rId25"/>
          <a:stretch>
            <a:fillRect/>
          </a:stretch>
        </p:blipFill>
        <p:spPr>
          <a:xfrm>
            <a:off x="5133975" y="5114925"/>
            <a:ext cx="514350" cy="514350"/>
          </a:xfrm>
          <a:prstGeom prst="ellipse">
            <a:avLst/>
          </a:prstGeom>
        </p:spPr>
      </p:pic>
      <p:sp>
        <p:nvSpPr>
          <p:cNvPr id="70" name="TextBox 69"/>
          <p:cNvSpPr txBox="1"/>
          <p:nvPr/>
        </p:nvSpPr>
        <p:spPr>
          <a:xfrm>
            <a:off x="5762625" y="5016246"/>
            <a:ext cx="880021" cy="142875"/>
          </a:xfrm>
          <a:prstGeom prst="rect">
            <a:avLst/>
          </a:prstGeom>
          <a:noFill/>
        </p:spPr>
        <p:txBody>
          <a:bodyPr wrap="none" lIns="0" rIns="0" tIns="0" bIns="0" anchor="t">
            <a:noAutofit/>
          </a:bodyPr>
          <a:lstStyle/>
          <a:p>
            <a:pPr algn="l">
              <a:lnSpc>
                <a:spcPts val="1200"/>
              </a:lnSpc>
              <a:spcBef>
                <a:spcPts val="0"/>
              </a:spcBef>
              <a:spcAft>
                <a:spcPts val="0"/>
              </a:spcAft>
            </a:pPr>
            <a:r>
              <a:rPr sz="900" b="1" i="0" spc="15">
                <a:solidFill>
                  <a:srgbClr val="1B1A1A"/>
                </a:solidFill>
                <a:latin typeface="Quicksand"/>
              </a:rPr>
              <a:t>Josiah Warren</a:t>
            </a:r>
          </a:p>
        </p:txBody>
      </p:sp>
      <p:sp>
        <p:nvSpPr>
          <p:cNvPr id="71" name="TextBox 70"/>
          <p:cNvSpPr txBox="1"/>
          <p:nvPr/>
        </p:nvSpPr>
        <p:spPr>
          <a:xfrm>
            <a:off x="5762625" y="5164455"/>
            <a:ext cx="1447800" cy="257175"/>
          </a:xfrm>
          <a:prstGeom prst="rect">
            <a:avLst/>
          </a:prstGeom>
          <a:noFill/>
        </p:spPr>
        <p:txBody>
          <a:bodyPr wrap="square" lIns="0" rIns="0" tIns="0" bIns="0" anchor="t">
            <a:noAutofit/>
          </a:bodyPr>
          <a:lstStyle/>
          <a:p>
            <a:pPr algn="l">
              <a:lnSpc>
                <a:spcPts val="1050"/>
              </a:lnSpc>
              <a:spcBef>
                <a:spcPts val="0"/>
              </a:spcBef>
              <a:spcAft>
                <a:spcPts val="0"/>
              </a:spcAft>
            </a:pPr>
            <a:r>
              <a:rPr sz="750" b="0" i="0" spc="15">
                <a:solidFill>
                  <a:srgbClr val="6F6A66"/>
                </a:solidFill>
                <a:latin typeface="Quicksand"/>
              </a:rPr>
              <a:t>Transaction Support Associate</a:t>
            </a:r>
          </a:p>
        </p:txBody>
      </p:sp>
      <p:sp>
        <p:nvSpPr>
          <p:cNvPr id="72" name="TextBox 71"/>
          <p:cNvSpPr txBox="1"/>
          <p:nvPr/>
        </p:nvSpPr>
        <p:spPr>
          <a:xfrm>
            <a:off x="5762625" y="5453920"/>
            <a:ext cx="1447800" cy="238125"/>
          </a:xfrm>
          <a:prstGeom prst="rect">
            <a:avLst/>
          </a:prstGeom>
          <a:noFill/>
        </p:spPr>
        <p:txBody>
          <a:bodyPr wrap="none" lIns="0" rIns="0" tIns="0" bIns="0" anchor="t">
            <a:noAutofit/>
          </a:bodyPr>
          <a:lstStyle/>
          <a:p>
            <a:pPr algn="l">
              <a:lnSpc>
                <a:spcPts val="975"/>
              </a:lnSpc>
              <a:spcBef>
                <a:spcPts val="0"/>
              </a:spcBef>
              <a:spcAft>
                <a:spcPts val="0"/>
              </a:spcAft>
            </a:pPr>
            <a:r>
              <a:rPr sz="712" b="0" i="0" spc="15" u="sng">
                <a:solidFill>
                  <a:srgbClr val="8C6239"/>
                </a:solidFill>
                <a:latin typeface="Quicksand"/>
                <a:hlinkClick r:id="rId26">
                  <a:extLst>
                    <a:ext uri="{A12FA001-AC4F-418D-AE19-62706E023703}">
                      <ahyp:hlinkClr xmlns:ahyp="http://schemas.microsoft.com/office/drawing/2018/hyperlinkcolor" val="tx"/>
                    </a:ext>
                  </a:extLst>
                </a:hlinkClick>
              </a:rPr>
              <a:t>813-898-2398</a:t>
            </a:r>
            <a:br/>
            <a:r>
              <a:rPr sz="712" b="0" i="0" spc="15" u="sng">
                <a:solidFill>
                  <a:srgbClr val="8C6239"/>
                </a:solidFill>
                <a:latin typeface="Quicksand"/>
                <a:hlinkClick r:id="rId27">
                  <a:extLst>
                    <a:ext uri="{A12FA001-AC4F-418D-AE19-62706E023703}">
                      <ahyp:hlinkClr xmlns:ahyp="http://schemas.microsoft.com/office/drawing/2018/hyperlinkcolor" val="tx"/>
                    </a:ext>
                  </a:extLst>
                </a:hlinkClick>
              </a:rPr>
              <a:t>jwarren@benchmarkintl.com</a:t>
            </a:r>
          </a:p>
        </p:txBody>
      </p:sp>
      <p:sp>
        <p:nvSpPr>
          <p:cNvPr id="73" name="Panel"/>
          <p:cNvSpPr/>
          <p:nvPr/>
        </p:nvSpPr>
        <p:spPr>
          <a:xfrm>
            <a:off x="7396162" y="4919662"/>
            <a:ext cx="2238375" cy="904875"/>
          </a:xfrm>
          <a:prstGeom prst="rect">
            <a:avLst/>
          </a:prstGeom>
          <a:solidFill>
            <a:srgbClr val="FFFFFF"/>
          </a:solidFill>
          <a:ln w="9525">
            <a:solidFill>
              <a:srgbClr val="E3DCD3"/>
            </a:solidFill>
          </a:ln>
        </p:spPr>
        <p:txBody>
          <a:bodyPr rtlCol="0" anchor="ctr"/>
          <a:lstStyle/>
          <a:p>
            <a:pPr algn="ctr"/>
          </a:p>
        </p:txBody>
      </p:sp>
      <p:pic>
        <p:nvPicPr>
          <p:cNvPr id="74" name="Luke Ernst" descr="Luke Ernst"/>
          <p:cNvPicPr>
            <a:picLocks noChangeAspect="1"/>
          </p:cNvPicPr>
          <p:nvPr/>
        </p:nvPicPr>
        <p:blipFill>
          <a:blip r:embed="rId28"/>
          <a:stretch>
            <a:fillRect/>
          </a:stretch>
        </p:blipFill>
        <p:spPr>
          <a:xfrm>
            <a:off x="7515225" y="5114925"/>
            <a:ext cx="514350" cy="514350"/>
          </a:xfrm>
          <a:prstGeom prst="ellipse">
            <a:avLst/>
          </a:prstGeom>
        </p:spPr>
      </p:pic>
      <p:sp>
        <p:nvSpPr>
          <p:cNvPr id="75" name="TextBox 74"/>
          <p:cNvSpPr txBox="1"/>
          <p:nvPr/>
        </p:nvSpPr>
        <p:spPr>
          <a:xfrm>
            <a:off x="8143875" y="5082921"/>
            <a:ext cx="654546" cy="142875"/>
          </a:xfrm>
          <a:prstGeom prst="rect">
            <a:avLst/>
          </a:prstGeom>
          <a:noFill/>
        </p:spPr>
        <p:txBody>
          <a:bodyPr wrap="none" lIns="0" rIns="0" tIns="0" bIns="0" anchor="t">
            <a:noAutofit/>
          </a:bodyPr>
          <a:lstStyle/>
          <a:p>
            <a:pPr algn="l">
              <a:lnSpc>
                <a:spcPts val="1200"/>
              </a:lnSpc>
              <a:spcBef>
                <a:spcPts val="0"/>
              </a:spcBef>
              <a:spcAft>
                <a:spcPts val="0"/>
              </a:spcAft>
            </a:pPr>
            <a:r>
              <a:rPr sz="900" b="1" i="0" spc="15">
                <a:solidFill>
                  <a:srgbClr val="1B1A1A"/>
                </a:solidFill>
                <a:latin typeface="Quicksand"/>
              </a:rPr>
              <a:t>Luke Ernst</a:t>
            </a:r>
          </a:p>
        </p:txBody>
      </p:sp>
      <p:sp>
        <p:nvSpPr>
          <p:cNvPr id="76" name="TextBox 75"/>
          <p:cNvSpPr txBox="1"/>
          <p:nvPr/>
        </p:nvSpPr>
        <p:spPr>
          <a:xfrm>
            <a:off x="8143875" y="5231130"/>
            <a:ext cx="634157" cy="123825"/>
          </a:xfrm>
          <a:prstGeom prst="rect">
            <a:avLst/>
          </a:prstGeom>
          <a:noFill/>
        </p:spPr>
        <p:txBody>
          <a:bodyPr wrap="none" lIns="0" rIns="0" tIns="0" bIns="0" anchor="t">
            <a:noAutofit/>
          </a:bodyPr>
          <a:lstStyle/>
          <a:p>
            <a:pPr algn="l">
              <a:lnSpc>
                <a:spcPts val="1050"/>
              </a:lnSpc>
              <a:spcBef>
                <a:spcPts val="0"/>
              </a:spcBef>
              <a:spcAft>
                <a:spcPts val="0"/>
              </a:spcAft>
            </a:pPr>
            <a:r>
              <a:rPr sz="750" b="0" i="0" spc="15">
                <a:solidFill>
                  <a:srgbClr val="6F6A66"/>
                </a:solidFill>
                <a:latin typeface="Quicksand"/>
              </a:rPr>
              <a:t>Deal Analyst</a:t>
            </a:r>
          </a:p>
        </p:txBody>
      </p:sp>
      <p:sp>
        <p:nvSpPr>
          <p:cNvPr id="77" name="TextBox 76"/>
          <p:cNvSpPr txBox="1"/>
          <p:nvPr/>
        </p:nvSpPr>
        <p:spPr>
          <a:xfrm>
            <a:off x="8143875" y="5387245"/>
            <a:ext cx="1241971" cy="238125"/>
          </a:xfrm>
          <a:prstGeom prst="rect">
            <a:avLst/>
          </a:prstGeom>
          <a:noFill/>
        </p:spPr>
        <p:txBody>
          <a:bodyPr wrap="none" lIns="0" rIns="0" tIns="0" bIns="0" anchor="t">
            <a:noAutofit/>
          </a:bodyPr>
          <a:lstStyle/>
          <a:p>
            <a:pPr algn="l">
              <a:lnSpc>
                <a:spcPts val="975"/>
              </a:lnSpc>
              <a:spcBef>
                <a:spcPts val="0"/>
              </a:spcBef>
              <a:spcAft>
                <a:spcPts val="0"/>
              </a:spcAft>
            </a:pPr>
            <a:r>
              <a:rPr sz="712" b="0" i="0" spc="15" u="sng">
                <a:solidFill>
                  <a:srgbClr val="8C6239"/>
                </a:solidFill>
                <a:latin typeface="Quicksand"/>
                <a:hlinkClick r:id="rId29">
                  <a:extLst>
                    <a:ext uri="{A12FA001-AC4F-418D-AE19-62706E023703}">
                      <ahyp:hlinkClr xmlns:ahyp="http://schemas.microsoft.com/office/drawing/2018/hyperlinkcolor" val="tx"/>
                    </a:ext>
                  </a:extLst>
                </a:hlinkClick>
              </a:rPr>
              <a:t>813-771-6318</a:t>
            </a:r>
            <a:br/>
            <a:r>
              <a:rPr sz="712" b="0" i="0" spc="15" u="sng">
                <a:solidFill>
                  <a:srgbClr val="8C6239"/>
                </a:solidFill>
                <a:latin typeface="Quicksand"/>
                <a:hlinkClick r:id="rId30">
                  <a:extLst>
                    <a:ext uri="{A12FA001-AC4F-418D-AE19-62706E023703}">
                      <ahyp:hlinkClr xmlns:ahyp="http://schemas.microsoft.com/office/drawing/2018/hyperlinkcolor" val="tx"/>
                    </a:ext>
                  </a:extLst>
                </a:hlinkClick>
              </a:rPr>
              <a:t>lernst@benchmarkintl.com</a:t>
            </a:r>
          </a:p>
        </p:txBody>
      </p:sp>
      <p:sp>
        <p:nvSpPr>
          <p:cNvPr id="78" name="Rule"/>
          <p:cNvSpPr/>
          <p:nvPr/>
        </p:nvSpPr>
        <p:spPr>
          <a:xfrm>
            <a:off x="2628900" y="6143625"/>
            <a:ext cx="7010400" cy="9525"/>
          </a:xfrm>
          <a:prstGeom prst="rect">
            <a:avLst/>
          </a:prstGeom>
          <a:solidFill>
            <a:srgbClr val="E3DCD3"/>
          </a:solidFill>
          <a:ln>
            <a:noFill/>
          </a:ln>
        </p:spPr>
        <p:txBody>
          <a:bodyPr rtlCol="0" anchor="ctr"/>
          <a:lstStyle/>
          <a:p>
            <a:pPr algn="ctr"/>
          </a:p>
        </p:txBody>
      </p:sp>
      <p:sp>
        <p:nvSpPr>
          <p:cNvPr id="79" name="TextBox 78"/>
          <p:cNvSpPr txBox="1"/>
          <p:nvPr/>
        </p:nvSpPr>
        <p:spPr>
          <a:xfrm>
            <a:off x="2628900" y="6251924"/>
            <a:ext cx="1399729" cy="104775"/>
          </a:xfrm>
          <a:prstGeom prst="rect">
            <a:avLst/>
          </a:prstGeom>
          <a:noFill/>
        </p:spPr>
        <p:txBody>
          <a:bodyPr wrap="none" lIns="0" rIns="0" tIns="0" bIns="0" anchor="t">
            <a:noAutofit/>
          </a:bodyPr>
          <a:lstStyle/>
          <a:p>
            <a:pPr algn="l">
              <a:lnSpc>
                <a:spcPts val="975"/>
              </a:lnSpc>
              <a:spcBef>
                <a:spcPts val="0"/>
              </a:spcBef>
              <a:spcAft>
                <a:spcPts val="0"/>
              </a:spcAft>
            </a:pPr>
            <a:r>
              <a:rPr sz="638" b="1" i="0" spc="150">
                <a:solidFill>
                  <a:srgbClr val="8C6239"/>
                </a:solidFill>
                <a:latin typeface="Quicksand"/>
              </a:rPr>
              <a:t>TECHNOLOGY COVERAGE</a:t>
            </a:r>
          </a:p>
        </p:txBody>
      </p:sp>
      <p:pic>
        <p:nvPicPr>
          <p:cNvPr id="80" name="Graphic" descr="S16_r0.png"/>
          <p:cNvPicPr>
            <a:picLocks noChangeAspect="1"/>
          </p:cNvPicPr>
          <p:nvPr/>
        </p:nvPicPr>
        <p:blipFill>
          <a:blip r:embed="rId31"/>
          <a:stretch>
            <a:fillRect/>
          </a:stretch>
        </p:blipFill>
        <p:spPr>
          <a:xfrm>
            <a:off x="2628900" y="6467475"/>
            <a:ext cx="190500" cy="190500"/>
          </a:xfrm>
          <a:prstGeom prst="rect">
            <a:avLst/>
          </a:prstGeom>
        </p:spPr>
      </p:pic>
      <p:sp>
        <p:nvSpPr>
          <p:cNvPr id="81" name="TextBox 80"/>
          <p:cNvSpPr txBox="1"/>
          <p:nvPr/>
        </p:nvSpPr>
        <p:spPr>
          <a:xfrm>
            <a:off x="2895600" y="6484715"/>
            <a:ext cx="1511201" cy="133350"/>
          </a:xfrm>
          <a:prstGeom prst="rect">
            <a:avLst/>
          </a:prstGeom>
          <a:noFill/>
        </p:spPr>
        <p:txBody>
          <a:bodyPr wrap="none" lIns="0" rIns="0" tIns="0" bIns="0" anchor="t">
            <a:noAutofit/>
          </a:bodyPr>
          <a:lstStyle/>
          <a:p>
            <a:pPr algn="l">
              <a:lnSpc>
                <a:spcPts val="1050"/>
              </a:lnSpc>
              <a:spcBef>
                <a:spcPts val="0"/>
              </a:spcBef>
              <a:spcAft>
                <a:spcPts val="0"/>
              </a:spcAft>
            </a:pPr>
            <a:r>
              <a:rPr sz="788" b="1" i="0" spc="15">
                <a:solidFill>
                  <a:srgbClr val="333231"/>
                </a:solidFill>
                <a:latin typeface="Quicksand"/>
              </a:rPr>
              <a:t>Managed IT &amp; Cloud Services</a:t>
            </a:r>
          </a:p>
        </p:txBody>
      </p:sp>
      <p:pic>
        <p:nvPicPr>
          <p:cNvPr id="82" name="Graphic" descr="S16_r1.png"/>
          <p:cNvPicPr>
            <a:picLocks noChangeAspect="1"/>
          </p:cNvPicPr>
          <p:nvPr/>
        </p:nvPicPr>
        <p:blipFill>
          <a:blip r:embed="rId32"/>
          <a:stretch>
            <a:fillRect/>
          </a:stretch>
        </p:blipFill>
        <p:spPr>
          <a:xfrm>
            <a:off x="5010150" y="6467475"/>
            <a:ext cx="190500" cy="190500"/>
          </a:xfrm>
          <a:prstGeom prst="rect">
            <a:avLst/>
          </a:prstGeom>
        </p:spPr>
      </p:pic>
      <p:sp>
        <p:nvSpPr>
          <p:cNvPr id="83" name="TextBox 82"/>
          <p:cNvSpPr txBox="1"/>
          <p:nvPr/>
        </p:nvSpPr>
        <p:spPr>
          <a:xfrm>
            <a:off x="5276850" y="6484715"/>
            <a:ext cx="753219" cy="133350"/>
          </a:xfrm>
          <a:prstGeom prst="rect">
            <a:avLst/>
          </a:prstGeom>
          <a:noFill/>
        </p:spPr>
        <p:txBody>
          <a:bodyPr wrap="none" lIns="0" rIns="0" tIns="0" bIns="0" anchor="t">
            <a:noAutofit/>
          </a:bodyPr>
          <a:lstStyle/>
          <a:p>
            <a:pPr algn="l">
              <a:lnSpc>
                <a:spcPts val="1050"/>
              </a:lnSpc>
              <a:spcBef>
                <a:spcPts val="0"/>
              </a:spcBef>
              <a:spcAft>
                <a:spcPts val="0"/>
              </a:spcAft>
            </a:pPr>
            <a:r>
              <a:rPr sz="788" b="1" i="0" spc="15">
                <a:solidFill>
                  <a:srgbClr val="333231"/>
                </a:solidFill>
                <a:latin typeface="Quicksand"/>
              </a:rPr>
              <a:t>Cybersecurity</a:t>
            </a:r>
          </a:p>
        </p:txBody>
      </p:sp>
      <p:pic>
        <p:nvPicPr>
          <p:cNvPr id="84" name="Graphic" descr="S16_r2.png"/>
          <p:cNvPicPr>
            <a:picLocks noChangeAspect="1"/>
          </p:cNvPicPr>
          <p:nvPr/>
        </p:nvPicPr>
        <p:blipFill>
          <a:blip r:embed="rId33"/>
          <a:stretch>
            <a:fillRect/>
          </a:stretch>
        </p:blipFill>
        <p:spPr>
          <a:xfrm>
            <a:off x="7391400" y="6467475"/>
            <a:ext cx="190500" cy="190500"/>
          </a:xfrm>
          <a:prstGeom prst="rect">
            <a:avLst/>
          </a:prstGeom>
        </p:spPr>
      </p:pic>
      <p:sp>
        <p:nvSpPr>
          <p:cNvPr id="85" name="TextBox 84"/>
          <p:cNvSpPr txBox="1"/>
          <p:nvPr/>
        </p:nvSpPr>
        <p:spPr>
          <a:xfrm>
            <a:off x="7658100" y="6484715"/>
            <a:ext cx="933450" cy="133350"/>
          </a:xfrm>
          <a:prstGeom prst="rect">
            <a:avLst/>
          </a:prstGeom>
          <a:noFill/>
        </p:spPr>
        <p:txBody>
          <a:bodyPr wrap="none" lIns="0" rIns="0" tIns="0" bIns="0" anchor="t">
            <a:noAutofit/>
          </a:bodyPr>
          <a:lstStyle/>
          <a:p>
            <a:pPr algn="l">
              <a:lnSpc>
                <a:spcPts val="1050"/>
              </a:lnSpc>
              <a:spcBef>
                <a:spcPts val="0"/>
              </a:spcBef>
              <a:spcAft>
                <a:spcPts val="0"/>
              </a:spcAft>
            </a:pPr>
            <a:r>
              <a:rPr sz="788" b="1" i="0" spc="15">
                <a:solidFill>
                  <a:srgbClr val="333231"/>
                </a:solidFill>
                <a:latin typeface="Quicksand"/>
              </a:rPr>
              <a:t>Telecom &amp; UCaaS</a:t>
            </a:r>
          </a:p>
        </p:txBody>
      </p:sp>
      <p:pic>
        <p:nvPicPr>
          <p:cNvPr id="86" name="Graphic" descr="S16_r3.png"/>
          <p:cNvPicPr>
            <a:picLocks noChangeAspect="1"/>
          </p:cNvPicPr>
          <p:nvPr/>
        </p:nvPicPr>
        <p:blipFill>
          <a:blip r:embed="rId34"/>
          <a:stretch>
            <a:fillRect/>
          </a:stretch>
        </p:blipFill>
        <p:spPr>
          <a:xfrm>
            <a:off x="2628900" y="6743700"/>
            <a:ext cx="190500" cy="190500"/>
          </a:xfrm>
          <a:prstGeom prst="rect">
            <a:avLst/>
          </a:prstGeom>
        </p:spPr>
      </p:pic>
      <p:sp>
        <p:nvSpPr>
          <p:cNvPr id="87" name="TextBox 86"/>
          <p:cNvSpPr txBox="1"/>
          <p:nvPr/>
        </p:nvSpPr>
        <p:spPr>
          <a:xfrm>
            <a:off x="2895600" y="6760940"/>
            <a:ext cx="1068288" cy="133350"/>
          </a:xfrm>
          <a:prstGeom prst="rect">
            <a:avLst/>
          </a:prstGeom>
          <a:noFill/>
        </p:spPr>
        <p:txBody>
          <a:bodyPr wrap="none" lIns="0" rIns="0" tIns="0" bIns="0" anchor="t">
            <a:noAutofit/>
          </a:bodyPr>
          <a:lstStyle/>
          <a:p>
            <a:pPr algn="l">
              <a:lnSpc>
                <a:spcPts val="1050"/>
              </a:lnSpc>
              <a:spcBef>
                <a:spcPts val="0"/>
              </a:spcBef>
              <a:spcAft>
                <a:spcPts val="0"/>
              </a:spcAft>
            </a:pPr>
            <a:r>
              <a:rPr sz="788" b="1" i="0" spc="15">
                <a:solidFill>
                  <a:srgbClr val="333231"/>
                </a:solidFill>
                <a:latin typeface="Quicksand"/>
              </a:rPr>
              <a:t>Systems Integration</a:t>
            </a:r>
          </a:p>
        </p:txBody>
      </p:sp>
      <p:pic>
        <p:nvPicPr>
          <p:cNvPr id="88" name="Graphic" descr="S16_r4.png"/>
          <p:cNvPicPr>
            <a:picLocks noChangeAspect="1"/>
          </p:cNvPicPr>
          <p:nvPr/>
        </p:nvPicPr>
        <p:blipFill>
          <a:blip r:embed="rId35"/>
          <a:stretch>
            <a:fillRect/>
          </a:stretch>
        </p:blipFill>
        <p:spPr>
          <a:xfrm>
            <a:off x="5010150" y="6743700"/>
            <a:ext cx="190500" cy="190500"/>
          </a:xfrm>
          <a:prstGeom prst="rect">
            <a:avLst/>
          </a:prstGeom>
        </p:spPr>
      </p:pic>
      <p:sp>
        <p:nvSpPr>
          <p:cNvPr id="89" name="TextBox 88"/>
          <p:cNvSpPr txBox="1"/>
          <p:nvPr/>
        </p:nvSpPr>
        <p:spPr>
          <a:xfrm>
            <a:off x="5276850" y="6760940"/>
            <a:ext cx="1227237" cy="133350"/>
          </a:xfrm>
          <a:prstGeom prst="rect">
            <a:avLst/>
          </a:prstGeom>
          <a:noFill/>
        </p:spPr>
        <p:txBody>
          <a:bodyPr wrap="none" lIns="0" rIns="0" tIns="0" bIns="0" anchor="t">
            <a:noAutofit/>
          </a:bodyPr>
          <a:lstStyle/>
          <a:p>
            <a:pPr algn="l">
              <a:lnSpc>
                <a:spcPts val="1050"/>
              </a:lnSpc>
              <a:spcBef>
                <a:spcPts val="0"/>
              </a:spcBef>
              <a:spcAft>
                <a:spcPts val="0"/>
              </a:spcAft>
            </a:pPr>
            <a:r>
              <a:rPr sz="788" b="1" i="0" spc="15">
                <a:solidFill>
                  <a:srgbClr val="333231"/>
                </a:solidFill>
                <a:latin typeface="Quicksand"/>
              </a:rPr>
              <a:t>Electronics &amp; Hardware</a:t>
            </a:r>
          </a:p>
        </p:txBody>
      </p:sp>
      <p:pic>
        <p:nvPicPr>
          <p:cNvPr id="90" name="Graphic" descr="S16_r5.png"/>
          <p:cNvPicPr>
            <a:picLocks noChangeAspect="1"/>
          </p:cNvPicPr>
          <p:nvPr/>
        </p:nvPicPr>
        <p:blipFill>
          <a:blip r:embed="rId36"/>
          <a:stretch>
            <a:fillRect/>
          </a:stretch>
        </p:blipFill>
        <p:spPr>
          <a:xfrm>
            <a:off x="7391400" y="6743700"/>
            <a:ext cx="190500" cy="190500"/>
          </a:xfrm>
          <a:prstGeom prst="rect">
            <a:avLst/>
          </a:prstGeom>
        </p:spPr>
      </p:pic>
      <p:sp>
        <p:nvSpPr>
          <p:cNvPr id="91" name="TextBox 90"/>
          <p:cNvSpPr txBox="1"/>
          <p:nvPr/>
        </p:nvSpPr>
        <p:spPr>
          <a:xfrm>
            <a:off x="7658100" y="6760940"/>
            <a:ext cx="1279327" cy="133350"/>
          </a:xfrm>
          <a:prstGeom prst="rect">
            <a:avLst/>
          </a:prstGeom>
          <a:noFill/>
        </p:spPr>
        <p:txBody>
          <a:bodyPr wrap="none" lIns="0" rIns="0" tIns="0" bIns="0" anchor="t">
            <a:noAutofit/>
          </a:bodyPr>
          <a:lstStyle/>
          <a:p>
            <a:pPr algn="l">
              <a:lnSpc>
                <a:spcPts val="1050"/>
              </a:lnSpc>
              <a:spcBef>
                <a:spcPts val="0"/>
              </a:spcBef>
              <a:spcAft>
                <a:spcPts val="0"/>
              </a:spcAft>
            </a:pPr>
            <a:r>
              <a:rPr sz="788" b="1" i="0" spc="15">
                <a:solidFill>
                  <a:srgbClr val="333231"/>
                </a:solidFill>
                <a:latin typeface="Quicksand"/>
              </a:rPr>
              <a:t>Government Technology</a:t>
            </a:r>
          </a:p>
        </p:txBody>
      </p:sp>
      <p:sp>
        <p:nvSpPr>
          <p:cNvPr id="92" name="Panel"/>
          <p:cNvSpPr/>
          <p:nvPr/>
        </p:nvSpPr>
        <p:spPr>
          <a:xfrm>
            <a:off x="419100" y="7029450"/>
            <a:ext cx="9220200" cy="9525"/>
          </a:xfrm>
          <a:prstGeom prst="rect">
            <a:avLst/>
          </a:prstGeom>
          <a:solidFill>
            <a:srgbClr val="E3DCD3"/>
          </a:solidFill>
          <a:ln>
            <a:noFill/>
          </a:ln>
        </p:spPr>
        <p:txBody>
          <a:bodyPr rtlCol="0" anchor="ctr"/>
          <a:lstStyle/>
          <a:p>
            <a:pPr algn="ctr"/>
          </a:p>
        </p:txBody>
      </p:sp>
      <p:pic>
        <p:nvPicPr>
          <p:cNvPr id="93" name="Graphic" descr="S03_r6.png"/>
          <p:cNvPicPr>
            <a:picLocks noChangeAspect="1"/>
          </p:cNvPicPr>
          <p:nvPr/>
        </p:nvPicPr>
        <p:blipFill>
          <a:blip r:embed="rId37"/>
          <a:stretch>
            <a:fillRect/>
          </a:stretch>
        </p:blipFill>
        <p:spPr>
          <a:xfrm>
            <a:off x="419100" y="7143750"/>
            <a:ext cx="914400" cy="171450"/>
          </a:xfrm>
          <a:prstGeom prst="rect">
            <a:avLst/>
          </a:prstGeom>
        </p:spPr>
      </p:pic>
      <p:sp>
        <p:nvSpPr>
          <p:cNvPr id="94" name="TextBox 93"/>
          <p:cNvSpPr txBox="1"/>
          <p:nvPr/>
        </p:nvSpPr>
        <p:spPr>
          <a:xfrm>
            <a:off x="1543050" y="7091172"/>
            <a:ext cx="3394770" cy="104775"/>
          </a:xfrm>
          <a:prstGeom prst="rect">
            <a:avLst/>
          </a:prstGeom>
          <a:noFill/>
        </p:spPr>
        <p:txBody>
          <a:bodyPr wrap="none" lIns="0" rIns="0" tIns="0" bIns="0" anchor="t">
            <a:noAutofit/>
          </a:bodyPr>
          <a:lstStyle/>
          <a:p>
            <a:pPr algn="l">
              <a:lnSpc>
                <a:spcPts val="938"/>
              </a:lnSpc>
              <a:spcBef>
                <a:spcPts val="0"/>
              </a:spcBef>
              <a:spcAft>
                <a:spcPts val="0"/>
              </a:spcAft>
            </a:pPr>
            <a:r>
              <a:rPr sz="675" b="0" i="0" spc="8">
                <a:solidFill>
                  <a:srgbClr val="6F6A66"/>
                </a:solidFill>
                <a:latin typeface="Quicksand"/>
              </a:rPr>
              <a:t>Team as listed on the Benchmark International Middle Market site in October 2026.</a:t>
            </a:r>
          </a:p>
        </p:txBody>
      </p:sp>
      <p:sp>
        <p:nvSpPr>
          <p:cNvPr id="95" name="TextBox 94"/>
          <p:cNvSpPr txBox="1"/>
          <p:nvPr/>
        </p:nvSpPr>
        <p:spPr>
          <a:xfrm>
            <a:off x="9515921" y="7149370"/>
            <a:ext cx="123379" cy="114300"/>
          </a:xfrm>
          <a:prstGeom prst="rect">
            <a:avLst/>
          </a:prstGeom>
          <a:noFill/>
        </p:spPr>
        <p:txBody>
          <a:bodyPr wrap="none" lIns="0" rIns="0" tIns="0" bIns="0" anchor="t">
            <a:noAutofit/>
          </a:bodyPr>
          <a:lstStyle/>
          <a:p>
            <a:pPr algn="r">
              <a:lnSpc>
                <a:spcPts val="1050"/>
              </a:lnSpc>
              <a:spcBef>
                <a:spcPts val="0"/>
              </a:spcBef>
              <a:spcAft>
                <a:spcPts val="0"/>
              </a:spcAft>
            </a:pPr>
            <a:r>
              <a:rPr sz="712" b="1" i="0" spc="150">
                <a:solidFill>
                  <a:srgbClr val="1B1A1A"/>
                </a:solidFill>
                <a:latin typeface="Quicksand"/>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3" name="Panel"/>
          <p:cNvSpPr/>
          <p:nvPr/>
        </p:nvSpPr>
        <p:spPr>
          <a:xfrm>
            <a:off x="0" y="0"/>
            <a:ext cx="10058400" cy="7772400"/>
          </a:xfrm>
          <a:prstGeom prst="rect">
            <a:avLst/>
          </a:prstGeom>
          <a:solidFill>
            <a:srgbClr val="FFFFFF"/>
          </a:solidFill>
          <a:ln>
            <a:noFill/>
          </a:ln>
        </p:spPr>
        <p:txBody>
          <a:bodyPr rtlCol="0" anchor="ctr"/>
          <a:lstStyle/>
          <a:p>
            <a:pPr algn="ctr"/>
          </a:p>
        </p:txBody>
      </p:sp>
      <p:sp>
        <p:nvSpPr>
          <p:cNvPr id="4" name="Panel"/>
          <p:cNvSpPr/>
          <p:nvPr/>
        </p:nvSpPr>
        <p:spPr>
          <a:xfrm>
            <a:off x="0" y="0"/>
            <a:ext cx="57150" cy="7772400"/>
          </a:xfrm>
          <a:prstGeom prst="rect">
            <a:avLst/>
          </a:prstGeom>
          <a:solidFill>
            <a:srgbClr val="B68757"/>
          </a:solidFill>
          <a:ln>
            <a:noFill/>
          </a:ln>
        </p:spPr>
        <p:txBody>
          <a:bodyPr rtlCol="0" anchor="ctr"/>
          <a:lstStyle/>
          <a:p>
            <a:pPr algn="ctr"/>
          </a:p>
        </p:txBody>
      </p:sp>
      <p:sp>
        <p:nvSpPr>
          <p:cNvPr id="5" name="TextBox 4"/>
          <p:cNvSpPr txBox="1"/>
          <p:nvPr/>
        </p:nvSpPr>
        <p:spPr>
          <a:xfrm>
            <a:off x="419100" y="361760"/>
            <a:ext cx="2764185" cy="104775"/>
          </a:xfrm>
          <a:prstGeom prst="rect">
            <a:avLst/>
          </a:prstGeom>
          <a:noFill/>
        </p:spPr>
        <p:txBody>
          <a:bodyPr wrap="none" lIns="0" rIns="0" tIns="0" bIns="0" anchor="t">
            <a:noAutofit/>
          </a:bodyPr>
          <a:lstStyle/>
          <a:p>
            <a:pPr algn="l">
              <a:lnSpc>
                <a:spcPts val="1050"/>
              </a:lnSpc>
              <a:spcBef>
                <a:spcPts val="0"/>
              </a:spcBef>
              <a:spcAft>
                <a:spcPts val="0"/>
              </a:spcAft>
            </a:pPr>
            <a:r>
              <a:rPr sz="675" b="1" i="0" spc="195">
                <a:solidFill>
                  <a:srgbClr val="8C6239"/>
                </a:solidFill>
                <a:latin typeface="Quicksand"/>
              </a:rPr>
              <a:t>TECHNOLOGY  |  QUARTERLY SECTOR BRIEF</a:t>
            </a:r>
          </a:p>
        </p:txBody>
      </p:sp>
      <p:sp>
        <p:nvSpPr>
          <p:cNvPr id="6" name="TextBox 5"/>
          <p:cNvSpPr txBox="1"/>
          <p:nvPr/>
        </p:nvSpPr>
        <p:spPr>
          <a:xfrm>
            <a:off x="9112597" y="350901"/>
            <a:ext cx="526703" cy="152400"/>
          </a:xfrm>
          <a:prstGeom prst="rect">
            <a:avLst/>
          </a:prstGeom>
          <a:noFill/>
        </p:spPr>
        <p:txBody>
          <a:bodyPr wrap="none" lIns="0" rIns="0" tIns="0" bIns="0" anchor="t">
            <a:noAutofit/>
          </a:bodyPr>
          <a:lstStyle/>
          <a:p>
            <a:pPr algn="r">
              <a:lnSpc>
                <a:spcPts val="1350"/>
              </a:lnSpc>
              <a:spcBef>
                <a:spcPts val="0"/>
              </a:spcBef>
              <a:spcAft>
                <a:spcPts val="0"/>
              </a:spcAft>
            </a:pPr>
            <a:r>
              <a:rPr sz="900" b="0" i="0" spc="90">
                <a:solidFill>
                  <a:srgbClr val="6F6A66"/>
                </a:solidFill>
                <a:latin typeface="Cinzel"/>
              </a:rPr>
              <a:t>Q4 2026</a:t>
            </a:r>
          </a:p>
        </p:txBody>
      </p:sp>
      <p:sp>
        <p:nvSpPr>
          <p:cNvPr id="2" name="Title 1"/>
          <p:cNvSpPr>
            <a:spLocks noGrp="1"/>
          </p:cNvSpPr>
          <p:nvPr>
            <p:ph type="title"/>
          </p:nvPr>
        </p:nvSpPr>
        <p:spPr>
          <a:xfrm>
            <a:off x="419100" y="475488"/>
            <a:ext cx="2975967" cy="257175"/>
          </a:xfrm>
        </p:spPr>
        <p:txBody>
          <a:bodyPr wrap="none" lIns="0" rIns="0" tIns="0" bIns="0" anchor="t">
            <a:noAutofit/>
          </a:bodyPr>
          <a:lstStyle/>
          <a:p>
            <a:pPr algn="l">
              <a:lnSpc>
                <a:spcPts val="2550"/>
              </a:lnSpc>
              <a:spcBef>
                <a:spcPts val="0"/>
              </a:spcBef>
              <a:spcAft>
                <a:spcPts val="0"/>
              </a:spcAft>
            </a:pPr>
            <a:r>
              <a:rPr sz="2000" b="1" i="0">
                <a:solidFill>
                  <a:srgbClr val="1B1A1A"/>
                </a:solidFill>
                <a:latin typeface="Newsreader"/>
              </a:rPr>
              <a:t>Benchmark International</a:t>
            </a:r>
          </a:p>
        </p:txBody>
      </p:sp>
      <p:sp>
        <p:nvSpPr>
          <p:cNvPr id="7" name="TextBox 6"/>
          <p:cNvSpPr txBox="1"/>
          <p:nvPr/>
        </p:nvSpPr>
        <p:spPr>
          <a:xfrm>
            <a:off x="419100" y="864394"/>
            <a:ext cx="6286054" cy="152400"/>
          </a:xfrm>
          <a:prstGeom prst="rect">
            <a:avLst/>
          </a:prstGeom>
          <a:noFill/>
        </p:spPr>
        <p:txBody>
          <a:bodyPr wrap="none" lIns="0" rIns="0" tIns="0" bIns="0" anchor="t">
            <a:noAutofit/>
          </a:bodyPr>
          <a:lstStyle/>
          <a:p>
            <a:pPr algn="l">
              <a:lnSpc>
                <a:spcPts val="1388"/>
              </a:lnSpc>
              <a:spcBef>
                <a:spcPts val="0"/>
              </a:spcBef>
              <a:spcAft>
                <a:spcPts val="0"/>
              </a:spcAft>
            </a:pPr>
            <a:r>
              <a:rPr sz="938" b="0" i="0" spc="15">
                <a:solidFill>
                  <a:srgbClr val="6F6A66"/>
                </a:solidFill>
                <a:latin typeface="Quicksand"/>
              </a:rPr>
              <a:t>The world's leading privately owned sell-side M&amp;A advisor, with a Middle Market team focused on five sectors.</a:t>
            </a:r>
          </a:p>
        </p:txBody>
      </p:sp>
      <p:sp>
        <p:nvSpPr>
          <p:cNvPr id="8" name="Panel"/>
          <p:cNvSpPr/>
          <p:nvPr/>
        </p:nvSpPr>
        <p:spPr>
          <a:xfrm>
            <a:off x="419100" y="1143000"/>
            <a:ext cx="9220200" cy="9525"/>
          </a:xfrm>
          <a:prstGeom prst="rect">
            <a:avLst/>
          </a:prstGeom>
          <a:solidFill>
            <a:srgbClr val="E3DCD3"/>
          </a:solidFill>
          <a:ln>
            <a:noFill/>
          </a:ln>
        </p:spPr>
        <p:txBody>
          <a:bodyPr rtlCol="0" anchor="ctr"/>
          <a:lstStyle/>
          <a:p>
            <a:pPr algn="ctr"/>
          </a:p>
        </p:txBody>
      </p:sp>
      <p:sp>
        <p:nvSpPr>
          <p:cNvPr id="9" name="Panel"/>
          <p:cNvSpPr/>
          <p:nvPr/>
        </p:nvSpPr>
        <p:spPr>
          <a:xfrm>
            <a:off x="419100" y="1238250"/>
            <a:ext cx="9220200" cy="2286000"/>
          </a:xfrm>
          <a:prstGeom prst="rect">
            <a:avLst/>
          </a:prstGeom>
          <a:solidFill>
            <a:srgbClr val="1B1A1A"/>
          </a:solidFill>
          <a:ln>
            <a:noFill/>
          </a:ln>
        </p:spPr>
        <p:txBody>
          <a:bodyPr rtlCol="0" anchor="ctr"/>
          <a:lstStyle/>
          <a:p>
            <a:pPr algn="ctr"/>
          </a:p>
        </p:txBody>
      </p:sp>
      <p:pic>
        <p:nvPicPr>
          <p:cNvPr id="10" name="Picture" descr="knot.jpg"/>
          <p:cNvPicPr>
            <a:picLocks noChangeAspect="1"/>
          </p:cNvPicPr>
          <p:nvPr/>
        </p:nvPicPr>
        <p:blipFill>
          <a:blip r:embed="rId2">
            <a:alphaModFix amt="50000"/>
          </a:blip>
          <a:srcRect l="13603" t="24064" r="13603" b="43850"/>
          <a:stretch>
            <a:fillRect/>
          </a:stretch>
        </p:blipFill>
        <p:spPr>
          <a:xfrm>
            <a:off x="419100" y="1238250"/>
            <a:ext cx="9220200" cy="2286000"/>
          </a:xfrm>
          <a:prstGeom prst="rect">
            <a:avLst/>
          </a:prstGeom>
        </p:spPr>
      </p:pic>
      <p:pic>
        <p:nvPicPr>
          <p:cNvPr id="11" name="Benchmark International" descr="Benchmark International"/>
          <p:cNvPicPr>
            <a:picLocks noChangeAspect="1"/>
          </p:cNvPicPr>
          <p:nvPr/>
        </p:nvPicPr>
        <p:blipFill>
          <a:blip r:embed="rId3"/>
          <a:stretch>
            <a:fillRect/>
          </a:stretch>
        </p:blipFill>
        <p:spPr>
          <a:xfrm>
            <a:off x="685800" y="1466850"/>
            <a:ext cx="2381250" cy="447675"/>
          </a:xfrm>
          <a:prstGeom prst="rect">
            <a:avLst/>
          </a:prstGeom>
        </p:spPr>
      </p:pic>
      <p:sp>
        <p:nvSpPr>
          <p:cNvPr id="12" name="TextBox 11"/>
          <p:cNvSpPr txBox="1"/>
          <p:nvPr/>
        </p:nvSpPr>
        <p:spPr>
          <a:xfrm>
            <a:off x="3352800" y="1473994"/>
            <a:ext cx="6096000" cy="338138"/>
          </a:xfrm>
          <a:prstGeom prst="rect">
            <a:avLst/>
          </a:prstGeom>
          <a:noFill/>
        </p:spPr>
        <p:txBody>
          <a:bodyPr wrap="square" lIns="0" rIns="0" tIns="0" bIns="0" anchor="t">
            <a:noAutofit/>
          </a:bodyPr>
          <a:lstStyle/>
          <a:p>
            <a:pPr algn="l">
              <a:lnSpc>
                <a:spcPts val="1462"/>
              </a:lnSpc>
              <a:spcBef>
                <a:spcPts val="0"/>
              </a:spcBef>
              <a:spcAft>
                <a:spcPts val="0"/>
              </a:spcAft>
            </a:pPr>
            <a:r>
              <a:rPr sz="938" b="0" i="0" spc="15">
                <a:solidFill>
                  <a:srgbClr val="E8E2DA"/>
                </a:solidFill>
                <a:latin typeface="Quicksand"/>
              </a:rPr>
              <a:t>Benchmark International's Middle Market team advises owners of privately held companies on sales, recapitalizations and growth partnerships across five sectors.</a:t>
            </a:r>
          </a:p>
        </p:txBody>
      </p:sp>
      <p:sp>
        <p:nvSpPr>
          <p:cNvPr id="13" name="Rule"/>
          <p:cNvSpPr/>
          <p:nvPr/>
        </p:nvSpPr>
        <p:spPr>
          <a:xfrm>
            <a:off x="514350" y="2162175"/>
            <a:ext cx="9525" cy="1000125"/>
          </a:xfrm>
          <a:prstGeom prst="rect">
            <a:avLst/>
          </a:prstGeom>
          <a:solidFill>
            <a:srgbClr val="FFFFFF">
              <a:alpha val="18000"/>
            </a:srgbClr>
          </a:solidFill>
          <a:ln>
            <a:noFill/>
          </a:ln>
        </p:spPr>
        <p:txBody>
          <a:bodyPr rtlCol="0" anchor="ctr"/>
          <a:lstStyle/>
          <a:p>
            <a:pPr algn="ctr"/>
          </a:p>
        </p:txBody>
      </p:sp>
      <p:sp>
        <p:nvSpPr>
          <p:cNvPr id="14" name="TextBox 13"/>
          <p:cNvSpPr txBox="1"/>
          <p:nvPr/>
        </p:nvSpPr>
        <p:spPr>
          <a:xfrm>
            <a:off x="695325" y="2122170"/>
            <a:ext cx="406450" cy="285750"/>
          </a:xfrm>
          <a:prstGeom prst="rect">
            <a:avLst/>
          </a:prstGeom>
          <a:noFill/>
        </p:spPr>
        <p:txBody>
          <a:bodyPr wrap="none" lIns="0" rIns="0" tIns="0" bIns="0" anchor="t">
            <a:noAutofit/>
          </a:bodyPr>
          <a:lstStyle/>
          <a:p>
            <a:pPr algn="l">
              <a:lnSpc>
                <a:spcPts val="2700"/>
              </a:lnSpc>
              <a:spcBef>
                <a:spcPts val="0"/>
              </a:spcBef>
              <a:spcAft>
                <a:spcPts val="0"/>
              </a:spcAft>
            </a:pPr>
            <a:r>
              <a:rPr sz="2250" b="1" i="0">
                <a:solidFill>
                  <a:srgbClr val="D3AE84"/>
                </a:solidFill>
                <a:latin typeface="Newsreader"/>
              </a:rPr>
              <a:t>#1</a:t>
            </a:r>
          </a:p>
        </p:txBody>
      </p:sp>
      <p:sp>
        <p:nvSpPr>
          <p:cNvPr id="15" name="TextBox 14"/>
          <p:cNvSpPr txBox="1"/>
          <p:nvPr/>
        </p:nvSpPr>
        <p:spPr>
          <a:xfrm>
            <a:off x="695325" y="2537650"/>
            <a:ext cx="1807964" cy="590550"/>
          </a:xfrm>
          <a:prstGeom prst="rect">
            <a:avLst/>
          </a:prstGeom>
          <a:noFill/>
        </p:spPr>
        <p:txBody>
          <a:bodyPr wrap="square" lIns="0" rIns="0" tIns="0" bIns="0" anchor="t">
            <a:noAutofit/>
          </a:bodyPr>
          <a:lstStyle/>
          <a:p>
            <a:pPr algn="l">
              <a:lnSpc>
                <a:spcPts val="1200"/>
              </a:lnSpc>
              <a:spcBef>
                <a:spcPts val="0"/>
              </a:spcBef>
              <a:spcAft>
                <a:spcPts val="0"/>
              </a:spcAft>
            </a:pPr>
            <a:r>
              <a:rPr sz="825" b="0" i="0" spc="15">
                <a:solidFill>
                  <a:srgbClr val="E8E2DA"/>
                </a:solidFill>
                <a:latin typeface="Quicksand"/>
              </a:rPr>
              <a:t>Privately owned sell-side M&amp;A advisor worldwide, based on PitchBook's Q2 2026 Global League Tables</a:t>
            </a:r>
          </a:p>
        </p:txBody>
      </p:sp>
      <p:sp>
        <p:nvSpPr>
          <p:cNvPr id="16" name="Rule"/>
          <p:cNvSpPr/>
          <p:nvPr/>
        </p:nvSpPr>
        <p:spPr>
          <a:xfrm>
            <a:off x="2598539" y="2162175"/>
            <a:ext cx="9525" cy="1000125"/>
          </a:xfrm>
          <a:prstGeom prst="rect">
            <a:avLst/>
          </a:prstGeom>
          <a:solidFill>
            <a:srgbClr val="FFFFFF">
              <a:alpha val="18000"/>
            </a:srgbClr>
          </a:solidFill>
          <a:ln>
            <a:noFill/>
          </a:ln>
        </p:spPr>
        <p:txBody>
          <a:bodyPr rtlCol="0" anchor="ctr"/>
          <a:lstStyle/>
          <a:p>
            <a:pPr algn="ctr"/>
          </a:p>
        </p:txBody>
      </p:sp>
      <p:sp>
        <p:nvSpPr>
          <p:cNvPr id="17" name="TextBox 16"/>
          <p:cNvSpPr txBox="1"/>
          <p:nvPr/>
        </p:nvSpPr>
        <p:spPr>
          <a:xfrm>
            <a:off x="2779514" y="2122170"/>
            <a:ext cx="2250728" cy="285750"/>
          </a:xfrm>
          <a:prstGeom prst="rect">
            <a:avLst/>
          </a:prstGeom>
          <a:noFill/>
        </p:spPr>
        <p:txBody>
          <a:bodyPr wrap="none" lIns="0" rIns="0" tIns="0" bIns="0" anchor="t">
            <a:noAutofit/>
          </a:bodyPr>
          <a:lstStyle/>
          <a:p>
            <a:pPr algn="l">
              <a:lnSpc>
                <a:spcPts val="2700"/>
              </a:lnSpc>
              <a:spcBef>
                <a:spcPts val="0"/>
              </a:spcBef>
              <a:spcAft>
                <a:spcPts val="0"/>
              </a:spcAft>
            </a:pPr>
            <a:r>
              <a:rPr sz="2250" b="1" i="0">
                <a:solidFill>
                  <a:srgbClr val="D3AE84"/>
                </a:solidFill>
                <a:latin typeface="Newsreader"/>
              </a:rPr>
              <a:t>$50M to $500M</a:t>
            </a:r>
          </a:p>
        </p:txBody>
      </p:sp>
      <p:sp>
        <p:nvSpPr>
          <p:cNvPr id="18" name="TextBox 17"/>
          <p:cNvSpPr txBox="1"/>
          <p:nvPr/>
        </p:nvSpPr>
        <p:spPr>
          <a:xfrm>
            <a:off x="2779514" y="2537650"/>
            <a:ext cx="2329160" cy="285750"/>
          </a:xfrm>
          <a:prstGeom prst="rect">
            <a:avLst/>
          </a:prstGeom>
          <a:noFill/>
        </p:spPr>
        <p:txBody>
          <a:bodyPr wrap="square" lIns="0" rIns="0" tIns="0" bIns="0" anchor="t">
            <a:noAutofit/>
          </a:bodyPr>
          <a:lstStyle/>
          <a:p>
            <a:pPr algn="l">
              <a:lnSpc>
                <a:spcPts val="1200"/>
              </a:lnSpc>
              <a:spcBef>
                <a:spcPts val="0"/>
              </a:spcBef>
              <a:spcAft>
                <a:spcPts val="0"/>
              </a:spcAft>
            </a:pPr>
            <a:r>
              <a:rPr sz="825" b="0" i="0" spc="15">
                <a:solidFill>
                  <a:srgbClr val="E8E2DA"/>
                </a:solidFill>
                <a:latin typeface="Quicksand"/>
              </a:rPr>
              <a:t>Total enterprise value range the Middle Market team serves</a:t>
            </a:r>
          </a:p>
        </p:txBody>
      </p:sp>
      <p:sp>
        <p:nvSpPr>
          <p:cNvPr id="19" name="Rule"/>
          <p:cNvSpPr/>
          <p:nvPr/>
        </p:nvSpPr>
        <p:spPr>
          <a:xfrm>
            <a:off x="5203924" y="2162175"/>
            <a:ext cx="9525" cy="1000125"/>
          </a:xfrm>
          <a:prstGeom prst="rect">
            <a:avLst/>
          </a:prstGeom>
          <a:solidFill>
            <a:srgbClr val="FFFFFF">
              <a:alpha val="18000"/>
            </a:srgbClr>
          </a:solidFill>
          <a:ln>
            <a:noFill/>
          </a:ln>
        </p:spPr>
        <p:txBody>
          <a:bodyPr rtlCol="0" anchor="ctr"/>
          <a:lstStyle/>
          <a:p>
            <a:pPr algn="ctr"/>
          </a:p>
        </p:txBody>
      </p:sp>
      <p:sp>
        <p:nvSpPr>
          <p:cNvPr id="20" name="TextBox 19"/>
          <p:cNvSpPr txBox="1"/>
          <p:nvPr/>
        </p:nvSpPr>
        <p:spPr>
          <a:xfrm>
            <a:off x="5384899" y="2122170"/>
            <a:ext cx="231874" cy="285750"/>
          </a:xfrm>
          <a:prstGeom prst="rect">
            <a:avLst/>
          </a:prstGeom>
          <a:noFill/>
        </p:spPr>
        <p:txBody>
          <a:bodyPr wrap="none" lIns="0" rIns="0" tIns="0" bIns="0" anchor="t">
            <a:noAutofit/>
          </a:bodyPr>
          <a:lstStyle/>
          <a:p>
            <a:pPr algn="l">
              <a:lnSpc>
                <a:spcPts val="2700"/>
              </a:lnSpc>
              <a:spcBef>
                <a:spcPts val="0"/>
              </a:spcBef>
              <a:spcAft>
                <a:spcPts val="0"/>
              </a:spcAft>
            </a:pPr>
            <a:r>
              <a:rPr sz="2250" b="1" i="0">
                <a:solidFill>
                  <a:srgbClr val="D3AE84"/>
                </a:solidFill>
                <a:latin typeface="Newsreader"/>
              </a:rPr>
              <a:t>5</a:t>
            </a:r>
          </a:p>
        </p:txBody>
      </p:sp>
      <p:sp>
        <p:nvSpPr>
          <p:cNvPr id="21" name="TextBox 20"/>
          <p:cNvSpPr txBox="1"/>
          <p:nvPr/>
        </p:nvSpPr>
        <p:spPr>
          <a:xfrm>
            <a:off x="5384899" y="2537650"/>
            <a:ext cx="1808113" cy="285750"/>
          </a:xfrm>
          <a:prstGeom prst="rect">
            <a:avLst/>
          </a:prstGeom>
          <a:noFill/>
        </p:spPr>
        <p:txBody>
          <a:bodyPr wrap="square" lIns="0" rIns="0" tIns="0" bIns="0" anchor="t">
            <a:noAutofit/>
          </a:bodyPr>
          <a:lstStyle/>
          <a:p>
            <a:pPr algn="l">
              <a:lnSpc>
                <a:spcPts val="1200"/>
              </a:lnSpc>
              <a:spcBef>
                <a:spcPts val="0"/>
              </a:spcBef>
              <a:spcAft>
                <a:spcPts val="0"/>
              </a:spcAft>
            </a:pPr>
            <a:r>
              <a:rPr sz="825" b="0" i="0" spc="15">
                <a:solidFill>
                  <a:srgbClr val="E8E2DA"/>
                </a:solidFill>
                <a:latin typeface="Quicksand"/>
              </a:rPr>
              <a:t>Focused sector groups with dedicated sector expertise</a:t>
            </a:r>
          </a:p>
        </p:txBody>
      </p:sp>
      <p:sp>
        <p:nvSpPr>
          <p:cNvPr id="22" name="Rule"/>
          <p:cNvSpPr/>
          <p:nvPr/>
        </p:nvSpPr>
        <p:spPr>
          <a:xfrm>
            <a:off x="7288262" y="2162175"/>
            <a:ext cx="9525" cy="1000125"/>
          </a:xfrm>
          <a:prstGeom prst="rect">
            <a:avLst/>
          </a:prstGeom>
          <a:solidFill>
            <a:srgbClr val="FFFFFF">
              <a:alpha val="18000"/>
            </a:srgbClr>
          </a:solidFill>
          <a:ln>
            <a:noFill/>
          </a:ln>
        </p:spPr>
        <p:txBody>
          <a:bodyPr rtlCol="0" anchor="ctr"/>
          <a:lstStyle/>
          <a:p>
            <a:pPr algn="ctr"/>
          </a:p>
        </p:txBody>
      </p:sp>
      <p:sp>
        <p:nvSpPr>
          <p:cNvPr id="23" name="TextBox 22"/>
          <p:cNvSpPr txBox="1"/>
          <p:nvPr/>
        </p:nvSpPr>
        <p:spPr>
          <a:xfrm>
            <a:off x="7469237" y="2122170"/>
            <a:ext cx="406450" cy="285750"/>
          </a:xfrm>
          <a:prstGeom prst="rect">
            <a:avLst/>
          </a:prstGeom>
          <a:noFill/>
        </p:spPr>
        <p:txBody>
          <a:bodyPr wrap="none" lIns="0" rIns="0" tIns="0" bIns="0" anchor="t">
            <a:noAutofit/>
          </a:bodyPr>
          <a:lstStyle/>
          <a:p>
            <a:pPr algn="l">
              <a:lnSpc>
                <a:spcPts val="2700"/>
              </a:lnSpc>
              <a:spcBef>
                <a:spcPts val="0"/>
              </a:spcBef>
              <a:spcAft>
                <a:spcPts val="0"/>
              </a:spcAft>
            </a:pPr>
            <a:r>
              <a:rPr sz="2250" b="1" i="0">
                <a:solidFill>
                  <a:srgbClr val="D3AE84"/>
                </a:solidFill>
                <a:latin typeface="Newsreader"/>
              </a:rPr>
              <a:t>15</a:t>
            </a:r>
          </a:p>
        </p:txBody>
      </p:sp>
      <p:sp>
        <p:nvSpPr>
          <p:cNvPr id="24" name="TextBox 23"/>
          <p:cNvSpPr txBox="1"/>
          <p:nvPr/>
        </p:nvSpPr>
        <p:spPr>
          <a:xfrm>
            <a:off x="7469237" y="2537650"/>
            <a:ext cx="1808113" cy="285750"/>
          </a:xfrm>
          <a:prstGeom prst="rect">
            <a:avLst/>
          </a:prstGeom>
          <a:noFill/>
        </p:spPr>
        <p:txBody>
          <a:bodyPr wrap="square" lIns="0" rIns="0" tIns="0" bIns="0" anchor="t">
            <a:noAutofit/>
          </a:bodyPr>
          <a:lstStyle/>
          <a:p>
            <a:pPr algn="l">
              <a:lnSpc>
                <a:spcPts val="1200"/>
              </a:lnSpc>
              <a:spcBef>
                <a:spcPts val="0"/>
              </a:spcBef>
              <a:spcAft>
                <a:spcPts val="0"/>
              </a:spcAft>
            </a:pPr>
            <a:r>
              <a:rPr sz="825" b="0" i="0" spc="15">
                <a:solidFill>
                  <a:srgbClr val="E8E2DA"/>
                </a:solidFill>
                <a:latin typeface="Quicksand"/>
              </a:rPr>
              <a:t>Global offices across the Americas, Europe and Africa</a:t>
            </a:r>
          </a:p>
        </p:txBody>
      </p:sp>
      <p:sp>
        <p:nvSpPr>
          <p:cNvPr id="25" name="TextBox 24"/>
          <p:cNvSpPr txBox="1"/>
          <p:nvPr/>
        </p:nvSpPr>
        <p:spPr>
          <a:xfrm>
            <a:off x="419100" y="3705034"/>
            <a:ext cx="845046" cy="104775"/>
          </a:xfrm>
          <a:prstGeom prst="rect">
            <a:avLst/>
          </a:prstGeom>
          <a:noFill/>
        </p:spPr>
        <p:txBody>
          <a:bodyPr wrap="none" lIns="0" rIns="0" tIns="0" bIns="0" anchor="t">
            <a:noAutofit/>
          </a:bodyPr>
          <a:lstStyle/>
          <a:p>
            <a:pPr algn="l">
              <a:lnSpc>
                <a:spcPts val="975"/>
              </a:lnSpc>
              <a:spcBef>
                <a:spcPts val="0"/>
              </a:spcBef>
              <a:spcAft>
                <a:spcPts val="0"/>
              </a:spcAft>
            </a:pPr>
            <a:r>
              <a:rPr sz="675" b="1" i="0" spc="150">
                <a:solidFill>
                  <a:srgbClr val="8C6239"/>
                </a:solidFill>
                <a:latin typeface="Quicksand"/>
              </a:rPr>
              <a:t>RECOGNITION</a:t>
            </a:r>
          </a:p>
        </p:txBody>
      </p:sp>
      <p:sp>
        <p:nvSpPr>
          <p:cNvPr id="26" name="Panel"/>
          <p:cNvSpPr/>
          <p:nvPr/>
        </p:nvSpPr>
        <p:spPr>
          <a:xfrm>
            <a:off x="419100" y="3924300"/>
            <a:ext cx="2205038" cy="1466850"/>
          </a:xfrm>
          <a:prstGeom prst="rect">
            <a:avLst/>
          </a:prstGeom>
          <a:solidFill>
            <a:srgbClr val="FFFFFF"/>
          </a:solidFill>
          <a:ln>
            <a:noFill/>
          </a:ln>
        </p:spPr>
        <p:txBody>
          <a:bodyPr rtlCol="0" anchor="ctr"/>
          <a:lstStyle/>
          <a:p>
            <a:pPr algn="ctr"/>
          </a:p>
        </p:txBody>
      </p:sp>
      <p:sp>
        <p:nvSpPr>
          <p:cNvPr id="27" name="Rule"/>
          <p:cNvSpPr/>
          <p:nvPr/>
        </p:nvSpPr>
        <p:spPr>
          <a:xfrm>
            <a:off x="419100" y="3924300"/>
            <a:ext cx="2205038" cy="28575"/>
          </a:xfrm>
          <a:prstGeom prst="rect">
            <a:avLst/>
          </a:prstGeom>
          <a:solidFill>
            <a:srgbClr val="B68757"/>
          </a:solidFill>
          <a:ln>
            <a:noFill/>
          </a:ln>
        </p:spPr>
        <p:txBody>
          <a:bodyPr rtlCol="0" anchor="ctr"/>
          <a:lstStyle/>
          <a:p>
            <a:pPr algn="ctr"/>
          </a:p>
        </p:txBody>
      </p:sp>
      <p:sp>
        <p:nvSpPr>
          <p:cNvPr id="28" name="Rule"/>
          <p:cNvSpPr/>
          <p:nvPr/>
        </p:nvSpPr>
        <p:spPr>
          <a:xfrm>
            <a:off x="2614612" y="3924300"/>
            <a:ext cx="9525" cy="1466850"/>
          </a:xfrm>
          <a:prstGeom prst="rect">
            <a:avLst/>
          </a:prstGeom>
          <a:solidFill>
            <a:srgbClr val="E3DCD3"/>
          </a:solidFill>
          <a:ln>
            <a:noFill/>
          </a:ln>
        </p:spPr>
        <p:txBody>
          <a:bodyPr rtlCol="0" anchor="ctr"/>
          <a:lstStyle/>
          <a:p>
            <a:pPr algn="ctr"/>
          </a:p>
        </p:txBody>
      </p:sp>
      <p:sp>
        <p:nvSpPr>
          <p:cNvPr id="29" name="Rule"/>
          <p:cNvSpPr/>
          <p:nvPr/>
        </p:nvSpPr>
        <p:spPr>
          <a:xfrm>
            <a:off x="419100" y="5381625"/>
            <a:ext cx="2205038" cy="9525"/>
          </a:xfrm>
          <a:prstGeom prst="rect">
            <a:avLst/>
          </a:prstGeom>
          <a:solidFill>
            <a:srgbClr val="E3DCD3"/>
          </a:solidFill>
          <a:ln>
            <a:noFill/>
          </a:ln>
        </p:spPr>
        <p:txBody>
          <a:bodyPr rtlCol="0" anchor="ctr"/>
          <a:lstStyle/>
          <a:p>
            <a:pPr algn="ctr"/>
          </a:p>
        </p:txBody>
      </p:sp>
      <p:sp>
        <p:nvSpPr>
          <p:cNvPr id="30" name="Rule"/>
          <p:cNvSpPr/>
          <p:nvPr/>
        </p:nvSpPr>
        <p:spPr>
          <a:xfrm>
            <a:off x="419100" y="3924300"/>
            <a:ext cx="9525" cy="1466850"/>
          </a:xfrm>
          <a:prstGeom prst="rect">
            <a:avLst/>
          </a:prstGeom>
          <a:solidFill>
            <a:srgbClr val="E3DCD3"/>
          </a:solidFill>
          <a:ln>
            <a:noFill/>
          </a:ln>
        </p:spPr>
        <p:txBody>
          <a:bodyPr rtlCol="0" anchor="ctr"/>
          <a:lstStyle/>
          <a:p>
            <a:pPr algn="ctr"/>
          </a:p>
        </p:txBody>
      </p:sp>
      <p:pic>
        <p:nvPicPr>
          <p:cNvPr id="31" name="M&amp;A Advisor Investment Banking Firm of the Year" descr="M&amp;A Advisor Investment Banking Firm of the Year"/>
          <p:cNvPicPr>
            <a:picLocks noChangeAspect="1"/>
          </p:cNvPicPr>
          <p:nvPr/>
        </p:nvPicPr>
        <p:blipFill>
          <a:blip r:embed="rId4"/>
          <a:stretch>
            <a:fillRect/>
          </a:stretch>
        </p:blipFill>
        <p:spPr>
          <a:xfrm>
            <a:off x="514499" y="4086225"/>
            <a:ext cx="2014091" cy="1162050"/>
          </a:xfrm>
          <a:prstGeom prst="rect">
            <a:avLst/>
          </a:prstGeom>
        </p:spPr>
      </p:pic>
      <p:sp>
        <p:nvSpPr>
          <p:cNvPr id="32" name="Panel"/>
          <p:cNvSpPr/>
          <p:nvPr/>
        </p:nvSpPr>
        <p:spPr>
          <a:xfrm>
            <a:off x="2757488" y="3924300"/>
            <a:ext cx="2205038" cy="1466850"/>
          </a:xfrm>
          <a:prstGeom prst="rect">
            <a:avLst/>
          </a:prstGeom>
          <a:solidFill>
            <a:srgbClr val="FFFFFF"/>
          </a:solidFill>
          <a:ln>
            <a:noFill/>
          </a:ln>
        </p:spPr>
        <p:txBody>
          <a:bodyPr rtlCol="0" anchor="ctr"/>
          <a:lstStyle/>
          <a:p>
            <a:pPr algn="ctr"/>
          </a:p>
        </p:txBody>
      </p:sp>
      <p:sp>
        <p:nvSpPr>
          <p:cNvPr id="33" name="Rule"/>
          <p:cNvSpPr/>
          <p:nvPr/>
        </p:nvSpPr>
        <p:spPr>
          <a:xfrm>
            <a:off x="2757488" y="3924300"/>
            <a:ext cx="2205038" cy="28575"/>
          </a:xfrm>
          <a:prstGeom prst="rect">
            <a:avLst/>
          </a:prstGeom>
          <a:solidFill>
            <a:srgbClr val="B68757"/>
          </a:solidFill>
          <a:ln>
            <a:noFill/>
          </a:ln>
        </p:spPr>
        <p:txBody>
          <a:bodyPr rtlCol="0" anchor="ctr"/>
          <a:lstStyle/>
          <a:p>
            <a:pPr algn="ctr"/>
          </a:p>
        </p:txBody>
      </p:sp>
      <p:sp>
        <p:nvSpPr>
          <p:cNvPr id="34" name="Rule"/>
          <p:cNvSpPr/>
          <p:nvPr/>
        </p:nvSpPr>
        <p:spPr>
          <a:xfrm>
            <a:off x="4953000" y="3924300"/>
            <a:ext cx="9525" cy="1466850"/>
          </a:xfrm>
          <a:prstGeom prst="rect">
            <a:avLst/>
          </a:prstGeom>
          <a:solidFill>
            <a:srgbClr val="E3DCD3"/>
          </a:solidFill>
          <a:ln>
            <a:noFill/>
          </a:ln>
        </p:spPr>
        <p:txBody>
          <a:bodyPr rtlCol="0" anchor="ctr"/>
          <a:lstStyle/>
          <a:p>
            <a:pPr algn="ctr"/>
          </a:p>
        </p:txBody>
      </p:sp>
      <p:sp>
        <p:nvSpPr>
          <p:cNvPr id="35" name="Rule"/>
          <p:cNvSpPr/>
          <p:nvPr/>
        </p:nvSpPr>
        <p:spPr>
          <a:xfrm>
            <a:off x="2757488" y="5381625"/>
            <a:ext cx="2205038" cy="9525"/>
          </a:xfrm>
          <a:prstGeom prst="rect">
            <a:avLst/>
          </a:prstGeom>
          <a:solidFill>
            <a:srgbClr val="E3DCD3"/>
          </a:solidFill>
          <a:ln>
            <a:noFill/>
          </a:ln>
        </p:spPr>
        <p:txBody>
          <a:bodyPr rtlCol="0" anchor="ctr"/>
          <a:lstStyle/>
          <a:p>
            <a:pPr algn="ctr"/>
          </a:p>
        </p:txBody>
      </p:sp>
      <p:sp>
        <p:nvSpPr>
          <p:cNvPr id="36" name="Rule"/>
          <p:cNvSpPr/>
          <p:nvPr/>
        </p:nvSpPr>
        <p:spPr>
          <a:xfrm>
            <a:off x="2757488" y="3924300"/>
            <a:ext cx="9525" cy="1466850"/>
          </a:xfrm>
          <a:prstGeom prst="rect">
            <a:avLst/>
          </a:prstGeom>
          <a:solidFill>
            <a:srgbClr val="E3DCD3"/>
          </a:solidFill>
          <a:ln>
            <a:noFill/>
          </a:ln>
        </p:spPr>
        <p:txBody>
          <a:bodyPr rtlCol="0" anchor="ctr"/>
          <a:lstStyle/>
          <a:p>
            <a:pPr algn="ctr"/>
          </a:p>
        </p:txBody>
      </p:sp>
      <p:pic>
        <p:nvPicPr>
          <p:cNvPr id="37" name="PitchBook Sell-Side League Table" descr="PitchBook Sell-Side League Table"/>
          <p:cNvPicPr>
            <a:picLocks noChangeAspect="1"/>
          </p:cNvPicPr>
          <p:nvPr/>
        </p:nvPicPr>
        <p:blipFill>
          <a:blip r:embed="rId5"/>
          <a:stretch>
            <a:fillRect/>
          </a:stretch>
        </p:blipFill>
        <p:spPr>
          <a:xfrm>
            <a:off x="2852886" y="4086225"/>
            <a:ext cx="2014091" cy="1162050"/>
          </a:xfrm>
          <a:prstGeom prst="rect">
            <a:avLst/>
          </a:prstGeom>
        </p:spPr>
      </p:pic>
      <p:sp>
        <p:nvSpPr>
          <p:cNvPr id="38" name="Panel"/>
          <p:cNvSpPr/>
          <p:nvPr/>
        </p:nvSpPr>
        <p:spPr>
          <a:xfrm>
            <a:off x="5095875" y="3924300"/>
            <a:ext cx="2205038" cy="1466850"/>
          </a:xfrm>
          <a:prstGeom prst="rect">
            <a:avLst/>
          </a:prstGeom>
          <a:solidFill>
            <a:srgbClr val="FFFFFF"/>
          </a:solidFill>
          <a:ln>
            <a:noFill/>
          </a:ln>
        </p:spPr>
        <p:txBody>
          <a:bodyPr rtlCol="0" anchor="ctr"/>
          <a:lstStyle/>
          <a:p>
            <a:pPr algn="ctr"/>
          </a:p>
        </p:txBody>
      </p:sp>
      <p:sp>
        <p:nvSpPr>
          <p:cNvPr id="39" name="Rule"/>
          <p:cNvSpPr/>
          <p:nvPr/>
        </p:nvSpPr>
        <p:spPr>
          <a:xfrm>
            <a:off x="5095875" y="3924300"/>
            <a:ext cx="2205038" cy="28575"/>
          </a:xfrm>
          <a:prstGeom prst="rect">
            <a:avLst/>
          </a:prstGeom>
          <a:solidFill>
            <a:srgbClr val="B68757"/>
          </a:solidFill>
          <a:ln>
            <a:noFill/>
          </a:ln>
        </p:spPr>
        <p:txBody>
          <a:bodyPr rtlCol="0" anchor="ctr"/>
          <a:lstStyle/>
          <a:p>
            <a:pPr algn="ctr"/>
          </a:p>
        </p:txBody>
      </p:sp>
      <p:sp>
        <p:nvSpPr>
          <p:cNvPr id="40" name="Rule"/>
          <p:cNvSpPr/>
          <p:nvPr/>
        </p:nvSpPr>
        <p:spPr>
          <a:xfrm>
            <a:off x="7291388" y="3924300"/>
            <a:ext cx="9525" cy="1466850"/>
          </a:xfrm>
          <a:prstGeom prst="rect">
            <a:avLst/>
          </a:prstGeom>
          <a:solidFill>
            <a:srgbClr val="E3DCD3"/>
          </a:solidFill>
          <a:ln>
            <a:noFill/>
          </a:ln>
        </p:spPr>
        <p:txBody>
          <a:bodyPr rtlCol="0" anchor="ctr"/>
          <a:lstStyle/>
          <a:p>
            <a:pPr algn="ctr"/>
          </a:p>
        </p:txBody>
      </p:sp>
      <p:sp>
        <p:nvSpPr>
          <p:cNvPr id="41" name="Rule"/>
          <p:cNvSpPr/>
          <p:nvPr/>
        </p:nvSpPr>
        <p:spPr>
          <a:xfrm>
            <a:off x="5095875" y="5381625"/>
            <a:ext cx="2205038" cy="9525"/>
          </a:xfrm>
          <a:prstGeom prst="rect">
            <a:avLst/>
          </a:prstGeom>
          <a:solidFill>
            <a:srgbClr val="E3DCD3"/>
          </a:solidFill>
          <a:ln>
            <a:noFill/>
          </a:ln>
        </p:spPr>
        <p:txBody>
          <a:bodyPr rtlCol="0" anchor="ctr"/>
          <a:lstStyle/>
          <a:p>
            <a:pPr algn="ctr"/>
          </a:p>
        </p:txBody>
      </p:sp>
      <p:sp>
        <p:nvSpPr>
          <p:cNvPr id="42" name="Rule"/>
          <p:cNvSpPr/>
          <p:nvPr/>
        </p:nvSpPr>
        <p:spPr>
          <a:xfrm>
            <a:off x="5095875" y="3924300"/>
            <a:ext cx="9525" cy="1466850"/>
          </a:xfrm>
          <a:prstGeom prst="rect">
            <a:avLst/>
          </a:prstGeom>
          <a:solidFill>
            <a:srgbClr val="E3DCD3"/>
          </a:solidFill>
          <a:ln>
            <a:noFill/>
          </a:ln>
        </p:spPr>
        <p:txBody>
          <a:bodyPr rtlCol="0" anchor="ctr"/>
          <a:lstStyle/>
          <a:p>
            <a:pPr algn="ctr"/>
          </a:p>
        </p:txBody>
      </p:sp>
      <p:pic>
        <p:nvPicPr>
          <p:cNvPr id="43" name="LSEG League Table" descr="LSEG League Table"/>
          <p:cNvPicPr>
            <a:picLocks noChangeAspect="1"/>
          </p:cNvPicPr>
          <p:nvPr/>
        </p:nvPicPr>
        <p:blipFill>
          <a:blip r:embed="rId6"/>
          <a:stretch>
            <a:fillRect/>
          </a:stretch>
        </p:blipFill>
        <p:spPr>
          <a:xfrm>
            <a:off x="5191274" y="4086225"/>
            <a:ext cx="2014091" cy="1162050"/>
          </a:xfrm>
          <a:prstGeom prst="rect">
            <a:avLst/>
          </a:prstGeom>
        </p:spPr>
      </p:pic>
      <p:sp>
        <p:nvSpPr>
          <p:cNvPr id="44" name="Panel"/>
          <p:cNvSpPr/>
          <p:nvPr/>
        </p:nvSpPr>
        <p:spPr>
          <a:xfrm>
            <a:off x="7434262" y="3924300"/>
            <a:ext cx="2205038" cy="1466850"/>
          </a:xfrm>
          <a:prstGeom prst="rect">
            <a:avLst/>
          </a:prstGeom>
          <a:solidFill>
            <a:srgbClr val="FFFFFF"/>
          </a:solidFill>
          <a:ln>
            <a:noFill/>
          </a:ln>
        </p:spPr>
        <p:txBody>
          <a:bodyPr rtlCol="0" anchor="ctr"/>
          <a:lstStyle/>
          <a:p>
            <a:pPr algn="ctr"/>
          </a:p>
        </p:txBody>
      </p:sp>
      <p:sp>
        <p:nvSpPr>
          <p:cNvPr id="45" name="Rule"/>
          <p:cNvSpPr/>
          <p:nvPr/>
        </p:nvSpPr>
        <p:spPr>
          <a:xfrm>
            <a:off x="7434262" y="3924300"/>
            <a:ext cx="2205038" cy="28575"/>
          </a:xfrm>
          <a:prstGeom prst="rect">
            <a:avLst/>
          </a:prstGeom>
          <a:solidFill>
            <a:srgbClr val="B68757"/>
          </a:solidFill>
          <a:ln>
            <a:noFill/>
          </a:ln>
        </p:spPr>
        <p:txBody>
          <a:bodyPr rtlCol="0" anchor="ctr"/>
          <a:lstStyle/>
          <a:p>
            <a:pPr algn="ctr"/>
          </a:p>
        </p:txBody>
      </p:sp>
      <p:sp>
        <p:nvSpPr>
          <p:cNvPr id="46" name="Rule"/>
          <p:cNvSpPr/>
          <p:nvPr/>
        </p:nvSpPr>
        <p:spPr>
          <a:xfrm>
            <a:off x="9629775" y="3924300"/>
            <a:ext cx="9525" cy="1466850"/>
          </a:xfrm>
          <a:prstGeom prst="rect">
            <a:avLst/>
          </a:prstGeom>
          <a:solidFill>
            <a:srgbClr val="E3DCD3"/>
          </a:solidFill>
          <a:ln>
            <a:noFill/>
          </a:ln>
        </p:spPr>
        <p:txBody>
          <a:bodyPr rtlCol="0" anchor="ctr"/>
          <a:lstStyle/>
          <a:p>
            <a:pPr algn="ctr"/>
          </a:p>
        </p:txBody>
      </p:sp>
      <p:sp>
        <p:nvSpPr>
          <p:cNvPr id="47" name="Rule"/>
          <p:cNvSpPr/>
          <p:nvPr/>
        </p:nvSpPr>
        <p:spPr>
          <a:xfrm>
            <a:off x="7434262" y="5381625"/>
            <a:ext cx="2205038" cy="9525"/>
          </a:xfrm>
          <a:prstGeom prst="rect">
            <a:avLst/>
          </a:prstGeom>
          <a:solidFill>
            <a:srgbClr val="E3DCD3"/>
          </a:solidFill>
          <a:ln>
            <a:noFill/>
          </a:ln>
        </p:spPr>
        <p:txBody>
          <a:bodyPr rtlCol="0" anchor="ctr"/>
          <a:lstStyle/>
          <a:p>
            <a:pPr algn="ctr"/>
          </a:p>
        </p:txBody>
      </p:sp>
      <p:sp>
        <p:nvSpPr>
          <p:cNvPr id="48" name="Rule"/>
          <p:cNvSpPr/>
          <p:nvPr/>
        </p:nvSpPr>
        <p:spPr>
          <a:xfrm>
            <a:off x="7434262" y="3924300"/>
            <a:ext cx="9525" cy="1466850"/>
          </a:xfrm>
          <a:prstGeom prst="rect">
            <a:avLst/>
          </a:prstGeom>
          <a:solidFill>
            <a:srgbClr val="E3DCD3"/>
          </a:solidFill>
          <a:ln>
            <a:noFill/>
          </a:ln>
        </p:spPr>
        <p:txBody>
          <a:bodyPr rtlCol="0" anchor="ctr"/>
          <a:lstStyle/>
          <a:p>
            <a:pPr algn="ctr"/>
          </a:p>
        </p:txBody>
      </p:sp>
      <p:pic>
        <p:nvPicPr>
          <p:cNvPr id="49" name="DealMakers Award" descr="DealMakers Award"/>
          <p:cNvPicPr>
            <a:picLocks noChangeAspect="1"/>
          </p:cNvPicPr>
          <p:nvPr/>
        </p:nvPicPr>
        <p:blipFill>
          <a:blip r:embed="rId7"/>
          <a:stretch>
            <a:fillRect/>
          </a:stretch>
        </p:blipFill>
        <p:spPr>
          <a:xfrm>
            <a:off x="7529661" y="4086225"/>
            <a:ext cx="2014091" cy="1162050"/>
          </a:xfrm>
          <a:prstGeom prst="rect">
            <a:avLst/>
          </a:prstGeom>
        </p:spPr>
      </p:pic>
      <p:sp>
        <p:nvSpPr>
          <p:cNvPr id="50" name="TextBox 49"/>
          <p:cNvSpPr txBox="1"/>
          <p:nvPr/>
        </p:nvSpPr>
        <p:spPr>
          <a:xfrm>
            <a:off x="419100" y="6133910"/>
            <a:ext cx="869752" cy="104775"/>
          </a:xfrm>
          <a:prstGeom prst="rect">
            <a:avLst/>
          </a:prstGeom>
          <a:noFill/>
        </p:spPr>
        <p:txBody>
          <a:bodyPr wrap="none" lIns="0" rIns="0" tIns="0" bIns="0" anchor="t">
            <a:noAutofit/>
          </a:bodyPr>
          <a:lstStyle/>
          <a:p>
            <a:pPr algn="l">
              <a:lnSpc>
                <a:spcPts val="975"/>
              </a:lnSpc>
              <a:spcBef>
                <a:spcPts val="0"/>
              </a:spcBef>
              <a:spcAft>
                <a:spcPts val="0"/>
              </a:spcAft>
            </a:pPr>
            <a:r>
              <a:rPr sz="675" b="1" i="0" spc="150">
                <a:solidFill>
                  <a:srgbClr val="8C6239"/>
                </a:solidFill>
                <a:latin typeface="Quicksand"/>
              </a:rPr>
              <a:t>FIVE SECTORS</a:t>
            </a:r>
          </a:p>
        </p:txBody>
      </p:sp>
      <p:sp>
        <p:nvSpPr>
          <p:cNvPr id="51" name="Panel"/>
          <p:cNvSpPr/>
          <p:nvPr/>
        </p:nvSpPr>
        <p:spPr>
          <a:xfrm>
            <a:off x="419100" y="6353175"/>
            <a:ext cx="1752600" cy="581025"/>
          </a:xfrm>
          <a:prstGeom prst="rect">
            <a:avLst/>
          </a:prstGeom>
          <a:solidFill>
            <a:srgbClr val="FAF7F3"/>
          </a:solidFill>
          <a:ln>
            <a:noFill/>
          </a:ln>
        </p:spPr>
        <p:txBody>
          <a:bodyPr rtlCol="0" anchor="ctr"/>
          <a:lstStyle/>
          <a:p>
            <a:pPr algn="ctr"/>
          </a:p>
        </p:txBody>
      </p:sp>
      <p:sp>
        <p:nvSpPr>
          <p:cNvPr id="52" name="Rule"/>
          <p:cNvSpPr/>
          <p:nvPr/>
        </p:nvSpPr>
        <p:spPr>
          <a:xfrm>
            <a:off x="419100" y="6353175"/>
            <a:ext cx="1752600" cy="28575"/>
          </a:xfrm>
          <a:prstGeom prst="rect">
            <a:avLst/>
          </a:prstGeom>
          <a:solidFill>
            <a:srgbClr val="B68757"/>
          </a:solidFill>
          <a:ln>
            <a:noFill/>
          </a:ln>
        </p:spPr>
        <p:txBody>
          <a:bodyPr rtlCol="0" anchor="ctr"/>
          <a:lstStyle/>
          <a:p>
            <a:pPr algn="ctr"/>
          </a:p>
        </p:txBody>
      </p:sp>
      <p:pic>
        <p:nvPicPr>
          <p:cNvPr id="53" name="Graphic" descr="S17_r0.png"/>
          <p:cNvPicPr>
            <a:picLocks noChangeAspect="1"/>
          </p:cNvPicPr>
          <p:nvPr/>
        </p:nvPicPr>
        <p:blipFill>
          <a:blip r:embed="rId8"/>
          <a:stretch>
            <a:fillRect/>
          </a:stretch>
        </p:blipFill>
        <p:spPr>
          <a:xfrm>
            <a:off x="533400" y="6515100"/>
            <a:ext cx="285750" cy="285750"/>
          </a:xfrm>
          <a:prstGeom prst="rect">
            <a:avLst/>
          </a:prstGeom>
        </p:spPr>
      </p:pic>
      <p:sp>
        <p:nvSpPr>
          <p:cNvPr id="54" name="TextBox 53"/>
          <p:cNvSpPr txBox="1"/>
          <p:nvPr/>
        </p:nvSpPr>
        <p:spPr>
          <a:xfrm>
            <a:off x="914400" y="6581299"/>
            <a:ext cx="734020" cy="123825"/>
          </a:xfrm>
          <a:prstGeom prst="rect">
            <a:avLst/>
          </a:prstGeom>
          <a:noFill/>
        </p:spPr>
        <p:txBody>
          <a:bodyPr wrap="none" lIns="0" rIns="0" tIns="0" bIns="0" anchor="t">
            <a:noAutofit/>
          </a:bodyPr>
          <a:lstStyle/>
          <a:p>
            <a:pPr algn="l">
              <a:lnSpc>
                <a:spcPts val="1011"/>
              </a:lnSpc>
              <a:spcBef>
                <a:spcPts val="0"/>
              </a:spcBef>
              <a:spcAft>
                <a:spcPts val="0"/>
              </a:spcAft>
            </a:pPr>
            <a:r>
              <a:rPr sz="750" b="1" i="0" spc="98">
                <a:solidFill>
                  <a:srgbClr val="1B1A1A"/>
                </a:solidFill>
                <a:latin typeface="Quicksand"/>
              </a:rPr>
              <a:t>INDUSTRIAL</a:t>
            </a:r>
          </a:p>
        </p:txBody>
      </p:sp>
      <p:sp>
        <p:nvSpPr>
          <p:cNvPr id="55" name="Panel"/>
          <p:cNvSpPr/>
          <p:nvPr/>
        </p:nvSpPr>
        <p:spPr>
          <a:xfrm>
            <a:off x="2286000" y="6353175"/>
            <a:ext cx="1752600" cy="581025"/>
          </a:xfrm>
          <a:prstGeom prst="rect">
            <a:avLst/>
          </a:prstGeom>
          <a:solidFill>
            <a:srgbClr val="FAF7F3"/>
          </a:solidFill>
          <a:ln>
            <a:noFill/>
          </a:ln>
        </p:spPr>
        <p:txBody>
          <a:bodyPr rtlCol="0" anchor="ctr"/>
          <a:lstStyle/>
          <a:p>
            <a:pPr algn="ctr"/>
          </a:p>
        </p:txBody>
      </p:sp>
      <p:sp>
        <p:nvSpPr>
          <p:cNvPr id="56" name="Rule"/>
          <p:cNvSpPr/>
          <p:nvPr/>
        </p:nvSpPr>
        <p:spPr>
          <a:xfrm>
            <a:off x="2286000" y="6353175"/>
            <a:ext cx="1752600" cy="28575"/>
          </a:xfrm>
          <a:prstGeom prst="rect">
            <a:avLst/>
          </a:prstGeom>
          <a:solidFill>
            <a:srgbClr val="B68757"/>
          </a:solidFill>
          <a:ln>
            <a:noFill/>
          </a:ln>
        </p:spPr>
        <p:txBody>
          <a:bodyPr rtlCol="0" anchor="ctr"/>
          <a:lstStyle/>
          <a:p>
            <a:pPr algn="ctr"/>
          </a:p>
        </p:txBody>
      </p:sp>
      <p:pic>
        <p:nvPicPr>
          <p:cNvPr id="57" name="Graphic" descr="S17_r1.png"/>
          <p:cNvPicPr>
            <a:picLocks noChangeAspect="1"/>
          </p:cNvPicPr>
          <p:nvPr/>
        </p:nvPicPr>
        <p:blipFill>
          <a:blip r:embed="rId9"/>
          <a:stretch>
            <a:fillRect/>
          </a:stretch>
        </p:blipFill>
        <p:spPr>
          <a:xfrm>
            <a:off x="2400300" y="6515100"/>
            <a:ext cx="285750" cy="285750"/>
          </a:xfrm>
          <a:prstGeom prst="rect">
            <a:avLst/>
          </a:prstGeom>
        </p:spPr>
      </p:pic>
      <p:sp>
        <p:nvSpPr>
          <p:cNvPr id="58" name="TextBox 57"/>
          <p:cNvSpPr txBox="1"/>
          <p:nvPr/>
        </p:nvSpPr>
        <p:spPr>
          <a:xfrm>
            <a:off x="2781300" y="6581299"/>
            <a:ext cx="1181398" cy="123825"/>
          </a:xfrm>
          <a:prstGeom prst="rect">
            <a:avLst/>
          </a:prstGeom>
          <a:noFill/>
        </p:spPr>
        <p:txBody>
          <a:bodyPr wrap="none" lIns="0" rIns="0" tIns="0" bIns="0" anchor="t">
            <a:noAutofit/>
          </a:bodyPr>
          <a:lstStyle/>
          <a:p>
            <a:pPr algn="l">
              <a:lnSpc>
                <a:spcPts val="1011"/>
              </a:lnSpc>
              <a:spcBef>
                <a:spcPts val="0"/>
              </a:spcBef>
              <a:spcAft>
                <a:spcPts val="0"/>
              </a:spcAft>
            </a:pPr>
            <a:r>
              <a:rPr sz="750" b="1" i="0" spc="98">
                <a:solidFill>
                  <a:srgbClr val="1B1A1A"/>
                </a:solidFill>
                <a:latin typeface="Quicksand"/>
              </a:rPr>
              <a:t>BUSINESS SERVICES</a:t>
            </a:r>
          </a:p>
        </p:txBody>
      </p:sp>
      <p:sp>
        <p:nvSpPr>
          <p:cNvPr id="59" name="Panel"/>
          <p:cNvSpPr/>
          <p:nvPr/>
        </p:nvSpPr>
        <p:spPr>
          <a:xfrm>
            <a:off x="4152900" y="6353175"/>
            <a:ext cx="1752600" cy="581025"/>
          </a:xfrm>
          <a:prstGeom prst="rect">
            <a:avLst/>
          </a:prstGeom>
          <a:solidFill>
            <a:srgbClr val="FAF7F3"/>
          </a:solidFill>
          <a:ln>
            <a:noFill/>
          </a:ln>
        </p:spPr>
        <p:txBody>
          <a:bodyPr rtlCol="0" anchor="ctr"/>
          <a:lstStyle/>
          <a:p>
            <a:pPr algn="ctr"/>
          </a:p>
        </p:txBody>
      </p:sp>
      <p:sp>
        <p:nvSpPr>
          <p:cNvPr id="60" name="Rule"/>
          <p:cNvSpPr/>
          <p:nvPr/>
        </p:nvSpPr>
        <p:spPr>
          <a:xfrm>
            <a:off x="4152900" y="6353175"/>
            <a:ext cx="1752600" cy="28575"/>
          </a:xfrm>
          <a:prstGeom prst="rect">
            <a:avLst/>
          </a:prstGeom>
          <a:solidFill>
            <a:srgbClr val="B68757"/>
          </a:solidFill>
          <a:ln>
            <a:noFill/>
          </a:ln>
        </p:spPr>
        <p:txBody>
          <a:bodyPr rtlCol="0" anchor="ctr"/>
          <a:lstStyle/>
          <a:p>
            <a:pPr algn="ctr"/>
          </a:p>
        </p:txBody>
      </p:sp>
      <p:pic>
        <p:nvPicPr>
          <p:cNvPr id="61" name="Graphic" descr="S17_r2.png"/>
          <p:cNvPicPr>
            <a:picLocks noChangeAspect="1"/>
          </p:cNvPicPr>
          <p:nvPr/>
        </p:nvPicPr>
        <p:blipFill>
          <a:blip r:embed="rId10"/>
          <a:stretch>
            <a:fillRect/>
          </a:stretch>
        </p:blipFill>
        <p:spPr>
          <a:xfrm>
            <a:off x="4267200" y="6515100"/>
            <a:ext cx="285750" cy="285750"/>
          </a:xfrm>
          <a:prstGeom prst="rect">
            <a:avLst/>
          </a:prstGeom>
        </p:spPr>
      </p:pic>
      <p:sp>
        <p:nvSpPr>
          <p:cNvPr id="62" name="TextBox 61"/>
          <p:cNvSpPr txBox="1"/>
          <p:nvPr/>
        </p:nvSpPr>
        <p:spPr>
          <a:xfrm>
            <a:off x="4648200" y="6581299"/>
            <a:ext cx="680293" cy="123825"/>
          </a:xfrm>
          <a:prstGeom prst="rect">
            <a:avLst/>
          </a:prstGeom>
          <a:noFill/>
        </p:spPr>
        <p:txBody>
          <a:bodyPr wrap="none" lIns="0" rIns="0" tIns="0" bIns="0" anchor="t">
            <a:noAutofit/>
          </a:bodyPr>
          <a:lstStyle/>
          <a:p>
            <a:pPr algn="l">
              <a:lnSpc>
                <a:spcPts val="1011"/>
              </a:lnSpc>
              <a:spcBef>
                <a:spcPts val="0"/>
              </a:spcBef>
              <a:spcAft>
                <a:spcPts val="0"/>
              </a:spcAft>
            </a:pPr>
            <a:r>
              <a:rPr sz="750" b="1" i="0" spc="98">
                <a:solidFill>
                  <a:srgbClr val="1B1A1A"/>
                </a:solidFill>
                <a:latin typeface="Quicksand"/>
              </a:rPr>
              <a:t>CONSUMER</a:t>
            </a:r>
          </a:p>
        </p:txBody>
      </p:sp>
      <p:sp>
        <p:nvSpPr>
          <p:cNvPr id="63" name="Panel"/>
          <p:cNvSpPr/>
          <p:nvPr/>
        </p:nvSpPr>
        <p:spPr>
          <a:xfrm>
            <a:off x="6019800" y="6353175"/>
            <a:ext cx="1752600" cy="581025"/>
          </a:xfrm>
          <a:prstGeom prst="rect">
            <a:avLst/>
          </a:prstGeom>
          <a:solidFill>
            <a:srgbClr val="FAF7F3"/>
          </a:solidFill>
          <a:ln>
            <a:noFill/>
          </a:ln>
        </p:spPr>
        <p:txBody>
          <a:bodyPr rtlCol="0" anchor="ctr"/>
          <a:lstStyle/>
          <a:p>
            <a:pPr algn="ctr"/>
          </a:p>
        </p:txBody>
      </p:sp>
      <p:sp>
        <p:nvSpPr>
          <p:cNvPr id="64" name="Rule"/>
          <p:cNvSpPr/>
          <p:nvPr/>
        </p:nvSpPr>
        <p:spPr>
          <a:xfrm>
            <a:off x="6019800" y="6353175"/>
            <a:ext cx="1752600" cy="28575"/>
          </a:xfrm>
          <a:prstGeom prst="rect">
            <a:avLst/>
          </a:prstGeom>
          <a:solidFill>
            <a:srgbClr val="B68757"/>
          </a:solidFill>
          <a:ln>
            <a:noFill/>
          </a:ln>
        </p:spPr>
        <p:txBody>
          <a:bodyPr rtlCol="0" anchor="ctr"/>
          <a:lstStyle/>
          <a:p>
            <a:pPr algn="ctr"/>
          </a:p>
        </p:txBody>
      </p:sp>
      <p:pic>
        <p:nvPicPr>
          <p:cNvPr id="65" name="Graphic" descr="S17_r3.png"/>
          <p:cNvPicPr>
            <a:picLocks noChangeAspect="1"/>
          </p:cNvPicPr>
          <p:nvPr/>
        </p:nvPicPr>
        <p:blipFill>
          <a:blip r:embed="rId11"/>
          <a:stretch>
            <a:fillRect/>
          </a:stretch>
        </p:blipFill>
        <p:spPr>
          <a:xfrm>
            <a:off x="6134100" y="6515100"/>
            <a:ext cx="285750" cy="285750"/>
          </a:xfrm>
          <a:prstGeom prst="rect">
            <a:avLst/>
          </a:prstGeom>
        </p:spPr>
      </p:pic>
      <p:sp>
        <p:nvSpPr>
          <p:cNvPr id="66" name="TextBox 65"/>
          <p:cNvSpPr txBox="1"/>
          <p:nvPr/>
        </p:nvSpPr>
        <p:spPr>
          <a:xfrm>
            <a:off x="6515100" y="6581299"/>
            <a:ext cx="777478" cy="123825"/>
          </a:xfrm>
          <a:prstGeom prst="rect">
            <a:avLst/>
          </a:prstGeom>
          <a:noFill/>
        </p:spPr>
        <p:txBody>
          <a:bodyPr wrap="none" lIns="0" rIns="0" tIns="0" bIns="0" anchor="t">
            <a:noAutofit/>
          </a:bodyPr>
          <a:lstStyle/>
          <a:p>
            <a:pPr algn="l">
              <a:lnSpc>
                <a:spcPts val="1011"/>
              </a:lnSpc>
              <a:spcBef>
                <a:spcPts val="0"/>
              </a:spcBef>
              <a:spcAft>
                <a:spcPts val="0"/>
              </a:spcAft>
            </a:pPr>
            <a:r>
              <a:rPr sz="750" b="1" i="0" spc="98">
                <a:solidFill>
                  <a:srgbClr val="1B1A1A"/>
                </a:solidFill>
                <a:latin typeface="Quicksand"/>
              </a:rPr>
              <a:t>HEALTHCARE</a:t>
            </a:r>
          </a:p>
        </p:txBody>
      </p:sp>
      <p:sp>
        <p:nvSpPr>
          <p:cNvPr id="67" name="Panel"/>
          <p:cNvSpPr/>
          <p:nvPr/>
        </p:nvSpPr>
        <p:spPr>
          <a:xfrm>
            <a:off x="7886700" y="6353175"/>
            <a:ext cx="1752600" cy="581025"/>
          </a:xfrm>
          <a:prstGeom prst="rect">
            <a:avLst/>
          </a:prstGeom>
          <a:solidFill>
            <a:srgbClr val="FAF7F3"/>
          </a:solidFill>
          <a:ln>
            <a:noFill/>
          </a:ln>
        </p:spPr>
        <p:txBody>
          <a:bodyPr rtlCol="0" anchor="ctr"/>
          <a:lstStyle/>
          <a:p>
            <a:pPr algn="ctr"/>
          </a:p>
        </p:txBody>
      </p:sp>
      <p:sp>
        <p:nvSpPr>
          <p:cNvPr id="68" name="Rule"/>
          <p:cNvSpPr/>
          <p:nvPr/>
        </p:nvSpPr>
        <p:spPr>
          <a:xfrm>
            <a:off x="7886700" y="6353175"/>
            <a:ext cx="1752600" cy="28575"/>
          </a:xfrm>
          <a:prstGeom prst="rect">
            <a:avLst/>
          </a:prstGeom>
          <a:solidFill>
            <a:srgbClr val="1B1A1A"/>
          </a:solidFill>
          <a:ln>
            <a:noFill/>
          </a:ln>
        </p:spPr>
        <p:txBody>
          <a:bodyPr rtlCol="0" anchor="ctr"/>
          <a:lstStyle/>
          <a:p>
            <a:pPr algn="ctr"/>
          </a:p>
        </p:txBody>
      </p:sp>
      <p:pic>
        <p:nvPicPr>
          <p:cNvPr id="69" name="Graphic" descr="S17_r4.png"/>
          <p:cNvPicPr>
            <a:picLocks noChangeAspect="1"/>
          </p:cNvPicPr>
          <p:nvPr/>
        </p:nvPicPr>
        <p:blipFill>
          <a:blip r:embed="rId12"/>
          <a:stretch>
            <a:fillRect/>
          </a:stretch>
        </p:blipFill>
        <p:spPr>
          <a:xfrm>
            <a:off x="8001000" y="6515100"/>
            <a:ext cx="285750" cy="285750"/>
          </a:xfrm>
          <a:prstGeom prst="rect">
            <a:avLst/>
          </a:prstGeom>
        </p:spPr>
      </p:pic>
      <p:sp>
        <p:nvSpPr>
          <p:cNvPr id="70" name="TextBox 69"/>
          <p:cNvSpPr txBox="1"/>
          <p:nvPr/>
        </p:nvSpPr>
        <p:spPr>
          <a:xfrm>
            <a:off x="8382000" y="6581299"/>
            <a:ext cx="811262" cy="123825"/>
          </a:xfrm>
          <a:prstGeom prst="rect">
            <a:avLst/>
          </a:prstGeom>
          <a:noFill/>
        </p:spPr>
        <p:txBody>
          <a:bodyPr wrap="none" lIns="0" rIns="0" tIns="0" bIns="0" anchor="t">
            <a:noAutofit/>
          </a:bodyPr>
          <a:lstStyle/>
          <a:p>
            <a:pPr algn="l">
              <a:lnSpc>
                <a:spcPts val="1011"/>
              </a:lnSpc>
              <a:spcBef>
                <a:spcPts val="0"/>
              </a:spcBef>
              <a:spcAft>
                <a:spcPts val="0"/>
              </a:spcAft>
            </a:pPr>
            <a:r>
              <a:rPr sz="750" b="1" i="0" spc="98">
                <a:solidFill>
                  <a:srgbClr val="1B1A1A"/>
                </a:solidFill>
                <a:latin typeface="Quicksand"/>
              </a:rPr>
              <a:t>TECHNOLOGY</a:t>
            </a:r>
          </a:p>
        </p:txBody>
      </p:sp>
      <p:sp>
        <p:nvSpPr>
          <p:cNvPr id="71" name="Panel"/>
          <p:cNvSpPr/>
          <p:nvPr/>
        </p:nvSpPr>
        <p:spPr>
          <a:xfrm>
            <a:off x="419100" y="7029450"/>
            <a:ext cx="9220200" cy="9525"/>
          </a:xfrm>
          <a:prstGeom prst="rect">
            <a:avLst/>
          </a:prstGeom>
          <a:solidFill>
            <a:srgbClr val="E3DCD3"/>
          </a:solidFill>
          <a:ln>
            <a:noFill/>
          </a:ln>
        </p:spPr>
        <p:txBody>
          <a:bodyPr rtlCol="0" anchor="ctr"/>
          <a:lstStyle/>
          <a:p>
            <a:pPr algn="ctr"/>
          </a:p>
        </p:txBody>
      </p:sp>
      <p:pic>
        <p:nvPicPr>
          <p:cNvPr id="72" name="Graphic" descr="S03_r6.png"/>
          <p:cNvPicPr>
            <a:picLocks noChangeAspect="1"/>
          </p:cNvPicPr>
          <p:nvPr/>
        </p:nvPicPr>
        <p:blipFill>
          <a:blip r:embed="rId13"/>
          <a:stretch>
            <a:fillRect/>
          </a:stretch>
        </p:blipFill>
        <p:spPr>
          <a:xfrm>
            <a:off x="419100" y="7143750"/>
            <a:ext cx="914400" cy="171450"/>
          </a:xfrm>
          <a:prstGeom prst="rect">
            <a:avLst/>
          </a:prstGeom>
        </p:spPr>
      </p:pic>
      <p:sp>
        <p:nvSpPr>
          <p:cNvPr id="73" name="TextBox 72"/>
          <p:cNvSpPr txBox="1"/>
          <p:nvPr/>
        </p:nvSpPr>
        <p:spPr>
          <a:xfrm>
            <a:off x="1543050" y="7091172"/>
            <a:ext cx="6821537" cy="104775"/>
          </a:xfrm>
          <a:prstGeom prst="rect">
            <a:avLst/>
          </a:prstGeom>
          <a:noFill/>
        </p:spPr>
        <p:txBody>
          <a:bodyPr wrap="none" lIns="0" rIns="0" tIns="0" bIns="0" anchor="t">
            <a:noAutofit/>
          </a:bodyPr>
          <a:lstStyle/>
          <a:p>
            <a:pPr algn="l">
              <a:lnSpc>
                <a:spcPts val="938"/>
              </a:lnSpc>
              <a:spcBef>
                <a:spcPts val="0"/>
              </a:spcBef>
              <a:spcAft>
                <a:spcPts val="0"/>
              </a:spcAft>
            </a:pPr>
            <a:r>
              <a:rPr sz="675" b="0" i="0" spc="8">
                <a:solidFill>
                  <a:srgbClr val="6F6A66"/>
                </a:solidFill>
                <a:latin typeface="Quicksand"/>
              </a:rPr>
              <a:t>Ranking based on PitchBook's Q2 2026 Global League Tables, as published at </a:t>
            </a:r>
            <a:r>
              <a:rPr sz="675" b="0" i="0" spc="8" u="sng">
                <a:solidFill>
                  <a:srgbClr val="8C6239"/>
                </a:solidFill>
                <a:latin typeface="Quicksand"/>
                <a:hlinkClick r:id="rId14">
                  <a:extLst>
                    <a:ext uri="{A12FA001-AC4F-418D-AE19-62706E023703}">
                      <ahyp:hlinkClr xmlns:ahyp="http://schemas.microsoft.com/office/drawing/2018/hyperlinkcolor" val="tx"/>
                    </a:ext>
                  </a:extLst>
                </a:hlinkClick>
              </a:rPr>
              <a:t>benchmarkintl.com</a:t>
            </a:r>
            <a:r>
              <a:rPr sz="675" b="0" i="0" spc="8">
                <a:solidFill>
                  <a:srgbClr val="6F6A66"/>
                </a:solidFill>
                <a:latin typeface="Quicksand"/>
              </a:rPr>
              <a:t>. Awards as shown on the Benchmark International Middle Market site.</a:t>
            </a:r>
          </a:p>
        </p:txBody>
      </p:sp>
      <p:sp>
        <p:nvSpPr>
          <p:cNvPr id="74" name="TextBox 73"/>
          <p:cNvSpPr txBox="1"/>
          <p:nvPr/>
        </p:nvSpPr>
        <p:spPr>
          <a:xfrm>
            <a:off x="9516219" y="7149370"/>
            <a:ext cx="123081" cy="114300"/>
          </a:xfrm>
          <a:prstGeom prst="rect">
            <a:avLst/>
          </a:prstGeom>
          <a:noFill/>
        </p:spPr>
        <p:txBody>
          <a:bodyPr wrap="none" lIns="0" rIns="0" tIns="0" bIns="0" anchor="t">
            <a:noAutofit/>
          </a:bodyPr>
          <a:lstStyle/>
          <a:p>
            <a:pPr algn="r">
              <a:lnSpc>
                <a:spcPts val="1050"/>
              </a:lnSpc>
              <a:spcBef>
                <a:spcPts val="0"/>
              </a:spcBef>
              <a:spcAft>
                <a:spcPts val="0"/>
              </a:spcAft>
            </a:pPr>
            <a:r>
              <a:rPr sz="712" b="1" i="0" spc="150">
                <a:solidFill>
                  <a:srgbClr val="1B1A1A"/>
                </a:solidFill>
                <a:latin typeface="Quicksand"/>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3" name="Panel"/>
          <p:cNvSpPr/>
          <p:nvPr/>
        </p:nvSpPr>
        <p:spPr>
          <a:xfrm>
            <a:off x="0" y="0"/>
            <a:ext cx="10058400" cy="7772400"/>
          </a:xfrm>
          <a:prstGeom prst="rect">
            <a:avLst/>
          </a:prstGeom>
          <a:solidFill>
            <a:srgbClr val="FFFFFF"/>
          </a:solidFill>
          <a:ln>
            <a:noFill/>
          </a:ln>
        </p:spPr>
        <p:txBody>
          <a:bodyPr rtlCol="0" anchor="ctr"/>
          <a:lstStyle/>
          <a:p>
            <a:pPr algn="ctr"/>
          </a:p>
        </p:txBody>
      </p:sp>
      <p:sp>
        <p:nvSpPr>
          <p:cNvPr id="4" name="Panel"/>
          <p:cNvSpPr/>
          <p:nvPr/>
        </p:nvSpPr>
        <p:spPr>
          <a:xfrm>
            <a:off x="0" y="0"/>
            <a:ext cx="57150" cy="7772400"/>
          </a:xfrm>
          <a:prstGeom prst="rect">
            <a:avLst/>
          </a:prstGeom>
          <a:solidFill>
            <a:srgbClr val="B68757"/>
          </a:solidFill>
          <a:ln>
            <a:noFill/>
          </a:ln>
        </p:spPr>
        <p:txBody>
          <a:bodyPr rtlCol="0" anchor="ctr"/>
          <a:lstStyle/>
          <a:p>
            <a:pPr algn="ctr"/>
          </a:p>
        </p:txBody>
      </p:sp>
      <p:sp>
        <p:nvSpPr>
          <p:cNvPr id="5" name="TextBox 4"/>
          <p:cNvSpPr txBox="1"/>
          <p:nvPr/>
        </p:nvSpPr>
        <p:spPr>
          <a:xfrm>
            <a:off x="419100" y="361760"/>
            <a:ext cx="2764185" cy="104775"/>
          </a:xfrm>
          <a:prstGeom prst="rect">
            <a:avLst/>
          </a:prstGeom>
          <a:noFill/>
        </p:spPr>
        <p:txBody>
          <a:bodyPr wrap="none" lIns="0" rIns="0" tIns="0" bIns="0" anchor="t">
            <a:noAutofit/>
          </a:bodyPr>
          <a:lstStyle/>
          <a:p>
            <a:pPr algn="l">
              <a:lnSpc>
                <a:spcPts val="1050"/>
              </a:lnSpc>
              <a:spcBef>
                <a:spcPts val="0"/>
              </a:spcBef>
              <a:spcAft>
                <a:spcPts val="0"/>
              </a:spcAft>
            </a:pPr>
            <a:r>
              <a:rPr sz="675" b="1" i="0" spc="195">
                <a:solidFill>
                  <a:srgbClr val="8C6239"/>
                </a:solidFill>
                <a:latin typeface="Quicksand"/>
              </a:rPr>
              <a:t>TECHNOLOGY  |  QUARTERLY SECTOR BRIEF</a:t>
            </a:r>
          </a:p>
        </p:txBody>
      </p:sp>
      <p:sp>
        <p:nvSpPr>
          <p:cNvPr id="6" name="TextBox 5"/>
          <p:cNvSpPr txBox="1"/>
          <p:nvPr/>
        </p:nvSpPr>
        <p:spPr>
          <a:xfrm>
            <a:off x="9112597" y="350901"/>
            <a:ext cx="526703" cy="152400"/>
          </a:xfrm>
          <a:prstGeom prst="rect">
            <a:avLst/>
          </a:prstGeom>
          <a:noFill/>
        </p:spPr>
        <p:txBody>
          <a:bodyPr wrap="none" lIns="0" rIns="0" tIns="0" bIns="0" anchor="t">
            <a:noAutofit/>
          </a:bodyPr>
          <a:lstStyle/>
          <a:p>
            <a:pPr algn="r">
              <a:lnSpc>
                <a:spcPts val="1350"/>
              </a:lnSpc>
              <a:spcBef>
                <a:spcPts val="0"/>
              </a:spcBef>
              <a:spcAft>
                <a:spcPts val="0"/>
              </a:spcAft>
            </a:pPr>
            <a:r>
              <a:rPr sz="900" b="0" i="0" spc="90">
                <a:solidFill>
                  <a:srgbClr val="6F6A66"/>
                </a:solidFill>
                <a:latin typeface="Cinzel"/>
              </a:rPr>
              <a:t>Q4 2026</a:t>
            </a:r>
          </a:p>
        </p:txBody>
      </p:sp>
      <p:sp>
        <p:nvSpPr>
          <p:cNvPr id="2" name="Title 1"/>
          <p:cNvSpPr>
            <a:spLocks noGrp="1"/>
          </p:cNvSpPr>
          <p:nvPr>
            <p:ph type="title"/>
          </p:nvPr>
        </p:nvSpPr>
        <p:spPr>
          <a:xfrm>
            <a:off x="419100" y="475488"/>
            <a:ext cx="2615952" cy="257175"/>
          </a:xfrm>
        </p:spPr>
        <p:txBody>
          <a:bodyPr wrap="none" lIns="0" rIns="0" tIns="0" bIns="0" anchor="t">
            <a:noAutofit/>
          </a:bodyPr>
          <a:lstStyle/>
          <a:p>
            <a:pPr algn="l">
              <a:lnSpc>
                <a:spcPts val="2550"/>
              </a:lnSpc>
              <a:spcBef>
                <a:spcPts val="0"/>
              </a:spcBef>
              <a:spcAft>
                <a:spcPts val="0"/>
              </a:spcAft>
            </a:pPr>
            <a:r>
              <a:rPr sz="2000" b="1" i="0">
                <a:solidFill>
                  <a:srgbClr val="1B1A1A"/>
                </a:solidFill>
                <a:latin typeface="Newsreader"/>
              </a:rPr>
              <a:t>Important Disclosures</a:t>
            </a:r>
          </a:p>
        </p:txBody>
      </p:sp>
      <p:sp>
        <p:nvSpPr>
          <p:cNvPr id="7" name="TextBox 6"/>
          <p:cNvSpPr txBox="1"/>
          <p:nvPr/>
        </p:nvSpPr>
        <p:spPr>
          <a:xfrm>
            <a:off x="419100" y="864394"/>
            <a:ext cx="2739033" cy="152400"/>
          </a:xfrm>
          <a:prstGeom prst="rect">
            <a:avLst/>
          </a:prstGeom>
          <a:noFill/>
        </p:spPr>
        <p:txBody>
          <a:bodyPr wrap="none" lIns="0" rIns="0" tIns="0" bIns="0" anchor="t">
            <a:noAutofit/>
          </a:bodyPr>
          <a:lstStyle/>
          <a:p>
            <a:pPr algn="l">
              <a:lnSpc>
                <a:spcPts val="1388"/>
              </a:lnSpc>
              <a:spcBef>
                <a:spcPts val="0"/>
              </a:spcBef>
              <a:spcAft>
                <a:spcPts val="0"/>
              </a:spcAft>
            </a:pPr>
            <a:r>
              <a:rPr sz="938" b="0" i="0" spc="15">
                <a:solidFill>
                  <a:srgbClr val="6F6A66"/>
                </a:solidFill>
                <a:latin typeface="Quicksand"/>
              </a:rPr>
              <a:t>Please read these notes together with the brief.</a:t>
            </a:r>
          </a:p>
        </p:txBody>
      </p:sp>
      <p:sp>
        <p:nvSpPr>
          <p:cNvPr id="8" name="Panel"/>
          <p:cNvSpPr/>
          <p:nvPr/>
        </p:nvSpPr>
        <p:spPr>
          <a:xfrm>
            <a:off x="419100" y="1143000"/>
            <a:ext cx="9220200" cy="9525"/>
          </a:xfrm>
          <a:prstGeom prst="rect">
            <a:avLst/>
          </a:prstGeom>
          <a:solidFill>
            <a:srgbClr val="E3DCD3"/>
          </a:solidFill>
          <a:ln>
            <a:noFill/>
          </a:ln>
        </p:spPr>
        <p:txBody>
          <a:bodyPr rtlCol="0" anchor="ctr"/>
          <a:lstStyle/>
          <a:p>
            <a:pPr algn="ctr"/>
          </a:p>
        </p:txBody>
      </p:sp>
      <p:sp>
        <p:nvSpPr>
          <p:cNvPr id="9" name="TextBox 8"/>
          <p:cNvSpPr txBox="1"/>
          <p:nvPr/>
        </p:nvSpPr>
        <p:spPr>
          <a:xfrm>
            <a:off x="419100" y="1207865"/>
            <a:ext cx="9220200" cy="3821335"/>
          </a:xfrm>
          <a:prstGeom prst="rect">
            <a:avLst/>
          </a:prstGeom>
          <a:noFill/>
        </p:spPr>
        <p:txBody>
          <a:bodyPr wrap="square" lIns="0" rIns="0" tIns="0" bIns="0" anchor="t" numCol="3" spcCol="285750">
            <a:noAutofit/>
          </a:bodyPr>
          <a:lstStyle/>
          <a:p>
            <a:pPr algn="l">
              <a:lnSpc>
                <a:spcPts val="1200"/>
              </a:lnSpc>
              <a:spcBef>
                <a:spcPts val="0"/>
              </a:spcBef>
              <a:spcAft>
                <a:spcPts val="750"/>
              </a:spcAft>
            </a:pPr>
            <a:r>
              <a:rPr sz="788" b="0" i="0" spc="15">
                <a:solidFill>
                  <a:srgbClr val="333231"/>
                </a:solidFill>
                <a:latin typeface="Quicksand"/>
              </a:rPr>
              <a:t>“Benchmark International” refers to the Benchmark International group of companies, which provide merger and acquisition advisory services to business owners through offices around the world. The Middle Market team is part of Benchmark International. Any reference to Benchmark International in this material includes its affiliated companies, as the context requires.</a:t>
            </a:r>
          </a:p>
          <a:p>
            <a:pPr algn="l">
              <a:lnSpc>
                <a:spcPts val="1200"/>
              </a:lnSpc>
              <a:spcBef>
                <a:spcPts val="0"/>
              </a:spcBef>
              <a:spcAft>
                <a:spcPts val="750"/>
              </a:spcAft>
            </a:pPr>
            <a:r>
              <a:rPr sz="788" b="0" i="0" spc="15">
                <a:solidFill>
                  <a:srgbClr val="333231"/>
                </a:solidFill>
                <a:latin typeface="Quicksand"/>
              </a:rPr>
              <a:t>Benchmark International and its affiliates may have had, may currently have, or may in the future have business relationships with companies named in this material, with potential parties to a transaction and their related persons, or with their competitors, customers or suppliers. When Benchmark International is engaged to provide advisory services in a transaction, it acts only for its client in connection with that transaction.</a:t>
            </a:r>
          </a:p>
          <a:p>
            <a:pPr algn="l">
              <a:lnSpc>
                <a:spcPts val="1200"/>
              </a:lnSpc>
              <a:spcBef>
                <a:spcPts val="0"/>
              </a:spcBef>
              <a:spcAft>
                <a:spcPts val="750"/>
              </a:spcAft>
            </a:pPr>
            <a:r>
              <a:rPr sz="788" b="0" i="0" spc="15">
                <a:solidFill>
                  <a:srgbClr val="333231"/>
                </a:solidFill>
                <a:latin typeface="Quicksand"/>
              </a:rPr>
              <a:t>The distribution of this material in certain jurisdictions may be restricted by law, and accordingly, recipients of this material represent that they are able to receive it without contravention of any registration requirement or other legal restrictions in the jurisdictions in which they reside or in which they conduct business.</a:t>
            </a:r>
          </a:p>
          <a:p>
            <a:pPr algn="l">
              <a:lnSpc>
                <a:spcPts val="1200"/>
              </a:lnSpc>
              <a:spcBef>
                <a:spcPts val="0"/>
              </a:spcBef>
              <a:spcAft>
                <a:spcPts val="750"/>
              </a:spcAft>
            </a:pPr>
            <a:r>
              <a:rPr sz="788" b="0" i="0" spc="15">
                <a:solidFill>
                  <a:srgbClr val="333231"/>
                </a:solidFill>
                <a:latin typeface="Quicksand"/>
              </a:rPr>
              <a:t>This material does not contain all the information needed to assess any transaction. You must conduct your own investigations and analyses. Benchmark International does not provide accounting, tax, investment, regulatory or legal advice to anyone. This material is for discussion and informational purposes only and is not a recommendation, offer or solicitation for the purchase or sale of any security or an invitation or inducement to engage in any transaction or investment activity. Benchmark International obtained the information in this material from public filings, company announcements, published reports and other third-party sources, together with its own transaction experience. Benchmark International has not independently verified such information, the information is current only as of the date stated, and no obligation is undertaken to provide updated or additional information. Transaction values, multiples and other figures are as publicly reported, and the value of any private company depends on its own circumstances. No representation or warranty, expressed or implied, is made in relation to the fairness, accuracy, correctness or completeness of the information, opinions or conclusions expressed herein. All forward-looking statements herein involve assumptions and elements of subjective judgment and analysis and are not facts. Past transactions are not indicative of future results, and nothing in this material guarantees future results or performance.</a:t>
            </a:r>
          </a:p>
          <a:p>
            <a:pPr algn="l">
              <a:lnSpc>
                <a:spcPts val="1200"/>
              </a:lnSpc>
              <a:spcBef>
                <a:spcPts val="0"/>
              </a:spcBef>
              <a:spcAft>
                <a:spcPts val="750"/>
              </a:spcAft>
            </a:pPr>
            <a:r>
              <a:rPr sz="788" b="0" i="0" spc="15">
                <a:solidFill>
                  <a:srgbClr val="333231"/>
                </a:solidFill>
                <a:latin typeface="Quicksand"/>
              </a:rPr>
              <a:t>Company names, logos and trademarks referenced in this material are the property of their respective owners and are used for identification only. Their use does not imply any affiliation with or endorsement by those owners.</a:t>
            </a:r>
          </a:p>
          <a:p>
            <a:pPr algn="l">
              <a:lnSpc>
                <a:spcPts val="1200"/>
              </a:lnSpc>
              <a:spcBef>
                <a:spcPts val="0"/>
              </a:spcBef>
              <a:spcAft>
                <a:spcPts val="750"/>
              </a:spcAft>
            </a:pPr>
            <a:r>
              <a:rPr sz="788" b="0" i="0" spc="15">
                <a:solidFill>
                  <a:srgbClr val="333231"/>
                </a:solidFill>
                <a:latin typeface="Quicksand"/>
              </a:rPr>
              <a:t>This material is only being distributed to, and only made available to, and directed at: (a) persons who are outside the United Kingdom; (b) persons in the United Kingdom who have professional experience in matters relating to investments falling within Article 19(5) of the UK Financial Services and Markets Act 2000 (Financial Promotion) Order 2005, as amended (the “Order”); (c) high net worth entities and other persons to whom it may otherwise lawfully be communicated falling within Article 49(2)(a) to (d) of the Order; or (d) any other person to whom this material may otherwise lawfully be communicated or caused to be communicated (all such persons in (b) to (d) together being referred to as “Relevant Persons”). This material must not be acted on or relied on by persons in the United Kingdom who are not Relevant Persons. In the United Kingdom, any investment or investment activity to which this material relates is only available to, and will be engaged with, Relevant Persons.</a:t>
            </a:r>
          </a:p>
        </p:txBody>
      </p:sp>
      <p:sp>
        <p:nvSpPr>
          <p:cNvPr id="10" name="Rule"/>
          <p:cNvSpPr/>
          <p:nvPr/>
        </p:nvSpPr>
        <p:spPr>
          <a:xfrm>
            <a:off x="419100" y="6619875"/>
            <a:ext cx="9220200" cy="9525"/>
          </a:xfrm>
          <a:prstGeom prst="rect">
            <a:avLst/>
          </a:prstGeom>
          <a:solidFill>
            <a:srgbClr val="E3DCD3"/>
          </a:solidFill>
          <a:ln>
            <a:noFill/>
          </a:ln>
        </p:spPr>
        <p:txBody>
          <a:bodyPr rtlCol="0" anchor="ctr"/>
          <a:lstStyle/>
          <a:p>
            <a:pPr algn="ctr"/>
          </a:p>
        </p:txBody>
      </p:sp>
      <p:sp>
        <p:nvSpPr>
          <p:cNvPr id="11" name="TextBox 10"/>
          <p:cNvSpPr txBox="1"/>
          <p:nvPr/>
        </p:nvSpPr>
        <p:spPr>
          <a:xfrm>
            <a:off x="419100" y="6709791"/>
            <a:ext cx="2060674" cy="133350"/>
          </a:xfrm>
          <a:prstGeom prst="rect">
            <a:avLst/>
          </a:prstGeom>
          <a:noFill/>
        </p:spPr>
        <p:txBody>
          <a:bodyPr wrap="none" lIns="0" rIns="0" tIns="0" bIns="0" anchor="t">
            <a:noAutofit/>
          </a:bodyPr>
          <a:lstStyle/>
          <a:p>
            <a:pPr algn="l">
              <a:lnSpc>
                <a:spcPts val="1500"/>
              </a:lnSpc>
              <a:spcBef>
                <a:spcPts val="0"/>
              </a:spcBef>
              <a:spcAft>
                <a:spcPts val="0"/>
              </a:spcAft>
            </a:pPr>
            <a:r>
              <a:rPr sz="1050" b="0" i="1" spc="15">
                <a:solidFill>
                  <a:srgbClr val="1B1A1A"/>
                </a:solidFill>
                <a:latin typeface="Newsreader"/>
              </a:rPr>
              <a:t>Information as of October 5, 2026.</a:t>
            </a:r>
          </a:p>
        </p:txBody>
      </p:sp>
      <p:sp>
        <p:nvSpPr>
          <p:cNvPr id="12" name="TextBox 11"/>
          <p:cNvSpPr txBox="1"/>
          <p:nvPr/>
        </p:nvSpPr>
        <p:spPr>
          <a:xfrm>
            <a:off x="3771751" y="6732365"/>
            <a:ext cx="5924699" cy="133350"/>
          </a:xfrm>
          <a:prstGeom prst="rect">
            <a:avLst/>
          </a:prstGeom>
          <a:noFill/>
        </p:spPr>
        <p:txBody>
          <a:bodyPr wrap="none" lIns="0" rIns="0" tIns="0" bIns="0" anchor="t">
            <a:noAutofit/>
          </a:bodyPr>
          <a:lstStyle/>
          <a:p>
            <a:pPr algn="l">
              <a:lnSpc>
                <a:spcPts val="1200"/>
              </a:lnSpc>
              <a:spcBef>
                <a:spcPts val="0"/>
              </a:spcBef>
              <a:spcAft>
                <a:spcPts val="0"/>
              </a:spcAft>
            </a:pPr>
            <a:r>
              <a:rPr sz="788" b="0" i="0" spc="15">
                <a:solidFill>
                  <a:srgbClr val="6F6A66"/>
                </a:solidFill>
                <a:latin typeface="Quicksand"/>
              </a:rPr>
              <a:t>Benchmark International  |  4030 West Boy Scout Blvd., Suite 500, Tampa, FL 33607  |  +1 813 898 2350  |  </a:t>
            </a:r>
            <a:r>
              <a:rPr sz="788" b="0" i="0" spc="15" u="sng">
                <a:solidFill>
                  <a:srgbClr val="8C6239"/>
                </a:solidFill>
                <a:latin typeface="Quicksand"/>
                <a:hlinkClick r:id="rId2">
                  <a:extLst>
                    <a:ext uri="{A12FA001-AC4F-418D-AE19-62706E023703}">
                      <ahyp:hlinkClr xmlns:ahyp="http://schemas.microsoft.com/office/drawing/2018/hyperlinkcolor" val="tx"/>
                    </a:ext>
                  </a:extLst>
                </a:hlinkClick>
              </a:rPr>
              <a:t>benchmarkintl.com</a:t>
            </a:r>
          </a:p>
        </p:txBody>
      </p:sp>
      <p:sp>
        <p:nvSpPr>
          <p:cNvPr id="13" name="Panel"/>
          <p:cNvSpPr/>
          <p:nvPr/>
        </p:nvSpPr>
        <p:spPr>
          <a:xfrm>
            <a:off x="419100" y="7029450"/>
            <a:ext cx="9220200" cy="9525"/>
          </a:xfrm>
          <a:prstGeom prst="rect">
            <a:avLst/>
          </a:prstGeom>
          <a:solidFill>
            <a:srgbClr val="E3DCD3"/>
          </a:solidFill>
          <a:ln>
            <a:noFill/>
          </a:ln>
        </p:spPr>
        <p:txBody>
          <a:bodyPr rtlCol="0" anchor="ctr"/>
          <a:lstStyle/>
          <a:p>
            <a:pPr algn="ctr"/>
          </a:p>
        </p:txBody>
      </p:sp>
      <p:pic>
        <p:nvPicPr>
          <p:cNvPr id="14" name="Graphic" descr="S03_r6.png"/>
          <p:cNvPicPr>
            <a:picLocks noChangeAspect="1"/>
          </p:cNvPicPr>
          <p:nvPr/>
        </p:nvPicPr>
        <p:blipFill>
          <a:blip r:embed="rId3"/>
          <a:stretch>
            <a:fillRect/>
          </a:stretch>
        </p:blipFill>
        <p:spPr>
          <a:xfrm>
            <a:off x="419100" y="7143750"/>
            <a:ext cx="914400" cy="171450"/>
          </a:xfrm>
          <a:prstGeom prst="rect">
            <a:avLst/>
          </a:prstGeom>
        </p:spPr>
      </p:pic>
      <p:sp>
        <p:nvSpPr>
          <p:cNvPr id="15" name="TextBox 14"/>
          <p:cNvSpPr txBox="1"/>
          <p:nvPr/>
        </p:nvSpPr>
        <p:spPr>
          <a:xfrm>
            <a:off x="9516368" y="7149370"/>
            <a:ext cx="122932" cy="114300"/>
          </a:xfrm>
          <a:prstGeom prst="rect">
            <a:avLst/>
          </a:prstGeom>
          <a:noFill/>
        </p:spPr>
        <p:txBody>
          <a:bodyPr wrap="none" lIns="0" rIns="0" tIns="0" bIns="0" anchor="t">
            <a:noAutofit/>
          </a:bodyPr>
          <a:lstStyle/>
          <a:p>
            <a:pPr algn="r">
              <a:lnSpc>
                <a:spcPts val="1050"/>
              </a:lnSpc>
              <a:spcBef>
                <a:spcPts val="0"/>
              </a:spcBef>
              <a:spcAft>
                <a:spcPts val="0"/>
              </a:spcAft>
            </a:pPr>
            <a:r>
              <a:rPr sz="712" b="1" i="0" spc="150">
                <a:solidFill>
                  <a:srgbClr val="1B1A1A"/>
                </a:solidFill>
                <a:latin typeface="Quicksand"/>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3" name="Panel"/>
          <p:cNvSpPr/>
          <p:nvPr/>
        </p:nvSpPr>
        <p:spPr>
          <a:xfrm>
            <a:off x="0" y="0"/>
            <a:ext cx="10058400" cy="7772400"/>
          </a:xfrm>
          <a:prstGeom prst="rect">
            <a:avLst/>
          </a:prstGeom>
          <a:solidFill>
            <a:srgbClr val="FFFFFF"/>
          </a:solidFill>
          <a:ln>
            <a:noFill/>
          </a:ln>
        </p:spPr>
        <p:txBody>
          <a:bodyPr rtlCol="0" anchor="ctr"/>
          <a:lstStyle/>
          <a:p>
            <a:pPr algn="ctr"/>
          </a:p>
        </p:txBody>
      </p:sp>
      <p:sp>
        <p:nvSpPr>
          <p:cNvPr id="4" name="Panel"/>
          <p:cNvSpPr/>
          <p:nvPr/>
        </p:nvSpPr>
        <p:spPr>
          <a:xfrm>
            <a:off x="0" y="0"/>
            <a:ext cx="57150" cy="7772400"/>
          </a:xfrm>
          <a:prstGeom prst="rect">
            <a:avLst/>
          </a:prstGeom>
          <a:solidFill>
            <a:srgbClr val="B68757"/>
          </a:solidFill>
          <a:ln>
            <a:noFill/>
          </a:ln>
        </p:spPr>
        <p:txBody>
          <a:bodyPr rtlCol="0" anchor="ctr"/>
          <a:lstStyle/>
          <a:p>
            <a:pPr algn="ctr"/>
          </a:p>
        </p:txBody>
      </p:sp>
      <p:sp>
        <p:nvSpPr>
          <p:cNvPr id="5" name="TextBox 4"/>
          <p:cNvSpPr txBox="1"/>
          <p:nvPr/>
        </p:nvSpPr>
        <p:spPr>
          <a:xfrm>
            <a:off x="419100" y="361760"/>
            <a:ext cx="2764185" cy="104775"/>
          </a:xfrm>
          <a:prstGeom prst="rect">
            <a:avLst/>
          </a:prstGeom>
          <a:noFill/>
        </p:spPr>
        <p:txBody>
          <a:bodyPr wrap="none" lIns="0" rIns="0" tIns="0" bIns="0" anchor="t">
            <a:noAutofit/>
          </a:bodyPr>
          <a:lstStyle/>
          <a:p>
            <a:pPr algn="l">
              <a:lnSpc>
                <a:spcPts val="1050"/>
              </a:lnSpc>
              <a:spcBef>
                <a:spcPts val="0"/>
              </a:spcBef>
              <a:spcAft>
                <a:spcPts val="0"/>
              </a:spcAft>
            </a:pPr>
            <a:r>
              <a:rPr sz="675" b="1" i="0" spc="195">
                <a:solidFill>
                  <a:srgbClr val="8C6239"/>
                </a:solidFill>
                <a:latin typeface="Quicksand"/>
              </a:rPr>
              <a:t>TECHNOLOGY  |  QUARTERLY SECTOR BRIEF</a:t>
            </a:r>
          </a:p>
        </p:txBody>
      </p:sp>
      <p:sp>
        <p:nvSpPr>
          <p:cNvPr id="6" name="TextBox 5"/>
          <p:cNvSpPr txBox="1"/>
          <p:nvPr/>
        </p:nvSpPr>
        <p:spPr>
          <a:xfrm>
            <a:off x="9112597" y="350901"/>
            <a:ext cx="526703" cy="152400"/>
          </a:xfrm>
          <a:prstGeom prst="rect">
            <a:avLst/>
          </a:prstGeom>
          <a:noFill/>
        </p:spPr>
        <p:txBody>
          <a:bodyPr wrap="none" lIns="0" rIns="0" tIns="0" bIns="0" anchor="t">
            <a:noAutofit/>
          </a:bodyPr>
          <a:lstStyle/>
          <a:p>
            <a:pPr algn="r">
              <a:lnSpc>
                <a:spcPts val="1350"/>
              </a:lnSpc>
              <a:spcBef>
                <a:spcPts val="0"/>
              </a:spcBef>
              <a:spcAft>
                <a:spcPts val="0"/>
              </a:spcAft>
            </a:pPr>
            <a:r>
              <a:rPr sz="900" b="0" i="0" spc="90">
                <a:solidFill>
                  <a:srgbClr val="6F6A66"/>
                </a:solidFill>
                <a:latin typeface="Cinzel"/>
              </a:rPr>
              <a:t>Q4 2026</a:t>
            </a:r>
          </a:p>
        </p:txBody>
      </p:sp>
      <p:sp>
        <p:nvSpPr>
          <p:cNvPr id="2" name="Title 1"/>
          <p:cNvSpPr>
            <a:spLocks noGrp="1"/>
          </p:cNvSpPr>
          <p:nvPr>
            <p:ph type="title"/>
          </p:nvPr>
        </p:nvSpPr>
        <p:spPr>
          <a:xfrm>
            <a:off x="419100" y="475488"/>
            <a:ext cx="948035" cy="257175"/>
          </a:xfrm>
        </p:spPr>
        <p:txBody>
          <a:bodyPr wrap="none" lIns="0" rIns="0" tIns="0" bIns="0" anchor="t">
            <a:noAutofit/>
          </a:bodyPr>
          <a:lstStyle/>
          <a:p>
            <a:pPr algn="l">
              <a:lnSpc>
                <a:spcPts val="2550"/>
              </a:lnSpc>
              <a:spcBef>
                <a:spcPts val="0"/>
              </a:spcBef>
              <a:spcAft>
                <a:spcPts val="0"/>
              </a:spcAft>
            </a:pPr>
            <a:r>
              <a:rPr sz="2000" b="1" i="0">
                <a:solidFill>
                  <a:srgbClr val="1B1A1A"/>
                </a:solidFill>
                <a:latin typeface="Newsreader"/>
              </a:rPr>
              <a:t>Sources</a:t>
            </a:r>
          </a:p>
        </p:txBody>
      </p:sp>
      <p:sp>
        <p:nvSpPr>
          <p:cNvPr id="7" name="TextBox 6"/>
          <p:cNvSpPr txBox="1"/>
          <p:nvPr/>
        </p:nvSpPr>
        <p:spPr>
          <a:xfrm>
            <a:off x="419100" y="864394"/>
            <a:ext cx="4075509" cy="152400"/>
          </a:xfrm>
          <a:prstGeom prst="rect">
            <a:avLst/>
          </a:prstGeom>
          <a:noFill/>
        </p:spPr>
        <p:txBody>
          <a:bodyPr wrap="none" lIns="0" rIns="0" tIns="0" bIns="0" anchor="t">
            <a:noAutofit/>
          </a:bodyPr>
          <a:lstStyle/>
          <a:p>
            <a:pPr algn="l">
              <a:lnSpc>
                <a:spcPts val="1388"/>
              </a:lnSpc>
              <a:spcBef>
                <a:spcPts val="0"/>
              </a:spcBef>
              <a:spcAft>
                <a:spcPts val="0"/>
              </a:spcAft>
            </a:pPr>
            <a:r>
              <a:rPr sz="938" b="0" i="0" spc="15">
                <a:solidFill>
                  <a:srgbClr val="6F6A66"/>
                </a:solidFill>
                <a:latin typeface="Quicksand"/>
              </a:rPr>
              <a:t>The sources linked on each page, listed by page with the link text used.</a:t>
            </a:r>
          </a:p>
        </p:txBody>
      </p:sp>
      <p:sp>
        <p:nvSpPr>
          <p:cNvPr id="8" name="Panel"/>
          <p:cNvSpPr/>
          <p:nvPr/>
        </p:nvSpPr>
        <p:spPr>
          <a:xfrm>
            <a:off x="419100" y="1143000"/>
            <a:ext cx="9220200" cy="9525"/>
          </a:xfrm>
          <a:prstGeom prst="rect">
            <a:avLst/>
          </a:prstGeom>
          <a:solidFill>
            <a:srgbClr val="E3DCD3"/>
          </a:solidFill>
          <a:ln>
            <a:noFill/>
          </a:ln>
        </p:spPr>
        <p:txBody>
          <a:bodyPr rtlCol="0" anchor="ctr"/>
          <a:lstStyle/>
          <a:p>
            <a:pPr algn="ctr"/>
          </a:p>
        </p:txBody>
      </p:sp>
      <p:sp>
        <p:nvSpPr>
          <p:cNvPr id="9" name="TextBox 8"/>
          <p:cNvSpPr txBox="1"/>
          <p:nvPr/>
        </p:nvSpPr>
        <p:spPr>
          <a:xfrm>
            <a:off x="419100" y="1213199"/>
            <a:ext cx="2171700" cy="2958751"/>
          </a:xfrm>
          <a:prstGeom prst="rect">
            <a:avLst/>
          </a:prstGeom>
          <a:noFill/>
        </p:spPr>
        <p:txBody>
          <a:bodyPr wrap="square" lIns="0" rIns="0" tIns="0" bIns="0" anchor="t">
            <a:noAutofit/>
          </a:bodyPr>
          <a:lstStyle/>
          <a:p>
            <a:pPr algn="l">
              <a:lnSpc>
                <a:spcPts val="975"/>
              </a:lnSpc>
              <a:spcBef>
                <a:spcPts val="0"/>
              </a:spcBef>
              <a:spcAft>
                <a:spcPts val="225"/>
              </a:spcAft>
            </a:pPr>
            <a:r>
              <a:rPr sz="638" b="1" i="0" spc="135">
                <a:solidFill>
                  <a:srgbClr val="1B1A1A"/>
                </a:solidFill>
                <a:latin typeface="Quicksand"/>
              </a:rPr>
              <a:t>KEY TRENDS</a:t>
            </a:r>
          </a:p>
          <a:p>
            <a:pPr algn="l">
              <a:lnSpc>
                <a:spcPts val="1275"/>
              </a:lnSpc>
              <a:spcBef>
                <a:spcPts val="0"/>
              </a:spcBef>
              <a:spcAft>
                <a:spcPts val="1125"/>
              </a:spcAft>
            </a:pPr>
            <a:r>
              <a:rPr sz="825" b="0" i="0" spc="8" u="sng">
                <a:solidFill>
                  <a:srgbClr val="8C6239"/>
                </a:solidFill>
                <a:latin typeface="Quicksand"/>
                <a:hlinkClick r:id="rId2">
                  <a:extLst>
                    <a:ext uri="{A12FA001-AC4F-418D-AE19-62706E023703}">
                      <ahyp:hlinkClr xmlns:ahyp="http://schemas.microsoft.com/office/drawing/2018/hyperlinkcolor" val="tx"/>
                    </a:ext>
                  </a:extLst>
                </a:hlinkClick>
              </a:rPr>
              <a:t>Gartner</a:t>
            </a:r>
            <a:r>
              <a:rPr sz="825" b="0" i="0" spc="8">
                <a:solidFill>
                  <a:srgbClr val="333231"/>
                </a:solidFill>
                <a:latin typeface="Quicksand"/>
              </a:rPr>
              <a:t>; </a:t>
            </a:r>
            <a:r>
              <a:rPr sz="825" b="0" i="0" spc="8" u="sng">
                <a:solidFill>
                  <a:srgbClr val="8C6239"/>
                </a:solidFill>
                <a:latin typeface="Quicksand"/>
                <a:hlinkClick r:id="rId3">
                  <a:extLst>
                    <a:ext uri="{A12FA001-AC4F-418D-AE19-62706E023703}">
                      <ahyp:hlinkClr xmlns:ahyp="http://schemas.microsoft.com/office/drawing/2018/hyperlinkcolor" val="tx"/>
                    </a:ext>
                  </a:extLst>
                </a:hlinkClick>
              </a:rPr>
              <a:t>Synergy Research Group</a:t>
            </a:r>
            <a:r>
              <a:rPr sz="825" b="0" i="0" spc="8">
                <a:solidFill>
                  <a:srgbClr val="333231"/>
                </a:solidFill>
                <a:latin typeface="Quicksand"/>
              </a:rPr>
              <a:t>; </a:t>
            </a:r>
            <a:r>
              <a:rPr sz="825" b="0" i="0" spc="8" u="sng">
                <a:solidFill>
                  <a:srgbClr val="8C6239"/>
                </a:solidFill>
                <a:latin typeface="Quicksand"/>
                <a:hlinkClick r:id="rId4">
                  <a:extLst>
                    <a:ext uri="{A12FA001-AC4F-418D-AE19-62706E023703}">
                      <ahyp:hlinkClr xmlns:ahyp="http://schemas.microsoft.com/office/drawing/2018/hyperlinkcolor" val="tx"/>
                    </a:ext>
                  </a:extLst>
                </a:hlinkClick>
              </a:rPr>
              <a:t>Omdia</a:t>
            </a:r>
            <a:r>
              <a:rPr sz="825" b="0" i="0" spc="8">
                <a:solidFill>
                  <a:srgbClr val="333231"/>
                </a:solidFill>
                <a:latin typeface="Quicksand"/>
              </a:rPr>
              <a:t>; </a:t>
            </a:r>
            <a:r>
              <a:rPr sz="825" b="0" i="0" spc="8" u="sng">
                <a:solidFill>
                  <a:srgbClr val="8C6239"/>
                </a:solidFill>
                <a:latin typeface="Quicksand"/>
                <a:hlinkClick r:id="rId5">
                  <a:extLst>
                    <a:ext uri="{A12FA001-AC4F-418D-AE19-62706E023703}">
                      <ahyp:hlinkClr xmlns:ahyp="http://schemas.microsoft.com/office/drawing/2018/hyperlinkcolor" val="tx"/>
                    </a:ext>
                  </a:extLst>
                </a:hlinkClick>
              </a:rPr>
              <a:t>Federal Reserve</a:t>
            </a:r>
            <a:r>
              <a:rPr sz="825" b="0" i="0" spc="8">
                <a:solidFill>
                  <a:srgbClr val="333231"/>
                </a:solidFill>
                <a:latin typeface="Quicksand"/>
              </a:rPr>
              <a:t>; </a:t>
            </a:r>
            <a:r>
              <a:rPr sz="825" b="0" i="0" spc="8" u="sng">
                <a:solidFill>
                  <a:srgbClr val="8C6239"/>
                </a:solidFill>
                <a:latin typeface="Quicksand"/>
                <a:hlinkClick r:id="rId6">
                  <a:extLst>
                    <a:ext uri="{A12FA001-AC4F-418D-AE19-62706E023703}">
                      <ahyp:hlinkClr xmlns:ahyp="http://schemas.microsoft.com/office/drawing/2018/hyperlinkcolor" val="tx"/>
                    </a:ext>
                  </a:extLst>
                </a:hlinkClick>
              </a:rPr>
              <a:t>US Treasury</a:t>
            </a:r>
            <a:r>
              <a:rPr sz="825" b="0" i="0" spc="8">
                <a:solidFill>
                  <a:srgbClr val="333231"/>
                </a:solidFill>
                <a:latin typeface="Quicksand"/>
              </a:rPr>
              <a:t>; </a:t>
            </a:r>
            <a:r>
              <a:rPr sz="825" b="0" i="0" spc="8" u="sng">
                <a:solidFill>
                  <a:srgbClr val="8C6239"/>
                </a:solidFill>
                <a:latin typeface="Quicksand"/>
                <a:hlinkClick r:id="rId7">
                  <a:extLst>
                    <a:ext uri="{A12FA001-AC4F-418D-AE19-62706E023703}">
                      <ahyp:hlinkClr xmlns:ahyp="http://schemas.microsoft.com/office/drawing/2018/hyperlinkcolor" val="tx"/>
                    </a:ext>
                  </a:extLst>
                </a:hlinkClick>
              </a:rPr>
              <a:t>GF Data via ACG</a:t>
            </a:r>
            <a:r>
              <a:rPr sz="825" b="0" i="0" spc="8">
                <a:solidFill>
                  <a:srgbClr val="333231"/>
                </a:solidFill>
                <a:latin typeface="Quicksand"/>
              </a:rPr>
              <a:t>; </a:t>
            </a:r>
            <a:r>
              <a:rPr sz="825" b="0" i="0" spc="8" u="sng">
                <a:solidFill>
                  <a:srgbClr val="8C6239"/>
                </a:solidFill>
                <a:latin typeface="Quicksand"/>
                <a:hlinkClick r:id="rId8">
                  <a:extLst>
                    <a:ext uri="{A12FA001-AC4F-418D-AE19-62706E023703}">
                      <ahyp:hlinkClr xmlns:ahyp="http://schemas.microsoft.com/office/drawing/2018/hyperlinkcolor" val="tx"/>
                    </a:ext>
                  </a:extLst>
                </a:hlinkClick>
              </a:rPr>
              <a:t>Gartner</a:t>
            </a:r>
            <a:r>
              <a:rPr sz="825" b="0" i="0" spc="8">
                <a:solidFill>
                  <a:srgbClr val="333231"/>
                </a:solidFill>
                <a:latin typeface="Quicksand"/>
              </a:rPr>
              <a:t>; </a:t>
            </a:r>
            <a:r>
              <a:rPr sz="825" b="0" i="0" spc="8" u="sng">
                <a:solidFill>
                  <a:srgbClr val="8C6239"/>
                </a:solidFill>
                <a:latin typeface="Quicksand"/>
                <a:hlinkClick r:id="rId9">
                  <a:extLst>
                    <a:ext uri="{A12FA001-AC4F-418D-AE19-62706E023703}">
                      <ahyp:hlinkClr xmlns:ahyp="http://schemas.microsoft.com/office/drawing/2018/hyperlinkcolor" val="tx"/>
                    </a:ext>
                  </a:extLst>
                </a:hlinkClick>
              </a:rPr>
              <a:t>FBI</a:t>
            </a:r>
            <a:r>
              <a:rPr sz="825" b="0" i="0" spc="8">
                <a:solidFill>
                  <a:srgbClr val="333231"/>
                </a:solidFill>
                <a:latin typeface="Quicksand"/>
              </a:rPr>
              <a:t>; </a:t>
            </a:r>
            <a:r>
              <a:rPr sz="825" b="0" i="0" spc="8" u="sng">
                <a:solidFill>
                  <a:srgbClr val="8C6239"/>
                </a:solidFill>
                <a:latin typeface="Quicksand"/>
                <a:hlinkClick r:id="rId10">
                  <a:extLst>
                    <a:ext uri="{A12FA001-AC4F-418D-AE19-62706E023703}">
                      <ahyp:hlinkClr xmlns:ahyp="http://schemas.microsoft.com/office/drawing/2018/hyperlinkcolor" val="tx"/>
                    </a:ext>
                  </a:extLst>
                </a:hlinkClick>
              </a:rPr>
              <a:t>DoD CIO</a:t>
            </a:r>
            <a:r>
              <a:rPr sz="825" b="0" i="0" spc="8">
                <a:solidFill>
                  <a:srgbClr val="333231"/>
                </a:solidFill>
                <a:latin typeface="Quicksand"/>
              </a:rPr>
              <a:t>; </a:t>
            </a:r>
            <a:r>
              <a:rPr sz="825" b="0" i="0" spc="8" u="sng">
                <a:solidFill>
                  <a:srgbClr val="8C6239"/>
                </a:solidFill>
                <a:latin typeface="Quicksand"/>
                <a:hlinkClick r:id="rId11">
                  <a:extLst>
                    <a:ext uri="{A12FA001-AC4F-418D-AE19-62706E023703}">
                      <ahyp:hlinkClr xmlns:ahyp="http://schemas.microsoft.com/office/drawing/2018/hyperlinkcolor" val="tx"/>
                    </a:ext>
                  </a:extLst>
                </a:hlinkClick>
              </a:rPr>
              <a:t>Global Electronics Association</a:t>
            </a:r>
            <a:r>
              <a:rPr sz="825" b="0" i="0" spc="8">
                <a:solidFill>
                  <a:srgbClr val="333231"/>
                </a:solidFill>
                <a:latin typeface="Quicksand"/>
              </a:rPr>
              <a:t>; </a:t>
            </a:r>
            <a:r>
              <a:rPr sz="825" b="0" i="0" spc="8" u="sng">
                <a:solidFill>
                  <a:srgbClr val="8C6239"/>
                </a:solidFill>
                <a:latin typeface="Quicksand"/>
                <a:hlinkClick r:id="rId12">
                  <a:extLst>
                    <a:ext uri="{A12FA001-AC4F-418D-AE19-62706E023703}">
                      <ahyp:hlinkClr xmlns:ahyp="http://schemas.microsoft.com/office/drawing/2018/hyperlinkcolor" val="tx"/>
                    </a:ext>
                  </a:extLst>
                </a:hlinkClick>
              </a:rPr>
              <a:t>Wiley Rein</a:t>
            </a:r>
            <a:r>
              <a:rPr sz="825" b="0" i="0" spc="8">
                <a:solidFill>
                  <a:srgbClr val="333231"/>
                </a:solidFill>
                <a:latin typeface="Quicksand"/>
              </a:rPr>
              <a:t>; </a:t>
            </a:r>
            <a:r>
              <a:rPr sz="825" b="0" i="0" spc="8" u="sng">
                <a:solidFill>
                  <a:srgbClr val="8C6239"/>
                </a:solidFill>
                <a:latin typeface="Quicksand"/>
                <a:hlinkClick r:id="rId13">
                  <a:extLst>
                    <a:ext uri="{A12FA001-AC4F-418D-AE19-62706E023703}">
                      <ahyp:hlinkClr xmlns:ahyp="http://schemas.microsoft.com/office/drawing/2018/hyperlinkcolor" val="tx"/>
                    </a:ext>
                  </a:extLst>
                </a:hlinkClick>
              </a:rPr>
              <a:t>FedScoop</a:t>
            </a:r>
            <a:r>
              <a:rPr sz="825" b="0" i="0" spc="8">
                <a:solidFill>
                  <a:srgbClr val="333231"/>
                </a:solidFill>
                <a:latin typeface="Quicksand"/>
              </a:rPr>
              <a:t>; </a:t>
            </a:r>
            <a:r>
              <a:rPr sz="825" b="0" i="0" spc="8" u="sng">
                <a:solidFill>
                  <a:srgbClr val="8C6239"/>
                </a:solidFill>
                <a:latin typeface="Quicksand"/>
                <a:hlinkClick r:id="rId14">
                  <a:extLst>
                    <a:ext uri="{A12FA001-AC4F-418D-AE19-62706E023703}">
                      <ahyp:hlinkClr xmlns:ahyp="http://schemas.microsoft.com/office/drawing/2018/hyperlinkcolor" val="tx"/>
                    </a:ext>
                  </a:extLst>
                </a:hlinkClick>
              </a:rPr>
              <a:t>SpacePolicyOnline</a:t>
            </a:r>
            <a:r>
              <a:rPr sz="825" b="0" i="0" spc="8">
                <a:solidFill>
                  <a:srgbClr val="333231"/>
                </a:solidFill>
                <a:latin typeface="Quicksand"/>
              </a:rPr>
              <a:t>; </a:t>
            </a:r>
            <a:r>
              <a:rPr sz="825" b="0" i="0" spc="8" u="sng">
                <a:solidFill>
                  <a:srgbClr val="8C6239"/>
                </a:solidFill>
                <a:latin typeface="Quicksand"/>
                <a:hlinkClick r:id="rId15">
                  <a:extLst>
                    <a:ext uri="{A12FA001-AC4F-418D-AE19-62706E023703}">
                      <ahyp:hlinkClr xmlns:ahyp="http://schemas.microsoft.com/office/drawing/2018/hyperlinkcolor" val="tx"/>
                    </a:ext>
                  </a:extLst>
                </a:hlinkClick>
              </a:rPr>
              <a:t>IBBA and M&amp;A Source</a:t>
            </a:r>
          </a:p>
          <a:p>
            <a:pPr algn="l">
              <a:lnSpc>
                <a:spcPts val="975"/>
              </a:lnSpc>
              <a:spcBef>
                <a:spcPts val="0"/>
              </a:spcBef>
              <a:spcAft>
                <a:spcPts val="225"/>
              </a:spcAft>
            </a:pPr>
            <a:r>
              <a:rPr sz="638" b="1" i="0" spc="135">
                <a:solidFill>
                  <a:srgbClr val="1B1A1A"/>
                </a:solidFill>
                <a:latin typeface="Quicksand"/>
              </a:rPr>
              <a:t>WHAT WE'RE READING</a:t>
            </a:r>
          </a:p>
          <a:p>
            <a:pPr algn="l">
              <a:lnSpc>
                <a:spcPts val="1275"/>
              </a:lnSpc>
              <a:spcBef>
                <a:spcPts val="0"/>
              </a:spcBef>
              <a:spcAft>
                <a:spcPts val="1125"/>
              </a:spcAft>
            </a:pPr>
            <a:r>
              <a:rPr sz="825" b="0" i="0" spc="8" u="sng">
                <a:solidFill>
                  <a:srgbClr val="8C6239"/>
                </a:solidFill>
                <a:latin typeface="Quicksand"/>
                <a:hlinkClick r:id="rId2">
                  <a:extLst>
                    <a:ext uri="{A12FA001-AC4F-418D-AE19-62706E023703}">
                      <ahyp:hlinkClr xmlns:ahyp="http://schemas.microsoft.com/office/drawing/2018/hyperlinkcolor" val="tx"/>
                    </a:ext>
                  </a:extLst>
                </a:hlinkClick>
              </a:rPr>
              <a:t>Gartner</a:t>
            </a:r>
            <a:r>
              <a:rPr sz="825" b="0" i="0" spc="8">
                <a:solidFill>
                  <a:srgbClr val="333231"/>
                </a:solidFill>
                <a:latin typeface="Quicksand"/>
              </a:rPr>
              <a:t>; </a:t>
            </a:r>
            <a:r>
              <a:rPr sz="825" b="0" i="0" spc="8" u="sng">
                <a:solidFill>
                  <a:srgbClr val="8C6239"/>
                </a:solidFill>
                <a:latin typeface="Quicksand"/>
                <a:hlinkClick r:id="rId16">
                  <a:extLst>
                    <a:ext uri="{A12FA001-AC4F-418D-AE19-62706E023703}">
                      <ahyp:hlinkClr xmlns:ahyp="http://schemas.microsoft.com/office/drawing/2018/hyperlinkcolor" val="tx"/>
                    </a:ext>
                  </a:extLst>
                </a:hlinkClick>
              </a:rPr>
              <a:t>Channel Dive</a:t>
            </a:r>
            <a:r>
              <a:rPr sz="825" b="0" i="0" spc="8">
                <a:solidFill>
                  <a:srgbClr val="333231"/>
                </a:solidFill>
                <a:latin typeface="Quicksand"/>
              </a:rPr>
              <a:t>; </a:t>
            </a:r>
            <a:r>
              <a:rPr sz="825" b="0" i="0" spc="8" u="sng">
                <a:solidFill>
                  <a:srgbClr val="8C6239"/>
                </a:solidFill>
                <a:latin typeface="Quicksand"/>
                <a:hlinkClick r:id="rId11">
                  <a:extLst>
                    <a:ext uri="{A12FA001-AC4F-418D-AE19-62706E023703}">
                      <ahyp:hlinkClr xmlns:ahyp="http://schemas.microsoft.com/office/drawing/2018/hyperlinkcolor" val="tx"/>
                    </a:ext>
                  </a:extLst>
                </a:hlinkClick>
              </a:rPr>
              <a:t>Global Electronics Association</a:t>
            </a:r>
            <a:r>
              <a:rPr sz="825" b="0" i="0" spc="8">
                <a:solidFill>
                  <a:srgbClr val="333231"/>
                </a:solidFill>
                <a:latin typeface="Quicksand"/>
              </a:rPr>
              <a:t>; </a:t>
            </a:r>
            <a:r>
              <a:rPr sz="825" b="0" i="0" spc="8" u="sng">
                <a:solidFill>
                  <a:srgbClr val="8C6239"/>
                </a:solidFill>
                <a:latin typeface="Quicksand"/>
                <a:hlinkClick r:id="rId10">
                  <a:extLst>
                    <a:ext uri="{A12FA001-AC4F-418D-AE19-62706E023703}">
                      <ahyp:hlinkClr xmlns:ahyp="http://schemas.microsoft.com/office/drawing/2018/hyperlinkcolor" val="tx"/>
                    </a:ext>
                  </a:extLst>
                </a:hlinkClick>
              </a:rPr>
              <a:t>Department of War, Chief Information Officer</a:t>
            </a:r>
            <a:r>
              <a:rPr sz="825" b="0" i="0" spc="8">
                <a:solidFill>
                  <a:srgbClr val="333231"/>
                </a:solidFill>
                <a:latin typeface="Quicksand"/>
              </a:rPr>
              <a:t>; </a:t>
            </a:r>
            <a:r>
              <a:rPr sz="825" b="0" i="0" spc="8" u="sng">
                <a:solidFill>
                  <a:srgbClr val="8C6239"/>
                </a:solidFill>
                <a:latin typeface="Quicksand"/>
                <a:hlinkClick r:id="rId17">
                  <a:extLst>
                    <a:ext uri="{A12FA001-AC4F-418D-AE19-62706E023703}">
                      <ahyp:hlinkClr xmlns:ahyp="http://schemas.microsoft.com/office/drawing/2018/hyperlinkcolor" val="tx"/>
                    </a:ext>
                  </a:extLst>
                </a:hlinkClick>
              </a:rPr>
              <a:t>McGuireWoods analysis</a:t>
            </a:r>
          </a:p>
        </p:txBody>
      </p:sp>
      <p:sp>
        <p:nvSpPr>
          <p:cNvPr id="10" name="TextBox 9"/>
          <p:cNvSpPr txBox="1"/>
          <p:nvPr/>
        </p:nvSpPr>
        <p:spPr>
          <a:xfrm>
            <a:off x="2781300" y="1213199"/>
            <a:ext cx="2171700" cy="2958751"/>
          </a:xfrm>
          <a:prstGeom prst="rect">
            <a:avLst/>
          </a:prstGeom>
          <a:noFill/>
        </p:spPr>
        <p:txBody>
          <a:bodyPr wrap="square" lIns="0" rIns="0" tIns="0" bIns="0" anchor="t">
            <a:noAutofit/>
          </a:bodyPr>
          <a:lstStyle/>
          <a:p>
            <a:pPr algn="l">
              <a:lnSpc>
                <a:spcPts val="975"/>
              </a:lnSpc>
              <a:spcBef>
                <a:spcPts val="0"/>
              </a:spcBef>
              <a:spcAft>
                <a:spcPts val="225"/>
              </a:spcAft>
            </a:pPr>
            <a:r>
              <a:rPr sz="638" b="1" i="0" spc="135">
                <a:solidFill>
                  <a:srgbClr val="1B1A1A"/>
                </a:solidFill>
                <a:latin typeface="Quicksand"/>
              </a:rPr>
              <a:t>RECENT TRANSACTIONS</a:t>
            </a:r>
          </a:p>
          <a:p>
            <a:pPr algn="l">
              <a:lnSpc>
                <a:spcPts val="1275"/>
              </a:lnSpc>
              <a:spcBef>
                <a:spcPts val="0"/>
              </a:spcBef>
              <a:spcAft>
                <a:spcPts val="1125"/>
              </a:spcAft>
            </a:pPr>
            <a:r>
              <a:rPr sz="825" b="0" i="0" spc="8" u="sng">
                <a:solidFill>
                  <a:srgbClr val="8C6239"/>
                </a:solidFill>
                <a:latin typeface="Quicksand"/>
                <a:hlinkClick r:id="rId18">
                  <a:extLst>
                    <a:ext uri="{A12FA001-AC4F-418D-AE19-62706E023703}">
                      <ahyp:hlinkClr xmlns:ahyp="http://schemas.microsoft.com/office/drawing/2018/hyperlinkcolor" val="tx"/>
                    </a:ext>
                  </a:extLst>
                </a:hlinkClick>
              </a:rPr>
              <a:t>Cognizant</a:t>
            </a:r>
            <a:r>
              <a:rPr sz="825" b="0" i="0" spc="8">
                <a:solidFill>
                  <a:srgbClr val="333231"/>
                </a:solidFill>
                <a:latin typeface="Quicksand"/>
              </a:rPr>
              <a:t>; </a:t>
            </a:r>
            <a:r>
              <a:rPr sz="825" b="0" i="0" spc="8" u="sng">
                <a:solidFill>
                  <a:srgbClr val="8C6239"/>
                </a:solidFill>
                <a:latin typeface="Quicksand"/>
                <a:hlinkClick r:id="rId19">
                  <a:extLst>
                    <a:ext uri="{A12FA001-AC4F-418D-AE19-62706E023703}">
                      <ahyp:hlinkClr xmlns:ahyp="http://schemas.microsoft.com/office/drawing/2018/hyperlinkcolor" val="tx"/>
                    </a:ext>
                  </a:extLst>
                </a:hlinkClick>
              </a:rPr>
              <a:t>Coverager</a:t>
            </a:r>
            <a:r>
              <a:rPr sz="825" b="0" i="0" spc="8">
                <a:solidFill>
                  <a:srgbClr val="333231"/>
                </a:solidFill>
                <a:latin typeface="Quicksand"/>
              </a:rPr>
              <a:t>; </a:t>
            </a:r>
            <a:r>
              <a:rPr sz="825" b="0" i="0" spc="8" u="sng">
                <a:solidFill>
                  <a:srgbClr val="8C6239"/>
                </a:solidFill>
                <a:latin typeface="Quicksand"/>
                <a:hlinkClick r:id="rId20">
                  <a:extLst>
                    <a:ext uri="{A12FA001-AC4F-418D-AE19-62706E023703}">
                      <ahyp:hlinkClr xmlns:ahyp="http://schemas.microsoft.com/office/drawing/2018/hyperlinkcolor" val="tx"/>
                    </a:ext>
                  </a:extLst>
                </a:hlinkClick>
              </a:rPr>
              <a:t>SecurityWeek</a:t>
            </a:r>
            <a:r>
              <a:rPr sz="825" b="0" i="0" spc="8">
                <a:solidFill>
                  <a:srgbClr val="333231"/>
                </a:solidFill>
                <a:latin typeface="Quicksand"/>
              </a:rPr>
              <a:t>; </a:t>
            </a:r>
            <a:r>
              <a:rPr sz="825" b="0" i="0" spc="8" u="sng">
                <a:solidFill>
                  <a:srgbClr val="8C6239"/>
                </a:solidFill>
                <a:latin typeface="Quicksand"/>
                <a:hlinkClick r:id="rId21">
                  <a:extLst>
                    <a:ext uri="{A12FA001-AC4F-418D-AE19-62706E023703}">
                      <ahyp:hlinkClr xmlns:ahyp="http://schemas.microsoft.com/office/drawing/2018/hyperlinkcolor" val="tx"/>
                    </a:ext>
                  </a:extLst>
                </a:hlinkClick>
              </a:rPr>
              <a:t>Broadband Communities ISP roundup</a:t>
            </a:r>
            <a:r>
              <a:rPr sz="825" b="0" i="0" spc="8">
                <a:solidFill>
                  <a:srgbClr val="333231"/>
                </a:solidFill>
                <a:latin typeface="Quicksand"/>
              </a:rPr>
              <a:t>; </a:t>
            </a:r>
            <a:r>
              <a:rPr sz="825" b="0" i="0" spc="8" u="sng">
                <a:solidFill>
                  <a:srgbClr val="8C6239"/>
                </a:solidFill>
                <a:latin typeface="Quicksand"/>
                <a:hlinkClick r:id="rId22">
                  <a:extLst>
                    <a:ext uri="{A12FA001-AC4F-418D-AE19-62706E023703}">
                      <ahyp:hlinkClr xmlns:ahyp="http://schemas.microsoft.com/office/drawing/2018/hyperlinkcolor" val="tx"/>
                    </a:ext>
                  </a:extLst>
                </a:hlinkClick>
              </a:rPr>
              <a:t>Pavion</a:t>
            </a:r>
            <a:r>
              <a:rPr sz="825" b="0" i="0" spc="8">
                <a:solidFill>
                  <a:srgbClr val="333231"/>
                </a:solidFill>
                <a:latin typeface="Quicksand"/>
              </a:rPr>
              <a:t>; </a:t>
            </a:r>
            <a:r>
              <a:rPr sz="825" b="0" i="0" spc="8" u="sng">
                <a:solidFill>
                  <a:srgbClr val="8C6239"/>
                </a:solidFill>
                <a:latin typeface="Quicksand"/>
                <a:hlinkClick r:id="rId23">
                  <a:extLst>
                    <a:ext uri="{A12FA001-AC4F-418D-AE19-62706E023703}">
                      <ahyp:hlinkClr xmlns:ahyp="http://schemas.microsoft.com/office/drawing/2018/hyperlinkcolor" val="tx"/>
                    </a:ext>
                  </a:extLst>
                </a:hlinkClick>
              </a:rPr>
              <a:t>GovCon Wire</a:t>
            </a:r>
            <a:r>
              <a:rPr sz="825" b="0" i="0" spc="8">
                <a:solidFill>
                  <a:srgbClr val="333231"/>
                </a:solidFill>
                <a:latin typeface="Quicksand"/>
              </a:rPr>
              <a:t>; </a:t>
            </a:r>
            <a:r>
              <a:rPr sz="825" b="0" i="0" spc="8" u="sng">
                <a:solidFill>
                  <a:srgbClr val="8C6239"/>
                </a:solidFill>
                <a:latin typeface="Quicksand"/>
                <a:hlinkClick r:id="rId24">
                  <a:extLst>
                    <a:ext uri="{A12FA001-AC4F-418D-AE19-62706E023703}">
                      <ahyp:hlinkClr xmlns:ahyp="http://schemas.microsoft.com/office/drawing/2018/hyperlinkcolor" val="tx"/>
                    </a:ext>
                  </a:extLst>
                </a:hlinkClick>
              </a:rPr>
              <a:t>GovCon Wire</a:t>
            </a:r>
          </a:p>
          <a:p>
            <a:pPr algn="l">
              <a:lnSpc>
                <a:spcPts val="975"/>
              </a:lnSpc>
              <a:spcBef>
                <a:spcPts val="0"/>
              </a:spcBef>
              <a:spcAft>
                <a:spcPts val="225"/>
              </a:spcAft>
            </a:pPr>
            <a:r>
              <a:rPr sz="638" b="1" i="0" spc="135">
                <a:solidFill>
                  <a:srgbClr val="1B1A1A"/>
                </a:solidFill>
                <a:latin typeface="Quicksand"/>
              </a:rPr>
              <a:t>BENCHMARK INTERNATIONAL TRANSACTIONS</a:t>
            </a:r>
          </a:p>
          <a:p>
            <a:pPr algn="l">
              <a:lnSpc>
                <a:spcPts val="1275"/>
              </a:lnSpc>
              <a:spcBef>
                <a:spcPts val="0"/>
              </a:spcBef>
              <a:spcAft>
                <a:spcPts val="1125"/>
              </a:spcAft>
            </a:pPr>
            <a:r>
              <a:rPr sz="825" b="0" i="0" spc="8" u="sng">
                <a:solidFill>
                  <a:srgbClr val="8C6239"/>
                </a:solidFill>
                <a:latin typeface="Quicksand"/>
                <a:hlinkClick r:id="rId25">
                  <a:extLst>
                    <a:ext uri="{A12FA001-AC4F-418D-AE19-62706E023703}">
                      <ahyp:hlinkClr xmlns:ahyp="http://schemas.microsoft.com/office/drawing/2018/hyperlinkcolor" val="tx"/>
                    </a:ext>
                  </a:extLst>
                </a:hlinkClick>
              </a:rPr>
              <a:t>Benchmark International</a:t>
            </a:r>
          </a:p>
          <a:p>
            <a:pPr algn="l">
              <a:lnSpc>
                <a:spcPts val="975"/>
              </a:lnSpc>
              <a:spcBef>
                <a:spcPts val="0"/>
              </a:spcBef>
              <a:spcAft>
                <a:spcPts val="225"/>
              </a:spcAft>
            </a:pPr>
            <a:r>
              <a:rPr sz="638" b="1" i="0" spc="135">
                <a:solidFill>
                  <a:srgbClr val="1B1A1A"/>
                </a:solidFill>
                <a:latin typeface="Quicksand"/>
              </a:rPr>
              <a:t>PUBLIC COMPANIES: VALUATION</a:t>
            </a:r>
          </a:p>
          <a:p>
            <a:pPr algn="l">
              <a:lnSpc>
                <a:spcPts val="1275"/>
              </a:lnSpc>
              <a:spcBef>
                <a:spcPts val="0"/>
              </a:spcBef>
              <a:spcAft>
                <a:spcPts val="1125"/>
              </a:spcAft>
            </a:pPr>
            <a:r>
              <a:rPr sz="825" b="0" i="0" spc="8" u="sng">
                <a:solidFill>
                  <a:srgbClr val="8C6239"/>
                </a:solidFill>
                <a:latin typeface="Quicksand"/>
                <a:hlinkClick r:id="rId26">
                  <a:extLst>
                    <a:ext uri="{A12FA001-AC4F-418D-AE19-62706E023703}">
                      <ahyp:hlinkClr xmlns:ahyp="http://schemas.microsoft.com/office/drawing/2018/hyperlinkcolor" val="tx"/>
                    </a:ext>
                  </a:extLst>
                </a:hlinkClick>
              </a:rPr>
              <a:t>PitchBook</a:t>
            </a:r>
            <a:r>
              <a:rPr sz="825" b="0" i="0" spc="8">
                <a:solidFill>
                  <a:srgbClr val="333231"/>
                </a:solidFill>
                <a:latin typeface="Quicksand"/>
              </a:rPr>
              <a:t>; </a:t>
            </a:r>
            <a:r>
              <a:rPr sz="825" b="0" i="0" spc="8" u="sng">
                <a:solidFill>
                  <a:srgbClr val="8C6239"/>
                </a:solidFill>
                <a:latin typeface="Quicksand"/>
                <a:hlinkClick r:id="rId7">
                  <a:extLst>
                    <a:ext uri="{A12FA001-AC4F-418D-AE19-62706E023703}">
                      <ahyp:hlinkClr xmlns:ahyp="http://schemas.microsoft.com/office/drawing/2018/hyperlinkcolor" val="tx"/>
                    </a:ext>
                  </a:extLst>
                </a:hlinkClick>
              </a:rPr>
              <a:t>GF Data via ACG</a:t>
            </a:r>
            <a:r>
              <a:rPr sz="825" b="0" i="0" spc="8">
                <a:solidFill>
                  <a:srgbClr val="333231"/>
                </a:solidFill>
                <a:latin typeface="Quicksand"/>
              </a:rPr>
              <a:t>; </a:t>
            </a:r>
            <a:r>
              <a:rPr sz="825" b="0" i="0" spc="8" u="sng">
                <a:solidFill>
                  <a:srgbClr val="8C6239"/>
                </a:solidFill>
                <a:latin typeface="Quicksand"/>
                <a:hlinkClick r:id="rId27">
                  <a:extLst>
                    <a:ext uri="{A12FA001-AC4F-418D-AE19-62706E023703}">
                      <ahyp:hlinkClr xmlns:ahyp="http://schemas.microsoft.com/office/drawing/2018/hyperlinkcolor" val="tx"/>
                    </a:ext>
                  </a:extLst>
                </a:hlinkClick>
              </a:rPr>
              <a:t>IBBA and M&amp;A Source</a:t>
            </a:r>
            <a:r>
              <a:rPr sz="825" b="0" i="0" spc="8">
                <a:solidFill>
                  <a:srgbClr val="333231"/>
                </a:solidFill>
                <a:latin typeface="Quicksand"/>
              </a:rPr>
              <a:t>; </a:t>
            </a:r>
            <a:r>
              <a:rPr sz="825" b="0" i="0" spc="8" u="sng">
                <a:solidFill>
                  <a:srgbClr val="8C6239"/>
                </a:solidFill>
                <a:latin typeface="Quicksand"/>
                <a:hlinkClick r:id="rId28">
                  <a:extLst>
                    <a:ext uri="{A12FA001-AC4F-418D-AE19-62706E023703}">
                      <ahyp:hlinkClr xmlns:ahyp="http://schemas.microsoft.com/office/drawing/2018/hyperlinkcolor" val="tx"/>
                    </a:ext>
                  </a:extLst>
                </a:hlinkClick>
              </a:rPr>
              <a:t>StockAnalysis</a:t>
            </a:r>
          </a:p>
          <a:p>
            <a:pPr algn="l">
              <a:lnSpc>
                <a:spcPts val="975"/>
              </a:lnSpc>
              <a:spcBef>
                <a:spcPts val="0"/>
              </a:spcBef>
              <a:spcAft>
                <a:spcPts val="225"/>
              </a:spcAft>
            </a:pPr>
            <a:r>
              <a:rPr sz="638" b="1" i="0" spc="135">
                <a:solidFill>
                  <a:srgbClr val="1B1A1A"/>
                </a:solidFill>
                <a:latin typeface="Quicksand"/>
              </a:rPr>
              <a:t>PUBLIC COMPANIES: OPERATING METRICS</a:t>
            </a:r>
          </a:p>
          <a:p>
            <a:pPr algn="l">
              <a:lnSpc>
                <a:spcPts val="1275"/>
              </a:lnSpc>
              <a:spcBef>
                <a:spcPts val="0"/>
              </a:spcBef>
              <a:spcAft>
                <a:spcPts val="1125"/>
              </a:spcAft>
            </a:pPr>
            <a:r>
              <a:rPr sz="825" b="0" i="0" spc="8" u="sng">
                <a:solidFill>
                  <a:srgbClr val="8C6239"/>
                </a:solidFill>
                <a:latin typeface="Quicksand"/>
                <a:hlinkClick r:id="rId28">
                  <a:extLst>
                    <a:ext uri="{A12FA001-AC4F-418D-AE19-62706E023703}">
                      <ahyp:hlinkClr xmlns:ahyp="http://schemas.microsoft.com/office/drawing/2018/hyperlinkcolor" val="tx"/>
                    </a:ext>
                  </a:extLst>
                </a:hlinkClick>
              </a:rPr>
              <a:t>StockAnalysis</a:t>
            </a:r>
          </a:p>
        </p:txBody>
      </p:sp>
      <p:sp>
        <p:nvSpPr>
          <p:cNvPr id="11" name="TextBox 10"/>
          <p:cNvSpPr txBox="1"/>
          <p:nvPr/>
        </p:nvSpPr>
        <p:spPr>
          <a:xfrm>
            <a:off x="5143500" y="1213199"/>
            <a:ext cx="2171700" cy="2958751"/>
          </a:xfrm>
          <a:prstGeom prst="rect">
            <a:avLst/>
          </a:prstGeom>
          <a:noFill/>
        </p:spPr>
        <p:txBody>
          <a:bodyPr wrap="square" lIns="0" rIns="0" tIns="0" bIns="0" anchor="t">
            <a:noAutofit/>
          </a:bodyPr>
          <a:lstStyle/>
          <a:p>
            <a:pPr algn="l">
              <a:lnSpc>
                <a:spcPts val="975"/>
              </a:lnSpc>
              <a:spcBef>
                <a:spcPts val="0"/>
              </a:spcBef>
              <a:spcAft>
                <a:spcPts val="225"/>
              </a:spcAft>
            </a:pPr>
            <a:r>
              <a:rPr sz="638" b="1" i="0" spc="135">
                <a:solidFill>
                  <a:srgbClr val="1B1A1A"/>
                </a:solidFill>
                <a:latin typeface="Quicksand"/>
              </a:rPr>
              <a:t>EARNINGS AND COMMENTARY</a:t>
            </a:r>
          </a:p>
          <a:p>
            <a:pPr algn="l">
              <a:lnSpc>
                <a:spcPts val="1275"/>
              </a:lnSpc>
              <a:spcBef>
                <a:spcPts val="0"/>
              </a:spcBef>
              <a:spcAft>
                <a:spcPts val="1125"/>
              </a:spcAft>
            </a:pPr>
            <a:r>
              <a:rPr sz="825" b="0" i="0" spc="8" u="sng">
                <a:solidFill>
                  <a:srgbClr val="8C6239"/>
                </a:solidFill>
                <a:latin typeface="Quicksand"/>
                <a:hlinkClick r:id="rId29">
                  <a:extLst>
                    <a:ext uri="{A12FA001-AC4F-418D-AE19-62706E023703}">
                      <ahyp:hlinkClr xmlns:ahyp="http://schemas.microsoft.com/office/drawing/2018/hyperlinkcolor" val="tx"/>
                    </a:ext>
                  </a:extLst>
                </a:hlinkClick>
              </a:rPr>
              <a:t>Celestica</a:t>
            </a:r>
            <a:r>
              <a:rPr sz="825" b="0" i="0" spc="8">
                <a:solidFill>
                  <a:srgbClr val="333231"/>
                </a:solidFill>
                <a:latin typeface="Quicksand"/>
              </a:rPr>
              <a:t>; </a:t>
            </a:r>
            <a:r>
              <a:rPr sz="825" b="0" i="0" spc="8" u="sng">
                <a:solidFill>
                  <a:srgbClr val="8C6239"/>
                </a:solidFill>
                <a:latin typeface="Quicksand"/>
                <a:hlinkClick r:id="rId30">
                  <a:extLst>
                    <a:ext uri="{A12FA001-AC4F-418D-AE19-62706E023703}">
                      <ahyp:hlinkClr xmlns:ahyp="http://schemas.microsoft.com/office/drawing/2018/hyperlinkcolor" val="tx"/>
                    </a:ext>
                  </a:extLst>
                </a:hlinkClick>
              </a:rPr>
              <a:t>TD SYNNEX</a:t>
            </a:r>
            <a:r>
              <a:rPr sz="825" b="0" i="0" spc="8">
                <a:solidFill>
                  <a:srgbClr val="333231"/>
                </a:solidFill>
                <a:latin typeface="Quicksand"/>
              </a:rPr>
              <a:t>; </a:t>
            </a:r>
            <a:r>
              <a:rPr sz="825" b="0" i="0" spc="8" u="sng">
                <a:solidFill>
                  <a:srgbClr val="8C6239"/>
                </a:solidFill>
                <a:latin typeface="Quicksand"/>
                <a:hlinkClick r:id="rId31">
                  <a:extLst>
                    <a:ext uri="{A12FA001-AC4F-418D-AE19-62706E023703}">
                      <ahyp:hlinkClr xmlns:ahyp="http://schemas.microsoft.com/office/drawing/2018/hyperlinkcolor" val="tx"/>
                    </a:ext>
                  </a:extLst>
                </a:hlinkClick>
              </a:rPr>
              <a:t>Palo Alto Networks</a:t>
            </a:r>
            <a:r>
              <a:rPr sz="825" b="0" i="0" spc="8">
                <a:solidFill>
                  <a:srgbClr val="333231"/>
                </a:solidFill>
                <a:latin typeface="Quicksand"/>
              </a:rPr>
              <a:t>; </a:t>
            </a:r>
            <a:r>
              <a:rPr sz="825" b="0" i="0" spc="8" u="sng">
                <a:solidFill>
                  <a:srgbClr val="8C6239"/>
                </a:solidFill>
                <a:latin typeface="Quicksand"/>
                <a:hlinkClick r:id="rId32">
                  <a:extLst>
                    <a:ext uri="{A12FA001-AC4F-418D-AE19-62706E023703}">
                      <ahyp:hlinkClr xmlns:ahyp="http://schemas.microsoft.com/office/drawing/2018/hyperlinkcolor" val="tx"/>
                    </a:ext>
                  </a:extLst>
                </a:hlinkClick>
              </a:rPr>
              <a:t>CrowdStrike</a:t>
            </a:r>
            <a:r>
              <a:rPr sz="825" b="0" i="0" spc="8">
                <a:solidFill>
                  <a:srgbClr val="333231"/>
                </a:solidFill>
                <a:latin typeface="Quicksand"/>
              </a:rPr>
              <a:t>; </a:t>
            </a:r>
            <a:r>
              <a:rPr sz="825" b="0" i="0" spc="8" u="sng">
                <a:solidFill>
                  <a:srgbClr val="8C6239"/>
                </a:solidFill>
                <a:latin typeface="Quicksand"/>
                <a:hlinkClick r:id="rId33">
                  <a:extLst>
                    <a:ext uri="{A12FA001-AC4F-418D-AE19-62706E023703}">
                      <ahyp:hlinkClr xmlns:ahyp="http://schemas.microsoft.com/office/drawing/2018/hyperlinkcolor" val="tx"/>
                    </a:ext>
                  </a:extLst>
                </a:hlinkClick>
              </a:rPr>
              <a:t>Fortinet</a:t>
            </a:r>
            <a:r>
              <a:rPr sz="825" b="0" i="0" spc="8">
                <a:solidFill>
                  <a:srgbClr val="333231"/>
                </a:solidFill>
                <a:latin typeface="Quicksand"/>
              </a:rPr>
              <a:t>; </a:t>
            </a:r>
            <a:r>
              <a:rPr sz="825" b="0" i="0" spc="8" u="sng">
                <a:solidFill>
                  <a:srgbClr val="8C6239"/>
                </a:solidFill>
                <a:latin typeface="Quicksand"/>
                <a:hlinkClick r:id="rId34">
                  <a:extLst>
                    <a:ext uri="{A12FA001-AC4F-418D-AE19-62706E023703}">
                      <ahyp:hlinkClr xmlns:ahyp="http://schemas.microsoft.com/office/drawing/2018/hyperlinkcolor" val="tx"/>
                    </a:ext>
                  </a:extLst>
                </a:hlinkClick>
              </a:rPr>
              <a:t>Flex</a:t>
            </a:r>
            <a:r>
              <a:rPr sz="825" b="0" i="0" spc="8">
                <a:solidFill>
                  <a:srgbClr val="333231"/>
                </a:solidFill>
                <a:latin typeface="Quicksand"/>
              </a:rPr>
              <a:t>; </a:t>
            </a:r>
            <a:r>
              <a:rPr sz="825" b="0" i="0" spc="8" u="sng">
                <a:solidFill>
                  <a:srgbClr val="8C6239"/>
                </a:solidFill>
                <a:latin typeface="Quicksand"/>
                <a:hlinkClick r:id="rId35">
                  <a:extLst>
                    <a:ext uri="{A12FA001-AC4F-418D-AE19-62706E023703}">
                      <ahyp:hlinkClr xmlns:ahyp="http://schemas.microsoft.com/office/drawing/2018/hyperlinkcolor" val="tx"/>
                    </a:ext>
                  </a:extLst>
                </a:hlinkClick>
              </a:rPr>
              <a:t>CACI</a:t>
            </a:r>
            <a:r>
              <a:rPr sz="825" b="0" i="0" spc="8">
                <a:solidFill>
                  <a:srgbClr val="333231"/>
                </a:solidFill>
                <a:latin typeface="Quicksand"/>
              </a:rPr>
              <a:t>; </a:t>
            </a:r>
            <a:r>
              <a:rPr sz="825" b="0" i="0" spc="8" u="sng">
                <a:solidFill>
                  <a:srgbClr val="8C6239"/>
                </a:solidFill>
                <a:latin typeface="Quicksand"/>
                <a:hlinkClick r:id="rId36">
                  <a:extLst>
                    <a:ext uri="{A12FA001-AC4F-418D-AE19-62706E023703}">
                      <ahyp:hlinkClr xmlns:ahyp="http://schemas.microsoft.com/office/drawing/2018/hyperlinkcolor" val="tx"/>
                    </a:ext>
                  </a:extLst>
                </a:hlinkClick>
              </a:rPr>
              <a:t>Insight Enterprises</a:t>
            </a:r>
            <a:r>
              <a:rPr sz="825" b="0" i="0" spc="8">
                <a:solidFill>
                  <a:srgbClr val="333231"/>
                </a:solidFill>
                <a:latin typeface="Quicksand"/>
              </a:rPr>
              <a:t>; </a:t>
            </a:r>
            <a:r>
              <a:rPr sz="825" b="0" i="0" spc="8" u="sng">
                <a:solidFill>
                  <a:srgbClr val="8C6239"/>
                </a:solidFill>
                <a:latin typeface="Quicksand"/>
                <a:hlinkClick r:id="rId37">
                  <a:extLst>
                    <a:ext uri="{A12FA001-AC4F-418D-AE19-62706E023703}">
                      <ahyp:hlinkClr xmlns:ahyp="http://schemas.microsoft.com/office/drawing/2018/hyperlinkcolor" val="tx"/>
                    </a:ext>
                  </a:extLst>
                </a:hlinkClick>
              </a:rPr>
              <a:t>Wesco</a:t>
            </a:r>
            <a:r>
              <a:rPr sz="825" b="0" i="0" spc="8">
                <a:solidFill>
                  <a:srgbClr val="333231"/>
                </a:solidFill>
                <a:latin typeface="Quicksand"/>
              </a:rPr>
              <a:t>; </a:t>
            </a:r>
            <a:r>
              <a:rPr sz="825" b="0" i="0" spc="8" u="sng">
                <a:solidFill>
                  <a:srgbClr val="8C6239"/>
                </a:solidFill>
                <a:latin typeface="Quicksand"/>
                <a:hlinkClick r:id="rId38">
                  <a:extLst>
                    <a:ext uri="{A12FA001-AC4F-418D-AE19-62706E023703}">
                      <ahyp:hlinkClr xmlns:ahyp="http://schemas.microsoft.com/office/drawing/2018/hyperlinkcolor" val="tx"/>
                    </a:ext>
                  </a:extLst>
                </a:hlinkClick>
              </a:rPr>
              <a:t>CDW</a:t>
            </a:r>
            <a:r>
              <a:rPr sz="825" b="0" i="0" spc="8">
                <a:solidFill>
                  <a:srgbClr val="333231"/>
                </a:solidFill>
                <a:latin typeface="Quicksand"/>
              </a:rPr>
              <a:t>; </a:t>
            </a:r>
            <a:r>
              <a:rPr sz="825" b="0" i="0" spc="8" u="sng">
                <a:solidFill>
                  <a:srgbClr val="8C6239"/>
                </a:solidFill>
                <a:latin typeface="Quicksand"/>
                <a:hlinkClick r:id="rId39">
                  <a:extLst>
                    <a:ext uri="{A12FA001-AC4F-418D-AE19-62706E023703}">
                      <ahyp:hlinkClr xmlns:ahyp="http://schemas.microsoft.com/office/drawing/2018/hyperlinkcolor" val="tx"/>
                    </a:ext>
                  </a:extLst>
                </a:hlinkClick>
              </a:rPr>
              <a:t>Napco Security</a:t>
            </a:r>
            <a:r>
              <a:rPr sz="825" b="0" i="0" spc="8">
                <a:solidFill>
                  <a:srgbClr val="333231"/>
                </a:solidFill>
                <a:latin typeface="Quicksand"/>
              </a:rPr>
              <a:t>; </a:t>
            </a:r>
            <a:r>
              <a:rPr sz="825" b="0" i="0" spc="8" u="sng">
                <a:solidFill>
                  <a:srgbClr val="8C6239"/>
                </a:solidFill>
                <a:latin typeface="Quicksand"/>
                <a:hlinkClick r:id="rId40">
                  <a:extLst>
                    <a:ext uri="{A12FA001-AC4F-418D-AE19-62706E023703}">
                      <ahyp:hlinkClr xmlns:ahyp="http://schemas.microsoft.com/office/drawing/2018/hyperlinkcolor" val="tx"/>
                    </a:ext>
                  </a:extLst>
                </a:hlinkClick>
              </a:rPr>
              <a:t>Tyler Technologies</a:t>
            </a:r>
            <a:r>
              <a:rPr sz="825" b="0" i="0" spc="8">
                <a:solidFill>
                  <a:srgbClr val="333231"/>
                </a:solidFill>
                <a:latin typeface="Quicksand"/>
              </a:rPr>
              <a:t>; </a:t>
            </a:r>
            <a:r>
              <a:rPr sz="825" b="0" i="0" spc="8" u="sng">
                <a:solidFill>
                  <a:srgbClr val="8C6239"/>
                </a:solidFill>
                <a:latin typeface="Quicksand"/>
                <a:hlinkClick r:id="rId41">
                  <a:extLst>
                    <a:ext uri="{A12FA001-AC4F-418D-AE19-62706E023703}">
                      <ahyp:hlinkClr xmlns:ahyp="http://schemas.microsoft.com/office/drawing/2018/hyperlinkcolor" val="tx"/>
                    </a:ext>
                  </a:extLst>
                </a:hlinkClick>
              </a:rPr>
              <a:t>Leidos</a:t>
            </a:r>
            <a:r>
              <a:rPr sz="825" b="0" i="0" spc="8">
                <a:solidFill>
                  <a:srgbClr val="333231"/>
                </a:solidFill>
                <a:latin typeface="Quicksand"/>
              </a:rPr>
              <a:t>; </a:t>
            </a:r>
            <a:r>
              <a:rPr sz="825" b="0" i="0" spc="8" u="sng">
                <a:solidFill>
                  <a:srgbClr val="8C6239"/>
                </a:solidFill>
                <a:latin typeface="Quicksand"/>
                <a:hlinkClick r:id="rId42">
                  <a:extLst>
                    <a:ext uri="{A12FA001-AC4F-418D-AE19-62706E023703}">
                      <ahyp:hlinkClr xmlns:ahyp="http://schemas.microsoft.com/office/drawing/2018/hyperlinkcolor" val="tx"/>
                    </a:ext>
                  </a:extLst>
                </a:hlinkClick>
              </a:rPr>
              <a:t>Accenture</a:t>
            </a:r>
            <a:r>
              <a:rPr sz="825" b="0" i="0" spc="8">
                <a:solidFill>
                  <a:srgbClr val="333231"/>
                </a:solidFill>
                <a:latin typeface="Quicksand"/>
              </a:rPr>
              <a:t>; </a:t>
            </a:r>
            <a:r>
              <a:rPr sz="825" b="0" i="0" spc="8" u="sng">
                <a:solidFill>
                  <a:srgbClr val="8C6239"/>
                </a:solidFill>
                <a:latin typeface="Quicksand"/>
                <a:hlinkClick r:id="rId43">
                  <a:extLst>
                    <a:ext uri="{A12FA001-AC4F-418D-AE19-62706E023703}">
                      <ahyp:hlinkClr xmlns:ahyp="http://schemas.microsoft.com/office/drawing/2018/hyperlinkcolor" val="tx"/>
                    </a:ext>
                  </a:extLst>
                </a:hlinkClick>
              </a:rPr>
              <a:t>RingCentral</a:t>
            </a:r>
            <a:r>
              <a:rPr sz="825" b="0" i="0" spc="8">
                <a:solidFill>
                  <a:srgbClr val="333231"/>
                </a:solidFill>
                <a:latin typeface="Quicksand"/>
              </a:rPr>
              <a:t>; </a:t>
            </a:r>
            <a:r>
              <a:rPr sz="825" b="0" i="0" spc="8" u="sng">
                <a:solidFill>
                  <a:srgbClr val="8C6239"/>
                </a:solidFill>
                <a:latin typeface="Quicksand"/>
                <a:hlinkClick r:id="rId44">
                  <a:extLst>
                    <a:ext uri="{A12FA001-AC4F-418D-AE19-62706E023703}">
                      <ahyp:hlinkClr xmlns:ahyp="http://schemas.microsoft.com/office/drawing/2018/hyperlinkcolor" val="tx"/>
                    </a:ext>
                  </a:extLst>
                </a:hlinkClick>
              </a:rPr>
              <a:t>Zoom</a:t>
            </a:r>
            <a:r>
              <a:rPr sz="825" b="0" i="0" spc="8">
                <a:solidFill>
                  <a:srgbClr val="333231"/>
                </a:solidFill>
                <a:latin typeface="Quicksand"/>
              </a:rPr>
              <a:t>; </a:t>
            </a:r>
            <a:r>
              <a:rPr sz="825" b="0" i="0" spc="8" u="sng">
                <a:solidFill>
                  <a:srgbClr val="8C6239"/>
                </a:solidFill>
                <a:latin typeface="Quicksand"/>
                <a:hlinkClick r:id="rId45">
                  <a:extLst>
                    <a:ext uri="{A12FA001-AC4F-418D-AE19-62706E023703}">
                      <ahyp:hlinkClr xmlns:ahyp="http://schemas.microsoft.com/office/drawing/2018/hyperlinkcolor" val="tx"/>
                    </a:ext>
                  </a:extLst>
                </a:hlinkClick>
              </a:rPr>
              <a:t>Booz Allen Hamilton</a:t>
            </a:r>
            <a:r>
              <a:rPr sz="825" b="0" i="0" spc="8">
                <a:solidFill>
                  <a:srgbClr val="333231"/>
                </a:solidFill>
                <a:latin typeface="Quicksand"/>
              </a:rPr>
              <a:t>; </a:t>
            </a:r>
            <a:r>
              <a:rPr sz="825" b="0" i="0" spc="8" u="sng">
                <a:solidFill>
                  <a:srgbClr val="8C6239"/>
                </a:solidFill>
                <a:latin typeface="Quicksand"/>
                <a:hlinkClick r:id="rId46">
                  <a:extLst>
                    <a:ext uri="{A12FA001-AC4F-418D-AE19-62706E023703}">
                      <ahyp:hlinkClr xmlns:ahyp="http://schemas.microsoft.com/office/drawing/2018/hyperlinkcolor" val="tx"/>
                    </a:ext>
                  </a:extLst>
                </a:hlinkClick>
              </a:rPr>
              <a:t>Jabil</a:t>
            </a:r>
          </a:p>
          <a:p>
            <a:pPr algn="l">
              <a:lnSpc>
                <a:spcPts val="975"/>
              </a:lnSpc>
              <a:spcBef>
                <a:spcPts val="0"/>
              </a:spcBef>
              <a:spcAft>
                <a:spcPts val="225"/>
              </a:spcAft>
            </a:pPr>
            <a:r>
              <a:rPr sz="638" b="1" i="0" spc="135">
                <a:solidFill>
                  <a:srgbClr val="1B1A1A"/>
                </a:solidFill>
                <a:latin typeface="Quicksand"/>
              </a:rPr>
              <a:t>COST AND DEMAND INDICATORS</a:t>
            </a:r>
          </a:p>
          <a:p>
            <a:pPr algn="l">
              <a:lnSpc>
                <a:spcPts val="1275"/>
              </a:lnSpc>
              <a:spcBef>
                <a:spcPts val="0"/>
              </a:spcBef>
              <a:spcAft>
                <a:spcPts val="1125"/>
              </a:spcAft>
            </a:pPr>
            <a:r>
              <a:rPr sz="825" b="0" i="0" spc="8" u="sng">
                <a:solidFill>
                  <a:srgbClr val="8C6239"/>
                </a:solidFill>
                <a:latin typeface="Quicksand"/>
                <a:hlinkClick r:id="rId47">
                  <a:extLst>
                    <a:ext uri="{A12FA001-AC4F-418D-AE19-62706E023703}">
                      <ahyp:hlinkClr xmlns:ahyp="http://schemas.microsoft.com/office/drawing/2018/hyperlinkcolor" val="tx"/>
                    </a:ext>
                  </a:extLst>
                </a:hlinkClick>
              </a:rPr>
              <a:t>FRED series PCU33443344 (Bureau of Labor Statistics)</a:t>
            </a:r>
            <a:r>
              <a:rPr sz="825" b="0" i="0" spc="8">
                <a:solidFill>
                  <a:srgbClr val="333231"/>
                </a:solidFill>
                <a:latin typeface="Quicksand"/>
              </a:rPr>
              <a:t>; </a:t>
            </a:r>
            <a:r>
              <a:rPr sz="825" b="0" i="0" spc="8" u="sng">
                <a:solidFill>
                  <a:srgbClr val="8C6239"/>
                </a:solidFill>
                <a:latin typeface="Quicksand"/>
                <a:hlinkClick r:id="rId48">
                  <a:extLst>
                    <a:ext uri="{A12FA001-AC4F-418D-AE19-62706E023703}">
                      <ahyp:hlinkClr xmlns:ahyp="http://schemas.microsoft.com/office/drawing/2018/hyperlinkcolor" val="tx"/>
                    </a:ext>
                  </a:extLst>
                </a:hlinkClick>
              </a:rPr>
              <a:t>FRED series PCOPPUSDM (International Monetary Fund)</a:t>
            </a:r>
            <a:r>
              <a:rPr sz="825" b="0" i="0" spc="8">
                <a:solidFill>
                  <a:srgbClr val="333231"/>
                </a:solidFill>
                <a:latin typeface="Quicksand"/>
              </a:rPr>
              <a:t>; </a:t>
            </a:r>
            <a:r>
              <a:rPr sz="825" b="0" i="0" spc="8" u="sng">
                <a:solidFill>
                  <a:srgbClr val="8C6239"/>
                </a:solidFill>
                <a:latin typeface="Quicksand"/>
                <a:hlinkClick r:id="rId49">
                  <a:extLst>
                    <a:ext uri="{A12FA001-AC4F-418D-AE19-62706E023703}">
                      <ahyp:hlinkClr xmlns:ahyp="http://schemas.microsoft.com/office/drawing/2018/hyperlinkcolor" val="tx"/>
                    </a:ext>
                  </a:extLst>
                </a:hlinkClick>
              </a:rPr>
              <a:t>FRED series PROFCONS (US Census Bureau)</a:t>
            </a:r>
            <a:r>
              <a:rPr sz="825" b="0" i="0" spc="8">
                <a:solidFill>
                  <a:srgbClr val="333231"/>
                </a:solidFill>
                <a:latin typeface="Quicksand"/>
              </a:rPr>
              <a:t>; </a:t>
            </a:r>
            <a:r>
              <a:rPr sz="825" b="0" i="0" spc="8" u="sng">
                <a:solidFill>
                  <a:srgbClr val="8C6239"/>
                </a:solidFill>
                <a:latin typeface="Quicksand"/>
                <a:hlinkClick r:id="rId50">
                  <a:extLst>
                    <a:ext uri="{A12FA001-AC4F-418D-AE19-62706E023703}">
                      <ahyp:hlinkClr xmlns:ahyp="http://schemas.microsoft.com/office/drawing/2018/hyperlinkcolor" val="tx"/>
                    </a:ext>
                  </a:extLst>
                </a:hlinkClick>
              </a:rPr>
              <a:t>FRED series CES6054150001 (Bureau of Labor Statistics)</a:t>
            </a:r>
            <a:r>
              <a:rPr sz="825" b="0" i="0" spc="8">
                <a:solidFill>
                  <a:srgbClr val="333231"/>
                </a:solidFill>
                <a:latin typeface="Quicksand"/>
              </a:rPr>
              <a:t>; </a:t>
            </a:r>
            <a:r>
              <a:rPr sz="825" b="0" i="0" spc="8" u="sng">
                <a:solidFill>
                  <a:srgbClr val="8C6239"/>
                </a:solidFill>
                <a:latin typeface="Quicksand"/>
                <a:hlinkClick r:id="rId51">
                  <a:extLst>
                    <a:ext uri="{A12FA001-AC4F-418D-AE19-62706E023703}">
                      <ahyp:hlinkClr xmlns:ahyp="http://schemas.microsoft.com/office/drawing/2018/hyperlinkcolor" val="tx"/>
                    </a:ext>
                  </a:extLst>
                </a:hlinkClick>
              </a:rPr>
              <a:t>Census Bureau construction spending release of October 1, 2026</a:t>
            </a:r>
          </a:p>
        </p:txBody>
      </p:sp>
      <p:sp>
        <p:nvSpPr>
          <p:cNvPr id="12" name="TextBox 11"/>
          <p:cNvSpPr txBox="1"/>
          <p:nvPr/>
        </p:nvSpPr>
        <p:spPr>
          <a:xfrm>
            <a:off x="7505700" y="1213199"/>
            <a:ext cx="2171700" cy="2958751"/>
          </a:xfrm>
          <a:prstGeom prst="rect">
            <a:avLst/>
          </a:prstGeom>
          <a:noFill/>
        </p:spPr>
        <p:txBody>
          <a:bodyPr wrap="square" lIns="0" rIns="0" tIns="0" bIns="0" anchor="t">
            <a:noAutofit/>
          </a:bodyPr>
          <a:lstStyle/>
          <a:p>
            <a:pPr algn="l">
              <a:lnSpc>
                <a:spcPts val="975"/>
              </a:lnSpc>
              <a:spcBef>
                <a:spcPts val="0"/>
              </a:spcBef>
              <a:spcAft>
                <a:spcPts val="225"/>
              </a:spcAft>
            </a:pPr>
            <a:r>
              <a:rPr sz="638" b="1" i="0" spc="135">
                <a:solidFill>
                  <a:srgbClr val="1B1A1A"/>
                </a:solidFill>
                <a:latin typeface="Quicksand"/>
              </a:rPr>
              <a:t>CONNECT WITH US</a:t>
            </a:r>
          </a:p>
          <a:p>
            <a:pPr algn="l">
              <a:lnSpc>
                <a:spcPts val="1275"/>
              </a:lnSpc>
              <a:spcBef>
                <a:spcPts val="0"/>
              </a:spcBef>
              <a:spcAft>
                <a:spcPts val="1125"/>
              </a:spcAft>
            </a:pPr>
            <a:r>
              <a:rPr sz="825" b="0" i="0" spc="8" u="sng">
                <a:solidFill>
                  <a:srgbClr val="8C6239"/>
                </a:solidFill>
                <a:latin typeface="Quicksand"/>
                <a:hlinkClick r:id="rId52">
                  <a:extLst>
                    <a:ext uri="{A12FA001-AC4F-418D-AE19-62706E023703}">
                      <ahyp:hlinkClr xmlns:ahyp="http://schemas.microsoft.com/office/drawing/2018/hyperlinkcolor" val="tx"/>
                    </a:ext>
                  </a:extLst>
                </a:hlinkClick>
              </a:rPr>
              <a:t>Technology Q4 2026 sector report, Benchmark International Middle Market</a:t>
            </a:r>
          </a:p>
          <a:p>
            <a:pPr algn="l">
              <a:lnSpc>
                <a:spcPts val="975"/>
              </a:lnSpc>
              <a:spcBef>
                <a:spcPts val="0"/>
              </a:spcBef>
              <a:spcAft>
                <a:spcPts val="225"/>
              </a:spcAft>
            </a:pPr>
            <a:r>
              <a:rPr sz="638" b="1" i="0" spc="135">
                <a:solidFill>
                  <a:srgbClr val="1B1A1A"/>
                </a:solidFill>
                <a:latin typeface="Quicksand"/>
              </a:rPr>
              <a:t>FIRM OVERVIEW</a:t>
            </a:r>
          </a:p>
          <a:p>
            <a:pPr algn="l">
              <a:lnSpc>
                <a:spcPts val="1275"/>
              </a:lnSpc>
              <a:spcBef>
                <a:spcPts val="0"/>
              </a:spcBef>
              <a:spcAft>
                <a:spcPts val="1125"/>
              </a:spcAft>
            </a:pPr>
            <a:r>
              <a:rPr sz="825" b="0" i="0" spc="8" u="sng">
                <a:solidFill>
                  <a:srgbClr val="8C6239"/>
                </a:solidFill>
                <a:latin typeface="Quicksand"/>
                <a:hlinkClick r:id="rId25">
                  <a:extLst>
                    <a:ext uri="{A12FA001-AC4F-418D-AE19-62706E023703}">
                      <ahyp:hlinkClr xmlns:ahyp="http://schemas.microsoft.com/office/drawing/2018/hyperlinkcolor" val="tx"/>
                    </a:ext>
                  </a:extLst>
                </a:hlinkClick>
              </a:rPr>
              <a:t>Benchmark International, Our Success</a:t>
            </a:r>
          </a:p>
          <a:p>
            <a:pPr algn="l">
              <a:lnSpc>
                <a:spcPts val="975"/>
              </a:lnSpc>
              <a:spcBef>
                <a:spcPts val="0"/>
              </a:spcBef>
              <a:spcAft>
                <a:spcPts val="225"/>
              </a:spcAft>
            </a:pPr>
            <a:r>
              <a:rPr sz="638" b="1" i="0" spc="135">
                <a:solidFill>
                  <a:srgbClr val="1B1A1A"/>
                </a:solidFill>
                <a:latin typeface="Quicksand"/>
              </a:rPr>
              <a:t>BENCHMARK INTERNATIONAL RECORDS</a:t>
            </a:r>
          </a:p>
          <a:p>
            <a:pPr algn="l">
              <a:lnSpc>
                <a:spcPts val="1275"/>
              </a:lnSpc>
              <a:spcBef>
                <a:spcPts val="0"/>
              </a:spcBef>
              <a:spcAft>
                <a:spcPts val="1125"/>
              </a:spcAft>
            </a:pPr>
            <a:r>
              <a:rPr sz="825" b="0" i="0" spc="8">
                <a:solidFill>
                  <a:srgbClr val="333231"/>
                </a:solidFill>
                <a:latin typeface="Quicksand"/>
              </a:rPr>
              <a:t>Transaction records and the engagement portfolio as of October 1, 2026; announced transactions as published at </a:t>
            </a:r>
            <a:r>
              <a:rPr sz="825" b="0" i="0" spc="8" u="sng">
                <a:solidFill>
                  <a:srgbClr val="8C6239"/>
                </a:solidFill>
                <a:latin typeface="Quicksand"/>
                <a:hlinkClick r:id="rId53">
                  <a:extLst>
                    <a:ext uri="{A12FA001-AC4F-418D-AE19-62706E023703}">
                      <ahyp:hlinkClr xmlns:ahyp="http://schemas.microsoft.com/office/drawing/2018/hyperlinkcolor" val="tx"/>
                    </a:ext>
                  </a:extLst>
                </a:hlinkClick>
              </a:rPr>
              <a:t>benchmarkintl.com/insights</a:t>
            </a:r>
            <a:r>
              <a:rPr sz="825" b="0" i="0" spc="8">
                <a:solidFill>
                  <a:srgbClr val="333231"/>
                </a:solidFill>
                <a:latin typeface="Quicksand"/>
              </a:rPr>
              <a:t>, each linked from its tile</a:t>
            </a:r>
          </a:p>
        </p:txBody>
      </p:sp>
      <p:sp>
        <p:nvSpPr>
          <p:cNvPr id="13" name="Panel"/>
          <p:cNvSpPr/>
          <p:nvPr/>
        </p:nvSpPr>
        <p:spPr>
          <a:xfrm>
            <a:off x="419100" y="7029450"/>
            <a:ext cx="9220200" cy="9525"/>
          </a:xfrm>
          <a:prstGeom prst="rect">
            <a:avLst/>
          </a:prstGeom>
          <a:solidFill>
            <a:srgbClr val="E3DCD3"/>
          </a:solidFill>
          <a:ln>
            <a:noFill/>
          </a:ln>
        </p:spPr>
        <p:txBody>
          <a:bodyPr rtlCol="0" anchor="ctr"/>
          <a:lstStyle/>
          <a:p>
            <a:pPr algn="ctr"/>
          </a:p>
        </p:txBody>
      </p:sp>
      <p:pic>
        <p:nvPicPr>
          <p:cNvPr id="14" name="Graphic" descr="S03_r6.png"/>
          <p:cNvPicPr>
            <a:picLocks noChangeAspect="1"/>
          </p:cNvPicPr>
          <p:nvPr/>
        </p:nvPicPr>
        <p:blipFill>
          <a:blip r:embed="rId54"/>
          <a:stretch>
            <a:fillRect/>
          </a:stretch>
        </p:blipFill>
        <p:spPr>
          <a:xfrm>
            <a:off x="419100" y="7143750"/>
            <a:ext cx="914400" cy="171450"/>
          </a:xfrm>
          <a:prstGeom prst="rect">
            <a:avLst/>
          </a:prstGeom>
        </p:spPr>
      </p:pic>
      <p:sp>
        <p:nvSpPr>
          <p:cNvPr id="15" name="TextBox 14"/>
          <p:cNvSpPr txBox="1"/>
          <p:nvPr/>
        </p:nvSpPr>
        <p:spPr>
          <a:xfrm>
            <a:off x="1543050" y="7091172"/>
            <a:ext cx="3607147" cy="104775"/>
          </a:xfrm>
          <a:prstGeom prst="rect">
            <a:avLst/>
          </a:prstGeom>
          <a:noFill/>
        </p:spPr>
        <p:txBody>
          <a:bodyPr wrap="none" lIns="0" rIns="0" tIns="0" bIns="0" anchor="t">
            <a:noAutofit/>
          </a:bodyPr>
          <a:lstStyle/>
          <a:p>
            <a:pPr algn="l">
              <a:lnSpc>
                <a:spcPts val="938"/>
              </a:lnSpc>
              <a:spcBef>
                <a:spcPts val="0"/>
              </a:spcBef>
              <a:spcAft>
                <a:spcPts val="0"/>
              </a:spcAft>
            </a:pPr>
            <a:r>
              <a:rPr sz="675" b="0" i="0" spc="8">
                <a:solidFill>
                  <a:srgbClr val="6F6A66"/>
                </a:solidFill>
                <a:latin typeface="Quicksand"/>
              </a:rPr>
              <a:t>Subscription sources that would add depth are listed in a separate one-page document.</a:t>
            </a:r>
          </a:p>
        </p:txBody>
      </p:sp>
      <p:sp>
        <p:nvSpPr>
          <p:cNvPr id="16" name="TextBox 15"/>
          <p:cNvSpPr txBox="1"/>
          <p:nvPr/>
        </p:nvSpPr>
        <p:spPr>
          <a:xfrm>
            <a:off x="9514582" y="7149370"/>
            <a:ext cx="124718" cy="114300"/>
          </a:xfrm>
          <a:prstGeom prst="rect">
            <a:avLst/>
          </a:prstGeom>
          <a:noFill/>
        </p:spPr>
        <p:txBody>
          <a:bodyPr wrap="none" lIns="0" rIns="0" tIns="0" bIns="0" anchor="t">
            <a:noAutofit/>
          </a:bodyPr>
          <a:lstStyle/>
          <a:p>
            <a:pPr algn="r">
              <a:lnSpc>
                <a:spcPts val="1050"/>
              </a:lnSpc>
              <a:spcBef>
                <a:spcPts val="0"/>
              </a:spcBef>
              <a:spcAft>
                <a:spcPts val="0"/>
              </a:spcAft>
            </a:pPr>
            <a:r>
              <a:rPr sz="712" b="1" i="0" spc="150">
                <a:solidFill>
                  <a:srgbClr val="1B1A1A"/>
                </a:solidFill>
                <a:latin typeface="Quicksand"/>
              </a:rPr>
              <a:t>19</a:t>
            </a:r>
          </a:p>
        </p:txBody>
      </p:sp>
    </p:spTree>
  </p:cSld>
  <p:clrMapOvr>
    <a:masterClrMapping/>
  </p:clrMapOvr>
</p:sld>
</file>

<file path=ppt/theme/theme1.xml><?xml version="1.0" encoding="utf-8"?>
<a:theme xmlns:a="http://schemas.openxmlformats.org/drawingml/2006/main" name="Office Theme">
  <a:themeElements>
    <a:clrScheme name="Benchmark">
      <a:dk1>
        <a:srgbClr val="1B1A1A"/>
      </a:dk1>
      <a:lt1>
        <a:srgbClr val="FFFFFF"/>
      </a:lt1>
      <a:dk2>
        <a:srgbClr val="2A2928"/>
      </a:dk2>
      <a:lt2>
        <a:srgbClr val="FAF7F3"/>
      </a:lt2>
      <a:accent1>
        <a:srgbClr val="B68757"/>
      </a:accent1>
      <a:accent2>
        <a:srgbClr val="A0754A"/>
      </a:accent2>
      <a:accent3>
        <a:srgbClr val="8C6239"/>
      </a:accent3>
      <a:accent4>
        <a:srgbClr val="D3AE84"/>
      </a:accent4>
      <a:accent5>
        <a:srgbClr val="6F6A66"/>
      </a:accent5>
      <a:accent6>
        <a:srgbClr val="C3BDB6"/>
      </a:accent6>
      <a:hlink>
        <a:srgbClr val="8C6239"/>
      </a:hlink>
      <a:folHlink>
        <a:srgbClr val="8C6239"/>
      </a:folHlink>
    </a:clrScheme>
    <a:fontScheme name="Office">
      <a:majorFont>
        <a:latin typeface="Newsreader"/>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Quicksand"/>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