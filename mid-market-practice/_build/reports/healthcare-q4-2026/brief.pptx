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 BENCHMARK CAPITAL MARKETS"/>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SECTOR BRIEF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focus areas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SECTOR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market landscape,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 The BCM team and Benchmark Interna"/>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Healthcare M&amp;A: state of play"/>
          <p:cNvSpPr txBox="1"/>
          <p:nvPr/>
        </p:nvSpPr>
        <p:spPr>
          <a:xfrm>
            <a:off x="781050" y="4010025"/>
            <a:ext cx="152191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Healthcare M&amp;A: state of play</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Historical market context"/>
          <p:cNvSpPr txBox="1"/>
          <p:nvPr/>
        </p:nvSpPr>
        <p:spPr>
          <a:xfrm>
            <a:off x="781050" y="4352925"/>
            <a:ext cx="127039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Historical market context</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Fundamentals supporting activity"/>
          <p:cNvSpPr txBox="1"/>
          <p:nvPr/>
        </p:nvSpPr>
        <p:spPr>
          <a:xfrm>
            <a:off x="781050" y="4695825"/>
            <a:ext cx="1687562"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Fundamentals supporting activity</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Perspectives on four focus areas"/>
          <p:cNvSpPr txBox="1"/>
          <p:nvPr/>
        </p:nvSpPr>
        <p:spPr>
          <a:xfrm>
            <a:off x="781050" y="5038725"/>
            <a:ext cx="162713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Perspectives on four focus areas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What we're reading"/>
          <p:cNvSpPr txBox="1"/>
          <p:nvPr/>
        </p:nvSpPr>
        <p:spPr>
          <a:xfrm>
            <a:off x="781050" y="5381625"/>
            <a:ext cx="1000274"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What we're reading</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focus areas.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focus area,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Landscape of select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Landscape: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focus area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covered in the full report.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focus area.</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 A fuller list for each focus area is in the Healthcare Q4 2026 report.</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focus areas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Focus Area</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focus areas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focus area</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focus areas,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The Benchmark Capital Markets team"/>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focus areas,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 MIDDLE MARKET</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FULL Q4 2026 REPORT</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2" name="Rectangle 31"/>
          <p:cNvSpPr/>
          <p:nvPr/>
        </p:nvSpPr>
        <p:spPr>
          <a:xfrm>
            <a:off x="6076950" y="5591175"/>
            <a:ext cx="3333750" cy="1114425"/>
          </a:xfrm>
          <a:prstGeom prst="rect">
            <a:avLst/>
          </a:prstGeom>
          <a:noFill/>
          <a:ln w="9525">
            <a:solidFill>
              <a:srgbClr val="D3AE84"/>
            </a:solidFill>
            <a:prstDash val="dash"/>
          </a:ln>
        </p:spPr>
        <p:txBody>
          <a:bodyPr rtlCol="0" anchor="ctr"/>
          <a:lstStyle/>
          <a:p>
            <a:pPr algn="ctr"/>
            <a:endParaRPr/>
          </a:p>
        </p:txBody>
      </p:sp>
      <p:sp>
        <p:nvSpPr>
          <p:cNvPr id="33" name="Text: UPCOMING EVENT"/>
          <p:cNvSpPr txBox="1"/>
          <p:nvPr/>
        </p:nvSpPr>
        <p:spPr>
          <a:xfrm>
            <a:off x="6257925" y="5753100"/>
            <a:ext cx="2986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UPCOMING EVENT</a:t>
            </a:r>
          </a:p>
        </p:txBody>
      </p:sp>
      <p:sp>
        <p:nvSpPr>
          <p:cNvPr id="34" name="Text: Event name, dates and location"/>
          <p:cNvSpPr txBox="1"/>
          <p:nvPr/>
        </p:nvSpPr>
        <p:spPr>
          <a:xfrm>
            <a:off x="6257925" y="5934075"/>
            <a:ext cx="2986088" cy="247650"/>
          </a:xfrm>
          <a:prstGeom prst="rect">
            <a:avLst/>
          </a:prstGeom>
          <a:noFill/>
        </p:spPr>
        <p:txBody>
          <a:bodyPr wrap="square" lIns="0" tIns="0" rIns="0" bIns="0" anchor="t">
            <a:spAutoFit/>
          </a:bodyPr>
          <a:lstStyle/>
          <a:p>
            <a:pPr algn="l">
              <a:lnSpc>
                <a:spcPts val="1950"/>
              </a:lnSpc>
            </a:pPr>
            <a:r>
              <a:rPr sz="1500" b="1" i="0">
                <a:solidFill>
                  <a:srgbClr val="FFFFFF"/>
                </a:solidFill>
                <a:latin typeface="Cambria"/>
              </a:rPr>
              <a:t>Event name, dates and location</a:t>
            </a:r>
          </a:p>
        </p:txBody>
      </p:sp>
      <p:sp>
        <p:nvSpPr>
          <p:cNvPr id="35" name="Text: This panel is reserved for the nex"/>
          <p:cNvSpPr txBox="1"/>
          <p:nvPr/>
        </p:nvSpPr>
        <p:spPr>
          <a:xfrm>
            <a:off x="6257925" y="6219825"/>
            <a:ext cx="29860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This panel is reserved for the next conference or event where the Middle Market team will be meeting healthcare owners.</a:t>
            </a: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882402"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882402"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785068"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78506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231553"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231553"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519857"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519857"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 Benchmark Capital Markets (BCM), p"/>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on sales, recapitalizations and growth partnerships across five sectors.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sector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SECTOR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FOCUS AREAS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FOCUS AREAS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FOCUS AREA</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landscape and appendix pages. The full Healthcare Q4 2026 report carries the complete source list for the transactions and policy items summarized here.</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Sector Brief</dc:title>
  <dc:subject/>
  <dc:creator>Benchmark Capital Markets</dc:creator>
  <cp:keywords/>
  <dc:description>generated using python-pptx</dc:description>
  <cp:lastModifiedBy>Jason Lisiak</cp:lastModifiedBy>
  <cp:revision>5</cp:revision>
  <dcterms:created xsi:type="dcterms:W3CDTF">2013-01-27T09:14:16Z</dcterms:created>
  <dcterms:modified xsi:type="dcterms:W3CDTF">2026-10-14T13:27:31Z</dcterms:modified>
  <cp:category/>
</cp:coreProperties>
</file>