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SECTOR BRIEF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07" name="Text: azykov@benchmarkintl.com"/>
          <p:cNvSpPr txBox="1"/>
          <p:nvPr/>
        </p:nvSpPr>
        <p:spPr>
          <a:xfrm>
            <a:off x="6407869"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1">
                  <a:extLst>
                    <a:ext uri="{A12FA001-AC4F-418D-AE19-62706E023703}">
                      <ahyp:hlinkClr xmlns:ahyp="http://schemas.microsoft.com/office/drawing/2018/hyperlinkcolor" val="tx"/>
                    </a:ext>
                  </a:extLst>
                </a:hlinkClick>
              </a:rPr>
              <a:t>813-898-2372</a:t>
            </a:r>
            <a:br/>
            <a:r>
              <a:rPr sz="788" b="0" i="0" spc="15">
                <a:solidFill>
                  <a:srgbClr val="8C6239"/>
                </a:solidFill>
                <a:latin typeface="Calibri"/>
                <a:hlinkClick r:id="rId22">
                  <a:extLst>
                    <a:ext uri="{A12FA001-AC4F-418D-AE19-62706E023703}">
                      <ahyp:hlinkClr xmlns:ahyp="http://schemas.microsoft.com/office/drawing/2018/hyperlinkcolor" val="tx"/>
                    </a:ext>
                  </a:extLst>
                </a:hlinkClick>
              </a:rPr>
              <a:t>azykov@benchmarkintl.com</a:t>
            </a:r>
          </a:p>
        </p:txBody>
      </p:sp>
      <p:sp>
        <p:nvSpPr>
          <p:cNvPr id="108" name="Text: hess@benchmarkintl.com"/>
          <p:cNvSpPr txBox="1"/>
          <p:nvPr/>
        </p:nvSpPr>
        <p:spPr>
          <a:xfrm>
            <a:off x="8193733"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3">
                  <a:extLst>
                    <a:ext uri="{A12FA001-AC4F-418D-AE19-62706E023703}">
                      <ahyp:hlinkClr xmlns:ahyp="http://schemas.microsoft.com/office/drawing/2018/hyperlinkcolor" val="tx"/>
                    </a:ext>
                  </a:extLst>
                </a:hlinkClick>
              </a:rPr>
              <a:t>813-898-2397</a:t>
            </a:r>
            <a:br/>
            <a:r>
              <a:rPr sz="788" b="0" i="0" spc="15">
                <a:solidFill>
                  <a:srgbClr val="8C6239"/>
                </a:solidFill>
                <a:latin typeface="Calibri"/>
                <a:hlinkClick r:id="rId24">
                  <a:extLst>
                    <a:ext uri="{A12FA001-AC4F-418D-AE19-62706E023703}">
                      <ahyp:hlinkClr xmlns:ahyp="http://schemas.microsoft.com/office/drawing/2018/hyperlinkcolor" val="tx"/>
                    </a:ext>
                  </a:extLst>
                </a:hlinkClick>
              </a:rPr>
              <a:t>hess@benchmarkintl.com</a:t>
            </a:r>
          </a:p>
        </p:txBody>
      </p:sp>
      <p:sp>
        <p:nvSpPr>
          <p:cNvPr id="109" name="Text: garten@benchmarkintl.com"/>
          <p:cNvSpPr txBox="1"/>
          <p:nvPr/>
        </p:nvSpPr>
        <p:spPr>
          <a:xfrm>
            <a:off x="33813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5">
                  <a:extLst>
                    <a:ext uri="{A12FA001-AC4F-418D-AE19-62706E023703}">
                      <ahyp:hlinkClr xmlns:ahyp="http://schemas.microsoft.com/office/drawing/2018/hyperlinkcolor" val="tx"/>
                    </a:ext>
                  </a:extLst>
                </a:hlinkClick>
              </a:rPr>
              <a:t>813-898-2357</a:t>
            </a:r>
            <a:br/>
            <a:r>
              <a:rPr sz="675" b="0" i="0" spc="15">
                <a:solidFill>
                  <a:srgbClr val="8C6239"/>
                </a:solidFill>
                <a:latin typeface="Calibri"/>
                <a:hlinkClick r:id="rId26">
                  <a:extLst>
                    <a:ext uri="{A12FA001-AC4F-418D-AE19-62706E023703}">
                      <ahyp:hlinkClr xmlns:ahyp="http://schemas.microsoft.com/office/drawing/2018/hyperlinkcolor" val="tx"/>
                    </a:ext>
                  </a:extLst>
                </a:hlinkClick>
              </a:rPr>
              <a:t>garten@benchmarkintl.com</a:t>
            </a:r>
          </a:p>
        </p:txBody>
      </p:sp>
      <p:sp>
        <p:nvSpPr>
          <p:cNvPr id="110" name="Text: mwynn@benchmarkintl.com"/>
          <p:cNvSpPr txBox="1"/>
          <p:nvPr/>
        </p:nvSpPr>
        <p:spPr>
          <a:xfrm>
            <a:off x="576262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7">
                  <a:extLst>
                    <a:ext uri="{A12FA001-AC4F-418D-AE19-62706E023703}">
                      <ahyp:hlinkClr xmlns:ahyp="http://schemas.microsoft.com/office/drawing/2018/hyperlinkcolor" val="tx"/>
                    </a:ext>
                  </a:extLst>
                </a:hlinkClick>
              </a:rPr>
              <a:t>813-384-4972</a:t>
            </a:r>
            <a:br/>
            <a:r>
              <a:rPr sz="675" b="0" i="0" spc="15">
                <a:solidFill>
                  <a:srgbClr val="8C6239"/>
                </a:solidFill>
                <a:latin typeface="Calibri"/>
                <a:hlinkClick r:id="rId28">
                  <a:extLst>
                    <a:ext uri="{A12FA001-AC4F-418D-AE19-62706E023703}">
                      <ahyp:hlinkClr xmlns:ahyp="http://schemas.microsoft.com/office/drawing/2018/hyperlinkcolor" val="tx"/>
                    </a:ext>
                  </a:extLst>
                </a:hlinkClick>
              </a:rPr>
              <a:t>mwynn@benchmarkintl.com</a:t>
            </a:r>
          </a:p>
        </p:txBody>
      </p:sp>
      <p:sp>
        <p:nvSpPr>
          <p:cNvPr id="111" name="Text: jlisiak@benchmarkintl.com"/>
          <p:cNvSpPr txBox="1"/>
          <p:nvPr/>
        </p:nvSpPr>
        <p:spPr>
          <a:xfrm>
            <a:off x="81438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9">
                  <a:extLst>
                    <a:ext uri="{A12FA001-AC4F-418D-AE19-62706E023703}">
                      <ahyp:hlinkClr xmlns:ahyp="http://schemas.microsoft.com/office/drawing/2018/hyperlinkcolor" val="tx"/>
                    </a:ext>
                  </a:extLst>
                </a:hlinkClick>
              </a:rPr>
              <a:t>jlisiak@benchmarkintl.com</a:t>
            </a:r>
          </a:p>
        </p:txBody>
      </p:sp>
      <p:sp>
        <p:nvSpPr>
          <p:cNvPr id="112" name="Text: abarr@benchmarkintl.com"/>
          <p:cNvSpPr txBox="1"/>
          <p:nvPr/>
        </p:nvSpPr>
        <p:spPr>
          <a:xfrm>
            <a:off x="33813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0">
                  <a:extLst>
                    <a:ext uri="{A12FA001-AC4F-418D-AE19-62706E023703}">
                      <ahyp:hlinkClr xmlns:ahyp="http://schemas.microsoft.com/office/drawing/2018/hyperlinkcolor" val="tx"/>
                    </a:ext>
                  </a:extLst>
                </a:hlinkClick>
              </a:rPr>
              <a:t>813-387-6046</a:t>
            </a:r>
            <a:br/>
            <a:r>
              <a:rPr sz="675" b="0" i="0" spc="15">
                <a:solidFill>
                  <a:srgbClr val="8C6239"/>
                </a:solidFill>
                <a:latin typeface="Calibri"/>
                <a:hlinkClick r:id="rId31">
                  <a:extLst>
                    <a:ext uri="{A12FA001-AC4F-418D-AE19-62706E023703}">
                      <ahyp:hlinkClr xmlns:ahyp="http://schemas.microsoft.com/office/drawing/2018/hyperlinkcolor" val="tx"/>
                    </a:ext>
                  </a:extLst>
                </a:hlinkClick>
              </a:rPr>
              <a:t>abarr@benchmarkintl.com</a:t>
            </a:r>
          </a:p>
        </p:txBody>
      </p:sp>
      <p:sp>
        <p:nvSpPr>
          <p:cNvPr id="113" name="Text: jwarren@benchmarkintl.com"/>
          <p:cNvSpPr txBox="1"/>
          <p:nvPr/>
        </p:nvSpPr>
        <p:spPr>
          <a:xfrm>
            <a:off x="576262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2">
                  <a:extLst>
                    <a:ext uri="{A12FA001-AC4F-418D-AE19-62706E023703}">
                      <ahyp:hlinkClr xmlns:ahyp="http://schemas.microsoft.com/office/drawing/2018/hyperlinkcolor" val="tx"/>
                    </a:ext>
                  </a:extLst>
                </a:hlinkClick>
              </a:rPr>
              <a:t>813-898-2398</a:t>
            </a:r>
            <a:br/>
            <a:r>
              <a:rPr sz="675" b="0" i="0" spc="15">
                <a:solidFill>
                  <a:srgbClr val="8C6239"/>
                </a:solidFill>
                <a:latin typeface="Calibri"/>
                <a:hlinkClick r:id="rId33">
                  <a:extLst>
                    <a:ext uri="{A12FA001-AC4F-418D-AE19-62706E023703}">
                      <ahyp:hlinkClr xmlns:ahyp="http://schemas.microsoft.com/office/drawing/2018/hyperlinkcolor" val="tx"/>
                    </a:ext>
                  </a:extLst>
                </a:hlinkClick>
              </a:rPr>
              <a:t>jwarren@benchmarkintl.com</a:t>
            </a:r>
          </a:p>
        </p:txBody>
      </p:sp>
      <p:sp>
        <p:nvSpPr>
          <p:cNvPr id="114" name="Text: lernst@benchmarkintl.com"/>
          <p:cNvSpPr txBox="1"/>
          <p:nvPr/>
        </p:nvSpPr>
        <p:spPr>
          <a:xfrm>
            <a:off x="81438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4">
                  <a:extLst>
                    <a:ext uri="{A12FA001-AC4F-418D-AE19-62706E023703}">
                      <ahyp:hlinkClr xmlns:ahyp="http://schemas.microsoft.com/office/drawing/2018/hyperlinkcolor" val="tx"/>
                    </a:ext>
                  </a:extLst>
                </a:hlinkClick>
              </a:rPr>
              <a:t>813-771-6318</a:t>
            </a:r>
            <a:br/>
            <a:r>
              <a:rPr sz="675" b="0" i="0" spc="15">
                <a:solidFill>
                  <a:srgbClr val="8C6239"/>
                </a:solidFill>
                <a:latin typeface="Calibri"/>
                <a:hlinkClick r:id="rId35">
                  <a:extLst>
                    <a:ext uri="{A12FA001-AC4F-418D-AE19-62706E023703}">
                      <ahyp:hlinkClr xmlns:ahyp="http://schemas.microsoft.com/office/drawing/2018/hyperlinkcolor" val="tx"/>
                    </a:ext>
                  </a:extLst>
                </a:hlinkClick>
              </a:rPr>
              <a:t>lernst@benchmarkintl.com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sales, recapitalizations and growth partnerships across five sectors.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sector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SECTOR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Healthcare quarterly sector brief,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