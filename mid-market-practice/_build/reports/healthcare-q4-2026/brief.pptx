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hyperlink" Target="https://www.cms.gov/newsroom/fact-sheets/calendar-year-cy-2027-medicare-physician-fee-schedule-proposed-rule" TargetMode="External"/><Relationship Id="rId13" Type="http://schemas.openxmlformats.org/officeDocument/2006/relationships/image" Target="../media/image7.png"/><Relationship Id="rId18" Type="http://schemas.openxmlformats.org/officeDocument/2006/relationships/image" Target="../media/image8.png"/><Relationship Id="rId26" Type="http://schemas.openxmlformats.org/officeDocument/2006/relationships/hyperlink" Target="https://www.bakerlaw.com/insights/healthcare-and-private-equity-transactions-continue-to-be-under-state-scrutiny/" TargetMode="External"/><Relationship Id="rId3" Type="http://schemas.openxmlformats.org/officeDocument/2006/relationships/hyperlink" Target="https://www.fiercehealthcare.com/finance/projected-healthcare-services-deal-count-be-lowest-2017-pitchbook-finds" TargetMode="External"/><Relationship Id="rId21" Type="http://schemas.openxmlformats.org/officeDocument/2006/relationships/hyperlink" Target="https://www.bls.gov/news.release/archives/empsit_10022026.htm" TargetMode="External"/><Relationship Id="rId7" Type="http://schemas.openxmlformats.org/officeDocument/2006/relationships/image" Target="../media/image6.png"/><Relationship Id="rId12" Type="http://schemas.openxmlformats.org/officeDocument/2006/relationships/hyperlink" Target="https://www.medicaid.gov/resources-for-states/working-families-tax-cut-legislation" TargetMode="External"/><Relationship Id="rId17" Type="http://schemas.openxmlformats.org/officeDocument/2006/relationships/hyperlink" Target="https://www.acg.org/news-trends/news/gf-data-reports-show-steady-middle-market-deal-flow-amid-more-selective" TargetMode="External"/><Relationship Id="rId25" Type="http://schemas.openxmlformats.org/officeDocument/2006/relationships/hyperlink" Target="https://www.nixonpeabody.com/insights/alerts/2026/05/27/ohcas-proposed-emergency-regulations-clarify-ab-1415-notice-requirements" TargetMode="External"/><Relationship Id="rId2" Type="http://schemas.openxmlformats.org/officeDocument/2006/relationships/image" Target="../media/image5.png"/><Relationship Id="rId16" Type="http://schemas.openxmlformats.org/officeDocument/2006/relationships/hyperlink" Target="https://pitchbook.brightspotcdn.com/40/42/bbeb88094080abaea3d7c87530b8/q2-2026-us-pe-breakdown.pdf" TargetMode="External"/><Relationship Id="rId20" Type="http://schemas.openxmlformats.org/officeDocument/2006/relationships/hyperlink" Target="https://www.cms.gov/data-research/statistics-trends-and-reports/national-health-expenditure-data/nhe-fact-sheet" TargetMode="External"/><Relationship Id="rId29" Type="http://schemas.openxmlformats.org/officeDocument/2006/relationships/hyperlink" Target="https://www.webull.com/news/15462423712777216" TargetMode="External"/><Relationship Id="rId1" Type="http://schemas.openxmlformats.org/officeDocument/2006/relationships/slideLayout" Target="../slideLayouts/slideLayout7.xml"/><Relationship Id="rId6" Type="http://schemas.openxmlformats.org/officeDocument/2006/relationships/hyperlink" Target="https://www.iqvia.com/locations/emea/blogs/2026/07/biopharma-ma-mid-year-2026-update" TargetMode="External"/><Relationship Id="rId11" Type="http://schemas.openxmlformats.org/officeDocument/2006/relationships/hyperlink" Target="https://www.cms.gov/newsroom/fact-sheets/2027-medicare-advantage-part-d-rate-announcement" TargetMode="External"/><Relationship Id="rId24" Type="http://schemas.openxmlformats.org/officeDocument/2006/relationships/hyperlink" Target="https://idataresearch.com/news-medical-device-tariffs-in-2026/" TargetMode="External"/><Relationship Id="rId5" Type="http://schemas.openxmlformats.org/officeDocument/2006/relationships/hyperlink" Target="https://www.kaufmanhall.com/news/hospital-and-health-system-ma-activity-among-highest-q2-levels-2019"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23" Type="http://schemas.openxmlformats.org/officeDocument/2006/relationships/hyperlink" Target="https://www.whitehouse.gov/presidential-actions/2026/04/adjusting-imports-of-pharmaceuticals-and-pharmaceutical-ingredients-into-the-united-states/" TargetMode="External"/><Relationship Id="rId28" Type="http://schemas.openxmlformats.org/officeDocument/2006/relationships/hyperlink" Target="https://www.beckersasc.com/asc-transactions-and-valuation-issues/why-asc-deals-are-outperforming-the-rest-of-healthcare-ma-in-2026-8-things-to-know/" TargetMode="External"/><Relationship Id="rId10" Type="http://schemas.openxmlformats.org/officeDocument/2006/relationships/hyperlink" Target="https://www.cms.gov/newsroom/fact-sheets/calendar-year-cy-2027-home-health-prospective-payment-system-proposed-rule-fact-sheet-cms-1844-p" TargetMode="External"/><Relationship Id="rId19" Type="http://schemas.openxmlformats.org/officeDocument/2006/relationships/hyperlink" Target="https://www.altarum.org/news-and-insights/september-2026-health-sector-economic-indicators-briefs" TargetMode="External"/><Relationship Id="rId4" Type="http://schemas.openxmlformats.org/officeDocument/2006/relationships/hyperlink" Target="https://www.medtechdive.com/news/medtech-ma-maintains-momentum-following-decade-high-2025-pwc/823113/" TargetMode="External"/><Relationship Id="rId9" Type="http://schemas.openxmlformats.org/officeDocument/2006/relationships/hyperlink" Target="https://www.cms.gov/medicare/payment/prospective-payment-systems/hospital-outpatient/regulations-notices" TargetMode="External"/><Relationship Id="rId14" Type="http://schemas.openxmlformats.org/officeDocument/2006/relationships/hyperlink" Target="https://federalreserve.gov/newsevents/pressreleases/monetary20260916a.htm" TargetMode="External"/><Relationship Id="rId22" Type="http://schemas.openxmlformats.org/officeDocument/2006/relationships/image" Target="../media/image9.png"/><Relationship Id="rId27" Type="http://schemas.openxmlformats.org/officeDocument/2006/relationships/image" Target="../media/image2.jpg"/><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hyperlink" Target="https://www.crfb.org/blogs/national-health-expenditures-continue-rise" TargetMode="External"/><Relationship Id="rId7" Type="http://schemas.openxmlformats.org/officeDocument/2006/relationships/hyperlink" Target="https://pitchbook.brightspotcdn.com/2d/0a/acb3601c4e19925c22d3f3877637/q4-2025-healthcare-services-report.pdf" TargetMode="External"/><Relationship Id="rId2" Type="http://schemas.openxmlformats.org/officeDocument/2006/relationships/hyperlink" Target="https://www.cms.gov/data-research/statistics-trends-and-reports/national-health-expenditure-data/nhe-fact-sheet" TargetMode="External"/><Relationship Id="rId1" Type="http://schemas.openxmlformats.org/officeDocument/2006/relationships/slideLayout" Target="../slideLayouts/slideLayout7.xml"/><Relationship Id="rId6" Type="http://schemas.openxmlformats.org/officeDocument/2006/relationships/hyperlink" Target="https://www.kaufmanhall.com/news/hospital-and-health-system-ma-activity-among-highest-q2-levels-2019" TargetMode="External"/><Relationship Id="rId11" Type="http://schemas.openxmlformats.org/officeDocument/2006/relationships/image" Target="../media/image10.png"/><Relationship Id="rId5" Type="http://schemas.openxmlformats.org/officeDocument/2006/relationships/hyperlink" Target="https://www.kaufmanhall.com/sites/default/files/2026-04/KH-Report_M%2BA_2026-Q1.pdf" TargetMode="External"/><Relationship Id="rId10" Type="http://schemas.openxmlformats.org/officeDocument/2006/relationships/chart" Target="../charts/chart2.xml"/><Relationship Id="rId4" Type="http://schemas.openxmlformats.org/officeDocument/2006/relationships/hyperlink" Target="https://www.kaufmanhall.com/news/hospital-and-health-system-ma-activity-ends-2025-momentum" TargetMode="External"/><Relationship Id="rId9" Type="http://schemas.openxmlformats.org/officeDocument/2006/relationships/hyperlink" Target="https://www.beckershospitalreview.com/hospital-transactions-and-valuation/how-health-system-m-as-have-fluctuated-over-the-last-decade/"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www.fda.gov/drugs/novel-drug-approvals-fda/novel-drug-approvals-2026" TargetMode="External"/><Relationship Id="rId3" Type="http://schemas.openxmlformats.org/officeDocument/2006/relationships/chart" Target="../charts/chart3.xml"/><Relationship Id="rId7" Type="http://schemas.openxmlformats.org/officeDocument/2006/relationships/hyperlink" Target="https://fred.stlouisfed.org/series/CPIMEDSL" TargetMode="External"/><Relationship Id="rId12" Type="http://schemas.openxmlformats.org/officeDocument/2006/relationships/image" Target="../media/image10.png"/><Relationship Id="rId2" Type="http://schemas.openxmlformats.org/officeDocument/2006/relationships/hyperlink" Target="https://fred.stlouisfed.org/series/CES6562000101" TargetMode="External"/><Relationship Id="rId1" Type="http://schemas.openxmlformats.org/officeDocument/2006/relationships/slideLayout" Target="../slideLayouts/slideLayout7.xml"/><Relationship Id="rId6" Type="http://schemas.openxmlformats.org/officeDocument/2006/relationships/chart" Target="../charts/chart4.xml"/><Relationship Id="rId11" Type="http://schemas.openxmlformats.org/officeDocument/2006/relationships/hyperlink" Target="https://www.biospace.com/press-releases/iqvia-reports-second-quarter-2026-results" TargetMode="External"/><Relationship Id="rId5" Type="http://schemas.openxmlformats.org/officeDocument/2006/relationships/hyperlink" Target="https://fred.stlouisfed.org/series/TLHLTHCONS" TargetMode="External"/><Relationship Id="rId10" Type="http://schemas.openxmlformats.org/officeDocument/2006/relationships/chart" Target="../charts/chart5.xml"/><Relationship Id="rId4" Type="http://schemas.openxmlformats.org/officeDocument/2006/relationships/hyperlink" Target="https://www.bls.gov/news.release/jolts.t01.htm" TargetMode="External"/><Relationship Id="rId9" Type="http://schemas.openxmlformats.org/officeDocument/2006/relationships/hyperlink" Target="https://www.raps.org/resource/cder-approved-50-novel-drugs-in-2024-record-numbe.html"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www.medicaleconomics.com/view/ama-physician-private-practice-unraveling-due-to-low-payment-high-costs-administrative-burdens" TargetMode="External"/><Relationship Id="rId13" Type="http://schemas.openxmlformats.org/officeDocument/2006/relationships/hyperlink" Target="https://myadlm.org/cln/The-Lab-Advocate/2026/August/ADLM-Continues-Push-for-Permanent-PAMA-Reform" TargetMode="External"/><Relationship Id="rId18" Type="http://schemas.openxmlformats.org/officeDocument/2006/relationships/image" Target="../media/image10.png"/><Relationship Id="rId3" Type="http://schemas.openxmlformats.org/officeDocument/2006/relationships/image" Target="../media/image12.jpg"/><Relationship Id="rId7" Type="http://schemas.openxmlformats.org/officeDocument/2006/relationships/hyperlink" Target="https://hlth.com/insights/news/home-health-and-hospice-provider-enhabit-to-go-private-in-1-1b-deal-2026-02-24" TargetMode="External"/><Relationship Id="rId12" Type="http://schemas.openxmlformats.org/officeDocument/2006/relationships/hyperlink" Target="https://www.sec.gov/Archives/edgar/data/0000920148/000092014826000175/lh-20260630.htm"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2" Type="http://schemas.openxmlformats.org/officeDocument/2006/relationships/image" Target="../media/image11.png"/><Relationship Id="rId16" Type="http://schemas.openxmlformats.org/officeDocument/2006/relationships/hyperlink" Target="https://www.prnewswire.com/news-releases/headlands-research-expands-california-presence-with-acquisition-of-clinical-trials-research-302814202.html" TargetMode="External"/><Relationship Id="rId1" Type="http://schemas.openxmlformats.org/officeDocument/2006/relationships/slideLayout" Target="../slideLayouts/slideLayout7.xml"/><Relationship Id="rId6" Type="http://schemas.openxmlformats.org/officeDocument/2006/relationships/hyperlink" Target="https://www.healthcaredive.com/news/hca-texas-medclinic-acquisition-urgent-care/826917/" TargetMode="External"/><Relationship Id="rId11"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beckersasc.com/asc-transactions-and-valuation-issues/hcas-urgent-care-acquisition-spree/" TargetMode="External"/><Relationship Id="rId15" Type="http://schemas.openxmlformats.org/officeDocument/2006/relationships/hyperlink" Target="https://www.sec.gov/Archives/edgar/data/0001668397/000166839726000023/medp-2026722exx991.htm" TargetMode="External"/><Relationship Id="rId10" Type="http://schemas.openxmlformats.org/officeDocument/2006/relationships/image" Target="../media/image14.jpg"/><Relationship Id="rId4" Type="http://schemas.openxmlformats.org/officeDocument/2006/relationships/hyperlink" Target="https://www.jucm.com/?p=86881" TargetMode="External"/><Relationship Id="rId9" Type="http://schemas.openxmlformats.org/officeDocument/2006/relationships/image" Target="../media/image13.png"/><Relationship Id="rId14" Type="http://schemas.openxmlformats.org/officeDocument/2006/relationships/hyperlink" Target="https://www.biospace.com/press-releases/iqvia-reports-second-quarter-2026-results"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www.sec.gov/Archives/edgar/data/0000927653/000092765326000232/mck_exhibit991x6302026.htm" TargetMode="External"/><Relationship Id="rId13" Type="http://schemas.openxmlformats.org/officeDocument/2006/relationships/hyperlink" Target="https://ncpa.org/newsroom/news-releases/2025/10/19/ncpa-releases-2025-digest-report" TargetMode="External"/><Relationship Id="rId3" Type="http://schemas.openxmlformats.org/officeDocument/2006/relationships/image" Target="../media/image16.jpg"/><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12" Type="http://schemas.openxmlformats.org/officeDocument/2006/relationships/hyperlink" Target="https://www.iqvia.com/insights/the-iqvia-institute/reports/us-medicine-use-trends-2026" TargetMode="External"/><Relationship Id="rId17" Type="http://schemas.openxmlformats.org/officeDocument/2006/relationships/image" Target="../media/image10.png"/><Relationship Id="rId2" Type="http://schemas.openxmlformats.org/officeDocument/2006/relationships/image" Target="../media/image15.png"/><Relationship Id="rId16" Type="http://schemas.openxmlformats.org/officeDocument/2006/relationships/hyperlink" Target="https://www.staffingindustry.com/editorial/healthcare-staffing-report/healthcare-staffing-rebounds-as-demand-strengthens-in-the-second-and-third-quarters" TargetMode="External"/><Relationship Id="rId1" Type="http://schemas.openxmlformats.org/officeDocument/2006/relationships/slideLayout" Target="../slideLayouts/slideLayout7.xml"/><Relationship Id="rId6" Type="http://schemas.openxmlformats.org/officeDocument/2006/relationships/hyperlink" Target="https://www.hfma.org/fast-finance/health-system-capital-investment-strategy-2026/" TargetMode="External"/><Relationship Id="rId11" Type="http://schemas.openxmlformats.org/officeDocument/2006/relationships/image" Target="../media/image18.jpg"/><Relationship Id="rId5" Type="http://schemas.openxmlformats.org/officeDocument/2006/relationships/hyperlink" Target="https://www.biospace.com/press-releases/steris-announces-financial-results-for-fiscal-2027-first-quarter" TargetMode="External"/><Relationship Id="rId15" Type="http://schemas.openxmlformats.org/officeDocument/2006/relationships/hyperlink" Target="https://www.sec.gov/Archives/edgar/data/0001865782/000119312526326654/btsg-ex99_1.htm" TargetMode="External"/><Relationship Id="rId10" Type="http://schemas.openxmlformats.org/officeDocument/2006/relationships/image" Target="../media/image17.png"/><Relationship Id="rId4" Type="http://schemas.openxmlformats.org/officeDocument/2006/relationships/hyperlink" Target="https://www.sec.gov/Archives/edgar/data/0000310764/000031076426000048/sykex991earningsq22026.htm" TargetMode="External"/><Relationship Id="rId9" Type="http://schemas.openxmlformats.org/officeDocument/2006/relationships/hyperlink" Target="https://www.barnesdennig.com/section-122-tariffs-ieepa-refunds-update/" TargetMode="External"/><Relationship Id="rId14" Type="http://schemas.openxmlformats.org/officeDocument/2006/relationships/hyperlink" Target="https://www.sec.gov/Archives/edgar/data/0001802255/000119312526338032/d160709dex991.htm"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9.png"/><Relationship Id="rId7" Type="http://schemas.openxmlformats.org/officeDocument/2006/relationships/hyperlink" Target="https://www.drugchannels.net/2026/08/the-k-shaped-pharmacy-shakeout.html" TargetMode="External"/><Relationship Id="rId2" Type="http://schemas.openxmlformats.org/officeDocument/2006/relationships/image" Target="../media/image2.jpg"/><Relationship Id="rId1" Type="http://schemas.openxmlformats.org/officeDocument/2006/relationships/slideLayout" Target="../slideLayouts/slideLayout7.xml"/><Relationship Id="rId6" Type="http://schemas.openxmlformats.org/officeDocument/2006/relationships/hyperlink" Target="https://www.medtechdive.com/news/top-10-medtech-deals-in-the-first-half-of-2026/824435/" TargetMode="External"/><Relationship Id="rId5" Type="http://schemas.openxmlformats.org/officeDocument/2006/relationships/hyperlink" Target="https://www.iqvia.com/locations/emea/blogs/2026/07/biopharma-ma-mid-year-2026-update" TargetMode="External"/><Relationship Id="rId4" Type="http://schemas.openxmlformats.org/officeDocument/2006/relationships/hyperlink" Target="https://www.fiercehealthcare.com/finance/projected-healthcare-services-deal-count-be-lowest-2017-pitchbook-finds"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hyperlink" Target="https://pitchbook.brightspotcdn.com/2d/0a/acb3601c4e19925c22d3f3877637/q4-2025-healthcare-services-report.pdf" TargetMode="External"/><Relationship Id="rId2" Type="http://schemas.openxmlformats.org/officeDocument/2006/relationships/hyperlink" Target="https://www.ama-assn.org/system/files/2021-01/cf-history.pdf" TargetMode="Externa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chart" Target="../charts/chart6.xml"/><Relationship Id="rId4" Type="http://schemas.openxmlformats.org/officeDocument/2006/relationships/hyperlink" Target="https://www.fiercehealthcare.com/finance/projected-healthcare-services-deal-count-be-lowest-2017-pitchbook-finds" TargetMode="External"/></Relationships>
</file>

<file path=ppt/slides/_rels/slide11.xml.rels><?xml version="1.0" encoding="UTF-8" standalone="yes"?>
<Relationships xmlns="http://schemas.openxmlformats.org/package/2006/relationships"><Relationship Id="rId13" Type="http://schemas.openxmlformats.org/officeDocument/2006/relationships/hyperlink" Target="https://stockanalysis.com/stocks/ensg/statistics/" TargetMode="External"/><Relationship Id="rId18" Type="http://schemas.openxmlformats.org/officeDocument/2006/relationships/hyperlink" Target="https://stockanalysis.com/stocks/dhr/statistics/" TargetMode="External"/><Relationship Id="rId26" Type="http://schemas.openxmlformats.org/officeDocument/2006/relationships/hyperlink" Target="https://stockanalysis.com/stocks/ste/statistics/" TargetMode="External"/><Relationship Id="rId39" Type="http://schemas.openxmlformats.org/officeDocument/2006/relationships/hyperlink" Target="https://stockanalysis.com/stocks/mck/statistics/" TargetMode="External"/><Relationship Id="rId21" Type="http://schemas.openxmlformats.org/officeDocument/2006/relationships/hyperlink" Target="https://stockanalysis.com/stocks/medp/statistics/" TargetMode="External"/><Relationship Id="rId34" Type="http://schemas.openxmlformats.org/officeDocument/2006/relationships/hyperlink" Target="https://stockanalysis.com/stocks/vmd/statistics/" TargetMode="External"/><Relationship Id="rId42" Type="http://schemas.openxmlformats.org/officeDocument/2006/relationships/hyperlink" Target="https://stockanalysis.com/stocks/cvs/statistics/" TargetMode="External"/><Relationship Id="rId7" Type="http://schemas.openxmlformats.org/officeDocument/2006/relationships/hyperlink" Target="https://stockanalysis.com/stocks/adus/statistics/" TargetMode="External"/><Relationship Id="rId2" Type="http://schemas.openxmlformats.org/officeDocument/2006/relationships/image" Target="../media/image21.png"/><Relationship Id="rId16" Type="http://schemas.openxmlformats.org/officeDocument/2006/relationships/hyperlink" Target="https://stockanalysis.com/stocks/dgx/statistics/" TargetMode="External"/><Relationship Id="rId20" Type="http://schemas.openxmlformats.org/officeDocument/2006/relationships/hyperlink" Target="https://stockanalysis.com/stocks/iqv/statistics/" TargetMode="External"/><Relationship Id="rId29" Type="http://schemas.openxmlformats.org/officeDocument/2006/relationships/hyperlink" Target="https://stockanalysis.com/stocks/xray/statistics/" TargetMode="External"/><Relationship Id="rId41" Type="http://schemas.openxmlformats.org/officeDocument/2006/relationships/hyperlink" Target="https://stockanalysis.com/stocks/cah/statistics/" TargetMode="External"/><Relationship Id="rId1" Type="http://schemas.openxmlformats.org/officeDocument/2006/relationships/slideLayout" Target="../slideLayouts/slideLayout7.xml"/><Relationship Id="rId6" Type="http://schemas.openxmlformats.org/officeDocument/2006/relationships/hyperlink" Target="https://stockanalysis.com/stocks/dva/statistics/" TargetMode="External"/><Relationship Id="rId11" Type="http://schemas.openxmlformats.org/officeDocument/2006/relationships/hyperlink" Target="https://stockanalysis.com/stocks/prva/statistics/" TargetMode="External"/><Relationship Id="rId24" Type="http://schemas.openxmlformats.org/officeDocument/2006/relationships/image" Target="../media/image23.png"/><Relationship Id="rId32" Type="http://schemas.openxmlformats.org/officeDocument/2006/relationships/hyperlink" Target="https://stockanalysis.com/stocks/itgr/statistics/" TargetMode="External"/><Relationship Id="rId37" Type="http://schemas.openxmlformats.org/officeDocument/2006/relationships/hyperlink" Target="https://stockanalysis.com/stocks/btsg/statistics/" TargetMode="External"/><Relationship Id="rId40" Type="http://schemas.openxmlformats.org/officeDocument/2006/relationships/hyperlink" Target="https://stockanalysis.com/stocks/cor/statistics/" TargetMode="External"/><Relationship Id="rId5" Type="http://schemas.openxmlformats.org/officeDocument/2006/relationships/hyperlink" Target="https://stockanalysis.com/stocks/usph/statistics/" TargetMode="External"/><Relationship Id="rId15" Type="http://schemas.openxmlformats.org/officeDocument/2006/relationships/hyperlink" Target="https://stockanalysis.com/stocks/lh/statistics/" TargetMode="External"/><Relationship Id="rId23" Type="http://schemas.openxmlformats.org/officeDocument/2006/relationships/hyperlink" Target="https://stockanalysis.com/stocks/crl/statistics/" TargetMode="External"/><Relationship Id="rId28" Type="http://schemas.openxmlformats.org/officeDocument/2006/relationships/hyperlink" Target="https://stockanalysis.com/stocks/hsic/statistics/" TargetMode="External"/><Relationship Id="rId36" Type="http://schemas.openxmlformats.org/officeDocument/2006/relationships/hyperlink" Target="https://stockanalysis.com/stocks/opch/statistics/" TargetMode="External"/><Relationship Id="rId10" Type="http://schemas.openxmlformats.org/officeDocument/2006/relationships/hyperlink" Target="https://stockanalysis.com/stocks/lfst/statistics/" TargetMode="External"/><Relationship Id="rId19" Type="http://schemas.openxmlformats.org/officeDocument/2006/relationships/hyperlink" Target="https://stockanalysis.com/stocks/tech/statistics/" TargetMode="External"/><Relationship Id="rId31" Type="http://schemas.openxmlformats.org/officeDocument/2006/relationships/hyperlink" Target="https://stockanalysis.com/stocks/zbh/statistics/" TargetMode="External"/><Relationship Id="rId44" Type="http://schemas.openxmlformats.org/officeDocument/2006/relationships/image" Target="../media/image10.png"/><Relationship Id="rId4" Type="http://schemas.openxmlformats.org/officeDocument/2006/relationships/hyperlink" Target="https://stockanalysis.com/stocks/thc/statistics/" TargetMode="External"/><Relationship Id="rId9" Type="http://schemas.openxmlformats.org/officeDocument/2006/relationships/hyperlink" Target="https://stockanalysis.com/stocks/achc/statistics/" TargetMode="External"/><Relationship Id="rId14" Type="http://schemas.openxmlformats.org/officeDocument/2006/relationships/image" Target="../media/image22.png"/><Relationship Id="rId22" Type="http://schemas.openxmlformats.org/officeDocument/2006/relationships/hyperlink" Target="https://stockanalysis.com/stocks/iclr/statistics/" TargetMode="External"/><Relationship Id="rId27" Type="http://schemas.openxmlformats.org/officeDocument/2006/relationships/hyperlink" Target="https://stockanalysis.com/stocks/tfx/statistics/" TargetMode="External"/><Relationship Id="rId30" Type="http://schemas.openxmlformats.org/officeDocument/2006/relationships/hyperlink" Target="https://stockanalysis.com/stocks/nvst/statistics/" TargetMode="External"/><Relationship Id="rId35" Type="http://schemas.openxmlformats.org/officeDocument/2006/relationships/image" Target="../media/image24.png"/><Relationship Id="rId43" Type="http://schemas.openxmlformats.org/officeDocument/2006/relationships/hyperlink" Target="https://stockanalysis.com/stocks/amn/statistics/" TargetMode="External"/><Relationship Id="rId8" Type="http://schemas.openxmlformats.org/officeDocument/2006/relationships/hyperlink" Target="https://stockanalysis.com/stocks/pntg/statistics/" TargetMode="External"/><Relationship Id="rId3" Type="http://schemas.openxmlformats.org/officeDocument/2006/relationships/hyperlink" Target="https://stockanalysis.com/stocks/hca/statistics/" TargetMode="External"/><Relationship Id="rId12" Type="http://schemas.openxmlformats.org/officeDocument/2006/relationships/hyperlink" Target="https://stockanalysis.com/stocks/con/statistics/" TargetMode="External"/><Relationship Id="rId17" Type="http://schemas.openxmlformats.org/officeDocument/2006/relationships/hyperlink" Target="https://stockanalysis.com/stocks/tmo/statistics/" TargetMode="External"/><Relationship Id="rId25" Type="http://schemas.openxmlformats.org/officeDocument/2006/relationships/hyperlink" Target="https://stockanalysis.com/stocks/syk/statistics/" TargetMode="External"/><Relationship Id="rId33" Type="http://schemas.openxmlformats.org/officeDocument/2006/relationships/hyperlink" Target="https://stockanalysis.com/stocks/solv/statistics/" TargetMode="External"/><Relationship Id="rId38" Type="http://schemas.openxmlformats.org/officeDocument/2006/relationships/hyperlink" Target="https://stockanalysis.com/stocks/grdn/statistics/"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fiercehealthcare.com/finance/staffing-firm-cross-country-healthcare-be-acquired-knox-lane-437m" TargetMode="External"/><Relationship Id="rId3" Type="http://schemas.openxmlformats.org/officeDocument/2006/relationships/hyperlink" Target="https://www.sec.gov/Archives/edgar/data/0001468328/000143774926030348/ex_1015828.htm" TargetMode="External"/><Relationship Id="rId7" Type="http://schemas.openxmlformats.org/officeDocument/2006/relationships/hyperlink" Target="https://www.staffingindustry.com/news/global-daily-news/aya-healthcare-terminates-merger-agreement-with-cross-country-healthcare" TargetMode="External"/><Relationship Id="rId2" Type="http://schemas.openxmlformats.org/officeDocument/2006/relationships/hyperlink" Target="https://www.businesswire.com/news/home/20260928896885/en/EyeCare-Partners-Announces-Sale-of-Optometry-Business" TargetMode="External"/><Relationship Id="rId1" Type="http://schemas.openxmlformats.org/officeDocument/2006/relationships/slideLayout" Target="../slideLayouts/slideLayout7.xml"/><Relationship Id="rId6" Type="http://schemas.openxmlformats.org/officeDocument/2006/relationships/hyperlink" Target="https://www.medicaldesignandoutsourcing.com/?p=280019" TargetMode="External"/><Relationship Id="rId5" Type="http://schemas.openxmlformats.org/officeDocument/2006/relationships/hyperlink" Target="https://peprofessional.com/2026/07/statlab-sold-to-danahers-leica-biosystems/" TargetMode="External"/><Relationship Id="rId4" Type="http://schemas.openxmlformats.org/officeDocument/2006/relationships/hyperlink" Target="https://www.sec.gov/Archives/edgar/data/0000842023/000199937126013429/ex99-1.ht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3" Type="http://schemas.openxmlformats.org/officeDocument/2006/relationships/hyperlink" Target="https://www.benchmarkintl.com/about/our-success/"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2" Type="http://schemas.openxmlformats.org/officeDocument/2006/relationships/image" Target="../media/image2.jpg"/><Relationship Id="rId1" Type="http://schemas.openxmlformats.org/officeDocument/2006/relationships/slideLayout" Target="../slideLayouts/slideLayout7.xm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11" Type="http://schemas.openxmlformats.org/officeDocument/2006/relationships/hyperlink" Target="https://www.benchmarkintl.com/insights/benchmark-international-successfully-facilitated-the-transaction-between-fosterbridge-inc-and-amvie/"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0" Type="http://schemas.openxmlformats.org/officeDocument/2006/relationships/image" Target="../media/image26.png"/><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9" Type="http://schemas.openxmlformats.org/officeDocument/2006/relationships/hyperlink" Target="https://www.benchmarkintl.com/insights/completed-transactions/benchmark-international-facilitated-the-transaction-of-dental-holdings-llc-and-solmetex-llc/"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8" Type="http://schemas.openxmlformats.org/officeDocument/2006/relationships/hyperlink" Target="https://stockanalysis.com/" TargetMode="External"/><Relationship Id="rId3" Type="http://schemas.openxmlformats.org/officeDocument/2006/relationships/image" Target="../media/image2.jpg"/><Relationship Id="rId7" Type="http://schemas.openxmlformats.org/officeDocument/2006/relationships/image" Target="../media/image10.png"/><Relationship Id="rId2" Type="http://schemas.openxmlformats.org/officeDocument/2006/relationships/chart" Target="../charts/chart7.xml"/><Relationship Id="rId1" Type="http://schemas.openxmlformats.org/officeDocument/2006/relationships/slideLayout" Target="../slideLayouts/slideLayout7.xml"/><Relationship Id="rId6" Type="http://schemas.openxmlformats.org/officeDocument/2006/relationships/hyperlink" Target="https://www.ibba.org/wp-content/uploads/2026/08/mp-highlights-q2-2026.pdf" TargetMode="External"/><Relationship Id="rId5"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beckersasc.com/asc-transactions-and-valuation-issues/why-asc-deals-are-outperforming-the-rest-of-healthcare-ma-in-2026-8-things-to-know/" TargetMode="External"/></Relationships>
</file>

<file path=ppt/slides/_rels/slide15.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7.xml"/><Relationship Id="rId5" Type="http://schemas.openxmlformats.org/officeDocument/2006/relationships/hyperlink" Target="https://stockanalysis.com/" TargetMode="Externa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chart" Target="../charts/chart16.xml"/><Relationship Id="rId3" Type="http://schemas.openxmlformats.org/officeDocument/2006/relationships/chart" Target="../charts/chart11.xml"/><Relationship Id="rId7" Type="http://schemas.openxmlformats.org/officeDocument/2006/relationships/chart" Target="../charts/chart15.xml"/><Relationship Id="rId2" Type="http://schemas.openxmlformats.org/officeDocument/2006/relationships/chart" Target="../charts/chart10.xml"/><Relationship Id="rId1" Type="http://schemas.openxmlformats.org/officeDocument/2006/relationships/slideLayout" Target="../slideLayouts/slideLayout7.xml"/><Relationship Id="rId6" Type="http://schemas.openxmlformats.org/officeDocument/2006/relationships/chart" Target="../charts/chart14.xml"/><Relationship Id="rId11" Type="http://schemas.openxmlformats.org/officeDocument/2006/relationships/hyperlink" Target="https://stockanalysis.com/" TargetMode="External"/><Relationship Id="rId5" Type="http://schemas.openxmlformats.org/officeDocument/2006/relationships/chart" Target="../charts/chart13.xml"/><Relationship Id="rId10" Type="http://schemas.openxmlformats.org/officeDocument/2006/relationships/image" Target="../media/image10.png"/><Relationship Id="rId4" Type="http://schemas.openxmlformats.org/officeDocument/2006/relationships/chart" Target="../charts/chart12.xml"/><Relationship Id="rId9" Type="http://schemas.openxmlformats.org/officeDocument/2006/relationships/chart" Target="../charts/chart17.xml"/></Relationships>
</file>

<file path=ppt/slides/_rels/slide17.xml.rels><?xml version="1.0" encoding="UTF-8" standalone="yes"?>
<Relationships xmlns="http://schemas.openxmlformats.org/package/2006/relationships"><Relationship Id="rId8" Type="http://schemas.openxmlformats.org/officeDocument/2006/relationships/hyperlink" Target="https://www.sec.gov/Archives/edgar/data/0001478242/000162828026049923/iqv-q2x2026earningspressre.htm" TargetMode="External"/><Relationship Id="rId13" Type="http://schemas.openxmlformats.org/officeDocument/2006/relationships/hyperlink" Target="https://www.sec.gov/Archives/edgar/data/0000070318/000007031826000032/thc-20260630ex991earningsr.htm" TargetMode="External"/><Relationship Id="rId18" Type="http://schemas.openxmlformats.org/officeDocument/2006/relationships/hyperlink" Target="https://www.sec.gov/Archives/edgar/data/0001142750/000114275026000008/amn-ex991x20260630xearning.htm" TargetMode="External"/><Relationship Id="rId26" Type="http://schemas.openxmlformats.org/officeDocument/2006/relationships/hyperlink" Target="https://stockanalysis.com/stocks/amn/transcripts/662833-q2-2026/" TargetMode="External"/><Relationship Id="rId3" Type="http://schemas.openxmlformats.org/officeDocument/2006/relationships/hyperlink" Target="https://www.sec.gov/Archives/edgar/data/0001668397/000166839726000023/medp-2026722exx991.htm" TargetMode="External"/><Relationship Id="rId21" Type="http://schemas.openxmlformats.org/officeDocument/2006/relationships/hyperlink" Target="https://s2.q4cdn.com/390454341/files/doc_earnings/2026/q2/transcript/prepared-comments-for-website-Q2-2026-final.pdf" TargetMode="External"/><Relationship Id="rId7" Type="http://schemas.openxmlformats.org/officeDocument/2006/relationships/hyperlink" Target="https://www.sec.gov/Archives/edgar/data/0000860730/000119312526315151/hca-ex99_1.htm" TargetMode="External"/><Relationship Id="rId12" Type="http://schemas.openxmlformats.org/officeDocument/2006/relationships/hyperlink" Target="https://www.sec.gov/Archives/edgar/data/0001757898/000162828026053412/ste6302026ex991.htm" TargetMode="External"/><Relationship Id="rId17" Type="http://schemas.openxmlformats.org/officeDocument/2006/relationships/hyperlink" Target="https://www.sec.gov/Archives/edgar/data/0001802255/000119312526338032/d160709dex991.htm" TargetMode="External"/><Relationship Id="rId25" Type="http://schemas.openxmlformats.org/officeDocument/2006/relationships/hyperlink" Target="https://s201.q4cdn.com/566741227/files/doc_financials/2026/q4/Q4-FY26-CAH-Earnings-Transcript.pdf" TargetMode="External"/><Relationship Id="rId2" Type="http://schemas.openxmlformats.org/officeDocument/2006/relationships/hyperlink" Target="https://www.sec.gov/Archives/edgar/data/0001125376/000112537626000036/q22026pressrelease.htm" TargetMode="External"/><Relationship Id="rId16" Type="http://schemas.openxmlformats.org/officeDocument/2006/relationships/hyperlink" Target="https://www.sec.gov/Archives/edgar/data/0000920148/000092014826000162/form8-kexhibit9912q26.htm" TargetMode="External"/><Relationship Id="rId20" Type="http://schemas.openxmlformats.org/officeDocument/2006/relationships/hyperlink" Target="https://stockanalysis.com/stocks/adus/transcripts/660727-q2-2026/" TargetMode="External"/><Relationship Id="rId1" Type="http://schemas.openxmlformats.org/officeDocument/2006/relationships/slideLayout" Target="../slideLayouts/slideLayout7.xml"/><Relationship Id="rId6" Type="http://schemas.openxmlformats.org/officeDocument/2006/relationships/hyperlink" Target="https://www.sec.gov/Archives/edgar/data/0000310764/000031076426000048/sykex991earningsq22026.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24" Type="http://schemas.openxmlformats.org/officeDocument/2006/relationships/hyperlink" Target="https://s206.q4cdn.com/399858780/files/doc_financials/2026/q2/HSIC-USQ_Transcript_2026-08-04.pdf" TargetMode="External"/><Relationship Id="rId5" Type="http://schemas.openxmlformats.org/officeDocument/2006/relationships/hyperlink" Target="https://www.sec.gov/Archives/edgar/data/0000097745/000009774526000138/q22026earnings8kex99_1.htm" TargetMode="External"/><Relationship Id="rId15" Type="http://schemas.openxmlformats.org/officeDocument/2006/relationships/hyperlink" Target="https://www.sec.gov/Archives/edgar/data/0000721371/000072137126000037/a26q4_x063026xex991xnewsre.htm" TargetMode="External"/><Relationship Id="rId23" Type="http://schemas.openxmlformats.org/officeDocument/2006/relationships/hyperlink" Target="https://stockanalysis.com/stocks/ste/transcripts/666655-q1-2027/" TargetMode="External"/><Relationship Id="rId10" Type="http://schemas.openxmlformats.org/officeDocument/2006/relationships/hyperlink" Target="https://www.sec.gov/Archives/edgar/data/0001468328/000143774926025448/ex_997368.htm" TargetMode="External"/><Relationship Id="rId19" Type="http://schemas.openxmlformats.org/officeDocument/2006/relationships/hyperlink" Target="https://www.sec.gov/Archives/edgar/data/1014739/000101473926000021/exhibit991-q22026.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9" Type="http://schemas.openxmlformats.org/officeDocument/2006/relationships/hyperlink" Target="https://www.sec.gov/Archives/edgar/data/0000885978/000088597826000042/ex99-1.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22" Type="http://schemas.openxmlformats.org/officeDocument/2006/relationships/hyperlink" Target="https://stockanalysis.com/stocks/tmo/transcripts/653574-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hyperlink" Target="tel:8137716675" TargetMode="External"/><Relationship Id="rId7" Type="http://schemas.openxmlformats.org/officeDocument/2006/relationships/image" Target="../media/image29.jpg"/><Relationship Id="rId2" Type="http://schemas.openxmlformats.org/officeDocument/2006/relationships/image" Target="../media/image28.jpg"/><Relationship Id="rId1" Type="http://schemas.openxmlformats.org/officeDocument/2006/relationships/slideLayout" Target="../slideLayouts/slideLayout7.xml"/><Relationship Id="rId6" Type="http://schemas.openxmlformats.org/officeDocument/2006/relationships/hyperlink" Target="https://jp-hardin.github.io/about/mid-market-practice/insights/healthcare-industry-report-q4-2026.html" TargetMode="External"/><Relationship Id="rId5" Type="http://schemas.openxmlformats.org/officeDocument/2006/relationships/hyperlink" Target="mailto:j.hardin@benchmarkintl.com?subject=Healthcare%20Q4%202026%20brief" TargetMode="External"/><Relationship Id="rId4" Type="http://schemas.openxmlformats.org/officeDocument/2006/relationships/hyperlink" Target="mailto:j.hardin@benchmarkintl.com"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32.jpg"/><Relationship Id="rId13" Type="http://schemas.openxmlformats.org/officeDocument/2006/relationships/image" Target="../media/image37.jpg"/><Relationship Id="rId18" Type="http://schemas.openxmlformats.org/officeDocument/2006/relationships/image" Target="../media/image42.png"/><Relationship Id="rId3" Type="http://schemas.openxmlformats.org/officeDocument/2006/relationships/image" Target="../media/image30.jpg"/><Relationship Id="rId7" Type="http://schemas.openxmlformats.org/officeDocument/2006/relationships/image" Target="../media/image31.jpg"/><Relationship Id="rId12" Type="http://schemas.openxmlformats.org/officeDocument/2006/relationships/image" Target="../media/image36.jpg"/><Relationship Id="rId17" Type="http://schemas.openxmlformats.org/officeDocument/2006/relationships/image" Target="../media/image41.png"/><Relationship Id="rId2" Type="http://schemas.openxmlformats.org/officeDocument/2006/relationships/image" Target="../media/image2.jpg"/><Relationship Id="rId16"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hyperlink" Target="mailto:j.hardin@benchmarkintl.com" TargetMode="External"/><Relationship Id="rId11" Type="http://schemas.openxmlformats.org/officeDocument/2006/relationships/image" Target="../media/image35.jpg"/><Relationship Id="rId5" Type="http://schemas.openxmlformats.org/officeDocument/2006/relationships/hyperlink" Target="tel:8137716675" TargetMode="External"/><Relationship Id="rId15" Type="http://schemas.openxmlformats.org/officeDocument/2006/relationships/image" Target="../media/image39.png"/><Relationship Id="rId10" Type="http://schemas.openxmlformats.org/officeDocument/2006/relationships/image" Target="../media/image34.jpg"/><Relationship Id="rId19" Type="http://schemas.openxmlformats.org/officeDocument/2006/relationships/image" Target="../media/image10.png"/><Relationship Id="rId4" Type="http://schemas.openxmlformats.org/officeDocument/2006/relationships/image" Target="../media/image28.jpg"/><Relationship Id="rId9" Type="http://schemas.openxmlformats.org/officeDocument/2006/relationships/image" Target="../media/image33.jpg"/><Relationship Id="rId14" Type="http://schemas.openxmlformats.org/officeDocument/2006/relationships/image" Target="../media/image38.jpg"/></Relationships>
</file>

<file path=ppt/slides/_rels/slide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image" Target="../media/image46.png"/><Relationship Id="rId12" Type="http://schemas.openxmlformats.org/officeDocument/2006/relationships/image" Target="../media/image51.png"/><Relationship Id="rId2" Type="http://schemas.openxmlformats.org/officeDocument/2006/relationships/image" Target="../media/image2.jpg"/><Relationship Id="rId1" Type="http://schemas.openxmlformats.org/officeDocument/2006/relationships/slideLayout" Target="../slideLayouts/slideLayout7.xml"/><Relationship Id="rId6" Type="http://schemas.openxmlformats.org/officeDocument/2006/relationships/image" Target="../media/image45.png"/><Relationship Id="rId11" Type="http://schemas.openxmlformats.org/officeDocument/2006/relationships/image" Target="../media/image50.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hyperlink" Target="https://stockanalysis.com/" TargetMode="External"/><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hyperlink" Target="https://stockanalysis.com/" TargetMode="External"/><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6" Type="http://schemas.openxmlformats.org/officeDocument/2006/relationships/hyperlink" Target="https://www.kaufmanhall.com/sites/default/files/2026-04/KH-Report_M%2BA_2026-Q1.pdf" TargetMode="External"/><Relationship Id="rId21" Type="http://schemas.openxmlformats.org/officeDocument/2006/relationships/hyperlink" Target="https://www.bakerlaw.com/insights/healthcare-and-private-equity-transactions-continue-to-be-under-state-scrutiny/" TargetMode="External"/><Relationship Id="rId42" Type="http://schemas.openxmlformats.org/officeDocument/2006/relationships/hyperlink" Target="https://www.sec.gov/Archives/edgar/data/0000920148/000092014826000175/lh-20260630.htm" TargetMode="External"/><Relationship Id="rId47" Type="http://schemas.openxmlformats.org/officeDocument/2006/relationships/hyperlink" Target="https://www.sec.gov/Archives/edgar/data/0000310764/000031076426000048/sykex991earningsq22026.htm" TargetMode="External"/><Relationship Id="rId63" Type="http://schemas.openxmlformats.org/officeDocument/2006/relationships/hyperlink" Target="https://www.sec.gov/Archives/edgar/data/0000842023/000199937126013429/ex99-1.htm" TargetMode="External"/><Relationship Id="rId68" Type="http://schemas.openxmlformats.org/officeDocument/2006/relationships/hyperlink" Target="https://www.benchmarkintl.com/about/our-success/" TargetMode="External"/><Relationship Id="rId84" Type="http://schemas.openxmlformats.org/officeDocument/2006/relationships/hyperlink" Target="https://www.sec.gov/Archives/edgar/data/0000885978/000088597826000042/ex99-1.htm" TargetMode="External"/><Relationship Id="rId89" Type="http://schemas.openxmlformats.org/officeDocument/2006/relationships/hyperlink" Target="https://s206.q4cdn.com/399858780/files/doc_financials/2026/q2/HSIC-USQ_Transcript_2026-08-04.pdf" TargetMode="External"/><Relationship Id="rId16" Type="http://schemas.openxmlformats.org/officeDocument/2006/relationships/hyperlink" Target="https://www.cms.gov/data-research/statistics-trends-and-reports/national-health-expenditure-data/nhe-fact-sheet" TargetMode="External"/><Relationship Id="rId11" Type="http://schemas.openxmlformats.org/officeDocument/2006/relationships/hyperlink" Target="https://federalreserve.gov/newsevents/pressreleases/monetary20260916a.htm" TargetMode="External"/><Relationship Id="rId32" Type="http://schemas.openxmlformats.org/officeDocument/2006/relationships/hyperlink" Target="https://fred.stlouisfed.org/series/CPIMEDSL" TargetMode="External"/><Relationship Id="rId37" Type="http://schemas.openxmlformats.org/officeDocument/2006/relationships/hyperlink" Target="https://www.beckersasc.com/asc-transactions-and-valuation-issues/hcas-urgent-care-acquisition-spree/" TargetMode="External"/><Relationship Id="rId53" Type="http://schemas.openxmlformats.org/officeDocument/2006/relationships/hyperlink" Target="https://www.iqvia.com/insights/the-iqvia-institute/reports/us-medicine-use-trends-2026" TargetMode="External"/><Relationship Id="rId58" Type="http://schemas.openxmlformats.org/officeDocument/2006/relationships/hyperlink" Target="https://www.medtechdive.com/news/top-10-medtech-deals-in-the-first-half-of-2026/824435/" TargetMode="External"/><Relationship Id="rId74" Type="http://schemas.openxmlformats.org/officeDocument/2006/relationships/hyperlink" Target="https://www.benchmarkintl.com/insights/benchmark-international-successfully-facilitated-the-transaction-between-fosterbridge-inc-and-amvie/" TargetMode="External"/><Relationship Id="rId79" Type="http://schemas.openxmlformats.org/officeDocument/2006/relationships/hyperlink" Target="https://www.sec.gov/Archives/edgar/data/0001125376/000112537626000036/q22026pressrelease.htm" TargetMode="External"/><Relationship Id="rId5" Type="http://schemas.openxmlformats.org/officeDocument/2006/relationships/hyperlink" Target="https://www.iqvia.com/locations/emea/blogs/2026/07/biopharma-ma-mid-year-2026-update" TargetMode="External"/><Relationship Id="rId90" Type="http://schemas.openxmlformats.org/officeDocument/2006/relationships/hyperlink" Target="https://s201.q4cdn.com/566741227/files/doc_financials/2026/q4/Q4-FY26-CAH-Earnings-Transcript.pdf" TargetMode="External"/><Relationship Id="rId22" Type="http://schemas.openxmlformats.org/officeDocument/2006/relationships/hyperlink" Target="https://www.beckersasc.com/asc-transactions-and-valuation-issues/why-asc-deals-are-outperforming-the-rest-of-healthcare-ma-in-2026-8-things-to-know/" TargetMode="External"/><Relationship Id="rId27" Type="http://schemas.openxmlformats.org/officeDocument/2006/relationships/hyperlink" Target="https://pitchbook.brightspotcdn.com/2d/0a/acb3601c4e19925c22d3f3877637/q4-2025-healthcare-services-report.pdf" TargetMode="External"/><Relationship Id="rId43" Type="http://schemas.openxmlformats.org/officeDocument/2006/relationships/hyperlink" Target="https://myadlm.org/cln/The-Lab-Advocate/2026/August/ADLM-Continues-Push-for-Permanent-PAMA-Reform" TargetMode="External"/><Relationship Id="rId48" Type="http://schemas.openxmlformats.org/officeDocument/2006/relationships/hyperlink" Target="https://www.biospace.com/press-releases/steris-announces-financial-results-for-fiscal-2027-first-quarter" TargetMode="External"/><Relationship Id="rId64" Type="http://schemas.openxmlformats.org/officeDocument/2006/relationships/hyperlink" Target="https://peprofessional.com/2026/07/statlab-sold-to-danahers-leica-biosystem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8" Type="http://schemas.openxmlformats.org/officeDocument/2006/relationships/hyperlink" Target="https://www.cms.gov/newsroom/fact-sheets/calendar-year-cy-2027-home-health-prospective-payment-system-proposed-rule-fact-sheet-cms-1844-p" TargetMode="External"/><Relationship Id="rId51" Type="http://schemas.openxmlformats.org/officeDocument/2006/relationships/hyperlink" Target="https://www.sec.gov/Archives/edgar/data/0000927653/000092765326000232/mck_exhibit991x6302026.htm"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0" Type="http://schemas.openxmlformats.org/officeDocument/2006/relationships/hyperlink" Target="https://s2.q4cdn.com/390454341/files/doc_earnings/2026/q2/transcript/prepared-comments-for-website-Q2-2026-final.pdf" TargetMode="External"/><Relationship Id="rId85" Type="http://schemas.openxmlformats.org/officeDocument/2006/relationships/hyperlink" Target="https://stockanalysis.com/stocks/adus/transcripts/660727-q2-2026/" TargetMode="External"/><Relationship Id="rId93" Type="http://schemas.openxmlformats.org/officeDocument/2006/relationships/hyperlink" Target="https://www.sec.gov/Archives/edgar/data/1014739/000101473926000021/exhibit991-q22026.htm" TargetMode="External"/><Relationship Id="rId3" Type="http://schemas.openxmlformats.org/officeDocument/2006/relationships/hyperlink" Target="https://www.medtechdive.com/news/medtech-ma-maintains-momentum-following-decade-high-2025-pwc/823113/"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7" Type="http://schemas.openxmlformats.org/officeDocument/2006/relationships/hyperlink" Target="https://www.bls.gov/news.release/archives/empsit_10022026.htm" TargetMode="External"/><Relationship Id="rId25" Type="http://schemas.openxmlformats.org/officeDocument/2006/relationships/hyperlink" Target="https://www.kaufmanhall.com/news/hospital-and-health-system-ma-activity-ends-2025-momentum" TargetMode="External"/><Relationship Id="rId33" Type="http://schemas.openxmlformats.org/officeDocument/2006/relationships/hyperlink" Target="https://www.fda.gov/drugs/novel-drug-approvals-fda/novel-drug-approvals-2026" TargetMode="External"/><Relationship Id="rId38" Type="http://schemas.openxmlformats.org/officeDocument/2006/relationships/hyperlink" Target="https://www.healthcaredive.com/news/hca-texas-medclinic-acquisition-urgent-care/826917/"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59" Type="http://schemas.openxmlformats.org/officeDocument/2006/relationships/hyperlink" Target="https://www.drugchannels.net/2026/08/the-k-shaped-pharmacy-shakeout.html" TargetMode="External"/><Relationship Id="rId67" Type="http://schemas.openxmlformats.org/officeDocument/2006/relationships/hyperlink" Target="https://www.fiercehealthcare.com/finance/staffing-firm-cross-country-healthcare-be-acquired-knox-lane-437m" TargetMode="External"/><Relationship Id="rId20" Type="http://schemas.openxmlformats.org/officeDocument/2006/relationships/hyperlink" Target="https://www.nixonpeabody.com/insights/alerts/2026/05/27/ohcas-proposed-emergency-regulations-clarify-ab-1415-notice-requirement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54" Type="http://schemas.openxmlformats.org/officeDocument/2006/relationships/hyperlink" Target="https://ncpa.org/newsroom/news-releases/2025/10/19/ncpa-releases-2025-digest-report" TargetMode="External"/><Relationship Id="rId62" Type="http://schemas.openxmlformats.org/officeDocument/2006/relationships/hyperlink" Target="https://www.sec.gov/Archives/edgar/data/0001468328/000143774926030348/ex_1015828.htm"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83" Type="http://schemas.openxmlformats.org/officeDocument/2006/relationships/hyperlink" Target="https://www.sec.gov/Archives/edgar/data/0001478242/000162828026049923/iqv-q2x2026earningspressre.htm" TargetMode="External"/><Relationship Id="rId88" Type="http://schemas.openxmlformats.org/officeDocument/2006/relationships/hyperlink" Target="https://www.sec.gov/Archives/edgar/data/0000070318/000007031826000032/thc-20260630ex991earningsr.htm" TargetMode="External"/><Relationship Id="rId91" Type="http://schemas.openxmlformats.org/officeDocument/2006/relationships/hyperlink" Target="https://www.sec.gov/Archives/edgar/data/0000920148/000092014826000162/form8-kexhibit9912q26.htm" TargetMode="External"/><Relationship Id="rId1" Type="http://schemas.openxmlformats.org/officeDocument/2006/relationships/slideLayout" Target="../slideLayouts/slideLayout7.xml"/><Relationship Id="rId6" Type="http://schemas.openxmlformats.org/officeDocument/2006/relationships/hyperlink" Target="https://www.cms.gov/newsroom/fact-sheets/calendar-year-cy-2027-medicare-physician-fee-schedule-proposed-rule" TargetMode="External"/><Relationship Id="rId15" Type="http://schemas.openxmlformats.org/officeDocument/2006/relationships/hyperlink" Target="https://www.altarum.org/news-and-insights/september-2026-health-sector-economic-indicators-briefs" TargetMode="External"/><Relationship Id="rId23" Type="http://schemas.openxmlformats.org/officeDocument/2006/relationships/hyperlink" Target="https://www.webull.com/news/15462423712777216" TargetMode="External"/><Relationship Id="rId28" Type="http://schemas.openxmlformats.org/officeDocument/2006/relationships/hyperlink" Target="https://www.beckershospitalreview.com/hospital-transactions-and-valuation/how-health-system-m-as-have-fluctuated-over-the-last-decade/" TargetMode="External"/><Relationship Id="rId36" Type="http://schemas.openxmlformats.org/officeDocument/2006/relationships/hyperlink" Target="https://www.jucm.com/?p=86881" TargetMode="External"/><Relationship Id="rId49" Type="http://schemas.openxmlformats.org/officeDocument/2006/relationships/hyperlink" Target="https://www.hfma.org/fast-finance/health-system-capital-investment-strategy-2026/"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10" Type="http://schemas.openxmlformats.org/officeDocument/2006/relationships/hyperlink" Target="https://www.medicaid.gov/resources-for-states/working-families-tax-cut-legislation" TargetMode="External"/><Relationship Id="rId31" Type="http://schemas.openxmlformats.org/officeDocument/2006/relationships/hyperlink" Target="https://fred.stlouisfed.org/series/TLHLTHCONS" TargetMode="External"/><Relationship Id="rId44" Type="http://schemas.openxmlformats.org/officeDocument/2006/relationships/hyperlink" Target="https://www.sec.gov/Archives/edgar/data/0001668397/000166839726000023/medp-2026722exx991.htm" TargetMode="External"/><Relationship Id="rId52" Type="http://schemas.openxmlformats.org/officeDocument/2006/relationships/hyperlink" Target="https://www.barnesdennig.com/section-122-tariffs-ieepa-refunds-update/" TargetMode="External"/><Relationship Id="rId60" Type="http://schemas.openxmlformats.org/officeDocument/2006/relationships/hyperlink" Target="https://www.ama-assn.org/system/files/2021-01/cf-history.pdf" TargetMode="External"/><Relationship Id="rId65" Type="http://schemas.openxmlformats.org/officeDocument/2006/relationships/hyperlink" Target="https://www.medicaldesignandoutsourcing.com/?p=280019"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8" Type="http://schemas.openxmlformats.org/officeDocument/2006/relationships/hyperlink" Target="https://stockanalysis.com/" TargetMode="External"/><Relationship Id="rId81" Type="http://schemas.openxmlformats.org/officeDocument/2006/relationships/hyperlink" Target="https://stockanalysis.com/stocks/tmo/transcripts/653574-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94" Type="http://schemas.openxmlformats.org/officeDocument/2006/relationships/image" Target="../media/image10.png"/><Relationship Id="rId4" Type="http://schemas.openxmlformats.org/officeDocument/2006/relationships/hyperlink" Target="https://www.kaufmanhall.com/news/hospital-and-health-system-ma-activity-among-highest-q2-levels-2019" TargetMode="External"/><Relationship Id="rId9" Type="http://schemas.openxmlformats.org/officeDocument/2006/relationships/hyperlink" Target="https://www.cms.gov/newsroom/fact-sheets/2027-medicare-advantage-part-d-rate-announcement" TargetMode="External"/><Relationship Id="rId13"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39" Type="http://schemas.openxmlformats.org/officeDocument/2006/relationships/hyperlink" Target="https://hlth.com/insights/news/home-health-and-hospice-provider-enhabit-to-go-private-in-1-1b-deal-2026-02-24" TargetMode="External"/><Relationship Id="rId34" Type="http://schemas.openxmlformats.org/officeDocument/2006/relationships/hyperlink" Target="https://www.raps.org/resource/cder-approved-50-novel-drugs-in-2024-record-numbe.html"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5" Type="http://schemas.openxmlformats.org/officeDocument/2006/relationships/hyperlink" Target="https://www.sec.gov/Archives/edgar/data/0001802255/000119312526338032/d160709dex991.htm"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 Type="http://schemas.openxmlformats.org/officeDocument/2006/relationships/hyperlink" Target="https://www.cms.gov/medicare/payment/prospective-payment-systems/hospital-outpatient/regulations-notices"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92" Type="http://schemas.openxmlformats.org/officeDocument/2006/relationships/hyperlink" Target="https://stockanalysis.com/stocks/amn/transcripts/662833-q2-2026/" TargetMode="External"/><Relationship Id="rId2" Type="http://schemas.openxmlformats.org/officeDocument/2006/relationships/hyperlink" Target="https://www.fiercehealthcare.com/finance/projected-healthcare-services-deal-count-be-lowest-2017-pitchbook-finds" TargetMode="External"/><Relationship Id="rId29" Type="http://schemas.openxmlformats.org/officeDocument/2006/relationships/hyperlink" Target="https://fred.stlouisfed.org/series/CES6562000101" TargetMode="External"/><Relationship Id="rId24" Type="http://schemas.openxmlformats.org/officeDocument/2006/relationships/hyperlink" Target="https://www.crfb.org/blogs/national-health-expenditures-continue-rise" TargetMode="External"/><Relationship Id="rId40" Type="http://schemas.openxmlformats.org/officeDocument/2006/relationships/hyperlink" Target="https://www.medicaleconomics.com/view/ama-physician-private-practice-unraveling-due-to-low-payment-high-costs-administrative-burdens"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66" Type="http://schemas.openxmlformats.org/officeDocument/2006/relationships/hyperlink" Target="https://www.staffingindustry.com/news/global-daily-news/aya-healthcare-terminates-merger-agreement-with-cross-country-healthcare" TargetMode="External"/><Relationship Id="rId87" Type="http://schemas.openxmlformats.org/officeDocument/2006/relationships/hyperlink" Target="https://stockanalysis.com/stocks/ste/transcripts/666655-q1-2027/" TargetMode="External"/><Relationship Id="rId61" Type="http://schemas.openxmlformats.org/officeDocument/2006/relationships/hyperlink" Target="https://www.businesswire.com/news/home/20260928896885/en/EyeCare-Partners-Announces-Sale-of-Optometry-Business" TargetMode="External"/><Relationship Id="rId82" Type="http://schemas.openxmlformats.org/officeDocument/2006/relationships/hyperlink" Target="https://www.sec.gov/Archives/edgar/data/0000860730/000119312526315151/hca-ex99_1.htm" TargetMode="External"/><Relationship Id="rId19" Type="http://schemas.openxmlformats.org/officeDocument/2006/relationships/hyperlink" Target="https://idataresearch.com/news-medical-device-tariffs-in-2026/" TargetMode="External"/><Relationship Id="rId14" Type="http://schemas.openxmlformats.org/officeDocument/2006/relationships/hyperlink" Target="https://www.acg.org/news-trends/news/gf-data-reports-show-steady-middle-market-deal-flow-amid-more-selective" TargetMode="External"/><Relationship Id="rId30" Type="http://schemas.openxmlformats.org/officeDocument/2006/relationships/hyperlink" Target="https://www.bls.gov/news.release/jolts.t01.htm" TargetMode="External"/><Relationship Id="rId35" Type="http://schemas.openxmlformats.org/officeDocument/2006/relationships/hyperlink" Target="https://www.biospace.com/press-releases/iqvia-reports-second-quarter-2026-results" TargetMode="External"/><Relationship Id="rId56" Type="http://schemas.openxmlformats.org/officeDocument/2006/relationships/hyperlink" Target="https://www.sec.gov/Archives/edgar/data/0001865782/000119312526326654/btsg-ex99_1.htm" TargetMode="External"/><Relationship Id="rId77" Type="http://schemas.openxmlformats.org/officeDocument/2006/relationships/hyperlink" Target="https://www.ibba.org/wp-content/uploads/2026/08/mp-highlights-q2-2026.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 BENCHMARK CAPITAL MARKETS"/>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BENCHMARK CAPITAL MARKETS</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SECTOR BRIEF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focus areas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SECTOR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market landscape,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 The BCM team and Benchmark Interna"/>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BCM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Healthcare M&amp;A: state of play"/>
          <p:cNvSpPr txBox="1"/>
          <p:nvPr/>
        </p:nvSpPr>
        <p:spPr>
          <a:xfrm>
            <a:off x="781050" y="4010025"/>
            <a:ext cx="152191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Healthcare M&amp;A: state of play</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Historical market context"/>
          <p:cNvSpPr txBox="1"/>
          <p:nvPr/>
        </p:nvSpPr>
        <p:spPr>
          <a:xfrm>
            <a:off x="781050" y="4352925"/>
            <a:ext cx="127039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Historical market context</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Fundamentals supporting activity"/>
          <p:cNvSpPr txBox="1"/>
          <p:nvPr/>
        </p:nvSpPr>
        <p:spPr>
          <a:xfrm>
            <a:off x="781050" y="4695825"/>
            <a:ext cx="1687562"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Fundamentals supporting activity</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Perspectives on four focus areas"/>
          <p:cNvSpPr txBox="1"/>
          <p:nvPr/>
        </p:nvSpPr>
        <p:spPr>
          <a:xfrm>
            <a:off x="781050" y="5038725"/>
            <a:ext cx="162713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Perspectives on four focus areas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What we're reading"/>
          <p:cNvSpPr txBox="1"/>
          <p:nvPr/>
        </p:nvSpPr>
        <p:spPr>
          <a:xfrm>
            <a:off x="781050" y="5381625"/>
            <a:ext cx="1000274"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What we're reading</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focus areas.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Benchmark Capital Markets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cut deepest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Benchmark Capital Markets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focus area,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Landscape of select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Landscape: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focus area,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covered in the full report.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focus area.</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 A fuller list for each focus area is in the Healthcare Q4 2026 report.</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focus areas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Focus Area</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focus areas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focus area</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focus areas,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a:t>
            </a:r>
            <a:r>
              <a:rPr lang="en-US" sz="712" b="0" i="0" spc="15" dirty="0" err="1">
                <a:solidFill>
                  <a:srgbClr val="8C6239"/>
                </a:solidFill>
                <a:latin typeface="Calibri"/>
                <a:hlinkClick r:id="rId22"/>
              </a:rPr>
              <a:t>Casper,CEO</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 ”</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b="0" i="1" spc="15" dirty="0">
                <a:solidFill>
                  <a:srgbClr val="2A2928"/>
                </a:solidFill>
                <a:latin typeface="Cambria"/>
              </a:rPr>
              <a:t>"</a:t>
            </a:r>
            <a:r>
              <a:rPr lang="en-US" sz="800" i="1" spc="15" dirty="0">
                <a:solidFill>
                  <a:srgbClr val="2A2928"/>
                </a:solidFill>
                <a:latin typeface="Cambria"/>
              </a:rPr>
              <a:t>We also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are uniquely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a:t>
            </a:r>
            <a:r>
              <a:rPr lang="en-US" sz="712" b="0" i="0" spc="15" dirty="0" err="1">
                <a:solidFill>
                  <a:srgbClr val="8C6239"/>
                </a:solidFill>
                <a:latin typeface="Calibri"/>
                <a:hlinkClick r:id="rId26"/>
              </a:rPr>
              <a:t>Scott,CFO</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The Benchmark Capital Markets team"/>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Benchmark Capital Markets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focus areas,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 BENCHMARK CAPITAL MARKETS</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FULL Q4 2026 REPORT</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2" name="Rectangle 31"/>
          <p:cNvSpPr/>
          <p:nvPr/>
        </p:nvSpPr>
        <p:spPr>
          <a:xfrm>
            <a:off x="6076950" y="5591175"/>
            <a:ext cx="3333750" cy="1114425"/>
          </a:xfrm>
          <a:prstGeom prst="rect">
            <a:avLst/>
          </a:prstGeom>
          <a:noFill/>
          <a:ln w="9525">
            <a:solidFill>
              <a:srgbClr val="D3AE84"/>
            </a:solidFill>
            <a:prstDash val="dash"/>
          </a:ln>
        </p:spPr>
        <p:txBody>
          <a:bodyPr rtlCol="0" anchor="ctr"/>
          <a:lstStyle/>
          <a:p>
            <a:pPr algn="ctr"/>
            <a:endParaRPr/>
          </a:p>
        </p:txBody>
      </p:sp>
      <p:sp>
        <p:nvSpPr>
          <p:cNvPr id="33" name="Text: UPCOMING EVENT"/>
          <p:cNvSpPr txBox="1"/>
          <p:nvPr/>
        </p:nvSpPr>
        <p:spPr>
          <a:xfrm>
            <a:off x="6257925" y="5753100"/>
            <a:ext cx="2986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UPCOMING EVENT</a:t>
            </a:r>
          </a:p>
        </p:txBody>
      </p:sp>
      <p:sp>
        <p:nvSpPr>
          <p:cNvPr id="34" name="Text: Event name, dates and location"/>
          <p:cNvSpPr txBox="1"/>
          <p:nvPr/>
        </p:nvSpPr>
        <p:spPr>
          <a:xfrm>
            <a:off x="6257925" y="5934075"/>
            <a:ext cx="2986088" cy="247650"/>
          </a:xfrm>
          <a:prstGeom prst="rect">
            <a:avLst/>
          </a:prstGeom>
          <a:noFill/>
        </p:spPr>
        <p:txBody>
          <a:bodyPr wrap="square" lIns="0" tIns="0" rIns="0" bIns="0" anchor="t">
            <a:spAutoFit/>
          </a:bodyPr>
          <a:lstStyle/>
          <a:p>
            <a:pPr algn="l">
              <a:lnSpc>
                <a:spcPts val="1950"/>
              </a:lnSpc>
            </a:pPr>
            <a:r>
              <a:rPr sz="1500" b="1" i="0">
                <a:solidFill>
                  <a:srgbClr val="FFFFFF"/>
                </a:solidFill>
                <a:latin typeface="Cambria"/>
              </a:rPr>
              <a:t>Event name, dates and location</a:t>
            </a:r>
          </a:p>
        </p:txBody>
      </p:sp>
      <p:sp>
        <p:nvSpPr>
          <p:cNvPr id="35" name="Text: This panel is reserved for the nex"/>
          <p:cNvSpPr txBox="1"/>
          <p:nvPr/>
        </p:nvSpPr>
        <p:spPr>
          <a:xfrm>
            <a:off x="6257925" y="6219825"/>
            <a:ext cx="29860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This panel is reserved for the next conference or event where the BCM team will be meeting healthcare owners.</a:t>
            </a: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Capital Markets (BCM),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BCM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Benchmark Capital Markets</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Capital Markets (BCM)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882402"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882402"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785068"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78506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231553"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231553"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519857"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519857"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Benchmark Capital Markets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Benchmark Capital Markets (BCM)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 Benchmark Capital Markets (BCM), p"/>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Benchmark Capital Markets (BCM), part of Benchmark International, advises owners of privately held companies on sales, recapitalizations and growth partnerships across five industries.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BCM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sector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Benchmark Capital Markets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Benchmark Capital Markets (BCM)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Capital Markets (BCM),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FOCUS AREAS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FOCUS AREAS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FOCUS AREA</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landscape and appendix pages. The full Healthcare Q4 2026 report carries the complete source list for the transactions and policy items summarized here.</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Sector Brief</dc:title>
  <dc:subject/>
  <dc:creator>Benchmark Capital Markets</dc:creator>
  <cp:keywords/>
  <dc:description>generated using python-pptx</dc:description>
  <cp:lastModifiedBy>Jason Lisiak</cp:lastModifiedBy>
  <cp:revision>5</cp:revision>
  <dcterms:created xsi:type="dcterms:W3CDTF">2013-01-27T09:14:16Z</dcterms:created>
  <dcterms:modified xsi:type="dcterms:W3CDTF">2026-10-14T13:27:31Z</dcterms:modified>
  <cp:category/>
</cp:coreProperties>
</file>