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8" d="100"/>
          <a:sy n="98" d="100"/>
        </p:scale>
        <p:origin x="12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1H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40</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45</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Provider Services</c:v>
                </c:pt>
              </c:strCache>
            </c:strRef>
          </c:tx>
          <c:spPr>
            <a:ln w="22225">
              <a:solidFill>
                <a:srgbClr val="1B1A1A"/>
              </a:solidFill>
            </a:ln>
          </c:spPr>
          <c:marker>
            <c:symbol val="none"/>
          </c:marker>
          <c:dLbls>
            <c:dLbl>
              <c:idx val="12"/>
              <c:numFmt formatCode="0.0&quot;x&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Sheet1!$B$2:$B$14</c:f>
              <c:numCache>
                <c:formatCode>General</c:formatCode>
                <c:ptCount val="13"/>
                <c:pt idx="0">
                  <c:v>13.49</c:v>
                </c:pt>
                <c:pt idx="1">
                  <c:v>15</c:v>
                </c:pt>
                <c:pt idx="2">
                  <c:v>15.4</c:v>
                </c:pt>
                <c:pt idx="3">
                  <c:v>18.239999999999998</c:v>
                </c:pt>
                <c:pt idx="4">
                  <c:v>11.74</c:v>
                </c:pt>
                <c:pt idx="5">
                  <c:v>10.55</c:v>
                </c:pt>
                <c:pt idx="6">
                  <c:v>10.815000000000001</c:v>
                </c:pt>
                <c:pt idx="7">
                  <c:v>10.925000000000001</c:v>
                </c:pt>
                <c:pt idx="8">
                  <c:v>11.205</c:v>
                </c:pt>
                <c:pt idx="9">
                  <c:v>11.01</c:v>
                </c:pt>
                <c:pt idx="10">
                  <c:v>11.09</c:v>
                </c:pt>
                <c:pt idx="11">
                  <c:v>11.44</c:v>
                </c:pt>
                <c:pt idx="12">
                  <c:v>11.254999999999999</c:v>
                </c:pt>
              </c:numCache>
            </c:numRef>
          </c:val>
          <c:smooth val="0"/>
          <c:extLst>
            <c:ext xmlns:c16="http://schemas.microsoft.com/office/drawing/2014/chart" uri="{C3380CC4-5D6E-409C-BE32-E72D297353CC}">
              <c16:uniqueId val="{00000001-971B-4CBE-8365-DADDF523E7F2}"/>
            </c:ext>
          </c:extLst>
        </c:ser>
        <c:ser>
          <c:idx val="1"/>
          <c:order val="1"/>
          <c:tx>
            <c:strRef>
              <c:f>Sheet1!$C$1</c:f>
              <c:strCache>
                <c:ptCount val="1"/>
                <c:pt idx="0">
                  <c:v>Life Sciences &amp; Diagnostics</c:v>
                </c:pt>
              </c:strCache>
            </c:strRef>
          </c:tx>
          <c:spPr>
            <a:ln w="22225">
              <a:solidFill>
                <a:srgbClr val="B68757"/>
              </a:solidFill>
            </a:ln>
          </c:spPr>
          <c:marker>
            <c:symbol val="none"/>
          </c:marker>
          <c:dLbls>
            <c:dLbl>
              <c:idx val="12"/>
              <c:numFmt formatCode="0.0&quot;x&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Sheet1!$C$2:$C$14</c:f>
              <c:numCache>
                <c:formatCode>General</c:formatCode>
                <c:ptCount val="13"/>
                <c:pt idx="0">
                  <c:v>15.65</c:v>
                </c:pt>
                <c:pt idx="1">
                  <c:v>17.170000000000002</c:v>
                </c:pt>
                <c:pt idx="2">
                  <c:v>18.5</c:v>
                </c:pt>
                <c:pt idx="3">
                  <c:v>16.98</c:v>
                </c:pt>
                <c:pt idx="4">
                  <c:v>16.690000000000001</c:v>
                </c:pt>
                <c:pt idx="5">
                  <c:v>14.23</c:v>
                </c:pt>
                <c:pt idx="6">
                  <c:v>14.03</c:v>
                </c:pt>
                <c:pt idx="7">
                  <c:v>14.76</c:v>
                </c:pt>
                <c:pt idx="8">
                  <c:v>14.54</c:v>
                </c:pt>
                <c:pt idx="9">
                  <c:v>18.579999999999998</c:v>
                </c:pt>
                <c:pt idx="10">
                  <c:v>15.43</c:v>
                </c:pt>
                <c:pt idx="11">
                  <c:v>19.329999999999998</c:v>
                </c:pt>
                <c:pt idx="12">
                  <c:v>21.81</c:v>
                </c:pt>
              </c:numCache>
            </c:numRef>
          </c:val>
          <c:smooth val="0"/>
          <c:extLst>
            <c:ext xmlns:c16="http://schemas.microsoft.com/office/drawing/2014/chart" uri="{C3380CC4-5D6E-409C-BE32-E72D297353CC}">
              <c16:uniqueId val="{00000003-971B-4CBE-8365-DADDF523E7F2}"/>
            </c:ext>
          </c:extLst>
        </c:ser>
        <c:ser>
          <c:idx val="2"/>
          <c:order val="2"/>
          <c:tx>
            <c:strRef>
              <c:f>Sheet1!$D$1</c:f>
              <c:strCache>
                <c:ptCount val="1"/>
                <c:pt idx="0">
                  <c:v>Medical Products &amp; Distribution</c:v>
                </c:pt>
              </c:strCache>
            </c:strRef>
          </c:tx>
          <c:spPr>
            <a:ln w="22225">
              <a:solidFill>
                <a:srgbClr val="6D7681"/>
              </a:solidFill>
            </a:ln>
          </c:spPr>
          <c:marker>
            <c:symbol val="none"/>
          </c:marker>
          <c:dLbls>
            <c:dLbl>
              <c:idx val="12"/>
              <c:numFmt formatCode="0.0&quot;x&quot;" sourceLinked="0"/>
              <c:spPr/>
              <c:txPr>
                <a:bodyPr/>
                <a:lstStyle/>
                <a:p>
                  <a:pPr>
                    <a:defRPr sz="800" b="1">
                      <a:solidFill>
                        <a:srgbClr val="6D7681"/>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Sheet1!$D$2:$D$14</c:f>
              <c:numCache>
                <c:formatCode>General</c:formatCode>
                <c:ptCount val="13"/>
                <c:pt idx="0">
                  <c:v>13</c:v>
                </c:pt>
                <c:pt idx="1">
                  <c:v>14.83</c:v>
                </c:pt>
                <c:pt idx="2">
                  <c:v>14.344999999999999</c:v>
                </c:pt>
                <c:pt idx="3">
                  <c:v>12.395</c:v>
                </c:pt>
                <c:pt idx="4">
                  <c:v>14.55</c:v>
                </c:pt>
                <c:pt idx="5">
                  <c:v>12.87</c:v>
                </c:pt>
                <c:pt idx="6">
                  <c:v>13.885</c:v>
                </c:pt>
                <c:pt idx="7">
                  <c:v>14.135000000000002</c:v>
                </c:pt>
                <c:pt idx="8">
                  <c:v>13.18</c:v>
                </c:pt>
                <c:pt idx="9">
                  <c:v>11.31</c:v>
                </c:pt>
                <c:pt idx="10">
                  <c:v>12.615</c:v>
                </c:pt>
                <c:pt idx="11">
                  <c:v>13.635</c:v>
                </c:pt>
                <c:pt idx="12">
                  <c:v>12.745000000000001</c:v>
                </c:pt>
              </c:numCache>
            </c:numRef>
          </c:val>
          <c:smooth val="0"/>
          <c:extLst>
            <c:ext xmlns:c16="http://schemas.microsoft.com/office/drawing/2014/chart" uri="{C3380CC4-5D6E-409C-BE32-E72D297353CC}">
              <c16:uniqueId val="{00000005-971B-4CBE-8365-DADDF523E7F2}"/>
            </c:ext>
          </c:extLst>
        </c:ser>
        <c:ser>
          <c:idx val="3"/>
          <c:order val="3"/>
          <c:tx>
            <c:strRef>
              <c:f>Sheet1!$E$1</c:f>
              <c:strCache>
                <c:ptCount val="1"/>
                <c:pt idx="0">
                  <c:v>Pharmacy &amp; Healthcare Services</c:v>
                </c:pt>
              </c:strCache>
            </c:strRef>
          </c:tx>
          <c:spPr>
            <a:ln w="22225">
              <a:solidFill>
                <a:srgbClr val="A39486"/>
              </a:solidFill>
            </a:ln>
          </c:spPr>
          <c:marker>
            <c:symbol val="none"/>
          </c:marker>
          <c:dLbls>
            <c:dLbl>
              <c:idx val="12"/>
              <c:numFmt formatCode="0.0&quot;x&quot;" sourceLinked="0"/>
              <c:spPr/>
              <c:txPr>
                <a:bodyPr/>
                <a:lstStyle/>
                <a:p>
                  <a:pPr>
                    <a:defRPr sz="800" b="1">
                      <a:solidFill>
                        <a:srgbClr val="A39486"/>
                      </a:solidFill>
                      <a:latin typeface="Calibri"/>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71B-4CBE-8365-DADDF523E7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Sep '23</c:v>
                </c:pt>
                <c:pt idx="1">
                  <c:v>Dec '23</c:v>
                </c:pt>
                <c:pt idx="2">
                  <c:v>Mar '24</c:v>
                </c:pt>
                <c:pt idx="3">
                  <c:v>Jun '24</c:v>
                </c:pt>
                <c:pt idx="4">
                  <c:v>Sep '24</c:v>
                </c:pt>
                <c:pt idx="5">
                  <c:v>Dec '24</c:v>
                </c:pt>
                <c:pt idx="6">
                  <c:v>Mar '25</c:v>
                </c:pt>
                <c:pt idx="7">
                  <c:v>Jun '25</c:v>
                </c:pt>
                <c:pt idx="8">
                  <c:v>Sep '25</c:v>
                </c:pt>
                <c:pt idx="9">
                  <c:v>Dec '25</c:v>
                </c:pt>
                <c:pt idx="10">
                  <c:v>Mar '26</c:v>
                </c:pt>
                <c:pt idx="11">
                  <c:v>Jun '26</c:v>
                </c:pt>
                <c:pt idx="12">
                  <c:v>Oct '26</c:v>
                </c:pt>
              </c:strCache>
            </c:strRef>
          </c:cat>
          <c:val>
            <c:numRef>
              <c:f>Sheet1!$E$2:$E$14</c:f>
              <c:numCache>
                <c:formatCode>General</c:formatCode>
                <c:ptCount val="13"/>
                <c:pt idx="0">
                  <c:v>10.344999999999999</c:v>
                </c:pt>
                <c:pt idx="1">
                  <c:v>10.74</c:v>
                </c:pt>
                <c:pt idx="2">
                  <c:v>13.57</c:v>
                </c:pt>
                <c:pt idx="3">
                  <c:v>12.29</c:v>
                </c:pt>
                <c:pt idx="4">
                  <c:v>11.49</c:v>
                </c:pt>
                <c:pt idx="5">
                  <c:v>10.75</c:v>
                </c:pt>
                <c:pt idx="6">
                  <c:v>14.17</c:v>
                </c:pt>
                <c:pt idx="7">
                  <c:v>14.61</c:v>
                </c:pt>
                <c:pt idx="8">
                  <c:v>13.78</c:v>
                </c:pt>
                <c:pt idx="9">
                  <c:v>14.27</c:v>
                </c:pt>
                <c:pt idx="10">
                  <c:v>13.1</c:v>
                </c:pt>
                <c:pt idx="11">
                  <c:v>12.29</c:v>
                </c:pt>
                <c:pt idx="12">
                  <c:v>13.97</c:v>
                </c:pt>
              </c:numCache>
            </c:numRef>
          </c:val>
          <c:smooth val="0"/>
          <c:extLst>
            <c:ext xmlns:c16="http://schemas.microsoft.com/office/drawing/2014/chart" uri="{C3380CC4-5D6E-409C-BE32-E72D297353CC}">
              <c16:uniqueId val="{00000007-971B-4CBE-8365-DADDF523E7F2}"/>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Algn val="ctr"/>
        <c:lblOffset val="100"/>
        <c:tickLblSkip val="2"/>
        <c:tickMarkSkip val="2"/>
        <c:noMultiLvlLbl val="0"/>
      </c:catAx>
      <c:valAx>
        <c:axId val="2140495176"/>
        <c:scaling>
          <c:orientation val="minMax"/>
          <c:max val="24"/>
          <c:min val="8"/>
        </c:scaling>
        <c:delete val="0"/>
        <c:axPos val="l"/>
        <c:majorGridlines>
          <c:spPr>
            <a:ln w="6350">
              <a:solidFill>
                <a:srgbClr val="E3DCD3"/>
              </a:solidFill>
            </a:ln>
          </c:spPr>
        </c:majorGridlines>
        <c:numFmt formatCode="0&quot;x&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4"/>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focus area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6.49</c:v>
                </c:pt>
                <c:pt idx="1">
                  <c:v>20.83</c:v>
                </c:pt>
                <c:pt idx="2">
                  <c:v>5.8849999999999998</c:v>
                </c:pt>
                <c:pt idx="3">
                  <c:v>38.375</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14.02</c:v>
                </c:pt>
                <c:pt idx="1">
                  <c:v>7.23</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12.68</c:v>
                </c:pt>
                <c:pt idx="1">
                  <c:v>21.23</c:v>
                </c:pt>
                <c:pt idx="2">
                  <c:v>18.21</c:v>
                </c:pt>
                <c:pt idx="3">
                  <c:v>4.2</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1.73</c:v>
                </c:pt>
                <c:pt idx="1">
                  <c:v>4.3499999999999996</c:v>
                </c:pt>
                <c:pt idx="2">
                  <c:v>2.62</c:v>
                </c:pt>
                <c:pt idx="3">
                  <c:v>0.46499999999999997</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11.254999999999999</c:v>
                </c:pt>
                <c:pt idx="1">
                  <c:v>21.81</c:v>
                </c:pt>
                <c:pt idx="2">
                  <c:v>12.745000000000001</c:v>
                </c:pt>
                <c:pt idx="3">
                  <c:v>13.97</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11.205</c:v>
                </c:pt>
                <c:pt idx="1">
                  <c:v>14.54</c:v>
                </c:pt>
                <c:pt idx="2">
                  <c:v>13.18</c:v>
                </c:pt>
                <c:pt idx="3">
                  <c:v>13.78</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89.23</c:v>
                </c:pt>
                <c:pt idx="1">
                  <c:v>91.5</c:v>
                </c:pt>
                <c:pt idx="2">
                  <c:v>80.650000000000006</c:v>
                </c:pt>
                <c:pt idx="3">
                  <c:v>86.75</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hospital-and-health-system-ma-activity-among-highest-q2-levels-2019"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6.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medicare/payment/prospective-payment-systems/hospital-outpatient/regulations-notices"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resources-for-states/working-families-tax-cut-legislation" TargetMode="External"/><Relationship Id="rId13" Type="http://schemas.openxmlformats.org/officeDocument/2006/relationships/image" Target="../media/image7.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8.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9.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bakerlaw.com/insights/healthcare-and-private-equity-transactions-continue-to-be-under-state-scrutiny/"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webull.com/news/15462423712777216" TargetMode="External"/><Relationship Id="rId30"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nhe-fact-sheet"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sites/default/files/2026-04/KH-Report_M%2BA_2026-Q1.pdf" TargetMode="External"/><Relationship Id="rId6" Type="http://schemas.openxmlformats.org/officeDocument/2006/relationships/hyperlink" Target="https://www.kaufmanhall.com/news/hospital-and-health-system-ma-activity-among-highest-q2-levels-2019" TargetMode="External"/><Relationship Id="rId7" Type="http://schemas.openxmlformats.org/officeDocument/2006/relationships/hyperlink" Target="https://pitchbook.brightspotcdn.com/2d/0a/acb3601c4e19925c22d3f3877637/q4-2025-healthcare-services-report.pdf" TargetMode="External"/><Relationship Id="rId8" Type="http://schemas.openxmlformats.org/officeDocument/2006/relationships/chart" Target="../charts/chart1.xml"/><Relationship Id="rId9" Type="http://schemas.openxmlformats.org/officeDocument/2006/relationships/hyperlink" Target="https://www.beckershospitalreview.com/hospital-transactions-and-valuation/how-health-system-m-as-have-fluctuated-over-the-last-decade/" TargetMode="External"/><Relationship Id="rId10" Type="http://schemas.openxmlformats.org/officeDocument/2006/relationships/chart" Target="../charts/chart2.xml"/><Relationship Id="rId1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fred.stlouisfed.org/series/CPIMEDSL"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lth.com/insights/news/home-health-and-hospice-provider-enhabit-to-go-private-in-1-1b-deal-2026-02-24" TargetMode="External"/><Relationship Id="rId8" Type="http://schemas.openxmlformats.org/officeDocument/2006/relationships/hyperlink" Target="https://www.medicaleconomics.com/view/ama-physician-private-practice-unraveling-due-to-low-payment-high-costs-administrative-burdens" TargetMode="External"/><Relationship Id="rId9" Type="http://schemas.openxmlformats.org/officeDocument/2006/relationships/image" Target="../media/image13.png"/><Relationship Id="rId10" Type="http://schemas.openxmlformats.org/officeDocument/2006/relationships/image" Target="../media/image14.jpg"/><Relationship Id="rId11" Type="http://schemas.openxmlformats.org/officeDocument/2006/relationships/hyperlink" Target="https://newsroom.questdiagnostics.com/2026-07-23-Quest-Diagnostics-Reports-Second-Quarter-2026-Financial-Results-Raises-Revenue-and-EPS-Guidance-for-Full-Year-2026" TargetMode="External"/><Relationship Id="rId12" Type="http://schemas.openxmlformats.org/officeDocument/2006/relationships/hyperlink" Target="https://www.sec.gov/Archives/edgar/data/0000920148/000092014826000175/lh-20260630.htm" TargetMode="External"/><Relationship Id="rId13" Type="http://schemas.openxmlformats.org/officeDocument/2006/relationships/hyperlink" Target="https://myadlm.org/cln/The-Lab-Advocate/2026/August/ADLM-Continues-Push-for-Permanent-PAMA-Reform" TargetMode="External"/><Relationship Id="rId14" Type="http://schemas.openxmlformats.org/officeDocument/2006/relationships/hyperlink" Target="https://www.biospace.com/press-releases/iqvia-reports-second-quarter-2026-results" TargetMode="External"/><Relationship Id="rId15" Type="http://schemas.openxmlformats.org/officeDocument/2006/relationships/hyperlink" Target="https://www.sec.gov/Archives/edgar/data/0001668397/000166839726000023/medp-2026722exx991.htm" TargetMode="External"/><Relationship Id="rId16" Type="http://schemas.openxmlformats.org/officeDocument/2006/relationships/hyperlink" Target="https://www.prnewswire.com/news-releases/headlands-research-expands-california-presence-with-acquisition-of-clinical-trials-research-302814202.html" TargetMode="External"/><Relationship Id="rId17" Type="http://schemas.openxmlformats.org/officeDocument/2006/relationships/hyperlink" Target="https://www.prnewswire.com/news-releases/summit-clinical-research-solutions-expands-pinnacle-site-network-with-acquisition-of-dallas-research-institute-302874775.html" TargetMode="External"/><Relationship Id="rId18"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biospace.com/press-releases/steris-announces-financial-results-for-fiscal-2027-first-quarter"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barnesdennig.com/section-122-tariffs-ieepa-refunds-update/" TargetMode="External"/><Relationship Id="rId10" Type="http://schemas.openxmlformats.org/officeDocument/2006/relationships/image" Target="../media/image17.png"/><Relationship Id="rId11" Type="http://schemas.openxmlformats.org/officeDocument/2006/relationships/image" Target="../media/image18.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2d/0a/acb3601c4e19925c22d3f3877637/q4-2025-healthcare-services-report.pdf" TargetMode="External"/><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chart" Target="../charts/chart6.xml"/><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stockanalysis.com/stocks/hca/statistics/" TargetMode="External"/><Relationship Id="rId4" Type="http://schemas.openxmlformats.org/officeDocument/2006/relationships/hyperlink" Target="https://stockanalysis.com/stocks/thc/statistics/" TargetMode="External"/><Relationship Id="rId5" Type="http://schemas.openxmlformats.org/officeDocument/2006/relationships/hyperlink" Target="https://stockanalysis.com/stocks/usph/statistics/" TargetMode="External"/><Relationship Id="rId6" Type="http://schemas.openxmlformats.org/officeDocument/2006/relationships/hyperlink" Target="https://stockanalysis.com/stocks/dva/statistics/" TargetMode="External"/><Relationship Id="rId7" Type="http://schemas.openxmlformats.org/officeDocument/2006/relationships/hyperlink" Target="https://stockanalysis.com/stocks/adus/statistics/" TargetMode="External"/><Relationship Id="rId8" Type="http://schemas.openxmlformats.org/officeDocument/2006/relationships/hyperlink" Target="https://stockanalysis.com/stocks/pntg/statistics/" TargetMode="External"/><Relationship Id="rId9" Type="http://schemas.openxmlformats.org/officeDocument/2006/relationships/hyperlink" Target="https://stockanalysis.com/stocks/achc/statistics/" TargetMode="External"/><Relationship Id="rId10" Type="http://schemas.openxmlformats.org/officeDocument/2006/relationships/hyperlink" Target="https://stockanalysis.com/stocks/lfst/statistics/" TargetMode="External"/><Relationship Id="rId11" Type="http://schemas.openxmlformats.org/officeDocument/2006/relationships/hyperlink" Target="https://stockanalysis.com/stocks/prva/statistics/" TargetMode="External"/><Relationship Id="rId12" Type="http://schemas.openxmlformats.org/officeDocument/2006/relationships/hyperlink" Target="https://stockanalysis.com/stocks/con/statistics/" TargetMode="External"/><Relationship Id="rId13" Type="http://schemas.openxmlformats.org/officeDocument/2006/relationships/hyperlink" Target="https://stockanalysis.com/stocks/ensg/statistics/" TargetMode="External"/><Relationship Id="rId14" Type="http://schemas.openxmlformats.org/officeDocument/2006/relationships/image" Target="../media/image22.png"/><Relationship Id="rId15" Type="http://schemas.openxmlformats.org/officeDocument/2006/relationships/hyperlink" Target="https://stockanalysis.com/stocks/lh/statistics/" TargetMode="External"/><Relationship Id="rId16" Type="http://schemas.openxmlformats.org/officeDocument/2006/relationships/hyperlink" Target="https://stockanalysis.com/stocks/dgx/statistics/" TargetMode="External"/><Relationship Id="rId17" Type="http://schemas.openxmlformats.org/officeDocument/2006/relationships/hyperlink" Target="https://stockanalysis.com/stocks/tmo/statistics/" TargetMode="External"/><Relationship Id="rId18" Type="http://schemas.openxmlformats.org/officeDocument/2006/relationships/hyperlink" Target="https://stockanalysis.com/stocks/dhr/statistics/" TargetMode="External"/><Relationship Id="rId19" Type="http://schemas.openxmlformats.org/officeDocument/2006/relationships/hyperlink" Target="https://stockanalysis.com/stocks/tech/statistics/" TargetMode="External"/><Relationship Id="rId20" Type="http://schemas.openxmlformats.org/officeDocument/2006/relationships/hyperlink" Target="https://stockanalysis.com/stocks/iqv/statistics/" TargetMode="External"/><Relationship Id="rId21" Type="http://schemas.openxmlformats.org/officeDocument/2006/relationships/hyperlink" Target="https://stockanalysis.com/stocks/medp/statistics/" TargetMode="External"/><Relationship Id="rId22" Type="http://schemas.openxmlformats.org/officeDocument/2006/relationships/hyperlink" Target="https://stockanalysis.com/stocks/iclr/statistics/" TargetMode="External"/><Relationship Id="rId23" Type="http://schemas.openxmlformats.org/officeDocument/2006/relationships/hyperlink" Target="https://stockanalysis.com/stocks/crl/statistics/" TargetMode="External"/><Relationship Id="rId24" Type="http://schemas.openxmlformats.org/officeDocument/2006/relationships/image" Target="../media/image23.png"/><Relationship Id="rId25" Type="http://schemas.openxmlformats.org/officeDocument/2006/relationships/hyperlink" Target="https://stockanalysis.com/stocks/syk/statistics/" TargetMode="External"/><Relationship Id="rId26" Type="http://schemas.openxmlformats.org/officeDocument/2006/relationships/hyperlink" Target="https://stockanalysis.com/stocks/ste/statistics/" TargetMode="External"/><Relationship Id="rId27" Type="http://schemas.openxmlformats.org/officeDocument/2006/relationships/hyperlink" Target="https://stockanalysis.com/stocks/tfx/statistics/" TargetMode="External"/><Relationship Id="rId28" Type="http://schemas.openxmlformats.org/officeDocument/2006/relationships/hyperlink" Target="https://stockanalysis.com/stocks/hsic/statistics/" TargetMode="External"/><Relationship Id="rId29" Type="http://schemas.openxmlformats.org/officeDocument/2006/relationships/hyperlink" Target="https://stockanalysis.com/stocks/xray/statistics/" TargetMode="External"/><Relationship Id="rId30" Type="http://schemas.openxmlformats.org/officeDocument/2006/relationships/hyperlink" Target="https://stockanalysis.com/stocks/nvst/statistics/" TargetMode="External"/><Relationship Id="rId31" Type="http://schemas.openxmlformats.org/officeDocument/2006/relationships/hyperlink" Target="https://stockanalysis.com/stocks/zbh/statistics/" TargetMode="External"/><Relationship Id="rId32" Type="http://schemas.openxmlformats.org/officeDocument/2006/relationships/hyperlink" Target="https://stockanalysis.com/stocks/itgr/statistics/" TargetMode="External"/><Relationship Id="rId33" Type="http://schemas.openxmlformats.org/officeDocument/2006/relationships/hyperlink" Target="https://stockanalysis.com/stocks/solv/statistics/" TargetMode="External"/><Relationship Id="rId34" Type="http://schemas.openxmlformats.org/officeDocument/2006/relationships/hyperlink" Target="https://stockanalysis.com/stocks/vmd/statistics/" TargetMode="External"/><Relationship Id="rId35" Type="http://schemas.openxmlformats.org/officeDocument/2006/relationships/image" Target="../media/image24.png"/><Relationship Id="rId36" Type="http://schemas.openxmlformats.org/officeDocument/2006/relationships/hyperlink" Target="https://stockanalysis.com/stocks/opch/statistics/" TargetMode="External"/><Relationship Id="rId37" Type="http://schemas.openxmlformats.org/officeDocument/2006/relationships/hyperlink" Target="https://stockanalysis.com/stocks/btsg/statistics/" TargetMode="External"/><Relationship Id="rId38" Type="http://schemas.openxmlformats.org/officeDocument/2006/relationships/hyperlink" Target="https://stockanalysis.com/stocks/grdn/statistics/" TargetMode="External"/><Relationship Id="rId39" Type="http://schemas.openxmlformats.org/officeDocument/2006/relationships/hyperlink" Target="https://stockanalysis.com/stocks/mck/statistics/" TargetMode="External"/><Relationship Id="rId40" Type="http://schemas.openxmlformats.org/officeDocument/2006/relationships/hyperlink" Target="https://stockanalysis.com/stocks/cor/statistics/" TargetMode="External"/><Relationship Id="rId41" Type="http://schemas.openxmlformats.org/officeDocument/2006/relationships/hyperlink" Target="https://stockanalysis.com/stocks/cah/statistics/" TargetMode="External"/><Relationship Id="rId42" Type="http://schemas.openxmlformats.org/officeDocument/2006/relationships/hyperlink" Target="https://stockanalysis.com/stocks/cvs/statistics/" TargetMode="External"/><Relationship Id="rId43" Type="http://schemas.openxmlformats.org/officeDocument/2006/relationships/hyperlink" Target="https://stockanalysis.com/stocks/amn/statistics/" TargetMode="External"/><Relationship Id="rId4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usinesswire.com/news/home/20260928896885/en/EyeCare-Partners-Announces-Sale-of-Optometry-Business" TargetMode="External"/><Relationship Id="rId3" Type="http://schemas.openxmlformats.org/officeDocument/2006/relationships/hyperlink" Target="https://www.sec.gov/Archives/edgar/data/0001468328/000143774926030348/ex_1015828.htm" TargetMode="External"/><Relationship Id="rId4" Type="http://schemas.openxmlformats.org/officeDocument/2006/relationships/hyperlink" Target="https://www.sec.gov/Archives/edgar/data/0000842023/000199937126013429/ex99-1.htm" TargetMode="External"/><Relationship Id="rId5" Type="http://schemas.openxmlformats.org/officeDocument/2006/relationships/hyperlink" Target="https://peprofessional.com/2026/07/statlab-sold-to-danahers-leica-biosystems/" TargetMode="External"/><Relationship Id="rId6" Type="http://schemas.openxmlformats.org/officeDocument/2006/relationships/hyperlink" Target="https://www.medicaldesignandoutsourcing.com/?p=280019" TargetMode="External"/><Relationship Id="rId7" Type="http://schemas.openxmlformats.org/officeDocument/2006/relationships/hyperlink" Target="https://www.staffingindustry.com/news/global-daily-news/aya-healthcare-terminates-merger-agreement-with-cross-country-healthcare" TargetMode="External"/><Relationship Id="rId8" Type="http://schemas.openxmlformats.org/officeDocument/2006/relationships/hyperlink" Target="https://www.fiercehealthcare.com/finance/staffing-firm-cross-country-healthcare-be-acquired-knox-lane-437m" TargetMode="External"/><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image" Target="../media/image25.png"/><Relationship Id="rId9" Type="http://schemas.openxmlformats.org/officeDocument/2006/relationships/hyperlink" Target="https://www.benchmarkintl.com/insights/completed-transactions/benchmark-international-facilitated-the-transaction-of-dental-holdings-llc-and-solmetex-llc/" TargetMode="External"/><Relationship Id="rId10" Type="http://schemas.openxmlformats.org/officeDocument/2006/relationships/image" Target="../media/image26.png"/><Relationship Id="rId11" Type="http://schemas.openxmlformats.org/officeDocument/2006/relationships/hyperlink" Target="https://www.benchmarkintl.com/insights/benchmark-international-successfully-facilitated-the-transaction-between-fosterbridge-inc-and-amvie/" TargetMode="External"/><Relationship Id="rId12" Type="http://schemas.openxmlformats.org/officeDocument/2006/relationships/hyperlink" Target="https://www.benchmarkintl.com/insights/benchmark-international-successfully-facilitated-the-transaction-between-medical-temps-inc-and-health-advocates-network/" TargetMode="External"/><Relationship Id="rId13" Type="http://schemas.openxmlformats.org/officeDocument/2006/relationships/hyperlink" Target="https://www.benchmarkintl.com/insights/completed-transactions/benchmark-international-successfully-facilitated-the-transaction-between-the-brooks-group-and-private-investors/" TargetMode="External"/><Relationship Id="rId1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image" Target="../media/image2.jpg"/><Relationship Id="rId4" Type="http://schemas.openxmlformats.org/officeDocument/2006/relationships/hyperlink" Target="https://www.beckersasc.com/asc-transactions-and-valuation-issues/why-asc-deals-are-outperforming-the-rest-of-healthcare-ma-in-2026-8-things-to-know/"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10.png"/><Relationship Id="rId8"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10.png"/><Relationship Id="rId5"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10.png"/><Relationship Id="rId11"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newsroom.questdiagnostics.com/2026-07-23-Quest-Diagnostics-Reports-Second-Quarter-2026-Financial-Results-Raises-Revenue-and-EPS-Guidance-for-Full-Year-2026" TargetMode="External"/><Relationship Id="rId5" Type="http://schemas.openxmlformats.org/officeDocument/2006/relationships/hyperlink" Target="https://www.sec.gov/Archives/edgar/data/0000097745/000009774526000138/q22026earnings8kex99_1.htm"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721371/000072137126000037/a26q4_x063026xex991xnewsre.htm" TargetMode="External"/><Relationship Id="rId16" Type="http://schemas.openxmlformats.org/officeDocument/2006/relationships/hyperlink" Target="https://www.sec.gov/Archives/edgar/data/0000920148/000092014826000162/form8-kexhibit9912q26.htm" TargetMode="External"/><Relationship Id="rId17" Type="http://schemas.openxmlformats.org/officeDocument/2006/relationships/hyperlink" Target="https://www.sec.gov/Archives/edgar/data/0001802255/000119312526338032/d160709dex991.htm" TargetMode="External"/><Relationship Id="rId18" Type="http://schemas.openxmlformats.org/officeDocument/2006/relationships/hyperlink" Target="https://www.sec.gov/Archives/edgar/data/0001142750/000114275026000008/amn-ex991x20260630xearning.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7.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Healthcare%20Q4%202026%20brief" TargetMode="External"/><Relationship Id="rId6" Type="http://schemas.openxmlformats.org/officeDocument/2006/relationships/hyperlink" Target="https://jp-hardin.github.io/about/mid-market-practice/insights/healthcare-industry-report-q4-2026.html" TargetMode="External"/><Relationship Id="rId7" Type="http://schemas.openxmlformats.org/officeDocument/2006/relationships/image" Target="../media/image29.jpg"/><Relationship Id="rId8"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jpg"/><Relationship Id="rId4" Type="http://schemas.openxmlformats.org/officeDocument/2006/relationships/image" Target="../media/image28.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31.jpg"/><Relationship Id="rId8" Type="http://schemas.openxmlformats.org/officeDocument/2006/relationships/image" Target="../media/image32.jpg"/><Relationship Id="rId9" Type="http://schemas.openxmlformats.org/officeDocument/2006/relationships/image" Target="../media/image33.jpg"/><Relationship Id="rId10" Type="http://schemas.openxmlformats.org/officeDocument/2006/relationships/image" Target="../media/image34.jpg"/><Relationship Id="rId11" Type="http://schemas.openxmlformats.org/officeDocument/2006/relationships/image" Target="../media/image35.jpg"/><Relationship Id="rId12" Type="http://schemas.openxmlformats.org/officeDocument/2006/relationships/image" Target="../media/image36.jpg"/><Relationship Id="rId13" Type="http://schemas.openxmlformats.org/officeDocument/2006/relationships/image" Target="../media/image37.jpg"/><Relationship Id="rId14" Type="http://schemas.openxmlformats.org/officeDocument/2006/relationships/image" Target="../media/image38.jp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10.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image" Target="../media/image51.png"/><Relationship Id="rId13" Type="http://schemas.openxmlformats.org/officeDocument/2006/relationships/image" Target="../media/image10.png"/><Relationship Id="rId14" Type="http://schemas.openxmlformats.org/officeDocument/2006/relationships/hyperlink" Target="https://www.benchmarkintl.com/about/our-succes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hospital-and-health-system-ma-activity-among-highest-q2-levels-2019"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medicare/payment/prospective-payment-systems/hospital-outpatient/regulations-notices"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resources-for-states/working-families-tax-cut-legislation"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bakerlaw.com/insights/healthcare-and-private-equity-transactions-continue-to-be-under-state-scrutiny/"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webull.com/news/15462423712777216" TargetMode="External"/><Relationship Id="rId24" Type="http://schemas.openxmlformats.org/officeDocument/2006/relationships/hyperlink" Target="https://www.crfb.org/blogs/national-health-expenditures-continue-rise" TargetMode="External"/><Relationship Id="rId25" Type="http://schemas.openxmlformats.org/officeDocument/2006/relationships/hyperlink" Target="https://www.kaufmanhall.com/news/hospital-and-health-system-ma-activity-ends-2025-momentum" TargetMode="External"/><Relationship Id="rId26" Type="http://schemas.openxmlformats.org/officeDocument/2006/relationships/hyperlink" Target="https://www.kaufmanhall.com/sites/default/files/2026-04/KH-Report_M%2BA_2026-Q1.pdf"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www.beckershospitalreview.com/hospital-transactions-and-valuation/how-health-system-m-as-have-fluctuated-over-the-last-decade/" TargetMode="External"/><Relationship Id="rId29" Type="http://schemas.openxmlformats.org/officeDocument/2006/relationships/hyperlink" Target="https://fred.stlouisfed.org/series/CES6562000101" TargetMode="External"/><Relationship Id="rId30" Type="http://schemas.openxmlformats.org/officeDocument/2006/relationships/hyperlink" Target="https://www.bls.gov/news.release/jolts.t01.htm" TargetMode="External"/><Relationship Id="rId31" Type="http://schemas.openxmlformats.org/officeDocument/2006/relationships/hyperlink" Target="https://fred.stlouisfed.org/series/TLHLTHCONS" TargetMode="External"/><Relationship Id="rId32" Type="http://schemas.openxmlformats.org/officeDocument/2006/relationships/hyperlink" Target="https://fred.stlouisfed.org/series/CPIMEDSL" TargetMode="External"/><Relationship Id="rId33" Type="http://schemas.openxmlformats.org/officeDocument/2006/relationships/hyperlink" Target="https://www.fda.gov/drugs/novel-drug-approvals-fda/novel-drug-approvals-2026" TargetMode="External"/><Relationship Id="rId34" Type="http://schemas.openxmlformats.org/officeDocument/2006/relationships/hyperlink" Target="https://www.raps.org/resource/cder-approved-50-novel-drugs-in-2024-record-numbe.html" TargetMode="External"/><Relationship Id="rId35" Type="http://schemas.openxmlformats.org/officeDocument/2006/relationships/hyperlink" Target="https://www.biospace.com/press-releases/iqvia-reports-second-quarter-2026-results" TargetMode="External"/><Relationship Id="rId36" Type="http://schemas.openxmlformats.org/officeDocument/2006/relationships/hyperlink" Target="https://www.jucm.com/?p=86881" TargetMode="External"/><Relationship Id="rId37" Type="http://schemas.openxmlformats.org/officeDocument/2006/relationships/hyperlink" Target="https://www.beckersasc.com/asc-transactions-and-valuation-issues/hcas-urgent-care-acquisition-spree/" TargetMode="External"/><Relationship Id="rId38" Type="http://schemas.openxmlformats.org/officeDocument/2006/relationships/hyperlink" Target="https://www.healthcaredive.com/news/hca-texas-medclinic-acquisition-urgent-care/826917/" TargetMode="External"/><Relationship Id="rId39" Type="http://schemas.openxmlformats.org/officeDocument/2006/relationships/hyperlink" Target="https://hlth.com/insights/news/home-health-and-hospice-provider-enhabit-to-go-private-in-1-1b-deal-2026-02-24" TargetMode="External"/><Relationship Id="rId40" Type="http://schemas.openxmlformats.org/officeDocument/2006/relationships/hyperlink" Target="https://www.medicaleconomics.com/view/ama-physician-private-practice-unraveling-due-to-low-payment-high-costs-administrative-burdens"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668397/000166839726000023/medp-2026722exx991.htm" TargetMode="External"/><Relationship Id="rId45" Type="http://schemas.openxmlformats.org/officeDocument/2006/relationships/hyperlink" Target="https://www.prnewswire.com/news-releases/headlands-research-expands-california-presence-with-acquisition-of-clinical-trials-research-302814202.html" TargetMode="External"/><Relationship Id="rId46" Type="http://schemas.openxmlformats.org/officeDocument/2006/relationships/hyperlink" Target="https://www.prnewswire.com/news-releases/summit-clinical-research-solutions-expands-pinnacle-site-network-with-acquisition-of-dallas-research-institute-302874775.html" TargetMode="External"/><Relationship Id="rId47" Type="http://schemas.openxmlformats.org/officeDocument/2006/relationships/hyperlink" Target="https://www.sec.gov/Archives/edgar/data/0000310764/000031076426000048/sykex991earningsq22026.htm" TargetMode="External"/><Relationship Id="rId48" Type="http://schemas.openxmlformats.org/officeDocument/2006/relationships/hyperlink" Target="https://www.biospace.com/press-releases/steris-announces-financial-results-for-fiscal-2027-first-quarter" TargetMode="External"/><Relationship Id="rId49" Type="http://schemas.openxmlformats.org/officeDocument/2006/relationships/hyperlink" Target="https://www.hfma.org/fast-finance/health-system-capital-investment-strategy-2026/"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barnesdennig.com/section-122-tariffs-ieepa-refunds-update/"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www.businesswire.com/news/home/20260928896885/en/EyeCare-Partners-Announces-Sale-of-Optometry-Business" TargetMode="External"/><Relationship Id="rId62" Type="http://schemas.openxmlformats.org/officeDocument/2006/relationships/hyperlink" Target="https://www.sec.gov/Archives/edgar/data/0001468328/000143774926030348/ex_1015828.htm" TargetMode="External"/><Relationship Id="rId63" Type="http://schemas.openxmlformats.org/officeDocument/2006/relationships/hyperlink" Target="https://www.sec.gov/Archives/edgar/data/0000842023/000199937126013429/ex99-1.htm" TargetMode="External"/><Relationship Id="rId64" Type="http://schemas.openxmlformats.org/officeDocument/2006/relationships/hyperlink" Target="https://peprofessional.com/2026/07/statlab-sold-to-danahers-leica-biosystems/" TargetMode="External"/><Relationship Id="rId65" Type="http://schemas.openxmlformats.org/officeDocument/2006/relationships/hyperlink" Target="https://www.medicaldesignandoutsourcing.com/?p=280019" TargetMode="External"/><Relationship Id="rId66" Type="http://schemas.openxmlformats.org/officeDocument/2006/relationships/hyperlink" Target="https://www.staffingindustry.com/news/global-daily-news/aya-healthcare-terminates-merger-agreement-with-cross-country-healthcare" TargetMode="External"/><Relationship Id="rId67" Type="http://schemas.openxmlformats.org/officeDocument/2006/relationships/hyperlink" Target="https://www.fiercehealthcare.com/finance/staffing-firm-cross-country-healthcare-be-acquired-knox-lane-437m" TargetMode="External"/><Relationship Id="rId68" Type="http://schemas.openxmlformats.org/officeDocument/2006/relationships/hyperlink" Target="https://www.benchmarkintl.com/about/our-success/" TargetMode="External"/><Relationship Id="rId69" Type="http://schemas.openxmlformats.org/officeDocument/2006/relationships/hyperlink" Target="https://www.benchmarkintl.com/insights/benchmark-international-successfully-facilitated-the-transaction-between-precise-bioscience-llc-and-new-horizon-medical-solutions/" TargetMode="External"/><Relationship Id="rId70"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1"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2"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73" Type="http://schemas.openxmlformats.org/officeDocument/2006/relationships/hyperlink" Target="https://www.benchmarkintl.com/insights/completed-transactions/benchmark-international-facilitated-the-transaction-of-dental-holdings-llc-and-solmetex-llc/" TargetMode="External"/><Relationship Id="rId74" Type="http://schemas.openxmlformats.org/officeDocument/2006/relationships/hyperlink" Target="https://www.benchmarkintl.com/insights/benchmark-international-successfully-facilitated-the-transaction-between-fosterbridge-inc-and-amvie/" TargetMode="External"/><Relationship Id="rId75" Type="http://schemas.openxmlformats.org/officeDocument/2006/relationships/hyperlink" Target="https://www.benchmarkintl.com/insights/benchmark-international-successfully-facilitated-the-transaction-between-medical-temps-inc-and-health-advocates-network/" TargetMode="External"/><Relationship Id="rId76" Type="http://schemas.openxmlformats.org/officeDocument/2006/relationships/hyperlink" Target="https://www.benchmarkintl.com/insights/completed-transactions/benchmark-international-successfully-facilitated-the-transaction-between-the-brooks-group-and-private-investors/" TargetMode="External"/><Relationship Id="rId77" Type="http://schemas.openxmlformats.org/officeDocument/2006/relationships/hyperlink" Target="https://www.ibba.org/wp-content/uploads/2026/08/mp-highlights-q2-2026.pdf" TargetMode="External"/><Relationship Id="rId78" Type="http://schemas.openxmlformats.org/officeDocument/2006/relationships/hyperlink" Target="https://stockanalysis.com/" TargetMode="External"/><Relationship Id="rId79" Type="http://schemas.openxmlformats.org/officeDocument/2006/relationships/hyperlink" Target="https://www.sec.gov/Archives/edgar/data/0001125376/000112537626000036/q22026pressrelease.htm" TargetMode="External"/><Relationship Id="rId80" Type="http://schemas.openxmlformats.org/officeDocument/2006/relationships/hyperlink" Target="https://s2.q4cdn.com/390454341/files/doc_earnings/2026/q2/transcript/prepared-comments-for-website-Q2-2026-final.pdf" TargetMode="External"/><Relationship Id="rId81" Type="http://schemas.openxmlformats.org/officeDocument/2006/relationships/hyperlink" Target="https://stockanalysis.com/stocks/tmo/transcripts/653574-q2-2026/" TargetMode="External"/><Relationship Id="rId82" Type="http://schemas.openxmlformats.org/officeDocument/2006/relationships/hyperlink" Target="https://www.sec.gov/Archives/edgar/data/0000860730/000119312526315151/hca-ex99_1.htm" TargetMode="External"/><Relationship Id="rId83" Type="http://schemas.openxmlformats.org/officeDocument/2006/relationships/hyperlink" Target="https://www.sec.gov/Archives/edgar/data/0001478242/000162828026049923/iqv-q2x2026earningspressre.htm" TargetMode="External"/><Relationship Id="rId84" Type="http://schemas.openxmlformats.org/officeDocument/2006/relationships/hyperlink" Target="https://www.sec.gov/Archives/edgar/data/0000885978/000088597826000042/ex99-1.htm" TargetMode="External"/><Relationship Id="rId85" Type="http://schemas.openxmlformats.org/officeDocument/2006/relationships/hyperlink" Target="https://stockanalysis.com/stocks/adus/transcripts/660727-q2-2026/" TargetMode="External"/><Relationship Id="rId86" Type="http://schemas.openxmlformats.org/officeDocument/2006/relationships/hyperlink" Target="https://www.mckesson.com/about-us/newsroom/press-releases/2026/mckesson-reports-fiscal-2027-first-quarter-results-and-raises-full-year-adjusted-eps-guidance/" TargetMode="External"/><Relationship Id="rId87" Type="http://schemas.openxmlformats.org/officeDocument/2006/relationships/hyperlink" Target="https://stockanalysis.com/stocks/ste/transcripts/666655-q1-2027/" TargetMode="External"/><Relationship Id="rId88" Type="http://schemas.openxmlformats.org/officeDocument/2006/relationships/hyperlink" Target="https://www.sec.gov/Archives/edgar/data/0000070318/000007031826000032/thc-20260630ex991earningsr.htm" TargetMode="External"/><Relationship Id="rId89" Type="http://schemas.openxmlformats.org/officeDocument/2006/relationships/hyperlink" Target="https://s206.q4cdn.com/399858780/files/doc_financials/2026/q2/HSIC-USQ_Transcript_2026-08-04.pdf" TargetMode="External"/><Relationship Id="rId90" Type="http://schemas.openxmlformats.org/officeDocument/2006/relationships/hyperlink" Target="https://s201.q4cdn.com/566741227/files/doc_financials/2026/q4/Q4-FY26-CAH-Earnings-Transcript.pdf" TargetMode="External"/><Relationship Id="rId91" Type="http://schemas.openxmlformats.org/officeDocument/2006/relationships/hyperlink" Target="https://www.sec.gov/Archives/edgar/data/0000920148/000092014826000162/form8-kexhibit9912q26.htm" TargetMode="External"/><Relationship Id="rId92" Type="http://schemas.openxmlformats.org/officeDocument/2006/relationships/hyperlink" Target="https://stockanalysis.com/stocks/amn/transcripts/662833-q2-2026/" TargetMode="External"/><Relationship Id="rId93" Type="http://schemas.openxmlformats.org/officeDocument/2006/relationships/hyperlink" Target="https://www.sec.gov/Archives/edgar/data/1014739/000101473926000021/exhibit991-q22026.htm" TargetMode="External"/><Relationship Id="rId9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A surgeon at work in an operating room"/>
          <p:cNvPicPr>
            <a:picLocks noChangeAspect="1"/>
          </p:cNvPicPr>
          <p:nvPr/>
        </p:nvPicPr>
        <p:blipFill>
          <a:blip r:embed="rId2"/>
          <a:srcRect l="21575" r="50341"/>
          <a:stretch>
            <a:fillRect/>
          </a:stretch>
        </p:blipFill>
        <p:spPr>
          <a:xfrm>
            <a:off x="0" y="0"/>
            <a:ext cx="4191000" cy="7772400"/>
          </a:xfrm>
          <a:prstGeom prst="rect">
            <a:avLst/>
          </a:prstGeom>
        </p:spPr>
      </p:pic>
      <p:sp>
        <p:nvSpPr>
          <p:cNvPr id="3" name="Rectangle 2"/>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Rectangle 3"/>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4" descr="knot-dark.jpg"/>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Rectangle 5"/>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 PROVIDER SERVICES · LIFE SCIENCES "/>
          <p:cNvSpPr txBox="1"/>
          <p:nvPr/>
        </p:nvSpPr>
        <p:spPr>
          <a:xfrm>
            <a:off x="419100" y="6867525"/>
            <a:ext cx="4054316" cy="485775"/>
          </a:xfrm>
          <a:prstGeom prst="rect">
            <a:avLst/>
          </a:prstGeom>
          <a:noFill/>
        </p:spPr>
        <p:txBody>
          <a:bodyPr wrap="square" lIns="0" tIns="0" rIns="0" bIns="0" anchor="t">
            <a:spAutoFit/>
          </a:bodyPr>
          <a:lstStyle/>
          <a:p>
            <a:pPr algn="l">
              <a:lnSpc>
                <a:spcPts val="1275"/>
              </a:lnSpc>
            </a:pPr>
            <a:r>
              <a:rPr sz="675" b="1" i="0" spc="165">
                <a:solidFill>
                  <a:srgbClr val="FFFFFF"/>
                </a:solidFill>
                <a:latin typeface="Calibri"/>
              </a:rPr>
              <a:t>PROVIDER SERVICES · LIFE SCIENCES &amp; DIAGNOSTICS</a:t>
            </a:r>
            <a:br/>
            <a:r>
              <a:rPr sz="675" b="1" i="0" spc="165">
                <a:solidFill>
                  <a:srgbClr val="FFFFFF"/>
                </a:solidFill>
                <a:latin typeface="Calibri"/>
              </a:rPr>
              <a:t>MEDICAL PRODUCTS &amp; DISTRIBUTION</a:t>
            </a:r>
            <a:br/>
            <a:r>
              <a:rPr sz="675" b="1" i="0" spc="165">
                <a:solidFill>
                  <a:srgbClr val="FFFFFF"/>
                </a:solidFill>
                <a:latin typeface="Calibri"/>
              </a:rPr>
              <a:t>PHARMACY &amp; HEALTHCARE SERVICES</a:t>
            </a:r>
          </a:p>
        </p:txBody>
      </p:sp>
      <p:pic>
        <p:nvPicPr>
          <p:cNvPr id="8" name="Picture 7" descr="Benchmark International"/>
          <p:cNvPicPr>
            <a:picLocks noChangeAspect="1"/>
          </p:cNvPicPr>
          <p:nvPr/>
        </p:nvPicPr>
        <p:blipFill>
          <a:blip r:embed="rId4"/>
          <a:srcRect/>
          <a:stretch>
            <a:fillRect/>
          </a:stretch>
        </p:blipFill>
        <p:spPr>
          <a:xfrm>
            <a:off x="4724400" y="571500"/>
            <a:ext cx="2438400" cy="457200"/>
          </a:xfrm>
          <a:prstGeom prst="rect">
            <a:avLst/>
          </a:prstGeom>
        </p:spPr>
      </p:pic>
      <p:sp>
        <p:nvSpPr>
          <p:cNvPr id="9" name="Text: BENCHMARK CAPITAL MARKETS"/>
          <p:cNvSpPr txBox="1"/>
          <p:nvPr/>
        </p:nvSpPr>
        <p:spPr>
          <a:xfrm>
            <a:off x="4724400" y="1123950"/>
            <a:ext cx="2030164" cy="133350"/>
          </a:xfrm>
          <a:prstGeom prst="rect">
            <a:avLst/>
          </a:prstGeom>
          <a:noFill/>
        </p:spPr>
        <p:txBody>
          <a:bodyPr wrap="square" lIns="0" tIns="0" rIns="0" bIns="0" anchor="t">
            <a:spAutoFit/>
          </a:bodyPr>
          <a:lstStyle/>
          <a:p>
            <a:pPr algn="l">
              <a:lnSpc>
                <a:spcPts val="1050"/>
              </a:lnSpc>
            </a:pPr>
            <a:r>
              <a:rPr sz="712" b="1" i="0" spc="255">
                <a:solidFill>
                  <a:srgbClr val="D3AE84"/>
                </a:solidFill>
                <a:latin typeface="Calibri"/>
              </a:rPr>
              <a:t>MIDDLE MARKET</a:t>
            </a:r>
          </a:p>
        </p:txBody>
      </p:sp>
      <p:sp>
        <p:nvSpPr>
          <p:cNvPr id="10" name="Text: QUARTERLY SECTOR BRIEF | Q4 2026"/>
          <p:cNvSpPr txBox="1"/>
          <p:nvPr/>
        </p:nvSpPr>
        <p:spPr>
          <a:xfrm>
            <a:off x="4724400" y="2247900"/>
            <a:ext cx="4929188" cy="152400"/>
          </a:xfrm>
          <a:prstGeom prst="rect">
            <a:avLst/>
          </a:prstGeom>
          <a:noFill/>
        </p:spPr>
        <p:txBody>
          <a:bodyPr wrap="square" lIns="0" tIns="0" rIns="0" bIns="0" anchor="t">
            <a:spAutoFit/>
          </a:bodyPr>
          <a:lstStyle/>
          <a:p>
            <a:pPr algn="l">
              <a:lnSpc>
                <a:spcPts val="1200"/>
              </a:lnSpc>
            </a:pPr>
            <a:r>
              <a:rPr sz="788" b="1" i="0" spc="225">
                <a:solidFill>
                  <a:srgbClr val="D3AE84"/>
                </a:solidFill>
                <a:latin typeface="Calibri"/>
              </a:rPr>
              <a:t>QUARTERLY SECTOR BRIEF | Q4 2026</a:t>
            </a:r>
          </a:p>
        </p:txBody>
      </p:sp>
      <p:sp>
        <p:nvSpPr>
          <p:cNvPr id="11" name="Text: HEALTHCARE"/>
          <p:cNvSpPr txBox="1"/>
          <p:nvPr/>
        </p:nvSpPr>
        <p:spPr>
          <a:xfrm>
            <a:off x="4724400" y="2514600"/>
            <a:ext cx="5479256"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Rectangle 11"/>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 Mergers and acquisitions across pr"/>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 WHAT'S INCLUDED"/>
          <p:cNvSpPr txBox="1"/>
          <p:nvPr/>
        </p:nvSpPr>
        <p:spPr>
          <a:xfrm>
            <a:off x="4724400" y="4953000"/>
            <a:ext cx="4929188" cy="133350"/>
          </a:xfrm>
          <a:prstGeom prst="rect">
            <a:avLst/>
          </a:prstGeom>
          <a:noFill/>
        </p:spPr>
        <p:txBody>
          <a:bodyPr wrap="square" lIns="0" tIns="0" rIns="0" bIns="0" anchor="t">
            <a:spAutoFit/>
          </a:bodyPr>
          <a:lstStyle/>
          <a:p>
            <a:pPr algn="l">
              <a:lnSpc>
                <a:spcPts val="1050"/>
              </a:lnSpc>
            </a:pPr>
            <a:r>
              <a:rPr sz="712" b="1" i="0" spc="225">
                <a:solidFill>
                  <a:srgbClr val="D3AE84"/>
                </a:solidFill>
                <a:latin typeface="Calibri"/>
              </a:rPr>
              <a:t>WHAT'S INCLUDED</a:t>
            </a:r>
          </a:p>
        </p:txBody>
      </p:sp>
      <p:sp>
        <p:nvSpPr>
          <p:cNvPr id="15" name="Rectangle 14"/>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 01"/>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 INSIGHTS"/>
          <p:cNvSpPr txBox="1"/>
          <p:nvPr/>
        </p:nvSpPr>
        <p:spPr>
          <a:xfrm>
            <a:off x="5162550" y="536257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INSIGHTS</a:t>
            </a:r>
          </a:p>
        </p:txBody>
      </p:sp>
      <p:sp>
        <p:nvSpPr>
          <p:cNvPr id="18" name="Text: The state of play, market context,"/>
          <p:cNvSpPr txBox="1"/>
          <p:nvPr/>
        </p:nvSpPr>
        <p:spPr>
          <a:xfrm>
            <a:off x="6610350" y="5362575"/>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state of play, market context, perspectives on four focus areas and what we are reading</a:t>
            </a:r>
          </a:p>
        </p:txBody>
      </p:sp>
      <p:sp>
        <p:nvSpPr>
          <p:cNvPr id="19" name="Rectangle 18"/>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 02"/>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 SECTOR ACTIVITY"/>
          <p:cNvSpPr txBox="1"/>
          <p:nvPr/>
        </p:nvSpPr>
        <p:spPr>
          <a:xfrm>
            <a:off x="5162550" y="6000750"/>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SECTOR ACTIVITY</a:t>
            </a:r>
          </a:p>
        </p:txBody>
      </p:sp>
      <p:sp>
        <p:nvSpPr>
          <p:cNvPr id="22" name="Text: The market landscape, recent trans"/>
          <p:cNvSpPr txBox="1"/>
          <p:nvPr/>
        </p:nvSpPr>
        <p:spPr>
          <a:xfrm>
            <a:off x="6610350" y="6000750"/>
            <a:ext cx="3043238" cy="34290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market landscape, recent transactions, listed-company valuation and performance, and earnings commentary</a:t>
            </a:r>
          </a:p>
        </p:txBody>
      </p:sp>
      <p:sp>
        <p:nvSpPr>
          <p:cNvPr id="23" name="Rectangle 22"/>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 0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 CONNECT WITH US"/>
          <p:cNvSpPr txBox="1"/>
          <p:nvPr/>
        </p:nvSpPr>
        <p:spPr>
          <a:xfrm>
            <a:off x="5162550" y="6638925"/>
            <a:ext cx="1328738" cy="171450"/>
          </a:xfrm>
          <a:prstGeom prst="rect">
            <a:avLst/>
          </a:prstGeom>
          <a:noFill/>
        </p:spPr>
        <p:txBody>
          <a:bodyPr wrap="square" lIns="0" tIns="0" rIns="0" bIns="0" anchor="t">
            <a:spAutoFit/>
          </a:bodyPr>
          <a:lstStyle/>
          <a:p>
            <a:pPr algn="l">
              <a:lnSpc>
                <a:spcPts val="1350"/>
              </a:lnSpc>
            </a:pPr>
            <a:r>
              <a:rPr sz="900" b="1" i="0" spc="135">
                <a:solidFill>
                  <a:srgbClr val="FFFFFF"/>
                </a:solidFill>
                <a:latin typeface="Calibri"/>
              </a:rPr>
              <a:t>CONNECT WITH US</a:t>
            </a:r>
          </a:p>
        </p:txBody>
      </p:sp>
      <p:sp>
        <p:nvSpPr>
          <p:cNvPr id="26" name="Text: The BCM team and Benchmark Interna"/>
          <p:cNvSpPr txBox="1"/>
          <p:nvPr/>
        </p:nvSpPr>
        <p:spPr>
          <a:xfrm>
            <a:off x="6610350" y="6638925"/>
            <a:ext cx="3043238" cy="171450"/>
          </a:xfrm>
          <a:prstGeom prst="rect">
            <a:avLst/>
          </a:prstGeom>
          <a:noFill/>
        </p:spPr>
        <p:txBody>
          <a:bodyPr wrap="square" lIns="0" tIns="0" rIns="0" bIns="0" anchor="t">
            <a:spAutoFit/>
          </a:bodyPr>
          <a:lstStyle/>
          <a:p>
            <a:pPr algn="l">
              <a:lnSpc>
                <a:spcPts val="1350"/>
              </a:lnSpc>
            </a:pPr>
            <a:r>
              <a:rPr sz="900" b="0" i="0" spc="15">
                <a:solidFill>
                  <a:srgbClr val="C3BDB6"/>
                </a:solidFill>
                <a:latin typeface="Calibri"/>
              </a:rPr>
              <a:t>The Middle Market team and Benchmark International</a:t>
            </a:r>
          </a:p>
        </p:txBody>
      </p:sp>
      <p:sp>
        <p:nvSpPr>
          <p:cNvPr id="27" name="Rectangle 26"/>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 OCTOBER 2026 | JARED HARDIN, MANAG"/>
          <p:cNvSpPr txBox="1"/>
          <p:nvPr/>
        </p:nvSpPr>
        <p:spPr>
          <a:xfrm>
            <a:off x="4724400" y="7219950"/>
            <a:ext cx="4929188" cy="133350"/>
          </a:xfrm>
          <a:prstGeom prst="rect">
            <a:avLst/>
          </a:prstGeom>
          <a:noFill/>
        </p:spPr>
        <p:txBody>
          <a:bodyPr wrap="square" lIns="0" tIns="0" rIns="0" bIns="0" anchor="t">
            <a:spAutoFit/>
          </a:bodyPr>
          <a:lstStyle/>
          <a:p>
            <a:pPr algn="l">
              <a:lnSpc>
                <a:spcPts val="1050"/>
              </a:lnSpc>
            </a:pPr>
            <a:r>
              <a:rPr sz="712"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Laboratory scientists at work"/>
          <p:cNvPicPr>
            <a:picLocks noChangeAspect="1"/>
          </p:cNvPicPr>
          <p:nvPr/>
        </p:nvPicPr>
        <p:blipFill>
          <a:blip r:embed="rId3"/>
          <a:srcRect l="23529" r="23529"/>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 Insight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pic>
        <p:nvPicPr>
          <p:cNvPr id="26" name="Picture 25"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7"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
        <p:nvSpPr>
          <p:cNvPr id="28" name="TextBox 27"/>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Calibri"/>
              </a:rPr>
              <a:t>KEY INSIGHTS</a:t>
            </a:r>
          </a:p>
          <a:p>
            <a:pPr>
              <a:spcBef>
                <a:spcPts val="600"/>
              </a:spcBef>
            </a:pPr>
            <a:r>
              <a:rPr sz="850" b="1">
                <a:solidFill>
                  <a:srgbClr val="C99A6A"/>
                </a:solidFill>
                <a:latin typeface="Calibri"/>
              </a:rPr>
              <a:t>01  </a:t>
            </a:r>
            <a:r>
              <a:rPr sz="850" b="1">
                <a:solidFill>
                  <a:srgbClr val="FFFFFF"/>
                </a:solidFill>
                <a:latin typeface="Calibri"/>
              </a:rPr>
              <a:t>Strategic buyers are setting the pace</a:t>
            </a:r>
          </a:p>
          <a:p>
            <a:pPr>
              <a:lnSpc>
                <a:spcPct val="120000"/>
              </a:lnSpc>
            </a:pPr>
            <a:r>
              <a:rPr sz="800" b="0">
                <a:solidFill>
                  <a:srgbClr val="D9D2C9"/>
                </a:solidFill>
                <a:latin typeface="Calibri"/>
              </a:rPr>
              <a:t>Private equity is on pace for 674 healthcare services transactions, the slowest since 2017, while medtech deal value reached $36.5 billion in the first half, so strategic acquirers belong on every buyer list.</a:t>
            </a:r>
          </a:p>
          <a:p>
            <a:pPr>
              <a:spcBef>
                <a:spcPts val="600"/>
              </a:spcBef>
            </a:pPr>
            <a:r>
              <a:rPr sz="850" b="1">
                <a:solidFill>
                  <a:srgbClr val="C99A6A"/>
                </a:solidFill>
                <a:latin typeface="Calibri"/>
              </a:rPr>
              <a:t>02  </a:t>
            </a:r>
            <a:r>
              <a:rPr sz="850" b="1">
                <a:solidFill>
                  <a:srgbClr val="FFFFFF"/>
                </a:solidFill>
                <a:latin typeface="Calibri"/>
              </a:rPr>
              <a:t>Higher borrowing costs make buyers more selective</a:t>
            </a:r>
          </a:p>
          <a:p>
            <a:pPr>
              <a:lnSpc>
                <a:spcPct val="120000"/>
              </a:lnSpc>
            </a:pPr>
            <a:r>
              <a:rPr sz="800" b="0">
                <a:solidFill>
                  <a:srgbClr val="D9D2C9"/>
                </a:solidFill>
                <a:latin typeface="Calibri"/>
              </a:rPr>
              <a:t>Direct lenders widened buyout loan spreads to an average of 509 basis points in the second quarter from 474, which makes buyers more selective and rewards owners who present clean, defensible earnings.</a:t>
            </a:r>
          </a:p>
          <a:p>
            <a:pPr>
              <a:spcBef>
                <a:spcPts val="600"/>
              </a:spcBef>
            </a:pPr>
            <a:r>
              <a:rPr sz="850" b="1">
                <a:solidFill>
                  <a:srgbClr val="C99A6A"/>
                </a:solidFill>
                <a:latin typeface="Calibri"/>
              </a:rPr>
              <a:t>03  </a:t>
            </a:r>
            <a:r>
              <a:rPr sz="850" b="1">
                <a:solidFill>
                  <a:srgbClr val="FFFFFF"/>
                </a:solidFill>
                <a:latin typeface="Calibri"/>
              </a:rPr>
              <a:t>Buyers pay most for recurring revenue</a:t>
            </a:r>
          </a:p>
          <a:p>
            <a:pPr>
              <a:lnSpc>
                <a:spcPct val="120000"/>
              </a:lnSpc>
            </a:pPr>
            <a:r>
              <a:rPr sz="800" b="0">
                <a:solidFill>
                  <a:srgbClr val="D9D2C9"/>
                </a:solidFill>
                <a:latin typeface="Calibri"/>
              </a:rPr>
              <a:t>With a median private equity entry multiple of 13.6x EBITDA for healthcare services in 2025, the strongest prices go to revenue that recurs under contract or clinical necessity from a balanced payer mix.</a:t>
            </a:r>
          </a:p>
          <a:p>
            <a:pPr>
              <a:spcBef>
                <a:spcPts val="600"/>
              </a:spcBef>
            </a:pPr>
            <a:r>
              <a:rPr sz="850" b="1">
                <a:solidFill>
                  <a:srgbClr val="C99A6A"/>
                </a:solidFill>
                <a:latin typeface="Calibri"/>
              </a:rPr>
              <a:t>04  </a:t>
            </a:r>
            <a:r>
              <a:rPr sz="850" b="1">
                <a:solidFill>
                  <a:srgbClr val="FFFFFF"/>
                </a:solidFill>
                <a:latin typeface="Calibri"/>
              </a:rPr>
              <a:t>Prepare early for reimbursement and notice rules</a:t>
            </a:r>
          </a:p>
          <a:p>
            <a:pPr>
              <a:lnSpc>
                <a:spcPct val="120000"/>
              </a:lnSpc>
            </a:pPr>
            <a:r>
              <a:rPr sz="800" b="0">
                <a:solidFill>
                  <a:srgbClr val="D9D2C9"/>
                </a:solidFill>
                <a:latin typeface="Calibri"/>
              </a:rPr>
              <a:t>Medicare proposes physician conversion factor cuts of up to 1.68% for 2027 and Maine's 180-day notice and approval regime begins January 1, 2027, so owners should model rates and allow time for review.</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mp;A: State of Pla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 Strategic buyers are setting the 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Strategic buyers are setting the pace in 2026 while private equity completes fewer healthcare services transactions.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Oval 9"/>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0" descr="v769a711e4ef1.png"/>
          <p:cNvPicPr>
            <a:picLocks noChangeAspect="1"/>
          </p:cNvPicPr>
          <p:nvPr/>
        </p:nvPicPr>
        <p:blipFill>
          <a:blip r:embed="rId2"/>
          <a:stretch>
            <a:fillRect/>
          </a:stretch>
        </p:blipFill>
        <p:spPr>
          <a:xfrm>
            <a:off x="657225" y="1457325"/>
            <a:ext cx="247650" cy="247650"/>
          </a:xfrm>
          <a:prstGeom prst="rect">
            <a:avLst/>
          </a:prstGeom>
        </p:spPr>
      </p:pic>
      <p:sp>
        <p:nvSpPr>
          <p:cNvPr id="12" name="Text: M&amp;A market dynamics"/>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dynamics</a:t>
            </a:r>
          </a:p>
        </p:txBody>
      </p:sp>
      <p:sp>
        <p:nvSpPr>
          <p:cNvPr id="13" name="Rectangle 12"/>
          <p:cNvSpPr/>
          <p:nvPr/>
        </p:nvSpPr>
        <p:spPr>
          <a:xfrm>
            <a:off x="590550" y="1905000"/>
            <a:ext cx="47625" cy="47625"/>
          </a:xfrm>
          <a:prstGeom prst="rect">
            <a:avLst/>
          </a:prstGeom>
          <a:solidFill>
            <a:srgbClr val="B68757"/>
          </a:solidFill>
          <a:ln>
            <a:noFill/>
          </a:ln>
          <a:effectLst/>
        </p:spPr>
        <p:txBody>
          <a:bodyPr rtlCol="0" anchor="ctr"/>
          <a:lstStyle/>
          <a:p>
            <a:pPr algn="ctr"/>
            <a:endParaRPr/>
          </a:p>
        </p:txBody>
      </p:sp>
      <p:sp>
        <p:nvSpPr>
          <p:cNvPr id="14" name="Text: Private equity completed an estima"/>
          <p:cNvSpPr txBox="1"/>
          <p:nvPr/>
        </p:nvSpPr>
        <p:spPr>
          <a:xfrm>
            <a:off x="7143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Private equity completed an estimated 337 healthcare services transactions in the first half, a pace of 674 for the year and the slowest since 2017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PitchBook via Fierce Healthcare</a:t>
            </a:r>
            <a:r>
              <a:rPr sz="861" b="0" i="0" spc="15">
                <a:solidFill>
                  <a:srgbClr val="333231"/>
                </a:solidFill>
                <a:latin typeface="Calibri"/>
              </a:rPr>
              <a:t>).</a:t>
            </a:r>
          </a:p>
        </p:txBody>
      </p:sp>
      <p:sp>
        <p:nvSpPr>
          <p:cNvPr id="15" name="Rectangle 14"/>
          <p:cNvSpPr/>
          <p:nvPr/>
        </p:nvSpPr>
        <p:spPr>
          <a:xfrm>
            <a:off x="590550" y="2657475"/>
            <a:ext cx="47625" cy="47625"/>
          </a:xfrm>
          <a:prstGeom prst="rect">
            <a:avLst/>
          </a:prstGeom>
          <a:solidFill>
            <a:srgbClr val="B68757"/>
          </a:solidFill>
          <a:ln>
            <a:noFill/>
          </a:ln>
          <a:effectLst/>
        </p:spPr>
        <p:txBody>
          <a:bodyPr rtlCol="0" anchor="ctr"/>
          <a:lstStyle/>
          <a:p>
            <a:pPr algn="ctr"/>
            <a:endParaRPr/>
          </a:p>
        </p:txBody>
      </p:sp>
      <p:sp>
        <p:nvSpPr>
          <p:cNvPr id="16" name="Text: Strategic buyers carried more of t"/>
          <p:cNvSpPr txBox="1"/>
          <p:nvPr/>
        </p:nvSpPr>
        <p:spPr>
          <a:xfrm>
            <a:off x="714375" y="2619375"/>
            <a:ext cx="2519362" cy="666750"/>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extLst>
                    <a:ext uri="{A12FA001-AC4F-418D-AE19-62706E023703}">
                      <ahyp:hlinkClr xmlns:ahyp="http://schemas.microsoft.com/office/drawing/2018/hyperlinkcolor" val="tx"/>
                    </a:ext>
                  </a:extLst>
                </a:hlinkClick>
              </a:rPr>
              <a:t>PwC via MedTech Dive</a:t>
            </a:r>
            <a:r>
              <a:rPr sz="861" b="0" i="0" spc="15" dirty="0">
                <a:solidFill>
                  <a:srgbClr val="333231"/>
                </a:solidFill>
                <a:latin typeface="Calibri"/>
              </a:rPr>
              <a:t>) and health systems announced 18 transactions in the second quarter (</a:t>
            </a:r>
            <a:r>
              <a:rPr sz="861" b="0" i="0" spc="15" dirty="0">
                <a:solidFill>
                  <a:srgbClr val="8C6239"/>
                </a:solidFill>
                <a:latin typeface="Calibri"/>
                <a:hlinkClick r:id="rId5">
                  <a:extLst>
                    <a:ext uri="{A12FA001-AC4F-418D-AE19-62706E023703}">
                      <ahyp:hlinkClr xmlns:ahyp="http://schemas.microsoft.com/office/drawing/2018/hyperlinkcolor" val="tx"/>
                    </a:ext>
                  </a:extLst>
                </a:hlinkClick>
              </a:rPr>
              <a:t>Kaufman Hall</a:t>
            </a:r>
            <a:r>
              <a:rPr sz="861" b="0" i="0" spc="15" dirty="0">
                <a:solidFill>
                  <a:srgbClr val="333231"/>
                </a:solidFill>
                <a:latin typeface="Calibri"/>
              </a:rPr>
              <a:t>).</a:t>
            </a:r>
          </a:p>
        </p:txBody>
      </p:sp>
      <p:sp>
        <p:nvSpPr>
          <p:cNvPr id="17" name="Rectangle 16"/>
          <p:cNvSpPr/>
          <p:nvPr/>
        </p:nvSpPr>
        <p:spPr>
          <a:xfrm>
            <a:off x="590550" y="3409950"/>
            <a:ext cx="47625" cy="47625"/>
          </a:xfrm>
          <a:prstGeom prst="rect">
            <a:avLst/>
          </a:prstGeom>
          <a:solidFill>
            <a:srgbClr val="B68757"/>
          </a:solidFill>
          <a:ln>
            <a:noFill/>
          </a:ln>
          <a:effectLst/>
        </p:spPr>
        <p:txBody>
          <a:bodyPr rtlCol="0" anchor="ctr"/>
          <a:lstStyle/>
          <a:p>
            <a:pPr algn="ctr"/>
            <a:endParaRPr/>
          </a:p>
        </p:txBody>
      </p:sp>
      <p:sp>
        <p:nvSpPr>
          <p:cNvPr id="18" name="Text: Biopharma deal value reached $130 "/>
          <p:cNvSpPr txBox="1"/>
          <p:nvPr/>
        </p:nvSpPr>
        <p:spPr>
          <a:xfrm>
            <a:off x="714375" y="33718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Biopharma deal value reached $130 billion in six months, almost matching the total for all of 2025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19" name="Rectangle 18"/>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Rectangle 19"/>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Oval 20"/>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1" descr="v74d6ff94dead.png"/>
          <p:cNvPicPr>
            <a:picLocks noChangeAspect="1"/>
          </p:cNvPicPr>
          <p:nvPr/>
        </p:nvPicPr>
        <p:blipFill>
          <a:blip r:embed="rId7"/>
          <a:stretch>
            <a:fillRect/>
          </a:stretch>
        </p:blipFill>
        <p:spPr>
          <a:xfrm>
            <a:off x="3781425" y="1457325"/>
            <a:ext cx="247650" cy="247650"/>
          </a:xfrm>
          <a:prstGeom prst="rect">
            <a:avLst/>
          </a:prstGeom>
        </p:spPr>
      </p:pic>
      <p:sp>
        <p:nvSpPr>
          <p:cNvPr id="23" name="Text: Reimbursement and policy"/>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Rectangle 23"/>
          <p:cNvSpPr/>
          <p:nvPr/>
        </p:nvSpPr>
        <p:spPr>
          <a:xfrm>
            <a:off x="3714750" y="1905000"/>
            <a:ext cx="47625" cy="47625"/>
          </a:xfrm>
          <a:prstGeom prst="rect">
            <a:avLst/>
          </a:prstGeom>
          <a:solidFill>
            <a:srgbClr val="B68757"/>
          </a:solidFill>
          <a:ln>
            <a:noFill/>
          </a:ln>
          <a:effectLst/>
        </p:spPr>
        <p:txBody>
          <a:bodyPr rtlCol="0" anchor="ctr"/>
          <a:lstStyle/>
          <a:p>
            <a:pPr algn="ctr"/>
            <a:endParaRPr/>
          </a:p>
        </p:txBody>
      </p:sp>
      <p:sp>
        <p:nvSpPr>
          <p:cNvPr id="25" name="Text: Medicare has proposed 2027 physici"/>
          <p:cNvSpPr txBox="1"/>
          <p:nvPr/>
        </p:nvSpPr>
        <p:spPr>
          <a:xfrm>
            <a:off x="3838575" y="186690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Medicare has proposed 2027 physician conversion factors of $33.17 and $32.84, reductions of 1.19% and 1.68%, with the final rule pending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26" name="Rectangle 25"/>
          <p:cNvSpPr/>
          <p:nvPr/>
        </p:nvSpPr>
        <p:spPr>
          <a:xfrm>
            <a:off x="3714750" y="2490788"/>
            <a:ext cx="47625" cy="47625"/>
          </a:xfrm>
          <a:prstGeom prst="rect">
            <a:avLst/>
          </a:prstGeom>
          <a:solidFill>
            <a:srgbClr val="B68757"/>
          </a:solidFill>
          <a:ln>
            <a:noFill/>
          </a:ln>
          <a:effectLst/>
        </p:spPr>
        <p:txBody>
          <a:bodyPr rtlCol="0" anchor="ctr"/>
          <a:lstStyle/>
          <a:p>
            <a:pPr algn="ctr"/>
            <a:endParaRPr/>
          </a:p>
        </p:txBody>
      </p:sp>
      <p:sp>
        <p:nvSpPr>
          <p:cNvPr id="27" name="Text: Hospital outpatient, surgery cente"/>
          <p:cNvSpPr txBox="1"/>
          <p:nvPr/>
        </p:nvSpPr>
        <p:spPr>
          <a:xfrm>
            <a:off x="3838575" y="2452688"/>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each proposed to rise 2.4% (</a:t>
            </a:r>
            <a:r>
              <a:rPr sz="861" b="0" i="0" spc="15">
                <a:solidFill>
                  <a:srgbClr val="8C6239"/>
                </a:solidFill>
                <a:latin typeface="Calibri"/>
                <a:hlinkClick r:id="rId9">
                  <a:extLst>
                    <a:ext uri="{A12FA001-AC4F-418D-AE19-62706E023703}">
                      <ahyp:hlinkClr xmlns:ahyp="http://schemas.microsoft.com/office/drawing/2018/hyperlinkcolor" val="tx"/>
                    </a:ext>
                  </a:extLst>
                </a:hlinkClick>
              </a:rPr>
              <a:t>CMS outpatient rule</a:t>
            </a:r>
            <a:r>
              <a:rPr sz="861" b="0" i="0" spc="15">
                <a:solidFill>
                  <a:srgbClr val="333231"/>
                </a:solidFill>
                <a:latin typeface="Calibri"/>
              </a:rPr>
              <a:t>; </a:t>
            </a:r>
            <a:r>
              <a:rPr sz="861" b="0" i="0" spc="15">
                <a:solidFill>
                  <a:srgbClr val="8C6239"/>
                </a:solidFill>
                <a:latin typeface="Calibri"/>
                <a:hlinkClick r:id="rId10">
                  <a:extLst>
                    <a:ext uri="{A12FA001-AC4F-418D-AE19-62706E023703}">
                      <ahyp:hlinkClr xmlns:ahyp="http://schemas.microsoft.com/office/drawing/2018/hyperlinkcolor" val="tx"/>
                    </a:ext>
                  </a:extLst>
                </a:hlinkClick>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CMS rate notice</a:t>
            </a:r>
            <a:r>
              <a:rPr sz="861" b="0" i="0" spc="15">
                <a:solidFill>
                  <a:srgbClr val="333231"/>
                </a:solidFill>
                <a:latin typeface="Calibri"/>
              </a:rPr>
              <a:t>).</a:t>
            </a:r>
          </a:p>
        </p:txBody>
      </p:sp>
      <p:sp>
        <p:nvSpPr>
          <p:cNvPr id="28" name="Rectangle 27"/>
          <p:cNvSpPr/>
          <p:nvPr/>
        </p:nvSpPr>
        <p:spPr>
          <a:xfrm>
            <a:off x="3714750" y="3243262"/>
            <a:ext cx="47625" cy="47625"/>
          </a:xfrm>
          <a:prstGeom prst="rect">
            <a:avLst/>
          </a:prstGeom>
          <a:solidFill>
            <a:srgbClr val="B68757"/>
          </a:solidFill>
          <a:ln>
            <a:noFill/>
          </a:ln>
          <a:effectLst/>
        </p:spPr>
        <p:txBody>
          <a:bodyPr rtlCol="0" anchor="ctr"/>
          <a:lstStyle/>
          <a:p>
            <a:pPr algn="ctr"/>
            <a:endParaRPr/>
          </a:p>
        </p:txBody>
      </p:sp>
      <p:sp>
        <p:nvSpPr>
          <p:cNvPr id="29" name="Text: Medicaid work requirements and six"/>
          <p:cNvSpPr txBox="1"/>
          <p:nvPr/>
        </p:nvSpPr>
        <p:spPr>
          <a:xfrm>
            <a:off x="38385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Medicaid work requirements and six-month eligibility reviews for expansion adults begin in 2027 (</a:t>
            </a:r>
            <a:r>
              <a:rPr sz="861" b="0" i="0" spc="15">
                <a:solidFill>
                  <a:srgbClr val="8C6239"/>
                </a:solidFill>
                <a:latin typeface="Calibri"/>
                <a:hlinkClick r:id="rId12">
                  <a:extLst>
                    <a:ext uri="{A12FA001-AC4F-418D-AE19-62706E023703}">
                      <ahyp:hlinkClr xmlns:ahyp="http://schemas.microsoft.com/office/drawing/2018/hyperlinkcolor" val="tx"/>
                    </a:ext>
                  </a:extLst>
                </a:hlinkClick>
              </a:rPr>
              <a:t>Medicaid.gov</a:t>
            </a:r>
            <a:r>
              <a:rPr sz="861" b="0" i="0" spc="15">
                <a:solidFill>
                  <a:srgbClr val="333231"/>
                </a:solidFill>
                <a:latin typeface="Calibri"/>
              </a:rPr>
              <a:t>).</a:t>
            </a:r>
          </a:p>
        </p:txBody>
      </p:sp>
      <p:sp>
        <p:nvSpPr>
          <p:cNvPr id="30" name="Rectangle 29"/>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Oval 31"/>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2" descr="v757cc04a4224.png"/>
          <p:cNvPicPr>
            <a:picLocks noChangeAspect="1"/>
          </p:cNvPicPr>
          <p:nvPr/>
        </p:nvPicPr>
        <p:blipFill>
          <a:blip r:embed="rId13"/>
          <a:stretch>
            <a:fillRect/>
          </a:stretch>
        </p:blipFill>
        <p:spPr>
          <a:xfrm>
            <a:off x="6905625" y="1457325"/>
            <a:ext cx="247650" cy="247650"/>
          </a:xfrm>
          <a:prstGeom prst="rect">
            <a:avLst/>
          </a:prstGeom>
        </p:spPr>
      </p:pic>
      <p:sp>
        <p:nvSpPr>
          <p:cNvPr id="34" name="Text: Financing and macro backdrop"/>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Rectangle 34"/>
          <p:cNvSpPr/>
          <p:nvPr/>
        </p:nvSpPr>
        <p:spPr>
          <a:xfrm>
            <a:off x="6838950" y="1905000"/>
            <a:ext cx="47625" cy="47625"/>
          </a:xfrm>
          <a:prstGeom prst="rect">
            <a:avLst/>
          </a:prstGeom>
          <a:solidFill>
            <a:srgbClr val="B68757"/>
          </a:solidFill>
          <a:ln>
            <a:noFill/>
          </a:ln>
          <a:effectLst/>
        </p:spPr>
        <p:txBody>
          <a:bodyPr rtlCol="0" anchor="ctr"/>
          <a:lstStyle/>
          <a:p>
            <a:pPr algn="ctr"/>
            <a:endParaRPr/>
          </a:p>
        </p:txBody>
      </p:sp>
      <p:sp>
        <p:nvSpPr>
          <p:cNvPr id="36" name="Text: The Federal Reserve raised its tar"/>
          <p:cNvSpPr txBox="1"/>
          <p:nvPr/>
        </p:nvSpPr>
        <p:spPr>
          <a:xfrm>
            <a:off x="6962775" y="1866900"/>
            <a:ext cx="2519362" cy="666750"/>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The Federal Reserve raised its target range to 3.75% to 4.00% on September 16 (</a:t>
            </a:r>
            <a:r>
              <a:rPr sz="861" b="0" i="0" spc="15">
                <a:solidFill>
                  <a:srgbClr val="8C6239"/>
                </a:solidFill>
                <a:latin typeface="Calibri"/>
                <a:hlinkClick r:id="rId14">
                  <a:extLst>
                    <a:ext uri="{A12FA001-AC4F-418D-AE19-62706E023703}">
                      <ahyp:hlinkClr xmlns:ahyp="http://schemas.microsoft.com/office/drawing/2018/hyperlinkcolor" val="tx"/>
                    </a:ext>
                  </a:extLst>
                </a:hlinkClick>
              </a:rPr>
              <a:t>Federal Reserve</a:t>
            </a:r>
            <a:r>
              <a:rPr sz="861" b="0" i="0" spc="15">
                <a:solidFill>
                  <a:srgbClr val="333231"/>
                </a:solidFill>
                <a:latin typeface="Calibri"/>
              </a:rPr>
              <a:t>) and the 10-year Treasury yielded 5.24% on October 1 (</a:t>
            </a:r>
            <a:r>
              <a:rPr sz="861" b="0" i="0" spc="15">
                <a:solidFill>
                  <a:srgbClr val="8C6239"/>
                </a:solidFill>
                <a:latin typeface="Calibri"/>
                <a:hlinkClick r:id="rId15">
                  <a:extLst>
                    <a:ext uri="{A12FA001-AC4F-418D-AE19-62706E023703}">
                      <ahyp:hlinkClr xmlns:ahyp="http://schemas.microsoft.com/office/drawing/2018/hyperlinkcolor" val="tx"/>
                    </a:ext>
                  </a:extLst>
                </a:hlinkClick>
              </a:rPr>
              <a:t>US Treasury</a:t>
            </a:r>
            <a:r>
              <a:rPr sz="861" b="0" i="0" spc="15">
                <a:solidFill>
                  <a:srgbClr val="333231"/>
                </a:solidFill>
                <a:latin typeface="Calibri"/>
              </a:rPr>
              <a:t>).</a:t>
            </a:r>
          </a:p>
        </p:txBody>
      </p:sp>
      <p:sp>
        <p:nvSpPr>
          <p:cNvPr id="37" name="Rectangle 36"/>
          <p:cNvSpPr/>
          <p:nvPr/>
        </p:nvSpPr>
        <p:spPr>
          <a:xfrm>
            <a:off x="6838950" y="2657475"/>
            <a:ext cx="47625" cy="47625"/>
          </a:xfrm>
          <a:prstGeom prst="rect">
            <a:avLst/>
          </a:prstGeom>
          <a:solidFill>
            <a:srgbClr val="B68757"/>
          </a:solidFill>
          <a:ln>
            <a:noFill/>
          </a:ln>
          <a:effectLst/>
        </p:spPr>
        <p:txBody>
          <a:bodyPr rtlCol="0" anchor="ctr"/>
          <a:lstStyle/>
          <a:p>
            <a:pPr algn="ctr"/>
            <a:endParaRPr/>
          </a:p>
        </p:txBody>
      </p:sp>
      <p:sp>
        <p:nvSpPr>
          <p:cNvPr id="38" name="Text: Direct lenders widened buyout loan"/>
          <p:cNvSpPr txBox="1"/>
          <p:nvPr/>
        </p:nvSpPr>
        <p:spPr>
          <a:xfrm>
            <a:off x="6962775" y="2619375"/>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Direct lenders widened buyout loan spreads to an average of 509 basis points in the second quarter from 474 in the first (</a:t>
            </a:r>
            <a:r>
              <a:rPr sz="861" b="0" i="0" spc="15">
                <a:solidFill>
                  <a:srgbClr val="8C6239"/>
                </a:solidFill>
                <a:latin typeface="Calibri"/>
                <a:hlinkClick r:id="rId16">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39" name="Rectangle 38"/>
          <p:cNvSpPr/>
          <p:nvPr/>
        </p:nvSpPr>
        <p:spPr>
          <a:xfrm>
            <a:off x="6838950" y="3243262"/>
            <a:ext cx="47625" cy="47625"/>
          </a:xfrm>
          <a:prstGeom prst="rect">
            <a:avLst/>
          </a:prstGeom>
          <a:solidFill>
            <a:srgbClr val="B68757"/>
          </a:solidFill>
          <a:ln>
            <a:noFill/>
          </a:ln>
          <a:effectLst/>
        </p:spPr>
        <p:txBody>
          <a:bodyPr rtlCol="0" anchor="ctr"/>
          <a:lstStyle/>
          <a:p>
            <a:pPr algn="ctr"/>
            <a:endParaRPr/>
          </a:p>
        </p:txBody>
      </p:sp>
      <p:sp>
        <p:nvSpPr>
          <p:cNvPr id="40" name="Text: Completed middle-market transactio"/>
          <p:cNvSpPr txBox="1"/>
          <p:nvPr/>
        </p:nvSpPr>
        <p:spPr>
          <a:xfrm>
            <a:off x="6962775" y="3205162"/>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Completed middle-market transactions in all industries averaged 7.0x EBITDA, with senior debt priced at 7.8% (</a:t>
            </a:r>
            <a:r>
              <a:rPr sz="861"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861" b="0" i="0" spc="15">
                <a:solidFill>
                  <a:srgbClr val="333231"/>
                </a:solidFill>
                <a:latin typeface="Calibri"/>
              </a:rPr>
              <a:t>).</a:t>
            </a:r>
          </a:p>
        </p:txBody>
      </p:sp>
      <p:sp>
        <p:nvSpPr>
          <p:cNvPr id="41" name="Rectangle 40"/>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Rectangle 41"/>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Oval 42"/>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3" descr="vbcf48558bbf5.png"/>
          <p:cNvPicPr>
            <a:picLocks noChangeAspect="1"/>
          </p:cNvPicPr>
          <p:nvPr/>
        </p:nvPicPr>
        <p:blipFill>
          <a:blip r:embed="rId18"/>
          <a:stretch>
            <a:fillRect/>
          </a:stretch>
        </p:blipFill>
        <p:spPr>
          <a:xfrm>
            <a:off x="657225" y="4371975"/>
            <a:ext cx="247650" cy="247650"/>
          </a:xfrm>
          <a:prstGeom prst="rect">
            <a:avLst/>
          </a:prstGeom>
        </p:spPr>
      </p:pic>
      <p:sp>
        <p:nvSpPr>
          <p:cNvPr id="45" name="Text: Demand fundamentals"/>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Rectangle 45"/>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 National health spending grew 6.8%"/>
          <p:cNvSpPr txBox="1"/>
          <p:nvPr/>
        </p:nvSpPr>
        <p:spPr>
          <a:xfrm>
            <a:off x="714375" y="4781550"/>
            <a:ext cx="2519362" cy="33337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National health spending grew 6.8% in the year to July 2026 and represented 18.4% of GDP (</a:t>
            </a:r>
            <a:r>
              <a:rPr sz="861"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861" b="0" i="0" spc="15">
                <a:solidFill>
                  <a:srgbClr val="333231"/>
                </a:solidFill>
                <a:latin typeface="Calibri"/>
              </a:rPr>
              <a:t>).</a:t>
            </a:r>
          </a:p>
        </p:txBody>
      </p:sp>
      <p:sp>
        <p:nvSpPr>
          <p:cNvPr id="48" name="Rectangle 47"/>
          <p:cNvSpPr/>
          <p:nvPr/>
        </p:nvSpPr>
        <p:spPr>
          <a:xfrm>
            <a:off x="590550" y="5238750"/>
            <a:ext cx="47625" cy="47625"/>
          </a:xfrm>
          <a:prstGeom prst="rect">
            <a:avLst/>
          </a:prstGeom>
          <a:solidFill>
            <a:srgbClr val="B68757"/>
          </a:solidFill>
          <a:ln>
            <a:noFill/>
          </a:ln>
          <a:effectLst/>
        </p:spPr>
        <p:txBody>
          <a:bodyPr rtlCol="0" anchor="ctr"/>
          <a:lstStyle/>
          <a:p>
            <a:pPr algn="ctr"/>
            <a:endParaRPr/>
          </a:p>
        </p:txBody>
      </p:sp>
      <p:sp>
        <p:nvSpPr>
          <p:cNvPr id="49" name="Text: CMS projects nearly $9.0 trillion "/>
          <p:cNvSpPr txBox="1"/>
          <p:nvPr/>
        </p:nvSpPr>
        <p:spPr>
          <a:xfrm>
            <a:off x="714375" y="5200650"/>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CMS projects nearly $9.0 trillion of spending in 2034, or 20.6% of GDP, on average annual growth of 5.4% (</a:t>
            </a:r>
            <a:r>
              <a:rPr sz="861"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50" name="Rectangle 49"/>
          <p:cNvSpPr/>
          <p:nvPr/>
        </p:nvSpPr>
        <p:spPr>
          <a:xfrm>
            <a:off x="590550" y="5824538"/>
            <a:ext cx="47625" cy="47625"/>
          </a:xfrm>
          <a:prstGeom prst="rect">
            <a:avLst/>
          </a:prstGeom>
          <a:solidFill>
            <a:srgbClr val="B68757"/>
          </a:solidFill>
          <a:ln>
            <a:noFill/>
          </a:ln>
          <a:effectLst/>
        </p:spPr>
        <p:txBody>
          <a:bodyPr rtlCol="0" anchor="ctr"/>
          <a:lstStyle/>
          <a:p>
            <a:pPr algn="ctr"/>
            <a:endParaRPr/>
          </a:p>
        </p:txBody>
      </p:sp>
      <p:sp>
        <p:nvSpPr>
          <p:cNvPr id="51" name="Text: Healthcare employers added 17,000 "/>
          <p:cNvSpPr txBox="1"/>
          <p:nvPr/>
        </p:nvSpPr>
        <p:spPr>
          <a:xfrm>
            <a:off x="714375" y="5786438"/>
            <a:ext cx="2519362" cy="500062"/>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Healthcare employers added 17,000 jobs in September against a twelve-month average of 33,000 (</a:t>
            </a:r>
            <a:r>
              <a:rPr sz="861"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861" b="0" i="0" spc="15">
                <a:solidFill>
                  <a:srgbClr val="333231"/>
                </a:solidFill>
                <a:latin typeface="Calibri"/>
              </a:rPr>
              <a:t>).</a:t>
            </a:r>
          </a:p>
        </p:txBody>
      </p:sp>
      <p:sp>
        <p:nvSpPr>
          <p:cNvPr id="52" name="Rectangle 51"/>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Oval 53"/>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4" descr="vc5336cf5d96f.png"/>
          <p:cNvPicPr>
            <a:picLocks noChangeAspect="1"/>
          </p:cNvPicPr>
          <p:nvPr/>
        </p:nvPicPr>
        <p:blipFill>
          <a:blip r:embed="rId22"/>
          <a:stretch>
            <a:fillRect/>
          </a:stretch>
        </p:blipFill>
        <p:spPr>
          <a:xfrm>
            <a:off x="3781425" y="4371975"/>
            <a:ext cx="247650" cy="247650"/>
          </a:xfrm>
          <a:prstGeom prst="rect">
            <a:avLst/>
          </a:prstGeom>
        </p:spPr>
      </p:pic>
      <p:sp>
        <p:nvSpPr>
          <p:cNvPr id="56" name="Text: Trade and deal regulation"/>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Rectangle 56"/>
          <p:cNvSpPr/>
          <p:nvPr/>
        </p:nvSpPr>
        <p:spPr>
          <a:xfrm>
            <a:off x="3714750" y="4819650"/>
            <a:ext cx="47625" cy="47625"/>
          </a:xfrm>
          <a:prstGeom prst="rect">
            <a:avLst/>
          </a:prstGeom>
          <a:solidFill>
            <a:srgbClr val="B68757"/>
          </a:solidFill>
          <a:ln>
            <a:noFill/>
          </a:ln>
          <a:effectLst/>
        </p:spPr>
        <p:txBody>
          <a:bodyPr rtlCol="0" anchor="ctr"/>
          <a:lstStyle/>
          <a:p>
            <a:pPr algn="ctr"/>
            <a:endParaRPr/>
          </a:p>
        </p:txBody>
      </p:sp>
      <p:sp>
        <p:nvSpPr>
          <p:cNvPr id="58" name="Text: A 100% default tariff applies to c"/>
          <p:cNvSpPr txBox="1"/>
          <p:nvPr/>
        </p:nvSpPr>
        <p:spPr>
          <a:xfrm>
            <a:off x="3838575" y="4781550"/>
            <a:ext cx="2519362" cy="100012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Rectangle 58"/>
          <p:cNvSpPr/>
          <p:nvPr/>
        </p:nvSpPr>
        <p:spPr>
          <a:xfrm>
            <a:off x="3714750" y="5905500"/>
            <a:ext cx="47625" cy="47625"/>
          </a:xfrm>
          <a:prstGeom prst="rect">
            <a:avLst/>
          </a:prstGeom>
          <a:solidFill>
            <a:srgbClr val="B68757"/>
          </a:solidFill>
          <a:ln>
            <a:noFill/>
          </a:ln>
          <a:effectLst/>
        </p:spPr>
        <p:txBody>
          <a:bodyPr rtlCol="0" anchor="ctr"/>
          <a:lstStyle/>
          <a:p>
            <a:pPr algn="ctr"/>
            <a:endParaRPr/>
          </a:p>
        </p:txBody>
      </p:sp>
      <p:sp>
        <p:nvSpPr>
          <p:cNvPr id="60" name="Text: California now requires transactio"/>
          <p:cNvSpPr txBox="1"/>
          <p:nvPr/>
        </p:nvSpPr>
        <p:spPr>
          <a:xfrm>
            <a:off x="3838575" y="5867400"/>
            <a:ext cx="2519362" cy="833438"/>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California now requires transaction notices from private equity groups and management services organizations (</a:t>
            </a:r>
            <a:r>
              <a:rPr sz="861" b="0" i="0" spc="15">
                <a:solidFill>
                  <a:srgbClr val="8C6239"/>
                </a:solidFill>
                <a:latin typeface="Calibri"/>
                <a:hlinkClick r:id="rId25">
                  <a:extLst>
                    <a:ext uri="{A12FA001-AC4F-418D-AE19-62706E023703}">
                      <ahyp:hlinkClr xmlns:ahyp="http://schemas.microsoft.com/office/drawing/2018/hyperlinkcolor" val="tx"/>
                    </a:ext>
                  </a:extLst>
                </a:hlinkClick>
              </a:rPr>
              <a:t>Nixon Peabody</a:t>
            </a:r>
            <a:r>
              <a:rPr sz="861" b="0" i="0" spc="15">
                <a:solidFill>
                  <a:srgbClr val="333231"/>
                </a:solidFill>
                <a:latin typeface="Calibri"/>
              </a:rPr>
              <a:t>), and Maine's 180-day notice and approval regime begins January 1, 2027 (</a:t>
            </a:r>
            <a:r>
              <a:rPr sz="861" b="0" i="0" spc="15">
                <a:solidFill>
                  <a:srgbClr val="8C6239"/>
                </a:solidFill>
                <a:latin typeface="Calibri"/>
                <a:hlinkClick r:id="rId26">
                  <a:extLst>
                    <a:ext uri="{A12FA001-AC4F-418D-AE19-62706E023703}">
                      <ahyp:hlinkClr xmlns:ahyp="http://schemas.microsoft.com/office/drawing/2018/hyperlinkcolor" val="tx"/>
                    </a:ext>
                  </a:extLst>
                </a:hlinkClick>
              </a:rPr>
              <a:t>BakerHostetler</a:t>
            </a:r>
            <a:r>
              <a:rPr sz="861" b="0" i="0" spc="15">
                <a:solidFill>
                  <a:srgbClr val="333231"/>
                </a:solidFill>
                <a:latin typeface="Calibri"/>
              </a:rPr>
              <a:t>).</a:t>
            </a:r>
          </a:p>
        </p:txBody>
      </p:sp>
      <p:sp>
        <p:nvSpPr>
          <p:cNvPr id="61" name="Rectangle 60"/>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1" descr="knot-dark.jpg"/>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 WHAT IT MEANS FOR OWNERS"/>
          <p:cNvSpPr txBox="1"/>
          <p:nvPr/>
        </p:nvSpPr>
        <p:spPr>
          <a:xfrm>
            <a:off x="6858000" y="4324350"/>
            <a:ext cx="26050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WHAT IT MEANS FOR OWNERS</a:t>
            </a:r>
          </a:p>
        </p:txBody>
      </p:sp>
      <p:sp>
        <p:nvSpPr>
          <p:cNvPr id="64" name="Text: Buyers are paying most readily for"/>
          <p:cNvSpPr txBox="1"/>
          <p:nvPr/>
        </p:nvSpPr>
        <p:spPr>
          <a:xfrm>
            <a:off x="6858000" y="4543425"/>
            <a:ext cx="2605088" cy="838200"/>
          </a:xfrm>
          <a:prstGeom prst="rect">
            <a:avLst/>
          </a:prstGeom>
          <a:noFill/>
        </p:spPr>
        <p:txBody>
          <a:bodyPr wrap="square" lIns="0" tIns="0" rIns="0" bIns="0" anchor="t">
            <a:spAutoFit/>
          </a:bodyPr>
          <a:lstStyle/>
          <a:p>
            <a:pPr algn="l">
              <a:lnSpc>
                <a:spcPts val="1650"/>
              </a:lnSpc>
            </a:pPr>
            <a:r>
              <a:rPr sz="1200" b="0" i="0">
                <a:solidFill>
                  <a:srgbClr val="FFFFFF"/>
                </a:solidFill>
                <a:latin typeface="Cambria"/>
              </a:rPr>
              <a:t>Buyers are paying most readily for revenue that recurs under contract or clinical necessity and that is paid by a balanced mix of payers.</a:t>
            </a:r>
          </a:p>
        </p:txBody>
      </p:sp>
      <p:sp>
        <p:nvSpPr>
          <p:cNvPr id="65" name="Text: The median private equity entry mu"/>
          <p:cNvSpPr txBox="1"/>
          <p:nvPr/>
        </p:nvSpPr>
        <p:spPr>
          <a:xfrm>
            <a:off x="6858000" y="5495925"/>
            <a:ext cx="2605088" cy="942975"/>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median private equity entry multiple for healthcare services was 13.6x EBITDA in 2025, a figure weighted toward larger platforms (</a:t>
            </a:r>
            <a:r>
              <a:rPr sz="825" b="0" i="0" spc="15">
                <a:solidFill>
                  <a:srgbClr val="D3AE84"/>
                </a:solidFill>
                <a:latin typeface="Calibri"/>
                <a:hlinkClick r:id="rId28">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 and 87% of sales above $5 million in all industries drew three or more offers (</a:t>
            </a:r>
            <a:r>
              <a:rPr sz="825" b="0" i="0" spc="15">
                <a:solidFill>
                  <a:srgbClr val="D3AE84"/>
                </a:solidFill>
                <a:latin typeface="Calibri"/>
                <a:hlinkClick r:id="rId29">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6" name="Rectangle 6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66" descr="Benchmark International"/>
          <p:cNvPicPr>
            <a:picLocks noChangeAspect="1"/>
          </p:cNvPicPr>
          <p:nvPr/>
        </p:nvPicPr>
        <p:blipFill>
          <a:blip r:embed="rId30"/>
          <a:srcRect/>
          <a:stretch>
            <a:fillRect/>
          </a:stretch>
        </p:blipFill>
        <p:spPr>
          <a:xfrm>
            <a:off x="419100" y="7143750"/>
            <a:ext cx="914400" cy="171450"/>
          </a:xfrm>
          <a:prstGeom prst="rect">
            <a:avLst/>
          </a:prstGeom>
        </p:spPr>
      </p:pic>
      <p:sp>
        <p:nvSpPr>
          <p:cNvPr id="68" name="Text: Figures are the latest published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Figures are the latest published as of October 7, 2026, and each is linked to its source. Deal counts and values are as reported by the named publisher and are revised as transactions are confirmed.</a:t>
            </a:r>
          </a:p>
        </p:txBody>
      </p:sp>
      <p:sp>
        <p:nvSpPr>
          <p:cNvPr id="69" name="Text: 0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istorical Market Context"/>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 Health spending has compounded thr"/>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Health spending has compounded through every cycle since 2016, and hospital transaction counts have recovered from the 2025 low.</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Spending on care has grown every y"/>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every year for a decade, while the number of transactions has moved with financing costs and policy.</a:t>
            </a:r>
          </a:p>
        </p:txBody>
      </p:sp>
      <p:sp>
        <p:nvSpPr>
          <p:cNvPr id="9" name="Rectangle 8"/>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 $5.3T"/>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 National health expenditures reach"/>
          <p:cNvSpPr txBox="1"/>
          <p:nvPr/>
        </p:nvSpPr>
        <p:spPr>
          <a:xfrm>
            <a:off x="1447800" y="229076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National health expenditures reached $5.3 trillion in 2024, or 18.0% of GDP, against $3.3 trillion in 2016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861" b="0" i="0" spc="15">
                <a:solidFill>
                  <a:srgbClr val="333231"/>
                </a:solidFill>
                <a:latin typeface="Calibri"/>
              </a:rPr>
              <a:t>).</a:t>
            </a:r>
          </a:p>
        </p:txBody>
      </p:sp>
      <p:sp>
        <p:nvSpPr>
          <p:cNvPr id="12" name="Rectangle 11"/>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 5.4%"/>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 CMS projects average annual spendi"/>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Rectangle 14"/>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 46"/>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 Hospitals and health systems annou"/>
          <p:cNvSpPr txBox="1"/>
          <p:nvPr/>
        </p:nvSpPr>
        <p:spPr>
          <a:xfrm>
            <a:off x="1447800" y="4167188"/>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Hospitals and health systems announced 46 transactions in 2025, the fewest in the series, against 117 in 2017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Kaufman Hall</a:t>
            </a:r>
            <a:r>
              <a:rPr sz="861" b="0" i="0" spc="15">
                <a:solidFill>
                  <a:srgbClr val="333231"/>
                </a:solidFill>
                <a:latin typeface="Calibri"/>
              </a:rPr>
              <a:t>).</a:t>
            </a:r>
          </a:p>
        </p:txBody>
      </p:sp>
      <p:sp>
        <p:nvSpPr>
          <p:cNvPr id="18" name="Rectangle 17"/>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 40"/>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40</a:t>
            </a:r>
          </a:p>
        </p:txBody>
      </p:sp>
      <p:sp>
        <p:nvSpPr>
          <p:cNvPr id="20" name="Text: The first half of 2026 has already"/>
          <p:cNvSpPr txBox="1"/>
          <p:nvPr/>
        </p:nvSpPr>
        <p:spPr>
          <a:xfrm>
            <a:off x="1447800" y="5024438"/>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first half of 2026 has already produced 40 announced hospital transactions, 22 in the first quarter and 18 in the second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Kaufman Hall, first quarter</a:t>
            </a:r>
            <a:r>
              <a:rPr sz="861" b="0" i="0" spc="15">
                <a:solidFill>
                  <a:srgbClr val="333231"/>
                </a:solidFill>
                <a:latin typeface="Calibri"/>
              </a:rPr>
              <a:t>;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second quarter</a:t>
            </a:r>
            <a:r>
              <a:rPr sz="861" b="0" i="0" spc="15">
                <a:solidFill>
                  <a:srgbClr val="333231"/>
                </a:solidFill>
                <a:latin typeface="Calibri"/>
              </a:rPr>
              <a:t>).</a:t>
            </a:r>
          </a:p>
        </p:txBody>
      </p:sp>
      <p:sp>
        <p:nvSpPr>
          <p:cNvPr id="21" name="Rectangle 20"/>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 1,217"/>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 Private equity completed 1,217 hea"/>
          <p:cNvSpPr txBox="1"/>
          <p:nvPr/>
        </p:nvSpPr>
        <p:spPr>
          <a:xfrm>
            <a:off x="1447800" y="6043612"/>
            <a:ext cx="2471738"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Private equity completed 1,217 healthcare services transactions in 2021 and an estimated 747 in 2025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PitchBook</a:t>
            </a:r>
            <a:r>
              <a:rPr sz="861" b="0" i="0" spc="15">
                <a:solidFill>
                  <a:srgbClr val="333231"/>
                </a:solidFill>
                <a:latin typeface="Calibri"/>
              </a:rPr>
              <a:t>).</a:t>
            </a:r>
          </a:p>
        </p:txBody>
      </p:sp>
      <p:sp>
        <p:nvSpPr>
          <p:cNvPr id="24" name="Rectangle 23"/>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 National health expenditures"/>
          <p:cNvSpPr txBox="1"/>
          <p:nvPr/>
        </p:nvSpPr>
        <p:spPr>
          <a:xfrm>
            <a:off x="4276725" y="136207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National health expenditures</a:t>
            </a:r>
          </a:p>
        </p:txBody>
      </p:sp>
      <p:sp>
        <p:nvSpPr>
          <p:cNvPr id="30" name="Text: $ trillions; 2025 and 2026 are CMS"/>
          <p:cNvSpPr txBox="1"/>
          <p:nvPr/>
        </p:nvSpPr>
        <p:spPr>
          <a:xfrm>
            <a:off x="4276725" y="152400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 trillions; 2025 and 2026 are CMS projections. Source: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CMS</a:t>
            </a:r>
            <a:r>
              <a:rPr sz="750" b="0" i="0" spc="15">
                <a:solidFill>
                  <a:srgbClr val="6F6A66"/>
                </a:solidFill>
                <a:latin typeface="Calibri"/>
              </a:rPr>
              <a:t>;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CRFB</a:t>
            </a:r>
          </a:p>
        </p:txBody>
      </p:sp>
      <p:graphicFrame>
        <p:nvGraphicFramePr>
          <p:cNvPr id="31" name="Chart (edit data to update)"/>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2" name="Rectangle 31"/>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 Announced hospital and health syst"/>
          <p:cNvSpPr txBox="1"/>
          <p:nvPr/>
        </p:nvSpPr>
        <p:spPr>
          <a:xfrm>
            <a:off x="4276725" y="4276725"/>
            <a:ext cx="52149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Announced hospital and health system transactions</a:t>
            </a:r>
          </a:p>
        </p:txBody>
      </p:sp>
      <p:sp>
        <p:nvSpPr>
          <p:cNvPr id="37" name="Text: Number per year; 2026 covers the f"/>
          <p:cNvSpPr txBox="1"/>
          <p:nvPr/>
        </p:nvSpPr>
        <p:spPr>
          <a:xfrm>
            <a:off x="4276725" y="4438650"/>
            <a:ext cx="52149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Number per year; 2026 covers the first half. Source: Kaufman Hall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2012 to 2022</a:t>
            </a:r>
            <a:r>
              <a:rPr sz="750" b="0" i="0" spc="15">
                <a:solidFill>
                  <a:srgbClr val="6F6A66"/>
                </a:solidFill>
                <a:latin typeface="Calibri"/>
              </a:rPr>
              <a:t>;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2025</a:t>
            </a:r>
            <a:r>
              <a:rPr sz="750" b="0" i="0" spc="15">
                <a:solidFill>
                  <a:srgbClr val="6F6A66"/>
                </a:solidFill>
                <a:latin typeface="Calibri"/>
              </a:rPr>
              <a:t>; </a:t>
            </a:r>
            <a:r>
              <a:rPr sz="750" b="0" i="0" spc="15">
                <a:solidFill>
                  <a:srgbClr val="8C6239"/>
                </a:solidFill>
                <a:latin typeface="Calibri"/>
                <a:hlinkClick r:id="rId6">
                  <a:extLst>
                    <a:ext uri="{A12FA001-AC4F-418D-AE19-62706E023703}">
                      <ahyp:hlinkClr xmlns:ahyp="http://schemas.microsoft.com/office/drawing/2018/hyperlinkcolor" val="tx"/>
                    </a:ext>
                  </a:extLst>
                </a:hlinkClick>
              </a:rPr>
              <a:t>2026</a:t>
            </a:r>
            <a:r>
              <a:rPr sz="750" b="0" i="0" spc="15">
                <a:solidFill>
                  <a:srgbClr val="6F6A66"/>
                </a:solidFill>
                <a:latin typeface="Calibri"/>
              </a:rPr>
              <a:t>)</a:t>
            </a:r>
          </a:p>
        </p:txBody>
      </p:sp>
      <p:graphicFrame>
        <p:nvGraphicFramePr>
          <p:cNvPr id="38" name="Chart (edit data to update)"/>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10"/>
          </a:graphicData>
        </a:graphic>
      </p:graphicFrame>
      <p:sp>
        <p:nvSpPr>
          <p:cNvPr id="39" name="Rectangl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39" descr="Benchmark International"/>
          <p:cNvPicPr>
            <a:picLocks noChangeAspect="1"/>
          </p:cNvPicPr>
          <p:nvPr/>
        </p:nvPicPr>
        <p:blipFill>
          <a:blip r:embed="rId11"/>
          <a:srcRect/>
          <a:stretch>
            <a:fillRect/>
          </a:stretch>
        </p:blipFill>
        <p:spPr>
          <a:xfrm>
            <a:off x="419100" y="7143750"/>
            <a:ext cx="914400" cy="171450"/>
          </a:xfrm>
          <a:prstGeom prst="rect">
            <a:avLst/>
          </a:prstGeom>
        </p:spPr>
      </p:pic>
      <p:sp>
        <p:nvSpPr>
          <p:cNvPr id="41" name="Text: National health expenditure figur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National health expenditure figures for 2016 to 2023 are drawn from CMS releases of different years, and CMS revises earlier years with each release. Transaction counts are announced transactions as tallied by Kaufman Hall.</a:t>
            </a:r>
          </a:p>
        </p:txBody>
      </p:sp>
      <p:sp>
        <p:nvSpPr>
          <p:cNvPr id="42" name="Text: 0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trong Fundamentals Support Contin"/>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Strong Fundamentals Support Continued Activity</a:t>
            </a:r>
          </a:p>
        </p:txBody>
      </p:sp>
      <p:sp>
        <p:nvSpPr>
          <p:cNvPr id="6" name="Text: Employment, capital investment and"/>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Employment, capital investment and drug approvals have all grown since 2021, which supports demand in each of the four focus areas.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 HEALTH CARE EMPLOYMENT KEEPS RISIN"/>
          <p:cNvSpPr txBox="1"/>
          <p:nvPr/>
        </p:nvSpPr>
        <p:spPr>
          <a:xfrm>
            <a:off x="5619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HEALTH CARE EMPLOYMENT KEEPS RISING</a:t>
            </a:r>
          </a:p>
        </p:txBody>
      </p:sp>
      <p:sp>
        <p:nvSpPr>
          <p:cNvPr id="14" name="Text: All employees, health care, millio"/>
          <p:cNvSpPr txBox="1"/>
          <p:nvPr/>
        </p:nvSpPr>
        <p:spPr>
          <a:xfrm>
            <a:off x="5619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All employees, health care, millions, monthly, seasonally adjusted. Source: Bureau of Labor Statistics via </a:t>
            </a:r>
            <a:r>
              <a:rPr sz="7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edit data to update)"/>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Rectangle 15"/>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 Health care employed 18.55 million"/>
          <p:cNvSpPr txBox="1"/>
          <p:nvPr/>
        </p:nvSpPr>
        <p:spPr>
          <a:xfrm>
            <a:off x="685800" y="4714875"/>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employed 18.55 million people in September 2026, 16.1% more than in September 2021 and 2.0% more than a year earlier.</a:t>
            </a:r>
          </a:p>
        </p:txBody>
      </p:sp>
      <p:sp>
        <p:nvSpPr>
          <p:cNvPr id="19" name="Rectangle 18"/>
          <p:cNvSpPr/>
          <p:nvPr/>
        </p:nvSpPr>
        <p:spPr>
          <a:xfrm>
            <a:off x="561975" y="5324475"/>
            <a:ext cx="47625" cy="47625"/>
          </a:xfrm>
          <a:prstGeom prst="rect">
            <a:avLst/>
          </a:prstGeom>
          <a:solidFill>
            <a:srgbClr val="B68757"/>
          </a:solidFill>
          <a:ln>
            <a:noFill/>
          </a:ln>
          <a:effectLst/>
        </p:spPr>
        <p:txBody>
          <a:bodyPr rtlCol="0" anchor="ctr"/>
          <a:lstStyle/>
          <a:p>
            <a:pPr algn="ctr"/>
            <a:endParaRPr/>
          </a:p>
        </p:txBody>
      </p:sp>
      <p:sp>
        <p:nvSpPr>
          <p:cNvPr id="20" name="Text: Health care and social assistance "/>
          <p:cNvSpPr txBox="1"/>
          <p:nvPr/>
        </p:nvSpPr>
        <p:spPr>
          <a:xfrm>
            <a:off x="685800" y="5286375"/>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Bureau of Labor Statistics JOLTS</a:t>
            </a:r>
            <a:r>
              <a:rPr sz="861" b="0" i="0" spc="15">
                <a:solidFill>
                  <a:srgbClr val="333231"/>
                </a:solidFill>
                <a:latin typeface="Calibri"/>
              </a:rPr>
              <a:t>), which keeps clinician retention central to how buyers assess a provider.</a:t>
            </a:r>
          </a:p>
        </p:txBody>
      </p:sp>
      <p:sp>
        <p:nvSpPr>
          <p:cNvPr id="21" name="Rectangle 20"/>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 CAPITAL KEEPS FLOWING INTO FACILIT"/>
          <p:cNvSpPr txBox="1"/>
          <p:nvPr/>
        </p:nvSpPr>
        <p:spPr>
          <a:xfrm>
            <a:off x="36861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CAPITAL KEEPS FLOWING INTO FACILITIES</a:t>
            </a:r>
          </a:p>
        </p:txBody>
      </p:sp>
      <p:sp>
        <p:nvSpPr>
          <p:cNvPr id="27" name="Text: Total construction spending on hea"/>
          <p:cNvSpPr txBox="1"/>
          <p:nvPr/>
        </p:nvSpPr>
        <p:spPr>
          <a:xfrm>
            <a:off x="36861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Total construction spending on health care, $ billions at an annual rate, monthly. Source: US Census Bureau via </a:t>
            </a:r>
            <a:r>
              <a:rPr sz="7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edit data to update)"/>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Rectangle 28"/>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 Health care construction ran at an"/>
          <p:cNvSpPr txBox="1"/>
          <p:nvPr/>
        </p:nvSpPr>
        <p:spPr>
          <a:xfrm>
            <a:off x="38100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Healthcare construction ran at an annual rate of $75.8 billion in August 2026, 49% above September 2021.</a:t>
            </a:r>
          </a:p>
        </p:txBody>
      </p:sp>
      <p:sp>
        <p:nvSpPr>
          <p:cNvPr id="32" name="Rectangle 31"/>
          <p:cNvSpPr/>
          <p:nvPr/>
        </p:nvSpPr>
        <p:spPr>
          <a:xfrm>
            <a:off x="3686175" y="5162550"/>
            <a:ext cx="47625" cy="47625"/>
          </a:xfrm>
          <a:prstGeom prst="rect">
            <a:avLst/>
          </a:prstGeom>
          <a:solidFill>
            <a:srgbClr val="B68757"/>
          </a:solidFill>
          <a:ln>
            <a:noFill/>
          </a:ln>
          <a:effectLst/>
        </p:spPr>
        <p:txBody>
          <a:bodyPr rtlCol="0" anchor="ctr"/>
          <a:lstStyle/>
          <a:p>
            <a:pPr algn="ctr"/>
            <a:endParaRPr/>
          </a:p>
        </p:txBody>
      </p:sp>
      <p:sp>
        <p:nvSpPr>
          <p:cNvPr id="33" name="Text: Medical care prices rose 13.0% ove"/>
          <p:cNvSpPr txBox="1"/>
          <p:nvPr/>
        </p:nvSpPr>
        <p:spPr>
          <a:xfrm>
            <a:off x="38100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Medical care prices rose 13.0% over the same period on the consumer price index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FRED</a:t>
            </a:r>
            <a:r>
              <a:rPr sz="861" b="0" i="0" spc="15">
                <a:solidFill>
                  <a:srgbClr val="333231"/>
                </a:solidFill>
                <a:latin typeface="Calibri"/>
              </a:rPr>
              <a:t>), so part of the increase reflects higher costs.</a:t>
            </a:r>
          </a:p>
        </p:txBody>
      </p:sp>
      <p:sp>
        <p:nvSpPr>
          <p:cNvPr id="34" name="Rectangle 33"/>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 DRUG APPROVALS HAVE RECOVERED"/>
          <p:cNvSpPr txBox="1"/>
          <p:nvPr/>
        </p:nvSpPr>
        <p:spPr>
          <a:xfrm>
            <a:off x="6810375" y="1343025"/>
            <a:ext cx="2700338" cy="133350"/>
          </a:xfrm>
          <a:prstGeom prst="rect">
            <a:avLst/>
          </a:prstGeom>
          <a:noFill/>
        </p:spPr>
        <p:txBody>
          <a:bodyPr wrap="square" lIns="0" tIns="0" rIns="0" bIns="0" anchor="t">
            <a:spAutoFit/>
          </a:bodyPr>
          <a:lstStyle/>
          <a:p>
            <a:pPr algn="l">
              <a:lnSpc>
                <a:spcPts val="1050"/>
              </a:lnSpc>
            </a:pPr>
            <a:r>
              <a:rPr sz="788" b="1" i="0" spc="120">
                <a:solidFill>
                  <a:srgbClr val="FFFFFF"/>
                </a:solidFill>
                <a:latin typeface="Calibri"/>
              </a:rPr>
              <a:t>DRUG APPROVALS HAVE RECOVERED</a:t>
            </a:r>
          </a:p>
        </p:txBody>
      </p:sp>
      <p:sp>
        <p:nvSpPr>
          <p:cNvPr id="40" name="Text: Novel drugs approved by the FDA Ce"/>
          <p:cNvSpPr txBox="1"/>
          <p:nvPr/>
        </p:nvSpPr>
        <p:spPr>
          <a:xfrm>
            <a:off x="6810375" y="1666875"/>
            <a:ext cx="2700338" cy="4000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Novel drugs approved by the FDA Center for Drug Evaluation and Research, by year. Source: </a:t>
            </a:r>
            <a:r>
              <a:rPr sz="7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750" b="0" i="0" spc="15">
                <a:solidFill>
                  <a:srgbClr val="6F6A66"/>
                </a:solidFill>
                <a:latin typeface="Calibri"/>
              </a:rPr>
              <a:t>; </a:t>
            </a:r>
            <a:r>
              <a:rPr sz="7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edit data to update)"/>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Rectangle 41"/>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 The FDA approved 46 novel drugs in"/>
          <p:cNvSpPr txBox="1"/>
          <p:nvPr/>
        </p:nvSpPr>
        <p:spPr>
          <a:xfrm>
            <a:off x="6934200" y="4714875"/>
            <a:ext cx="2576512" cy="32385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The FDA approved 46 novel drugs in 2025 and 45 in 2026 through September 28, after a low of 37 in 2022.</a:t>
            </a:r>
          </a:p>
        </p:txBody>
      </p:sp>
      <p:sp>
        <p:nvSpPr>
          <p:cNvPr id="45" name="Rectangle 44"/>
          <p:cNvSpPr/>
          <p:nvPr/>
        </p:nvSpPr>
        <p:spPr>
          <a:xfrm>
            <a:off x="6810375" y="5162550"/>
            <a:ext cx="47625" cy="47625"/>
          </a:xfrm>
          <a:prstGeom prst="rect">
            <a:avLst/>
          </a:prstGeom>
          <a:solidFill>
            <a:srgbClr val="B68757"/>
          </a:solidFill>
          <a:ln>
            <a:noFill/>
          </a:ln>
          <a:effectLst/>
        </p:spPr>
        <p:txBody>
          <a:bodyPr rtlCol="0" anchor="ctr"/>
          <a:lstStyle/>
          <a:p>
            <a:pPr algn="ctr"/>
            <a:endParaRPr/>
          </a:p>
        </p:txBody>
      </p:sp>
      <p:sp>
        <p:nvSpPr>
          <p:cNvPr id="46" name="Text: Outsourced research has recovered "/>
          <p:cNvSpPr txBox="1"/>
          <p:nvPr/>
        </p:nvSpPr>
        <p:spPr>
          <a:xfrm>
            <a:off x="6934200" y="5124450"/>
            <a:ext cx="2576512" cy="485775"/>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Outsourced research has recovered alongside approvals, with IQVIA booking $1.22 of new work for each dollar of revenue in the second quarter (</a:t>
            </a:r>
            <a:r>
              <a:rPr sz="861"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861" b="0" i="0" spc="15">
                <a:solidFill>
                  <a:srgbClr val="333231"/>
                </a:solidFill>
                <a:latin typeface="Calibri"/>
              </a:rPr>
              <a:t>).</a:t>
            </a:r>
          </a:p>
        </p:txBody>
      </p:sp>
      <p:sp>
        <p:nvSpPr>
          <p:cNvPr id="47" name="Rectangle 4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47" descr="Benchmark International"/>
          <p:cNvPicPr>
            <a:picLocks noChangeAspect="1"/>
          </p:cNvPicPr>
          <p:nvPr/>
        </p:nvPicPr>
        <p:blipFill>
          <a:blip r:embed="rId12"/>
          <a:srcRect/>
          <a:stretch>
            <a:fillRect/>
          </a:stretch>
        </p:blipFill>
        <p:spPr>
          <a:xfrm>
            <a:off x="419100" y="7143750"/>
            <a:ext cx="914400" cy="171450"/>
          </a:xfrm>
          <a:prstGeom prst="rect">
            <a:avLst/>
          </a:prstGeom>
        </p:spPr>
      </p:pic>
      <p:sp>
        <p:nvSpPr>
          <p:cNvPr id="49" name="Text: * 2026 covers approvals through S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covers approvals through September 28. Employment and construction series run from September 2021 to the latest month published as of October 7, 2026. Approval counts for 2016 to 2021 and 2024 are as reported by RAPS and US Pharmacist from FDA data.</a:t>
            </a:r>
          </a:p>
        </p:txBody>
      </p:sp>
      <p:sp>
        <p:nvSpPr>
          <p:cNvPr id="50" name="Text: 0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Focus Areas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focus area has its own buyers and drivers. This page covers providers, laboratories and research services.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2e7b625999a4.png"/>
          <p:cNvPicPr>
            <a:picLocks noChangeAspect="1"/>
          </p:cNvPicPr>
          <p:nvPr/>
        </p:nvPicPr>
        <p:blipFill>
          <a:blip r:embed="rId2"/>
          <a:stretch>
            <a:fillRect/>
          </a:stretch>
        </p:blipFill>
        <p:spPr>
          <a:xfrm>
            <a:off x="581025" y="1323975"/>
            <a:ext cx="266700" cy="266700"/>
          </a:xfrm>
          <a:prstGeom prst="rect">
            <a:avLst/>
          </a:prstGeom>
        </p:spPr>
      </p:pic>
      <p:sp>
        <p:nvSpPr>
          <p:cNvPr id="15" name="Text: PROVIDER SERVICES"/>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Health systems are buying access p"/>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Urgent care, Optometry &amp; eye care,"/>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Urgent care, Optometry &amp; eye care, Pediatric &amp; physical therapy, Multi-specialty medical groups, Emergency medical services, Renal care</a:t>
            </a:r>
          </a:p>
        </p:txBody>
      </p:sp>
      <p:pic>
        <p:nvPicPr>
          <p:cNvPr id="20" name="Picture 19" descr="A clinician listening to a child with a stethoscope"/>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The 100 largest urgent care opera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locations are affiliated with a hospital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Journal of Urgent Care Medicine</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HCA Healthcare acquired 70 urgent "/>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HCA Healthcare acquired 70 urgent care centers in three 2026 transactions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Becker's ASC Review</a:t>
            </a:r>
            <a:r>
              <a:rPr sz="825" b="0" i="0" spc="15">
                <a:solidFill>
                  <a:srgbClr val="333231"/>
                </a:solidFill>
                <a:latin typeface="Calibri"/>
              </a:rPr>
              <a:t>;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Healthcare Dive</a:t>
            </a:r>
            <a:r>
              <a:rPr sz="825" b="0" i="0" spc="15">
                <a:solidFill>
                  <a:srgbClr val="333231"/>
                </a:solidFill>
                <a:latin typeface="Calibri"/>
              </a:rPr>
              <a:t>).</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Care in the home drew the largest "/>
          <p:cNvSpPr txBox="1"/>
          <p:nvPr/>
        </p:nvSpPr>
        <p:spPr>
          <a:xfrm>
            <a:off x="3219450" y="2714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the largest provider transactions of the year, including Kinderhook's agreement to take Enhabit private at about $1.1 billion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HLTH</a:t>
            </a:r>
            <a:r>
              <a:rPr sz="825" b="0" i="0" spc="15">
                <a:solidFill>
                  <a:srgbClr val="333231"/>
                </a:solidFill>
                <a:latin typeface="Calibri"/>
              </a:rPr>
              <a:t>).</a:t>
            </a:r>
          </a:p>
        </p:txBody>
      </p:sp>
      <p:sp>
        <p:nvSpPr>
          <p:cNvPr id="28" name="Rectangle 27"/>
          <p:cNvSpPr/>
          <p:nvPr/>
        </p:nvSpPr>
        <p:spPr>
          <a:xfrm>
            <a:off x="3095625" y="3114675"/>
            <a:ext cx="47625" cy="47625"/>
          </a:xfrm>
          <a:prstGeom prst="rect">
            <a:avLst/>
          </a:prstGeom>
          <a:solidFill>
            <a:srgbClr val="B68757"/>
          </a:solidFill>
          <a:ln>
            <a:noFill/>
          </a:ln>
          <a:effectLst/>
        </p:spPr>
        <p:txBody>
          <a:bodyPr rtlCol="0" anchor="ctr"/>
          <a:lstStyle/>
          <a:p>
            <a:pPr algn="ctr"/>
            <a:endParaRPr/>
          </a:p>
        </p:txBody>
      </p:sp>
      <p:sp>
        <p:nvSpPr>
          <p:cNvPr id="29" name="Text: Independent practice continues to "/>
          <p:cNvSpPr txBox="1"/>
          <p:nvPr/>
        </p:nvSpPr>
        <p:spPr>
          <a:xfrm>
            <a:off x="3219450" y="30765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AMA survey via Medical Economics</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HCA Healthcare, MyEyeDr., U.S. Phy"/>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HCA Healthcare, MyEyeDr., U.S. Physical Therapy, Addus HomeCare, Concentra, Kinderhook and Universal Health Services</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HCA"/>
          <p:cNvSpPr txBox="1"/>
          <p:nvPr/>
        </p:nvSpPr>
        <p:spPr>
          <a:xfrm>
            <a:off x="7591425" y="345757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37" name="Rounded Rectangle 36"/>
          <p:cNvSpPr/>
          <p:nvPr/>
        </p:nvSpPr>
        <p:spPr>
          <a:xfrm>
            <a:off x="7829848" y="3457575"/>
            <a:ext cx="249138"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THC"/>
          <p:cNvSpPr txBox="1"/>
          <p:nvPr/>
        </p:nvSpPr>
        <p:spPr>
          <a:xfrm>
            <a:off x="7886998" y="3457575"/>
            <a:ext cx="14912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9" name="Rounded Rectangle 38"/>
          <p:cNvSpPr/>
          <p:nvPr/>
        </p:nvSpPr>
        <p:spPr>
          <a:xfrm>
            <a:off x="8117086" y="3457575"/>
            <a:ext cx="300186"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USPH"/>
          <p:cNvSpPr txBox="1"/>
          <p:nvPr/>
        </p:nvSpPr>
        <p:spPr>
          <a:xfrm>
            <a:off x="8174236" y="3457575"/>
            <a:ext cx="20017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1" name="Rounded Rectangle 40"/>
          <p:cNvSpPr/>
          <p:nvPr/>
        </p:nvSpPr>
        <p:spPr>
          <a:xfrm>
            <a:off x="8455372" y="3457575"/>
            <a:ext cx="257026"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DVA"/>
          <p:cNvSpPr txBox="1"/>
          <p:nvPr/>
        </p:nvSpPr>
        <p:spPr>
          <a:xfrm>
            <a:off x="8512522" y="3457575"/>
            <a:ext cx="1570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3" name="Rounded Rectangle 42"/>
          <p:cNvSpPr/>
          <p:nvPr/>
        </p:nvSpPr>
        <p:spPr>
          <a:xfrm>
            <a:off x="8750498" y="3457575"/>
            <a:ext cx="305842"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ADUS"/>
          <p:cNvSpPr txBox="1"/>
          <p:nvPr/>
        </p:nvSpPr>
        <p:spPr>
          <a:xfrm>
            <a:off x="8807648" y="3457575"/>
            <a:ext cx="20582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45" name="Rounded Rectangle 44"/>
          <p:cNvSpPr/>
          <p:nvPr/>
        </p:nvSpPr>
        <p:spPr>
          <a:xfrm>
            <a:off x="9094440" y="3457575"/>
            <a:ext cx="300782"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PNTG"/>
          <p:cNvSpPr txBox="1"/>
          <p:nvPr/>
        </p:nvSpPr>
        <p:spPr>
          <a:xfrm>
            <a:off x="9151590" y="3457575"/>
            <a:ext cx="20076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47" name="Rounded Rectangle 46"/>
          <p:cNvSpPr/>
          <p:nvPr/>
        </p:nvSpPr>
        <p:spPr>
          <a:xfrm>
            <a:off x="7534275" y="3686175"/>
            <a:ext cx="299889"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ACHC"/>
          <p:cNvSpPr txBox="1"/>
          <p:nvPr/>
        </p:nvSpPr>
        <p:spPr>
          <a:xfrm>
            <a:off x="7591425" y="3686175"/>
            <a:ext cx="1998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49" name="Rounded Rectangle 48"/>
          <p:cNvSpPr/>
          <p:nvPr/>
        </p:nvSpPr>
        <p:spPr>
          <a:xfrm>
            <a:off x="7872264" y="3686175"/>
            <a:ext cx="265063"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LFST"/>
          <p:cNvSpPr txBox="1"/>
          <p:nvPr/>
        </p:nvSpPr>
        <p:spPr>
          <a:xfrm>
            <a:off x="7929414" y="3686175"/>
            <a:ext cx="16505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51" name="Rounded Rectangle 50"/>
          <p:cNvSpPr/>
          <p:nvPr/>
        </p:nvSpPr>
        <p:spPr>
          <a:xfrm>
            <a:off x="8175427" y="3686175"/>
            <a:ext cx="295573"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PRVA"/>
          <p:cNvSpPr txBox="1"/>
          <p:nvPr/>
        </p:nvSpPr>
        <p:spPr>
          <a:xfrm>
            <a:off x="8232577" y="3686175"/>
            <a:ext cx="1955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53" name="Rounded Rectangle 52"/>
          <p:cNvSpPr/>
          <p:nvPr/>
        </p:nvSpPr>
        <p:spPr>
          <a:xfrm>
            <a:off x="8509099" y="3686175"/>
            <a:ext cx="264468"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CON"/>
          <p:cNvSpPr txBox="1"/>
          <p:nvPr/>
        </p:nvSpPr>
        <p:spPr>
          <a:xfrm>
            <a:off x="8566249" y="3686175"/>
            <a:ext cx="16445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55" name="Rounded Rectangle 54"/>
          <p:cNvSpPr/>
          <p:nvPr/>
        </p:nvSpPr>
        <p:spPr>
          <a:xfrm>
            <a:off x="8811667" y="3686175"/>
            <a:ext cx="297805" cy="190500"/>
          </a:xfrm>
          <a:prstGeom prst="roundRect">
            <a:avLst>
              <a:gd name="adj" fmla="val 15000"/>
            </a:avLst>
          </a:prstGeom>
          <a:solidFill>
            <a:srgbClr val="2A2928"/>
          </a:solidFill>
          <a:ln>
            <a:noFill/>
          </a:ln>
          <a:effectLst/>
        </p:spPr>
        <p:txBody>
          <a:bodyPr rtlCol="0" anchor="ctr"/>
          <a:lstStyle/>
          <a:p>
            <a:pPr algn="ctr"/>
            <a:endParaRPr/>
          </a:p>
        </p:txBody>
      </p:sp>
      <p:sp>
        <p:nvSpPr>
          <p:cNvPr id="56" name="Text: ENSG"/>
          <p:cNvSpPr txBox="1"/>
          <p:nvPr/>
        </p:nvSpPr>
        <p:spPr>
          <a:xfrm>
            <a:off x="8868817" y="3686175"/>
            <a:ext cx="19779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57" name="Rectangle 5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62" descr="vb44b605e4ece.png"/>
          <p:cNvPicPr>
            <a:picLocks noChangeAspect="1"/>
          </p:cNvPicPr>
          <p:nvPr/>
        </p:nvPicPr>
        <p:blipFill>
          <a:blip r:embed="rId9"/>
          <a:stretch>
            <a:fillRect/>
          </a:stretch>
        </p:blipFill>
        <p:spPr>
          <a:xfrm>
            <a:off x="581025" y="4238625"/>
            <a:ext cx="266700" cy="266700"/>
          </a:xfrm>
          <a:prstGeom prst="rect">
            <a:avLst/>
          </a:prstGeom>
        </p:spPr>
      </p:pic>
      <p:sp>
        <p:nvSpPr>
          <p:cNvPr id="64" name="Text: LIFE SCIENCES &amp; DIAGNOSTICS"/>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Rectangle 64"/>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 Research spending has turned up an"/>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8" name="Text: Clinical &amp; pathology labs, Biologi"/>
          <p:cNvSpPr txBox="1"/>
          <p:nvPr/>
        </p:nvSpPr>
        <p:spPr>
          <a:xfrm>
            <a:off x="581025" y="554831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Clinical &amp; pathology labs, Biologics &amp; reagents, Clinical research sites, Human-factors &amp; device design</a:t>
            </a:r>
          </a:p>
        </p:txBody>
      </p:sp>
      <p:pic>
        <p:nvPicPr>
          <p:cNvPr id="69" name="Picture 68" descr="A microscope over a specimen slide"/>
          <p:cNvPicPr>
            <a:picLocks noChangeAspect="1"/>
          </p:cNvPicPr>
          <p:nvPr/>
        </p:nvPicPr>
        <p:blipFill>
          <a:blip r:embed="rId10"/>
          <a:srcRect t="24371" b="24371"/>
          <a:stretch>
            <a:fillRect/>
          </a:stretch>
        </p:blipFill>
        <p:spPr>
          <a:xfrm>
            <a:off x="581025" y="6257925"/>
            <a:ext cx="2190750" cy="533400"/>
          </a:xfrm>
          <a:prstGeom prst="rect">
            <a:avLst/>
          </a:prstGeom>
        </p:spPr>
      </p:pic>
      <p:sp>
        <p:nvSpPr>
          <p:cNvPr id="70"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71" name="Rectangle 70"/>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 Quest grew revenue 10.2% in the se"/>
          <p:cNvSpPr txBox="1"/>
          <p:nvPr/>
        </p:nvSpPr>
        <p:spPr>
          <a:xfrm>
            <a:off x="3219450" y="490537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Quest grew revenue 10.2% in the second quarter on 13.1% more requisitions (</a:t>
            </a:r>
            <a:r>
              <a:rPr sz="825" b="0" i="0" spc="15">
                <a:solidFill>
                  <a:srgbClr val="8C6239"/>
                </a:solidFill>
                <a:latin typeface="Calibri"/>
                <a:hlinkClick r:id="rId11">
                  <a:extLst>
                    <a:ext uri="{A12FA001-AC4F-418D-AE19-62706E023703}">
                      <ahyp:hlinkClr xmlns:ahyp="http://schemas.microsoft.com/office/drawing/2018/hyperlinkcolor" val="tx"/>
                    </a:ext>
                  </a:extLst>
                </a:hlinkClick>
              </a:rPr>
              <a:t>Quest Diagnostics</a:t>
            </a:r>
            <a:r>
              <a:rPr sz="825" b="0" i="0" spc="15">
                <a:solidFill>
                  <a:srgbClr val="333231"/>
                </a:solidFill>
                <a:latin typeface="Calibri"/>
              </a:rPr>
              <a:t>), and Labcorp spent $528.6 million on acquisitions in the first half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Labcorp Form 10-Q</a:t>
            </a:r>
            <a:r>
              <a:rPr sz="825" b="0" i="0" spc="15">
                <a:solidFill>
                  <a:srgbClr val="333231"/>
                </a:solidFill>
                <a:latin typeface="Calibri"/>
              </a:rPr>
              <a:t>).</a:t>
            </a:r>
          </a:p>
        </p:txBody>
      </p:sp>
      <p:sp>
        <p:nvSpPr>
          <p:cNvPr id="73" name="Rectangle 72"/>
          <p:cNvSpPr/>
          <p:nvPr/>
        </p:nvSpPr>
        <p:spPr>
          <a:xfrm>
            <a:off x="3095625" y="5457825"/>
            <a:ext cx="47625" cy="47625"/>
          </a:xfrm>
          <a:prstGeom prst="rect">
            <a:avLst/>
          </a:prstGeom>
          <a:solidFill>
            <a:srgbClr val="B68757"/>
          </a:solidFill>
          <a:ln>
            <a:noFill/>
          </a:ln>
          <a:effectLst/>
        </p:spPr>
        <p:txBody>
          <a:bodyPr rtlCol="0" anchor="ctr"/>
          <a:lstStyle/>
          <a:p>
            <a:pPr algn="ctr"/>
            <a:endParaRPr/>
          </a:p>
        </p:txBody>
      </p:sp>
      <p:sp>
        <p:nvSpPr>
          <p:cNvPr id="74" name="Text: Medicare laboratory fee cuts of up"/>
          <p:cNvSpPr txBox="1"/>
          <p:nvPr/>
        </p:nvSpPr>
        <p:spPr>
          <a:xfrm>
            <a:off x="3219450" y="5419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Medicare laboratory fee cuts of up to 15% a year could resume in 2027 unless Congress passes the RESULTS Act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Association for Diagnostics &amp; Laboratory Medicine</a:t>
            </a:r>
            <a:r>
              <a:rPr sz="825" b="0" i="0" spc="15">
                <a:solidFill>
                  <a:srgbClr val="333231"/>
                </a:solidFill>
                <a:latin typeface="Calibri"/>
              </a:rPr>
              <a:t>).</a:t>
            </a:r>
          </a:p>
        </p:txBody>
      </p:sp>
      <p:sp>
        <p:nvSpPr>
          <p:cNvPr id="75" name="Rectangle 74"/>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6" name="Text: Outsourced research has recovered,"/>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Outsourced research has recovered, with IQVIA's net bookings up 19%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IQVIA</a:t>
            </a:r>
            <a:r>
              <a:rPr sz="825" b="0" i="0" spc="15">
                <a:solidFill>
                  <a:srgbClr val="333231"/>
                </a:solidFill>
                <a:latin typeface="Calibri"/>
              </a:rPr>
              <a:t>) and Medpace growing revenue 17.2%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Medpace</a:t>
            </a:r>
            <a:r>
              <a:rPr sz="825" b="0" i="0" spc="15">
                <a:solidFill>
                  <a:srgbClr val="333231"/>
                </a:solidFill>
                <a:latin typeface="Calibri"/>
              </a:rPr>
              <a:t>).</a:t>
            </a:r>
          </a:p>
        </p:txBody>
      </p:sp>
      <p:sp>
        <p:nvSpPr>
          <p:cNvPr id="77" name="Rectangle 76"/>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8" name="Text: Sponsor-backed networks continue t"/>
          <p:cNvSpPr txBox="1"/>
          <p:nvPr/>
        </p:nvSpPr>
        <p:spPr>
          <a:xfrm>
            <a:off x="3219450" y="6143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Sponsor-backed networks continue to buy clinical research sites, including Headlands Research in California and Summit Clinical Research in Dallas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Headlands Research</a:t>
            </a:r>
            <a:r>
              <a:rPr sz="825" b="0" i="0" spc="15">
                <a:solidFill>
                  <a:srgbClr val="333231"/>
                </a:solidFill>
                <a:latin typeface="Calibri"/>
              </a:rPr>
              <a:t>; </a:t>
            </a:r>
            <a:r>
              <a:rPr sz="825" b="0" i="0" spc="15">
                <a:solidFill>
                  <a:srgbClr val="8C6239"/>
                </a:solidFill>
                <a:latin typeface="Calibri"/>
                <a:hlinkClick r:id="rId17">
                  <a:extLst>
                    <a:ext uri="{A12FA001-AC4F-418D-AE19-62706E023703}">
                      <ahyp:hlinkClr xmlns:ahyp="http://schemas.microsoft.com/office/drawing/2018/hyperlinkcolor" val="tx"/>
                    </a:ext>
                  </a:extLst>
                </a:hlinkClick>
              </a:rPr>
              <a:t>Summit Clinical Research</a:t>
            </a:r>
            <a:r>
              <a:rPr sz="825" b="0" i="0" spc="15">
                <a:solidFill>
                  <a:srgbClr val="333231"/>
                </a:solidFill>
                <a:latin typeface="Calibri"/>
              </a:rPr>
              <a:t>).</a:t>
            </a:r>
          </a:p>
        </p:txBody>
      </p:sp>
      <p:sp>
        <p:nvSpPr>
          <p:cNvPr id="79" name="Rectangle 7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81" name="Text: Labcorp and Quest for laboratories"/>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Rectangle 81"/>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3"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4" name="Rounded Rectangle 83"/>
          <p:cNvSpPr/>
          <p:nvPr/>
        </p:nvSpPr>
        <p:spPr>
          <a:xfrm>
            <a:off x="7534275" y="6372225"/>
            <a:ext cx="200323"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LH"/>
          <p:cNvSpPr txBox="1"/>
          <p:nvPr/>
        </p:nvSpPr>
        <p:spPr>
          <a:xfrm>
            <a:off x="7591425" y="6372225"/>
            <a:ext cx="1003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86" name="Rounded Rectangle 85"/>
          <p:cNvSpPr/>
          <p:nvPr/>
        </p:nvSpPr>
        <p:spPr>
          <a:xfrm>
            <a:off x="7772698" y="6372225"/>
            <a:ext cx="261491"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DGX"/>
          <p:cNvSpPr txBox="1"/>
          <p:nvPr/>
        </p:nvSpPr>
        <p:spPr>
          <a:xfrm>
            <a:off x="7829848" y="6372225"/>
            <a:ext cx="16147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8" name="Rounded Rectangle 87"/>
          <p:cNvSpPr/>
          <p:nvPr/>
        </p:nvSpPr>
        <p:spPr>
          <a:xfrm>
            <a:off x="8072289" y="6372225"/>
            <a:ext cx="278755"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TMO"/>
          <p:cNvSpPr txBox="1"/>
          <p:nvPr/>
        </p:nvSpPr>
        <p:spPr>
          <a:xfrm>
            <a:off x="8129439" y="6372225"/>
            <a:ext cx="17874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90" name="Rounded Rectangle 89"/>
          <p:cNvSpPr/>
          <p:nvPr/>
        </p:nvSpPr>
        <p:spPr>
          <a:xfrm>
            <a:off x="8389144" y="6372225"/>
            <a:ext cx="261938"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DHR"/>
          <p:cNvSpPr txBox="1"/>
          <p:nvPr/>
        </p:nvSpPr>
        <p:spPr>
          <a:xfrm>
            <a:off x="8446294" y="6372225"/>
            <a:ext cx="161925"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92" name="Rounded Rectangle 91"/>
          <p:cNvSpPr/>
          <p:nvPr/>
        </p:nvSpPr>
        <p:spPr>
          <a:xfrm>
            <a:off x="8689181" y="6372225"/>
            <a:ext cx="287982"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TECH"/>
          <p:cNvSpPr txBox="1"/>
          <p:nvPr/>
        </p:nvSpPr>
        <p:spPr>
          <a:xfrm>
            <a:off x="8746331" y="6372225"/>
            <a:ext cx="18797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94" name="Rounded Rectangle 93"/>
          <p:cNvSpPr/>
          <p:nvPr/>
        </p:nvSpPr>
        <p:spPr>
          <a:xfrm>
            <a:off x="9015264" y="6372225"/>
            <a:ext cx="239316"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IQV"/>
          <p:cNvSpPr txBox="1"/>
          <p:nvPr/>
        </p:nvSpPr>
        <p:spPr>
          <a:xfrm>
            <a:off x="9072414" y="6372225"/>
            <a:ext cx="1393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6" name="Rounded Rectangle 95"/>
          <p:cNvSpPr/>
          <p:nvPr/>
        </p:nvSpPr>
        <p:spPr>
          <a:xfrm>
            <a:off x="7534275" y="6600825"/>
            <a:ext cx="318195"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MEDP"/>
          <p:cNvSpPr txBox="1"/>
          <p:nvPr/>
        </p:nvSpPr>
        <p:spPr>
          <a:xfrm>
            <a:off x="7591425" y="6600825"/>
            <a:ext cx="21818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98" name="Rounded Rectangle 97"/>
          <p:cNvSpPr/>
          <p:nvPr/>
        </p:nvSpPr>
        <p:spPr>
          <a:xfrm>
            <a:off x="7890570" y="6600825"/>
            <a:ext cx="261640" cy="190500"/>
          </a:xfrm>
          <a:prstGeom prst="roundRect">
            <a:avLst>
              <a:gd name="adj" fmla="val 15000"/>
            </a:avLst>
          </a:prstGeom>
          <a:solidFill>
            <a:srgbClr val="2A2928"/>
          </a:solidFill>
          <a:ln>
            <a:noFill/>
          </a:ln>
          <a:effectLst/>
        </p:spPr>
        <p:txBody>
          <a:bodyPr rtlCol="0" anchor="ctr"/>
          <a:lstStyle/>
          <a:p>
            <a:pPr algn="ctr"/>
            <a:endParaRPr/>
          </a:p>
        </p:txBody>
      </p:sp>
      <p:sp>
        <p:nvSpPr>
          <p:cNvPr id="99" name="Text: ICLR"/>
          <p:cNvSpPr txBox="1"/>
          <p:nvPr/>
        </p:nvSpPr>
        <p:spPr>
          <a:xfrm>
            <a:off x="7947720" y="6600825"/>
            <a:ext cx="16162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00" name="Rounded Rectangle 99"/>
          <p:cNvSpPr/>
          <p:nvPr/>
        </p:nvSpPr>
        <p:spPr>
          <a:xfrm>
            <a:off x="8190309" y="6600825"/>
            <a:ext cx="238423" cy="190500"/>
          </a:xfrm>
          <a:prstGeom prst="roundRect">
            <a:avLst>
              <a:gd name="adj" fmla="val 15000"/>
            </a:avLst>
          </a:prstGeom>
          <a:solidFill>
            <a:srgbClr val="2A2928"/>
          </a:solidFill>
          <a:ln>
            <a:noFill/>
          </a:ln>
          <a:effectLst/>
        </p:spPr>
        <p:txBody>
          <a:bodyPr rtlCol="0" anchor="ctr"/>
          <a:lstStyle/>
          <a:p>
            <a:pPr algn="ctr"/>
            <a:endParaRPr/>
          </a:p>
        </p:txBody>
      </p:sp>
      <p:sp>
        <p:nvSpPr>
          <p:cNvPr id="101" name="Text: CRL"/>
          <p:cNvSpPr txBox="1"/>
          <p:nvPr/>
        </p:nvSpPr>
        <p:spPr>
          <a:xfrm>
            <a:off x="8247459" y="6600825"/>
            <a:ext cx="13841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8"/>
          <a:srcRect/>
          <a:stretch>
            <a:fillRect/>
          </a:stretch>
        </p:blipFill>
        <p:spPr>
          <a:xfrm>
            <a:off x="419100" y="7143750"/>
            <a:ext cx="914400" cy="171450"/>
          </a:xfrm>
          <a:prstGeom prst="rect">
            <a:avLst/>
          </a:prstGeom>
        </p:spPr>
      </p:pic>
      <p:sp>
        <p:nvSpPr>
          <p:cNvPr id="104"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Focus areas and the businesses listed under each follow the Middle Market team's healthcare coverage. Buyers named are examples drawn from 2026 transactions and results. Tickers identify the listed reference companies on the valuation pages.</a:t>
            </a:r>
          </a:p>
        </p:txBody>
      </p:sp>
      <p:sp>
        <p:nvSpPr>
          <p:cNvPr id="105" name="Text: 0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erspectives on Four Focus Area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Focus Areas</a:t>
            </a:r>
          </a:p>
        </p:txBody>
      </p:sp>
      <p:sp>
        <p:nvSpPr>
          <p:cNvPr id="6" name="Text: Each focus area has its own buyer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Each focus area has its own buyers and drivers. This page covers products, distribution, pharmacy and staffing.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Rectangle 8"/>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3" descr="v4b0893c35aa4.png"/>
          <p:cNvPicPr>
            <a:picLocks noChangeAspect="1"/>
          </p:cNvPicPr>
          <p:nvPr/>
        </p:nvPicPr>
        <p:blipFill>
          <a:blip r:embed="rId2"/>
          <a:stretch>
            <a:fillRect/>
          </a:stretch>
        </p:blipFill>
        <p:spPr>
          <a:xfrm>
            <a:off x="581025" y="1323975"/>
            <a:ext cx="266700" cy="266700"/>
          </a:xfrm>
          <a:prstGeom prst="rect">
            <a:avLst/>
          </a:prstGeom>
        </p:spPr>
      </p:pic>
      <p:sp>
        <p:nvSpPr>
          <p:cNvPr id="15" name="Text: MEDICAL PRODUCTS &amp; DISTRIBUTION"/>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Rectangle 15"/>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 Procedure demand is firm and consu"/>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 BUSINESSES WE COVER"/>
          <p:cNvSpPr txBox="1"/>
          <p:nvPr/>
        </p:nvSpPr>
        <p:spPr>
          <a:xfrm>
            <a:off x="581025" y="247173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19" name="Text: Surgical instrument reprocessing, "/>
          <p:cNvSpPr txBox="1"/>
          <p:nvPr/>
        </p:nvSpPr>
        <p:spPr>
          <a:xfrm>
            <a:off x="581025" y="2633662"/>
            <a:ext cx="2195512" cy="442912"/>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Surgical instrument reprocessing, Emergency medical supplies, Respiratory &amp; anesthesia products, Dental devices, Orthopedic products</a:t>
            </a:r>
          </a:p>
        </p:txBody>
      </p:sp>
      <p:pic>
        <p:nvPicPr>
          <p:cNvPr id="20" name="Picture 19" descr="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 KEY TRENDS"/>
          <p:cNvSpPr txBox="1"/>
          <p:nvPr/>
        </p:nvSpPr>
        <p:spPr>
          <a:xfrm>
            <a:off x="3095625" y="180022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22" name="Rectangle 21"/>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 Stryker grew 9.0% organically in t"/>
          <p:cNvSpPr txBox="1"/>
          <p:nvPr/>
        </p:nvSpPr>
        <p:spPr>
          <a:xfrm>
            <a:off x="3219450" y="19907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Stryker grew 9.0% organically in the second quarter (</a:t>
            </a:r>
            <a:r>
              <a:rPr sz="825" b="0" i="0" spc="15">
                <a:solidFill>
                  <a:srgbClr val="8C6239"/>
                </a:solidFill>
                <a:latin typeface="Calibri"/>
                <a:hlinkClick r:id="rId4">
                  <a:extLst>
                    <a:ext uri="{A12FA001-AC4F-418D-AE19-62706E023703}">
                      <ahyp:hlinkClr xmlns:ahyp="http://schemas.microsoft.com/office/drawing/2018/hyperlinkcolor" val="tx"/>
                    </a:ext>
                  </a:extLst>
                </a:hlinkClick>
              </a:rPr>
              <a:t>Stryker</a:t>
            </a:r>
            <a:r>
              <a:rPr sz="825" b="0" i="0" spc="15">
                <a:solidFill>
                  <a:srgbClr val="333231"/>
                </a:solidFill>
                <a:latin typeface="Calibri"/>
              </a:rPr>
              <a:t>), and Steris grew healthcare consumables 9% while capital equipment grew 1% (</a:t>
            </a:r>
            <a:r>
              <a:rPr sz="825" b="0" i="0" spc="15">
                <a:solidFill>
                  <a:srgbClr val="8C6239"/>
                </a:solidFill>
                <a:latin typeface="Calibri"/>
                <a:hlinkClick r:id="rId5">
                  <a:extLst>
                    <a:ext uri="{A12FA001-AC4F-418D-AE19-62706E023703}">
                      <ahyp:hlinkClr xmlns:ahyp="http://schemas.microsoft.com/office/drawing/2018/hyperlinkcolor" val="tx"/>
                    </a:ext>
                  </a:extLst>
                </a:hlinkClick>
              </a:rPr>
              <a:t>Steris</a:t>
            </a:r>
            <a:r>
              <a:rPr sz="825" b="0" i="0" spc="15">
                <a:solidFill>
                  <a:srgbClr val="333231"/>
                </a:solidFill>
                <a:latin typeface="Calibri"/>
              </a:rPr>
              <a:t>).</a:t>
            </a:r>
          </a:p>
        </p:txBody>
      </p:sp>
      <p:sp>
        <p:nvSpPr>
          <p:cNvPr id="24" name="Rectangle 23"/>
          <p:cNvSpPr/>
          <p:nvPr/>
        </p:nvSpPr>
        <p:spPr>
          <a:xfrm>
            <a:off x="3095625" y="2390775"/>
            <a:ext cx="47625" cy="47625"/>
          </a:xfrm>
          <a:prstGeom prst="rect">
            <a:avLst/>
          </a:prstGeom>
          <a:solidFill>
            <a:srgbClr val="B68757"/>
          </a:solidFill>
          <a:ln>
            <a:noFill/>
          </a:ln>
          <a:effectLst/>
        </p:spPr>
        <p:txBody>
          <a:bodyPr rtlCol="0" anchor="ctr"/>
          <a:lstStyle/>
          <a:p>
            <a:pPr algn="ctr"/>
            <a:endParaRPr/>
          </a:p>
        </p:txBody>
      </p:sp>
      <p:sp>
        <p:nvSpPr>
          <p:cNvPr id="25" name="Text: Among health system executives, 41"/>
          <p:cNvSpPr txBox="1"/>
          <p:nvPr/>
        </p:nvSpPr>
        <p:spPr>
          <a:xfrm>
            <a:off x="3219450" y="2352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Among health system executives, 41% plan to cut capital spending in 2026 (</a:t>
            </a:r>
            <a:r>
              <a:rPr sz="825" b="0" i="0" spc="15">
                <a:solidFill>
                  <a:srgbClr val="8C6239"/>
                </a:solidFill>
                <a:latin typeface="Calibri"/>
                <a:hlinkClick r:id="rId6">
                  <a:extLst>
                    <a:ext uri="{A12FA001-AC4F-418D-AE19-62706E023703}">
                      <ahyp:hlinkClr xmlns:ahyp="http://schemas.microsoft.com/office/drawing/2018/hyperlinkcolor" val="tx"/>
                    </a:ext>
                  </a:extLst>
                </a:hlinkClick>
              </a:rPr>
              <a:t>HFMA</a:t>
            </a:r>
            <a:r>
              <a:rPr sz="825" b="0" i="0" spc="15">
                <a:solidFill>
                  <a:srgbClr val="333231"/>
                </a:solidFill>
                <a:latin typeface="Calibri"/>
              </a:rPr>
              <a:t>), which favors suppliers of recurring products.</a:t>
            </a:r>
          </a:p>
        </p:txBody>
      </p:sp>
      <p:sp>
        <p:nvSpPr>
          <p:cNvPr id="26" name="Rectangle 25"/>
          <p:cNvSpPr/>
          <p:nvPr/>
        </p:nvSpPr>
        <p:spPr>
          <a:xfrm>
            <a:off x="3095625" y="2752725"/>
            <a:ext cx="47625" cy="47625"/>
          </a:xfrm>
          <a:prstGeom prst="rect">
            <a:avLst/>
          </a:prstGeom>
          <a:solidFill>
            <a:srgbClr val="B68757"/>
          </a:solidFill>
          <a:ln>
            <a:noFill/>
          </a:ln>
          <a:effectLst/>
        </p:spPr>
        <p:txBody>
          <a:bodyPr rtlCol="0" anchor="ctr"/>
          <a:lstStyle/>
          <a:p>
            <a:pPr algn="ctr"/>
            <a:endParaRPr/>
          </a:p>
        </p:txBody>
      </p:sp>
      <p:sp>
        <p:nvSpPr>
          <p:cNvPr id="27" name="Text: Several of the largest distributio"/>
          <p:cNvSpPr txBox="1"/>
          <p:nvPr/>
        </p:nvSpPr>
        <p:spPr>
          <a:xfrm>
            <a:off x="3219450" y="27146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Several of the largest distribution businesses changed ownership, including Owens &amp; Minor's products segment and a 13% interest in McKesson's medical-surgical unit (</a:t>
            </a:r>
            <a:r>
              <a:rPr sz="825" b="0" i="0" spc="15">
                <a:solidFill>
                  <a:srgbClr val="8C6239"/>
                </a:solidFill>
                <a:latin typeface="Calibri"/>
                <a:hlinkClick r:id="rId7">
                  <a:extLst>
                    <a:ext uri="{A12FA001-AC4F-418D-AE19-62706E023703}">
                      <ahyp:hlinkClr xmlns:ahyp="http://schemas.microsoft.com/office/drawing/2018/hyperlinkcolor" val="tx"/>
                    </a:ext>
                  </a:extLst>
                </a:hlinkClick>
              </a:rPr>
              <a:t>Owens &amp; Minor</a:t>
            </a:r>
            <a:r>
              <a:rPr sz="825" b="0" i="0" spc="15">
                <a:solidFill>
                  <a:srgbClr val="333231"/>
                </a:solidFill>
                <a:latin typeface="Calibri"/>
              </a:rPr>
              <a:t>; </a:t>
            </a:r>
            <a:r>
              <a:rPr sz="825" b="0" i="0" spc="15">
                <a:solidFill>
                  <a:srgbClr val="8C6239"/>
                </a:solidFill>
                <a:latin typeface="Calibri"/>
                <a:hlinkClick r:id="rId8">
                  <a:extLst>
                    <a:ext uri="{A12FA001-AC4F-418D-AE19-62706E023703}">
                      <ahyp:hlinkClr xmlns:ahyp="http://schemas.microsoft.com/office/drawing/2018/hyperlinkcolor" val="tx"/>
                    </a:ext>
                  </a:extLst>
                </a:hlinkClick>
              </a:rPr>
              <a:t>McKesson</a:t>
            </a:r>
            <a:r>
              <a:rPr sz="825" b="0" i="0" spc="15">
                <a:solidFill>
                  <a:srgbClr val="333231"/>
                </a:solidFill>
                <a:latin typeface="Calibri"/>
              </a:rPr>
              <a:t>).</a:t>
            </a:r>
          </a:p>
        </p:txBody>
      </p:sp>
      <p:sp>
        <p:nvSpPr>
          <p:cNvPr id="28" name="Rectangle 27"/>
          <p:cNvSpPr/>
          <p:nvPr/>
        </p:nvSpPr>
        <p:spPr>
          <a:xfrm>
            <a:off x="3095625" y="3267075"/>
            <a:ext cx="47625" cy="47625"/>
          </a:xfrm>
          <a:prstGeom prst="rect">
            <a:avLst/>
          </a:prstGeom>
          <a:solidFill>
            <a:srgbClr val="B68757"/>
          </a:solidFill>
          <a:ln>
            <a:noFill/>
          </a:ln>
          <a:effectLst/>
        </p:spPr>
        <p:txBody>
          <a:bodyPr rtlCol="0" anchor="ctr"/>
          <a:lstStyle/>
          <a:p>
            <a:pPr algn="ctr"/>
            <a:endParaRPr/>
          </a:p>
        </p:txBody>
      </p:sp>
      <p:sp>
        <p:nvSpPr>
          <p:cNvPr id="29" name="Text: Tariffs have moved earnings in bot"/>
          <p:cNvSpPr txBox="1"/>
          <p:nvPr/>
        </p:nvSpPr>
        <p:spPr>
          <a:xfrm>
            <a:off x="3219450" y="32289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Tariffs have moved earnings in both directions since the Supreme Court struck down the emergency-powers tariffs in February (</a:t>
            </a:r>
            <a:r>
              <a:rPr sz="825" b="0" i="0" spc="15">
                <a:solidFill>
                  <a:srgbClr val="8C6239"/>
                </a:solidFill>
                <a:latin typeface="Calibri"/>
                <a:hlinkClick r:id="rId9">
                  <a:extLst>
                    <a:ext uri="{A12FA001-AC4F-418D-AE19-62706E023703}">
                      <ahyp:hlinkClr xmlns:ahyp="http://schemas.microsoft.com/office/drawing/2018/hyperlinkcolor" val="tx"/>
                    </a:ext>
                  </a:extLst>
                </a:hlinkClick>
              </a:rPr>
              <a:t>Barnes Dennig</a:t>
            </a:r>
            <a:r>
              <a:rPr sz="825" b="0" i="0" spc="15">
                <a:solidFill>
                  <a:srgbClr val="333231"/>
                </a:solidFill>
                <a:latin typeface="Calibri"/>
              </a:rPr>
              <a:t>).</a:t>
            </a:r>
          </a:p>
        </p:txBody>
      </p:sp>
      <p:sp>
        <p:nvSpPr>
          <p:cNvPr id="30" name="Rectangle 29"/>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 ACTIVE BUYERS"/>
          <p:cNvSpPr txBox="1"/>
          <p:nvPr/>
        </p:nvSpPr>
        <p:spPr>
          <a:xfrm>
            <a:off x="7534275" y="180022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32" name="Text: KKR, Danaher, Stryker, Mitsui Chem"/>
          <p:cNvSpPr txBox="1"/>
          <p:nvPr/>
        </p:nvSpPr>
        <p:spPr>
          <a:xfrm>
            <a:off x="7534275" y="1962150"/>
            <a:ext cx="19573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KKR, Danaher, Stryker, Mitsui Chemicals, Cardinal Health, Aspen Surgical, Platinum Equity and Apollo</a:t>
            </a:r>
          </a:p>
        </p:txBody>
      </p:sp>
      <p:sp>
        <p:nvSpPr>
          <p:cNvPr id="33" name="Rectangle 32"/>
          <p:cNvSpPr/>
          <p:nvPr/>
        </p:nvSpPr>
        <p:spPr>
          <a:xfrm>
            <a:off x="7534275" y="3171825"/>
            <a:ext cx="1943100" cy="9525"/>
          </a:xfrm>
          <a:prstGeom prst="rect">
            <a:avLst/>
          </a:prstGeom>
          <a:solidFill>
            <a:srgbClr val="E3DCD3"/>
          </a:solidFill>
          <a:ln>
            <a:noFill/>
          </a:ln>
          <a:effectLst/>
        </p:spPr>
        <p:txBody>
          <a:bodyPr rtlCol="0" anchor="ctr"/>
          <a:lstStyle/>
          <a:p>
            <a:pPr algn="ctr"/>
            <a:endParaRPr/>
          </a:p>
        </p:txBody>
      </p:sp>
      <p:sp>
        <p:nvSpPr>
          <p:cNvPr id="34" name="Text: LISTED REFERENCE COMPANIES"/>
          <p:cNvSpPr txBox="1"/>
          <p:nvPr/>
        </p:nvSpPr>
        <p:spPr>
          <a:xfrm>
            <a:off x="7534275" y="327660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35" name="Rounded Rectangle 34"/>
          <p:cNvSpPr/>
          <p:nvPr/>
        </p:nvSpPr>
        <p:spPr>
          <a:xfrm>
            <a:off x="7534275" y="3457575"/>
            <a:ext cx="238720" cy="190500"/>
          </a:xfrm>
          <a:prstGeom prst="roundRect">
            <a:avLst>
              <a:gd name="adj" fmla="val 15000"/>
            </a:avLst>
          </a:prstGeom>
          <a:solidFill>
            <a:srgbClr val="2A2928"/>
          </a:solidFill>
          <a:ln>
            <a:noFill/>
          </a:ln>
          <a:effectLst/>
        </p:spPr>
        <p:txBody>
          <a:bodyPr rtlCol="0" anchor="ctr"/>
          <a:lstStyle/>
          <a:p>
            <a:pPr algn="ctr"/>
            <a:endParaRPr/>
          </a:p>
        </p:txBody>
      </p:sp>
      <p:sp>
        <p:nvSpPr>
          <p:cNvPr id="36" name="Text: SYK"/>
          <p:cNvSpPr txBox="1"/>
          <p:nvPr/>
        </p:nvSpPr>
        <p:spPr>
          <a:xfrm>
            <a:off x="7591425" y="3457575"/>
            <a:ext cx="13870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7" name="Rounded Rectangle 36"/>
          <p:cNvSpPr/>
          <p:nvPr/>
        </p:nvSpPr>
        <p:spPr>
          <a:xfrm>
            <a:off x="7811095" y="3457575"/>
            <a:ext cx="233065"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STE"/>
          <p:cNvSpPr txBox="1"/>
          <p:nvPr/>
        </p:nvSpPr>
        <p:spPr>
          <a:xfrm>
            <a:off x="7868245" y="3457575"/>
            <a:ext cx="13305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9" name="Rounded Rectangle 38"/>
          <p:cNvSpPr/>
          <p:nvPr/>
        </p:nvSpPr>
        <p:spPr>
          <a:xfrm>
            <a:off x="8082260" y="3457575"/>
            <a:ext cx="236637" cy="190500"/>
          </a:xfrm>
          <a:prstGeom prst="roundRect">
            <a:avLst>
              <a:gd name="adj" fmla="val 15000"/>
            </a:avLst>
          </a:prstGeom>
          <a:solidFill>
            <a:srgbClr val="2A2928"/>
          </a:solidFill>
          <a:ln>
            <a:noFill/>
          </a:ln>
          <a:effectLst/>
        </p:spPr>
        <p:txBody>
          <a:bodyPr rtlCol="0" anchor="ctr"/>
          <a:lstStyle/>
          <a:p>
            <a:pPr algn="ctr"/>
            <a:endParaRPr/>
          </a:p>
        </p:txBody>
      </p:sp>
      <p:sp>
        <p:nvSpPr>
          <p:cNvPr id="40" name="Text: TFX"/>
          <p:cNvSpPr txBox="1"/>
          <p:nvPr/>
        </p:nvSpPr>
        <p:spPr>
          <a:xfrm>
            <a:off x="8139410" y="3457575"/>
            <a:ext cx="13662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41" name="Rounded Rectangle 40"/>
          <p:cNvSpPr/>
          <p:nvPr/>
        </p:nvSpPr>
        <p:spPr>
          <a:xfrm>
            <a:off x="8356997" y="3457575"/>
            <a:ext cx="270570" cy="190500"/>
          </a:xfrm>
          <a:prstGeom prst="roundRect">
            <a:avLst>
              <a:gd name="adj" fmla="val 15000"/>
            </a:avLst>
          </a:prstGeom>
          <a:solidFill>
            <a:srgbClr val="2A2928"/>
          </a:solidFill>
          <a:ln>
            <a:noFill/>
          </a:ln>
          <a:effectLst/>
        </p:spPr>
        <p:txBody>
          <a:bodyPr rtlCol="0" anchor="ctr"/>
          <a:lstStyle/>
          <a:p>
            <a:pPr algn="ctr"/>
            <a:endParaRPr/>
          </a:p>
        </p:txBody>
      </p:sp>
      <p:sp>
        <p:nvSpPr>
          <p:cNvPr id="42" name="Text: HSIC"/>
          <p:cNvSpPr txBox="1"/>
          <p:nvPr/>
        </p:nvSpPr>
        <p:spPr>
          <a:xfrm>
            <a:off x="8414147" y="3457575"/>
            <a:ext cx="17055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43" name="Rounded Rectangle 42"/>
          <p:cNvSpPr/>
          <p:nvPr/>
        </p:nvSpPr>
        <p:spPr>
          <a:xfrm>
            <a:off x="8665666" y="3457575"/>
            <a:ext cx="290215" cy="190500"/>
          </a:xfrm>
          <a:prstGeom prst="roundRect">
            <a:avLst>
              <a:gd name="adj" fmla="val 15000"/>
            </a:avLst>
          </a:prstGeom>
          <a:solidFill>
            <a:srgbClr val="2A2928"/>
          </a:solidFill>
          <a:ln>
            <a:noFill/>
          </a:ln>
          <a:effectLst/>
        </p:spPr>
        <p:txBody>
          <a:bodyPr rtlCol="0" anchor="ctr"/>
          <a:lstStyle/>
          <a:p>
            <a:pPr algn="ctr"/>
            <a:endParaRPr/>
          </a:p>
        </p:txBody>
      </p:sp>
      <p:sp>
        <p:nvSpPr>
          <p:cNvPr id="44" name="Text: XRAY"/>
          <p:cNvSpPr txBox="1"/>
          <p:nvPr/>
        </p:nvSpPr>
        <p:spPr>
          <a:xfrm>
            <a:off x="8722816" y="3457575"/>
            <a:ext cx="19020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45" name="Rounded Rectangle 44"/>
          <p:cNvSpPr/>
          <p:nvPr/>
        </p:nvSpPr>
        <p:spPr>
          <a:xfrm>
            <a:off x="8993981" y="3457575"/>
            <a:ext cx="293489" cy="190500"/>
          </a:xfrm>
          <a:prstGeom prst="roundRect">
            <a:avLst>
              <a:gd name="adj" fmla="val 15000"/>
            </a:avLst>
          </a:prstGeom>
          <a:solidFill>
            <a:srgbClr val="2A2928"/>
          </a:solidFill>
          <a:ln>
            <a:noFill/>
          </a:ln>
          <a:effectLst/>
        </p:spPr>
        <p:txBody>
          <a:bodyPr rtlCol="0" anchor="ctr"/>
          <a:lstStyle/>
          <a:p>
            <a:pPr algn="ctr"/>
            <a:endParaRPr/>
          </a:p>
        </p:txBody>
      </p:sp>
      <p:sp>
        <p:nvSpPr>
          <p:cNvPr id="46" name="Text: NVST"/>
          <p:cNvSpPr txBox="1"/>
          <p:nvPr/>
        </p:nvSpPr>
        <p:spPr>
          <a:xfrm>
            <a:off x="9051131" y="3457575"/>
            <a:ext cx="193477"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47" name="Rounded Rectangle 46"/>
          <p:cNvSpPr/>
          <p:nvPr/>
        </p:nvSpPr>
        <p:spPr>
          <a:xfrm>
            <a:off x="7534275" y="3686175"/>
            <a:ext cx="25018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ZBH"/>
          <p:cNvSpPr txBox="1"/>
          <p:nvPr/>
        </p:nvSpPr>
        <p:spPr>
          <a:xfrm>
            <a:off x="7591425" y="3686175"/>
            <a:ext cx="1501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49" name="Rounded Rectangle 48"/>
          <p:cNvSpPr/>
          <p:nvPr/>
        </p:nvSpPr>
        <p:spPr>
          <a:xfrm>
            <a:off x="7822555" y="3686175"/>
            <a:ext cx="273248" cy="190500"/>
          </a:xfrm>
          <a:prstGeom prst="roundRect">
            <a:avLst>
              <a:gd name="adj" fmla="val 15000"/>
            </a:avLst>
          </a:prstGeom>
          <a:solidFill>
            <a:srgbClr val="2A2928"/>
          </a:solidFill>
          <a:ln>
            <a:noFill/>
          </a:ln>
          <a:effectLst/>
        </p:spPr>
        <p:txBody>
          <a:bodyPr rtlCol="0" anchor="ctr"/>
          <a:lstStyle/>
          <a:p>
            <a:pPr algn="ctr"/>
            <a:endParaRPr/>
          </a:p>
        </p:txBody>
      </p:sp>
      <p:sp>
        <p:nvSpPr>
          <p:cNvPr id="50" name="Text: ITGR"/>
          <p:cNvSpPr txBox="1"/>
          <p:nvPr/>
        </p:nvSpPr>
        <p:spPr>
          <a:xfrm>
            <a:off x="7879705" y="3686175"/>
            <a:ext cx="17323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51" name="Rounded Rectangle 50"/>
          <p:cNvSpPr/>
          <p:nvPr/>
        </p:nvSpPr>
        <p:spPr>
          <a:xfrm>
            <a:off x="8133904" y="3686175"/>
            <a:ext cx="284708" cy="190500"/>
          </a:xfrm>
          <a:prstGeom prst="roundRect">
            <a:avLst>
              <a:gd name="adj" fmla="val 15000"/>
            </a:avLst>
          </a:prstGeom>
          <a:solidFill>
            <a:srgbClr val="2A2928"/>
          </a:solidFill>
          <a:ln>
            <a:noFill/>
          </a:ln>
          <a:effectLst/>
        </p:spPr>
        <p:txBody>
          <a:bodyPr rtlCol="0" anchor="ctr"/>
          <a:lstStyle/>
          <a:p>
            <a:pPr algn="ctr"/>
            <a:endParaRPr/>
          </a:p>
        </p:txBody>
      </p:sp>
      <p:sp>
        <p:nvSpPr>
          <p:cNvPr id="52" name="Text: SOLV"/>
          <p:cNvSpPr txBox="1"/>
          <p:nvPr/>
        </p:nvSpPr>
        <p:spPr>
          <a:xfrm>
            <a:off x="8191054" y="3686175"/>
            <a:ext cx="18469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53" name="Rounded Rectangle 52"/>
          <p:cNvSpPr/>
          <p:nvPr/>
        </p:nvSpPr>
        <p:spPr>
          <a:xfrm>
            <a:off x="8456712" y="3686175"/>
            <a:ext cx="282625" cy="190500"/>
          </a:xfrm>
          <a:prstGeom prst="roundRect">
            <a:avLst>
              <a:gd name="adj" fmla="val 15000"/>
            </a:avLst>
          </a:prstGeom>
          <a:solidFill>
            <a:srgbClr val="2A2928"/>
          </a:solidFill>
          <a:ln>
            <a:noFill/>
          </a:ln>
          <a:effectLst/>
        </p:spPr>
        <p:txBody>
          <a:bodyPr rtlCol="0" anchor="ctr"/>
          <a:lstStyle/>
          <a:p>
            <a:pPr algn="ctr"/>
            <a:endParaRPr/>
          </a:p>
        </p:txBody>
      </p:sp>
      <p:sp>
        <p:nvSpPr>
          <p:cNvPr id="54" name="Text: VMD"/>
          <p:cNvSpPr txBox="1"/>
          <p:nvPr/>
        </p:nvSpPr>
        <p:spPr>
          <a:xfrm>
            <a:off x="8513862" y="3686175"/>
            <a:ext cx="18261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55" name="Rectangle 54"/>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Rectangle 55"/>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60" descr="v66edc017b657.png"/>
          <p:cNvPicPr>
            <a:picLocks noChangeAspect="1"/>
          </p:cNvPicPr>
          <p:nvPr/>
        </p:nvPicPr>
        <p:blipFill>
          <a:blip r:embed="rId10"/>
          <a:stretch>
            <a:fillRect/>
          </a:stretch>
        </p:blipFill>
        <p:spPr>
          <a:xfrm>
            <a:off x="581025" y="4238625"/>
            <a:ext cx="266700" cy="266700"/>
          </a:xfrm>
          <a:prstGeom prst="rect">
            <a:avLst/>
          </a:prstGeom>
        </p:spPr>
      </p:pic>
      <p:sp>
        <p:nvSpPr>
          <p:cNvPr id="62" name="Text: PHARMACY &amp; HEALTHCARE SERVICES"/>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Rectangle 6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 Drug pricing reform is reshaping p"/>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 BUSINESSES WE COVER"/>
          <p:cNvSpPr txBox="1"/>
          <p:nvPr/>
        </p:nvSpPr>
        <p:spPr>
          <a:xfrm>
            <a:off x="581025" y="5386388"/>
            <a:ext cx="21955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BUSINESSES WE COVER</a:t>
            </a:r>
          </a:p>
        </p:txBody>
      </p:sp>
      <p:sp>
        <p:nvSpPr>
          <p:cNvPr id="66" name="Text: Specialty &amp; mail-order pharmacy, H"/>
          <p:cNvSpPr txBox="1"/>
          <p:nvPr/>
        </p:nvSpPr>
        <p:spPr>
          <a:xfrm>
            <a:off x="581025" y="5548312"/>
            <a:ext cx="2195512" cy="295275"/>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Specialty &amp; mail-order pharmacy, Home infusion, Pharmaceutical delivery, Clinical staffing</a:t>
            </a:r>
          </a:p>
        </p:txBody>
      </p:sp>
      <p:pic>
        <p:nvPicPr>
          <p:cNvPr id="67" name="Picture 66" descr="Shelves of medicines in a pharmacy"/>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 KEY TRENDS"/>
          <p:cNvSpPr txBox="1"/>
          <p:nvPr/>
        </p:nvSpPr>
        <p:spPr>
          <a:xfrm>
            <a:off x="3095625" y="4714875"/>
            <a:ext cx="41290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KEY TRENDS</a:t>
            </a:r>
          </a:p>
        </p:txBody>
      </p:sp>
      <p:sp>
        <p:nvSpPr>
          <p:cNvPr id="69" name="Rectangle 68"/>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 US net medicine spending reached $"/>
          <p:cNvSpPr txBox="1"/>
          <p:nvPr/>
        </p:nvSpPr>
        <p:spPr>
          <a:xfrm>
            <a:off x="3219450" y="49053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US net medicine spending reached $606 billion in 2025, up 10.6% (</a:t>
            </a:r>
            <a:r>
              <a:rPr sz="825" b="0" i="0" spc="15">
                <a:solidFill>
                  <a:srgbClr val="8C6239"/>
                </a:solidFill>
                <a:latin typeface="Calibri"/>
                <a:hlinkClick r:id="rId12">
                  <a:extLst>
                    <a:ext uri="{A12FA001-AC4F-418D-AE19-62706E023703}">
                      <ahyp:hlinkClr xmlns:ahyp="http://schemas.microsoft.com/office/drawing/2018/hyperlinkcolor" val="tx"/>
                    </a:ext>
                  </a:extLst>
                </a:hlinkClick>
              </a:rPr>
              <a:t>IQVIA Institute</a:t>
            </a:r>
            <a:r>
              <a:rPr sz="825" b="0" i="0" spc="15">
                <a:solidFill>
                  <a:srgbClr val="333231"/>
                </a:solidFill>
                <a:latin typeface="Calibri"/>
              </a:rPr>
              <a:t>), while independent pharmacies reported their lowest gross profit in ten years (</a:t>
            </a:r>
            <a:r>
              <a:rPr sz="825" b="0" i="0" spc="15">
                <a:solidFill>
                  <a:srgbClr val="8C6239"/>
                </a:solidFill>
                <a:latin typeface="Calibri"/>
                <a:hlinkClick r:id="rId13">
                  <a:extLst>
                    <a:ext uri="{A12FA001-AC4F-418D-AE19-62706E023703}">
                      <ahyp:hlinkClr xmlns:ahyp="http://schemas.microsoft.com/office/drawing/2018/hyperlinkcolor" val="tx"/>
                    </a:ext>
                  </a:extLst>
                </a:hlinkClick>
              </a:rPr>
              <a:t>NCPA Digest</a:t>
            </a:r>
            <a:r>
              <a:rPr sz="825" b="0" i="0" spc="15">
                <a:solidFill>
                  <a:srgbClr val="333231"/>
                </a:solidFill>
                <a:latin typeface="Calibri"/>
              </a:rPr>
              <a:t>).</a:t>
            </a:r>
          </a:p>
        </p:txBody>
      </p:sp>
      <p:sp>
        <p:nvSpPr>
          <p:cNvPr id="71" name="Rectangle 70"/>
          <p:cNvSpPr/>
          <p:nvPr/>
        </p:nvSpPr>
        <p:spPr>
          <a:xfrm>
            <a:off x="3095625" y="5305425"/>
            <a:ext cx="47625" cy="47625"/>
          </a:xfrm>
          <a:prstGeom prst="rect">
            <a:avLst/>
          </a:prstGeom>
          <a:solidFill>
            <a:srgbClr val="B68757"/>
          </a:solidFill>
          <a:ln>
            <a:noFill/>
          </a:ln>
          <a:effectLst/>
        </p:spPr>
        <p:txBody>
          <a:bodyPr rtlCol="0" anchor="ctr"/>
          <a:lstStyle/>
          <a:p>
            <a:pPr algn="ctr"/>
            <a:endParaRPr/>
          </a:p>
        </p:txBody>
      </p:sp>
      <p:sp>
        <p:nvSpPr>
          <p:cNvPr id="72" name="Text: Negotiated Medicare prices have cu"/>
          <p:cNvSpPr txBox="1"/>
          <p:nvPr/>
        </p:nvSpPr>
        <p:spPr>
          <a:xfrm>
            <a:off x="3219450" y="52673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hit hardest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Rectangle 72"/>
          <p:cNvSpPr/>
          <p:nvPr/>
        </p:nvSpPr>
        <p:spPr>
          <a:xfrm>
            <a:off x="3095625" y="5819775"/>
            <a:ext cx="47625" cy="47625"/>
          </a:xfrm>
          <a:prstGeom prst="rect">
            <a:avLst/>
          </a:prstGeom>
          <a:solidFill>
            <a:srgbClr val="B68757"/>
          </a:solidFill>
          <a:ln>
            <a:noFill/>
          </a:ln>
          <a:effectLst/>
        </p:spPr>
        <p:txBody>
          <a:bodyPr rtlCol="0" anchor="ctr"/>
          <a:lstStyle/>
          <a:p>
            <a:pPr algn="ctr"/>
            <a:endParaRPr/>
          </a:p>
        </p:txBody>
      </p:sp>
      <p:sp>
        <p:nvSpPr>
          <p:cNvPr id="74" name="Text: Specialty and infusion are growing"/>
          <p:cNvSpPr txBox="1"/>
          <p:nvPr/>
        </p:nvSpPr>
        <p:spPr>
          <a:xfrm>
            <a:off x="3219450" y="578167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Specialty and infusion are growing fastest, and BrightSpring's specialty and infusion revenue rose 30% to $2.9 billion (</a:t>
            </a:r>
            <a:r>
              <a:rPr sz="825" b="0" i="0" spc="15">
                <a:solidFill>
                  <a:srgbClr val="8C6239"/>
                </a:solidFill>
                <a:latin typeface="Calibri"/>
                <a:hlinkClick r:id="rId15">
                  <a:extLst>
                    <a:ext uri="{A12FA001-AC4F-418D-AE19-62706E023703}">
                      <ahyp:hlinkClr xmlns:ahyp="http://schemas.microsoft.com/office/drawing/2018/hyperlinkcolor" val="tx"/>
                    </a:ext>
                  </a:extLst>
                </a:hlinkClick>
              </a:rPr>
              <a:t>BrightSpring</a:t>
            </a:r>
            <a:r>
              <a:rPr sz="825" b="0" i="0" spc="15">
                <a:solidFill>
                  <a:srgbClr val="333231"/>
                </a:solidFill>
                <a:latin typeface="Calibri"/>
              </a:rPr>
              <a:t>).</a:t>
            </a:r>
          </a:p>
        </p:txBody>
      </p:sp>
      <p:sp>
        <p:nvSpPr>
          <p:cNvPr id="75" name="Rectangle 74"/>
          <p:cNvSpPr/>
          <p:nvPr/>
        </p:nvSpPr>
        <p:spPr>
          <a:xfrm>
            <a:off x="3095625" y="6181725"/>
            <a:ext cx="47625" cy="47625"/>
          </a:xfrm>
          <a:prstGeom prst="rect">
            <a:avLst/>
          </a:prstGeom>
          <a:solidFill>
            <a:srgbClr val="B68757"/>
          </a:solidFill>
          <a:ln>
            <a:noFill/>
          </a:ln>
          <a:effectLst/>
        </p:spPr>
        <p:txBody>
          <a:bodyPr rtlCol="0" anchor="ctr"/>
          <a:lstStyle/>
          <a:p>
            <a:pPr algn="ctr"/>
            <a:endParaRPr/>
          </a:p>
        </p:txBody>
      </p:sp>
      <p:sp>
        <p:nvSpPr>
          <p:cNvPr id="76" name="Text: Healthcare staffing is forecast to"/>
          <p:cNvSpPr txBox="1"/>
          <p:nvPr/>
        </p:nvSpPr>
        <p:spPr>
          <a:xfrm>
            <a:off x="3219450" y="6143625"/>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Healthcare staffing is forecast to grow 1% to $39.0 billion in 2026 after three years of contraction (</a:t>
            </a:r>
            <a:r>
              <a:rPr sz="825"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825" b="0" i="0" spc="15">
                <a:solidFill>
                  <a:srgbClr val="333231"/>
                </a:solidFill>
                <a:latin typeface="Calibri"/>
              </a:rPr>
              <a:t>).</a:t>
            </a:r>
          </a:p>
        </p:txBody>
      </p:sp>
      <p:sp>
        <p:nvSpPr>
          <p:cNvPr id="77" name="Rectangle 76"/>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 ACTIVE BUYERS"/>
          <p:cNvSpPr txBox="1"/>
          <p:nvPr/>
        </p:nvSpPr>
        <p:spPr>
          <a:xfrm>
            <a:off x="7534275" y="4714875"/>
            <a:ext cx="19573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ACTIVE BUYERS</a:t>
            </a:r>
          </a:p>
        </p:txBody>
      </p:sp>
      <p:sp>
        <p:nvSpPr>
          <p:cNvPr id="79" name="Text: Guardian Pharmacy Services, Cencor"/>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Rectangle 79"/>
          <p:cNvSpPr/>
          <p:nvPr/>
        </p:nvSpPr>
        <p:spPr>
          <a:xfrm>
            <a:off x="7534275" y="6086475"/>
            <a:ext cx="1943100" cy="9525"/>
          </a:xfrm>
          <a:prstGeom prst="rect">
            <a:avLst/>
          </a:prstGeom>
          <a:solidFill>
            <a:srgbClr val="E3DCD3"/>
          </a:solidFill>
          <a:ln>
            <a:noFill/>
          </a:ln>
          <a:effectLst/>
        </p:spPr>
        <p:txBody>
          <a:bodyPr rtlCol="0" anchor="ctr"/>
          <a:lstStyle/>
          <a:p>
            <a:pPr algn="ctr"/>
            <a:endParaRPr/>
          </a:p>
        </p:txBody>
      </p:sp>
      <p:sp>
        <p:nvSpPr>
          <p:cNvPr id="81" name="Text: LISTED REFERENCE COMPANIES"/>
          <p:cNvSpPr txBox="1"/>
          <p:nvPr/>
        </p:nvSpPr>
        <p:spPr>
          <a:xfrm>
            <a:off x="7534275" y="6191250"/>
            <a:ext cx="1957388" cy="123825"/>
          </a:xfrm>
          <a:prstGeom prst="rect">
            <a:avLst/>
          </a:prstGeom>
          <a:noFill/>
        </p:spPr>
        <p:txBody>
          <a:bodyPr wrap="square" lIns="0" tIns="0" rIns="0" bIns="0" anchor="t">
            <a:spAutoFit/>
          </a:bodyPr>
          <a:lstStyle/>
          <a:p>
            <a:pPr algn="l">
              <a:lnSpc>
                <a:spcPts val="975"/>
              </a:lnSpc>
            </a:pPr>
            <a:r>
              <a:rPr sz="638" b="1" i="0" spc="150">
                <a:solidFill>
                  <a:srgbClr val="6F6A66"/>
                </a:solidFill>
                <a:latin typeface="Calibri"/>
              </a:rPr>
              <a:t>LISTED REFERENCE COMPANIES</a:t>
            </a:r>
          </a:p>
        </p:txBody>
      </p:sp>
      <p:sp>
        <p:nvSpPr>
          <p:cNvPr id="82" name="Rounded Rectangle 81"/>
          <p:cNvSpPr/>
          <p:nvPr/>
        </p:nvSpPr>
        <p:spPr>
          <a:xfrm>
            <a:off x="7534275" y="6372225"/>
            <a:ext cx="306288"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OPCH"/>
          <p:cNvSpPr txBox="1"/>
          <p:nvPr/>
        </p:nvSpPr>
        <p:spPr>
          <a:xfrm>
            <a:off x="7591425" y="6372225"/>
            <a:ext cx="20627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84" name="Rounded Rectangle 83"/>
          <p:cNvSpPr/>
          <p:nvPr/>
        </p:nvSpPr>
        <p:spPr>
          <a:xfrm>
            <a:off x="7878663" y="6372225"/>
            <a:ext cx="288727" cy="190500"/>
          </a:xfrm>
          <a:prstGeom prst="roundRect">
            <a:avLst>
              <a:gd name="adj" fmla="val 15000"/>
            </a:avLst>
          </a:prstGeom>
          <a:solidFill>
            <a:srgbClr val="2A2928"/>
          </a:solidFill>
          <a:ln>
            <a:noFill/>
          </a:ln>
          <a:effectLst/>
        </p:spPr>
        <p:txBody>
          <a:bodyPr rtlCol="0" anchor="ctr"/>
          <a:lstStyle/>
          <a:p>
            <a:pPr algn="ctr"/>
            <a:endParaRPr/>
          </a:p>
        </p:txBody>
      </p:sp>
      <p:sp>
        <p:nvSpPr>
          <p:cNvPr id="85" name="Text: BTSG"/>
          <p:cNvSpPr txBox="1"/>
          <p:nvPr/>
        </p:nvSpPr>
        <p:spPr>
          <a:xfrm>
            <a:off x="7935813" y="6372225"/>
            <a:ext cx="188714"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86" name="Rounded Rectangle 85"/>
          <p:cNvSpPr/>
          <p:nvPr/>
        </p:nvSpPr>
        <p:spPr>
          <a:xfrm>
            <a:off x="8205490" y="6372225"/>
            <a:ext cx="315516"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GRDN"/>
          <p:cNvSpPr txBox="1"/>
          <p:nvPr/>
        </p:nvSpPr>
        <p:spPr>
          <a:xfrm>
            <a:off x="8262640" y="6372225"/>
            <a:ext cx="215503"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88" name="Rounded Rectangle 87"/>
          <p:cNvSpPr/>
          <p:nvPr/>
        </p:nvSpPr>
        <p:spPr>
          <a:xfrm>
            <a:off x="8559105" y="6372225"/>
            <a:ext cx="271611" cy="190500"/>
          </a:xfrm>
          <a:prstGeom prst="roundRect">
            <a:avLst>
              <a:gd name="adj" fmla="val 15000"/>
            </a:avLst>
          </a:prstGeom>
          <a:solidFill>
            <a:srgbClr val="2A2928"/>
          </a:solidFill>
          <a:ln>
            <a:noFill/>
          </a:ln>
          <a:effectLst/>
        </p:spPr>
        <p:txBody>
          <a:bodyPr rtlCol="0" anchor="ctr"/>
          <a:lstStyle/>
          <a:p>
            <a:pPr algn="ctr"/>
            <a:endParaRPr/>
          </a:p>
        </p:txBody>
      </p:sp>
      <p:sp>
        <p:nvSpPr>
          <p:cNvPr id="89" name="Text: MCK"/>
          <p:cNvSpPr txBox="1"/>
          <p:nvPr/>
        </p:nvSpPr>
        <p:spPr>
          <a:xfrm>
            <a:off x="8616255" y="6372225"/>
            <a:ext cx="171599"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0" name="Rounded Rectangle 89"/>
          <p:cNvSpPr/>
          <p:nvPr/>
        </p:nvSpPr>
        <p:spPr>
          <a:xfrm>
            <a:off x="8868817" y="6372225"/>
            <a:ext cx="257175" cy="190500"/>
          </a:xfrm>
          <a:prstGeom prst="roundRect">
            <a:avLst>
              <a:gd name="adj" fmla="val 15000"/>
            </a:avLst>
          </a:prstGeom>
          <a:solidFill>
            <a:srgbClr val="2A2928"/>
          </a:solidFill>
          <a:ln>
            <a:noFill/>
          </a:ln>
          <a:effectLst/>
        </p:spPr>
        <p:txBody>
          <a:bodyPr rtlCol="0" anchor="ctr"/>
          <a:lstStyle/>
          <a:p>
            <a:pPr algn="ctr"/>
            <a:endParaRPr/>
          </a:p>
        </p:txBody>
      </p:sp>
      <p:sp>
        <p:nvSpPr>
          <p:cNvPr id="91" name="Text: COR"/>
          <p:cNvSpPr txBox="1"/>
          <p:nvPr/>
        </p:nvSpPr>
        <p:spPr>
          <a:xfrm>
            <a:off x="8925967" y="6372225"/>
            <a:ext cx="157162"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92" name="Rounded Rectangle 91"/>
          <p:cNvSpPr/>
          <p:nvPr/>
        </p:nvSpPr>
        <p:spPr>
          <a:xfrm>
            <a:off x="9164092" y="6372225"/>
            <a:ext cx="257473"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CAH"/>
          <p:cNvSpPr txBox="1"/>
          <p:nvPr/>
        </p:nvSpPr>
        <p:spPr>
          <a:xfrm>
            <a:off x="9221242" y="6372225"/>
            <a:ext cx="157460"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94" name="Rounded Rectangle 93"/>
          <p:cNvSpPr/>
          <p:nvPr/>
        </p:nvSpPr>
        <p:spPr>
          <a:xfrm>
            <a:off x="7534275" y="6600825"/>
            <a:ext cx="24378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VS"/>
          <p:cNvSpPr txBox="1"/>
          <p:nvPr/>
        </p:nvSpPr>
        <p:spPr>
          <a:xfrm>
            <a:off x="7591425" y="6600825"/>
            <a:ext cx="14376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96" name="Rounded Rectangle 95"/>
          <p:cNvSpPr/>
          <p:nvPr/>
        </p:nvSpPr>
        <p:spPr>
          <a:xfrm>
            <a:off x="7816155" y="6600825"/>
            <a:ext cx="285899" cy="190500"/>
          </a:xfrm>
          <a:prstGeom prst="roundRect">
            <a:avLst>
              <a:gd name="adj" fmla="val 15000"/>
            </a:avLst>
          </a:prstGeom>
          <a:solidFill>
            <a:srgbClr val="2A2928"/>
          </a:solidFill>
          <a:ln>
            <a:noFill/>
          </a:ln>
          <a:effectLst/>
        </p:spPr>
        <p:txBody>
          <a:bodyPr rtlCol="0" anchor="ctr"/>
          <a:lstStyle/>
          <a:p>
            <a:pPr algn="ctr"/>
            <a:endParaRPr/>
          </a:p>
        </p:txBody>
      </p:sp>
      <p:sp>
        <p:nvSpPr>
          <p:cNvPr id="97" name="Text: AMN"/>
          <p:cNvSpPr txBox="1"/>
          <p:nvPr/>
        </p:nvSpPr>
        <p:spPr>
          <a:xfrm>
            <a:off x="7873305" y="6600825"/>
            <a:ext cx="185886"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98" name="Rectangle 9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98" descr="Benchmark International"/>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 Focus areas and the businesses lis"/>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Focus areas and the businesses listed under each follow the Middle Market team's healthcare coverage. Buyers named are examples drawn from 2026 transactions and results. Tickers identify the listed reference companies on the valuation pages.</a:t>
            </a:r>
          </a:p>
        </p:txBody>
      </p:sp>
      <p:sp>
        <p:nvSpPr>
          <p:cNvPr id="101" name="Text: 0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What We're Reading"/>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 Primary sources and trade reportin"/>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Primary sources and trade reporting from the third quarter.</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9" descr="v243e81c5256f.png"/>
          <p:cNvPicPr>
            <a:picLocks noChangeAspect="1"/>
          </p:cNvPicPr>
          <p:nvPr/>
        </p:nvPicPr>
        <p:blipFill>
          <a:blip r:embed="rId3"/>
          <a:stretch>
            <a:fillRect/>
          </a:stretch>
        </p:blipFill>
        <p:spPr>
          <a:xfrm>
            <a:off x="609600" y="1504950"/>
            <a:ext cx="419100" cy="419100"/>
          </a:xfrm>
          <a:prstGeom prst="rect">
            <a:avLst/>
          </a:prstGeom>
        </p:spPr>
      </p:pic>
      <p:sp>
        <p:nvSpPr>
          <p:cNvPr id="11" name="Text: What We're Reading"/>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Rectangle 11"/>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 Four pieces from the third quarter"/>
          <p:cNvSpPr txBox="1"/>
          <p:nvPr/>
        </p:nvSpPr>
        <p:spPr>
          <a:xfrm>
            <a:off x="609600" y="3505200"/>
            <a:ext cx="1443038" cy="904875"/>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Four pieces from the third quarter, one for each focus area, with the passage we marked and what it means for an owner.</a:t>
            </a:r>
          </a:p>
        </p:txBody>
      </p:sp>
      <p:sp>
        <p:nvSpPr>
          <p:cNvPr id="14" name="Rectangle 13"/>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Rectangle 14"/>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 FIERCE HEALTHCARE | PROVIDER SERVI"/>
          <p:cNvSpPr txBox="1"/>
          <p:nvPr/>
        </p:nvSpPr>
        <p:spPr>
          <a:xfrm>
            <a:off x="2552700" y="1400175"/>
            <a:ext cx="2224683"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FIERCE HEALTHCARE | PROVIDER SERVICES</a:t>
            </a:r>
          </a:p>
        </p:txBody>
      </p:sp>
      <p:sp>
        <p:nvSpPr>
          <p:cNvPr id="17" name="Text: August 19, 2026"/>
          <p:cNvSpPr txBox="1"/>
          <p:nvPr/>
        </p:nvSpPr>
        <p:spPr>
          <a:xfrm>
            <a:off x="5169098" y="1390650"/>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19, 2026</a:t>
            </a:r>
          </a:p>
        </p:txBody>
      </p:sp>
      <p:sp>
        <p:nvSpPr>
          <p:cNvPr id="18" name="Text: Projected healthcare services deal"/>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Rectangle 18"/>
          <p:cNvSpPr/>
          <p:nvPr/>
        </p:nvSpPr>
        <p:spPr>
          <a:xfrm>
            <a:off x="2552700" y="2057400"/>
            <a:ext cx="19050" cy="495300"/>
          </a:xfrm>
          <a:prstGeom prst="rect">
            <a:avLst/>
          </a:prstGeom>
          <a:solidFill>
            <a:srgbClr val="B68757"/>
          </a:solidFill>
          <a:ln>
            <a:noFill/>
          </a:ln>
          <a:effectLst/>
        </p:spPr>
        <p:txBody>
          <a:bodyPr rtlCol="0" anchor="ctr"/>
          <a:lstStyle/>
          <a:p>
            <a:pPr algn="ctr"/>
            <a:endParaRPr/>
          </a:p>
        </p:txBody>
      </p:sp>
      <p:sp>
        <p:nvSpPr>
          <p:cNvPr id="20" name="Text: “It’s hard to imagine that things "/>
          <p:cNvSpPr txBox="1"/>
          <p:nvPr/>
        </p:nvSpPr>
        <p:spPr>
          <a:xfrm>
            <a:off x="2686050" y="2057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“It’s hard to imagine that things stay at such a depressed level. We expect mean reversion going forward.”</a:t>
            </a:r>
          </a:p>
        </p:txBody>
      </p:sp>
      <p:sp>
        <p:nvSpPr>
          <p:cNvPr id="21" name="Text: Brian Wright, lead research analys"/>
          <p:cNvSpPr txBox="1"/>
          <p:nvPr/>
        </p:nvSpPr>
        <p:spPr>
          <a:xfrm>
            <a:off x="2686050" y="2419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Brian Wright, lead research analyst of healthcare at PitchBook</a:t>
            </a:r>
          </a:p>
        </p:txBody>
      </p:sp>
      <p:sp>
        <p:nvSpPr>
          <p:cNvPr id="22" name="Text: Key takeaway."/>
          <p:cNvSpPr txBox="1"/>
          <p:nvPr/>
        </p:nvSpPr>
        <p:spPr>
          <a:xfrm>
            <a:off x="2552700" y="3138488"/>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Private equity is on pace for 674 healthcare services transactions in 2026 after an estimated 337 in the first half. The analyst behind the count expects activity to return toward its longer-run level.</a:t>
            </a:r>
          </a:p>
        </p:txBody>
      </p:sp>
      <p:sp>
        <p:nvSpPr>
          <p:cNvPr id="23" name="Rectangle 22"/>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 READ HERE">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Rectangle 24"/>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Rectangle 25"/>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 IQVIA | LIFE SCIENCES &amp; DIAGNOSTIC"/>
          <p:cNvSpPr txBox="1"/>
          <p:nvPr/>
        </p:nvSpPr>
        <p:spPr>
          <a:xfrm>
            <a:off x="6248400" y="1400175"/>
            <a:ext cx="2045494"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IQVIA | LIFE SCIENCES &amp; DIAGNOSTICS</a:t>
            </a:r>
          </a:p>
        </p:txBody>
      </p:sp>
      <p:sp>
        <p:nvSpPr>
          <p:cNvPr id="28" name="Text: July 8, 2026"/>
          <p:cNvSpPr txBox="1"/>
          <p:nvPr/>
        </p:nvSpPr>
        <p:spPr>
          <a:xfrm>
            <a:off x="9032974" y="1390650"/>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8, 2026</a:t>
            </a:r>
          </a:p>
        </p:txBody>
      </p:sp>
      <p:sp>
        <p:nvSpPr>
          <p:cNvPr id="29" name="Text: Biopharma M&amp;A: Mid-year 2026 updat"/>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Rectangle 29"/>
          <p:cNvSpPr/>
          <p:nvPr/>
        </p:nvSpPr>
        <p:spPr>
          <a:xfrm>
            <a:off x="6248400" y="1871662"/>
            <a:ext cx="19050" cy="828675"/>
          </a:xfrm>
          <a:prstGeom prst="rect">
            <a:avLst/>
          </a:prstGeom>
          <a:solidFill>
            <a:srgbClr val="B68757"/>
          </a:solidFill>
          <a:ln>
            <a:noFill/>
          </a:ln>
          <a:effectLst/>
        </p:spPr>
        <p:txBody>
          <a:bodyPr rtlCol="0" anchor="ctr"/>
          <a:lstStyle/>
          <a:p>
            <a:pPr algn="ctr"/>
            <a:endParaRPr/>
          </a:p>
        </p:txBody>
      </p:sp>
      <p:sp>
        <p:nvSpPr>
          <p:cNvPr id="31" name="Text: “After the first six months of 202"/>
          <p:cNvSpPr txBox="1"/>
          <p:nvPr/>
        </p:nvSpPr>
        <p:spPr>
          <a:xfrm>
            <a:off x="6381750" y="1871662"/>
            <a:ext cx="3119438" cy="666750"/>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 IQVIA Global Thought Leadership"/>
          <p:cNvSpPr txBox="1"/>
          <p:nvPr/>
        </p:nvSpPr>
        <p:spPr>
          <a:xfrm>
            <a:off x="6381750" y="2566988"/>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IQVIA Global Thought Leadership</a:t>
            </a:r>
          </a:p>
        </p:txBody>
      </p:sp>
      <p:sp>
        <p:nvSpPr>
          <p:cNvPr id="33" name="Text: Key takeaway."/>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The count covers acquisitions of $250 million or more, so it describes the largest buyers. Their spending supports demand for the research, laboratory and manufacturing services that founder-owned companies supply.</a:t>
            </a:r>
          </a:p>
        </p:txBody>
      </p:sp>
      <p:sp>
        <p:nvSpPr>
          <p:cNvPr id="34" name="Rectangle 33"/>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 READ HERE">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Rectangle 35"/>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Rectangle 36"/>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 MEDTECH DIVE | MEDICAL PRODUCTS &amp; "/>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 July 6, 2026"/>
          <p:cNvSpPr txBox="1"/>
          <p:nvPr/>
        </p:nvSpPr>
        <p:spPr>
          <a:xfrm>
            <a:off x="5337274" y="4314825"/>
            <a:ext cx="572185"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July 6, 2026</a:t>
            </a:r>
          </a:p>
        </p:txBody>
      </p:sp>
      <p:sp>
        <p:nvSpPr>
          <p:cNvPr id="40" name="Text: Top 10 medtech deals in the first "/>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Rectangle 40"/>
          <p:cNvSpPr/>
          <p:nvPr/>
        </p:nvSpPr>
        <p:spPr>
          <a:xfrm>
            <a:off x="2552700" y="4919662"/>
            <a:ext cx="19050" cy="661988"/>
          </a:xfrm>
          <a:prstGeom prst="rect">
            <a:avLst/>
          </a:prstGeom>
          <a:solidFill>
            <a:srgbClr val="B68757"/>
          </a:solidFill>
          <a:ln>
            <a:noFill/>
          </a:ln>
          <a:effectLst/>
        </p:spPr>
        <p:txBody>
          <a:bodyPr rtlCol="0" anchor="ctr"/>
          <a:lstStyle/>
          <a:p>
            <a:pPr algn="ctr"/>
            <a:endParaRPr/>
          </a:p>
        </p:txBody>
      </p:sp>
      <p:sp>
        <p:nvSpPr>
          <p:cNvPr id="42" name="Text: “Medtech dealmakers remained busy "/>
          <p:cNvSpPr txBox="1"/>
          <p:nvPr/>
        </p:nvSpPr>
        <p:spPr>
          <a:xfrm>
            <a:off x="2686050" y="4919662"/>
            <a:ext cx="3119438" cy="500062"/>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 MedTech Dive"/>
          <p:cNvSpPr txBox="1"/>
          <p:nvPr/>
        </p:nvSpPr>
        <p:spPr>
          <a:xfrm>
            <a:off x="2686050" y="544830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MedTech Dive</a:t>
            </a:r>
          </a:p>
        </p:txBody>
      </p:sp>
      <p:sp>
        <p:nvSpPr>
          <p:cNvPr id="44" name="Text: Key takeaway."/>
          <p:cNvSpPr txBox="1"/>
          <p:nvPr/>
        </p:nvSpPr>
        <p:spPr>
          <a:xfrm>
            <a:off x="2552700" y="6062662"/>
            <a:ext cx="3252788" cy="442912"/>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PwC counted $36.5 billion of medtech acquisitions in the first half. The largest were Boston Scientific’s $14.5 billion purchase of Penumbra and Danaher’s $9.9 billion purchase of Masimo.</a:t>
            </a:r>
          </a:p>
        </p:txBody>
      </p:sp>
      <p:sp>
        <p:nvSpPr>
          <p:cNvPr id="45" name="Rectangle 44"/>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 READ HERE">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Rectangle 46"/>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Rectangle 47"/>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 DRUG CHANNELS | PHARMACY &amp; HEALTHC"/>
          <p:cNvSpPr txBox="1"/>
          <p:nvPr/>
        </p:nvSpPr>
        <p:spPr>
          <a:xfrm>
            <a:off x="6248400" y="4324350"/>
            <a:ext cx="2535436"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DRUG CHANNELS | PHARMACY &amp; HEALTHCARE SERVICES</a:t>
            </a:r>
          </a:p>
        </p:txBody>
      </p:sp>
      <p:sp>
        <p:nvSpPr>
          <p:cNvPr id="50" name="Text: August 11, 2026"/>
          <p:cNvSpPr txBox="1"/>
          <p:nvPr/>
        </p:nvSpPr>
        <p:spPr>
          <a:xfrm>
            <a:off x="8864798" y="4314825"/>
            <a:ext cx="757178" cy="123825"/>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August 11, 2026</a:t>
            </a:r>
          </a:p>
        </p:txBody>
      </p:sp>
      <p:sp>
        <p:nvSpPr>
          <p:cNvPr id="51" name="Text: The K-Shaped Pharmacy Shakeout: Co"/>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Rectangle 51"/>
          <p:cNvSpPr/>
          <p:nvPr/>
        </p:nvSpPr>
        <p:spPr>
          <a:xfrm>
            <a:off x="6248400" y="5105400"/>
            <a:ext cx="19050" cy="495300"/>
          </a:xfrm>
          <a:prstGeom prst="rect">
            <a:avLst/>
          </a:prstGeom>
          <a:solidFill>
            <a:srgbClr val="B68757"/>
          </a:solidFill>
          <a:ln>
            <a:noFill/>
          </a:ln>
          <a:effectLst/>
        </p:spPr>
        <p:txBody>
          <a:bodyPr rtlCol="0" anchor="ctr"/>
          <a:lstStyle/>
          <a:p>
            <a:pPr algn="ctr"/>
            <a:endParaRPr/>
          </a:p>
        </p:txBody>
      </p:sp>
      <p:sp>
        <p:nvSpPr>
          <p:cNvPr id="53" name="Text: “The United States has almost 8,00"/>
          <p:cNvSpPr txBox="1"/>
          <p:nvPr/>
        </p:nvSpPr>
        <p:spPr>
          <a:xfrm>
            <a:off x="6381750" y="5105400"/>
            <a:ext cx="3119438" cy="333375"/>
          </a:xfrm>
          <a:prstGeom prst="rect">
            <a:avLst/>
          </a:prstGeom>
          <a:noFill/>
        </p:spPr>
        <p:txBody>
          <a:bodyPr wrap="square" lIns="0" tIns="0" rIns="0" bIns="0" anchor="t">
            <a:spAutoFit/>
          </a:bodyPr>
          <a:lstStyle/>
          <a:p>
            <a:pPr algn="l">
              <a:lnSpc>
                <a:spcPts val="1312"/>
              </a:lnSpc>
            </a:pPr>
            <a:r>
              <a:rPr sz="938" b="0" i="1">
                <a:solidFill>
                  <a:srgbClr val="2A2928"/>
                </a:solidFill>
                <a:latin typeface="Cambria"/>
              </a:rPr>
              <a:t>“The United States has almost 8,000 fewer retail pharmacies than it did in 2018, and more than 2,000 closed in 2025 alone.”</a:t>
            </a:r>
          </a:p>
        </p:txBody>
      </p:sp>
      <p:sp>
        <p:nvSpPr>
          <p:cNvPr id="54" name="Text: Bryce Platt, PharmD, Drug Channels"/>
          <p:cNvSpPr txBox="1"/>
          <p:nvPr/>
        </p:nvSpPr>
        <p:spPr>
          <a:xfrm>
            <a:off x="6381750" y="5467350"/>
            <a:ext cx="3119438" cy="133350"/>
          </a:xfrm>
          <a:prstGeom prst="rect">
            <a:avLst/>
          </a:prstGeom>
          <a:noFill/>
        </p:spPr>
        <p:txBody>
          <a:bodyPr wrap="square" lIns="0" tIns="0" rIns="0" bIns="0" anchor="t">
            <a:spAutoFit/>
          </a:bodyPr>
          <a:lstStyle/>
          <a:p>
            <a:pPr algn="l">
              <a:lnSpc>
                <a:spcPts val="1050"/>
              </a:lnSpc>
            </a:pPr>
            <a:r>
              <a:rPr sz="712" b="0" i="0" spc="15">
                <a:solidFill>
                  <a:srgbClr val="6F6A66"/>
                </a:solidFill>
                <a:latin typeface="Calibri"/>
              </a:rPr>
              <a:t>Bryce Platt, PharmD, Drug Channels</a:t>
            </a:r>
          </a:p>
        </p:txBody>
      </p:sp>
      <p:sp>
        <p:nvSpPr>
          <p:cNvPr id="55" name="Text: Key takeaway."/>
          <p:cNvSpPr txBox="1"/>
          <p:nvPr/>
        </p:nvSpPr>
        <p:spPr>
          <a:xfrm>
            <a:off x="6248400" y="5915025"/>
            <a:ext cx="3252788" cy="590550"/>
          </a:xfrm>
          <a:prstGeom prst="rect">
            <a:avLst/>
          </a:prstGeom>
          <a:noFill/>
        </p:spPr>
        <p:txBody>
          <a:bodyPr wrap="square" lIns="0" tIns="0" rIns="0" bIns="0" anchor="t">
            <a:spAutoFit/>
          </a:bodyPr>
          <a:lstStyle/>
          <a:p>
            <a:pPr algn="l">
              <a:lnSpc>
                <a:spcPts val="1162"/>
              </a:lnSpc>
            </a:pPr>
            <a:r>
              <a:rPr sz="788" b="1" i="0" spc="15">
                <a:solidFill>
                  <a:srgbClr val="1B1A1A"/>
                </a:solidFill>
                <a:latin typeface="Calibri"/>
              </a:rPr>
              <a:t>Key takeaway.</a:t>
            </a:r>
            <a:r>
              <a:rPr sz="788" b="0" i="0" spc="15">
                <a:solidFill>
                  <a:srgbClr val="333231"/>
                </a:solidFill>
                <a:latin typeface="Calibri"/>
              </a:rPr>
              <a:t> Prescription dispensing revenues reached a record $751 billion in 2025, up 10%, while the number of pharmacies fell. Scale, specialty mix and payer contracts decide which pharmacies remain attractive to a buyer.</a:t>
            </a:r>
          </a:p>
        </p:txBody>
      </p:sp>
      <p:sp>
        <p:nvSpPr>
          <p:cNvPr id="56" name="Rectangle 55"/>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 READ HERE">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Rectangle 5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58"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60" name="Text: Quotations are reproduced as publi"/>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Quotations are reproduced as published. The Fierce Healthcare quotation joins two consecutive sentences spoken by the analyst. The IQVIA and MedTech Dive passages are the publications' own text.</a:t>
            </a:r>
          </a:p>
        </p:txBody>
      </p:sp>
      <p:sp>
        <p:nvSpPr>
          <p:cNvPr id="61" name="Text: 08"/>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Two people reviewing a document before sign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2"/>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 Sector Activity"/>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Sector Activity</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Momentum in healthcare services tr"/>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Landscape of select participants"/>
          <p:cNvSpPr txBox="1"/>
          <p:nvPr/>
        </p:nvSpPr>
        <p:spPr>
          <a:xfrm>
            <a:off x="781050" y="4352925"/>
            <a:ext cx="161820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Landscape of select participants</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Select recent M&amp;A transactions"/>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Benchmark International transactio"/>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Rectangle 2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 Public companies: valuation, perfo"/>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Rectangle 24"/>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Rectangle 25"/>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 Earnings and commentary"/>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Rectangle 2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28"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30"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Services Deal Volume H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 Has Reset</a:t>
            </a:r>
          </a:p>
        </p:txBody>
      </p:sp>
      <p:sp>
        <p:nvSpPr>
          <p:cNvPr id="6" name="Text: Private equity completed 1,217 hea"/>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Private equity completed 1,217 healthcare services transactions in 2021 and is on pace for 674 in 2026, the fewest since 2017.</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686050" cy="176212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 2017 to 2019"/>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 Steady platform building"/>
          <p:cNvSpPr txBox="1"/>
          <p:nvPr/>
        </p:nvSpPr>
        <p:spPr>
          <a:xfrm>
            <a:off x="55245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Steady platform building</a:t>
            </a:r>
          </a:p>
        </p:txBody>
      </p:sp>
      <p:sp>
        <p:nvSpPr>
          <p:cNvPr id="12" name="Text: Private equity completed between 4"/>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Rectangle 12"/>
          <p:cNvSpPr/>
          <p:nvPr/>
        </p:nvSpPr>
        <p:spPr>
          <a:xfrm>
            <a:off x="3219450" y="1238250"/>
            <a:ext cx="1752600" cy="1762125"/>
          </a:xfrm>
          <a:prstGeom prst="rect">
            <a:avLst/>
          </a:prstGeom>
          <a:solidFill>
            <a:srgbClr val="FAF7F3"/>
          </a:solidFill>
          <a:ln>
            <a:noFill/>
          </a:ln>
          <a:effectLst/>
        </p:spPr>
        <p:txBody>
          <a:bodyPr rtlCol="0" anchor="ctr"/>
          <a:lstStyle/>
          <a:p>
            <a:pPr algn="ctr"/>
            <a:endParaRPr/>
          </a:p>
        </p:txBody>
      </p:sp>
      <p:sp>
        <p:nvSpPr>
          <p:cNvPr id="14" name="Rectangle 13"/>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 2020 to 2021"/>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 The peak"/>
          <p:cNvSpPr txBox="1"/>
          <p:nvPr/>
        </p:nvSpPr>
        <p:spPr>
          <a:xfrm>
            <a:off x="335280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The peak</a:t>
            </a:r>
          </a:p>
        </p:txBody>
      </p:sp>
      <p:sp>
        <p:nvSpPr>
          <p:cNvPr id="17" name="Text: Volume rose to 829 in 2020 and 1,2"/>
          <p:cNvSpPr txBox="1"/>
          <p:nvPr/>
        </p:nvSpPr>
        <p:spPr>
          <a:xfrm>
            <a:off x="3352800" y="1819275"/>
            <a:ext cx="150018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rose to 829 in 2020 and 1,217 in 2021, the highest in the series.</a:t>
            </a:r>
          </a:p>
        </p:txBody>
      </p:sp>
      <p:sp>
        <p:nvSpPr>
          <p:cNvPr id="18" name="Rectangle 17"/>
          <p:cNvSpPr/>
          <p:nvPr/>
        </p:nvSpPr>
        <p:spPr>
          <a:xfrm>
            <a:off x="5086350" y="1238250"/>
            <a:ext cx="2686050" cy="1762125"/>
          </a:xfrm>
          <a:prstGeom prst="rect">
            <a:avLst/>
          </a:prstGeom>
          <a:solidFill>
            <a:srgbClr val="FAF7F3"/>
          </a:solidFill>
          <a:ln>
            <a:noFill/>
          </a:ln>
          <a:effectLst/>
        </p:spPr>
        <p:txBody>
          <a:bodyPr rtlCol="0" anchor="ctr"/>
          <a:lstStyle/>
          <a:p>
            <a:pPr algn="ctr"/>
            <a:endParaRPr/>
          </a:p>
        </p:txBody>
      </p:sp>
      <p:sp>
        <p:nvSpPr>
          <p:cNvPr id="19" name="Rectangle 1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 2022 to 2024"/>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 Three years of decline"/>
          <p:cNvSpPr txBox="1"/>
          <p:nvPr/>
        </p:nvSpPr>
        <p:spPr>
          <a:xfrm>
            <a:off x="5219700" y="1600200"/>
            <a:ext cx="24336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Three years of decline</a:t>
            </a:r>
          </a:p>
        </p:txBody>
      </p:sp>
      <p:sp>
        <p:nvSpPr>
          <p:cNvPr id="22" name="Text: Annual volume fell from 998 to 682"/>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The Medicare conversion factor fell from $34.61 in 2022 to $32.35 in 2025 (</a:t>
            </a:r>
            <a:r>
              <a:rPr sz="825" b="0" i="0" spc="15">
                <a:solidFill>
                  <a:srgbClr val="8C6239"/>
                </a:solidFill>
                <a:latin typeface="Calibri"/>
                <a:hlinkClick r:id="rId2">
                  <a:extLst>
                    <a:ext uri="{A12FA001-AC4F-418D-AE19-62706E023703}">
                      <ahyp:hlinkClr xmlns:ahyp="http://schemas.microsoft.com/office/drawing/2018/hyperlinkcolor" val="tx"/>
                    </a:ext>
                  </a:extLst>
                </a:hlinkClick>
              </a:rPr>
              <a:t>AMA</a:t>
            </a:r>
            <a:r>
              <a:rPr sz="825" b="0" i="0" spc="15">
                <a:solidFill>
                  <a:srgbClr val="333231"/>
                </a:solidFill>
                <a:latin typeface="Calibri"/>
              </a:rPr>
              <a:t>).</a:t>
            </a:r>
          </a:p>
        </p:txBody>
      </p:sp>
      <p:sp>
        <p:nvSpPr>
          <p:cNvPr id="23" name="Rectangle 22"/>
          <p:cNvSpPr/>
          <p:nvPr/>
        </p:nvSpPr>
        <p:spPr>
          <a:xfrm>
            <a:off x="7886700" y="1238250"/>
            <a:ext cx="1752600" cy="1762125"/>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 2025 to 2026"/>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 Strategic buyers lead"/>
          <p:cNvSpPr txBox="1"/>
          <p:nvPr/>
        </p:nvSpPr>
        <p:spPr>
          <a:xfrm>
            <a:off x="8020050" y="1600200"/>
            <a:ext cx="15001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Strategic buyers lead</a:t>
            </a:r>
          </a:p>
        </p:txBody>
      </p:sp>
      <p:sp>
        <p:nvSpPr>
          <p:cNvPr id="27" name="Text: Volume recovered to an estimated 7"/>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while medtech deal value reached $36.5 billion and biopharma deal value reached $130 billion.</a:t>
            </a:r>
          </a:p>
        </p:txBody>
      </p:sp>
      <p:sp>
        <p:nvSpPr>
          <p:cNvPr id="28" name="Text: US private equity healthcare servi"/>
          <p:cNvSpPr txBox="1"/>
          <p:nvPr/>
        </p:nvSpPr>
        <p:spPr>
          <a:xfrm>
            <a:off x="419100" y="3152775"/>
            <a:ext cx="92344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US private equity healthcare services transactions</a:t>
            </a:r>
          </a:p>
        </p:txBody>
      </p:sp>
      <p:sp>
        <p:nvSpPr>
          <p:cNvPr id="29" name="Text: Announced or closed transactions p"/>
          <p:cNvSpPr txBox="1"/>
          <p:nvPr/>
        </p:nvSpPr>
        <p:spPr>
          <a:xfrm>
            <a:off x="419100" y="3314700"/>
            <a:ext cx="92344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Announced or closed transactions per year. Source: PitchBook, </a:t>
            </a:r>
            <a:r>
              <a:rPr sz="750" b="0" i="0" spc="15">
                <a:solidFill>
                  <a:srgbClr val="8C6239"/>
                </a:solidFill>
                <a:latin typeface="Calibri"/>
                <a:hlinkClick r:id="rId3">
                  <a:extLst>
                    <a:ext uri="{A12FA001-AC4F-418D-AE19-62706E023703}">
                      <ahyp:hlinkClr xmlns:ahyp="http://schemas.microsoft.com/office/drawing/2018/hyperlinkcolor" val="tx"/>
                    </a:ext>
                  </a:extLst>
                </a:hlinkClick>
              </a:rPr>
              <a:t>Q4 2025 Healthcare Services Report</a:t>
            </a:r>
            <a:r>
              <a:rPr sz="750" b="0" i="0" spc="15">
                <a:solidFill>
                  <a:srgbClr val="6F6A66"/>
                </a:solidFill>
                <a:latin typeface="Calibri"/>
              </a:rPr>
              <a:t>; 2026 from </a:t>
            </a:r>
            <a:r>
              <a:rPr sz="750" b="0" i="0" spc="15">
                <a:solidFill>
                  <a:srgbClr val="8C6239"/>
                </a:solidFill>
                <a:latin typeface="Calibri"/>
                <a:hlinkClick r:id="rId4">
                  <a:extLst>
                    <a:ext uri="{A12FA001-AC4F-418D-AE19-62706E023703}">
                      <ahyp:hlinkClr xmlns:ahyp="http://schemas.microsoft.com/office/drawing/2018/hyperlinkcolor" val="tx"/>
                    </a:ext>
                  </a:extLst>
                </a:hlinkClick>
              </a:rPr>
              <a:t>PitchBook via Fierce Healthcare</a:t>
            </a:r>
          </a:p>
        </p:txBody>
      </p:sp>
      <p:graphicFrame>
        <p:nvGraphicFramePr>
          <p:cNvPr id="30" name="Chart (edit data to update)"/>
          <p:cNvGraphicFramePr>
            <a:graphicFrameLocks noGrp="1"/>
          </p:cNvGraphicFramePr>
          <p:nvPr/>
        </p:nvGraphicFramePr>
        <p:xfrm>
          <a:off x="419100" y="3752850"/>
          <a:ext cx="9220200" cy="3181350"/>
        </p:xfrm>
        <a:graphic>
          <a:graphicData uri="http://schemas.openxmlformats.org/drawingml/2006/chart">
            <c:chart xmlns:c="http://schemas.openxmlformats.org/drawingml/2006/chart" xmlns:r="http://schemas.openxmlformats.org/officeDocument/2006/relationships" r:id="rId5"/>
          </a:graphicData>
        </a:graphic>
      </p:graphicFrame>
      <p:sp>
        <p:nvSpPr>
          <p:cNvPr id="31" name="Rectangle 30"/>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31" descr="Benchmark International"/>
          <p:cNvPicPr>
            <a:picLocks noChangeAspect="1"/>
          </p:cNvPicPr>
          <p:nvPr/>
        </p:nvPicPr>
        <p:blipFill>
          <a:blip r:embed="rId6"/>
          <a:srcRect/>
          <a:stretch>
            <a:fillRect/>
          </a:stretch>
        </p:blipFill>
        <p:spPr>
          <a:xfrm>
            <a:off x="419100" y="7143750"/>
            <a:ext cx="914400" cy="171450"/>
          </a:xfrm>
          <a:prstGeom prst="rect">
            <a:avLst/>
          </a:prstGeom>
        </p:spPr>
      </p:pic>
      <p:sp>
        <p:nvSpPr>
          <p:cNvPr id="33" name="Text: * 2026 is the annualized pace of 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 1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Healthcare Market Landscape: Selec"/>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Market Landscape: Select Participants</a:t>
            </a:r>
          </a:p>
        </p:txBody>
      </p:sp>
      <p:sp>
        <p:nvSpPr>
          <p:cNvPr id="6" name="Text: The listed reference companies in "/>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listed reference companies in each focus area and the private platforms, sponsors and strategic buyers acquiring founder-owned businesses.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Rectangle 11"/>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Rectangle 12"/>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3" descr="v2acca1c8a04e.png"/>
          <p:cNvPicPr>
            <a:picLocks noChangeAspect="1"/>
          </p:cNvPicPr>
          <p:nvPr/>
        </p:nvPicPr>
        <p:blipFill>
          <a:blip r:embed="rId2"/>
          <a:stretch>
            <a:fillRect/>
          </a:stretch>
        </p:blipFill>
        <p:spPr>
          <a:xfrm>
            <a:off x="542925" y="1333500"/>
            <a:ext cx="247650" cy="247650"/>
          </a:xfrm>
          <a:prstGeom prst="rect">
            <a:avLst/>
          </a:prstGeom>
        </p:spPr>
      </p:pic>
      <p:sp>
        <p:nvSpPr>
          <p:cNvPr id="15" name="Text: PROVIDER SERVICES"/>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 LISTED COMPANIES"/>
          <p:cNvSpPr txBox="1"/>
          <p:nvPr/>
        </p:nvSpPr>
        <p:spPr>
          <a:xfrm>
            <a:off x="542925"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7" name="Rectangle 16"/>
          <p:cNvSpPr/>
          <p:nvPr/>
        </p:nvSpPr>
        <p:spPr>
          <a:xfrm>
            <a:off x="542925" y="1952625"/>
            <a:ext cx="1957388" cy="228600"/>
          </a:xfrm>
          <a:prstGeom prst="rect">
            <a:avLst/>
          </a:prstGeom>
          <a:solidFill>
            <a:srgbClr val="FFFFFF"/>
          </a:solidFill>
          <a:ln>
            <a:noFill/>
          </a:ln>
          <a:effectLst/>
        </p:spPr>
        <p:txBody>
          <a:bodyPr rtlCol="0" anchor="ctr"/>
          <a:lstStyle/>
          <a:p>
            <a:pPr algn="ctr"/>
            <a:endParaRPr/>
          </a:p>
        </p:txBody>
      </p:sp>
      <p:sp>
        <p:nvSpPr>
          <p:cNvPr id="18" name="Rectangle 17"/>
          <p:cNvSpPr/>
          <p:nvPr/>
        </p:nvSpPr>
        <p:spPr>
          <a:xfrm>
            <a:off x="542925" y="1952625"/>
            <a:ext cx="1957388"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2490788" y="1952625"/>
            <a:ext cx="9525" cy="228600"/>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542925" y="2171700"/>
            <a:ext cx="1957388" cy="9525"/>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542925" y="1952625"/>
            <a:ext cx="9525" cy="228600"/>
          </a:xfrm>
          <a:prstGeom prst="rect">
            <a:avLst/>
          </a:prstGeom>
          <a:solidFill>
            <a:srgbClr val="E3DCD3"/>
          </a:solidFill>
          <a:ln>
            <a:noFill/>
          </a:ln>
          <a:effectLst/>
        </p:spPr>
        <p:txBody>
          <a:bodyPr rtlCol="0" anchor="ctr"/>
          <a:lstStyle/>
          <a:p>
            <a:pPr algn="ctr"/>
            <a:endParaRPr/>
          </a:p>
        </p:txBody>
      </p:sp>
      <p:sp>
        <p:nvSpPr>
          <p:cNvPr id="22" name="Rounded Rectangle 21"/>
          <p:cNvSpPr/>
          <p:nvPr/>
        </p:nvSpPr>
        <p:spPr>
          <a:xfrm>
            <a:off x="561975"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 name="Text: HCA">
            <a:hlinkClick r:id="rId3"/>
          </p:cNvPr>
          <p:cNvSpPr txBox="1"/>
          <p:nvPr/>
        </p:nvSpPr>
        <p:spPr>
          <a:xfrm>
            <a:off x="561975"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HCA</a:t>
            </a:r>
          </a:p>
        </p:txBody>
      </p:sp>
      <p:sp>
        <p:nvSpPr>
          <p:cNvPr id="24" name="Text: HCA Healthcare">
            <a:hlinkClick r:id="rId3"/>
          </p:cNvPr>
          <p:cNvSpPr txBox="1"/>
          <p:nvPr/>
        </p:nvSpPr>
        <p:spPr>
          <a:xfrm>
            <a:off x="990600" y="2002631"/>
            <a:ext cx="66049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HCA Healthcare</a:t>
            </a:r>
          </a:p>
        </p:txBody>
      </p:sp>
      <p:sp>
        <p:nvSpPr>
          <p:cNvPr id="25" name="Rectangle 24"/>
          <p:cNvSpPr/>
          <p:nvPr/>
        </p:nvSpPr>
        <p:spPr>
          <a:xfrm>
            <a:off x="542925" y="2200275"/>
            <a:ext cx="1957388" cy="22860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542925" y="2200275"/>
            <a:ext cx="1957388"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490788" y="2200275"/>
            <a:ext cx="9525" cy="22860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542925" y="2419350"/>
            <a:ext cx="195738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542925" y="2200275"/>
            <a:ext cx="9525" cy="228600"/>
          </a:xfrm>
          <a:prstGeom prst="rect">
            <a:avLst/>
          </a:prstGeom>
          <a:solidFill>
            <a:srgbClr val="E3DCD3"/>
          </a:solidFill>
          <a:ln>
            <a:noFill/>
          </a:ln>
          <a:effectLst/>
        </p:spPr>
        <p:txBody>
          <a:bodyPr rtlCol="0" anchor="ctr"/>
          <a:lstStyle/>
          <a:p>
            <a:pPr algn="ctr"/>
            <a:endParaRPr/>
          </a:p>
        </p:txBody>
      </p:sp>
      <p:sp>
        <p:nvSpPr>
          <p:cNvPr id="30" name="Rounded Rectangle 29"/>
          <p:cNvSpPr/>
          <p:nvPr/>
        </p:nvSpPr>
        <p:spPr>
          <a:xfrm>
            <a:off x="561975"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 name="Text: THC">
            <a:hlinkClick r:id="rId4"/>
          </p:cNvPr>
          <p:cNvSpPr txBox="1"/>
          <p:nvPr/>
        </p:nvSpPr>
        <p:spPr>
          <a:xfrm>
            <a:off x="561975"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32" name="Text: Tenet Healthcare">
            <a:hlinkClick r:id="rId4"/>
          </p:cNvPr>
          <p:cNvSpPr txBox="1"/>
          <p:nvPr/>
        </p:nvSpPr>
        <p:spPr>
          <a:xfrm>
            <a:off x="990600" y="2250281"/>
            <a:ext cx="71437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Tenet Healthcare</a:t>
            </a:r>
          </a:p>
        </p:txBody>
      </p:sp>
      <p:sp>
        <p:nvSpPr>
          <p:cNvPr id="33" name="Rectangle 32"/>
          <p:cNvSpPr/>
          <p:nvPr/>
        </p:nvSpPr>
        <p:spPr>
          <a:xfrm>
            <a:off x="542925" y="2447925"/>
            <a:ext cx="1957388" cy="228600"/>
          </a:xfrm>
          <a:prstGeom prst="rect">
            <a:avLst/>
          </a:prstGeom>
          <a:solidFill>
            <a:srgbClr val="FFFFFF"/>
          </a:solidFill>
          <a:ln>
            <a:noFill/>
          </a:ln>
          <a:effectLst/>
        </p:spPr>
        <p:txBody>
          <a:bodyPr rtlCol="0" anchor="ctr"/>
          <a:lstStyle/>
          <a:p>
            <a:pPr algn="ctr"/>
            <a:endParaRPr/>
          </a:p>
        </p:txBody>
      </p:sp>
      <p:sp>
        <p:nvSpPr>
          <p:cNvPr id="34" name="Rectangle 33"/>
          <p:cNvSpPr/>
          <p:nvPr/>
        </p:nvSpPr>
        <p:spPr>
          <a:xfrm>
            <a:off x="542925" y="2447925"/>
            <a:ext cx="195738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490788" y="2447925"/>
            <a:ext cx="9525" cy="228600"/>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42925" y="2667000"/>
            <a:ext cx="1957388"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542925" y="2447925"/>
            <a:ext cx="9525" cy="228600"/>
          </a:xfrm>
          <a:prstGeom prst="rect">
            <a:avLst/>
          </a:prstGeom>
          <a:solidFill>
            <a:srgbClr val="E3DCD3"/>
          </a:solidFill>
          <a:ln>
            <a:noFill/>
          </a:ln>
          <a:effectLst/>
        </p:spPr>
        <p:txBody>
          <a:bodyPr rtlCol="0" anchor="ctr"/>
          <a:lstStyle/>
          <a:p>
            <a:pPr algn="ctr"/>
            <a:endParaRPr/>
          </a:p>
        </p:txBody>
      </p:sp>
      <p:sp>
        <p:nvSpPr>
          <p:cNvPr id="38" name="Rounded Rectangle 37"/>
          <p:cNvSpPr/>
          <p:nvPr/>
        </p:nvSpPr>
        <p:spPr>
          <a:xfrm>
            <a:off x="561975"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9" name="Text: USPH">
            <a:hlinkClick r:id="rId5"/>
          </p:cNvPr>
          <p:cNvSpPr txBox="1"/>
          <p:nvPr/>
        </p:nvSpPr>
        <p:spPr>
          <a:xfrm>
            <a:off x="561975"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40" name="Text: U.S. Physical Therapy">
            <a:hlinkClick r:id="rId5"/>
          </p:cNvPr>
          <p:cNvSpPr txBox="1"/>
          <p:nvPr/>
        </p:nvSpPr>
        <p:spPr>
          <a:xfrm>
            <a:off x="990600" y="2497931"/>
            <a:ext cx="89073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U.S. Physical Therapy</a:t>
            </a:r>
          </a:p>
        </p:txBody>
      </p:sp>
      <p:sp>
        <p:nvSpPr>
          <p:cNvPr id="41" name="Rectangle 40"/>
          <p:cNvSpPr/>
          <p:nvPr/>
        </p:nvSpPr>
        <p:spPr>
          <a:xfrm>
            <a:off x="542925" y="2695575"/>
            <a:ext cx="1957388" cy="228600"/>
          </a:xfrm>
          <a:prstGeom prst="rect">
            <a:avLst/>
          </a:prstGeom>
          <a:solidFill>
            <a:srgbClr val="FFFFFF"/>
          </a:solidFill>
          <a:ln>
            <a:noFill/>
          </a:ln>
          <a:effectLst/>
        </p:spPr>
        <p:txBody>
          <a:bodyPr rtlCol="0" anchor="ctr"/>
          <a:lstStyle/>
          <a:p>
            <a:pPr algn="ctr"/>
            <a:endParaRPr/>
          </a:p>
        </p:txBody>
      </p:sp>
      <p:sp>
        <p:nvSpPr>
          <p:cNvPr id="42" name="Rectangle 41"/>
          <p:cNvSpPr/>
          <p:nvPr/>
        </p:nvSpPr>
        <p:spPr>
          <a:xfrm>
            <a:off x="542925" y="2695575"/>
            <a:ext cx="1957388"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2490788" y="2695575"/>
            <a:ext cx="9525" cy="228600"/>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542925" y="2914650"/>
            <a:ext cx="1957388" cy="9525"/>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42925" y="2695575"/>
            <a:ext cx="9525" cy="228600"/>
          </a:xfrm>
          <a:prstGeom prst="rect">
            <a:avLst/>
          </a:prstGeom>
          <a:solidFill>
            <a:srgbClr val="E3DCD3"/>
          </a:solidFill>
          <a:ln>
            <a:noFill/>
          </a:ln>
          <a:effectLst/>
        </p:spPr>
        <p:txBody>
          <a:bodyPr rtlCol="0" anchor="ctr"/>
          <a:lstStyle/>
          <a:p>
            <a:pPr algn="ctr"/>
            <a:endParaRPr/>
          </a:p>
        </p:txBody>
      </p:sp>
      <p:sp>
        <p:nvSpPr>
          <p:cNvPr id="46" name="Rounded Rectangle 45"/>
          <p:cNvSpPr/>
          <p:nvPr/>
        </p:nvSpPr>
        <p:spPr>
          <a:xfrm>
            <a:off x="561975"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 name="Text: DVA">
            <a:hlinkClick r:id="rId6"/>
          </p:cNvPr>
          <p:cNvSpPr txBox="1"/>
          <p:nvPr/>
        </p:nvSpPr>
        <p:spPr>
          <a:xfrm>
            <a:off x="561975"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48" name="Text: DaVita">
            <a:hlinkClick r:id="rId6"/>
          </p:cNvPr>
          <p:cNvSpPr txBox="1"/>
          <p:nvPr/>
        </p:nvSpPr>
        <p:spPr>
          <a:xfrm>
            <a:off x="990600" y="2745581"/>
            <a:ext cx="29170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DaVita</a:t>
            </a:r>
          </a:p>
        </p:txBody>
      </p:sp>
      <p:sp>
        <p:nvSpPr>
          <p:cNvPr id="49" name="Rectangle 48"/>
          <p:cNvSpPr/>
          <p:nvPr/>
        </p:nvSpPr>
        <p:spPr>
          <a:xfrm>
            <a:off x="542925" y="2943225"/>
            <a:ext cx="1957388" cy="228600"/>
          </a:xfrm>
          <a:prstGeom prst="rect">
            <a:avLst/>
          </a:prstGeom>
          <a:solidFill>
            <a:srgbClr val="FFFFFF"/>
          </a:solidFill>
          <a:ln>
            <a:noFill/>
          </a:ln>
          <a:effectLst/>
        </p:spPr>
        <p:txBody>
          <a:bodyPr rtlCol="0" anchor="ctr"/>
          <a:lstStyle/>
          <a:p>
            <a:pPr algn="ctr"/>
            <a:endParaRPr/>
          </a:p>
        </p:txBody>
      </p:sp>
      <p:sp>
        <p:nvSpPr>
          <p:cNvPr id="50" name="Rectangle 49"/>
          <p:cNvSpPr/>
          <p:nvPr/>
        </p:nvSpPr>
        <p:spPr>
          <a:xfrm>
            <a:off x="542925" y="2943225"/>
            <a:ext cx="1957388"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490788" y="2943225"/>
            <a:ext cx="9525" cy="22860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542925" y="3162300"/>
            <a:ext cx="1957388"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542925" y="2943225"/>
            <a:ext cx="9525" cy="228600"/>
          </a:xfrm>
          <a:prstGeom prst="rect">
            <a:avLst/>
          </a:prstGeom>
          <a:solidFill>
            <a:srgbClr val="E3DCD3"/>
          </a:solidFill>
          <a:ln>
            <a:noFill/>
          </a:ln>
          <a:effectLst/>
        </p:spPr>
        <p:txBody>
          <a:bodyPr rtlCol="0" anchor="ctr"/>
          <a:lstStyle/>
          <a:p>
            <a:pPr algn="ctr"/>
            <a:endParaRPr/>
          </a:p>
        </p:txBody>
      </p:sp>
      <p:sp>
        <p:nvSpPr>
          <p:cNvPr id="54" name="Rounded Rectangle 53"/>
          <p:cNvSpPr/>
          <p:nvPr/>
        </p:nvSpPr>
        <p:spPr>
          <a:xfrm>
            <a:off x="561975"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5" name="Text: ADUS">
            <a:hlinkClick r:id="rId7"/>
          </p:cNvPr>
          <p:cNvSpPr txBox="1"/>
          <p:nvPr/>
        </p:nvSpPr>
        <p:spPr>
          <a:xfrm>
            <a:off x="561975"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56" name="Text: Addus HomeCare">
            <a:hlinkClick r:id="rId7"/>
          </p:cNvPr>
          <p:cNvSpPr txBox="1"/>
          <p:nvPr/>
        </p:nvSpPr>
        <p:spPr>
          <a:xfrm>
            <a:off x="990600" y="2993231"/>
            <a:ext cx="72657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Addus HomeCare</a:t>
            </a:r>
          </a:p>
        </p:txBody>
      </p:sp>
      <p:sp>
        <p:nvSpPr>
          <p:cNvPr id="57" name="Rectangle 56"/>
          <p:cNvSpPr/>
          <p:nvPr/>
        </p:nvSpPr>
        <p:spPr>
          <a:xfrm>
            <a:off x="542925" y="3190875"/>
            <a:ext cx="1957388" cy="22860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542925" y="3190875"/>
            <a:ext cx="1957388"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490788" y="3190875"/>
            <a:ext cx="9525" cy="22860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542925" y="3409950"/>
            <a:ext cx="1957388"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542925" y="3190875"/>
            <a:ext cx="9525" cy="228600"/>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561975"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PNTG">
            <a:hlinkClick r:id="rId8"/>
          </p:cNvPr>
          <p:cNvSpPr txBox="1"/>
          <p:nvPr/>
        </p:nvSpPr>
        <p:spPr>
          <a:xfrm>
            <a:off x="561975"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64" name="Text: Pennant Group">
            <a:hlinkClick r:id="rId8"/>
          </p:cNvPr>
          <p:cNvSpPr txBox="1"/>
          <p:nvPr/>
        </p:nvSpPr>
        <p:spPr>
          <a:xfrm>
            <a:off x="990600" y="3240881"/>
            <a:ext cx="63713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Pennant Group</a:t>
            </a:r>
          </a:p>
        </p:txBody>
      </p:sp>
      <p:sp>
        <p:nvSpPr>
          <p:cNvPr id="65" name="Rectangle 64"/>
          <p:cNvSpPr/>
          <p:nvPr/>
        </p:nvSpPr>
        <p:spPr>
          <a:xfrm>
            <a:off x="542925" y="3438525"/>
            <a:ext cx="1957388" cy="228600"/>
          </a:xfrm>
          <a:prstGeom prst="rect">
            <a:avLst/>
          </a:prstGeom>
          <a:solidFill>
            <a:srgbClr val="FFFFFF"/>
          </a:solidFill>
          <a:ln>
            <a:noFill/>
          </a:ln>
          <a:effectLst/>
        </p:spPr>
        <p:txBody>
          <a:bodyPr rtlCol="0" anchor="ctr"/>
          <a:lstStyle/>
          <a:p>
            <a:pPr algn="ctr"/>
            <a:endParaRPr/>
          </a:p>
        </p:txBody>
      </p:sp>
      <p:sp>
        <p:nvSpPr>
          <p:cNvPr id="66" name="Rectangle 65"/>
          <p:cNvSpPr/>
          <p:nvPr/>
        </p:nvSpPr>
        <p:spPr>
          <a:xfrm>
            <a:off x="542925" y="3438525"/>
            <a:ext cx="1957388"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2490788" y="3438525"/>
            <a:ext cx="9525" cy="228600"/>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542925" y="3657600"/>
            <a:ext cx="1957388"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542925" y="3438525"/>
            <a:ext cx="9525" cy="228600"/>
          </a:xfrm>
          <a:prstGeom prst="rect">
            <a:avLst/>
          </a:prstGeom>
          <a:solidFill>
            <a:srgbClr val="E3DCD3"/>
          </a:solidFill>
          <a:ln>
            <a:noFill/>
          </a:ln>
          <a:effectLst/>
        </p:spPr>
        <p:txBody>
          <a:bodyPr rtlCol="0" anchor="ctr"/>
          <a:lstStyle/>
          <a:p>
            <a:pPr algn="ctr"/>
            <a:endParaRPr/>
          </a:p>
        </p:txBody>
      </p:sp>
      <p:sp>
        <p:nvSpPr>
          <p:cNvPr id="70" name="Rounded Rectangle 69"/>
          <p:cNvSpPr/>
          <p:nvPr/>
        </p:nvSpPr>
        <p:spPr>
          <a:xfrm>
            <a:off x="561975"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1" name="Text: ACHC">
            <a:hlinkClick r:id="rId9"/>
          </p:cNvPr>
          <p:cNvSpPr txBox="1"/>
          <p:nvPr/>
        </p:nvSpPr>
        <p:spPr>
          <a:xfrm>
            <a:off x="561975"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ACHC</a:t>
            </a:r>
          </a:p>
        </p:txBody>
      </p:sp>
      <p:sp>
        <p:nvSpPr>
          <p:cNvPr id="72" name="Text: Acadia Healthcare">
            <a:hlinkClick r:id="rId9"/>
          </p:cNvPr>
          <p:cNvSpPr txBox="1"/>
          <p:nvPr/>
        </p:nvSpPr>
        <p:spPr>
          <a:xfrm>
            <a:off x="990600" y="3488531"/>
            <a:ext cx="76348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Acadia Healthcare</a:t>
            </a:r>
          </a:p>
        </p:txBody>
      </p:sp>
      <p:sp>
        <p:nvSpPr>
          <p:cNvPr id="73" name="Rectangle 72"/>
          <p:cNvSpPr/>
          <p:nvPr/>
        </p:nvSpPr>
        <p:spPr>
          <a:xfrm>
            <a:off x="542925" y="3686175"/>
            <a:ext cx="1957388" cy="228600"/>
          </a:xfrm>
          <a:prstGeom prst="rect">
            <a:avLst/>
          </a:prstGeom>
          <a:solidFill>
            <a:srgbClr val="FFFFFF"/>
          </a:solidFill>
          <a:ln>
            <a:noFill/>
          </a:ln>
          <a:effectLst/>
        </p:spPr>
        <p:txBody>
          <a:bodyPr rtlCol="0" anchor="ctr"/>
          <a:lstStyle/>
          <a:p>
            <a:pPr algn="ctr"/>
            <a:endParaRPr/>
          </a:p>
        </p:txBody>
      </p:sp>
      <p:sp>
        <p:nvSpPr>
          <p:cNvPr id="74" name="Rectangle 73"/>
          <p:cNvSpPr/>
          <p:nvPr/>
        </p:nvSpPr>
        <p:spPr>
          <a:xfrm>
            <a:off x="542925" y="3686175"/>
            <a:ext cx="1957388" cy="9525"/>
          </a:xfrm>
          <a:prstGeom prst="rect">
            <a:avLst/>
          </a:prstGeom>
          <a:solidFill>
            <a:srgbClr val="E3DCD3"/>
          </a:solidFill>
          <a:ln>
            <a:noFill/>
          </a:ln>
          <a:effectLst/>
        </p:spPr>
        <p:txBody>
          <a:bodyPr rtlCol="0" anchor="ctr"/>
          <a:lstStyle/>
          <a:p>
            <a:pPr algn="ctr"/>
            <a:endParaRPr/>
          </a:p>
        </p:txBody>
      </p:sp>
      <p:sp>
        <p:nvSpPr>
          <p:cNvPr id="75" name="Rectangle 74"/>
          <p:cNvSpPr/>
          <p:nvPr/>
        </p:nvSpPr>
        <p:spPr>
          <a:xfrm>
            <a:off x="2490788" y="3686175"/>
            <a:ext cx="9525" cy="228600"/>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542925" y="3905250"/>
            <a:ext cx="1957388" cy="9525"/>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542925" y="3686175"/>
            <a:ext cx="9525" cy="228600"/>
          </a:xfrm>
          <a:prstGeom prst="rect">
            <a:avLst/>
          </a:prstGeom>
          <a:solidFill>
            <a:srgbClr val="E3DCD3"/>
          </a:solidFill>
          <a:ln>
            <a:noFill/>
          </a:ln>
          <a:effectLst/>
        </p:spPr>
        <p:txBody>
          <a:bodyPr rtlCol="0" anchor="ctr"/>
          <a:lstStyle/>
          <a:p>
            <a:pPr algn="ctr"/>
            <a:endParaRPr/>
          </a:p>
        </p:txBody>
      </p:sp>
      <p:sp>
        <p:nvSpPr>
          <p:cNvPr id="78" name="Rounded Rectangle 77"/>
          <p:cNvSpPr/>
          <p:nvPr/>
        </p:nvSpPr>
        <p:spPr>
          <a:xfrm>
            <a:off x="561975"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9" name="Text: LFST">
            <a:hlinkClick r:id="rId10"/>
          </p:cNvPr>
          <p:cNvSpPr txBox="1"/>
          <p:nvPr/>
        </p:nvSpPr>
        <p:spPr>
          <a:xfrm>
            <a:off x="561975"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80" name="Text: LifeStance Health">
            <a:hlinkClick r:id="rId10"/>
          </p:cNvPr>
          <p:cNvSpPr txBox="1"/>
          <p:nvPr/>
        </p:nvSpPr>
        <p:spPr>
          <a:xfrm>
            <a:off x="990600" y="3736181"/>
            <a:ext cx="7340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LifeStance Health</a:t>
            </a:r>
          </a:p>
        </p:txBody>
      </p:sp>
      <p:sp>
        <p:nvSpPr>
          <p:cNvPr id="81" name="Rectangle 80"/>
          <p:cNvSpPr/>
          <p:nvPr/>
        </p:nvSpPr>
        <p:spPr>
          <a:xfrm>
            <a:off x="542925" y="3933825"/>
            <a:ext cx="1957388" cy="228600"/>
          </a:xfrm>
          <a:prstGeom prst="rect">
            <a:avLst/>
          </a:prstGeom>
          <a:solidFill>
            <a:srgbClr val="FFFFFF"/>
          </a:solidFill>
          <a:ln>
            <a:noFill/>
          </a:ln>
          <a:effectLst/>
        </p:spPr>
        <p:txBody>
          <a:bodyPr rtlCol="0" anchor="ctr"/>
          <a:lstStyle/>
          <a:p>
            <a:pPr algn="ctr"/>
            <a:endParaRPr/>
          </a:p>
        </p:txBody>
      </p:sp>
      <p:sp>
        <p:nvSpPr>
          <p:cNvPr id="82" name="Rectangle 81"/>
          <p:cNvSpPr/>
          <p:nvPr/>
        </p:nvSpPr>
        <p:spPr>
          <a:xfrm>
            <a:off x="542925" y="3933825"/>
            <a:ext cx="1957388"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2490788" y="3933825"/>
            <a:ext cx="9525" cy="228600"/>
          </a:xfrm>
          <a:prstGeom prst="rect">
            <a:avLst/>
          </a:prstGeom>
          <a:solidFill>
            <a:srgbClr val="E3DCD3"/>
          </a:solidFill>
          <a:ln>
            <a:noFill/>
          </a:ln>
          <a:effectLst/>
        </p:spPr>
        <p:txBody>
          <a:bodyPr rtlCol="0" anchor="ctr"/>
          <a:lstStyle/>
          <a:p>
            <a:pPr algn="ctr"/>
            <a:endParaRPr/>
          </a:p>
        </p:txBody>
      </p:sp>
      <p:sp>
        <p:nvSpPr>
          <p:cNvPr id="84" name="Rectangle 83"/>
          <p:cNvSpPr/>
          <p:nvPr/>
        </p:nvSpPr>
        <p:spPr>
          <a:xfrm>
            <a:off x="542925" y="4152900"/>
            <a:ext cx="1957388" cy="9525"/>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542925" y="3933825"/>
            <a:ext cx="9525" cy="228600"/>
          </a:xfrm>
          <a:prstGeom prst="rect">
            <a:avLst/>
          </a:prstGeom>
          <a:solidFill>
            <a:srgbClr val="E3DCD3"/>
          </a:solidFill>
          <a:ln>
            <a:noFill/>
          </a:ln>
          <a:effectLst/>
        </p:spPr>
        <p:txBody>
          <a:bodyPr rtlCol="0" anchor="ctr"/>
          <a:lstStyle/>
          <a:p>
            <a:pPr algn="ctr"/>
            <a:endParaRPr/>
          </a:p>
        </p:txBody>
      </p:sp>
      <p:sp>
        <p:nvSpPr>
          <p:cNvPr id="86" name="Rounded Rectangle 85"/>
          <p:cNvSpPr/>
          <p:nvPr/>
        </p:nvSpPr>
        <p:spPr>
          <a:xfrm>
            <a:off x="561975"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7" name="Text: PRVA">
            <a:hlinkClick r:id="rId11"/>
          </p:cNvPr>
          <p:cNvSpPr txBox="1"/>
          <p:nvPr/>
        </p:nvSpPr>
        <p:spPr>
          <a:xfrm>
            <a:off x="561975"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88" name="Text: Privia Health">
            <a:hlinkClick r:id="rId11"/>
          </p:cNvPr>
          <p:cNvSpPr txBox="1"/>
          <p:nvPr/>
        </p:nvSpPr>
        <p:spPr>
          <a:xfrm>
            <a:off x="990600" y="3983831"/>
            <a:ext cx="54664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Privia Health</a:t>
            </a:r>
          </a:p>
        </p:txBody>
      </p:sp>
      <p:sp>
        <p:nvSpPr>
          <p:cNvPr id="89" name="Rectangle 88"/>
          <p:cNvSpPr/>
          <p:nvPr/>
        </p:nvSpPr>
        <p:spPr>
          <a:xfrm>
            <a:off x="542925" y="4181475"/>
            <a:ext cx="1957388" cy="228600"/>
          </a:xfrm>
          <a:prstGeom prst="rect">
            <a:avLst/>
          </a:prstGeom>
          <a:solidFill>
            <a:srgbClr val="FFFFFF"/>
          </a:solidFill>
          <a:ln>
            <a:noFill/>
          </a:ln>
          <a:effectLst/>
        </p:spPr>
        <p:txBody>
          <a:bodyPr rtlCol="0" anchor="ctr"/>
          <a:lstStyle/>
          <a:p>
            <a:pPr algn="ctr"/>
            <a:endParaRPr/>
          </a:p>
        </p:txBody>
      </p:sp>
      <p:sp>
        <p:nvSpPr>
          <p:cNvPr id="90" name="Rectangle 89"/>
          <p:cNvSpPr/>
          <p:nvPr/>
        </p:nvSpPr>
        <p:spPr>
          <a:xfrm>
            <a:off x="542925" y="4181475"/>
            <a:ext cx="1957388"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490788" y="4181475"/>
            <a:ext cx="9525" cy="228600"/>
          </a:xfrm>
          <a:prstGeom prst="rect">
            <a:avLst/>
          </a:prstGeom>
          <a:solidFill>
            <a:srgbClr val="E3DCD3"/>
          </a:solidFill>
          <a:ln>
            <a:noFill/>
          </a:ln>
          <a:effectLst/>
        </p:spPr>
        <p:txBody>
          <a:bodyPr rtlCol="0" anchor="ctr"/>
          <a:lstStyle/>
          <a:p>
            <a:pPr algn="ctr"/>
            <a:endParaRPr/>
          </a:p>
        </p:txBody>
      </p:sp>
      <p:sp>
        <p:nvSpPr>
          <p:cNvPr id="92" name="Rectangle 91"/>
          <p:cNvSpPr/>
          <p:nvPr/>
        </p:nvSpPr>
        <p:spPr>
          <a:xfrm>
            <a:off x="542925" y="4400550"/>
            <a:ext cx="1957388" cy="9525"/>
          </a:xfrm>
          <a:prstGeom prst="rect">
            <a:avLst/>
          </a:prstGeom>
          <a:solidFill>
            <a:srgbClr val="E3DCD3"/>
          </a:solidFill>
          <a:ln>
            <a:noFill/>
          </a:ln>
          <a:effectLst/>
        </p:spPr>
        <p:txBody>
          <a:bodyPr rtlCol="0" anchor="ctr"/>
          <a:lstStyle/>
          <a:p>
            <a:pPr algn="ctr"/>
            <a:endParaRPr/>
          </a:p>
        </p:txBody>
      </p:sp>
      <p:sp>
        <p:nvSpPr>
          <p:cNvPr id="93" name="Rectangle 92"/>
          <p:cNvSpPr/>
          <p:nvPr/>
        </p:nvSpPr>
        <p:spPr>
          <a:xfrm>
            <a:off x="542925" y="4181475"/>
            <a:ext cx="9525" cy="228600"/>
          </a:xfrm>
          <a:prstGeom prst="rect">
            <a:avLst/>
          </a:prstGeom>
          <a:solidFill>
            <a:srgbClr val="E3DCD3"/>
          </a:solidFill>
          <a:ln>
            <a:noFill/>
          </a:ln>
          <a:effectLst/>
        </p:spPr>
        <p:txBody>
          <a:bodyPr rtlCol="0" anchor="ctr"/>
          <a:lstStyle/>
          <a:p>
            <a:pPr algn="ctr"/>
            <a:endParaRPr/>
          </a:p>
        </p:txBody>
      </p:sp>
      <p:sp>
        <p:nvSpPr>
          <p:cNvPr id="94" name="Rounded Rectangle 93"/>
          <p:cNvSpPr/>
          <p:nvPr/>
        </p:nvSpPr>
        <p:spPr>
          <a:xfrm>
            <a:off x="561975"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5" name="Text: CON">
            <a:hlinkClick r:id="rId12"/>
          </p:cNvPr>
          <p:cNvSpPr txBox="1"/>
          <p:nvPr/>
        </p:nvSpPr>
        <p:spPr>
          <a:xfrm>
            <a:off x="561975"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96" name="Text: Concentra">
            <a:hlinkClick r:id="rId12"/>
          </p:cNvPr>
          <p:cNvSpPr txBox="1"/>
          <p:nvPr/>
        </p:nvSpPr>
        <p:spPr>
          <a:xfrm>
            <a:off x="990600" y="4231481"/>
            <a:ext cx="43413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Concentra</a:t>
            </a:r>
          </a:p>
        </p:txBody>
      </p:sp>
      <p:sp>
        <p:nvSpPr>
          <p:cNvPr id="97" name="Rectangle 96"/>
          <p:cNvSpPr/>
          <p:nvPr/>
        </p:nvSpPr>
        <p:spPr>
          <a:xfrm>
            <a:off x="542925" y="4429125"/>
            <a:ext cx="1957388" cy="228600"/>
          </a:xfrm>
          <a:prstGeom prst="rect">
            <a:avLst/>
          </a:prstGeom>
          <a:solidFill>
            <a:srgbClr val="FFFFFF"/>
          </a:solidFill>
          <a:ln>
            <a:noFill/>
          </a:ln>
          <a:effectLst/>
        </p:spPr>
        <p:txBody>
          <a:bodyPr rtlCol="0" anchor="ctr"/>
          <a:lstStyle/>
          <a:p>
            <a:pPr algn="ctr"/>
            <a:endParaRPr/>
          </a:p>
        </p:txBody>
      </p:sp>
      <p:sp>
        <p:nvSpPr>
          <p:cNvPr id="98" name="Rectangle 97"/>
          <p:cNvSpPr/>
          <p:nvPr/>
        </p:nvSpPr>
        <p:spPr>
          <a:xfrm>
            <a:off x="542925" y="4429125"/>
            <a:ext cx="1957388" cy="9525"/>
          </a:xfrm>
          <a:prstGeom prst="rect">
            <a:avLst/>
          </a:prstGeom>
          <a:solidFill>
            <a:srgbClr val="E3DCD3"/>
          </a:solidFill>
          <a:ln>
            <a:noFill/>
          </a:ln>
          <a:effectLst/>
        </p:spPr>
        <p:txBody>
          <a:bodyPr rtlCol="0" anchor="ctr"/>
          <a:lstStyle/>
          <a:p>
            <a:pPr algn="ctr"/>
            <a:endParaRPr/>
          </a:p>
        </p:txBody>
      </p:sp>
      <p:sp>
        <p:nvSpPr>
          <p:cNvPr id="99" name="Rectangle 98"/>
          <p:cNvSpPr/>
          <p:nvPr/>
        </p:nvSpPr>
        <p:spPr>
          <a:xfrm>
            <a:off x="2490788" y="4429125"/>
            <a:ext cx="9525" cy="228600"/>
          </a:xfrm>
          <a:prstGeom prst="rect">
            <a:avLst/>
          </a:prstGeom>
          <a:solidFill>
            <a:srgbClr val="E3DCD3"/>
          </a:solidFill>
          <a:ln>
            <a:noFill/>
          </a:ln>
          <a:effectLst/>
        </p:spPr>
        <p:txBody>
          <a:bodyPr rtlCol="0" anchor="ctr"/>
          <a:lstStyle/>
          <a:p>
            <a:pPr algn="ctr"/>
            <a:endParaRPr/>
          </a:p>
        </p:txBody>
      </p:sp>
      <p:sp>
        <p:nvSpPr>
          <p:cNvPr id="100" name="Rectangle 99"/>
          <p:cNvSpPr/>
          <p:nvPr/>
        </p:nvSpPr>
        <p:spPr>
          <a:xfrm>
            <a:off x="542925" y="4648200"/>
            <a:ext cx="1957388" cy="9525"/>
          </a:xfrm>
          <a:prstGeom prst="rect">
            <a:avLst/>
          </a:prstGeom>
          <a:solidFill>
            <a:srgbClr val="E3DCD3"/>
          </a:solidFill>
          <a:ln>
            <a:noFill/>
          </a:ln>
          <a:effectLst/>
        </p:spPr>
        <p:txBody>
          <a:bodyPr rtlCol="0" anchor="ctr"/>
          <a:lstStyle/>
          <a:p>
            <a:pPr algn="ctr"/>
            <a:endParaRPr/>
          </a:p>
        </p:txBody>
      </p:sp>
      <p:sp>
        <p:nvSpPr>
          <p:cNvPr id="101" name="Rectangle 100"/>
          <p:cNvSpPr/>
          <p:nvPr/>
        </p:nvSpPr>
        <p:spPr>
          <a:xfrm>
            <a:off x="542925" y="4429125"/>
            <a:ext cx="9525" cy="228600"/>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561975" y="44481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ENSG">
            <a:hlinkClick r:id="rId13"/>
          </p:cNvPr>
          <p:cNvSpPr txBox="1"/>
          <p:nvPr/>
        </p:nvSpPr>
        <p:spPr>
          <a:xfrm>
            <a:off x="561975" y="44481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04" name="Text: Ensign Group">
            <a:hlinkClick r:id="rId13"/>
          </p:cNvPr>
          <p:cNvSpPr txBox="1"/>
          <p:nvPr/>
        </p:nvSpPr>
        <p:spPr>
          <a:xfrm>
            <a:off x="990600" y="4479131"/>
            <a:ext cx="5607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Ensign Group</a:t>
            </a:r>
          </a:p>
        </p:txBody>
      </p:sp>
      <p:sp>
        <p:nvSpPr>
          <p:cNvPr id="105" name="Text: PLATFORMS, SPONSORS AND HEALTH SYS"/>
          <p:cNvSpPr txBox="1"/>
          <p:nvPr/>
        </p:nvSpPr>
        <p:spPr>
          <a:xfrm>
            <a:off x="542925" y="501015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PLATFORMS, SPONSORS AND HEALTH SYSTEMS</a:t>
            </a:r>
          </a:p>
        </p:txBody>
      </p:sp>
      <p:sp>
        <p:nvSpPr>
          <p:cNvPr id="106" name="Rectangle 105"/>
          <p:cNvSpPr/>
          <p:nvPr/>
        </p:nvSpPr>
        <p:spPr>
          <a:xfrm>
            <a:off x="542925" y="5314950"/>
            <a:ext cx="1217265" cy="180975"/>
          </a:xfrm>
          <a:prstGeom prst="rect">
            <a:avLst/>
          </a:prstGeom>
          <a:solidFill>
            <a:srgbClr val="FFFFFF"/>
          </a:solidFill>
          <a:ln>
            <a:noFill/>
          </a:ln>
          <a:effectLst/>
        </p:spPr>
        <p:txBody>
          <a:bodyPr rtlCol="0" anchor="ctr"/>
          <a:lstStyle/>
          <a:p>
            <a:pPr algn="ctr"/>
            <a:endParaRPr/>
          </a:p>
        </p:txBody>
      </p:sp>
      <p:sp>
        <p:nvSpPr>
          <p:cNvPr id="107" name="Rectangle 106"/>
          <p:cNvSpPr/>
          <p:nvPr/>
        </p:nvSpPr>
        <p:spPr>
          <a:xfrm>
            <a:off x="542925" y="5314950"/>
            <a:ext cx="1217265" cy="9525"/>
          </a:xfrm>
          <a:prstGeom prst="rect">
            <a:avLst/>
          </a:prstGeom>
          <a:solidFill>
            <a:srgbClr val="E3DCD3"/>
          </a:solidFill>
          <a:ln>
            <a:noFill/>
          </a:ln>
          <a:effectLst/>
        </p:spPr>
        <p:txBody>
          <a:bodyPr rtlCol="0" anchor="ctr"/>
          <a:lstStyle/>
          <a:p>
            <a:pPr algn="ctr"/>
            <a:endParaRPr/>
          </a:p>
        </p:txBody>
      </p:sp>
      <p:sp>
        <p:nvSpPr>
          <p:cNvPr id="108" name="Rectangle 107"/>
          <p:cNvSpPr/>
          <p:nvPr/>
        </p:nvSpPr>
        <p:spPr>
          <a:xfrm>
            <a:off x="1750665" y="5314950"/>
            <a:ext cx="9525" cy="18097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542925" y="5486400"/>
            <a:ext cx="121726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42925" y="5314950"/>
            <a:ext cx="9525" cy="180975"/>
          </a:xfrm>
          <a:prstGeom prst="rect">
            <a:avLst/>
          </a:prstGeom>
          <a:solidFill>
            <a:srgbClr val="E3DCD3"/>
          </a:solidFill>
          <a:ln>
            <a:noFill/>
          </a:ln>
          <a:effectLst/>
        </p:spPr>
        <p:txBody>
          <a:bodyPr rtlCol="0" anchor="ctr"/>
          <a:lstStyle/>
          <a:p>
            <a:pPr algn="ctr"/>
            <a:endParaRPr/>
          </a:p>
        </p:txBody>
      </p:sp>
      <p:sp>
        <p:nvSpPr>
          <p:cNvPr id="111" name="Text: HCA Healthcare urgent care"/>
          <p:cNvSpPr txBox="1"/>
          <p:nvPr/>
        </p:nvSpPr>
        <p:spPr>
          <a:xfrm>
            <a:off x="609600" y="5343525"/>
            <a:ext cx="109820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HCA Healthcare urgent care</a:t>
            </a:r>
          </a:p>
        </p:txBody>
      </p:sp>
      <p:sp>
        <p:nvSpPr>
          <p:cNvPr id="112" name="Rectangle 111"/>
          <p:cNvSpPr/>
          <p:nvPr/>
        </p:nvSpPr>
        <p:spPr>
          <a:xfrm>
            <a:off x="1798290" y="5314950"/>
            <a:ext cx="505271" cy="180975"/>
          </a:xfrm>
          <a:prstGeom prst="rect">
            <a:avLst/>
          </a:prstGeom>
          <a:solidFill>
            <a:srgbClr val="FFFFFF"/>
          </a:solidFill>
          <a:ln>
            <a:noFill/>
          </a:ln>
          <a:effectLst/>
        </p:spPr>
        <p:txBody>
          <a:bodyPr rtlCol="0" anchor="ctr"/>
          <a:lstStyle/>
          <a:p>
            <a:pPr algn="ctr"/>
            <a:endParaRPr/>
          </a:p>
        </p:txBody>
      </p:sp>
      <p:sp>
        <p:nvSpPr>
          <p:cNvPr id="113" name="Rectangle 112"/>
          <p:cNvSpPr/>
          <p:nvPr/>
        </p:nvSpPr>
        <p:spPr>
          <a:xfrm>
            <a:off x="1798290" y="5314950"/>
            <a:ext cx="505271" cy="9525"/>
          </a:xfrm>
          <a:prstGeom prst="rect">
            <a:avLst/>
          </a:prstGeom>
          <a:solidFill>
            <a:srgbClr val="E3DCD3"/>
          </a:solidFill>
          <a:ln>
            <a:noFill/>
          </a:ln>
          <a:effectLst/>
        </p:spPr>
        <p:txBody>
          <a:bodyPr rtlCol="0" anchor="ctr"/>
          <a:lstStyle/>
          <a:p>
            <a:pPr algn="ctr"/>
            <a:endParaRPr/>
          </a:p>
        </p:txBody>
      </p:sp>
      <p:sp>
        <p:nvSpPr>
          <p:cNvPr id="114" name="Rectangle 113"/>
          <p:cNvSpPr/>
          <p:nvPr/>
        </p:nvSpPr>
        <p:spPr>
          <a:xfrm>
            <a:off x="2294037" y="5314950"/>
            <a:ext cx="9525" cy="180975"/>
          </a:xfrm>
          <a:prstGeom prst="rect">
            <a:avLst/>
          </a:prstGeom>
          <a:solidFill>
            <a:srgbClr val="E3DCD3"/>
          </a:solidFill>
          <a:ln>
            <a:noFill/>
          </a:ln>
          <a:effectLst/>
        </p:spPr>
        <p:txBody>
          <a:bodyPr rtlCol="0" anchor="ctr"/>
          <a:lstStyle/>
          <a:p>
            <a:pPr algn="ctr"/>
            <a:endParaRPr/>
          </a:p>
        </p:txBody>
      </p:sp>
      <p:sp>
        <p:nvSpPr>
          <p:cNvPr id="115" name="Rectangle 114"/>
          <p:cNvSpPr/>
          <p:nvPr/>
        </p:nvSpPr>
        <p:spPr>
          <a:xfrm>
            <a:off x="1798290" y="5486400"/>
            <a:ext cx="505271"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1798290" y="5314950"/>
            <a:ext cx="9525" cy="180975"/>
          </a:xfrm>
          <a:prstGeom prst="rect">
            <a:avLst/>
          </a:prstGeom>
          <a:solidFill>
            <a:srgbClr val="E3DCD3"/>
          </a:solidFill>
          <a:ln>
            <a:noFill/>
          </a:ln>
          <a:effectLst/>
        </p:spPr>
        <p:txBody>
          <a:bodyPr rtlCol="0" anchor="ctr"/>
          <a:lstStyle/>
          <a:p>
            <a:pPr algn="ctr"/>
            <a:endParaRPr/>
          </a:p>
        </p:txBody>
      </p:sp>
      <p:sp>
        <p:nvSpPr>
          <p:cNvPr id="117" name="Text: MyEyeDr."/>
          <p:cNvSpPr txBox="1"/>
          <p:nvPr/>
        </p:nvSpPr>
        <p:spPr>
          <a:xfrm>
            <a:off x="1864965" y="5343525"/>
            <a:ext cx="38620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MyEyeDr.</a:t>
            </a:r>
          </a:p>
        </p:txBody>
      </p:sp>
      <p:sp>
        <p:nvSpPr>
          <p:cNvPr id="118" name="Rectangle 117"/>
          <p:cNvSpPr/>
          <p:nvPr/>
        </p:nvSpPr>
        <p:spPr>
          <a:xfrm>
            <a:off x="542925" y="5534025"/>
            <a:ext cx="798612" cy="180975"/>
          </a:xfrm>
          <a:prstGeom prst="rect">
            <a:avLst/>
          </a:prstGeom>
          <a:solidFill>
            <a:srgbClr val="FFFFFF"/>
          </a:solidFill>
          <a:ln>
            <a:noFill/>
          </a:ln>
          <a:effectLst/>
        </p:spPr>
        <p:txBody>
          <a:bodyPr rtlCol="0" anchor="ctr"/>
          <a:lstStyle/>
          <a:p>
            <a:pPr algn="ctr"/>
            <a:endParaRPr/>
          </a:p>
        </p:txBody>
      </p:sp>
      <p:sp>
        <p:nvSpPr>
          <p:cNvPr id="119" name="Rectangle 118"/>
          <p:cNvSpPr/>
          <p:nvPr/>
        </p:nvSpPr>
        <p:spPr>
          <a:xfrm>
            <a:off x="542925" y="5534025"/>
            <a:ext cx="798612" cy="9525"/>
          </a:xfrm>
          <a:prstGeom prst="rect">
            <a:avLst/>
          </a:prstGeom>
          <a:solidFill>
            <a:srgbClr val="E3DCD3"/>
          </a:solidFill>
          <a:ln>
            <a:noFill/>
          </a:ln>
          <a:effectLst/>
        </p:spPr>
        <p:txBody>
          <a:bodyPr rtlCol="0" anchor="ctr"/>
          <a:lstStyle/>
          <a:p>
            <a:pPr algn="ctr"/>
            <a:endParaRPr/>
          </a:p>
        </p:txBody>
      </p:sp>
      <p:sp>
        <p:nvSpPr>
          <p:cNvPr id="120" name="Rectangle 119"/>
          <p:cNvSpPr/>
          <p:nvPr/>
        </p:nvSpPr>
        <p:spPr>
          <a:xfrm>
            <a:off x="1332012" y="5534025"/>
            <a:ext cx="9525" cy="180975"/>
          </a:xfrm>
          <a:prstGeom prst="rect">
            <a:avLst/>
          </a:prstGeom>
          <a:solidFill>
            <a:srgbClr val="E3DCD3"/>
          </a:solidFill>
          <a:ln>
            <a:noFill/>
          </a:ln>
          <a:effectLst/>
        </p:spPr>
        <p:txBody>
          <a:bodyPr rtlCol="0" anchor="ctr"/>
          <a:lstStyle/>
          <a:p>
            <a:pPr algn="ctr"/>
            <a:endParaRPr/>
          </a:p>
        </p:txBody>
      </p:sp>
      <p:sp>
        <p:nvSpPr>
          <p:cNvPr id="121" name="Rectangle 120"/>
          <p:cNvSpPr/>
          <p:nvPr/>
        </p:nvSpPr>
        <p:spPr>
          <a:xfrm>
            <a:off x="542925" y="5705475"/>
            <a:ext cx="798612" cy="9525"/>
          </a:xfrm>
          <a:prstGeom prst="rect">
            <a:avLst/>
          </a:prstGeom>
          <a:solidFill>
            <a:srgbClr val="E3DCD3"/>
          </a:solidFill>
          <a:ln>
            <a:noFill/>
          </a:ln>
          <a:effectLst/>
        </p:spPr>
        <p:txBody>
          <a:bodyPr rtlCol="0" anchor="ctr"/>
          <a:lstStyle/>
          <a:p>
            <a:pPr algn="ctr"/>
            <a:endParaRPr/>
          </a:p>
        </p:txBody>
      </p:sp>
      <p:sp>
        <p:nvSpPr>
          <p:cNvPr id="122" name="Rectangle 121"/>
          <p:cNvSpPr/>
          <p:nvPr/>
        </p:nvSpPr>
        <p:spPr>
          <a:xfrm>
            <a:off x="542925" y="5534025"/>
            <a:ext cx="9525" cy="180975"/>
          </a:xfrm>
          <a:prstGeom prst="rect">
            <a:avLst/>
          </a:prstGeom>
          <a:solidFill>
            <a:srgbClr val="E3DCD3"/>
          </a:solidFill>
          <a:ln>
            <a:noFill/>
          </a:ln>
          <a:effectLst/>
        </p:spPr>
        <p:txBody>
          <a:bodyPr rtlCol="0" anchor="ctr"/>
          <a:lstStyle/>
          <a:p>
            <a:pPr algn="ctr"/>
            <a:endParaRPr/>
          </a:p>
        </p:txBody>
      </p:sp>
      <p:sp>
        <p:nvSpPr>
          <p:cNvPr id="123" name="Text: EyeCare Partners"/>
          <p:cNvSpPr txBox="1"/>
          <p:nvPr/>
        </p:nvSpPr>
        <p:spPr>
          <a:xfrm>
            <a:off x="609600" y="5562600"/>
            <a:ext cx="67954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EyeCare Partners</a:t>
            </a:r>
          </a:p>
        </p:txBody>
      </p:sp>
      <p:sp>
        <p:nvSpPr>
          <p:cNvPr id="124" name="Rectangle 123"/>
          <p:cNvSpPr/>
          <p:nvPr/>
        </p:nvSpPr>
        <p:spPr>
          <a:xfrm>
            <a:off x="1379637" y="5534025"/>
            <a:ext cx="972294" cy="180975"/>
          </a:xfrm>
          <a:prstGeom prst="rect">
            <a:avLst/>
          </a:prstGeom>
          <a:solidFill>
            <a:srgbClr val="FFFFFF"/>
          </a:solidFill>
          <a:ln>
            <a:noFill/>
          </a:ln>
          <a:effectLst/>
        </p:spPr>
        <p:txBody>
          <a:bodyPr rtlCol="0" anchor="ctr"/>
          <a:lstStyle/>
          <a:p>
            <a:pPr algn="ctr"/>
            <a:endParaRPr/>
          </a:p>
        </p:txBody>
      </p:sp>
      <p:sp>
        <p:nvSpPr>
          <p:cNvPr id="125" name="Rectangle 124"/>
          <p:cNvSpPr/>
          <p:nvPr/>
        </p:nvSpPr>
        <p:spPr>
          <a:xfrm>
            <a:off x="1379637" y="5534025"/>
            <a:ext cx="972294"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2342406" y="5534025"/>
            <a:ext cx="9525" cy="18097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1379637" y="5705475"/>
            <a:ext cx="972294" cy="9525"/>
          </a:xfrm>
          <a:prstGeom prst="rect">
            <a:avLst/>
          </a:prstGeom>
          <a:solidFill>
            <a:srgbClr val="E3DCD3"/>
          </a:solidFill>
          <a:ln>
            <a:noFill/>
          </a:ln>
          <a:effectLst/>
        </p:spPr>
        <p:txBody>
          <a:bodyPr rtlCol="0" anchor="ctr"/>
          <a:lstStyle/>
          <a:p>
            <a:pPr algn="ctr"/>
            <a:endParaRPr/>
          </a:p>
        </p:txBody>
      </p:sp>
      <p:sp>
        <p:nvSpPr>
          <p:cNvPr id="128" name="Rectangle 127"/>
          <p:cNvSpPr/>
          <p:nvPr/>
        </p:nvSpPr>
        <p:spPr>
          <a:xfrm>
            <a:off x="1379637" y="5534025"/>
            <a:ext cx="9525" cy="180975"/>
          </a:xfrm>
          <a:prstGeom prst="rect">
            <a:avLst/>
          </a:prstGeom>
          <a:solidFill>
            <a:srgbClr val="E3DCD3"/>
          </a:solidFill>
          <a:ln>
            <a:noFill/>
          </a:ln>
          <a:effectLst/>
        </p:spPr>
        <p:txBody>
          <a:bodyPr rtlCol="0" anchor="ctr"/>
          <a:lstStyle/>
          <a:p>
            <a:pPr algn="ctr"/>
            <a:endParaRPr/>
          </a:p>
        </p:txBody>
      </p:sp>
      <p:sp>
        <p:nvSpPr>
          <p:cNvPr id="129" name="Text: Kinderhook (Enhabit)"/>
          <p:cNvSpPr txBox="1"/>
          <p:nvPr/>
        </p:nvSpPr>
        <p:spPr>
          <a:xfrm>
            <a:off x="1446312" y="5562600"/>
            <a:ext cx="853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Kinderhook (Enhabit)</a:t>
            </a:r>
          </a:p>
        </p:txBody>
      </p:sp>
      <p:sp>
        <p:nvSpPr>
          <p:cNvPr id="130" name="Rectangle 129"/>
          <p:cNvSpPr/>
          <p:nvPr/>
        </p:nvSpPr>
        <p:spPr>
          <a:xfrm>
            <a:off x="542925" y="5753100"/>
            <a:ext cx="1128712" cy="180975"/>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542925" y="5753100"/>
            <a:ext cx="1128712"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1662112" y="5753100"/>
            <a:ext cx="9525" cy="180975"/>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542925" y="5924550"/>
            <a:ext cx="1128712"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542925" y="5753100"/>
            <a:ext cx="9525" cy="180975"/>
          </a:xfrm>
          <a:prstGeom prst="rect">
            <a:avLst/>
          </a:prstGeom>
          <a:solidFill>
            <a:srgbClr val="E3DCD3"/>
          </a:solidFill>
          <a:ln>
            <a:noFill/>
          </a:ln>
          <a:effectLst/>
        </p:spPr>
        <p:txBody>
          <a:bodyPr rtlCol="0" anchor="ctr"/>
          <a:lstStyle/>
          <a:p>
            <a:pPr algn="ctr"/>
            <a:endParaRPr/>
          </a:p>
        </p:txBody>
      </p:sp>
      <p:sp>
        <p:nvSpPr>
          <p:cNvPr id="135" name="Text: Universal Health Services"/>
          <p:cNvSpPr txBox="1"/>
          <p:nvPr/>
        </p:nvSpPr>
        <p:spPr>
          <a:xfrm>
            <a:off x="609600" y="5781675"/>
            <a:ext cx="10096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Universal Health Services</a:t>
            </a:r>
          </a:p>
        </p:txBody>
      </p:sp>
      <p:sp>
        <p:nvSpPr>
          <p:cNvPr id="136" name="Rectangle 135"/>
          <p:cNvSpPr/>
          <p:nvPr/>
        </p:nvSpPr>
        <p:spPr>
          <a:xfrm>
            <a:off x="542925" y="5972175"/>
            <a:ext cx="1046113" cy="180975"/>
          </a:xfrm>
          <a:prstGeom prst="rect">
            <a:avLst/>
          </a:prstGeom>
          <a:solidFill>
            <a:srgbClr val="FFFFFF"/>
          </a:solidFill>
          <a:ln>
            <a:noFill/>
          </a:ln>
          <a:effectLst/>
        </p:spPr>
        <p:txBody>
          <a:bodyPr rtlCol="0" anchor="ctr"/>
          <a:lstStyle/>
          <a:p>
            <a:pPr algn="ctr"/>
            <a:endParaRPr/>
          </a:p>
        </p:txBody>
      </p:sp>
      <p:sp>
        <p:nvSpPr>
          <p:cNvPr id="137" name="Rectangle 136"/>
          <p:cNvSpPr/>
          <p:nvPr/>
        </p:nvSpPr>
        <p:spPr>
          <a:xfrm>
            <a:off x="542925" y="5972175"/>
            <a:ext cx="1046113"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1579513" y="5972175"/>
            <a:ext cx="9525" cy="180975"/>
          </a:xfrm>
          <a:prstGeom prst="rect">
            <a:avLst/>
          </a:prstGeom>
          <a:solidFill>
            <a:srgbClr val="E3DCD3"/>
          </a:solidFill>
          <a:ln>
            <a:noFill/>
          </a:ln>
          <a:effectLst/>
        </p:spPr>
        <p:txBody>
          <a:bodyPr rtlCol="0" anchor="ctr"/>
          <a:lstStyle/>
          <a:p>
            <a:pPr algn="ctr"/>
            <a:endParaRPr/>
          </a:p>
        </p:txBody>
      </p:sp>
      <p:sp>
        <p:nvSpPr>
          <p:cNvPr id="139" name="Rectangle 138"/>
          <p:cNvSpPr/>
          <p:nvPr/>
        </p:nvSpPr>
        <p:spPr>
          <a:xfrm>
            <a:off x="542925" y="6143625"/>
            <a:ext cx="1046113" cy="9525"/>
          </a:xfrm>
          <a:prstGeom prst="rect">
            <a:avLst/>
          </a:prstGeom>
          <a:solidFill>
            <a:srgbClr val="E3DCD3"/>
          </a:solidFill>
          <a:ln>
            <a:noFill/>
          </a:ln>
          <a:effectLst/>
        </p:spPr>
        <p:txBody>
          <a:bodyPr rtlCol="0" anchor="ctr"/>
          <a:lstStyle/>
          <a:p>
            <a:pPr algn="ctr"/>
            <a:endParaRPr/>
          </a:p>
        </p:txBody>
      </p:sp>
      <p:sp>
        <p:nvSpPr>
          <p:cNvPr id="140" name="Rectangle 139"/>
          <p:cNvSpPr/>
          <p:nvPr/>
        </p:nvSpPr>
        <p:spPr>
          <a:xfrm>
            <a:off x="542925" y="5972175"/>
            <a:ext cx="9525" cy="180975"/>
          </a:xfrm>
          <a:prstGeom prst="rect">
            <a:avLst/>
          </a:prstGeom>
          <a:solidFill>
            <a:srgbClr val="E3DCD3"/>
          </a:solidFill>
          <a:ln>
            <a:noFill/>
          </a:ln>
          <a:effectLst/>
        </p:spPr>
        <p:txBody>
          <a:bodyPr rtlCol="0" anchor="ctr"/>
          <a:lstStyle/>
          <a:p>
            <a:pPr algn="ctr"/>
            <a:endParaRPr/>
          </a:p>
        </p:txBody>
      </p:sp>
      <p:sp>
        <p:nvSpPr>
          <p:cNvPr id="141" name="Text: ACES (General Atlantic)"/>
          <p:cNvSpPr txBox="1"/>
          <p:nvPr/>
        </p:nvSpPr>
        <p:spPr>
          <a:xfrm>
            <a:off x="609600" y="6000750"/>
            <a:ext cx="92705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ACES (General Atlantic)</a:t>
            </a:r>
          </a:p>
        </p:txBody>
      </p:sp>
      <p:sp>
        <p:nvSpPr>
          <p:cNvPr id="142" name="Rectangle 141"/>
          <p:cNvSpPr/>
          <p:nvPr/>
        </p:nvSpPr>
        <p:spPr>
          <a:xfrm>
            <a:off x="542925" y="6191250"/>
            <a:ext cx="974675" cy="180975"/>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542925" y="6191250"/>
            <a:ext cx="974675" cy="9525"/>
          </a:xfrm>
          <a:prstGeom prst="rect">
            <a:avLst/>
          </a:prstGeom>
          <a:solidFill>
            <a:srgbClr val="E3DCD3"/>
          </a:solidFill>
          <a:ln>
            <a:noFill/>
          </a:ln>
          <a:effectLst/>
        </p:spPr>
        <p:txBody>
          <a:bodyPr rtlCol="0" anchor="ctr"/>
          <a:lstStyle/>
          <a:p>
            <a:pPr algn="ctr"/>
            <a:endParaRPr/>
          </a:p>
        </p:txBody>
      </p:sp>
      <p:sp>
        <p:nvSpPr>
          <p:cNvPr id="144" name="Rectangle 143"/>
          <p:cNvSpPr/>
          <p:nvPr/>
        </p:nvSpPr>
        <p:spPr>
          <a:xfrm>
            <a:off x="1508075" y="6191250"/>
            <a:ext cx="9525" cy="180975"/>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542925" y="6362700"/>
            <a:ext cx="974675"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542925" y="6191250"/>
            <a:ext cx="9525" cy="180975"/>
          </a:xfrm>
          <a:prstGeom prst="rect">
            <a:avLst/>
          </a:prstGeom>
          <a:solidFill>
            <a:srgbClr val="E3DCD3"/>
          </a:solidFill>
          <a:ln>
            <a:noFill/>
          </a:ln>
          <a:effectLst/>
        </p:spPr>
        <p:txBody>
          <a:bodyPr rtlCol="0" anchor="ctr"/>
          <a:lstStyle/>
          <a:p>
            <a:pPr algn="ctr"/>
            <a:endParaRPr/>
          </a:p>
        </p:txBody>
      </p:sp>
      <p:sp>
        <p:nvSpPr>
          <p:cNvPr id="147" name="Text: MKH Capital Partners"/>
          <p:cNvSpPr txBox="1"/>
          <p:nvPr/>
        </p:nvSpPr>
        <p:spPr>
          <a:xfrm>
            <a:off x="609600" y="6219825"/>
            <a:ext cx="85561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MKH Capital Partners</a:t>
            </a:r>
          </a:p>
        </p:txBody>
      </p:sp>
      <p:sp>
        <p:nvSpPr>
          <p:cNvPr id="148" name="Rectangle 147"/>
          <p:cNvSpPr/>
          <p:nvPr/>
        </p:nvSpPr>
        <p:spPr>
          <a:xfrm>
            <a:off x="542925" y="6410325"/>
            <a:ext cx="967532" cy="180975"/>
          </a:xfrm>
          <a:prstGeom prst="rect">
            <a:avLst/>
          </a:prstGeom>
          <a:solidFill>
            <a:srgbClr val="FFFFFF"/>
          </a:solidFill>
          <a:ln>
            <a:noFill/>
          </a:ln>
          <a:effectLst/>
        </p:spPr>
        <p:txBody>
          <a:bodyPr rtlCol="0" anchor="ctr"/>
          <a:lstStyle/>
          <a:p>
            <a:pPr algn="ctr"/>
            <a:endParaRPr/>
          </a:p>
        </p:txBody>
      </p:sp>
      <p:sp>
        <p:nvSpPr>
          <p:cNvPr id="149" name="Rectangle 148"/>
          <p:cNvSpPr/>
          <p:nvPr/>
        </p:nvSpPr>
        <p:spPr>
          <a:xfrm>
            <a:off x="542925" y="6410325"/>
            <a:ext cx="967532" cy="9525"/>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1500932" y="6410325"/>
            <a:ext cx="9525" cy="18097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542925" y="6581775"/>
            <a:ext cx="967532" cy="9525"/>
          </a:xfrm>
          <a:prstGeom prst="rect">
            <a:avLst/>
          </a:prstGeom>
          <a:solidFill>
            <a:srgbClr val="E3DCD3"/>
          </a:solidFill>
          <a:ln>
            <a:noFill/>
          </a:ln>
          <a:effectLst/>
        </p:spPr>
        <p:txBody>
          <a:bodyPr rtlCol="0" anchor="ctr"/>
          <a:lstStyle/>
          <a:p>
            <a:pPr algn="ctr"/>
            <a:endParaRPr/>
          </a:p>
        </p:txBody>
      </p:sp>
      <p:sp>
        <p:nvSpPr>
          <p:cNvPr id="152" name="Rectangle 151"/>
          <p:cNvSpPr/>
          <p:nvPr/>
        </p:nvSpPr>
        <p:spPr>
          <a:xfrm>
            <a:off x="542925" y="6410325"/>
            <a:ext cx="9525" cy="180975"/>
          </a:xfrm>
          <a:prstGeom prst="rect">
            <a:avLst/>
          </a:prstGeom>
          <a:solidFill>
            <a:srgbClr val="E3DCD3"/>
          </a:solidFill>
          <a:ln>
            <a:noFill/>
          </a:ln>
          <a:effectLst/>
        </p:spPr>
        <p:txBody>
          <a:bodyPr rtlCol="0" anchor="ctr"/>
          <a:lstStyle/>
          <a:p>
            <a:pPr algn="ctr"/>
            <a:endParaRPr/>
          </a:p>
        </p:txBody>
      </p:sp>
      <p:sp>
        <p:nvSpPr>
          <p:cNvPr id="153" name="Text: Grant Avenue Capital"/>
          <p:cNvSpPr txBox="1"/>
          <p:nvPr/>
        </p:nvSpPr>
        <p:spPr>
          <a:xfrm>
            <a:off x="609600" y="6438900"/>
            <a:ext cx="84846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Grant Avenue Capital</a:t>
            </a:r>
          </a:p>
        </p:txBody>
      </p:sp>
      <p:sp>
        <p:nvSpPr>
          <p:cNvPr id="154" name="Rectangle 153"/>
          <p:cNvSpPr/>
          <p:nvPr/>
        </p:nvSpPr>
        <p:spPr>
          <a:xfrm>
            <a:off x="542925" y="6629400"/>
            <a:ext cx="1120527" cy="180975"/>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542925" y="6629400"/>
            <a:ext cx="1120527"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1653927" y="6629400"/>
            <a:ext cx="9525" cy="180975"/>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542925" y="6800850"/>
            <a:ext cx="1120527"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542925" y="6629400"/>
            <a:ext cx="9525" cy="180975"/>
          </a:xfrm>
          <a:prstGeom prst="rect">
            <a:avLst/>
          </a:prstGeom>
          <a:solidFill>
            <a:srgbClr val="E3DCD3"/>
          </a:solidFill>
          <a:ln>
            <a:noFill/>
          </a:ln>
          <a:effectLst/>
        </p:spPr>
        <p:txBody>
          <a:bodyPr rtlCol="0" anchor="ctr"/>
          <a:lstStyle/>
          <a:p>
            <a:pPr algn="ctr"/>
            <a:endParaRPr/>
          </a:p>
        </p:txBody>
      </p:sp>
      <p:sp>
        <p:nvSpPr>
          <p:cNvPr id="159" name="Text: Global Medical Response"/>
          <p:cNvSpPr txBox="1"/>
          <p:nvPr/>
        </p:nvSpPr>
        <p:spPr>
          <a:xfrm>
            <a:off x="609600" y="6657975"/>
            <a:ext cx="100146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Global Medical Response</a:t>
            </a:r>
          </a:p>
        </p:txBody>
      </p:sp>
      <p:sp>
        <p:nvSpPr>
          <p:cNvPr id="160" name="Rectangle 159"/>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Rectangle 160"/>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Rectangle 161"/>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Rectangle 162"/>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Rectangle 163"/>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165" descr="vebe03e2a600d.png"/>
          <p:cNvPicPr>
            <a:picLocks noChangeAspect="1"/>
          </p:cNvPicPr>
          <p:nvPr/>
        </p:nvPicPr>
        <p:blipFill>
          <a:blip r:embed="rId14"/>
          <a:stretch>
            <a:fillRect/>
          </a:stretch>
        </p:blipFill>
        <p:spPr>
          <a:xfrm>
            <a:off x="2881312" y="1333500"/>
            <a:ext cx="247650" cy="247650"/>
          </a:xfrm>
          <a:prstGeom prst="rect">
            <a:avLst/>
          </a:prstGeom>
        </p:spPr>
      </p:pic>
      <p:sp>
        <p:nvSpPr>
          <p:cNvPr id="167" name="Text: LIFE SCIENCES &amp; DIAGNOSTICS"/>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 LISTED COMPANIES"/>
          <p:cNvSpPr txBox="1"/>
          <p:nvPr/>
        </p:nvSpPr>
        <p:spPr>
          <a:xfrm>
            <a:off x="2881312"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169" name="Rectangle 168"/>
          <p:cNvSpPr/>
          <p:nvPr/>
        </p:nvSpPr>
        <p:spPr>
          <a:xfrm>
            <a:off x="2881312" y="1952625"/>
            <a:ext cx="1957388" cy="228600"/>
          </a:xfrm>
          <a:prstGeom prst="rect">
            <a:avLst/>
          </a:prstGeom>
          <a:solidFill>
            <a:srgbClr val="FFFFFF"/>
          </a:solidFill>
          <a:ln>
            <a:noFill/>
          </a:ln>
          <a:effectLst/>
        </p:spPr>
        <p:txBody>
          <a:bodyPr rtlCol="0" anchor="ctr"/>
          <a:lstStyle/>
          <a:p>
            <a:pPr algn="ctr"/>
            <a:endParaRPr/>
          </a:p>
        </p:txBody>
      </p:sp>
      <p:sp>
        <p:nvSpPr>
          <p:cNvPr id="170" name="Rectangle 169"/>
          <p:cNvSpPr/>
          <p:nvPr/>
        </p:nvSpPr>
        <p:spPr>
          <a:xfrm>
            <a:off x="2881312" y="1952625"/>
            <a:ext cx="1957388"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4829175" y="1952625"/>
            <a:ext cx="9525" cy="228600"/>
          </a:xfrm>
          <a:prstGeom prst="rect">
            <a:avLst/>
          </a:prstGeom>
          <a:solidFill>
            <a:srgbClr val="E3DCD3"/>
          </a:solidFill>
          <a:ln>
            <a:noFill/>
          </a:ln>
          <a:effectLst/>
        </p:spPr>
        <p:txBody>
          <a:bodyPr rtlCol="0" anchor="ctr"/>
          <a:lstStyle/>
          <a:p>
            <a:pPr algn="ctr"/>
            <a:endParaRPr/>
          </a:p>
        </p:txBody>
      </p:sp>
      <p:sp>
        <p:nvSpPr>
          <p:cNvPr id="172" name="Rectangle 171"/>
          <p:cNvSpPr/>
          <p:nvPr/>
        </p:nvSpPr>
        <p:spPr>
          <a:xfrm>
            <a:off x="2881312" y="2171700"/>
            <a:ext cx="1957388" cy="9525"/>
          </a:xfrm>
          <a:prstGeom prst="rect">
            <a:avLst/>
          </a:prstGeom>
          <a:solidFill>
            <a:srgbClr val="E3DCD3"/>
          </a:solidFill>
          <a:ln>
            <a:noFill/>
          </a:ln>
          <a:effectLst/>
        </p:spPr>
        <p:txBody>
          <a:bodyPr rtlCol="0" anchor="ctr"/>
          <a:lstStyle/>
          <a:p>
            <a:pPr algn="ctr"/>
            <a:endParaRPr/>
          </a:p>
        </p:txBody>
      </p:sp>
      <p:sp>
        <p:nvSpPr>
          <p:cNvPr id="173" name="Rectangle 172"/>
          <p:cNvSpPr/>
          <p:nvPr/>
        </p:nvSpPr>
        <p:spPr>
          <a:xfrm>
            <a:off x="2881312" y="1952625"/>
            <a:ext cx="9525" cy="228600"/>
          </a:xfrm>
          <a:prstGeom prst="rect">
            <a:avLst/>
          </a:prstGeom>
          <a:solidFill>
            <a:srgbClr val="E3DCD3"/>
          </a:solidFill>
          <a:ln>
            <a:noFill/>
          </a:ln>
          <a:effectLst/>
        </p:spPr>
        <p:txBody>
          <a:bodyPr rtlCol="0" anchor="ctr"/>
          <a:lstStyle/>
          <a:p>
            <a:pPr algn="ctr"/>
            <a:endParaRPr/>
          </a:p>
        </p:txBody>
      </p:sp>
      <p:sp>
        <p:nvSpPr>
          <p:cNvPr id="174" name="Rounded Rectangle 173"/>
          <p:cNvSpPr/>
          <p:nvPr/>
        </p:nvSpPr>
        <p:spPr>
          <a:xfrm>
            <a:off x="2900362"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75" name="Text: LH">
            <a:hlinkClick r:id="rId15"/>
          </p:cNvPr>
          <p:cNvSpPr txBox="1"/>
          <p:nvPr/>
        </p:nvSpPr>
        <p:spPr>
          <a:xfrm>
            <a:off x="2900362"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LH</a:t>
            </a:r>
          </a:p>
        </p:txBody>
      </p:sp>
      <p:sp>
        <p:nvSpPr>
          <p:cNvPr id="176" name="Text: Labcorp">
            <a:hlinkClick r:id="rId15"/>
          </p:cNvPr>
          <p:cNvSpPr txBox="1"/>
          <p:nvPr/>
        </p:nvSpPr>
        <p:spPr>
          <a:xfrm>
            <a:off x="3328988" y="2002631"/>
            <a:ext cx="3417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Labcorp</a:t>
            </a:r>
          </a:p>
        </p:txBody>
      </p:sp>
      <p:sp>
        <p:nvSpPr>
          <p:cNvPr id="177" name="Rectangle 176"/>
          <p:cNvSpPr/>
          <p:nvPr/>
        </p:nvSpPr>
        <p:spPr>
          <a:xfrm>
            <a:off x="2881312" y="2200275"/>
            <a:ext cx="1957388" cy="228600"/>
          </a:xfrm>
          <a:prstGeom prst="rect">
            <a:avLst/>
          </a:prstGeom>
          <a:solidFill>
            <a:srgbClr val="FFFFFF"/>
          </a:solidFill>
          <a:ln>
            <a:noFill/>
          </a:ln>
          <a:effectLst/>
        </p:spPr>
        <p:txBody>
          <a:bodyPr rtlCol="0" anchor="ctr"/>
          <a:lstStyle/>
          <a:p>
            <a:pPr algn="ctr"/>
            <a:endParaRPr/>
          </a:p>
        </p:txBody>
      </p:sp>
      <p:sp>
        <p:nvSpPr>
          <p:cNvPr id="178" name="Rectangle 177"/>
          <p:cNvSpPr/>
          <p:nvPr/>
        </p:nvSpPr>
        <p:spPr>
          <a:xfrm>
            <a:off x="2881312" y="2200275"/>
            <a:ext cx="1957388" cy="9525"/>
          </a:xfrm>
          <a:prstGeom prst="rect">
            <a:avLst/>
          </a:prstGeom>
          <a:solidFill>
            <a:srgbClr val="E3DCD3"/>
          </a:solidFill>
          <a:ln>
            <a:noFill/>
          </a:ln>
          <a:effectLst/>
        </p:spPr>
        <p:txBody>
          <a:bodyPr rtlCol="0" anchor="ctr"/>
          <a:lstStyle/>
          <a:p>
            <a:pPr algn="ctr"/>
            <a:endParaRPr/>
          </a:p>
        </p:txBody>
      </p:sp>
      <p:sp>
        <p:nvSpPr>
          <p:cNvPr id="179" name="Rectangle 178"/>
          <p:cNvSpPr/>
          <p:nvPr/>
        </p:nvSpPr>
        <p:spPr>
          <a:xfrm>
            <a:off x="4829175" y="2200275"/>
            <a:ext cx="9525" cy="228600"/>
          </a:xfrm>
          <a:prstGeom prst="rect">
            <a:avLst/>
          </a:prstGeom>
          <a:solidFill>
            <a:srgbClr val="E3DCD3"/>
          </a:solidFill>
          <a:ln>
            <a:noFill/>
          </a:ln>
          <a:effectLst/>
        </p:spPr>
        <p:txBody>
          <a:bodyPr rtlCol="0" anchor="ctr"/>
          <a:lstStyle/>
          <a:p>
            <a:pPr algn="ctr"/>
            <a:endParaRPr/>
          </a:p>
        </p:txBody>
      </p:sp>
      <p:sp>
        <p:nvSpPr>
          <p:cNvPr id="180" name="Rectangle 179"/>
          <p:cNvSpPr/>
          <p:nvPr/>
        </p:nvSpPr>
        <p:spPr>
          <a:xfrm>
            <a:off x="2881312" y="2419350"/>
            <a:ext cx="1957388" cy="9525"/>
          </a:xfrm>
          <a:prstGeom prst="rect">
            <a:avLst/>
          </a:prstGeom>
          <a:solidFill>
            <a:srgbClr val="E3DCD3"/>
          </a:solidFill>
          <a:ln>
            <a:noFill/>
          </a:ln>
          <a:effectLst/>
        </p:spPr>
        <p:txBody>
          <a:bodyPr rtlCol="0" anchor="ctr"/>
          <a:lstStyle/>
          <a:p>
            <a:pPr algn="ctr"/>
            <a:endParaRPr/>
          </a:p>
        </p:txBody>
      </p:sp>
      <p:sp>
        <p:nvSpPr>
          <p:cNvPr id="181" name="Rectangle 180"/>
          <p:cNvSpPr/>
          <p:nvPr/>
        </p:nvSpPr>
        <p:spPr>
          <a:xfrm>
            <a:off x="2881312" y="2200275"/>
            <a:ext cx="9525" cy="228600"/>
          </a:xfrm>
          <a:prstGeom prst="rect">
            <a:avLst/>
          </a:prstGeom>
          <a:solidFill>
            <a:srgbClr val="E3DCD3"/>
          </a:solidFill>
          <a:ln>
            <a:noFill/>
          </a:ln>
          <a:effectLst/>
        </p:spPr>
        <p:txBody>
          <a:bodyPr rtlCol="0" anchor="ctr"/>
          <a:lstStyle/>
          <a:p>
            <a:pPr algn="ctr"/>
            <a:endParaRPr/>
          </a:p>
        </p:txBody>
      </p:sp>
      <p:sp>
        <p:nvSpPr>
          <p:cNvPr id="182" name="Rounded Rectangle 181"/>
          <p:cNvSpPr/>
          <p:nvPr/>
        </p:nvSpPr>
        <p:spPr>
          <a:xfrm>
            <a:off x="2900362"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83" name="Text: DGX">
            <a:hlinkClick r:id="rId16"/>
          </p:cNvPr>
          <p:cNvSpPr txBox="1"/>
          <p:nvPr/>
        </p:nvSpPr>
        <p:spPr>
          <a:xfrm>
            <a:off x="2900362"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184" name="Text: Quest Diagnostics">
            <a:hlinkClick r:id="rId16"/>
          </p:cNvPr>
          <p:cNvSpPr txBox="1"/>
          <p:nvPr/>
        </p:nvSpPr>
        <p:spPr>
          <a:xfrm>
            <a:off x="3328988" y="2250281"/>
            <a:ext cx="75173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Quest Diagnostics</a:t>
            </a:r>
          </a:p>
        </p:txBody>
      </p:sp>
      <p:sp>
        <p:nvSpPr>
          <p:cNvPr id="185" name="Rectangle 184"/>
          <p:cNvSpPr/>
          <p:nvPr/>
        </p:nvSpPr>
        <p:spPr>
          <a:xfrm>
            <a:off x="2881312" y="2447925"/>
            <a:ext cx="1957388" cy="228600"/>
          </a:xfrm>
          <a:prstGeom prst="rect">
            <a:avLst/>
          </a:prstGeom>
          <a:solidFill>
            <a:srgbClr val="FFFFFF"/>
          </a:solidFill>
          <a:ln>
            <a:noFill/>
          </a:ln>
          <a:effectLst/>
        </p:spPr>
        <p:txBody>
          <a:bodyPr rtlCol="0" anchor="ctr"/>
          <a:lstStyle/>
          <a:p>
            <a:pPr algn="ctr"/>
            <a:endParaRPr/>
          </a:p>
        </p:txBody>
      </p:sp>
      <p:sp>
        <p:nvSpPr>
          <p:cNvPr id="186" name="Rectangle 185"/>
          <p:cNvSpPr/>
          <p:nvPr/>
        </p:nvSpPr>
        <p:spPr>
          <a:xfrm>
            <a:off x="2881312" y="2447925"/>
            <a:ext cx="1957388" cy="9525"/>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4829175" y="2447925"/>
            <a:ext cx="9525" cy="228600"/>
          </a:xfrm>
          <a:prstGeom prst="rect">
            <a:avLst/>
          </a:prstGeom>
          <a:solidFill>
            <a:srgbClr val="E3DCD3"/>
          </a:solidFill>
          <a:ln>
            <a:noFill/>
          </a:ln>
          <a:effectLst/>
        </p:spPr>
        <p:txBody>
          <a:bodyPr rtlCol="0" anchor="ctr"/>
          <a:lstStyle/>
          <a:p>
            <a:pPr algn="ctr"/>
            <a:endParaRPr/>
          </a:p>
        </p:txBody>
      </p:sp>
      <p:sp>
        <p:nvSpPr>
          <p:cNvPr id="188" name="Rectangle 187"/>
          <p:cNvSpPr/>
          <p:nvPr/>
        </p:nvSpPr>
        <p:spPr>
          <a:xfrm>
            <a:off x="2881312" y="2667000"/>
            <a:ext cx="1957388"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2881312" y="2447925"/>
            <a:ext cx="9525" cy="228600"/>
          </a:xfrm>
          <a:prstGeom prst="rect">
            <a:avLst/>
          </a:prstGeom>
          <a:solidFill>
            <a:srgbClr val="E3DCD3"/>
          </a:solidFill>
          <a:ln>
            <a:noFill/>
          </a:ln>
          <a:effectLst/>
        </p:spPr>
        <p:txBody>
          <a:bodyPr rtlCol="0" anchor="ctr"/>
          <a:lstStyle/>
          <a:p>
            <a:pPr algn="ctr"/>
            <a:endParaRPr/>
          </a:p>
        </p:txBody>
      </p:sp>
      <p:sp>
        <p:nvSpPr>
          <p:cNvPr id="190" name="Rounded Rectangle 189"/>
          <p:cNvSpPr/>
          <p:nvPr/>
        </p:nvSpPr>
        <p:spPr>
          <a:xfrm>
            <a:off x="2900362"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1" name="Text: TMO">
            <a:hlinkClick r:id="rId17"/>
          </p:cNvPr>
          <p:cNvSpPr txBox="1"/>
          <p:nvPr/>
        </p:nvSpPr>
        <p:spPr>
          <a:xfrm>
            <a:off x="2900362"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TMO</a:t>
            </a:r>
          </a:p>
        </p:txBody>
      </p:sp>
      <p:sp>
        <p:nvSpPr>
          <p:cNvPr id="192" name="Text: Thermo Fisher Scientific">
            <a:hlinkClick r:id="rId17"/>
          </p:cNvPr>
          <p:cNvSpPr txBox="1"/>
          <p:nvPr/>
        </p:nvSpPr>
        <p:spPr>
          <a:xfrm>
            <a:off x="3328988" y="2497931"/>
            <a:ext cx="100622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Thermo Fisher Scientific</a:t>
            </a:r>
          </a:p>
        </p:txBody>
      </p:sp>
      <p:sp>
        <p:nvSpPr>
          <p:cNvPr id="193" name="Rectangle 192"/>
          <p:cNvSpPr/>
          <p:nvPr/>
        </p:nvSpPr>
        <p:spPr>
          <a:xfrm>
            <a:off x="2881312" y="2695575"/>
            <a:ext cx="1957388" cy="228600"/>
          </a:xfrm>
          <a:prstGeom prst="rect">
            <a:avLst/>
          </a:prstGeom>
          <a:solidFill>
            <a:srgbClr val="FFFFFF"/>
          </a:solidFill>
          <a:ln>
            <a:noFill/>
          </a:ln>
          <a:effectLst/>
        </p:spPr>
        <p:txBody>
          <a:bodyPr rtlCol="0" anchor="ctr"/>
          <a:lstStyle/>
          <a:p>
            <a:pPr algn="ctr"/>
            <a:endParaRPr/>
          </a:p>
        </p:txBody>
      </p:sp>
      <p:sp>
        <p:nvSpPr>
          <p:cNvPr id="194" name="Rectangle 193"/>
          <p:cNvSpPr/>
          <p:nvPr/>
        </p:nvSpPr>
        <p:spPr>
          <a:xfrm>
            <a:off x="2881312" y="2695575"/>
            <a:ext cx="1957388" cy="9525"/>
          </a:xfrm>
          <a:prstGeom prst="rect">
            <a:avLst/>
          </a:prstGeom>
          <a:solidFill>
            <a:srgbClr val="E3DCD3"/>
          </a:solidFill>
          <a:ln>
            <a:noFill/>
          </a:ln>
          <a:effectLst/>
        </p:spPr>
        <p:txBody>
          <a:bodyPr rtlCol="0" anchor="ctr"/>
          <a:lstStyle/>
          <a:p>
            <a:pPr algn="ctr"/>
            <a:endParaRPr/>
          </a:p>
        </p:txBody>
      </p:sp>
      <p:sp>
        <p:nvSpPr>
          <p:cNvPr id="195" name="Rectangle 194"/>
          <p:cNvSpPr/>
          <p:nvPr/>
        </p:nvSpPr>
        <p:spPr>
          <a:xfrm>
            <a:off x="4829175" y="2695575"/>
            <a:ext cx="9525" cy="228600"/>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2881312" y="2914650"/>
            <a:ext cx="1957388" cy="9525"/>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2881312" y="2695575"/>
            <a:ext cx="9525" cy="228600"/>
          </a:xfrm>
          <a:prstGeom prst="rect">
            <a:avLst/>
          </a:prstGeom>
          <a:solidFill>
            <a:srgbClr val="E3DCD3"/>
          </a:solidFill>
          <a:ln>
            <a:noFill/>
          </a:ln>
          <a:effectLst/>
        </p:spPr>
        <p:txBody>
          <a:bodyPr rtlCol="0" anchor="ctr"/>
          <a:lstStyle/>
          <a:p>
            <a:pPr algn="ctr"/>
            <a:endParaRPr/>
          </a:p>
        </p:txBody>
      </p:sp>
      <p:sp>
        <p:nvSpPr>
          <p:cNvPr id="198" name="Rounded Rectangle 197"/>
          <p:cNvSpPr/>
          <p:nvPr/>
        </p:nvSpPr>
        <p:spPr>
          <a:xfrm>
            <a:off x="2900362"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99" name="Text: DHR">
            <a:hlinkClick r:id="rId18"/>
          </p:cNvPr>
          <p:cNvSpPr txBox="1"/>
          <p:nvPr/>
        </p:nvSpPr>
        <p:spPr>
          <a:xfrm>
            <a:off x="2900362"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DHR</a:t>
            </a:r>
          </a:p>
        </p:txBody>
      </p:sp>
      <p:sp>
        <p:nvSpPr>
          <p:cNvPr id="200" name="Text: Danaher">
            <a:hlinkClick r:id="rId18"/>
          </p:cNvPr>
          <p:cNvSpPr txBox="1"/>
          <p:nvPr/>
        </p:nvSpPr>
        <p:spPr>
          <a:xfrm>
            <a:off x="3328988" y="2745581"/>
            <a:ext cx="3658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Danaher</a:t>
            </a:r>
          </a:p>
        </p:txBody>
      </p:sp>
      <p:sp>
        <p:nvSpPr>
          <p:cNvPr id="201" name="Rectangle 200"/>
          <p:cNvSpPr/>
          <p:nvPr/>
        </p:nvSpPr>
        <p:spPr>
          <a:xfrm>
            <a:off x="2881312" y="2943225"/>
            <a:ext cx="1957388" cy="228600"/>
          </a:xfrm>
          <a:prstGeom prst="rect">
            <a:avLst/>
          </a:prstGeom>
          <a:solidFill>
            <a:srgbClr val="FFFFFF"/>
          </a:solidFill>
          <a:ln>
            <a:noFill/>
          </a:ln>
          <a:effectLst/>
        </p:spPr>
        <p:txBody>
          <a:bodyPr rtlCol="0" anchor="ctr"/>
          <a:lstStyle/>
          <a:p>
            <a:pPr algn="ctr"/>
            <a:endParaRPr/>
          </a:p>
        </p:txBody>
      </p:sp>
      <p:sp>
        <p:nvSpPr>
          <p:cNvPr id="202" name="Rectangle 201"/>
          <p:cNvSpPr/>
          <p:nvPr/>
        </p:nvSpPr>
        <p:spPr>
          <a:xfrm>
            <a:off x="2881312" y="2943225"/>
            <a:ext cx="1957388" cy="9525"/>
          </a:xfrm>
          <a:prstGeom prst="rect">
            <a:avLst/>
          </a:prstGeom>
          <a:solidFill>
            <a:srgbClr val="E3DCD3"/>
          </a:solidFill>
          <a:ln>
            <a:noFill/>
          </a:ln>
          <a:effectLst/>
        </p:spPr>
        <p:txBody>
          <a:bodyPr rtlCol="0" anchor="ctr"/>
          <a:lstStyle/>
          <a:p>
            <a:pPr algn="ctr"/>
            <a:endParaRPr/>
          </a:p>
        </p:txBody>
      </p:sp>
      <p:sp>
        <p:nvSpPr>
          <p:cNvPr id="203" name="Rectangle 202"/>
          <p:cNvSpPr/>
          <p:nvPr/>
        </p:nvSpPr>
        <p:spPr>
          <a:xfrm>
            <a:off x="4829175" y="2943225"/>
            <a:ext cx="9525" cy="228600"/>
          </a:xfrm>
          <a:prstGeom prst="rect">
            <a:avLst/>
          </a:prstGeom>
          <a:solidFill>
            <a:srgbClr val="E3DCD3"/>
          </a:solidFill>
          <a:ln>
            <a:noFill/>
          </a:ln>
          <a:effectLst/>
        </p:spPr>
        <p:txBody>
          <a:bodyPr rtlCol="0" anchor="ctr"/>
          <a:lstStyle/>
          <a:p>
            <a:pPr algn="ctr"/>
            <a:endParaRPr/>
          </a:p>
        </p:txBody>
      </p:sp>
      <p:sp>
        <p:nvSpPr>
          <p:cNvPr id="204" name="Rectangle 203"/>
          <p:cNvSpPr/>
          <p:nvPr/>
        </p:nvSpPr>
        <p:spPr>
          <a:xfrm>
            <a:off x="2881312" y="3162300"/>
            <a:ext cx="1957388" cy="9525"/>
          </a:xfrm>
          <a:prstGeom prst="rect">
            <a:avLst/>
          </a:prstGeom>
          <a:solidFill>
            <a:srgbClr val="E3DCD3"/>
          </a:solidFill>
          <a:ln>
            <a:noFill/>
          </a:ln>
          <a:effectLst/>
        </p:spPr>
        <p:txBody>
          <a:bodyPr rtlCol="0" anchor="ctr"/>
          <a:lstStyle/>
          <a:p>
            <a:pPr algn="ctr"/>
            <a:endParaRPr/>
          </a:p>
        </p:txBody>
      </p:sp>
      <p:sp>
        <p:nvSpPr>
          <p:cNvPr id="205" name="Rectangle 204"/>
          <p:cNvSpPr/>
          <p:nvPr/>
        </p:nvSpPr>
        <p:spPr>
          <a:xfrm>
            <a:off x="2881312" y="2943225"/>
            <a:ext cx="9525" cy="228600"/>
          </a:xfrm>
          <a:prstGeom prst="rect">
            <a:avLst/>
          </a:prstGeom>
          <a:solidFill>
            <a:srgbClr val="E3DCD3"/>
          </a:solidFill>
          <a:ln>
            <a:noFill/>
          </a:ln>
          <a:effectLst/>
        </p:spPr>
        <p:txBody>
          <a:bodyPr rtlCol="0" anchor="ctr"/>
          <a:lstStyle/>
          <a:p>
            <a:pPr algn="ctr"/>
            <a:endParaRPr/>
          </a:p>
        </p:txBody>
      </p:sp>
      <p:sp>
        <p:nvSpPr>
          <p:cNvPr id="206" name="Rounded Rectangle 205"/>
          <p:cNvSpPr/>
          <p:nvPr/>
        </p:nvSpPr>
        <p:spPr>
          <a:xfrm>
            <a:off x="2900362"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07" name="Text: TECH">
            <a:hlinkClick r:id="rId19"/>
          </p:cNvPr>
          <p:cNvSpPr txBox="1"/>
          <p:nvPr/>
        </p:nvSpPr>
        <p:spPr>
          <a:xfrm>
            <a:off x="2900362"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TECH</a:t>
            </a:r>
          </a:p>
        </p:txBody>
      </p:sp>
      <p:sp>
        <p:nvSpPr>
          <p:cNvPr id="208" name="Text: Bio-Techne">
            <a:hlinkClick r:id="rId19"/>
          </p:cNvPr>
          <p:cNvSpPr txBox="1"/>
          <p:nvPr/>
        </p:nvSpPr>
        <p:spPr>
          <a:xfrm>
            <a:off x="3328988" y="2993231"/>
            <a:ext cx="4607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Bio-Techne</a:t>
            </a:r>
          </a:p>
        </p:txBody>
      </p:sp>
      <p:sp>
        <p:nvSpPr>
          <p:cNvPr id="209" name="Rectangle 208"/>
          <p:cNvSpPr/>
          <p:nvPr/>
        </p:nvSpPr>
        <p:spPr>
          <a:xfrm>
            <a:off x="2881312" y="3190875"/>
            <a:ext cx="1957388" cy="228600"/>
          </a:xfrm>
          <a:prstGeom prst="rect">
            <a:avLst/>
          </a:prstGeom>
          <a:solidFill>
            <a:srgbClr val="FFFFFF"/>
          </a:solidFill>
          <a:ln>
            <a:noFill/>
          </a:ln>
          <a:effectLst/>
        </p:spPr>
        <p:txBody>
          <a:bodyPr rtlCol="0" anchor="ctr"/>
          <a:lstStyle/>
          <a:p>
            <a:pPr algn="ctr"/>
            <a:endParaRPr/>
          </a:p>
        </p:txBody>
      </p:sp>
      <p:sp>
        <p:nvSpPr>
          <p:cNvPr id="210" name="Rectangle 209"/>
          <p:cNvSpPr/>
          <p:nvPr/>
        </p:nvSpPr>
        <p:spPr>
          <a:xfrm>
            <a:off x="2881312" y="3190875"/>
            <a:ext cx="1957388" cy="9525"/>
          </a:xfrm>
          <a:prstGeom prst="rect">
            <a:avLst/>
          </a:prstGeom>
          <a:solidFill>
            <a:srgbClr val="E3DCD3"/>
          </a:solidFill>
          <a:ln>
            <a:noFill/>
          </a:ln>
          <a:effectLst/>
        </p:spPr>
        <p:txBody>
          <a:bodyPr rtlCol="0" anchor="ctr"/>
          <a:lstStyle/>
          <a:p>
            <a:pPr algn="ctr"/>
            <a:endParaRPr/>
          </a:p>
        </p:txBody>
      </p:sp>
      <p:sp>
        <p:nvSpPr>
          <p:cNvPr id="211" name="Rectangle 210"/>
          <p:cNvSpPr/>
          <p:nvPr/>
        </p:nvSpPr>
        <p:spPr>
          <a:xfrm>
            <a:off x="4829175" y="3190875"/>
            <a:ext cx="9525" cy="228600"/>
          </a:xfrm>
          <a:prstGeom prst="rect">
            <a:avLst/>
          </a:prstGeom>
          <a:solidFill>
            <a:srgbClr val="E3DCD3"/>
          </a:solidFill>
          <a:ln>
            <a:noFill/>
          </a:ln>
          <a:effectLst/>
        </p:spPr>
        <p:txBody>
          <a:bodyPr rtlCol="0" anchor="ctr"/>
          <a:lstStyle/>
          <a:p>
            <a:pPr algn="ctr"/>
            <a:endParaRPr/>
          </a:p>
        </p:txBody>
      </p:sp>
      <p:sp>
        <p:nvSpPr>
          <p:cNvPr id="212" name="Rectangle 211"/>
          <p:cNvSpPr/>
          <p:nvPr/>
        </p:nvSpPr>
        <p:spPr>
          <a:xfrm>
            <a:off x="2881312" y="3409950"/>
            <a:ext cx="1957388" cy="9525"/>
          </a:xfrm>
          <a:prstGeom prst="rect">
            <a:avLst/>
          </a:prstGeom>
          <a:solidFill>
            <a:srgbClr val="E3DCD3"/>
          </a:solidFill>
          <a:ln>
            <a:noFill/>
          </a:ln>
          <a:effectLst/>
        </p:spPr>
        <p:txBody>
          <a:bodyPr rtlCol="0" anchor="ctr"/>
          <a:lstStyle/>
          <a:p>
            <a:pPr algn="ctr"/>
            <a:endParaRPr/>
          </a:p>
        </p:txBody>
      </p:sp>
      <p:sp>
        <p:nvSpPr>
          <p:cNvPr id="213" name="Rectangle 212"/>
          <p:cNvSpPr/>
          <p:nvPr/>
        </p:nvSpPr>
        <p:spPr>
          <a:xfrm>
            <a:off x="2881312" y="3190875"/>
            <a:ext cx="9525" cy="228600"/>
          </a:xfrm>
          <a:prstGeom prst="rect">
            <a:avLst/>
          </a:prstGeom>
          <a:solidFill>
            <a:srgbClr val="E3DCD3"/>
          </a:solidFill>
          <a:ln>
            <a:noFill/>
          </a:ln>
          <a:effectLst/>
        </p:spPr>
        <p:txBody>
          <a:bodyPr rtlCol="0" anchor="ctr"/>
          <a:lstStyle/>
          <a:p>
            <a:pPr algn="ctr"/>
            <a:endParaRPr/>
          </a:p>
        </p:txBody>
      </p:sp>
      <p:sp>
        <p:nvSpPr>
          <p:cNvPr id="214" name="Rounded Rectangle 213"/>
          <p:cNvSpPr/>
          <p:nvPr/>
        </p:nvSpPr>
        <p:spPr>
          <a:xfrm>
            <a:off x="2900362"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15" name="Text: IQV">
            <a:hlinkClick r:id="rId20"/>
          </p:cNvPr>
          <p:cNvSpPr txBox="1"/>
          <p:nvPr/>
        </p:nvSpPr>
        <p:spPr>
          <a:xfrm>
            <a:off x="2900362"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216" name="Text: IQVIA">
            <a:hlinkClick r:id="rId20"/>
          </p:cNvPr>
          <p:cNvSpPr txBox="1"/>
          <p:nvPr/>
        </p:nvSpPr>
        <p:spPr>
          <a:xfrm>
            <a:off x="3328988" y="3240881"/>
            <a:ext cx="25241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IQVIA</a:t>
            </a:r>
          </a:p>
        </p:txBody>
      </p:sp>
      <p:sp>
        <p:nvSpPr>
          <p:cNvPr id="217" name="Rectangle 216"/>
          <p:cNvSpPr/>
          <p:nvPr/>
        </p:nvSpPr>
        <p:spPr>
          <a:xfrm>
            <a:off x="2881312" y="3438525"/>
            <a:ext cx="1957388" cy="228600"/>
          </a:xfrm>
          <a:prstGeom prst="rect">
            <a:avLst/>
          </a:prstGeom>
          <a:solidFill>
            <a:srgbClr val="FFFFFF"/>
          </a:solidFill>
          <a:ln>
            <a:noFill/>
          </a:ln>
          <a:effectLst/>
        </p:spPr>
        <p:txBody>
          <a:bodyPr rtlCol="0" anchor="ctr"/>
          <a:lstStyle/>
          <a:p>
            <a:pPr algn="ctr"/>
            <a:endParaRPr/>
          </a:p>
        </p:txBody>
      </p:sp>
      <p:sp>
        <p:nvSpPr>
          <p:cNvPr id="218" name="Rectangle 217"/>
          <p:cNvSpPr/>
          <p:nvPr/>
        </p:nvSpPr>
        <p:spPr>
          <a:xfrm>
            <a:off x="2881312" y="3438525"/>
            <a:ext cx="1957388" cy="9525"/>
          </a:xfrm>
          <a:prstGeom prst="rect">
            <a:avLst/>
          </a:prstGeom>
          <a:solidFill>
            <a:srgbClr val="E3DCD3"/>
          </a:solidFill>
          <a:ln>
            <a:noFill/>
          </a:ln>
          <a:effectLst/>
        </p:spPr>
        <p:txBody>
          <a:bodyPr rtlCol="0" anchor="ctr"/>
          <a:lstStyle/>
          <a:p>
            <a:pPr algn="ctr"/>
            <a:endParaRPr/>
          </a:p>
        </p:txBody>
      </p:sp>
      <p:sp>
        <p:nvSpPr>
          <p:cNvPr id="219" name="Rectangle 218"/>
          <p:cNvSpPr/>
          <p:nvPr/>
        </p:nvSpPr>
        <p:spPr>
          <a:xfrm>
            <a:off x="4829175" y="3438525"/>
            <a:ext cx="9525" cy="228600"/>
          </a:xfrm>
          <a:prstGeom prst="rect">
            <a:avLst/>
          </a:prstGeom>
          <a:solidFill>
            <a:srgbClr val="E3DCD3"/>
          </a:solidFill>
          <a:ln>
            <a:noFill/>
          </a:ln>
          <a:effectLst/>
        </p:spPr>
        <p:txBody>
          <a:bodyPr rtlCol="0" anchor="ctr"/>
          <a:lstStyle/>
          <a:p>
            <a:pPr algn="ctr"/>
            <a:endParaRPr/>
          </a:p>
        </p:txBody>
      </p:sp>
      <p:sp>
        <p:nvSpPr>
          <p:cNvPr id="220" name="Rectangle 219"/>
          <p:cNvSpPr/>
          <p:nvPr/>
        </p:nvSpPr>
        <p:spPr>
          <a:xfrm>
            <a:off x="2881312" y="3657600"/>
            <a:ext cx="1957388" cy="9525"/>
          </a:xfrm>
          <a:prstGeom prst="rect">
            <a:avLst/>
          </a:prstGeom>
          <a:solidFill>
            <a:srgbClr val="E3DCD3"/>
          </a:solidFill>
          <a:ln>
            <a:noFill/>
          </a:ln>
          <a:effectLst/>
        </p:spPr>
        <p:txBody>
          <a:bodyPr rtlCol="0" anchor="ctr"/>
          <a:lstStyle/>
          <a:p>
            <a:pPr algn="ctr"/>
            <a:endParaRPr/>
          </a:p>
        </p:txBody>
      </p:sp>
      <p:sp>
        <p:nvSpPr>
          <p:cNvPr id="221" name="Rectangle 220"/>
          <p:cNvSpPr/>
          <p:nvPr/>
        </p:nvSpPr>
        <p:spPr>
          <a:xfrm>
            <a:off x="2881312" y="3438525"/>
            <a:ext cx="9525" cy="228600"/>
          </a:xfrm>
          <a:prstGeom prst="rect">
            <a:avLst/>
          </a:prstGeom>
          <a:solidFill>
            <a:srgbClr val="E3DCD3"/>
          </a:solidFill>
          <a:ln>
            <a:noFill/>
          </a:ln>
          <a:effectLst/>
        </p:spPr>
        <p:txBody>
          <a:bodyPr rtlCol="0" anchor="ctr"/>
          <a:lstStyle/>
          <a:p>
            <a:pPr algn="ctr"/>
            <a:endParaRPr/>
          </a:p>
        </p:txBody>
      </p:sp>
      <p:sp>
        <p:nvSpPr>
          <p:cNvPr id="222" name="Rounded Rectangle 221"/>
          <p:cNvSpPr/>
          <p:nvPr/>
        </p:nvSpPr>
        <p:spPr>
          <a:xfrm>
            <a:off x="2900362"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23" name="Text: MEDP">
            <a:hlinkClick r:id="rId21"/>
          </p:cNvPr>
          <p:cNvSpPr txBox="1"/>
          <p:nvPr/>
        </p:nvSpPr>
        <p:spPr>
          <a:xfrm>
            <a:off x="2900362"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MEDP</a:t>
            </a:r>
          </a:p>
        </p:txBody>
      </p:sp>
      <p:sp>
        <p:nvSpPr>
          <p:cNvPr id="224" name="Text: Medpace">
            <a:hlinkClick r:id="rId21"/>
          </p:cNvPr>
          <p:cNvSpPr txBox="1"/>
          <p:nvPr/>
        </p:nvSpPr>
        <p:spPr>
          <a:xfrm>
            <a:off x="3328988" y="3488531"/>
            <a:ext cx="39588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Medpace</a:t>
            </a:r>
          </a:p>
        </p:txBody>
      </p:sp>
      <p:sp>
        <p:nvSpPr>
          <p:cNvPr id="225" name="Rectangle 224"/>
          <p:cNvSpPr/>
          <p:nvPr/>
        </p:nvSpPr>
        <p:spPr>
          <a:xfrm>
            <a:off x="2881312" y="3686175"/>
            <a:ext cx="1957388" cy="228600"/>
          </a:xfrm>
          <a:prstGeom prst="rect">
            <a:avLst/>
          </a:prstGeom>
          <a:solidFill>
            <a:srgbClr val="FFFFFF"/>
          </a:solidFill>
          <a:ln>
            <a:noFill/>
          </a:ln>
          <a:effectLst/>
        </p:spPr>
        <p:txBody>
          <a:bodyPr rtlCol="0" anchor="ctr"/>
          <a:lstStyle/>
          <a:p>
            <a:pPr algn="ctr"/>
            <a:endParaRPr/>
          </a:p>
        </p:txBody>
      </p:sp>
      <p:sp>
        <p:nvSpPr>
          <p:cNvPr id="226" name="Rectangle 225"/>
          <p:cNvSpPr/>
          <p:nvPr/>
        </p:nvSpPr>
        <p:spPr>
          <a:xfrm>
            <a:off x="2881312" y="3686175"/>
            <a:ext cx="1957388" cy="9525"/>
          </a:xfrm>
          <a:prstGeom prst="rect">
            <a:avLst/>
          </a:prstGeom>
          <a:solidFill>
            <a:srgbClr val="E3DCD3"/>
          </a:solidFill>
          <a:ln>
            <a:noFill/>
          </a:ln>
          <a:effectLst/>
        </p:spPr>
        <p:txBody>
          <a:bodyPr rtlCol="0" anchor="ctr"/>
          <a:lstStyle/>
          <a:p>
            <a:pPr algn="ctr"/>
            <a:endParaRPr/>
          </a:p>
        </p:txBody>
      </p:sp>
      <p:sp>
        <p:nvSpPr>
          <p:cNvPr id="227" name="Rectangle 226"/>
          <p:cNvSpPr/>
          <p:nvPr/>
        </p:nvSpPr>
        <p:spPr>
          <a:xfrm>
            <a:off x="4829175" y="3686175"/>
            <a:ext cx="9525" cy="228600"/>
          </a:xfrm>
          <a:prstGeom prst="rect">
            <a:avLst/>
          </a:prstGeom>
          <a:solidFill>
            <a:srgbClr val="E3DCD3"/>
          </a:solidFill>
          <a:ln>
            <a:noFill/>
          </a:ln>
          <a:effectLst/>
        </p:spPr>
        <p:txBody>
          <a:bodyPr rtlCol="0" anchor="ctr"/>
          <a:lstStyle/>
          <a:p>
            <a:pPr algn="ctr"/>
            <a:endParaRPr/>
          </a:p>
        </p:txBody>
      </p:sp>
      <p:sp>
        <p:nvSpPr>
          <p:cNvPr id="228" name="Rectangle 227"/>
          <p:cNvSpPr/>
          <p:nvPr/>
        </p:nvSpPr>
        <p:spPr>
          <a:xfrm>
            <a:off x="2881312" y="3905250"/>
            <a:ext cx="1957388" cy="9525"/>
          </a:xfrm>
          <a:prstGeom prst="rect">
            <a:avLst/>
          </a:prstGeom>
          <a:solidFill>
            <a:srgbClr val="E3DCD3"/>
          </a:solidFill>
          <a:ln>
            <a:noFill/>
          </a:ln>
          <a:effectLst/>
        </p:spPr>
        <p:txBody>
          <a:bodyPr rtlCol="0" anchor="ctr"/>
          <a:lstStyle/>
          <a:p>
            <a:pPr algn="ctr"/>
            <a:endParaRPr/>
          </a:p>
        </p:txBody>
      </p:sp>
      <p:sp>
        <p:nvSpPr>
          <p:cNvPr id="229" name="Rectangle 228"/>
          <p:cNvSpPr/>
          <p:nvPr/>
        </p:nvSpPr>
        <p:spPr>
          <a:xfrm>
            <a:off x="2881312" y="3686175"/>
            <a:ext cx="9525" cy="228600"/>
          </a:xfrm>
          <a:prstGeom prst="rect">
            <a:avLst/>
          </a:prstGeom>
          <a:solidFill>
            <a:srgbClr val="E3DCD3"/>
          </a:solidFill>
          <a:ln>
            <a:noFill/>
          </a:ln>
          <a:effectLst/>
        </p:spPr>
        <p:txBody>
          <a:bodyPr rtlCol="0" anchor="ctr"/>
          <a:lstStyle/>
          <a:p>
            <a:pPr algn="ctr"/>
            <a:endParaRPr/>
          </a:p>
        </p:txBody>
      </p:sp>
      <p:sp>
        <p:nvSpPr>
          <p:cNvPr id="230" name="Rounded Rectangle 229"/>
          <p:cNvSpPr/>
          <p:nvPr/>
        </p:nvSpPr>
        <p:spPr>
          <a:xfrm>
            <a:off x="2900362"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1" name="Text: ICLR">
            <a:hlinkClick r:id="rId22"/>
          </p:cNvPr>
          <p:cNvSpPr txBox="1"/>
          <p:nvPr/>
        </p:nvSpPr>
        <p:spPr>
          <a:xfrm>
            <a:off x="2900362"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232" name="Text: ICON">
            <a:hlinkClick r:id="rId22"/>
          </p:cNvPr>
          <p:cNvSpPr txBox="1"/>
          <p:nvPr/>
        </p:nvSpPr>
        <p:spPr>
          <a:xfrm>
            <a:off x="3328988" y="3736181"/>
            <a:ext cx="2242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ICON</a:t>
            </a:r>
          </a:p>
        </p:txBody>
      </p:sp>
      <p:sp>
        <p:nvSpPr>
          <p:cNvPr id="233" name="Rectangle 232"/>
          <p:cNvSpPr/>
          <p:nvPr/>
        </p:nvSpPr>
        <p:spPr>
          <a:xfrm>
            <a:off x="2881312" y="3933825"/>
            <a:ext cx="1957388" cy="228600"/>
          </a:xfrm>
          <a:prstGeom prst="rect">
            <a:avLst/>
          </a:prstGeom>
          <a:solidFill>
            <a:srgbClr val="FFFFFF"/>
          </a:solidFill>
          <a:ln>
            <a:noFill/>
          </a:ln>
          <a:effectLst/>
        </p:spPr>
        <p:txBody>
          <a:bodyPr rtlCol="0" anchor="ctr"/>
          <a:lstStyle/>
          <a:p>
            <a:pPr algn="ctr"/>
            <a:endParaRPr/>
          </a:p>
        </p:txBody>
      </p:sp>
      <p:sp>
        <p:nvSpPr>
          <p:cNvPr id="234" name="Rectangle 233"/>
          <p:cNvSpPr/>
          <p:nvPr/>
        </p:nvSpPr>
        <p:spPr>
          <a:xfrm>
            <a:off x="2881312" y="3933825"/>
            <a:ext cx="1957388" cy="9525"/>
          </a:xfrm>
          <a:prstGeom prst="rect">
            <a:avLst/>
          </a:prstGeom>
          <a:solidFill>
            <a:srgbClr val="E3DCD3"/>
          </a:solidFill>
          <a:ln>
            <a:noFill/>
          </a:ln>
          <a:effectLst/>
        </p:spPr>
        <p:txBody>
          <a:bodyPr rtlCol="0" anchor="ctr"/>
          <a:lstStyle/>
          <a:p>
            <a:pPr algn="ctr"/>
            <a:endParaRPr/>
          </a:p>
        </p:txBody>
      </p:sp>
      <p:sp>
        <p:nvSpPr>
          <p:cNvPr id="235" name="Rectangle 234"/>
          <p:cNvSpPr/>
          <p:nvPr/>
        </p:nvSpPr>
        <p:spPr>
          <a:xfrm>
            <a:off x="4829175" y="3933825"/>
            <a:ext cx="9525" cy="228600"/>
          </a:xfrm>
          <a:prstGeom prst="rect">
            <a:avLst/>
          </a:prstGeom>
          <a:solidFill>
            <a:srgbClr val="E3DCD3"/>
          </a:solidFill>
          <a:ln>
            <a:noFill/>
          </a:ln>
          <a:effectLst/>
        </p:spPr>
        <p:txBody>
          <a:bodyPr rtlCol="0" anchor="ctr"/>
          <a:lstStyle/>
          <a:p>
            <a:pPr algn="ctr"/>
            <a:endParaRPr/>
          </a:p>
        </p:txBody>
      </p:sp>
      <p:sp>
        <p:nvSpPr>
          <p:cNvPr id="236" name="Rectangle 235"/>
          <p:cNvSpPr/>
          <p:nvPr/>
        </p:nvSpPr>
        <p:spPr>
          <a:xfrm>
            <a:off x="2881312" y="4152900"/>
            <a:ext cx="1957388" cy="9525"/>
          </a:xfrm>
          <a:prstGeom prst="rect">
            <a:avLst/>
          </a:prstGeom>
          <a:solidFill>
            <a:srgbClr val="E3DCD3"/>
          </a:solidFill>
          <a:ln>
            <a:noFill/>
          </a:ln>
          <a:effectLst/>
        </p:spPr>
        <p:txBody>
          <a:bodyPr rtlCol="0" anchor="ctr"/>
          <a:lstStyle/>
          <a:p>
            <a:pPr algn="ctr"/>
            <a:endParaRPr/>
          </a:p>
        </p:txBody>
      </p:sp>
      <p:sp>
        <p:nvSpPr>
          <p:cNvPr id="237" name="Rectangle 236"/>
          <p:cNvSpPr/>
          <p:nvPr/>
        </p:nvSpPr>
        <p:spPr>
          <a:xfrm>
            <a:off x="2881312" y="3933825"/>
            <a:ext cx="9525" cy="228600"/>
          </a:xfrm>
          <a:prstGeom prst="rect">
            <a:avLst/>
          </a:prstGeom>
          <a:solidFill>
            <a:srgbClr val="E3DCD3"/>
          </a:solidFill>
          <a:ln>
            <a:noFill/>
          </a:ln>
          <a:effectLst/>
        </p:spPr>
        <p:txBody>
          <a:bodyPr rtlCol="0" anchor="ctr"/>
          <a:lstStyle/>
          <a:p>
            <a:pPr algn="ctr"/>
            <a:endParaRPr/>
          </a:p>
        </p:txBody>
      </p:sp>
      <p:sp>
        <p:nvSpPr>
          <p:cNvPr id="238" name="Rounded Rectangle 237"/>
          <p:cNvSpPr/>
          <p:nvPr/>
        </p:nvSpPr>
        <p:spPr>
          <a:xfrm>
            <a:off x="2900362"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39" name="Text: CRL">
            <a:hlinkClick r:id="rId23"/>
          </p:cNvPr>
          <p:cNvSpPr txBox="1"/>
          <p:nvPr/>
        </p:nvSpPr>
        <p:spPr>
          <a:xfrm>
            <a:off x="2900362"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240" name="Text: Charles River Laboratories">
            <a:hlinkClick r:id="rId23"/>
          </p:cNvPr>
          <p:cNvSpPr txBox="1"/>
          <p:nvPr/>
        </p:nvSpPr>
        <p:spPr>
          <a:xfrm>
            <a:off x="3328988" y="3983831"/>
            <a:ext cx="10956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Charles River Laboratories</a:t>
            </a:r>
          </a:p>
        </p:txBody>
      </p:sp>
      <p:sp>
        <p:nvSpPr>
          <p:cNvPr id="241" name="Text: RESEARCH NETWORKS AND STRATEGIC BU"/>
          <p:cNvSpPr txBox="1"/>
          <p:nvPr/>
        </p:nvSpPr>
        <p:spPr>
          <a:xfrm>
            <a:off x="2881312" y="5448300"/>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RESEARCH NETWORKS AND STRATEGIC BUYERS</a:t>
            </a:r>
          </a:p>
        </p:txBody>
      </p:sp>
      <p:sp>
        <p:nvSpPr>
          <p:cNvPr id="242" name="Rectangle 241"/>
          <p:cNvSpPr/>
          <p:nvPr/>
        </p:nvSpPr>
        <p:spPr>
          <a:xfrm>
            <a:off x="2881312" y="5753100"/>
            <a:ext cx="1151334" cy="180975"/>
          </a:xfrm>
          <a:prstGeom prst="rect">
            <a:avLst/>
          </a:prstGeom>
          <a:solidFill>
            <a:srgbClr val="FFFFFF"/>
          </a:solidFill>
          <a:ln>
            <a:noFill/>
          </a:ln>
          <a:effectLst/>
        </p:spPr>
        <p:txBody>
          <a:bodyPr rtlCol="0" anchor="ctr"/>
          <a:lstStyle/>
          <a:p>
            <a:pPr algn="ctr"/>
            <a:endParaRPr/>
          </a:p>
        </p:txBody>
      </p:sp>
      <p:sp>
        <p:nvSpPr>
          <p:cNvPr id="243" name="Rectangle 242"/>
          <p:cNvSpPr/>
          <p:nvPr/>
        </p:nvSpPr>
        <p:spPr>
          <a:xfrm>
            <a:off x="2881312" y="5753100"/>
            <a:ext cx="1151334" cy="9525"/>
          </a:xfrm>
          <a:prstGeom prst="rect">
            <a:avLst/>
          </a:prstGeom>
          <a:solidFill>
            <a:srgbClr val="E3DCD3"/>
          </a:solidFill>
          <a:ln>
            <a:noFill/>
          </a:ln>
          <a:effectLst/>
        </p:spPr>
        <p:txBody>
          <a:bodyPr rtlCol="0" anchor="ctr"/>
          <a:lstStyle/>
          <a:p>
            <a:pPr algn="ctr"/>
            <a:endParaRPr/>
          </a:p>
        </p:txBody>
      </p:sp>
      <p:sp>
        <p:nvSpPr>
          <p:cNvPr id="244" name="Rectangle 243"/>
          <p:cNvSpPr/>
          <p:nvPr/>
        </p:nvSpPr>
        <p:spPr>
          <a:xfrm>
            <a:off x="4023122" y="5753100"/>
            <a:ext cx="9525" cy="180975"/>
          </a:xfrm>
          <a:prstGeom prst="rect">
            <a:avLst/>
          </a:prstGeom>
          <a:solidFill>
            <a:srgbClr val="E3DCD3"/>
          </a:solidFill>
          <a:ln>
            <a:noFill/>
          </a:ln>
          <a:effectLst/>
        </p:spPr>
        <p:txBody>
          <a:bodyPr rtlCol="0" anchor="ctr"/>
          <a:lstStyle/>
          <a:p>
            <a:pPr algn="ctr"/>
            <a:endParaRPr/>
          </a:p>
        </p:txBody>
      </p:sp>
      <p:sp>
        <p:nvSpPr>
          <p:cNvPr id="245" name="Rectangle 244"/>
          <p:cNvSpPr/>
          <p:nvPr/>
        </p:nvSpPr>
        <p:spPr>
          <a:xfrm>
            <a:off x="2881312" y="5924550"/>
            <a:ext cx="1151334" cy="9525"/>
          </a:xfrm>
          <a:prstGeom prst="rect">
            <a:avLst/>
          </a:prstGeom>
          <a:solidFill>
            <a:srgbClr val="E3DCD3"/>
          </a:solidFill>
          <a:ln>
            <a:noFill/>
          </a:ln>
          <a:effectLst/>
        </p:spPr>
        <p:txBody>
          <a:bodyPr rtlCol="0" anchor="ctr"/>
          <a:lstStyle/>
          <a:p>
            <a:pPr algn="ctr"/>
            <a:endParaRPr/>
          </a:p>
        </p:txBody>
      </p:sp>
      <p:sp>
        <p:nvSpPr>
          <p:cNvPr id="246" name="Rectangle 245"/>
          <p:cNvSpPr/>
          <p:nvPr/>
        </p:nvSpPr>
        <p:spPr>
          <a:xfrm>
            <a:off x="2881312" y="5753100"/>
            <a:ext cx="9525" cy="180975"/>
          </a:xfrm>
          <a:prstGeom prst="rect">
            <a:avLst/>
          </a:prstGeom>
          <a:solidFill>
            <a:srgbClr val="E3DCD3"/>
          </a:solidFill>
          <a:ln>
            <a:noFill/>
          </a:ln>
          <a:effectLst/>
        </p:spPr>
        <p:txBody>
          <a:bodyPr rtlCol="0" anchor="ctr"/>
          <a:lstStyle/>
          <a:p>
            <a:pPr algn="ctr"/>
            <a:endParaRPr/>
          </a:p>
        </p:txBody>
      </p:sp>
      <p:sp>
        <p:nvSpPr>
          <p:cNvPr id="247" name="Text: Headlands Research (THL)"/>
          <p:cNvSpPr txBox="1"/>
          <p:nvPr/>
        </p:nvSpPr>
        <p:spPr>
          <a:xfrm>
            <a:off x="2947988" y="5781675"/>
            <a:ext cx="10322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Headlands Research (THL)</a:t>
            </a:r>
          </a:p>
        </p:txBody>
      </p:sp>
      <p:sp>
        <p:nvSpPr>
          <p:cNvPr id="248" name="Rectangle 247"/>
          <p:cNvSpPr/>
          <p:nvPr/>
        </p:nvSpPr>
        <p:spPr>
          <a:xfrm>
            <a:off x="2881312" y="5972175"/>
            <a:ext cx="1118295" cy="180975"/>
          </a:xfrm>
          <a:prstGeom prst="rect">
            <a:avLst/>
          </a:prstGeom>
          <a:solidFill>
            <a:srgbClr val="FFFFFF"/>
          </a:solidFill>
          <a:ln>
            <a:noFill/>
          </a:ln>
          <a:effectLst/>
        </p:spPr>
        <p:txBody>
          <a:bodyPr rtlCol="0" anchor="ctr"/>
          <a:lstStyle/>
          <a:p>
            <a:pPr algn="ctr"/>
            <a:endParaRPr/>
          </a:p>
        </p:txBody>
      </p:sp>
      <p:sp>
        <p:nvSpPr>
          <p:cNvPr id="249" name="Rectangle 248"/>
          <p:cNvSpPr/>
          <p:nvPr/>
        </p:nvSpPr>
        <p:spPr>
          <a:xfrm>
            <a:off x="2881312" y="5972175"/>
            <a:ext cx="1118295" cy="9525"/>
          </a:xfrm>
          <a:prstGeom prst="rect">
            <a:avLst/>
          </a:prstGeom>
          <a:solidFill>
            <a:srgbClr val="E3DCD3"/>
          </a:solidFill>
          <a:ln>
            <a:noFill/>
          </a:ln>
          <a:effectLst/>
        </p:spPr>
        <p:txBody>
          <a:bodyPr rtlCol="0" anchor="ctr"/>
          <a:lstStyle/>
          <a:p>
            <a:pPr algn="ctr"/>
            <a:endParaRPr/>
          </a:p>
        </p:txBody>
      </p:sp>
      <p:sp>
        <p:nvSpPr>
          <p:cNvPr id="250" name="Rectangle 249"/>
          <p:cNvSpPr/>
          <p:nvPr/>
        </p:nvSpPr>
        <p:spPr>
          <a:xfrm>
            <a:off x="3990082" y="5972175"/>
            <a:ext cx="9525" cy="180975"/>
          </a:xfrm>
          <a:prstGeom prst="rect">
            <a:avLst/>
          </a:prstGeom>
          <a:solidFill>
            <a:srgbClr val="E3DCD3"/>
          </a:solidFill>
          <a:ln>
            <a:noFill/>
          </a:ln>
          <a:effectLst/>
        </p:spPr>
        <p:txBody>
          <a:bodyPr rtlCol="0" anchor="ctr"/>
          <a:lstStyle/>
          <a:p>
            <a:pPr algn="ctr"/>
            <a:endParaRPr/>
          </a:p>
        </p:txBody>
      </p:sp>
      <p:sp>
        <p:nvSpPr>
          <p:cNvPr id="251" name="Rectangle 250"/>
          <p:cNvSpPr/>
          <p:nvPr/>
        </p:nvSpPr>
        <p:spPr>
          <a:xfrm>
            <a:off x="2881312" y="6143625"/>
            <a:ext cx="1118295" cy="9525"/>
          </a:xfrm>
          <a:prstGeom prst="rect">
            <a:avLst/>
          </a:prstGeom>
          <a:solidFill>
            <a:srgbClr val="E3DCD3"/>
          </a:solidFill>
          <a:ln>
            <a:noFill/>
          </a:ln>
          <a:effectLst/>
        </p:spPr>
        <p:txBody>
          <a:bodyPr rtlCol="0" anchor="ctr"/>
          <a:lstStyle/>
          <a:p>
            <a:pPr algn="ctr"/>
            <a:endParaRPr/>
          </a:p>
        </p:txBody>
      </p:sp>
      <p:sp>
        <p:nvSpPr>
          <p:cNvPr id="252" name="Rectangle 251"/>
          <p:cNvSpPr/>
          <p:nvPr/>
        </p:nvSpPr>
        <p:spPr>
          <a:xfrm>
            <a:off x="2881312" y="5972175"/>
            <a:ext cx="9525" cy="180975"/>
          </a:xfrm>
          <a:prstGeom prst="rect">
            <a:avLst/>
          </a:prstGeom>
          <a:solidFill>
            <a:srgbClr val="E3DCD3"/>
          </a:solidFill>
          <a:ln>
            <a:noFill/>
          </a:ln>
          <a:effectLst/>
        </p:spPr>
        <p:txBody>
          <a:bodyPr rtlCol="0" anchor="ctr"/>
          <a:lstStyle/>
          <a:p>
            <a:pPr algn="ctr"/>
            <a:endParaRPr/>
          </a:p>
        </p:txBody>
      </p:sp>
      <p:sp>
        <p:nvSpPr>
          <p:cNvPr id="253" name="Text: Summit Clinical Research"/>
          <p:cNvSpPr txBox="1"/>
          <p:nvPr/>
        </p:nvSpPr>
        <p:spPr>
          <a:xfrm>
            <a:off x="2947988" y="6000750"/>
            <a:ext cx="99923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Summit Clinical Research</a:t>
            </a:r>
          </a:p>
        </p:txBody>
      </p:sp>
      <p:sp>
        <p:nvSpPr>
          <p:cNvPr id="254" name="Rectangle 253"/>
          <p:cNvSpPr/>
          <p:nvPr/>
        </p:nvSpPr>
        <p:spPr>
          <a:xfrm>
            <a:off x="2881312" y="6191250"/>
            <a:ext cx="1100733" cy="180975"/>
          </a:xfrm>
          <a:prstGeom prst="rect">
            <a:avLst/>
          </a:prstGeom>
          <a:solidFill>
            <a:srgbClr val="FFFFFF"/>
          </a:solidFill>
          <a:ln>
            <a:noFill/>
          </a:ln>
          <a:effectLst/>
        </p:spPr>
        <p:txBody>
          <a:bodyPr rtlCol="0" anchor="ctr"/>
          <a:lstStyle/>
          <a:p>
            <a:pPr algn="ctr"/>
            <a:endParaRPr/>
          </a:p>
        </p:txBody>
      </p:sp>
      <p:sp>
        <p:nvSpPr>
          <p:cNvPr id="255" name="Rectangle 254"/>
          <p:cNvSpPr/>
          <p:nvPr/>
        </p:nvSpPr>
        <p:spPr>
          <a:xfrm>
            <a:off x="2881312" y="6191250"/>
            <a:ext cx="1100733" cy="9525"/>
          </a:xfrm>
          <a:prstGeom prst="rect">
            <a:avLst/>
          </a:prstGeom>
          <a:solidFill>
            <a:srgbClr val="E3DCD3"/>
          </a:solidFill>
          <a:ln>
            <a:noFill/>
          </a:ln>
          <a:effectLst/>
        </p:spPr>
        <p:txBody>
          <a:bodyPr rtlCol="0" anchor="ctr"/>
          <a:lstStyle/>
          <a:p>
            <a:pPr algn="ctr"/>
            <a:endParaRPr/>
          </a:p>
        </p:txBody>
      </p:sp>
      <p:sp>
        <p:nvSpPr>
          <p:cNvPr id="256" name="Rectangle 255"/>
          <p:cNvSpPr/>
          <p:nvPr/>
        </p:nvSpPr>
        <p:spPr>
          <a:xfrm>
            <a:off x="3972520" y="6191250"/>
            <a:ext cx="9525" cy="180975"/>
          </a:xfrm>
          <a:prstGeom prst="rect">
            <a:avLst/>
          </a:prstGeom>
          <a:solidFill>
            <a:srgbClr val="E3DCD3"/>
          </a:solidFill>
          <a:ln>
            <a:noFill/>
          </a:ln>
          <a:effectLst/>
        </p:spPr>
        <p:txBody>
          <a:bodyPr rtlCol="0" anchor="ctr"/>
          <a:lstStyle/>
          <a:p>
            <a:pPr algn="ctr"/>
            <a:endParaRPr/>
          </a:p>
        </p:txBody>
      </p:sp>
      <p:sp>
        <p:nvSpPr>
          <p:cNvPr id="257" name="Rectangle 256"/>
          <p:cNvSpPr/>
          <p:nvPr/>
        </p:nvSpPr>
        <p:spPr>
          <a:xfrm>
            <a:off x="2881312" y="6362700"/>
            <a:ext cx="1100733" cy="9525"/>
          </a:xfrm>
          <a:prstGeom prst="rect">
            <a:avLst/>
          </a:prstGeom>
          <a:solidFill>
            <a:srgbClr val="E3DCD3"/>
          </a:solidFill>
          <a:ln>
            <a:noFill/>
          </a:ln>
          <a:effectLst/>
        </p:spPr>
        <p:txBody>
          <a:bodyPr rtlCol="0" anchor="ctr"/>
          <a:lstStyle/>
          <a:p>
            <a:pPr algn="ctr"/>
            <a:endParaRPr/>
          </a:p>
        </p:txBody>
      </p:sp>
      <p:sp>
        <p:nvSpPr>
          <p:cNvPr id="258" name="Rectangle 257"/>
          <p:cNvSpPr/>
          <p:nvPr/>
        </p:nvSpPr>
        <p:spPr>
          <a:xfrm>
            <a:off x="2881312" y="6191250"/>
            <a:ext cx="9525" cy="180975"/>
          </a:xfrm>
          <a:prstGeom prst="rect">
            <a:avLst/>
          </a:prstGeom>
          <a:solidFill>
            <a:srgbClr val="E3DCD3"/>
          </a:solidFill>
          <a:ln>
            <a:noFill/>
          </a:ln>
          <a:effectLst/>
        </p:spPr>
        <p:txBody>
          <a:bodyPr rtlCol="0" anchor="ctr"/>
          <a:lstStyle/>
          <a:p>
            <a:pPr algn="ctr"/>
            <a:endParaRPr/>
          </a:p>
        </p:txBody>
      </p:sp>
      <p:sp>
        <p:nvSpPr>
          <p:cNvPr id="259" name="Text: Worldwide Clinical Trials"/>
          <p:cNvSpPr txBox="1"/>
          <p:nvPr/>
        </p:nvSpPr>
        <p:spPr>
          <a:xfrm>
            <a:off x="2947988" y="6219825"/>
            <a:ext cx="98167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Worldwide Clinical Trials</a:t>
            </a:r>
          </a:p>
        </p:txBody>
      </p:sp>
      <p:sp>
        <p:nvSpPr>
          <p:cNvPr id="260" name="Rectangle 259"/>
          <p:cNvSpPr/>
          <p:nvPr/>
        </p:nvSpPr>
        <p:spPr>
          <a:xfrm>
            <a:off x="4020145" y="6191250"/>
            <a:ext cx="420737" cy="180975"/>
          </a:xfrm>
          <a:prstGeom prst="rect">
            <a:avLst/>
          </a:prstGeom>
          <a:solidFill>
            <a:srgbClr val="FFFFFF"/>
          </a:solidFill>
          <a:ln>
            <a:noFill/>
          </a:ln>
          <a:effectLst/>
        </p:spPr>
        <p:txBody>
          <a:bodyPr rtlCol="0" anchor="ctr"/>
          <a:lstStyle/>
          <a:p>
            <a:pPr algn="ctr"/>
            <a:endParaRPr/>
          </a:p>
        </p:txBody>
      </p:sp>
      <p:sp>
        <p:nvSpPr>
          <p:cNvPr id="261" name="Rectangle 260"/>
          <p:cNvSpPr/>
          <p:nvPr/>
        </p:nvSpPr>
        <p:spPr>
          <a:xfrm>
            <a:off x="4020145" y="6191250"/>
            <a:ext cx="420737" cy="9525"/>
          </a:xfrm>
          <a:prstGeom prst="rect">
            <a:avLst/>
          </a:prstGeom>
          <a:solidFill>
            <a:srgbClr val="E3DCD3"/>
          </a:solidFill>
          <a:ln>
            <a:noFill/>
          </a:ln>
          <a:effectLst/>
        </p:spPr>
        <p:txBody>
          <a:bodyPr rtlCol="0" anchor="ctr"/>
          <a:lstStyle/>
          <a:p>
            <a:pPr algn="ctr"/>
            <a:endParaRPr/>
          </a:p>
        </p:txBody>
      </p:sp>
      <p:sp>
        <p:nvSpPr>
          <p:cNvPr id="262" name="Rectangle 261"/>
          <p:cNvSpPr/>
          <p:nvPr/>
        </p:nvSpPr>
        <p:spPr>
          <a:xfrm>
            <a:off x="4431357" y="6191250"/>
            <a:ext cx="9525" cy="180975"/>
          </a:xfrm>
          <a:prstGeom prst="rect">
            <a:avLst/>
          </a:prstGeom>
          <a:solidFill>
            <a:srgbClr val="E3DCD3"/>
          </a:solidFill>
          <a:ln>
            <a:noFill/>
          </a:ln>
          <a:effectLst/>
        </p:spPr>
        <p:txBody>
          <a:bodyPr rtlCol="0" anchor="ctr"/>
          <a:lstStyle/>
          <a:p>
            <a:pPr algn="ctr"/>
            <a:endParaRPr/>
          </a:p>
        </p:txBody>
      </p:sp>
      <p:sp>
        <p:nvSpPr>
          <p:cNvPr id="263" name="Rectangle 262"/>
          <p:cNvSpPr/>
          <p:nvPr/>
        </p:nvSpPr>
        <p:spPr>
          <a:xfrm>
            <a:off x="4020145" y="6362700"/>
            <a:ext cx="420737" cy="9525"/>
          </a:xfrm>
          <a:prstGeom prst="rect">
            <a:avLst/>
          </a:prstGeom>
          <a:solidFill>
            <a:srgbClr val="E3DCD3"/>
          </a:solidFill>
          <a:ln>
            <a:noFill/>
          </a:ln>
          <a:effectLst/>
        </p:spPr>
        <p:txBody>
          <a:bodyPr rtlCol="0" anchor="ctr"/>
          <a:lstStyle/>
          <a:p>
            <a:pPr algn="ctr"/>
            <a:endParaRPr/>
          </a:p>
        </p:txBody>
      </p:sp>
      <p:sp>
        <p:nvSpPr>
          <p:cNvPr id="264" name="Rectangle 263"/>
          <p:cNvSpPr/>
          <p:nvPr/>
        </p:nvSpPr>
        <p:spPr>
          <a:xfrm>
            <a:off x="4020145" y="6191250"/>
            <a:ext cx="9525" cy="180975"/>
          </a:xfrm>
          <a:prstGeom prst="rect">
            <a:avLst/>
          </a:prstGeom>
          <a:solidFill>
            <a:srgbClr val="E3DCD3"/>
          </a:solidFill>
          <a:ln>
            <a:noFill/>
          </a:ln>
          <a:effectLst/>
        </p:spPr>
        <p:txBody>
          <a:bodyPr rtlCol="0" anchor="ctr"/>
          <a:lstStyle/>
          <a:p>
            <a:pPr algn="ctr"/>
            <a:endParaRPr/>
          </a:p>
        </p:txBody>
      </p:sp>
      <p:sp>
        <p:nvSpPr>
          <p:cNvPr id="265" name="Text: Fortrea"/>
          <p:cNvSpPr txBox="1"/>
          <p:nvPr/>
        </p:nvSpPr>
        <p:spPr>
          <a:xfrm>
            <a:off x="4086820" y="6219825"/>
            <a:ext cx="30167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Fortrea</a:t>
            </a:r>
          </a:p>
        </p:txBody>
      </p:sp>
      <p:sp>
        <p:nvSpPr>
          <p:cNvPr id="266" name="Rectangle 265"/>
          <p:cNvSpPr/>
          <p:nvPr/>
        </p:nvSpPr>
        <p:spPr>
          <a:xfrm>
            <a:off x="2881312" y="6410325"/>
            <a:ext cx="553492" cy="180975"/>
          </a:xfrm>
          <a:prstGeom prst="rect">
            <a:avLst/>
          </a:prstGeom>
          <a:solidFill>
            <a:srgbClr val="FFFFFF"/>
          </a:solidFill>
          <a:ln>
            <a:noFill/>
          </a:ln>
          <a:effectLst/>
        </p:spPr>
        <p:txBody>
          <a:bodyPr rtlCol="0" anchor="ctr"/>
          <a:lstStyle/>
          <a:p>
            <a:pPr algn="ctr"/>
            <a:endParaRPr/>
          </a:p>
        </p:txBody>
      </p:sp>
      <p:sp>
        <p:nvSpPr>
          <p:cNvPr id="267" name="Rectangle 266"/>
          <p:cNvSpPr/>
          <p:nvPr/>
        </p:nvSpPr>
        <p:spPr>
          <a:xfrm>
            <a:off x="2881312" y="6410325"/>
            <a:ext cx="553492" cy="9525"/>
          </a:xfrm>
          <a:prstGeom prst="rect">
            <a:avLst/>
          </a:prstGeom>
          <a:solidFill>
            <a:srgbClr val="E3DCD3"/>
          </a:solidFill>
          <a:ln>
            <a:noFill/>
          </a:ln>
          <a:effectLst/>
        </p:spPr>
        <p:txBody>
          <a:bodyPr rtlCol="0" anchor="ctr"/>
          <a:lstStyle/>
          <a:p>
            <a:pPr algn="ctr"/>
            <a:endParaRPr/>
          </a:p>
        </p:txBody>
      </p:sp>
      <p:sp>
        <p:nvSpPr>
          <p:cNvPr id="268" name="Rectangle 267"/>
          <p:cNvSpPr/>
          <p:nvPr/>
        </p:nvSpPr>
        <p:spPr>
          <a:xfrm>
            <a:off x="3425279" y="6410325"/>
            <a:ext cx="9525" cy="180975"/>
          </a:xfrm>
          <a:prstGeom prst="rect">
            <a:avLst/>
          </a:prstGeom>
          <a:solidFill>
            <a:srgbClr val="E3DCD3"/>
          </a:solidFill>
          <a:ln>
            <a:noFill/>
          </a:ln>
          <a:effectLst/>
        </p:spPr>
        <p:txBody>
          <a:bodyPr rtlCol="0" anchor="ctr"/>
          <a:lstStyle/>
          <a:p>
            <a:pPr algn="ctr"/>
            <a:endParaRPr/>
          </a:p>
        </p:txBody>
      </p:sp>
      <p:sp>
        <p:nvSpPr>
          <p:cNvPr id="269" name="Rectangle 268"/>
          <p:cNvSpPr/>
          <p:nvPr/>
        </p:nvSpPr>
        <p:spPr>
          <a:xfrm>
            <a:off x="2881312" y="6581775"/>
            <a:ext cx="553492" cy="9525"/>
          </a:xfrm>
          <a:prstGeom prst="rect">
            <a:avLst/>
          </a:prstGeom>
          <a:solidFill>
            <a:srgbClr val="E3DCD3"/>
          </a:solidFill>
          <a:ln>
            <a:noFill/>
          </a:ln>
          <a:effectLst/>
        </p:spPr>
        <p:txBody>
          <a:bodyPr rtlCol="0" anchor="ctr"/>
          <a:lstStyle/>
          <a:p>
            <a:pPr algn="ctr"/>
            <a:endParaRPr/>
          </a:p>
        </p:txBody>
      </p:sp>
      <p:sp>
        <p:nvSpPr>
          <p:cNvPr id="270" name="Rectangle 269"/>
          <p:cNvSpPr/>
          <p:nvPr/>
        </p:nvSpPr>
        <p:spPr>
          <a:xfrm>
            <a:off x="2881312" y="6410325"/>
            <a:ext cx="9525" cy="180975"/>
          </a:xfrm>
          <a:prstGeom prst="rect">
            <a:avLst/>
          </a:prstGeom>
          <a:solidFill>
            <a:srgbClr val="E3DCD3"/>
          </a:solidFill>
          <a:ln>
            <a:noFill/>
          </a:ln>
          <a:effectLst/>
        </p:spPr>
        <p:txBody>
          <a:bodyPr rtlCol="0" anchor="ctr"/>
          <a:lstStyle/>
          <a:p>
            <a:pPr algn="ctr"/>
            <a:endParaRPr/>
          </a:p>
        </p:txBody>
      </p:sp>
      <p:sp>
        <p:nvSpPr>
          <p:cNvPr id="271" name="Text: Resonetics"/>
          <p:cNvSpPr txBox="1"/>
          <p:nvPr/>
        </p:nvSpPr>
        <p:spPr>
          <a:xfrm>
            <a:off x="2947988" y="6438900"/>
            <a:ext cx="4344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Resonetics</a:t>
            </a:r>
          </a:p>
        </p:txBody>
      </p:sp>
      <p:sp>
        <p:nvSpPr>
          <p:cNvPr id="272" name="Rectangle 271"/>
          <p:cNvSpPr/>
          <p:nvPr/>
        </p:nvSpPr>
        <p:spPr>
          <a:xfrm>
            <a:off x="3472904" y="6410325"/>
            <a:ext cx="413593" cy="180975"/>
          </a:xfrm>
          <a:prstGeom prst="rect">
            <a:avLst/>
          </a:prstGeom>
          <a:solidFill>
            <a:srgbClr val="FFFFFF"/>
          </a:solidFill>
          <a:ln>
            <a:noFill/>
          </a:ln>
          <a:effectLst/>
        </p:spPr>
        <p:txBody>
          <a:bodyPr rtlCol="0" anchor="ctr"/>
          <a:lstStyle/>
          <a:p>
            <a:pPr algn="ctr"/>
            <a:endParaRPr/>
          </a:p>
        </p:txBody>
      </p:sp>
      <p:sp>
        <p:nvSpPr>
          <p:cNvPr id="273" name="Rectangle 272"/>
          <p:cNvSpPr/>
          <p:nvPr/>
        </p:nvSpPr>
        <p:spPr>
          <a:xfrm>
            <a:off x="3472904" y="6410325"/>
            <a:ext cx="413593" cy="9525"/>
          </a:xfrm>
          <a:prstGeom prst="rect">
            <a:avLst/>
          </a:prstGeom>
          <a:solidFill>
            <a:srgbClr val="E3DCD3"/>
          </a:solidFill>
          <a:ln>
            <a:noFill/>
          </a:ln>
          <a:effectLst/>
        </p:spPr>
        <p:txBody>
          <a:bodyPr rtlCol="0" anchor="ctr"/>
          <a:lstStyle/>
          <a:p>
            <a:pPr algn="ctr"/>
            <a:endParaRPr/>
          </a:p>
        </p:txBody>
      </p:sp>
      <p:sp>
        <p:nvSpPr>
          <p:cNvPr id="274" name="Rectangle 273"/>
          <p:cNvSpPr/>
          <p:nvPr/>
        </p:nvSpPr>
        <p:spPr>
          <a:xfrm>
            <a:off x="3876973" y="6410325"/>
            <a:ext cx="9525" cy="180975"/>
          </a:xfrm>
          <a:prstGeom prst="rect">
            <a:avLst/>
          </a:prstGeom>
          <a:solidFill>
            <a:srgbClr val="E3DCD3"/>
          </a:solidFill>
          <a:ln>
            <a:noFill/>
          </a:ln>
          <a:effectLst/>
        </p:spPr>
        <p:txBody>
          <a:bodyPr rtlCol="0" anchor="ctr"/>
          <a:lstStyle/>
          <a:p>
            <a:pPr algn="ctr"/>
            <a:endParaRPr/>
          </a:p>
        </p:txBody>
      </p:sp>
      <p:sp>
        <p:nvSpPr>
          <p:cNvPr id="275" name="Rectangle 274"/>
          <p:cNvSpPr/>
          <p:nvPr/>
        </p:nvSpPr>
        <p:spPr>
          <a:xfrm>
            <a:off x="3472904" y="6581775"/>
            <a:ext cx="413593" cy="9525"/>
          </a:xfrm>
          <a:prstGeom prst="rect">
            <a:avLst/>
          </a:prstGeom>
          <a:solidFill>
            <a:srgbClr val="E3DCD3"/>
          </a:solidFill>
          <a:ln>
            <a:noFill/>
          </a:ln>
          <a:effectLst/>
        </p:spPr>
        <p:txBody>
          <a:bodyPr rtlCol="0" anchor="ctr"/>
          <a:lstStyle/>
          <a:p>
            <a:pPr algn="ctr"/>
            <a:endParaRPr/>
          </a:p>
        </p:txBody>
      </p:sp>
      <p:sp>
        <p:nvSpPr>
          <p:cNvPr id="276" name="Rectangle 275"/>
          <p:cNvSpPr/>
          <p:nvPr/>
        </p:nvSpPr>
        <p:spPr>
          <a:xfrm>
            <a:off x="3472904" y="6410325"/>
            <a:ext cx="9525" cy="180975"/>
          </a:xfrm>
          <a:prstGeom prst="rect">
            <a:avLst/>
          </a:prstGeom>
          <a:solidFill>
            <a:srgbClr val="E3DCD3"/>
          </a:solidFill>
          <a:ln>
            <a:noFill/>
          </a:ln>
          <a:effectLst/>
        </p:spPr>
        <p:txBody>
          <a:bodyPr rtlCol="0" anchor="ctr"/>
          <a:lstStyle/>
          <a:p>
            <a:pPr algn="ctr"/>
            <a:endParaRPr/>
          </a:p>
        </p:txBody>
      </p:sp>
      <p:sp>
        <p:nvSpPr>
          <p:cNvPr id="277" name="Text: Agilent"/>
          <p:cNvSpPr txBox="1"/>
          <p:nvPr/>
        </p:nvSpPr>
        <p:spPr>
          <a:xfrm>
            <a:off x="3539579" y="6438900"/>
            <a:ext cx="29453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Agilent</a:t>
            </a:r>
          </a:p>
        </p:txBody>
      </p:sp>
      <p:sp>
        <p:nvSpPr>
          <p:cNvPr id="278" name="Rectangle 277"/>
          <p:cNvSpPr/>
          <p:nvPr/>
        </p:nvSpPr>
        <p:spPr>
          <a:xfrm>
            <a:off x="3924598" y="6410325"/>
            <a:ext cx="612874" cy="180975"/>
          </a:xfrm>
          <a:prstGeom prst="rect">
            <a:avLst/>
          </a:prstGeom>
          <a:solidFill>
            <a:srgbClr val="FFFFFF"/>
          </a:solidFill>
          <a:ln>
            <a:noFill/>
          </a:ln>
          <a:effectLst/>
        </p:spPr>
        <p:txBody>
          <a:bodyPr rtlCol="0" anchor="ctr"/>
          <a:lstStyle/>
          <a:p>
            <a:pPr algn="ctr"/>
            <a:endParaRPr/>
          </a:p>
        </p:txBody>
      </p:sp>
      <p:sp>
        <p:nvSpPr>
          <p:cNvPr id="279" name="Rectangle 278"/>
          <p:cNvSpPr/>
          <p:nvPr/>
        </p:nvSpPr>
        <p:spPr>
          <a:xfrm>
            <a:off x="3924598" y="6410325"/>
            <a:ext cx="612874" cy="9525"/>
          </a:xfrm>
          <a:prstGeom prst="rect">
            <a:avLst/>
          </a:prstGeom>
          <a:solidFill>
            <a:srgbClr val="E3DCD3"/>
          </a:solidFill>
          <a:ln>
            <a:noFill/>
          </a:ln>
          <a:effectLst/>
        </p:spPr>
        <p:txBody>
          <a:bodyPr rtlCol="0" anchor="ctr"/>
          <a:lstStyle/>
          <a:p>
            <a:pPr algn="ctr"/>
            <a:endParaRPr/>
          </a:p>
        </p:txBody>
      </p:sp>
      <p:sp>
        <p:nvSpPr>
          <p:cNvPr id="280" name="Rectangle 279"/>
          <p:cNvSpPr/>
          <p:nvPr/>
        </p:nvSpPr>
        <p:spPr>
          <a:xfrm>
            <a:off x="4527947" y="6410325"/>
            <a:ext cx="9525" cy="180975"/>
          </a:xfrm>
          <a:prstGeom prst="rect">
            <a:avLst/>
          </a:prstGeom>
          <a:solidFill>
            <a:srgbClr val="E3DCD3"/>
          </a:solidFill>
          <a:ln>
            <a:noFill/>
          </a:ln>
          <a:effectLst/>
        </p:spPr>
        <p:txBody>
          <a:bodyPr rtlCol="0" anchor="ctr"/>
          <a:lstStyle/>
          <a:p>
            <a:pPr algn="ctr"/>
            <a:endParaRPr/>
          </a:p>
        </p:txBody>
      </p:sp>
      <p:sp>
        <p:nvSpPr>
          <p:cNvPr id="281" name="Rectangle 280"/>
          <p:cNvSpPr/>
          <p:nvPr/>
        </p:nvSpPr>
        <p:spPr>
          <a:xfrm>
            <a:off x="3924598" y="6581775"/>
            <a:ext cx="612874" cy="9525"/>
          </a:xfrm>
          <a:prstGeom prst="rect">
            <a:avLst/>
          </a:prstGeom>
          <a:solidFill>
            <a:srgbClr val="E3DCD3"/>
          </a:solidFill>
          <a:ln>
            <a:noFill/>
          </a:ln>
          <a:effectLst/>
        </p:spPr>
        <p:txBody>
          <a:bodyPr rtlCol="0" anchor="ctr"/>
          <a:lstStyle/>
          <a:p>
            <a:pPr algn="ctr"/>
            <a:endParaRPr/>
          </a:p>
        </p:txBody>
      </p:sp>
      <p:sp>
        <p:nvSpPr>
          <p:cNvPr id="282" name="Rectangle 281"/>
          <p:cNvSpPr/>
          <p:nvPr/>
        </p:nvSpPr>
        <p:spPr>
          <a:xfrm>
            <a:off x="3924598" y="6410325"/>
            <a:ext cx="9525" cy="180975"/>
          </a:xfrm>
          <a:prstGeom prst="rect">
            <a:avLst/>
          </a:prstGeom>
          <a:solidFill>
            <a:srgbClr val="E3DCD3"/>
          </a:solidFill>
          <a:ln>
            <a:noFill/>
          </a:ln>
          <a:effectLst/>
        </p:spPr>
        <p:txBody>
          <a:bodyPr rtlCol="0" anchor="ctr"/>
          <a:lstStyle/>
          <a:p>
            <a:pPr algn="ctr"/>
            <a:endParaRPr/>
          </a:p>
        </p:txBody>
      </p:sp>
      <p:sp>
        <p:nvSpPr>
          <p:cNvPr id="283" name="Text: Merck KGaA"/>
          <p:cNvSpPr txBox="1"/>
          <p:nvPr/>
        </p:nvSpPr>
        <p:spPr>
          <a:xfrm>
            <a:off x="3991273" y="6438900"/>
            <a:ext cx="49381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Merck KGaA</a:t>
            </a:r>
          </a:p>
        </p:txBody>
      </p:sp>
      <p:sp>
        <p:nvSpPr>
          <p:cNvPr id="284" name="Rectangle 283"/>
          <p:cNvSpPr/>
          <p:nvPr/>
        </p:nvSpPr>
        <p:spPr>
          <a:xfrm>
            <a:off x="2881312" y="6629400"/>
            <a:ext cx="1208782" cy="180975"/>
          </a:xfrm>
          <a:prstGeom prst="rect">
            <a:avLst/>
          </a:prstGeom>
          <a:solidFill>
            <a:srgbClr val="FFFFFF"/>
          </a:solidFill>
          <a:ln>
            <a:noFill/>
          </a:ln>
          <a:effectLst/>
        </p:spPr>
        <p:txBody>
          <a:bodyPr rtlCol="0" anchor="ctr"/>
          <a:lstStyle/>
          <a:p>
            <a:pPr algn="ctr"/>
            <a:endParaRPr/>
          </a:p>
        </p:txBody>
      </p:sp>
      <p:sp>
        <p:nvSpPr>
          <p:cNvPr id="285" name="Rectangle 284"/>
          <p:cNvSpPr/>
          <p:nvPr/>
        </p:nvSpPr>
        <p:spPr>
          <a:xfrm>
            <a:off x="2881312" y="6629400"/>
            <a:ext cx="1208782" cy="9525"/>
          </a:xfrm>
          <a:prstGeom prst="rect">
            <a:avLst/>
          </a:prstGeom>
          <a:solidFill>
            <a:srgbClr val="E3DCD3"/>
          </a:solidFill>
          <a:ln>
            <a:noFill/>
          </a:ln>
          <a:effectLst/>
        </p:spPr>
        <p:txBody>
          <a:bodyPr rtlCol="0" anchor="ctr"/>
          <a:lstStyle/>
          <a:p>
            <a:pPr algn="ctr"/>
            <a:endParaRPr/>
          </a:p>
        </p:txBody>
      </p:sp>
      <p:sp>
        <p:nvSpPr>
          <p:cNvPr id="286" name="Rectangle 285"/>
          <p:cNvSpPr/>
          <p:nvPr/>
        </p:nvSpPr>
        <p:spPr>
          <a:xfrm>
            <a:off x="4080570" y="6629400"/>
            <a:ext cx="9525" cy="180975"/>
          </a:xfrm>
          <a:prstGeom prst="rect">
            <a:avLst/>
          </a:prstGeom>
          <a:solidFill>
            <a:srgbClr val="E3DCD3"/>
          </a:solidFill>
          <a:ln>
            <a:noFill/>
          </a:ln>
          <a:effectLst/>
        </p:spPr>
        <p:txBody>
          <a:bodyPr rtlCol="0" anchor="ctr"/>
          <a:lstStyle/>
          <a:p>
            <a:pPr algn="ctr"/>
            <a:endParaRPr/>
          </a:p>
        </p:txBody>
      </p:sp>
      <p:sp>
        <p:nvSpPr>
          <p:cNvPr id="287" name="Rectangle 286"/>
          <p:cNvSpPr/>
          <p:nvPr/>
        </p:nvSpPr>
        <p:spPr>
          <a:xfrm>
            <a:off x="2881312" y="6800850"/>
            <a:ext cx="1208782" cy="9525"/>
          </a:xfrm>
          <a:prstGeom prst="rect">
            <a:avLst/>
          </a:prstGeom>
          <a:solidFill>
            <a:srgbClr val="E3DCD3"/>
          </a:solidFill>
          <a:ln>
            <a:noFill/>
          </a:ln>
          <a:effectLst/>
        </p:spPr>
        <p:txBody>
          <a:bodyPr rtlCol="0" anchor="ctr"/>
          <a:lstStyle/>
          <a:p>
            <a:pPr algn="ctr"/>
            <a:endParaRPr/>
          </a:p>
        </p:txBody>
      </p:sp>
      <p:sp>
        <p:nvSpPr>
          <p:cNvPr id="288" name="Rectangle 287"/>
          <p:cNvSpPr/>
          <p:nvPr/>
        </p:nvSpPr>
        <p:spPr>
          <a:xfrm>
            <a:off x="2881312" y="6629400"/>
            <a:ext cx="9525" cy="180975"/>
          </a:xfrm>
          <a:prstGeom prst="rect">
            <a:avLst/>
          </a:prstGeom>
          <a:solidFill>
            <a:srgbClr val="E3DCD3"/>
          </a:solidFill>
          <a:ln>
            <a:noFill/>
          </a:ln>
          <a:effectLst/>
        </p:spPr>
        <p:txBody>
          <a:bodyPr rtlCol="0" anchor="ctr"/>
          <a:lstStyle/>
          <a:p>
            <a:pPr algn="ctr"/>
            <a:endParaRPr/>
          </a:p>
        </p:txBody>
      </p:sp>
      <p:sp>
        <p:nvSpPr>
          <p:cNvPr id="289" name="Text: Leica Biosystems (Danaher)"/>
          <p:cNvSpPr txBox="1"/>
          <p:nvPr/>
        </p:nvSpPr>
        <p:spPr>
          <a:xfrm>
            <a:off x="2947988" y="6657975"/>
            <a:ext cx="108972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Leica Biosystems (Danaher)</a:t>
            </a:r>
          </a:p>
        </p:txBody>
      </p:sp>
      <p:sp>
        <p:nvSpPr>
          <p:cNvPr id="290" name="Rectangle 289"/>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Rectangle 290"/>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Rectangle 291"/>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Rectangle 292"/>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Rectangle 293"/>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Rectangle 294"/>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295" descr="v06399256ca04.png"/>
          <p:cNvPicPr>
            <a:picLocks noChangeAspect="1"/>
          </p:cNvPicPr>
          <p:nvPr/>
        </p:nvPicPr>
        <p:blipFill>
          <a:blip r:embed="rId24"/>
          <a:stretch>
            <a:fillRect/>
          </a:stretch>
        </p:blipFill>
        <p:spPr>
          <a:xfrm>
            <a:off x="5219700" y="1333500"/>
            <a:ext cx="247650" cy="247650"/>
          </a:xfrm>
          <a:prstGeom prst="rect">
            <a:avLst/>
          </a:prstGeom>
        </p:spPr>
      </p:pic>
      <p:sp>
        <p:nvSpPr>
          <p:cNvPr id="297" name="Text: MEDICAL PRODUCTS &amp; DISTRIBUTION"/>
          <p:cNvSpPr txBox="1"/>
          <p:nvPr/>
        </p:nvSpPr>
        <p:spPr>
          <a:xfrm>
            <a:off x="5562600"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MEDICAL PRODUCTS &amp; DISTRIBUTION</a:t>
            </a:r>
          </a:p>
        </p:txBody>
      </p:sp>
      <p:sp>
        <p:nvSpPr>
          <p:cNvPr id="298" name="Text: LISTED COMPANIES"/>
          <p:cNvSpPr txBox="1"/>
          <p:nvPr/>
        </p:nvSpPr>
        <p:spPr>
          <a:xfrm>
            <a:off x="5219700"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299" name="Rectangle 298"/>
          <p:cNvSpPr/>
          <p:nvPr/>
        </p:nvSpPr>
        <p:spPr>
          <a:xfrm>
            <a:off x="5219700" y="1952625"/>
            <a:ext cx="1957388" cy="228600"/>
          </a:xfrm>
          <a:prstGeom prst="rect">
            <a:avLst/>
          </a:prstGeom>
          <a:solidFill>
            <a:srgbClr val="FFFFFF"/>
          </a:solidFill>
          <a:ln>
            <a:noFill/>
          </a:ln>
          <a:effectLst/>
        </p:spPr>
        <p:txBody>
          <a:bodyPr rtlCol="0" anchor="ctr"/>
          <a:lstStyle/>
          <a:p>
            <a:pPr algn="ctr"/>
            <a:endParaRPr/>
          </a:p>
        </p:txBody>
      </p:sp>
      <p:sp>
        <p:nvSpPr>
          <p:cNvPr id="300" name="Rectangle 299"/>
          <p:cNvSpPr/>
          <p:nvPr/>
        </p:nvSpPr>
        <p:spPr>
          <a:xfrm>
            <a:off x="5219700" y="1952625"/>
            <a:ext cx="1957388" cy="9525"/>
          </a:xfrm>
          <a:prstGeom prst="rect">
            <a:avLst/>
          </a:prstGeom>
          <a:solidFill>
            <a:srgbClr val="E3DCD3"/>
          </a:solidFill>
          <a:ln>
            <a:noFill/>
          </a:ln>
          <a:effectLst/>
        </p:spPr>
        <p:txBody>
          <a:bodyPr rtlCol="0" anchor="ctr"/>
          <a:lstStyle/>
          <a:p>
            <a:pPr algn="ctr"/>
            <a:endParaRPr/>
          </a:p>
        </p:txBody>
      </p:sp>
      <p:sp>
        <p:nvSpPr>
          <p:cNvPr id="301" name="Rectangle 300"/>
          <p:cNvSpPr/>
          <p:nvPr/>
        </p:nvSpPr>
        <p:spPr>
          <a:xfrm>
            <a:off x="7167562" y="1952625"/>
            <a:ext cx="9525" cy="228600"/>
          </a:xfrm>
          <a:prstGeom prst="rect">
            <a:avLst/>
          </a:prstGeom>
          <a:solidFill>
            <a:srgbClr val="E3DCD3"/>
          </a:solidFill>
          <a:ln>
            <a:noFill/>
          </a:ln>
          <a:effectLst/>
        </p:spPr>
        <p:txBody>
          <a:bodyPr rtlCol="0" anchor="ctr"/>
          <a:lstStyle/>
          <a:p>
            <a:pPr algn="ctr"/>
            <a:endParaRPr/>
          </a:p>
        </p:txBody>
      </p:sp>
      <p:sp>
        <p:nvSpPr>
          <p:cNvPr id="302" name="Rectangle 301"/>
          <p:cNvSpPr/>
          <p:nvPr/>
        </p:nvSpPr>
        <p:spPr>
          <a:xfrm>
            <a:off x="5219700" y="2171700"/>
            <a:ext cx="1957388" cy="9525"/>
          </a:xfrm>
          <a:prstGeom prst="rect">
            <a:avLst/>
          </a:prstGeom>
          <a:solidFill>
            <a:srgbClr val="E3DCD3"/>
          </a:solidFill>
          <a:ln>
            <a:noFill/>
          </a:ln>
          <a:effectLst/>
        </p:spPr>
        <p:txBody>
          <a:bodyPr rtlCol="0" anchor="ctr"/>
          <a:lstStyle/>
          <a:p>
            <a:pPr algn="ctr"/>
            <a:endParaRPr/>
          </a:p>
        </p:txBody>
      </p:sp>
      <p:sp>
        <p:nvSpPr>
          <p:cNvPr id="303" name="Rectangle 302"/>
          <p:cNvSpPr/>
          <p:nvPr/>
        </p:nvSpPr>
        <p:spPr>
          <a:xfrm>
            <a:off x="5219700" y="1952625"/>
            <a:ext cx="9525" cy="228600"/>
          </a:xfrm>
          <a:prstGeom prst="rect">
            <a:avLst/>
          </a:prstGeom>
          <a:solidFill>
            <a:srgbClr val="E3DCD3"/>
          </a:solidFill>
          <a:ln>
            <a:noFill/>
          </a:ln>
          <a:effectLst/>
        </p:spPr>
        <p:txBody>
          <a:bodyPr rtlCol="0" anchor="ctr"/>
          <a:lstStyle/>
          <a:p>
            <a:pPr algn="ctr"/>
            <a:endParaRPr/>
          </a:p>
        </p:txBody>
      </p:sp>
      <p:sp>
        <p:nvSpPr>
          <p:cNvPr id="304" name="Rounded Rectangle 303"/>
          <p:cNvSpPr/>
          <p:nvPr/>
        </p:nvSpPr>
        <p:spPr>
          <a:xfrm>
            <a:off x="5238750"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05" name="Text: SYK">
            <a:hlinkClick r:id="rId25"/>
          </p:cNvPr>
          <p:cNvSpPr txBox="1"/>
          <p:nvPr/>
        </p:nvSpPr>
        <p:spPr>
          <a:xfrm>
            <a:off x="5238750"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306" name="Text: Stryker">
            <a:hlinkClick r:id="rId25"/>
          </p:cNvPr>
          <p:cNvSpPr txBox="1"/>
          <p:nvPr/>
        </p:nvSpPr>
        <p:spPr>
          <a:xfrm>
            <a:off x="5667375" y="2002631"/>
            <a:ext cx="31000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Stryker</a:t>
            </a:r>
          </a:p>
        </p:txBody>
      </p:sp>
      <p:sp>
        <p:nvSpPr>
          <p:cNvPr id="307" name="Rectangle 306"/>
          <p:cNvSpPr/>
          <p:nvPr/>
        </p:nvSpPr>
        <p:spPr>
          <a:xfrm>
            <a:off x="5219700" y="2200275"/>
            <a:ext cx="1957388" cy="228600"/>
          </a:xfrm>
          <a:prstGeom prst="rect">
            <a:avLst/>
          </a:prstGeom>
          <a:solidFill>
            <a:srgbClr val="FFFFFF"/>
          </a:solidFill>
          <a:ln>
            <a:noFill/>
          </a:ln>
          <a:effectLst/>
        </p:spPr>
        <p:txBody>
          <a:bodyPr rtlCol="0" anchor="ctr"/>
          <a:lstStyle/>
          <a:p>
            <a:pPr algn="ctr"/>
            <a:endParaRPr/>
          </a:p>
        </p:txBody>
      </p:sp>
      <p:sp>
        <p:nvSpPr>
          <p:cNvPr id="308" name="Rectangle 307"/>
          <p:cNvSpPr/>
          <p:nvPr/>
        </p:nvSpPr>
        <p:spPr>
          <a:xfrm>
            <a:off x="5219700" y="2200275"/>
            <a:ext cx="1957388" cy="9525"/>
          </a:xfrm>
          <a:prstGeom prst="rect">
            <a:avLst/>
          </a:prstGeom>
          <a:solidFill>
            <a:srgbClr val="E3DCD3"/>
          </a:solidFill>
          <a:ln>
            <a:noFill/>
          </a:ln>
          <a:effectLst/>
        </p:spPr>
        <p:txBody>
          <a:bodyPr rtlCol="0" anchor="ctr"/>
          <a:lstStyle/>
          <a:p>
            <a:pPr algn="ctr"/>
            <a:endParaRPr/>
          </a:p>
        </p:txBody>
      </p:sp>
      <p:sp>
        <p:nvSpPr>
          <p:cNvPr id="309" name="Rectangle 308"/>
          <p:cNvSpPr/>
          <p:nvPr/>
        </p:nvSpPr>
        <p:spPr>
          <a:xfrm>
            <a:off x="7167562" y="2200275"/>
            <a:ext cx="9525" cy="228600"/>
          </a:xfrm>
          <a:prstGeom prst="rect">
            <a:avLst/>
          </a:prstGeom>
          <a:solidFill>
            <a:srgbClr val="E3DCD3"/>
          </a:solidFill>
          <a:ln>
            <a:noFill/>
          </a:ln>
          <a:effectLst/>
        </p:spPr>
        <p:txBody>
          <a:bodyPr rtlCol="0" anchor="ctr"/>
          <a:lstStyle/>
          <a:p>
            <a:pPr algn="ctr"/>
            <a:endParaRPr/>
          </a:p>
        </p:txBody>
      </p:sp>
      <p:sp>
        <p:nvSpPr>
          <p:cNvPr id="310" name="Rectangle 309"/>
          <p:cNvSpPr/>
          <p:nvPr/>
        </p:nvSpPr>
        <p:spPr>
          <a:xfrm>
            <a:off x="5219700" y="2419350"/>
            <a:ext cx="1957388" cy="9525"/>
          </a:xfrm>
          <a:prstGeom prst="rect">
            <a:avLst/>
          </a:prstGeom>
          <a:solidFill>
            <a:srgbClr val="E3DCD3"/>
          </a:solidFill>
          <a:ln>
            <a:noFill/>
          </a:ln>
          <a:effectLst/>
        </p:spPr>
        <p:txBody>
          <a:bodyPr rtlCol="0" anchor="ctr"/>
          <a:lstStyle/>
          <a:p>
            <a:pPr algn="ctr"/>
            <a:endParaRPr/>
          </a:p>
        </p:txBody>
      </p:sp>
      <p:sp>
        <p:nvSpPr>
          <p:cNvPr id="311" name="Rectangle 310"/>
          <p:cNvSpPr/>
          <p:nvPr/>
        </p:nvSpPr>
        <p:spPr>
          <a:xfrm>
            <a:off x="5219700" y="2200275"/>
            <a:ext cx="9525" cy="228600"/>
          </a:xfrm>
          <a:prstGeom prst="rect">
            <a:avLst/>
          </a:prstGeom>
          <a:solidFill>
            <a:srgbClr val="E3DCD3"/>
          </a:solidFill>
          <a:ln>
            <a:noFill/>
          </a:ln>
          <a:effectLst/>
        </p:spPr>
        <p:txBody>
          <a:bodyPr rtlCol="0" anchor="ctr"/>
          <a:lstStyle/>
          <a:p>
            <a:pPr algn="ctr"/>
            <a:endParaRPr/>
          </a:p>
        </p:txBody>
      </p:sp>
      <p:sp>
        <p:nvSpPr>
          <p:cNvPr id="312" name="Rounded Rectangle 311"/>
          <p:cNvSpPr/>
          <p:nvPr/>
        </p:nvSpPr>
        <p:spPr>
          <a:xfrm>
            <a:off x="5238750"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13" name="Text: STE">
            <a:hlinkClick r:id="rId26"/>
          </p:cNvPr>
          <p:cNvSpPr txBox="1"/>
          <p:nvPr/>
        </p:nvSpPr>
        <p:spPr>
          <a:xfrm>
            <a:off x="5238750"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314" name="Text: Steris">
            <a:hlinkClick r:id="rId26"/>
          </p:cNvPr>
          <p:cNvSpPr txBox="1"/>
          <p:nvPr/>
        </p:nvSpPr>
        <p:spPr>
          <a:xfrm>
            <a:off x="5667375" y="2250281"/>
            <a:ext cx="24586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Steris</a:t>
            </a:r>
          </a:p>
        </p:txBody>
      </p:sp>
      <p:sp>
        <p:nvSpPr>
          <p:cNvPr id="315" name="Rectangle 314"/>
          <p:cNvSpPr/>
          <p:nvPr/>
        </p:nvSpPr>
        <p:spPr>
          <a:xfrm>
            <a:off x="5219700" y="2447925"/>
            <a:ext cx="1957388" cy="228600"/>
          </a:xfrm>
          <a:prstGeom prst="rect">
            <a:avLst/>
          </a:prstGeom>
          <a:solidFill>
            <a:srgbClr val="FFFFFF"/>
          </a:solidFill>
          <a:ln>
            <a:noFill/>
          </a:ln>
          <a:effectLst/>
        </p:spPr>
        <p:txBody>
          <a:bodyPr rtlCol="0" anchor="ctr"/>
          <a:lstStyle/>
          <a:p>
            <a:pPr algn="ctr"/>
            <a:endParaRPr/>
          </a:p>
        </p:txBody>
      </p:sp>
      <p:sp>
        <p:nvSpPr>
          <p:cNvPr id="316" name="Rectangle 315"/>
          <p:cNvSpPr/>
          <p:nvPr/>
        </p:nvSpPr>
        <p:spPr>
          <a:xfrm>
            <a:off x="5219700" y="2447925"/>
            <a:ext cx="1957388" cy="9525"/>
          </a:xfrm>
          <a:prstGeom prst="rect">
            <a:avLst/>
          </a:prstGeom>
          <a:solidFill>
            <a:srgbClr val="E3DCD3"/>
          </a:solidFill>
          <a:ln>
            <a:noFill/>
          </a:ln>
          <a:effectLst/>
        </p:spPr>
        <p:txBody>
          <a:bodyPr rtlCol="0" anchor="ctr"/>
          <a:lstStyle/>
          <a:p>
            <a:pPr algn="ctr"/>
            <a:endParaRPr/>
          </a:p>
        </p:txBody>
      </p:sp>
      <p:sp>
        <p:nvSpPr>
          <p:cNvPr id="317" name="Rectangle 316"/>
          <p:cNvSpPr/>
          <p:nvPr/>
        </p:nvSpPr>
        <p:spPr>
          <a:xfrm>
            <a:off x="7167562" y="2447925"/>
            <a:ext cx="9525" cy="228600"/>
          </a:xfrm>
          <a:prstGeom prst="rect">
            <a:avLst/>
          </a:prstGeom>
          <a:solidFill>
            <a:srgbClr val="E3DCD3"/>
          </a:solidFill>
          <a:ln>
            <a:noFill/>
          </a:ln>
          <a:effectLst/>
        </p:spPr>
        <p:txBody>
          <a:bodyPr rtlCol="0" anchor="ctr"/>
          <a:lstStyle/>
          <a:p>
            <a:pPr algn="ctr"/>
            <a:endParaRPr/>
          </a:p>
        </p:txBody>
      </p:sp>
      <p:sp>
        <p:nvSpPr>
          <p:cNvPr id="318" name="Rectangle 317"/>
          <p:cNvSpPr/>
          <p:nvPr/>
        </p:nvSpPr>
        <p:spPr>
          <a:xfrm>
            <a:off x="5219700" y="2667000"/>
            <a:ext cx="1957388" cy="9525"/>
          </a:xfrm>
          <a:prstGeom prst="rect">
            <a:avLst/>
          </a:prstGeom>
          <a:solidFill>
            <a:srgbClr val="E3DCD3"/>
          </a:solidFill>
          <a:ln>
            <a:noFill/>
          </a:ln>
          <a:effectLst/>
        </p:spPr>
        <p:txBody>
          <a:bodyPr rtlCol="0" anchor="ctr"/>
          <a:lstStyle/>
          <a:p>
            <a:pPr algn="ctr"/>
            <a:endParaRPr/>
          </a:p>
        </p:txBody>
      </p:sp>
      <p:sp>
        <p:nvSpPr>
          <p:cNvPr id="319" name="Rectangle 318"/>
          <p:cNvSpPr/>
          <p:nvPr/>
        </p:nvSpPr>
        <p:spPr>
          <a:xfrm>
            <a:off x="5219700" y="2447925"/>
            <a:ext cx="9525" cy="228600"/>
          </a:xfrm>
          <a:prstGeom prst="rect">
            <a:avLst/>
          </a:prstGeom>
          <a:solidFill>
            <a:srgbClr val="E3DCD3"/>
          </a:solidFill>
          <a:ln>
            <a:noFill/>
          </a:ln>
          <a:effectLst/>
        </p:spPr>
        <p:txBody>
          <a:bodyPr rtlCol="0" anchor="ctr"/>
          <a:lstStyle/>
          <a:p>
            <a:pPr algn="ctr"/>
            <a:endParaRPr/>
          </a:p>
        </p:txBody>
      </p:sp>
      <p:sp>
        <p:nvSpPr>
          <p:cNvPr id="320" name="Rounded Rectangle 319"/>
          <p:cNvSpPr/>
          <p:nvPr/>
        </p:nvSpPr>
        <p:spPr>
          <a:xfrm>
            <a:off x="5238750"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1" name="Text: TFX">
            <a:hlinkClick r:id="rId27"/>
          </p:cNvPr>
          <p:cNvSpPr txBox="1"/>
          <p:nvPr/>
        </p:nvSpPr>
        <p:spPr>
          <a:xfrm>
            <a:off x="5238750"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TFX</a:t>
            </a:r>
          </a:p>
        </p:txBody>
      </p:sp>
      <p:sp>
        <p:nvSpPr>
          <p:cNvPr id="322" name="Text: Teleflex">
            <a:hlinkClick r:id="rId27"/>
          </p:cNvPr>
          <p:cNvSpPr txBox="1"/>
          <p:nvPr/>
        </p:nvSpPr>
        <p:spPr>
          <a:xfrm>
            <a:off x="5667375" y="2497931"/>
            <a:ext cx="33084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Teleflex</a:t>
            </a:r>
          </a:p>
        </p:txBody>
      </p:sp>
      <p:sp>
        <p:nvSpPr>
          <p:cNvPr id="323" name="Rectangle 322"/>
          <p:cNvSpPr/>
          <p:nvPr/>
        </p:nvSpPr>
        <p:spPr>
          <a:xfrm>
            <a:off x="5219700" y="2695575"/>
            <a:ext cx="1957388" cy="228600"/>
          </a:xfrm>
          <a:prstGeom prst="rect">
            <a:avLst/>
          </a:prstGeom>
          <a:solidFill>
            <a:srgbClr val="FFFFFF"/>
          </a:solidFill>
          <a:ln>
            <a:noFill/>
          </a:ln>
          <a:effectLst/>
        </p:spPr>
        <p:txBody>
          <a:bodyPr rtlCol="0" anchor="ctr"/>
          <a:lstStyle/>
          <a:p>
            <a:pPr algn="ctr"/>
            <a:endParaRPr/>
          </a:p>
        </p:txBody>
      </p:sp>
      <p:sp>
        <p:nvSpPr>
          <p:cNvPr id="324" name="Rectangle 323"/>
          <p:cNvSpPr/>
          <p:nvPr/>
        </p:nvSpPr>
        <p:spPr>
          <a:xfrm>
            <a:off x="5219700" y="2695575"/>
            <a:ext cx="1957388" cy="9525"/>
          </a:xfrm>
          <a:prstGeom prst="rect">
            <a:avLst/>
          </a:prstGeom>
          <a:solidFill>
            <a:srgbClr val="E3DCD3"/>
          </a:solidFill>
          <a:ln>
            <a:noFill/>
          </a:ln>
          <a:effectLst/>
        </p:spPr>
        <p:txBody>
          <a:bodyPr rtlCol="0" anchor="ctr"/>
          <a:lstStyle/>
          <a:p>
            <a:pPr algn="ctr"/>
            <a:endParaRPr/>
          </a:p>
        </p:txBody>
      </p:sp>
      <p:sp>
        <p:nvSpPr>
          <p:cNvPr id="325" name="Rectangle 324"/>
          <p:cNvSpPr/>
          <p:nvPr/>
        </p:nvSpPr>
        <p:spPr>
          <a:xfrm>
            <a:off x="7167562" y="2695575"/>
            <a:ext cx="9525" cy="228600"/>
          </a:xfrm>
          <a:prstGeom prst="rect">
            <a:avLst/>
          </a:prstGeom>
          <a:solidFill>
            <a:srgbClr val="E3DCD3"/>
          </a:solidFill>
          <a:ln>
            <a:noFill/>
          </a:ln>
          <a:effectLst/>
        </p:spPr>
        <p:txBody>
          <a:bodyPr rtlCol="0" anchor="ctr"/>
          <a:lstStyle/>
          <a:p>
            <a:pPr algn="ctr"/>
            <a:endParaRPr/>
          </a:p>
        </p:txBody>
      </p:sp>
      <p:sp>
        <p:nvSpPr>
          <p:cNvPr id="326" name="Rectangle 325"/>
          <p:cNvSpPr/>
          <p:nvPr/>
        </p:nvSpPr>
        <p:spPr>
          <a:xfrm>
            <a:off x="5219700" y="2914650"/>
            <a:ext cx="1957388" cy="9525"/>
          </a:xfrm>
          <a:prstGeom prst="rect">
            <a:avLst/>
          </a:prstGeom>
          <a:solidFill>
            <a:srgbClr val="E3DCD3"/>
          </a:solidFill>
          <a:ln>
            <a:noFill/>
          </a:ln>
          <a:effectLst/>
        </p:spPr>
        <p:txBody>
          <a:bodyPr rtlCol="0" anchor="ctr"/>
          <a:lstStyle/>
          <a:p>
            <a:pPr algn="ctr"/>
            <a:endParaRPr/>
          </a:p>
        </p:txBody>
      </p:sp>
      <p:sp>
        <p:nvSpPr>
          <p:cNvPr id="327" name="Rectangle 326"/>
          <p:cNvSpPr/>
          <p:nvPr/>
        </p:nvSpPr>
        <p:spPr>
          <a:xfrm>
            <a:off x="5219700" y="2695575"/>
            <a:ext cx="9525" cy="228600"/>
          </a:xfrm>
          <a:prstGeom prst="rect">
            <a:avLst/>
          </a:prstGeom>
          <a:solidFill>
            <a:srgbClr val="E3DCD3"/>
          </a:solidFill>
          <a:ln>
            <a:noFill/>
          </a:ln>
          <a:effectLst/>
        </p:spPr>
        <p:txBody>
          <a:bodyPr rtlCol="0" anchor="ctr"/>
          <a:lstStyle/>
          <a:p>
            <a:pPr algn="ctr"/>
            <a:endParaRPr/>
          </a:p>
        </p:txBody>
      </p:sp>
      <p:sp>
        <p:nvSpPr>
          <p:cNvPr id="328" name="Rounded Rectangle 327"/>
          <p:cNvSpPr/>
          <p:nvPr/>
        </p:nvSpPr>
        <p:spPr>
          <a:xfrm>
            <a:off x="5238750"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29" name="Text: HSIC">
            <a:hlinkClick r:id="rId28"/>
          </p:cNvPr>
          <p:cNvSpPr txBox="1"/>
          <p:nvPr/>
        </p:nvSpPr>
        <p:spPr>
          <a:xfrm>
            <a:off x="5238750"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330" name="Text: Henry Schein">
            <a:hlinkClick r:id="rId28"/>
          </p:cNvPr>
          <p:cNvSpPr txBox="1"/>
          <p:nvPr/>
        </p:nvSpPr>
        <p:spPr>
          <a:xfrm>
            <a:off x="5667375" y="2745581"/>
            <a:ext cx="55572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Henry Schein</a:t>
            </a:r>
          </a:p>
        </p:txBody>
      </p:sp>
      <p:sp>
        <p:nvSpPr>
          <p:cNvPr id="331" name="Rectangle 330"/>
          <p:cNvSpPr/>
          <p:nvPr/>
        </p:nvSpPr>
        <p:spPr>
          <a:xfrm>
            <a:off x="5219700" y="2943225"/>
            <a:ext cx="1957388" cy="228600"/>
          </a:xfrm>
          <a:prstGeom prst="rect">
            <a:avLst/>
          </a:prstGeom>
          <a:solidFill>
            <a:srgbClr val="FFFFFF"/>
          </a:solidFill>
          <a:ln>
            <a:noFill/>
          </a:ln>
          <a:effectLst/>
        </p:spPr>
        <p:txBody>
          <a:bodyPr rtlCol="0" anchor="ctr"/>
          <a:lstStyle/>
          <a:p>
            <a:pPr algn="ctr"/>
            <a:endParaRPr/>
          </a:p>
        </p:txBody>
      </p:sp>
      <p:sp>
        <p:nvSpPr>
          <p:cNvPr id="332" name="Rectangle 331"/>
          <p:cNvSpPr/>
          <p:nvPr/>
        </p:nvSpPr>
        <p:spPr>
          <a:xfrm>
            <a:off x="5219700" y="2943225"/>
            <a:ext cx="1957388" cy="9525"/>
          </a:xfrm>
          <a:prstGeom prst="rect">
            <a:avLst/>
          </a:prstGeom>
          <a:solidFill>
            <a:srgbClr val="E3DCD3"/>
          </a:solidFill>
          <a:ln>
            <a:noFill/>
          </a:ln>
          <a:effectLst/>
        </p:spPr>
        <p:txBody>
          <a:bodyPr rtlCol="0" anchor="ctr"/>
          <a:lstStyle/>
          <a:p>
            <a:pPr algn="ctr"/>
            <a:endParaRPr/>
          </a:p>
        </p:txBody>
      </p:sp>
      <p:sp>
        <p:nvSpPr>
          <p:cNvPr id="333" name="Rectangle 332"/>
          <p:cNvSpPr/>
          <p:nvPr/>
        </p:nvSpPr>
        <p:spPr>
          <a:xfrm>
            <a:off x="7167562" y="2943225"/>
            <a:ext cx="9525" cy="228600"/>
          </a:xfrm>
          <a:prstGeom prst="rect">
            <a:avLst/>
          </a:prstGeom>
          <a:solidFill>
            <a:srgbClr val="E3DCD3"/>
          </a:solidFill>
          <a:ln>
            <a:noFill/>
          </a:ln>
          <a:effectLst/>
        </p:spPr>
        <p:txBody>
          <a:bodyPr rtlCol="0" anchor="ctr"/>
          <a:lstStyle/>
          <a:p>
            <a:pPr algn="ctr"/>
            <a:endParaRPr/>
          </a:p>
        </p:txBody>
      </p:sp>
      <p:sp>
        <p:nvSpPr>
          <p:cNvPr id="334" name="Rectangle 333"/>
          <p:cNvSpPr/>
          <p:nvPr/>
        </p:nvSpPr>
        <p:spPr>
          <a:xfrm>
            <a:off x="5219700" y="3162300"/>
            <a:ext cx="1957388" cy="9525"/>
          </a:xfrm>
          <a:prstGeom prst="rect">
            <a:avLst/>
          </a:prstGeom>
          <a:solidFill>
            <a:srgbClr val="E3DCD3"/>
          </a:solidFill>
          <a:ln>
            <a:noFill/>
          </a:ln>
          <a:effectLst/>
        </p:spPr>
        <p:txBody>
          <a:bodyPr rtlCol="0" anchor="ctr"/>
          <a:lstStyle/>
          <a:p>
            <a:pPr algn="ctr"/>
            <a:endParaRPr/>
          </a:p>
        </p:txBody>
      </p:sp>
      <p:sp>
        <p:nvSpPr>
          <p:cNvPr id="335" name="Rectangle 334"/>
          <p:cNvSpPr/>
          <p:nvPr/>
        </p:nvSpPr>
        <p:spPr>
          <a:xfrm>
            <a:off x="5219700" y="2943225"/>
            <a:ext cx="9525" cy="228600"/>
          </a:xfrm>
          <a:prstGeom prst="rect">
            <a:avLst/>
          </a:prstGeom>
          <a:solidFill>
            <a:srgbClr val="E3DCD3"/>
          </a:solidFill>
          <a:ln>
            <a:noFill/>
          </a:ln>
          <a:effectLst/>
        </p:spPr>
        <p:txBody>
          <a:bodyPr rtlCol="0" anchor="ctr"/>
          <a:lstStyle/>
          <a:p>
            <a:pPr algn="ctr"/>
            <a:endParaRPr/>
          </a:p>
        </p:txBody>
      </p:sp>
      <p:sp>
        <p:nvSpPr>
          <p:cNvPr id="336" name="Rounded Rectangle 335"/>
          <p:cNvSpPr/>
          <p:nvPr/>
        </p:nvSpPr>
        <p:spPr>
          <a:xfrm>
            <a:off x="5238750"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7" name="Text: XRAY">
            <a:hlinkClick r:id="rId29"/>
          </p:cNvPr>
          <p:cNvSpPr txBox="1"/>
          <p:nvPr/>
        </p:nvSpPr>
        <p:spPr>
          <a:xfrm>
            <a:off x="5238750"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338" name="Text: Dentsply Sirona">
            <a:hlinkClick r:id="rId29"/>
          </p:cNvPr>
          <p:cNvSpPr txBox="1"/>
          <p:nvPr/>
        </p:nvSpPr>
        <p:spPr>
          <a:xfrm>
            <a:off x="5667375" y="2993231"/>
            <a:ext cx="663773"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Dentsply Sirona</a:t>
            </a:r>
          </a:p>
        </p:txBody>
      </p:sp>
      <p:sp>
        <p:nvSpPr>
          <p:cNvPr id="339" name="Rectangle 338"/>
          <p:cNvSpPr/>
          <p:nvPr/>
        </p:nvSpPr>
        <p:spPr>
          <a:xfrm>
            <a:off x="5219700" y="3190875"/>
            <a:ext cx="1957388" cy="228600"/>
          </a:xfrm>
          <a:prstGeom prst="rect">
            <a:avLst/>
          </a:prstGeom>
          <a:solidFill>
            <a:srgbClr val="FFFFFF"/>
          </a:solidFill>
          <a:ln>
            <a:noFill/>
          </a:ln>
          <a:effectLst/>
        </p:spPr>
        <p:txBody>
          <a:bodyPr rtlCol="0" anchor="ctr"/>
          <a:lstStyle/>
          <a:p>
            <a:pPr algn="ctr"/>
            <a:endParaRPr/>
          </a:p>
        </p:txBody>
      </p:sp>
      <p:sp>
        <p:nvSpPr>
          <p:cNvPr id="340" name="Rectangle 339"/>
          <p:cNvSpPr/>
          <p:nvPr/>
        </p:nvSpPr>
        <p:spPr>
          <a:xfrm>
            <a:off x="5219700" y="3190875"/>
            <a:ext cx="1957388" cy="9525"/>
          </a:xfrm>
          <a:prstGeom prst="rect">
            <a:avLst/>
          </a:prstGeom>
          <a:solidFill>
            <a:srgbClr val="E3DCD3"/>
          </a:solidFill>
          <a:ln>
            <a:noFill/>
          </a:ln>
          <a:effectLst/>
        </p:spPr>
        <p:txBody>
          <a:bodyPr rtlCol="0" anchor="ctr"/>
          <a:lstStyle/>
          <a:p>
            <a:pPr algn="ctr"/>
            <a:endParaRPr/>
          </a:p>
        </p:txBody>
      </p:sp>
      <p:sp>
        <p:nvSpPr>
          <p:cNvPr id="341" name="Rectangle 340"/>
          <p:cNvSpPr/>
          <p:nvPr/>
        </p:nvSpPr>
        <p:spPr>
          <a:xfrm>
            <a:off x="7167562" y="3190875"/>
            <a:ext cx="9525" cy="228600"/>
          </a:xfrm>
          <a:prstGeom prst="rect">
            <a:avLst/>
          </a:prstGeom>
          <a:solidFill>
            <a:srgbClr val="E3DCD3"/>
          </a:solidFill>
          <a:ln>
            <a:noFill/>
          </a:ln>
          <a:effectLst/>
        </p:spPr>
        <p:txBody>
          <a:bodyPr rtlCol="0" anchor="ctr"/>
          <a:lstStyle/>
          <a:p>
            <a:pPr algn="ctr"/>
            <a:endParaRPr/>
          </a:p>
        </p:txBody>
      </p:sp>
      <p:sp>
        <p:nvSpPr>
          <p:cNvPr id="342" name="Rectangle 341"/>
          <p:cNvSpPr/>
          <p:nvPr/>
        </p:nvSpPr>
        <p:spPr>
          <a:xfrm>
            <a:off x="5219700" y="3409950"/>
            <a:ext cx="1957388" cy="9525"/>
          </a:xfrm>
          <a:prstGeom prst="rect">
            <a:avLst/>
          </a:prstGeom>
          <a:solidFill>
            <a:srgbClr val="E3DCD3"/>
          </a:solidFill>
          <a:ln>
            <a:noFill/>
          </a:ln>
          <a:effectLst/>
        </p:spPr>
        <p:txBody>
          <a:bodyPr rtlCol="0" anchor="ctr"/>
          <a:lstStyle/>
          <a:p>
            <a:pPr algn="ctr"/>
            <a:endParaRPr/>
          </a:p>
        </p:txBody>
      </p:sp>
      <p:sp>
        <p:nvSpPr>
          <p:cNvPr id="343" name="Rectangle 342"/>
          <p:cNvSpPr/>
          <p:nvPr/>
        </p:nvSpPr>
        <p:spPr>
          <a:xfrm>
            <a:off x="5219700" y="3190875"/>
            <a:ext cx="9525" cy="228600"/>
          </a:xfrm>
          <a:prstGeom prst="rect">
            <a:avLst/>
          </a:prstGeom>
          <a:solidFill>
            <a:srgbClr val="E3DCD3"/>
          </a:solidFill>
          <a:ln>
            <a:noFill/>
          </a:ln>
          <a:effectLst/>
        </p:spPr>
        <p:txBody>
          <a:bodyPr rtlCol="0" anchor="ctr"/>
          <a:lstStyle/>
          <a:p>
            <a:pPr algn="ctr"/>
            <a:endParaRPr/>
          </a:p>
        </p:txBody>
      </p:sp>
      <p:sp>
        <p:nvSpPr>
          <p:cNvPr id="344" name="Rounded Rectangle 343"/>
          <p:cNvSpPr/>
          <p:nvPr/>
        </p:nvSpPr>
        <p:spPr>
          <a:xfrm>
            <a:off x="5238750"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45" name="Text: NVST">
            <a:hlinkClick r:id="rId30"/>
          </p:cNvPr>
          <p:cNvSpPr txBox="1"/>
          <p:nvPr/>
        </p:nvSpPr>
        <p:spPr>
          <a:xfrm>
            <a:off x="5238750"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NVST</a:t>
            </a:r>
          </a:p>
        </p:txBody>
      </p:sp>
      <p:sp>
        <p:nvSpPr>
          <p:cNvPr id="346" name="Text: Envista">
            <a:hlinkClick r:id="rId30"/>
          </p:cNvPr>
          <p:cNvSpPr txBox="1"/>
          <p:nvPr/>
        </p:nvSpPr>
        <p:spPr>
          <a:xfrm>
            <a:off x="5667375" y="3240881"/>
            <a:ext cx="308372"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Envista</a:t>
            </a:r>
          </a:p>
        </p:txBody>
      </p:sp>
      <p:sp>
        <p:nvSpPr>
          <p:cNvPr id="347" name="Rectangle 346"/>
          <p:cNvSpPr/>
          <p:nvPr/>
        </p:nvSpPr>
        <p:spPr>
          <a:xfrm>
            <a:off x="5219700" y="3438525"/>
            <a:ext cx="1957388" cy="228600"/>
          </a:xfrm>
          <a:prstGeom prst="rect">
            <a:avLst/>
          </a:prstGeom>
          <a:solidFill>
            <a:srgbClr val="FFFFFF"/>
          </a:solidFill>
          <a:ln>
            <a:noFill/>
          </a:ln>
          <a:effectLst/>
        </p:spPr>
        <p:txBody>
          <a:bodyPr rtlCol="0" anchor="ctr"/>
          <a:lstStyle/>
          <a:p>
            <a:pPr algn="ctr"/>
            <a:endParaRPr/>
          </a:p>
        </p:txBody>
      </p:sp>
      <p:sp>
        <p:nvSpPr>
          <p:cNvPr id="348" name="Rectangle 347"/>
          <p:cNvSpPr/>
          <p:nvPr/>
        </p:nvSpPr>
        <p:spPr>
          <a:xfrm>
            <a:off x="5219700" y="3438525"/>
            <a:ext cx="1957388" cy="9525"/>
          </a:xfrm>
          <a:prstGeom prst="rect">
            <a:avLst/>
          </a:prstGeom>
          <a:solidFill>
            <a:srgbClr val="E3DCD3"/>
          </a:solidFill>
          <a:ln>
            <a:noFill/>
          </a:ln>
          <a:effectLst/>
        </p:spPr>
        <p:txBody>
          <a:bodyPr rtlCol="0" anchor="ctr"/>
          <a:lstStyle/>
          <a:p>
            <a:pPr algn="ctr"/>
            <a:endParaRPr/>
          </a:p>
        </p:txBody>
      </p:sp>
      <p:sp>
        <p:nvSpPr>
          <p:cNvPr id="349" name="Rectangle 348"/>
          <p:cNvSpPr/>
          <p:nvPr/>
        </p:nvSpPr>
        <p:spPr>
          <a:xfrm>
            <a:off x="7167562" y="3438525"/>
            <a:ext cx="9525" cy="228600"/>
          </a:xfrm>
          <a:prstGeom prst="rect">
            <a:avLst/>
          </a:prstGeom>
          <a:solidFill>
            <a:srgbClr val="E3DCD3"/>
          </a:solidFill>
          <a:ln>
            <a:noFill/>
          </a:ln>
          <a:effectLst/>
        </p:spPr>
        <p:txBody>
          <a:bodyPr rtlCol="0" anchor="ctr"/>
          <a:lstStyle/>
          <a:p>
            <a:pPr algn="ctr"/>
            <a:endParaRPr/>
          </a:p>
        </p:txBody>
      </p:sp>
      <p:sp>
        <p:nvSpPr>
          <p:cNvPr id="350" name="Rectangle 349"/>
          <p:cNvSpPr/>
          <p:nvPr/>
        </p:nvSpPr>
        <p:spPr>
          <a:xfrm>
            <a:off x="5219700" y="3657600"/>
            <a:ext cx="1957388" cy="9525"/>
          </a:xfrm>
          <a:prstGeom prst="rect">
            <a:avLst/>
          </a:prstGeom>
          <a:solidFill>
            <a:srgbClr val="E3DCD3"/>
          </a:solidFill>
          <a:ln>
            <a:noFill/>
          </a:ln>
          <a:effectLst/>
        </p:spPr>
        <p:txBody>
          <a:bodyPr rtlCol="0" anchor="ctr"/>
          <a:lstStyle/>
          <a:p>
            <a:pPr algn="ctr"/>
            <a:endParaRPr/>
          </a:p>
        </p:txBody>
      </p:sp>
      <p:sp>
        <p:nvSpPr>
          <p:cNvPr id="351" name="Rectangle 350"/>
          <p:cNvSpPr/>
          <p:nvPr/>
        </p:nvSpPr>
        <p:spPr>
          <a:xfrm>
            <a:off x="5219700" y="3438525"/>
            <a:ext cx="9525" cy="228600"/>
          </a:xfrm>
          <a:prstGeom prst="rect">
            <a:avLst/>
          </a:prstGeom>
          <a:solidFill>
            <a:srgbClr val="E3DCD3"/>
          </a:solidFill>
          <a:ln>
            <a:noFill/>
          </a:ln>
          <a:effectLst/>
        </p:spPr>
        <p:txBody>
          <a:bodyPr rtlCol="0" anchor="ctr"/>
          <a:lstStyle/>
          <a:p>
            <a:pPr algn="ctr"/>
            <a:endParaRPr/>
          </a:p>
        </p:txBody>
      </p:sp>
      <p:sp>
        <p:nvSpPr>
          <p:cNvPr id="352" name="Rounded Rectangle 351"/>
          <p:cNvSpPr/>
          <p:nvPr/>
        </p:nvSpPr>
        <p:spPr>
          <a:xfrm>
            <a:off x="5238750"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53" name="Text: ZBH">
            <a:hlinkClick r:id="rId31"/>
          </p:cNvPr>
          <p:cNvSpPr txBox="1"/>
          <p:nvPr/>
        </p:nvSpPr>
        <p:spPr>
          <a:xfrm>
            <a:off x="5238750"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354" name="Text: Zimmer Biomet">
            <a:hlinkClick r:id="rId31"/>
          </p:cNvPr>
          <p:cNvSpPr txBox="1"/>
          <p:nvPr/>
        </p:nvSpPr>
        <p:spPr>
          <a:xfrm>
            <a:off x="5667375" y="3488531"/>
            <a:ext cx="652165"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Zimmer Biomet</a:t>
            </a:r>
          </a:p>
        </p:txBody>
      </p:sp>
      <p:sp>
        <p:nvSpPr>
          <p:cNvPr id="355" name="Rectangle 354"/>
          <p:cNvSpPr/>
          <p:nvPr/>
        </p:nvSpPr>
        <p:spPr>
          <a:xfrm>
            <a:off x="5219700" y="3686175"/>
            <a:ext cx="1957388" cy="228600"/>
          </a:xfrm>
          <a:prstGeom prst="rect">
            <a:avLst/>
          </a:prstGeom>
          <a:solidFill>
            <a:srgbClr val="FFFFFF"/>
          </a:solidFill>
          <a:ln>
            <a:noFill/>
          </a:ln>
          <a:effectLst/>
        </p:spPr>
        <p:txBody>
          <a:bodyPr rtlCol="0" anchor="ctr"/>
          <a:lstStyle/>
          <a:p>
            <a:pPr algn="ctr"/>
            <a:endParaRPr/>
          </a:p>
        </p:txBody>
      </p:sp>
      <p:sp>
        <p:nvSpPr>
          <p:cNvPr id="356" name="Rectangle 355"/>
          <p:cNvSpPr/>
          <p:nvPr/>
        </p:nvSpPr>
        <p:spPr>
          <a:xfrm>
            <a:off x="5219700" y="3686175"/>
            <a:ext cx="1957388" cy="9525"/>
          </a:xfrm>
          <a:prstGeom prst="rect">
            <a:avLst/>
          </a:prstGeom>
          <a:solidFill>
            <a:srgbClr val="E3DCD3"/>
          </a:solidFill>
          <a:ln>
            <a:noFill/>
          </a:ln>
          <a:effectLst/>
        </p:spPr>
        <p:txBody>
          <a:bodyPr rtlCol="0" anchor="ctr"/>
          <a:lstStyle/>
          <a:p>
            <a:pPr algn="ctr"/>
            <a:endParaRPr/>
          </a:p>
        </p:txBody>
      </p:sp>
      <p:sp>
        <p:nvSpPr>
          <p:cNvPr id="357" name="Rectangle 356"/>
          <p:cNvSpPr/>
          <p:nvPr/>
        </p:nvSpPr>
        <p:spPr>
          <a:xfrm>
            <a:off x="7167562" y="3686175"/>
            <a:ext cx="9525" cy="228600"/>
          </a:xfrm>
          <a:prstGeom prst="rect">
            <a:avLst/>
          </a:prstGeom>
          <a:solidFill>
            <a:srgbClr val="E3DCD3"/>
          </a:solidFill>
          <a:ln>
            <a:noFill/>
          </a:ln>
          <a:effectLst/>
        </p:spPr>
        <p:txBody>
          <a:bodyPr rtlCol="0" anchor="ctr"/>
          <a:lstStyle/>
          <a:p>
            <a:pPr algn="ctr"/>
            <a:endParaRPr/>
          </a:p>
        </p:txBody>
      </p:sp>
      <p:sp>
        <p:nvSpPr>
          <p:cNvPr id="358" name="Rectangle 357"/>
          <p:cNvSpPr/>
          <p:nvPr/>
        </p:nvSpPr>
        <p:spPr>
          <a:xfrm>
            <a:off x="5219700" y="3905250"/>
            <a:ext cx="1957388" cy="9525"/>
          </a:xfrm>
          <a:prstGeom prst="rect">
            <a:avLst/>
          </a:prstGeom>
          <a:solidFill>
            <a:srgbClr val="E3DCD3"/>
          </a:solidFill>
          <a:ln>
            <a:noFill/>
          </a:ln>
          <a:effectLst/>
        </p:spPr>
        <p:txBody>
          <a:bodyPr rtlCol="0" anchor="ctr"/>
          <a:lstStyle/>
          <a:p>
            <a:pPr algn="ctr"/>
            <a:endParaRPr/>
          </a:p>
        </p:txBody>
      </p:sp>
      <p:sp>
        <p:nvSpPr>
          <p:cNvPr id="359" name="Rectangle 358"/>
          <p:cNvSpPr/>
          <p:nvPr/>
        </p:nvSpPr>
        <p:spPr>
          <a:xfrm>
            <a:off x="5219700" y="3686175"/>
            <a:ext cx="9525" cy="228600"/>
          </a:xfrm>
          <a:prstGeom prst="rect">
            <a:avLst/>
          </a:prstGeom>
          <a:solidFill>
            <a:srgbClr val="E3DCD3"/>
          </a:solidFill>
          <a:ln>
            <a:noFill/>
          </a:ln>
          <a:effectLst/>
        </p:spPr>
        <p:txBody>
          <a:bodyPr rtlCol="0" anchor="ctr"/>
          <a:lstStyle/>
          <a:p>
            <a:pPr algn="ctr"/>
            <a:endParaRPr/>
          </a:p>
        </p:txBody>
      </p:sp>
      <p:sp>
        <p:nvSpPr>
          <p:cNvPr id="360" name="Rounded Rectangle 359"/>
          <p:cNvSpPr/>
          <p:nvPr/>
        </p:nvSpPr>
        <p:spPr>
          <a:xfrm>
            <a:off x="5238750"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1" name="Text: ITGR">
            <a:hlinkClick r:id="rId32"/>
          </p:cNvPr>
          <p:cNvSpPr txBox="1"/>
          <p:nvPr/>
        </p:nvSpPr>
        <p:spPr>
          <a:xfrm>
            <a:off x="5238750"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362" name="Text: Integer Holdings">
            <a:hlinkClick r:id="rId32"/>
          </p:cNvPr>
          <p:cNvSpPr txBox="1"/>
          <p:nvPr/>
        </p:nvSpPr>
        <p:spPr>
          <a:xfrm>
            <a:off x="5667375" y="3736181"/>
            <a:ext cx="691158"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Integer Holdings</a:t>
            </a:r>
          </a:p>
        </p:txBody>
      </p:sp>
      <p:sp>
        <p:nvSpPr>
          <p:cNvPr id="363" name="Rectangle 362"/>
          <p:cNvSpPr/>
          <p:nvPr/>
        </p:nvSpPr>
        <p:spPr>
          <a:xfrm>
            <a:off x="5219700" y="3933825"/>
            <a:ext cx="1957388" cy="228600"/>
          </a:xfrm>
          <a:prstGeom prst="rect">
            <a:avLst/>
          </a:prstGeom>
          <a:solidFill>
            <a:srgbClr val="FFFFFF"/>
          </a:solidFill>
          <a:ln>
            <a:noFill/>
          </a:ln>
          <a:effectLst/>
        </p:spPr>
        <p:txBody>
          <a:bodyPr rtlCol="0" anchor="ctr"/>
          <a:lstStyle/>
          <a:p>
            <a:pPr algn="ctr"/>
            <a:endParaRPr/>
          </a:p>
        </p:txBody>
      </p:sp>
      <p:sp>
        <p:nvSpPr>
          <p:cNvPr id="364" name="Rectangle 363"/>
          <p:cNvSpPr/>
          <p:nvPr/>
        </p:nvSpPr>
        <p:spPr>
          <a:xfrm>
            <a:off x="5219700" y="3933825"/>
            <a:ext cx="1957388" cy="9525"/>
          </a:xfrm>
          <a:prstGeom prst="rect">
            <a:avLst/>
          </a:prstGeom>
          <a:solidFill>
            <a:srgbClr val="E3DCD3"/>
          </a:solidFill>
          <a:ln>
            <a:noFill/>
          </a:ln>
          <a:effectLst/>
        </p:spPr>
        <p:txBody>
          <a:bodyPr rtlCol="0" anchor="ctr"/>
          <a:lstStyle/>
          <a:p>
            <a:pPr algn="ctr"/>
            <a:endParaRPr/>
          </a:p>
        </p:txBody>
      </p:sp>
      <p:sp>
        <p:nvSpPr>
          <p:cNvPr id="365" name="Rectangle 364"/>
          <p:cNvSpPr/>
          <p:nvPr/>
        </p:nvSpPr>
        <p:spPr>
          <a:xfrm>
            <a:off x="7167562" y="3933825"/>
            <a:ext cx="9525" cy="228600"/>
          </a:xfrm>
          <a:prstGeom prst="rect">
            <a:avLst/>
          </a:prstGeom>
          <a:solidFill>
            <a:srgbClr val="E3DCD3"/>
          </a:solidFill>
          <a:ln>
            <a:noFill/>
          </a:ln>
          <a:effectLst/>
        </p:spPr>
        <p:txBody>
          <a:bodyPr rtlCol="0" anchor="ctr"/>
          <a:lstStyle/>
          <a:p>
            <a:pPr algn="ctr"/>
            <a:endParaRPr/>
          </a:p>
        </p:txBody>
      </p:sp>
      <p:sp>
        <p:nvSpPr>
          <p:cNvPr id="366" name="Rectangle 365"/>
          <p:cNvSpPr/>
          <p:nvPr/>
        </p:nvSpPr>
        <p:spPr>
          <a:xfrm>
            <a:off x="5219700" y="4152900"/>
            <a:ext cx="1957388" cy="9525"/>
          </a:xfrm>
          <a:prstGeom prst="rect">
            <a:avLst/>
          </a:prstGeom>
          <a:solidFill>
            <a:srgbClr val="E3DCD3"/>
          </a:solidFill>
          <a:ln>
            <a:noFill/>
          </a:ln>
          <a:effectLst/>
        </p:spPr>
        <p:txBody>
          <a:bodyPr rtlCol="0" anchor="ctr"/>
          <a:lstStyle/>
          <a:p>
            <a:pPr algn="ctr"/>
            <a:endParaRPr/>
          </a:p>
        </p:txBody>
      </p:sp>
      <p:sp>
        <p:nvSpPr>
          <p:cNvPr id="367" name="Rectangle 366"/>
          <p:cNvSpPr/>
          <p:nvPr/>
        </p:nvSpPr>
        <p:spPr>
          <a:xfrm>
            <a:off x="5219700" y="3933825"/>
            <a:ext cx="9525" cy="228600"/>
          </a:xfrm>
          <a:prstGeom prst="rect">
            <a:avLst/>
          </a:prstGeom>
          <a:solidFill>
            <a:srgbClr val="E3DCD3"/>
          </a:solidFill>
          <a:ln>
            <a:noFill/>
          </a:ln>
          <a:effectLst/>
        </p:spPr>
        <p:txBody>
          <a:bodyPr rtlCol="0" anchor="ctr"/>
          <a:lstStyle/>
          <a:p>
            <a:pPr algn="ctr"/>
            <a:endParaRPr/>
          </a:p>
        </p:txBody>
      </p:sp>
      <p:sp>
        <p:nvSpPr>
          <p:cNvPr id="368" name="Rounded Rectangle 367"/>
          <p:cNvSpPr/>
          <p:nvPr/>
        </p:nvSpPr>
        <p:spPr>
          <a:xfrm>
            <a:off x="5238750" y="3952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69" name="Text: SOLV">
            <a:hlinkClick r:id="rId33"/>
          </p:cNvPr>
          <p:cNvSpPr txBox="1"/>
          <p:nvPr/>
        </p:nvSpPr>
        <p:spPr>
          <a:xfrm>
            <a:off x="5238750" y="3952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SOLV</a:t>
            </a:r>
          </a:p>
        </p:txBody>
      </p:sp>
      <p:sp>
        <p:nvSpPr>
          <p:cNvPr id="370" name="Text: Solventum">
            <a:hlinkClick r:id="rId33"/>
          </p:cNvPr>
          <p:cNvSpPr txBox="1"/>
          <p:nvPr/>
        </p:nvSpPr>
        <p:spPr>
          <a:xfrm>
            <a:off x="5667375" y="3983831"/>
            <a:ext cx="455116"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Solventum</a:t>
            </a:r>
          </a:p>
        </p:txBody>
      </p:sp>
      <p:sp>
        <p:nvSpPr>
          <p:cNvPr id="371" name="Rectangle 370"/>
          <p:cNvSpPr/>
          <p:nvPr/>
        </p:nvSpPr>
        <p:spPr>
          <a:xfrm>
            <a:off x="5219700" y="4181475"/>
            <a:ext cx="1957388" cy="228600"/>
          </a:xfrm>
          <a:prstGeom prst="rect">
            <a:avLst/>
          </a:prstGeom>
          <a:solidFill>
            <a:srgbClr val="FFFFFF"/>
          </a:solidFill>
          <a:ln>
            <a:noFill/>
          </a:ln>
          <a:effectLst/>
        </p:spPr>
        <p:txBody>
          <a:bodyPr rtlCol="0" anchor="ctr"/>
          <a:lstStyle/>
          <a:p>
            <a:pPr algn="ctr"/>
            <a:endParaRPr/>
          </a:p>
        </p:txBody>
      </p:sp>
      <p:sp>
        <p:nvSpPr>
          <p:cNvPr id="372" name="Rectangle 371"/>
          <p:cNvSpPr/>
          <p:nvPr/>
        </p:nvSpPr>
        <p:spPr>
          <a:xfrm>
            <a:off x="5219700" y="4181475"/>
            <a:ext cx="1957388" cy="9525"/>
          </a:xfrm>
          <a:prstGeom prst="rect">
            <a:avLst/>
          </a:prstGeom>
          <a:solidFill>
            <a:srgbClr val="E3DCD3"/>
          </a:solidFill>
          <a:ln>
            <a:noFill/>
          </a:ln>
          <a:effectLst/>
        </p:spPr>
        <p:txBody>
          <a:bodyPr rtlCol="0" anchor="ctr"/>
          <a:lstStyle/>
          <a:p>
            <a:pPr algn="ctr"/>
            <a:endParaRPr/>
          </a:p>
        </p:txBody>
      </p:sp>
      <p:sp>
        <p:nvSpPr>
          <p:cNvPr id="373" name="Rectangle 372"/>
          <p:cNvSpPr/>
          <p:nvPr/>
        </p:nvSpPr>
        <p:spPr>
          <a:xfrm>
            <a:off x="7167562" y="4181475"/>
            <a:ext cx="9525" cy="228600"/>
          </a:xfrm>
          <a:prstGeom prst="rect">
            <a:avLst/>
          </a:prstGeom>
          <a:solidFill>
            <a:srgbClr val="E3DCD3"/>
          </a:solidFill>
          <a:ln>
            <a:noFill/>
          </a:ln>
          <a:effectLst/>
        </p:spPr>
        <p:txBody>
          <a:bodyPr rtlCol="0" anchor="ctr"/>
          <a:lstStyle/>
          <a:p>
            <a:pPr algn="ctr"/>
            <a:endParaRPr/>
          </a:p>
        </p:txBody>
      </p:sp>
      <p:sp>
        <p:nvSpPr>
          <p:cNvPr id="374" name="Rectangle 373"/>
          <p:cNvSpPr/>
          <p:nvPr/>
        </p:nvSpPr>
        <p:spPr>
          <a:xfrm>
            <a:off x="5219700" y="4400550"/>
            <a:ext cx="1957388" cy="9525"/>
          </a:xfrm>
          <a:prstGeom prst="rect">
            <a:avLst/>
          </a:prstGeom>
          <a:solidFill>
            <a:srgbClr val="E3DCD3"/>
          </a:solidFill>
          <a:ln>
            <a:noFill/>
          </a:ln>
          <a:effectLst/>
        </p:spPr>
        <p:txBody>
          <a:bodyPr rtlCol="0" anchor="ctr"/>
          <a:lstStyle/>
          <a:p>
            <a:pPr algn="ctr"/>
            <a:endParaRPr/>
          </a:p>
        </p:txBody>
      </p:sp>
      <p:sp>
        <p:nvSpPr>
          <p:cNvPr id="375" name="Rectangle 374"/>
          <p:cNvSpPr/>
          <p:nvPr/>
        </p:nvSpPr>
        <p:spPr>
          <a:xfrm>
            <a:off x="5219700" y="4181475"/>
            <a:ext cx="9525" cy="228600"/>
          </a:xfrm>
          <a:prstGeom prst="rect">
            <a:avLst/>
          </a:prstGeom>
          <a:solidFill>
            <a:srgbClr val="E3DCD3"/>
          </a:solidFill>
          <a:ln>
            <a:noFill/>
          </a:ln>
          <a:effectLst/>
        </p:spPr>
        <p:txBody>
          <a:bodyPr rtlCol="0" anchor="ctr"/>
          <a:lstStyle/>
          <a:p>
            <a:pPr algn="ctr"/>
            <a:endParaRPr/>
          </a:p>
        </p:txBody>
      </p:sp>
      <p:sp>
        <p:nvSpPr>
          <p:cNvPr id="376" name="Rounded Rectangle 375"/>
          <p:cNvSpPr/>
          <p:nvPr/>
        </p:nvSpPr>
        <p:spPr>
          <a:xfrm>
            <a:off x="5238750" y="42005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77" name="Text: VMD">
            <a:hlinkClick r:id="rId34"/>
          </p:cNvPr>
          <p:cNvSpPr txBox="1"/>
          <p:nvPr/>
        </p:nvSpPr>
        <p:spPr>
          <a:xfrm>
            <a:off x="5238750" y="42005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378" name="Text: Viemed Healthcare">
            <a:hlinkClick r:id="rId34"/>
          </p:cNvPr>
          <p:cNvSpPr txBox="1"/>
          <p:nvPr/>
        </p:nvSpPr>
        <p:spPr>
          <a:xfrm>
            <a:off x="5667375" y="4231481"/>
            <a:ext cx="802184"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Viemed Healthcare</a:t>
            </a:r>
          </a:p>
        </p:txBody>
      </p:sp>
      <p:sp>
        <p:nvSpPr>
          <p:cNvPr id="379" name="Text: SPONSORS AND PRODUCT STRATEGICS"/>
          <p:cNvSpPr txBox="1"/>
          <p:nvPr/>
        </p:nvSpPr>
        <p:spPr>
          <a:xfrm>
            <a:off x="5219700" y="5572125"/>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SPONSORS AND PRODUCT STRATEGICS</a:t>
            </a:r>
          </a:p>
        </p:txBody>
      </p:sp>
      <p:sp>
        <p:nvSpPr>
          <p:cNvPr id="380" name="Rectangle 379"/>
          <p:cNvSpPr/>
          <p:nvPr/>
        </p:nvSpPr>
        <p:spPr>
          <a:xfrm>
            <a:off x="5219700" y="5753100"/>
            <a:ext cx="289024" cy="180975"/>
          </a:xfrm>
          <a:prstGeom prst="rect">
            <a:avLst/>
          </a:prstGeom>
          <a:solidFill>
            <a:srgbClr val="FFFFFF"/>
          </a:solidFill>
          <a:ln>
            <a:noFill/>
          </a:ln>
          <a:effectLst/>
        </p:spPr>
        <p:txBody>
          <a:bodyPr rtlCol="0" anchor="ctr"/>
          <a:lstStyle/>
          <a:p>
            <a:pPr algn="ctr"/>
            <a:endParaRPr/>
          </a:p>
        </p:txBody>
      </p:sp>
      <p:sp>
        <p:nvSpPr>
          <p:cNvPr id="381" name="Rectangle 380"/>
          <p:cNvSpPr/>
          <p:nvPr/>
        </p:nvSpPr>
        <p:spPr>
          <a:xfrm>
            <a:off x="5219700" y="5753100"/>
            <a:ext cx="289024" cy="9525"/>
          </a:xfrm>
          <a:prstGeom prst="rect">
            <a:avLst/>
          </a:prstGeom>
          <a:solidFill>
            <a:srgbClr val="E3DCD3"/>
          </a:solidFill>
          <a:ln>
            <a:noFill/>
          </a:ln>
          <a:effectLst/>
        </p:spPr>
        <p:txBody>
          <a:bodyPr rtlCol="0" anchor="ctr"/>
          <a:lstStyle/>
          <a:p>
            <a:pPr algn="ctr"/>
            <a:endParaRPr/>
          </a:p>
        </p:txBody>
      </p:sp>
      <p:sp>
        <p:nvSpPr>
          <p:cNvPr id="382" name="Rectangle 381"/>
          <p:cNvSpPr/>
          <p:nvPr/>
        </p:nvSpPr>
        <p:spPr>
          <a:xfrm>
            <a:off x="5499199" y="5753100"/>
            <a:ext cx="9525" cy="180975"/>
          </a:xfrm>
          <a:prstGeom prst="rect">
            <a:avLst/>
          </a:prstGeom>
          <a:solidFill>
            <a:srgbClr val="E3DCD3"/>
          </a:solidFill>
          <a:ln>
            <a:noFill/>
          </a:ln>
          <a:effectLst/>
        </p:spPr>
        <p:txBody>
          <a:bodyPr rtlCol="0" anchor="ctr"/>
          <a:lstStyle/>
          <a:p>
            <a:pPr algn="ctr"/>
            <a:endParaRPr/>
          </a:p>
        </p:txBody>
      </p:sp>
      <p:sp>
        <p:nvSpPr>
          <p:cNvPr id="383" name="Rectangle 382"/>
          <p:cNvSpPr/>
          <p:nvPr/>
        </p:nvSpPr>
        <p:spPr>
          <a:xfrm>
            <a:off x="5219700" y="5924550"/>
            <a:ext cx="289024" cy="9525"/>
          </a:xfrm>
          <a:prstGeom prst="rect">
            <a:avLst/>
          </a:prstGeom>
          <a:solidFill>
            <a:srgbClr val="E3DCD3"/>
          </a:solidFill>
          <a:ln>
            <a:noFill/>
          </a:ln>
          <a:effectLst/>
        </p:spPr>
        <p:txBody>
          <a:bodyPr rtlCol="0" anchor="ctr"/>
          <a:lstStyle/>
          <a:p>
            <a:pPr algn="ctr"/>
            <a:endParaRPr/>
          </a:p>
        </p:txBody>
      </p:sp>
      <p:sp>
        <p:nvSpPr>
          <p:cNvPr id="384" name="Rectangle 383"/>
          <p:cNvSpPr/>
          <p:nvPr/>
        </p:nvSpPr>
        <p:spPr>
          <a:xfrm>
            <a:off x="5219700" y="5753100"/>
            <a:ext cx="9525" cy="180975"/>
          </a:xfrm>
          <a:prstGeom prst="rect">
            <a:avLst/>
          </a:prstGeom>
          <a:solidFill>
            <a:srgbClr val="E3DCD3"/>
          </a:solidFill>
          <a:ln>
            <a:noFill/>
          </a:ln>
          <a:effectLst/>
        </p:spPr>
        <p:txBody>
          <a:bodyPr rtlCol="0" anchor="ctr"/>
          <a:lstStyle/>
          <a:p>
            <a:pPr algn="ctr"/>
            <a:endParaRPr/>
          </a:p>
        </p:txBody>
      </p:sp>
      <p:sp>
        <p:nvSpPr>
          <p:cNvPr id="385" name="Text: KKR"/>
          <p:cNvSpPr txBox="1"/>
          <p:nvPr/>
        </p:nvSpPr>
        <p:spPr>
          <a:xfrm>
            <a:off x="5286375" y="5781675"/>
            <a:ext cx="16996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KKR</a:t>
            </a:r>
          </a:p>
        </p:txBody>
      </p:sp>
      <p:sp>
        <p:nvSpPr>
          <p:cNvPr id="386" name="Rectangle 385"/>
          <p:cNvSpPr/>
          <p:nvPr/>
        </p:nvSpPr>
        <p:spPr>
          <a:xfrm>
            <a:off x="5546824" y="5753100"/>
            <a:ext cx="802035" cy="180975"/>
          </a:xfrm>
          <a:prstGeom prst="rect">
            <a:avLst/>
          </a:prstGeom>
          <a:solidFill>
            <a:srgbClr val="FFFFFF"/>
          </a:solidFill>
          <a:ln>
            <a:noFill/>
          </a:ln>
          <a:effectLst/>
        </p:spPr>
        <p:txBody>
          <a:bodyPr rtlCol="0" anchor="ctr"/>
          <a:lstStyle/>
          <a:p>
            <a:pPr algn="ctr"/>
            <a:endParaRPr/>
          </a:p>
        </p:txBody>
      </p:sp>
      <p:sp>
        <p:nvSpPr>
          <p:cNvPr id="387" name="Rectangle 386"/>
          <p:cNvSpPr/>
          <p:nvPr/>
        </p:nvSpPr>
        <p:spPr>
          <a:xfrm>
            <a:off x="5546824" y="5753100"/>
            <a:ext cx="802035" cy="9525"/>
          </a:xfrm>
          <a:prstGeom prst="rect">
            <a:avLst/>
          </a:prstGeom>
          <a:solidFill>
            <a:srgbClr val="E3DCD3"/>
          </a:solidFill>
          <a:ln>
            <a:noFill/>
          </a:ln>
          <a:effectLst/>
        </p:spPr>
        <p:txBody>
          <a:bodyPr rtlCol="0" anchor="ctr"/>
          <a:lstStyle/>
          <a:p>
            <a:pPr algn="ctr"/>
            <a:endParaRPr/>
          </a:p>
        </p:txBody>
      </p:sp>
      <p:sp>
        <p:nvSpPr>
          <p:cNvPr id="388" name="Rectangle 387"/>
          <p:cNvSpPr/>
          <p:nvPr/>
        </p:nvSpPr>
        <p:spPr>
          <a:xfrm>
            <a:off x="6339334" y="5753100"/>
            <a:ext cx="9525" cy="180975"/>
          </a:xfrm>
          <a:prstGeom prst="rect">
            <a:avLst/>
          </a:prstGeom>
          <a:solidFill>
            <a:srgbClr val="E3DCD3"/>
          </a:solidFill>
          <a:ln>
            <a:noFill/>
          </a:ln>
          <a:effectLst/>
        </p:spPr>
        <p:txBody>
          <a:bodyPr rtlCol="0" anchor="ctr"/>
          <a:lstStyle/>
          <a:p>
            <a:pPr algn="ctr"/>
            <a:endParaRPr/>
          </a:p>
        </p:txBody>
      </p:sp>
      <p:sp>
        <p:nvSpPr>
          <p:cNvPr id="389" name="Rectangle 388"/>
          <p:cNvSpPr/>
          <p:nvPr/>
        </p:nvSpPr>
        <p:spPr>
          <a:xfrm>
            <a:off x="5546824" y="5924550"/>
            <a:ext cx="802035" cy="9525"/>
          </a:xfrm>
          <a:prstGeom prst="rect">
            <a:avLst/>
          </a:prstGeom>
          <a:solidFill>
            <a:srgbClr val="E3DCD3"/>
          </a:solidFill>
          <a:ln>
            <a:noFill/>
          </a:ln>
          <a:effectLst/>
        </p:spPr>
        <p:txBody>
          <a:bodyPr rtlCol="0" anchor="ctr"/>
          <a:lstStyle/>
          <a:p>
            <a:pPr algn="ctr"/>
            <a:endParaRPr/>
          </a:p>
        </p:txBody>
      </p:sp>
      <p:sp>
        <p:nvSpPr>
          <p:cNvPr id="390" name="Rectangle 389"/>
          <p:cNvSpPr/>
          <p:nvPr/>
        </p:nvSpPr>
        <p:spPr>
          <a:xfrm>
            <a:off x="5546824" y="5753100"/>
            <a:ext cx="9525" cy="180975"/>
          </a:xfrm>
          <a:prstGeom prst="rect">
            <a:avLst/>
          </a:prstGeom>
          <a:solidFill>
            <a:srgbClr val="E3DCD3"/>
          </a:solidFill>
          <a:ln>
            <a:noFill/>
          </a:ln>
          <a:effectLst/>
        </p:spPr>
        <p:txBody>
          <a:bodyPr rtlCol="0" anchor="ctr"/>
          <a:lstStyle/>
          <a:p>
            <a:pPr algn="ctr"/>
            <a:endParaRPr/>
          </a:p>
        </p:txBody>
      </p:sp>
      <p:sp>
        <p:nvSpPr>
          <p:cNvPr id="391" name="Text: Mitsui Chemicals"/>
          <p:cNvSpPr txBox="1"/>
          <p:nvPr/>
        </p:nvSpPr>
        <p:spPr>
          <a:xfrm>
            <a:off x="5613499" y="5781675"/>
            <a:ext cx="682972"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Mitsui Chemicals</a:t>
            </a:r>
          </a:p>
        </p:txBody>
      </p:sp>
      <p:sp>
        <p:nvSpPr>
          <p:cNvPr id="392" name="Rectangle 391"/>
          <p:cNvSpPr/>
          <p:nvPr/>
        </p:nvSpPr>
        <p:spPr>
          <a:xfrm>
            <a:off x="6386959" y="5753100"/>
            <a:ext cx="705892" cy="180975"/>
          </a:xfrm>
          <a:prstGeom prst="rect">
            <a:avLst/>
          </a:prstGeom>
          <a:solidFill>
            <a:srgbClr val="FFFFFF"/>
          </a:solidFill>
          <a:ln>
            <a:noFill/>
          </a:ln>
          <a:effectLst/>
        </p:spPr>
        <p:txBody>
          <a:bodyPr rtlCol="0" anchor="ctr"/>
          <a:lstStyle/>
          <a:p>
            <a:pPr algn="ctr"/>
            <a:endParaRPr/>
          </a:p>
        </p:txBody>
      </p:sp>
      <p:sp>
        <p:nvSpPr>
          <p:cNvPr id="393" name="Rectangle 392"/>
          <p:cNvSpPr/>
          <p:nvPr/>
        </p:nvSpPr>
        <p:spPr>
          <a:xfrm>
            <a:off x="6386959" y="5753100"/>
            <a:ext cx="705892" cy="9525"/>
          </a:xfrm>
          <a:prstGeom prst="rect">
            <a:avLst/>
          </a:prstGeom>
          <a:solidFill>
            <a:srgbClr val="E3DCD3"/>
          </a:solidFill>
          <a:ln>
            <a:noFill/>
          </a:ln>
          <a:effectLst/>
        </p:spPr>
        <p:txBody>
          <a:bodyPr rtlCol="0" anchor="ctr"/>
          <a:lstStyle/>
          <a:p>
            <a:pPr algn="ctr"/>
            <a:endParaRPr/>
          </a:p>
        </p:txBody>
      </p:sp>
      <p:sp>
        <p:nvSpPr>
          <p:cNvPr id="394" name="Rectangle 393"/>
          <p:cNvSpPr/>
          <p:nvPr/>
        </p:nvSpPr>
        <p:spPr>
          <a:xfrm>
            <a:off x="7083326" y="5753100"/>
            <a:ext cx="9525" cy="180975"/>
          </a:xfrm>
          <a:prstGeom prst="rect">
            <a:avLst/>
          </a:prstGeom>
          <a:solidFill>
            <a:srgbClr val="E3DCD3"/>
          </a:solidFill>
          <a:ln>
            <a:noFill/>
          </a:ln>
          <a:effectLst/>
        </p:spPr>
        <p:txBody>
          <a:bodyPr rtlCol="0" anchor="ctr"/>
          <a:lstStyle/>
          <a:p>
            <a:pPr algn="ctr"/>
            <a:endParaRPr/>
          </a:p>
        </p:txBody>
      </p:sp>
      <p:sp>
        <p:nvSpPr>
          <p:cNvPr id="395" name="Rectangle 394"/>
          <p:cNvSpPr/>
          <p:nvPr/>
        </p:nvSpPr>
        <p:spPr>
          <a:xfrm>
            <a:off x="6386959" y="5924550"/>
            <a:ext cx="705892" cy="9525"/>
          </a:xfrm>
          <a:prstGeom prst="rect">
            <a:avLst/>
          </a:prstGeom>
          <a:solidFill>
            <a:srgbClr val="E3DCD3"/>
          </a:solidFill>
          <a:ln>
            <a:noFill/>
          </a:ln>
          <a:effectLst/>
        </p:spPr>
        <p:txBody>
          <a:bodyPr rtlCol="0" anchor="ctr"/>
          <a:lstStyle/>
          <a:p>
            <a:pPr algn="ctr"/>
            <a:endParaRPr/>
          </a:p>
        </p:txBody>
      </p:sp>
      <p:sp>
        <p:nvSpPr>
          <p:cNvPr id="396" name="Rectangle 395"/>
          <p:cNvSpPr/>
          <p:nvPr/>
        </p:nvSpPr>
        <p:spPr>
          <a:xfrm>
            <a:off x="6386959" y="5753100"/>
            <a:ext cx="9525" cy="180975"/>
          </a:xfrm>
          <a:prstGeom prst="rect">
            <a:avLst/>
          </a:prstGeom>
          <a:solidFill>
            <a:srgbClr val="E3DCD3"/>
          </a:solidFill>
          <a:ln>
            <a:noFill/>
          </a:ln>
          <a:effectLst/>
        </p:spPr>
        <p:txBody>
          <a:bodyPr rtlCol="0" anchor="ctr"/>
          <a:lstStyle/>
          <a:p>
            <a:pPr algn="ctr"/>
            <a:endParaRPr/>
          </a:p>
        </p:txBody>
      </p:sp>
      <p:sp>
        <p:nvSpPr>
          <p:cNvPr id="397" name="Text: Aspen Surgical"/>
          <p:cNvSpPr txBox="1"/>
          <p:nvPr/>
        </p:nvSpPr>
        <p:spPr>
          <a:xfrm>
            <a:off x="6453634" y="5781675"/>
            <a:ext cx="58682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Aspen Surgical</a:t>
            </a:r>
          </a:p>
        </p:txBody>
      </p:sp>
      <p:sp>
        <p:nvSpPr>
          <p:cNvPr id="398" name="Rectangle 397"/>
          <p:cNvSpPr/>
          <p:nvPr/>
        </p:nvSpPr>
        <p:spPr>
          <a:xfrm>
            <a:off x="5219700" y="5972175"/>
            <a:ext cx="757386" cy="180975"/>
          </a:xfrm>
          <a:prstGeom prst="rect">
            <a:avLst/>
          </a:prstGeom>
          <a:solidFill>
            <a:srgbClr val="FFFFFF"/>
          </a:solidFill>
          <a:ln>
            <a:noFill/>
          </a:ln>
          <a:effectLst/>
        </p:spPr>
        <p:txBody>
          <a:bodyPr rtlCol="0" anchor="ctr"/>
          <a:lstStyle/>
          <a:p>
            <a:pPr algn="ctr"/>
            <a:endParaRPr/>
          </a:p>
        </p:txBody>
      </p:sp>
      <p:sp>
        <p:nvSpPr>
          <p:cNvPr id="399" name="Rectangle 398"/>
          <p:cNvSpPr/>
          <p:nvPr/>
        </p:nvSpPr>
        <p:spPr>
          <a:xfrm>
            <a:off x="5219700" y="5972175"/>
            <a:ext cx="757386" cy="9525"/>
          </a:xfrm>
          <a:prstGeom prst="rect">
            <a:avLst/>
          </a:prstGeom>
          <a:solidFill>
            <a:srgbClr val="E3DCD3"/>
          </a:solidFill>
          <a:ln>
            <a:noFill/>
          </a:ln>
          <a:effectLst/>
        </p:spPr>
        <p:txBody>
          <a:bodyPr rtlCol="0" anchor="ctr"/>
          <a:lstStyle/>
          <a:p>
            <a:pPr algn="ctr"/>
            <a:endParaRPr/>
          </a:p>
        </p:txBody>
      </p:sp>
      <p:sp>
        <p:nvSpPr>
          <p:cNvPr id="400" name="Rectangle 399"/>
          <p:cNvSpPr/>
          <p:nvPr/>
        </p:nvSpPr>
        <p:spPr>
          <a:xfrm>
            <a:off x="5967561" y="5972175"/>
            <a:ext cx="9525" cy="180975"/>
          </a:xfrm>
          <a:prstGeom prst="rect">
            <a:avLst/>
          </a:prstGeom>
          <a:solidFill>
            <a:srgbClr val="E3DCD3"/>
          </a:solidFill>
          <a:ln>
            <a:noFill/>
          </a:ln>
          <a:effectLst/>
        </p:spPr>
        <p:txBody>
          <a:bodyPr rtlCol="0" anchor="ctr"/>
          <a:lstStyle/>
          <a:p>
            <a:pPr algn="ctr"/>
            <a:endParaRPr/>
          </a:p>
        </p:txBody>
      </p:sp>
      <p:sp>
        <p:nvSpPr>
          <p:cNvPr id="401" name="Rectangle 400"/>
          <p:cNvSpPr/>
          <p:nvPr/>
        </p:nvSpPr>
        <p:spPr>
          <a:xfrm>
            <a:off x="5219700" y="6143625"/>
            <a:ext cx="757386" cy="9525"/>
          </a:xfrm>
          <a:prstGeom prst="rect">
            <a:avLst/>
          </a:prstGeom>
          <a:solidFill>
            <a:srgbClr val="E3DCD3"/>
          </a:solidFill>
          <a:ln>
            <a:noFill/>
          </a:ln>
          <a:effectLst/>
        </p:spPr>
        <p:txBody>
          <a:bodyPr rtlCol="0" anchor="ctr"/>
          <a:lstStyle/>
          <a:p>
            <a:pPr algn="ctr"/>
            <a:endParaRPr/>
          </a:p>
        </p:txBody>
      </p:sp>
      <p:sp>
        <p:nvSpPr>
          <p:cNvPr id="402" name="Rectangle 401"/>
          <p:cNvSpPr/>
          <p:nvPr/>
        </p:nvSpPr>
        <p:spPr>
          <a:xfrm>
            <a:off x="5219700" y="5972175"/>
            <a:ext cx="9525" cy="180975"/>
          </a:xfrm>
          <a:prstGeom prst="rect">
            <a:avLst/>
          </a:prstGeom>
          <a:solidFill>
            <a:srgbClr val="E3DCD3"/>
          </a:solidFill>
          <a:ln>
            <a:noFill/>
          </a:ln>
          <a:effectLst/>
        </p:spPr>
        <p:txBody>
          <a:bodyPr rtlCol="0" anchor="ctr"/>
          <a:lstStyle/>
          <a:p>
            <a:pPr algn="ctr"/>
            <a:endParaRPr/>
          </a:p>
        </p:txBody>
      </p:sp>
      <p:sp>
        <p:nvSpPr>
          <p:cNvPr id="403" name="Text: Platinum Equity"/>
          <p:cNvSpPr txBox="1"/>
          <p:nvPr/>
        </p:nvSpPr>
        <p:spPr>
          <a:xfrm>
            <a:off x="5286375" y="6000750"/>
            <a:ext cx="63832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Platinum Equity</a:t>
            </a:r>
          </a:p>
        </p:txBody>
      </p:sp>
      <p:sp>
        <p:nvSpPr>
          <p:cNvPr id="404" name="Rectangle 403"/>
          <p:cNvSpPr/>
          <p:nvPr/>
        </p:nvSpPr>
        <p:spPr>
          <a:xfrm>
            <a:off x="5219700" y="6191250"/>
            <a:ext cx="1370558" cy="180975"/>
          </a:xfrm>
          <a:prstGeom prst="rect">
            <a:avLst/>
          </a:prstGeom>
          <a:solidFill>
            <a:srgbClr val="FFFFFF"/>
          </a:solidFill>
          <a:ln>
            <a:noFill/>
          </a:ln>
          <a:effectLst/>
        </p:spPr>
        <p:txBody>
          <a:bodyPr rtlCol="0" anchor="ctr"/>
          <a:lstStyle/>
          <a:p>
            <a:pPr algn="ctr"/>
            <a:endParaRPr/>
          </a:p>
        </p:txBody>
      </p:sp>
      <p:sp>
        <p:nvSpPr>
          <p:cNvPr id="405" name="Rectangle 404"/>
          <p:cNvSpPr/>
          <p:nvPr/>
        </p:nvSpPr>
        <p:spPr>
          <a:xfrm>
            <a:off x="5219700" y="6191250"/>
            <a:ext cx="1370558" cy="9525"/>
          </a:xfrm>
          <a:prstGeom prst="rect">
            <a:avLst/>
          </a:prstGeom>
          <a:solidFill>
            <a:srgbClr val="E3DCD3"/>
          </a:solidFill>
          <a:ln>
            <a:noFill/>
          </a:ln>
          <a:effectLst/>
        </p:spPr>
        <p:txBody>
          <a:bodyPr rtlCol="0" anchor="ctr"/>
          <a:lstStyle/>
          <a:p>
            <a:pPr algn="ctr"/>
            <a:endParaRPr/>
          </a:p>
        </p:txBody>
      </p:sp>
      <p:sp>
        <p:nvSpPr>
          <p:cNvPr id="406" name="Rectangle 405"/>
          <p:cNvSpPr/>
          <p:nvPr/>
        </p:nvSpPr>
        <p:spPr>
          <a:xfrm>
            <a:off x="6580733" y="6191250"/>
            <a:ext cx="9525" cy="180975"/>
          </a:xfrm>
          <a:prstGeom prst="rect">
            <a:avLst/>
          </a:prstGeom>
          <a:solidFill>
            <a:srgbClr val="E3DCD3"/>
          </a:solidFill>
          <a:ln>
            <a:noFill/>
          </a:ln>
          <a:effectLst/>
        </p:spPr>
        <p:txBody>
          <a:bodyPr rtlCol="0" anchor="ctr"/>
          <a:lstStyle/>
          <a:p>
            <a:pPr algn="ctr"/>
            <a:endParaRPr/>
          </a:p>
        </p:txBody>
      </p:sp>
      <p:sp>
        <p:nvSpPr>
          <p:cNvPr id="407" name="Rectangle 406"/>
          <p:cNvSpPr/>
          <p:nvPr/>
        </p:nvSpPr>
        <p:spPr>
          <a:xfrm>
            <a:off x="5219700" y="6362700"/>
            <a:ext cx="1370558" cy="9525"/>
          </a:xfrm>
          <a:prstGeom prst="rect">
            <a:avLst/>
          </a:prstGeom>
          <a:solidFill>
            <a:srgbClr val="E3DCD3"/>
          </a:solidFill>
          <a:ln>
            <a:noFill/>
          </a:ln>
          <a:effectLst/>
        </p:spPr>
        <p:txBody>
          <a:bodyPr rtlCol="0" anchor="ctr"/>
          <a:lstStyle/>
          <a:p>
            <a:pPr algn="ctr"/>
            <a:endParaRPr/>
          </a:p>
        </p:txBody>
      </p:sp>
      <p:sp>
        <p:nvSpPr>
          <p:cNvPr id="408" name="Rectangle 407"/>
          <p:cNvSpPr/>
          <p:nvPr/>
        </p:nvSpPr>
        <p:spPr>
          <a:xfrm>
            <a:off x="5219700" y="6191250"/>
            <a:ext cx="9525" cy="180975"/>
          </a:xfrm>
          <a:prstGeom prst="rect">
            <a:avLst/>
          </a:prstGeom>
          <a:solidFill>
            <a:srgbClr val="E3DCD3"/>
          </a:solidFill>
          <a:ln>
            <a:noFill/>
          </a:ln>
          <a:effectLst/>
        </p:spPr>
        <p:txBody>
          <a:bodyPr rtlCol="0" anchor="ctr"/>
          <a:lstStyle/>
          <a:p>
            <a:pPr algn="ctr"/>
            <a:endParaRPr/>
          </a:p>
        </p:txBody>
      </p:sp>
      <p:sp>
        <p:nvSpPr>
          <p:cNvPr id="409" name="Text: Hanger (Patient Square Capital)"/>
          <p:cNvSpPr txBox="1"/>
          <p:nvPr/>
        </p:nvSpPr>
        <p:spPr>
          <a:xfrm>
            <a:off x="5286375" y="6219825"/>
            <a:ext cx="125149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Hanger (Patient Square Capital)</a:t>
            </a:r>
          </a:p>
        </p:txBody>
      </p:sp>
      <p:sp>
        <p:nvSpPr>
          <p:cNvPr id="410" name="Rectangle 409"/>
          <p:cNvSpPr/>
          <p:nvPr/>
        </p:nvSpPr>
        <p:spPr>
          <a:xfrm>
            <a:off x="6628358" y="6191250"/>
            <a:ext cx="389930" cy="180975"/>
          </a:xfrm>
          <a:prstGeom prst="rect">
            <a:avLst/>
          </a:prstGeom>
          <a:solidFill>
            <a:srgbClr val="FFFFFF"/>
          </a:solidFill>
          <a:ln>
            <a:noFill/>
          </a:ln>
          <a:effectLst/>
        </p:spPr>
        <p:txBody>
          <a:bodyPr rtlCol="0" anchor="ctr"/>
          <a:lstStyle/>
          <a:p>
            <a:pPr algn="ctr"/>
            <a:endParaRPr/>
          </a:p>
        </p:txBody>
      </p:sp>
      <p:sp>
        <p:nvSpPr>
          <p:cNvPr id="411" name="Rectangle 410"/>
          <p:cNvSpPr/>
          <p:nvPr/>
        </p:nvSpPr>
        <p:spPr>
          <a:xfrm>
            <a:off x="6628358" y="6191250"/>
            <a:ext cx="389930" cy="9525"/>
          </a:xfrm>
          <a:prstGeom prst="rect">
            <a:avLst/>
          </a:prstGeom>
          <a:solidFill>
            <a:srgbClr val="E3DCD3"/>
          </a:solidFill>
          <a:ln>
            <a:noFill/>
          </a:ln>
          <a:effectLst/>
        </p:spPr>
        <p:txBody>
          <a:bodyPr rtlCol="0" anchor="ctr"/>
          <a:lstStyle/>
          <a:p>
            <a:pPr algn="ctr"/>
            <a:endParaRPr/>
          </a:p>
        </p:txBody>
      </p:sp>
      <p:sp>
        <p:nvSpPr>
          <p:cNvPr id="412" name="Rectangle 411"/>
          <p:cNvSpPr/>
          <p:nvPr/>
        </p:nvSpPr>
        <p:spPr>
          <a:xfrm>
            <a:off x="7008763" y="6191250"/>
            <a:ext cx="9525" cy="180975"/>
          </a:xfrm>
          <a:prstGeom prst="rect">
            <a:avLst/>
          </a:prstGeom>
          <a:solidFill>
            <a:srgbClr val="E3DCD3"/>
          </a:solidFill>
          <a:ln>
            <a:noFill/>
          </a:ln>
          <a:effectLst/>
        </p:spPr>
        <p:txBody>
          <a:bodyPr rtlCol="0" anchor="ctr"/>
          <a:lstStyle/>
          <a:p>
            <a:pPr algn="ctr"/>
            <a:endParaRPr/>
          </a:p>
        </p:txBody>
      </p:sp>
      <p:sp>
        <p:nvSpPr>
          <p:cNvPr id="413" name="Rectangle 412"/>
          <p:cNvSpPr/>
          <p:nvPr/>
        </p:nvSpPr>
        <p:spPr>
          <a:xfrm>
            <a:off x="6628358" y="6362700"/>
            <a:ext cx="389930" cy="9525"/>
          </a:xfrm>
          <a:prstGeom prst="rect">
            <a:avLst/>
          </a:prstGeom>
          <a:solidFill>
            <a:srgbClr val="E3DCD3"/>
          </a:solidFill>
          <a:ln>
            <a:noFill/>
          </a:ln>
          <a:effectLst/>
        </p:spPr>
        <p:txBody>
          <a:bodyPr rtlCol="0" anchor="ctr"/>
          <a:lstStyle/>
          <a:p>
            <a:pPr algn="ctr"/>
            <a:endParaRPr/>
          </a:p>
        </p:txBody>
      </p:sp>
      <p:sp>
        <p:nvSpPr>
          <p:cNvPr id="414" name="Rectangle 413"/>
          <p:cNvSpPr/>
          <p:nvPr/>
        </p:nvSpPr>
        <p:spPr>
          <a:xfrm>
            <a:off x="6628358" y="6191250"/>
            <a:ext cx="9525" cy="180975"/>
          </a:xfrm>
          <a:prstGeom prst="rect">
            <a:avLst/>
          </a:prstGeom>
          <a:solidFill>
            <a:srgbClr val="E3DCD3"/>
          </a:solidFill>
          <a:ln>
            <a:noFill/>
          </a:ln>
          <a:effectLst/>
        </p:spPr>
        <p:txBody>
          <a:bodyPr rtlCol="0" anchor="ctr"/>
          <a:lstStyle/>
          <a:p>
            <a:pPr algn="ctr"/>
            <a:endParaRPr/>
          </a:p>
        </p:txBody>
      </p:sp>
      <p:sp>
        <p:nvSpPr>
          <p:cNvPr id="415" name="Text: Apollo"/>
          <p:cNvSpPr txBox="1"/>
          <p:nvPr/>
        </p:nvSpPr>
        <p:spPr>
          <a:xfrm>
            <a:off x="6695033" y="6219825"/>
            <a:ext cx="27086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Apollo</a:t>
            </a:r>
          </a:p>
        </p:txBody>
      </p:sp>
      <p:sp>
        <p:nvSpPr>
          <p:cNvPr id="416" name="Rectangle 415"/>
          <p:cNvSpPr/>
          <p:nvPr/>
        </p:nvSpPr>
        <p:spPr>
          <a:xfrm>
            <a:off x="5219700" y="6410325"/>
            <a:ext cx="458539" cy="180975"/>
          </a:xfrm>
          <a:prstGeom prst="rect">
            <a:avLst/>
          </a:prstGeom>
          <a:solidFill>
            <a:srgbClr val="FFFFFF"/>
          </a:solidFill>
          <a:ln>
            <a:noFill/>
          </a:ln>
          <a:effectLst/>
        </p:spPr>
        <p:txBody>
          <a:bodyPr rtlCol="0" anchor="ctr"/>
          <a:lstStyle/>
          <a:p>
            <a:pPr algn="ctr"/>
            <a:endParaRPr/>
          </a:p>
        </p:txBody>
      </p:sp>
      <p:sp>
        <p:nvSpPr>
          <p:cNvPr id="417" name="Rectangle 416"/>
          <p:cNvSpPr/>
          <p:nvPr/>
        </p:nvSpPr>
        <p:spPr>
          <a:xfrm>
            <a:off x="5219700" y="6410325"/>
            <a:ext cx="458539" cy="9525"/>
          </a:xfrm>
          <a:prstGeom prst="rect">
            <a:avLst/>
          </a:prstGeom>
          <a:solidFill>
            <a:srgbClr val="E3DCD3"/>
          </a:solidFill>
          <a:ln>
            <a:noFill/>
          </a:ln>
          <a:effectLst/>
        </p:spPr>
        <p:txBody>
          <a:bodyPr rtlCol="0" anchor="ctr"/>
          <a:lstStyle/>
          <a:p>
            <a:pPr algn="ctr"/>
            <a:endParaRPr/>
          </a:p>
        </p:txBody>
      </p:sp>
      <p:sp>
        <p:nvSpPr>
          <p:cNvPr id="418" name="Rectangle 417"/>
          <p:cNvSpPr/>
          <p:nvPr/>
        </p:nvSpPr>
        <p:spPr>
          <a:xfrm>
            <a:off x="5668714" y="6410325"/>
            <a:ext cx="9525" cy="180975"/>
          </a:xfrm>
          <a:prstGeom prst="rect">
            <a:avLst/>
          </a:prstGeom>
          <a:solidFill>
            <a:srgbClr val="E3DCD3"/>
          </a:solidFill>
          <a:ln>
            <a:noFill/>
          </a:ln>
          <a:effectLst/>
        </p:spPr>
        <p:txBody>
          <a:bodyPr rtlCol="0" anchor="ctr"/>
          <a:lstStyle/>
          <a:p>
            <a:pPr algn="ctr"/>
            <a:endParaRPr/>
          </a:p>
        </p:txBody>
      </p:sp>
      <p:sp>
        <p:nvSpPr>
          <p:cNvPr id="419" name="Rectangle 418"/>
          <p:cNvSpPr/>
          <p:nvPr/>
        </p:nvSpPr>
        <p:spPr>
          <a:xfrm>
            <a:off x="5219700" y="6581775"/>
            <a:ext cx="458539" cy="9525"/>
          </a:xfrm>
          <a:prstGeom prst="rect">
            <a:avLst/>
          </a:prstGeom>
          <a:solidFill>
            <a:srgbClr val="E3DCD3"/>
          </a:solidFill>
          <a:ln>
            <a:noFill/>
          </a:ln>
          <a:effectLst/>
        </p:spPr>
        <p:txBody>
          <a:bodyPr rtlCol="0" anchor="ctr"/>
          <a:lstStyle/>
          <a:p>
            <a:pPr algn="ctr"/>
            <a:endParaRPr/>
          </a:p>
        </p:txBody>
      </p:sp>
      <p:sp>
        <p:nvSpPr>
          <p:cNvPr id="420" name="Rectangle 419"/>
          <p:cNvSpPr/>
          <p:nvPr/>
        </p:nvSpPr>
        <p:spPr>
          <a:xfrm>
            <a:off x="5219700" y="6410325"/>
            <a:ext cx="9525" cy="180975"/>
          </a:xfrm>
          <a:prstGeom prst="rect">
            <a:avLst/>
          </a:prstGeom>
          <a:solidFill>
            <a:srgbClr val="E3DCD3"/>
          </a:solidFill>
          <a:ln>
            <a:noFill/>
          </a:ln>
          <a:effectLst/>
        </p:spPr>
        <p:txBody>
          <a:bodyPr rtlCol="0" anchor="ctr"/>
          <a:lstStyle/>
          <a:p>
            <a:pPr algn="ctr"/>
            <a:endParaRPr/>
          </a:p>
        </p:txBody>
      </p:sp>
      <p:sp>
        <p:nvSpPr>
          <p:cNvPr id="421" name="Text: Medline"/>
          <p:cNvSpPr txBox="1"/>
          <p:nvPr/>
        </p:nvSpPr>
        <p:spPr>
          <a:xfrm>
            <a:off x="5286375" y="6438900"/>
            <a:ext cx="339477"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Medline</a:t>
            </a:r>
          </a:p>
        </p:txBody>
      </p:sp>
      <p:sp>
        <p:nvSpPr>
          <p:cNvPr id="422" name="Rectangle 421"/>
          <p:cNvSpPr/>
          <p:nvPr/>
        </p:nvSpPr>
        <p:spPr>
          <a:xfrm>
            <a:off x="5716339" y="6410325"/>
            <a:ext cx="621953" cy="180975"/>
          </a:xfrm>
          <a:prstGeom prst="rect">
            <a:avLst/>
          </a:prstGeom>
          <a:solidFill>
            <a:srgbClr val="FFFFFF"/>
          </a:solidFill>
          <a:ln>
            <a:noFill/>
          </a:ln>
          <a:effectLst/>
        </p:spPr>
        <p:txBody>
          <a:bodyPr rtlCol="0" anchor="ctr"/>
          <a:lstStyle/>
          <a:p>
            <a:pPr algn="ctr"/>
            <a:endParaRPr/>
          </a:p>
        </p:txBody>
      </p:sp>
      <p:sp>
        <p:nvSpPr>
          <p:cNvPr id="423" name="Rectangle 422"/>
          <p:cNvSpPr/>
          <p:nvPr/>
        </p:nvSpPr>
        <p:spPr>
          <a:xfrm>
            <a:off x="5716339" y="6410325"/>
            <a:ext cx="621953" cy="9525"/>
          </a:xfrm>
          <a:prstGeom prst="rect">
            <a:avLst/>
          </a:prstGeom>
          <a:solidFill>
            <a:srgbClr val="E3DCD3"/>
          </a:solidFill>
          <a:ln>
            <a:noFill/>
          </a:ln>
          <a:effectLst/>
        </p:spPr>
        <p:txBody>
          <a:bodyPr rtlCol="0" anchor="ctr"/>
          <a:lstStyle/>
          <a:p>
            <a:pPr algn="ctr"/>
            <a:endParaRPr/>
          </a:p>
        </p:txBody>
      </p:sp>
      <p:sp>
        <p:nvSpPr>
          <p:cNvPr id="424" name="Rectangle 423"/>
          <p:cNvSpPr/>
          <p:nvPr/>
        </p:nvSpPr>
        <p:spPr>
          <a:xfrm>
            <a:off x="6328767" y="6410325"/>
            <a:ext cx="9525" cy="180975"/>
          </a:xfrm>
          <a:prstGeom prst="rect">
            <a:avLst/>
          </a:prstGeom>
          <a:solidFill>
            <a:srgbClr val="E3DCD3"/>
          </a:solidFill>
          <a:ln>
            <a:noFill/>
          </a:ln>
          <a:effectLst/>
        </p:spPr>
        <p:txBody>
          <a:bodyPr rtlCol="0" anchor="ctr"/>
          <a:lstStyle/>
          <a:p>
            <a:pPr algn="ctr"/>
            <a:endParaRPr/>
          </a:p>
        </p:txBody>
      </p:sp>
      <p:sp>
        <p:nvSpPr>
          <p:cNvPr id="425" name="Rectangle 424"/>
          <p:cNvSpPr/>
          <p:nvPr/>
        </p:nvSpPr>
        <p:spPr>
          <a:xfrm>
            <a:off x="5716339" y="6581775"/>
            <a:ext cx="621953" cy="9525"/>
          </a:xfrm>
          <a:prstGeom prst="rect">
            <a:avLst/>
          </a:prstGeom>
          <a:solidFill>
            <a:srgbClr val="E3DCD3"/>
          </a:solidFill>
          <a:ln>
            <a:noFill/>
          </a:ln>
          <a:effectLst/>
        </p:spPr>
        <p:txBody>
          <a:bodyPr rtlCol="0" anchor="ctr"/>
          <a:lstStyle/>
          <a:p>
            <a:pPr algn="ctr"/>
            <a:endParaRPr/>
          </a:p>
        </p:txBody>
      </p:sp>
      <p:sp>
        <p:nvSpPr>
          <p:cNvPr id="426" name="Rectangle 425"/>
          <p:cNvSpPr/>
          <p:nvPr/>
        </p:nvSpPr>
        <p:spPr>
          <a:xfrm>
            <a:off x="5716339" y="6410325"/>
            <a:ext cx="9525" cy="180975"/>
          </a:xfrm>
          <a:prstGeom prst="rect">
            <a:avLst/>
          </a:prstGeom>
          <a:solidFill>
            <a:srgbClr val="E3DCD3"/>
          </a:solidFill>
          <a:ln>
            <a:noFill/>
          </a:ln>
          <a:effectLst/>
        </p:spPr>
        <p:txBody>
          <a:bodyPr rtlCol="0" anchor="ctr"/>
          <a:lstStyle/>
          <a:p>
            <a:pPr algn="ctr"/>
            <a:endParaRPr/>
          </a:p>
        </p:txBody>
      </p:sp>
      <p:sp>
        <p:nvSpPr>
          <p:cNvPr id="427" name="Text: Intersurgical"/>
          <p:cNvSpPr txBox="1"/>
          <p:nvPr/>
        </p:nvSpPr>
        <p:spPr>
          <a:xfrm>
            <a:off x="5783014" y="6438900"/>
            <a:ext cx="502890"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Intersurgical</a:t>
            </a:r>
          </a:p>
        </p:txBody>
      </p:sp>
      <p:sp>
        <p:nvSpPr>
          <p:cNvPr id="428" name="Rectangle 427"/>
          <p:cNvSpPr/>
          <p:nvPr/>
        </p:nvSpPr>
        <p:spPr>
          <a:xfrm>
            <a:off x="5219700" y="6629400"/>
            <a:ext cx="1031825" cy="180975"/>
          </a:xfrm>
          <a:prstGeom prst="rect">
            <a:avLst/>
          </a:prstGeom>
          <a:solidFill>
            <a:srgbClr val="FFFFFF"/>
          </a:solidFill>
          <a:ln>
            <a:noFill/>
          </a:ln>
          <a:effectLst/>
        </p:spPr>
        <p:txBody>
          <a:bodyPr rtlCol="0" anchor="ctr"/>
          <a:lstStyle/>
          <a:p>
            <a:pPr algn="ctr"/>
            <a:endParaRPr/>
          </a:p>
        </p:txBody>
      </p:sp>
      <p:sp>
        <p:nvSpPr>
          <p:cNvPr id="429" name="Rectangle 428"/>
          <p:cNvSpPr/>
          <p:nvPr/>
        </p:nvSpPr>
        <p:spPr>
          <a:xfrm>
            <a:off x="5219700" y="6629400"/>
            <a:ext cx="1031825" cy="9525"/>
          </a:xfrm>
          <a:prstGeom prst="rect">
            <a:avLst/>
          </a:prstGeom>
          <a:solidFill>
            <a:srgbClr val="E3DCD3"/>
          </a:solidFill>
          <a:ln>
            <a:noFill/>
          </a:ln>
          <a:effectLst/>
        </p:spPr>
        <p:txBody>
          <a:bodyPr rtlCol="0" anchor="ctr"/>
          <a:lstStyle/>
          <a:p>
            <a:pPr algn="ctr"/>
            <a:endParaRPr/>
          </a:p>
        </p:txBody>
      </p:sp>
      <p:sp>
        <p:nvSpPr>
          <p:cNvPr id="430" name="Rectangle 429"/>
          <p:cNvSpPr/>
          <p:nvPr/>
        </p:nvSpPr>
        <p:spPr>
          <a:xfrm>
            <a:off x="6242000" y="6629400"/>
            <a:ext cx="9525" cy="180975"/>
          </a:xfrm>
          <a:prstGeom prst="rect">
            <a:avLst/>
          </a:prstGeom>
          <a:solidFill>
            <a:srgbClr val="E3DCD3"/>
          </a:solidFill>
          <a:ln>
            <a:noFill/>
          </a:ln>
          <a:effectLst/>
        </p:spPr>
        <p:txBody>
          <a:bodyPr rtlCol="0" anchor="ctr"/>
          <a:lstStyle/>
          <a:p>
            <a:pPr algn="ctr"/>
            <a:endParaRPr/>
          </a:p>
        </p:txBody>
      </p:sp>
      <p:sp>
        <p:nvSpPr>
          <p:cNvPr id="431" name="Rectangle 430"/>
          <p:cNvSpPr/>
          <p:nvPr/>
        </p:nvSpPr>
        <p:spPr>
          <a:xfrm>
            <a:off x="5219700" y="6800850"/>
            <a:ext cx="1031825" cy="9525"/>
          </a:xfrm>
          <a:prstGeom prst="rect">
            <a:avLst/>
          </a:prstGeom>
          <a:solidFill>
            <a:srgbClr val="E3DCD3"/>
          </a:solidFill>
          <a:ln>
            <a:noFill/>
          </a:ln>
          <a:effectLst/>
        </p:spPr>
        <p:txBody>
          <a:bodyPr rtlCol="0" anchor="ctr"/>
          <a:lstStyle/>
          <a:p>
            <a:pPr algn="ctr"/>
            <a:endParaRPr/>
          </a:p>
        </p:txBody>
      </p:sp>
      <p:sp>
        <p:nvSpPr>
          <p:cNvPr id="432" name="Rectangle 431"/>
          <p:cNvSpPr/>
          <p:nvPr/>
        </p:nvSpPr>
        <p:spPr>
          <a:xfrm>
            <a:off x="5219700" y="6629400"/>
            <a:ext cx="9525" cy="180975"/>
          </a:xfrm>
          <a:prstGeom prst="rect">
            <a:avLst/>
          </a:prstGeom>
          <a:solidFill>
            <a:srgbClr val="E3DCD3"/>
          </a:solidFill>
          <a:ln>
            <a:noFill/>
          </a:ln>
          <a:effectLst/>
        </p:spPr>
        <p:txBody>
          <a:bodyPr rtlCol="0" anchor="ctr"/>
          <a:lstStyle/>
          <a:p>
            <a:pPr algn="ctr"/>
            <a:endParaRPr/>
          </a:p>
        </p:txBody>
      </p:sp>
      <p:sp>
        <p:nvSpPr>
          <p:cNvPr id="433" name="Text: Montagu and Kohlberg"/>
          <p:cNvSpPr txBox="1"/>
          <p:nvPr/>
        </p:nvSpPr>
        <p:spPr>
          <a:xfrm>
            <a:off x="5286375" y="6657975"/>
            <a:ext cx="91276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Montagu and Kohlberg</a:t>
            </a:r>
          </a:p>
        </p:txBody>
      </p:sp>
      <p:sp>
        <p:nvSpPr>
          <p:cNvPr id="434" name="Rectangle 433"/>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Rectangle 434"/>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Rectangle 435"/>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Rectangle 436"/>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Rectangle 437"/>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Rectangle 438"/>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39" descr="v2eb07db01aa2.png"/>
          <p:cNvPicPr>
            <a:picLocks noChangeAspect="1"/>
          </p:cNvPicPr>
          <p:nvPr/>
        </p:nvPicPr>
        <p:blipFill>
          <a:blip r:embed="rId35"/>
          <a:stretch>
            <a:fillRect/>
          </a:stretch>
        </p:blipFill>
        <p:spPr>
          <a:xfrm>
            <a:off x="7558088" y="1333500"/>
            <a:ext cx="247650" cy="247650"/>
          </a:xfrm>
          <a:prstGeom prst="rect">
            <a:avLst/>
          </a:prstGeom>
        </p:spPr>
      </p:pic>
      <p:sp>
        <p:nvSpPr>
          <p:cNvPr id="441" name="Text: PHARMACY &amp; HEALTHCARE SERVICES"/>
          <p:cNvSpPr txBox="1"/>
          <p:nvPr/>
        </p:nvSpPr>
        <p:spPr>
          <a:xfrm>
            <a:off x="7900988" y="1333500"/>
            <a:ext cx="1628775" cy="247650"/>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PHARMACY &amp; HEALTHCARE SERVICES</a:t>
            </a:r>
          </a:p>
        </p:txBody>
      </p:sp>
      <p:sp>
        <p:nvSpPr>
          <p:cNvPr id="442" name="Text: LISTED COMPANIES"/>
          <p:cNvSpPr txBox="1"/>
          <p:nvPr/>
        </p:nvSpPr>
        <p:spPr>
          <a:xfrm>
            <a:off x="7558088" y="1771650"/>
            <a:ext cx="1971675"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LISTED COMPANIES</a:t>
            </a:r>
          </a:p>
        </p:txBody>
      </p:sp>
      <p:sp>
        <p:nvSpPr>
          <p:cNvPr id="443" name="Rectangle 442"/>
          <p:cNvSpPr/>
          <p:nvPr/>
        </p:nvSpPr>
        <p:spPr>
          <a:xfrm>
            <a:off x="7558088" y="1952625"/>
            <a:ext cx="1957388" cy="228600"/>
          </a:xfrm>
          <a:prstGeom prst="rect">
            <a:avLst/>
          </a:prstGeom>
          <a:solidFill>
            <a:srgbClr val="FFFFFF"/>
          </a:solidFill>
          <a:ln>
            <a:noFill/>
          </a:ln>
          <a:effectLst/>
        </p:spPr>
        <p:txBody>
          <a:bodyPr rtlCol="0" anchor="ctr"/>
          <a:lstStyle/>
          <a:p>
            <a:pPr algn="ctr"/>
            <a:endParaRPr/>
          </a:p>
        </p:txBody>
      </p:sp>
      <p:sp>
        <p:nvSpPr>
          <p:cNvPr id="444" name="Rectangle 443"/>
          <p:cNvSpPr/>
          <p:nvPr/>
        </p:nvSpPr>
        <p:spPr>
          <a:xfrm>
            <a:off x="7558088" y="1952625"/>
            <a:ext cx="1957388" cy="9525"/>
          </a:xfrm>
          <a:prstGeom prst="rect">
            <a:avLst/>
          </a:prstGeom>
          <a:solidFill>
            <a:srgbClr val="E3DCD3"/>
          </a:solidFill>
          <a:ln>
            <a:noFill/>
          </a:ln>
          <a:effectLst/>
        </p:spPr>
        <p:txBody>
          <a:bodyPr rtlCol="0" anchor="ctr"/>
          <a:lstStyle/>
          <a:p>
            <a:pPr algn="ctr"/>
            <a:endParaRPr/>
          </a:p>
        </p:txBody>
      </p:sp>
      <p:sp>
        <p:nvSpPr>
          <p:cNvPr id="445" name="Rectangle 444"/>
          <p:cNvSpPr/>
          <p:nvPr/>
        </p:nvSpPr>
        <p:spPr>
          <a:xfrm>
            <a:off x="9505950" y="1952625"/>
            <a:ext cx="9525" cy="228600"/>
          </a:xfrm>
          <a:prstGeom prst="rect">
            <a:avLst/>
          </a:prstGeom>
          <a:solidFill>
            <a:srgbClr val="E3DCD3"/>
          </a:solidFill>
          <a:ln>
            <a:noFill/>
          </a:ln>
          <a:effectLst/>
        </p:spPr>
        <p:txBody>
          <a:bodyPr rtlCol="0" anchor="ctr"/>
          <a:lstStyle/>
          <a:p>
            <a:pPr algn="ctr"/>
            <a:endParaRPr/>
          </a:p>
        </p:txBody>
      </p:sp>
      <p:sp>
        <p:nvSpPr>
          <p:cNvPr id="446" name="Rectangle 445"/>
          <p:cNvSpPr/>
          <p:nvPr/>
        </p:nvSpPr>
        <p:spPr>
          <a:xfrm>
            <a:off x="7558088" y="2171700"/>
            <a:ext cx="1957388" cy="9525"/>
          </a:xfrm>
          <a:prstGeom prst="rect">
            <a:avLst/>
          </a:prstGeom>
          <a:solidFill>
            <a:srgbClr val="E3DCD3"/>
          </a:solidFill>
          <a:ln>
            <a:noFill/>
          </a:ln>
          <a:effectLst/>
        </p:spPr>
        <p:txBody>
          <a:bodyPr rtlCol="0" anchor="ctr"/>
          <a:lstStyle/>
          <a:p>
            <a:pPr algn="ctr"/>
            <a:endParaRPr/>
          </a:p>
        </p:txBody>
      </p:sp>
      <p:sp>
        <p:nvSpPr>
          <p:cNvPr id="447" name="Rectangle 446"/>
          <p:cNvSpPr/>
          <p:nvPr/>
        </p:nvSpPr>
        <p:spPr>
          <a:xfrm>
            <a:off x="7558088" y="1952625"/>
            <a:ext cx="9525" cy="228600"/>
          </a:xfrm>
          <a:prstGeom prst="rect">
            <a:avLst/>
          </a:prstGeom>
          <a:solidFill>
            <a:srgbClr val="E3DCD3"/>
          </a:solidFill>
          <a:ln>
            <a:noFill/>
          </a:ln>
          <a:effectLst/>
        </p:spPr>
        <p:txBody>
          <a:bodyPr rtlCol="0" anchor="ctr"/>
          <a:lstStyle/>
          <a:p>
            <a:pPr algn="ctr"/>
            <a:endParaRPr/>
          </a:p>
        </p:txBody>
      </p:sp>
      <p:sp>
        <p:nvSpPr>
          <p:cNvPr id="448" name="Rounded Rectangle 447"/>
          <p:cNvSpPr/>
          <p:nvPr/>
        </p:nvSpPr>
        <p:spPr>
          <a:xfrm>
            <a:off x="7577138" y="1971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49" name="Text: OPCH">
            <a:hlinkClick r:id="rId36"/>
          </p:cNvPr>
          <p:cNvSpPr txBox="1"/>
          <p:nvPr/>
        </p:nvSpPr>
        <p:spPr>
          <a:xfrm>
            <a:off x="7577138" y="1971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OPCH</a:t>
            </a:r>
          </a:p>
        </p:txBody>
      </p:sp>
      <p:sp>
        <p:nvSpPr>
          <p:cNvPr id="450" name="Text: Option Care Health">
            <a:hlinkClick r:id="rId36"/>
          </p:cNvPr>
          <p:cNvSpPr txBox="1"/>
          <p:nvPr/>
        </p:nvSpPr>
        <p:spPr>
          <a:xfrm>
            <a:off x="8005762" y="2002631"/>
            <a:ext cx="80635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Option Care Health</a:t>
            </a:r>
          </a:p>
        </p:txBody>
      </p:sp>
      <p:sp>
        <p:nvSpPr>
          <p:cNvPr id="451" name="Rectangle 450"/>
          <p:cNvSpPr/>
          <p:nvPr/>
        </p:nvSpPr>
        <p:spPr>
          <a:xfrm>
            <a:off x="7558088" y="2200275"/>
            <a:ext cx="1957388" cy="228600"/>
          </a:xfrm>
          <a:prstGeom prst="rect">
            <a:avLst/>
          </a:prstGeom>
          <a:solidFill>
            <a:srgbClr val="FFFFFF"/>
          </a:solidFill>
          <a:ln>
            <a:noFill/>
          </a:ln>
          <a:effectLst/>
        </p:spPr>
        <p:txBody>
          <a:bodyPr rtlCol="0" anchor="ctr"/>
          <a:lstStyle/>
          <a:p>
            <a:pPr algn="ctr"/>
            <a:endParaRPr/>
          </a:p>
        </p:txBody>
      </p:sp>
      <p:sp>
        <p:nvSpPr>
          <p:cNvPr id="452" name="Rectangle 451"/>
          <p:cNvSpPr/>
          <p:nvPr/>
        </p:nvSpPr>
        <p:spPr>
          <a:xfrm>
            <a:off x="7558088" y="2200275"/>
            <a:ext cx="1957388" cy="9525"/>
          </a:xfrm>
          <a:prstGeom prst="rect">
            <a:avLst/>
          </a:prstGeom>
          <a:solidFill>
            <a:srgbClr val="E3DCD3"/>
          </a:solidFill>
          <a:ln>
            <a:noFill/>
          </a:ln>
          <a:effectLst/>
        </p:spPr>
        <p:txBody>
          <a:bodyPr rtlCol="0" anchor="ctr"/>
          <a:lstStyle/>
          <a:p>
            <a:pPr algn="ctr"/>
            <a:endParaRPr/>
          </a:p>
        </p:txBody>
      </p:sp>
      <p:sp>
        <p:nvSpPr>
          <p:cNvPr id="453" name="Rectangle 452"/>
          <p:cNvSpPr/>
          <p:nvPr/>
        </p:nvSpPr>
        <p:spPr>
          <a:xfrm>
            <a:off x="9505950" y="2200275"/>
            <a:ext cx="9525" cy="228600"/>
          </a:xfrm>
          <a:prstGeom prst="rect">
            <a:avLst/>
          </a:prstGeom>
          <a:solidFill>
            <a:srgbClr val="E3DCD3"/>
          </a:solidFill>
          <a:ln>
            <a:noFill/>
          </a:ln>
          <a:effectLst/>
        </p:spPr>
        <p:txBody>
          <a:bodyPr rtlCol="0" anchor="ctr"/>
          <a:lstStyle/>
          <a:p>
            <a:pPr algn="ctr"/>
            <a:endParaRPr/>
          </a:p>
        </p:txBody>
      </p:sp>
      <p:sp>
        <p:nvSpPr>
          <p:cNvPr id="454" name="Rectangle 453"/>
          <p:cNvSpPr/>
          <p:nvPr/>
        </p:nvSpPr>
        <p:spPr>
          <a:xfrm>
            <a:off x="7558088" y="2419350"/>
            <a:ext cx="1957388" cy="9525"/>
          </a:xfrm>
          <a:prstGeom prst="rect">
            <a:avLst/>
          </a:prstGeom>
          <a:solidFill>
            <a:srgbClr val="E3DCD3"/>
          </a:solidFill>
          <a:ln>
            <a:noFill/>
          </a:ln>
          <a:effectLst/>
        </p:spPr>
        <p:txBody>
          <a:bodyPr rtlCol="0" anchor="ctr"/>
          <a:lstStyle/>
          <a:p>
            <a:pPr algn="ctr"/>
            <a:endParaRPr/>
          </a:p>
        </p:txBody>
      </p:sp>
      <p:sp>
        <p:nvSpPr>
          <p:cNvPr id="455" name="Rectangle 454"/>
          <p:cNvSpPr/>
          <p:nvPr/>
        </p:nvSpPr>
        <p:spPr>
          <a:xfrm>
            <a:off x="7558088" y="2200275"/>
            <a:ext cx="9525" cy="228600"/>
          </a:xfrm>
          <a:prstGeom prst="rect">
            <a:avLst/>
          </a:prstGeom>
          <a:solidFill>
            <a:srgbClr val="E3DCD3"/>
          </a:solidFill>
          <a:ln>
            <a:noFill/>
          </a:ln>
          <a:effectLst/>
        </p:spPr>
        <p:txBody>
          <a:bodyPr rtlCol="0" anchor="ctr"/>
          <a:lstStyle/>
          <a:p>
            <a:pPr algn="ctr"/>
            <a:endParaRPr/>
          </a:p>
        </p:txBody>
      </p:sp>
      <p:sp>
        <p:nvSpPr>
          <p:cNvPr id="456" name="Rounded Rectangle 455"/>
          <p:cNvSpPr/>
          <p:nvPr/>
        </p:nvSpPr>
        <p:spPr>
          <a:xfrm>
            <a:off x="7577138" y="2219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57" name="Text: BTSG">
            <a:hlinkClick r:id="rId37"/>
          </p:cNvPr>
          <p:cNvSpPr txBox="1"/>
          <p:nvPr/>
        </p:nvSpPr>
        <p:spPr>
          <a:xfrm>
            <a:off x="7577138" y="2219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458" name="Text: BrightSpring">
            <a:hlinkClick r:id="rId37"/>
          </p:cNvPr>
          <p:cNvSpPr txBox="1"/>
          <p:nvPr/>
        </p:nvSpPr>
        <p:spPr>
          <a:xfrm>
            <a:off x="8005762" y="2250281"/>
            <a:ext cx="52595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BrightSpring</a:t>
            </a:r>
          </a:p>
        </p:txBody>
      </p:sp>
      <p:sp>
        <p:nvSpPr>
          <p:cNvPr id="459" name="Rectangle 458"/>
          <p:cNvSpPr/>
          <p:nvPr/>
        </p:nvSpPr>
        <p:spPr>
          <a:xfrm>
            <a:off x="7558088" y="2447925"/>
            <a:ext cx="1957388" cy="228600"/>
          </a:xfrm>
          <a:prstGeom prst="rect">
            <a:avLst/>
          </a:prstGeom>
          <a:solidFill>
            <a:srgbClr val="FFFFFF"/>
          </a:solidFill>
          <a:ln>
            <a:noFill/>
          </a:ln>
          <a:effectLst/>
        </p:spPr>
        <p:txBody>
          <a:bodyPr rtlCol="0" anchor="ctr"/>
          <a:lstStyle/>
          <a:p>
            <a:pPr algn="ctr"/>
            <a:endParaRPr/>
          </a:p>
        </p:txBody>
      </p:sp>
      <p:sp>
        <p:nvSpPr>
          <p:cNvPr id="460" name="Rectangle 459"/>
          <p:cNvSpPr/>
          <p:nvPr/>
        </p:nvSpPr>
        <p:spPr>
          <a:xfrm>
            <a:off x="7558088" y="2447925"/>
            <a:ext cx="1957388" cy="9525"/>
          </a:xfrm>
          <a:prstGeom prst="rect">
            <a:avLst/>
          </a:prstGeom>
          <a:solidFill>
            <a:srgbClr val="E3DCD3"/>
          </a:solidFill>
          <a:ln>
            <a:noFill/>
          </a:ln>
          <a:effectLst/>
        </p:spPr>
        <p:txBody>
          <a:bodyPr rtlCol="0" anchor="ctr"/>
          <a:lstStyle/>
          <a:p>
            <a:pPr algn="ctr"/>
            <a:endParaRPr/>
          </a:p>
        </p:txBody>
      </p:sp>
      <p:sp>
        <p:nvSpPr>
          <p:cNvPr id="461" name="Rectangle 460"/>
          <p:cNvSpPr/>
          <p:nvPr/>
        </p:nvSpPr>
        <p:spPr>
          <a:xfrm>
            <a:off x="9505950" y="2447925"/>
            <a:ext cx="9525" cy="228600"/>
          </a:xfrm>
          <a:prstGeom prst="rect">
            <a:avLst/>
          </a:prstGeom>
          <a:solidFill>
            <a:srgbClr val="E3DCD3"/>
          </a:solidFill>
          <a:ln>
            <a:noFill/>
          </a:ln>
          <a:effectLst/>
        </p:spPr>
        <p:txBody>
          <a:bodyPr rtlCol="0" anchor="ctr"/>
          <a:lstStyle/>
          <a:p>
            <a:pPr algn="ctr"/>
            <a:endParaRPr/>
          </a:p>
        </p:txBody>
      </p:sp>
      <p:sp>
        <p:nvSpPr>
          <p:cNvPr id="462" name="Rectangle 461"/>
          <p:cNvSpPr/>
          <p:nvPr/>
        </p:nvSpPr>
        <p:spPr>
          <a:xfrm>
            <a:off x="7558088" y="2667000"/>
            <a:ext cx="1957388" cy="9525"/>
          </a:xfrm>
          <a:prstGeom prst="rect">
            <a:avLst/>
          </a:prstGeom>
          <a:solidFill>
            <a:srgbClr val="E3DCD3"/>
          </a:solidFill>
          <a:ln>
            <a:noFill/>
          </a:ln>
          <a:effectLst/>
        </p:spPr>
        <p:txBody>
          <a:bodyPr rtlCol="0" anchor="ctr"/>
          <a:lstStyle/>
          <a:p>
            <a:pPr algn="ctr"/>
            <a:endParaRPr/>
          </a:p>
        </p:txBody>
      </p:sp>
      <p:sp>
        <p:nvSpPr>
          <p:cNvPr id="463" name="Rectangle 462"/>
          <p:cNvSpPr/>
          <p:nvPr/>
        </p:nvSpPr>
        <p:spPr>
          <a:xfrm>
            <a:off x="7558088" y="2447925"/>
            <a:ext cx="9525" cy="228600"/>
          </a:xfrm>
          <a:prstGeom prst="rect">
            <a:avLst/>
          </a:prstGeom>
          <a:solidFill>
            <a:srgbClr val="E3DCD3"/>
          </a:solidFill>
          <a:ln>
            <a:noFill/>
          </a:ln>
          <a:effectLst/>
        </p:spPr>
        <p:txBody>
          <a:bodyPr rtlCol="0" anchor="ctr"/>
          <a:lstStyle/>
          <a:p>
            <a:pPr algn="ctr"/>
            <a:endParaRPr/>
          </a:p>
        </p:txBody>
      </p:sp>
      <p:sp>
        <p:nvSpPr>
          <p:cNvPr id="464" name="Rounded Rectangle 463"/>
          <p:cNvSpPr/>
          <p:nvPr/>
        </p:nvSpPr>
        <p:spPr>
          <a:xfrm>
            <a:off x="7577138" y="24669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65" name="Text: GRDN">
            <a:hlinkClick r:id="rId38"/>
          </p:cNvPr>
          <p:cNvSpPr txBox="1"/>
          <p:nvPr/>
        </p:nvSpPr>
        <p:spPr>
          <a:xfrm>
            <a:off x="7577138" y="24669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66" name="Text: Guardian Pharmacy Services">
            <a:hlinkClick r:id="rId38"/>
          </p:cNvPr>
          <p:cNvSpPr txBox="1"/>
          <p:nvPr/>
        </p:nvSpPr>
        <p:spPr>
          <a:xfrm>
            <a:off x="8005762" y="2497931"/>
            <a:ext cx="118526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Guardian Pharmacy Services</a:t>
            </a:r>
          </a:p>
        </p:txBody>
      </p:sp>
      <p:sp>
        <p:nvSpPr>
          <p:cNvPr id="467" name="Rectangle 466"/>
          <p:cNvSpPr/>
          <p:nvPr/>
        </p:nvSpPr>
        <p:spPr>
          <a:xfrm>
            <a:off x="7558088" y="2695575"/>
            <a:ext cx="1957388" cy="228600"/>
          </a:xfrm>
          <a:prstGeom prst="rect">
            <a:avLst/>
          </a:prstGeom>
          <a:solidFill>
            <a:srgbClr val="FFFFFF"/>
          </a:solidFill>
          <a:ln>
            <a:noFill/>
          </a:ln>
          <a:effectLst/>
        </p:spPr>
        <p:txBody>
          <a:bodyPr rtlCol="0" anchor="ctr"/>
          <a:lstStyle/>
          <a:p>
            <a:pPr algn="ctr"/>
            <a:endParaRPr/>
          </a:p>
        </p:txBody>
      </p:sp>
      <p:sp>
        <p:nvSpPr>
          <p:cNvPr id="468" name="Rectangle 467"/>
          <p:cNvSpPr/>
          <p:nvPr/>
        </p:nvSpPr>
        <p:spPr>
          <a:xfrm>
            <a:off x="7558088" y="2695575"/>
            <a:ext cx="1957388" cy="9525"/>
          </a:xfrm>
          <a:prstGeom prst="rect">
            <a:avLst/>
          </a:prstGeom>
          <a:solidFill>
            <a:srgbClr val="E3DCD3"/>
          </a:solidFill>
          <a:ln>
            <a:noFill/>
          </a:ln>
          <a:effectLst/>
        </p:spPr>
        <p:txBody>
          <a:bodyPr rtlCol="0" anchor="ctr"/>
          <a:lstStyle/>
          <a:p>
            <a:pPr algn="ctr"/>
            <a:endParaRPr/>
          </a:p>
        </p:txBody>
      </p:sp>
      <p:sp>
        <p:nvSpPr>
          <p:cNvPr id="469" name="Rectangle 468"/>
          <p:cNvSpPr/>
          <p:nvPr/>
        </p:nvSpPr>
        <p:spPr>
          <a:xfrm>
            <a:off x="9505950" y="2695575"/>
            <a:ext cx="9525" cy="228600"/>
          </a:xfrm>
          <a:prstGeom prst="rect">
            <a:avLst/>
          </a:prstGeom>
          <a:solidFill>
            <a:srgbClr val="E3DCD3"/>
          </a:solidFill>
          <a:ln>
            <a:noFill/>
          </a:ln>
          <a:effectLst/>
        </p:spPr>
        <p:txBody>
          <a:bodyPr rtlCol="0" anchor="ctr"/>
          <a:lstStyle/>
          <a:p>
            <a:pPr algn="ctr"/>
            <a:endParaRPr/>
          </a:p>
        </p:txBody>
      </p:sp>
      <p:sp>
        <p:nvSpPr>
          <p:cNvPr id="470" name="Rectangle 469"/>
          <p:cNvSpPr/>
          <p:nvPr/>
        </p:nvSpPr>
        <p:spPr>
          <a:xfrm>
            <a:off x="7558088" y="2914650"/>
            <a:ext cx="1957388" cy="9525"/>
          </a:xfrm>
          <a:prstGeom prst="rect">
            <a:avLst/>
          </a:prstGeom>
          <a:solidFill>
            <a:srgbClr val="E3DCD3"/>
          </a:solidFill>
          <a:ln>
            <a:noFill/>
          </a:ln>
          <a:effectLst/>
        </p:spPr>
        <p:txBody>
          <a:bodyPr rtlCol="0" anchor="ctr"/>
          <a:lstStyle/>
          <a:p>
            <a:pPr algn="ctr"/>
            <a:endParaRPr/>
          </a:p>
        </p:txBody>
      </p:sp>
      <p:sp>
        <p:nvSpPr>
          <p:cNvPr id="471" name="Rectangle 470"/>
          <p:cNvSpPr/>
          <p:nvPr/>
        </p:nvSpPr>
        <p:spPr>
          <a:xfrm>
            <a:off x="7558088" y="2695575"/>
            <a:ext cx="9525" cy="228600"/>
          </a:xfrm>
          <a:prstGeom prst="rect">
            <a:avLst/>
          </a:prstGeom>
          <a:solidFill>
            <a:srgbClr val="E3DCD3"/>
          </a:solidFill>
          <a:ln>
            <a:noFill/>
          </a:ln>
          <a:effectLst/>
        </p:spPr>
        <p:txBody>
          <a:bodyPr rtlCol="0" anchor="ctr"/>
          <a:lstStyle/>
          <a:p>
            <a:pPr algn="ctr"/>
            <a:endParaRPr/>
          </a:p>
        </p:txBody>
      </p:sp>
      <p:sp>
        <p:nvSpPr>
          <p:cNvPr id="472" name="Rounded Rectangle 471"/>
          <p:cNvSpPr/>
          <p:nvPr/>
        </p:nvSpPr>
        <p:spPr>
          <a:xfrm>
            <a:off x="7577138" y="27146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73" name="Text: MCK">
            <a:hlinkClick r:id="rId39"/>
          </p:cNvPr>
          <p:cNvSpPr txBox="1"/>
          <p:nvPr/>
        </p:nvSpPr>
        <p:spPr>
          <a:xfrm>
            <a:off x="7577138" y="27146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474" name="Text: McKesson">
            <a:hlinkClick r:id="rId39"/>
          </p:cNvPr>
          <p:cNvSpPr txBox="1"/>
          <p:nvPr/>
        </p:nvSpPr>
        <p:spPr>
          <a:xfrm>
            <a:off x="8005762" y="2745581"/>
            <a:ext cx="429369"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McKesson</a:t>
            </a:r>
          </a:p>
        </p:txBody>
      </p:sp>
      <p:sp>
        <p:nvSpPr>
          <p:cNvPr id="475" name="Rectangle 474"/>
          <p:cNvSpPr/>
          <p:nvPr/>
        </p:nvSpPr>
        <p:spPr>
          <a:xfrm>
            <a:off x="7558088" y="2943225"/>
            <a:ext cx="1957388" cy="228600"/>
          </a:xfrm>
          <a:prstGeom prst="rect">
            <a:avLst/>
          </a:prstGeom>
          <a:solidFill>
            <a:srgbClr val="FFFFFF"/>
          </a:solidFill>
          <a:ln>
            <a:noFill/>
          </a:ln>
          <a:effectLst/>
        </p:spPr>
        <p:txBody>
          <a:bodyPr rtlCol="0" anchor="ctr"/>
          <a:lstStyle/>
          <a:p>
            <a:pPr algn="ctr"/>
            <a:endParaRPr/>
          </a:p>
        </p:txBody>
      </p:sp>
      <p:sp>
        <p:nvSpPr>
          <p:cNvPr id="476" name="Rectangle 475"/>
          <p:cNvSpPr/>
          <p:nvPr/>
        </p:nvSpPr>
        <p:spPr>
          <a:xfrm>
            <a:off x="7558088" y="2943225"/>
            <a:ext cx="1957388" cy="9525"/>
          </a:xfrm>
          <a:prstGeom prst="rect">
            <a:avLst/>
          </a:prstGeom>
          <a:solidFill>
            <a:srgbClr val="E3DCD3"/>
          </a:solidFill>
          <a:ln>
            <a:noFill/>
          </a:ln>
          <a:effectLst/>
        </p:spPr>
        <p:txBody>
          <a:bodyPr rtlCol="0" anchor="ctr"/>
          <a:lstStyle/>
          <a:p>
            <a:pPr algn="ctr"/>
            <a:endParaRPr/>
          </a:p>
        </p:txBody>
      </p:sp>
      <p:sp>
        <p:nvSpPr>
          <p:cNvPr id="477" name="Rectangle 476"/>
          <p:cNvSpPr/>
          <p:nvPr/>
        </p:nvSpPr>
        <p:spPr>
          <a:xfrm>
            <a:off x="9505950" y="2943225"/>
            <a:ext cx="9525" cy="228600"/>
          </a:xfrm>
          <a:prstGeom prst="rect">
            <a:avLst/>
          </a:prstGeom>
          <a:solidFill>
            <a:srgbClr val="E3DCD3"/>
          </a:solidFill>
          <a:ln>
            <a:noFill/>
          </a:ln>
          <a:effectLst/>
        </p:spPr>
        <p:txBody>
          <a:bodyPr rtlCol="0" anchor="ctr"/>
          <a:lstStyle/>
          <a:p>
            <a:pPr algn="ctr"/>
            <a:endParaRPr/>
          </a:p>
        </p:txBody>
      </p:sp>
      <p:sp>
        <p:nvSpPr>
          <p:cNvPr id="478" name="Rectangle 477"/>
          <p:cNvSpPr/>
          <p:nvPr/>
        </p:nvSpPr>
        <p:spPr>
          <a:xfrm>
            <a:off x="7558088" y="3162300"/>
            <a:ext cx="1957388" cy="9525"/>
          </a:xfrm>
          <a:prstGeom prst="rect">
            <a:avLst/>
          </a:prstGeom>
          <a:solidFill>
            <a:srgbClr val="E3DCD3"/>
          </a:solidFill>
          <a:ln>
            <a:noFill/>
          </a:ln>
          <a:effectLst/>
        </p:spPr>
        <p:txBody>
          <a:bodyPr rtlCol="0" anchor="ctr"/>
          <a:lstStyle/>
          <a:p>
            <a:pPr algn="ctr"/>
            <a:endParaRPr/>
          </a:p>
        </p:txBody>
      </p:sp>
      <p:sp>
        <p:nvSpPr>
          <p:cNvPr id="479" name="Rectangle 478"/>
          <p:cNvSpPr/>
          <p:nvPr/>
        </p:nvSpPr>
        <p:spPr>
          <a:xfrm>
            <a:off x="7558088" y="2943225"/>
            <a:ext cx="9525" cy="228600"/>
          </a:xfrm>
          <a:prstGeom prst="rect">
            <a:avLst/>
          </a:prstGeom>
          <a:solidFill>
            <a:srgbClr val="E3DCD3"/>
          </a:solidFill>
          <a:ln>
            <a:noFill/>
          </a:ln>
          <a:effectLst/>
        </p:spPr>
        <p:txBody>
          <a:bodyPr rtlCol="0" anchor="ctr"/>
          <a:lstStyle/>
          <a:p>
            <a:pPr algn="ctr"/>
            <a:endParaRPr/>
          </a:p>
        </p:txBody>
      </p:sp>
      <p:sp>
        <p:nvSpPr>
          <p:cNvPr id="480" name="Rounded Rectangle 479"/>
          <p:cNvSpPr/>
          <p:nvPr/>
        </p:nvSpPr>
        <p:spPr>
          <a:xfrm>
            <a:off x="7577138" y="29622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1" name="Text: COR">
            <a:hlinkClick r:id="rId40"/>
          </p:cNvPr>
          <p:cNvSpPr txBox="1"/>
          <p:nvPr/>
        </p:nvSpPr>
        <p:spPr>
          <a:xfrm>
            <a:off x="7577138" y="29622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COR</a:t>
            </a:r>
          </a:p>
        </p:txBody>
      </p:sp>
      <p:sp>
        <p:nvSpPr>
          <p:cNvPr id="482" name="Text: Cencora">
            <a:hlinkClick r:id="rId40"/>
          </p:cNvPr>
          <p:cNvSpPr txBox="1"/>
          <p:nvPr/>
        </p:nvSpPr>
        <p:spPr>
          <a:xfrm>
            <a:off x="8005762" y="2993231"/>
            <a:ext cx="34662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Cencora</a:t>
            </a:r>
          </a:p>
        </p:txBody>
      </p:sp>
      <p:sp>
        <p:nvSpPr>
          <p:cNvPr id="483" name="Rectangle 482"/>
          <p:cNvSpPr/>
          <p:nvPr/>
        </p:nvSpPr>
        <p:spPr>
          <a:xfrm>
            <a:off x="7558088" y="3190875"/>
            <a:ext cx="1957388" cy="228600"/>
          </a:xfrm>
          <a:prstGeom prst="rect">
            <a:avLst/>
          </a:prstGeom>
          <a:solidFill>
            <a:srgbClr val="FFFFFF"/>
          </a:solidFill>
          <a:ln>
            <a:noFill/>
          </a:ln>
          <a:effectLst/>
        </p:spPr>
        <p:txBody>
          <a:bodyPr rtlCol="0" anchor="ctr"/>
          <a:lstStyle/>
          <a:p>
            <a:pPr algn="ctr"/>
            <a:endParaRPr/>
          </a:p>
        </p:txBody>
      </p:sp>
      <p:sp>
        <p:nvSpPr>
          <p:cNvPr id="484" name="Rectangle 483"/>
          <p:cNvSpPr/>
          <p:nvPr/>
        </p:nvSpPr>
        <p:spPr>
          <a:xfrm>
            <a:off x="7558088" y="3190875"/>
            <a:ext cx="1957388" cy="9525"/>
          </a:xfrm>
          <a:prstGeom prst="rect">
            <a:avLst/>
          </a:prstGeom>
          <a:solidFill>
            <a:srgbClr val="E3DCD3"/>
          </a:solidFill>
          <a:ln>
            <a:noFill/>
          </a:ln>
          <a:effectLst/>
        </p:spPr>
        <p:txBody>
          <a:bodyPr rtlCol="0" anchor="ctr"/>
          <a:lstStyle/>
          <a:p>
            <a:pPr algn="ctr"/>
            <a:endParaRPr/>
          </a:p>
        </p:txBody>
      </p:sp>
      <p:sp>
        <p:nvSpPr>
          <p:cNvPr id="485" name="Rectangle 484"/>
          <p:cNvSpPr/>
          <p:nvPr/>
        </p:nvSpPr>
        <p:spPr>
          <a:xfrm>
            <a:off x="9505950" y="3190875"/>
            <a:ext cx="9525" cy="228600"/>
          </a:xfrm>
          <a:prstGeom prst="rect">
            <a:avLst/>
          </a:prstGeom>
          <a:solidFill>
            <a:srgbClr val="E3DCD3"/>
          </a:solidFill>
          <a:ln>
            <a:noFill/>
          </a:ln>
          <a:effectLst/>
        </p:spPr>
        <p:txBody>
          <a:bodyPr rtlCol="0" anchor="ctr"/>
          <a:lstStyle/>
          <a:p>
            <a:pPr algn="ctr"/>
            <a:endParaRPr/>
          </a:p>
        </p:txBody>
      </p:sp>
      <p:sp>
        <p:nvSpPr>
          <p:cNvPr id="486" name="Rectangle 485"/>
          <p:cNvSpPr/>
          <p:nvPr/>
        </p:nvSpPr>
        <p:spPr>
          <a:xfrm>
            <a:off x="7558088" y="3409950"/>
            <a:ext cx="1957388" cy="9525"/>
          </a:xfrm>
          <a:prstGeom prst="rect">
            <a:avLst/>
          </a:prstGeom>
          <a:solidFill>
            <a:srgbClr val="E3DCD3"/>
          </a:solidFill>
          <a:ln>
            <a:noFill/>
          </a:ln>
          <a:effectLst/>
        </p:spPr>
        <p:txBody>
          <a:bodyPr rtlCol="0" anchor="ctr"/>
          <a:lstStyle/>
          <a:p>
            <a:pPr algn="ctr"/>
            <a:endParaRPr/>
          </a:p>
        </p:txBody>
      </p:sp>
      <p:sp>
        <p:nvSpPr>
          <p:cNvPr id="487" name="Rectangle 486"/>
          <p:cNvSpPr/>
          <p:nvPr/>
        </p:nvSpPr>
        <p:spPr>
          <a:xfrm>
            <a:off x="7558088" y="3190875"/>
            <a:ext cx="9525" cy="228600"/>
          </a:xfrm>
          <a:prstGeom prst="rect">
            <a:avLst/>
          </a:prstGeom>
          <a:solidFill>
            <a:srgbClr val="E3DCD3"/>
          </a:solidFill>
          <a:ln>
            <a:noFill/>
          </a:ln>
          <a:effectLst/>
        </p:spPr>
        <p:txBody>
          <a:bodyPr rtlCol="0" anchor="ctr"/>
          <a:lstStyle/>
          <a:p>
            <a:pPr algn="ctr"/>
            <a:endParaRPr/>
          </a:p>
        </p:txBody>
      </p:sp>
      <p:sp>
        <p:nvSpPr>
          <p:cNvPr id="488" name="Rounded Rectangle 487"/>
          <p:cNvSpPr/>
          <p:nvPr/>
        </p:nvSpPr>
        <p:spPr>
          <a:xfrm>
            <a:off x="7577138" y="32099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9" name="Text: CAH">
            <a:hlinkClick r:id="rId41"/>
          </p:cNvPr>
          <p:cNvSpPr txBox="1"/>
          <p:nvPr/>
        </p:nvSpPr>
        <p:spPr>
          <a:xfrm>
            <a:off x="7577138" y="32099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490" name="Text: Cardinal Health">
            <a:hlinkClick r:id="rId41"/>
          </p:cNvPr>
          <p:cNvSpPr txBox="1"/>
          <p:nvPr/>
        </p:nvSpPr>
        <p:spPr>
          <a:xfrm>
            <a:off x="8005762" y="3240881"/>
            <a:ext cx="653207"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Cardinal Health</a:t>
            </a:r>
          </a:p>
        </p:txBody>
      </p:sp>
      <p:sp>
        <p:nvSpPr>
          <p:cNvPr id="491" name="Rectangle 490"/>
          <p:cNvSpPr/>
          <p:nvPr/>
        </p:nvSpPr>
        <p:spPr>
          <a:xfrm>
            <a:off x="7558088" y="3438525"/>
            <a:ext cx="1957388" cy="228600"/>
          </a:xfrm>
          <a:prstGeom prst="rect">
            <a:avLst/>
          </a:prstGeom>
          <a:solidFill>
            <a:srgbClr val="FFFFFF"/>
          </a:solidFill>
          <a:ln>
            <a:noFill/>
          </a:ln>
          <a:effectLst/>
        </p:spPr>
        <p:txBody>
          <a:bodyPr rtlCol="0" anchor="ctr"/>
          <a:lstStyle/>
          <a:p>
            <a:pPr algn="ctr"/>
            <a:endParaRPr/>
          </a:p>
        </p:txBody>
      </p:sp>
      <p:sp>
        <p:nvSpPr>
          <p:cNvPr id="492" name="Rectangle 491"/>
          <p:cNvSpPr/>
          <p:nvPr/>
        </p:nvSpPr>
        <p:spPr>
          <a:xfrm>
            <a:off x="7558088" y="3438525"/>
            <a:ext cx="1957388" cy="9525"/>
          </a:xfrm>
          <a:prstGeom prst="rect">
            <a:avLst/>
          </a:prstGeom>
          <a:solidFill>
            <a:srgbClr val="E3DCD3"/>
          </a:solidFill>
          <a:ln>
            <a:noFill/>
          </a:ln>
          <a:effectLst/>
        </p:spPr>
        <p:txBody>
          <a:bodyPr rtlCol="0" anchor="ctr"/>
          <a:lstStyle/>
          <a:p>
            <a:pPr algn="ctr"/>
            <a:endParaRPr/>
          </a:p>
        </p:txBody>
      </p:sp>
      <p:sp>
        <p:nvSpPr>
          <p:cNvPr id="493" name="Rectangle 492"/>
          <p:cNvSpPr/>
          <p:nvPr/>
        </p:nvSpPr>
        <p:spPr>
          <a:xfrm>
            <a:off x="9505950" y="3438525"/>
            <a:ext cx="9525" cy="228600"/>
          </a:xfrm>
          <a:prstGeom prst="rect">
            <a:avLst/>
          </a:prstGeom>
          <a:solidFill>
            <a:srgbClr val="E3DCD3"/>
          </a:solidFill>
          <a:ln>
            <a:noFill/>
          </a:ln>
          <a:effectLst/>
        </p:spPr>
        <p:txBody>
          <a:bodyPr rtlCol="0" anchor="ctr"/>
          <a:lstStyle/>
          <a:p>
            <a:pPr algn="ctr"/>
            <a:endParaRPr/>
          </a:p>
        </p:txBody>
      </p:sp>
      <p:sp>
        <p:nvSpPr>
          <p:cNvPr id="494" name="Rectangle 493"/>
          <p:cNvSpPr/>
          <p:nvPr/>
        </p:nvSpPr>
        <p:spPr>
          <a:xfrm>
            <a:off x="7558088" y="3657600"/>
            <a:ext cx="1957388" cy="9525"/>
          </a:xfrm>
          <a:prstGeom prst="rect">
            <a:avLst/>
          </a:prstGeom>
          <a:solidFill>
            <a:srgbClr val="E3DCD3"/>
          </a:solidFill>
          <a:ln>
            <a:noFill/>
          </a:ln>
          <a:effectLst/>
        </p:spPr>
        <p:txBody>
          <a:bodyPr rtlCol="0" anchor="ctr"/>
          <a:lstStyle/>
          <a:p>
            <a:pPr algn="ctr"/>
            <a:endParaRPr/>
          </a:p>
        </p:txBody>
      </p:sp>
      <p:sp>
        <p:nvSpPr>
          <p:cNvPr id="495" name="Rectangle 494"/>
          <p:cNvSpPr/>
          <p:nvPr/>
        </p:nvSpPr>
        <p:spPr>
          <a:xfrm>
            <a:off x="7558088" y="3438525"/>
            <a:ext cx="9525" cy="228600"/>
          </a:xfrm>
          <a:prstGeom prst="rect">
            <a:avLst/>
          </a:prstGeom>
          <a:solidFill>
            <a:srgbClr val="E3DCD3"/>
          </a:solidFill>
          <a:ln>
            <a:noFill/>
          </a:ln>
          <a:effectLst/>
        </p:spPr>
        <p:txBody>
          <a:bodyPr rtlCol="0" anchor="ctr"/>
          <a:lstStyle/>
          <a:p>
            <a:pPr algn="ctr"/>
            <a:endParaRPr/>
          </a:p>
        </p:txBody>
      </p:sp>
      <p:sp>
        <p:nvSpPr>
          <p:cNvPr id="496" name="Rounded Rectangle 495"/>
          <p:cNvSpPr/>
          <p:nvPr/>
        </p:nvSpPr>
        <p:spPr>
          <a:xfrm>
            <a:off x="7577138" y="34575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97" name="Text: CVS">
            <a:hlinkClick r:id="rId42"/>
          </p:cNvPr>
          <p:cNvSpPr txBox="1"/>
          <p:nvPr/>
        </p:nvSpPr>
        <p:spPr>
          <a:xfrm>
            <a:off x="7577138" y="34575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CVS</a:t>
            </a:r>
          </a:p>
        </p:txBody>
      </p:sp>
      <p:sp>
        <p:nvSpPr>
          <p:cNvPr id="498" name="Text: CVS Health">
            <a:hlinkClick r:id="rId42"/>
          </p:cNvPr>
          <p:cNvSpPr txBox="1"/>
          <p:nvPr/>
        </p:nvSpPr>
        <p:spPr>
          <a:xfrm>
            <a:off x="8005762" y="3488531"/>
            <a:ext cx="468511"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CVS Health</a:t>
            </a:r>
          </a:p>
        </p:txBody>
      </p:sp>
      <p:sp>
        <p:nvSpPr>
          <p:cNvPr id="499" name="Rectangle 498"/>
          <p:cNvSpPr/>
          <p:nvPr/>
        </p:nvSpPr>
        <p:spPr>
          <a:xfrm>
            <a:off x="7558088" y="3686175"/>
            <a:ext cx="1957388" cy="228600"/>
          </a:xfrm>
          <a:prstGeom prst="rect">
            <a:avLst/>
          </a:prstGeom>
          <a:solidFill>
            <a:srgbClr val="FFFFFF"/>
          </a:solidFill>
          <a:ln>
            <a:noFill/>
          </a:ln>
          <a:effectLst/>
        </p:spPr>
        <p:txBody>
          <a:bodyPr rtlCol="0" anchor="ctr"/>
          <a:lstStyle/>
          <a:p>
            <a:pPr algn="ctr"/>
            <a:endParaRPr/>
          </a:p>
        </p:txBody>
      </p:sp>
      <p:sp>
        <p:nvSpPr>
          <p:cNvPr id="500" name="Rectangle 499"/>
          <p:cNvSpPr/>
          <p:nvPr/>
        </p:nvSpPr>
        <p:spPr>
          <a:xfrm>
            <a:off x="7558088" y="3686175"/>
            <a:ext cx="1957388" cy="9525"/>
          </a:xfrm>
          <a:prstGeom prst="rect">
            <a:avLst/>
          </a:prstGeom>
          <a:solidFill>
            <a:srgbClr val="E3DCD3"/>
          </a:solidFill>
          <a:ln>
            <a:noFill/>
          </a:ln>
          <a:effectLst/>
        </p:spPr>
        <p:txBody>
          <a:bodyPr rtlCol="0" anchor="ctr"/>
          <a:lstStyle/>
          <a:p>
            <a:pPr algn="ctr"/>
            <a:endParaRPr/>
          </a:p>
        </p:txBody>
      </p:sp>
      <p:sp>
        <p:nvSpPr>
          <p:cNvPr id="501" name="Rectangle 500"/>
          <p:cNvSpPr/>
          <p:nvPr/>
        </p:nvSpPr>
        <p:spPr>
          <a:xfrm>
            <a:off x="9505950" y="3686175"/>
            <a:ext cx="9525" cy="228600"/>
          </a:xfrm>
          <a:prstGeom prst="rect">
            <a:avLst/>
          </a:prstGeom>
          <a:solidFill>
            <a:srgbClr val="E3DCD3"/>
          </a:solidFill>
          <a:ln>
            <a:noFill/>
          </a:ln>
          <a:effectLst/>
        </p:spPr>
        <p:txBody>
          <a:bodyPr rtlCol="0" anchor="ctr"/>
          <a:lstStyle/>
          <a:p>
            <a:pPr algn="ctr"/>
            <a:endParaRPr/>
          </a:p>
        </p:txBody>
      </p:sp>
      <p:sp>
        <p:nvSpPr>
          <p:cNvPr id="502" name="Rectangle 501"/>
          <p:cNvSpPr/>
          <p:nvPr/>
        </p:nvSpPr>
        <p:spPr>
          <a:xfrm>
            <a:off x="7558088" y="3905250"/>
            <a:ext cx="1957388" cy="9525"/>
          </a:xfrm>
          <a:prstGeom prst="rect">
            <a:avLst/>
          </a:prstGeom>
          <a:solidFill>
            <a:srgbClr val="E3DCD3"/>
          </a:solidFill>
          <a:ln>
            <a:noFill/>
          </a:ln>
          <a:effectLst/>
        </p:spPr>
        <p:txBody>
          <a:bodyPr rtlCol="0" anchor="ctr"/>
          <a:lstStyle/>
          <a:p>
            <a:pPr algn="ctr"/>
            <a:endParaRPr/>
          </a:p>
        </p:txBody>
      </p:sp>
      <p:sp>
        <p:nvSpPr>
          <p:cNvPr id="503" name="Rectangle 502"/>
          <p:cNvSpPr/>
          <p:nvPr/>
        </p:nvSpPr>
        <p:spPr>
          <a:xfrm>
            <a:off x="7558088" y="3686175"/>
            <a:ext cx="9525" cy="228600"/>
          </a:xfrm>
          <a:prstGeom prst="rect">
            <a:avLst/>
          </a:prstGeom>
          <a:solidFill>
            <a:srgbClr val="E3DCD3"/>
          </a:solidFill>
          <a:ln>
            <a:noFill/>
          </a:ln>
          <a:effectLst/>
        </p:spPr>
        <p:txBody>
          <a:bodyPr rtlCol="0" anchor="ctr"/>
          <a:lstStyle/>
          <a:p>
            <a:pPr algn="ctr"/>
            <a:endParaRPr/>
          </a:p>
        </p:txBody>
      </p:sp>
      <p:sp>
        <p:nvSpPr>
          <p:cNvPr id="504" name="Rounded Rectangle 503"/>
          <p:cNvSpPr/>
          <p:nvPr/>
        </p:nvSpPr>
        <p:spPr>
          <a:xfrm>
            <a:off x="7577138" y="3705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05" name="Text: AMN">
            <a:hlinkClick r:id="rId43"/>
          </p:cNvPr>
          <p:cNvSpPr txBox="1"/>
          <p:nvPr/>
        </p:nvSpPr>
        <p:spPr>
          <a:xfrm>
            <a:off x="7577138" y="3705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506" name="Text: AMN Healthcare">
            <a:hlinkClick r:id="rId43"/>
          </p:cNvPr>
          <p:cNvSpPr txBox="1"/>
          <p:nvPr/>
        </p:nvSpPr>
        <p:spPr>
          <a:xfrm>
            <a:off x="8005762" y="3736181"/>
            <a:ext cx="695920" cy="128588"/>
          </a:xfrm>
          <a:prstGeom prst="rect">
            <a:avLst/>
          </a:prstGeom>
          <a:noFill/>
        </p:spPr>
        <p:txBody>
          <a:bodyPr wrap="square" lIns="0" tIns="0" rIns="0" bIns="0" anchor="t">
            <a:spAutoFit/>
          </a:bodyPr>
          <a:lstStyle/>
          <a:p>
            <a:pPr algn="l">
              <a:lnSpc>
                <a:spcPts val="1011"/>
              </a:lnSpc>
            </a:pPr>
            <a:r>
              <a:rPr sz="750" b="1" i="0" spc="15">
                <a:solidFill>
                  <a:srgbClr val="333231"/>
                </a:solidFill>
                <a:latin typeface="Calibri"/>
              </a:rPr>
              <a:t>AMN Healthcare</a:t>
            </a:r>
          </a:p>
        </p:txBody>
      </p:sp>
      <p:sp>
        <p:nvSpPr>
          <p:cNvPr id="507" name="Text: PHARMACY, STAFFING AND LOGISTICS B"/>
          <p:cNvSpPr txBox="1"/>
          <p:nvPr/>
        </p:nvSpPr>
        <p:spPr>
          <a:xfrm>
            <a:off x="7558088" y="5667375"/>
            <a:ext cx="1971675"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PHARMACY, STAFFING AND LOGISTICS BUYERS</a:t>
            </a:r>
          </a:p>
        </p:txBody>
      </p:sp>
      <p:sp>
        <p:nvSpPr>
          <p:cNvPr id="508" name="Rectangle 507"/>
          <p:cNvSpPr/>
          <p:nvPr/>
        </p:nvSpPr>
        <p:spPr>
          <a:xfrm>
            <a:off x="7558088" y="5972175"/>
            <a:ext cx="533549" cy="180975"/>
          </a:xfrm>
          <a:prstGeom prst="rect">
            <a:avLst/>
          </a:prstGeom>
          <a:solidFill>
            <a:srgbClr val="FFFFFF"/>
          </a:solidFill>
          <a:ln>
            <a:noFill/>
          </a:ln>
          <a:effectLst/>
        </p:spPr>
        <p:txBody>
          <a:bodyPr rtlCol="0" anchor="ctr"/>
          <a:lstStyle/>
          <a:p>
            <a:pPr algn="ctr"/>
            <a:endParaRPr/>
          </a:p>
        </p:txBody>
      </p:sp>
      <p:sp>
        <p:nvSpPr>
          <p:cNvPr id="509" name="Rectangle 508"/>
          <p:cNvSpPr/>
          <p:nvPr/>
        </p:nvSpPr>
        <p:spPr>
          <a:xfrm>
            <a:off x="7558088" y="5972175"/>
            <a:ext cx="533549" cy="9525"/>
          </a:xfrm>
          <a:prstGeom prst="rect">
            <a:avLst/>
          </a:prstGeom>
          <a:solidFill>
            <a:srgbClr val="E3DCD3"/>
          </a:solidFill>
          <a:ln>
            <a:noFill/>
          </a:ln>
          <a:effectLst/>
        </p:spPr>
        <p:txBody>
          <a:bodyPr rtlCol="0" anchor="ctr"/>
          <a:lstStyle/>
          <a:p>
            <a:pPr algn="ctr"/>
            <a:endParaRPr/>
          </a:p>
        </p:txBody>
      </p:sp>
      <p:sp>
        <p:nvSpPr>
          <p:cNvPr id="510" name="Rectangle 509"/>
          <p:cNvSpPr/>
          <p:nvPr/>
        </p:nvSpPr>
        <p:spPr>
          <a:xfrm>
            <a:off x="8082111" y="5972175"/>
            <a:ext cx="9525" cy="180975"/>
          </a:xfrm>
          <a:prstGeom prst="rect">
            <a:avLst/>
          </a:prstGeom>
          <a:solidFill>
            <a:srgbClr val="E3DCD3"/>
          </a:solidFill>
          <a:ln>
            <a:noFill/>
          </a:ln>
          <a:effectLst/>
        </p:spPr>
        <p:txBody>
          <a:bodyPr rtlCol="0" anchor="ctr"/>
          <a:lstStyle/>
          <a:p>
            <a:pPr algn="ctr"/>
            <a:endParaRPr/>
          </a:p>
        </p:txBody>
      </p:sp>
      <p:sp>
        <p:nvSpPr>
          <p:cNvPr id="511" name="Rectangle 510"/>
          <p:cNvSpPr/>
          <p:nvPr/>
        </p:nvSpPr>
        <p:spPr>
          <a:xfrm>
            <a:off x="7558088" y="6143625"/>
            <a:ext cx="533549" cy="9525"/>
          </a:xfrm>
          <a:prstGeom prst="rect">
            <a:avLst/>
          </a:prstGeom>
          <a:solidFill>
            <a:srgbClr val="E3DCD3"/>
          </a:solidFill>
          <a:ln>
            <a:noFill/>
          </a:ln>
          <a:effectLst/>
        </p:spPr>
        <p:txBody>
          <a:bodyPr rtlCol="0" anchor="ctr"/>
          <a:lstStyle/>
          <a:p>
            <a:pPr algn="ctr"/>
            <a:endParaRPr/>
          </a:p>
        </p:txBody>
      </p:sp>
      <p:sp>
        <p:nvSpPr>
          <p:cNvPr id="512" name="Rectangle 511"/>
          <p:cNvSpPr/>
          <p:nvPr/>
        </p:nvSpPr>
        <p:spPr>
          <a:xfrm>
            <a:off x="7558088" y="5972175"/>
            <a:ext cx="9525" cy="180975"/>
          </a:xfrm>
          <a:prstGeom prst="rect">
            <a:avLst/>
          </a:prstGeom>
          <a:solidFill>
            <a:srgbClr val="E3DCD3"/>
          </a:solidFill>
          <a:ln>
            <a:noFill/>
          </a:ln>
          <a:effectLst/>
        </p:spPr>
        <p:txBody>
          <a:bodyPr rtlCol="0" anchor="ctr"/>
          <a:lstStyle/>
          <a:p>
            <a:pPr algn="ctr"/>
            <a:endParaRPr/>
          </a:p>
        </p:txBody>
      </p:sp>
      <p:sp>
        <p:nvSpPr>
          <p:cNvPr id="513" name="Text: Knox Lane"/>
          <p:cNvSpPr txBox="1"/>
          <p:nvPr/>
        </p:nvSpPr>
        <p:spPr>
          <a:xfrm>
            <a:off x="7624762" y="6000750"/>
            <a:ext cx="41448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Knox Lane</a:t>
            </a:r>
          </a:p>
        </p:txBody>
      </p:sp>
      <p:sp>
        <p:nvSpPr>
          <p:cNvPr id="514" name="Rectangle 513"/>
          <p:cNvSpPr/>
          <p:nvPr/>
        </p:nvSpPr>
        <p:spPr>
          <a:xfrm>
            <a:off x="8129736" y="5972175"/>
            <a:ext cx="599033" cy="180975"/>
          </a:xfrm>
          <a:prstGeom prst="rect">
            <a:avLst/>
          </a:prstGeom>
          <a:solidFill>
            <a:srgbClr val="FFFFFF"/>
          </a:solidFill>
          <a:ln>
            <a:noFill/>
          </a:ln>
          <a:effectLst/>
        </p:spPr>
        <p:txBody>
          <a:bodyPr rtlCol="0" anchor="ctr"/>
          <a:lstStyle/>
          <a:p>
            <a:pPr algn="ctr"/>
            <a:endParaRPr/>
          </a:p>
        </p:txBody>
      </p:sp>
      <p:sp>
        <p:nvSpPr>
          <p:cNvPr id="515" name="Rectangle 514"/>
          <p:cNvSpPr/>
          <p:nvPr/>
        </p:nvSpPr>
        <p:spPr>
          <a:xfrm>
            <a:off x="8129736" y="5972175"/>
            <a:ext cx="599033" cy="9525"/>
          </a:xfrm>
          <a:prstGeom prst="rect">
            <a:avLst/>
          </a:prstGeom>
          <a:solidFill>
            <a:srgbClr val="E3DCD3"/>
          </a:solidFill>
          <a:ln>
            <a:noFill/>
          </a:ln>
          <a:effectLst/>
        </p:spPr>
        <p:txBody>
          <a:bodyPr rtlCol="0" anchor="ctr"/>
          <a:lstStyle/>
          <a:p>
            <a:pPr algn="ctr"/>
            <a:endParaRPr/>
          </a:p>
        </p:txBody>
      </p:sp>
      <p:sp>
        <p:nvSpPr>
          <p:cNvPr id="516" name="Rectangle 515"/>
          <p:cNvSpPr/>
          <p:nvPr/>
        </p:nvSpPr>
        <p:spPr>
          <a:xfrm>
            <a:off x="8719245" y="5972175"/>
            <a:ext cx="9525" cy="180975"/>
          </a:xfrm>
          <a:prstGeom prst="rect">
            <a:avLst/>
          </a:prstGeom>
          <a:solidFill>
            <a:srgbClr val="E3DCD3"/>
          </a:solidFill>
          <a:ln>
            <a:noFill/>
          </a:ln>
          <a:effectLst/>
        </p:spPr>
        <p:txBody>
          <a:bodyPr rtlCol="0" anchor="ctr"/>
          <a:lstStyle/>
          <a:p>
            <a:pPr algn="ctr"/>
            <a:endParaRPr/>
          </a:p>
        </p:txBody>
      </p:sp>
      <p:sp>
        <p:nvSpPr>
          <p:cNvPr id="517" name="Rectangle 516"/>
          <p:cNvSpPr/>
          <p:nvPr/>
        </p:nvSpPr>
        <p:spPr>
          <a:xfrm>
            <a:off x="8129736" y="6143625"/>
            <a:ext cx="599033" cy="9525"/>
          </a:xfrm>
          <a:prstGeom prst="rect">
            <a:avLst/>
          </a:prstGeom>
          <a:solidFill>
            <a:srgbClr val="E3DCD3"/>
          </a:solidFill>
          <a:ln>
            <a:noFill/>
          </a:ln>
          <a:effectLst/>
        </p:spPr>
        <p:txBody>
          <a:bodyPr rtlCol="0" anchor="ctr"/>
          <a:lstStyle/>
          <a:p>
            <a:pPr algn="ctr"/>
            <a:endParaRPr/>
          </a:p>
        </p:txBody>
      </p:sp>
      <p:sp>
        <p:nvSpPr>
          <p:cNvPr id="518" name="Rectangle 517"/>
          <p:cNvSpPr/>
          <p:nvPr/>
        </p:nvSpPr>
        <p:spPr>
          <a:xfrm>
            <a:off x="8129736" y="5972175"/>
            <a:ext cx="9525" cy="180975"/>
          </a:xfrm>
          <a:prstGeom prst="rect">
            <a:avLst/>
          </a:prstGeom>
          <a:solidFill>
            <a:srgbClr val="E3DCD3"/>
          </a:solidFill>
          <a:ln>
            <a:noFill/>
          </a:ln>
          <a:effectLst/>
        </p:spPr>
        <p:txBody>
          <a:bodyPr rtlCol="0" anchor="ctr"/>
          <a:lstStyle/>
          <a:p>
            <a:pPr algn="ctr"/>
            <a:endParaRPr/>
          </a:p>
        </p:txBody>
      </p:sp>
      <p:sp>
        <p:nvSpPr>
          <p:cNvPr id="519" name="Text: JLL Partners"/>
          <p:cNvSpPr txBox="1"/>
          <p:nvPr/>
        </p:nvSpPr>
        <p:spPr>
          <a:xfrm>
            <a:off x="8196411" y="6000750"/>
            <a:ext cx="479971"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JLL Partners</a:t>
            </a:r>
          </a:p>
        </p:txBody>
      </p:sp>
      <p:sp>
        <p:nvSpPr>
          <p:cNvPr id="520" name="Rectangle 519"/>
          <p:cNvSpPr/>
          <p:nvPr/>
        </p:nvSpPr>
        <p:spPr>
          <a:xfrm>
            <a:off x="8766870" y="5972175"/>
            <a:ext cx="634008" cy="180975"/>
          </a:xfrm>
          <a:prstGeom prst="rect">
            <a:avLst/>
          </a:prstGeom>
          <a:solidFill>
            <a:srgbClr val="FFFFFF"/>
          </a:solidFill>
          <a:ln>
            <a:noFill/>
          </a:ln>
          <a:effectLst/>
        </p:spPr>
        <p:txBody>
          <a:bodyPr rtlCol="0" anchor="ctr"/>
          <a:lstStyle/>
          <a:p>
            <a:pPr algn="ctr"/>
            <a:endParaRPr/>
          </a:p>
        </p:txBody>
      </p:sp>
      <p:sp>
        <p:nvSpPr>
          <p:cNvPr id="521" name="Rectangle 520"/>
          <p:cNvSpPr/>
          <p:nvPr/>
        </p:nvSpPr>
        <p:spPr>
          <a:xfrm>
            <a:off x="8766870" y="5972175"/>
            <a:ext cx="634008" cy="9525"/>
          </a:xfrm>
          <a:prstGeom prst="rect">
            <a:avLst/>
          </a:prstGeom>
          <a:solidFill>
            <a:srgbClr val="E3DCD3"/>
          </a:solidFill>
          <a:ln>
            <a:noFill/>
          </a:ln>
          <a:effectLst/>
        </p:spPr>
        <p:txBody>
          <a:bodyPr rtlCol="0" anchor="ctr"/>
          <a:lstStyle/>
          <a:p>
            <a:pPr algn="ctr"/>
            <a:endParaRPr/>
          </a:p>
        </p:txBody>
      </p:sp>
      <p:sp>
        <p:nvSpPr>
          <p:cNvPr id="522" name="Rectangle 521"/>
          <p:cNvSpPr/>
          <p:nvPr/>
        </p:nvSpPr>
        <p:spPr>
          <a:xfrm>
            <a:off x="9391352" y="5972175"/>
            <a:ext cx="9525" cy="180975"/>
          </a:xfrm>
          <a:prstGeom prst="rect">
            <a:avLst/>
          </a:prstGeom>
          <a:solidFill>
            <a:srgbClr val="E3DCD3"/>
          </a:solidFill>
          <a:ln>
            <a:noFill/>
          </a:ln>
          <a:effectLst/>
        </p:spPr>
        <p:txBody>
          <a:bodyPr rtlCol="0" anchor="ctr"/>
          <a:lstStyle/>
          <a:p>
            <a:pPr algn="ctr"/>
            <a:endParaRPr/>
          </a:p>
        </p:txBody>
      </p:sp>
      <p:sp>
        <p:nvSpPr>
          <p:cNvPr id="523" name="Rectangle 522"/>
          <p:cNvSpPr/>
          <p:nvPr/>
        </p:nvSpPr>
        <p:spPr>
          <a:xfrm>
            <a:off x="8766870" y="6143625"/>
            <a:ext cx="634008" cy="9525"/>
          </a:xfrm>
          <a:prstGeom prst="rect">
            <a:avLst/>
          </a:prstGeom>
          <a:solidFill>
            <a:srgbClr val="E3DCD3"/>
          </a:solidFill>
          <a:ln>
            <a:noFill/>
          </a:ln>
          <a:effectLst/>
        </p:spPr>
        <p:txBody>
          <a:bodyPr rtlCol="0" anchor="ctr"/>
          <a:lstStyle/>
          <a:p>
            <a:pPr algn="ctr"/>
            <a:endParaRPr/>
          </a:p>
        </p:txBody>
      </p:sp>
      <p:sp>
        <p:nvSpPr>
          <p:cNvPr id="524" name="Rectangle 523"/>
          <p:cNvSpPr/>
          <p:nvPr/>
        </p:nvSpPr>
        <p:spPr>
          <a:xfrm>
            <a:off x="8766870" y="5972175"/>
            <a:ext cx="9525" cy="180975"/>
          </a:xfrm>
          <a:prstGeom prst="rect">
            <a:avLst/>
          </a:prstGeom>
          <a:solidFill>
            <a:srgbClr val="E3DCD3"/>
          </a:solidFill>
          <a:ln>
            <a:noFill/>
          </a:ln>
          <a:effectLst/>
        </p:spPr>
        <p:txBody>
          <a:bodyPr rtlCol="0" anchor="ctr"/>
          <a:lstStyle/>
          <a:p>
            <a:pPr algn="ctr"/>
            <a:endParaRPr/>
          </a:p>
        </p:txBody>
      </p:sp>
      <p:sp>
        <p:nvSpPr>
          <p:cNvPr id="525" name="Text: Soleo Health"/>
          <p:cNvSpPr txBox="1"/>
          <p:nvPr/>
        </p:nvSpPr>
        <p:spPr>
          <a:xfrm>
            <a:off x="8833545" y="6000750"/>
            <a:ext cx="514945"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Soleo Health</a:t>
            </a:r>
          </a:p>
        </p:txBody>
      </p:sp>
      <p:sp>
        <p:nvSpPr>
          <p:cNvPr id="526" name="Rectangle 525"/>
          <p:cNvSpPr/>
          <p:nvPr/>
        </p:nvSpPr>
        <p:spPr>
          <a:xfrm>
            <a:off x="7558088" y="6191250"/>
            <a:ext cx="822722" cy="180975"/>
          </a:xfrm>
          <a:prstGeom prst="rect">
            <a:avLst/>
          </a:prstGeom>
          <a:solidFill>
            <a:srgbClr val="FFFFFF"/>
          </a:solidFill>
          <a:ln>
            <a:noFill/>
          </a:ln>
          <a:effectLst/>
        </p:spPr>
        <p:txBody>
          <a:bodyPr rtlCol="0" anchor="ctr"/>
          <a:lstStyle/>
          <a:p>
            <a:pPr algn="ctr"/>
            <a:endParaRPr/>
          </a:p>
        </p:txBody>
      </p:sp>
      <p:sp>
        <p:nvSpPr>
          <p:cNvPr id="527" name="Rectangle 526"/>
          <p:cNvSpPr/>
          <p:nvPr/>
        </p:nvSpPr>
        <p:spPr>
          <a:xfrm>
            <a:off x="7558088" y="6191250"/>
            <a:ext cx="822722" cy="9525"/>
          </a:xfrm>
          <a:prstGeom prst="rect">
            <a:avLst/>
          </a:prstGeom>
          <a:solidFill>
            <a:srgbClr val="E3DCD3"/>
          </a:solidFill>
          <a:ln>
            <a:noFill/>
          </a:ln>
          <a:effectLst/>
        </p:spPr>
        <p:txBody>
          <a:bodyPr rtlCol="0" anchor="ctr"/>
          <a:lstStyle/>
          <a:p>
            <a:pPr algn="ctr"/>
            <a:endParaRPr/>
          </a:p>
        </p:txBody>
      </p:sp>
      <p:sp>
        <p:nvSpPr>
          <p:cNvPr id="528" name="Rectangle 527"/>
          <p:cNvSpPr/>
          <p:nvPr/>
        </p:nvSpPr>
        <p:spPr>
          <a:xfrm>
            <a:off x="8371284" y="6191250"/>
            <a:ext cx="9525" cy="180975"/>
          </a:xfrm>
          <a:prstGeom prst="rect">
            <a:avLst/>
          </a:prstGeom>
          <a:solidFill>
            <a:srgbClr val="E3DCD3"/>
          </a:solidFill>
          <a:ln>
            <a:noFill/>
          </a:ln>
          <a:effectLst/>
        </p:spPr>
        <p:txBody>
          <a:bodyPr rtlCol="0" anchor="ctr"/>
          <a:lstStyle/>
          <a:p>
            <a:pPr algn="ctr"/>
            <a:endParaRPr/>
          </a:p>
        </p:txBody>
      </p:sp>
      <p:sp>
        <p:nvSpPr>
          <p:cNvPr id="529" name="Rectangle 528"/>
          <p:cNvSpPr/>
          <p:nvPr/>
        </p:nvSpPr>
        <p:spPr>
          <a:xfrm>
            <a:off x="7558088" y="6362700"/>
            <a:ext cx="822722" cy="9525"/>
          </a:xfrm>
          <a:prstGeom prst="rect">
            <a:avLst/>
          </a:prstGeom>
          <a:solidFill>
            <a:srgbClr val="E3DCD3"/>
          </a:solidFill>
          <a:ln>
            <a:noFill/>
          </a:ln>
          <a:effectLst/>
        </p:spPr>
        <p:txBody>
          <a:bodyPr rtlCol="0" anchor="ctr"/>
          <a:lstStyle/>
          <a:p>
            <a:pPr algn="ctr"/>
            <a:endParaRPr/>
          </a:p>
        </p:txBody>
      </p:sp>
      <p:sp>
        <p:nvSpPr>
          <p:cNvPr id="530" name="Rectangle 529"/>
          <p:cNvSpPr/>
          <p:nvPr/>
        </p:nvSpPr>
        <p:spPr>
          <a:xfrm>
            <a:off x="7558088" y="6191250"/>
            <a:ext cx="9525" cy="180975"/>
          </a:xfrm>
          <a:prstGeom prst="rect">
            <a:avLst/>
          </a:prstGeom>
          <a:solidFill>
            <a:srgbClr val="E3DCD3"/>
          </a:solidFill>
          <a:ln>
            <a:noFill/>
          </a:ln>
          <a:effectLst/>
        </p:spPr>
        <p:txBody>
          <a:bodyPr rtlCol="0" anchor="ctr"/>
          <a:lstStyle/>
          <a:p>
            <a:pPr algn="ctr"/>
            <a:endParaRPr/>
          </a:p>
        </p:txBody>
      </p:sp>
      <p:sp>
        <p:nvSpPr>
          <p:cNvPr id="531" name="Text: GenieRx Holdings"/>
          <p:cNvSpPr txBox="1"/>
          <p:nvPr/>
        </p:nvSpPr>
        <p:spPr>
          <a:xfrm>
            <a:off x="7624762" y="6219825"/>
            <a:ext cx="70365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GenieRx Holdings</a:t>
            </a:r>
          </a:p>
        </p:txBody>
      </p:sp>
      <p:sp>
        <p:nvSpPr>
          <p:cNvPr id="532" name="Rectangle 531"/>
          <p:cNvSpPr/>
          <p:nvPr/>
        </p:nvSpPr>
        <p:spPr>
          <a:xfrm>
            <a:off x="8418909" y="6191250"/>
            <a:ext cx="1001167" cy="180975"/>
          </a:xfrm>
          <a:prstGeom prst="rect">
            <a:avLst/>
          </a:prstGeom>
          <a:solidFill>
            <a:srgbClr val="FFFFFF"/>
          </a:solidFill>
          <a:ln>
            <a:noFill/>
          </a:ln>
          <a:effectLst/>
        </p:spPr>
        <p:txBody>
          <a:bodyPr rtlCol="0" anchor="ctr"/>
          <a:lstStyle/>
          <a:p>
            <a:pPr algn="ctr"/>
            <a:endParaRPr/>
          </a:p>
        </p:txBody>
      </p:sp>
      <p:sp>
        <p:nvSpPr>
          <p:cNvPr id="533" name="Rectangle 532"/>
          <p:cNvSpPr/>
          <p:nvPr/>
        </p:nvSpPr>
        <p:spPr>
          <a:xfrm>
            <a:off x="8418909" y="6191250"/>
            <a:ext cx="1001167" cy="9525"/>
          </a:xfrm>
          <a:prstGeom prst="rect">
            <a:avLst/>
          </a:prstGeom>
          <a:solidFill>
            <a:srgbClr val="E3DCD3"/>
          </a:solidFill>
          <a:ln>
            <a:noFill/>
          </a:ln>
          <a:effectLst/>
        </p:spPr>
        <p:txBody>
          <a:bodyPr rtlCol="0" anchor="ctr"/>
          <a:lstStyle/>
          <a:p>
            <a:pPr algn="ctr"/>
            <a:endParaRPr/>
          </a:p>
        </p:txBody>
      </p:sp>
      <p:sp>
        <p:nvSpPr>
          <p:cNvPr id="534" name="Rectangle 533"/>
          <p:cNvSpPr/>
          <p:nvPr/>
        </p:nvSpPr>
        <p:spPr>
          <a:xfrm>
            <a:off x="9410551" y="6191250"/>
            <a:ext cx="9525" cy="180975"/>
          </a:xfrm>
          <a:prstGeom prst="rect">
            <a:avLst/>
          </a:prstGeom>
          <a:solidFill>
            <a:srgbClr val="E3DCD3"/>
          </a:solidFill>
          <a:ln>
            <a:noFill/>
          </a:ln>
          <a:effectLst/>
        </p:spPr>
        <p:txBody>
          <a:bodyPr rtlCol="0" anchor="ctr"/>
          <a:lstStyle/>
          <a:p>
            <a:pPr algn="ctr"/>
            <a:endParaRPr/>
          </a:p>
        </p:txBody>
      </p:sp>
      <p:sp>
        <p:nvSpPr>
          <p:cNvPr id="535" name="Rectangle 534"/>
          <p:cNvSpPr/>
          <p:nvPr/>
        </p:nvSpPr>
        <p:spPr>
          <a:xfrm>
            <a:off x="8418909" y="6362700"/>
            <a:ext cx="1001167" cy="9525"/>
          </a:xfrm>
          <a:prstGeom prst="rect">
            <a:avLst/>
          </a:prstGeom>
          <a:solidFill>
            <a:srgbClr val="E3DCD3"/>
          </a:solidFill>
          <a:ln>
            <a:noFill/>
          </a:ln>
          <a:effectLst/>
        </p:spPr>
        <p:txBody>
          <a:bodyPr rtlCol="0" anchor="ctr"/>
          <a:lstStyle/>
          <a:p>
            <a:pPr algn="ctr"/>
            <a:endParaRPr/>
          </a:p>
        </p:txBody>
      </p:sp>
      <p:sp>
        <p:nvSpPr>
          <p:cNvPr id="536" name="Rectangle 535"/>
          <p:cNvSpPr/>
          <p:nvPr/>
        </p:nvSpPr>
        <p:spPr>
          <a:xfrm>
            <a:off x="8418909" y="6191250"/>
            <a:ext cx="9525" cy="180975"/>
          </a:xfrm>
          <a:prstGeom prst="rect">
            <a:avLst/>
          </a:prstGeom>
          <a:solidFill>
            <a:srgbClr val="E3DCD3"/>
          </a:solidFill>
          <a:ln>
            <a:noFill/>
          </a:ln>
          <a:effectLst/>
        </p:spPr>
        <p:txBody>
          <a:bodyPr rtlCol="0" anchor="ctr"/>
          <a:lstStyle/>
          <a:p>
            <a:pPr algn="ctr"/>
            <a:endParaRPr/>
          </a:p>
        </p:txBody>
      </p:sp>
      <p:sp>
        <p:nvSpPr>
          <p:cNvPr id="537" name="Text: Strata Critical Medical"/>
          <p:cNvSpPr txBox="1"/>
          <p:nvPr/>
        </p:nvSpPr>
        <p:spPr>
          <a:xfrm>
            <a:off x="8485584" y="6219825"/>
            <a:ext cx="882104"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Strata Critical Medical</a:t>
            </a:r>
          </a:p>
        </p:txBody>
      </p:sp>
      <p:sp>
        <p:nvSpPr>
          <p:cNvPr id="538" name="Rectangle 537"/>
          <p:cNvSpPr/>
          <p:nvPr/>
        </p:nvSpPr>
        <p:spPr>
          <a:xfrm>
            <a:off x="7558088" y="6410325"/>
            <a:ext cx="1273969" cy="180975"/>
          </a:xfrm>
          <a:prstGeom prst="rect">
            <a:avLst/>
          </a:prstGeom>
          <a:solidFill>
            <a:srgbClr val="FFFFFF"/>
          </a:solidFill>
          <a:ln>
            <a:noFill/>
          </a:ln>
          <a:effectLst/>
        </p:spPr>
        <p:txBody>
          <a:bodyPr rtlCol="0" anchor="ctr"/>
          <a:lstStyle/>
          <a:p>
            <a:pPr algn="ctr"/>
            <a:endParaRPr/>
          </a:p>
        </p:txBody>
      </p:sp>
      <p:sp>
        <p:nvSpPr>
          <p:cNvPr id="539" name="Rectangle 538"/>
          <p:cNvSpPr/>
          <p:nvPr/>
        </p:nvSpPr>
        <p:spPr>
          <a:xfrm>
            <a:off x="7558088" y="6410325"/>
            <a:ext cx="1273969" cy="9525"/>
          </a:xfrm>
          <a:prstGeom prst="rect">
            <a:avLst/>
          </a:prstGeom>
          <a:solidFill>
            <a:srgbClr val="E3DCD3"/>
          </a:solidFill>
          <a:ln>
            <a:noFill/>
          </a:ln>
          <a:effectLst/>
        </p:spPr>
        <p:txBody>
          <a:bodyPr rtlCol="0" anchor="ctr"/>
          <a:lstStyle/>
          <a:p>
            <a:pPr algn="ctr"/>
            <a:endParaRPr/>
          </a:p>
        </p:txBody>
      </p:sp>
      <p:sp>
        <p:nvSpPr>
          <p:cNvPr id="540" name="Rectangle 539"/>
          <p:cNvSpPr/>
          <p:nvPr/>
        </p:nvSpPr>
        <p:spPr>
          <a:xfrm>
            <a:off x="8822531" y="6410325"/>
            <a:ext cx="9525" cy="180975"/>
          </a:xfrm>
          <a:prstGeom prst="rect">
            <a:avLst/>
          </a:prstGeom>
          <a:solidFill>
            <a:srgbClr val="E3DCD3"/>
          </a:solidFill>
          <a:ln>
            <a:noFill/>
          </a:ln>
          <a:effectLst/>
        </p:spPr>
        <p:txBody>
          <a:bodyPr rtlCol="0" anchor="ctr"/>
          <a:lstStyle/>
          <a:p>
            <a:pPr algn="ctr"/>
            <a:endParaRPr/>
          </a:p>
        </p:txBody>
      </p:sp>
      <p:sp>
        <p:nvSpPr>
          <p:cNvPr id="541" name="Rectangle 540"/>
          <p:cNvSpPr/>
          <p:nvPr/>
        </p:nvSpPr>
        <p:spPr>
          <a:xfrm>
            <a:off x="7558088" y="6581775"/>
            <a:ext cx="1273969" cy="9525"/>
          </a:xfrm>
          <a:prstGeom prst="rect">
            <a:avLst/>
          </a:prstGeom>
          <a:solidFill>
            <a:srgbClr val="E3DCD3"/>
          </a:solidFill>
          <a:ln>
            <a:noFill/>
          </a:ln>
          <a:effectLst/>
        </p:spPr>
        <p:txBody>
          <a:bodyPr rtlCol="0" anchor="ctr"/>
          <a:lstStyle/>
          <a:p>
            <a:pPr algn="ctr"/>
            <a:endParaRPr/>
          </a:p>
        </p:txBody>
      </p:sp>
      <p:sp>
        <p:nvSpPr>
          <p:cNvPr id="542" name="Rectangle 541"/>
          <p:cNvSpPr/>
          <p:nvPr/>
        </p:nvSpPr>
        <p:spPr>
          <a:xfrm>
            <a:off x="7558088" y="6410325"/>
            <a:ext cx="9525" cy="180975"/>
          </a:xfrm>
          <a:prstGeom prst="rect">
            <a:avLst/>
          </a:prstGeom>
          <a:solidFill>
            <a:srgbClr val="E3DCD3"/>
          </a:solidFill>
          <a:ln>
            <a:noFill/>
          </a:ln>
          <a:effectLst/>
        </p:spPr>
        <p:txBody>
          <a:bodyPr rtlCol="0" anchor="ctr"/>
          <a:lstStyle/>
          <a:p>
            <a:pPr algn="ctr"/>
            <a:endParaRPr/>
          </a:p>
        </p:txBody>
      </p:sp>
      <p:sp>
        <p:nvSpPr>
          <p:cNvPr id="543" name="Text: VeloSource (Interlock Equity)"/>
          <p:cNvSpPr txBox="1"/>
          <p:nvPr/>
        </p:nvSpPr>
        <p:spPr>
          <a:xfrm>
            <a:off x="7624762" y="6438900"/>
            <a:ext cx="1154906"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VeloSource (Interlock Equity)</a:t>
            </a:r>
          </a:p>
        </p:txBody>
      </p:sp>
      <p:sp>
        <p:nvSpPr>
          <p:cNvPr id="544" name="Rectangle 543"/>
          <p:cNvSpPr/>
          <p:nvPr/>
        </p:nvSpPr>
        <p:spPr>
          <a:xfrm>
            <a:off x="8870156" y="6410325"/>
            <a:ext cx="591145" cy="180975"/>
          </a:xfrm>
          <a:prstGeom prst="rect">
            <a:avLst/>
          </a:prstGeom>
          <a:solidFill>
            <a:srgbClr val="FFFFFF"/>
          </a:solidFill>
          <a:ln>
            <a:noFill/>
          </a:ln>
          <a:effectLst/>
        </p:spPr>
        <p:txBody>
          <a:bodyPr rtlCol="0" anchor="ctr"/>
          <a:lstStyle/>
          <a:p>
            <a:pPr algn="ctr"/>
            <a:endParaRPr/>
          </a:p>
        </p:txBody>
      </p:sp>
      <p:sp>
        <p:nvSpPr>
          <p:cNvPr id="545" name="Rectangle 544"/>
          <p:cNvSpPr/>
          <p:nvPr/>
        </p:nvSpPr>
        <p:spPr>
          <a:xfrm>
            <a:off x="8870156" y="6410325"/>
            <a:ext cx="591145" cy="9525"/>
          </a:xfrm>
          <a:prstGeom prst="rect">
            <a:avLst/>
          </a:prstGeom>
          <a:solidFill>
            <a:srgbClr val="E3DCD3"/>
          </a:solidFill>
          <a:ln>
            <a:noFill/>
          </a:ln>
          <a:effectLst/>
        </p:spPr>
        <p:txBody>
          <a:bodyPr rtlCol="0" anchor="ctr"/>
          <a:lstStyle/>
          <a:p>
            <a:pPr algn="ctr"/>
            <a:endParaRPr/>
          </a:p>
        </p:txBody>
      </p:sp>
      <p:sp>
        <p:nvSpPr>
          <p:cNvPr id="546" name="Rectangle 545"/>
          <p:cNvSpPr/>
          <p:nvPr/>
        </p:nvSpPr>
        <p:spPr>
          <a:xfrm>
            <a:off x="9451777" y="6410325"/>
            <a:ext cx="9525" cy="180975"/>
          </a:xfrm>
          <a:prstGeom prst="rect">
            <a:avLst/>
          </a:prstGeom>
          <a:solidFill>
            <a:srgbClr val="E3DCD3"/>
          </a:solidFill>
          <a:ln>
            <a:noFill/>
          </a:ln>
          <a:effectLst/>
        </p:spPr>
        <p:txBody>
          <a:bodyPr rtlCol="0" anchor="ctr"/>
          <a:lstStyle/>
          <a:p>
            <a:pPr algn="ctr"/>
            <a:endParaRPr/>
          </a:p>
        </p:txBody>
      </p:sp>
      <p:sp>
        <p:nvSpPr>
          <p:cNvPr id="547" name="Rectangle 546"/>
          <p:cNvSpPr/>
          <p:nvPr/>
        </p:nvSpPr>
        <p:spPr>
          <a:xfrm>
            <a:off x="8870156" y="6581775"/>
            <a:ext cx="591145" cy="9525"/>
          </a:xfrm>
          <a:prstGeom prst="rect">
            <a:avLst/>
          </a:prstGeom>
          <a:solidFill>
            <a:srgbClr val="E3DCD3"/>
          </a:solidFill>
          <a:ln>
            <a:noFill/>
          </a:ln>
          <a:effectLst/>
        </p:spPr>
        <p:txBody>
          <a:bodyPr rtlCol="0" anchor="ctr"/>
          <a:lstStyle/>
          <a:p>
            <a:pPr algn="ctr"/>
            <a:endParaRPr/>
          </a:p>
        </p:txBody>
      </p:sp>
      <p:sp>
        <p:nvSpPr>
          <p:cNvPr id="548" name="Rectangle 547"/>
          <p:cNvSpPr/>
          <p:nvPr/>
        </p:nvSpPr>
        <p:spPr>
          <a:xfrm>
            <a:off x="8870156" y="6410325"/>
            <a:ext cx="9525" cy="180975"/>
          </a:xfrm>
          <a:prstGeom prst="rect">
            <a:avLst/>
          </a:prstGeom>
          <a:solidFill>
            <a:srgbClr val="E3DCD3"/>
          </a:solidFill>
          <a:ln>
            <a:noFill/>
          </a:ln>
          <a:effectLst/>
        </p:spPr>
        <p:txBody>
          <a:bodyPr rtlCol="0" anchor="ctr"/>
          <a:lstStyle/>
          <a:p>
            <a:pPr algn="ctr"/>
            <a:endParaRPr/>
          </a:p>
        </p:txBody>
      </p:sp>
      <p:sp>
        <p:nvSpPr>
          <p:cNvPr id="549" name="Text: Care Career"/>
          <p:cNvSpPr txBox="1"/>
          <p:nvPr/>
        </p:nvSpPr>
        <p:spPr>
          <a:xfrm>
            <a:off x="8936831" y="6438900"/>
            <a:ext cx="472083"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Care Career</a:t>
            </a:r>
          </a:p>
        </p:txBody>
      </p:sp>
      <p:sp>
        <p:nvSpPr>
          <p:cNvPr id="550" name="Rectangle 549"/>
          <p:cNvSpPr/>
          <p:nvPr/>
        </p:nvSpPr>
        <p:spPr>
          <a:xfrm>
            <a:off x="7558088" y="6629400"/>
            <a:ext cx="450652" cy="180975"/>
          </a:xfrm>
          <a:prstGeom prst="rect">
            <a:avLst/>
          </a:prstGeom>
          <a:solidFill>
            <a:srgbClr val="FFFFFF"/>
          </a:solidFill>
          <a:ln>
            <a:noFill/>
          </a:ln>
          <a:effectLst/>
        </p:spPr>
        <p:txBody>
          <a:bodyPr rtlCol="0" anchor="ctr"/>
          <a:lstStyle/>
          <a:p>
            <a:pPr algn="ctr"/>
            <a:endParaRPr/>
          </a:p>
        </p:txBody>
      </p:sp>
      <p:sp>
        <p:nvSpPr>
          <p:cNvPr id="551" name="Rectangle 550"/>
          <p:cNvSpPr/>
          <p:nvPr/>
        </p:nvSpPr>
        <p:spPr>
          <a:xfrm>
            <a:off x="7558088" y="6629400"/>
            <a:ext cx="450652" cy="9525"/>
          </a:xfrm>
          <a:prstGeom prst="rect">
            <a:avLst/>
          </a:prstGeom>
          <a:solidFill>
            <a:srgbClr val="E3DCD3"/>
          </a:solidFill>
          <a:ln>
            <a:noFill/>
          </a:ln>
          <a:effectLst/>
        </p:spPr>
        <p:txBody>
          <a:bodyPr rtlCol="0" anchor="ctr"/>
          <a:lstStyle/>
          <a:p>
            <a:pPr algn="ctr"/>
            <a:endParaRPr/>
          </a:p>
        </p:txBody>
      </p:sp>
      <p:sp>
        <p:nvSpPr>
          <p:cNvPr id="552" name="Rectangle 551"/>
          <p:cNvSpPr/>
          <p:nvPr/>
        </p:nvSpPr>
        <p:spPr>
          <a:xfrm>
            <a:off x="7999214" y="6629400"/>
            <a:ext cx="9525" cy="180975"/>
          </a:xfrm>
          <a:prstGeom prst="rect">
            <a:avLst/>
          </a:prstGeom>
          <a:solidFill>
            <a:srgbClr val="E3DCD3"/>
          </a:solidFill>
          <a:ln>
            <a:noFill/>
          </a:ln>
          <a:effectLst/>
        </p:spPr>
        <p:txBody>
          <a:bodyPr rtlCol="0" anchor="ctr"/>
          <a:lstStyle/>
          <a:p>
            <a:pPr algn="ctr"/>
            <a:endParaRPr/>
          </a:p>
        </p:txBody>
      </p:sp>
      <p:sp>
        <p:nvSpPr>
          <p:cNvPr id="553" name="Rectangle 552"/>
          <p:cNvSpPr/>
          <p:nvPr/>
        </p:nvSpPr>
        <p:spPr>
          <a:xfrm>
            <a:off x="7558088" y="6800850"/>
            <a:ext cx="450652" cy="9525"/>
          </a:xfrm>
          <a:prstGeom prst="rect">
            <a:avLst/>
          </a:prstGeom>
          <a:solidFill>
            <a:srgbClr val="E3DCD3"/>
          </a:solidFill>
          <a:ln>
            <a:noFill/>
          </a:ln>
          <a:effectLst/>
        </p:spPr>
        <p:txBody>
          <a:bodyPr rtlCol="0" anchor="ctr"/>
          <a:lstStyle/>
          <a:p>
            <a:pPr algn="ctr"/>
            <a:endParaRPr/>
          </a:p>
        </p:txBody>
      </p:sp>
      <p:sp>
        <p:nvSpPr>
          <p:cNvPr id="554" name="Rectangle 553"/>
          <p:cNvSpPr/>
          <p:nvPr/>
        </p:nvSpPr>
        <p:spPr>
          <a:xfrm>
            <a:off x="7558088" y="6629400"/>
            <a:ext cx="9525" cy="180975"/>
          </a:xfrm>
          <a:prstGeom prst="rect">
            <a:avLst/>
          </a:prstGeom>
          <a:solidFill>
            <a:srgbClr val="E3DCD3"/>
          </a:solidFill>
          <a:ln>
            <a:noFill/>
          </a:ln>
          <a:effectLst/>
        </p:spPr>
        <p:txBody>
          <a:bodyPr rtlCol="0" anchor="ctr"/>
          <a:lstStyle/>
          <a:p>
            <a:pPr algn="ctr"/>
            <a:endParaRPr/>
          </a:p>
        </p:txBody>
      </p:sp>
      <p:sp>
        <p:nvSpPr>
          <p:cNvPr id="555" name="Text: Elite365"/>
          <p:cNvSpPr txBox="1"/>
          <p:nvPr/>
        </p:nvSpPr>
        <p:spPr>
          <a:xfrm>
            <a:off x="7624762" y="6657975"/>
            <a:ext cx="331589" cy="123825"/>
          </a:xfrm>
          <a:prstGeom prst="rect">
            <a:avLst/>
          </a:prstGeom>
          <a:noFill/>
        </p:spPr>
        <p:txBody>
          <a:bodyPr wrap="square" lIns="0" tIns="0" rIns="0" bIns="0" anchor="t">
            <a:spAutoFit/>
          </a:bodyPr>
          <a:lstStyle/>
          <a:p>
            <a:pPr algn="l">
              <a:lnSpc>
                <a:spcPts val="975"/>
              </a:lnSpc>
            </a:pPr>
            <a:r>
              <a:rPr sz="712" b="1" i="0" spc="15">
                <a:solidFill>
                  <a:srgbClr val="333231"/>
                </a:solidFill>
                <a:latin typeface="Calibri"/>
              </a:rPr>
              <a:t>Elite365</a:t>
            </a:r>
          </a:p>
        </p:txBody>
      </p:sp>
      <p:sp>
        <p:nvSpPr>
          <p:cNvPr id="556" name="Rectangle 55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56" descr="Benchmark International"/>
          <p:cNvPicPr>
            <a:picLocks noChangeAspect="1"/>
          </p:cNvPicPr>
          <p:nvPr/>
        </p:nvPicPr>
        <p:blipFill>
          <a:blip r:embed="rId44"/>
          <a:srcRect/>
          <a:stretch>
            <a:fillRect/>
          </a:stretch>
        </p:blipFill>
        <p:spPr>
          <a:xfrm>
            <a:off x="419100" y="7143750"/>
            <a:ext cx="914400" cy="171450"/>
          </a:xfrm>
          <a:prstGeom prst="rect">
            <a:avLst/>
          </a:prstGeom>
        </p:spPr>
      </p:pic>
      <p:sp>
        <p:nvSpPr>
          <p:cNvPr id="558" name="Text: Listed companies are the referenc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and each links to its data page. Private participants are buyers named in 2026 transactions. The list is a selection.</a:t>
            </a:r>
          </a:p>
        </p:txBody>
      </p:sp>
      <p:sp>
        <p:nvSpPr>
          <p:cNvPr id="559" name="Text: 1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elect Recent Healthcare M&amp;A Tran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 Six transactions announced or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Six transactions announced or completed between June and September 2026, with at least one from each focus area.</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Rectangle 8"/>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 SEPTEMBER 2026"/>
          <p:cNvSpPr txBox="1"/>
          <p:nvPr/>
        </p:nvSpPr>
        <p:spPr>
          <a:xfrm>
            <a:off x="5048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12" name="Text: PROVIDER SERVICES"/>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3" name="Rectangle 12"/>
          <p:cNvSpPr/>
          <p:nvPr/>
        </p:nvSpPr>
        <p:spPr>
          <a:xfrm>
            <a:off x="561975" y="1628775"/>
            <a:ext cx="1057275" cy="438150"/>
          </a:xfrm>
          <a:prstGeom prst="rect">
            <a:avLst/>
          </a:prstGeom>
          <a:solidFill>
            <a:srgbClr val="FFFFFF"/>
          </a:solidFill>
          <a:ln>
            <a:noFill/>
          </a:ln>
          <a:effectLst/>
        </p:spPr>
        <p:txBody>
          <a:bodyPr rtlCol="0" anchor="ctr"/>
          <a:lstStyle/>
          <a:p>
            <a:pPr algn="ctr"/>
            <a:endParaRPr/>
          </a:p>
        </p:txBody>
      </p:sp>
      <p:sp>
        <p:nvSpPr>
          <p:cNvPr id="14" name="Rectangle 13"/>
          <p:cNvSpPr/>
          <p:nvPr/>
        </p:nvSpPr>
        <p:spPr>
          <a:xfrm>
            <a:off x="561975" y="1628775"/>
            <a:ext cx="1057275" cy="9525"/>
          </a:xfrm>
          <a:prstGeom prst="rect">
            <a:avLst/>
          </a:prstGeom>
          <a:solidFill>
            <a:srgbClr val="E3DCD3"/>
          </a:solidFill>
          <a:ln>
            <a:noFill/>
          </a:ln>
          <a:effectLst/>
        </p:spPr>
        <p:txBody>
          <a:bodyPr rtlCol="0" anchor="ctr"/>
          <a:lstStyle/>
          <a:p>
            <a:pPr algn="ctr"/>
            <a:endParaRPr/>
          </a:p>
        </p:txBody>
      </p:sp>
      <p:sp>
        <p:nvSpPr>
          <p:cNvPr id="15" name="Rectangle 14"/>
          <p:cNvSpPr/>
          <p:nvPr/>
        </p:nvSpPr>
        <p:spPr>
          <a:xfrm>
            <a:off x="1609725" y="1628775"/>
            <a:ext cx="9525" cy="438150"/>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561975" y="2057400"/>
            <a:ext cx="1057275" cy="952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561975" y="1628775"/>
            <a:ext cx="9525" cy="438150"/>
          </a:xfrm>
          <a:prstGeom prst="rect">
            <a:avLst/>
          </a:prstGeom>
          <a:solidFill>
            <a:srgbClr val="E3DCD3"/>
          </a:solidFill>
          <a:ln>
            <a:noFill/>
          </a:ln>
          <a:effectLst/>
        </p:spPr>
        <p:txBody>
          <a:bodyPr rtlCol="0" anchor="ctr"/>
          <a:lstStyle/>
          <a:p>
            <a:pPr algn="ctr"/>
            <a:endParaRPr/>
          </a:p>
        </p:txBody>
      </p:sp>
      <p:sp>
        <p:nvSpPr>
          <p:cNvPr id="18" name="Text: EYECARE PARTNERS OPTOMETRY"/>
          <p:cNvSpPr txBox="1"/>
          <p:nvPr/>
        </p:nvSpPr>
        <p:spPr>
          <a:xfrm>
            <a:off x="6477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EYECARE PARTNERS OPTOMETRY</a:t>
            </a:r>
          </a:p>
        </p:txBody>
      </p:sp>
      <p:sp>
        <p:nvSpPr>
          <p:cNvPr id="19" name="Text: ACQUIRED BY"/>
          <p:cNvSpPr txBox="1"/>
          <p:nvPr/>
        </p:nvSpPr>
        <p:spPr>
          <a:xfrm>
            <a:off x="16764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20" name="Rectangle 19"/>
          <p:cNvSpPr/>
          <p:nvPr/>
        </p:nvSpPr>
        <p:spPr>
          <a:xfrm>
            <a:off x="2190750" y="1628775"/>
            <a:ext cx="1057275" cy="438150"/>
          </a:xfrm>
          <a:prstGeom prst="rect">
            <a:avLst/>
          </a:prstGeom>
          <a:solidFill>
            <a:srgbClr val="FFFFFF"/>
          </a:solidFill>
          <a:ln>
            <a:noFill/>
          </a:ln>
          <a:effectLst/>
        </p:spPr>
        <p:txBody>
          <a:bodyPr rtlCol="0" anchor="ctr"/>
          <a:lstStyle/>
          <a:p>
            <a:pPr algn="ctr"/>
            <a:endParaRPr/>
          </a:p>
        </p:txBody>
      </p:sp>
      <p:sp>
        <p:nvSpPr>
          <p:cNvPr id="21" name="Rectangle 20"/>
          <p:cNvSpPr/>
          <p:nvPr/>
        </p:nvSpPr>
        <p:spPr>
          <a:xfrm>
            <a:off x="2190750" y="1628775"/>
            <a:ext cx="105727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3238500" y="1628775"/>
            <a:ext cx="9525" cy="438150"/>
          </a:xfrm>
          <a:prstGeom prst="rect">
            <a:avLst/>
          </a:prstGeom>
          <a:solidFill>
            <a:srgbClr val="E3DCD3"/>
          </a:solidFill>
          <a:ln>
            <a:noFill/>
          </a:ln>
          <a:effectLst/>
        </p:spPr>
        <p:txBody>
          <a:bodyPr rtlCol="0" anchor="ctr"/>
          <a:lstStyle/>
          <a:p>
            <a:pPr algn="ctr"/>
            <a:endParaRPr/>
          </a:p>
        </p:txBody>
      </p:sp>
      <p:sp>
        <p:nvSpPr>
          <p:cNvPr id="23" name="Rectangle 22"/>
          <p:cNvSpPr/>
          <p:nvPr/>
        </p:nvSpPr>
        <p:spPr>
          <a:xfrm>
            <a:off x="2190750" y="2057400"/>
            <a:ext cx="1057275" cy="9525"/>
          </a:xfrm>
          <a:prstGeom prst="rect">
            <a:avLst/>
          </a:prstGeom>
          <a:solidFill>
            <a:srgbClr val="E3DCD3"/>
          </a:solidFill>
          <a:ln>
            <a:noFill/>
          </a:ln>
          <a:effectLst/>
        </p:spPr>
        <p:txBody>
          <a:bodyPr rtlCol="0" anchor="ctr"/>
          <a:lstStyle/>
          <a:p>
            <a:pPr algn="ctr"/>
            <a:endParaRPr/>
          </a:p>
        </p:txBody>
      </p:sp>
      <p:sp>
        <p:nvSpPr>
          <p:cNvPr id="24" name="Rectangle 23"/>
          <p:cNvSpPr/>
          <p:nvPr/>
        </p:nvSpPr>
        <p:spPr>
          <a:xfrm>
            <a:off x="2190750" y="1628775"/>
            <a:ext cx="9525" cy="438150"/>
          </a:xfrm>
          <a:prstGeom prst="rect">
            <a:avLst/>
          </a:prstGeom>
          <a:solidFill>
            <a:srgbClr val="E3DCD3"/>
          </a:solidFill>
          <a:ln>
            <a:noFill/>
          </a:ln>
          <a:effectLst/>
        </p:spPr>
        <p:txBody>
          <a:bodyPr rtlCol="0" anchor="ctr"/>
          <a:lstStyle/>
          <a:p>
            <a:pPr algn="ctr"/>
            <a:endParaRPr/>
          </a:p>
        </p:txBody>
      </p:sp>
      <p:sp>
        <p:nvSpPr>
          <p:cNvPr id="25" name="Text: MYEYEDR."/>
          <p:cNvSpPr txBox="1"/>
          <p:nvPr/>
        </p:nvSpPr>
        <p:spPr>
          <a:xfrm>
            <a:off x="2503289" y="1788319"/>
            <a:ext cx="44648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MYEYEDR.</a:t>
            </a:r>
          </a:p>
        </p:txBody>
      </p:sp>
      <p:sp>
        <p:nvSpPr>
          <p:cNvPr id="26" name="Text: MyEyeDr. agrees to buy the optomet"/>
          <p:cNvSpPr txBox="1"/>
          <p:nvPr/>
        </p:nvSpPr>
        <p:spPr>
          <a:xfrm>
            <a:off x="5619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MyEyeDr. agrees to buy the optometry business of EyeCare Partners</a:t>
            </a:r>
          </a:p>
        </p:txBody>
      </p:sp>
      <p:sp>
        <p:nvSpPr>
          <p:cNvPr id="27" name="Text: The business has more than 300 off"/>
          <p:cNvSpPr txBox="1"/>
          <p:nvPr/>
        </p:nvSpPr>
        <p:spPr>
          <a:xfrm>
            <a:off x="561975" y="2552700"/>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business has more than 300 offices, and EyeCare Partners will apply the proceeds to debt reduction. Closing is expected in the fourth quarter (</a:t>
            </a:r>
            <a:r>
              <a:rPr sz="861" b="0" i="0" spc="15">
                <a:solidFill>
                  <a:srgbClr val="8C6239"/>
                </a:solidFill>
                <a:latin typeface="Calibri"/>
                <a:hlinkClick r:id="rId2">
                  <a:extLst>
                    <a:ext uri="{A12FA001-AC4F-418D-AE19-62706E023703}">
                      <ahyp:hlinkClr xmlns:ahyp="http://schemas.microsoft.com/office/drawing/2018/hyperlinkcolor" val="tx"/>
                    </a:ext>
                  </a:extLst>
                </a:hlinkClick>
              </a:rPr>
              <a:t>EyeCare Partners</a:t>
            </a:r>
            <a:r>
              <a:rPr sz="861" b="0" i="0" spc="15">
                <a:solidFill>
                  <a:srgbClr val="333231"/>
                </a:solidFill>
                <a:latin typeface="Calibri"/>
              </a:rPr>
              <a:t>).</a:t>
            </a:r>
          </a:p>
        </p:txBody>
      </p:sp>
      <p:sp>
        <p:nvSpPr>
          <p:cNvPr id="28" name="Rectangle 27"/>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 WHAT IT SHOWS "/>
          <p:cNvSpPr txBox="1"/>
          <p:nvPr/>
        </p:nvSpPr>
        <p:spPr>
          <a:xfrm>
            <a:off x="5619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Scaled eye care platforms are combining, and sellers are using proceeds to reduce debt.</a:t>
            </a:r>
          </a:p>
        </p:txBody>
      </p:sp>
      <p:sp>
        <p:nvSpPr>
          <p:cNvPr id="30" name="Rectangle 29"/>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Rectangle 3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Rectangle 31"/>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 SEPTEMBER 2026"/>
          <p:cNvSpPr txBox="1"/>
          <p:nvPr/>
        </p:nvSpPr>
        <p:spPr>
          <a:xfrm>
            <a:off x="3629025" y="1371600"/>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34" name="Text: PROVIDER SERVICES"/>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35" name="Rectangle 34"/>
          <p:cNvSpPr/>
          <p:nvPr/>
        </p:nvSpPr>
        <p:spPr>
          <a:xfrm>
            <a:off x="3686175" y="1628775"/>
            <a:ext cx="1057275" cy="438150"/>
          </a:xfrm>
          <a:prstGeom prst="rect">
            <a:avLst/>
          </a:prstGeom>
          <a:solidFill>
            <a:srgbClr val="FFFFFF"/>
          </a:solidFill>
          <a:ln>
            <a:noFill/>
          </a:ln>
          <a:effectLst/>
        </p:spPr>
        <p:txBody>
          <a:bodyPr rtlCol="0" anchor="ctr"/>
          <a:lstStyle/>
          <a:p>
            <a:pPr algn="ctr"/>
            <a:endParaRPr/>
          </a:p>
        </p:txBody>
      </p:sp>
      <p:sp>
        <p:nvSpPr>
          <p:cNvPr id="36" name="Rectangle 35"/>
          <p:cNvSpPr/>
          <p:nvPr/>
        </p:nvSpPr>
        <p:spPr>
          <a:xfrm>
            <a:off x="3686175" y="1628775"/>
            <a:ext cx="1057275" cy="9525"/>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4733925" y="1628775"/>
            <a:ext cx="9525" cy="438150"/>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3686175" y="2057400"/>
            <a:ext cx="1057275" cy="9525"/>
          </a:xfrm>
          <a:prstGeom prst="rect">
            <a:avLst/>
          </a:prstGeom>
          <a:solidFill>
            <a:srgbClr val="E3DCD3"/>
          </a:solidFill>
          <a:ln>
            <a:noFill/>
          </a:ln>
          <a:effectLst/>
        </p:spPr>
        <p:txBody>
          <a:bodyPr rtlCol="0" anchor="ctr"/>
          <a:lstStyle/>
          <a:p>
            <a:pPr algn="ctr"/>
            <a:endParaRPr/>
          </a:p>
        </p:txBody>
      </p:sp>
      <p:sp>
        <p:nvSpPr>
          <p:cNvPr id="39" name="Rectangle 38"/>
          <p:cNvSpPr/>
          <p:nvPr/>
        </p:nvSpPr>
        <p:spPr>
          <a:xfrm>
            <a:off x="3686175" y="1628775"/>
            <a:ext cx="9525" cy="438150"/>
          </a:xfrm>
          <a:prstGeom prst="rect">
            <a:avLst/>
          </a:prstGeom>
          <a:solidFill>
            <a:srgbClr val="E3DCD3"/>
          </a:solidFill>
          <a:ln>
            <a:noFill/>
          </a:ln>
          <a:effectLst/>
        </p:spPr>
        <p:txBody>
          <a:bodyPr rtlCol="0" anchor="ctr"/>
          <a:lstStyle/>
          <a:p>
            <a:pPr algn="ctr"/>
            <a:endParaRPr/>
          </a:p>
        </p:txBody>
      </p:sp>
      <p:sp>
        <p:nvSpPr>
          <p:cNvPr id="40" name="Text: ACCENTCARE PERSONAL CARE"/>
          <p:cNvSpPr txBox="1"/>
          <p:nvPr/>
        </p:nvSpPr>
        <p:spPr>
          <a:xfrm>
            <a:off x="3771900" y="1728788"/>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ACCENTCARE PERSONAL CARE</a:t>
            </a:r>
          </a:p>
        </p:txBody>
      </p:sp>
      <p:sp>
        <p:nvSpPr>
          <p:cNvPr id="41" name="Text: ACQUIRED BY"/>
          <p:cNvSpPr txBox="1"/>
          <p:nvPr/>
        </p:nvSpPr>
        <p:spPr>
          <a:xfrm>
            <a:off x="48006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42" name="Rectangle 41"/>
          <p:cNvSpPr/>
          <p:nvPr/>
        </p:nvSpPr>
        <p:spPr>
          <a:xfrm>
            <a:off x="5314950" y="1628775"/>
            <a:ext cx="1057275" cy="43815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5314950" y="1628775"/>
            <a:ext cx="1057275" cy="9525"/>
          </a:xfrm>
          <a:prstGeom prst="rect">
            <a:avLst/>
          </a:prstGeom>
          <a:solidFill>
            <a:srgbClr val="E3DCD3"/>
          </a:solidFill>
          <a:ln>
            <a:noFill/>
          </a:ln>
          <a:effectLst/>
        </p:spPr>
        <p:txBody>
          <a:bodyPr rtlCol="0" anchor="ctr"/>
          <a:lstStyle/>
          <a:p>
            <a:pPr algn="ctr"/>
            <a:endParaRPr/>
          </a:p>
        </p:txBody>
      </p:sp>
      <p:sp>
        <p:nvSpPr>
          <p:cNvPr id="44" name="Rectangle 43"/>
          <p:cNvSpPr/>
          <p:nvPr/>
        </p:nvSpPr>
        <p:spPr>
          <a:xfrm>
            <a:off x="6362700" y="1628775"/>
            <a:ext cx="9525" cy="43815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5314950" y="2057400"/>
            <a:ext cx="1057275"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5314950" y="1628775"/>
            <a:ext cx="9525" cy="438150"/>
          </a:xfrm>
          <a:prstGeom prst="rect">
            <a:avLst/>
          </a:prstGeom>
          <a:solidFill>
            <a:srgbClr val="E3DCD3"/>
          </a:solidFill>
          <a:ln>
            <a:noFill/>
          </a:ln>
          <a:effectLst/>
        </p:spPr>
        <p:txBody>
          <a:bodyPr rtlCol="0" anchor="ctr"/>
          <a:lstStyle/>
          <a:p>
            <a:pPr algn="ctr"/>
            <a:endParaRPr/>
          </a:p>
        </p:txBody>
      </p:sp>
      <p:sp>
        <p:nvSpPr>
          <p:cNvPr id="47" name="Text: ADDUS HOMECARE"/>
          <p:cNvSpPr txBox="1"/>
          <p:nvPr/>
        </p:nvSpPr>
        <p:spPr>
          <a:xfrm>
            <a:off x="5445621" y="1788319"/>
            <a:ext cx="810220"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ADDUS HOMECARE</a:t>
            </a:r>
          </a:p>
        </p:txBody>
      </p:sp>
      <p:sp>
        <p:nvSpPr>
          <p:cNvPr id="48" name="Text: Addus HomeCare agrees to buy Accen"/>
          <p:cNvSpPr txBox="1"/>
          <p:nvPr/>
        </p:nvSpPr>
        <p:spPr>
          <a:xfrm>
            <a:off x="3686175" y="2171700"/>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Addus HomeCare agrees to buy AccentCare's personal care division</a:t>
            </a:r>
          </a:p>
        </p:txBody>
      </p:sp>
      <p:sp>
        <p:nvSpPr>
          <p:cNvPr id="49" name="Text: Addus will pay about $275 million "/>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 division with about $280 million of annual revenue in ten states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Addus HomeCare</a:t>
            </a:r>
            <a:r>
              <a:rPr sz="861" b="0" i="0" spc="15">
                <a:solidFill>
                  <a:srgbClr val="333231"/>
                </a:solidFill>
                <a:latin typeface="Calibri"/>
              </a:rPr>
              <a:t>).</a:t>
            </a:r>
          </a:p>
        </p:txBody>
      </p:sp>
      <p:sp>
        <p:nvSpPr>
          <p:cNvPr id="50" name="Rectangle 49"/>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 WHAT IT SHOWS "/>
          <p:cNvSpPr txBox="1"/>
          <p:nvPr/>
        </p:nvSpPr>
        <p:spPr>
          <a:xfrm>
            <a:off x="36861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Listed home care operators are paying about one times revenue for personal care scale.</a:t>
            </a:r>
          </a:p>
        </p:txBody>
      </p:sp>
      <p:sp>
        <p:nvSpPr>
          <p:cNvPr id="52" name="Rectangle 5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Rectangle 5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Rectangle 5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 JUNE 2026"/>
          <p:cNvSpPr txBox="1"/>
          <p:nvPr/>
        </p:nvSpPr>
        <p:spPr>
          <a:xfrm>
            <a:off x="6753225" y="1371600"/>
            <a:ext cx="6330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JUNE 2026</a:t>
            </a:r>
          </a:p>
        </p:txBody>
      </p:sp>
      <p:sp>
        <p:nvSpPr>
          <p:cNvPr id="56" name="Text: LIFE SCIENCES &amp; DIAGNOSTICS"/>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57" name="Rectangle 56"/>
          <p:cNvSpPr/>
          <p:nvPr/>
        </p:nvSpPr>
        <p:spPr>
          <a:xfrm>
            <a:off x="6810375" y="1628775"/>
            <a:ext cx="1057275" cy="438150"/>
          </a:xfrm>
          <a:prstGeom prst="rect">
            <a:avLst/>
          </a:prstGeom>
          <a:solidFill>
            <a:srgbClr val="FFFFFF"/>
          </a:solidFill>
          <a:ln>
            <a:noFill/>
          </a:ln>
          <a:effectLst/>
        </p:spPr>
        <p:txBody>
          <a:bodyPr rtlCol="0" anchor="ctr"/>
          <a:lstStyle/>
          <a:p>
            <a:pPr algn="ctr"/>
            <a:endParaRPr/>
          </a:p>
        </p:txBody>
      </p:sp>
      <p:sp>
        <p:nvSpPr>
          <p:cNvPr id="58" name="Rectangle 57"/>
          <p:cNvSpPr/>
          <p:nvPr/>
        </p:nvSpPr>
        <p:spPr>
          <a:xfrm>
            <a:off x="6810375" y="1628775"/>
            <a:ext cx="1057275" cy="9525"/>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7858125" y="1628775"/>
            <a:ext cx="9525" cy="438150"/>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6810375" y="2057400"/>
            <a:ext cx="1057275" cy="9525"/>
          </a:xfrm>
          <a:prstGeom prst="rect">
            <a:avLst/>
          </a:prstGeom>
          <a:solidFill>
            <a:srgbClr val="E3DCD3"/>
          </a:solidFill>
          <a:ln>
            <a:noFill/>
          </a:ln>
          <a:effectLst/>
        </p:spPr>
        <p:txBody>
          <a:bodyPr rtlCol="0" anchor="ctr"/>
          <a:lstStyle/>
          <a:p>
            <a:pPr algn="ctr"/>
            <a:endParaRPr/>
          </a:p>
        </p:txBody>
      </p:sp>
      <p:sp>
        <p:nvSpPr>
          <p:cNvPr id="61" name="Rectangle 60"/>
          <p:cNvSpPr/>
          <p:nvPr/>
        </p:nvSpPr>
        <p:spPr>
          <a:xfrm>
            <a:off x="6810375" y="1628775"/>
            <a:ext cx="9525" cy="438150"/>
          </a:xfrm>
          <a:prstGeom prst="rect">
            <a:avLst/>
          </a:prstGeom>
          <a:solidFill>
            <a:srgbClr val="E3DCD3"/>
          </a:solidFill>
          <a:ln>
            <a:noFill/>
          </a:ln>
          <a:effectLst/>
        </p:spPr>
        <p:txBody>
          <a:bodyPr rtlCol="0" anchor="ctr"/>
          <a:lstStyle/>
          <a:p>
            <a:pPr algn="ctr"/>
            <a:endParaRPr/>
          </a:p>
        </p:txBody>
      </p:sp>
      <p:sp>
        <p:nvSpPr>
          <p:cNvPr id="62" name="Text: BIO-TECHNE"/>
          <p:cNvSpPr txBox="1"/>
          <p:nvPr/>
        </p:nvSpPr>
        <p:spPr>
          <a:xfrm>
            <a:off x="7088237" y="1788319"/>
            <a:ext cx="5156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BIO-TECHNE</a:t>
            </a:r>
          </a:p>
        </p:txBody>
      </p:sp>
      <p:sp>
        <p:nvSpPr>
          <p:cNvPr id="63" name="Text: ACQUIRED BY"/>
          <p:cNvSpPr txBox="1"/>
          <p:nvPr/>
        </p:nvSpPr>
        <p:spPr>
          <a:xfrm>
            <a:off x="7924800" y="1747838"/>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64" name="Rectangle 63"/>
          <p:cNvSpPr/>
          <p:nvPr/>
        </p:nvSpPr>
        <p:spPr>
          <a:xfrm>
            <a:off x="8439150" y="1628775"/>
            <a:ext cx="1057275" cy="438150"/>
          </a:xfrm>
          <a:prstGeom prst="rect">
            <a:avLst/>
          </a:prstGeom>
          <a:solidFill>
            <a:srgbClr val="FFFFFF"/>
          </a:solidFill>
          <a:ln>
            <a:noFill/>
          </a:ln>
          <a:effectLst/>
        </p:spPr>
        <p:txBody>
          <a:bodyPr rtlCol="0" anchor="ctr"/>
          <a:lstStyle/>
          <a:p>
            <a:pPr algn="ctr"/>
            <a:endParaRPr/>
          </a:p>
        </p:txBody>
      </p:sp>
      <p:sp>
        <p:nvSpPr>
          <p:cNvPr id="65" name="Rectangle 64"/>
          <p:cNvSpPr/>
          <p:nvPr/>
        </p:nvSpPr>
        <p:spPr>
          <a:xfrm>
            <a:off x="8439150" y="1628775"/>
            <a:ext cx="1057275"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9486900" y="1628775"/>
            <a:ext cx="9525" cy="43815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8439150" y="2057400"/>
            <a:ext cx="1057275" cy="9525"/>
          </a:xfrm>
          <a:prstGeom prst="rect">
            <a:avLst/>
          </a:prstGeom>
          <a:solidFill>
            <a:srgbClr val="E3DCD3"/>
          </a:solidFill>
          <a:ln>
            <a:noFill/>
          </a:ln>
          <a:effectLst/>
        </p:spPr>
        <p:txBody>
          <a:bodyPr rtlCol="0" anchor="ctr"/>
          <a:lstStyle/>
          <a:p>
            <a:pPr algn="ctr"/>
            <a:endParaRPr/>
          </a:p>
        </p:txBody>
      </p:sp>
      <p:sp>
        <p:nvSpPr>
          <p:cNvPr id="68" name="Rectangle 67"/>
          <p:cNvSpPr/>
          <p:nvPr/>
        </p:nvSpPr>
        <p:spPr>
          <a:xfrm>
            <a:off x="8439150" y="1628775"/>
            <a:ext cx="9525" cy="438150"/>
          </a:xfrm>
          <a:prstGeom prst="rect">
            <a:avLst/>
          </a:prstGeom>
          <a:solidFill>
            <a:srgbClr val="E3DCD3"/>
          </a:solidFill>
          <a:ln>
            <a:noFill/>
          </a:ln>
          <a:effectLst/>
        </p:spPr>
        <p:txBody>
          <a:bodyPr rtlCol="0" anchor="ctr"/>
          <a:lstStyle/>
          <a:p>
            <a:pPr algn="ctr"/>
            <a:endParaRPr/>
          </a:p>
        </p:txBody>
      </p:sp>
      <p:sp>
        <p:nvSpPr>
          <p:cNvPr id="69" name="Text: MERCK KGAA"/>
          <p:cNvSpPr txBox="1"/>
          <p:nvPr/>
        </p:nvSpPr>
        <p:spPr>
          <a:xfrm>
            <a:off x="8691562" y="1788319"/>
            <a:ext cx="56658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MERCK KGAA</a:t>
            </a:r>
          </a:p>
        </p:txBody>
      </p:sp>
      <p:sp>
        <p:nvSpPr>
          <p:cNvPr id="70" name="Text: Merck KGaA agrees to acquire Bio-T"/>
          <p:cNvSpPr txBox="1"/>
          <p:nvPr/>
        </p:nvSpPr>
        <p:spPr>
          <a:xfrm>
            <a:off x="6810375" y="2171700"/>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Merck KGaA agrees to acquire Bio-Techne</a:t>
            </a:r>
          </a:p>
        </p:txBody>
      </p:sp>
      <p:sp>
        <p:nvSpPr>
          <p:cNvPr id="71" name="Text: The agreement values the reagent a"/>
          <p:cNvSpPr txBox="1"/>
          <p:nvPr/>
        </p:nvSpPr>
        <p:spPr>
          <a:xfrm>
            <a:off x="6810375" y="2386012"/>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agreement values the reagent and instrument maker at an enterprise value of $11.3 billion, with closing expected by early 2027 (</a:t>
            </a:r>
            <a:r>
              <a:rPr sz="861" b="0" i="0" spc="15">
                <a:solidFill>
                  <a:srgbClr val="8C6239"/>
                </a:solidFill>
                <a:latin typeface="Calibri"/>
                <a:hlinkClick r:id="rId4">
                  <a:extLst>
                    <a:ext uri="{A12FA001-AC4F-418D-AE19-62706E023703}">
                      <ahyp:hlinkClr xmlns:ahyp="http://schemas.microsoft.com/office/drawing/2018/hyperlinkcolor" val="tx"/>
                    </a:ext>
                  </a:extLst>
                </a:hlinkClick>
              </a:rPr>
              <a:t>Bio-Techne</a:t>
            </a:r>
            <a:r>
              <a:rPr sz="861" b="0" i="0" spc="15">
                <a:solidFill>
                  <a:srgbClr val="333231"/>
                </a:solidFill>
                <a:latin typeface="Calibri"/>
              </a:rPr>
              <a:t>).</a:t>
            </a:r>
          </a:p>
        </p:txBody>
      </p:sp>
      <p:sp>
        <p:nvSpPr>
          <p:cNvPr id="72" name="Rectangle 71"/>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 WHAT IT SHOWS "/>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Strategic buyers are paying for recurring consumables and reagents.</a:t>
            </a:r>
          </a:p>
        </p:txBody>
      </p:sp>
      <p:sp>
        <p:nvSpPr>
          <p:cNvPr id="74" name="Rectangle 73"/>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Rectangle 74"/>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Rectangle 75"/>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 SEPTEMBER 2026"/>
          <p:cNvSpPr txBox="1"/>
          <p:nvPr/>
        </p:nvSpPr>
        <p:spPr>
          <a:xfrm>
            <a:off x="504825" y="4295775"/>
            <a:ext cx="979170"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SEPTEMBER 2026</a:t>
            </a:r>
          </a:p>
        </p:txBody>
      </p:sp>
      <p:sp>
        <p:nvSpPr>
          <p:cNvPr id="78" name="Text: LIFE SCIENCES &amp; DIAGNOSTICS"/>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79" name="Rectangle 78"/>
          <p:cNvSpPr/>
          <p:nvPr/>
        </p:nvSpPr>
        <p:spPr>
          <a:xfrm>
            <a:off x="561975" y="4552950"/>
            <a:ext cx="1057275" cy="438150"/>
          </a:xfrm>
          <a:prstGeom prst="rect">
            <a:avLst/>
          </a:prstGeom>
          <a:solidFill>
            <a:srgbClr val="FFFFFF"/>
          </a:solidFill>
          <a:ln>
            <a:noFill/>
          </a:ln>
          <a:effectLst/>
        </p:spPr>
        <p:txBody>
          <a:bodyPr rtlCol="0" anchor="ctr"/>
          <a:lstStyle/>
          <a:p>
            <a:pPr algn="ctr"/>
            <a:endParaRPr/>
          </a:p>
        </p:txBody>
      </p:sp>
      <p:sp>
        <p:nvSpPr>
          <p:cNvPr id="80" name="Rectangle 79"/>
          <p:cNvSpPr/>
          <p:nvPr/>
        </p:nvSpPr>
        <p:spPr>
          <a:xfrm>
            <a:off x="561975" y="4552950"/>
            <a:ext cx="1057275" cy="9525"/>
          </a:xfrm>
          <a:prstGeom prst="rect">
            <a:avLst/>
          </a:prstGeom>
          <a:solidFill>
            <a:srgbClr val="E3DCD3"/>
          </a:solidFill>
          <a:ln>
            <a:noFill/>
          </a:ln>
          <a:effectLst/>
        </p:spPr>
        <p:txBody>
          <a:bodyPr rtlCol="0" anchor="ctr"/>
          <a:lstStyle/>
          <a:p>
            <a:pPr algn="ctr"/>
            <a:endParaRPr/>
          </a:p>
        </p:txBody>
      </p:sp>
      <p:sp>
        <p:nvSpPr>
          <p:cNvPr id="81" name="Rectangle 80"/>
          <p:cNvSpPr/>
          <p:nvPr/>
        </p:nvSpPr>
        <p:spPr>
          <a:xfrm>
            <a:off x="1609725" y="4552950"/>
            <a:ext cx="9525" cy="438150"/>
          </a:xfrm>
          <a:prstGeom prst="rect">
            <a:avLst/>
          </a:prstGeom>
          <a:solidFill>
            <a:srgbClr val="E3DCD3"/>
          </a:solidFill>
          <a:ln>
            <a:noFill/>
          </a:ln>
          <a:effectLst/>
        </p:spPr>
        <p:txBody>
          <a:bodyPr rtlCol="0" anchor="ctr"/>
          <a:lstStyle/>
          <a:p>
            <a:pPr algn="ctr"/>
            <a:endParaRPr/>
          </a:p>
        </p:txBody>
      </p:sp>
      <p:sp>
        <p:nvSpPr>
          <p:cNvPr id="82" name="Rectangle 81"/>
          <p:cNvSpPr/>
          <p:nvPr/>
        </p:nvSpPr>
        <p:spPr>
          <a:xfrm>
            <a:off x="561975" y="4981575"/>
            <a:ext cx="1057275" cy="9525"/>
          </a:xfrm>
          <a:prstGeom prst="rect">
            <a:avLst/>
          </a:prstGeom>
          <a:solidFill>
            <a:srgbClr val="E3DCD3"/>
          </a:solidFill>
          <a:ln>
            <a:noFill/>
          </a:ln>
          <a:effectLst/>
        </p:spPr>
        <p:txBody>
          <a:bodyPr rtlCol="0" anchor="ctr"/>
          <a:lstStyle/>
          <a:p>
            <a:pPr algn="ctr"/>
            <a:endParaRPr/>
          </a:p>
        </p:txBody>
      </p:sp>
      <p:sp>
        <p:nvSpPr>
          <p:cNvPr id="83" name="Rectangle 82"/>
          <p:cNvSpPr/>
          <p:nvPr/>
        </p:nvSpPr>
        <p:spPr>
          <a:xfrm>
            <a:off x="561975" y="4552950"/>
            <a:ext cx="9525" cy="438150"/>
          </a:xfrm>
          <a:prstGeom prst="rect">
            <a:avLst/>
          </a:prstGeom>
          <a:solidFill>
            <a:srgbClr val="E3DCD3"/>
          </a:solidFill>
          <a:ln>
            <a:noFill/>
          </a:ln>
          <a:effectLst/>
        </p:spPr>
        <p:txBody>
          <a:bodyPr rtlCol="0" anchor="ctr"/>
          <a:lstStyle/>
          <a:p>
            <a:pPr algn="ctr"/>
            <a:endParaRPr/>
          </a:p>
        </p:txBody>
      </p:sp>
      <p:sp>
        <p:nvSpPr>
          <p:cNvPr id="84" name="Text: STATLAB"/>
          <p:cNvSpPr txBox="1"/>
          <p:nvPr/>
        </p:nvSpPr>
        <p:spPr>
          <a:xfrm>
            <a:off x="915888" y="4712494"/>
            <a:ext cx="363587"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STATLAB</a:t>
            </a:r>
          </a:p>
        </p:txBody>
      </p:sp>
      <p:sp>
        <p:nvSpPr>
          <p:cNvPr id="85" name="Text: ACQUIRED BY"/>
          <p:cNvSpPr txBox="1"/>
          <p:nvPr/>
        </p:nvSpPr>
        <p:spPr>
          <a:xfrm>
            <a:off x="16764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86" name="Rectangle 85"/>
          <p:cNvSpPr/>
          <p:nvPr/>
        </p:nvSpPr>
        <p:spPr>
          <a:xfrm>
            <a:off x="2190750" y="4552950"/>
            <a:ext cx="1057275" cy="438150"/>
          </a:xfrm>
          <a:prstGeom prst="rect">
            <a:avLst/>
          </a:prstGeom>
          <a:solidFill>
            <a:srgbClr val="FFFFFF"/>
          </a:solidFill>
          <a:ln>
            <a:noFill/>
          </a:ln>
          <a:effectLst/>
        </p:spPr>
        <p:txBody>
          <a:bodyPr rtlCol="0" anchor="ctr"/>
          <a:lstStyle/>
          <a:p>
            <a:pPr algn="ctr"/>
            <a:endParaRPr/>
          </a:p>
        </p:txBody>
      </p:sp>
      <p:sp>
        <p:nvSpPr>
          <p:cNvPr id="87" name="Rectangle 86"/>
          <p:cNvSpPr/>
          <p:nvPr/>
        </p:nvSpPr>
        <p:spPr>
          <a:xfrm>
            <a:off x="2190750" y="4552950"/>
            <a:ext cx="1057275"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3238500" y="4552950"/>
            <a:ext cx="9525" cy="438150"/>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2190750" y="4981575"/>
            <a:ext cx="1057275" cy="9525"/>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190750" y="4552950"/>
            <a:ext cx="9525" cy="438150"/>
          </a:xfrm>
          <a:prstGeom prst="rect">
            <a:avLst/>
          </a:prstGeom>
          <a:solidFill>
            <a:srgbClr val="E3DCD3"/>
          </a:solidFill>
          <a:ln>
            <a:noFill/>
          </a:ln>
          <a:effectLst/>
        </p:spPr>
        <p:txBody>
          <a:bodyPr rtlCol="0" anchor="ctr"/>
          <a:lstStyle/>
          <a:p>
            <a:pPr algn="ctr"/>
            <a:endParaRPr/>
          </a:p>
        </p:txBody>
      </p:sp>
      <p:sp>
        <p:nvSpPr>
          <p:cNvPr id="91" name="Text: DANAHER (LEICA BIOSYSTEMS)"/>
          <p:cNvSpPr txBox="1"/>
          <p:nvPr/>
        </p:nvSpPr>
        <p:spPr>
          <a:xfrm>
            <a:off x="2276475"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DANAHER (LEICA BIOSYSTEMS)</a:t>
            </a:r>
          </a:p>
        </p:txBody>
      </p:sp>
      <p:sp>
        <p:nvSpPr>
          <p:cNvPr id="92" name="Text: Leica Biosystems buys StatLab from"/>
          <p:cNvSpPr txBox="1"/>
          <p:nvPr/>
        </p:nvSpPr>
        <p:spPr>
          <a:xfrm>
            <a:off x="5619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Leica Biosystems buys StatLab from Audax and Linden</a:t>
            </a:r>
          </a:p>
        </p:txBody>
      </p:sp>
      <p:sp>
        <p:nvSpPr>
          <p:cNvPr id="93" name="Text: StatLab makes anatomic pathology c"/>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Its sponsors built it through nine add-on acquisitions in five years (</a:t>
            </a:r>
            <a:r>
              <a:rPr sz="861" b="0" i="0" spc="15">
                <a:solidFill>
                  <a:srgbClr val="8C6239"/>
                </a:solidFill>
                <a:latin typeface="Calibri"/>
                <a:hlinkClick r:id="rId5">
                  <a:extLst>
                    <a:ext uri="{A12FA001-AC4F-418D-AE19-62706E023703}">
                      <ahyp:hlinkClr xmlns:ahyp="http://schemas.microsoft.com/office/drawing/2018/hyperlinkcolor" val="tx"/>
                    </a:ext>
                  </a:extLst>
                </a:hlinkClick>
              </a:rPr>
              <a:t>PE Professional</a:t>
            </a:r>
            <a:r>
              <a:rPr sz="861" b="0" i="0" spc="15">
                <a:solidFill>
                  <a:srgbClr val="333231"/>
                </a:solidFill>
                <a:latin typeface="Calibri"/>
              </a:rPr>
              <a:t>).</a:t>
            </a:r>
          </a:p>
        </p:txBody>
      </p:sp>
      <p:sp>
        <p:nvSpPr>
          <p:cNvPr id="94" name="Rectangle 93"/>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 WHAT IT SHOWS "/>
          <p:cNvSpPr txBox="1"/>
          <p:nvPr/>
        </p:nvSpPr>
        <p:spPr>
          <a:xfrm>
            <a:off x="5619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A platform assembled from founder-owned businesses became a strategic acquisition.</a:t>
            </a:r>
          </a:p>
        </p:txBody>
      </p:sp>
      <p:sp>
        <p:nvSpPr>
          <p:cNvPr id="96" name="Rectangle 95"/>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Rectangle 96"/>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Rectangle 97"/>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 AUGUST 2026"/>
          <p:cNvSpPr txBox="1"/>
          <p:nvPr/>
        </p:nvSpPr>
        <p:spPr>
          <a:xfrm>
            <a:off x="3629025" y="4295775"/>
            <a:ext cx="79188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AUGUST 2026</a:t>
            </a:r>
          </a:p>
        </p:txBody>
      </p:sp>
      <p:sp>
        <p:nvSpPr>
          <p:cNvPr id="100" name="Text: MEDICAL PRODUCTS &amp; DISTRIBUTION"/>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1" name="Rectangle 100"/>
          <p:cNvSpPr/>
          <p:nvPr/>
        </p:nvSpPr>
        <p:spPr>
          <a:xfrm>
            <a:off x="3686175" y="4552950"/>
            <a:ext cx="1057275" cy="438150"/>
          </a:xfrm>
          <a:prstGeom prst="rect">
            <a:avLst/>
          </a:prstGeom>
          <a:solidFill>
            <a:srgbClr val="FFFFFF"/>
          </a:solidFill>
          <a:ln>
            <a:noFill/>
          </a:ln>
          <a:effectLst/>
        </p:spPr>
        <p:txBody>
          <a:bodyPr rtlCol="0" anchor="ctr"/>
          <a:lstStyle/>
          <a:p>
            <a:pPr algn="ctr"/>
            <a:endParaRPr/>
          </a:p>
        </p:txBody>
      </p:sp>
      <p:sp>
        <p:nvSpPr>
          <p:cNvPr id="102" name="Rectangle 101"/>
          <p:cNvSpPr/>
          <p:nvPr/>
        </p:nvSpPr>
        <p:spPr>
          <a:xfrm>
            <a:off x="3686175" y="4552950"/>
            <a:ext cx="1057275" cy="9525"/>
          </a:xfrm>
          <a:prstGeom prst="rect">
            <a:avLst/>
          </a:prstGeom>
          <a:solidFill>
            <a:srgbClr val="E3DCD3"/>
          </a:solidFill>
          <a:ln>
            <a:noFill/>
          </a:ln>
          <a:effectLst/>
        </p:spPr>
        <p:txBody>
          <a:bodyPr rtlCol="0" anchor="ctr"/>
          <a:lstStyle/>
          <a:p>
            <a:pPr algn="ctr"/>
            <a:endParaRPr/>
          </a:p>
        </p:txBody>
      </p:sp>
      <p:sp>
        <p:nvSpPr>
          <p:cNvPr id="103" name="Rectangle 102"/>
          <p:cNvSpPr/>
          <p:nvPr/>
        </p:nvSpPr>
        <p:spPr>
          <a:xfrm>
            <a:off x="4733925" y="4552950"/>
            <a:ext cx="9525" cy="438150"/>
          </a:xfrm>
          <a:prstGeom prst="rect">
            <a:avLst/>
          </a:prstGeom>
          <a:solidFill>
            <a:srgbClr val="E3DCD3"/>
          </a:solidFill>
          <a:ln>
            <a:noFill/>
          </a:ln>
          <a:effectLst/>
        </p:spPr>
        <p:txBody>
          <a:bodyPr rtlCol="0" anchor="ctr"/>
          <a:lstStyle/>
          <a:p>
            <a:pPr algn="ctr"/>
            <a:endParaRPr/>
          </a:p>
        </p:txBody>
      </p:sp>
      <p:sp>
        <p:nvSpPr>
          <p:cNvPr id="104" name="Rectangle 103"/>
          <p:cNvSpPr/>
          <p:nvPr/>
        </p:nvSpPr>
        <p:spPr>
          <a:xfrm>
            <a:off x="3686175" y="4981575"/>
            <a:ext cx="1057275" cy="9525"/>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3686175" y="4552950"/>
            <a:ext cx="9525" cy="438150"/>
          </a:xfrm>
          <a:prstGeom prst="rect">
            <a:avLst/>
          </a:prstGeom>
          <a:solidFill>
            <a:srgbClr val="E3DCD3"/>
          </a:solidFill>
          <a:ln>
            <a:noFill/>
          </a:ln>
          <a:effectLst/>
        </p:spPr>
        <p:txBody>
          <a:bodyPr rtlCol="0" anchor="ctr"/>
          <a:lstStyle/>
          <a:p>
            <a:pPr algn="ctr"/>
            <a:endParaRPr/>
          </a:p>
        </p:txBody>
      </p:sp>
      <p:sp>
        <p:nvSpPr>
          <p:cNvPr id="106" name="Text: INTEGER HOLDINGS"/>
          <p:cNvSpPr txBox="1"/>
          <p:nvPr/>
        </p:nvSpPr>
        <p:spPr>
          <a:xfrm>
            <a:off x="3805535" y="4712494"/>
            <a:ext cx="832842"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INTEGER HOLDINGS</a:t>
            </a:r>
          </a:p>
        </p:txBody>
      </p:sp>
      <p:sp>
        <p:nvSpPr>
          <p:cNvPr id="107" name="Text: ACQUIRED BY"/>
          <p:cNvSpPr txBox="1"/>
          <p:nvPr/>
        </p:nvSpPr>
        <p:spPr>
          <a:xfrm>
            <a:off x="48006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08" name="Rectangle 107"/>
          <p:cNvSpPr/>
          <p:nvPr/>
        </p:nvSpPr>
        <p:spPr>
          <a:xfrm>
            <a:off x="5314950" y="4552950"/>
            <a:ext cx="1057275" cy="438150"/>
          </a:xfrm>
          <a:prstGeom prst="rect">
            <a:avLst/>
          </a:prstGeom>
          <a:solidFill>
            <a:srgbClr val="FFFFFF"/>
          </a:solidFill>
          <a:ln>
            <a:noFill/>
          </a:ln>
          <a:effectLst/>
        </p:spPr>
        <p:txBody>
          <a:bodyPr rtlCol="0" anchor="ctr"/>
          <a:lstStyle/>
          <a:p>
            <a:pPr algn="ctr"/>
            <a:endParaRPr/>
          </a:p>
        </p:txBody>
      </p:sp>
      <p:sp>
        <p:nvSpPr>
          <p:cNvPr id="109" name="Rectangle 108"/>
          <p:cNvSpPr/>
          <p:nvPr/>
        </p:nvSpPr>
        <p:spPr>
          <a:xfrm>
            <a:off x="5314950" y="4552950"/>
            <a:ext cx="1057275" cy="9525"/>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6362700" y="4552950"/>
            <a:ext cx="9525" cy="438150"/>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314950" y="4981575"/>
            <a:ext cx="1057275" cy="9525"/>
          </a:xfrm>
          <a:prstGeom prst="rect">
            <a:avLst/>
          </a:prstGeom>
          <a:solidFill>
            <a:srgbClr val="E3DCD3"/>
          </a:solidFill>
          <a:ln>
            <a:noFill/>
          </a:ln>
          <a:effectLst/>
        </p:spPr>
        <p:txBody>
          <a:bodyPr rtlCol="0" anchor="ctr"/>
          <a:lstStyle/>
          <a:p>
            <a:pPr algn="ctr"/>
            <a:endParaRPr/>
          </a:p>
        </p:txBody>
      </p:sp>
      <p:sp>
        <p:nvSpPr>
          <p:cNvPr id="112" name="Rectangle 111"/>
          <p:cNvSpPr/>
          <p:nvPr/>
        </p:nvSpPr>
        <p:spPr>
          <a:xfrm>
            <a:off x="5314950" y="4552950"/>
            <a:ext cx="9525" cy="438150"/>
          </a:xfrm>
          <a:prstGeom prst="rect">
            <a:avLst/>
          </a:prstGeom>
          <a:solidFill>
            <a:srgbClr val="E3DCD3"/>
          </a:solidFill>
          <a:ln>
            <a:noFill/>
          </a:ln>
          <a:effectLst/>
        </p:spPr>
        <p:txBody>
          <a:bodyPr rtlCol="0" anchor="ctr"/>
          <a:lstStyle/>
          <a:p>
            <a:pPr algn="ctr"/>
            <a:endParaRPr/>
          </a:p>
        </p:txBody>
      </p:sp>
      <p:sp>
        <p:nvSpPr>
          <p:cNvPr id="113" name="Text: KKR"/>
          <p:cNvSpPr txBox="1"/>
          <p:nvPr/>
        </p:nvSpPr>
        <p:spPr>
          <a:xfrm>
            <a:off x="5761434" y="4712494"/>
            <a:ext cx="178594"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KKR</a:t>
            </a:r>
          </a:p>
        </p:txBody>
      </p:sp>
      <p:sp>
        <p:nvSpPr>
          <p:cNvPr id="114" name="Text: KKR agrees to take Integer Holding"/>
          <p:cNvSpPr txBox="1"/>
          <p:nvPr/>
        </p:nvSpPr>
        <p:spPr>
          <a:xfrm>
            <a:off x="3686175" y="5095875"/>
            <a:ext cx="2700338" cy="166688"/>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KKR agrees to take Integer Holdings private</a:t>
            </a:r>
          </a:p>
        </p:txBody>
      </p:sp>
      <p:sp>
        <p:nvSpPr>
          <p:cNvPr id="115" name="Text: The offer of $127 a share values t"/>
          <p:cNvSpPr txBox="1"/>
          <p:nvPr/>
        </p:nvSpPr>
        <p:spPr>
          <a:xfrm>
            <a:off x="3686175" y="5310188"/>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The offer of $127 a share values the contract manufacturer at $5.7 billion, a 51.8% premium (</a:t>
            </a:r>
            <a:r>
              <a:rPr sz="861" b="0" i="0" spc="15">
                <a:solidFill>
                  <a:srgbClr val="8C6239"/>
                </a:solidFill>
                <a:latin typeface="Calibri"/>
                <a:hlinkClick r:id="rId6">
                  <a:extLst>
                    <a:ext uri="{A12FA001-AC4F-418D-AE19-62706E023703}">
                      <ahyp:hlinkClr xmlns:ahyp="http://schemas.microsoft.com/office/drawing/2018/hyperlinkcolor" val="tx"/>
                    </a:ext>
                  </a:extLst>
                </a:hlinkClick>
              </a:rPr>
              <a:t>Medical Design &amp; Outsourcing</a:t>
            </a:r>
            <a:r>
              <a:rPr sz="861" b="0" i="0" spc="15">
                <a:solidFill>
                  <a:srgbClr val="333231"/>
                </a:solidFill>
                <a:latin typeface="Calibri"/>
              </a:rPr>
              <a:t>).</a:t>
            </a:r>
          </a:p>
        </p:txBody>
      </p:sp>
      <p:sp>
        <p:nvSpPr>
          <p:cNvPr id="116" name="Rectangle 115"/>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 WHAT IT SHOWS "/>
          <p:cNvSpPr txBox="1"/>
          <p:nvPr/>
        </p:nvSpPr>
        <p:spPr>
          <a:xfrm>
            <a:off x="36861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Sponsors are buying medical device manufacturing platforms at scale.</a:t>
            </a:r>
          </a:p>
        </p:txBody>
      </p:sp>
      <p:sp>
        <p:nvSpPr>
          <p:cNvPr id="118" name="Rectangle 117"/>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Rectangle 118"/>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Rectangle 119"/>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 JULY 2026"/>
          <p:cNvSpPr txBox="1"/>
          <p:nvPr/>
        </p:nvSpPr>
        <p:spPr>
          <a:xfrm>
            <a:off x="6753225" y="4295775"/>
            <a:ext cx="607055" cy="114300"/>
          </a:xfrm>
          <a:prstGeom prst="rect">
            <a:avLst/>
          </a:prstGeom>
          <a:noFill/>
        </p:spPr>
        <p:txBody>
          <a:bodyPr wrap="square" lIns="0" tIns="0" rIns="0" bIns="0" anchor="t">
            <a:spAutoFit/>
          </a:bodyPr>
          <a:lstStyle/>
          <a:p>
            <a:pPr algn="l">
              <a:lnSpc>
                <a:spcPts val="900"/>
              </a:lnSpc>
            </a:pPr>
            <a:r>
              <a:rPr sz="638" b="1" i="0" spc="135">
                <a:solidFill>
                  <a:srgbClr val="D3AE84"/>
                </a:solidFill>
                <a:latin typeface="Calibri"/>
              </a:rPr>
              <a:t>JULY 2026</a:t>
            </a:r>
          </a:p>
        </p:txBody>
      </p:sp>
      <p:sp>
        <p:nvSpPr>
          <p:cNvPr id="122" name="Text: PHARMACY &amp; HEALTHCARE SERVICES"/>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3" name="Rectangle 122"/>
          <p:cNvSpPr/>
          <p:nvPr/>
        </p:nvSpPr>
        <p:spPr>
          <a:xfrm>
            <a:off x="6810375" y="4552950"/>
            <a:ext cx="1057275" cy="438150"/>
          </a:xfrm>
          <a:prstGeom prst="rect">
            <a:avLst/>
          </a:prstGeom>
          <a:solidFill>
            <a:srgbClr val="FFFFFF"/>
          </a:solidFill>
          <a:ln>
            <a:noFill/>
          </a:ln>
          <a:effectLst/>
        </p:spPr>
        <p:txBody>
          <a:bodyPr rtlCol="0" anchor="ctr"/>
          <a:lstStyle/>
          <a:p>
            <a:pPr algn="ctr"/>
            <a:endParaRPr/>
          </a:p>
        </p:txBody>
      </p:sp>
      <p:sp>
        <p:nvSpPr>
          <p:cNvPr id="124" name="Rectangle 123"/>
          <p:cNvSpPr/>
          <p:nvPr/>
        </p:nvSpPr>
        <p:spPr>
          <a:xfrm>
            <a:off x="6810375" y="4552950"/>
            <a:ext cx="1057275" cy="9525"/>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858125" y="4552950"/>
            <a:ext cx="9525" cy="438150"/>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6810375" y="4981575"/>
            <a:ext cx="1057275" cy="9525"/>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6810375" y="4552950"/>
            <a:ext cx="9525" cy="438150"/>
          </a:xfrm>
          <a:prstGeom prst="rect">
            <a:avLst/>
          </a:prstGeom>
          <a:solidFill>
            <a:srgbClr val="E3DCD3"/>
          </a:solidFill>
          <a:ln>
            <a:noFill/>
          </a:ln>
          <a:effectLst/>
        </p:spPr>
        <p:txBody>
          <a:bodyPr rtlCol="0" anchor="ctr"/>
          <a:lstStyle/>
          <a:p>
            <a:pPr algn="ctr"/>
            <a:endParaRPr/>
          </a:p>
        </p:txBody>
      </p:sp>
      <p:sp>
        <p:nvSpPr>
          <p:cNvPr id="128" name="Text: CROSS COUNTRY HEALTHCARE"/>
          <p:cNvSpPr txBox="1"/>
          <p:nvPr/>
        </p:nvSpPr>
        <p:spPr>
          <a:xfrm>
            <a:off x="6896100" y="4652962"/>
            <a:ext cx="900112" cy="238125"/>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CROSS COUNTRY HEALTHCARE</a:t>
            </a:r>
          </a:p>
        </p:txBody>
      </p:sp>
      <p:sp>
        <p:nvSpPr>
          <p:cNvPr id="129" name="Text: ACQUIRED BY"/>
          <p:cNvSpPr txBox="1"/>
          <p:nvPr/>
        </p:nvSpPr>
        <p:spPr>
          <a:xfrm>
            <a:off x="7924800" y="4672012"/>
            <a:ext cx="471488" cy="200025"/>
          </a:xfrm>
          <a:prstGeom prst="rect">
            <a:avLst/>
          </a:prstGeom>
          <a:noFill/>
        </p:spPr>
        <p:txBody>
          <a:bodyPr wrap="square" lIns="0" tIns="0" rIns="0" bIns="0" anchor="t">
            <a:spAutoFit/>
          </a:bodyPr>
          <a:lstStyle/>
          <a:p>
            <a:pPr algn="ctr">
              <a:lnSpc>
                <a:spcPts val="788"/>
              </a:lnSpc>
            </a:pPr>
            <a:r>
              <a:rPr sz="600" b="0" i="0" spc="60">
                <a:solidFill>
                  <a:srgbClr val="6F6A66"/>
                </a:solidFill>
                <a:latin typeface="Calibri"/>
              </a:rPr>
              <a:t>ACQUIRED BY</a:t>
            </a:r>
          </a:p>
        </p:txBody>
      </p:sp>
      <p:sp>
        <p:nvSpPr>
          <p:cNvPr id="130" name="Rectangle 129"/>
          <p:cNvSpPr/>
          <p:nvPr/>
        </p:nvSpPr>
        <p:spPr>
          <a:xfrm>
            <a:off x="8439150" y="4552950"/>
            <a:ext cx="1057275" cy="438150"/>
          </a:xfrm>
          <a:prstGeom prst="rect">
            <a:avLst/>
          </a:prstGeom>
          <a:solidFill>
            <a:srgbClr val="FFFFFF"/>
          </a:solidFill>
          <a:ln>
            <a:noFill/>
          </a:ln>
          <a:effectLst/>
        </p:spPr>
        <p:txBody>
          <a:bodyPr rtlCol="0" anchor="ctr"/>
          <a:lstStyle/>
          <a:p>
            <a:pPr algn="ctr"/>
            <a:endParaRPr/>
          </a:p>
        </p:txBody>
      </p:sp>
      <p:sp>
        <p:nvSpPr>
          <p:cNvPr id="131" name="Rectangle 130"/>
          <p:cNvSpPr/>
          <p:nvPr/>
        </p:nvSpPr>
        <p:spPr>
          <a:xfrm>
            <a:off x="8439150" y="4552950"/>
            <a:ext cx="1057275" cy="9525"/>
          </a:xfrm>
          <a:prstGeom prst="rect">
            <a:avLst/>
          </a:prstGeom>
          <a:solidFill>
            <a:srgbClr val="E3DCD3"/>
          </a:solidFill>
          <a:ln>
            <a:noFill/>
          </a:ln>
          <a:effectLst/>
        </p:spPr>
        <p:txBody>
          <a:bodyPr rtlCol="0" anchor="ctr"/>
          <a:lstStyle/>
          <a:p>
            <a:pPr algn="ctr"/>
            <a:endParaRPr/>
          </a:p>
        </p:txBody>
      </p:sp>
      <p:sp>
        <p:nvSpPr>
          <p:cNvPr id="132" name="Rectangle 131"/>
          <p:cNvSpPr/>
          <p:nvPr/>
        </p:nvSpPr>
        <p:spPr>
          <a:xfrm>
            <a:off x="9486900" y="4552950"/>
            <a:ext cx="9525" cy="438150"/>
          </a:xfrm>
          <a:prstGeom prst="rect">
            <a:avLst/>
          </a:prstGeom>
          <a:solidFill>
            <a:srgbClr val="E3DCD3"/>
          </a:solidFill>
          <a:ln>
            <a:noFill/>
          </a:ln>
          <a:effectLst/>
        </p:spPr>
        <p:txBody>
          <a:bodyPr rtlCol="0" anchor="ctr"/>
          <a:lstStyle/>
          <a:p>
            <a:pPr algn="ctr"/>
            <a:endParaRPr/>
          </a:p>
        </p:txBody>
      </p:sp>
      <p:sp>
        <p:nvSpPr>
          <p:cNvPr id="133" name="Rectangle 132"/>
          <p:cNvSpPr/>
          <p:nvPr/>
        </p:nvSpPr>
        <p:spPr>
          <a:xfrm>
            <a:off x="8439150" y="4981575"/>
            <a:ext cx="1057275" cy="9525"/>
          </a:xfrm>
          <a:prstGeom prst="rect">
            <a:avLst/>
          </a:prstGeom>
          <a:solidFill>
            <a:srgbClr val="E3DCD3"/>
          </a:solidFill>
          <a:ln>
            <a:noFill/>
          </a:ln>
          <a:effectLst/>
        </p:spPr>
        <p:txBody>
          <a:bodyPr rtlCol="0" anchor="ctr"/>
          <a:lstStyle/>
          <a:p>
            <a:pPr algn="ctr"/>
            <a:endParaRPr/>
          </a:p>
        </p:txBody>
      </p:sp>
      <p:sp>
        <p:nvSpPr>
          <p:cNvPr id="134" name="Rectangle 133"/>
          <p:cNvSpPr/>
          <p:nvPr/>
        </p:nvSpPr>
        <p:spPr>
          <a:xfrm>
            <a:off x="8439150" y="4552950"/>
            <a:ext cx="9525" cy="438150"/>
          </a:xfrm>
          <a:prstGeom prst="rect">
            <a:avLst/>
          </a:prstGeom>
          <a:solidFill>
            <a:srgbClr val="E3DCD3"/>
          </a:solidFill>
          <a:ln>
            <a:noFill/>
          </a:ln>
          <a:effectLst/>
        </p:spPr>
        <p:txBody>
          <a:bodyPr rtlCol="0" anchor="ctr"/>
          <a:lstStyle/>
          <a:p>
            <a:pPr algn="ctr"/>
            <a:endParaRPr/>
          </a:p>
        </p:txBody>
      </p:sp>
      <p:sp>
        <p:nvSpPr>
          <p:cNvPr id="135" name="Text: KNOX LANE"/>
          <p:cNvSpPr txBox="1"/>
          <p:nvPr/>
        </p:nvSpPr>
        <p:spPr>
          <a:xfrm>
            <a:off x="8729067" y="4712494"/>
            <a:ext cx="491579" cy="119062"/>
          </a:xfrm>
          <a:prstGeom prst="rect">
            <a:avLst/>
          </a:prstGeom>
          <a:noFill/>
        </p:spPr>
        <p:txBody>
          <a:bodyPr wrap="square" lIns="0" tIns="0" rIns="0" bIns="0" anchor="t">
            <a:spAutoFit/>
          </a:bodyPr>
          <a:lstStyle/>
          <a:p>
            <a:pPr algn="ctr">
              <a:lnSpc>
                <a:spcPts val="938"/>
              </a:lnSpc>
            </a:pPr>
            <a:r>
              <a:rPr sz="712" b="1" i="0" spc="38">
                <a:solidFill>
                  <a:srgbClr val="1B1A1A"/>
                </a:solidFill>
                <a:latin typeface="Calibri"/>
              </a:rPr>
              <a:t>KNOX LANE</a:t>
            </a:r>
          </a:p>
        </p:txBody>
      </p:sp>
      <p:sp>
        <p:nvSpPr>
          <p:cNvPr id="136" name="Text: Knox Lane completes its purchase o"/>
          <p:cNvSpPr txBox="1"/>
          <p:nvPr/>
        </p:nvSpPr>
        <p:spPr>
          <a:xfrm>
            <a:off x="6810375" y="5095875"/>
            <a:ext cx="2700338" cy="333375"/>
          </a:xfrm>
          <a:prstGeom prst="rect">
            <a:avLst/>
          </a:prstGeom>
          <a:noFill/>
        </p:spPr>
        <p:txBody>
          <a:bodyPr wrap="square" lIns="0" tIns="0" rIns="0" bIns="0" anchor="t">
            <a:spAutoFit/>
          </a:bodyPr>
          <a:lstStyle/>
          <a:p>
            <a:pPr algn="l">
              <a:lnSpc>
                <a:spcPts val="1312"/>
              </a:lnSpc>
            </a:pPr>
            <a:r>
              <a:rPr sz="975" b="1" i="0" spc="15">
                <a:solidFill>
                  <a:srgbClr val="1B1A1A"/>
                </a:solidFill>
                <a:latin typeface="Calibri"/>
              </a:rPr>
              <a:t>Knox Lane completes its purchase of Cross Country Healthcare</a:t>
            </a:r>
          </a:p>
        </p:txBody>
      </p:sp>
      <p:sp>
        <p:nvSpPr>
          <p:cNvPr id="137" name="Text: Knox Lane paid $437 million, or $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7">
                  <a:extLst>
                    <a:ext uri="{A12FA001-AC4F-418D-AE19-62706E023703}">
                      <ahyp:hlinkClr xmlns:ahyp="http://schemas.microsoft.com/office/drawing/2018/hyperlinkcolor" val="tx"/>
                    </a:ext>
                  </a:extLst>
                </a:hlinkClick>
              </a:rPr>
              <a:t>Staffing Industry Analysts</a:t>
            </a:r>
            <a:r>
              <a:rPr sz="861" b="0" i="0" spc="15">
                <a:solidFill>
                  <a:srgbClr val="333231"/>
                </a:solidFill>
                <a:latin typeface="Calibri"/>
              </a:rPr>
              <a:t>; </a:t>
            </a:r>
            <a:r>
              <a:rPr sz="861" b="0" i="0" spc="15">
                <a:solidFill>
                  <a:srgbClr val="8C6239"/>
                </a:solidFill>
                <a:latin typeface="Calibri"/>
                <a:hlinkClick r:id="rId8">
                  <a:extLst>
                    <a:ext uri="{A12FA001-AC4F-418D-AE19-62706E023703}">
                      <ahyp:hlinkClr xmlns:ahyp="http://schemas.microsoft.com/office/drawing/2018/hyperlinkcolor" val="tx"/>
                    </a:ext>
                  </a:extLst>
                </a:hlinkClick>
              </a:rPr>
              <a:t>Fierce Healthcare</a:t>
            </a:r>
            <a:r>
              <a:rPr sz="861" b="0" i="0" spc="15">
                <a:solidFill>
                  <a:srgbClr val="333231"/>
                </a:solidFill>
                <a:latin typeface="Calibri"/>
              </a:rPr>
              <a:t>).</a:t>
            </a:r>
          </a:p>
        </p:txBody>
      </p:sp>
      <p:sp>
        <p:nvSpPr>
          <p:cNvPr id="138" name="Rectangle 137"/>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 WHAT IT SHOWS "/>
          <p:cNvSpPr txBox="1"/>
          <p:nvPr/>
        </p:nvSpPr>
        <p:spPr>
          <a:xfrm>
            <a:off x="6810375" y="6515100"/>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WHAT IT SHOWS </a:t>
            </a:r>
            <a:r>
              <a:rPr sz="788" b="0" i="0" spc="15">
                <a:solidFill>
                  <a:srgbClr val="333231"/>
                </a:solidFill>
                <a:latin typeface="Calibri"/>
              </a:rPr>
              <a:t>Regulatory review can change the buyer and the price of a scale merger.</a:t>
            </a:r>
          </a:p>
        </p:txBody>
      </p:sp>
      <p:sp>
        <p:nvSpPr>
          <p:cNvPr id="140" name="Rectangle 13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40" descr="Benchmark International"/>
          <p:cNvPicPr>
            <a:picLocks noChangeAspect="1"/>
          </p:cNvPicPr>
          <p:nvPr/>
        </p:nvPicPr>
        <p:blipFill>
          <a:blip r:embed="rId9"/>
          <a:srcRect/>
          <a:stretch>
            <a:fillRect/>
          </a:stretch>
        </p:blipFill>
        <p:spPr>
          <a:xfrm>
            <a:off x="419100" y="7143750"/>
            <a:ext cx="914400" cy="171450"/>
          </a:xfrm>
          <a:prstGeom prst="rect">
            <a:avLst/>
          </a:prstGeom>
        </p:spPr>
      </p:pic>
      <p:sp>
        <p:nvSpPr>
          <p:cNvPr id="142" name="Text: Terms are as disclosed by the part"/>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Terms are as disclosed by the parties or reported by the linked source. Benchmark International did not advise on these transactions.</a:t>
            </a:r>
          </a:p>
        </p:txBody>
      </p:sp>
      <p:sp>
        <p:nvSpPr>
          <p:cNvPr id="143" name="Text: 1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s Healthc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 Pharmacy and healthcare services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leads with five closed transactions, life sciences and diagnostics follows with four, and most buyers were operating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 TRAILING 24 MONTHS"/>
          <p:cNvSpPr txBox="1"/>
          <p:nvPr/>
        </p:nvSpPr>
        <p:spPr>
          <a:xfrm>
            <a:off x="609600" y="1466850"/>
            <a:ext cx="15763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TRAILING 24 MONTHS</a:t>
            </a:r>
          </a:p>
        </p:txBody>
      </p:sp>
      <p:sp>
        <p:nvSpPr>
          <p:cNvPr id="11" name="Rectangle 10"/>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 12"/>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 transactions closed in these four "/>
          <p:cNvSpPr txBox="1"/>
          <p:nvPr/>
        </p:nvSpPr>
        <p:spPr>
          <a:xfrm>
            <a:off x="609600" y="2209800"/>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transactions closed in these four focus areas</a:t>
            </a:r>
          </a:p>
        </p:txBody>
      </p:sp>
      <p:sp>
        <p:nvSpPr>
          <p:cNvPr id="14" name="Rectangle 13"/>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 39"/>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39</a:t>
            </a:r>
          </a:p>
        </p:txBody>
      </p:sp>
      <p:sp>
        <p:nvSpPr>
          <p:cNvPr id="16" name="Text: further engagements in progress as"/>
          <p:cNvSpPr txBox="1"/>
          <p:nvPr/>
        </p:nvSpPr>
        <p:spPr>
          <a:xfrm>
            <a:off x="609600" y="3190875"/>
            <a:ext cx="1576388" cy="485775"/>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further engagements in progress as of October 1, 2026, of which 20 are on the market</a:t>
            </a:r>
          </a:p>
        </p:txBody>
      </p:sp>
      <p:sp>
        <p:nvSpPr>
          <p:cNvPr id="17" name="Rectangle 1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 6 of 9"/>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6 of 9</a:t>
            </a:r>
          </a:p>
        </p:txBody>
      </p:sp>
      <p:sp>
        <p:nvSpPr>
          <p:cNvPr id="19" name="Text: named sellers were bought by an op"/>
          <p:cNvSpPr txBox="1"/>
          <p:nvPr/>
        </p:nvSpPr>
        <p:spPr>
          <a:xfrm>
            <a:off x="609600" y="4333875"/>
            <a:ext cx="1576388" cy="323850"/>
          </a:xfrm>
          <a:prstGeom prst="rect">
            <a:avLst/>
          </a:prstGeom>
          <a:noFill/>
        </p:spPr>
        <p:txBody>
          <a:bodyPr wrap="square" lIns="0" tIns="0" rIns="0" bIns="0" anchor="t">
            <a:spAutoFit/>
          </a:bodyPr>
          <a:lstStyle/>
          <a:p>
            <a:pPr algn="l">
              <a:lnSpc>
                <a:spcPts val="1275"/>
              </a:lnSpc>
            </a:pPr>
            <a:r>
              <a:rPr sz="861" b="0" i="0" spc="15">
                <a:solidFill>
                  <a:srgbClr val="E8E2DA"/>
                </a:solidFill>
                <a:latin typeface="Calibri"/>
              </a:rPr>
              <a:t>named sellers were bought by an operating company</a:t>
            </a:r>
          </a:p>
        </p:txBody>
      </p:sp>
      <p:sp>
        <p:nvSpPr>
          <p:cNvPr id="20" name="Rectangle 19"/>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 Ranked the leading privately owned"/>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Ranked the leading privately owned sell-side M&amp;A advisor in the world in PitchBook's Q2 2026 Global League Tables (</a:t>
            </a:r>
            <a:r>
              <a:rPr sz="825" b="0" i="0" spc="15">
                <a:solidFill>
                  <a:srgbClr val="D3AE84"/>
                </a:solidFill>
                <a:latin typeface="Calibri"/>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Calibri"/>
              </a:rPr>
              <a:t>).</a:t>
            </a:r>
          </a:p>
        </p:txBody>
      </p:sp>
      <p:sp>
        <p:nvSpPr>
          <p:cNvPr id="22" name="Rectangle 21"/>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Rectangle 22"/>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Rectangle 23"/>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Rectangle 24"/>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2638425" y="1362075"/>
            <a:ext cx="2051000" cy="419100"/>
          </a:xfrm>
          <a:prstGeom prst="rect">
            <a:avLst/>
          </a:prstGeom>
          <a:solidFill>
            <a:srgbClr val="FFFFFF"/>
          </a:solidFill>
          <a:ln>
            <a:noFill/>
          </a:ln>
          <a:effectLst/>
        </p:spPr>
        <p:txBody>
          <a:bodyPr rtlCol="0" anchor="ctr"/>
          <a:lstStyle/>
          <a:p>
            <a:pPr algn="ctr"/>
            <a:endParaRPr/>
          </a:p>
        </p:txBody>
      </p:sp>
      <p:sp>
        <p:nvSpPr>
          <p:cNvPr id="28" name="Rectangle 27"/>
          <p:cNvSpPr/>
          <p:nvPr/>
        </p:nvSpPr>
        <p:spPr>
          <a:xfrm>
            <a:off x="2638425" y="1362075"/>
            <a:ext cx="2051000"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679900" y="1362075"/>
            <a:ext cx="9525" cy="419100"/>
          </a:xfrm>
          <a:prstGeom prst="rect">
            <a:avLst/>
          </a:prstGeom>
          <a:solidFill>
            <a:srgbClr val="E3DCD3"/>
          </a:solidFill>
          <a:ln>
            <a:noFill/>
          </a:ln>
          <a:effectLst/>
        </p:spPr>
        <p:txBody>
          <a:bodyPr rtlCol="0" anchor="ctr"/>
          <a:lstStyle/>
          <a:p>
            <a:pPr algn="ctr"/>
            <a:endParaRPr/>
          </a:p>
        </p:txBody>
      </p:sp>
      <p:sp>
        <p:nvSpPr>
          <p:cNvPr id="30" name="Rectangle 29"/>
          <p:cNvSpPr/>
          <p:nvPr/>
        </p:nvSpPr>
        <p:spPr>
          <a:xfrm>
            <a:off x="2638425" y="1771650"/>
            <a:ext cx="2051000" cy="9525"/>
          </a:xfrm>
          <a:prstGeom prst="rect">
            <a:avLst/>
          </a:prstGeom>
          <a:solidFill>
            <a:srgbClr val="E3DCD3"/>
          </a:solidFill>
          <a:ln>
            <a:noFill/>
          </a:ln>
          <a:effectLst/>
        </p:spPr>
        <p:txBody>
          <a:bodyPr rtlCol="0" anchor="ctr"/>
          <a:lstStyle/>
          <a:p>
            <a:pPr algn="ctr"/>
            <a:endParaRPr/>
          </a:p>
        </p:txBody>
      </p:sp>
      <p:sp>
        <p:nvSpPr>
          <p:cNvPr id="31" name="Rectangle 30"/>
          <p:cNvSpPr/>
          <p:nvPr/>
        </p:nvSpPr>
        <p:spPr>
          <a:xfrm>
            <a:off x="2638425" y="1362075"/>
            <a:ext cx="9525" cy="419100"/>
          </a:xfrm>
          <a:prstGeom prst="rect">
            <a:avLst/>
          </a:prstGeom>
          <a:solidFill>
            <a:srgbClr val="E3DCD3"/>
          </a:solidFill>
          <a:ln>
            <a:noFill/>
          </a:ln>
          <a:effectLst/>
        </p:spPr>
        <p:txBody>
          <a:bodyPr rtlCol="0" anchor="ctr"/>
          <a:lstStyle/>
          <a:p>
            <a:pPr algn="ctr"/>
            <a:endParaRPr/>
          </a:p>
        </p:txBody>
      </p:sp>
      <p:sp>
        <p:nvSpPr>
          <p:cNvPr id="32" name="Text: PRECISE BIOSCIENCE">
            <a:hlinkClick r:id="rId4"/>
          </p:cNvPr>
          <p:cNvSpPr txBox="1"/>
          <p:nvPr/>
        </p:nvSpPr>
        <p:spPr>
          <a:xfrm>
            <a:off x="3228529" y="1509712"/>
            <a:ext cx="88508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PRECISE BIOSCIENCE</a:t>
            </a:r>
          </a:p>
        </p:txBody>
      </p:sp>
      <p:sp>
        <p:nvSpPr>
          <p:cNvPr id="33" name="Text: HAS BEEN ACQUIRED BY">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34" name="Rectangle 33"/>
          <p:cNvSpPr/>
          <p:nvPr/>
        </p:nvSpPr>
        <p:spPr>
          <a:xfrm>
            <a:off x="2638425" y="1943100"/>
            <a:ext cx="2051000" cy="419100"/>
          </a:xfrm>
          <a:prstGeom prst="rect">
            <a:avLst/>
          </a:prstGeom>
          <a:solidFill>
            <a:srgbClr val="FFFFFF"/>
          </a:solidFill>
          <a:ln>
            <a:noFill/>
          </a:ln>
          <a:effectLst/>
        </p:spPr>
        <p:txBody>
          <a:bodyPr rtlCol="0" anchor="ctr"/>
          <a:lstStyle/>
          <a:p>
            <a:pPr algn="ctr"/>
            <a:endParaRPr/>
          </a:p>
        </p:txBody>
      </p:sp>
      <p:sp>
        <p:nvSpPr>
          <p:cNvPr id="35" name="Rectangle 34"/>
          <p:cNvSpPr/>
          <p:nvPr/>
        </p:nvSpPr>
        <p:spPr>
          <a:xfrm>
            <a:off x="2638425" y="1943100"/>
            <a:ext cx="2051000"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4679900" y="1943100"/>
            <a:ext cx="9525" cy="419100"/>
          </a:xfrm>
          <a:prstGeom prst="rect">
            <a:avLst/>
          </a:prstGeom>
          <a:solidFill>
            <a:srgbClr val="E3DCD3"/>
          </a:solidFill>
          <a:ln>
            <a:noFill/>
          </a:ln>
          <a:effectLst/>
        </p:spPr>
        <p:txBody>
          <a:bodyPr rtlCol="0" anchor="ctr"/>
          <a:lstStyle/>
          <a:p>
            <a:pPr algn="ctr"/>
            <a:endParaRPr/>
          </a:p>
        </p:txBody>
      </p:sp>
      <p:sp>
        <p:nvSpPr>
          <p:cNvPr id="37" name="Rectangle 36"/>
          <p:cNvSpPr/>
          <p:nvPr/>
        </p:nvSpPr>
        <p:spPr>
          <a:xfrm>
            <a:off x="2638425" y="2352675"/>
            <a:ext cx="2051000" cy="9525"/>
          </a:xfrm>
          <a:prstGeom prst="rect">
            <a:avLst/>
          </a:prstGeom>
          <a:solidFill>
            <a:srgbClr val="E3DCD3"/>
          </a:solidFill>
          <a:ln>
            <a:noFill/>
          </a:ln>
          <a:effectLst/>
        </p:spPr>
        <p:txBody>
          <a:bodyPr rtlCol="0" anchor="ctr"/>
          <a:lstStyle/>
          <a:p>
            <a:pPr algn="ctr"/>
            <a:endParaRPr/>
          </a:p>
        </p:txBody>
      </p:sp>
      <p:sp>
        <p:nvSpPr>
          <p:cNvPr id="38" name="Rectangle 37"/>
          <p:cNvSpPr/>
          <p:nvPr/>
        </p:nvSpPr>
        <p:spPr>
          <a:xfrm>
            <a:off x="2638425" y="1943100"/>
            <a:ext cx="9525" cy="419100"/>
          </a:xfrm>
          <a:prstGeom prst="rect">
            <a:avLst/>
          </a:prstGeom>
          <a:solidFill>
            <a:srgbClr val="E3DCD3"/>
          </a:solidFill>
          <a:ln>
            <a:noFill/>
          </a:ln>
          <a:effectLst/>
        </p:spPr>
        <p:txBody>
          <a:bodyPr rtlCol="0" anchor="ctr"/>
          <a:lstStyle/>
          <a:p>
            <a:pPr algn="ctr"/>
            <a:endParaRPr/>
          </a:p>
        </p:txBody>
      </p:sp>
      <p:sp>
        <p:nvSpPr>
          <p:cNvPr id="39" name="Text: NEW HORIZON MEDICAL SOLUTIONS">
            <a:hlinkClick r:id="rId4"/>
          </p:cNvPr>
          <p:cNvSpPr txBox="1"/>
          <p:nvPr/>
        </p:nvSpPr>
        <p:spPr>
          <a:xfrm>
            <a:off x="2890838" y="2090738"/>
            <a:ext cx="156031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NEW HORIZON MEDICAL SOLUTIONS</a:t>
            </a:r>
          </a:p>
        </p:txBody>
      </p:sp>
      <p:sp>
        <p:nvSpPr>
          <p:cNvPr id="40" name="Text: Amniotic membrane allografts for w">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Amniotic membrane allografts for wound care and sports medicine</a:t>
            </a:r>
          </a:p>
        </p:txBody>
      </p:sp>
      <p:sp>
        <p:nvSpPr>
          <p:cNvPr id="41" name="Text: LIFE SCIENCES &amp; DIAGNOSTICS">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42" name="Rectangle 41"/>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Rectangle 42"/>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Rectangle 43"/>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Rectangle 44"/>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5051375" y="1362075"/>
            <a:ext cx="2051000" cy="419100"/>
          </a:xfrm>
          <a:prstGeom prst="rect">
            <a:avLst/>
          </a:prstGeom>
          <a:solidFill>
            <a:srgbClr val="FFFFFF"/>
          </a:solidFill>
          <a:ln>
            <a:noFill/>
          </a:ln>
          <a:effectLst/>
        </p:spPr>
        <p:txBody>
          <a:bodyPr rtlCol="0" anchor="ctr"/>
          <a:lstStyle/>
          <a:p>
            <a:pPr algn="ctr"/>
            <a:endParaRPr/>
          </a:p>
        </p:txBody>
      </p:sp>
      <p:sp>
        <p:nvSpPr>
          <p:cNvPr id="48" name="Rectangle 47"/>
          <p:cNvSpPr/>
          <p:nvPr/>
        </p:nvSpPr>
        <p:spPr>
          <a:xfrm>
            <a:off x="5051375" y="1362075"/>
            <a:ext cx="2051000" cy="9525"/>
          </a:xfrm>
          <a:prstGeom prst="rect">
            <a:avLst/>
          </a:prstGeom>
          <a:solidFill>
            <a:srgbClr val="E3DCD3"/>
          </a:solidFill>
          <a:ln>
            <a:noFill/>
          </a:ln>
          <a:effectLst/>
        </p:spPr>
        <p:txBody>
          <a:bodyPr rtlCol="0" anchor="ctr"/>
          <a:lstStyle/>
          <a:p>
            <a:pPr algn="ctr"/>
            <a:endParaRPr/>
          </a:p>
        </p:txBody>
      </p:sp>
      <p:sp>
        <p:nvSpPr>
          <p:cNvPr id="49" name="Rectangle 48"/>
          <p:cNvSpPr/>
          <p:nvPr/>
        </p:nvSpPr>
        <p:spPr>
          <a:xfrm>
            <a:off x="7092851" y="1362075"/>
            <a:ext cx="9525" cy="419100"/>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5051375" y="1771650"/>
            <a:ext cx="2051000"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5051375" y="1362075"/>
            <a:ext cx="9525" cy="419100"/>
          </a:xfrm>
          <a:prstGeom prst="rect">
            <a:avLst/>
          </a:prstGeom>
          <a:solidFill>
            <a:srgbClr val="E3DCD3"/>
          </a:solidFill>
          <a:ln>
            <a:noFill/>
          </a:ln>
          <a:effectLst/>
        </p:spPr>
        <p:txBody>
          <a:bodyPr rtlCol="0" anchor="ctr"/>
          <a:lstStyle/>
          <a:p>
            <a:pPr algn="ctr"/>
            <a:endParaRPr/>
          </a:p>
        </p:txBody>
      </p:sp>
      <p:sp>
        <p:nvSpPr>
          <p:cNvPr id="52" name="Text: FORMULATION TECHNOLOGY">
            <a:hlinkClick r:id="rId5"/>
          </p:cNvPr>
          <p:cNvSpPr txBox="1"/>
          <p:nvPr/>
        </p:nvSpPr>
        <p:spPr>
          <a:xfrm>
            <a:off x="5462885" y="1509712"/>
            <a:ext cx="12421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FORMULATION TECHNOLOGY</a:t>
            </a:r>
          </a:p>
        </p:txBody>
      </p:sp>
      <p:sp>
        <p:nvSpPr>
          <p:cNvPr id="53" name="Text: HAS BEEN ACQUIRED BY">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54" name="Rectangle 53"/>
          <p:cNvSpPr/>
          <p:nvPr/>
        </p:nvSpPr>
        <p:spPr>
          <a:xfrm>
            <a:off x="5051375" y="1943100"/>
            <a:ext cx="2051000" cy="419100"/>
          </a:xfrm>
          <a:prstGeom prst="rect">
            <a:avLst/>
          </a:prstGeom>
          <a:solidFill>
            <a:srgbClr val="FFFFFF"/>
          </a:solidFill>
          <a:ln>
            <a:noFill/>
          </a:ln>
          <a:effectLst/>
        </p:spPr>
        <p:txBody>
          <a:bodyPr rtlCol="0" anchor="ctr"/>
          <a:lstStyle/>
          <a:p>
            <a:pPr algn="ctr"/>
            <a:endParaRPr/>
          </a:p>
        </p:txBody>
      </p:sp>
      <p:sp>
        <p:nvSpPr>
          <p:cNvPr id="55" name="Rectangle 54"/>
          <p:cNvSpPr/>
          <p:nvPr/>
        </p:nvSpPr>
        <p:spPr>
          <a:xfrm>
            <a:off x="5051375" y="1943100"/>
            <a:ext cx="20510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7092851" y="1943100"/>
            <a:ext cx="9525" cy="419100"/>
          </a:xfrm>
          <a:prstGeom prst="rect">
            <a:avLst/>
          </a:prstGeom>
          <a:solidFill>
            <a:srgbClr val="E3DCD3"/>
          </a:solidFill>
          <a:ln>
            <a:noFill/>
          </a:ln>
          <a:effectLst/>
        </p:spPr>
        <p:txBody>
          <a:bodyPr rtlCol="0" anchor="ctr"/>
          <a:lstStyle/>
          <a:p>
            <a:pPr algn="ctr"/>
            <a:endParaRPr/>
          </a:p>
        </p:txBody>
      </p:sp>
      <p:sp>
        <p:nvSpPr>
          <p:cNvPr id="57" name="Rectangle 56"/>
          <p:cNvSpPr/>
          <p:nvPr/>
        </p:nvSpPr>
        <p:spPr>
          <a:xfrm>
            <a:off x="5051375" y="2352675"/>
            <a:ext cx="2051000"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5051375" y="1943100"/>
            <a:ext cx="9525" cy="419100"/>
          </a:xfrm>
          <a:prstGeom prst="rect">
            <a:avLst/>
          </a:prstGeom>
          <a:solidFill>
            <a:srgbClr val="E3DCD3"/>
          </a:solidFill>
          <a:ln>
            <a:noFill/>
          </a:ln>
          <a:effectLst/>
        </p:spPr>
        <p:txBody>
          <a:bodyPr rtlCol="0" anchor="ctr"/>
          <a:lstStyle/>
          <a:p>
            <a:pPr algn="ctr"/>
            <a:endParaRPr/>
          </a:p>
        </p:txBody>
      </p:sp>
      <p:sp>
        <p:nvSpPr>
          <p:cNvPr id="59" name="Text: AAVIN PRIVATE EQUITY">
            <a:hlinkClick r:id="rId5"/>
          </p:cNvPr>
          <p:cNvSpPr txBox="1"/>
          <p:nvPr/>
        </p:nvSpPr>
        <p:spPr>
          <a:xfrm>
            <a:off x="5583882" y="2090738"/>
            <a:ext cx="1000125"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AAVIN PRIVATE EQUITY</a:t>
            </a:r>
          </a:p>
        </p:txBody>
      </p:sp>
      <p:sp>
        <p:nvSpPr>
          <p:cNvPr id="60" name="Text: Contract manufacturer of nutrition">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Contract manufacturer of nutritional supplements</a:t>
            </a:r>
          </a:p>
        </p:txBody>
      </p:sp>
      <p:sp>
        <p:nvSpPr>
          <p:cNvPr id="61" name="Text: LIFE SCIENCES &amp; DIAGNOSTICS">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62" name="Rectangle 61"/>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Rectangle 62"/>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Rectangle 63"/>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7464326" y="1362075"/>
            <a:ext cx="2051000" cy="419100"/>
          </a:xfrm>
          <a:prstGeom prst="rect">
            <a:avLst/>
          </a:prstGeom>
          <a:solidFill>
            <a:srgbClr val="FFFFFF"/>
          </a:solidFill>
          <a:ln>
            <a:noFill/>
          </a:ln>
          <a:effectLst/>
        </p:spPr>
        <p:txBody>
          <a:bodyPr rtlCol="0" anchor="ctr"/>
          <a:lstStyle/>
          <a:p>
            <a:pPr algn="ctr"/>
            <a:endParaRPr/>
          </a:p>
        </p:txBody>
      </p:sp>
      <p:sp>
        <p:nvSpPr>
          <p:cNvPr id="68" name="Rectangle 67"/>
          <p:cNvSpPr/>
          <p:nvPr/>
        </p:nvSpPr>
        <p:spPr>
          <a:xfrm>
            <a:off x="7464326" y="1362075"/>
            <a:ext cx="2051000" cy="9525"/>
          </a:xfrm>
          <a:prstGeom prst="rect">
            <a:avLst/>
          </a:prstGeom>
          <a:solidFill>
            <a:srgbClr val="E3DCD3"/>
          </a:solidFill>
          <a:ln>
            <a:noFill/>
          </a:ln>
          <a:effectLst/>
        </p:spPr>
        <p:txBody>
          <a:bodyPr rtlCol="0" anchor="ctr"/>
          <a:lstStyle/>
          <a:p>
            <a:pPr algn="ctr"/>
            <a:endParaRPr/>
          </a:p>
        </p:txBody>
      </p:sp>
      <p:sp>
        <p:nvSpPr>
          <p:cNvPr id="69" name="Rectangle 68"/>
          <p:cNvSpPr/>
          <p:nvPr/>
        </p:nvSpPr>
        <p:spPr>
          <a:xfrm>
            <a:off x="9505801" y="1362075"/>
            <a:ext cx="9525" cy="419100"/>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7464326" y="1771650"/>
            <a:ext cx="2051000" cy="9525"/>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7464326" y="1362075"/>
            <a:ext cx="9525" cy="419100"/>
          </a:xfrm>
          <a:prstGeom prst="rect">
            <a:avLst/>
          </a:prstGeom>
          <a:solidFill>
            <a:srgbClr val="E3DCD3"/>
          </a:solidFill>
          <a:ln>
            <a:noFill/>
          </a:ln>
          <a:effectLst/>
        </p:spPr>
        <p:txBody>
          <a:bodyPr rtlCol="0" anchor="ctr"/>
          <a:lstStyle/>
          <a:p>
            <a:pPr algn="ctr"/>
            <a:endParaRPr/>
          </a:p>
        </p:txBody>
      </p:sp>
      <p:sp>
        <p:nvSpPr>
          <p:cNvPr id="72" name="Text: FAST RESPONSE ON-SITE TESTING">
            <a:hlinkClick r:id="rId6"/>
          </p:cNvPr>
          <p:cNvSpPr txBox="1"/>
          <p:nvPr/>
        </p:nvSpPr>
        <p:spPr>
          <a:xfrm>
            <a:off x="7780586" y="1509712"/>
            <a:ext cx="143262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FAST RESPONSE ON-SITE TESTING</a:t>
            </a:r>
          </a:p>
        </p:txBody>
      </p:sp>
      <p:sp>
        <p:nvSpPr>
          <p:cNvPr id="73" name="Text: HAS BEEN ACQUIRED BY">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74" name="Rectangle 73"/>
          <p:cNvSpPr/>
          <p:nvPr/>
        </p:nvSpPr>
        <p:spPr>
          <a:xfrm>
            <a:off x="7464326" y="1943100"/>
            <a:ext cx="2051000" cy="419100"/>
          </a:xfrm>
          <a:prstGeom prst="rect">
            <a:avLst/>
          </a:prstGeom>
          <a:solidFill>
            <a:srgbClr val="FFFFFF"/>
          </a:solidFill>
          <a:ln>
            <a:noFill/>
          </a:ln>
          <a:effectLst/>
        </p:spPr>
        <p:txBody>
          <a:bodyPr rtlCol="0" anchor="ctr"/>
          <a:lstStyle/>
          <a:p>
            <a:pPr algn="ctr"/>
            <a:endParaRPr/>
          </a:p>
        </p:txBody>
      </p:sp>
      <p:sp>
        <p:nvSpPr>
          <p:cNvPr id="75" name="Rectangle 74"/>
          <p:cNvSpPr/>
          <p:nvPr/>
        </p:nvSpPr>
        <p:spPr>
          <a:xfrm>
            <a:off x="7464326" y="1943100"/>
            <a:ext cx="2051000" cy="9525"/>
          </a:xfrm>
          <a:prstGeom prst="rect">
            <a:avLst/>
          </a:prstGeom>
          <a:solidFill>
            <a:srgbClr val="E3DCD3"/>
          </a:solidFill>
          <a:ln>
            <a:noFill/>
          </a:ln>
          <a:effectLst/>
        </p:spPr>
        <p:txBody>
          <a:bodyPr rtlCol="0" anchor="ctr"/>
          <a:lstStyle/>
          <a:p>
            <a:pPr algn="ctr"/>
            <a:endParaRPr/>
          </a:p>
        </p:txBody>
      </p:sp>
      <p:sp>
        <p:nvSpPr>
          <p:cNvPr id="76" name="Rectangle 75"/>
          <p:cNvSpPr/>
          <p:nvPr/>
        </p:nvSpPr>
        <p:spPr>
          <a:xfrm>
            <a:off x="9505801" y="1943100"/>
            <a:ext cx="9525" cy="419100"/>
          </a:xfrm>
          <a:prstGeom prst="rect">
            <a:avLst/>
          </a:prstGeom>
          <a:solidFill>
            <a:srgbClr val="E3DCD3"/>
          </a:solidFill>
          <a:ln>
            <a:noFill/>
          </a:ln>
          <a:effectLst/>
        </p:spPr>
        <p:txBody>
          <a:bodyPr rtlCol="0" anchor="ctr"/>
          <a:lstStyle/>
          <a:p>
            <a:pPr algn="ctr"/>
            <a:endParaRPr/>
          </a:p>
        </p:txBody>
      </p:sp>
      <p:sp>
        <p:nvSpPr>
          <p:cNvPr id="77" name="Rectangle 76"/>
          <p:cNvSpPr/>
          <p:nvPr/>
        </p:nvSpPr>
        <p:spPr>
          <a:xfrm>
            <a:off x="7464326" y="2352675"/>
            <a:ext cx="20510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464326" y="1943100"/>
            <a:ext cx="9525" cy="419100"/>
          </a:xfrm>
          <a:prstGeom prst="rect">
            <a:avLst/>
          </a:prstGeom>
          <a:solidFill>
            <a:srgbClr val="E3DCD3"/>
          </a:solidFill>
          <a:ln>
            <a:noFill/>
          </a:ln>
          <a:effectLst/>
        </p:spPr>
        <p:txBody>
          <a:bodyPr rtlCol="0" anchor="ctr"/>
          <a:lstStyle/>
          <a:p>
            <a:pPr algn="ctr"/>
            <a:endParaRPr/>
          </a:p>
        </p:txBody>
      </p:sp>
      <p:sp>
        <p:nvSpPr>
          <p:cNvPr id="79" name="Text: RELENTLESS HEALTH">
            <a:hlinkClick r:id="rId6"/>
          </p:cNvPr>
          <p:cNvSpPr txBox="1"/>
          <p:nvPr/>
        </p:nvSpPr>
        <p:spPr>
          <a:xfrm>
            <a:off x="8062168" y="2090738"/>
            <a:ext cx="86945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RELENTLESS HEALTH</a:t>
            </a:r>
          </a:p>
        </p:txBody>
      </p:sp>
      <p:sp>
        <p:nvSpPr>
          <p:cNvPr id="80" name="Text: Mobile occupational health testing">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Mobile occupational health testing</a:t>
            </a:r>
          </a:p>
        </p:txBody>
      </p:sp>
      <p:sp>
        <p:nvSpPr>
          <p:cNvPr id="81" name="Text: LIFE SCIENCES &amp; DIAGNOSTICS">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82" name="Rectangle 81"/>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Rectangle 82"/>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Rectangle 83"/>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Rectangle 84"/>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2638425" y="3298775"/>
            <a:ext cx="2051000" cy="418207"/>
          </a:xfrm>
          <a:prstGeom prst="rect">
            <a:avLst/>
          </a:prstGeom>
          <a:solidFill>
            <a:srgbClr val="FFFFFF"/>
          </a:solidFill>
          <a:ln>
            <a:noFill/>
          </a:ln>
          <a:effectLst/>
        </p:spPr>
        <p:txBody>
          <a:bodyPr rtlCol="0" anchor="ctr"/>
          <a:lstStyle/>
          <a:p>
            <a:pPr algn="ctr"/>
            <a:endParaRPr/>
          </a:p>
        </p:txBody>
      </p:sp>
      <p:sp>
        <p:nvSpPr>
          <p:cNvPr id="88" name="Rectangle 87"/>
          <p:cNvSpPr/>
          <p:nvPr/>
        </p:nvSpPr>
        <p:spPr>
          <a:xfrm>
            <a:off x="2638425" y="3298775"/>
            <a:ext cx="2051000" cy="9525"/>
          </a:xfrm>
          <a:prstGeom prst="rect">
            <a:avLst/>
          </a:prstGeom>
          <a:solidFill>
            <a:srgbClr val="E3DCD3"/>
          </a:solidFill>
          <a:ln>
            <a:noFill/>
          </a:ln>
          <a:effectLst/>
        </p:spPr>
        <p:txBody>
          <a:bodyPr rtlCol="0" anchor="ctr"/>
          <a:lstStyle/>
          <a:p>
            <a:pPr algn="ctr"/>
            <a:endParaRPr/>
          </a:p>
        </p:txBody>
      </p:sp>
      <p:sp>
        <p:nvSpPr>
          <p:cNvPr id="89" name="Rectangle 88"/>
          <p:cNvSpPr/>
          <p:nvPr/>
        </p:nvSpPr>
        <p:spPr>
          <a:xfrm>
            <a:off x="4679900" y="3298775"/>
            <a:ext cx="9525" cy="418207"/>
          </a:xfrm>
          <a:prstGeom prst="rect">
            <a:avLst/>
          </a:prstGeom>
          <a:solidFill>
            <a:srgbClr val="E3DCD3"/>
          </a:solidFill>
          <a:ln>
            <a:noFill/>
          </a:ln>
          <a:effectLst/>
        </p:spPr>
        <p:txBody>
          <a:bodyPr rtlCol="0" anchor="ctr"/>
          <a:lstStyle/>
          <a:p>
            <a:pPr algn="ctr"/>
            <a:endParaRPr/>
          </a:p>
        </p:txBody>
      </p:sp>
      <p:sp>
        <p:nvSpPr>
          <p:cNvPr id="90" name="Rectangle 89"/>
          <p:cNvSpPr/>
          <p:nvPr/>
        </p:nvSpPr>
        <p:spPr>
          <a:xfrm>
            <a:off x="2638425" y="3707457"/>
            <a:ext cx="2051000" cy="9525"/>
          </a:xfrm>
          <a:prstGeom prst="rect">
            <a:avLst/>
          </a:prstGeom>
          <a:solidFill>
            <a:srgbClr val="E3DCD3"/>
          </a:solidFill>
          <a:ln>
            <a:noFill/>
          </a:ln>
          <a:effectLst/>
        </p:spPr>
        <p:txBody>
          <a:bodyPr rtlCol="0" anchor="ctr"/>
          <a:lstStyle/>
          <a:p>
            <a:pPr algn="ctr"/>
            <a:endParaRPr/>
          </a:p>
        </p:txBody>
      </p:sp>
      <p:sp>
        <p:nvSpPr>
          <p:cNvPr id="91" name="Rectangle 90"/>
          <p:cNvSpPr/>
          <p:nvPr/>
        </p:nvSpPr>
        <p:spPr>
          <a:xfrm>
            <a:off x="2638425" y="3298775"/>
            <a:ext cx="9525" cy="418207"/>
          </a:xfrm>
          <a:prstGeom prst="rect">
            <a:avLst/>
          </a:prstGeom>
          <a:solidFill>
            <a:srgbClr val="E3DCD3"/>
          </a:solidFill>
          <a:ln>
            <a:noFill/>
          </a:ln>
          <a:effectLst/>
        </p:spPr>
        <p:txBody>
          <a:bodyPr rtlCol="0" anchor="ctr"/>
          <a:lstStyle/>
          <a:p>
            <a:pPr algn="ctr"/>
            <a:endParaRPr/>
          </a:p>
        </p:txBody>
      </p:sp>
      <p:sp>
        <p:nvSpPr>
          <p:cNvPr id="92" name="Text: CRITICAL ENVIRONMENTS PROFESSIONAL">
            <a:hlinkClick r:id="rId7"/>
          </p:cNvPr>
          <p:cNvSpPr txBox="1"/>
          <p:nvPr/>
        </p:nvSpPr>
        <p:spPr>
          <a:xfrm>
            <a:off x="2743200" y="3384054"/>
            <a:ext cx="1855738" cy="247650"/>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CRITICAL ENVIRONMENTS PROFESSIONALS, CERTIFICATION DIVISION</a:t>
            </a:r>
          </a:p>
        </p:txBody>
      </p:sp>
      <p:sp>
        <p:nvSpPr>
          <p:cNvPr id="93" name="Text: HAS BEEN ACQUIRED BY">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94" name="Rectangle 93"/>
          <p:cNvSpPr/>
          <p:nvPr/>
        </p:nvSpPr>
        <p:spPr>
          <a:xfrm>
            <a:off x="2638425" y="3878907"/>
            <a:ext cx="2051000" cy="418207"/>
          </a:xfrm>
          <a:prstGeom prst="rect">
            <a:avLst/>
          </a:prstGeom>
          <a:solidFill>
            <a:srgbClr val="FFFFFF"/>
          </a:solidFill>
          <a:ln>
            <a:noFill/>
          </a:ln>
          <a:effectLst/>
        </p:spPr>
        <p:txBody>
          <a:bodyPr rtlCol="0" anchor="ctr"/>
          <a:lstStyle/>
          <a:p>
            <a:pPr algn="ctr"/>
            <a:endParaRPr/>
          </a:p>
        </p:txBody>
      </p:sp>
      <p:sp>
        <p:nvSpPr>
          <p:cNvPr id="95" name="Rectangle 94"/>
          <p:cNvSpPr/>
          <p:nvPr/>
        </p:nvSpPr>
        <p:spPr>
          <a:xfrm>
            <a:off x="2638425" y="3878907"/>
            <a:ext cx="2051000" cy="9525"/>
          </a:xfrm>
          <a:prstGeom prst="rect">
            <a:avLst/>
          </a:prstGeom>
          <a:solidFill>
            <a:srgbClr val="E3DCD3"/>
          </a:solidFill>
          <a:ln>
            <a:noFill/>
          </a:ln>
          <a:effectLst/>
        </p:spPr>
        <p:txBody>
          <a:bodyPr rtlCol="0" anchor="ctr"/>
          <a:lstStyle/>
          <a:p>
            <a:pPr algn="ctr"/>
            <a:endParaRPr/>
          </a:p>
        </p:txBody>
      </p:sp>
      <p:sp>
        <p:nvSpPr>
          <p:cNvPr id="96" name="Rectangle 95"/>
          <p:cNvSpPr/>
          <p:nvPr/>
        </p:nvSpPr>
        <p:spPr>
          <a:xfrm>
            <a:off x="4679900" y="3878907"/>
            <a:ext cx="9525" cy="418207"/>
          </a:xfrm>
          <a:prstGeom prst="rect">
            <a:avLst/>
          </a:prstGeom>
          <a:solidFill>
            <a:srgbClr val="E3DCD3"/>
          </a:solidFill>
          <a:ln>
            <a:noFill/>
          </a:ln>
          <a:effectLst/>
        </p:spPr>
        <p:txBody>
          <a:bodyPr rtlCol="0" anchor="ctr"/>
          <a:lstStyle/>
          <a:p>
            <a:pPr algn="ctr"/>
            <a:endParaRPr/>
          </a:p>
        </p:txBody>
      </p:sp>
      <p:sp>
        <p:nvSpPr>
          <p:cNvPr id="97" name="Rectangle 96"/>
          <p:cNvSpPr/>
          <p:nvPr/>
        </p:nvSpPr>
        <p:spPr>
          <a:xfrm>
            <a:off x="2638425" y="4287589"/>
            <a:ext cx="2051000" cy="9525"/>
          </a:xfrm>
          <a:prstGeom prst="rect">
            <a:avLst/>
          </a:prstGeom>
          <a:solidFill>
            <a:srgbClr val="E3DCD3"/>
          </a:solidFill>
          <a:ln>
            <a:noFill/>
          </a:ln>
          <a:effectLst/>
        </p:spPr>
        <p:txBody>
          <a:bodyPr rtlCol="0" anchor="ctr"/>
          <a:lstStyle/>
          <a:p>
            <a:pPr algn="ctr"/>
            <a:endParaRPr/>
          </a:p>
        </p:txBody>
      </p:sp>
      <p:sp>
        <p:nvSpPr>
          <p:cNvPr id="98" name="Rectangle 97"/>
          <p:cNvSpPr/>
          <p:nvPr/>
        </p:nvSpPr>
        <p:spPr>
          <a:xfrm>
            <a:off x="2638425" y="3878907"/>
            <a:ext cx="9525" cy="418207"/>
          </a:xfrm>
          <a:prstGeom prst="rect">
            <a:avLst/>
          </a:prstGeom>
          <a:solidFill>
            <a:srgbClr val="E3DCD3"/>
          </a:solidFill>
          <a:ln>
            <a:noFill/>
          </a:ln>
          <a:effectLst/>
        </p:spPr>
        <p:txBody>
          <a:bodyPr rtlCol="0" anchor="ctr"/>
          <a:lstStyle/>
          <a:p>
            <a:pPr algn="ctr"/>
            <a:endParaRPr/>
          </a:p>
        </p:txBody>
      </p:sp>
      <p:sp>
        <p:nvSpPr>
          <p:cNvPr id="99" name="Text: SCIENTIFIC SAFETY ALLIANCE">
            <a:hlinkClick r:id="rId7"/>
          </p:cNvPr>
          <p:cNvSpPr txBox="1"/>
          <p:nvPr/>
        </p:nvSpPr>
        <p:spPr>
          <a:xfrm>
            <a:off x="3050679" y="4026098"/>
            <a:ext cx="124078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SCIENTIFIC SAFETY ALLIANCE</a:t>
            </a:r>
          </a:p>
        </p:txBody>
      </p:sp>
      <p:sp>
        <p:nvSpPr>
          <p:cNvPr id="100" name="Text: Certification testing for pharmacy">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Certification testing for pharmacy compounding spaces, laboratories and bio-containment facilities</a:t>
            </a:r>
          </a:p>
        </p:txBody>
      </p:sp>
      <p:sp>
        <p:nvSpPr>
          <p:cNvPr id="101" name="Text: LIFE SCIENCES &amp; DIAGNOSTICS">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LIFE SCIENCES &amp; DIAGNOSTICS</a:t>
            </a:r>
          </a:p>
        </p:txBody>
      </p:sp>
      <p:sp>
        <p:nvSpPr>
          <p:cNvPr id="102" name="Rectangle 101"/>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Rectangle 102"/>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Rectangle 103"/>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Rectangle 104"/>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Rectangle 105"/>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07" name="Rectangle 106"/>
          <p:cNvSpPr/>
          <p:nvPr/>
        </p:nvSpPr>
        <p:spPr>
          <a:xfrm>
            <a:off x="5051375" y="3298775"/>
            <a:ext cx="2051000" cy="419100"/>
          </a:xfrm>
          <a:prstGeom prst="rect">
            <a:avLst/>
          </a:prstGeom>
          <a:solidFill>
            <a:srgbClr val="FFFFFF"/>
          </a:solidFill>
          <a:ln>
            <a:noFill/>
          </a:ln>
          <a:effectLst/>
        </p:spPr>
        <p:txBody>
          <a:bodyPr rtlCol="0" anchor="ctr"/>
          <a:lstStyle/>
          <a:p>
            <a:pPr algn="ctr"/>
            <a:endParaRPr/>
          </a:p>
        </p:txBody>
      </p:sp>
      <p:sp>
        <p:nvSpPr>
          <p:cNvPr id="108" name="Rectangle 107"/>
          <p:cNvSpPr/>
          <p:nvPr/>
        </p:nvSpPr>
        <p:spPr>
          <a:xfrm>
            <a:off x="5051375" y="3298775"/>
            <a:ext cx="2051000" cy="9525"/>
          </a:xfrm>
          <a:prstGeom prst="rect">
            <a:avLst/>
          </a:prstGeom>
          <a:solidFill>
            <a:srgbClr val="E3DCD3"/>
          </a:solidFill>
          <a:ln>
            <a:noFill/>
          </a:ln>
          <a:effectLst/>
        </p:spPr>
        <p:txBody>
          <a:bodyPr rtlCol="0" anchor="ctr"/>
          <a:lstStyle/>
          <a:p>
            <a:pPr algn="ctr"/>
            <a:endParaRPr/>
          </a:p>
        </p:txBody>
      </p:sp>
      <p:sp>
        <p:nvSpPr>
          <p:cNvPr id="109" name="Rectangle 108"/>
          <p:cNvSpPr/>
          <p:nvPr/>
        </p:nvSpPr>
        <p:spPr>
          <a:xfrm>
            <a:off x="7092851" y="3298775"/>
            <a:ext cx="9525" cy="419100"/>
          </a:xfrm>
          <a:prstGeom prst="rect">
            <a:avLst/>
          </a:prstGeom>
          <a:solidFill>
            <a:srgbClr val="E3DCD3"/>
          </a:solidFill>
          <a:ln>
            <a:noFill/>
          </a:ln>
          <a:effectLst/>
        </p:spPr>
        <p:txBody>
          <a:bodyPr rtlCol="0" anchor="ctr"/>
          <a:lstStyle/>
          <a:p>
            <a:pPr algn="ctr"/>
            <a:endParaRPr/>
          </a:p>
        </p:txBody>
      </p:sp>
      <p:sp>
        <p:nvSpPr>
          <p:cNvPr id="110" name="Rectangle 109"/>
          <p:cNvSpPr/>
          <p:nvPr/>
        </p:nvSpPr>
        <p:spPr>
          <a:xfrm>
            <a:off x="5051375" y="3708350"/>
            <a:ext cx="2051000" cy="9525"/>
          </a:xfrm>
          <a:prstGeom prst="rect">
            <a:avLst/>
          </a:prstGeom>
          <a:solidFill>
            <a:srgbClr val="E3DCD3"/>
          </a:solidFill>
          <a:ln>
            <a:noFill/>
          </a:ln>
          <a:effectLst/>
        </p:spPr>
        <p:txBody>
          <a:bodyPr rtlCol="0" anchor="ctr"/>
          <a:lstStyle/>
          <a:p>
            <a:pPr algn="ctr"/>
            <a:endParaRPr/>
          </a:p>
        </p:txBody>
      </p:sp>
      <p:sp>
        <p:nvSpPr>
          <p:cNvPr id="111" name="Rectangle 110"/>
          <p:cNvSpPr/>
          <p:nvPr/>
        </p:nvSpPr>
        <p:spPr>
          <a:xfrm>
            <a:off x="5051375" y="3298775"/>
            <a:ext cx="9525" cy="419100"/>
          </a:xfrm>
          <a:prstGeom prst="rect">
            <a:avLst/>
          </a:prstGeom>
          <a:solidFill>
            <a:srgbClr val="E3DCD3"/>
          </a:solidFill>
          <a:ln>
            <a:noFill/>
          </a:ln>
          <a:effectLst/>
        </p:spPr>
        <p:txBody>
          <a:bodyPr rtlCol="0" anchor="ctr"/>
          <a:lstStyle/>
          <a:p>
            <a:pPr algn="ctr"/>
            <a:endParaRPr/>
          </a:p>
        </p:txBody>
      </p:sp>
      <p:pic>
        <p:nvPicPr>
          <p:cNvPr id="112" name="Picture 111" descr="Dental Holdings"/>
          <p:cNvPicPr>
            <a:picLocks noChangeAspect="1"/>
          </p:cNvPicPr>
          <p:nvPr/>
        </p:nvPicPr>
        <p:blipFill>
          <a:blip r:embed="rId8"/>
          <a:srcRect/>
          <a:stretch>
            <a:fillRect/>
          </a:stretch>
        </p:blipFill>
        <p:spPr>
          <a:xfrm>
            <a:off x="5156618" y="3432572"/>
            <a:ext cx="1840516" cy="151358"/>
          </a:xfrm>
          <a:prstGeom prst="rect">
            <a:avLst/>
          </a:prstGeom>
        </p:spPr>
      </p:pic>
      <p:sp>
        <p:nvSpPr>
          <p:cNvPr id="113" name="Text: HAS BEEN ACQUIRED BY">
            <a:hlinkClick r:id="rId9"/>
          </p:cNvPr>
          <p:cNvSpPr txBox="1"/>
          <p:nvPr/>
        </p:nvSpPr>
        <p:spPr>
          <a:xfrm>
            <a:off x="5051375"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14" name="Rectangle 113"/>
          <p:cNvSpPr/>
          <p:nvPr/>
        </p:nvSpPr>
        <p:spPr>
          <a:xfrm>
            <a:off x="5051375" y="3879800"/>
            <a:ext cx="2051000" cy="419100"/>
          </a:xfrm>
          <a:prstGeom prst="rect">
            <a:avLst/>
          </a:prstGeom>
          <a:solidFill>
            <a:srgbClr val="FFFFFF"/>
          </a:solidFill>
          <a:ln>
            <a:noFill/>
          </a:ln>
          <a:effectLst/>
        </p:spPr>
        <p:txBody>
          <a:bodyPr rtlCol="0" anchor="ctr"/>
          <a:lstStyle/>
          <a:p>
            <a:pPr algn="ctr"/>
            <a:endParaRPr/>
          </a:p>
        </p:txBody>
      </p:sp>
      <p:sp>
        <p:nvSpPr>
          <p:cNvPr id="115" name="Rectangle 114"/>
          <p:cNvSpPr/>
          <p:nvPr/>
        </p:nvSpPr>
        <p:spPr>
          <a:xfrm>
            <a:off x="5051375" y="3879800"/>
            <a:ext cx="2051000" cy="9525"/>
          </a:xfrm>
          <a:prstGeom prst="rect">
            <a:avLst/>
          </a:prstGeom>
          <a:solidFill>
            <a:srgbClr val="E3DCD3"/>
          </a:solidFill>
          <a:ln>
            <a:noFill/>
          </a:ln>
          <a:effectLst/>
        </p:spPr>
        <p:txBody>
          <a:bodyPr rtlCol="0" anchor="ctr"/>
          <a:lstStyle/>
          <a:p>
            <a:pPr algn="ctr"/>
            <a:endParaRPr/>
          </a:p>
        </p:txBody>
      </p:sp>
      <p:sp>
        <p:nvSpPr>
          <p:cNvPr id="116" name="Rectangle 115"/>
          <p:cNvSpPr/>
          <p:nvPr/>
        </p:nvSpPr>
        <p:spPr>
          <a:xfrm>
            <a:off x="7092851" y="3879800"/>
            <a:ext cx="9525" cy="419100"/>
          </a:xfrm>
          <a:prstGeom prst="rect">
            <a:avLst/>
          </a:prstGeom>
          <a:solidFill>
            <a:srgbClr val="E3DCD3"/>
          </a:solidFill>
          <a:ln>
            <a:noFill/>
          </a:ln>
          <a:effectLst/>
        </p:spPr>
        <p:txBody>
          <a:bodyPr rtlCol="0" anchor="ctr"/>
          <a:lstStyle/>
          <a:p>
            <a:pPr algn="ctr"/>
            <a:endParaRPr/>
          </a:p>
        </p:txBody>
      </p:sp>
      <p:sp>
        <p:nvSpPr>
          <p:cNvPr id="117" name="Rectangle 116"/>
          <p:cNvSpPr/>
          <p:nvPr/>
        </p:nvSpPr>
        <p:spPr>
          <a:xfrm>
            <a:off x="5051375" y="4289375"/>
            <a:ext cx="2051000" cy="9525"/>
          </a:xfrm>
          <a:prstGeom prst="rect">
            <a:avLst/>
          </a:prstGeom>
          <a:solidFill>
            <a:srgbClr val="E3DCD3"/>
          </a:solidFill>
          <a:ln>
            <a:noFill/>
          </a:ln>
          <a:effectLst/>
        </p:spPr>
        <p:txBody>
          <a:bodyPr rtlCol="0" anchor="ctr"/>
          <a:lstStyle/>
          <a:p>
            <a:pPr algn="ctr"/>
            <a:endParaRPr/>
          </a:p>
        </p:txBody>
      </p:sp>
      <p:sp>
        <p:nvSpPr>
          <p:cNvPr id="118" name="Rectangle 117"/>
          <p:cNvSpPr/>
          <p:nvPr/>
        </p:nvSpPr>
        <p:spPr>
          <a:xfrm>
            <a:off x="5051375" y="3879800"/>
            <a:ext cx="9525" cy="419100"/>
          </a:xfrm>
          <a:prstGeom prst="rect">
            <a:avLst/>
          </a:prstGeom>
          <a:solidFill>
            <a:srgbClr val="E3DCD3"/>
          </a:solidFill>
          <a:ln>
            <a:noFill/>
          </a:ln>
          <a:effectLst/>
        </p:spPr>
        <p:txBody>
          <a:bodyPr rtlCol="0" anchor="ctr"/>
          <a:lstStyle/>
          <a:p>
            <a:pPr algn="ctr"/>
            <a:endParaRPr/>
          </a:p>
        </p:txBody>
      </p:sp>
      <p:pic>
        <p:nvPicPr>
          <p:cNvPr id="119" name="Picture 118" descr="Solmetex"/>
          <p:cNvPicPr>
            <a:picLocks noChangeAspect="1"/>
          </p:cNvPicPr>
          <p:nvPr/>
        </p:nvPicPr>
        <p:blipFill>
          <a:blip r:embed="rId10"/>
          <a:srcRect/>
          <a:stretch>
            <a:fillRect/>
          </a:stretch>
        </p:blipFill>
        <p:spPr>
          <a:xfrm>
            <a:off x="5612626" y="3927574"/>
            <a:ext cx="928351" cy="323701"/>
          </a:xfrm>
          <a:prstGeom prst="rect">
            <a:avLst/>
          </a:prstGeom>
        </p:spPr>
      </p:pic>
      <p:sp>
        <p:nvSpPr>
          <p:cNvPr id="120" name="Text: Patent holder and brand owner of R">
            <a:hlinkClick r:id="rId9"/>
          </p:cNvPr>
          <p:cNvSpPr txBox="1"/>
          <p:nvPr/>
        </p:nvSpPr>
        <p:spPr>
          <a:xfrm>
            <a:off x="5051375"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Patent holder and brand owner of ReLeaf hands-free dental suction devices</a:t>
            </a:r>
          </a:p>
        </p:txBody>
      </p:sp>
      <p:sp>
        <p:nvSpPr>
          <p:cNvPr id="121" name="Text: MEDICAL PRODUCTS &amp; DISTRIBUTION">
            <a:hlinkClick r:id="rId9"/>
          </p:cNvPr>
          <p:cNvSpPr txBox="1"/>
          <p:nvPr/>
        </p:nvSpPr>
        <p:spPr>
          <a:xfrm>
            <a:off x="5051375"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MEDICAL PRODUCTS &amp; DISTRIBUTION</a:t>
            </a:r>
          </a:p>
        </p:txBody>
      </p:sp>
      <p:sp>
        <p:nvSpPr>
          <p:cNvPr id="122" name="Rectangle 121"/>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Rectangle 122"/>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Rectangle 123"/>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Rectangle 124"/>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Rectangle 125"/>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27" name="Rectangle 126"/>
          <p:cNvSpPr/>
          <p:nvPr/>
        </p:nvSpPr>
        <p:spPr>
          <a:xfrm>
            <a:off x="7464326" y="3298775"/>
            <a:ext cx="2051000" cy="419100"/>
          </a:xfrm>
          <a:prstGeom prst="rect">
            <a:avLst/>
          </a:prstGeom>
          <a:solidFill>
            <a:srgbClr val="FFFFFF"/>
          </a:solidFill>
          <a:ln>
            <a:noFill/>
          </a:ln>
          <a:effectLst/>
        </p:spPr>
        <p:txBody>
          <a:bodyPr rtlCol="0" anchor="ctr"/>
          <a:lstStyle/>
          <a:p>
            <a:pPr algn="ctr"/>
            <a:endParaRPr/>
          </a:p>
        </p:txBody>
      </p:sp>
      <p:sp>
        <p:nvSpPr>
          <p:cNvPr id="128" name="Rectangle 127"/>
          <p:cNvSpPr/>
          <p:nvPr/>
        </p:nvSpPr>
        <p:spPr>
          <a:xfrm>
            <a:off x="7464326" y="3298775"/>
            <a:ext cx="2051000" cy="9525"/>
          </a:xfrm>
          <a:prstGeom prst="rect">
            <a:avLst/>
          </a:prstGeom>
          <a:solidFill>
            <a:srgbClr val="E3DCD3"/>
          </a:solidFill>
          <a:ln>
            <a:noFill/>
          </a:ln>
          <a:effectLst/>
        </p:spPr>
        <p:txBody>
          <a:bodyPr rtlCol="0" anchor="ctr"/>
          <a:lstStyle/>
          <a:p>
            <a:pPr algn="ctr"/>
            <a:endParaRPr/>
          </a:p>
        </p:txBody>
      </p:sp>
      <p:sp>
        <p:nvSpPr>
          <p:cNvPr id="129" name="Rectangle 128"/>
          <p:cNvSpPr/>
          <p:nvPr/>
        </p:nvSpPr>
        <p:spPr>
          <a:xfrm>
            <a:off x="9505801" y="3298775"/>
            <a:ext cx="9525" cy="419100"/>
          </a:xfrm>
          <a:prstGeom prst="rect">
            <a:avLst/>
          </a:prstGeom>
          <a:solidFill>
            <a:srgbClr val="E3DCD3"/>
          </a:solidFill>
          <a:ln>
            <a:noFill/>
          </a:ln>
          <a:effectLst/>
        </p:spPr>
        <p:txBody>
          <a:bodyPr rtlCol="0" anchor="ctr"/>
          <a:lstStyle/>
          <a:p>
            <a:pPr algn="ctr"/>
            <a:endParaRPr/>
          </a:p>
        </p:txBody>
      </p:sp>
      <p:sp>
        <p:nvSpPr>
          <p:cNvPr id="130" name="Rectangle 129"/>
          <p:cNvSpPr/>
          <p:nvPr/>
        </p:nvSpPr>
        <p:spPr>
          <a:xfrm>
            <a:off x="7464326" y="3708350"/>
            <a:ext cx="2051000" cy="9525"/>
          </a:xfrm>
          <a:prstGeom prst="rect">
            <a:avLst/>
          </a:prstGeom>
          <a:solidFill>
            <a:srgbClr val="E3DCD3"/>
          </a:solidFill>
          <a:ln>
            <a:noFill/>
          </a:ln>
          <a:effectLst/>
        </p:spPr>
        <p:txBody>
          <a:bodyPr rtlCol="0" anchor="ctr"/>
          <a:lstStyle/>
          <a:p>
            <a:pPr algn="ctr"/>
            <a:endParaRPr/>
          </a:p>
        </p:txBody>
      </p:sp>
      <p:sp>
        <p:nvSpPr>
          <p:cNvPr id="131" name="Rectangle 130"/>
          <p:cNvSpPr/>
          <p:nvPr/>
        </p:nvSpPr>
        <p:spPr>
          <a:xfrm>
            <a:off x="7464326" y="3298775"/>
            <a:ext cx="9525" cy="419100"/>
          </a:xfrm>
          <a:prstGeom prst="rect">
            <a:avLst/>
          </a:prstGeom>
          <a:solidFill>
            <a:srgbClr val="E3DCD3"/>
          </a:solidFill>
          <a:ln>
            <a:noFill/>
          </a:ln>
          <a:effectLst/>
        </p:spPr>
        <p:txBody>
          <a:bodyPr rtlCol="0" anchor="ctr"/>
          <a:lstStyle/>
          <a:p>
            <a:pPr algn="ctr"/>
            <a:endParaRPr/>
          </a:p>
        </p:txBody>
      </p:sp>
      <p:sp>
        <p:nvSpPr>
          <p:cNvPr id="132" name="Text: FOSTERBRIDGE">
            <a:hlinkClick r:id="rId11"/>
          </p:cNvPr>
          <p:cNvSpPr txBox="1"/>
          <p:nvPr/>
        </p:nvSpPr>
        <p:spPr>
          <a:xfrm>
            <a:off x="8171259" y="3446413"/>
            <a:ext cx="65142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FOSTERBRIDGE</a:t>
            </a:r>
          </a:p>
        </p:txBody>
      </p:sp>
      <p:sp>
        <p:nvSpPr>
          <p:cNvPr id="133" name="Text: HAS BEEN ACQUIRED BY">
            <a:hlinkClick r:id="rId11"/>
          </p:cNvPr>
          <p:cNvSpPr txBox="1"/>
          <p:nvPr/>
        </p:nvSpPr>
        <p:spPr>
          <a:xfrm>
            <a:off x="7464326" y="3717875"/>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34" name="Rectangle 133"/>
          <p:cNvSpPr/>
          <p:nvPr/>
        </p:nvSpPr>
        <p:spPr>
          <a:xfrm>
            <a:off x="7464326" y="3879800"/>
            <a:ext cx="2051000" cy="419100"/>
          </a:xfrm>
          <a:prstGeom prst="rect">
            <a:avLst/>
          </a:prstGeom>
          <a:solidFill>
            <a:srgbClr val="FFFFFF"/>
          </a:solidFill>
          <a:ln>
            <a:noFill/>
          </a:ln>
          <a:effectLst/>
        </p:spPr>
        <p:txBody>
          <a:bodyPr rtlCol="0" anchor="ctr"/>
          <a:lstStyle/>
          <a:p>
            <a:pPr algn="ctr"/>
            <a:endParaRPr/>
          </a:p>
        </p:txBody>
      </p:sp>
      <p:sp>
        <p:nvSpPr>
          <p:cNvPr id="135" name="Rectangle 134"/>
          <p:cNvSpPr/>
          <p:nvPr/>
        </p:nvSpPr>
        <p:spPr>
          <a:xfrm>
            <a:off x="7464326" y="3879800"/>
            <a:ext cx="2051000" cy="9525"/>
          </a:xfrm>
          <a:prstGeom prst="rect">
            <a:avLst/>
          </a:prstGeom>
          <a:solidFill>
            <a:srgbClr val="E3DCD3"/>
          </a:solidFill>
          <a:ln>
            <a:noFill/>
          </a:ln>
          <a:effectLst/>
        </p:spPr>
        <p:txBody>
          <a:bodyPr rtlCol="0" anchor="ctr"/>
          <a:lstStyle/>
          <a:p>
            <a:pPr algn="ctr"/>
            <a:endParaRPr/>
          </a:p>
        </p:txBody>
      </p:sp>
      <p:sp>
        <p:nvSpPr>
          <p:cNvPr id="136" name="Rectangle 135"/>
          <p:cNvSpPr/>
          <p:nvPr/>
        </p:nvSpPr>
        <p:spPr>
          <a:xfrm>
            <a:off x="9505801" y="3879800"/>
            <a:ext cx="9525" cy="419100"/>
          </a:xfrm>
          <a:prstGeom prst="rect">
            <a:avLst/>
          </a:prstGeom>
          <a:solidFill>
            <a:srgbClr val="E3DCD3"/>
          </a:solidFill>
          <a:ln>
            <a:noFill/>
          </a:ln>
          <a:effectLst/>
        </p:spPr>
        <p:txBody>
          <a:bodyPr rtlCol="0" anchor="ctr"/>
          <a:lstStyle/>
          <a:p>
            <a:pPr algn="ctr"/>
            <a:endParaRPr/>
          </a:p>
        </p:txBody>
      </p:sp>
      <p:sp>
        <p:nvSpPr>
          <p:cNvPr id="137" name="Rectangle 136"/>
          <p:cNvSpPr/>
          <p:nvPr/>
        </p:nvSpPr>
        <p:spPr>
          <a:xfrm>
            <a:off x="7464326" y="4289375"/>
            <a:ext cx="2051000" cy="9525"/>
          </a:xfrm>
          <a:prstGeom prst="rect">
            <a:avLst/>
          </a:prstGeom>
          <a:solidFill>
            <a:srgbClr val="E3DCD3"/>
          </a:solidFill>
          <a:ln>
            <a:noFill/>
          </a:ln>
          <a:effectLst/>
        </p:spPr>
        <p:txBody>
          <a:bodyPr rtlCol="0" anchor="ctr"/>
          <a:lstStyle/>
          <a:p>
            <a:pPr algn="ctr"/>
            <a:endParaRPr/>
          </a:p>
        </p:txBody>
      </p:sp>
      <p:sp>
        <p:nvSpPr>
          <p:cNvPr id="138" name="Rectangle 137"/>
          <p:cNvSpPr/>
          <p:nvPr/>
        </p:nvSpPr>
        <p:spPr>
          <a:xfrm>
            <a:off x="7464326" y="3879800"/>
            <a:ext cx="9525" cy="419100"/>
          </a:xfrm>
          <a:prstGeom prst="rect">
            <a:avLst/>
          </a:prstGeom>
          <a:solidFill>
            <a:srgbClr val="E3DCD3"/>
          </a:solidFill>
          <a:ln>
            <a:noFill/>
          </a:ln>
          <a:effectLst/>
        </p:spPr>
        <p:txBody>
          <a:bodyPr rtlCol="0" anchor="ctr"/>
          <a:lstStyle/>
          <a:p>
            <a:pPr algn="ctr"/>
            <a:endParaRPr/>
          </a:p>
        </p:txBody>
      </p:sp>
      <p:sp>
        <p:nvSpPr>
          <p:cNvPr id="139" name="Text: AMIVIE">
            <a:hlinkClick r:id="rId11"/>
          </p:cNvPr>
          <p:cNvSpPr txBox="1"/>
          <p:nvPr/>
        </p:nvSpPr>
        <p:spPr>
          <a:xfrm>
            <a:off x="8332738" y="4027438"/>
            <a:ext cx="32846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AMIVIE</a:t>
            </a:r>
          </a:p>
        </p:txBody>
      </p:sp>
      <p:sp>
        <p:nvSpPr>
          <p:cNvPr id="140" name="Text: In-home care for Ohio Medicaid wai">
            <a:hlinkClick r:id="rId11"/>
          </p:cNvPr>
          <p:cNvSpPr txBox="1"/>
          <p:nvPr/>
        </p:nvSpPr>
        <p:spPr>
          <a:xfrm>
            <a:off x="7464326" y="4384625"/>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In-home care for Ohio Medicaid waiver participants</a:t>
            </a:r>
          </a:p>
        </p:txBody>
      </p:sp>
      <p:sp>
        <p:nvSpPr>
          <p:cNvPr id="141" name="Text: PROVIDER SERVICES">
            <a:hlinkClick r:id="rId11"/>
          </p:cNvPr>
          <p:cNvSpPr txBox="1"/>
          <p:nvPr/>
        </p:nvSpPr>
        <p:spPr>
          <a:xfrm>
            <a:off x="7464326" y="47973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PROVIDER SERVICES</a:t>
            </a:r>
          </a:p>
        </p:txBody>
      </p:sp>
      <p:sp>
        <p:nvSpPr>
          <p:cNvPr id="142" name="Rectangle 141"/>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Rectangle 142"/>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Rectangle 143"/>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Rectangle 144"/>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Rectangle 145"/>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47" name="Rectangle 146"/>
          <p:cNvSpPr/>
          <p:nvPr/>
        </p:nvSpPr>
        <p:spPr>
          <a:xfrm>
            <a:off x="2638425" y="5235476"/>
            <a:ext cx="2051000" cy="419100"/>
          </a:xfrm>
          <a:prstGeom prst="rect">
            <a:avLst/>
          </a:prstGeom>
          <a:solidFill>
            <a:srgbClr val="FFFFFF"/>
          </a:solidFill>
          <a:ln>
            <a:noFill/>
          </a:ln>
          <a:effectLst/>
        </p:spPr>
        <p:txBody>
          <a:bodyPr rtlCol="0" anchor="ctr"/>
          <a:lstStyle/>
          <a:p>
            <a:pPr algn="ctr"/>
            <a:endParaRPr/>
          </a:p>
        </p:txBody>
      </p:sp>
      <p:sp>
        <p:nvSpPr>
          <p:cNvPr id="148" name="Rectangle 147"/>
          <p:cNvSpPr/>
          <p:nvPr/>
        </p:nvSpPr>
        <p:spPr>
          <a:xfrm>
            <a:off x="2638425" y="5235476"/>
            <a:ext cx="2051000" cy="9525"/>
          </a:xfrm>
          <a:prstGeom prst="rect">
            <a:avLst/>
          </a:prstGeom>
          <a:solidFill>
            <a:srgbClr val="E3DCD3"/>
          </a:solidFill>
          <a:ln>
            <a:noFill/>
          </a:ln>
          <a:effectLst/>
        </p:spPr>
        <p:txBody>
          <a:bodyPr rtlCol="0" anchor="ctr"/>
          <a:lstStyle/>
          <a:p>
            <a:pPr algn="ctr"/>
            <a:endParaRPr/>
          </a:p>
        </p:txBody>
      </p:sp>
      <p:sp>
        <p:nvSpPr>
          <p:cNvPr id="149" name="Rectangle 148"/>
          <p:cNvSpPr/>
          <p:nvPr/>
        </p:nvSpPr>
        <p:spPr>
          <a:xfrm>
            <a:off x="4679900" y="5235476"/>
            <a:ext cx="9525" cy="419100"/>
          </a:xfrm>
          <a:prstGeom prst="rect">
            <a:avLst/>
          </a:prstGeom>
          <a:solidFill>
            <a:srgbClr val="E3DCD3"/>
          </a:solidFill>
          <a:ln>
            <a:noFill/>
          </a:ln>
          <a:effectLst/>
        </p:spPr>
        <p:txBody>
          <a:bodyPr rtlCol="0" anchor="ctr"/>
          <a:lstStyle/>
          <a:p>
            <a:pPr algn="ctr"/>
            <a:endParaRPr/>
          </a:p>
        </p:txBody>
      </p:sp>
      <p:sp>
        <p:nvSpPr>
          <p:cNvPr id="150" name="Rectangle 149"/>
          <p:cNvSpPr/>
          <p:nvPr/>
        </p:nvSpPr>
        <p:spPr>
          <a:xfrm>
            <a:off x="2638425" y="5645051"/>
            <a:ext cx="2051000" cy="9525"/>
          </a:xfrm>
          <a:prstGeom prst="rect">
            <a:avLst/>
          </a:prstGeom>
          <a:solidFill>
            <a:srgbClr val="E3DCD3"/>
          </a:solidFill>
          <a:ln>
            <a:noFill/>
          </a:ln>
          <a:effectLst/>
        </p:spPr>
        <p:txBody>
          <a:bodyPr rtlCol="0" anchor="ctr"/>
          <a:lstStyle/>
          <a:p>
            <a:pPr algn="ctr"/>
            <a:endParaRPr/>
          </a:p>
        </p:txBody>
      </p:sp>
      <p:sp>
        <p:nvSpPr>
          <p:cNvPr id="151" name="Rectangle 150"/>
          <p:cNvSpPr/>
          <p:nvPr/>
        </p:nvSpPr>
        <p:spPr>
          <a:xfrm>
            <a:off x="2638425" y="5235476"/>
            <a:ext cx="9525" cy="419100"/>
          </a:xfrm>
          <a:prstGeom prst="rect">
            <a:avLst/>
          </a:prstGeom>
          <a:solidFill>
            <a:srgbClr val="E3DCD3"/>
          </a:solidFill>
          <a:ln>
            <a:noFill/>
          </a:ln>
          <a:effectLst/>
        </p:spPr>
        <p:txBody>
          <a:bodyPr rtlCol="0" anchor="ctr"/>
          <a:lstStyle/>
          <a:p>
            <a:pPr algn="ctr"/>
            <a:endParaRPr/>
          </a:p>
        </p:txBody>
      </p:sp>
      <p:sp>
        <p:nvSpPr>
          <p:cNvPr id="152" name="Text: MEDICAL TEMPS">
            <a:hlinkClick r:id="rId12"/>
          </p:cNvPr>
          <p:cNvSpPr txBox="1"/>
          <p:nvPr/>
        </p:nvSpPr>
        <p:spPr>
          <a:xfrm>
            <a:off x="3314254" y="5383113"/>
            <a:ext cx="713482"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MEDICAL TEMPS</a:t>
            </a:r>
          </a:p>
        </p:txBody>
      </p:sp>
      <p:sp>
        <p:nvSpPr>
          <p:cNvPr id="153" name="Text: HAS BEEN ACQUIRED BY">
            <a:hlinkClick r:id="rId12"/>
          </p:cNvPr>
          <p:cNvSpPr txBox="1"/>
          <p:nvPr/>
        </p:nvSpPr>
        <p:spPr>
          <a:xfrm>
            <a:off x="263842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54" name="Rectangle 153"/>
          <p:cNvSpPr/>
          <p:nvPr/>
        </p:nvSpPr>
        <p:spPr>
          <a:xfrm>
            <a:off x="2638425" y="5816501"/>
            <a:ext cx="2051000" cy="419100"/>
          </a:xfrm>
          <a:prstGeom prst="rect">
            <a:avLst/>
          </a:prstGeom>
          <a:solidFill>
            <a:srgbClr val="FFFFFF"/>
          </a:solidFill>
          <a:ln>
            <a:noFill/>
          </a:ln>
          <a:effectLst/>
        </p:spPr>
        <p:txBody>
          <a:bodyPr rtlCol="0" anchor="ctr"/>
          <a:lstStyle/>
          <a:p>
            <a:pPr algn="ctr"/>
            <a:endParaRPr/>
          </a:p>
        </p:txBody>
      </p:sp>
      <p:sp>
        <p:nvSpPr>
          <p:cNvPr id="155" name="Rectangle 154"/>
          <p:cNvSpPr/>
          <p:nvPr/>
        </p:nvSpPr>
        <p:spPr>
          <a:xfrm>
            <a:off x="2638425" y="5816501"/>
            <a:ext cx="2051000" cy="9525"/>
          </a:xfrm>
          <a:prstGeom prst="rect">
            <a:avLst/>
          </a:prstGeom>
          <a:solidFill>
            <a:srgbClr val="E3DCD3"/>
          </a:solidFill>
          <a:ln>
            <a:noFill/>
          </a:ln>
          <a:effectLst/>
        </p:spPr>
        <p:txBody>
          <a:bodyPr rtlCol="0" anchor="ctr"/>
          <a:lstStyle/>
          <a:p>
            <a:pPr algn="ctr"/>
            <a:endParaRPr/>
          </a:p>
        </p:txBody>
      </p:sp>
      <p:sp>
        <p:nvSpPr>
          <p:cNvPr id="156" name="Rectangle 155"/>
          <p:cNvSpPr/>
          <p:nvPr/>
        </p:nvSpPr>
        <p:spPr>
          <a:xfrm>
            <a:off x="4679900" y="5816501"/>
            <a:ext cx="9525" cy="419100"/>
          </a:xfrm>
          <a:prstGeom prst="rect">
            <a:avLst/>
          </a:prstGeom>
          <a:solidFill>
            <a:srgbClr val="E3DCD3"/>
          </a:solidFill>
          <a:ln>
            <a:noFill/>
          </a:ln>
          <a:effectLst/>
        </p:spPr>
        <p:txBody>
          <a:bodyPr rtlCol="0" anchor="ctr"/>
          <a:lstStyle/>
          <a:p>
            <a:pPr algn="ctr"/>
            <a:endParaRPr/>
          </a:p>
        </p:txBody>
      </p:sp>
      <p:sp>
        <p:nvSpPr>
          <p:cNvPr id="157" name="Rectangle 156"/>
          <p:cNvSpPr/>
          <p:nvPr/>
        </p:nvSpPr>
        <p:spPr>
          <a:xfrm>
            <a:off x="2638425" y="6226076"/>
            <a:ext cx="2051000" cy="9525"/>
          </a:xfrm>
          <a:prstGeom prst="rect">
            <a:avLst/>
          </a:prstGeom>
          <a:solidFill>
            <a:srgbClr val="E3DCD3"/>
          </a:solidFill>
          <a:ln>
            <a:noFill/>
          </a:ln>
          <a:effectLst/>
        </p:spPr>
        <p:txBody>
          <a:bodyPr rtlCol="0" anchor="ctr"/>
          <a:lstStyle/>
          <a:p>
            <a:pPr algn="ctr"/>
            <a:endParaRPr/>
          </a:p>
        </p:txBody>
      </p:sp>
      <p:sp>
        <p:nvSpPr>
          <p:cNvPr id="158" name="Rectangle 157"/>
          <p:cNvSpPr/>
          <p:nvPr/>
        </p:nvSpPr>
        <p:spPr>
          <a:xfrm>
            <a:off x="2638425" y="5816501"/>
            <a:ext cx="9525" cy="419100"/>
          </a:xfrm>
          <a:prstGeom prst="rect">
            <a:avLst/>
          </a:prstGeom>
          <a:solidFill>
            <a:srgbClr val="E3DCD3"/>
          </a:solidFill>
          <a:ln>
            <a:noFill/>
          </a:ln>
          <a:effectLst/>
        </p:spPr>
        <p:txBody>
          <a:bodyPr rtlCol="0" anchor="ctr"/>
          <a:lstStyle/>
          <a:p>
            <a:pPr algn="ctr"/>
            <a:endParaRPr/>
          </a:p>
        </p:txBody>
      </p:sp>
      <p:sp>
        <p:nvSpPr>
          <p:cNvPr id="159" name="Text: HEALTH ADVOCATES NETWORK">
            <a:hlinkClick r:id="rId12"/>
          </p:cNvPr>
          <p:cNvSpPr txBox="1"/>
          <p:nvPr/>
        </p:nvSpPr>
        <p:spPr>
          <a:xfrm>
            <a:off x="3010049" y="5964138"/>
            <a:ext cx="1321891"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HEALTH ADVOCATES NETWORK</a:t>
            </a:r>
          </a:p>
        </p:txBody>
      </p:sp>
      <p:sp>
        <p:nvSpPr>
          <p:cNvPr id="160" name="Text: Nurse staffing for healthcare faci">
            <a:hlinkClick r:id="rId12"/>
          </p:cNvPr>
          <p:cNvSpPr txBox="1"/>
          <p:nvPr/>
        </p:nvSpPr>
        <p:spPr>
          <a:xfrm>
            <a:off x="263842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Nurse staffing for healthcare facilities in northern Louisiana</a:t>
            </a:r>
          </a:p>
        </p:txBody>
      </p:sp>
      <p:sp>
        <p:nvSpPr>
          <p:cNvPr id="161" name="Text: PHARMACY &amp; HEALTHCARE SERVICES">
            <a:hlinkClick r:id="rId12"/>
          </p:cNvPr>
          <p:cNvSpPr txBox="1"/>
          <p:nvPr/>
        </p:nvSpPr>
        <p:spPr>
          <a:xfrm>
            <a:off x="263842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62" name="Rectangle 161"/>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Rectangle 162"/>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Rectangle 163"/>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Rectangle 164"/>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Rectangle 165"/>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67" name="Rectangle 166"/>
          <p:cNvSpPr/>
          <p:nvPr/>
        </p:nvSpPr>
        <p:spPr>
          <a:xfrm>
            <a:off x="5051375" y="5235476"/>
            <a:ext cx="2051000" cy="419100"/>
          </a:xfrm>
          <a:prstGeom prst="rect">
            <a:avLst/>
          </a:prstGeom>
          <a:solidFill>
            <a:srgbClr val="FFFFFF"/>
          </a:solidFill>
          <a:ln>
            <a:noFill/>
          </a:ln>
          <a:effectLst/>
        </p:spPr>
        <p:txBody>
          <a:bodyPr rtlCol="0" anchor="ctr"/>
          <a:lstStyle/>
          <a:p>
            <a:pPr algn="ctr"/>
            <a:endParaRPr/>
          </a:p>
        </p:txBody>
      </p:sp>
      <p:sp>
        <p:nvSpPr>
          <p:cNvPr id="168" name="Rectangle 167"/>
          <p:cNvSpPr/>
          <p:nvPr/>
        </p:nvSpPr>
        <p:spPr>
          <a:xfrm>
            <a:off x="5051375" y="5235476"/>
            <a:ext cx="2051000" cy="9525"/>
          </a:xfrm>
          <a:prstGeom prst="rect">
            <a:avLst/>
          </a:prstGeom>
          <a:solidFill>
            <a:srgbClr val="E3DCD3"/>
          </a:solidFill>
          <a:ln>
            <a:noFill/>
          </a:ln>
          <a:effectLst/>
        </p:spPr>
        <p:txBody>
          <a:bodyPr rtlCol="0" anchor="ctr"/>
          <a:lstStyle/>
          <a:p>
            <a:pPr algn="ctr"/>
            <a:endParaRPr/>
          </a:p>
        </p:txBody>
      </p:sp>
      <p:sp>
        <p:nvSpPr>
          <p:cNvPr id="169" name="Rectangle 168"/>
          <p:cNvSpPr/>
          <p:nvPr/>
        </p:nvSpPr>
        <p:spPr>
          <a:xfrm>
            <a:off x="7092851" y="5235476"/>
            <a:ext cx="9525" cy="419100"/>
          </a:xfrm>
          <a:prstGeom prst="rect">
            <a:avLst/>
          </a:prstGeom>
          <a:solidFill>
            <a:srgbClr val="E3DCD3"/>
          </a:solidFill>
          <a:ln>
            <a:noFill/>
          </a:ln>
          <a:effectLst/>
        </p:spPr>
        <p:txBody>
          <a:bodyPr rtlCol="0" anchor="ctr"/>
          <a:lstStyle/>
          <a:p>
            <a:pPr algn="ctr"/>
            <a:endParaRPr/>
          </a:p>
        </p:txBody>
      </p:sp>
      <p:sp>
        <p:nvSpPr>
          <p:cNvPr id="170" name="Rectangle 169"/>
          <p:cNvSpPr/>
          <p:nvPr/>
        </p:nvSpPr>
        <p:spPr>
          <a:xfrm>
            <a:off x="5051375" y="5645051"/>
            <a:ext cx="2051000" cy="9525"/>
          </a:xfrm>
          <a:prstGeom prst="rect">
            <a:avLst/>
          </a:prstGeom>
          <a:solidFill>
            <a:srgbClr val="E3DCD3"/>
          </a:solidFill>
          <a:ln>
            <a:noFill/>
          </a:ln>
          <a:effectLst/>
        </p:spPr>
        <p:txBody>
          <a:bodyPr rtlCol="0" anchor="ctr"/>
          <a:lstStyle/>
          <a:p>
            <a:pPr algn="ctr"/>
            <a:endParaRPr/>
          </a:p>
        </p:txBody>
      </p:sp>
      <p:sp>
        <p:nvSpPr>
          <p:cNvPr id="171" name="Rectangle 170"/>
          <p:cNvSpPr/>
          <p:nvPr/>
        </p:nvSpPr>
        <p:spPr>
          <a:xfrm>
            <a:off x="5051375" y="5235476"/>
            <a:ext cx="9525" cy="419100"/>
          </a:xfrm>
          <a:prstGeom prst="rect">
            <a:avLst/>
          </a:prstGeom>
          <a:solidFill>
            <a:srgbClr val="E3DCD3"/>
          </a:solidFill>
          <a:ln>
            <a:noFill/>
          </a:ln>
          <a:effectLst/>
        </p:spPr>
        <p:txBody>
          <a:bodyPr rtlCol="0" anchor="ctr"/>
          <a:lstStyle/>
          <a:p>
            <a:pPr algn="ctr"/>
            <a:endParaRPr/>
          </a:p>
        </p:txBody>
      </p:sp>
      <p:sp>
        <p:nvSpPr>
          <p:cNvPr id="172" name="Text: THE BROOKS GROUP AND ASSOCIATES">
            <a:hlinkClick r:id="rId13"/>
          </p:cNvPr>
          <p:cNvSpPr txBox="1"/>
          <p:nvPr/>
        </p:nvSpPr>
        <p:spPr>
          <a:xfrm>
            <a:off x="5267027" y="5383113"/>
            <a:ext cx="1633984"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THE BROOKS GROUP AND ASSOCIATES</a:t>
            </a:r>
          </a:p>
        </p:txBody>
      </p:sp>
      <p:sp>
        <p:nvSpPr>
          <p:cNvPr id="173" name="Text: HAS BEEN ACQUIRED BY">
            <a:hlinkClick r:id="rId13"/>
          </p:cNvPr>
          <p:cNvSpPr txBox="1"/>
          <p:nvPr/>
        </p:nvSpPr>
        <p:spPr>
          <a:xfrm>
            <a:off x="5051375"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74" name="Rectangle 173"/>
          <p:cNvSpPr/>
          <p:nvPr/>
        </p:nvSpPr>
        <p:spPr>
          <a:xfrm>
            <a:off x="5051375" y="5816501"/>
            <a:ext cx="2051000" cy="419100"/>
          </a:xfrm>
          <a:prstGeom prst="rect">
            <a:avLst/>
          </a:prstGeom>
          <a:solidFill>
            <a:srgbClr val="FFFFFF"/>
          </a:solidFill>
          <a:ln>
            <a:noFill/>
          </a:ln>
          <a:effectLst/>
        </p:spPr>
        <p:txBody>
          <a:bodyPr rtlCol="0" anchor="ctr"/>
          <a:lstStyle/>
          <a:p>
            <a:pPr algn="ctr"/>
            <a:endParaRPr/>
          </a:p>
        </p:txBody>
      </p:sp>
      <p:sp>
        <p:nvSpPr>
          <p:cNvPr id="175" name="Rectangle 174"/>
          <p:cNvSpPr/>
          <p:nvPr/>
        </p:nvSpPr>
        <p:spPr>
          <a:xfrm>
            <a:off x="5051375" y="5816501"/>
            <a:ext cx="2051000" cy="9525"/>
          </a:xfrm>
          <a:prstGeom prst="rect">
            <a:avLst/>
          </a:prstGeom>
          <a:solidFill>
            <a:srgbClr val="E3DCD3"/>
          </a:solidFill>
          <a:ln>
            <a:noFill/>
          </a:ln>
          <a:effectLst/>
        </p:spPr>
        <p:txBody>
          <a:bodyPr rtlCol="0" anchor="ctr"/>
          <a:lstStyle/>
          <a:p>
            <a:pPr algn="ctr"/>
            <a:endParaRPr/>
          </a:p>
        </p:txBody>
      </p:sp>
      <p:sp>
        <p:nvSpPr>
          <p:cNvPr id="176" name="Rectangle 175"/>
          <p:cNvSpPr/>
          <p:nvPr/>
        </p:nvSpPr>
        <p:spPr>
          <a:xfrm>
            <a:off x="7092851" y="5816501"/>
            <a:ext cx="9525" cy="419100"/>
          </a:xfrm>
          <a:prstGeom prst="rect">
            <a:avLst/>
          </a:prstGeom>
          <a:solidFill>
            <a:srgbClr val="E3DCD3"/>
          </a:solidFill>
          <a:ln>
            <a:noFill/>
          </a:ln>
          <a:effectLst/>
        </p:spPr>
        <p:txBody>
          <a:bodyPr rtlCol="0" anchor="ctr"/>
          <a:lstStyle/>
          <a:p>
            <a:pPr algn="ctr"/>
            <a:endParaRPr/>
          </a:p>
        </p:txBody>
      </p:sp>
      <p:sp>
        <p:nvSpPr>
          <p:cNvPr id="177" name="Rectangle 176"/>
          <p:cNvSpPr/>
          <p:nvPr/>
        </p:nvSpPr>
        <p:spPr>
          <a:xfrm>
            <a:off x="5051375" y="6226076"/>
            <a:ext cx="2051000" cy="9525"/>
          </a:xfrm>
          <a:prstGeom prst="rect">
            <a:avLst/>
          </a:prstGeom>
          <a:solidFill>
            <a:srgbClr val="E3DCD3"/>
          </a:solidFill>
          <a:ln>
            <a:noFill/>
          </a:ln>
          <a:effectLst/>
        </p:spPr>
        <p:txBody>
          <a:bodyPr rtlCol="0" anchor="ctr"/>
          <a:lstStyle/>
          <a:p>
            <a:pPr algn="ctr"/>
            <a:endParaRPr/>
          </a:p>
        </p:txBody>
      </p:sp>
      <p:sp>
        <p:nvSpPr>
          <p:cNvPr id="178" name="Rectangle 177"/>
          <p:cNvSpPr/>
          <p:nvPr/>
        </p:nvSpPr>
        <p:spPr>
          <a:xfrm>
            <a:off x="5051375" y="5816501"/>
            <a:ext cx="9525" cy="419100"/>
          </a:xfrm>
          <a:prstGeom prst="rect">
            <a:avLst/>
          </a:prstGeom>
          <a:solidFill>
            <a:srgbClr val="E3DCD3"/>
          </a:solidFill>
          <a:ln>
            <a:noFill/>
          </a:ln>
          <a:effectLst/>
        </p:spPr>
        <p:txBody>
          <a:bodyPr rtlCol="0" anchor="ctr"/>
          <a:lstStyle/>
          <a:p>
            <a:pPr algn="ctr"/>
            <a:endParaRPr/>
          </a:p>
        </p:txBody>
      </p:sp>
      <p:sp>
        <p:nvSpPr>
          <p:cNvPr id="179" name="Text: A GROUP OF PRIVATE INVESTORS">
            <a:hlinkClick r:id="rId13"/>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 Training, research and instruction">
            <a:hlinkClick r:id="rId13"/>
          </p:cNvPr>
          <p:cNvSpPr txBox="1"/>
          <p:nvPr/>
        </p:nvSpPr>
        <p:spPr>
          <a:xfrm>
            <a:off x="5051375" y="6321326"/>
            <a:ext cx="2065288" cy="276225"/>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Training, research and instructional design for pharmaceutical, biotech and device companies</a:t>
            </a:r>
          </a:p>
        </p:txBody>
      </p:sp>
      <p:sp>
        <p:nvSpPr>
          <p:cNvPr id="181" name="Text: PHARMACY &amp; HEALTHCARE SERVICES">
            <a:hlinkClick r:id="rId13"/>
          </p:cNvPr>
          <p:cNvSpPr txBox="1"/>
          <p:nvPr/>
        </p:nvSpPr>
        <p:spPr>
          <a:xfrm>
            <a:off x="5051375"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182" name="Rectangle 181"/>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Rectangle 182"/>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Rectangle 183"/>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Rectangle 184"/>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Rectangle 185"/>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87" name="Rectangle 186"/>
          <p:cNvSpPr/>
          <p:nvPr/>
        </p:nvSpPr>
        <p:spPr>
          <a:xfrm>
            <a:off x="7464326" y="5235476"/>
            <a:ext cx="2051000" cy="419100"/>
          </a:xfrm>
          <a:prstGeom prst="rect">
            <a:avLst/>
          </a:prstGeom>
          <a:solidFill>
            <a:srgbClr val="FFFFFF"/>
          </a:solidFill>
          <a:ln>
            <a:noFill/>
          </a:ln>
          <a:effectLst/>
        </p:spPr>
        <p:txBody>
          <a:bodyPr rtlCol="0" anchor="ctr"/>
          <a:lstStyle/>
          <a:p>
            <a:pPr algn="ctr"/>
            <a:endParaRPr/>
          </a:p>
        </p:txBody>
      </p:sp>
      <p:sp>
        <p:nvSpPr>
          <p:cNvPr id="188" name="Rectangle 187"/>
          <p:cNvSpPr/>
          <p:nvPr/>
        </p:nvSpPr>
        <p:spPr>
          <a:xfrm>
            <a:off x="7464326" y="5235476"/>
            <a:ext cx="2051000" cy="9525"/>
          </a:xfrm>
          <a:prstGeom prst="rect">
            <a:avLst/>
          </a:prstGeom>
          <a:solidFill>
            <a:srgbClr val="E3DCD3"/>
          </a:solidFill>
          <a:ln>
            <a:noFill/>
          </a:ln>
          <a:effectLst/>
        </p:spPr>
        <p:txBody>
          <a:bodyPr rtlCol="0" anchor="ctr"/>
          <a:lstStyle/>
          <a:p>
            <a:pPr algn="ctr"/>
            <a:endParaRPr/>
          </a:p>
        </p:txBody>
      </p:sp>
      <p:sp>
        <p:nvSpPr>
          <p:cNvPr id="189" name="Rectangle 188"/>
          <p:cNvSpPr/>
          <p:nvPr/>
        </p:nvSpPr>
        <p:spPr>
          <a:xfrm>
            <a:off x="9505801" y="5235476"/>
            <a:ext cx="9525" cy="419100"/>
          </a:xfrm>
          <a:prstGeom prst="rect">
            <a:avLst/>
          </a:prstGeom>
          <a:solidFill>
            <a:srgbClr val="E3DCD3"/>
          </a:solidFill>
          <a:ln>
            <a:noFill/>
          </a:ln>
          <a:effectLst/>
        </p:spPr>
        <p:txBody>
          <a:bodyPr rtlCol="0" anchor="ctr"/>
          <a:lstStyle/>
          <a:p>
            <a:pPr algn="ctr"/>
            <a:endParaRPr/>
          </a:p>
        </p:txBody>
      </p:sp>
      <p:sp>
        <p:nvSpPr>
          <p:cNvPr id="190" name="Rectangle 189"/>
          <p:cNvSpPr/>
          <p:nvPr/>
        </p:nvSpPr>
        <p:spPr>
          <a:xfrm>
            <a:off x="7464326" y="5645051"/>
            <a:ext cx="2051000" cy="9525"/>
          </a:xfrm>
          <a:prstGeom prst="rect">
            <a:avLst/>
          </a:prstGeom>
          <a:solidFill>
            <a:srgbClr val="E3DCD3"/>
          </a:solidFill>
          <a:ln>
            <a:noFill/>
          </a:ln>
          <a:effectLst/>
        </p:spPr>
        <p:txBody>
          <a:bodyPr rtlCol="0" anchor="ctr"/>
          <a:lstStyle/>
          <a:p>
            <a:pPr algn="ctr"/>
            <a:endParaRPr/>
          </a:p>
        </p:txBody>
      </p:sp>
      <p:sp>
        <p:nvSpPr>
          <p:cNvPr id="191" name="Rectangle 190"/>
          <p:cNvSpPr/>
          <p:nvPr/>
        </p:nvSpPr>
        <p:spPr>
          <a:xfrm>
            <a:off x="7464326" y="5235476"/>
            <a:ext cx="9525" cy="419100"/>
          </a:xfrm>
          <a:prstGeom prst="rect">
            <a:avLst/>
          </a:prstGeom>
          <a:solidFill>
            <a:srgbClr val="E3DCD3"/>
          </a:solidFill>
          <a:ln>
            <a:noFill/>
          </a:ln>
          <a:effectLst/>
        </p:spPr>
        <p:txBody>
          <a:bodyPr rtlCol="0" anchor="ctr"/>
          <a:lstStyle/>
          <a:p>
            <a:pPr algn="ctr"/>
            <a:endParaRPr/>
          </a:p>
        </p:txBody>
      </p:sp>
      <p:sp>
        <p:nvSpPr>
          <p:cNvPr id="192" name="Text: FITZGERALD ENTERPRISES"/>
          <p:cNvSpPr txBox="1"/>
          <p:nvPr/>
        </p:nvSpPr>
        <p:spPr>
          <a:xfrm>
            <a:off x="7941171" y="5383113"/>
            <a:ext cx="111144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FITZGERALD ENTERPRISES</a:t>
            </a:r>
          </a:p>
        </p:txBody>
      </p:sp>
      <p:sp>
        <p:nvSpPr>
          <p:cNvPr id="193" name="Text: HAS BEEN ACQUIRED BY"/>
          <p:cNvSpPr txBox="1"/>
          <p:nvPr/>
        </p:nvSpPr>
        <p:spPr>
          <a:xfrm>
            <a:off x="7464326" y="5654576"/>
            <a:ext cx="2065288" cy="161925"/>
          </a:xfrm>
          <a:prstGeom prst="rect">
            <a:avLst/>
          </a:prstGeom>
          <a:noFill/>
        </p:spPr>
        <p:txBody>
          <a:bodyPr wrap="square" lIns="0" tIns="0" rIns="0" bIns="0" anchor="t">
            <a:spAutoFit/>
          </a:bodyPr>
          <a:lstStyle/>
          <a:p>
            <a:pPr algn="ctr">
              <a:lnSpc>
                <a:spcPts val="1275"/>
              </a:lnSpc>
            </a:pPr>
            <a:r>
              <a:rPr sz="600" b="0" i="0" spc="112">
                <a:solidFill>
                  <a:srgbClr val="6F6A66"/>
                </a:solidFill>
                <a:latin typeface="Calibri"/>
              </a:rPr>
              <a:t>HAS BEEN ACQUIRED BY</a:t>
            </a:r>
          </a:p>
        </p:txBody>
      </p:sp>
      <p:sp>
        <p:nvSpPr>
          <p:cNvPr id="194" name="Rectangle 193"/>
          <p:cNvSpPr/>
          <p:nvPr/>
        </p:nvSpPr>
        <p:spPr>
          <a:xfrm>
            <a:off x="7464326" y="5816501"/>
            <a:ext cx="2051000" cy="419100"/>
          </a:xfrm>
          <a:prstGeom prst="rect">
            <a:avLst/>
          </a:prstGeom>
          <a:solidFill>
            <a:srgbClr val="FFFFFF"/>
          </a:solidFill>
          <a:ln>
            <a:noFill/>
          </a:ln>
          <a:effectLst/>
        </p:spPr>
        <p:txBody>
          <a:bodyPr rtlCol="0" anchor="ctr"/>
          <a:lstStyle/>
          <a:p>
            <a:pPr algn="ctr"/>
            <a:endParaRPr/>
          </a:p>
        </p:txBody>
      </p:sp>
      <p:sp>
        <p:nvSpPr>
          <p:cNvPr id="195" name="Rectangle 194"/>
          <p:cNvSpPr/>
          <p:nvPr/>
        </p:nvSpPr>
        <p:spPr>
          <a:xfrm>
            <a:off x="7464326" y="5816501"/>
            <a:ext cx="2051000" cy="9525"/>
          </a:xfrm>
          <a:prstGeom prst="rect">
            <a:avLst/>
          </a:prstGeom>
          <a:solidFill>
            <a:srgbClr val="E3DCD3"/>
          </a:solidFill>
          <a:ln>
            <a:noFill/>
          </a:ln>
          <a:effectLst/>
        </p:spPr>
        <p:txBody>
          <a:bodyPr rtlCol="0" anchor="ctr"/>
          <a:lstStyle/>
          <a:p>
            <a:pPr algn="ctr"/>
            <a:endParaRPr/>
          </a:p>
        </p:txBody>
      </p:sp>
      <p:sp>
        <p:nvSpPr>
          <p:cNvPr id="196" name="Rectangle 195"/>
          <p:cNvSpPr/>
          <p:nvPr/>
        </p:nvSpPr>
        <p:spPr>
          <a:xfrm>
            <a:off x="9505801" y="5816501"/>
            <a:ext cx="9525" cy="419100"/>
          </a:xfrm>
          <a:prstGeom prst="rect">
            <a:avLst/>
          </a:prstGeom>
          <a:solidFill>
            <a:srgbClr val="E3DCD3"/>
          </a:solidFill>
          <a:ln>
            <a:noFill/>
          </a:ln>
          <a:effectLst/>
        </p:spPr>
        <p:txBody>
          <a:bodyPr rtlCol="0" anchor="ctr"/>
          <a:lstStyle/>
          <a:p>
            <a:pPr algn="ctr"/>
            <a:endParaRPr/>
          </a:p>
        </p:txBody>
      </p:sp>
      <p:sp>
        <p:nvSpPr>
          <p:cNvPr id="197" name="Rectangle 196"/>
          <p:cNvSpPr/>
          <p:nvPr/>
        </p:nvSpPr>
        <p:spPr>
          <a:xfrm>
            <a:off x="7464326" y="6226076"/>
            <a:ext cx="2051000" cy="9525"/>
          </a:xfrm>
          <a:prstGeom prst="rect">
            <a:avLst/>
          </a:prstGeom>
          <a:solidFill>
            <a:srgbClr val="E3DCD3"/>
          </a:solidFill>
          <a:ln>
            <a:noFill/>
          </a:ln>
          <a:effectLst/>
        </p:spPr>
        <p:txBody>
          <a:bodyPr rtlCol="0" anchor="ctr"/>
          <a:lstStyle/>
          <a:p>
            <a:pPr algn="ctr"/>
            <a:endParaRPr/>
          </a:p>
        </p:txBody>
      </p:sp>
      <p:sp>
        <p:nvSpPr>
          <p:cNvPr id="198" name="Rectangle 197"/>
          <p:cNvSpPr/>
          <p:nvPr/>
        </p:nvSpPr>
        <p:spPr>
          <a:xfrm>
            <a:off x="7464326" y="5816501"/>
            <a:ext cx="9525" cy="419100"/>
          </a:xfrm>
          <a:prstGeom prst="rect">
            <a:avLst/>
          </a:prstGeom>
          <a:solidFill>
            <a:srgbClr val="E3DCD3"/>
          </a:solidFill>
          <a:ln>
            <a:noFill/>
          </a:ln>
          <a:effectLst/>
        </p:spPr>
        <p:txBody>
          <a:bodyPr rtlCol="0" anchor="ctr"/>
          <a:lstStyle/>
          <a:p>
            <a:pPr algn="ctr"/>
            <a:endParaRPr/>
          </a:p>
        </p:txBody>
      </p:sp>
      <p:sp>
        <p:nvSpPr>
          <p:cNvPr id="199" name="Text: AN UNDISCLOSED BUYER"/>
          <p:cNvSpPr txBox="1"/>
          <p:nvPr/>
        </p:nvSpPr>
        <p:spPr>
          <a:xfrm>
            <a:off x="7962751" y="5964138"/>
            <a:ext cx="1068288"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AN UNDISCLOSED BUYER</a:t>
            </a:r>
          </a:p>
        </p:txBody>
      </p:sp>
      <p:sp>
        <p:nvSpPr>
          <p:cNvPr id="200" name="Text: Healthcare executive and clinical "/>
          <p:cNvSpPr txBox="1"/>
          <p:nvPr/>
        </p:nvSpPr>
        <p:spPr>
          <a:xfrm>
            <a:off x="7464326" y="6321326"/>
            <a:ext cx="2065288" cy="138112"/>
          </a:xfrm>
          <a:prstGeom prst="rect">
            <a:avLst/>
          </a:prstGeom>
          <a:noFill/>
        </p:spPr>
        <p:txBody>
          <a:bodyPr wrap="square" lIns="0" tIns="0" rIns="0" bIns="0" anchor="t">
            <a:spAutoFit/>
          </a:bodyPr>
          <a:lstStyle/>
          <a:p>
            <a:pPr algn="ctr">
              <a:lnSpc>
                <a:spcPts val="1088"/>
              </a:lnSpc>
            </a:pPr>
            <a:r>
              <a:rPr sz="788" b="0" i="0" spc="15">
                <a:solidFill>
                  <a:srgbClr val="333231"/>
                </a:solidFill>
                <a:latin typeface="Calibri"/>
              </a:rPr>
              <a:t>Healthcare executive and clinical placement</a:t>
            </a:r>
          </a:p>
        </p:txBody>
      </p:sp>
      <p:sp>
        <p:nvSpPr>
          <p:cNvPr id="201" name="Text: PHARMACY &amp; HEALTHCARE SERVICES"/>
          <p:cNvSpPr txBox="1"/>
          <p:nvPr/>
        </p:nvSpPr>
        <p:spPr>
          <a:xfrm>
            <a:off x="7464326" y="6734026"/>
            <a:ext cx="2065288" cy="104775"/>
          </a:xfrm>
          <a:prstGeom prst="rect">
            <a:avLst/>
          </a:prstGeom>
          <a:noFill/>
        </p:spPr>
        <p:txBody>
          <a:bodyPr wrap="square" lIns="0" tIns="0" rIns="0" bIns="0" anchor="t">
            <a:spAutoFit/>
          </a:bodyPr>
          <a:lstStyle/>
          <a:p>
            <a:pPr algn="ctr">
              <a:lnSpc>
                <a:spcPts val="825"/>
              </a:lnSpc>
            </a:pPr>
            <a:r>
              <a:rPr sz="600" b="1" i="0" spc="105">
                <a:solidFill>
                  <a:srgbClr val="8C6239"/>
                </a:solidFill>
                <a:latin typeface="Calibri"/>
              </a:rPr>
              <a:t>PHARMACY &amp; HEALTHCARE SERVICES</a:t>
            </a:r>
          </a:p>
        </p:txBody>
      </p:sp>
      <p:sp>
        <p:nvSpPr>
          <p:cNvPr id="202" name="Rectangle 2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02" descr="Benchmark International"/>
          <p:cNvPicPr>
            <a:picLocks noChangeAspect="1"/>
          </p:cNvPicPr>
          <p:nvPr/>
        </p:nvPicPr>
        <p:blipFill>
          <a:blip r:embed="rId14"/>
          <a:srcRect/>
          <a:stretch>
            <a:fillRect/>
          </a:stretch>
        </p:blipFill>
        <p:spPr>
          <a:xfrm>
            <a:off x="419100" y="7143750"/>
            <a:ext cx="914400" cy="171450"/>
          </a:xfrm>
          <a:prstGeom prst="rect">
            <a:avLst/>
          </a:prstGeom>
        </p:spPr>
      </p:pic>
      <p:sp>
        <p:nvSpPr>
          <p:cNvPr id="204" name="Text: Transactions closed in the trailin"/>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Transactions closed in the trailing 24 months on which Benchmark International advised the seller, as announced at benchmarkintl.com. Nine of the twelve are shown; buyers appear as announced. Engagements in progress are counted in aggregate.</a:t>
            </a:r>
          </a:p>
        </p:txBody>
      </p:sp>
      <p:sp>
        <p:nvSpPr>
          <p:cNvPr id="205" name="Text: 1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Valuation Multiples Have Shifted b"/>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Have Shifted by Focus Area</a:t>
            </a:r>
          </a:p>
        </p:txBody>
      </p:sp>
      <p:sp>
        <p:nvSpPr>
          <p:cNvPr id="6" name="Text: Life sciences and diagnostics comp"/>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Life sciences and diagnostics companies re-rated from 14.5x to 21.8x EBITDA in a year, while the other three focus areas trade within about one turn of a year ago.</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Enterprise value to trailing EBITD"/>
          <p:cNvSpPr txBox="1"/>
          <p:nvPr/>
        </p:nvSpPr>
        <p:spPr>
          <a:xfrm>
            <a:off x="419100" y="1238250"/>
            <a:ext cx="64912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Enterprise value to trailing EBITDA, median by focus area</a:t>
            </a:r>
          </a:p>
        </p:txBody>
      </p:sp>
      <p:sp>
        <p:nvSpPr>
          <p:cNvPr id="9" name="Text: Quarter-end values from September "/>
          <p:cNvSpPr txBox="1"/>
          <p:nvPr/>
        </p:nvSpPr>
        <p:spPr>
          <a:xfrm>
            <a:off x="419100" y="1400175"/>
            <a:ext cx="64912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Quarter-end values from September 2023 and the latest value in October 2026; the same companies at each point, where a multiple was available</a:t>
            </a:r>
          </a:p>
        </p:txBody>
      </p:sp>
      <p:graphicFrame>
        <p:nvGraphicFramePr>
          <p:cNvPr id="10" name="Chart (edit data to update)"/>
          <p:cNvGraphicFramePr>
            <a:graphicFrameLocks noGrp="1"/>
          </p:cNvGraphicFramePr>
          <p:nvPr/>
        </p:nvGraphicFramePr>
        <p:xfrm>
          <a:off x="419100" y="1609725"/>
          <a:ext cx="6096000" cy="3028950"/>
        </p:xfrm>
        <a:graphic>
          <a:graphicData uri="http://schemas.openxmlformats.org/drawingml/2006/chart">
            <c:chart xmlns:c="http://schemas.openxmlformats.org/drawingml/2006/chart" xmlns:r="http://schemas.openxmlformats.org/officeDocument/2006/relationships" r:id="rId2"/>
          </a:graphicData>
        </a:graphic>
      </p:graphicFrame>
      <p:sp>
        <p:nvSpPr>
          <p:cNvPr id="11" name="Rectangle 10"/>
          <p:cNvSpPr/>
          <p:nvPr/>
        </p:nvSpPr>
        <p:spPr>
          <a:xfrm>
            <a:off x="419100" y="4767262"/>
            <a:ext cx="133350" cy="28575"/>
          </a:xfrm>
          <a:prstGeom prst="rect">
            <a:avLst/>
          </a:prstGeom>
          <a:solidFill>
            <a:srgbClr val="1B1A1A"/>
          </a:solidFill>
          <a:ln>
            <a:noFill/>
          </a:ln>
          <a:effectLst/>
        </p:spPr>
        <p:txBody>
          <a:bodyPr rtlCol="0" anchor="ctr"/>
          <a:lstStyle/>
          <a:p>
            <a:pPr algn="ctr"/>
            <a:endParaRPr/>
          </a:p>
        </p:txBody>
      </p:sp>
      <p:sp>
        <p:nvSpPr>
          <p:cNvPr id="12" name="Text: Provider Services"/>
          <p:cNvSpPr txBox="1"/>
          <p:nvPr/>
        </p:nvSpPr>
        <p:spPr>
          <a:xfrm>
            <a:off x="609600" y="4714875"/>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3" name="Rectangle 12"/>
          <p:cNvSpPr/>
          <p:nvPr/>
        </p:nvSpPr>
        <p:spPr>
          <a:xfrm>
            <a:off x="1457325" y="4767262"/>
            <a:ext cx="133350" cy="28575"/>
          </a:xfrm>
          <a:prstGeom prst="rect">
            <a:avLst/>
          </a:prstGeom>
          <a:solidFill>
            <a:srgbClr val="B68757"/>
          </a:solidFill>
          <a:ln>
            <a:noFill/>
          </a:ln>
          <a:effectLst/>
        </p:spPr>
        <p:txBody>
          <a:bodyPr rtlCol="0" anchor="ctr"/>
          <a:lstStyle/>
          <a:p>
            <a:pPr algn="ctr"/>
            <a:endParaRPr/>
          </a:p>
        </p:txBody>
      </p:sp>
      <p:sp>
        <p:nvSpPr>
          <p:cNvPr id="14" name="Text: Life Sciences &amp; Diagnostics"/>
          <p:cNvSpPr txBox="1"/>
          <p:nvPr/>
        </p:nvSpPr>
        <p:spPr>
          <a:xfrm>
            <a:off x="1647825" y="4714875"/>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5" name="Rectangle 14"/>
          <p:cNvSpPr/>
          <p:nvPr/>
        </p:nvSpPr>
        <p:spPr>
          <a:xfrm>
            <a:off x="2884289" y="4767262"/>
            <a:ext cx="133350" cy="28575"/>
          </a:xfrm>
          <a:prstGeom prst="rect">
            <a:avLst/>
          </a:prstGeom>
          <a:solidFill>
            <a:srgbClr val="6D7681"/>
          </a:solidFill>
          <a:ln>
            <a:noFill/>
          </a:ln>
          <a:effectLst/>
        </p:spPr>
        <p:txBody>
          <a:bodyPr rtlCol="0" anchor="ctr"/>
          <a:lstStyle/>
          <a:p>
            <a:pPr algn="ctr"/>
            <a:endParaRPr/>
          </a:p>
        </p:txBody>
      </p:sp>
      <p:sp>
        <p:nvSpPr>
          <p:cNvPr id="16" name="Text: Medical Products &amp; Distribution"/>
          <p:cNvSpPr txBox="1"/>
          <p:nvPr/>
        </p:nvSpPr>
        <p:spPr>
          <a:xfrm>
            <a:off x="3074789" y="4714875"/>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7" name="Rectangle 16"/>
          <p:cNvSpPr/>
          <p:nvPr/>
        </p:nvSpPr>
        <p:spPr>
          <a:xfrm>
            <a:off x="4521994" y="4767262"/>
            <a:ext cx="133350" cy="28575"/>
          </a:xfrm>
          <a:prstGeom prst="rect">
            <a:avLst/>
          </a:prstGeom>
          <a:solidFill>
            <a:srgbClr val="A39486"/>
          </a:solidFill>
          <a:ln>
            <a:noFill/>
          </a:ln>
          <a:effectLst/>
        </p:spPr>
        <p:txBody>
          <a:bodyPr rtlCol="0" anchor="ctr"/>
          <a:lstStyle/>
          <a:p>
            <a:pPr algn="ctr"/>
            <a:endParaRPr/>
          </a:p>
        </p:txBody>
      </p:sp>
      <p:sp>
        <p:nvSpPr>
          <p:cNvPr id="18" name="Text: Pharmacy &amp; Healthcare Services"/>
          <p:cNvSpPr txBox="1"/>
          <p:nvPr/>
        </p:nvSpPr>
        <p:spPr>
          <a:xfrm>
            <a:off x="4712494" y="4714875"/>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9" name="Rectangle 18"/>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 MEDIAN EV TO TRAILING EBITDA"/>
          <p:cNvSpPr txBox="1"/>
          <p:nvPr/>
        </p:nvSpPr>
        <p:spPr>
          <a:xfrm>
            <a:off x="419100" y="5686425"/>
            <a:ext cx="3119438" cy="114300"/>
          </a:xfrm>
          <a:prstGeom prst="rect">
            <a:avLst/>
          </a:prstGeom>
          <a:noFill/>
        </p:spPr>
        <p:txBody>
          <a:bodyPr wrap="square" lIns="0" tIns="0" rIns="0" bIns="0" anchor="t">
            <a:spAutoFit/>
          </a:bodyPr>
          <a:lstStyle/>
          <a:p>
            <a:pPr algn="l">
              <a:lnSpc>
                <a:spcPts val="900"/>
              </a:lnSpc>
            </a:pPr>
            <a:r>
              <a:rPr sz="638" b="1" i="0" spc="105">
                <a:solidFill>
                  <a:srgbClr val="333231"/>
                </a:solidFill>
                <a:latin typeface="Calibri"/>
              </a:rPr>
              <a:t>MEDIAN EV TO TRAILING EBITDA</a:t>
            </a:r>
          </a:p>
        </p:txBody>
      </p:sp>
      <p:sp>
        <p:nvSpPr>
          <p:cNvPr id="21" name="Text: A YEAR AGO"/>
          <p:cNvSpPr txBox="1"/>
          <p:nvPr/>
        </p:nvSpPr>
        <p:spPr>
          <a:xfrm>
            <a:off x="36195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A YEAR AGO</a:t>
            </a:r>
          </a:p>
        </p:txBody>
      </p:sp>
      <p:sp>
        <p:nvSpPr>
          <p:cNvPr id="22" name="Text: TODAY"/>
          <p:cNvSpPr txBox="1"/>
          <p:nvPr/>
        </p:nvSpPr>
        <p:spPr>
          <a:xfrm>
            <a:off x="4419600" y="5686425"/>
            <a:ext cx="7191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TODAY</a:t>
            </a:r>
          </a:p>
        </p:txBody>
      </p:sp>
      <p:sp>
        <p:nvSpPr>
          <p:cNvPr id="23" name="Text: THREE-YEAR MEDIAN"/>
          <p:cNvSpPr txBox="1"/>
          <p:nvPr/>
        </p:nvSpPr>
        <p:spPr>
          <a:xfrm>
            <a:off x="5219700" y="5572125"/>
            <a:ext cx="928688" cy="2286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THREE-YEAR MEDIAN</a:t>
            </a:r>
          </a:p>
        </p:txBody>
      </p:sp>
      <p:sp>
        <p:nvSpPr>
          <p:cNvPr id="24" name="Text: COMPANIES"/>
          <p:cNvSpPr txBox="1"/>
          <p:nvPr/>
        </p:nvSpPr>
        <p:spPr>
          <a:xfrm>
            <a:off x="6229350" y="5686425"/>
            <a:ext cx="681038" cy="114300"/>
          </a:xfrm>
          <a:prstGeom prst="rect">
            <a:avLst/>
          </a:prstGeom>
          <a:noFill/>
        </p:spPr>
        <p:txBody>
          <a:bodyPr wrap="square" lIns="0" tIns="0" rIns="0" bIns="0" anchor="t">
            <a:spAutoFit/>
          </a:bodyPr>
          <a:lstStyle/>
          <a:p>
            <a:pPr algn="r">
              <a:lnSpc>
                <a:spcPts val="900"/>
              </a:lnSpc>
            </a:pPr>
            <a:r>
              <a:rPr sz="638" b="1" i="0" spc="105">
                <a:solidFill>
                  <a:srgbClr val="333231"/>
                </a:solidFill>
                <a:latin typeface="Calibri"/>
              </a:rPr>
              <a:t>COMPANIES</a:t>
            </a:r>
          </a:p>
        </p:txBody>
      </p:sp>
      <p:sp>
        <p:nvSpPr>
          <p:cNvPr id="25" name="Rectangle 24"/>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Rectangle 25"/>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 Provider Services"/>
          <p:cNvSpPr txBox="1"/>
          <p:nvPr/>
        </p:nvSpPr>
        <p:spPr>
          <a:xfrm>
            <a:off x="628650" y="5934075"/>
            <a:ext cx="93038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Provider Services</a:t>
            </a:r>
          </a:p>
        </p:txBody>
      </p:sp>
      <p:sp>
        <p:nvSpPr>
          <p:cNvPr id="28" name="Text: 11.2x"/>
          <p:cNvSpPr txBox="1"/>
          <p:nvPr/>
        </p:nvSpPr>
        <p:spPr>
          <a:xfrm>
            <a:off x="3619500" y="59245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11.2x</a:t>
            </a:r>
          </a:p>
        </p:txBody>
      </p:sp>
      <p:sp>
        <p:nvSpPr>
          <p:cNvPr id="29" name="Text: 11.3x"/>
          <p:cNvSpPr txBox="1"/>
          <p:nvPr/>
        </p:nvSpPr>
        <p:spPr>
          <a:xfrm>
            <a:off x="4419600" y="59245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11.3x</a:t>
            </a:r>
          </a:p>
        </p:txBody>
      </p:sp>
      <p:sp>
        <p:nvSpPr>
          <p:cNvPr id="30" name="Text: 12.9x"/>
          <p:cNvSpPr txBox="1"/>
          <p:nvPr/>
        </p:nvSpPr>
        <p:spPr>
          <a:xfrm>
            <a:off x="5219700" y="59245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12.9x</a:t>
            </a:r>
          </a:p>
        </p:txBody>
      </p:sp>
      <p:sp>
        <p:nvSpPr>
          <p:cNvPr id="31" name="Text: 8 of 11"/>
          <p:cNvSpPr txBox="1"/>
          <p:nvPr/>
        </p:nvSpPr>
        <p:spPr>
          <a:xfrm>
            <a:off x="6229350" y="59245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8 of 11</a:t>
            </a:r>
          </a:p>
        </p:txBody>
      </p:sp>
      <p:sp>
        <p:nvSpPr>
          <p:cNvPr id="32" name="Rectangle 31"/>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Rectangle 32"/>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 Life Sciences &amp; Diagnostics"/>
          <p:cNvSpPr txBox="1"/>
          <p:nvPr/>
        </p:nvSpPr>
        <p:spPr>
          <a:xfrm>
            <a:off x="628650" y="6200775"/>
            <a:ext cx="1404982"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Life Sciences &amp; Diagnostics</a:t>
            </a:r>
          </a:p>
        </p:txBody>
      </p:sp>
      <p:sp>
        <p:nvSpPr>
          <p:cNvPr id="35" name="Text: 14.5x"/>
          <p:cNvSpPr txBox="1"/>
          <p:nvPr/>
        </p:nvSpPr>
        <p:spPr>
          <a:xfrm>
            <a:off x="3619500" y="61912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14.5x</a:t>
            </a:r>
          </a:p>
        </p:txBody>
      </p:sp>
      <p:sp>
        <p:nvSpPr>
          <p:cNvPr id="36" name="Text: 21.8x"/>
          <p:cNvSpPr txBox="1"/>
          <p:nvPr/>
        </p:nvSpPr>
        <p:spPr>
          <a:xfrm>
            <a:off x="4419600" y="61912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21.8x</a:t>
            </a:r>
          </a:p>
        </p:txBody>
      </p:sp>
      <p:sp>
        <p:nvSpPr>
          <p:cNvPr id="37" name="Text: 15.7x"/>
          <p:cNvSpPr txBox="1"/>
          <p:nvPr/>
        </p:nvSpPr>
        <p:spPr>
          <a:xfrm>
            <a:off x="5219700" y="61912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15.7x</a:t>
            </a:r>
          </a:p>
        </p:txBody>
      </p:sp>
      <p:sp>
        <p:nvSpPr>
          <p:cNvPr id="38" name="Text: 9 of 9"/>
          <p:cNvSpPr txBox="1"/>
          <p:nvPr/>
        </p:nvSpPr>
        <p:spPr>
          <a:xfrm>
            <a:off x="6229350" y="61912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9 of 9</a:t>
            </a:r>
          </a:p>
        </p:txBody>
      </p:sp>
      <p:sp>
        <p:nvSpPr>
          <p:cNvPr id="39" name="Rectangle 38"/>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 Medical Products &amp; Distribution"/>
          <p:cNvSpPr txBox="1"/>
          <p:nvPr/>
        </p:nvSpPr>
        <p:spPr>
          <a:xfrm>
            <a:off x="628650" y="6467475"/>
            <a:ext cx="1670358"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Medical Products &amp; Distribution</a:t>
            </a:r>
          </a:p>
        </p:txBody>
      </p:sp>
      <p:sp>
        <p:nvSpPr>
          <p:cNvPr id="42" name="Text: 13.2x"/>
          <p:cNvSpPr txBox="1"/>
          <p:nvPr/>
        </p:nvSpPr>
        <p:spPr>
          <a:xfrm>
            <a:off x="3619500" y="64579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13.2x</a:t>
            </a:r>
          </a:p>
        </p:txBody>
      </p:sp>
      <p:sp>
        <p:nvSpPr>
          <p:cNvPr id="43" name="Text: 12.7x"/>
          <p:cNvSpPr txBox="1"/>
          <p:nvPr/>
        </p:nvSpPr>
        <p:spPr>
          <a:xfrm>
            <a:off x="4419600" y="64579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12.7x</a:t>
            </a:r>
          </a:p>
        </p:txBody>
      </p:sp>
      <p:sp>
        <p:nvSpPr>
          <p:cNvPr id="44" name="Text: 13.8x"/>
          <p:cNvSpPr txBox="1"/>
          <p:nvPr/>
        </p:nvSpPr>
        <p:spPr>
          <a:xfrm>
            <a:off x="5219700" y="64579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45" name="Text: 10 of 10"/>
          <p:cNvSpPr txBox="1"/>
          <p:nvPr/>
        </p:nvSpPr>
        <p:spPr>
          <a:xfrm>
            <a:off x="6229350" y="64579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10 of 10</a:t>
            </a:r>
          </a:p>
        </p:txBody>
      </p:sp>
      <p:sp>
        <p:nvSpPr>
          <p:cNvPr id="46" name="Rectangle 45"/>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 Pharmacy &amp; Healthcare Services"/>
          <p:cNvSpPr txBox="1"/>
          <p:nvPr/>
        </p:nvSpPr>
        <p:spPr>
          <a:xfrm>
            <a:off x="628650" y="6734175"/>
            <a:ext cx="1679034" cy="123825"/>
          </a:xfrm>
          <a:prstGeom prst="rect">
            <a:avLst/>
          </a:prstGeom>
          <a:noFill/>
        </p:spPr>
        <p:txBody>
          <a:bodyPr wrap="square" lIns="0" tIns="0" rIns="0" bIns="0" anchor="t">
            <a:spAutoFit/>
          </a:bodyPr>
          <a:lstStyle/>
          <a:p>
            <a:pPr algn="l">
              <a:lnSpc>
                <a:spcPts val="975"/>
              </a:lnSpc>
            </a:pPr>
            <a:r>
              <a:rPr sz="825" b="1" i="0" spc="15">
                <a:solidFill>
                  <a:srgbClr val="333231"/>
                </a:solidFill>
                <a:latin typeface="Calibri"/>
              </a:rPr>
              <a:t>Pharmacy &amp; Healthcare Services</a:t>
            </a:r>
          </a:p>
        </p:txBody>
      </p:sp>
      <p:sp>
        <p:nvSpPr>
          <p:cNvPr id="49" name="Text: 13.8x"/>
          <p:cNvSpPr txBox="1"/>
          <p:nvPr/>
        </p:nvSpPr>
        <p:spPr>
          <a:xfrm>
            <a:off x="3619500" y="6724650"/>
            <a:ext cx="71913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13.8x</a:t>
            </a:r>
          </a:p>
        </p:txBody>
      </p:sp>
      <p:sp>
        <p:nvSpPr>
          <p:cNvPr id="50" name="Text: 14.0x"/>
          <p:cNvSpPr txBox="1"/>
          <p:nvPr/>
        </p:nvSpPr>
        <p:spPr>
          <a:xfrm>
            <a:off x="4419600" y="6724650"/>
            <a:ext cx="719138" cy="142875"/>
          </a:xfrm>
          <a:prstGeom prst="rect">
            <a:avLst/>
          </a:prstGeom>
          <a:noFill/>
        </p:spPr>
        <p:txBody>
          <a:bodyPr wrap="square" lIns="0" tIns="0" rIns="0" bIns="0" anchor="t">
            <a:spAutoFit/>
          </a:bodyPr>
          <a:lstStyle/>
          <a:p>
            <a:pPr algn="r">
              <a:lnSpc>
                <a:spcPts val="1125"/>
              </a:lnSpc>
            </a:pPr>
            <a:r>
              <a:rPr sz="825" b="1" i="0" spc="15">
                <a:solidFill>
                  <a:srgbClr val="1B1A1A"/>
                </a:solidFill>
                <a:latin typeface="Calibri"/>
              </a:rPr>
              <a:t>14.0x</a:t>
            </a:r>
          </a:p>
        </p:txBody>
      </p:sp>
      <p:sp>
        <p:nvSpPr>
          <p:cNvPr id="51" name="Text: 12.7x"/>
          <p:cNvSpPr txBox="1"/>
          <p:nvPr/>
        </p:nvSpPr>
        <p:spPr>
          <a:xfrm>
            <a:off x="5219700" y="6724650"/>
            <a:ext cx="928688" cy="142875"/>
          </a:xfrm>
          <a:prstGeom prst="rect">
            <a:avLst/>
          </a:prstGeom>
          <a:noFill/>
        </p:spPr>
        <p:txBody>
          <a:bodyPr wrap="square" lIns="0" tIns="0" rIns="0" bIns="0" anchor="t">
            <a:spAutoFit/>
          </a:bodyPr>
          <a:lstStyle/>
          <a:p>
            <a:pPr algn="r">
              <a:lnSpc>
                <a:spcPts val="1125"/>
              </a:lnSpc>
            </a:pPr>
            <a:r>
              <a:rPr sz="825" b="0" i="0" spc="15">
                <a:solidFill>
                  <a:srgbClr val="333231"/>
                </a:solidFill>
                <a:latin typeface="Calibri"/>
              </a:rPr>
              <a:t>12.7x</a:t>
            </a:r>
          </a:p>
        </p:txBody>
      </p:sp>
      <p:sp>
        <p:nvSpPr>
          <p:cNvPr id="52" name="Text: 7 of 8"/>
          <p:cNvSpPr txBox="1"/>
          <p:nvPr/>
        </p:nvSpPr>
        <p:spPr>
          <a:xfrm>
            <a:off x="6229350" y="6724650"/>
            <a:ext cx="681038" cy="142875"/>
          </a:xfrm>
          <a:prstGeom prst="rect">
            <a:avLst/>
          </a:prstGeom>
          <a:noFill/>
        </p:spPr>
        <p:txBody>
          <a:bodyPr wrap="square" lIns="0" tIns="0" rIns="0" bIns="0" anchor="t">
            <a:spAutoFit/>
          </a:bodyPr>
          <a:lstStyle/>
          <a:p>
            <a:pPr algn="r">
              <a:lnSpc>
                <a:spcPts val="1125"/>
              </a:lnSpc>
            </a:pPr>
            <a:r>
              <a:rPr sz="825" b="0" i="0" spc="15">
                <a:solidFill>
                  <a:srgbClr val="6F6A66"/>
                </a:solidFill>
                <a:latin typeface="Calibri"/>
              </a:rPr>
              <a:t>7 of 8</a:t>
            </a:r>
          </a:p>
        </p:txBody>
      </p:sp>
      <p:sp>
        <p:nvSpPr>
          <p:cNvPr id="53" name="Rectangle 52"/>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53" descr="knot-dark.jpg"/>
          <p:cNvPicPr>
            <a:picLocks noChangeAspect="1"/>
          </p:cNvPicPr>
          <p:nvPr/>
        </p:nvPicPr>
        <p:blipFill>
          <a:blip r:embed="rId3">
            <a:alphaModFix amt="50000"/>
          </a:blip>
          <a:srcRect l="30109" t="1500" r="45438" b="1500"/>
          <a:stretch>
            <a:fillRect/>
          </a:stretch>
        </p:blipFill>
        <p:spPr>
          <a:xfrm>
            <a:off x="7086600" y="1238250"/>
            <a:ext cx="2552700" cy="5695950"/>
          </a:xfrm>
          <a:prstGeom prst="rect">
            <a:avLst/>
          </a:prstGeom>
        </p:spPr>
      </p:pic>
      <p:sp>
        <p:nvSpPr>
          <p:cNvPr id="55" name="Text: PRIVATE-MARKET REFERENCE POINTS"/>
          <p:cNvSpPr txBox="1"/>
          <p:nvPr/>
        </p:nvSpPr>
        <p:spPr>
          <a:xfrm>
            <a:off x="7277100" y="1447800"/>
            <a:ext cx="218598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PRIVATE-MARKET REFERENCE POINTS</a:t>
            </a:r>
          </a:p>
        </p:txBody>
      </p:sp>
      <p:sp>
        <p:nvSpPr>
          <p:cNvPr id="56" name="Rectangle 55"/>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 13.6x"/>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 Median EBITDA multiple private equ"/>
          <p:cNvSpPr txBox="1"/>
          <p:nvPr/>
        </p:nvSpPr>
        <p:spPr>
          <a:xfrm>
            <a:off x="7277100" y="2143125"/>
            <a:ext cx="2185988" cy="6096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EBITDA multiple private equity paid for healthcare services companies in 2025, weighted toward larger platforms (</a:t>
            </a:r>
            <a:r>
              <a:rPr sz="825" b="0" i="0" spc="15">
                <a:solidFill>
                  <a:srgbClr val="D3AE84"/>
                </a:solidFill>
                <a:latin typeface="Calibri"/>
                <a:hlinkClick r:id="rId4">
                  <a:extLst>
                    <a:ext uri="{A12FA001-AC4F-418D-AE19-62706E023703}">
                      <ahyp:hlinkClr xmlns:ahyp="http://schemas.microsoft.com/office/drawing/2018/hyperlinkcolor" val="tx"/>
                    </a:ext>
                  </a:extLst>
                </a:hlinkClick>
              </a:rPr>
              <a:t>PitchBook via Becker's ASC Review</a:t>
            </a:r>
            <a:r>
              <a:rPr sz="825" b="0" i="0" spc="15">
                <a:solidFill>
                  <a:srgbClr val="E8E2DA"/>
                </a:solidFill>
                <a:latin typeface="Calibri"/>
              </a:rPr>
              <a:t>)</a:t>
            </a:r>
          </a:p>
        </p:txBody>
      </p:sp>
      <p:sp>
        <p:nvSpPr>
          <p:cNvPr id="59" name="Rectangle 5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 7.0x"/>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 Average for completed middle-marke"/>
          <p:cNvSpPr txBox="1"/>
          <p:nvPr/>
        </p:nvSpPr>
        <p:spPr>
          <a:xfrm>
            <a:off x="7277100" y="334327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Average for completed middle-market transactions in all industries, second quarter of 2026 (</a:t>
            </a:r>
            <a:r>
              <a:rPr sz="825" b="0" i="0" spc="15">
                <a:solidFill>
                  <a:srgbClr val="D3AE84"/>
                </a:solidFill>
                <a:latin typeface="Calibri"/>
                <a:hlinkClick r:id="rId5">
                  <a:extLst>
                    <a:ext uri="{A12FA001-AC4F-418D-AE19-62706E023703}">
                      <ahyp:hlinkClr xmlns:ahyp="http://schemas.microsoft.com/office/drawing/2018/hyperlinkcolor" val="tx"/>
                    </a:ext>
                  </a:extLst>
                </a:hlinkClick>
              </a:rPr>
              <a:t>GF Data via ACG</a:t>
            </a:r>
            <a:r>
              <a:rPr sz="825" b="0" i="0" spc="15">
                <a:solidFill>
                  <a:srgbClr val="E8E2DA"/>
                </a:solidFill>
                <a:latin typeface="Calibri"/>
              </a:rPr>
              <a:t>)</a:t>
            </a:r>
          </a:p>
        </p:txBody>
      </p:sp>
      <p:sp>
        <p:nvSpPr>
          <p:cNvPr id="62" name="Rectangle 61"/>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 5.8x"/>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 Median for transactions of $5 mill"/>
          <p:cNvSpPr txBox="1"/>
          <p:nvPr/>
        </p:nvSpPr>
        <p:spPr>
          <a:xfrm>
            <a:off x="7277100" y="4391025"/>
            <a:ext cx="2185988"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Median for transactions of $5 million to $50 million in all industries, second quarter of 2026 (</a:t>
            </a:r>
            <a:r>
              <a:rPr sz="825" b="0" i="0" spc="15">
                <a:solidFill>
                  <a:srgbClr val="D3AE84"/>
                </a:solidFill>
                <a:latin typeface="Calibri"/>
                <a:hlinkClick r:id="rId6">
                  <a:extLst>
                    <a:ext uri="{A12FA001-AC4F-418D-AE19-62706E023703}">
                      <ahyp:hlinkClr xmlns:ahyp="http://schemas.microsoft.com/office/drawing/2018/hyperlinkcolor" val="tx"/>
                    </a:ext>
                  </a:extLst>
                </a:hlinkClick>
              </a:rPr>
              <a:t>IBBA and M&amp;A Source</a:t>
            </a:r>
            <a:r>
              <a:rPr sz="825" b="0" i="0" spc="15">
                <a:solidFill>
                  <a:srgbClr val="E8E2DA"/>
                </a:solidFill>
                <a:latin typeface="Calibri"/>
              </a:rPr>
              <a:t>)</a:t>
            </a:r>
          </a:p>
        </p:txBody>
      </p:sp>
      <p:sp>
        <p:nvSpPr>
          <p:cNvPr id="65" name="Rectangle 64"/>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 Listed multiples describe companie"/>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focus areas, and a private company's price is set by its own earnings, growth and risk.</a:t>
            </a:r>
          </a:p>
        </p:txBody>
      </p:sp>
      <p:sp>
        <p:nvSpPr>
          <p:cNvPr id="67" name="Rectangle 66"/>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67" descr="Benchmark International"/>
          <p:cNvPicPr>
            <a:picLocks noChangeAspect="1"/>
          </p:cNvPicPr>
          <p:nvPr/>
        </p:nvPicPr>
        <p:blipFill>
          <a:blip r:embed="rId7"/>
          <a:srcRect/>
          <a:stretch>
            <a:fillRect/>
          </a:stretch>
        </p:blipFill>
        <p:spPr>
          <a:xfrm>
            <a:off x="419100" y="7143750"/>
            <a:ext cx="914400" cy="171450"/>
          </a:xfrm>
          <a:prstGeom prst="rect">
            <a:avLst/>
          </a:prstGeom>
        </p:spPr>
      </p:pic>
      <p:sp>
        <p:nvSpPr>
          <p:cNvPr id="69"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Multiples use reported EBITDA. Medians cover companies with a multiple between zero and 60x today, a year ago and in at least eight of the past twelve quarters. Bio-Techne and Integer Holdings trade at agreed acquisition prices.</a:t>
            </a:r>
          </a:p>
        </p:txBody>
      </p:sp>
      <p:sp>
        <p:nvSpPr>
          <p:cNvPr id="70" name="Text: 1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Stock Performance: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 Pharmacy and healthcare services 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Pharmacy and healthcare services shares rose 38% at the median and life sciences shares rose 21%, while provider and medical products shares rose about 6%.</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Rectangle 8"/>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Rectangle 9"/>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Rectangle 10"/>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 Share price change, past 52 weeks"/>
          <p:cNvSpPr txBox="1"/>
          <p:nvPr/>
        </p:nvSpPr>
        <p:spPr>
          <a:xfrm>
            <a:off x="581025" y="1381125"/>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change, past 52 weeks</a:t>
            </a:r>
          </a:p>
        </p:txBody>
      </p:sp>
      <p:sp>
        <p:nvSpPr>
          <p:cNvPr id="13" name="Text: Median of the listed companies in "/>
          <p:cNvSpPr txBox="1"/>
          <p:nvPr/>
        </p:nvSpPr>
        <p:spPr>
          <a:xfrm>
            <a:off x="581025" y="1543050"/>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focus area</a:t>
            </a:r>
          </a:p>
        </p:txBody>
      </p:sp>
      <p:graphicFrame>
        <p:nvGraphicFramePr>
          <p:cNvPr id="14" name="Chart (edit data to update)"/>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Rectangle 14"/>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Rectangle 15"/>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Rectangle 16"/>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Rectangle 17"/>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 Share price relative to the 52-wee"/>
          <p:cNvSpPr txBox="1"/>
          <p:nvPr/>
        </p:nvSpPr>
        <p:spPr>
          <a:xfrm>
            <a:off x="581025" y="3790950"/>
            <a:ext cx="399573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Share price relative to the 52-week high</a:t>
            </a:r>
          </a:p>
        </p:txBody>
      </p:sp>
      <p:sp>
        <p:nvSpPr>
          <p:cNvPr id="20" name="Text: Median of the listed companies in "/>
          <p:cNvSpPr txBox="1"/>
          <p:nvPr/>
        </p:nvSpPr>
        <p:spPr>
          <a:xfrm>
            <a:off x="581025" y="3952875"/>
            <a:ext cx="399573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Median of the listed companies in each focus area</a:t>
            </a:r>
          </a:p>
        </p:txBody>
      </p:sp>
      <p:graphicFrame>
        <p:nvGraphicFramePr>
          <p:cNvPr id="21" name="Chart (edit data to update)"/>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Rectangle 2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 Shares rose over the year at 29 of"/>
          <p:cNvSpPr txBox="1"/>
          <p:nvPr/>
        </p:nvSpPr>
        <p:spPr>
          <a:xfrm>
            <a:off x="571500" y="6348412"/>
            <a:ext cx="4014788" cy="471488"/>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Shares rose over the year at 29 of the 38 companies: 7 of 11 provider companies, 8 of 9 life sciences and diagnostics companies, 6 of 10 medical products companies and 8 of 8 pharmacy and healthcare services companies.</a:t>
            </a:r>
          </a:p>
        </p:txBody>
      </p:sp>
      <p:sp>
        <p:nvSpPr>
          <p:cNvPr id="25" name="Text: LARGEST GAINS, 52 WEEKS"/>
          <p:cNvSpPr txBox="1"/>
          <p:nvPr/>
        </p:nvSpPr>
        <p:spPr>
          <a:xfrm>
            <a:off x="4933950"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LARGEST GAINS, 52 WEEKS</a:t>
            </a:r>
          </a:p>
        </p:txBody>
      </p:sp>
      <p:sp>
        <p:nvSpPr>
          <p:cNvPr id="26" name="Rectangle 25"/>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27" name="Rounded Rectangle 26"/>
          <p:cNvSpPr/>
          <p:nvPr/>
        </p:nvSpPr>
        <p:spPr>
          <a:xfrm>
            <a:off x="4933950"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28" name="Text: BTSG"/>
          <p:cNvSpPr txBox="1"/>
          <p:nvPr/>
        </p:nvSpPr>
        <p:spPr>
          <a:xfrm>
            <a:off x="4933950"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BTSG</a:t>
            </a:r>
          </a:p>
        </p:txBody>
      </p:sp>
      <p:sp>
        <p:nvSpPr>
          <p:cNvPr id="29" name="Text: BrightSpring"/>
          <p:cNvSpPr txBox="1"/>
          <p:nvPr/>
        </p:nvSpPr>
        <p:spPr>
          <a:xfrm>
            <a:off x="5372100"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BrightSpring</a:t>
            </a:r>
          </a:p>
        </p:txBody>
      </p:sp>
      <p:sp>
        <p:nvSpPr>
          <p:cNvPr id="30" name="Text: +124.8%"/>
          <p:cNvSpPr txBox="1"/>
          <p:nvPr/>
        </p:nvSpPr>
        <p:spPr>
          <a:xfrm>
            <a:off x="6638925" y="1471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+124.8%</a:t>
            </a:r>
          </a:p>
        </p:txBody>
      </p:sp>
      <p:sp>
        <p:nvSpPr>
          <p:cNvPr id="31" name="Rectangle 30"/>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2" name="Rounded Rectangle 31"/>
          <p:cNvSpPr/>
          <p:nvPr/>
        </p:nvSpPr>
        <p:spPr>
          <a:xfrm>
            <a:off x="4933950"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3" name="Text: LFST"/>
          <p:cNvSpPr txBox="1"/>
          <p:nvPr/>
        </p:nvSpPr>
        <p:spPr>
          <a:xfrm>
            <a:off x="4933950"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LFST</a:t>
            </a:r>
          </a:p>
        </p:txBody>
      </p:sp>
      <p:sp>
        <p:nvSpPr>
          <p:cNvPr id="34" name="Text: LifeStance Health"/>
          <p:cNvSpPr txBox="1"/>
          <p:nvPr/>
        </p:nvSpPr>
        <p:spPr>
          <a:xfrm>
            <a:off x="5372100"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LifeStance Health</a:t>
            </a:r>
          </a:p>
        </p:txBody>
      </p:sp>
      <p:sp>
        <p:nvSpPr>
          <p:cNvPr id="35" name="Text: +123.4%"/>
          <p:cNvSpPr txBox="1"/>
          <p:nvPr/>
        </p:nvSpPr>
        <p:spPr>
          <a:xfrm>
            <a:off x="6638925" y="1747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+123.4%</a:t>
            </a:r>
          </a:p>
        </p:txBody>
      </p:sp>
      <p:sp>
        <p:nvSpPr>
          <p:cNvPr id="36" name="Rectangle 35"/>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37" name="Rounded Rectangle 36"/>
          <p:cNvSpPr/>
          <p:nvPr/>
        </p:nvSpPr>
        <p:spPr>
          <a:xfrm>
            <a:off x="4933950"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38" name="Text: AMN"/>
          <p:cNvSpPr txBox="1"/>
          <p:nvPr/>
        </p:nvSpPr>
        <p:spPr>
          <a:xfrm>
            <a:off x="4933950"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AMN</a:t>
            </a:r>
          </a:p>
        </p:txBody>
      </p:sp>
      <p:sp>
        <p:nvSpPr>
          <p:cNvPr id="39" name="Text: AMN Healthcare"/>
          <p:cNvSpPr txBox="1"/>
          <p:nvPr/>
        </p:nvSpPr>
        <p:spPr>
          <a:xfrm>
            <a:off x="5372100"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AMN Healthcare</a:t>
            </a:r>
          </a:p>
        </p:txBody>
      </p:sp>
      <p:sp>
        <p:nvSpPr>
          <p:cNvPr id="40" name="Text: +85.2%"/>
          <p:cNvSpPr txBox="1"/>
          <p:nvPr/>
        </p:nvSpPr>
        <p:spPr>
          <a:xfrm>
            <a:off x="6638925" y="2024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+85.2%</a:t>
            </a:r>
          </a:p>
        </p:txBody>
      </p:sp>
      <p:sp>
        <p:nvSpPr>
          <p:cNvPr id="41" name="Rectangle 40"/>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2" name="Rounded Rectangle 41"/>
          <p:cNvSpPr/>
          <p:nvPr/>
        </p:nvSpPr>
        <p:spPr>
          <a:xfrm>
            <a:off x="4933950" y="2324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3" name="Text: GRDN"/>
          <p:cNvSpPr txBox="1"/>
          <p:nvPr/>
        </p:nvSpPr>
        <p:spPr>
          <a:xfrm>
            <a:off x="4933950" y="2324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GRDN</a:t>
            </a:r>
          </a:p>
        </p:txBody>
      </p:sp>
      <p:sp>
        <p:nvSpPr>
          <p:cNvPr id="44" name="Text: Guardian Pharmacy Services"/>
          <p:cNvSpPr txBox="1"/>
          <p:nvPr/>
        </p:nvSpPr>
        <p:spPr>
          <a:xfrm>
            <a:off x="5372100" y="2286000"/>
            <a:ext cx="1204912" cy="26670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Guardian Pharmacy Services</a:t>
            </a:r>
          </a:p>
        </p:txBody>
      </p:sp>
      <p:sp>
        <p:nvSpPr>
          <p:cNvPr id="45" name="Text: +76.2%"/>
          <p:cNvSpPr txBox="1"/>
          <p:nvPr/>
        </p:nvSpPr>
        <p:spPr>
          <a:xfrm>
            <a:off x="6638925" y="2338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+76.2%</a:t>
            </a:r>
          </a:p>
        </p:txBody>
      </p:sp>
      <p:sp>
        <p:nvSpPr>
          <p:cNvPr id="46" name="Rectangle 45"/>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47" name="Rounded Rectangle 46"/>
          <p:cNvSpPr/>
          <p:nvPr/>
        </p:nvSpPr>
        <p:spPr>
          <a:xfrm>
            <a:off x="4933950" y="26384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48" name="Text: CON"/>
          <p:cNvSpPr txBox="1"/>
          <p:nvPr/>
        </p:nvSpPr>
        <p:spPr>
          <a:xfrm>
            <a:off x="4933950" y="26384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CON</a:t>
            </a:r>
          </a:p>
        </p:txBody>
      </p:sp>
      <p:sp>
        <p:nvSpPr>
          <p:cNvPr id="49" name="Text: Concentra"/>
          <p:cNvSpPr txBox="1"/>
          <p:nvPr/>
        </p:nvSpPr>
        <p:spPr>
          <a:xfrm>
            <a:off x="5372100" y="26670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Concentra</a:t>
            </a:r>
          </a:p>
        </p:txBody>
      </p:sp>
      <p:sp>
        <p:nvSpPr>
          <p:cNvPr id="50" name="Text: +74.5%"/>
          <p:cNvSpPr txBox="1"/>
          <p:nvPr/>
        </p:nvSpPr>
        <p:spPr>
          <a:xfrm>
            <a:off x="6638925" y="26527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+74.5%</a:t>
            </a:r>
          </a:p>
        </p:txBody>
      </p:sp>
      <p:sp>
        <p:nvSpPr>
          <p:cNvPr id="51" name="Rectangle 50"/>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2" name="Rounded Rectangle 51"/>
          <p:cNvSpPr/>
          <p:nvPr/>
        </p:nvSpPr>
        <p:spPr>
          <a:xfrm>
            <a:off x="4933950" y="29146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3" name="Text: CRL"/>
          <p:cNvSpPr txBox="1"/>
          <p:nvPr/>
        </p:nvSpPr>
        <p:spPr>
          <a:xfrm>
            <a:off x="4933950" y="29146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CRL</a:t>
            </a:r>
          </a:p>
        </p:txBody>
      </p:sp>
      <p:sp>
        <p:nvSpPr>
          <p:cNvPr id="54" name="Text: Charles River Laboratories"/>
          <p:cNvSpPr txBox="1"/>
          <p:nvPr/>
        </p:nvSpPr>
        <p:spPr>
          <a:xfrm>
            <a:off x="5372100" y="29432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Charles River Laboratories</a:t>
            </a:r>
          </a:p>
        </p:txBody>
      </p:sp>
      <p:sp>
        <p:nvSpPr>
          <p:cNvPr id="55" name="Text: +72.0%"/>
          <p:cNvSpPr txBox="1"/>
          <p:nvPr/>
        </p:nvSpPr>
        <p:spPr>
          <a:xfrm>
            <a:off x="6638925" y="29289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+72.0%</a:t>
            </a:r>
          </a:p>
        </p:txBody>
      </p:sp>
      <p:sp>
        <p:nvSpPr>
          <p:cNvPr id="56" name="Rectangle 5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57" name="Rounded Rectangle 56"/>
          <p:cNvSpPr/>
          <p:nvPr/>
        </p:nvSpPr>
        <p:spPr>
          <a:xfrm>
            <a:off x="4933950" y="31908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58" name="Text: PNTG"/>
          <p:cNvSpPr txBox="1"/>
          <p:nvPr/>
        </p:nvSpPr>
        <p:spPr>
          <a:xfrm>
            <a:off x="4933950" y="31908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PNTG</a:t>
            </a:r>
          </a:p>
        </p:txBody>
      </p:sp>
      <p:sp>
        <p:nvSpPr>
          <p:cNvPr id="59" name="Text: Pennant Group"/>
          <p:cNvSpPr txBox="1"/>
          <p:nvPr/>
        </p:nvSpPr>
        <p:spPr>
          <a:xfrm>
            <a:off x="5372100" y="32194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Pennant Group</a:t>
            </a:r>
          </a:p>
        </p:txBody>
      </p:sp>
      <p:sp>
        <p:nvSpPr>
          <p:cNvPr id="60" name="Text: +56.1%"/>
          <p:cNvSpPr txBox="1"/>
          <p:nvPr/>
        </p:nvSpPr>
        <p:spPr>
          <a:xfrm>
            <a:off x="6638925" y="32051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+56.1%</a:t>
            </a:r>
          </a:p>
        </p:txBody>
      </p:sp>
      <p:sp>
        <p:nvSpPr>
          <p:cNvPr id="61" name="Rectangle 60"/>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2" name="Rounded Rectangle 61"/>
          <p:cNvSpPr/>
          <p:nvPr/>
        </p:nvSpPr>
        <p:spPr>
          <a:xfrm>
            <a:off x="4933950" y="34671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3" name="Text: CAH"/>
          <p:cNvSpPr txBox="1"/>
          <p:nvPr/>
        </p:nvSpPr>
        <p:spPr>
          <a:xfrm>
            <a:off x="4933950" y="34671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CAH</a:t>
            </a:r>
          </a:p>
        </p:txBody>
      </p:sp>
      <p:sp>
        <p:nvSpPr>
          <p:cNvPr id="64" name="Text: Cardinal Health"/>
          <p:cNvSpPr txBox="1"/>
          <p:nvPr/>
        </p:nvSpPr>
        <p:spPr>
          <a:xfrm>
            <a:off x="5372100" y="34956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Cardinal Health</a:t>
            </a:r>
          </a:p>
        </p:txBody>
      </p:sp>
      <p:sp>
        <p:nvSpPr>
          <p:cNvPr id="65" name="Text: +51.7%"/>
          <p:cNvSpPr txBox="1"/>
          <p:nvPr/>
        </p:nvSpPr>
        <p:spPr>
          <a:xfrm>
            <a:off x="6638925" y="34813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+51.7%</a:t>
            </a:r>
          </a:p>
        </p:txBody>
      </p:sp>
      <p:sp>
        <p:nvSpPr>
          <p:cNvPr id="66" name="Rectangle 65"/>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67" name="Rounded Rectangle 66"/>
          <p:cNvSpPr/>
          <p:nvPr/>
        </p:nvSpPr>
        <p:spPr>
          <a:xfrm>
            <a:off x="4933950" y="3743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68" name="Text: DVA"/>
          <p:cNvSpPr txBox="1"/>
          <p:nvPr/>
        </p:nvSpPr>
        <p:spPr>
          <a:xfrm>
            <a:off x="4933950" y="3743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DVA</a:t>
            </a:r>
          </a:p>
        </p:txBody>
      </p:sp>
      <p:sp>
        <p:nvSpPr>
          <p:cNvPr id="69" name="Text: DaVita"/>
          <p:cNvSpPr txBox="1"/>
          <p:nvPr/>
        </p:nvSpPr>
        <p:spPr>
          <a:xfrm>
            <a:off x="5372100" y="3771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DaVita</a:t>
            </a:r>
          </a:p>
        </p:txBody>
      </p:sp>
      <p:sp>
        <p:nvSpPr>
          <p:cNvPr id="70" name="Text: +37.4%"/>
          <p:cNvSpPr txBox="1"/>
          <p:nvPr/>
        </p:nvSpPr>
        <p:spPr>
          <a:xfrm>
            <a:off x="6638925" y="37576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+37.4%</a:t>
            </a:r>
          </a:p>
        </p:txBody>
      </p:sp>
      <p:sp>
        <p:nvSpPr>
          <p:cNvPr id="71" name="Rectangle 70"/>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2" name="Rounded Rectangle 71"/>
          <p:cNvSpPr/>
          <p:nvPr/>
        </p:nvSpPr>
        <p:spPr>
          <a:xfrm>
            <a:off x="4933950" y="4019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3" name="Text: VMD"/>
          <p:cNvSpPr txBox="1"/>
          <p:nvPr/>
        </p:nvSpPr>
        <p:spPr>
          <a:xfrm>
            <a:off x="4933950" y="4019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VMD</a:t>
            </a:r>
          </a:p>
        </p:txBody>
      </p:sp>
      <p:sp>
        <p:nvSpPr>
          <p:cNvPr id="74" name="Text: Viemed Healthcare"/>
          <p:cNvSpPr txBox="1"/>
          <p:nvPr/>
        </p:nvSpPr>
        <p:spPr>
          <a:xfrm>
            <a:off x="5372100" y="4048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Viemed Healthcare</a:t>
            </a:r>
          </a:p>
        </p:txBody>
      </p:sp>
      <p:sp>
        <p:nvSpPr>
          <p:cNvPr id="75" name="Text: +31.8%"/>
          <p:cNvSpPr txBox="1"/>
          <p:nvPr/>
        </p:nvSpPr>
        <p:spPr>
          <a:xfrm>
            <a:off x="6638925" y="40338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+31.8%</a:t>
            </a:r>
          </a:p>
        </p:txBody>
      </p:sp>
      <p:sp>
        <p:nvSpPr>
          <p:cNvPr id="76" name="Rectangle 75"/>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77" name="Rounded Rectangle 76"/>
          <p:cNvSpPr/>
          <p:nvPr/>
        </p:nvSpPr>
        <p:spPr>
          <a:xfrm>
            <a:off x="4933950" y="4295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78" name="Text: THC"/>
          <p:cNvSpPr txBox="1"/>
          <p:nvPr/>
        </p:nvSpPr>
        <p:spPr>
          <a:xfrm>
            <a:off x="4933950" y="4295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THC</a:t>
            </a:r>
          </a:p>
        </p:txBody>
      </p:sp>
      <p:sp>
        <p:nvSpPr>
          <p:cNvPr id="79" name="Text: Tenet Healthcare"/>
          <p:cNvSpPr txBox="1"/>
          <p:nvPr/>
        </p:nvSpPr>
        <p:spPr>
          <a:xfrm>
            <a:off x="5372100" y="4324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Tenet Healthcare</a:t>
            </a:r>
          </a:p>
        </p:txBody>
      </p:sp>
      <p:sp>
        <p:nvSpPr>
          <p:cNvPr id="80" name="Text: +27.3%"/>
          <p:cNvSpPr txBox="1"/>
          <p:nvPr/>
        </p:nvSpPr>
        <p:spPr>
          <a:xfrm>
            <a:off x="6638925" y="43100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+27.3%</a:t>
            </a:r>
          </a:p>
        </p:txBody>
      </p:sp>
      <p:sp>
        <p:nvSpPr>
          <p:cNvPr id="81" name="Rectangle 80"/>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2" name="Rounded Rectangle 81"/>
          <p:cNvSpPr/>
          <p:nvPr/>
        </p:nvSpPr>
        <p:spPr>
          <a:xfrm>
            <a:off x="4933950" y="4572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3" name="Text: DGX"/>
          <p:cNvSpPr txBox="1"/>
          <p:nvPr/>
        </p:nvSpPr>
        <p:spPr>
          <a:xfrm>
            <a:off x="4933950" y="4572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DGX</a:t>
            </a:r>
          </a:p>
        </p:txBody>
      </p:sp>
      <p:sp>
        <p:nvSpPr>
          <p:cNvPr id="84" name="Text: Quest Diagnostics"/>
          <p:cNvSpPr txBox="1"/>
          <p:nvPr/>
        </p:nvSpPr>
        <p:spPr>
          <a:xfrm>
            <a:off x="5372100" y="4600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Quest Diagnostics</a:t>
            </a:r>
          </a:p>
        </p:txBody>
      </p:sp>
      <p:sp>
        <p:nvSpPr>
          <p:cNvPr id="85" name="Text: +26.6%"/>
          <p:cNvSpPr txBox="1"/>
          <p:nvPr/>
        </p:nvSpPr>
        <p:spPr>
          <a:xfrm>
            <a:off x="6638925" y="45862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+26.6%</a:t>
            </a:r>
          </a:p>
        </p:txBody>
      </p:sp>
      <p:sp>
        <p:nvSpPr>
          <p:cNvPr id="86" name="Rectangle 85"/>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87" name="Rounded Rectangle 86"/>
          <p:cNvSpPr/>
          <p:nvPr/>
        </p:nvSpPr>
        <p:spPr>
          <a:xfrm>
            <a:off x="4933950" y="4848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88" name="Text: HSIC"/>
          <p:cNvSpPr txBox="1"/>
          <p:nvPr/>
        </p:nvSpPr>
        <p:spPr>
          <a:xfrm>
            <a:off x="4933950" y="4848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HSIC</a:t>
            </a:r>
          </a:p>
        </p:txBody>
      </p:sp>
      <p:sp>
        <p:nvSpPr>
          <p:cNvPr id="89" name="Text: Henry Schein"/>
          <p:cNvSpPr txBox="1"/>
          <p:nvPr/>
        </p:nvSpPr>
        <p:spPr>
          <a:xfrm>
            <a:off x="5372100" y="4876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Henry Schein</a:t>
            </a:r>
          </a:p>
        </p:txBody>
      </p:sp>
      <p:sp>
        <p:nvSpPr>
          <p:cNvPr id="90" name="Text: +26.4%"/>
          <p:cNvSpPr txBox="1"/>
          <p:nvPr/>
        </p:nvSpPr>
        <p:spPr>
          <a:xfrm>
            <a:off x="6638925" y="486251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+26.4%</a:t>
            </a:r>
          </a:p>
        </p:txBody>
      </p:sp>
      <p:sp>
        <p:nvSpPr>
          <p:cNvPr id="91" name="Rectangle 90"/>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2" name="Rounded Rectangle 91"/>
          <p:cNvSpPr/>
          <p:nvPr/>
        </p:nvSpPr>
        <p:spPr>
          <a:xfrm>
            <a:off x="4933950" y="5124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3" name="Text: IQV"/>
          <p:cNvSpPr txBox="1"/>
          <p:nvPr/>
        </p:nvSpPr>
        <p:spPr>
          <a:xfrm>
            <a:off x="4933950" y="5124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IQV</a:t>
            </a:r>
          </a:p>
        </p:txBody>
      </p:sp>
      <p:sp>
        <p:nvSpPr>
          <p:cNvPr id="94" name="Text: IQVIA"/>
          <p:cNvSpPr txBox="1"/>
          <p:nvPr/>
        </p:nvSpPr>
        <p:spPr>
          <a:xfrm>
            <a:off x="5372100" y="5153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IQVIA</a:t>
            </a:r>
          </a:p>
        </p:txBody>
      </p:sp>
      <p:sp>
        <p:nvSpPr>
          <p:cNvPr id="95" name="Text: +25.8%"/>
          <p:cNvSpPr txBox="1"/>
          <p:nvPr/>
        </p:nvSpPr>
        <p:spPr>
          <a:xfrm>
            <a:off x="6638925" y="513873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+25.8%</a:t>
            </a:r>
          </a:p>
        </p:txBody>
      </p:sp>
      <p:sp>
        <p:nvSpPr>
          <p:cNvPr id="96" name="Rectangle 95"/>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97" name="Rounded Rectangle 96"/>
          <p:cNvSpPr/>
          <p:nvPr/>
        </p:nvSpPr>
        <p:spPr>
          <a:xfrm>
            <a:off x="4933950" y="5400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98" name="Text: MCK"/>
          <p:cNvSpPr txBox="1"/>
          <p:nvPr/>
        </p:nvSpPr>
        <p:spPr>
          <a:xfrm>
            <a:off x="4933950" y="5400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MCK</a:t>
            </a:r>
          </a:p>
        </p:txBody>
      </p:sp>
      <p:sp>
        <p:nvSpPr>
          <p:cNvPr id="99" name="Text: McKesson"/>
          <p:cNvSpPr txBox="1"/>
          <p:nvPr/>
        </p:nvSpPr>
        <p:spPr>
          <a:xfrm>
            <a:off x="5372100" y="5429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McKesson</a:t>
            </a:r>
          </a:p>
        </p:txBody>
      </p:sp>
      <p:sp>
        <p:nvSpPr>
          <p:cNvPr id="100" name="Text: +25.1%"/>
          <p:cNvSpPr txBox="1"/>
          <p:nvPr/>
        </p:nvSpPr>
        <p:spPr>
          <a:xfrm>
            <a:off x="6638925" y="5414962"/>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+25.1%</a:t>
            </a:r>
          </a:p>
        </p:txBody>
      </p:sp>
      <p:sp>
        <p:nvSpPr>
          <p:cNvPr id="101" name="Rectangle 100"/>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2" name="Rounded Rectangle 101"/>
          <p:cNvSpPr/>
          <p:nvPr/>
        </p:nvSpPr>
        <p:spPr>
          <a:xfrm>
            <a:off x="4933950" y="5676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3" name="Text: ITGR"/>
          <p:cNvSpPr txBox="1"/>
          <p:nvPr/>
        </p:nvSpPr>
        <p:spPr>
          <a:xfrm>
            <a:off x="4933950" y="5676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ITGR</a:t>
            </a:r>
          </a:p>
        </p:txBody>
      </p:sp>
      <p:sp>
        <p:nvSpPr>
          <p:cNvPr id="104" name="Text: Integer Holdings"/>
          <p:cNvSpPr txBox="1"/>
          <p:nvPr/>
        </p:nvSpPr>
        <p:spPr>
          <a:xfrm>
            <a:off x="5372100" y="5705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Integer Holdings</a:t>
            </a:r>
          </a:p>
        </p:txBody>
      </p:sp>
      <p:sp>
        <p:nvSpPr>
          <p:cNvPr id="105" name="Text: +22.9%"/>
          <p:cNvSpPr txBox="1"/>
          <p:nvPr/>
        </p:nvSpPr>
        <p:spPr>
          <a:xfrm>
            <a:off x="6638925" y="5691188"/>
            <a:ext cx="566738" cy="161925"/>
          </a:xfrm>
          <a:prstGeom prst="rect">
            <a:avLst/>
          </a:prstGeom>
          <a:noFill/>
        </p:spPr>
        <p:txBody>
          <a:bodyPr wrap="square" lIns="0" tIns="0" rIns="0" bIns="0" anchor="t">
            <a:spAutoFit/>
          </a:bodyPr>
          <a:lstStyle/>
          <a:p>
            <a:pPr algn="r">
              <a:lnSpc>
                <a:spcPts val="1275"/>
              </a:lnSpc>
            </a:pPr>
            <a:r>
              <a:rPr sz="825" b="1" i="0" spc="15">
                <a:solidFill>
                  <a:srgbClr val="1B1A1A"/>
                </a:solidFill>
                <a:latin typeface="Calibri"/>
              </a:rPr>
              <a:t>+22.9%</a:t>
            </a:r>
          </a:p>
        </p:txBody>
      </p:sp>
      <p:sp>
        <p:nvSpPr>
          <p:cNvPr id="106" name="Text: DECLINES, 52 WEEKS"/>
          <p:cNvSpPr txBox="1"/>
          <p:nvPr/>
        </p:nvSpPr>
        <p:spPr>
          <a:xfrm>
            <a:off x="7381875" y="1238250"/>
            <a:ext cx="2271712"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DECLINES, 52 WEEKS</a:t>
            </a:r>
          </a:p>
        </p:txBody>
      </p:sp>
      <p:sp>
        <p:nvSpPr>
          <p:cNvPr id="107" name="Rectangle 106"/>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08" name="Rounded Rectangle 107"/>
          <p:cNvSpPr/>
          <p:nvPr/>
        </p:nvSpPr>
        <p:spPr>
          <a:xfrm>
            <a:off x="7381875" y="14573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09" name="Text: XRAY"/>
          <p:cNvSpPr txBox="1"/>
          <p:nvPr/>
        </p:nvSpPr>
        <p:spPr>
          <a:xfrm>
            <a:off x="7381875" y="14573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XRAY</a:t>
            </a:r>
          </a:p>
        </p:txBody>
      </p:sp>
      <p:sp>
        <p:nvSpPr>
          <p:cNvPr id="110" name="Text: Dentsply Sirona"/>
          <p:cNvSpPr txBox="1"/>
          <p:nvPr/>
        </p:nvSpPr>
        <p:spPr>
          <a:xfrm>
            <a:off x="7820025" y="14859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Dentsply Sirona</a:t>
            </a:r>
          </a:p>
        </p:txBody>
      </p:sp>
      <p:sp>
        <p:nvSpPr>
          <p:cNvPr id="111" name="Text: −27.0%"/>
          <p:cNvSpPr txBox="1"/>
          <p:nvPr/>
        </p:nvSpPr>
        <p:spPr>
          <a:xfrm>
            <a:off x="9086850" y="14716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−27.0%</a:t>
            </a:r>
          </a:p>
        </p:txBody>
      </p:sp>
      <p:sp>
        <p:nvSpPr>
          <p:cNvPr id="112" name="Rectangle 111"/>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3" name="Rounded Rectangle 112"/>
          <p:cNvSpPr/>
          <p:nvPr/>
        </p:nvSpPr>
        <p:spPr>
          <a:xfrm>
            <a:off x="7381875" y="17335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4" name="Text: SYK"/>
          <p:cNvSpPr txBox="1"/>
          <p:nvPr/>
        </p:nvSpPr>
        <p:spPr>
          <a:xfrm>
            <a:off x="7381875" y="17335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SYK</a:t>
            </a:r>
          </a:p>
        </p:txBody>
      </p:sp>
      <p:sp>
        <p:nvSpPr>
          <p:cNvPr id="115" name="Text: Stryker"/>
          <p:cNvSpPr txBox="1"/>
          <p:nvPr/>
        </p:nvSpPr>
        <p:spPr>
          <a:xfrm>
            <a:off x="7820025" y="17621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Stryker</a:t>
            </a:r>
          </a:p>
        </p:txBody>
      </p:sp>
      <p:sp>
        <p:nvSpPr>
          <p:cNvPr id="116" name="Text: −23.5%"/>
          <p:cNvSpPr txBox="1"/>
          <p:nvPr/>
        </p:nvSpPr>
        <p:spPr>
          <a:xfrm>
            <a:off x="9086850" y="17478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−23.5%</a:t>
            </a:r>
          </a:p>
        </p:txBody>
      </p:sp>
      <p:sp>
        <p:nvSpPr>
          <p:cNvPr id="117" name="Rectangle 116"/>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18" name="Rounded Rectangle 117"/>
          <p:cNvSpPr/>
          <p:nvPr/>
        </p:nvSpPr>
        <p:spPr>
          <a:xfrm>
            <a:off x="7381875" y="20097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19" name="Text: ICLR"/>
          <p:cNvSpPr txBox="1"/>
          <p:nvPr/>
        </p:nvSpPr>
        <p:spPr>
          <a:xfrm>
            <a:off x="7381875" y="20097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ICLR</a:t>
            </a:r>
          </a:p>
        </p:txBody>
      </p:sp>
      <p:sp>
        <p:nvSpPr>
          <p:cNvPr id="120" name="Text: ICON"/>
          <p:cNvSpPr txBox="1"/>
          <p:nvPr/>
        </p:nvSpPr>
        <p:spPr>
          <a:xfrm>
            <a:off x="7820025" y="20383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ICON</a:t>
            </a:r>
          </a:p>
        </p:txBody>
      </p:sp>
      <p:sp>
        <p:nvSpPr>
          <p:cNvPr id="121" name="Text: −16.6%"/>
          <p:cNvSpPr txBox="1"/>
          <p:nvPr/>
        </p:nvSpPr>
        <p:spPr>
          <a:xfrm>
            <a:off x="9086850" y="20240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−16.6%</a:t>
            </a:r>
          </a:p>
        </p:txBody>
      </p:sp>
      <p:sp>
        <p:nvSpPr>
          <p:cNvPr id="122" name="Rectangle 12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3" name="Rounded Rectangle 122"/>
          <p:cNvSpPr/>
          <p:nvPr/>
        </p:nvSpPr>
        <p:spPr>
          <a:xfrm>
            <a:off x="7381875" y="22860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4" name="Text: PRVA"/>
          <p:cNvSpPr txBox="1"/>
          <p:nvPr/>
        </p:nvSpPr>
        <p:spPr>
          <a:xfrm>
            <a:off x="7381875" y="22860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PRVA</a:t>
            </a:r>
          </a:p>
        </p:txBody>
      </p:sp>
      <p:sp>
        <p:nvSpPr>
          <p:cNvPr id="125" name="Text: Privia Health"/>
          <p:cNvSpPr txBox="1"/>
          <p:nvPr/>
        </p:nvSpPr>
        <p:spPr>
          <a:xfrm>
            <a:off x="7820025" y="23145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Privia Health</a:t>
            </a:r>
          </a:p>
        </p:txBody>
      </p:sp>
      <p:sp>
        <p:nvSpPr>
          <p:cNvPr id="126" name="Text: −15.5%"/>
          <p:cNvSpPr txBox="1"/>
          <p:nvPr/>
        </p:nvSpPr>
        <p:spPr>
          <a:xfrm>
            <a:off x="9086850" y="23002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−15.5%</a:t>
            </a:r>
          </a:p>
        </p:txBody>
      </p:sp>
      <p:sp>
        <p:nvSpPr>
          <p:cNvPr id="127" name="Rectangle 126"/>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28" name="Rounded Rectangle 127"/>
          <p:cNvSpPr/>
          <p:nvPr/>
        </p:nvSpPr>
        <p:spPr>
          <a:xfrm>
            <a:off x="7381875" y="25622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29" name="Text: STE"/>
          <p:cNvSpPr txBox="1"/>
          <p:nvPr/>
        </p:nvSpPr>
        <p:spPr>
          <a:xfrm>
            <a:off x="7381875" y="25622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STE</a:t>
            </a:r>
          </a:p>
        </p:txBody>
      </p:sp>
      <p:sp>
        <p:nvSpPr>
          <p:cNvPr id="130" name="Text: Steris"/>
          <p:cNvSpPr txBox="1"/>
          <p:nvPr/>
        </p:nvSpPr>
        <p:spPr>
          <a:xfrm>
            <a:off x="7820025" y="25908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Steris</a:t>
            </a:r>
          </a:p>
        </p:txBody>
      </p:sp>
      <p:sp>
        <p:nvSpPr>
          <p:cNvPr id="131" name="Text: −13.6%"/>
          <p:cNvSpPr txBox="1"/>
          <p:nvPr/>
        </p:nvSpPr>
        <p:spPr>
          <a:xfrm>
            <a:off x="9086850" y="25765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−13.6%</a:t>
            </a:r>
          </a:p>
        </p:txBody>
      </p:sp>
      <p:sp>
        <p:nvSpPr>
          <p:cNvPr id="132" name="Rectangle 131"/>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3" name="Rounded Rectangle 132"/>
          <p:cNvSpPr/>
          <p:nvPr/>
        </p:nvSpPr>
        <p:spPr>
          <a:xfrm>
            <a:off x="7381875" y="283845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4" name="Text: ZBH"/>
          <p:cNvSpPr txBox="1"/>
          <p:nvPr/>
        </p:nvSpPr>
        <p:spPr>
          <a:xfrm>
            <a:off x="7381875" y="283845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ZBH</a:t>
            </a:r>
          </a:p>
        </p:txBody>
      </p:sp>
      <p:sp>
        <p:nvSpPr>
          <p:cNvPr id="135" name="Text: Zimmer Biomet"/>
          <p:cNvSpPr txBox="1"/>
          <p:nvPr/>
        </p:nvSpPr>
        <p:spPr>
          <a:xfrm>
            <a:off x="7820025" y="286702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Zimmer Biomet</a:t>
            </a:r>
          </a:p>
        </p:txBody>
      </p:sp>
      <p:sp>
        <p:nvSpPr>
          <p:cNvPr id="136" name="Text: −11.0%"/>
          <p:cNvSpPr txBox="1"/>
          <p:nvPr/>
        </p:nvSpPr>
        <p:spPr>
          <a:xfrm>
            <a:off x="9086850" y="285273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−11.0%</a:t>
            </a:r>
          </a:p>
        </p:txBody>
      </p:sp>
      <p:sp>
        <p:nvSpPr>
          <p:cNvPr id="137" name="Rectangle 136"/>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38" name="Rounded Rectangle 137"/>
          <p:cNvSpPr/>
          <p:nvPr/>
        </p:nvSpPr>
        <p:spPr>
          <a:xfrm>
            <a:off x="7381875" y="311467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39" name="Text: USPH"/>
          <p:cNvSpPr txBox="1"/>
          <p:nvPr/>
        </p:nvSpPr>
        <p:spPr>
          <a:xfrm>
            <a:off x="7381875" y="311467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USPH</a:t>
            </a:r>
          </a:p>
        </p:txBody>
      </p:sp>
      <p:sp>
        <p:nvSpPr>
          <p:cNvPr id="140" name="Text: U.S. Physical Therapy"/>
          <p:cNvSpPr txBox="1"/>
          <p:nvPr/>
        </p:nvSpPr>
        <p:spPr>
          <a:xfrm>
            <a:off x="7820025" y="314325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U.S. Physical Therapy</a:t>
            </a:r>
          </a:p>
        </p:txBody>
      </p:sp>
      <p:sp>
        <p:nvSpPr>
          <p:cNvPr id="141" name="Text: −5.1%"/>
          <p:cNvSpPr txBox="1"/>
          <p:nvPr/>
        </p:nvSpPr>
        <p:spPr>
          <a:xfrm>
            <a:off x="9086850" y="312896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−5.1%</a:t>
            </a:r>
          </a:p>
        </p:txBody>
      </p:sp>
      <p:sp>
        <p:nvSpPr>
          <p:cNvPr id="142" name="Rectangle 141"/>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3" name="Rounded Rectangle 142"/>
          <p:cNvSpPr/>
          <p:nvPr/>
        </p:nvSpPr>
        <p:spPr>
          <a:xfrm>
            <a:off x="7381875" y="3390900"/>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4" name="Text: ADUS"/>
          <p:cNvSpPr txBox="1"/>
          <p:nvPr/>
        </p:nvSpPr>
        <p:spPr>
          <a:xfrm>
            <a:off x="7381875" y="3390900"/>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ADUS</a:t>
            </a:r>
          </a:p>
        </p:txBody>
      </p:sp>
      <p:sp>
        <p:nvSpPr>
          <p:cNvPr id="145" name="Text: Addus HomeCare"/>
          <p:cNvSpPr txBox="1"/>
          <p:nvPr/>
        </p:nvSpPr>
        <p:spPr>
          <a:xfrm>
            <a:off x="7820025" y="3419475"/>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Addus HomeCare</a:t>
            </a:r>
          </a:p>
        </p:txBody>
      </p:sp>
      <p:sp>
        <p:nvSpPr>
          <p:cNvPr id="146" name="Text: −1.6%"/>
          <p:cNvSpPr txBox="1"/>
          <p:nvPr/>
        </p:nvSpPr>
        <p:spPr>
          <a:xfrm>
            <a:off x="9086850" y="3405188"/>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−1.6%</a:t>
            </a:r>
          </a:p>
        </p:txBody>
      </p:sp>
      <p:sp>
        <p:nvSpPr>
          <p:cNvPr id="147" name="Rectangle 146"/>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48" name="Rounded Rectangle 147"/>
          <p:cNvSpPr/>
          <p:nvPr/>
        </p:nvSpPr>
        <p:spPr>
          <a:xfrm>
            <a:off x="7381875" y="3667125"/>
            <a:ext cx="361950" cy="190500"/>
          </a:xfrm>
          <a:prstGeom prst="roundRect">
            <a:avLst>
              <a:gd name="adj" fmla="val 15000"/>
            </a:avLst>
          </a:prstGeom>
          <a:solidFill>
            <a:srgbClr val="2A2928"/>
          </a:solidFill>
          <a:ln>
            <a:noFill/>
          </a:ln>
          <a:effectLst/>
        </p:spPr>
        <p:txBody>
          <a:bodyPr rtlCol="0" anchor="ctr"/>
          <a:lstStyle/>
          <a:p>
            <a:pPr algn="ctr"/>
            <a:endParaRPr/>
          </a:p>
        </p:txBody>
      </p:sp>
      <p:sp>
        <p:nvSpPr>
          <p:cNvPr id="149" name="Text: ENSG"/>
          <p:cNvSpPr txBox="1"/>
          <p:nvPr/>
        </p:nvSpPr>
        <p:spPr>
          <a:xfrm>
            <a:off x="7381875" y="3667125"/>
            <a:ext cx="376238" cy="190500"/>
          </a:xfrm>
          <a:prstGeom prst="rect">
            <a:avLst/>
          </a:prstGeom>
          <a:noFill/>
        </p:spPr>
        <p:txBody>
          <a:bodyPr wrap="square" lIns="0" tIns="0" rIns="0" bIns="0" anchor="ctr">
            <a:spAutoFit/>
          </a:bodyPr>
          <a:lstStyle/>
          <a:p>
            <a:pPr algn="ctr">
              <a:lnSpc>
                <a:spcPts val="600"/>
              </a:lnSpc>
            </a:pPr>
            <a:r>
              <a:rPr sz="600" b="1" i="0" spc="22">
                <a:solidFill>
                  <a:srgbClr val="FFFFFF"/>
                </a:solidFill>
                <a:latin typeface="Calibri"/>
              </a:rPr>
              <a:t>ENSG</a:t>
            </a:r>
          </a:p>
        </p:txBody>
      </p:sp>
      <p:sp>
        <p:nvSpPr>
          <p:cNvPr id="150" name="Text: Ensign Group"/>
          <p:cNvSpPr txBox="1"/>
          <p:nvPr/>
        </p:nvSpPr>
        <p:spPr>
          <a:xfrm>
            <a:off x="7820025" y="3695700"/>
            <a:ext cx="1204912"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Ensign Group</a:t>
            </a:r>
          </a:p>
        </p:txBody>
      </p:sp>
      <p:sp>
        <p:nvSpPr>
          <p:cNvPr id="151" name="Text: −1.4%"/>
          <p:cNvSpPr txBox="1"/>
          <p:nvPr/>
        </p:nvSpPr>
        <p:spPr>
          <a:xfrm>
            <a:off x="9086850" y="3681412"/>
            <a:ext cx="566738" cy="161925"/>
          </a:xfrm>
          <a:prstGeom prst="rect">
            <a:avLst/>
          </a:prstGeom>
          <a:noFill/>
        </p:spPr>
        <p:txBody>
          <a:bodyPr wrap="square" lIns="0" tIns="0" rIns="0" bIns="0" anchor="t">
            <a:spAutoFit/>
          </a:bodyPr>
          <a:lstStyle/>
          <a:p>
            <a:pPr algn="r">
              <a:lnSpc>
                <a:spcPts val="1275"/>
              </a:lnSpc>
            </a:pPr>
            <a:r>
              <a:rPr sz="825" b="1" i="0" spc="15">
                <a:solidFill>
                  <a:srgbClr val="8C6239"/>
                </a:solidFill>
                <a:latin typeface="Calibri"/>
              </a:rPr>
              <a:t>−1.4%</a:t>
            </a:r>
          </a:p>
        </p:txBody>
      </p:sp>
      <p:sp>
        <p:nvSpPr>
          <p:cNvPr id="152" name="Rectangle 15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52" descr="Benchmark International"/>
          <p:cNvPicPr>
            <a:picLocks noChangeAspect="1"/>
          </p:cNvPicPr>
          <p:nvPr/>
        </p:nvPicPr>
        <p:blipFill>
          <a:blip r:embed="rId4"/>
          <a:srcRect/>
          <a:stretch>
            <a:fillRect/>
          </a:stretch>
        </p:blipFill>
        <p:spPr>
          <a:xfrm>
            <a:off x="419100" y="7143750"/>
            <a:ext cx="914400" cy="171450"/>
          </a:xfrm>
          <a:prstGeom prst="rect">
            <a:avLst/>
          </a:prstGeom>
        </p:spPr>
      </p:pic>
      <p:sp>
        <p:nvSpPr>
          <p:cNvPr id="154"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5">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prices are from October 2 to October 7. Price change excludes dividends. Bio-Techne and Integer Holdings trade near agreed acquisition prices.</a:t>
            </a:r>
          </a:p>
        </p:txBody>
      </p:sp>
      <p:sp>
        <p:nvSpPr>
          <p:cNvPr id="155" name="Text: 1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Public Company Operating and Valua"/>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 Provider companies are growing fas"/>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Provider companies are growing fastest, life sciences and diagnostics earns the highest margins and multiples, and pharmacy trades on thin margins.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 Provider Services"/>
          <p:cNvSpPr txBox="1"/>
          <p:nvPr/>
        </p:nvSpPr>
        <p:spPr>
          <a:xfrm>
            <a:off x="571500" y="123825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10" name="Rectangle 9"/>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 Life Sciences &amp; Diagnostics"/>
          <p:cNvSpPr txBox="1"/>
          <p:nvPr/>
        </p:nvSpPr>
        <p:spPr>
          <a:xfrm>
            <a:off x="1590675" y="123825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12" name="Rectangle 11"/>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 Medical Products &amp; Distribution"/>
          <p:cNvSpPr txBox="1"/>
          <p:nvPr/>
        </p:nvSpPr>
        <p:spPr>
          <a:xfrm>
            <a:off x="2998589" y="12382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14" name="Rectangle 13"/>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 Pharmacy &amp; Healthcare Services"/>
          <p:cNvSpPr txBox="1"/>
          <p:nvPr/>
        </p:nvSpPr>
        <p:spPr>
          <a:xfrm>
            <a:off x="4617244" y="12382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16" name="Rectangle 15"/>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 OPERATING METRICS"/>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Rectangle 17"/>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Rectangle 18"/>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Rectangle 19"/>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Rectangle 20"/>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Rectangle 21"/>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 Revenue growth, trailing twelve mo"/>
          <p:cNvSpPr txBox="1"/>
          <p:nvPr/>
        </p:nvSpPr>
        <p:spPr>
          <a:xfrm>
            <a:off x="54292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trailing twelve months</a:t>
            </a:r>
          </a:p>
        </p:txBody>
      </p:sp>
      <p:sp>
        <p:nvSpPr>
          <p:cNvPr id="24" name="Text: Median, year over year, including "/>
          <p:cNvSpPr txBox="1"/>
          <p:nvPr/>
        </p:nvSpPr>
        <p:spPr>
          <a:xfrm>
            <a:off x="54292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year over year, including acquisitions</a:t>
            </a:r>
          </a:p>
        </p:txBody>
      </p:sp>
      <p:graphicFrame>
        <p:nvGraphicFramePr>
          <p:cNvPr id="25" name="Chart (edit data to update)"/>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Rectangle 25"/>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Rectangle 26"/>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 Revenue growth, analyst consensus"/>
          <p:cNvSpPr txBox="1"/>
          <p:nvPr/>
        </p:nvSpPr>
        <p:spPr>
          <a:xfrm>
            <a:off x="287655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Revenue growth, analyst consensus</a:t>
            </a:r>
          </a:p>
        </p:txBody>
      </p:sp>
      <p:sp>
        <p:nvSpPr>
          <p:cNvPr id="31" name="Text: Median estimate for the current fi"/>
          <p:cNvSpPr txBox="1"/>
          <p:nvPr/>
        </p:nvSpPr>
        <p:spPr>
          <a:xfrm>
            <a:off x="287655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estimate for the current fiscal year</a:t>
            </a:r>
          </a:p>
        </p:txBody>
      </p:sp>
      <p:graphicFrame>
        <p:nvGraphicFramePr>
          <p:cNvPr id="32" name="Chart (edit data to update)"/>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Rectangle 35"/>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 EBITDA margin, trailing twelve mon"/>
          <p:cNvSpPr txBox="1"/>
          <p:nvPr/>
        </p:nvSpPr>
        <p:spPr>
          <a:xfrm>
            <a:off x="5210175"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EBITDA margin, trailing twelve months</a:t>
            </a:r>
          </a:p>
        </p:txBody>
      </p:sp>
      <p:sp>
        <p:nvSpPr>
          <p:cNvPr id="38" name="Text: Median, on reported EBITDA"/>
          <p:cNvSpPr txBox="1"/>
          <p:nvPr/>
        </p:nvSpPr>
        <p:spPr>
          <a:xfrm>
            <a:off x="5210175"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on reported EBITDA</a:t>
            </a:r>
          </a:p>
        </p:txBody>
      </p:sp>
      <p:graphicFrame>
        <p:nvGraphicFramePr>
          <p:cNvPr id="39" name="Chart (edit data to update)"/>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Rectangle 39"/>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Rectangle 41"/>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Rectangle 42"/>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 Free cash flow margin"/>
          <p:cNvSpPr txBox="1"/>
          <p:nvPr/>
        </p:nvSpPr>
        <p:spPr>
          <a:xfrm>
            <a:off x="7543800" y="1876425"/>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Free cash flow margin</a:t>
            </a:r>
          </a:p>
        </p:txBody>
      </p:sp>
      <p:sp>
        <p:nvSpPr>
          <p:cNvPr id="45" name="Text: Median, trailing twelve months"/>
          <p:cNvSpPr txBox="1"/>
          <p:nvPr/>
        </p:nvSpPr>
        <p:spPr>
          <a:xfrm>
            <a:off x="7543800" y="2019300"/>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trailing twelve months</a:t>
            </a:r>
          </a:p>
        </p:txBody>
      </p:sp>
      <p:graphicFrame>
        <p:nvGraphicFramePr>
          <p:cNvPr id="46" name="Chart (edit data to update)"/>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Rectangle 46"/>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 VALUATION METRICS"/>
          <p:cNvSpPr txBox="1"/>
          <p:nvPr/>
        </p:nvSpPr>
        <p:spPr>
          <a:xfrm>
            <a:off x="533400" y="3981450"/>
            <a:ext cx="1126182"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VALUATION METRICS</a:t>
            </a:r>
          </a:p>
        </p:txBody>
      </p:sp>
      <p:sp>
        <p:nvSpPr>
          <p:cNvPr id="49" name="Rectangle 48"/>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Rectangle 49"/>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Rectangle 50"/>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Rectangle 51"/>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Rectangle 52"/>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 EV to trailing revenue"/>
          <p:cNvSpPr txBox="1"/>
          <p:nvPr/>
        </p:nvSpPr>
        <p:spPr>
          <a:xfrm>
            <a:off x="54292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revenue</a:t>
            </a:r>
          </a:p>
        </p:txBody>
      </p:sp>
      <p:sp>
        <p:nvSpPr>
          <p:cNvPr id="55" name="Text: Median"/>
          <p:cNvSpPr txBox="1"/>
          <p:nvPr/>
        </p:nvSpPr>
        <p:spPr>
          <a:xfrm>
            <a:off x="54292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56" name="Chart (edit data to update)"/>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Rectangle 56"/>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Rectangle 57"/>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Rectangle 58"/>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Rectangle 59"/>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 EV to trailing EBITDA"/>
          <p:cNvSpPr txBox="1"/>
          <p:nvPr/>
        </p:nvSpPr>
        <p:spPr>
          <a:xfrm>
            <a:off x="287655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a:t>
            </a:r>
          </a:p>
        </p:txBody>
      </p:sp>
      <p:sp>
        <p:nvSpPr>
          <p:cNvPr id="62" name="Text: Median, companies with comparable "/>
          <p:cNvSpPr txBox="1"/>
          <p:nvPr/>
        </p:nvSpPr>
        <p:spPr>
          <a:xfrm>
            <a:off x="287655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companies with comparable history</a:t>
            </a:r>
          </a:p>
        </p:txBody>
      </p:sp>
      <p:graphicFrame>
        <p:nvGraphicFramePr>
          <p:cNvPr id="63" name="Chart (edit data to update)"/>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Rectangle 63"/>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Rectangle 64"/>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Rectangle 65"/>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Rectangle 66"/>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 EV to trailing EBITDA, a year ago"/>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EBITDA, a year ago</a:t>
            </a:r>
          </a:p>
        </p:txBody>
      </p:sp>
      <p:sp>
        <p:nvSpPr>
          <p:cNvPr id="69" name="Text: Median, same companies"/>
          <p:cNvSpPr txBox="1"/>
          <p:nvPr/>
        </p:nvSpPr>
        <p:spPr>
          <a:xfrm>
            <a:off x="5210175"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 same companies</a:t>
            </a:r>
          </a:p>
        </p:txBody>
      </p:sp>
      <p:graphicFrame>
        <p:nvGraphicFramePr>
          <p:cNvPr id="70" name="Chart (edit data to update)"/>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Rectangle 70"/>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Rectangle 72"/>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Rectangle 73"/>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 Share price relative to 52-week hi"/>
          <p:cNvSpPr txBox="1"/>
          <p:nvPr/>
        </p:nvSpPr>
        <p:spPr>
          <a:xfrm>
            <a:off x="7543800"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Share price relative to 52-week high</a:t>
            </a:r>
          </a:p>
        </p:txBody>
      </p:sp>
      <p:sp>
        <p:nvSpPr>
          <p:cNvPr id="76" name="Text: Median"/>
          <p:cNvSpPr txBox="1"/>
          <p:nvPr/>
        </p:nvSpPr>
        <p:spPr>
          <a:xfrm>
            <a:off x="7543800" y="4486275"/>
            <a:ext cx="1985962" cy="247650"/>
          </a:xfrm>
          <a:prstGeom prst="rect">
            <a:avLst/>
          </a:prstGeom>
          <a:noFill/>
        </p:spPr>
        <p:txBody>
          <a:bodyPr wrap="square" lIns="0" tIns="0" rIns="0" bIns="0" anchor="t">
            <a:spAutoFit/>
          </a:bodyPr>
          <a:lstStyle/>
          <a:p>
            <a:pPr algn="l">
              <a:lnSpc>
                <a:spcPts val="975"/>
              </a:lnSpc>
            </a:pPr>
            <a:r>
              <a:rPr sz="712" b="0" i="0" spc="15">
                <a:solidFill>
                  <a:srgbClr val="6F6A66"/>
                </a:solidFill>
                <a:latin typeface="Calibri"/>
              </a:rPr>
              <a:t>Median</a:t>
            </a:r>
          </a:p>
        </p:txBody>
      </p:sp>
      <p:graphicFrame>
        <p:nvGraphicFramePr>
          <p:cNvPr id="77" name="Chart (edit data to update)"/>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Rectangle 7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78" descr="Benchmark International"/>
          <p:cNvPicPr>
            <a:picLocks noChangeAspect="1"/>
          </p:cNvPicPr>
          <p:nvPr/>
        </p:nvPicPr>
        <p:blipFill>
          <a:blip r:embed="rId10"/>
          <a:srcRect/>
          <a:stretch>
            <a:fillRect/>
          </a:stretch>
        </p:blipFill>
        <p:spPr>
          <a:xfrm>
            <a:off x="419100" y="7143750"/>
            <a:ext cx="914400" cy="171450"/>
          </a:xfrm>
          <a:prstGeom prst="rect">
            <a:avLst/>
          </a:prstGeom>
        </p:spPr>
      </p:pic>
      <p:sp>
        <p:nvSpPr>
          <p:cNvPr id="80"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11">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Bars in each panel run in the order of the key. Consensus growth is the analyst estimate for each company's current fiscal year, and fiscal years differ. Forward multiples require a licensed data source and are not shown. Company detail is in the appendix.</a:t>
            </a:r>
          </a:p>
        </p:txBody>
      </p:sp>
      <p:sp>
        <p:nvSpPr>
          <p:cNvPr id="81" name="Text: 16"/>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Earnings and Commentary"/>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 Skilled nursing and research serv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Skilled nursing and research services grew fastest in the latest quarter, laboratories and device makers grew 6% to 10%, and pharmacy and staffing grew 2%.</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Revenue growth, latest reported qu"/>
          <p:cNvSpPr txBox="1"/>
          <p:nvPr/>
        </p:nvSpPr>
        <p:spPr>
          <a:xfrm>
            <a:off x="419100" y="1238250"/>
            <a:ext cx="3557588" cy="161925"/>
          </a:xfrm>
          <a:prstGeom prst="rect">
            <a:avLst/>
          </a:prstGeom>
          <a:noFill/>
        </p:spPr>
        <p:txBody>
          <a:bodyPr wrap="square" lIns="0" tIns="0" rIns="0" bIns="0" anchor="t">
            <a:spAutoFit/>
          </a:bodyPr>
          <a:lstStyle/>
          <a:p>
            <a:pPr algn="l">
              <a:lnSpc>
                <a:spcPts val="1275"/>
              </a:lnSpc>
            </a:pPr>
            <a:r>
              <a:rPr sz="938" b="1" i="0" spc="15">
                <a:solidFill>
                  <a:srgbClr val="1B1A1A"/>
                </a:solidFill>
                <a:latin typeface="Calibri"/>
              </a:rPr>
              <a:t>Revenue growth, latest reported quarter</a:t>
            </a:r>
          </a:p>
        </p:txBody>
      </p:sp>
      <p:sp>
        <p:nvSpPr>
          <p:cNvPr id="9" name="Text: Year over year, as stated in each "/>
          <p:cNvSpPr txBox="1"/>
          <p:nvPr/>
        </p:nvSpPr>
        <p:spPr>
          <a:xfrm>
            <a:off x="419100" y="1400175"/>
            <a:ext cx="3557588"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Year over year, as stated in each earnings release; quarters ended June 2026</a:t>
            </a:r>
          </a:p>
        </p:txBody>
      </p:sp>
      <p:sp>
        <p:nvSpPr>
          <p:cNvPr id="10" name="Text: Ensign Group">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Ensign Group</a:t>
            </a:r>
          </a:p>
        </p:txBody>
      </p:sp>
      <p:sp>
        <p:nvSpPr>
          <p:cNvPr id="11" name="Rectangle 10"/>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 +17.3%"/>
          <p:cNvSpPr txBox="1"/>
          <p:nvPr/>
        </p:nvSpPr>
        <p:spPr>
          <a:xfrm>
            <a:off x="3352800" y="16525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+17.3%</a:t>
            </a:r>
          </a:p>
        </p:txBody>
      </p:sp>
      <p:sp>
        <p:nvSpPr>
          <p:cNvPr id="13" name="Text: Medpace">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Medpace</a:t>
            </a:r>
          </a:p>
        </p:txBody>
      </p:sp>
      <p:sp>
        <p:nvSpPr>
          <p:cNvPr id="14" name="Rectangle 13"/>
          <p:cNvSpPr/>
          <p:nvPr/>
        </p:nvSpPr>
        <p:spPr>
          <a:xfrm>
            <a:off x="1924050" y="1914525"/>
            <a:ext cx="1362075" cy="133350"/>
          </a:xfrm>
          <a:prstGeom prst="rect">
            <a:avLst/>
          </a:prstGeom>
          <a:solidFill>
            <a:srgbClr val="B68757"/>
          </a:solidFill>
          <a:ln>
            <a:noFill/>
          </a:ln>
          <a:effectLst/>
        </p:spPr>
        <p:txBody>
          <a:bodyPr rtlCol="0" anchor="ctr"/>
          <a:lstStyle/>
          <a:p>
            <a:pPr algn="ctr"/>
            <a:endParaRPr/>
          </a:p>
        </p:txBody>
      </p:sp>
      <p:sp>
        <p:nvSpPr>
          <p:cNvPr id="15" name="Text: +17.2%"/>
          <p:cNvSpPr txBox="1"/>
          <p:nvPr/>
        </p:nvSpPr>
        <p:spPr>
          <a:xfrm>
            <a:off x="3343275" y="19002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+17.2%</a:t>
            </a:r>
          </a:p>
        </p:txBody>
      </p:sp>
      <p:sp>
        <p:nvSpPr>
          <p:cNvPr id="16" name="Text: Quest Diagnostics">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Quest Diagnostics</a:t>
            </a:r>
          </a:p>
        </p:txBody>
      </p:sp>
      <p:sp>
        <p:nvSpPr>
          <p:cNvPr id="17" name="Rectangle 16"/>
          <p:cNvSpPr/>
          <p:nvPr/>
        </p:nvSpPr>
        <p:spPr>
          <a:xfrm>
            <a:off x="1924050" y="2162175"/>
            <a:ext cx="809625" cy="133350"/>
          </a:xfrm>
          <a:prstGeom prst="rect">
            <a:avLst/>
          </a:prstGeom>
          <a:solidFill>
            <a:srgbClr val="B68757"/>
          </a:solidFill>
          <a:ln>
            <a:noFill/>
          </a:ln>
          <a:effectLst/>
        </p:spPr>
        <p:txBody>
          <a:bodyPr rtlCol="0" anchor="ctr"/>
          <a:lstStyle/>
          <a:p>
            <a:pPr algn="ctr"/>
            <a:endParaRPr/>
          </a:p>
        </p:txBody>
      </p:sp>
      <p:sp>
        <p:nvSpPr>
          <p:cNvPr id="18" name="Text: +10.2%"/>
          <p:cNvSpPr txBox="1"/>
          <p:nvPr/>
        </p:nvSpPr>
        <p:spPr>
          <a:xfrm>
            <a:off x="2790825" y="214788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+10.2%</a:t>
            </a:r>
          </a:p>
        </p:txBody>
      </p:sp>
      <p:sp>
        <p:nvSpPr>
          <p:cNvPr id="19" name="Text: Thermo Fisher Scientific">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Thermo Fisher Scientific</a:t>
            </a:r>
          </a:p>
        </p:txBody>
      </p:sp>
      <p:sp>
        <p:nvSpPr>
          <p:cNvPr id="20" name="Rectangle 19"/>
          <p:cNvSpPr/>
          <p:nvPr/>
        </p:nvSpPr>
        <p:spPr>
          <a:xfrm>
            <a:off x="1924050" y="2409825"/>
            <a:ext cx="790575" cy="133350"/>
          </a:xfrm>
          <a:prstGeom prst="rect">
            <a:avLst/>
          </a:prstGeom>
          <a:solidFill>
            <a:srgbClr val="B68757"/>
          </a:solidFill>
          <a:ln>
            <a:noFill/>
          </a:ln>
          <a:effectLst/>
        </p:spPr>
        <p:txBody>
          <a:bodyPr rtlCol="0" anchor="ctr"/>
          <a:lstStyle/>
          <a:p>
            <a:pPr algn="ctr"/>
            <a:endParaRPr/>
          </a:p>
        </p:txBody>
      </p:sp>
      <p:sp>
        <p:nvSpPr>
          <p:cNvPr id="21" name="Text: +10.0%"/>
          <p:cNvSpPr txBox="1"/>
          <p:nvPr/>
        </p:nvSpPr>
        <p:spPr>
          <a:xfrm>
            <a:off x="2771775" y="2395538"/>
            <a:ext cx="327273"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+10.0%</a:t>
            </a:r>
          </a:p>
        </p:txBody>
      </p:sp>
      <p:sp>
        <p:nvSpPr>
          <p:cNvPr id="22" name="Text: Stryker">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Stryker</a:t>
            </a:r>
          </a:p>
        </p:txBody>
      </p:sp>
      <p:sp>
        <p:nvSpPr>
          <p:cNvPr id="23" name="Rectangle 22"/>
          <p:cNvSpPr/>
          <p:nvPr/>
        </p:nvSpPr>
        <p:spPr>
          <a:xfrm>
            <a:off x="1924050" y="2657475"/>
            <a:ext cx="742950" cy="133350"/>
          </a:xfrm>
          <a:prstGeom prst="rect">
            <a:avLst/>
          </a:prstGeom>
          <a:solidFill>
            <a:srgbClr val="6D7681"/>
          </a:solidFill>
          <a:ln>
            <a:noFill/>
          </a:ln>
          <a:effectLst/>
        </p:spPr>
        <p:txBody>
          <a:bodyPr rtlCol="0" anchor="ctr"/>
          <a:lstStyle/>
          <a:p>
            <a:pPr algn="ctr"/>
            <a:endParaRPr/>
          </a:p>
        </p:txBody>
      </p:sp>
      <p:sp>
        <p:nvSpPr>
          <p:cNvPr id="24" name="Text: +9.4%"/>
          <p:cNvSpPr txBox="1"/>
          <p:nvPr/>
        </p:nvSpPr>
        <p:spPr>
          <a:xfrm>
            <a:off x="2724150" y="26431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+9.4%</a:t>
            </a:r>
          </a:p>
        </p:txBody>
      </p:sp>
      <p:sp>
        <p:nvSpPr>
          <p:cNvPr id="25" name="Text: HCA Healthcare">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HCA Healthcare</a:t>
            </a:r>
          </a:p>
        </p:txBody>
      </p:sp>
      <p:sp>
        <p:nvSpPr>
          <p:cNvPr id="26" name="Rectangle 25"/>
          <p:cNvSpPr/>
          <p:nvPr/>
        </p:nvSpPr>
        <p:spPr>
          <a:xfrm>
            <a:off x="1924050" y="2905125"/>
            <a:ext cx="685800" cy="133350"/>
          </a:xfrm>
          <a:prstGeom prst="rect">
            <a:avLst/>
          </a:prstGeom>
          <a:solidFill>
            <a:srgbClr val="1B1A1A"/>
          </a:solidFill>
          <a:ln>
            <a:noFill/>
          </a:ln>
          <a:effectLst/>
        </p:spPr>
        <p:txBody>
          <a:bodyPr rtlCol="0" anchor="ctr"/>
          <a:lstStyle/>
          <a:p>
            <a:pPr algn="ctr"/>
            <a:endParaRPr/>
          </a:p>
        </p:txBody>
      </p:sp>
      <p:sp>
        <p:nvSpPr>
          <p:cNvPr id="27" name="Text: +8.7%"/>
          <p:cNvSpPr txBox="1"/>
          <p:nvPr/>
        </p:nvSpPr>
        <p:spPr>
          <a:xfrm>
            <a:off x="2667000" y="28908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28" name="Text: IQVIA">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IQVIA</a:t>
            </a:r>
          </a:p>
        </p:txBody>
      </p:sp>
      <p:sp>
        <p:nvSpPr>
          <p:cNvPr id="29" name="Rectangle 28"/>
          <p:cNvSpPr/>
          <p:nvPr/>
        </p:nvSpPr>
        <p:spPr>
          <a:xfrm>
            <a:off x="1924050" y="3152775"/>
            <a:ext cx="685800" cy="133350"/>
          </a:xfrm>
          <a:prstGeom prst="rect">
            <a:avLst/>
          </a:prstGeom>
          <a:solidFill>
            <a:srgbClr val="B68757"/>
          </a:solidFill>
          <a:ln>
            <a:noFill/>
          </a:ln>
          <a:effectLst/>
        </p:spPr>
        <p:txBody>
          <a:bodyPr rtlCol="0" anchor="ctr"/>
          <a:lstStyle/>
          <a:p>
            <a:pPr algn="ctr"/>
            <a:endParaRPr/>
          </a:p>
        </p:txBody>
      </p:sp>
      <p:sp>
        <p:nvSpPr>
          <p:cNvPr id="30" name="Text: +8.7%"/>
          <p:cNvSpPr txBox="1"/>
          <p:nvPr/>
        </p:nvSpPr>
        <p:spPr>
          <a:xfrm>
            <a:off x="2667000" y="31384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+8.7%</a:t>
            </a:r>
          </a:p>
        </p:txBody>
      </p:sp>
      <p:sp>
        <p:nvSpPr>
          <p:cNvPr id="31" name="Text: U.S. Physical Therapy">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U.S. Physical Therapy</a:t>
            </a:r>
          </a:p>
        </p:txBody>
      </p:sp>
      <p:sp>
        <p:nvSpPr>
          <p:cNvPr id="32" name="Rectangle 31"/>
          <p:cNvSpPr/>
          <p:nvPr/>
        </p:nvSpPr>
        <p:spPr>
          <a:xfrm>
            <a:off x="1924050" y="3400425"/>
            <a:ext cx="676275" cy="133350"/>
          </a:xfrm>
          <a:prstGeom prst="rect">
            <a:avLst/>
          </a:prstGeom>
          <a:solidFill>
            <a:srgbClr val="1B1A1A"/>
          </a:solidFill>
          <a:ln>
            <a:noFill/>
          </a:ln>
          <a:effectLst/>
        </p:spPr>
        <p:txBody>
          <a:bodyPr rtlCol="0" anchor="ctr"/>
          <a:lstStyle/>
          <a:p>
            <a:pPr algn="ctr"/>
            <a:endParaRPr/>
          </a:p>
        </p:txBody>
      </p:sp>
      <p:sp>
        <p:nvSpPr>
          <p:cNvPr id="33" name="Text: +8.5%"/>
          <p:cNvSpPr txBox="1"/>
          <p:nvPr/>
        </p:nvSpPr>
        <p:spPr>
          <a:xfrm>
            <a:off x="2657475" y="33861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+8.5%</a:t>
            </a:r>
          </a:p>
        </p:txBody>
      </p:sp>
      <p:sp>
        <p:nvSpPr>
          <p:cNvPr id="34" name="Text: Addus HomeCare">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Addus HomeCare</a:t>
            </a:r>
          </a:p>
        </p:txBody>
      </p:sp>
      <p:sp>
        <p:nvSpPr>
          <p:cNvPr id="35" name="Rectangle 34"/>
          <p:cNvSpPr/>
          <p:nvPr/>
        </p:nvSpPr>
        <p:spPr>
          <a:xfrm>
            <a:off x="1924050" y="3648075"/>
            <a:ext cx="638175" cy="133350"/>
          </a:xfrm>
          <a:prstGeom prst="rect">
            <a:avLst/>
          </a:prstGeom>
          <a:solidFill>
            <a:srgbClr val="1B1A1A"/>
          </a:solidFill>
          <a:ln>
            <a:noFill/>
          </a:ln>
          <a:effectLst/>
        </p:spPr>
        <p:txBody>
          <a:bodyPr rtlCol="0" anchor="ctr"/>
          <a:lstStyle/>
          <a:p>
            <a:pPr algn="ctr"/>
            <a:endParaRPr/>
          </a:p>
        </p:txBody>
      </p:sp>
      <p:sp>
        <p:nvSpPr>
          <p:cNvPr id="36" name="Text: +8.0%"/>
          <p:cNvSpPr txBox="1"/>
          <p:nvPr/>
        </p:nvSpPr>
        <p:spPr>
          <a:xfrm>
            <a:off x="2619375" y="36337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37" name="Text: McKesson">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McKesson</a:t>
            </a:r>
          </a:p>
        </p:txBody>
      </p:sp>
      <p:sp>
        <p:nvSpPr>
          <p:cNvPr id="38" name="Rectangle 37"/>
          <p:cNvSpPr/>
          <p:nvPr/>
        </p:nvSpPr>
        <p:spPr>
          <a:xfrm>
            <a:off x="1924050" y="3895725"/>
            <a:ext cx="638175" cy="133350"/>
          </a:xfrm>
          <a:prstGeom prst="rect">
            <a:avLst/>
          </a:prstGeom>
          <a:solidFill>
            <a:srgbClr val="A39486"/>
          </a:solidFill>
          <a:ln>
            <a:noFill/>
          </a:ln>
          <a:effectLst/>
        </p:spPr>
        <p:txBody>
          <a:bodyPr rtlCol="0" anchor="ctr"/>
          <a:lstStyle/>
          <a:p>
            <a:pPr algn="ctr"/>
            <a:endParaRPr/>
          </a:p>
        </p:txBody>
      </p:sp>
      <p:sp>
        <p:nvSpPr>
          <p:cNvPr id="39" name="Text: +8.0%"/>
          <p:cNvSpPr txBox="1"/>
          <p:nvPr/>
        </p:nvSpPr>
        <p:spPr>
          <a:xfrm>
            <a:off x="2619375" y="38814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+8.0%</a:t>
            </a:r>
          </a:p>
        </p:txBody>
      </p:sp>
      <p:sp>
        <p:nvSpPr>
          <p:cNvPr id="40" name="Text: Steris">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Steris</a:t>
            </a:r>
          </a:p>
        </p:txBody>
      </p:sp>
      <p:sp>
        <p:nvSpPr>
          <p:cNvPr id="41" name="Rectangle 40"/>
          <p:cNvSpPr/>
          <p:nvPr/>
        </p:nvSpPr>
        <p:spPr>
          <a:xfrm>
            <a:off x="1924050" y="4143375"/>
            <a:ext cx="552450" cy="133350"/>
          </a:xfrm>
          <a:prstGeom prst="rect">
            <a:avLst/>
          </a:prstGeom>
          <a:solidFill>
            <a:srgbClr val="6D7681"/>
          </a:solidFill>
          <a:ln>
            <a:noFill/>
          </a:ln>
          <a:effectLst/>
        </p:spPr>
        <p:txBody>
          <a:bodyPr rtlCol="0" anchor="ctr"/>
          <a:lstStyle/>
          <a:p>
            <a:pPr algn="ctr"/>
            <a:endParaRPr/>
          </a:p>
        </p:txBody>
      </p:sp>
      <p:sp>
        <p:nvSpPr>
          <p:cNvPr id="42" name="Text: +7.0%"/>
          <p:cNvSpPr txBox="1"/>
          <p:nvPr/>
        </p:nvSpPr>
        <p:spPr>
          <a:xfrm>
            <a:off x="2533650" y="41290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+7.0%</a:t>
            </a:r>
          </a:p>
        </p:txBody>
      </p:sp>
      <p:sp>
        <p:nvSpPr>
          <p:cNvPr id="43" name="Text: Tenet Healthcare">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Tenet Healthcare</a:t>
            </a:r>
          </a:p>
        </p:txBody>
      </p:sp>
      <p:sp>
        <p:nvSpPr>
          <p:cNvPr id="44" name="Rectangle 43"/>
          <p:cNvSpPr/>
          <p:nvPr/>
        </p:nvSpPr>
        <p:spPr>
          <a:xfrm>
            <a:off x="1924050" y="4391025"/>
            <a:ext cx="542925" cy="133350"/>
          </a:xfrm>
          <a:prstGeom prst="rect">
            <a:avLst/>
          </a:prstGeom>
          <a:solidFill>
            <a:srgbClr val="1B1A1A"/>
          </a:solidFill>
          <a:ln>
            <a:noFill/>
          </a:ln>
          <a:effectLst/>
        </p:spPr>
        <p:txBody>
          <a:bodyPr rtlCol="0" anchor="ctr"/>
          <a:lstStyle/>
          <a:p>
            <a:pPr algn="ctr"/>
            <a:endParaRPr/>
          </a:p>
        </p:txBody>
      </p:sp>
      <p:sp>
        <p:nvSpPr>
          <p:cNvPr id="45" name="Text: +6.8%"/>
          <p:cNvSpPr txBox="1"/>
          <p:nvPr/>
        </p:nvSpPr>
        <p:spPr>
          <a:xfrm>
            <a:off x="2524125" y="43767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+6.8%</a:t>
            </a:r>
          </a:p>
        </p:txBody>
      </p:sp>
      <p:sp>
        <p:nvSpPr>
          <p:cNvPr id="46" name="Text: Henry Schein">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Henry Schein</a:t>
            </a:r>
          </a:p>
        </p:txBody>
      </p:sp>
      <p:sp>
        <p:nvSpPr>
          <p:cNvPr id="47" name="Rectangle 46"/>
          <p:cNvSpPr/>
          <p:nvPr/>
        </p:nvSpPr>
        <p:spPr>
          <a:xfrm>
            <a:off x="1924050" y="4638675"/>
            <a:ext cx="533400" cy="133350"/>
          </a:xfrm>
          <a:prstGeom prst="rect">
            <a:avLst/>
          </a:prstGeom>
          <a:solidFill>
            <a:srgbClr val="6D7681"/>
          </a:solidFill>
          <a:ln>
            <a:noFill/>
          </a:ln>
          <a:effectLst/>
        </p:spPr>
        <p:txBody>
          <a:bodyPr rtlCol="0" anchor="ctr"/>
          <a:lstStyle/>
          <a:p>
            <a:pPr algn="ctr"/>
            <a:endParaRPr/>
          </a:p>
        </p:txBody>
      </p:sp>
      <p:sp>
        <p:nvSpPr>
          <p:cNvPr id="48" name="Text: +6.7%"/>
          <p:cNvSpPr txBox="1"/>
          <p:nvPr/>
        </p:nvSpPr>
        <p:spPr>
          <a:xfrm>
            <a:off x="2514600" y="46243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+6.7%</a:t>
            </a:r>
          </a:p>
        </p:txBody>
      </p:sp>
      <p:sp>
        <p:nvSpPr>
          <p:cNvPr id="49" name="Text: Cardinal Health">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Cardinal Health</a:t>
            </a:r>
          </a:p>
        </p:txBody>
      </p:sp>
      <p:sp>
        <p:nvSpPr>
          <p:cNvPr id="50" name="Rectangle 49"/>
          <p:cNvSpPr/>
          <p:nvPr/>
        </p:nvSpPr>
        <p:spPr>
          <a:xfrm>
            <a:off x="1924050" y="4886325"/>
            <a:ext cx="476250" cy="133350"/>
          </a:xfrm>
          <a:prstGeom prst="rect">
            <a:avLst/>
          </a:prstGeom>
          <a:solidFill>
            <a:srgbClr val="A39486"/>
          </a:solidFill>
          <a:ln>
            <a:noFill/>
          </a:ln>
          <a:effectLst/>
        </p:spPr>
        <p:txBody>
          <a:bodyPr rtlCol="0" anchor="ctr"/>
          <a:lstStyle/>
          <a:p>
            <a:pPr algn="ctr"/>
            <a:endParaRPr/>
          </a:p>
        </p:txBody>
      </p:sp>
      <p:sp>
        <p:nvSpPr>
          <p:cNvPr id="51" name="Text: +6.0%"/>
          <p:cNvSpPr txBox="1"/>
          <p:nvPr/>
        </p:nvSpPr>
        <p:spPr>
          <a:xfrm>
            <a:off x="2457450" y="48720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+6.0%</a:t>
            </a:r>
          </a:p>
        </p:txBody>
      </p:sp>
      <p:sp>
        <p:nvSpPr>
          <p:cNvPr id="52" name="Text: Labcorp">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Labcorp</a:t>
            </a:r>
          </a:p>
        </p:txBody>
      </p:sp>
      <p:sp>
        <p:nvSpPr>
          <p:cNvPr id="53" name="Rectangle 52"/>
          <p:cNvSpPr/>
          <p:nvPr/>
        </p:nvSpPr>
        <p:spPr>
          <a:xfrm>
            <a:off x="1924050" y="5133975"/>
            <a:ext cx="457200" cy="133350"/>
          </a:xfrm>
          <a:prstGeom prst="rect">
            <a:avLst/>
          </a:prstGeom>
          <a:solidFill>
            <a:srgbClr val="B68757"/>
          </a:solidFill>
          <a:ln>
            <a:noFill/>
          </a:ln>
          <a:effectLst/>
        </p:spPr>
        <p:txBody>
          <a:bodyPr rtlCol="0" anchor="ctr"/>
          <a:lstStyle/>
          <a:p>
            <a:pPr algn="ctr"/>
            <a:endParaRPr/>
          </a:p>
        </p:txBody>
      </p:sp>
      <p:sp>
        <p:nvSpPr>
          <p:cNvPr id="54" name="Text: +5.8%"/>
          <p:cNvSpPr txBox="1"/>
          <p:nvPr/>
        </p:nvSpPr>
        <p:spPr>
          <a:xfrm>
            <a:off x="2438400" y="51196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+5.8%</a:t>
            </a:r>
          </a:p>
        </p:txBody>
      </p:sp>
      <p:sp>
        <p:nvSpPr>
          <p:cNvPr id="55" name="Text: Guardian Pharmacy Services">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Guardian Pharmacy Services</a:t>
            </a:r>
          </a:p>
        </p:txBody>
      </p:sp>
      <p:sp>
        <p:nvSpPr>
          <p:cNvPr id="56" name="Rectangle 55"/>
          <p:cNvSpPr/>
          <p:nvPr/>
        </p:nvSpPr>
        <p:spPr>
          <a:xfrm>
            <a:off x="1924050" y="5381625"/>
            <a:ext cx="161925" cy="133350"/>
          </a:xfrm>
          <a:prstGeom prst="rect">
            <a:avLst/>
          </a:prstGeom>
          <a:solidFill>
            <a:srgbClr val="A39486"/>
          </a:solidFill>
          <a:ln>
            <a:noFill/>
          </a:ln>
          <a:effectLst/>
        </p:spPr>
        <p:txBody>
          <a:bodyPr rtlCol="0" anchor="ctr"/>
          <a:lstStyle/>
          <a:p>
            <a:pPr algn="ctr"/>
            <a:endParaRPr/>
          </a:p>
        </p:txBody>
      </p:sp>
      <p:sp>
        <p:nvSpPr>
          <p:cNvPr id="57" name="Text: +2.0%"/>
          <p:cNvSpPr txBox="1"/>
          <p:nvPr/>
        </p:nvSpPr>
        <p:spPr>
          <a:xfrm>
            <a:off x="2143125" y="53673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58" name="Text: AMN Healthcare">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AMN Healthcare</a:t>
            </a:r>
          </a:p>
        </p:txBody>
      </p:sp>
      <p:sp>
        <p:nvSpPr>
          <p:cNvPr id="59" name="Rectangle 58"/>
          <p:cNvSpPr/>
          <p:nvPr/>
        </p:nvSpPr>
        <p:spPr>
          <a:xfrm>
            <a:off x="1924050" y="5629275"/>
            <a:ext cx="161925" cy="133350"/>
          </a:xfrm>
          <a:prstGeom prst="rect">
            <a:avLst/>
          </a:prstGeom>
          <a:solidFill>
            <a:srgbClr val="A39486"/>
          </a:solidFill>
          <a:ln>
            <a:noFill/>
          </a:ln>
          <a:effectLst/>
        </p:spPr>
        <p:txBody>
          <a:bodyPr rtlCol="0" anchor="ctr"/>
          <a:lstStyle/>
          <a:p>
            <a:pPr algn="ctr"/>
            <a:endParaRPr/>
          </a:p>
        </p:txBody>
      </p:sp>
      <p:sp>
        <p:nvSpPr>
          <p:cNvPr id="60" name="Text: +2.0%"/>
          <p:cNvSpPr txBox="1"/>
          <p:nvPr/>
        </p:nvSpPr>
        <p:spPr>
          <a:xfrm>
            <a:off x="2143125" y="561498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+2.0%</a:t>
            </a:r>
          </a:p>
        </p:txBody>
      </p:sp>
      <p:sp>
        <p:nvSpPr>
          <p:cNvPr id="61" name="Text: Option Care Health">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050"/>
              </a:lnSpc>
            </a:pPr>
            <a:r>
              <a:rPr sz="788" b="1" i="0" spc="15">
                <a:solidFill>
                  <a:srgbClr val="333231"/>
                </a:solidFill>
                <a:latin typeface="Calibri"/>
              </a:rPr>
              <a:t>Option Care Health</a:t>
            </a:r>
          </a:p>
        </p:txBody>
      </p:sp>
      <p:sp>
        <p:nvSpPr>
          <p:cNvPr id="62" name="Rectangle 61"/>
          <p:cNvSpPr/>
          <p:nvPr/>
        </p:nvSpPr>
        <p:spPr>
          <a:xfrm>
            <a:off x="1924050" y="5876925"/>
            <a:ext cx="152400" cy="133350"/>
          </a:xfrm>
          <a:prstGeom prst="rect">
            <a:avLst/>
          </a:prstGeom>
          <a:solidFill>
            <a:srgbClr val="A39486"/>
          </a:solidFill>
          <a:ln>
            <a:noFill/>
          </a:ln>
          <a:effectLst/>
        </p:spPr>
        <p:txBody>
          <a:bodyPr rtlCol="0" anchor="ctr"/>
          <a:lstStyle/>
          <a:p>
            <a:pPr algn="ctr"/>
            <a:endParaRPr/>
          </a:p>
        </p:txBody>
      </p:sp>
      <p:sp>
        <p:nvSpPr>
          <p:cNvPr id="63" name="Text: +1.9%"/>
          <p:cNvSpPr txBox="1"/>
          <p:nvPr/>
        </p:nvSpPr>
        <p:spPr>
          <a:xfrm>
            <a:off x="2133600" y="5862638"/>
            <a:ext cx="274737" cy="161925"/>
          </a:xfrm>
          <a:prstGeom prst="rect">
            <a:avLst/>
          </a:prstGeom>
          <a:noFill/>
        </p:spPr>
        <p:txBody>
          <a:bodyPr wrap="square" lIns="0" tIns="0" rIns="0" bIns="0" anchor="t">
            <a:spAutoFit/>
          </a:bodyPr>
          <a:lstStyle/>
          <a:p>
            <a:pPr algn="l">
              <a:lnSpc>
                <a:spcPts val="1275"/>
              </a:lnSpc>
            </a:pPr>
            <a:r>
              <a:rPr sz="788" b="1" i="0" spc="15">
                <a:solidFill>
                  <a:srgbClr val="1B1A1A"/>
                </a:solidFill>
                <a:latin typeface="Calibri"/>
              </a:rPr>
              <a:t>+1.9%</a:t>
            </a:r>
          </a:p>
        </p:txBody>
      </p:sp>
      <p:sp>
        <p:nvSpPr>
          <p:cNvPr id="64" name="Rectangle 63"/>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 Provider Services"/>
          <p:cNvSpPr txBox="1"/>
          <p:nvPr/>
        </p:nvSpPr>
        <p:spPr>
          <a:xfrm>
            <a:off x="609600" y="6629400"/>
            <a:ext cx="837724"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Provider Services</a:t>
            </a:r>
          </a:p>
        </p:txBody>
      </p:sp>
      <p:sp>
        <p:nvSpPr>
          <p:cNvPr id="66" name="Rectangle 65"/>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 Life Sciences &amp; Diagnostics"/>
          <p:cNvSpPr txBox="1"/>
          <p:nvPr/>
        </p:nvSpPr>
        <p:spPr>
          <a:xfrm>
            <a:off x="1647825" y="6629400"/>
            <a:ext cx="1265337"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Life Sciences &amp; Diagnostics</a:t>
            </a:r>
          </a:p>
        </p:txBody>
      </p:sp>
      <p:sp>
        <p:nvSpPr>
          <p:cNvPr id="68" name="Rectangle 67"/>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 Medical Products &amp; Distribution"/>
          <p:cNvSpPr txBox="1"/>
          <p:nvPr/>
        </p:nvSpPr>
        <p:spPr>
          <a:xfrm>
            <a:off x="609600" y="6800850"/>
            <a:ext cx="1497151"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Medical Products &amp; Distribution</a:t>
            </a:r>
          </a:p>
        </p:txBody>
      </p:sp>
      <p:sp>
        <p:nvSpPr>
          <p:cNvPr id="70" name="Rectangle 69"/>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 Pharmacy &amp; Healthcare Services"/>
          <p:cNvSpPr txBox="1"/>
          <p:nvPr/>
        </p:nvSpPr>
        <p:spPr>
          <a:xfrm>
            <a:off x="2247305" y="6800850"/>
            <a:ext cx="1509102" cy="123825"/>
          </a:xfrm>
          <a:prstGeom prst="rect">
            <a:avLst/>
          </a:prstGeom>
          <a:noFill/>
        </p:spPr>
        <p:txBody>
          <a:bodyPr wrap="square" lIns="0" tIns="0" rIns="0" bIns="0" anchor="t">
            <a:spAutoFit/>
          </a:bodyPr>
          <a:lstStyle/>
          <a:p>
            <a:pPr algn="l">
              <a:lnSpc>
                <a:spcPts val="975"/>
              </a:lnSpc>
            </a:pPr>
            <a:r>
              <a:rPr sz="750" b="0" i="0" spc="15">
                <a:solidFill>
                  <a:srgbClr val="333231"/>
                </a:solidFill>
                <a:latin typeface="Calibri"/>
              </a:rPr>
              <a:t>Pharmacy &amp; Healthcare Services</a:t>
            </a:r>
          </a:p>
        </p:txBody>
      </p:sp>
      <p:sp>
        <p:nvSpPr>
          <p:cNvPr id="72" name="Rectangle 71"/>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Rectangle 72"/>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 PROVIDER SERVICES"/>
          <p:cNvSpPr txBox="1"/>
          <p:nvPr/>
        </p:nvSpPr>
        <p:spPr>
          <a:xfrm>
            <a:off x="4333875"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75" name="Text: “We continue to see strong demand "/>
          <p:cNvSpPr txBox="1"/>
          <p:nvPr/>
        </p:nvSpPr>
        <p:spPr>
          <a:xfrm>
            <a:off x="4325243" y="1525533"/>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We continue to see opportunities that include everything from larger portfolios, landlords looking to replace current tenants</a:t>
            </a:r>
            <a:r>
              <a:rPr lang="en-US" sz="800" dirty="0"/>
              <a:t>, </a:t>
            </a:r>
            <a:r>
              <a:rPr lang="en-US" sz="800" i="1" spc="15" dirty="0">
                <a:solidFill>
                  <a:srgbClr val="2A2928"/>
                </a:solidFill>
                <a:latin typeface="Cambria"/>
              </a:rPr>
              <a:t>non-profits looking to divest of their post-acute assets and a steady flow of traditional one-</a:t>
            </a:r>
            <a:r>
              <a:rPr lang="en-US" sz="800" i="1" spc="15" dirty="0" err="1">
                <a:solidFill>
                  <a:srgbClr val="2A2928"/>
                </a:solidFill>
                <a:latin typeface="Cambria"/>
              </a:rPr>
              <a:t>sie</a:t>
            </a:r>
            <a:r>
              <a:rPr lang="en-US" sz="800" i="1" spc="15" dirty="0">
                <a:solidFill>
                  <a:srgbClr val="2A2928"/>
                </a:solidFill>
                <a:latin typeface="Cambria"/>
              </a:rPr>
              <a:t> two-sies.”</a:t>
            </a:r>
            <a:endParaRPr sz="800" b="0" i="1" spc="15" dirty="0">
              <a:solidFill>
                <a:srgbClr val="2A2928"/>
              </a:solidFill>
              <a:latin typeface="Cambria"/>
            </a:endParaRPr>
          </a:p>
        </p:txBody>
      </p:sp>
      <p:sp>
        <p:nvSpPr>
          <p:cNvPr id="76" name="Text: Barry Port, Chief Executive Office"/>
          <p:cNvSpPr txBox="1"/>
          <p:nvPr/>
        </p:nvSpPr>
        <p:spPr>
          <a:xfrm>
            <a:off x="4333875" y="2366962"/>
            <a:ext cx="2395538" cy="128588"/>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
                  <a:extLst>
                    <a:ext uri="{A12FA001-AC4F-418D-AE19-62706E023703}">
                      <ahyp:hlinkClr xmlns:ahyp="http://schemas.microsoft.com/office/drawing/2018/hyperlinkcolor" val="tx"/>
                    </a:ext>
                  </a:extLst>
                </a:hlinkClick>
              </a:rPr>
              <a:t>Barry Port, Chief Executive Officer, The Ensign Group</a:t>
            </a:r>
          </a:p>
        </p:txBody>
      </p:sp>
      <p:sp>
        <p:nvSpPr>
          <p:cNvPr id="77" name="Rectangle 76"/>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Rectangle 77"/>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 PROVIDER SERVICES"/>
          <p:cNvSpPr txBox="1"/>
          <p:nvPr/>
        </p:nvSpPr>
        <p:spPr>
          <a:xfrm>
            <a:off x="7124700" y="13335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PROVIDER SERVICES</a:t>
            </a:r>
          </a:p>
        </p:txBody>
      </p:sp>
      <p:sp>
        <p:nvSpPr>
          <p:cNvPr id="80" name="Text: “We are pleased with the trends in"/>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 Dirk Allison, Chairman and Chief E"/>
          <p:cNvSpPr txBox="1"/>
          <p:nvPr/>
        </p:nvSpPr>
        <p:spPr>
          <a:xfrm>
            <a:off x="7137771" y="2361490"/>
            <a:ext cx="2395538" cy="257175"/>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Dirk Allison, Chairman and Chief Executive Officer,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Addus</a:t>
            </a:r>
            <a:r>
              <a:rPr sz="712" b="0" i="0" spc="15" dirty="0">
                <a:solidFill>
                  <a:srgbClr val="8C6239"/>
                </a:solidFill>
                <a:latin typeface="Calibri"/>
                <a:hlinkClick r:id="rId20">
                  <a:extLst>
                    <a:ext uri="{A12FA001-AC4F-418D-AE19-62706E023703}">
                      <ahyp:hlinkClr xmlns:ahyp="http://schemas.microsoft.com/office/drawing/2018/hyperlinkcolor" val="tx"/>
                    </a:ext>
                  </a:extLst>
                </a:hlinkClick>
              </a:rPr>
              <a:t> </a:t>
            </a:r>
            <a:r>
              <a:rPr sz="712" b="0" i="0" spc="15" dirty="0" err="1">
                <a:solidFill>
                  <a:srgbClr val="8C6239"/>
                </a:solidFill>
                <a:latin typeface="Calibri"/>
                <a:hlinkClick r:id="rId20">
                  <a:extLst>
                    <a:ext uri="{A12FA001-AC4F-418D-AE19-62706E023703}">
                      <ahyp:hlinkClr xmlns:ahyp="http://schemas.microsoft.com/office/drawing/2018/hyperlinkcolor" val="tx"/>
                    </a:ext>
                  </a:extLst>
                </a:hlinkClick>
              </a:rPr>
              <a:t>HomeCare</a:t>
            </a:r>
            <a:endParaRPr sz="712"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Rectangle 81"/>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Rectangle 82"/>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 LIFE SCIENCES &amp; DIAGNOSTICS"/>
          <p:cNvSpPr txBox="1"/>
          <p:nvPr/>
        </p:nvSpPr>
        <p:spPr>
          <a:xfrm>
            <a:off x="4333875"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85" name="Text: “Revenues increased by over 10%, a"/>
          <p:cNvSpPr txBox="1"/>
          <p:nvPr/>
        </p:nvSpPr>
        <p:spPr>
          <a:xfrm>
            <a:off x="4333875" y="2943225"/>
            <a:ext cx="2395538" cy="630942"/>
          </a:xfrm>
          <a:prstGeom prst="rect">
            <a:avLst/>
          </a:prstGeom>
          <a:noFill/>
        </p:spPr>
        <p:txBody>
          <a:bodyPr wrap="square" lIns="0" tIns="0" rIns="0" bIns="0" anchor="t">
            <a:spAutoFit/>
          </a:bodyPr>
          <a:lstStyle/>
          <a:p>
            <a:r>
              <a:rPr sz="90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 Jim Davis, Chairman, CEO and Presi"/>
          <p:cNvSpPr txBox="1"/>
          <p:nvPr/>
        </p:nvSpPr>
        <p:spPr>
          <a:xfrm>
            <a:off x="4333875" y="38147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12"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87" name="Rectangle 86"/>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Rectangle 87"/>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 LIFE SCIENCES &amp; DIAGNOSTICS"/>
          <p:cNvSpPr txBox="1"/>
          <p:nvPr/>
        </p:nvSpPr>
        <p:spPr>
          <a:xfrm>
            <a:off x="7124700" y="27813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LIFE SCIENCES &amp; DIAGNOSTICS</a:t>
            </a:r>
          </a:p>
        </p:txBody>
      </p:sp>
      <p:sp>
        <p:nvSpPr>
          <p:cNvPr id="90" name="Text: “Our end markets continue to stren"/>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 “As you know, our capital deployment strategy continues to prioritize strategic M&amp;A, complemented by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 Marc N. Casper, chairman and chief"/>
          <p:cNvSpPr txBox="1"/>
          <p:nvPr/>
        </p:nvSpPr>
        <p:spPr>
          <a:xfrm>
            <a:off x="7103268" y="3842213"/>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2"/>
              </a:rPr>
              <a:t>Marc Casper, CEO</a:t>
            </a:r>
            <a:r>
              <a:rPr lang="en-US" sz="712" b="0" i="0" spc="15" dirty="0" err="1">
                <a:solidFill>
                  <a:srgbClr val="8C6239"/>
                </a:solidFill>
                <a:latin typeface="Calibri"/>
                <a:hlinkClick r:id="rId22"/>
              </a:rPr>
              <a:t/>
            </a:r>
            <a:r>
              <a:rPr lang="en-US" sz="712" b="0" i="0" spc="15" dirty="0">
                <a:solidFill>
                  <a:srgbClr val="8C6239"/>
                </a:solidFill>
                <a:latin typeface="Calibri"/>
                <a:hlinkClick r:id="rId22"/>
              </a:rPr>
              <a:t>, </a:t>
            </a:r>
            <a:r>
              <a:rPr lang="en-US" sz="712" b="0" i="0" spc="15" dirty="0" err="1">
                <a:solidFill>
                  <a:srgbClr val="8C6239"/>
                </a:solidFill>
                <a:latin typeface="Calibri"/>
                <a:hlinkClick r:id="rId22"/>
              </a:rPr>
              <a:t>Thermo</a:t>
            </a:r>
            <a:r>
              <a:rPr lang="en-US" sz="712" b="0" i="0" spc="15" dirty="0">
                <a:solidFill>
                  <a:srgbClr val="8C6239"/>
                </a:solidFill>
                <a:latin typeface="Calibri"/>
                <a:hlinkClick r:id="rId22"/>
              </a:rPr>
              <a:t> Fisher Scientific</a:t>
            </a:r>
            <a:endParaRPr sz="712"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92" name="Rectangle 91"/>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Rectangle 92"/>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 MEDICAL PRODUCTS &amp; DISTRIBUTION"/>
          <p:cNvSpPr txBox="1"/>
          <p:nvPr/>
        </p:nvSpPr>
        <p:spPr>
          <a:xfrm>
            <a:off x="4333875" y="42291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MEDICAL PRODUCTS &amp; DISTRIBUTION</a:t>
            </a:r>
          </a:p>
        </p:txBody>
      </p:sp>
      <p:sp>
        <p:nvSpPr>
          <p:cNvPr id="95" name="Text: “Our first quarter results reflect"/>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talk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 Dan Carestio, President and CEO, S"/>
          <p:cNvSpPr txBox="1"/>
          <p:nvPr/>
        </p:nvSpPr>
        <p:spPr>
          <a:xfrm>
            <a:off x="4333875"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Dan </a:t>
            </a:r>
            <a:r>
              <a:rPr sz="712" b="0" i="0" spc="15" dirty="0" err="1">
                <a:solidFill>
                  <a:srgbClr val="8C6239"/>
                </a:solidFill>
                <a:latin typeface="Calibri"/>
                <a:hlinkClick r:id="rId23">
                  <a:extLst>
                    <a:ext uri="{A12FA001-AC4F-418D-AE19-62706E023703}">
                      <ahyp:hlinkClr xmlns:ahyp="http://schemas.microsoft.com/office/drawing/2018/hyperlinkcolor" val="tx"/>
                    </a:ext>
                  </a:extLst>
                </a:hlinkClick>
              </a:rPr>
              <a:t>Carestio</a:t>
            </a:r>
            <a:r>
              <a:rPr sz="712" b="0" i="0" spc="15" dirty="0">
                <a:solidFill>
                  <a:srgbClr val="8C6239"/>
                </a:solidFill>
                <a:latin typeface="Calibri"/>
                <a:hlinkClick r:id="rId23">
                  <a:extLst>
                    <a:ext uri="{A12FA001-AC4F-418D-AE19-62706E023703}">
                      <ahyp:hlinkClr xmlns:ahyp="http://schemas.microsoft.com/office/drawing/2018/hyperlinkcolor" val="tx"/>
                    </a:ext>
                  </a:extLst>
                </a:hlinkClick>
              </a:rPr>
              <a:t>, President and CEO, STERIS</a:t>
            </a:r>
            <a:endParaRPr sz="712"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Rectangle 96"/>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Rectangle 97"/>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 MEDICAL PRODUCTS &amp; DISTRIBUTION"/>
          <p:cNvSpPr txBox="1"/>
          <p:nvPr/>
        </p:nvSpPr>
        <p:spPr>
          <a:xfrm>
            <a:off x="7124700" y="4229100"/>
            <a:ext cx="2395538" cy="114300"/>
          </a:xfrm>
          <a:prstGeom prst="rect">
            <a:avLst/>
          </a:prstGeom>
          <a:noFill/>
        </p:spPr>
        <p:txBody>
          <a:bodyPr wrap="square" lIns="0" tIns="0" rIns="0" bIns="0" anchor="t">
            <a:spAutoFit/>
          </a:bodyPr>
          <a:lstStyle/>
          <a:p>
            <a:pPr algn="l">
              <a:lnSpc>
                <a:spcPts val="900"/>
              </a:lnSpc>
            </a:pPr>
            <a:r>
              <a:rPr sz="600" b="1" i="0" spc="120" dirty="0">
                <a:solidFill>
                  <a:srgbClr val="8C6239"/>
                </a:solidFill>
                <a:latin typeface="Calibri"/>
              </a:rPr>
              <a:t>MEDICAL PRODUCTS &amp; DISTRIBUTION</a:t>
            </a:r>
          </a:p>
        </p:txBody>
      </p:sp>
      <p:sp>
        <p:nvSpPr>
          <p:cNvPr id="100" name="Text: “Our first-half performance and th"/>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a:t>
            </a:r>
            <a:r>
              <a:rPr lang="en-US" sz="800" b="0" i="1" spc="15" dirty="0">
                <a:solidFill>
                  <a:srgbClr val="2A2928"/>
                </a:solidFill>
                <a:latin typeface="Cambria"/>
              </a:rPr>
              <a:t/>
            </a:r>
            <a:r>
              <a:rPr lang="en-US" sz="800" i="1" spc="15" dirty="0">
                <a:solidFill>
                  <a:srgbClr val="2A2928"/>
                </a:solidFill>
                <a:latin typeface="Cambria"/>
              </a:rPr>
              <a:t>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 Fred Lowery, Chief Executive Offic"/>
          <p:cNvSpPr txBox="1"/>
          <p:nvPr/>
        </p:nvSpPr>
        <p:spPr>
          <a:xfrm>
            <a:off x="7124700" y="52625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712"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Rectangle 101"/>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Rectangle 102"/>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 PHARMACY &amp; HEALTHCARE SERVICES"/>
          <p:cNvSpPr txBox="1"/>
          <p:nvPr/>
        </p:nvSpPr>
        <p:spPr>
          <a:xfrm>
            <a:off x="4333875"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05" name="Text: “Fiscal 2026 was a standout year f"/>
          <p:cNvSpPr txBox="1"/>
          <p:nvPr/>
        </p:nvSpPr>
        <p:spPr>
          <a:xfrm>
            <a:off x="4333875" y="5838825"/>
            <a:ext cx="2395538" cy="507831"/>
          </a:xfrm>
          <a:prstGeom prst="rect">
            <a:avLst/>
          </a:prstGeom>
          <a:noFill/>
        </p:spPr>
        <p:txBody>
          <a:bodyPr wrap="square" lIns="0" tIns="0" rIns="0" bIns="0" anchor="t">
            <a:spAutoFit/>
          </a:bodyPr>
          <a:lstStyle/>
          <a:p>
            <a:r>
              <a:rPr sz="900" b="0" i="1" spc="15" dirty="0">
                <a:solidFill>
                  <a:srgbClr val="2A2928"/>
                </a:solidFill>
                <a:latin typeface="Cambria"/>
              </a:rPr>
              <a:t>“We are uniquely</a:t>
            </a:r>
            <a:r>
              <a:rPr lang="en-US" sz="800" i="1" spc="15" dirty="0">
                <a:solidFill>
                  <a:srgbClr val="2A2928"/>
                </a:solidFill>
                <a:latin typeface="Cambria"/>
              </a:rPr>
              <a:t> positioned to capitalize on the continued growth from these fast-growing categories, especially in the areas of urology, oncology, and neurology”</a:t>
            </a:r>
            <a:endParaRPr sz="800" i="1" spc="15" dirty="0">
              <a:solidFill>
                <a:srgbClr val="2A2928"/>
              </a:solidFill>
              <a:latin typeface="Cambria"/>
            </a:endParaRPr>
          </a:p>
        </p:txBody>
      </p:sp>
      <p:sp>
        <p:nvSpPr>
          <p:cNvPr id="106" name="Text: Jason Hollar, CEO, Cardinal Health"/>
          <p:cNvSpPr txBox="1"/>
          <p:nvPr/>
        </p:nvSpPr>
        <p:spPr>
          <a:xfrm>
            <a:off x="4333875" y="6710362"/>
            <a:ext cx="2395538" cy="120289"/>
          </a:xfrm>
          <a:prstGeom prst="rect">
            <a:avLst/>
          </a:prstGeom>
          <a:noFill/>
        </p:spPr>
        <p:txBody>
          <a:bodyPr wrap="square" lIns="0" tIns="0" rIns="0" bIns="0" anchor="t">
            <a:spAutoFit/>
          </a:bodyPr>
          <a:lstStyle/>
          <a:p>
            <a:pPr algn="l">
              <a:lnSpc>
                <a:spcPts val="1011"/>
              </a:lnSpc>
            </a:pPr>
            <a:r>
              <a:rPr sz="712"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712" b="0" i="0" spc="15" dirty="0">
              <a:solidFill>
                <a:srgbClr val="8C6239"/>
              </a:solidFill>
              <a:latin typeface="Calibri"/>
              <a:hlinkClick r:id="rId15">
                <a:extLst>
                  <a:ext uri="{A12FA001-AC4F-418D-AE19-62706E023703}">
                    <ahyp:hlinkClr xmlns:ahyp="http://schemas.microsoft.com/office/drawing/2018/hyperlinkcolor" val="tx"/>
                  </a:ext>
                </a:extLst>
              </a:hlinkClick>
            </a:endParaRPr>
          </a:p>
        </p:txBody>
      </p:sp>
      <p:sp>
        <p:nvSpPr>
          <p:cNvPr id="107" name="Rectangle 106"/>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Rectangle 107"/>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 PHARMACY &amp; HEALTHCARE SERVICES"/>
          <p:cNvSpPr txBox="1"/>
          <p:nvPr/>
        </p:nvSpPr>
        <p:spPr>
          <a:xfrm>
            <a:off x="7124700" y="5676900"/>
            <a:ext cx="2395538" cy="114300"/>
          </a:xfrm>
          <a:prstGeom prst="rect">
            <a:avLst/>
          </a:prstGeom>
          <a:noFill/>
        </p:spPr>
        <p:txBody>
          <a:bodyPr wrap="square" lIns="0" tIns="0" rIns="0" bIns="0" anchor="t">
            <a:spAutoFit/>
          </a:bodyPr>
          <a:lstStyle/>
          <a:p>
            <a:pPr algn="l">
              <a:lnSpc>
                <a:spcPts val="900"/>
              </a:lnSpc>
            </a:pPr>
            <a:r>
              <a:rPr sz="600" b="1" i="0" spc="120">
                <a:solidFill>
                  <a:srgbClr val="8C6239"/>
                </a:solidFill>
                <a:latin typeface="Calibri"/>
              </a:rPr>
              <a:t>PHARMACY &amp; HEALTHCARE SERVICES</a:t>
            </a:r>
          </a:p>
        </p:txBody>
      </p:sp>
      <p:sp>
        <p:nvSpPr>
          <p:cNvPr id="110" name="Text: “Overall demand growth improved th"/>
          <p:cNvSpPr txBox="1"/>
          <p:nvPr/>
        </p:nvSpPr>
        <p:spPr>
          <a:xfrm>
            <a:off x="7128043" y="5833454"/>
            <a:ext cx="2395538" cy="861774"/>
          </a:xfrm>
          <a:prstGeom prst="rect">
            <a:avLst/>
          </a:prstGeom>
          <a:noFill/>
        </p:spPr>
        <p:txBody>
          <a:bodyPr wrap="square" lIns="0" tIns="0" rIns="0" bIns="0" anchor="t">
            <a:spAutoFit/>
          </a:bodyPr>
          <a:lstStyle/>
          <a:p>
            <a:r>
              <a:rPr lang="en-US" sz="800" i="1" dirty="0"/>
              <a:t>“I think the market, as we've talked about over the last year, there's been an expectation there'd be more consolidation that would occur. Quite honestly, most of last year it was relatively quiet. There were a few transactions in certain categories, not as many as we expected. That's changed over the last couple of quarters. We're starting to see more assets come to market.”</a:t>
            </a:r>
          </a:p>
        </p:txBody>
      </p:sp>
      <p:sp>
        <p:nvSpPr>
          <p:cNvPr id="111" name="Text: Cary Grace, President and Chief Ex"/>
          <p:cNvSpPr txBox="1"/>
          <p:nvPr/>
        </p:nvSpPr>
        <p:spPr>
          <a:xfrm>
            <a:off x="7124700" y="6740705"/>
            <a:ext cx="2395538" cy="120289"/>
          </a:xfrm>
          <a:prstGeom prst="rect">
            <a:avLst/>
          </a:prstGeom>
          <a:noFill/>
        </p:spPr>
        <p:txBody>
          <a:bodyPr wrap="square" lIns="0" tIns="0" rIns="0" bIns="0" anchor="t">
            <a:spAutoFit/>
          </a:bodyPr>
          <a:lstStyle/>
          <a:p>
            <a:pPr algn="l">
              <a:lnSpc>
                <a:spcPts val="1011"/>
              </a:lnSpc>
            </a:pPr>
            <a:r>
              <a:rPr lang="en-US" sz="712" b="0" i="0" spc="15" dirty="0">
                <a:solidFill>
                  <a:srgbClr val="8C6239"/>
                </a:solidFill>
                <a:latin typeface="Calibri"/>
                <a:hlinkClick r:id="rId26"/>
              </a:rPr>
              <a:t>Brian Scott, CFO</a:t>
            </a:r>
            <a:r>
              <a:rPr lang="en-US" sz="712" b="0" i="0" spc="15" dirty="0" err="1">
                <a:solidFill>
                  <a:srgbClr val="8C6239"/>
                </a:solidFill>
                <a:latin typeface="Calibri"/>
                <a:hlinkClick r:id="rId26"/>
              </a:rPr>
              <a:t/>
            </a:r>
            <a:r>
              <a:rPr lang="en-US" sz="712" b="0" i="0" spc="15" dirty="0">
                <a:solidFill>
                  <a:srgbClr val="8C6239"/>
                </a:solidFill>
                <a:latin typeface="Calibri"/>
                <a:hlinkClick r:id="rId26"/>
              </a:rPr>
              <a:t> &amp; COO, AMN Healthcare</a:t>
            </a:r>
            <a:endParaRPr sz="712" b="0" i="0" spc="15" dirty="0">
              <a:solidFill>
                <a:srgbClr val="8C6239"/>
              </a:solidFill>
              <a:latin typeface="Calibri"/>
              <a:hlinkClick r:id="rId18">
                <a:extLst>
                  <a:ext uri="{A12FA001-AC4F-418D-AE19-62706E023703}">
                    <ahyp:hlinkClr xmlns:ahyp="http://schemas.microsoft.com/office/drawing/2018/hyperlinkcolor" val="tx"/>
                  </a:ext>
                </a:extLst>
              </a:hlinkClick>
            </a:endParaRPr>
          </a:p>
        </p:txBody>
      </p:sp>
      <p:sp>
        <p:nvSpPr>
          <p:cNvPr id="112" name="Rectangle 1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12" descr="Benchmark International"/>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 Growth is total revenue as reporte"/>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Growth is total revenue as reported, including acquisitions; company names link to the releases. Steris and McKesson figures are for fiscal first quarters and Cardinal Health for its fiscal fourth quarter, all ended June 30, 2026. Quotations are from the earnings releases.</a:t>
            </a:r>
          </a:p>
        </p:txBody>
      </p:sp>
      <p:sp>
        <p:nvSpPr>
          <p:cNvPr id="115" name="Text: 17"/>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knot-dark.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during a working session"/>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Rectangle 3"/>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Freeform 4"/>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Connector 5"/>
          <p:cNvCxnSpPr/>
          <p:nvPr/>
        </p:nvCxnSpPr>
        <p:spPr>
          <a:xfrm flipH="1">
            <a:off x="4562475" y="0"/>
            <a:ext cx="1314450" cy="7772400"/>
          </a:xfrm>
          <a:prstGeom prst="line">
            <a:avLst/>
          </a:prstGeom>
          <a:ln w="38100">
            <a:solidFill>
              <a:srgbClr val="B68757"/>
            </a:solidFill>
          </a:ln>
        </p:spPr>
      </p:cxnSp>
      <p:sp>
        <p:nvSpPr>
          <p:cNvPr id="7" name="Text: 03"/>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 Connect With Us"/>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Rectangle 8"/>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Rectangle 9"/>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Rectangle 10"/>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 Connect with Jared Hardin"/>
          <p:cNvSpPr txBox="1"/>
          <p:nvPr/>
        </p:nvSpPr>
        <p:spPr>
          <a:xfrm>
            <a:off x="781050" y="4010025"/>
            <a:ext cx="133870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Connect with Jared Hardin</a:t>
            </a:r>
          </a:p>
        </p:txBody>
      </p:sp>
      <p:sp>
        <p:nvSpPr>
          <p:cNvPr id="13" name="Rectangle 12"/>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Rectangle 13"/>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 The Benchmark Capital Markets team"/>
          <p:cNvSpPr txBox="1"/>
          <p:nvPr/>
        </p:nvSpPr>
        <p:spPr>
          <a:xfrm>
            <a:off x="781050" y="4352925"/>
            <a:ext cx="189264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The Middle Market team</a:t>
            </a:r>
          </a:p>
        </p:txBody>
      </p:sp>
      <p:sp>
        <p:nvSpPr>
          <p:cNvPr id="16" name="Rectangle 15"/>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Rectangle 16"/>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 Benchmark International"/>
          <p:cNvSpPr txBox="1"/>
          <p:nvPr/>
        </p:nvSpPr>
        <p:spPr>
          <a:xfrm>
            <a:off x="781050" y="4695825"/>
            <a:ext cx="1258491"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a:t>
            </a:r>
          </a:p>
        </p:txBody>
      </p:sp>
      <p:sp>
        <p:nvSpPr>
          <p:cNvPr id="19" name="Rectangle 18"/>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Rectangle 19"/>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 Important disclosures, appendix an"/>
          <p:cNvSpPr txBox="1"/>
          <p:nvPr/>
        </p:nvSpPr>
        <p:spPr>
          <a:xfrm>
            <a:off x="781050" y="5038725"/>
            <a:ext cx="224953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Important disclosures, appendix and sources</a:t>
            </a:r>
          </a:p>
        </p:txBody>
      </p:sp>
      <p:sp>
        <p:nvSpPr>
          <p:cNvPr id="22" name="Rectangle 2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22" descr="Benchmark International"/>
          <p:cNvPicPr>
            <a:picLocks noChangeAspect="1"/>
          </p:cNvPicPr>
          <p:nvPr/>
        </p:nvPicPr>
        <p:blipFill>
          <a:blip r:embed="rId4"/>
          <a:srcRect/>
          <a:stretch>
            <a:fillRect/>
          </a:stretch>
        </p:blipFill>
        <p:spPr>
          <a:xfrm>
            <a:off x="609600" y="7086600"/>
            <a:ext cx="1428750" cy="266700"/>
          </a:xfrm>
          <a:prstGeom prst="rect">
            <a:avLst/>
          </a:prstGeom>
        </p:spPr>
      </p:pic>
      <p:sp>
        <p:nvSpPr>
          <p:cNvPr id="24" name="Text: HEALTHCARE | Q4 2026"/>
          <p:cNvSpPr txBox="1"/>
          <p:nvPr/>
        </p:nvSpPr>
        <p:spPr>
          <a:xfrm>
            <a:off x="2209800" y="7181850"/>
            <a:ext cx="1482179" cy="133350"/>
          </a:xfrm>
          <a:prstGeom prst="rect">
            <a:avLst/>
          </a:prstGeom>
          <a:noFill/>
        </p:spPr>
        <p:txBody>
          <a:bodyPr wrap="square" lIns="0" tIns="0" rIns="0" bIns="0" anchor="t">
            <a:spAutoFit/>
          </a:bodyPr>
          <a:lstStyle/>
          <a:p>
            <a:pPr algn="l">
              <a:lnSpc>
                <a:spcPts val="1050"/>
              </a:lnSpc>
            </a:pPr>
            <a:r>
              <a:rPr sz="712" b="1" i="0" spc="195">
                <a:solidFill>
                  <a:srgbClr val="C3BDB6"/>
                </a:solidFill>
                <a:latin typeface="Calibri"/>
              </a:rPr>
              <a:t>HEALTHCARE | Q4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Connect With U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 A first conversation is confidenti"/>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 first conversation is confidential and carries no obligation.</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CONFIDENTIAL. NO PRESSURE. NO COMM"/>
          <p:cNvSpPr txBox="1"/>
          <p:nvPr/>
        </p:nvSpPr>
        <p:spPr>
          <a:xfrm>
            <a:off x="419100" y="1485900"/>
            <a:ext cx="51577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CONFIDENTIAL. NO PRESSURE. NO COMMITMENTS.</a:t>
            </a:r>
          </a:p>
        </p:txBody>
      </p:sp>
      <p:sp>
        <p:nvSpPr>
          <p:cNvPr id="9" name="Text: It all starts with a conversation."/>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Rectangle 9"/>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 Our first step is always a confide"/>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a:solidFill>
                  <a:srgbClr val="333231"/>
                </a:solidFill>
                <a:latin typeface="Calibri"/>
              </a:rPr>
              <a:t>Our first step is always a confidential conversation exploring your goals, your company and your options. Owners considering a sale, a recapitalization or a growth partnership in any of the four focus areas, and the advisors who work with them, are welcome to call or write.</a:t>
            </a:r>
          </a:p>
        </p:txBody>
      </p:sp>
      <p:sp>
        <p:nvSpPr>
          <p:cNvPr id="12" name="Rectangle 11"/>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Rectangle 12"/>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3" descr="Jared Hardin"/>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 Jared Hardin"/>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 MANAGING DIRECTOR, BENCHMARK CAPIT"/>
          <p:cNvSpPr txBox="1"/>
          <p:nvPr/>
        </p:nvSpPr>
        <p:spPr>
          <a:xfrm>
            <a:off x="1733550" y="4819650"/>
            <a:ext cx="2920603" cy="133350"/>
          </a:xfrm>
          <a:prstGeom prst="rect">
            <a:avLst/>
          </a:prstGeom>
          <a:noFill/>
        </p:spPr>
        <p:txBody>
          <a:bodyPr wrap="square" lIns="0" tIns="0" rIns="0" bIns="0" anchor="t">
            <a:spAutoFit/>
          </a:bodyPr>
          <a:lstStyle/>
          <a:p>
            <a:pPr algn="l">
              <a:lnSpc>
                <a:spcPts val="1050"/>
              </a:lnSpc>
            </a:pPr>
            <a:r>
              <a:rPr sz="675" b="1" i="0" spc="165">
                <a:solidFill>
                  <a:srgbClr val="8C6239"/>
                </a:solidFill>
                <a:latin typeface="Calibri"/>
              </a:rPr>
              <a:t>MANAGING DIRECTOR</a:t>
            </a:r>
          </a:p>
        </p:txBody>
      </p:sp>
      <p:sp>
        <p:nvSpPr>
          <p:cNvPr id="17" name="Text: 813-771-6675"/>
          <p:cNvSpPr txBox="1"/>
          <p:nvPr/>
        </p:nvSpPr>
        <p:spPr>
          <a:xfrm>
            <a:off x="1733550" y="5038725"/>
            <a:ext cx="2920603" cy="400050"/>
          </a:xfrm>
          <a:prstGeom prst="rect">
            <a:avLst/>
          </a:prstGeom>
          <a:noFill/>
        </p:spPr>
        <p:txBody>
          <a:bodyPr wrap="square" lIns="0" tIns="0" rIns="0" bIns="0" anchor="t">
            <a:spAutoFit/>
          </a:bodyPr>
          <a:lstStyle/>
          <a:p>
            <a:pPr algn="l">
              <a:lnSpc>
                <a:spcPts val="1575"/>
              </a:lnSpc>
            </a:pPr>
            <a:r>
              <a:rPr sz="975" b="0" i="0" spc="15">
                <a:solidFill>
                  <a:srgbClr val="8C6239"/>
                </a:solidFill>
                <a:latin typeface="Calibri"/>
                <a:hlinkClick r:id="rId3">
                  <a:extLst>
                    <a:ext uri="{A12FA001-AC4F-418D-AE19-62706E023703}">
                      <ahyp:hlinkClr xmlns:ahyp="http://schemas.microsoft.com/office/drawing/2018/hyperlinkcolor" val="tx"/>
                    </a:ext>
                  </a:extLst>
                </a:hlinkClick>
              </a:rPr>
              <a:t>813-771-6675</a:t>
            </a:r>
            <a:br/>
            <a:r>
              <a:rPr sz="975"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Rectangle 17"/>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Rectangle 18"/>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Rectangle 19"/>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Rectangle 20"/>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Rectangle 21"/>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 SCHEDULE A CONVERSATION">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4" name="Rectangle 23"/>
          <p:cNvSpPr/>
          <p:nvPr/>
        </p:nvSpPr>
        <p:spPr>
          <a:xfrm>
            <a:off x="2414588" y="6581775"/>
            <a:ext cx="2117378" cy="9525"/>
          </a:xfrm>
          <a:prstGeom prst="rect">
            <a:avLst/>
          </a:prstGeom>
          <a:solidFill>
            <a:srgbClr val="1B1A1A"/>
          </a:solidFill>
          <a:ln>
            <a:noFill/>
          </a:ln>
          <a:effectLst/>
        </p:spPr>
        <p:txBody>
          <a:bodyPr rtlCol="0" anchor="ctr"/>
          <a:lstStyle/>
          <a:p>
            <a:pPr algn="ctr"/>
            <a:endParaRPr/>
          </a:p>
        </p:txBody>
      </p:sp>
      <p:sp>
        <p:nvSpPr>
          <p:cNvPr id="25" name="Rectangle 24"/>
          <p:cNvSpPr/>
          <p:nvPr/>
        </p:nvSpPr>
        <p:spPr>
          <a:xfrm>
            <a:off x="4522440" y="6581775"/>
            <a:ext cx="9525" cy="352425"/>
          </a:xfrm>
          <a:prstGeom prst="rect">
            <a:avLst/>
          </a:prstGeom>
          <a:solidFill>
            <a:srgbClr val="1B1A1A"/>
          </a:solidFill>
          <a:ln>
            <a:noFill/>
          </a:ln>
          <a:effectLst/>
        </p:spPr>
        <p:txBody>
          <a:bodyPr rtlCol="0" anchor="ctr"/>
          <a:lstStyle/>
          <a:p>
            <a:pPr algn="ctr"/>
            <a:endParaRPr/>
          </a:p>
        </p:txBody>
      </p:sp>
      <p:sp>
        <p:nvSpPr>
          <p:cNvPr id="26" name="Rectangle 25"/>
          <p:cNvSpPr/>
          <p:nvPr/>
        </p:nvSpPr>
        <p:spPr>
          <a:xfrm>
            <a:off x="2414588" y="6924675"/>
            <a:ext cx="2117378" cy="9525"/>
          </a:xfrm>
          <a:prstGeom prst="rect">
            <a:avLst/>
          </a:prstGeom>
          <a:solidFill>
            <a:srgbClr val="1B1A1A"/>
          </a:solidFill>
          <a:ln>
            <a:noFill/>
          </a:ln>
          <a:effectLst/>
        </p:spPr>
        <p:txBody>
          <a:bodyPr rtlCol="0" anchor="ctr"/>
          <a:lstStyle/>
          <a:p>
            <a:pPr algn="ctr"/>
            <a:endParaRPr/>
          </a:p>
        </p:txBody>
      </p:sp>
      <p:sp>
        <p:nvSpPr>
          <p:cNvPr id="27" name="Rectangle 26"/>
          <p:cNvSpPr/>
          <p:nvPr/>
        </p:nvSpPr>
        <p:spPr>
          <a:xfrm>
            <a:off x="2414588" y="6581775"/>
            <a:ext cx="9525" cy="352425"/>
          </a:xfrm>
          <a:prstGeom prst="rect">
            <a:avLst/>
          </a:prstGeom>
          <a:solidFill>
            <a:srgbClr val="1B1A1A"/>
          </a:solidFill>
          <a:ln>
            <a:noFill/>
          </a:ln>
          <a:effectLst/>
        </p:spPr>
        <p:txBody>
          <a:bodyPr rtlCol="0" anchor="ctr"/>
          <a:lstStyle/>
          <a:p>
            <a:pPr algn="ctr"/>
            <a:endParaRPr/>
          </a:p>
        </p:txBody>
      </p:sp>
      <p:sp>
        <p:nvSpPr>
          <p:cNvPr id="28" name="Text: READ THE FULL Q4 2026 REPORT">
            <a:hlinkClick r:id="rId6"/>
          </p:cNvPr>
          <p:cNvSpPr txBox="1"/>
          <p:nvPr/>
        </p:nvSpPr>
        <p:spPr>
          <a:xfrm>
            <a:off x="2595562" y="6696075"/>
            <a:ext cx="1769715" cy="123825"/>
          </a:xfrm>
          <a:prstGeom prst="rect">
            <a:avLst/>
          </a:prstGeom>
          <a:noFill/>
        </p:spPr>
        <p:txBody>
          <a:bodyPr wrap="square" lIns="0" tIns="0" rIns="0" bIns="0" anchor="t">
            <a:spAutoFit/>
          </a:bodyPr>
          <a:lstStyle/>
          <a:p>
            <a:pPr algn="l">
              <a:lnSpc>
                <a:spcPts val="975"/>
              </a:lnSpc>
            </a:pPr>
            <a:r>
              <a:rPr sz="712" b="1" i="0" spc="150">
                <a:solidFill>
                  <a:srgbClr val="1B1A1A"/>
                </a:solidFill>
                <a:latin typeface="Calibri"/>
              </a:rPr>
              <a:t>READ THE REPORT ONLINE</a:t>
            </a:r>
          </a:p>
        </p:txBody>
      </p:sp>
      <p:sp>
        <p:nvSpPr>
          <p:cNvPr id="29" name="Rectangle 28"/>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pic>
        <p:nvPicPr>
          <p:cNvPr id="30" name="Picture 29" descr="A business owner seated by a window"/>
          <p:cNvPicPr>
            <a:picLocks noChangeAspect="1"/>
          </p:cNvPicPr>
          <p:nvPr/>
        </p:nvPicPr>
        <p:blipFill>
          <a:blip r:embed="rId7"/>
          <a:srcRect l="9327" r="9327"/>
          <a:stretch>
            <a:fillRect/>
          </a:stretch>
        </p:blipFill>
        <p:spPr>
          <a:xfrm>
            <a:off x="5848350" y="1238250"/>
            <a:ext cx="3790950" cy="5695950"/>
          </a:xfrm>
          <a:prstGeom prst="rect">
            <a:avLst/>
          </a:prstGeom>
        </p:spPr>
      </p:pic>
      <p:sp>
        <p:nvSpPr>
          <p:cNvPr id="31" name="Rectangle 30"/>
          <p:cNvSpPr/>
          <p:nvPr/>
        </p:nvSpPr>
        <p:spPr>
          <a:xfrm>
            <a:off x="5848350" y="1238250"/>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
        <p:nvSpPr>
          <p:cNvPr id="36" name="Rectangle 3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6" descr="Benchmark International"/>
          <p:cNvPicPr>
            <a:picLocks noChangeAspect="1"/>
          </p:cNvPicPr>
          <p:nvPr/>
        </p:nvPicPr>
        <p:blipFill>
          <a:blip r:embed="rId8"/>
          <a:srcRect/>
          <a:stretch>
            <a:fillRect/>
          </a:stretch>
        </p:blipFill>
        <p:spPr>
          <a:xfrm>
            <a:off x="419100" y="7143750"/>
            <a:ext cx="914400" cy="171450"/>
          </a:xfrm>
          <a:prstGeom prst="rect">
            <a:avLst/>
          </a:prstGeom>
        </p:spPr>
      </p:pic>
      <p:sp>
        <p:nvSpPr>
          <p:cNvPr id="38" name="Text: Benchmark Capital Markets (BCM), 4"/>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39" name="Text: 19"/>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 The BCM team leads each engagement"/>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 Benchmark Capital Markets"/>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 Benchmark Capital Markets (BCM) re"/>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in sales, recapitalizations and growth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963912"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0957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2481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49530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1054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HEALTHCARE COVERAGE</a:t>
            </a:r>
          </a:p>
        </p:txBody>
      </p:sp>
      <p:pic>
        <p:nvPicPr>
          <p:cNvPr id="94" name="Picture 93" descr="v3fd7db433b86.png"/>
          <p:cNvPicPr>
            <a:picLocks noChangeAspect="1"/>
          </p:cNvPicPr>
          <p:nvPr/>
        </p:nvPicPr>
        <p:blipFill>
          <a:blip r:embed="rId15"/>
          <a:stretch>
            <a:fillRect/>
          </a:stretch>
        </p:blipFill>
        <p:spPr>
          <a:xfrm>
            <a:off x="2628900" y="6467475"/>
            <a:ext cx="190500" cy="190500"/>
          </a:xfrm>
          <a:prstGeom prst="rect">
            <a:avLst/>
          </a:prstGeom>
        </p:spPr>
      </p:pic>
      <p:sp>
        <p:nvSpPr>
          <p:cNvPr id="95" name="Text: Provider Services"/>
          <p:cNvSpPr txBox="1"/>
          <p:nvPr/>
        </p:nvSpPr>
        <p:spPr>
          <a:xfrm>
            <a:off x="2895600" y="6496050"/>
            <a:ext cx="89305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Provider Services</a:t>
            </a:r>
          </a:p>
        </p:txBody>
      </p:sp>
      <p:pic>
        <p:nvPicPr>
          <p:cNvPr id="96" name="Picture 95" descr="va0eac4097b0b.png"/>
          <p:cNvPicPr>
            <a:picLocks noChangeAspect="1"/>
          </p:cNvPicPr>
          <p:nvPr/>
        </p:nvPicPr>
        <p:blipFill>
          <a:blip r:embed="rId16"/>
          <a:stretch>
            <a:fillRect/>
          </a:stretch>
        </p:blipFill>
        <p:spPr>
          <a:xfrm>
            <a:off x="6200775" y="6467475"/>
            <a:ext cx="190500" cy="190500"/>
          </a:xfrm>
          <a:prstGeom prst="rect">
            <a:avLst/>
          </a:prstGeom>
        </p:spPr>
      </p:pic>
      <p:sp>
        <p:nvSpPr>
          <p:cNvPr id="97" name="Text: Life Sciences &amp; Diagnostics"/>
          <p:cNvSpPr txBox="1"/>
          <p:nvPr/>
        </p:nvSpPr>
        <p:spPr>
          <a:xfrm>
            <a:off x="6467475" y="6496050"/>
            <a:ext cx="1347028"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Life Sciences &amp; Diagnostics</a:t>
            </a:r>
          </a:p>
        </p:txBody>
      </p:sp>
      <p:pic>
        <p:nvPicPr>
          <p:cNvPr id="98" name="Picture 97" descr="vbfbb6f5a2b67.png"/>
          <p:cNvPicPr>
            <a:picLocks noChangeAspect="1"/>
          </p:cNvPicPr>
          <p:nvPr/>
        </p:nvPicPr>
        <p:blipFill>
          <a:blip r:embed="rId17"/>
          <a:stretch>
            <a:fillRect/>
          </a:stretch>
        </p:blipFill>
        <p:spPr>
          <a:xfrm>
            <a:off x="2628900" y="6743700"/>
            <a:ext cx="190500" cy="190500"/>
          </a:xfrm>
          <a:prstGeom prst="rect">
            <a:avLst/>
          </a:prstGeom>
        </p:spPr>
      </p:pic>
      <p:sp>
        <p:nvSpPr>
          <p:cNvPr id="99" name="Text: Medical Products &amp; Distribution"/>
          <p:cNvSpPr txBox="1"/>
          <p:nvPr/>
        </p:nvSpPr>
        <p:spPr>
          <a:xfrm>
            <a:off x="2895600" y="6772275"/>
            <a:ext cx="1600617"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Medical Products &amp; Distribution</a:t>
            </a:r>
          </a:p>
        </p:txBody>
      </p:sp>
      <p:pic>
        <p:nvPicPr>
          <p:cNvPr id="100" name="Picture 99" descr="v1b3d25096321.png"/>
          <p:cNvPicPr>
            <a:picLocks noChangeAspect="1"/>
          </p:cNvPicPr>
          <p:nvPr/>
        </p:nvPicPr>
        <p:blipFill>
          <a:blip r:embed="rId18"/>
          <a:stretch>
            <a:fillRect/>
          </a:stretch>
        </p:blipFill>
        <p:spPr>
          <a:xfrm>
            <a:off x="6200775" y="6743700"/>
            <a:ext cx="190500" cy="190500"/>
          </a:xfrm>
          <a:prstGeom prst="rect">
            <a:avLst/>
          </a:prstGeom>
        </p:spPr>
      </p:pic>
      <p:sp>
        <p:nvSpPr>
          <p:cNvPr id="101" name="Text: Pharmacy &amp; Healthcare Services"/>
          <p:cNvSpPr txBox="1"/>
          <p:nvPr/>
        </p:nvSpPr>
        <p:spPr>
          <a:xfrm>
            <a:off x="6467475" y="6772275"/>
            <a:ext cx="1608966"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Pharmacy &amp; Healthcare Services</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20</a:t>
            </a:r>
          </a:p>
        </p:txBody>
      </p:sp>
      <p:sp>
        <p:nvSpPr>
          <p:cNvPr id="106" name="Text: jhoutz@benchmarkintl.com"/>
          <p:cNvSpPr txBox="1"/>
          <p:nvPr/>
        </p:nvSpPr>
        <p:spPr>
          <a:xfrm>
            <a:off x="2835920"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07" name="Text: azykov@benchmarkintl.com"/>
          <p:cNvSpPr txBox="1"/>
          <p:nvPr/>
        </p:nvSpPr>
        <p:spPr>
          <a:xfrm>
            <a:off x="6407869"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21">
                  <a:extLst>
                    <a:ext uri="{A12FA001-AC4F-418D-AE19-62706E023703}">
                      <ahyp:hlinkClr xmlns:ahyp="http://schemas.microsoft.com/office/drawing/2018/hyperlinkcolor" val="tx"/>
                    </a:ext>
                  </a:extLst>
                </a:hlinkClick>
              </a:rPr>
              <a:t>813-898-2372</a:t>
            </a:r>
            <a:br/>
            <a:r>
              <a:rPr sz="788" b="0" i="0" spc="15">
                <a:solidFill>
                  <a:srgbClr val="8C6239"/>
                </a:solidFill>
                <a:latin typeface="Calibri"/>
                <a:hlinkClick r:id="rId22">
                  <a:extLst>
                    <a:ext uri="{A12FA001-AC4F-418D-AE19-62706E023703}">
                      <ahyp:hlinkClr xmlns:ahyp="http://schemas.microsoft.com/office/drawing/2018/hyperlinkcolor" val="tx"/>
                    </a:ext>
                  </a:extLst>
                </a:hlinkClick>
              </a:rPr>
              <a:t>azykov@benchmarkintl.com</a:t>
            </a:r>
          </a:p>
        </p:txBody>
      </p:sp>
      <p:sp>
        <p:nvSpPr>
          <p:cNvPr id="108" name="Text: hess@benchmarkintl.com"/>
          <p:cNvSpPr txBox="1"/>
          <p:nvPr/>
        </p:nvSpPr>
        <p:spPr>
          <a:xfrm>
            <a:off x="8193733"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23">
                  <a:extLst>
                    <a:ext uri="{A12FA001-AC4F-418D-AE19-62706E023703}">
                      <ahyp:hlinkClr xmlns:ahyp="http://schemas.microsoft.com/office/drawing/2018/hyperlinkcolor" val="tx"/>
                    </a:ext>
                  </a:extLst>
                </a:hlinkClick>
              </a:rPr>
              <a:t>813-898-2397</a:t>
            </a:r>
            <a:br/>
            <a:r>
              <a:rPr sz="788" b="0" i="0" spc="15">
                <a:solidFill>
                  <a:srgbClr val="8C6239"/>
                </a:solidFill>
                <a:latin typeface="Calibri"/>
                <a:hlinkClick r:id="rId24">
                  <a:extLst>
                    <a:ext uri="{A12FA001-AC4F-418D-AE19-62706E023703}">
                      <ahyp:hlinkClr xmlns:ahyp="http://schemas.microsoft.com/office/drawing/2018/hyperlinkcolor" val="tx"/>
                    </a:ext>
                  </a:extLst>
                </a:hlinkClick>
              </a:rPr>
              <a:t>hess@benchmarkintl.com</a:t>
            </a:r>
          </a:p>
        </p:txBody>
      </p:sp>
      <p:sp>
        <p:nvSpPr>
          <p:cNvPr id="109" name="Text: garten@benchmarkintl.com"/>
          <p:cNvSpPr txBox="1"/>
          <p:nvPr/>
        </p:nvSpPr>
        <p:spPr>
          <a:xfrm>
            <a:off x="338137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5">
                  <a:extLst>
                    <a:ext uri="{A12FA001-AC4F-418D-AE19-62706E023703}">
                      <ahyp:hlinkClr xmlns:ahyp="http://schemas.microsoft.com/office/drawing/2018/hyperlinkcolor" val="tx"/>
                    </a:ext>
                  </a:extLst>
                </a:hlinkClick>
              </a:rPr>
              <a:t>813-898-2357</a:t>
            </a:r>
            <a:br/>
            <a:r>
              <a:rPr sz="675" b="0" i="0" spc="15">
                <a:solidFill>
                  <a:srgbClr val="8C6239"/>
                </a:solidFill>
                <a:latin typeface="Calibri"/>
                <a:hlinkClick r:id="rId26">
                  <a:extLst>
                    <a:ext uri="{A12FA001-AC4F-418D-AE19-62706E023703}">
                      <ahyp:hlinkClr xmlns:ahyp="http://schemas.microsoft.com/office/drawing/2018/hyperlinkcolor" val="tx"/>
                    </a:ext>
                  </a:extLst>
                </a:hlinkClick>
              </a:rPr>
              <a:t>garten@benchmarkintl.com</a:t>
            </a:r>
          </a:p>
        </p:txBody>
      </p:sp>
      <p:sp>
        <p:nvSpPr>
          <p:cNvPr id="110" name="Text: mwynn@benchmarkintl.com"/>
          <p:cNvSpPr txBox="1"/>
          <p:nvPr/>
        </p:nvSpPr>
        <p:spPr>
          <a:xfrm>
            <a:off x="576262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7">
                  <a:extLst>
                    <a:ext uri="{A12FA001-AC4F-418D-AE19-62706E023703}">
                      <ahyp:hlinkClr xmlns:ahyp="http://schemas.microsoft.com/office/drawing/2018/hyperlinkcolor" val="tx"/>
                    </a:ext>
                  </a:extLst>
                </a:hlinkClick>
              </a:rPr>
              <a:t>813-384-4972</a:t>
            </a:r>
            <a:br/>
            <a:r>
              <a:rPr sz="675" b="0" i="0" spc="15">
                <a:solidFill>
                  <a:srgbClr val="8C6239"/>
                </a:solidFill>
                <a:latin typeface="Calibri"/>
                <a:hlinkClick r:id="rId28">
                  <a:extLst>
                    <a:ext uri="{A12FA001-AC4F-418D-AE19-62706E023703}">
                      <ahyp:hlinkClr xmlns:ahyp="http://schemas.microsoft.com/office/drawing/2018/hyperlinkcolor" val="tx"/>
                    </a:ext>
                  </a:extLst>
                </a:hlinkClick>
              </a:rPr>
              <a:t>mwynn@benchmarkintl.com</a:t>
            </a:r>
          </a:p>
        </p:txBody>
      </p:sp>
      <p:sp>
        <p:nvSpPr>
          <p:cNvPr id="111" name="Text: jlisiak@benchmarkintl.com"/>
          <p:cNvSpPr txBox="1"/>
          <p:nvPr/>
        </p:nvSpPr>
        <p:spPr>
          <a:xfrm>
            <a:off x="8143875" y="439420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29">
                  <a:extLst>
                    <a:ext uri="{A12FA001-AC4F-418D-AE19-62706E023703}">
                      <ahyp:hlinkClr xmlns:ahyp="http://schemas.microsoft.com/office/drawing/2018/hyperlinkcolor" val="tx"/>
                    </a:ext>
                  </a:extLst>
                </a:hlinkClick>
              </a:rPr>
              <a:t>jlisiak@benchmarkintl.com</a:t>
            </a:r>
          </a:p>
        </p:txBody>
      </p:sp>
      <p:sp>
        <p:nvSpPr>
          <p:cNvPr id="112" name="Text: abarr@benchmarkintl.com"/>
          <p:cNvSpPr txBox="1"/>
          <p:nvPr/>
        </p:nvSpPr>
        <p:spPr>
          <a:xfrm>
            <a:off x="338137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0">
                  <a:extLst>
                    <a:ext uri="{A12FA001-AC4F-418D-AE19-62706E023703}">
                      <ahyp:hlinkClr xmlns:ahyp="http://schemas.microsoft.com/office/drawing/2018/hyperlinkcolor" val="tx"/>
                    </a:ext>
                  </a:extLst>
                </a:hlinkClick>
              </a:rPr>
              <a:t>813-387-6046</a:t>
            </a:r>
            <a:br/>
            <a:r>
              <a:rPr sz="675" b="0" i="0" spc="15">
                <a:solidFill>
                  <a:srgbClr val="8C6239"/>
                </a:solidFill>
                <a:latin typeface="Calibri"/>
                <a:hlinkClick r:id="rId31">
                  <a:extLst>
                    <a:ext uri="{A12FA001-AC4F-418D-AE19-62706E023703}">
                      <ahyp:hlinkClr xmlns:ahyp="http://schemas.microsoft.com/office/drawing/2018/hyperlinkcolor" val="tx"/>
                    </a:ext>
                  </a:extLst>
                </a:hlinkClick>
              </a:rPr>
              <a:t>abarr@benchmarkintl.com</a:t>
            </a:r>
          </a:p>
        </p:txBody>
      </p:sp>
      <p:sp>
        <p:nvSpPr>
          <p:cNvPr id="113" name="Text: jwarren@benchmarkintl.com"/>
          <p:cNvSpPr txBox="1"/>
          <p:nvPr/>
        </p:nvSpPr>
        <p:spPr>
          <a:xfrm>
            <a:off x="576262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2">
                  <a:extLst>
                    <a:ext uri="{A12FA001-AC4F-418D-AE19-62706E023703}">
                      <ahyp:hlinkClr xmlns:ahyp="http://schemas.microsoft.com/office/drawing/2018/hyperlinkcolor" val="tx"/>
                    </a:ext>
                  </a:extLst>
                </a:hlinkClick>
              </a:rPr>
              <a:t>813-898-2398</a:t>
            </a:r>
            <a:br/>
            <a:r>
              <a:rPr sz="675" b="0" i="0" spc="15">
                <a:solidFill>
                  <a:srgbClr val="8C6239"/>
                </a:solidFill>
                <a:latin typeface="Calibri"/>
                <a:hlinkClick r:id="rId33">
                  <a:extLst>
                    <a:ext uri="{A12FA001-AC4F-418D-AE19-62706E023703}">
                      <ahyp:hlinkClr xmlns:ahyp="http://schemas.microsoft.com/office/drawing/2018/hyperlinkcolor" val="tx"/>
                    </a:ext>
                  </a:extLst>
                </a:hlinkClick>
              </a:rPr>
              <a:t>jwarren@benchmarkintl.com</a:t>
            </a:r>
          </a:p>
        </p:txBody>
      </p:sp>
      <p:sp>
        <p:nvSpPr>
          <p:cNvPr id="114" name="Text: lernst@benchmarkintl.com"/>
          <p:cNvSpPr txBox="1"/>
          <p:nvPr/>
        </p:nvSpPr>
        <p:spPr>
          <a:xfrm>
            <a:off x="8143875" y="5251450"/>
            <a:ext cx="1419225" cy="304800"/>
          </a:xfrm>
          <a:prstGeom prst="rect">
            <a:avLst/>
          </a:prstGeom>
          <a:noFill/>
        </p:spPr>
        <p:txBody>
          <a:bodyPr wrap="square" lIns="0" tIns="0" rIns="0" bIns="0" anchor="t">
            <a:spAutoFit/>
          </a:bodyPr>
          <a:lstStyle/>
          <a:p>
            <a:pPr algn="l">
              <a:lnSpc>
                <a:spcPts val="850"/>
              </a:lnSpc>
            </a:pPr>
            <a:r>
              <a:rPr sz="675" b="0" i="0" spc="15">
                <a:solidFill>
                  <a:srgbClr val="8C6239"/>
                </a:solidFill>
                <a:latin typeface="Calibri"/>
                <a:hlinkClick r:id="rId34">
                  <a:extLst>
                    <a:ext uri="{A12FA001-AC4F-418D-AE19-62706E023703}">
                      <ahyp:hlinkClr xmlns:ahyp="http://schemas.microsoft.com/office/drawing/2018/hyperlinkcolor" val="tx"/>
                    </a:ext>
                  </a:extLst>
                </a:hlinkClick>
              </a:rPr>
              <a:t>813-771-6318</a:t>
            </a:r>
            <a:br/>
            <a:r>
              <a:rPr sz="675" b="0" i="0" spc="15">
                <a:solidFill>
                  <a:srgbClr val="8C6239"/>
                </a:solidFill>
                <a:latin typeface="Calibri"/>
                <a:hlinkClick r:id="rId35">
                  <a:extLst>
                    <a:ext uri="{A12FA001-AC4F-418D-AE19-62706E023703}">
                      <ahyp:hlinkClr xmlns:ahyp="http://schemas.microsoft.com/office/drawing/2018/hyperlinkcolor" val="tx"/>
                    </a:ext>
                  </a:extLst>
                </a:hlinkClick>
              </a:rPr>
              <a:t>lernst@benchmarkintl.com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Benchmark International"/>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 The world's leading privately own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world's leading privately owned sell-side M&amp;A advisor, with its Middle Market team focused on five sectors.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9" descr="Benchmark International"/>
          <p:cNvPicPr>
            <a:picLocks noChangeAspect="1"/>
          </p:cNvPicPr>
          <p:nvPr/>
        </p:nvPicPr>
        <p:blipFill>
          <a:blip r:embed="rId3"/>
          <a:srcRect/>
          <a:stretch>
            <a:fillRect/>
          </a:stretch>
        </p:blipFill>
        <p:spPr>
          <a:xfrm>
            <a:off x="685800" y="1466850"/>
            <a:ext cx="2381250" cy="447675"/>
          </a:xfrm>
          <a:prstGeom prst="rect">
            <a:avLst/>
          </a:prstGeom>
        </p:spPr>
      </p:pic>
      <p:sp>
        <p:nvSpPr>
          <p:cNvPr id="11" name="Text: Benchmark Capital Markets (BCM), p"/>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The Middle Market team, part of Benchmark International, advises owners of privately held companies on sales, recapitalizations and growth partnerships across five sectors.</a:t>
            </a:r>
          </a:p>
        </p:txBody>
      </p:sp>
      <p:sp>
        <p:nvSpPr>
          <p:cNvPr id="12" name="Rectangle 11"/>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 #1"/>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 Privately owned sell-side M&amp;A advi"/>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Rectangle 14"/>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 $50M to $500M"/>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 Total enterprise value range the B"/>
          <p:cNvSpPr txBox="1"/>
          <p:nvPr/>
        </p:nvSpPr>
        <p:spPr>
          <a:xfrm>
            <a:off x="2779514" y="2552700"/>
            <a:ext cx="2267248" cy="1524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Total enterprise value range the Middle Market team serves</a:t>
            </a:r>
          </a:p>
        </p:txBody>
      </p:sp>
      <p:sp>
        <p:nvSpPr>
          <p:cNvPr id="18" name="Rectangle 17"/>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 5"/>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 Focused industry groups with dedic"/>
          <p:cNvSpPr txBox="1"/>
          <p:nvPr/>
        </p:nvSpPr>
        <p:spPr>
          <a:xfrm>
            <a:off x="5384899"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Focused sector groups with dedicated expertise</a:t>
            </a:r>
          </a:p>
        </p:txBody>
      </p:sp>
      <p:sp>
        <p:nvSpPr>
          <p:cNvPr id="21" name="Rectangle 20"/>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 15"/>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 Global offices across the Americas"/>
          <p:cNvSpPr txBox="1"/>
          <p:nvPr/>
        </p:nvSpPr>
        <p:spPr>
          <a:xfrm>
            <a:off x="7469237" y="2552700"/>
            <a:ext cx="1746200" cy="3048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Global offices across the Americas, Europe and Africa</a:t>
            </a:r>
          </a:p>
        </p:txBody>
      </p:sp>
      <p:sp>
        <p:nvSpPr>
          <p:cNvPr id="24" name="Text: RECOGNITION"/>
          <p:cNvSpPr txBox="1"/>
          <p:nvPr/>
        </p:nvSpPr>
        <p:spPr>
          <a:xfrm>
            <a:off x="419100" y="3714750"/>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RECOGNITION</a:t>
            </a:r>
          </a:p>
        </p:txBody>
      </p:sp>
      <p:sp>
        <p:nvSpPr>
          <p:cNvPr id="25" name="Rectangle 24"/>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Rectangle 25"/>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Rectangle 26"/>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Rectangle 27"/>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Rectangle 28"/>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29" descr="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Rectangle 30"/>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Rectangle 31"/>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Rectangle 32"/>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Rectangle 33"/>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Rectangle 34"/>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35" descr="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Rectangle 36"/>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Rectangle 37"/>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Rectangle 38"/>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Rectangle 39"/>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Rectangle 40"/>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41" descr="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Rectangle 42"/>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Rectangle 43"/>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Rectangle 44"/>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47" descr="DealMakers: first in the category of investment advisers by deal flow, unlisted deals"/>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 FIVE INDUSTRY GROUPS"/>
          <p:cNvSpPr txBox="1"/>
          <p:nvPr/>
        </p:nvSpPr>
        <p:spPr>
          <a:xfrm>
            <a:off x="419100" y="6143625"/>
            <a:ext cx="9234488" cy="123825"/>
          </a:xfrm>
          <a:prstGeom prst="rect">
            <a:avLst/>
          </a:prstGeom>
          <a:noFill/>
        </p:spPr>
        <p:txBody>
          <a:bodyPr wrap="square" lIns="0" tIns="0" rIns="0" bIns="0" anchor="t">
            <a:spAutoFit/>
          </a:bodyPr>
          <a:lstStyle/>
          <a:p>
            <a:pPr algn="l">
              <a:lnSpc>
                <a:spcPts val="975"/>
              </a:lnSpc>
            </a:pPr>
            <a:r>
              <a:rPr sz="675" b="1" i="0" spc="150">
                <a:solidFill>
                  <a:srgbClr val="8C6239"/>
                </a:solidFill>
                <a:latin typeface="Calibri"/>
              </a:rPr>
              <a:t>FIVE SECTOR GROUPS</a:t>
            </a:r>
          </a:p>
        </p:txBody>
      </p:sp>
      <p:sp>
        <p:nvSpPr>
          <p:cNvPr id="50" name="Rectangle 49"/>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Rectangle 50"/>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51" descr="v522f0581771e.png"/>
          <p:cNvPicPr>
            <a:picLocks noChangeAspect="1"/>
          </p:cNvPicPr>
          <p:nvPr/>
        </p:nvPicPr>
        <p:blipFill>
          <a:blip r:embed="rId8"/>
          <a:stretch>
            <a:fillRect/>
          </a:stretch>
        </p:blipFill>
        <p:spPr>
          <a:xfrm>
            <a:off x="533400" y="6515100"/>
            <a:ext cx="285750" cy="285750"/>
          </a:xfrm>
          <a:prstGeom prst="rect">
            <a:avLst/>
          </a:prstGeom>
        </p:spPr>
      </p:pic>
      <p:sp>
        <p:nvSpPr>
          <p:cNvPr id="53" name="Text: INDUSTRIAL"/>
          <p:cNvSpPr txBox="1"/>
          <p:nvPr/>
        </p:nvSpPr>
        <p:spPr>
          <a:xfrm>
            <a:off x="914400" y="6593681"/>
            <a:ext cx="616744"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INDUSTRIAL</a:t>
            </a:r>
          </a:p>
        </p:txBody>
      </p:sp>
      <p:sp>
        <p:nvSpPr>
          <p:cNvPr id="54" name="Rectangle 53"/>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Rectangle 54"/>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55" descr="v9c75e8daf817.png"/>
          <p:cNvPicPr>
            <a:picLocks noChangeAspect="1"/>
          </p:cNvPicPr>
          <p:nvPr/>
        </p:nvPicPr>
        <p:blipFill>
          <a:blip r:embed="rId9"/>
          <a:stretch>
            <a:fillRect/>
          </a:stretch>
        </p:blipFill>
        <p:spPr>
          <a:xfrm>
            <a:off x="2400300" y="6515100"/>
            <a:ext cx="285750" cy="285750"/>
          </a:xfrm>
          <a:prstGeom prst="rect">
            <a:avLst/>
          </a:prstGeom>
        </p:spPr>
      </p:pic>
      <p:sp>
        <p:nvSpPr>
          <p:cNvPr id="57" name="Text: BUSINESS SERVICES"/>
          <p:cNvSpPr txBox="1"/>
          <p:nvPr/>
        </p:nvSpPr>
        <p:spPr>
          <a:xfrm>
            <a:off x="2781300" y="6593681"/>
            <a:ext cx="99729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BUSINESS SERVICES</a:t>
            </a:r>
          </a:p>
        </p:txBody>
      </p:sp>
      <p:sp>
        <p:nvSpPr>
          <p:cNvPr id="58" name="Rectangle 57"/>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Rectangle 58"/>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59" descr="vd5b95728390b.png"/>
          <p:cNvPicPr>
            <a:picLocks noChangeAspect="1"/>
          </p:cNvPicPr>
          <p:nvPr/>
        </p:nvPicPr>
        <p:blipFill>
          <a:blip r:embed="rId10"/>
          <a:stretch>
            <a:fillRect/>
          </a:stretch>
        </p:blipFill>
        <p:spPr>
          <a:xfrm>
            <a:off x="4267200" y="6515100"/>
            <a:ext cx="285750" cy="285750"/>
          </a:xfrm>
          <a:prstGeom prst="rect">
            <a:avLst/>
          </a:prstGeom>
        </p:spPr>
      </p:pic>
      <p:sp>
        <p:nvSpPr>
          <p:cNvPr id="61" name="Text: CONSUMER"/>
          <p:cNvSpPr txBox="1"/>
          <p:nvPr/>
        </p:nvSpPr>
        <p:spPr>
          <a:xfrm>
            <a:off x="4648200" y="6593681"/>
            <a:ext cx="580876"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CONSUMER</a:t>
            </a:r>
          </a:p>
        </p:txBody>
      </p:sp>
      <p:sp>
        <p:nvSpPr>
          <p:cNvPr id="62" name="Rectangle 61"/>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Rectangle 62"/>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63" descr="v2db814d26f18.png"/>
          <p:cNvPicPr>
            <a:picLocks noChangeAspect="1"/>
          </p:cNvPicPr>
          <p:nvPr/>
        </p:nvPicPr>
        <p:blipFill>
          <a:blip r:embed="rId11"/>
          <a:stretch>
            <a:fillRect/>
          </a:stretch>
        </p:blipFill>
        <p:spPr>
          <a:xfrm>
            <a:off x="6134100" y="6515100"/>
            <a:ext cx="285750" cy="285750"/>
          </a:xfrm>
          <a:prstGeom prst="rect">
            <a:avLst/>
          </a:prstGeom>
        </p:spPr>
      </p:pic>
      <p:sp>
        <p:nvSpPr>
          <p:cNvPr id="65" name="Text: HEALTHCARE"/>
          <p:cNvSpPr txBox="1"/>
          <p:nvPr/>
        </p:nvSpPr>
        <p:spPr>
          <a:xfrm>
            <a:off x="6515100" y="6593681"/>
            <a:ext cx="650081"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HEALTHCARE</a:t>
            </a:r>
          </a:p>
        </p:txBody>
      </p:sp>
      <p:sp>
        <p:nvSpPr>
          <p:cNvPr id="66" name="Rectangle 65"/>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Rectangle 66"/>
          <p:cNvSpPr/>
          <p:nvPr/>
        </p:nvSpPr>
        <p:spPr>
          <a:xfrm>
            <a:off x="7886700" y="6353175"/>
            <a:ext cx="1752600" cy="28575"/>
          </a:xfrm>
          <a:prstGeom prst="rect">
            <a:avLst/>
          </a:prstGeom>
          <a:solidFill>
            <a:srgbClr val="1B1A1A"/>
          </a:solidFill>
          <a:ln>
            <a:noFill/>
          </a:ln>
          <a:effectLst/>
        </p:spPr>
        <p:txBody>
          <a:bodyPr rtlCol="0" anchor="ctr"/>
          <a:lstStyle/>
          <a:p>
            <a:pPr algn="ctr"/>
            <a:endParaRPr/>
          </a:p>
        </p:txBody>
      </p:sp>
      <p:pic>
        <p:nvPicPr>
          <p:cNvPr id="68" name="Picture 67" descr="vdae12738fcf4.png"/>
          <p:cNvPicPr>
            <a:picLocks noChangeAspect="1"/>
          </p:cNvPicPr>
          <p:nvPr/>
        </p:nvPicPr>
        <p:blipFill>
          <a:blip r:embed="rId12"/>
          <a:stretch>
            <a:fillRect/>
          </a:stretch>
        </p:blipFill>
        <p:spPr>
          <a:xfrm>
            <a:off x="8001000" y="6515100"/>
            <a:ext cx="285750" cy="285750"/>
          </a:xfrm>
          <a:prstGeom prst="rect">
            <a:avLst/>
          </a:prstGeom>
        </p:spPr>
      </p:pic>
      <p:sp>
        <p:nvSpPr>
          <p:cNvPr id="69" name="Text: TECHNOLOGY"/>
          <p:cNvSpPr txBox="1"/>
          <p:nvPr/>
        </p:nvSpPr>
        <p:spPr>
          <a:xfrm>
            <a:off x="8382000" y="6593681"/>
            <a:ext cx="679847" cy="128588"/>
          </a:xfrm>
          <a:prstGeom prst="rect">
            <a:avLst/>
          </a:prstGeom>
          <a:noFill/>
        </p:spPr>
        <p:txBody>
          <a:bodyPr wrap="square" lIns="0" tIns="0" rIns="0" bIns="0" anchor="t">
            <a:spAutoFit/>
          </a:bodyPr>
          <a:lstStyle/>
          <a:p>
            <a:pPr algn="l">
              <a:lnSpc>
                <a:spcPts val="1011"/>
              </a:lnSpc>
            </a:pPr>
            <a:r>
              <a:rPr sz="750" b="1" i="0" spc="98">
                <a:solidFill>
                  <a:srgbClr val="1B1A1A"/>
                </a:solidFill>
                <a:latin typeface="Calibri"/>
              </a:rPr>
              <a:t>TECHNOLOGY</a:t>
            </a:r>
          </a:p>
        </p:txBody>
      </p:sp>
      <p:sp>
        <p:nvSpPr>
          <p:cNvPr id="70" name="Rectangle 6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70" descr="Benchmark International"/>
          <p:cNvPicPr>
            <a:picLocks noChangeAspect="1"/>
          </p:cNvPicPr>
          <p:nvPr/>
        </p:nvPicPr>
        <p:blipFill>
          <a:blip r:embed="rId13"/>
          <a:srcRect/>
          <a:stretch>
            <a:fillRect/>
          </a:stretch>
        </p:blipFill>
        <p:spPr>
          <a:xfrm>
            <a:off x="419100" y="7143750"/>
            <a:ext cx="914400" cy="171450"/>
          </a:xfrm>
          <a:prstGeom prst="rect">
            <a:avLst/>
          </a:prstGeom>
        </p:spPr>
      </p:pic>
      <p:sp>
        <p:nvSpPr>
          <p:cNvPr id="72" name="Text: Ranking based on PitchBook's Q2 20"/>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Ranking based on PitchBook's Q2 2026 Global League Tables, as published at </a:t>
            </a:r>
            <a:r>
              <a:rPr sz="675" b="0" i="0" spc="8">
                <a:solidFill>
                  <a:srgbClr val="8C6239"/>
                </a:solidFill>
                <a:latin typeface="Calibri"/>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Calibri"/>
              </a:rPr>
              <a:t>. Awards as shown on the Middle Market site.</a:t>
            </a:r>
          </a:p>
        </p:txBody>
      </p:sp>
      <p:sp>
        <p:nvSpPr>
          <p:cNvPr id="73" name="Text: 21"/>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Important Disclosur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6" name="Text: Please read these notes together w"/>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Please read these notes together with the brief.</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Benchmark International” refers t"/>
          <p:cNvSpPr txBox="1"/>
          <p:nvPr/>
        </p:nvSpPr>
        <p:spPr>
          <a:xfrm>
            <a:off x="419100" y="1238250"/>
            <a:ext cx="9220200" cy="3352800"/>
          </a:xfrm>
          <a:prstGeom prst="rect">
            <a:avLst/>
          </a:prstGeom>
          <a:noFill/>
        </p:spPr>
        <p:txBody>
          <a:bodyPr wrap="square" lIns="0" tIns="0" rIns="0" bIns="0" numCol="3" spcCol="285750" anchor="t">
            <a:spAutoFit/>
          </a:bodyPr>
          <a:lstStyle/>
          <a:p>
            <a:pPr algn="l">
              <a:lnSpc>
                <a:spcPts val="1200"/>
              </a:lnSpc>
              <a:spcAft>
                <a:spcPts val="750"/>
              </a:spcAft>
            </a:pPr>
            <a:r>
              <a:rPr sz="788" b="0" i="0" spc="15">
                <a:solidFill>
                  <a:srgbClr val="333231"/>
                </a:solidFill>
                <a:latin typeface="Calibri"/>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Aft>
                <a:spcPts val="750"/>
              </a:spcAft>
            </a:pPr>
            <a:r>
              <a:rPr sz="788" b="0" i="0" spc="15">
                <a:solidFill>
                  <a:srgbClr val="333231"/>
                </a:solidFill>
                <a:latin typeface="Calibri"/>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Aft>
                <a:spcPts val="750"/>
              </a:spcAft>
            </a:pPr>
            <a:r>
              <a:rPr sz="788" b="0" i="0" spc="15">
                <a:solidFill>
                  <a:srgbClr val="333231"/>
                </a:solidFill>
                <a:latin typeface="Calibri"/>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Aft>
                <a:spcPts val="750"/>
              </a:spcAft>
            </a:pPr>
            <a:r>
              <a:rPr sz="788" b="0" i="0" spc="15">
                <a:solidFill>
                  <a:srgbClr val="333231"/>
                </a:solidFill>
                <a:latin typeface="Calibri"/>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Aft>
                <a:spcPts val="750"/>
              </a:spcAft>
            </a:pPr>
            <a:r>
              <a:rPr sz="788" b="0" i="0" spc="15">
                <a:solidFill>
                  <a:srgbClr val="333231"/>
                </a:solidFill>
                <a:latin typeface="Calibri"/>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Aft>
                <a:spcPts val="750"/>
              </a:spcAft>
            </a:pPr>
            <a:r>
              <a:rPr sz="788" b="0" i="0" spc="15">
                <a:solidFill>
                  <a:srgbClr val="333231"/>
                </a:solidFill>
                <a:latin typeface="Calibri"/>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Benchmark Capital Markets (BCM), 4"/>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Benchmark International Middle Market, 4030 West Boy Scout Blvd., Suite 500, Tampa, FL 33607.</a:t>
            </a:r>
          </a:p>
        </p:txBody>
      </p:sp>
      <p:sp>
        <p:nvSpPr>
          <p:cNvPr id="12" name="Text: 22"/>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Provider Se"/>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Provider Services and Life Sciences &amp; Diagnostics.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17207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PROVIDER SERVICES</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HCA Healthcare</a:t>
                      </a:r>
                      <a:r>
                        <a:rPr sz="750" b="0" i="0">
                          <a:solidFill>
                            <a:srgbClr val="333231"/>
                          </a:solidFill>
                          <a:latin typeface="Calibri"/>
                        </a:rPr>
                        <a:t> </a:t>
                      </a:r>
                      <a:r>
                        <a:rPr sz="638" b="0" i="0">
                          <a:solidFill>
                            <a:srgbClr val="6F6A66"/>
                          </a:solidFill>
                          <a:latin typeface="Calibri"/>
                        </a:rPr>
                        <a:t>HCA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93,570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42.6%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Tenet Healthcare</a:t>
                      </a:r>
                      <a:r>
                        <a:rPr sz="750" b="0" i="0">
                          <a:solidFill>
                            <a:srgbClr val="333231"/>
                          </a:solidFill>
                          <a:latin typeface="Calibri"/>
                        </a:rPr>
                        <a:t> </a:t>
                      </a:r>
                      <a:r>
                        <a:rPr sz="638" b="0" i="0">
                          <a:solidFill>
                            <a:srgbClr val="6F6A66"/>
                          </a:solidFill>
                          <a:latin typeface="Calibri"/>
                        </a:rPr>
                        <a:t>THC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20,810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U.S. Physical Therapy</a:t>
                      </a:r>
                      <a:r>
                        <a:rPr sz="750" b="0" i="0">
                          <a:solidFill>
                            <a:srgbClr val="333231"/>
                          </a:solidFill>
                          <a:latin typeface="Calibri"/>
                        </a:rPr>
                        <a:t> </a:t>
                      </a:r>
                      <a:r>
                        <a:rPr sz="638" b="0" i="0">
                          <a:solidFill>
                            <a:srgbClr val="6F6A66"/>
                          </a:solidFill>
                          <a:latin typeface="Calibri"/>
                        </a:rPr>
                        <a:t>USPH†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DaVita</a:t>
                      </a:r>
                      <a:r>
                        <a:rPr sz="750" b="0" i="0">
                          <a:solidFill>
                            <a:srgbClr val="333231"/>
                          </a:solidFill>
                          <a:latin typeface="Calibri"/>
                        </a:rPr>
                        <a:t> </a:t>
                      </a:r>
                      <a:r>
                        <a:rPr sz="638" b="0" i="0">
                          <a:solidFill>
                            <a:srgbClr val="6F6A66"/>
                          </a:solidFill>
                          <a:latin typeface="Calibri"/>
                        </a:rPr>
                        <a:t>DVA</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Addus HomeCare</a:t>
                      </a:r>
                      <a:r>
                        <a:rPr sz="750" b="0" i="0">
                          <a:solidFill>
                            <a:srgbClr val="333231"/>
                          </a:solidFill>
                          <a:latin typeface="Calibri"/>
                        </a:rPr>
                        <a:t> </a:t>
                      </a:r>
                      <a:r>
                        <a:rPr sz="638" b="0" i="0">
                          <a:solidFill>
                            <a:srgbClr val="6F6A66"/>
                          </a:solidFill>
                          <a:latin typeface="Calibri"/>
                        </a:rPr>
                        <a:t>ADUS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Pennant Group</a:t>
                      </a:r>
                      <a:r>
                        <a:rPr sz="750" b="0" i="0">
                          <a:solidFill>
                            <a:srgbClr val="333231"/>
                          </a:solidFill>
                          <a:latin typeface="Calibri"/>
                        </a:rPr>
                        <a:t> </a:t>
                      </a:r>
                      <a:r>
                        <a:rPr sz="638" b="0" i="0">
                          <a:solidFill>
                            <a:srgbClr val="6F6A66"/>
                          </a:solidFill>
                          <a:latin typeface="Calibri"/>
                        </a:rPr>
                        <a:t>PNTG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23.6x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Acadia Healthcare</a:t>
                      </a:r>
                      <a:r>
                        <a:rPr sz="750" b="0" i="0">
                          <a:solidFill>
                            <a:srgbClr val="333231"/>
                          </a:solidFill>
                          <a:latin typeface="Calibri"/>
                        </a:rPr>
                        <a:t> </a:t>
                      </a:r>
                      <a:r>
                        <a:rPr sz="638" b="0" i="0">
                          <a:solidFill>
                            <a:srgbClr val="6F6A66"/>
                          </a:solidFill>
                          <a:latin typeface="Calibri"/>
                        </a:rPr>
                        <a:t>ACHC</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LifeStance Health</a:t>
                      </a:r>
                      <a:r>
                        <a:rPr sz="750" b="0" i="0">
                          <a:solidFill>
                            <a:srgbClr val="333231"/>
                          </a:solidFill>
                          <a:latin typeface="Calibri"/>
                        </a:rPr>
                        <a:t> </a:t>
                      </a:r>
                      <a:r>
                        <a:rPr sz="638" b="0" i="0">
                          <a:solidFill>
                            <a:srgbClr val="6F6A66"/>
                          </a:solidFill>
                          <a:latin typeface="Calibri"/>
                        </a:rPr>
                        <a:t>LFST†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4,870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+123.4%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38.0x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Privia Health</a:t>
                      </a:r>
                      <a:r>
                        <a:rPr sz="750" b="0" i="0">
                          <a:solidFill>
                            <a:srgbClr val="333231"/>
                          </a:solidFill>
                          <a:latin typeface="Calibri"/>
                        </a:rPr>
                        <a:t> </a:t>
                      </a:r>
                      <a:r>
                        <a:rPr sz="638" b="0" i="0">
                          <a:solidFill>
                            <a:srgbClr val="6F6A66"/>
                          </a:solidFill>
                          <a:latin typeface="Calibri"/>
                        </a:rPr>
                        <a:t>PRVA†</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0.93x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38.7x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73.0x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Concentra</a:t>
                      </a:r>
                      <a:r>
                        <a:rPr sz="750" b="0" i="0">
                          <a:solidFill>
                            <a:srgbClr val="333231"/>
                          </a:solidFill>
                          <a:latin typeface="Calibri"/>
                        </a:rPr>
                        <a:t> </a:t>
                      </a:r>
                      <a:r>
                        <a:rPr sz="638" b="0" i="0">
                          <a:solidFill>
                            <a:srgbClr val="6F6A66"/>
                          </a:solidFill>
                          <a:latin typeface="Calibri"/>
                        </a:rPr>
                        <a:t>CON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6,600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+74.5%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2.89x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00025">
                <a:tc>
                  <a:txBody>
                    <a:bodyPr/>
                    <a:lstStyle/>
                    <a:p>
                      <a:pPr algn="l">
                        <a:lnSpc>
                          <a:spcPts val="900"/>
                        </a:lnSpc>
                      </a:pPr>
                      <a:r>
                        <a:rPr sz="750" b="1" i="0">
                          <a:solidFill>
                            <a:srgbClr val="333231"/>
                          </a:solidFill>
                          <a:latin typeface="Calibri"/>
                        </a:rPr>
                        <a:t>Ensign Group</a:t>
                      </a:r>
                      <a:r>
                        <a:rPr sz="750" b="0" i="0">
                          <a:solidFill>
                            <a:srgbClr val="333231"/>
                          </a:solidFill>
                          <a:latin typeface="Calibri"/>
                        </a:rPr>
                        <a:t> </a:t>
                      </a:r>
                      <a:r>
                        <a:rPr sz="638" b="0" i="0">
                          <a:solidFill>
                            <a:srgbClr val="6F6A66"/>
                          </a:solidFill>
                          <a:latin typeface="Calibri"/>
                        </a:rPr>
                        <a:t>ENSG</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9,990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11,920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2"/>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+6.5%</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32.0%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1.73x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11.3x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11.2x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3"/>
                  </a:ext>
                </a:extLst>
              </a:tr>
              <a:tr h="228600">
                <a:tc gridSpan="11">
                  <a:txBody>
                    <a:bodyPr/>
                    <a:lstStyle/>
                    <a:p>
                      <a:pPr algn="l">
                        <a:lnSpc>
                          <a:spcPts val="900"/>
                        </a:lnSpc>
                      </a:pPr>
                      <a:r>
                        <a:rPr sz="675" b="1" i="0" spc="135">
                          <a:solidFill>
                            <a:srgbClr val="FFFFFF"/>
                          </a:solidFill>
                          <a:latin typeface="Calibri"/>
                        </a:rPr>
                        <a:t>LIFE SCIENCES &amp; DIAGNOSTICS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Labcorp</a:t>
                      </a:r>
                      <a:r>
                        <a:rPr sz="750" b="0" i="0">
                          <a:solidFill>
                            <a:srgbClr val="333231"/>
                          </a:solidFill>
                          <a:latin typeface="Calibri"/>
                        </a:rPr>
                        <a:t> </a:t>
                      </a:r>
                      <a:r>
                        <a:rPr sz="638" b="0" i="0">
                          <a:solidFill>
                            <a:srgbClr val="6F6A66"/>
                          </a:solidFill>
                          <a:latin typeface="Calibri"/>
                        </a:rPr>
                        <a:t>LH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25,030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31,710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Quest Diagnostics</a:t>
                      </a:r>
                      <a:r>
                        <a:rPr sz="750" b="0" i="0">
                          <a:solidFill>
                            <a:srgbClr val="333231"/>
                          </a:solidFill>
                          <a:latin typeface="Calibri"/>
                        </a:rPr>
                        <a:t> </a:t>
                      </a:r>
                      <a:r>
                        <a:rPr sz="638" b="0" i="0">
                          <a:solidFill>
                            <a:srgbClr val="6F6A66"/>
                          </a:solidFill>
                          <a:latin typeface="Calibri"/>
                        </a:rPr>
                        <a:t>DGX</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12.8x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Thermo Fisher Scientific</a:t>
                      </a:r>
                      <a:r>
                        <a:rPr sz="750" b="0" i="0">
                          <a:solidFill>
                            <a:srgbClr val="333231"/>
                          </a:solidFill>
                          <a:latin typeface="Calibri"/>
                        </a:rPr>
                        <a:t> </a:t>
                      </a:r>
                      <a:r>
                        <a:rPr sz="638" b="0" i="0">
                          <a:solidFill>
                            <a:srgbClr val="6F6A66"/>
                          </a:solidFill>
                          <a:latin typeface="Calibri"/>
                        </a:rPr>
                        <a:t>TMO</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242,770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281,250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25.3%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6.07x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18.6x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Danaher</a:t>
                      </a:r>
                      <a:r>
                        <a:rPr sz="750" b="0" i="0">
                          <a:solidFill>
                            <a:srgbClr val="333231"/>
                          </a:solidFill>
                          <a:latin typeface="Calibri"/>
                        </a:rPr>
                        <a:t> </a:t>
                      </a:r>
                      <a:r>
                        <a:rPr sz="638" b="0" i="0">
                          <a:solidFill>
                            <a:srgbClr val="6F6A66"/>
                          </a:solidFill>
                          <a:latin typeface="Calibri"/>
                        </a:rPr>
                        <a:t>DHR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151,570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6.97x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19.3x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Bio-Techne</a:t>
                      </a:r>
                      <a:r>
                        <a:rPr sz="750" b="0" i="0">
                          <a:solidFill>
                            <a:srgbClr val="333231"/>
                          </a:solidFill>
                          <a:latin typeface="Calibri"/>
                        </a:rPr>
                        <a:t> </a:t>
                      </a:r>
                      <a:r>
                        <a:rPr sz="638" b="0" i="0">
                          <a:solidFill>
                            <a:srgbClr val="6F6A66"/>
                          </a:solidFill>
                          <a:latin typeface="Calibri"/>
                        </a:rPr>
                        <a:t>TECH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11,380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27.3x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IQVIA</a:t>
                      </a:r>
                      <a:r>
                        <a:rPr sz="750" b="0" i="0">
                          <a:solidFill>
                            <a:srgbClr val="333231"/>
                          </a:solidFill>
                          <a:latin typeface="Calibri"/>
                        </a:rPr>
                        <a:t> </a:t>
                      </a:r>
                      <a:r>
                        <a:rPr sz="638" b="0" i="0">
                          <a:solidFill>
                            <a:srgbClr val="6F6A66"/>
                          </a:solidFill>
                          <a:latin typeface="Calibri"/>
                        </a:rPr>
                        <a:t>IQV</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42,790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56,970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Medpace</a:t>
                      </a:r>
                      <a:r>
                        <a:rPr sz="750" b="0" i="0">
                          <a:solidFill>
                            <a:srgbClr val="333231"/>
                          </a:solidFill>
                          <a:latin typeface="Calibri"/>
                        </a:rPr>
                        <a:t> </a:t>
                      </a:r>
                      <a:r>
                        <a:rPr sz="638" b="0" i="0">
                          <a:solidFill>
                            <a:srgbClr val="6F6A66"/>
                          </a:solidFill>
                          <a:latin typeface="Calibri"/>
                        </a:rPr>
                        <a:t>MEDP</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17,320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27.8x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1"/>
                  </a:ext>
                </a:extLst>
              </a:tr>
              <a:tr h="200025">
                <a:tc>
                  <a:txBody>
                    <a:bodyPr/>
                    <a:lstStyle/>
                    <a:p>
                      <a:pPr algn="l">
                        <a:lnSpc>
                          <a:spcPts val="900"/>
                        </a:lnSpc>
                      </a:pPr>
                      <a:r>
                        <a:rPr sz="750" b="1" i="0">
                          <a:solidFill>
                            <a:srgbClr val="333231"/>
                          </a:solidFill>
                          <a:latin typeface="Calibri"/>
                        </a:rPr>
                        <a:t>ICON</a:t>
                      </a:r>
                      <a:r>
                        <a:rPr sz="750" b="0" i="0">
                          <a:solidFill>
                            <a:srgbClr val="333231"/>
                          </a:solidFill>
                          <a:latin typeface="Calibri"/>
                        </a:rPr>
                        <a:t> </a:t>
                      </a:r>
                      <a:r>
                        <a:rPr sz="638" b="0" i="0">
                          <a:solidFill>
                            <a:srgbClr val="6F6A66"/>
                          </a:solidFill>
                          <a:latin typeface="Calibri"/>
                        </a:rPr>
                        <a:t>ICLR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15,080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23.9%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29.0x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2"/>
                  </a:ext>
                </a:extLst>
              </a:tr>
              <a:tr h="200025">
                <a:tc>
                  <a:txBody>
                    <a:bodyPr/>
                    <a:lstStyle/>
                    <a:p>
                      <a:pPr algn="l">
                        <a:lnSpc>
                          <a:spcPts val="900"/>
                        </a:lnSpc>
                      </a:pPr>
                      <a:r>
                        <a:rPr sz="750" b="1" i="0">
                          <a:solidFill>
                            <a:srgbClr val="333231"/>
                          </a:solidFill>
                          <a:latin typeface="Calibri"/>
                        </a:rPr>
                        <a:t>Charles River Laboratories</a:t>
                      </a:r>
                      <a:r>
                        <a:rPr sz="750" b="0" i="0">
                          <a:solidFill>
                            <a:srgbClr val="333231"/>
                          </a:solidFill>
                          <a:latin typeface="Calibri"/>
                        </a:rPr>
                        <a:t> </a:t>
                      </a:r>
                      <a:r>
                        <a:rPr sz="638" b="0" i="0">
                          <a:solidFill>
                            <a:srgbClr val="6F6A66"/>
                          </a:solidFill>
                          <a:latin typeface="Calibri"/>
                        </a:rPr>
                        <a:t>CRL</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14,560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17,400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4.35x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+20.8%</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7.2%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34.6%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4.35x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21.8x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14.5x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3"/>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Appendix: Public Market Operating "/>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 As of October 7, 2026. Medical Pro"/>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As of October 7, 2026. Medical Products &amp; Distribution and Pharmacy &amp; Healthcare Services. The total covers all 38 companies.</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editable)"/>
          <p:cNvGraphicFramePr>
            <a:graphicFrameLocks noGrp="1"/>
          </p:cNvGraphicFramePr>
          <p:nvPr/>
        </p:nvGraphicFramePr>
        <p:xfrm>
          <a:off x="419100" y="1238250"/>
          <a:ext cx="9220200" cy="5076825"/>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57175">
                <a:tc>
                  <a:txBody>
                    <a:bodyPr/>
                    <a:lstStyle/>
                    <a:p>
                      <a:pPr algn="l">
                        <a:lnSpc>
                          <a:spcPts val="750"/>
                        </a:lnSpc>
                      </a:pPr>
                      <a:r>
                        <a:rPr sz="562" b="1" i="0" spc="60">
                          <a:solidFill>
                            <a:srgbClr val="1B1A1A"/>
                          </a:solidFill>
                          <a:latin typeface="Calibri"/>
                        </a:rPr>
                        <a:t>COMPANY</a:t>
                      </a:r>
                    </a:p>
                  </a:txBody>
                  <a:tcPr marL="7620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MARKET CAP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ENTERPRISE VALUE ($M)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 OF 52-WEEK HIGH</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52-WEEK PRICE CHANGE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REVENUE GROWTH,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GROSS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EBITDA MARGIN, LTM</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REVENUE</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LTM EBITDA</a:t>
                      </a:r>
                    </a:p>
                  </a:txBody>
                  <a:tcPr marL="0" marR="57150" marT="0" marB="0" anchor="b">
                    <a:lnL w="0">
                      <a:noFill/>
                    </a:lnL>
                    <a:lnR w="0">
                      <a:noFill/>
                    </a:lnR>
                    <a:lnT w="0">
                      <a:noFill/>
                    </a:lnT>
                    <a:lnB w="19050">
                      <a:solidFill>
                        <a:srgbClr val="B68757"/>
                      </a:solidFill>
                    </a:lnB>
                    <a:noFill/>
                  </a:tcPr>
                </a:tc>
                <a:tc>
                  <a:txBody>
                    <a:bodyPr/>
                    <a:lstStyle/>
                    <a:p>
                      <a:pPr algn="r">
                        <a:lnSpc>
                          <a:spcPts val="750"/>
                        </a:lnSpc>
                      </a:pPr>
                      <a:r>
                        <a:rPr sz="562" b="1" i="0" spc="60">
                          <a:solidFill>
                            <a:srgbClr val="1B1A1A"/>
                          </a:solidFill>
                          <a:latin typeface="Calibri"/>
                        </a:rPr>
                        <a:t>EV / EBITDA A YEAR AGO</a:t>
                      </a:r>
                    </a:p>
                  </a:txBody>
                  <a:tcPr marL="0" marR="76200" marT="0" marB="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28600">
                <a:tc gridSpan="11">
                  <a:txBody>
                    <a:bodyPr/>
                    <a:lstStyle/>
                    <a:p>
                      <a:pPr algn="l">
                        <a:lnSpc>
                          <a:spcPts val="900"/>
                        </a:lnSpc>
                      </a:pPr>
                      <a:r>
                        <a:rPr sz="675" b="1" i="0" spc="135">
                          <a:solidFill>
                            <a:srgbClr val="FFFFFF"/>
                          </a:solidFill>
                          <a:latin typeface="Calibri"/>
                        </a:rPr>
                        <a:t>MEDICAL PRODUCTS &amp; DISTRIBUTION</a:t>
                      </a:r>
                    </a:p>
                  </a:txBody>
                  <a:tcPr marL="76200" marR="57150" marT="0" marB="0"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200025">
                <a:tc>
                  <a:txBody>
                    <a:bodyPr/>
                    <a:lstStyle/>
                    <a:p>
                      <a:pPr algn="l">
                        <a:lnSpc>
                          <a:spcPts val="900"/>
                        </a:lnSpc>
                      </a:pPr>
                      <a:r>
                        <a:rPr sz="750" b="1" i="0">
                          <a:solidFill>
                            <a:srgbClr val="333231"/>
                          </a:solidFill>
                          <a:latin typeface="Calibri"/>
                        </a:rPr>
                        <a:t>Stryker</a:t>
                      </a:r>
                      <a:r>
                        <a:rPr sz="750" b="0" i="0">
                          <a:solidFill>
                            <a:srgbClr val="333231"/>
                          </a:solidFill>
                          <a:latin typeface="Calibri"/>
                        </a:rPr>
                        <a:t> </a:t>
                      </a:r>
                      <a:r>
                        <a:rPr sz="638" b="0" i="0">
                          <a:solidFill>
                            <a:srgbClr val="6F6A66"/>
                          </a:solidFill>
                          <a:latin typeface="Calibri"/>
                        </a:rPr>
                        <a:t>SYK</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106,160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118,130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65.6%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4.59x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200025">
                <a:tc>
                  <a:txBody>
                    <a:bodyPr/>
                    <a:lstStyle/>
                    <a:p>
                      <a:pPr algn="l">
                        <a:lnSpc>
                          <a:spcPts val="900"/>
                        </a:lnSpc>
                      </a:pPr>
                      <a:r>
                        <a:rPr sz="750" b="1" i="0">
                          <a:solidFill>
                            <a:srgbClr val="333231"/>
                          </a:solidFill>
                          <a:latin typeface="Calibri"/>
                        </a:rPr>
                        <a:t>Steris</a:t>
                      </a:r>
                      <a:r>
                        <a:rPr sz="750" b="0" i="0">
                          <a:solidFill>
                            <a:srgbClr val="333231"/>
                          </a:solidFill>
                          <a:latin typeface="Calibri"/>
                        </a:rPr>
                        <a:t> </a:t>
                      </a:r>
                      <a:r>
                        <a:rPr sz="638" b="0" i="0">
                          <a:solidFill>
                            <a:srgbClr val="6F6A66"/>
                          </a:solidFill>
                          <a:latin typeface="Calibri"/>
                        </a:rPr>
                        <a:t>STE</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20,330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21,890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3"/>
                  </a:ext>
                </a:extLst>
              </a:tr>
              <a:tr h="200025">
                <a:tc>
                  <a:txBody>
                    <a:bodyPr/>
                    <a:lstStyle/>
                    <a:p>
                      <a:pPr algn="l">
                        <a:lnSpc>
                          <a:spcPts val="900"/>
                        </a:lnSpc>
                      </a:pPr>
                      <a:r>
                        <a:rPr sz="750" b="1" i="0">
                          <a:solidFill>
                            <a:srgbClr val="333231"/>
                          </a:solidFill>
                          <a:latin typeface="Calibri"/>
                        </a:rPr>
                        <a:t>Teleflex</a:t>
                      </a:r>
                      <a:r>
                        <a:rPr sz="750" b="0" i="0">
                          <a:solidFill>
                            <a:srgbClr val="333231"/>
                          </a:solidFill>
                          <a:latin typeface="Calibri"/>
                        </a:rPr>
                        <a:t> </a:t>
                      </a:r>
                      <a:r>
                        <a:rPr sz="638" b="0" i="0">
                          <a:solidFill>
                            <a:srgbClr val="6F6A66"/>
                          </a:solidFill>
                          <a:latin typeface="Calibri"/>
                        </a:rPr>
                        <a:t>TFX</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6F6A66"/>
                          </a:solidFill>
                          <a:latin typeface="Calibri"/>
                        </a:rPr>
                        <a:t>n.a.</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3.49x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4"/>
                  </a:ext>
                </a:extLst>
              </a:tr>
              <a:tr h="200025">
                <a:tc>
                  <a:txBody>
                    <a:bodyPr/>
                    <a:lstStyle/>
                    <a:p>
                      <a:pPr algn="l">
                        <a:lnSpc>
                          <a:spcPts val="900"/>
                        </a:lnSpc>
                      </a:pPr>
                      <a:r>
                        <a:rPr sz="750" b="1" i="0">
                          <a:solidFill>
                            <a:srgbClr val="333231"/>
                          </a:solidFill>
                          <a:latin typeface="Calibri"/>
                        </a:rPr>
                        <a:t>Henry Schein</a:t>
                      </a:r>
                      <a:r>
                        <a:rPr sz="750" b="0" i="0">
                          <a:solidFill>
                            <a:srgbClr val="333231"/>
                          </a:solidFill>
                          <a:latin typeface="Calibri"/>
                        </a:rPr>
                        <a:t> </a:t>
                      </a:r>
                      <a:r>
                        <a:rPr sz="638" b="0" i="0">
                          <a:solidFill>
                            <a:srgbClr val="6F6A66"/>
                          </a:solidFill>
                          <a:latin typeface="Calibri"/>
                        </a:rPr>
                        <a:t>HSIC</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9,330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12,990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0.96x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12.5x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5"/>
                  </a:ext>
                </a:extLst>
              </a:tr>
              <a:tr h="200025">
                <a:tc>
                  <a:txBody>
                    <a:bodyPr/>
                    <a:lstStyle/>
                    <a:p>
                      <a:pPr algn="l">
                        <a:lnSpc>
                          <a:spcPts val="900"/>
                        </a:lnSpc>
                      </a:pPr>
                      <a:r>
                        <a:rPr sz="750" b="1" i="0">
                          <a:solidFill>
                            <a:srgbClr val="333231"/>
                          </a:solidFill>
                          <a:latin typeface="Calibri"/>
                        </a:rPr>
                        <a:t>Dentsply Sirona</a:t>
                      </a:r>
                      <a:r>
                        <a:rPr sz="750" b="0" i="0">
                          <a:solidFill>
                            <a:srgbClr val="333231"/>
                          </a:solidFill>
                          <a:latin typeface="Calibri"/>
                        </a:rPr>
                        <a:t> </a:t>
                      </a:r>
                      <a:r>
                        <a:rPr sz="638" b="0" i="0">
                          <a:solidFill>
                            <a:srgbClr val="6F6A66"/>
                          </a:solidFill>
                          <a:latin typeface="Calibri"/>
                        </a:rPr>
                        <a:t>XRAY</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3,960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6"/>
                  </a:ext>
                </a:extLst>
              </a:tr>
              <a:tr h="200025">
                <a:tc>
                  <a:txBody>
                    <a:bodyPr/>
                    <a:lstStyle/>
                    <a:p>
                      <a:pPr algn="l">
                        <a:lnSpc>
                          <a:spcPts val="900"/>
                        </a:lnSpc>
                      </a:pPr>
                      <a:r>
                        <a:rPr sz="750" b="1" i="0">
                          <a:solidFill>
                            <a:srgbClr val="333231"/>
                          </a:solidFill>
                          <a:latin typeface="Calibri"/>
                        </a:rPr>
                        <a:t>Envista</a:t>
                      </a:r>
                      <a:r>
                        <a:rPr sz="750" b="0" i="0">
                          <a:solidFill>
                            <a:srgbClr val="333231"/>
                          </a:solidFill>
                          <a:latin typeface="Calibri"/>
                        </a:rPr>
                        <a:t> </a:t>
                      </a:r>
                      <a:r>
                        <a:rPr sz="638" b="0" i="0">
                          <a:solidFill>
                            <a:srgbClr val="6F6A66"/>
                          </a:solidFill>
                          <a:latin typeface="Calibri"/>
                        </a:rPr>
                        <a:t>NVST</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3,740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4,200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55.4%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7"/>
                  </a:ext>
                </a:extLst>
              </a:tr>
              <a:tr h="200025">
                <a:tc>
                  <a:txBody>
                    <a:bodyPr/>
                    <a:lstStyle/>
                    <a:p>
                      <a:pPr algn="l">
                        <a:lnSpc>
                          <a:spcPts val="900"/>
                        </a:lnSpc>
                      </a:pPr>
                      <a:r>
                        <a:rPr sz="750" b="1" i="0">
                          <a:solidFill>
                            <a:srgbClr val="333231"/>
                          </a:solidFill>
                          <a:latin typeface="Calibri"/>
                        </a:rPr>
                        <a:t>Zimmer Biomet</a:t>
                      </a:r>
                      <a:r>
                        <a:rPr sz="750" b="0" i="0">
                          <a:solidFill>
                            <a:srgbClr val="333231"/>
                          </a:solidFill>
                          <a:latin typeface="Calibri"/>
                        </a:rPr>
                        <a:t> </a:t>
                      </a:r>
                      <a:r>
                        <a:rPr sz="638" b="0" i="0">
                          <a:solidFill>
                            <a:srgbClr val="6F6A66"/>
                          </a:solidFill>
                          <a:latin typeface="Calibri"/>
                        </a:rPr>
                        <a:t>ZBH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69.5%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29.7%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2.85x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9.6x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08"/>
                  </a:ext>
                </a:extLst>
              </a:tr>
              <a:tr h="200025">
                <a:tc>
                  <a:txBody>
                    <a:bodyPr/>
                    <a:lstStyle/>
                    <a:p>
                      <a:pPr algn="l">
                        <a:lnSpc>
                          <a:spcPts val="900"/>
                        </a:lnSpc>
                      </a:pPr>
                      <a:r>
                        <a:rPr sz="750" b="1" i="0">
                          <a:solidFill>
                            <a:srgbClr val="333231"/>
                          </a:solidFill>
                          <a:latin typeface="Calibri"/>
                        </a:rPr>
                        <a:t>Integer Holdings</a:t>
                      </a:r>
                      <a:r>
                        <a:rPr sz="750" b="0" i="0">
                          <a:solidFill>
                            <a:srgbClr val="333231"/>
                          </a:solidFill>
                          <a:latin typeface="Calibri"/>
                        </a:rPr>
                        <a:t> </a:t>
                      </a:r>
                      <a:r>
                        <a:rPr sz="638" b="0" i="0">
                          <a:solidFill>
                            <a:srgbClr val="6F6A66"/>
                          </a:solidFill>
                          <a:latin typeface="Calibri"/>
                        </a:rPr>
                        <a:t>ITGR</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4,300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5,640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+22.9%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3.06x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13.9x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09"/>
                  </a:ext>
                </a:extLst>
              </a:tr>
              <a:tr h="200025">
                <a:tc>
                  <a:txBody>
                    <a:bodyPr/>
                    <a:lstStyle/>
                    <a:p>
                      <a:pPr algn="l">
                        <a:lnSpc>
                          <a:spcPts val="900"/>
                        </a:lnSpc>
                      </a:pPr>
                      <a:r>
                        <a:rPr sz="750" b="1" i="0">
                          <a:solidFill>
                            <a:srgbClr val="333231"/>
                          </a:solidFill>
                          <a:latin typeface="Calibri"/>
                        </a:rPr>
                        <a:t>Solventum</a:t>
                      </a:r>
                      <a:r>
                        <a:rPr sz="750" b="0" i="0">
                          <a:solidFill>
                            <a:srgbClr val="333231"/>
                          </a:solidFill>
                          <a:latin typeface="Calibri"/>
                        </a:rPr>
                        <a:t> </a:t>
                      </a:r>
                      <a:r>
                        <a:rPr sz="638" b="0" i="0">
                          <a:solidFill>
                            <a:srgbClr val="6F6A66"/>
                          </a:solidFill>
                          <a:latin typeface="Calibri"/>
                        </a:rPr>
                        <a:t>SOLV</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14,950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19,850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54.8%</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2.39x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15.9x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0"/>
                  </a:ext>
                </a:extLst>
              </a:tr>
              <a:tr h="200025">
                <a:tc>
                  <a:txBody>
                    <a:bodyPr/>
                    <a:lstStyle/>
                    <a:p>
                      <a:pPr algn="l">
                        <a:lnSpc>
                          <a:spcPts val="900"/>
                        </a:lnSpc>
                      </a:pPr>
                      <a:r>
                        <a:rPr sz="750" b="1" i="0">
                          <a:solidFill>
                            <a:srgbClr val="333231"/>
                          </a:solidFill>
                          <a:latin typeface="Calibri"/>
                        </a:rPr>
                        <a:t>Viemed Healthcare</a:t>
                      </a:r>
                      <a:r>
                        <a:rPr sz="750" b="0" i="0">
                          <a:solidFill>
                            <a:srgbClr val="333231"/>
                          </a:solidFill>
                          <a:latin typeface="Calibri"/>
                        </a:rPr>
                        <a:t> </a:t>
                      </a:r>
                      <a:r>
                        <a:rPr sz="638" b="0" i="0">
                          <a:solidFill>
                            <a:srgbClr val="6F6A66"/>
                          </a:solidFill>
                          <a:latin typeface="Calibri"/>
                        </a:rPr>
                        <a:t>VMD</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349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72%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+31.8%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18.5%</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1.16x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6.2x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81%</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54.9%</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18.2%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2.62x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12.7x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13.2x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12"/>
                  </a:ext>
                </a:extLst>
              </a:tr>
              <a:tr h="228600">
                <a:tc gridSpan="11">
                  <a:txBody>
                    <a:bodyPr/>
                    <a:lstStyle/>
                    <a:p>
                      <a:pPr algn="l">
                        <a:lnSpc>
                          <a:spcPts val="900"/>
                        </a:lnSpc>
                      </a:pPr>
                      <a:r>
                        <a:rPr sz="675" b="1" i="0" spc="135">
                          <a:solidFill>
                            <a:srgbClr val="FFFFFF"/>
                          </a:solidFill>
                          <a:latin typeface="Calibri"/>
                        </a:rPr>
                        <a:t>PHARMACY &amp; HEALTHCARE SERVICES</a:t>
                      </a:r>
                    </a:p>
                  </a:txBody>
                  <a:tcPr marL="7620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13"/>
                  </a:ext>
                </a:extLst>
              </a:tr>
              <a:tr h="200025">
                <a:tc>
                  <a:txBody>
                    <a:bodyPr/>
                    <a:lstStyle/>
                    <a:p>
                      <a:pPr algn="l">
                        <a:lnSpc>
                          <a:spcPts val="900"/>
                        </a:lnSpc>
                      </a:pPr>
                      <a:r>
                        <a:rPr sz="750" b="1" i="0">
                          <a:solidFill>
                            <a:srgbClr val="333231"/>
                          </a:solidFill>
                          <a:latin typeface="Calibri"/>
                        </a:rPr>
                        <a:t>Option Care Health</a:t>
                      </a:r>
                      <a:r>
                        <a:rPr sz="750" b="0" i="0">
                          <a:solidFill>
                            <a:srgbClr val="333231"/>
                          </a:solidFill>
                          <a:latin typeface="Calibri"/>
                        </a:rPr>
                        <a:t> </a:t>
                      </a:r>
                      <a:r>
                        <a:rPr sz="638" b="0" i="0">
                          <a:solidFill>
                            <a:srgbClr val="6F6A66"/>
                          </a:solidFill>
                          <a:latin typeface="Calibri"/>
                        </a:rPr>
                        <a:t>OPCH</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4,640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+12.7%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19.1%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13.8x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4"/>
                  </a:ext>
                </a:extLst>
              </a:tr>
              <a:tr h="200025">
                <a:tc>
                  <a:txBody>
                    <a:bodyPr/>
                    <a:lstStyle/>
                    <a:p>
                      <a:pPr algn="l">
                        <a:lnSpc>
                          <a:spcPts val="900"/>
                        </a:lnSpc>
                      </a:pPr>
                      <a:r>
                        <a:rPr sz="750" b="1" i="0">
                          <a:solidFill>
                            <a:srgbClr val="333231"/>
                          </a:solidFill>
                          <a:latin typeface="Calibri"/>
                        </a:rPr>
                        <a:t>BrightSpring</a:t>
                      </a:r>
                      <a:r>
                        <a:rPr sz="750" b="0" i="0">
                          <a:solidFill>
                            <a:srgbClr val="333231"/>
                          </a:solidFill>
                          <a:latin typeface="Calibri"/>
                        </a:rPr>
                        <a:t> </a:t>
                      </a:r>
                      <a:r>
                        <a:rPr sz="638" b="0" i="0">
                          <a:solidFill>
                            <a:srgbClr val="6F6A66"/>
                          </a:solidFill>
                          <a:latin typeface="Calibri"/>
                        </a:rPr>
                        <a:t>BTSG</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13,280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15,120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26.4%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4.4%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1.05x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27.2x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5"/>
                  </a:ext>
                </a:extLst>
              </a:tr>
              <a:tr h="200025">
                <a:tc>
                  <a:txBody>
                    <a:bodyPr/>
                    <a:lstStyle/>
                    <a:p>
                      <a:pPr algn="l">
                        <a:lnSpc>
                          <a:spcPts val="900"/>
                        </a:lnSpc>
                      </a:pPr>
                      <a:r>
                        <a:rPr sz="750" b="1" i="0">
                          <a:solidFill>
                            <a:srgbClr val="333231"/>
                          </a:solidFill>
                          <a:latin typeface="Calibri"/>
                        </a:rPr>
                        <a:t>Guardian Pharmacy Services</a:t>
                      </a:r>
                      <a:r>
                        <a:rPr sz="750" b="0" i="0">
                          <a:solidFill>
                            <a:srgbClr val="333231"/>
                          </a:solidFill>
                          <a:latin typeface="Calibri"/>
                        </a:rPr>
                        <a:t> </a:t>
                      </a:r>
                      <a:r>
                        <a:rPr sz="638" b="0" i="0">
                          <a:solidFill>
                            <a:srgbClr val="6F6A66"/>
                          </a:solidFill>
                          <a:latin typeface="Calibri"/>
                        </a:rPr>
                        <a:t>GRDN†</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2,670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2,620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+76.2%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21.6%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1.81x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20.7x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6"/>
                  </a:ext>
                </a:extLst>
              </a:tr>
              <a:tr h="200025">
                <a:tc>
                  <a:txBody>
                    <a:bodyPr/>
                    <a:lstStyle/>
                    <a:p>
                      <a:pPr algn="l">
                        <a:lnSpc>
                          <a:spcPts val="900"/>
                        </a:lnSpc>
                      </a:pPr>
                      <a:r>
                        <a:rPr sz="750" b="1" i="0">
                          <a:solidFill>
                            <a:srgbClr val="333231"/>
                          </a:solidFill>
                          <a:latin typeface="Calibri"/>
                        </a:rPr>
                        <a:t>McKesson</a:t>
                      </a:r>
                      <a:r>
                        <a:rPr sz="750" b="0" i="0">
                          <a:solidFill>
                            <a:srgbClr val="333231"/>
                          </a:solidFill>
                          <a:latin typeface="Calibri"/>
                        </a:rPr>
                        <a:t> </a:t>
                      </a:r>
                      <a:r>
                        <a:rPr sz="638" b="0" i="0">
                          <a:solidFill>
                            <a:srgbClr val="6F6A66"/>
                          </a:solidFill>
                          <a:latin typeface="Calibri"/>
                        </a:rPr>
                        <a:t>MCK</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108,020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114,650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93%</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+25.1%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3.6%</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0.28x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16.1x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18.4x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7"/>
                  </a:ext>
                </a:extLst>
              </a:tr>
              <a:tr h="200025">
                <a:tc>
                  <a:txBody>
                    <a:bodyPr/>
                    <a:lstStyle/>
                    <a:p>
                      <a:pPr algn="l">
                        <a:lnSpc>
                          <a:spcPts val="900"/>
                        </a:lnSpc>
                      </a:pPr>
                      <a:r>
                        <a:rPr sz="750" b="1" i="0">
                          <a:solidFill>
                            <a:srgbClr val="333231"/>
                          </a:solidFill>
                          <a:latin typeface="Calibri"/>
                        </a:rPr>
                        <a:t>Cencora</a:t>
                      </a:r>
                      <a:r>
                        <a:rPr sz="750" b="0" i="0">
                          <a:solidFill>
                            <a:srgbClr val="333231"/>
                          </a:solidFill>
                          <a:latin typeface="Calibri"/>
                        </a:rPr>
                        <a:t> </a:t>
                      </a:r>
                      <a:r>
                        <a:rPr sz="638" b="0" i="0">
                          <a:solidFill>
                            <a:srgbClr val="6F6A66"/>
                          </a:solidFill>
                          <a:latin typeface="Calibri"/>
                        </a:rPr>
                        <a:t>COR</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61,160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72,810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85%</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+5.2%</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5.1%</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0.22x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13.0x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14.4x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18"/>
                  </a:ext>
                </a:extLst>
              </a:tr>
              <a:tr h="200025">
                <a:tc>
                  <a:txBody>
                    <a:bodyPr/>
                    <a:lstStyle/>
                    <a:p>
                      <a:pPr algn="l">
                        <a:lnSpc>
                          <a:spcPts val="900"/>
                        </a:lnSpc>
                      </a:pPr>
                      <a:r>
                        <a:rPr sz="750" b="1" i="0">
                          <a:solidFill>
                            <a:srgbClr val="333231"/>
                          </a:solidFill>
                          <a:latin typeface="Calibri"/>
                        </a:rPr>
                        <a:t>Cardinal Health</a:t>
                      </a:r>
                      <a:r>
                        <a:rPr sz="750" b="0" i="0">
                          <a:solidFill>
                            <a:srgbClr val="333231"/>
                          </a:solidFill>
                          <a:latin typeface="Calibri"/>
                        </a:rPr>
                        <a:t> </a:t>
                      </a:r>
                      <a:r>
                        <a:rPr sz="638" b="0" i="0">
                          <a:solidFill>
                            <a:srgbClr val="6F6A66"/>
                          </a:solidFill>
                          <a:latin typeface="Calibri"/>
                        </a:rPr>
                        <a:t>CAH</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54,610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59,750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91%</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3.8%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0.23x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14.0x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12.1x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19"/>
                  </a:ext>
                </a:extLst>
              </a:tr>
              <a:tr h="200025">
                <a:tc>
                  <a:txBody>
                    <a:bodyPr/>
                    <a:lstStyle/>
                    <a:p>
                      <a:pPr algn="l">
                        <a:lnSpc>
                          <a:spcPts val="900"/>
                        </a:lnSpc>
                      </a:pPr>
                      <a:r>
                        <a:rPr sz="750" b="1" i="0">
                          <a:solidFill>
                            <a:srgbClr val="333231"/>
                          </a:solidFill>
                          <a:latin typeface="Calibri"/>
                        </a:rPr>
                        <a:t>CVS Health</a:t>
                      </a:r>
                      <a:r>
                        <a:rPr sz="750" b="0" i="0">
                          <a:solidFill>
                            <a:srgbClr val="333231"/>
                          </a:solidFill>
                          <a:latin typeface="Calibri"/>
                        </a:rPr>
                        <a:t> </a:t>
                      </a:r>
                      <a:r>
                        <a:rPr sz="638" b="0" i="0">
                          <a:solidFill>
                            <a:srgbClr val="6F6A66"/>
                          </a:solidFill>
                          <a:latin typeface="Calibri"/>
                        </a:rPr>
                        <a:t>CVS</a:t>
                      </a:r>
                    </a:p>
                  </a:txBody>
                  <a:tcPr marL="7620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112,360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174,710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79%</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+14.3%</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7.4%</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13.6%</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4.0%</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0.42x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10.4x</a:t>
                      </a:r>
                    </a:p>
                  </a:txBody>
                  <a:tcPr marL="0" marR="57150" marT="0" marB="0" anchor="ctr">
                    <a:lnL w="0">
                      <a:noFill/>
                    </a:lnL>
                    <a:lnR w="0">
                      <a:noFill/>
                    </a:lnR>
                    <a:lnT w="0">
                      <a:noFill/>
                    </a:lnT>
                    <a:lnB w="0">
                      <a:noFill/>
                    </a:lnB>
                    <a:solidFill>
                      <a:srgbClr val="FFFFFF"/>
                    </a:solidFill>
                  </a:tcPr>
                </a:tc>
                <a:tc>
                  <a:txBody>
                    <a:bodyPr/>
                    <a:lstStyle/>
                    <a:p>
                      <a:pPr algn="r">
                        <a:lnSpc>
                          <a:spcPts val="900"/>
                        </a:lnSpc>
                      </a:pPr>
                      <a:r>
                        <a:rPr sz="750" b="0" i="0">
                          <a:solidFill>
                            <a:srgbClr val="333231"/>
                          </a:solidFill>
                          <a:latin typeface="Calibri"/>
                        </a:rPr>
                        <a:t>11.1x</a:t>
                      </a:r>
                    </a:p>
                  </a:txBody>
                  <a:tcPr marL="0" marR="76200" marT="0" marB="0" anchor="ctr">
                    <a:lnL w="0">
                      <a:noFill/>
                    </a:lnL>
                    <a:lnR w="0">
                      <a:noFill/>
                    </a:lnR>
                    <a:lnT w="0">
                      <a:noFill/>
                    </a:lnT>
                    <a:lnB w="0">
                      <a:noFill/>
                    </a:lnB>
                    <a:solidFill>
                      <a:srgbClr val="FFFFFF"/>
                    </a:solidFill>
                  </a:tcPr>
                </a:tc>
                <a:extLst>
                  <a:ext uri="{0D108BD9-81ED-4DB2-BD59-A6C34878D82A}">
                    <a16:rowId xmlns:a16="http://schemas.microsoft.com/office/drawing/2014/main" val="10020"/>
                  </a:ext>
                </a:extLst>
              </a:tr>
              <a:tr h="200025">
                <a:tc>
                  <a:txBody>
                    <a:bodyPr/>
                    <a:lstStyle/>
                    <a:p>
                      <a:pPr algn="l">
                        <a:lnSpc>
                          <a:spcPts val="900"/>
                        </a:lnSpc>
                      </a:pPr>
                      <a:r>
                        <a:rPr sz="750" b="1" i="0">
                          <a:solidFill>
                            <a:srgbClr val="333231"/>
                          </a:solidFill>
                          <a:latin typeface="Calibri"/>
                        </a:rPr>
                        <a:t>AMN Healthcare</a:t>
                      </a:r>
                      <a:r>
                        <a:rPr sz="750" b="0" i="0">
                          <a:solidFill>
                            <a:srgbClr val="333231"/>
                          </a:solidFill>
                          <a:latin typeface="Calibri"/>
                        </a:rPr>
                        <a:t> </a:t>
                      </a:r>
                      <a:r>
                        <a:rPr sz="638" b="0" i="0">
                          <a:solidFill>
                            <a:srgbClr val="6F6A66"/>
                          </a:solidFill>
                          <a:latin typeface="Calibri"/>
                        </a:rPr>
                        <a:t>AMN</a:t>
                      </a:r>
                    </a:p>
                  </a:txBody>
                  <a:tcPr marL="7620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1,350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1,770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94%</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+85.2%</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24.0%</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27.8%</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8.9%</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0.51x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5.7x</a:t>
                      </a:r>
                    </a:p>
                  </a:txBody>
                  <a:tcPr marL="0" marR="57150" marT="0" marB="0" anchor="ctr">
                    <a:lnL w="0">
                      <a:noFill/>
                    </a:lnL>
                    <a:lnR w="0">
                      <a:noFill/>
                    </a:lnR>
                    <a:lnT w="0">
                      <a:noFill/>
                    </a:lnT>
                    <a:lnB w="0">
                      <a:noFill/>
                    </a:lnB>
                    <a:solidFill>
                      <a:srgbClr val="FAF7F3"/>
                    </a:solidFill>
                  </a:tcPr>
                </a:tc>
                <a:tc>
                  <a:txBody>
                    <a:bodyPr/>
                    <a:lstStyle/>
                    <a:p>
                      <a:pPr algn="r">
                        <a:lnSpc>
                          <a:spcPts val="900"/>
                        </a:lnSpc>
                      </a:pPr>
                      <a:r>
                        <a:rPr sz="750" b="0" i="0">
                          <a:solidFill>
                            <a:srgbClr val="333231"/>
                          </a:solidFill>
                          <a:latin typeface="Calibri"/>
                        </a:rPr>
                        <a:t>8.1x</a:t>
                      </a:r>
                    </a:p>
                  </a:txBody>
                  <a:tcPr marL="0" marR="76200" marT="0" marB="0" anchor="ctr">
                    <a:lnL w="0">
                      <a:noFill/>
                    </a:lnL>
                    <a:lnR w="0">
                      <a:noFill/>
                    </a:lnR>
                    <a:lnT w="0">
                      <a:noFill/>
                    </a:lnT>
                    <a:lnB w="0">
                      <a:noFill/>
                    </a:lnB>
                    <a:solidFill>
                      <a:srgbClr val="FAF7F3"/>
                    </a:solidFill>
                  </a:tcPr>
                </a:tc>
                <a:extLst>
                  <a:ext uri="{0D108BD9-81ED-4DB2-BD59-A6C34878D82A}">
                    <a16:rowId xmlns:a16="http://schemas.microsoft.com/office/drawing/2014/main" val="10021"/>
                  </a:ext>
                </a:extLst>
              </a:tr>
              <a:tr h="228600">
                <a:tc>
                  <a:txBody>
                    <a:bodyPr/>
                    <a:lstStyle/>
                    <a:p>
                      <a:pPr algn="l">
                        <a:lnSpc>
                          <a:spcPts val="900"/>
                        </a:lnSpc>
                      </a:pPr>
                      <a:r>
                        <a:rPr sz="750" b="1" i="0">
                          <a:solidFill>
                            <a:srgbClr val="1B1A1A"/>
                          </a:solidFill>
                          <a:latin typeface="Calibri"/>
                        </a:rPr>
                        <a:t>Median</a:t>
                      </a:r>
                    </a:p>
                  </a:txBody>
                  <a:tcPr marL="7620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87%</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+38.4%</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9.6%</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13.0%</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4.2%</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0.46x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noFill/>
                  </a:tcPr>
                </a:tc>
                <a:tc>
                  <a:txBody>
                    <a:bodyPr/>
                    <a:lstStyle/>
                    <a:p>
                      <a:pPr algn="r">
                        <a:lnSpc>
                          <a:spcPts val="900"/>
                        </a:lnSpc>
                      </a:pPr>
                      <a:r>
                        <a:rPr sz="750" b="1" i="0">
                          <a:solidFill>
                            <a:srgbClr val="1B1A1A"/>
                          </a:solidFill>
                          <a:latin typeface="Calibri"/>
                        </a:rPr>
                        <a:t>13.8x</a:t>
                      </a:r>
                    </a:p>
                  </a:txBody>
                  <a:tcPr marL="0" marR="76200" marT="0" marB="0" anchor="ctr">
                    <a:lnL w="0">
                      <a:noFill/>
                    </a:lnL>
                    <a:lnR w="0">
                      <a:noFill/>
                    </a:lnR>
                    <a:lnT w="7143">
                      <a:noFill/>
                    </a:lnT>
                    <a:lnB w="0">
                      <a:noFill/>
                    </a:lnB>
                    <a:noFill/>
                  </a:tcPr>
                </a:tc>
                <a:extLst>
                  <a:ext uri="{0D108BD9-81ED-4DB2-BD59-A6C34878D82A}">
                    <a16:rowId xmlns:a16="http://schemas.microsoft.com/office/drawing/2014/main" val="10022"/>
                  </a:ext>
                </a:extLst>
              </a:tr>
              <a:tr h="7620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228600">
                <a:tc>
                  <a:txBody>
                    <a:bodyPr/>
                    <a:lstStyle/>
                    <a:p>
                      <a:pPr algn="l">
                        <a:lnSpc>
                          <a:spcPts val="900"/>
                        </a:lnSpc>
                      </a:pPr>
                      <a:r>
                        <a:rPr sz="750" b="1" i="0">
                          <a:solidFill>
                            <a:srgbClr val="1B1A1A"/>
                          </a:solidFill>
                          <a:latin typeface="Calibri"/>
                        </a:rPr>
                        <a:t>Total reference set median</a:t>
                      </a:r>
                    </a:p>
                  </a:txBody>
                  <a:tcPr marL="7620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89%</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8.4%</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32.7%</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15.2%</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1.84x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14.0x</a:t>
                      </a:r>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750" b="1" i="0">
                          <a:solidFill>
                            <a:srgbClr val="1B1A1A"/>
                          </a:solidFill>
                          <a:latin typeface="Calibri"/>
                        </a:rPr>
                        <a:t>13.6x</a:t>
                      </a:r>
                    </a:p>
                  </a:txBody>
                  <a:tcPr marL="0" marR="76200" marT="0" marB="0"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2"/>
          <a:srcRect/>
          <a:stretch>
            <a:fillRect/>
          </a:stretch>
        </p:blipFill>
        <p:spPr>
          <a:xfrm>
            <a:off x="419100" y="7143750"/>
            <a:ext cx="914400" cy="171450"/>
          </a:xfrm>
          <a:prstGeom prst="rect">
            <a:avLst/>
          </a:prstGeom>
        </p:spPr>
      </p:pic>
      <p:sp>
        <p:nvSpPr>
          <p:cNvPr id="11" name="Text: Source: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Source: </a:t>
            </a:r>
            <a:r>
              <a:rPr sz="675" b="0" i="0" spc="8">
                <a:solidFill>
                  <a:srgbClr val="8C6239"/>
                </a:solidFill>
                <a:latin typeface="Calibri"/>
                <a:hlinkClick r:id="rId3">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retrieved October 7, 2026. LTM is the trailing twelve months. EBITDA is as reported. † Excluded from the EV to EBITDA medians because the multiple is above 60x, negative or lacks eight quarters of history. n.a. marks a figure distorted by a divestiture.</a:t>
            </a:r>
          </a:p>
        </p:txBody>
      </p:sp>
      <p:sp>
        <p:nvSpPr>
          <p:cNvPr id="12" name="Text: 24"/>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square" lIns="0" tIns="0" rIns="0" bIns="0" anchor="t">
            <a:spAutoFit/>
          </a:bodyPr>
          <a:lstStyle/>
          <a:p>
            <a:pPr algn="l">
              <a:lnSpc>
                <a:spcPts val="1050"/>
              </a:lnSpc>
            </a:pPr>
            <a:r>
              <a:rPr sz="675" b="1" i="0" spc="195">
                <a:solidFill>
                  <a:srgbClr val="8C6239"/>
                </a:solidFill>
                <a:latin typeface="Calibri"/>
              </a:rPr>
              <a:t>HEALTHCARE | QUARTERLY SECTOR BRIEF</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Sources"/>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a:t>
            </a:r>
          </a:p>
        </p:txBody>
      </p:sp>
      <p:sp>
        <p:nvSpPr>
          <p:cNvPr id="6" name="Text: The sources linked on each page, l"/>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sources linked on each page, listed by page with the link text used.</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 03 HEALTHCARE M&amp;A: STATE OF PLAY"/>
          <p:cNvSpPr txBox="1"/>
          <p:nvPr/>
        </p:nvSpPr>
        <p:spPr>
          <a:xfrm>
            <a:off x="419100" y="1238250"/>
            <a:ext cx="9220200" cy="3248025"/>
          </a:xfrm>
          <a:prstGeom prst="rect">
            <a:avLst/>
          </a:prstGeom>
          <a:noFill/>
        </p:spPr>
        <p:txBody>
          <a:bodyPr wrap="square" lIns="0" tIns="0" rIns="0" bIns="0" numCol="4" spcCol="209550" anchor="t">
            <a:spAutoFit/>
          </a:bodyPr>
          <a:lstStyle/>
          <a:p>
            <a:pPr algn="l">
              <a:lnSpc>
                <a:spcPts val="900"/>
              </a:lnSpc>
              <a:spcAft>
                <a:spcPts val="150"/>
              </a:spcAft>
            </a:pPr>
            <a:r>
              <a:rPr sz="600" b="1" i="0" spc="120" dirty="0">
                <a:solidFill>
                  <a:srgbClr val="1B1A1A"/>
                </a:solidFill>
                <a:latin typeface="Calibri"/>
              </a:rPr>
              <a:t>03 HEALTHCARE M&amp;A: STATE OF PLAY</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3">
                  <a:extLst>
                    <a:ext uri="{A12FA001-AC4F-418D-AE19-62706E023703}">
                      <ahyp:hlinkClr xmlns:ahyp="http://schemas.microsoft.com/office/drawing/2018/hyperlinkcolor" val="tx"/>
                    </a:ext>
                  </a:extLst>
                </a:hlinkClick>
              </a:rPr>
              <a:t>PwC via MedTech Dive</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7">
                  <a:extLst>
                    <a:ext uri="{A12FA001-AC4F-418D-AE19-62706E023703}">
                      <ahyp:hlinkClr xmlns:ahyp="http://schemas.microsoft.com/office/drawing/2018/hyperlinkcolor" val="tx"/>
                    </a:ext>
                  </a:extLst>
                </a:hlinkClick>
              </a:rPr>
              <a:t>CMS outpatient rule</a:t>
            </a:r>
            <a:r>
              <a:rPr sz="712" b="0" i="0" spc="4" dirty="0">
                <a:solidFill>
                  <a:srgbClr val="333231"/>
                </a:solidFill>
                <a:latin typeface="Calibri"/>
              </a:rPr>
              <a:t>; </a:t>
            </a:r>
            <a:r>
              <a:rPr sz="712" b="0" i="0" spc="4" dirty="0">
                <a:solidFill>
                  <a:srgbClr val="8C6239"/>
                </a:solidFill>
                <a:latin typeface="Calibri"/>
                <a:hlinkClick r:id="rId8">
                  <a:extLst>
                    <a:ext uri="{A12FA001-AC4F-418D-AE19-62706E023703}">
                      <ahyp:hlinkClr xmlns:ahyp="http://schemas.microsoft.com/office/drawing/2018/hyperlinkcolor" val="tx"/>
                    </a:ext>
                  </a:extLst>
                </a:hlinkClick>
              </a:rPr>
              <a:t>CMS home health</a:t>
            </a:r>
            <a:r>
              <a:rPr sz="712" b="0" i="0" spc="4" dirty="0">
                <a:solidFill>
                  <a:srgbClr val="333231"/>
                </a:solidFill>
                <a:latin typeface="Calibri"/>
              </a:rPr>
              <a:t>; </a:t>
            </a:r>
            <a:r>
              <a:rPr sz="712" b="0" i="0" spc="4" dirty="0">
                <a:solidFill>
                  <a:srgbClr val="8C6239"/>
                </a:solidFill>
                <a:latin typeface="Calibri"/>
                <a:hlinkClick r:id="rId9">
                  <a:extLst>
                    <a:ext uri="{A12FA001-AC4F-418D-AE19-62706E023703}">
                      <ahyp:hlinkClr xmlns:ahyp="http://schemas.microsoft.com/office/drawing/2018/hyperlinkcolor" val="tx"/>
                    </a:ext>
                  </a:extLst>
                </a:hlinkClick>
              </a:rPr>
              <a:t>CMS rate notice</a:t>
            </a:r>
            <a:r>
              <a:rPr sz="712" b="0" i="0" spc="4" dirty="0">
                <a:solidFill>
                  <a:srgbClr val="333231"/>
                </a:solidFill>
                <a:latin typeface="Calibri"/>
              </a:rPr>
              <a:t>; </a:t>
            </a:r>
            <a:r>
              <a:rPr sz="712" b="0" i="0" spc="4" dirty="0">
                <a:solidFill>
                  <a:srgbClr val="8C6239"/>
                </a:solidFill>
                <a:latin typeface="Calibri"/>
                <a:hlinkClick r:id="rId10">
                  <a:extLst>
                    <a:ext uri="{A12FA001-AC4F-418D-AE19-62706E023703}">
                      <ahyp:hlinkClr xmlns:ahyp="http://schemas.microsoft.com/office/drawing/2018/hyperlinkcolor" val="tx"/>
                    </a:ext>
                  </a:extLst>
                </a:hlinkClick>
              </a:rPr>
              <a:t>Medicaid.gov</a:t>
            </a:r>
            <a:r>
              <a:rPr sz="712" b="0" i="0" spc="4" dirty="0">
                <a:solidFill>
                  <a:srgbClr val="333231"/>
                </a:solidFill>
                <a:latin typeface="Calibri"/>
              </a:rPr>
              <a:t>; </a:t>
            </a:r>
            <a:r>
              <a:rPr sz="712" b="0" i="0" spc="4" dirty="0">
                <a:solidFill>
                  <a:srgbClr val="8C6239"/>
                </a:solidFill>
                <a:latin typeface="Calibri"/>
                <a:hlinkClick r:id="rId11">
                  <a:extLst>
                    <a:ext uri="{A12FA001-AC4F-418D-AE19-62706E023703}">
                      <ahyp:hlinkClr xmlns:ahyp="http://schemas.microsoft.com/office/drawing/2018/hyperlinkcolor" val="tx"/>
                    </a:ext>
                  </a:extLst>
                </a:hlinkClick>
              </a:rPr>
              <a:t>Federal Reserve</a:t>
            </a:r>
            <a:r>
              <a:rPr sz="712" b="0" i="0" spc="4" dirty="0">
                <a:solidFill>
                  <a:srgbClr val="333231"/>
                </a:solidFill>
                <a:latin typeface="Calibri"/>
              </a:rPr>
              <a:t>; </a:t>
            </a:r>
            <a:r>
              <a:rPr sz="712" b="0" i="0" spc="4" dirty="0">
                <a:solidFill>
                  <a:srgbClr val="8C6239"/>
                </a:solidFill>
                <a:latin typeface="Calibri"/>
                <a:hlinkClick r:id="rId12">
                  <a:extLst>
                    <a:ext uri="{A12FA001-AC4F-418D-AE19-62706E023703}">
                      <ahyp:hlinkClr xmlns:ahyp="http://schemas.microsoft.com/office/drawing/2018/hyperlinkcolor" val="tx"/>
                    </a:ext>
                  </a:extLst>
                </a:hlinkClick>
              </a:rPr>
              <a:t>US Treasury</a:t>
            </a:r>
            <a:r>
              <a:rPr sz="712" b="0" i="0" spc="4" dirty="0">
                <a:solidFill>
                  <a:srgbClr val="333231"/>
                </a:solidFill>
                <a:latin typeface="Calibri"/>
              </a:rPr>
              <a:t>; </a:t>
            </a:r>
            <a:r>
              <a:rPr sz="712" b="0" i="0" spc="4" dirty="0" err="1">
                <a:solidFill>
                  <a:srgbClr val="8C6239"/>
                </a:solidFill>
                <a:latin typeface="Calibri"/>
                <a:hlinkClick r:id="rId13">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15">
                  <a:extLst>
                    <a:ext uri="{A12FA001-AC4F-418D-AE19-62706E023703}">
                      <ahyp:hlinkClr xmlns:ahyp="http://schemas.microsoft.com/office/drawing/2018/hyperlinkcolor" val="tx"/>
                    </a:ext>
                  </a:extLst>
                </a:hlinkClick>
              </a:rPr>
              <a:t>Altarum</a:t>
            </a:r>
            <a:r>
              <a:rPr sz="712" b="0" i="0" spc="4" dirty="0">
                <a:solidFill>
                  <a:srgbClr val="333231"/>
                </a:solidFill>
                <a:latin typeface="Calibri"/>
              </a:rPr>
              <a:t>; </a:t>
            </a: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17">
                  <a:extLst>
                    <a:ext uri="{A12FA001-AC4F-418D-AE19-62706E023703}">
                      <ahyp:hlinkClr xmlns:ahyp="http://schemas.microsoft.com/office/drawing/2018/hyperlinkcolor" val="tx"/>
                    </a:ext>
                  </a:extLst>
                </a:hlinkClick>
              </a:rPr>
              <a:t>Bureau of Labor Statistics</a:t>
            </a:r>
            <a:r>
              <a:rPr sz="712" b="0" i="0" spc="4" dirty="0">
                <a:solidFill>
                  <a:srgbClr val="333231"/>
                </a:solidFill>
                <a:latin typeface="Calibri"/>
              </a:rPr>
              <a:t>; </a:t>
            </a:r>
            <a:r>
              <a:rPr sz="712" b="0" i="0" spc="4" dirty="0">
                <a:solidFill>
                  <a:srgbClr val="8C6239"/>
                </a:solidFill>
                <a:latin typeface="Calibri"/>
                <a:hlinkClick r:id="rId18">
                  <a:extLst>
                    <a:ext uri="{A12FA001-AC4F-418D-AE19-62706E023703}">
                      <ahyp:hlinkClr xmlns:ahyp="http://schemas.microsoft.com/office/drawing/2018/hyperlinkcolor" val="tx"/>
                    </a:ext>
                  </a:extLst>
                </a:hlinkClick>
              </a:rPr>
              <a:t>White House proclamation</a:t>
            </a:r>
            <a:r>
              <a:rPr sz="712" b="0" i="0" spc="4" dirty="0">
                <a:solidFill>
                  <a:srgbClr val="333231"/>
                </a:solidFill>
                <a:latin typeface="Calibri"/>
              </a:rPr>
              <a:t>; </a:t>
            </a:r>
            <a:r>
              <a:rPr sz="712" b="0" i="0" spc="4" dirty="0" err="1">
                <a:solidFill>
                  <a:srgbClr val="8C6239"/>
                </a:solidFill>
                <a:latin typeface="Calibri"/>
                <a:hlinkClick r:id="rId19">
                  <a:extLst>
                    <a:ext uri="{A12FA001-AC4F-418D-AE19-62706E023703}">
                      <ahyp:hlinkClr xmlns:ahyp="http://schemas.microsoft.com/office/drawing/2018/hyperlinkcolor" val="tx"/>
                    </a:ext>
                  </a:extLst>
                </a:hlinkClick>
              </a:rPr>
              <a:t>iData</a:t>
            </a:r>
            <a:r>
              <a:rPr sz="712" b="0" i="0" spc="4" dirty="0">
                <a:solidFill>
                  <a:srgbClr val="8C6239"/>
                </a:solidFill>
                <a:latin typeface="Calibri"/>
                <a:hlinkClick r:id="rId19">
                  <a:extLst>
                    <a:ext uri="{A12FA001-AC4F-418D-AE19-62706E023703}">
                      <ahyp:hlinkClr xmlns:ahyp="http://schemas.microsoft.com/office/drawing/2018/hyperlinkcolor" val="tx"/>
                    </a:ext>
                  </a:extLst>
                </a:hlinkClick>
              </a:rPr>
              <a:t> Research</a:t>
            </a:r>
            <a:r>
              <a:rPr sz="712" b="0" i="0" spc="4" dirty="0">
                <a:solidFill>
                  <a:srgbClr val="333231"/>
                </a:solidFill>
                <a:latin typeface="Calibri"/>
              </a:rPr>
              <a:t>; </a:t>
            </a:r>
            <a:r>
              <a:rPr sz="712" b="0" i="0" spc="4" dirty="0">
                <a:solidFill>
                  <a:srgbClr val="8C6239"/>
                </a:solidFill>
                <a:latin typeface="Calibri"/>
                <a:hlinkClick r:id="rId20">
                  <a:extLst>
                    <a:ext uri="{A12FA001-AC4F-418D-AE19-62706E023703}">
                      <ahyp:hlinkClr xmlns:ahyp="http://schemas.microsoft.com/office/drawing/2018/hyperlinkcolor" val="tx"/>
                    </a:ext>
                  </a:extLst>
                </a:hlinkClick>
              </a:rPr>
              <a:t>Nixon Peabody</a:t>
            </a:r>
            <a:r>
              <a:rPr sz="712" b="0" i="0" spc="4" dirty="0">
                <a:solidFill>
                  <a:srgbClr val="333231"/>
                </a:solidFill>
                <a:latin typeface="Calibri"/>
              </a:rPr>
              <a:t>; </a:t>
            </a:r>
            <a:r>
              <a:rPr sz="712" b="0" i="0" spc="4" dirty="0" err="1">
                <a:solidFill>
                  <a:srgbClr val="8C6239"/>
                </a:solidFill>
                <a:latin typeface="Calibri"/>
                <a:hlinkClick r:id="rId21">
                  <a:extLst>
                    <a:ext uri="{A12FA001-AC4F-418D-AE19-62706E023703}">
                      <ahyp:hlinkClr xmlns:ahyp="http://schemas.microsoft.com/office/drawing/2018/hyperlinkcolor" val="tx"/>
                    </a:ext>
                  </a:extLst>
                </a:hlinkClick>
              </a:rPr>
              <a:t>BakerHostetler</a:t>
            </a:r>
            <a:r>
              <a:rPr sz="712" b="0" i="0" spc="4" dirty="0">
                <a:solidFill>
                  <a:srgbClr val="333231"/>
                </a:solidFill>
                <a:latin typeface="Calibri"/>
              </a:rPr>
              <a:t>; </a:t>
            </a: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23">
                  <a:extLst>
                    <a:ext uri="{A12FA001-AC4F-418D-AE19-62706E023703}">
                      <ahyp:hlinkClr xmlns:ahyp="http://schemas.microsoft.com/office/drawing/2018/hyperlinkcolor" val="tx"/>
                    </a:ext>
                  </a:extLst>
                </a:hlinkClick>
              </a:rPr>
              <a:t>IBBA and M&amp;A Source</a:t>
            </a:r>
          </a:p>
          <a:p>
            <a:pPr algn="l">
              <a:lnSpc>
                <a:spcPts val="900"/>
              </a:lnSpc>
              <a:spcAft>
                <a:spcPts val="150"/>
              </a:spcAft>
            </a:pPr>
            <a:r>
              <a:rPr sz="600" b="1" i="0" spc="120" dirty="0">
                <a:solidFill>
                  <a:srgbClr val="1B1A1A"/>
                </a:solidFill>
                <a:latin typeface="Calibri"/>
              </a:rPr>
              <a:t>04 HISTORICAL MARKET CONTEXT</a:t>
            </a:r>
          </a:p>
          <a:p>
            <a:pPr algn="l">
              <a:lnSpc>
                <a:spcPts val="1050"/>
              </a:lnSpc>
              <a:spcAft>
                <a:spcPts val="819"/>
              </a:spcAft>
            </a:pPr>
            <a:r>
              <a:rPr sz="712" b="0" i="0" spc="4" dirty="0">
                <a:solidFill>
                  <a:srgbClr val="8C6239"/>
                </a:solidFill>
                <a:latin typeface="Calibri"/>
                <a:hlinkClick r:id="rId16">
                  <a:extLst>
                    <a:ext uri="{A12FA001-AC4F-418D-AE19-62706E023703}">
                      <ahyp:hlinkClr xmlns:ahyp="http://schemas.microsoft.com/office/drawing/2018/hyperlinkcolor" val="tx"/>
                    </a:ext>
                  </a:extLst>
                </a:hlinkClick>
              </a:rPr>
              <a:t>CMS</a:t>
            </a:r>
            <a:r>
              <a:rPr sz="712" b="0" i="0" spc="4" dirty="0">
                <a:solidFill>
                  <a:srgbClr val="333231"/>
                </a:solidFill>
                <a:latin typeface="Calibri"/>
              </a:rPr>
              <a:t>; </a:t>
            </a:r>
            <a:r>
              <a:rPr sz="712" b="0" i="0" spc="4" dirty="0">
                <a:solidFill>
                  <a:srgbClr val="8C6239"/>
                </a:solidFill>
                <a:latin typeface="Calibri"/>
                <a:hlinkClick r:id="rId24">
                  <a:extLst>
                    <a:ext uri="{A12FA001-AC4F-418D-AE19-62706E023703}">
                      <ahyp:hlinkClr xmlns:ahyp="http://schemas.microsoft.com/office/drawing/2018/hyperlinkcolor" val="tx"/>
                    </a:ext>
                  </a:extLst>
                </a:hlinkClick>
              </a:rPr>
              <a:t>Committee for a Responsible Federal Budget</a:t>
            </a:r>
            <a:r>
              <a:rPr sz="712" b="0" i="0" spc="4" dirty="0">
                <a:solidFill>
                  <a:srgbClr val="333231"/>
                </a:solidFill>
                <a:latin typeface="Calibri"/>
              </a:rPr>
              <a:t>; </a:t>
            </a:r>
            <a:r>
              <a:rPr sz="712" b="0" i="0" spc="4" dirty="0">
                <a:solidFill>
                  <a:srgbClr val="8C6239"/>
                </a:solidFill>
                <a:latin typeface="Calibri"/>
                <a:hlinkClick r:id="rId25">
                  <a:extLst>
                    <a:ext uri="{A12FA001-AC4F-418D-AE19-62706E023703}">
                      <ahyp:hlinkClr xmlns:ahyp="http://schemas.microsoft.com/office/drawing/2018/hyperlinkcolor" val="tx"/>
                    </a:ext>
                  </a:extLst>
                </a:hlinkClick>
              </a:rPr>
              <a:t>Kaufman Hall</a:t>
            </a:r>
            <a:r>
              <a:rPr sz="712" b="0" i="0" spc="4" dirty="0">
                <a:solidFill>
                  <a:srgbClr val="333231"/>
                </a:solidFill>
                <a:latin typeface="Calibri"/>
              </a:rPr>
              <a:t>; </a:t>
            </a:r>
            <a:r>
              <a:rPr sz="712" b="0" i="0" spc="4" dirty="0">
                <a:solidFill>
                  <a:srgbClr val="8C6239"/>
                </a:solidFill>
                <a:latin typeface="Calibri"/>
                <a:hlinkClick r:id="rId26">
                  <a:extLst>
                    <a:ext uri="{A12FA001-AC4F-418D-AE19-62706E023703}">
                      <ahyp:hlinkClr xmlns:ahyp="http://schemas.microsoft.com/office/drawing/2018/hyperlinkcolor" val="tx"/>
                    </a:ext>
                  </a:extLst>
                </a:hlinkClick>
              </a:rPr>
              <a:t>Kaufman Hall, first quarter</a:t>
            </a:r>
            <a:r>
              <a:rPr sz="712" b="0" i="0" spc="4" dirty="0">
                <a:solidFill>
                  <a:srgbClr val="333231"/>
                </a:solidFill>
                <a:latin typeface="Calibri"/>
              </a:rPr>
              <a:t>; </a:t>
            </a:r>
            <a:r>
              <a:rPr sz="712" b="0" i="0" spc="4" dirty="0">
                <a:solidFill>
                  <a:srgbClr val="8C6239"/>
                </a:solidFill>
                <a:latin typeface="Calibri"/>
                <a:hlinkClick r:id="rId4">
                  <a:extLst>
                    <a:ext uri="{A12FA001-AC4F-418D-AE19-62706E023703}">
                      <ahyp:hlinkClr xmlns:ahyp="http://schemas.microsoft.com/office/drawing/2018/hyperlinkcolor" val="tx"/>
                    </a:ext>
                  </a:extLst>
                </a:hlinkClick>
              </a:rPr>
              <a:t>second quarter</a:t>
            </a:r>
            <a:r>
              <a:rPr sz="712" b="0" i="0" spc="4" dirty="0">
                <a:solidFill>
                  <a:srgbClr val="333231"/>
                </a:solidFill>
                <a:latin typeface="Calibri"/>
              </a:rPr>
              <a:t>; </a:t>
            </a:r>
            <a:r>
              <a:rPr sz="712" b="0" i="0" spc="4" dirty="0" err="1">
                <a:solidFill>
                  <a:srgbClr val="8C6239"/>
                </a:solidFill>
                <a:latin typeface="Calibri"/>
                <a:hlinkClick r:id="rId27">
                  <a:extLst>
                    <a:ext uri="{A12FA001-AC4F-418D-AE19-62706E023703}">
                      <ahyp:hlinkClr xmlns:ahyp="http://schemas.microsoft.com/office/drawing/2018/hyperlinkcolor" val="tx"/>
                    </a:ext>
                  </a:extLst>
                </a:hlinkClick>
              </a:rPr>
              <a:t>PitchBook</a:t>
            </a:r>
            <a:r>
              <a:rPr sz="712" b="0" i="0" spc="4" dirty="0">
                <a:solidFill>
                  <a:srgbClr val="333231"/>
                </a:solidFill>
                <a:latin typeface="Calibri"/>
              </a:rPr>
              <a:t>; </a:t>
            </a:r>
            <a:r>
              <a:rPr sz="712" b="0" i="0" spc="4" dirty="0">
                <a:solidFill>
                  <a:srgbClr val="8C6239"/>
                </a:solidFill>
                <a:latin typeface="Calibri"/>
                <a:hlinkClick r:id="rId28">
                  <a:extLst>
                    <a:ext uri="{A12FA001-AC4F-418D-AE19-62706E023703}">
                      <ahyp:hlinkClr xmlns:ahyp="http://schemas.microsoft.com/office/drawing/2018/hyperlinkcolor" val="tx"/>
                    </a:ext>
                  </a:extLst>
                </a:hlinkClick>
              </a:rPr>
              <a:t>2012 to 2022</a:t>
            </a:r>
          </a:p>
          <a:p>
            <a:pPr algn="l">
              <a:lnSpc>
                <a:spcPts val="900"/>
              </a:lnSpc>
              <a:spcAft>
                <a:spcPts val="150"/>
              </a:spcAft>
            </a:pPr>
            <a:r>
              <a:rPr sz="600" b="1" i="0" spc="120" dirty="0">
                <a:solidFill>
                  <a:srgbClr val="1B1A1A"/>
                </a:solidFill>
                <a:latin typeface="Calibri"/>
              </a:rPr>
              <a:t>05 STRONG FUNDAMENTALS SUPPORT CONTINUED ACTIVITY</a:t>
            </a:r>
          </a:p>
          <a:p>
            <a:pPr algn="l">
              <a:lnSpc>
                <a:spcPts val="1050"/>
              </a:lnSpc>
              <a:spcAft>
                <a:spcPts val="819"/>
              </a:spcAft>
            </a:pPr>
            <a:r>
              <a:rPr sz="712" b="0" i="0" spc="4" dirty="0">
                <a:solidFill>
                  <a:srgbClr val="8C6239"/>
                </a:solidFill>
                <a:latin typeface="Calibri"/>
                <a:hlinkClick r:id="rId29">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0">
                  <a:extLst>
                    <a:ext uri="{A12FA001-AC4F-418D-AE19-62706E023703}">
                      <ahyp:hlinkClr xmlns:ahyp="http://schemas.microsoft.com/office/drawing/2018/hyperlinkcolor" val="tx"/>
                    </a:ext>
                  </a:extLst>
                </a:hlinkClick>
              </a:rPr>
              <a:t>Bureau of Labor Statistics JOLTS</a:t>
            </a:r>
            <a:r>
              <a:rPr sz="712" b="0" i="0" spc="4" dirty="0">
                <a:solidFill>
                  <a:srgbClr val="333231"/>
                </a:solidFill>
                <a:latin typeface="Calibri"/>
              </a:rPr>
              <a:t>; </a:t>
            </a:r>
            <a:r>
              <a:rPr sz="712" b="0" i="0" spc="4" dirty="0">
                <a:solidFill>
                  <a:srgbClr val="8C6239"/>
                </a:solidFill>
                <a:latin typeface="Calibri"/>
                <a:hlinkClick r:id="rId31">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2">
                  <a:extLst>
                    <a:ext uri="{A12FA001-AC4F-418D-AE19-62706E023703}">
                      <ahyp:hlinkClr xmlns:ahyp="http://schemas.microsoft.com/office/drawing/2018/hyperlinkcolor" val="tx"/>
                    </a:ext>
                  </a:extLst>
                </a:hlinkClick>
              </a:rPr>
              <a:t>FRED</a:t>
            </a:r>
            <a:r>
              <a:rPr sz="712" b="0" i="0" spc="4" dirty="0">
                <a:solidFill>
                  <a:srgbClr val="333231"/>
                </a:solidFill>
                <a:latin typeface="Calibri"/>
              </a:rPr>
              <a:t>; </a:t>
            </a:r>
            <a:r>
              <a:rPr sz="712" b="0" i="0" spc="4" dirty="0">
                <a:solidFill>
                  <a:srgbClr val="8C6239"/>
                </a:solidFill>
                <a:latin typeface="Calibri"/>
                <a:hlinkClick r:id="rId33">
                  <a:extLst>
                    <a:ext uri="{A12FA001-AC4F-418D-AE19-62706E023703}">
                      <ahyp:hlinkClr xmlns:ahyp="http://schemas.microsoft.com/office/drawing/2018/hyperlinkcolor" val="tx"/>
                    </a:ext>
                  </a:extLst>
                </a:hlinkClick>
              </a:rPr>
              <a:t>FDA</a:t>
            </a:r>
            <a:r>
              <a:rPr sz="712" b="0" i="0" spc="4" dirty="0">
                <a:solidFill>
                  <a:srgbClr val="333231"/>
                </a:solidFill>
                <a:latin typeface="Calibri"/>
              </a:rPr>
              <a:t>; </a:t>
            </a:r>
            <a:r>
              <a:rPr sz="712" b="0" i="0" spc="4" dirty="0">
                <a:solidFill>
                  <a:srgbClr val="8C6239"/>
                </a:solidFill>
                <a:latin typeface="Calibri"/>
                <a:hlinkClick r:id="rId34">
                  <a:extLst>
                    <a:ext uri="{A12FA001-AC4F-418D-AE19-62706E023703}">
                      <ahyp:hlinkClr xmlns:ahyp="http://schemas.microsoft.com/office/drawing/2018/hyperlinkcolor" val="tx"/>
                    </a:ext>
                  </a:extLst>
                </a:hlinkClick>
              </a:rPr>
              <a:t>RAPS</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p>
          <a:p>
            <a:pPr algn="l">
              <a:lnSpc>
                <a:spcPts val="900"/>
              </a:lnSpc>
              <a:spcAft>
                <a:spcPts val="150"/>
              </a:spcAft>
            </a:pPr>
            <a:r>
              <a:rPr sz="600" b="1" i="0" spc="120" dirty="0">
                <a:solidFill>
                  <a:srgbClr val="1B1A1A"/>
                </a:solidFill>
                <a:latin typeface="Calibri"/>
              </a:rPr>
              <a:t>06 PERSPECTIVES ON FOUR FOCUS AREAS</a:t>
            </a:r>
          </a:p>
          <a:p>
            <a:pPr algn="l">
              <a:lnSpc>
                <a:spcPts val="1050"/>
              </a:lnSpc>
              <a:spcAft>
                <a:spcPts val="819"/>
              </a:spcAft>
            </a:pPr>
            <a:r>
              <a:rPr sz="712" b="0" i="0" spc="4" dirty="0">
                <a:solidFill>
                  <a:srgbClr val="8C6239"/>
                </a:solidFill>
                <a:latin typeface="Calibri"/>
                <a:hlinkClick r:id="rId36">
                  <a:extLst>
                    <a:ext uri="{A12FA001-AC4F-418D-AE19-62706E023703}">
                      <ahyp:hlinkClr xmlns:ahyp="http://schemas.microsoft.com/office/drawing/2018/hyperlinkcolor" val="tx"/>
                    </a:ext>
                  </a:extLst>
                </a:hlinkClick>
              </a:rPr>
              <a:t>Journal of Urgent Care Medicine</a:t>
            </a:r>
            <a:r>
              <a:rPr sz="712" b="0" i="0" spc="4" dirty="0">
                <a:solidFill>
                  <a:srgbClr val="333231"/>
                </a:solidFill>
                <a:latin typeface="Calibri"/>
              </a:rPr>
              <a:t>; </a:t>
            </a:r>
            <a:r>
              <a:rPr sz="712" b="0" i="0" spc="4" dirty="0">
                <a:solidFill>
                  <a:srgbClr val="8C6239"/>
                </a:solidFill>
                <a:latin typeface="Calibri"/>
                <a:hlinkClick r:id="rId37">
                  <a:extLst>
                    <a:ext uri="{A12FA001-AC4F-418D-AE19-62706E023703}">
                      <ahyp:hlinkClr xmlns:ahyp="http://schemas.microsoft.com/office/drawing/2018/hyperlinkcolor" val="tx"/>
                    </a:ext>
                  </a:extLst>
                </a:hlinkClick>
              </a:rPr>
              <a:t>Becker's ASC Review</a:t>
            </a:r>
            <a:r>
              <a:rPr sz="712" b="0" i="0" spc="4" dirty="0">
                <a:solidFill>
                  <a:srgbClr val="333231"/>
                </a:solidFill>
                <a:latin typeface="Calibri"/>
              </a:rPr>
              <a:t>; </a:t>
            </a:r>
            <a:r>
              <a:rPr sz="712" b="0" i="0" spc="4" dirty="0">
                <a:solidFill>
                  <a:srgbClr val="8C6239"/>
                </a:solidFill>
                <a:latin typeface="Calibri"/>
                <a:hlinkClick r:id="rId38">
                  <a:extLst>
                    <a:ext uri="{A12FA001-AC4F-418D-AE19-62706E023703}">
                      <ahyp:hlinkClr xmlns:ahyp="http://schemas.microsoft.com/office/drawing/2018/hyperlinkcolor" val="tx"/>
                    </a:ext>
                  </a:extLst>
                </a:hlinkClick>
              </a:rPr>
              <a:t>Healthcare Dive</a:t>
            </a:r>
            <a:r>
              <a:rPr sz="712" b="0" i="0" spc="4" dirty="0">
                <a:solidFill>
                  <a:srgbClr val="333231"/>
                </a:solidFill>
                <a:latin typeface="Calibri"/>
              </a:rPr>
              <a:t>; </a:t>
            </a:r>
            <a:r>
              <a:rPr sz="712" b="0" i="0" spc="4" dirty="0">
                <a:solidFill>
                  <a:srgbClr val="8C6239"/>
                </a:solidFill>
                <a:latin typeface="Calibri"/>
                <a:hlinkClick r:id="rId39">
                  <a:extLst>
                    <a:ext uri="{A12FA001-AC4F-418D-AE19-62706E023703}">
                      <ahyp:hlinkClr xmlns:ahyp="http://schemas.microsoft.com/office/drawing/2018/hyperlinkcolor" val="tx"/>
                    </a:ext>
                  </a:extLst>
                </a:hlinkClick>
              </a:rPr>
              <a:t>HLTH</a:t>
            </a:r>
            <a:r>
              <a:rPr sz="712" b="0" i="0" spc="4" dirty="0">
                <a:solidFill>
                  <a:srgbClr val="333231"/>
                </a:solidFill>
                <a:latin typeface="Calibri"/>
              </a:rPr>
              <a:t>; </a:t>
            </a:r>
            <a:r>
              <a:rPr sz="712" b="0" i="0" spc="4" dirty="0">
                <a:solidFill>
                  <a:srgbClr val="8C6239"/>
                </a:solidFill>
                <a:latin typeface="Calibri"/>
                <a:hlinkClick r:id="rId40">
                  <a:extLst>
                    <a:ext uri="{A12FA001-AC4F-418D-AE19-62706E023703}">
                      <ahyp:hlinkClr xmlns:ahyp="http://schemas.microsoft.com/office/drawing/2018/hyperlinkcolor" val="tx"/>
                    </a:ext>
                  </a:extLst>
                </a:hlinkClick>
              </a:rPr>
              <a:t>AMA survey via Medical Economics</a:t>
            </a:r>
            <a:r>
              <a:rPr sz="712" b="0" i="0" spc="4" dirty="0">
                <a:solidFill>
                  <a:srgbClr val="333231"/>
                </a:solidFill>
                <a:latin typeface="Calibri"/>
              </a:rPr>
              <a:t>; </a:t>
            </a:r>
            <a:r>
              <a:rPr sz="712" b="0" i="0" spc="4" dirty="0">
                <a:solidFill>
                  <a:srgbClr val="8C6239"/>
                </a:solidFill>
                <a:latin typeface="Calibri"/>
                <a:hlinkClick r:id="rId41">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42">
                  <a:extLst>
                    <a:ext uri="{A12FA001-AC4F-418D-AE19-62706E023703}">
                      <ahyp:hlinkClr xmlns:ahyp="http://schemas.microsoft.com/office/drawing/2018/hyperlinkcolor" val="tx"/>
                    </a:ext>
                  </a:extLst>
                </a:hlinkClick>
              </a:rPr>
              <a:t>Labcorp</a:t>
            </a:r>
            <a:r>
              <a:rPr sz="712" b="0" i="0" spc="4" dirty="0">
                <a:solidFill>
                  <a:srgbClr val="8C6239"/>
                </a:solidFill>
                <a:latin typeface="Calibri"/>
                <a:hlinkClick r:id="rId42">
                  <a:extLst>
                    <a:ext uri="{A12FA001-AC4F-418D-AE19-62706E023703}">
                      <ahyp:hlinkClr xmlns:ahyp="http://schemas.microsoft.com/office/drawing/2018/hyperlinkcolor" val="tx"/>
                    </a:ext>
                  </a:extLst>
                </a:hlinkClick>
              </a:rPr>
              <a:t> Form 10-Q</a:t>
            </a:r>
            <a:r>
              <a:rPr sz="712" b="0" i="0" spc="4" dirty="0">
                <a:solidFill>
                  <a:srgbClr val="333231"/>
                </a:solidFill>
                <a:latin typeface="Calibri"/>
              </a:rPr>
              <a:t>; </a:t>
            </a:r>
            <a:r>
              <a:rPr sz="712" b="0" i="0" spc="4" dirty="0">
                <a:solidFill>
                  <a:srgbClr val="8C6239"/>
                </a:solidFill>
                <a:latin typeface="Calibri"/>
                <a:hlinkClick r:id="rId43">
                  <a:extLst>
                    <a:ext uri="{A12FA001-AC4F-418D-AE19-62706E023703}">
                      <ahyp:hlinkClr xmlns:ahyp="http://schemas.microsoft.com/office/drawing/2018/hyperlinkcolor" val="tx"/>
                    </a:ext>
                  </a:extLst>
                </a:hlinkClick>
              </a:rPr>
              <a:t>Association for Diagnostics &amp; Laboratory Medicine</a:t>
            </a:r>
            <a:r>
              <a:rPr sz="712" b="0" i="0" spc="4" dirty="0">
                <a:solidFill>
                  <a:srgbClr val="333231"/>
                </a:solidFill>
                <a:latin typeface="Calibri"/>
              </a:rPr>
              <a:t>; </a:t>
            </a:r>
            <a:r>
              <a:rPr sz="712" b="0" i="0" spc="4" dirty="0">
                <a:solidFill>
                  <a:srgbClr val="8C6239"/>
                </a:solidFill>
                <a:latin typeface="Calibri"/>
                <a:hlinkClick r:id="rId3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45">
                  <a:extLst>
                    <a:ext uri="{A12FA001-AC4F-418D-AE19-62706E023703}">
                      <ahyp:hlinkClr xmlns:ahyp="http://schemas.microsoft.com/office/drawing/2018/hyperlinkcolor" val="tx"/>
                    </a:ext>
                  </a:extLst>
                </a:hlinkClick>
              </a:rPr>
              <a:t>Headlands Research</a:t>
            </a:r>
            <a:r>
              <a:rPr sz="712" b="0" i="0" spc="4" dirty="0">
                <a:solidFill>
                  <a:srgbClr val="333231"/>
                </a:solidFill>
                <a:latin typeface="Calibri"/>
              </a:rPr>
              <a:t>; </a:t>
            </a:r>
            <a:r>
              <a:rPr sz="712" b="0" i="0" spc="4" dirty="0">
                <a:solidFill>
                  <a:srgbClr val="8C6239"/>
                </a:solidFill>
                <a:latin typeface="Calibri"/>
                <a:hlinkClick r:id="rId46">
                  <a:extLst>
                    <a:ext uri="{A12FA001-AC4F-418D-AE19-62706E023703}">
                      <ahyp:hlinkClr xmlns:ahyp="http://schemas.microsoft.com/office/drawing/2018/hyperlinkcolor" val="tx"/>
                    </a:ext>
                  </a:extLst>
                </a:hlinkClick>
              </a:rPr>
              <a:t>Summit Clinical Research</a:t>
            </a:r>
          </a:p>
          <a:p>
            <a:pPr algn="l">
              <a:lnSpc>
                <a:spcPts val="900"/>
              </a:lnSpc>
              <a:spcAft>
                <a:spcPts val="150"/>
              </a:spcAft>
            </a:pPr>
            <a:r>
              <a:rPr sz="600" b="1" i="0" spc="120" dirty="0">
                <a:solidFill>
                  <a:srgbClr val="1B1A1A"/>
                </a:solidFill>
                <a:latin typeface="Calibri"/>
              </a:rPr>
              <a:t>07 PERSPECTIVES ON FOUR FOCUS AREAS</a:t>
            </a:r>
          </a:p>
          <a:p>
            <a:pPr algn="l">
              <a:lnSpc>
                <a:spcPts val="1050"/>
              </a:lnSpc>
              <a:spcAft>
                <a:spcPts val="819"/>
              </a:spcAft>
            </a:pP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48">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49">
                  <a:extLst>
                    <a:ext uri="{A12FA001-AC4F-418D-AE19-62706E023703}">
                      <ahyp:hlinkClr xmlns:ahyp="http://schemas.microsoft.com/office/drawing/2018/hyperlinkcolor" val="tx"/>
                    </a:ext>
                  </a:extLst>
                </a:hlinkClick>
              </a:rPr>
              <a:t>HFMA</a:t>
            </a:r>
            <a:r>
              <a:rPr sz="712" b="0" i="0" spc="4" dirty="0">
                <a:solidFill>
                  <a:srgbClr val="333231"/>
                </a:solidFill>
                <a:latin typeface="Calibri"/>
              </a:rPr>
              <a:t>; </a:t>
            </a:r>
            <a:r>
              <a:rPr sz="712" b="0" i="0" spc="4" dirty="0">
                <a:solidFill>
                  <a:srgbClr val="8C6239"/>
                </a:solidFill>
                <a:latin typeface="Calibri"/>
                <a:hlinkClick r:id="rId50">
                  <a:extLst>
                    <a:ext uri="{A12FA001-AC4F-418D-AE19-62706E023703}">
                      <ahyp:hlinkClr xmlns:ahyp="http://schemas.microsoft.com/office/drawing/2018/hyperlinkcolor" val="tx"/>
                    </a:ext>
                  </a:extLst>
                </a:hlinkClick>
              </a:rPr>
              <a:t>Owens &amp; Minor</a:t>
            </a:r>
            <a:r>
              <a:rPr sz="712" b="0" i="0" spc="4" dirty="0">
                <a:solidFill>
                  <a:srgbClr val="333231"/>
                </a:solidFill>
                <a:latin typeface="Calibri"/>
              </a:rPr>
              <a:t>; </a:t>
            </a:r>
            <a:r>
              <a:rPr sz="712" b="0" i="0" spc="4" dirty="0">
                <a:solidFill>
                  <a:srgbClr val="8C6239"/>
                </a:solidFill>
                <a:latin typeface="Calibri"/>
                <a:hlinkClick r:id="rId51">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52">
                  <a:extLst>
                    <a:ext uri="{A12FA001-AC4F-418D-AE19-62706E023703}">
                      <ahyp:hlinkClr xmlns:ahyp="http://schemas.microsoft.com/office/drawing/2018/hyperlinkcolor" val="tx"/>
                    </a:ext>
                  </a:extLst>
                </a:hlinkClick>
              </a:rPr>
              <a:t>Barnes Dennig</a:t>
            </a:r>
            <a:r>
              <a:rPr sz="712" b="0" i="0" spc="4" dirty="0">
                <a:solidFill>
                  <a:srgbClr val="333231"/>
                </a:solidFill>
                <a:latin typeface="Calibri"/>
              </a:rPr>
              <a:t>; </a:t>
            </a:r>
            <a:r>
              <a:rPr sz="712" b="0" i="0" spc="4" dirty="0">
                <a:solidFill>
                  <a:srgbClr val="8C6239"/>
                </a:solidFill>
                <a:latin typeface="Calibri"/>
                <a:hlinkClick r:id="rId53">
                  <a:extLst>
                    <a:ext uri="{A12FA001-AC4F-418D-AE19-62706E023703}">
                      <ahyp:hlinkClr xmlns:ahyp="http://schemas.microsoft.com/office/drawing/2018/hyperlinkcolor" val="tx"/>
                    </a:ext>
                  </a:extLst>
                </a:hlinkClick>
              </a:rPr>
              <a:t>IQVIA Institute</a:t>
            </a:r>
            <a:r>
              <a:rPr sz="712" b="0" i="0" spc="4" dirty="0">
                <a:solidFill>
                  <a:srgbClr val="333231"/>
                </a:solidFill>
                <a:latin typeface="Calibri"/>
              </a:rPr>
              <a:t>; </a:t>
            </a:r>
            <a:r>
              <a:rPr sz="712" b="0" i="0" spc="4" dirty="0">
                <a:solidFill>
                  <a:srgbClr val="8C6239"/>
                </a:solidFill>
                <a:latin typeface="Calibri"/>
                <a:hlinkClick r:id="rId54">
                  <a:extLst>
                    <a:ext uri="{A12FA001-AC4F-418D-AE19-62706E023703}">
                      <ahyp:hlinkClr xmlns:ahyp="http://schemas.microsoft.com/office/drawing/2018/hyperlinkcolor" val="tx"/>
                    </a:ext>
                  </a:extLst>
                </a:hlinkClick>
              </a:rPr>
              <a:t>NCPA Digest</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err="1">
                <a:solidFill>
                  <a:srgbClr val="8C6239"/>
                </a:solidFill>
                <a:latin typeface="Calibri"/>
                <a:hlinkClick r:id="rId56">
                  <a:extLst>
                    <a:ext uri="{A12FA001-AC4F-418D-AE19-62706E023703}">
                      <ahyp:hlinkClr xmlns:ahyp="http://schemas.microsoft.com/office/drawing/2018/hyperlinkcolor" val="tx"/>
                    </a:ext>
                  </a:extLst>
                </a:hlinkClick>
              </a:rPr>
              <a:t>BrightSpring</a:t>
            </a:r>
            <a:r>
              <a:rPr sz="712" b="0" i="0" spc="4" dirty="0">
                <a:solidFill>
                  <a:srgbClr val="333231"/>
                </a:solidFill>
                <a:latin typeface="Calibri"/>
              </a:rPr>
              <a:t>; </a:t>
            </a:r>
            <a:r>
              <a:rPr sz="712" b="0" i="0" spc="4" dirty="0">
                <a:solidFill>
                  <a:srgbClr val="8C6239"/>
                </a:solidFill>
                <a:latin typeface="Calibri"/>
                <a:hlinkClick r:id="rId57">
                  <a:extLst>
                    <a:ext uri="{A12FA001-AC4F-418D-AE19-62706E023703}">
                      <ahyp:hlinkClr xmlns:ahyp="http://schemas.microsoft.com/office/drawing/2018/hyperlinkcolor" val="tx"/>
                    </a:ext>
                  </a:extLst>
                </a:hlinkClick>
              </a:rPr>
              <a:t>Staffing Industry Analysts</a:t>
            </a:r>
          </a:p>
          <a:p>
            <a:pPr algn="l">
              <a:lnSpc>
                <a:spcPts val="900"/>
              </a:lnSpc>
              <a:spcAft>
                <a:spcPts val="150"/>
              </a:spcAft>
            </a:pPr>
            <a:r>
              <a:rPr sz="600" b="1" i="0" spc="120" dirty="0">
                <a:solidFill>
                  <a:srgbClr val="1B1A1A"/>
                </a:solidFill>
                <a:latin typeface="Calibri"/>
              </a:rPr>
              <a:t>08 WHAT WE'RE READING</a:t>
            </a:r>
          </a:p>
          <a:p>
            <a:pPr algn="l">
              <a:lnSpc>
                <a:spcPts val="1050"/>
              </a:lnSpc>
              <a:spcAft>
                <a:spcPts val="819"/>
              </a:spcAft>
            </a:pP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r>
              <a:rPr sz="712" b="0" i="0" spc="4" dirty="0">
                <a:solidFill>
                  <a:srgbClr val="333231"/>
                </a:solidFill>
                <a:latin typeface="Calibri"/>
              </a:rPr>
              <a:t>; </a:t>
            </a:r>
            <a:r>
              <a:rPr sz="712" b="0" i="0" spc="4" dirty="0">
                <a:solidFill>
                  <a:srgbClr val="8C6239"/>
                </a:solidFill>
                <a:latin typeface="Calibri"/>
                <a:hlinkClick r:id="rId5">
                  <a:extLst>
                    <a:ext uri="{A12FA001-AC4F-418D-AE19-62706E023703}">
                      <ahyp:hlinkClr xmlns:ahyp="http://schemas.microsoft.com/office/drawing/2018/hyperlinkcolor" val="tx"/>
                    </a:ext>
                  </a:extLst>
                </a:hlinkClick>
              </a:rPr>
              <a:t>IQVIA</a:t>
            </a:r>
            <a:r>
              <a:rPr sz="712" b="0" i="0" spc="4" dirty="0">
                <a:solidFill>
                  <a:srgbClr val="333231"/>
                </a:solidFill>
                <a:latin typeface="Calibri"/>
              </a:rPr>
              <a:t>; </a:t>
            </a:r>
            <a:r>
              <a:rPr sz="712" b="0" i="0" spc="4" dirty="0">
                <a:solidFill>
                  <a:srgbClr val="8C6239"/>
                </a:solidFill>
                <a:latin typeface="Calibri"/>
                <a:hlinkClick r:id="rId58">
                  <a:extLst>
                    <a:ext uri="{A12FA001-AC4F-418D-AE19-62706E023703}">
                      <ahyp:hlinkClr xmlns:ahyp="http://schemas.microsoft.com/office/drawing/2018/hyperlinkcolor" val="tx"/>
                    </a:ext>
                  </a:extLst>
                </a:hlinkClick>
              </a:rPr>
              <a:t>MedTech Dive</a:t>
            </a:r>
            <a:r>
              <a:rPr sz="712" b="0" i="0" spc="4" dirty="0">
                <a:solidFill>
                  <a:srgbClr val="333231"/>
                </a:solidFill>
                <a:latin typeface="Calibri"/>
              </a:rPr>
              <a:t>; </a:t>
            </a:r>
            <a:r>
              <a:rPr sz="712" b="0" i="0" spc="4" dirty="0">
                <a:solidFill>
                  <a:srgbClr val="8C6239"/>
                </a:solidFill>
                <a:latin typeface="Calibri"/>
                <a:hlinkClick r:id="rId59">
                  <a:extLst>
                    <a:ext uri="{A12FA001-AC4F-418D-AE19-62706E023703}">
                      <ahyp:hlinkClr xmlns:ahyp="http://schemas.microsoft.com/office/drawing/2018/hyperlinkcolor" val="tx"/>
                    </a:ext>
                  </a:extLst>
                </a:hlinkClick>
              </a:rPr>
              <a:t>Drug Channels</a:t>
            </a:r>
          </a:p>
          <a:p>
            <a:pPr algn="l">
              <a:lnSpc>
                <a:spcPts val="900"/>
              </a:lnSpc>
              <a:spcAft>
                <a:spcPts val="150"/>
              </a:spcAft>
            </a:pPr>
            <a:r>
              <a:rPr sz="600" b="1" i="0" spc="120" dirty="0">
                <a:solidFill>
                  <a:srgbClr val="1B1A1A"/>
                </a:solidFill>
                <a:latin typeface="Calibri"/>
              </a:rPr>
              <a:t>10 HEALTHCARE SERVICES DEAL VOLUME HAS RESET</a:t>
            </a:r>
          </a:p>
          <a:p>
            <a:pPr algn="l">
              <a:lnSpc>
                <a:spcPts val="1050"/>
              </a:lnSpc>
              <a:spcAft>
                <a:spcPts val="819"/>
              </a:spcAft>
            </a:pPr>
            <a:r>
              <a:rPr sz="712" b="0" i="0" spc="4" dirty="0">
                <a:solidFill>
                  <a:srgbClr val="8C6239"/>
                </a:solidFill>
                <a:latin typeface="Calibri"/>
                <a:hlinkClick r:id="rId60">
                  <a:extLst>
                    <a:ext uri="{A12FA001-AC4F-418D-AE19-62706E023703}">
                      <ahyp:hlinkClr xmlns:ahyp="http://schemas.microsoft.com/office/drawing/2018/hyperlinkcolor" val="tx"/>
                    </a:ext>
                  </a:extLst>
                </a:hlinkClick>
              </a:rPr>
              <a:t>AMA</a:t>
            </a:r>
            <a:r>
              <a:rPr sz="712" b="0" i="0" spc="4" dirty="0">
                <a:solidFill>
                  <a:srgbClr val="333231"/>
                </a:solidFill>
                <a:latin typeface="Calibri"/>
              </a:rPr>
              <a:t>; </a:t>
            </a:r>
            <a:r>
              <a:rPr sz="712" b="0" i="0" spc="4" dirty="0">
                <a:solidFill>
                  <a:srgbClr val="8C6239"/>
                </a:solidFill>
                <a:latin typeface="Calibri"/>
                <a:hlinkClick r:id="rId27">
                  <a:extLst>
                    <a:ext uri="{A12FA001-AC4F-418D-AE19-62706E023703}">
                      <ahyp:hlinkClr xmlns:ahyp="http://schemas.microsoft.com/office/drawing/2018/hyperlinkcolor" val="tx"/>
                    </a:ext>
                  </a:extLst>
                </a:hlinkClick>
              </a:rPr>
              <a:t>Q4 2025 Healthcare Services Report</a:t>
            </a:r>
            <a:r>
              <a:rPr sz="712" b="0" i="0" spc="4" dirty="0">
                <a:solidFill>
                  <a:srgbClr val="333231"/>
                </a:solidFill>
                <a:latin typeface="Calibri"/>
              </a:rPr>
              <a:t>; </a:t>
            </a:r>
            <a:r>
              <a:rPr sz="712" b="0" i="0" spc="4" dirty="0" err="1">
                <a:solidFill>
                  <a:srgbClr val="8C6239"/>
                </a:solidFill>
                <a:latin typeface="Calibri"/>
                <a:hlinkClick r:id="rId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
                  <a:extLst>
                    <a:ext uri="{A12FA001-AC4F-418D-AE19-62706E023703}">
                      <ahyp:hlinkClr xmlns:ahyp="http://schemas.microsoft.com/office/drawing/2018/hyperlinkcolor" val="tx"/>
                    </a:ext>
                  </a:extLst>
                </a:hlinkClick>
              </a:rPr>
              <a:t> via Fierce Healthcare</a:t>
            </a:r>
          </a:p>
          <a:p>
            <a:pPr algn="l">
              <a:lnSpc>
                <a:spcPts val="900"/>
              </a:lnSpc>
              <a:spcAft>
                <a:spcPts val="150"/>
              </a:spcAft>
            </a:pPr>
            <a:r>
              <a:rPr sz="600" b="1" i="0" spc="120" dirty="0">
                <a:solidFill>
                  <a:srgbClr val="1B1A1A"/>
                </a:solidFill>
                <a:latin typeface="Calibri"/>
              </a:rPr>
              <a:t>12 SELECT RECENT HEALTHCARE M&amp;A TRANSACTIONS</a:t>
            </a:r>
          </a:p>
          <a:p>
            <a:pPr algn="l">
              <a:lnSpc>
                <a:spcPts val="1050"/>
              </a:lnSpc>
              <a:spcAft>
                <a:spcPts val="819"/>
              </a:spcAft>
            </a:pPr>
            <a:r>
              <a:rPr sz="712" b="0" i="0" spc="4" dirty="0" err="1">
                <a:solidFill>
                  <a:srgbClr val="8C6239"/>
                </a:solidFill>
                <a:latin typeface="Calibri"/>
                <a:hlinkClick r:id="rId61">
                  <a:extLst>
                    <a:ext uri="{A12FA001-AC4F-418D-AE19-62706E023703}">
                      <ahyp:hlinkClr xmlns:ahyp="http://schemas.microsoft.com/office/drawing/2018/hyperlinkcolor" val="tx"/>
                    </a:ext>
                  </a:extLst>
                </a:hlinkClick>
              </a:rPr>
              <a:t>EyeCare</a:t>
            </a:r>
            <a:r>
              <a:rPr sz="712" b="0" i="0" spc="4" dirty="0">
                <a:solidFill>
                  <a:srgbClr val="8C6239"/>
                </a:solidFill>
                <a:latin typeface="Calibri"/>
                <a:hlinkClick r:id="rId61">
                  <a:extLst>
                    <a:ext uri="{A12FA001-AC4F-418D-AE19-62706E023703}">
                      <ahyp:hlinkClr xmlns:ahyp="http://schemas.microsoft.com/office/drawing/2018/hyperlinkcolor" val="tx"/>
                    </a:ext>
                  </a:extLst>
                </a:hlinkClick>
              </a:rPr>
              <a:t> Partners</a:t>
            </a:r>
            <a:r>
              <a:rPr sz="712" b="0" i="0" spc="4" dirty="0">
                <a:solidFill>
                  <a:srgbClr val="333231"/>
                </a:solidFill>
                <a:latin typeface="Calibri"/>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Addus</a:t>
            </a:r>
            <a:r>
              <a:rPr sz="712" b="0" i="0" spc="4" dirty="0">
                <a:solidFill>
                  <a:srgbClr val="8C6239"/>
                </a:solidFill>
                <a:latin typeface="Calibri"/>
                <a:hlinkClick r:id="rId62">
                  <a:extLst>
                    <a:ext uri="{A12FA001-AC4F-418D-AE19-62706E023703}">
                      <ahyp:hlinkClr xmlns:ahyp="http://schemas.microsoft.com/office/drawing/2018/hyperlinkcolor" val="tx"/>
                    </a:ext>
                  </a:extLst>
                </a:hlinkClick>
              </a:rPr>
              <a:t> </a:t>
            </a:r>
            <a:r>
              <a:rPr sz="712" b="0" i="0" spc="4" dirty="0" err="1">
                <a:solidFill>
                  <a:srgbClr val="8C6239"/>
                </a:solidFill>
                <a:latin typeface="Calibri"/>
                <a:hlinkClick r:id="rId62">
                  <a:extLst>
                    <a:ext uri="{A12FA001-AC4F-418D-AE19-62706E023703}">
                      <ahyp:hlinkClr xmlns:ahyp="http://schemas.microsoft.com/office/drawing/2018/hyperlinkcolor" val="tx"/>
                    </a:ext>
                  </a:extLst>
                </a:hlinkClick>
              </a:rPr>
              <a:t>HomeCare</a:t>
            </a:r>
            <a:r>
              <a:rPr sz="712" b="0" i="0" spc="4" dirty="0">
                <a:solidFill>
                  <a:srgbClr val="333231"/>
                </a:solidFill>
                <a:latin typeface="Calibri"/>
              </a:rPr>
              <a:t>; </a:t>
            </a:r>
            <a:r>
              <a:rPr sz="712" b="0" i="0" spc="4" dirty="0">
                <a:solidFill>
                  <a:srgbClr val="8C6239"/>
                </a:solidFill>
                <a:latin typeface="Calibri"/>
                <a:hlinkClick r:id="rId63">
                  <a:extLst>
                    <a:ext uri="{A12FA001-AC4F-418D-AE19-62706E023703}">
                      <ahyp:hlinkClr xmlns:ahyp="http://schemas.microsoft.com/office/drawing/2018/hyperlinkcolor" val="tx"/>
                    </a:ext>
                  </a:extLst>
                </a:hlinkClick>
              </a:rPr>
              <a:t>Bio-Techne</a:t>
            </a:r>
            <a:r>
              <a:rPr sz="712" b="0" i="0" spc="4" dirty="0">
                <a:solidFill>
                  <a:srgbClr val="333231"/>
                </a:solidFill>
                <a:latin typeface="Calibri"/>
              </a:rPr>
              <a:t>; </a:t>
            </a:r>
            <a:r>
              <a:rPr sz="712" b="0" i="0" spc="4" dirty="0">
                <a:solidFill>
                  <a:srgbClr val="8C6239"/>
                </a:solidFill>
                <a:latin typeface="Calibri"/>
                <a:hlinkClick r:id="rId64">
                  <a:extLst>
                    <a:ext uri="{A12FA001-AC4F-418D-AE19-62706E023703}">
                      <ahyp:hlinkClr xmlns:ahyp="http://schemas.microsoft.com/office/drawing/2018/hyperlinkcolor" val="tx"/>
                    </a:ext>
                  </a:extLst>
                </a:hlinkClick>
              </a:rPr>
              <a:t>PE Professional</a:t>
            </a:r>
            <a:r>
              <a:rPr sz="712" b="0" i="0" spc="4" dirty="0">
                <a:solidFill>
                  <a:srgbClr val="333231"/>
                </a:solidFill>
                <a:latin typeface="Calibri"/>
              </a:rPr>
              <a:t>; </a:t>
            </a:r>
            <a:r>
              <a:rPr sz="712" b="0" i="0" spc="4" dirty="0">
                <a:solidFill>
                  <a:srgbClr val="8C6239"/>
                </a:solidFill>
                <a:latin typeface="Calibri"/>
                <a:hlinkClick r:id="rId65">
                  <a:extLst>
                    <a:ext uri="{A12FA001-AC4F-418D-AE19-62706E023703}">
                      <ahyp:hlinkClr xmlns:ahyp="http://schemas.microsoft.com/office/drawing/2018/hyperlinkcolor" val="tx"/>
                    </a:ext>
                  </a:extLst>
                </a:hlinkClick>
              </a:rPr>
              <a:t>Medical Design &amp; Outsourcing</a:t>
            </a:r>
            <a:r>
              <a:rPr sz="712" b="0" i="0" spc="4" dirty="0">
                <a:solidFill>
                  <a:srgbClr val="333231"/>
                </a:solidFill>
                <a:latin typeface="Calibri"/>
              </a:rPr>
              <a:t>; </a:t>
            </a:r>
            <a:r>
              <a:rPr sz="712" b="0" i="0" spc="4" dirty="0">
                <a:solidFill>
                  <a:srgbClr val="8C6239"/>
                </a:solidFill>
                <a:latin typeface="Calibri"/>
                <a:hlinkClick r:id="rId66">
                  <a:extLst>
                    <a:ext uri="{A12FA001-AC4F-418D-AE19-62706E023703}">
                      <ahyp:hlinkClr xmlns:ahyp="http://schemas.microsoft.com/office/drawing/2018/hyperlinkcolor" val="tx"/>
                    </a:ext>
                  </a:extLst>
                </a:hlinkClick>
              </a:rPr>
              <a:t>Staffing Industry Analysts</a:t>
            </a:r>
            <a:r>
              <a:rPr sz="712" b="0" i="0" spc="4" dirty="0">
                <a:solidFill>
                  <a:srgbClr val="333231"/>
                </a:solidFill>
                <a:latin typeface="Calibri"/>
              </a:rPr>
              <a:t>; </a:t>
            </a:r>
            <a:r>
              <a:rPr sz="712" b="0" i="0" spc="4" dirty="0">
                <a:solidFill>
                  <a:srgbClr val="8C6239"/>
                </a:solidFill>
                <a:latin typeface="Calibri"/>
                <a:hlinkClick r:id="rId67">
                  <a:extLst>
                    <a:ext uri="{A12FA001-AC4F-418D-AE19-62706E023703}">
                      <ahyp:hlinkClr xmlns:ahyp="http://schemas.microsoft.com/office/drawing/2018/hyperlinkcolor" val="tx"/>
                    </a:ext>
                  </a:extLst>
                </a:hlinkClick>
              </a:rPr>
              <a:t>Fierce Healthcare</a:t>
            </a:r>
          </a:p>
          <a:p>
            <a:pPr algn="l">
              <a:lnSpc>
                <a:spcPts val="900"/>
              </a:lnSpc>
              <a:spcAft>
                <a:spcPts val="150"/>
              </a:spcAft>
            </a:pPr>
            <a:r>
              <a:rPr sz="600" b="1" i="0" spc="120" dirty="0">
                <a:solidFill>
                  <a:srgbClr val="1B1A1A"/>
                </a:solidFill>
                <a:latin typeface="Calibri"/>
              </a:rPr>
              <a:t>13 BENCHMARK INTERNATIONAL'S HEALTHCARE TRANSACTIONS</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 International</a:t>
            </a:r>
            <a:r>
              <a:rPr sz="712" b="0" i="0" spc="4" dirty="0">
                <a:solidFill>
                  <a:srgbClr val="333231"/>
                </a:solidFill>
                <a:latin typeface="Calibri"/>
              </a:rPr>
              <a:t>; </a:t>
            </a:r>
            <a:r>
              <a:rPr sz="712" b="0" i="0" spc="4" dirty="0">
                <a:solidFill>
                  <a:srgbClr val="8C6239"/>
                </a:solidFill>
                <a:latin typeface="Calibri"/>
                <a:hlinkClick r:id="rId69">
                  <a:extLst>
                    <a:ext uri="{A12FA001-AC4F-418D-AE19-62706E023703}">
                      <ahyp:hlinkClr xmlns:ahyp="http://schemas.microsoft.com/office/drawing/2018/hyperlinkcolor" val="tx"/>
                    </a:ext>
                  </a:extLst>
                </a:hlinkClick>
              </a:rPr>
              <a:t>Benchmark International: Precise Bioscience</a:t>
            </a:r>
            <a:r>
              <a:rPr sz="712" b="0" i="0" spc="4" dirty="0">
                <a:solidFill>
                  <a:srgbClr val="333231"/>
                </a:solidFill>
                <a:latin typeface="Calibri"/>
              </a:rPr>
              <a:t>; </a:t>
            </a:r>
            <a:r>
              <a:rPr sz="712" b="0" i="0" spc="4" dirty="0">
                <a:solidFill>
                  <a:srgbClr val="8C6239"/>
                </a:solidFill>
                <a:latin typeface="Calibri"/>
                <a:hlinkClick r:id="rId70">
                  <a:extLst>
                    <a:ext uri="{A12FA001-AC4F-418D-AE19-62706E023703}">
                      <ahyp:hlinkClr xmlns:ahyp="http://schemas.microsoft.com/office/drawing/2018/hyperlinkcolor" val="tx"/>
                    </a:ext>
                  </a:extLst>
                </a:hlinkClick>
              </a:rPr>
              <a:t>Benchmark International: Formulation Technology</a:t>
            </a:r>
            <a:r>
              <a:rPr sz="712" b="0" i="0" spc="4" dirty="0">
                <a:solidFill>
                  <a:srgbClr val="333231"/>
                </a:solidFill>
                <a:latin typeface="Calibri"/>
              </a:rPr>
              <a:t>; </a:t>
            </a:r>
            <a:r>
              <a:rPr sz="712" b="0" i="0" spc="4" dirty="0">
                <a:solidFill>
                  <a:srgbClr val="8C6239"/>
                </a:solidFill>
                <a:latin typeface="Calibri"/>
                <a:hlinkClick r:id="rId71">
                  <a:extLst>
                    <a:ext uri="{A12FA001-AC4F-418D-AE19-62706E023703}">
                      <ahyp:hlinkClr xmlns:ahyp="http://schemas.microsoft.com/office/drawing/2018/hyperlinkcolor" val="tx"/>
                    </a:ext>
                  </a:extLst>
                </a:hlinkClick>
              </a:rPr>
              <a:t>Benchmark International: Fast Response On-Site Testing</a:t>
            </a:r>
            <a:r>
              <a:rPr sz="712" b="0" i="0" spc="4" dirty="0">
                <a:solidFill>
                  <a:srgbClr val="333231"/>
                </a:solidFill>
                <a:latin typeface="Calibri"/>
              </a:rPr>
              <a:t>; </a:t>
            </a:r>
            <a:r>
              <a:rPr sz="712" b="0" i="0" spc="4" dirty="0">
                <a:solidFill>
                  <a:srgbClr val="8C6239"/>
                </a:solidFill>
                <a:latin typeface="Calibri"/>
                <a:hlinkClick r:id="rId72">
                  <a:extLst>
                    <a:ext uri="{A12FA001-AC4F-418D-AE19-62706E023703}">
                      <ahyp:hlinkClr xmlns:ahyp="http://schemas.microsoft.com/office/drawing/2018/hyperlinkcolor" val="tx"/>
                    </a:ext>
                  </a:extLst>
                </a:hlinkClick>
              </a:rPr>
              <a:t>Benchmark International: Critical Environments Professionals, certification division</a:t>
            </a:r>
            <a:r>
              <a:rPr sz="712" b="0" i="0" spc="4" dirty="0">
                <a:solidFill>
                  <a:srgbClr val="333231"/>
                </a:solidFill>
                <a:latin typeface="Calibri"/>
              </a:rPr>
              <a:t>; </a:t>
            </a:r>
            <a:r>
              <a:rPr sz="712" b="0" i="0" spc="4" dirty="0">
                <a:solidFill>
                  <a:srgbClr val="8C6239"/>
                </a:solidFill>
                <a:latin typeface="Calibri"/>
                <a:hlinkClick r:id="rId73">
                  <a:extLst>
                    <a:ext uri="{A12FA001-AC4F-418D-AE19-62706E023703}">
                      <ahyp:hlinkClr xmlns:ahyp="http://schemas.microsoft.com/office/drawing/2018/hyperlinkcolor" val="tx"/>
                    </a:ext>
                  </a:extLst>
                </a:hlinkClick>
              </a:rPr>
              <a:t>Benchmark International: Dental Holdings</a:t>
            </a:r>
            <a:r>
              <a:rPr sz="712" b="0" i="0" spc="4" dirty="0">
                <a:solidFill>
                  <a:srgbClr val="333231"/>
                </a:solidFill>
                <a:latin typeface="Calibri"/>
              </a:rPr>
              <a:t>; </a:t>
            </a:r>
            <a:r>
              <a:rPr sz="712" b="0" i="0" spc="4" dirty="0">
                <a:solidFill>
                  <a:srgbClr val="8C6239"/>
                </a:solidFill>
                <a:latin typeface="Calibri"/>
                <a:hlinkClick r:id="rId74">
                  <a:extLst>
                    <a:ext uri="{A12FA001-AC4F-418D-AE19-62706E023703}">
                      <ahyp:hlinkClr xmlns:ahyp="http://schemas.microsoft.com/office/drawing/2018/hyperlinkcolor" val="tx"/>
                    </a:ext>
                  </a:extLst>
                </a:hlinkClick>
              </a:rPr>
              <a:t>Benchmark International: </a:t>
            </a:r>
            <a:r>
              <a:rPr sz="712" b="0" i="0" spc="4" dirty="0" err="1">
                <a:solidFill>
                  <a:srgbClr val="8C6239"/>
                </a:solidFill>
                <a:latin typeface="Calibri"/>
                <a:hlinkClick r:id="rId74">
                  <a:extLst>
                    <a:ext uri="{A12FA001-AC4F-418D-AE19-62706E023703}">
                      <ahyp:hlinkClr xmlns:ahyp="http://schemas.microsoft.com/office/drawing/2018/hyperlinkcolor" val="tx"/>
                    </a:ext>
                  </a:extLst>
                </a:hlinkClick>
              </a:rPr>
              <a:t>FosterBridge</a:t>
            </a:r>
            <a:r>
              <a:rPr sz="712" b="0" i="0" spc="4" dirty="0">
                <a:solidFill>
                  <a:srgbClr val="333231"/>
                </a:solidFill>
                <a:latin typeface="Calibri"/>
              </a:rPr>
              <a:t>; </a:t>
            </a:r>
            <a:r>
              <a:rPr sz="712" b="0" i="0" spc="4" dirty="0">
                <a:solidFill>
                  <a:srgbClr val="8C6239"/>
                </a:solidFill>
                <a:latin typeface="Calibri"/>
                <a:hlinkClick r:id="rId75">
                  <a:extLst>
                    <a:ext uri="{A12FA001-AC4F-418D-AE19-62706E023703}">
                      <ahyp:hlinkClr xmlns:ahyp="http://schemas.microsoft.com/office/drawing/2018/hyperlinkcolor" val="tx"/>
                    </a:ext>
                  </a:extLst>
                </a:hlinkClick>
              </a:rPr>
              <a:t>Benchmark International: Medical Temps</a:t>
            </a:r>
            <a:r>
              <a:rPr sz="712" b="0" i="0" spc="4" dirty="0">
                <a:solidFill>
                  <a:srgbClr val="333231"/>
                </a:solidFill>
                <a:latin typeface="Calibri"/>
              </a:rPr>
              <a:t>; </a:t>
            </a:r>
            <a:r>
              <a:rPr sz="712" b="0" i="0" spc="4" dirty="0">
                <a:solidFill>
                  <a:srgbClr val="8C6239"/>
                </a:solidFill>
                <a:latin typeface="Calibri"/>
                <a:hlinkClick r:id="rId76">
                  <a:extLst>
                    <a:ext uri="{A12FA001-AC4F-418D-AE19-62706E023703}">
                      <ahyp:hlinkClr xmlns:ahyp="http://schemas.microsoft.com/office/drawing/2018/hyperlinkcolor" val="tx"/>
                    </a:ext>
                  </a:extLst>
                </a:hlinkClick>
              </a:rPr>
              <a:t>Benchmark International: The Brooks Group and Associates</a:t>
            </a:r>
          </a:p>
          <a:p>
            <a:pPr algn="l">
              <a:lnSpc>
                <a:spcPts val="900"/>
              </a:lnSpc>
              <a:spcAft>
                <a:spcPts val="150"/>
              </a:spcAft>
            </a:pPr>
            <a:r>
              <a:rPr sz="600" b="1" i="0" spc="120" dirty="0">
                <a:solidFill>
                  <a:srgbClr val="1B1A1A"/>
                </a:solidFill>
                <a:latin typeface="Calibri"/>
              </a:rPr>
              <a:t>14 VALUATION MULTIPLES HAVE SHIFTED BY FOCUS AREA</a:t>
            </a:r>
          </a:p>
          <a:p>
            <a:pPr algn="l">
              <a:lnSpc>
                <a:spcPts val="1050"/>
              </a:lnSpc>
              <a:spcAft>
                <a:spcPts val="819"/>
              </a:spcAft>
            </a:pPr>
            <a:r>
              <a:rPr sz="712" b="0" i="0" spc="4" dirty="0" err="1">
                <a:solidFill>
                  <a:srgbClr val="8C6239"/>
                </a:solidFill>
                <a:latin typeface="Calibri"/>
                <a:hlinkClick r:id="rId22">
                  <a:extLst>
                    <a:ext uri="{A12FA001-AC4F-418D-AE19-62706E023703}">
                      <ahyp:hlinkClr xmlns:ahyp="http://schemas.microsoft.com/office/drawing/2018/hyperlinkcolor" val="tx"/>
                    </a:ext>
                  </a:extLst>
                </a:hlinkClick>
              </a:rPr>
              <a:t>PitchBook</a:t>
            </a:r>
            <a:r>
              <a:rPr sz="712" b="0" i="0" spc="4" dirty="0">
                <a:solidFill>
                  <a:srgbClr val="8C6239"/>
                </a:solidFill>
                <a:latin typeface="Calibri"/>
                <a:hlinkClick r:id="rId22">
                  <a:extLst>
                    <a:ext uri="{A12FA001-AC4F-418D-AE19-62706E023703}">
                      <ahyp:hlinkClr xmlns:ahyp="http://schemas.microsoft.com/office/drawing/2018/hyperlinkcolor" val="tx"/>
                    </a:ext>
                  </a:extLst>
                </a:hlinkClick>
              </a:rPr>
              <a:t> via Becker's ASC Review</a:t>
            </a:r>
            <a:r>
              <a:rPr sz="712" b="0" i="0" spc="4" dirty="0">
                <a:solidFill>
                  <a:srgbClr val="333231"/>
                </a:solidFill>
                <a:latin typeface="Calibri"/>
              </a:rPr>
              <a:t>; </a:t>
            </a:r>
            <a:r>
              <a:rPr sz="712" b="0" i="0" spc="4" dirty="0">
                <a:solidFill>
                  <a:srgbClr val="8C6239"/>
                </a:solidFill>
                <a:latin typeface="Calibri"/>
                <a:hlinkClick r:id="rId14">
                  <a:extLst>
                    <a:ext uri="{A12FA001-AC4F-418D-AE19-62706E023703}">
                      <ahyp:hlinkClr xmlns:ahyp="http://schemas.microsoft.com/office/drawing/2018/hyperlinkcolor" val="tx"/>
                    </a:ext>
                  </a:extLst>
                </a:hlinkClick>
              </a:rPr>
              <a:t>GF Data via ACG</a:t>
            </a:r>
            <a:r>
              <a:rPr sz="712" b="0" i="0" spc="4" dirty="0">
                <a:solidFill>
                  <a:srgbClr val="333231"/>
                </a:solidFill>
                <a:latin typeface="Calibri"/>
              </a:rPr>
              <a:t>; </a:t>
            </a:r>
            <a:r>
              <a:rPr sz="712" b="0" i="0" spc="4" dirty="0">
                <a:solidFill>
                  <a:srgbClr val="8C6239"/>
                </a:solidFill>
                <a:latin typeface="Calibri"/>
                <a:hlinkClick r:id="rId77">
                  <a:extLst>
                    <a:ext uri="{A12FA001-AC4F-418D-AE19-62706E023703}">
                      <ahyp:hlinkClr xmlns:ahyp="http://schemas.microsoft.com/office/drawing/2018/hyperlinkcolor" val="tx"/>
                    </a:ext>
                  </a:extLst>
                </a:hlinkClick>
              </a:rPr>
              <a:t>IBBA and M&amp;A Source</a:t>
            </a:r>
            <a:r>
              <a:rPr sz="712" b="0" i="0" spc="4" dirty="0">
                <a:solidFill>
                  <a:srgbClr val="333231"/>
                </a:solidFill>
                <a:latin typeface="Calibri"/>
              </a:rPr>
              <a:t>; </a:t>
            </a: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15 PUBLIC COMPANY STOCK PERFORMANCE: PAST 12 MONTHS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16 PUBLIC COMPANY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17 EARNINGS AND COMMENTARY</a:t>
            </a:r>
          </a:p>
          <a:p>
            <a:pPr>
              <a:lnSpc>
                <a:spcPts val="1050"/>
              </a:lnSpc>
              <a:spcAft>
                <a:spcPts val="819"/>
              </a:spcAft>
            </a:pPr>
            <a:r>
              <a:rPr sz="712" b="0" i="0" spc="4" dirty="0">
                <a:solidFill>
                  <a:srgbClr val="8C6239"/>
                </a:solidFill>
                <a:latin typeface="Calibri"/>
                <a:hlinkClick r:id="rId79">
                  <a:extLst>
                    <a:ext uri="{A12FA001-AC4F-418D-AE19-62706E023703}">
                      <ahyp:hlinkClr xmlns:ahyp="http://schemas.microsoft.com/office/drawing/2018/hyperlinkcolor" val="tx"/>
                    </a:ext>
                  </a:extLst>
                </a:hlinkClick>
              </a:rPr>
              <a:t>Ensign Group</a:t>
            </a:r>
            <a:r>
              <a:rPr sz="712" b="0" i="0" spc="4" dirty="0">
                <a:solidFill>
                  <a:srgbClr val="333231"/>
                </a:solidFill>
                <a:latin typeface="Calibri"/>
              </a:rPr>
              <a:t>; </a:t>
            </a:r>
            <a:r>
              <a:rPr sz="712" b="0" i="0" spc="4" dirty="0" err="1">
                <a:solidFill>
                  <a:srgbClr val="8C6239"/>
                </a:solidFill>
                <a:latin typeface="Calibri"/>
                <a:hlinkClick r:id="rId44">
                  <a:extLst>
                    <a:ext uri="{A12FA001-AC4F-418D-AE19-62706E023703}">
                      <ahyp:hlinkClr xmlns:ahyp="http://schemas.microsoft.com/office/drawing/2018/hyperlinkcolor" val="tx"/>
                    </a:ext>
                  </a:extLst>
                </a:hlinkClick>
              </a:rPr>
              <a:t>Medpace</a:t>
            </a:r>
            <a:r>
              <a:rPr sz="712" b="0" i="0" spc="4" dirty="0">
                <a:solidFill>
                  <a:srgbClr val="333231"/>
                </a:solidFill>
                <a:latin typeface="Calibri"/>
              </a:rPr>
              <a:t>; </a:t>
            </a:r>
            <a:r>
              <a:rPr sz="712" b="0" i="0" spc="4" dirty="0">
                <a:solidFill>
                  <a:srgbClr val="8C6239"/>
                </a:solidFill>
                <a:latin typeface="Calibri"/>
                <a:hlinkClick r:id="rId80">
                  <a:extLst>
                    <a:ext uri="{A12FA001-AC4F-418D-AE19-62706E023703}">
                      <ahyp:hlinkClr xmlns:ahyp="http://schemas.microsoft.com/office/drawing/2018/hyperlinkcolor" val="tx"/>
                    </a:ext>
                  </a:extLst>
                </a:hlinkClick>
              </a:rPr>
              <a:t>Quest Diagnostics</a:t>
            </a:r>
            <a:r>
              <a:rPr sz="712" b="0" i="0" spc="4" dirty="0">
                <a:solidFill>
                  <a:srgbClr val="333231"/>
                </a:solidFill>
                <a:latin typeface="Calibri"/>
              </a:rPr>
              <a:t>; </a:t>
            </a:r>
            <a:r>
              <a:rPr sz="712" b="0" i="0" spc="4" dirty="0" err="1">
                <a:solidFill>
                  <a:srgbClr val="8C6239"/>
                </a:solidFill>
                <a:latin typeface="Calibri"/>
                <a:hlinkClick r:id="rId81">
                  <a:extLst>
                    <a:ext uri="{A12FA001-AC4F-418D-AE19-62706E023703}">
                      <ahyp:hlinkClr xmlns:ahyp="http://schemas.microsoft.com/office/drawing/2018/hyperlinkcolor" val="tx"/>
                    </a:ext>
                  </a:extLst>
                </a:hlinkClick>
              </a:rPr>
              <a:t>Thermo</a:t>
            </a:r>
            <a:r>
              <a:rPr sz="712" b="0" i="0" spc="4" dirty="0">
                <a:solidFill>
                  <a:srgbClr val="8C6239"/>
                </a:solidFill>
                <a:latin typeface="Calibri"/>
                <a:hlinkClick r:id="rId81">
                  <a:extLst>
                    <a:ext uri="{A12FA001-AC4F-418D-AE19-62706E023703}">
                      <ahyp:hlinkClr xmlns:ahyp="http://schemas.microsoft.com/office/drawing/2018/hyperlinkcolor" val="tx"/>
                    </a:ext>
                  </a:extLst>
                </a:hlinkClick>
              </a:rPr>
              <a:t> Fisher Scientific</a:t>
            </a:r>
            <a:r>
              <a:rPr sz="712" b="0" i="0" spc="4" dirty="0">
                <a:solidFill>
                  <a:srgbClr val="333231"/>
                </a:solidFill>
                <a:latin typeface="Calibri"/>
              </a:rPr>
              <a:t>; </a:t>
            </a:r>
            <a:r>
              <a:rPr sz="712" b="0" i="0" spc="4" dirty="0">
                <a:solidFill>
                  <a:srgbClr val="8C6239"/>
                </a:solidFill>
                <a:latin typeface="Calibri"/>
                <a:hlinkClick r:id="rId47">
                  <a:extLst>
                    <a:ext uri="{A12FA001-AC4F-418D-AE19-62706E023703}">
                      <ahyp:hlinkClr xmlns:ahyp="http://schemas.microsoft.com/office/drawing/2018/hyperlinkcolor" val="tx"/>
                    </a:ext>
                  </a:extLst>
                </a:hlinkClick>
              </a:rPr>
              <a:t>Stryker</a:t>
            </a:r>
            <a:r>
              <a:rPr sz="712" b="0" i="0" spc="4" dirty="0">
                <a:solidFill>
                  <a:srgbClr val="333231"/>
                </a:solidFill>
                <a:latin typeface="Calibri"/>
              </a:rPr>
              <a:t>; </a:t>
            </a:r>
            <a:r>
              <a:rPr sz="712" b="0" i="0" spc="4" dirty="0">
                <a:solidFill>
                  <a:srgbClr val="8C6239"/>
                </a:solidFill>
                <a:latin typeface="Calibri"/>
                <a:hlinkClick r:id="rId82">
                  <a:extLst>
                    <a:ext uri="{A12FA001-AC4F-418D-AE19-62706E023703}">
                      <ahyp:hlinkClr xmlns:ahyp="http://schemas.microsoft.com/office/drawing/2018/hyperlinkcolor" val="tx"/>
                    </a:ext>
                  </a:extLst>
                </a:hlinkClick>
              </a:rPr>
              <a:t>HCA Healthcare</a:t>
            </a:r>
            <a:r>
              <a:rPr sz="712" b="0" i="0" spc="4" dirty="0">
                <a:solidFill>
                  <a:srgbClr val="333231"/>
                </a:solidFill>
                <a:latin typeface="Calibri"/>
              </a:rPr>
              <a:t>; </a:t>
            </a:r>
            <a:r>
              <a:rPr sz="712" b="0" i="0" spc="4" dirty="0">
                <a:solidFill>
                  <a:srgbClr val="8C6239"/>
                </a:solidFill>
                <a:latin typeface="Calibri"/>
                <a:hlinkClick r:id="rId83">
                  <a:extLst>
                    <a:ext uri="{A12FA001-AC4F-418D-AE19-62706E023703}">
                      <ahyp:hlinkClr xmlns:ahyp="http://schemas.microsoft.com/office/drawing/2018/hyperlinkcolor" val="tx"/>
                    </a:ext>
                  </a:extLst>
                </a:hlinkClick>
              </a:rPr>
              <a:t>IQVIA earnings release</a:t>
            </a:r>
            <a:r>
              <a:rPr sz="712" b="0" i="0" spc="4" dirty="0">
                <a:solidFill>
                  <a:srgbClr val="333231"/>
                </a:solidFill>
                <a:latin typeface="Calibri"/>
              </a:rPr>
              <a:t>; </a:t>
            </a:r>
            <a:r>
              <a:rPr sz="712" b="0" i="0" spc="4" dirty="0">
                <a:solidFill>
                  <a:srgbClr val="8C6239"/>
                </a:solidFill>
                <a:latin typeface="Calibri"/>
                <a:hlinkClick r:id="rId84">
                  <a:extLst>
                    <a:ext uri="{A12FA001-AC4F-418D-AE19-62706E023703}">
                      <ahyp:hlinkClr xmlns:ahyp="http://schemas.microsoft.com/office/drawing/2018/hyperlinkcolor" val="tx"/>
                    </a:ext>
                  </a:extLst>
                </a:hlinkClick>
              </a:rPr>
              <a:t>U.S. Physical Therapy</a:t>
            </a:r>
            <a:r>
              <a:rPr sz="712" b="0" i="0" spc="4" dirty="0">
                <a:solidFill>
                  <a:srgbClr val="333231"/>
                </a:solidFill>
                <a:latin typeface="Calibri"/>
              </a:rPr>
              <a:t>; </a:t>
            </a:r>
            <a:r>
              <a:rPr lang="en-US" sz="712" b="0" i="0" spc="4" dirty="0" err="1">
                <a:solidFill>
                  <a:srgbClr val="8C6239"/>
                </a:solidFill>
                <a:latin typeface="Calibri"/>
                <a:hlinkClick r:id="rId85"/>
              </a:rPr>
              <a:t>Addus</a:t>
            </a:r>
            <a:r>
              <a:rPr lang="en-US" sz="712" b="0" i="0" spc="4" dirty="0">
                <a:solidFill>
                  <a:srgbClr val="8C6239"/>
                </a:solidFill>
                <a:latin typeface="Calibri"/>
                <a:hlinkClick r:id="rId85"/>
              </a:rPr>
              <a:t> </a:t>
            </a:r>
            <a:r>
              <a:rPr lang="en-US" sz="712" b="0" i="0" spc="4" dirty="0" err="1">
                <a:solidFill>
                  <a:srgbClr val="8C6239"/>
                </a:solidFill>
                <a:latin typeface="Calibri"/>
                <a:hlinkClick r:id="rId85"/>
              </a:rPr>
              <a:t>HomeCare</a:t>
            </a:r>
            <a:r>
              <a:rPr sz="712" b="0" i="0" spc="4" dirty="0">
                <a:solidFill>
                  <a:srgbClr val="333231"/>
                </a:solidFill>
                <a:latin typeface="Calibri"/>
              </a:rPr>
              <a:t>; </a:t>
            </a:r>
            <a:r>
              <a:rPr sz="712" b="0" i="0" spc="4" dirty="0">
                <a:solidFill>
                  <a:srgbClr val="8C6239"/>
                </a:solidFill>
                <a:latin typeface="Calibri"/>
                <a:hlinkClick r:id="rId86">
                  <a:extLst>
                    <a:ext uri="{A12FA001-AC4F-418D-AE19-62706E023703}">
                      <ahyp:hlinkClr xmlns:ahyp="http://schemas.microsoft.com/office/drawing/2018/hyperlinkcolor" val="tx"/>
                    </a:ext>
                  </a:extLst>
                </a:hlinkClick>
              </a:rPr>
              <a:t>McKesson</a:t>
            </a:r>
            <a:r>
              <a:rPr sz="712" b="0" i="0" spc="4" dirty="0">
                <a:solidFill>
                  <a:srgbClr val="333231"/>
                </a:solidFill>
                <a:latin typeface="Calibri"/>
              </a:rPr>
              <a:t>; </a:t>
            </a:r>
            <a:r>
              <a:rPr sz="712" b="0" i="0" spc="4" dirty="0">
                <a:solidFill>
                  <a:srgbClr val="8C6239"/>
                </a:solidFill>
                <a:latin typeface="Calibri"/>
                <a:hlinkClick r:id="rId87">
                  <a:extLst>
                    <a:ext uri="{A12FA001-AC4F-418D-AE19-62706E023703}">
                      <ahyp:hlinkClr xmlns:ahyp="http://schemas.microsoft.com/office/drawing/2018/hyperlinkcolor" val="tx"/>
                    </a:ext>
                  </a:extLst>
                </a:hlinkClick>
              </a:rPr>
              <a:t>Steris</a:t>
            </a:r>
            <a:r>
              <a:rPr sz="712" b="0" i="0" spc="4" dirty="0">
                <a:solidFill>
                  <a:srgbClr val="333231"/>
                </a:solidFill>
                <a:latin typeface="Calibri"/>
              </a:rPr>
              <a:t>; </a:t>
            </a:r>
            <a:r>
              <a:rPr sz="712" b="0" i="0" spc="4" dirty="0">
                <a:solidFill>
                  <a:srgbClr val="8C6239"/>
                </a:solidFill>
                <a:latin typeface="Calibri"/>
                <a:hlinkClick r:id="rId88">
                  <a:extLst>
                    <a:ext uri="{A12FA001-AC4F-418D-AE19-62706E023703}">
                      <ahyp:hlinkClr xmlns:ahyp="http://schemas.microsoft.com/office/drawing/2018/hyperlinkcolor" val="tx"/>
                    </a:ext>
                  </a:extLst>
                </a:hlinkClick>
              </a:rPr>
              <a:t>Tenet Healthcare</a:t>
            </a:r>
            <a:r>
              <a:rPr sz="712" b="0" i="0" spc="4" dirty="0">
                <a:solidFill>
                  <a:srgbClr val="333231"/>
                </a:solidFill>
                <a:latin typeface="Calibri"/>
              </a:rPr>
              <a:t>; </a:t>
            </a:r>
            <a:r>
              <a:rPr sz="712" b="0" i="0" spc="4" dirty="0">
                <a:solidFill>
                  <a:srgbClr val="8C6239"/>
                </a:solidFill>
                <a:latin typeface="Calibri"/>
                <a:hlinkClick r:id="rId89">
                  <a:extLst>
                    <a:ext uri="{A12FA001-AC4F-418D-AE19-62706E023703}">
                      <ahyp:hlinkClr xmlns:ahyp="http://schemas.microsoft.com/office/drawing/2018/hyperlinkcolor" val="tx"/>
                    </a:ext>
                  </a:extLst>
                </a:hlinkClick>
              </a:rPr>
              <a:t>Henry Schein</a:t>
            </a:r>
            <a:r>
              <a:rPr sz="712" b="0" i="0" spc="4" dirty="0">
                <a:solidFill>
                  <a:srgbClr val="333231"/>
                </a:solidFill>
                <a:latin typeface="Calibri"/>
              </a:rPr>
              <a:t>; </a:t>
            </a:r>
            <a:r>
              <a:rPr sz="712" b="0" i="0" spc="4" dirty="0">
                <a:solidFill>
                  <a:srgbClr val="8C6239"/>
                </a:solidFill>
                <a:latin typeface="Calibri"/>
                <a:hlinkClick r:id="rId90">
                  <a:extLst>
                    <a:ext uri="{A12FA001-AC4F-418D-AE19-62706E023703}">
                      <ahyp:hlinkClr xmlns:ahyp="http://schemas.microsoft.com/office/drawing/2018/hyperlinkcolor" val="tx"/>
                    </a:ext>
                  </a:extLst>
                </a:hlinkClick>
              </a:rPr>
              <a:t>Cardinal Health</a:t>
            </a:r>
            <a:r>
              <a:rPr sz="712" b="0" i="0" spc="4" dirty="0">
                <a:solidFill>
                  <a:srgbClr val="333231"/>
                </a:solidFill>
                <a:latin typeface="Calibri"/>
              </a:rPr>
              <a:t>; </a:t>
            </a:r>
            <a:r>
              <a:rPr sz="712" b="0" i="0" spc="4" dirty="0" err="1">
                <a:solidFill>
                  <a:srgbClr val="8C6239"/>
                </a:solidFill>
                <a:latin typeface="Calibri"/>
                <a:hlinkClick r:id="rId91">
                  <a:extLst>
                    <a:ext uri="{A12FA001-AC4F-418D-AE19-62706E023703}">
                      <ahyp:hlinkClr xmlns:ahyp="http://schemas.microsoft.com/office/drawing/2018/hyperlinkcolor" val="tx"/>
                    </a:ext>
                  </a:extLst>
                </a:hlinkClick>
              </a:rPr>
              <a:t>Labcorp</a:t>
            </a:r>
            <a:r>
              <a:rPr sz="712" b="0" i="0" spc="4" dirty="0">
                <a:solidFill>
                  <a:srgbClr val="333231"/>
                </a:solidFill>
                <a:latin typeface="Calibri"/>
              </a:rPr>
              <a:t>; </a:t>
            </a:r>
            <a:r>
              <a:rPr sz="712" b="0" i="0" spc="4" dirty="0">
                <a:solidFill>
                  <a:srgbClr val="8C6239"/>
                </a:solidFill>
                <a:latin typeface="Calibri"/>
                <a:hlinkClick r:id="rId55">
                  <a:extLst>
                    <a:ext uri="{A12FA001-AC4F-418D-AE19-62706E023703}">
                      <ahyp:hlinkClr xmlns:ahyp="http://schemas.microsoft.com/office/drawing/2018/hyperlinkcolor" val="tx"/>
                    </a:ext>
                  </a:extLst>
                </a:hlinkClick>
              </a:rPr>
              <a:t>Guardian Pharmacy Services</a:t>
            </a:r>
            <a:r>
              <a:rPr sz="712" b="0" i="0" spc="4" dirty="0">
                <a:solidFill>
                  <a:srgbClr val="333231"/>
                </a:solidFill>
                <a:latin typeface="Calibri"/>
              </a:rPr>
              <a:t>; </a:t>
            </a:r>
            <a:r>
              <a:rPr sz="712" b="0" i="0" spc="4" dirty="0">
                <a:solidFill>
                  <a:srgbClr val="8C6239"/>
                </a:solidFill>
                <a:latin typeface="Calibri"/>
                <a:hlinkClick r:id="rId92">
                  <a:extLst>
                    <a:ext uri="{A12FA001-AC4F-418D-AE19-62706E023703}">
                      <ahyp:hlinkClr xmlns:ahyp="http://schemas.microsoft.com/office/drawing/2018/hyperlinkcolor" val="tx"/>
                    </a:ext>
                  </a:extLst>
                </a:hlinkClick>
              </a:rPr>
              <a:t>AMN Healthcare</a:t>
            </a:r>
            <a:r>
              <a:rPr sz="712" b="0" i="0" spc="4" dirty="0">
                <a:solidFill>
                  <a:srgbClr val="333231"/>
                </a:solidFill>
                <a:latin typeface="Calibri"/>
              </a:rPr>
              <a:t>; </a:t>
            </a:r>
            <a:r>
              <a:rPr sz="712" spc="4" dirty="0">
                <a:solidFill>
                  <a:srgbClr val="8C6239"/>
                </a:solidFill>
                <a:latin typeface="Calibri"/>
                <a:hlinkClick r:id="rId93">
                  <a:extLst>
                    <a:ext uri="{A12FA001-AC4F-418D-AE19-62706E023703}">
                      <ahyp:hlinkClr xmlns:ahyp="http://schemas.microsoft.com/office/drawing/2018/hyperlinkcolor" val="tx"/>
                    </a:ext>
                  </a:extLst>
                </a:hlinkClick>
              </a:rPr>
              <a:t>Option Care Health</a:t>
            </a:r>
            <a:r>
              <a:rPr lang="en-US" sz="712" spc="4" dirty="0">
                <a:solidFill>
                  <a:srgbClr val="8C6239"/>
                </a:solidFill>
                <a:latin typeface="Calibri"/>
              </a:rPr>
              <a:t>; </a:t>
            </a:r>
            <a:r>
              <a:rPr lang="en-US" sz="712" spc="4" dirty="0">
                <a:solidFill>
                  <a:srgbClr val="8C6239"/>
                </a:solidFill>
                <a:hlinkClick r:id="rId90"/>
              </a:rPr>
              <a:t>Cardinal Health</a:t>
            </a:r>
            <a:endParaRPr lang="en-US" sz="712" spc="4" dirty="0">
              <a:solidFill>
                <a:srgbClr val="8C6239"/>
              </a:solidFill>
            </a:endParaRPr>
          </a:p>
          <a:p>
            <a:pPr>
              <a:lnSpc>
                <a:spcPts val="1050"/>
              </a:lnSpc>
              <a:spcAft>
                <a:spcPts val="819"/>
              </a:spcAft>
            </a:pPr>
            <a:endParaRPr lang="en-US" sz="712" spc="4" dirty="0">
              <a:solidFill>
                <a:srgbClr val="8C6239"/>
              </a:solidFill>
            </a:endParaRPr>
          </a:p>
          <a:p>
            <a:pPr>
              <a:lnSpc>
                <a:spcPts val="1050"/>
              </a:lnSpc>
              <a:spcAft>
                <a:spcPts val="819"/>
              </a:spcAft>
            </a:pPr>
            <a:r>
              <a:rPr sz="600" b="1" i="0" spc="120" dirty="0">
                <a:solidFill>
                  <a:srgbClr val="1B1A1A"/>
                </a:solidFill>
                <a:latin typeface="Calibri"/>
              </a:rPr>
              <a:t>21 BENCHMARK INTERNATIONAL</a:t>
            </a:r>
          </a:p>
          <a:p>
            <a:pPr algn="l">
              <a:lnSpc>
                <a:spcPts val="1050"/>
              </a:lnSpc>
              <a:spcAft>
                <a:spcPts val="819"/>
              </a:spcAft>
            </a:pPr>
            <a:r>
              <a:rPr sz="712" b="0" i="0" spc="4" dirty="0">
                <a:solidFill>
                  <a:srgbClr val="8C6239"/>
                </a:solidFill>
                <a:latin typeface="Calibri"/>
                <a:hlinkClick r:id="rId68">
                  <a:extLst>
                    <a:ext uri="{A12FA001-AC4F-418D-AE19-62706E023703}">
                      <ahyp:hlinkClr xmlns:ahyp="http://schemas.microsoft.com/office/drawing/2018/hyperlinkcolor" val="tx"/>
                    </a:ext>
                  </a:extLst>
                </a:hlinkClick>
              </a:rPr>
              <a:t>benchmarkintl.com</a:t>
            </a:r>
          </a:p>
          <a:p>
            <a:pPr algn="l">
              <a:lnSpc>
                <a:spcPts val="900"/>
              </a:lnSpc>
              <a:spcAft>
                <a:spcPts val="150"/>
              </a:spcAft>
            </a:pPr>
            <a:r>
              <a:rPr sz="600" b="1" i="0" spc="120" dirty="0">
                <a:solidFill>
                  <a:srgbClr val="1B1A1A"/>
                </a:solidFill>
                <a:latin typeface="Calibri"/>
              </a:rPr>
              <a:t>23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a:p>
            <a:pPr algn="l">
              <a:lnSpc>
                <a:spcPts val="900"/>
              </a:lnSpc>
              <a:spcAft>
                <a:spcPts val="150"/>
              </a:spcAft>
            </a:pPr>
            <a:r>
              <a:rPr sz="600" b="1" i="0" spc="120" dirty="0">
                <a:solidFill>
                  <a:srgbClr val="1B1A1A"/>
                </a:solidFill>
                <a:latin typeface="Calibri"/>
              </a:rPr>
              <a:t>24 APPENDIX: PUBLIC MARKET OPERATING AND VALUATION METRICS</a:t>
            </a:r>
          </a:p>
          <a:p>
            <a:pPr algn="l">
              <a:lnSpc>
                <a:spcPts val="1050"/>
              </a:lnSpc>
              <a:spcAft>
                <a:spcPts val="819"/>
              </a:spcAft>
            </a:pPr>
            <a:r>
              <a:rPr sz="712" b="0" i="0" spc="4" dirty="0" err="1">
                <a:solidFill>
                  <a:srgbClr val="8C6239"/>
                </a:solidFill>
                <a:latin typeface="Calibri"/>
                <a:hlinkClick r:id="rId78">
                  <a:extLst>
                    <a:ext uri="{A12FA001-AC4F-418D-AE19-62706E023703}">
                      <ahyp:hlinkClr xmlns:ahyp="http://schemas.microsoft.com/office/drawing/2018/hyperlinkcolor" val="tx"/>
                    </a:ext>
                  </a:extLst>
                </a:hlinkClick>
              </a:rPr>
              <a:t>StockAnalysis</a:t>
            </a:r>
            <a:endParaRPr sz="712" b="0" i="0" spc="4" dirty="0">
              <a:solidFill>
                <a:srgbClr val="8C6239"/>
              </a:solidFill>
              <a:latin typeface="Calibri"/>
              <a:hlinkClick r:id="rId78">
                <a:extLst>
                  <a:ext uri="{A12FA001-AC4F-418D-AE19-62706E023703}">
                    <ahyp:hlinkClr xmlns:ahyp="http://schemas.microsoft.com/office/drawing/2018/hyperlinkcolor" val="tx"/>
                  </a:ext>
                </a:extLst>
              </a:hlinkClick>
            </a:endParaRPr>
          </a:p>
        </p:txBody>
      </p:sp>
      <p:sp>
        <p:nvSpPr>
          <p:cNvPr id="9" name="Rectangle 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9" descr="Benchmark International"/>
          <p:cNvPicPr>
            <a:picLocks noChangeAspect="1"/>
          </p:cNvPicPr>
          <p:nvPr/>
        </p:nvPicPr>
        <p:blipFill>
          <a:blip r:embed="rId94"/>
          <a:srcRect/>
          <a:stretch>
            <a:fillRect/>
          </a:stretch>
        </p:blipFill>
        <p:spPr>
          <a:xfrm>
            <a:off x="419100" y="7143750"/>
            <a:ext cx="914400" cy="171450"/>
          </a:xfrm>
          <a:prstGeom prst="rect">
            <a:avLst/>
          </a:prstGeom>
        </p:spPr>
      </p:pic>
      <p:sp>
        <p:nvSpPr>
          <p:cNvPr id="11" name="Text: Listed-company data pages at "/>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Listed-company data pages at </a:t>
            </a:r>
            <a:r>
              <a:rPr sz="675" b="0" i="0" spc="8">
                <a:solidFill>
                  <a:srgbClr val="8C6239"/>
                </a:solidFill>
                <a:latin typeface="Calibri"/>
                <a:hlinkClick r:id="rId78">
                  <a:extLst>
                    <a:ext uri="{A12FA001-AC4F-418D-AE19-62706E023703}">
                      <ahyp:hlinkClr xmlns:ahyp="http://schemas.microsoft.com/office/drawing/2018/hyperlinkcolor" val="tx"/>
                    </a:ext>
                  </a:extLst>
                </a:hlinkClick>
              </a:rPr>
              <a:t>StockAnalysis</a:t>
            </a:r>
            <a:r>
              <a:rPr sz="675" b="0" i="0" spc="8">
                <a:solidFill>
                  <a:srgbClr val="6F6A66"/>
                </a:solidFill>
                <a:latin typeface="Calibri"/>
              </a:rPr>
              <a:t> are linked from each company name in the landscape and appendix pages.</a:t>
            </a:r>
          </a:p>
        </p:txBody>
      </p:sp>
      <p:sp>
        <p:nvSpPr>
          <p:cNvPr id="12" name="Text: 25"/>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TotalTime>
  <Words>8466</Words>
  <Application>Microsoft Office PowerPoint</Application>
  <PresentationFormat>Custom</PresentationFormat>
  <Paragraphs>1371</Paragraphs>
  <Slides>25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Q4 2026 Sector Brief</dc:title>
  <dc:subject/>
  <dc:creator>Benchmark Capital Markets</dc:creator>
  <cp:keywords/>
  <dc:description>generated using python-pptx</dc:description>
  <cp:lastModifiedBy>Jason Lisiak</cp:lastModifiedBy>
  <cp:revision>5</cp:revision>
  <dcterms:created xsi:type="dcterms:W3CDTF">2013-01-27T09:14:16Z</dcterms:created>
  <dcterms:modified xsi:type="dcterms:W3CDTF">2026-10-14T13:27:31Z</dcterms:modified>
  <cp:category/>
</cp:coreProperties>
</file>