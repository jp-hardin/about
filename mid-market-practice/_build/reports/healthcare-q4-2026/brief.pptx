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0058400" cy="7772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8" d="100"/>
          <a:sy n="98" d="100"/>
        </p:scale>
        <p:origin x="1200"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US national health expenditures by year</c:v>
                </c:pt>
              </c:strCache>
            </c:strRef>
          </c:tx>
          <c:invertIfNegative val="1"/>
          <c:dPt>
            <c:idx val="0"/>
            <c:invertIfNegative val="1"/>
            <c:bubble3D val="0"/>
            <c:spPr>
              <a:solidFill>
                <a:srgbClr val="1B1A1A"/>
              </a:solidFill>
            </c:spPr>
            <c:extLst>
              <c:ext xmlns:c16="http://schemas.microsoft.com/office/drawing/2014/chart" uri="{C3380CC4-5D6E-409C-BE32-E72D297353CC}">
                <c16:uniqueId val="{00000001-265E-44B6-B150-EF3CB1485320}"/>
              </c:ext>
            </c:extLst>
          </c:dPt>
          <c:dPt>
            <c:idx val="1"/>
            <c:invertIfNegative val="1"/>
            <c:bubble3D val="0"/>
            <c:spPr>
              <a:solidFill>
                <a:srgbClr val="1B1A1A"/>
              </a:solidFill>
            </c:spPr>
            <c:extLst>
              <c:ext xmlns:c16="http://schemas.microsoft.com/office/drawing/2014/chart" uri="{C3380CC4-5D6E-409C-BE32-E72D297353CC}">
                <c16:uniqueId val="{00000003-265E-44B6-B150-EF3CB1485320}"/>
              </c:ext>
            </c:extLst>
          </c:dPt>
          <c:dPt>
            <c:idx val="2"/>
            <c:invertIfNegative val="1"/>
            <c:bubble3D val="0"/>
            <c:spPr>
              <a:solidFill>
                <a:srgbClr val="1B1A1A"/>
              </a:solidFill>
            </c:spPr>
            <c:extLst>
              <c:ext xmlns:c16="http://schemas.microsoft.com/office/drawing/2014/chart" uri="{C3380CC4-5D6E-409C-BE32-E72D297353CC}">
                <c16:uniqueId val="{00000005-265E-44B6-B150-EF3CB1485320}"/>
              </c:ext>
            </c:extLst>
          </c:dPt>
          <c:dPt>
            <c:idx val="3"/>
            <c:invertIfNegative val="1"/>
            <c:bubble3D val="0"/>
            <c:spPr>
              <a:solidFill>
                <a:srgbClr val="1B1A1A"/>
              </a:solidFill>
            </c:spPr>
            <c:extLst>
              <c:ext xmlns:c16="http://schemas.microsoft.com/office/drawing/2014/chart" uri="{C3380CC4-5D6E-409C-BE32-E72D297353CC}">
                <c16:uniqueId val="{00000007-265E-44B6-B150-EF3CB1485320}"/>
              </c:ext>
            </c:extLst>
          </c:dPt>
          <c:dPt>
            <c:idx val="4"/>
            <c:invertIfNegative val="1"/>
            <c:bubble3D val="0"/>
            <c:spPr>
              <a:solidFill>
                <a:srgbClr val="1B1A1A"/>
              </a:solidFill>
            </c:spPr>
            <c:extLst>
              <c:ext xmlns:c16="http://schemas.microsoft.com/office/drawing/2014/chart" uri="{C3380CC4-5D6E-409C-BE32-E72D297353CC}">
                <c16:uniqueId val="{00000009-265E-44B6-B150-EF3CB1485320}"/>
              </c:ext>
            </c:extLst>
          </c:dPt>
          <c:dPt>
            <c:idx val="5"/>
            <c:invertIfNegative val="1"/>
            <c:bubble3D val="0"/>
            <c:spPr>
              <a:solidFill>
                <a:srgbClr val="1B1A1A"/>
              </a:solidFill>
            </c:spPr>
            <c:extLst>
              <c:ext xmlns:c16="http://schemas.microsoft.com/office/drawing/2014/chart" uri="{C3380CC4-5D6E-409C-BE32-E72D297353CC}">
                <c16:uniqueId val="{0000000B-265E-44B6-B150-EF3CB1485320}"/>
              </c:ext>
            </c:extLst>
          </c:dPt>
          <c:dPt>
            <c:idx val="6"/>
            <c:invertIfNegative val="1"/>
            <c:bubble3D val="0"/>
            <c:spPr>
              <a:solidFill>
                <a:srgbClr val="1B1A1A"/>
              </a:solidFill>
            </c:spPr>
            <c:extLst>
              <c:ext xmlns:c16="http://schemas.microsoft.com/office/drawing/2014/chart" uri="{C3380CC4-5D6E-409C-BE32-E72D297353CC}">
                <c16:uniqueId val="{0000000D-265E-44B6-B150-EF3CB1485320}"/>
              </c:ext>
            </c:extLst>
          </c:dPt>
          <c:dPt>
            <c:idx val="7"/>
            <c:invertIfNegative val="1"/>
            <c:bubble3D val="0"/>
            <c:spPr>
              <a:solidFill>
                <a:srgbClr val="1B1A1A"/>
              </a:solidFill>
            </c:spPr>
            <c:extLst>
              <c:ext xmlns:c16="http://schemas.microsoft.com/office/drawing/2014/chart" uri="{C3380CC4-5D6E-409C-BE32-E72D297353CC}">
                <c16:uniqueId val="{0000000F-265E-44B6-B150-EF3CB1485320}"/>
              </c:ext>
            </c:extLst>
          </c:dPt>
          <c:dPt>
            <c:idx val="8"/>
            <c:invertIfNegative val="1"/>
            <c:bubble3D val="0"/>
            <c:spPr>
              <a:solidFill>
                <a:srgbClr val="1B1A1A"/>
              </a:solidFill>
            </c:spPr>
            <c:extLst>
              <c:ext xmlns:c16="http://schemas.microsoft.com/office/drawing/2014/chart" uri="{C3380CC4-5D6E-409C-BE32-E72D297353CC}">
                <c16:uniqueId val="{00000011-265E-44B6-B150-EF3CB1485320}"/>
              </c:ext>
            </c:extLst>
          </c:dPt>
          <c:dPt>
            <c:idx val="9"/>
            <c:invertIfNegative val="1"/>
            <c:bubble3D val="0"/>
            <c:spPr>
              <a:solidFill>
                <a:srgbClr val="C3BDB6"/>
              </a:solidFill>
            </c:spPr>
            <c:extLst>
              <c:ext xmlns:c16="http://schemas.microsoft.com/office/drawing/2014/chart" uri="{C3380CC4-5D6E-409C-BE32-E72D297353CC}">
                <c16:uniqueId val="{00000013-265E-44B6-B150-EF3CB1485320}"/>
              </c:ext>
            </c:extLst>
          </c:dPt>
          <c:dPt>
            <c:idx val="10"/>
            <c:invertIfNegative val="1"/>
            <c:bubble3D val="0"/>
            <c:spPr>
              <a:solidFill>
                <a:srgbClr val="C3BDB6"/>
              </a:solidFill>
            </c:spPr>
            <c:extLst>
              <c:ext xmlns:c16="http://schemas.microsoft.com/office/drawing/2014/chart" uri="{C3380CC4-5D6E-409C-BE32-E72D297353CC}">
                <c16:uniqueId val="{00000015-265E-44B6-B150-EF3CB1485320}"/>
              </c:ext>
            </c:extLst>
          </c:dPt>
          <c:dLbls>
            <c:numFmt formatCode="&quot;$&quot;0.0&quot;T&quot;" sourceLinked="0"/>
            <c:spPr>
              <a:noFill/>
              <a:ln>
                <a:noFill/>
              </a:ln>
              <a:effectLst/>
            </c:spPr>
            <c:txPr>
              <a:bodyPr/>
              <a:lstStyle/>
              <a:p>
                <a:pPr>
                  <a:defRPr sz="750" b="1">
                    <a:solidFill>
                      <a:srgbClr val="1B1A1A"/>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2016</c:v>
                </c:pt>
                <c:pt idx="1">
                  <c:v>2017</c:v>
                </c:pt>
                <c:pt idx="2">
                  <c:v>2018</c:v>
                </c:pt>
                <c:pt idx="3">
                  <c:v>2019</c:v>
                </c:pt>
                <c:pt idx="4">
                  <c:v>2020</c:v>
                </c:pt>
                <c:pt idx="5">
                  <c:v>2021</c:v>
                </c:pt>
                <c:pt idx="6">
                  <c:v>2022</c:v>
                </c:pt>
                <c:pt idx="7">
                  <c:v>2023</c:v>
                </c:pt>
                <c:pt idx="8">
                  <c:v>2024</c:v>
                </c:pt>
                <c:pt idx="9">
                  <c:v>2025</c:v>
                </c:pt>
                <c:pt idx="10">
                  <c:v>2026</c:v>
                </c:pt>
              </c:strCache>
            </c:strRef>
          </c:cat>
          <c:val>
            <c:numRef>
              <c:f>Sheet1!$B$2:$B$12</c:f>
              <c:numCache>
                <c:formatCode>General</c:formatCode>
                <c:ptCount val="11"/>
                <c:pt idx="0">
                  <c:v>3.3</c:v>
                </c:pt>
                <c:pt idx="1">
                  <c:v>3.5</c:v>
                </c:pt>
                <c:pt idx="2">
                  <c:v>3.6</c:v>
                </c:pt>
                <c:pt idx="3">
                  <c:v>3.8</c:v>
                </c:pt>
                <c:pt idx="4">
                  <c:v>4.0999999999999996</c:v>
                </c:pt>
                <c:pt idx="5">
                  <c:v>4.3</c:v>
                </c:pt>
                <c:pt idx="6">
                  <c:v>4.5</c:v>
                </c:pt>
                <c:pt idx="7">
                  <c:v>4.9000000000000004</c:v>
                </c:pt>
                <c:pt idx="8">
                  <c:v>5.3</c:v>
                </c:pt>
                <c:pt idx="9">
                  <c:v>5.7</c:v>
                </c:pt>
                <c:pt idx="10">
                  <c:v>6</c:v>
                </c:pt>
              </c:numCache>
            </c:numRef>
          </c:val>
          <c:extLst>
            <c:ext xmlns:c16="http://schemas.microsoft.com/office/drawing/2014/chart" uri="{C3380CC4-5D6E-409C-BE32-E72D297353CC}">
              <c16:uniqueId val="{00000016-265E-44B6-B150-EF3CB1485320}"/>
            </c:ext>
          </c:extLst>
        </c:ser>
        <c:dLbls>
          <c:dLblPos val="outEnd"/>
          <c:showLegendKey val="0"/>
          <c:showVal val="1"/>
          <c:showCatName val="0"/>
          <c:showSerName val="0"/>
          <c:showPercent val="0"/>
          <c:showBubbleSize val="0"/>
        </c:dLbls>
        <c:gapWidth val="61"/>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C3BDB6"/>
            </a:solidFill>
          </a:ln>
        </c:spPr>
        <c:txPr>
          <a:bodyPr/>
          <a:lstStyle/>
          <a:p>
            <a:pPr>
              <a:defRPr sz="700" b="0">
                <a:solidFill>
                  <a:srgbClr val="6F6A66"/>
                </a:solidFill>
                <a:latin typeface="Calibri"/>
              </a:defRPr>
            </a:pPr>
            <a:endParaRPr lang="en-US"/>
          </a:p>
        </c:txPr>
        <c:crossAx val="-2113994440"/>
        <c:crosses val="autoZero"/>
        <c:auto val="1"/>
        <c:lblAlgn val="ctr"/>
        <c:lblOffset val="100"/>
        <c:noMultiLvlLbl val="0"/>
      </c:catAx>
      <c:valAx>
        <c:axId val="-2113994440"/>
        <c:scaling>
          <c:orientation val="minMax"/>
          <c:max val="6.9"/>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Announced hospital and health system transactions by year</c:v>
                </c:pt>
              </c:strCache>
            </c:strRef>
          </c:tx>
          <c:invertIfNegative val="1"/>
          <c:dPt>
            <c:idx val="0"/>
            <c:invertIfNegative val="1"/>
            <c:bubble3D val="0"/>
            <c:spPr>
              <a:solidFill>
                <a:srgbClr val="1B1A1A"/>
              </a:solidFill>
            </c:spPr>
            <c:extLst>
              <c:ext xmlns:c16="http://schemas.microsoft.com/office/drawing/2014/chart" uri="{C3380CC4-5D6E-409C-BE32-E72D297353CC}">
                <c16:uniqueId val="{00000001-FDE0-4DE4-82D9-2A8D70A078AE}"/>
              </c:ext>
            </c:extLst>
          </c:dPt>
          <c:dPt>
            <c:idx val="1"/>
            <c:invertIfNegative val="1"/>
            <c:bubble3D val="0"/>
            <c:spPr>
              <a:solidFill>
                <a:srgbClr val="1B1A1A"/>
              </a:solidFill>
            </c:spPr>
            <c:extLst>
              <c:ext xmlns:c16="http://schemas.microsoft.com/office/drawing/2014/chart" uri="{C3380CC4-5D6E-409C-BE32-E72D297353CC}">
                <c16:uniqueId val="{00000003-FDE0-4DE4-82D9-2A8D70A078AE}"/>
              </c:ext>
            </c:extLst>
          </c:dPt>
          <c:dPt>
            <c:idx val="2"/>
            <c:invertIfNegative val="1"/>
            <c:bubble3D val="0"/>
            <c:spPr>
              <a:solidFill>
                <a:srgbClr val="1B1A1A"/>
              </a:solidFill>
            </c:spPr>
            <c:extLst>
              <c:ext xmlns:c16="http://schemas.microsoft.com/office/drawing/2014/chart" uri="{C3380CC4-5D6E-409C-BE32-E72D297353CC}">
                <c16:uniqueId val="{00000005-FDE0-4DE4-82D9-2A8D70A078AE}"/>
              </c:ext>
            </c:extLst>
          </c:dPt>
          <c:dPt>
            <c:idx val="3"/>
            <c:invertIfNegative val="1"/>
            <c:bubble3D val="0"/>
            <c:spPr>
              <a:solidFill>
                <a:srgbClr val="1B1A1A"/>
              </a:solidFill>
            </c:spPr>
            <c:extLst>
              <c:ext xmlns:c16="http://schemas.microsoft.com/office/drawing/2014/chart" uri="{C3380CC4-5D6E-409C-BE32-E72D297353CC}">
                <c16:uniqueId val="{00000007-FDE0-4DE4-82D9-2A8D70A078AE}"/>
              </c:ext>
            </c:extLst>
          </c:dPt>
          <c:dPt>
            <c:idx val="4"/>
            <c:invertIfNegative val="1"/>
            <c:bubble3D val="0"/>
            <c:spPr>
              <a:solidFill>
                <a:srgbClr val="1B1A1A"/>
              </a:solidFill>
            </c:spPr>
            <c:extLst>
              <c:ext xmlns:c16="http://schemas.microsoft.com/office/drawing/2014/chart" uri="{C3380CC4-5D6E-409C-BE32-E72D297353CC}">
                <c16:uniqueId val="{00000009-FDE0-4DE4-82D9-2A8D70A078AE}"/>
              </c:ext>
            </c:extLst>
          </c:dPt>
          <c:dPt>
            <c:idx val="5"/>
            <c:invertIfNegative val="1"/>
            <c:bubble3D val="0"/>
            <c:spPr>
              <a:solidFill>
                <a:srgbClr val="1B1A1A"/>
              </a:solidFill>
            </c:spPr>
            <c:extLst>
              <c:ext xmlns:c16="http://schemas.microsoft.com/office/drawing/2014/chart" uri="{C3380CC4-5D6E-409C-BE32-E72D297353CC}">
                <c16:uniqueId val="{0000000B-FDE0-4DE4-82D9-2A8D70A078AE}"/>
              </c:ext>
            </c:extLst>
          </c:dPt>
          <c:dPt>
            <c:idx val="6"/>
            <c:invertIfNegative val="1"/>
            <c:bubble3D val="0"/>
            <c:spPr>
              <a:solidFill>
                <a:srgbClr val="1B1A1A"/>
              </a:solidFill>
            </c:spPr>
            <c:extLst>
              <c:ext xmlns:c16="http://schemas.microsoft.com/office/drawing/2014/chart" uri="{C3380CC4-5D6E-409C-BE32-E72D297353CC}">
                <c16:uniqueId val="{0000000D-FDE0-4DE4-82D9-2A8D70A078AE}"/>
              </c:ext>
            </c:extLst>
          </c:dPt>
          <c:dPt>
            <c:idx val="7"/>
            <c:invertIfNegative val="1"/>
            <c:bubble3D val="0"/>
            <c:spPr>
              <a:solidFill>
                <a:srgbClr val="1B1A1A"/>
              </a:solidFill>
            </c:spPr>
            <c:extLst>
              <c:ext xmlns:c16="http://schemas.microsoft.com/office/drawing/2014/chart" uri="{C3380CC4-5D6E-409C-BE32-E72D297353CC}">
                <c16:uniqueId val="{0000000F-FDE0-4DE4-82D9-2A8D70A078AE}"/>
              </c:ext>
            </c:extLst>
          </c:dPt>
          <c:dPt>
            <c:idx val="8"/>
            <c:invertIfNegative val="1"/>
            <c:bubble3D val="0"/>
            <c:spPr>
              <a:solidFill>
                <a:srgbClr val="1B1A1A"/>
              </a:solidFill>
            </c:spPr>
            <c:extLst>
              <c:ext xmlns:c16="http://schemas.microsoft.com/office/drawing/2014/chart" uri="{C3380CC4-5D6E-409C-BE32-E72D297353CC}">
                <c16:uniqueId val="{00000011-FDE0-4DE4-82D9-2A8D70A078AE}"/>
              </c:ext>
            </c:extLst>
          </c:dPt>
          <c:dPt>
            <c:idx val="9"/>
            <c:invertIfNegative val="1"/>
            <c:bubble3D val="0"/>
            <c:spPr>
              <a:solidFill>
                <a:srgbClr val="C3BDB6"/>
              </a:solidFill>
            </c:spPr>
            <c:extLst>
              <c:ext xmlns:c16="http://schemas.microsoft.com/office/drawing/2014/chart" uri="{C3380CC4-5D6E-409C-BE32-E72D297353CC}">
                <c16:uniqueId val="{00000013-FDE0-4DE4-82D9-2A8D70A078AE}"/>
              </c:ext>
            </c:extLst>
          </c:dPt>
          <c:dLbls>
            <c:numFmt formatCode="0" sourceLinked="0"/>
            <c:spPr>
              <a:noFill/>
              <a:ln>
                <a:noFill/>
              </a:ln>
              <a:effectLst/>
            </c:spPr>
            <c:txPr>
              <a:bodyPr/>
              <a:lstStyle/>
              <a:p>
                <a:pPr>
                  <a:defRPr sz="750" b="1">
                    <a:solidFill>
                      <a:srgbClr val="1B1A1A"/>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2017</c:v>
                </c:pt>
                <c:pt idx="1">
                  <c:v>2018</c:v>
                </c:pt>
                <c:pt idx="2">
                  <c:v>2019</c:v>
                </c:pt>
                <c:pt idx="3">
                  <c:v>2020</c:v>
                </c:pt>
                <c:pt idx="4">
                  <c:v>2021</c:v>
                </c:pt>
                <c:pt idx="5">
                  <c:v>2022</c:v>
                </c:pt>
                <c:pt idx="6">
                  <c:v>2023</c:v>
                </c:pt>
                <c:pt idx="7">
                  <c:v>2024</c:v>
                </c:pt>
                <c:pt idx="8">
                  <c:v>2025</c:v>
                </c:pt>
                <c:pt idx="9">
                  <c:v>1H 2026</c:v>
                </c:pt>
              </c:strCache>
            </c:strRef>
          </c:cat>
          <c:val>
            <c:numRef>
              <c:f>Sheet1!$B$2:$B$11</c:f>
              <c:numCache>
                <c:formatCode>General</c:formatCode>
                <c:ptCount val="10"/>
                <c:pt idx="0">
                  <c:v>117</c:v>
                </c:pt>
                <c:pt idx="1">
                  <c:v>90</c:v>
                </c:pt>
                <c:pt idx="2">
                  <c:v>92</c:v>
                </c:pt>
                <c:pt idx="3">
                  <c:v>79</c:v>
                </c:pt>
                <c:pt idx="4">
                  <c:v>49</c:v>
                </c:pt>
                <c:pt idx="5">
                  <c:v>53</c:v>
                </c:pt>
                <c:pt idx="6">
                  <c:v>65</c:v>
                </c:pt>
                <c:pt idx="7">
                  <c:v>72</c:v>
                </c:pt>
                <c:pt idx="8">
                  <c:v>46</c:v>
                </c:pt>
                <c:pt idx="9">
                  <c:v>40</c:v>
                </c:pt>
              </c:numCache>
            </c:numRef>
          </c:val>
          <c:extLst>
            <c:ext xmlns:c16="http://schemas.microsoft.com/office/drawing/2014/chart" uri="{C3380CC4-5D6E-409C-BE32-E72D297353CC}">
              <c16:uniqueId val="{00000014-FDE0-4DE4-82D9-2A8D70A078AE}"/>
            </c:ext>
          </c:extLst>
        </c:ser>
        <c:dLbls>
          <c:dLblPos val="outEnd"/>
          <c:showLegendKey val="0"/>
          <c:showVal val="1"/>
          <c:showCatName val="0"/>
          <c:showSerName val="0"/>
          <c:showPercent val="0"/>
          <c:showBubbleSize val="0"/>
        </c:dLbls>
        <c:gapWidth val="61"/>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C3BDB6"/>
            </a:solidFill>
          </a:ln>
        </c:spPr>
        <c:txPr>
          <a:bodyPr/>
          <a:lstStyle/>
          <a:p>
            <a:pPr>
              <a:defRPr sz="700" b="0">
                <a:solidFill>
                  <a:srgbClr val="6F6A66"/>
                </a:solidFill>
                <a:latin typeface="Calibri"/>
              </a:defRPr>
            </a:pPr>
            <a:endParaRPr lang="en-US"/>
          </a:p>
        </c:txPr>
        <c:crossAx val="-2113994440"/>
        <c:crosses val="autoZero"/>
        <c:auto val="1"/>
        <c:lblAlgn val="ctr"/>
        <c:lblOffset val="100"/>
        <c:noMultiLvlLbl val="0"/>
      </c:catAx>
      <c:valAx>
        <c:axId val="-2113994440"/>
        <c:scaling>
          <c:orientation val="minMax"/>
          <c:max val="132"/>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Health care employment</c:v>
                </c:pt>
              </c:strCache>
            </c:strRef>
          </c:tx>
          <c:spPr>
            <a:ln w="22225">
              <a:solidFill>
                <a:srgbClr val="1B1A1A"/>
              </a:solidFill>
            </a:ln>
          </c:spPr>
          <c:marker>
            <c:symbol val="none"/>
          </c:marker>
          <c:dLbls>
            <c:dLbl>
              <c:idx val="60"/>
              <c:layout>
                <c:manualLayout>
                  <c:x val="-4.1095890410959068E-2"/>
                  <c:y val="-4.2666666666666665E-2"/>
                </c:manualLayout>
              </c:layout>
              <c:numFmt formatCode="0.0&quot;M&quot;" sourceLinked="0"/>
              <c:spPr/>
              <c:txPr>
                <a:bodyPr/>
                <a:lstStyle/>
                <a:p>
                  <a:pPr>
                    <a:defRPr sz="800" b="1">
                      <a:solidFill>
                        <a:srgbClr val="1B1A1A"/>
                      </a:solidFill>
                      <a:latin typeface="Calibri"/>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B61-4B78-8C5C-2573290FC75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Sheet1!$A$2:$A$62</c:f>
              <c:numCache>
                <c:formatCode>yyyy\-mm\-dd</c:formatCode>
                <c:ptCount val="61"/>
                <c:pt idx="0">
                  <c:v>44440</c:v>
                </c:pt>
                <c:pt idx="1">
                  <c:v>44470</c:v>
                </c:pt>
                <c:pt idx="2">
                  <c:v>44501</c:v>
                </c:pt>
                <c:pt idx="3">
                  <c:v>44531</c:v>
                </c:pt>
                <c:pt idx="4">
                  <c:v>44562</c:v>
                </c:pt>
                <c:pt idx="5">
                  <c:v>44593</c:v>
                </c:pt>
                <c:pt idx="6">
                  <c:v>44621</c:v>
                </c:pt>
                <c:pt idx="7">
                  <c:v>44652</c:v>
                </c:pt>
                <c:pt idx="8">
                  <c:v>44682</c:v>
                </c:pt>
                <c:pt idx="9">
                  <c:v>44713</c:v>
                </c:pt>
                <c:pt idx="10">
                  <c:v>44743</c:v>
                </c:pt>
                <c:pt idx="11">
                  <c:v>44774</c:v>
                </c:pt>
                <c:pt idx="12">
                  <c:v>44805</c:v>
                </c:pt>
                <c:pt idx="13">
                  <c:v>44835</c:v>
                </c:pt>
                <c:pt idx="14">
                  <c:v>44866</c:v>
                </c:pt>
                <c:pt idx="15">
                  <c:v>44896</c:v>
                </c:pt>
                <c:pt idx="16">
                  <c:v>44927</c:v>
                </c:pt>
                <c:pt idx="17">
                  <c:v>44958</c:v>
                </c:pt>
                <c:pt idx="18">
                  <c:v>44986</c:v>
                </c:pt>
                <c:pt idx="19">
                  <c:v>45017</c:v>
                </c:pt>
                <c:pt idx="20">
                  <c:v>45047</c:v>
                </c:pt>
                <c:pt idx="21">
                  <c:v>45078</c:v>
                </c:pt>
                <c:pt idx="22">
                  <c:v>45108</c:v>
                </c:pt>
                <c:pt idx="23">
                  <c:v>45139</c:v>
                </c:pt>
                <c:pt idx="24">
                  <c:v>45170</c:v>
                </c:pt>
                <c:pt idx="25">
                  <c:v>45200</c:v>
                </c:pt>
                <c:pt idx="26">
                  <c:v>45231</c:v>
                </c:pt>
                <c:pt idx="27">
                  <c:v>45261</c:v>
                </c:pt>
                <c:pt idx="28">
                  <c:v>45292</c:v>
                </c:pt>
                <c:pt idx="29">
                  <c:v>45323</c:v>
                </c:pt>
                <c:pt idx="30">
                  <c:v>45352</c:v>
                </c:pt>
                <c:pt idx="31">
                  <c:v>45383</c:v>
                </c:pt>
                <c:pt idx="32">
                  <c:v>45413</c:v>
                </c:pt>
                <c:pt idx="33">
                  <c:v>45444</c:v>
                </c:pt>
                <c:pt idx="34">
                  <c:v>45474</c:v>
                </c:pt>
                <c:pt idx="35">
                  <c:v>45505</c:v>
                </c:pt>
                <c:pt idx="36">
                  <c:v>45536</c:v>
                </c:pt>
                <c:pt idx="37">
                  <c:v>45566</c:v>
                </c:pt>
                <c:pt idx="38">
                  <c:v>45597</c:v>
                </c:pt>
                <c:pt idx="39">
                  <c:v>45627</c:v>
                </c:pt>
                <c:pt idx="40">
                  <c:v>45658</c:v>
                </c:pt>
                <c:pt idx="41">
                  <c:v>45689</c:v>
                </c:pt>
                <c:pt idx="42">
                  <c:v>45717</c:v>
                </c:pt>
                <c:pt idx="43">
                  <c:v>45748</c:v>
                </c:pt>
                <c:pt idx="44">
                  <c:v>45778</c:v>
                </c:pt>
                <c:pt idx="45">
                  <c:v>45809</c:v>
                </c:pt>
                <c:pt idx="46">
                  <c:v>45839</c:v>
                </c:pt>
                <c:pt idx="47">
                  <c:v>45870</c:v>
                </c:pt>
                <c:pt idx="48">
                  <c:v>45901</c:v>
                </c:pt>
                <c:pt idx="49">
                  <c:v>45931</c:v>
                </c:pt>
                <c:pt idx="50">
                  <c:v>45962</c:v>
                </c:pt>
                <c:pt idx="51">
                  <c:v>45992</c:v>
                </c:pt>
                <c:pt idx="52">
                  <c:v>46023</c:v>
                </c:pt>
                <c:pt idx="53">
                  <c:v>46054</c:v>
                </c:pt>
                <c:pt idx="54">
                  <c:v>46082</c:v>
                </c:pt>
                <c:pt idx="55">
                  <c:v>46113</c:v>
                </c:pt>
                <c:pt idx="56">
                  <c:v>46143</c:v>
                </c:pt>
                <c:pt idx="57">
                  <c:v>46174</c:v>
                </c:pt>
                <c:pt idx="58">
                  <c:v>46204</c:v>
                </c:pt>
                <c:pt idx="59">
                  <c:v>46235</c:v>
                </c:pt>
                <c:pt idx="60">
                  <c:v>46266</c:v>
                </c:pt>
              </c:numCache>
            </c:numRef>
          </c:cat>
          <c:val>
            <c:numRef>
              <c:f>Sheet1!$B$2:$B$62</c:f>
              <c:numCache>
                <c:formatCode>General</c:formatCode>
                <c:ptCount val="61"/>
                <c:pt idx="0">
                  <c:v>15.975899999999999</c:v>
                </c:pt>
                <c:pt idx="1">
                  <c:v>15.9993</c:v>
                </c:pt>
                <c:pt idx="2">
                  <c:v>16.0185</c:v>
                </c:pt>
                <c:pt idx="3">
                  <c:v>16.032799999999998</c:v>
                </c:pt>
                <c:pt idx="4">
                  <c:v>16.032599999999999</c:v>
                </c:pt>
                <c:pt idx="5">
                  <c:v>16.089299999999998</c:v>
                </c:pt>
                <c:pt idx="6">
                  <c:v>16.1206</c:v>
                </c:pt>
                <c:pt idx="7">
                  <c:v>16.1678</c:v>
                </c:pt>
                <c:pt idx="8">
                  <c:v>16.206700000000001</c:v>
                </c:pt>
                <c:pt idx="9">
                  <c:v>16.257999999999999</c:v>
                </c:pt>
                <c:pt idx="10">
                  <c:v>16.327100000000002</c:v>
                </c:pt>
                <c:pt idx="11">
                  <c:v>16.375499999999999</c:v>
                </c:pt>
                <c:pt idx="12">
                  <c:v>16.435700000000001</c:v>
                </c:pt>
                <c:pt idx="13">
                  <c:v>16.498699999999999</c:v>
                </c:pt>
                <c:pt idx="14">
                  <c:v>16.547000000000001</c:v>
                </c:pt>
                <c:pt idx="15">
                  <c:v>16.6037</c:v>
                </c:pt>
                <c:pt idx="16">
                  <c:v>16.657799999999998</c:v>
                </c:pt>
                <c:pt idx="17">
                  <c:v>16.6996</c:v>
                </c:pt>
                <c:pt idx="18">
                  <c:v>16.743500000000001</c:v>
                </c:pt>
                <c:pt idx="19">
                  <c:v>16.787099999999999</c:v>
                </c:pt>
                <c:pt idx="20">
                  <c:v>16.8367</c:v>
                </c:pt>
                <c:pt idx="21">
                  <c:v>16.897099999999998</c:v>
                </c:pt>
                <c:pt idx="22">
                  <c:v>16.968799999999998</c:v>
                </c:pt>
                <c:pt idx="23">
                  <c:v>17.037500000000001</c:v>
                </c:pt>
                <c:pt idx="24">
                  <c:v>17.098599999999998</c:v>
                </c:pt>
                <c:pt idx="25">
                  <c:v>17.151199999999999</c:v>
                </c:pt>
                <c:pt idx="26">
                  <c:v>17.2272</c:v>
                </c:pt>
                <c:pt idx="27">
                  <c:v>17.275599999999997</c:v>
                </c:pt>
                <c:pt idx="28">
                  <c:v>17.332900000000002</c:v>
                </c:pt>
                <c:pt idx="29">
                  <c:v>17.3978</c:v>
                </c:pt>
                <c:pt idx="30">
                  <c:v>17.471299999999999</c:v>
                </c:pt>
                <c:pt idx="31">
                  <c:v>17.5322</c:v>
                </c:pt>
                <c:pt idx="32">
                  <c:v>17.579099999999997</c:v>
                </c:pt>
                <c:pt idx="33">
                  <c:v>17.624500000000001</c:v>
                </c:pt>
                <c:pt idx="34">
                  <c:v>17.659099999999999</c:v>
                </c:pt>
                <c:pt idx="35">
                  <c:v>17.6953</c:v>
                </c:pt>
                <c:pt idx="36">
                  <c:v>17.746599999999997</c:v>
                </c:pt>
                <c:pt idx="37">
                  <c:v>17.806900000000002</c:v>
                </c:pt>
                <c:pt idx="38">
                  <c:v>17.864999999999998</c:v>
                </c:pt>
                <c:pt idx="39">
                  <c:v>17.908099999999997</c:v>
                </c:pt>
                <c:pt idx="40">
                  <c:v>17.9438</c:v>
                </c:pt>
                <c:pt idx="41">
                  <c:v>17.980499999999999</c:v>
                </c:pt>
                <c:pt idx="42">
                  <c:v>18.028099999999998</c:v>
                </c:pt>
                <c:pt idx="43">
                  <c:v>17.989900000000002</c:v>
                </c:pt>
                <c:pt idx="44">
                  <c:v>18.0288</c:v>
                </c:pt>
                <c:pt idx="45">
                  <c:v>18.064700000000002</c:v>
                </c:pt>
                <c:pt idx="46">
                  <c:v>18.1266</c:v>
                </c:pt>
                <c:pt idx="47">
                  <c:v>18.142199999999999</c:v>
                </c:pt>
                <c:pt idx="48">
                  <c:v>18.181799999999999</c:v>
                </c:pt>
                <c:pt idx="49">
                  <c:v>18.215400000000002</c:v>
                </c:pt>
                <c:pt idx="50">
                  <c:v>18.265400000000003</c:v>
                </c:pt>
                <c:pt idx="51">
                  <c:v>18.295300000000001</c:v>
                </c:pt>
                <c:pt idx="52">
                  <c:v>18.363599999999998</c:v>
                </c:pt>
                <c:pt idx="53">
                  <c:v>18.3307</c:v>
                </c:pt>
                <c:pt idx="54">
                  <c:v>18.411099999999998</c:v>
                </c:pt>
                <c:pt idx="55">
                  <c:v>18.4465</c:v>
                </c:pt>
                <c:pt idx="56">
                  <c:v>18.476200000000002</c:v>
                </c:pt>
                <c:pt idx="57">
                  <c:v>18.494599999999998</c:v>
                </c:pt>
                <c:pt idx="58">
                  <c:v>18.512499999999999</c:v>
                </c:pt>
                <c:pt idx="59">
                  <c:v>18.536900000000003</c:v>
                </c:pt>
                <c:pt idx="60">
                  <c:v>18.553599999999999</c:v>
                </c:pt>
              </c:numCache>
            </c:numRef>
          </c:val>
          <c:smooth val="0"/>
          <c:extLst>
            <c:ext xmlns:c16="http://schemas.microsoft.com/office/drawing/2014/chart" uri="{C3380CC4-5D6E-409C-BE32-E72D297353CC}">
              <c16:uniqueId val="{00000001-9B61-4B78-8C5C-2573290FC754}"/>
            </c:ext>
          </c:extLst>
        </c:ser>
        <c:dLbls>
          <c:showLegendKey val="0"/>
          <c:showVal val="0"/>
          <c:showCatName val="0"/>
          <c:showSerName val="0"/>
          <c:showPercent val="0"/>
          <c:showBubbleSize val="0"/>
        </c:dLbls>
        <c:smooth val="0"/>
        <c:axId val="2118791784"/>
        <c:axId val="2140495176"/>
      </c:lineChart>
      <c:dateAx>
        <c:axId val="2118791784"/>
        <c:scaling>
          <c:orientation val="minMax"/>
        </c:scaling>
        <c:delete val="0"/>
        <c:axPos val="b"/>
        <c:numFmt formatCode="mmm\ \'yy" sourceLinked="0"/>
        <c:majorTickMark val="none"/>
        <c:minorTickMark val="none"/>
        <c:tickLblPos val="nextTo"/>
        <c:spPr>
          <a:ln>
            <a:solidFill>
              <a:srgbClr val="E3DCD3"/>
            </a:solidFill>
          </a:ln>
        </c:spPr>
        <c:txPr>
          <a:bodyPr rot="0" vert="horz"/>
          <a:lstStyle/>
          <a:p>
            <a:pPr>
              <a:defRPr sz="700" b="0">
                <a:solidFill>
                  <a:srgbClr val="6F6A66"/>
                </a:solidFill>
                <a:latin typeface="Calibri"/>
              </a:defRPr>
            </a:pPr>
            <a:endParaRPr lang="en-US"/>
          </a:p>
        </c:txPr>
        <c:crossAx val="2140495176"/>
        <c:crosses val="autoZero"/>
        <c:auto val="1"/>
        <c:lblOffset val="100"/>
        <c:baseTimeUnit val="months"/>
        <c:majorUnit val="12"/>
        <c:majorTimeUnit val="months"/>
      </c:dateAx>
      <c:valAx>
        <c:axId val="2140495176"/>
        <c:scaling>
          <c:orientation val="minMax"/>
          <c:max val="19"/>
          <c:min val="15.5"/>
        </c:scaling>
        <c:delete val="0"/>
        <c:axPos val="l"/>
        <c:majorGridlines>
          <c:spPr>
            <a:ln w="6350">
              <a:solidFill>
                <a:srgbClr val="E3DCD3"/>
              </a:solidFill>
            </a:ln>
          </c:spPr>
        </c:majorGridlines>
        <c:numFmt formatCode="0.0&quot;M&quot;" sourceLinked="0"/>
        <c:majorTickMark val="none"/>
        <c:minorTickMark val="none"/>
        <c:tickLblPos val="nextTo"/>
        <c:spPr>
          <a:ln>
            <a:noFill/>
          </a:ln>
        </c:spPr>
        <c:txPr>
          <a:bodyPr/>
          <a:lstStyle/>
          <a:p>
            <a:pPr>
              <a:defRPr sz="700" b="0">
                <a:solidFill>
                  <a:srgbClr val="6F6A66"/>
                </a:solidFill>
                <a:latin typeface="Calibri"/>
              </a:defRPr>
            </a:pPr>
            <a:endParaRPr lang="en-US"/>
          </a:p>
        </c:txPr>
        <c:crossAx val="2118791784"/>
        <c:crosses val="autoZero"/>
        <c:crossBetween val="between"/>
        <c:majorUnit val="0.875"/>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Health care construction spending</c:v>
                </c:pt>
              </c:strCache>
            </c:strRef>
          </c:tx>
          <c:spPr>
            <a:ln w="22225">
              <a:solidFill>
                <a:srgbClr val="B68757"/>
              </a:solidFill>
            </a:ln>
          </c:spPr>
          <c:marker>
            <c:symbol val="none"/>
          </c:marker>
          <c:dLbls>
            <c:dLbl>
              <c:idx val="59"/>
              <c:layout>
                <c:manualLayout>
                  <c:x val="-2.2831050228310501E-2"/>
                  <c:y val="-6.933333333333333E-2"/>
                </c:manualLayout>
              </c:layout>
              <c:numFmt formatCode="&quot;$&quot;0&quot;B&quot;" sourceLinked="0"/>
              <c:spPr/>
              <c:txPr>
                <a:bodyPr/>
                <a:lstStyle/>
                <a:p>
                  <a:pPr>
                    <a:defRPr sz="800" b="1">
                      <a:solidFill>
                        <a:srgbClr val="B68757"/>
                      </a:solidFill>
                      <a:latin typeface="Calibri"/>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0B6-4158-AA3E-7681A4F7F49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Sheet1!$A$2:$A$61</c:f>
              <c:numCache>
                <c:formatCode>yyyy\-mm\-dd</c:formatCode>
                <c:ptCount val="60"/>
                <c:pt idx="0">
                  <c:v>44440</c:v>
                </c:pt>
                <c:pt idx="1">
                  <c:v>44470</c:v>
                </c:pt>
                <c:pt idx="2">
                  <c:v>44501</c:v>
                </c:pt>
                <c:pt idx="3">
                  <c:v>44531</c:v>
                </c:pt>
                <c:pt idx="4">
                  <c:v>44562</c:v>
                </c:pt>
                <c:pt idx="5">
                  <c:v>44593</c:v>
                </c:pt>
                <c:pt idx="6">
                  <c:v>44621</c:v>
                </c:pt>
                <c:pt idx="7">
                  <c:v>44652</c:v>
                </c:pt>
                <c:pt idx="8">
                  <c:v>44682</c:v>
                </c:pt>
                <c:pt idx="9">
                  <c:v>44713</c:v>
                </c:pt>
                <c:pt idx="10">
                  <c:v>44743</c:v>
                </c:pt>
                <c:pt idx="11">
                  <c:v>44774</c:v>
                </c:pt>
                <c:pt idx="12">
                  <c:v>44805</c:v>
                </c:pt>
                <c:pt idx="13">
                  <c:v>44835</c:v>
                </c:pt>
                <c:pt idx="14">
                  <c:v>44866</c:v>
                </c:pt>
                <c:pt idx="15">
                  <c:v>44896</c:v>
                </c:pt>
                <c:pt idx="16">
                  <c:v>44927</c:v>
                </c:pt>
                <c:pt idx="17">
                  <c:v>44958</c:v>
                </c:pt>
                <c:pt idx="18">
                  <c:v>44986</c:v>
                </c:pt>
                <c:pt idx="19">
                  <c:v>45017</c:v>
                </c:pt>
                <c:pt idx="20">
                  <c:v>45047</c:v>
                </c:pt>
                <c:pt idx="21">
                  <c:v>45078</c:v>
                </c:pt>
                <c:pt idx="22">
                  <c:v>45108</c:v>
                </c:pt>
                <c:pt idx="23">
                  <c:v>45139</c:v>
                </c:pt>
                <c:pt idx="24">
                  <c:v>45170</c:v>
                </c:pt>
                <c:pt idx="25">
                  <c:v>45200</c:v>
                </c:pt>
                <c:pt idx="26">
                  <c:v>45231</c:v>
                </c:pt>
                <c:pt idx="27">
                  <c:v>45261</c:v>
                </c:pt>
                <c:pt idx="28">
                  <c:v>45292</c:v>
                </c:pt>
                <c:pt idx="29">
                  <c:v>45323</c:v>
                </c:pt>
                <c:pt idx="30">
                  <c:v>45352</c:v>
                </c:pt>
                <c:pt idx="31">
                  <c:v>45383</c:v>
                </c:pt>
                <c:pt idx="32">
                  <c:v>45413</c:v>
                </c:pt>
                <c:pt idx="33">
                  <c:v>45444</c:v>
                </c:pt>
                <c:pt idx="34">
                  <c:v>45474</c:v>
                </c:pt>
                <c:pt idx="35">
                  <c:v>45505</c:v>
                </c:pt>
                <c:pt idx="36">
                  <c:v>45536</c:v>
                </c:pt>
                <c:pt idx="37">
                  <c:v>45566</c:v>
                </c:pt>
                <c:pt idx="38">
                  <c:v>45597</c:v>
                </c:pt>
                <c:pt idx="39">
                  <c:v>45627</c:v>
                </c:pt>
                <c:pt idx="40">
                  <c:v>45658</c:v>
                </c:pt>
                <c:pt idx="41">
                  <c:v>45689</c:v>
                </c:pt>
                <c:pt idx="42">
                  <c:v>45717</c:v>
                </c:pt>
                <c:pt idx="43">
                  <c:v>45748</c:v>
                </c:pt>
                <c:pt idx="44">
                  <c:v>45778</c:v>
                </c:pt>
                <c:pt idx="45">
                  <c:v>45809</c:v>
                </c:pt>
                <c:pt idx="46">
                  <c:v>45839</c:v>
                </c:pt>
                <c:pt idx="47">
                  <c:v>45870</c:v>
                </c:pt>
                <c:pt idx="48">
                  <c:v>45901</c:v>
                </c:pt>
                <c:pt idx="49">
                  <c:v>45931</c:v>
                </c:pt>
                <c:pt idx="50">
                  <c:v>45962</c:v>
                </c:pt>
                <c:pt idx="51">
                  <c:v>45992</c:v>
                </c:pt>
                <c:pt idx="52">
                  <c:v>46023</c:v>
                </c:pt>
                <c:pt idx="53">
                  <c:v>46054</c:v>
                </c:pt>
                <c:pt idx="54">
                  <c:v>46082</c:v>
                </c:pt>
                <c:pt idx="55">
                  <c:v>46113</c:v>
                </c:pt>
                <c:pt idx="56">
                  <c:v>46143</c:v>
                </c:pt>
                <c:pt idx="57">
                  <c:v>46174</c:v>
                </c:pt>
                <c:pt idx="58">
                  <c:v>46204</c:v>
                </c:pt>
                <c:pt idx="59">
                  <c:v>46235</c:v>
                </c:pt>
              </c:numCache>
            </c:numRef>
          </c:cat>
          <c:val>
            <c:numRef>
              <c:f>Sheet1!$B$2:$B$61</c:f>
              <c:numCache>
                <c:formatCode>General</c:formatCode>
                <c:ptCount val="60"/>
                <c:pt idx="0">
                  <c:v>50.932000000000002</c:v>
                </c:pt>
                <c:pt idx="1">
                  <c:v>51.503</c:v>
                </c:pt>
                <c:pt idx="2">
                  <c:v>52.371000000000002</c:v>
                </c:pt>
                <c:pt idx="3">
                  <c:v>52.401000000000003</c:v>
                </c:pt>
                <c:pt idx="4">
                  <c:v>53.75</c:v>
                </c:pt>
                <c:pt idx="5">
                  <c:v>54.832000000000001</c:v>
                </c:pt>
                <c:pt idx="6">
                  <c:v>55.515000000000001</c:v>
                </c:pt>
                <c:pt idx="7">
                  <c:v>56.856999999999999</c:v>
                </c:pt>
                <c:pt idx="8">
                  <c:v>57.313000000000002</c:v>
                </c:pt>
                <c:pt idx="9">
                  <c:v>58.046999999999997</c:v>
                </c:pt>
                <c:pt idx="10">
                  <c:v>58.798000000000002</c:v>
                </c:pt>
                <c:pt idx="11">
                  <c:v>59.247999999999998</c:v>
                </c:pt>
                <c:pt idx="12">
                  <c:v>59.188000000000002</c:v>
                </c:pt>
                <c:pt idx="13">
                  <c:v>60.478999999999999</c:v>
                </c:pt>
                <c:pt idx="14">
                  <c:v>61.177</c:v>
                </c:pt>
                <c:pt idx="15">
                  <c:v>62.023000000000003</c:v>
                </c:pt>
                <c:pt idx="16">
                  <c:v>62.64</c:v>
                </c:pt>
                <c:pt idx="17">
                  <c:v>65.596000000000004</c:v>
                </c:pt>
                <c:pt idx="18">
                  <c:v>65.921000000000006</c:v>
                </c:pt>
                <c:pt idx="19">
                  <c:v>66.599999999999994</c:v>
                </c:pt>
                <c:pt idx="20">
                  <c:v>66.043999999999997</c:v>
                </c:pt>
                <c:pt idx="21">
                  <c:v>66.066000000000003</c:v>
                </c:pt>
                <c:pt idx="22">
                  <c:v>66.260000000000005</c:v>
                </c:pt>
                <c:pt idx="23">
                  <c:v>66.573999999999998</c:v>
                </c:pt>
                <c:pt idx="24">
                  <c:v>67.852999999999994</c:v>
                </c:pt>
                <c:pt idx="25">
                  <c:v>67.855000000000004</c:v>
                </c:pt>
                <c:pt idx="26">
                  <c:v>68.802000000000007</c:v>
                </c:pt>
                <c:pt idx="27">
                  <c:v>69.611999999999995</c:v>
                </c:pt>
                <c:pt idx="28">
                  <c:v>69.55</c:v>
                </c:pt>
                <c:pt idx="29">
                  <c:v>68.555000000000007</c:v>
                </c:pt>
                <c:pt idx="30">
                  <c:v>68.917000000000002</c:v>
                </c:pt>
                <c:pt idx="31">
                  <c:v>67.739000000000004</c:v>
                </c:pt>
                <c:pt idx="32">
                  <c:v>69.251000000000005</c:v>
                </c:pt>
                <c:pt idx="33">
                  <c:v>69.614999999999995</c:v>
                </c:pt>
                <c:pt idx="34">
                  <c:v>69.47</c:v>
                </c:pt>
                <c:pt idx="35">
                  <c:v>70.194999999999993</c:v>
                </c:pt>
                <c:pt idx="36">
                  <c:v>70.433999999999997</c:v>
                </c:pt>
                <c:pt idx="37">
                  <c:v>71.239999999999995</c:v>
                </c:pt>
                <c:pt idx="38">
                  <c:v>73.42</c:v>
                </c:pt>
                <c:pt idx="39">
                  <c:v>73.641000000000005</c:v>
                </c:pt>
                <c:pt idx="40">
                  <c:v>76.31</c:v>
                </c:pt>
                <c:pt idx="41">
                  <c:v>76.494</c:v>
                </c:pt>
                <c:pt idx="42">
                  <c:v>76.757000000000005</c:v>
                </c:pt>
                <c:pt idx="43">
                  <c:v>79.266000000000005</c:v>
                </c:pt>
                <c:pt idx="44">
                  <c:v>77.234999999999999</c:v>
                </c:pt>
                <c:pt idx="45">
                  <c:v>75.953999999999994</c:v>
                </c:pt>
                <c:pt idx="46">
                  <c:v>76.42</c:v>
                </c:pt>
                <c:pt idx="47">
                  <c:v>78.099999999999994</c:v>
                </c:pt>
                <c:pt idx="48">
                  <c:v>76.137</c:v>
                </c:pt>
                <c:pt idx="49">
                  <c:v>77.394000000000005</c:v>
                </c:pt>
                <c:pt idx="50">
                  <c:v>76.617999999999995</c:v>
                </c:pt>
                <c:pt idx="51">
                  <c:v>75.147999999999996</c:v>
                </c:pt>
                <c:pt idx="52">
                  <c:v>74.846000000000004</c:v>
                </c:pt>
                <c:pt idx="53">
                  <c:v>74.394000000000005</c:v>
                </c:pt>
                <c:pt idx="54">
                  <c:v>74.433999999999997</c:v>
                </c:pt>
                <c:pt idx="55">
                  <c:v>74.48</c:v>
                </c:pt>
                <c:pt idx="56">
                  <c:v>74.900999999999996</c:v>
                </c:pt>
                <c:pt idx="57">
                  <c:v>75.903999999999996</c:v>
                </c:pt>
                <c:pt idx="58">
                  <c:v>75.504000000000005</c:v>
                </c:pt>
                <c:pt idx="59">
                  <c:v>75.787000000000006</c:v>
                </c:pt>
              </c:numCache>
            </c:numRef>
          </c:val>
          <c:smooth val="0"/>
          <c:extLst>
            <c:ext xmlns:c16="http://schemas.microsoft.com/office/drawing/2014/chart" uri="{C3380CC4-5D6E-409C-BE32-E72D297353CC}">
              <c16:uniqueId val="{00000001-20B6-4158-AA3E-7681A4F7F49D}"/>
            </c:ext>
          </c:extLst>
        </c:ser>
        <c:dLbls>
          <c:showLegendKey val="0"/>
          <c:showVal val="0"/>
          <c:showCatName val="0"/>
          <c:showSerName val="0"/>
          <c:showPercent val="0"/>
          <c:showBubbleSize val="0"/>
        </c:dLbls>
        <c:smooth val="0"/>
        <c:axId val="2118791784"/>
        <c:axId val="2140495176"/>
      </c:lineChart>
      <c:dateAx>
        <c:axId val="2118791784"/>
        <c:scaling>
          <c:orientation val="minMax"/>
        </c:scaling>
        <c:delete val="0"/>
        <c:axPos val="b"/>
        <c:numFmt formatCode="mmm\ \'yy" sourceLinked="0"/>
        <c:majorTickMark val="none"/>
        <c:minorTickMark val="none"/>
        <c:tickLblPos val="nextTo"/>
        <c:spPr>
          <a:ln>
            <a:solidFill>
              <a:srgbClr val="E3DCD3"/>
            </a:solidFill>
          </a:ln>
        </c:spPr>
        <c:txPr>
          <a:bodyPr rot="0" vert="horz"/>
          <a:lstStyle/>
          <a:p>
            <a:pPr>
              <a:defRPr sz="700" b="0">
                <a:solidFill>
                  <a:srgbClr val="6F6A66"/>
                </a:solidFill>
                <a:latin typeface="Calibri"/>
              </a:defRPr>
            </a:pPr>
            <a:endParaRPr lang="en-US"/>
          </a:p>
        </c:txPr>
        <c:crossAx val="2140495176"/>
        <c:crosses val="autoZero"/>
        <c:auto val="1"/>
        <c:lblOffset val="100"/>
        <c:baseTimeUnit val="months"/>
        <c:majorUnit val="12"/>
        <c:majorTimeUnit val="months"/>
      </c:dateAx>
      <c:valAx>
        <c:axId val="2140495176"/>
        <c:scaling>
          <c:orientation val="minMax"/>
          <c:max val="85"/>
          <c:min val="45"/>
        </c:scaling>
        <c:delete val="0"/>
        <c:axPos val="l"/>
        <c:majorGridlines>
          <c:spPr>
            <a:ln w="6350">
              <a:solidFill>
                <a:srgbClr val="E3DCD3"/>
              </a:solidFill>
            </a:ln>
          </c:spPr>
        </c:majorGridlines>
        <c:numFmt formatCode="&quot;$&quot;0&quot;B&quot;" sourceLinked="0"/>
        <c:majorTickMark val="none"/>
        <c:minorTickMark val="none"/>
        <c:tickLblPos val="nextTo"/>
        <c:spPr>
          <a:ln>
            <a:noFill/>
          </a:ln>
        </c:spPr>
        <c:txPr>
          <a:bodyPr/>
          <a:lstStyle/>
          <a:p>
            <a:pPr>
              <a:defRPr sz="700" b="0">
                <a:solidFill>
                  <a:srgbClr val="6F6A66"/>
                </a:solidFill>
                <a:latin typeface="Calibri"/>
              </a:defRPr>
            </a:pPr>
            <a:endParaRPr lang="en-US"/>
          </a:p>
        </c:txPr>
        <c:crossAx val="2118791784"/>
        <c:crosses val="autoZero"/>
        <c:crossBetween val="between"/>
        <c:majorUnit val="1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FDA novel drug approvals per year</c:v>
                </c:pt>
              </c:strCache>
            </c:strRef>
          </c:tx>
          <c:invertIfNegative val="1"/>
          <c:dPt>
            <c:idx val="0"/>
            <c:invertIfNegative val="1"/>
            <c:bubble3D val="0"/>
            <c:spPr>
              <a:solidFill>
                <a:srgbClr val="1B1A1A"/>
              </a:solidFill>
            </c:spPr>
            <c:extLst>
              <c:ext xmlns:c16="http://schemas.microsoft.com/office/drawing/2014/chart" uri="{C3380CC4-5D6E-409C-BE32-E72D297353CC}">
                <c16:uniqueId val="{00000001-B55A-4C00-B1B8-A38734F1DA2C}"/>
              </c:ext>
            </c:extLst>
          </c:dPt>
          <c:dPt>
            <c:idx val="1"/>
            <c:invertIfNegative val="1"/>
            <c:bubble3D val="0"/>
            <c:spPr>
              <a:solidFill>
                <a:srgbClr val="1B1A1A"/>
              </a:solidFill>
            </c:spPr>
            <c:extLst>
              <c:ext xmlns:c16="http://schemas.microsoft.com/office/drawing/2014/chart" uri="{C3380CC4-5D6E-409C-BE32-E72D297353CC}">
                <c16:uniqueId val="{00000003-B55A-4C00-B1B8-A38734F1DA2C}"/>
              </c:ext>
            </c:extLst>
          </c:dPt>
          <c:dPt>
            <c:idx val="2"/>
            <c:invertIfNegative val="1"/>
            <c:bubble3D val="0"/>
            <c:spPr>
              <a:solidFill>
                <a:srgbClr val="1B1A1A"/>
              </a:solidFill>
            </c:spPr>
            <c:extLst>
              <c:ext xmlns:c16="http://schemas.microsoft.com/office/drawing/2014/chart" uri="{C3380CC4-5D6E-409C-BE32-E72D297353CC}">
                <c16:uniqueId val="{00000005-B55A-4C00-B1B8-A38734F1DA2C}"/>
              </c:ext>
            </c:extLst>
          </c:dPt>
          <c:dPt>
            <c:idx val="3"/>
            <c:invertIfNegative val="1"/>
            <c:bubble3D val="0"/>
            <c:spPr>
              <a:solidFill>
                <a:srgbClr val="1B1A1A"/>
              </a:solidFill>
            </c:spPr>
            <c:extLst>
              <c:ext xmlns:c16="http://schemas.microsoft.com/office/drawing/2014/chart" uri="{C3380CC4-5D6E-409C-BE32-E72D297353CC}">
                <c16:uniqueId val="{00000007-B55A-4C00-B1B8-A38734F1DA2C}"/>
              </c:ext>
            </c:extLst>
          </c:dPt>
          <c:dPt>
            <c:idx val="4"/>
            <c:invertIfNegative val="1"/>
            <c:bubble3D val="0"/>
            <c:spPr>
              <a:solidFill>
                <a:srgbClr val="1B1A1A"/>
              </a:solidFill>
            </c:spPr>
            <c:extLst>
              <c:ext xmlns:c16="http://schemas.microsoft.com/office/drawing/2014/chart" uri="{C3380CC4-5D6E-409C-BE32-E72D297353CC}">
                <c16:uniqueId val="{00000009-B55A-4C00-B1B8-A38734F1DA2C}"/>
              </c:ext>
            </c:extLst>
          </c:dPt>
          <c:dPt>
            <c:idx val="5"/>
            <c:invertIfNegative val="1"/>
            <c:bubble3D val="0"/>
            <c:spPr>
              <a:solidFill>
                <a:srgbClr val="1B1A1A"/>
              </a:solidFill>
            </c:spPr>
            <c:extLst>
              <c:ext xmlns:c16="http://schemas.microsoft.com/office/drawing/2014/chart" uri="{C3380CC4-5D6E-409C-BE32-E72D297353CC}">
                <c16:uniqueId val="{0000000B-B55A-4C00-B1B8-A38734F1DA2C}"/>
              </c:ext>
            </c:extLst>
          </c:dPt>
          <c:dPt>
            <c:idx val="6"/>
            <c:invertIfNegative val="1"/>
            <c:bubble3D val="0"/>
            <c:spPr>
              <a:solidFill>
                <a:srgbClr val="1B1A1A"/>
              </a:solidFill>
            </c:spPr>
            <c:extLst>
              <c:ext xmlns:c16="http://schemas.microsoft.com/office/drawing/2014/chart" uri="{C3380CC4-5D6E-409C-BE32-E72D297353CC}">
                <c16:uniqueId val="{0000000D-B55A-4C00-B1B8-A38734F1DA2C}"/>
              </c:ext>
            </c:extLst>
          </c:dPt>
          <c:dPt>
            <c:idx val="7"/>
            <c:invertIfNegative val="1"/>
            <c:bubble3D val="0"/>
            <c:spPr>
              <a:solidFill>
                <a:srgbClr val="1B1A1A"/>
              </a:solidFill>
            </c:spPr>
            <c:extLst>
              <c:ext xmlns:c16="http://schemas.microsoft.com/office/drawing/2014/chart" uri="{C3380CC4-5D6E-409C-BE32-E72D297353CC}">
                <c16:uniqueId val="{0000000F-B55A-4C00-B1B8-A38734F1DA2C}"/>
              </c:ext>
            </c:extLst>
          </c:dPt>
          <c:dPt>
            <c:idx val="8"/>
            <c:invertIfNegative val="1"/>
            <c:bubble3D val="0"/>
            <c:spPr>
              <a:solidFill>
                <a:srgbClr val="1B1A1A"/>
              </a:solidFill>
            </c:spPr>
            <c:extLst>
              <c:ext xmlns:c16="http://schemas.microsoft.com/office/drawing/2014/chart" uri="{C3380CC4-5D6E-409C-BE32-E72D297353CC}">
                <c16:uniqueId val="{00000011-B55A-4C00-B1B8-A38734F1DA2C}"/>
              </c:ext>
            </c:extLst>
          </c:dPt>
          <c:dPt>
            <c:idx val="9"/>
            <c:invertIfNegative val="1"/>
            <c:bubble3D val="0"/>
            <c:spPr>
              <a:solidFill>
                <a:srgbClr val="1B1A1A"/>
              </a:solidFill>
            </c:spPr>
            <c:extLst>
              <c:ext xmlns:c16="http://schemas.microsoft.com/office/drawing/2014/chart" uri="{C3380CC4-5D6E-409C-BE32-E72D297353CC}">
                <c16:uniqueId val="{00000013-B55A-4C00-B1B8-A38734F1DA2C}"/>
              </c:ext>
            </c:extLst>
          </c:dPt>
          <c:dPt>
            <c:idx val="10"/>
            <c:invertIfNegative val="1"/>
            <c:bubble3D val="0"/>
            <c:spPr>
              <a:solidFill>
                <a:srgbClr val="C3BDB6"/>
              </a:solidFill>
            </c:spPr>
            <c:extLst>
              <c:ext xmlns:c16="http://schemas.microsoft.com/office/drawing/2014/chart" uri="{C3380CC4-5D6E-409C-BE32-E72D297353CC}">
                <c16:uniqueId val="{00000015-B55A-4C00-B1B8-A38734F1DA2C}"/>
              </c:ext>
            </c:extLst>
          </c:dPt>
          <c:dLbls>
            <c:numFmt formatCode="0" sourceLinked="0"/>
            <c:spPr>
              <a:noFill/>
              <a:ln>
                <a:noFill/>
              </a:ln>
              <a:effectLst/>
            </c:spPr>
            <c:txPr>
              <a:bodyPr/>
              <a:lstStyle/>
              <a:p>
                <a:pPr>
                  <a:defRPr sz="750" b="1">
                    <a:solidFill>
                      <a:srgbClr val="1B1A1A"/>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16</c:v>
                </c:pt>
                <c:pt idx="1">
                  <c:v>17</c:v>
                </c:pt>
                <c:pt idx="2">
                  <c:v>18</c:v>
                </c:pt>
                <c:pt idx="3">
                  <c:v>19</c:v>
                </c:pt>
                <c:pt idx="4">
                  <c:v>20</c:v>
                </c:pt>
                <c:pt idx="5">
                  <c:v>21</c:v>
                </c:pt>
                <c:pt idx="6">
                  <c:v>22</c:v>
                </c:pt>
                <c:pt idx="7">
                  <c:v>23</c:v>
                </c:pt>
                <c:pt idx="8">
                  <c:v>24</c:v>
                </c:pt>
                <c:pt idx="9">
                  <c:v>25</c:v>
                </c:pt>
                <c:pt idx="10">
                  <c:v>26*</c:v>
                </c:pt>
              </c:strCache>
            </c:strRef>
          </c:cat>
          <c:val>
            <c:numRef>
              <c:f>Sheet1!$B$2:$B$12</c:f>
              <c:numCache>
                <c:formatCode>General</c:formatCode>
                <c:ptCount val="11"/>
                <c:pt idx="0">
                  <c:v>22</c:v>
                </c:pt>
                <c:pt idx="1">
                  <c:v>46</c:v>
                </c:pt>
                <c:pt idx="2">
                  <c:v>59</c:v>
                </c:pt>
                <c:pt idx="3">
                  <c:v>48</c:v>
                </c:pt>
                <c:pt idx="4">
                  <c:v>53</c:v>
                </c:pt>
                <c:pt idx="5">
                  <c:v>50</c:v>
                </c:pt>
                <c:pt idx="6">
                  <c:v>37</c:v>
                </c:pt>
                <c:pt idx="7">
                  <c:v>55</c:v>
                </c:pt>
                <c:pt idx="8">
                  <c:v>50</c:v>
                </c:pt>
                <c:pt idx="9">
                  <c:v>46</c:v>
                </c:pt>
                <c:pt idx="10">
                  <c:v>45</c:v>
                </c:pt>
              </c:numCache>
            </c:numRef>
          </c:val>
          <c:extLst>
            <c:ext xmlns:c16="http://schemas.microsoft.com/office/drawing/2014/chart" uri="{C3380CC4-5D6E-409C-BE32-E72D297353CC}">
              <c16:uniqueId val="{00000016-B55A-4C00-B1B8-A38734F1DA2C}"/>
            </c:ext>
          </c:extLst>
        </c:ser>
        <c:dLbls>
          <c:dLblPos val="outEnd"/>
          <c:showLegendKey val="0"/>
          <c:showVal val="1"/>
          <c:showCatName val="0"/>
          <c:showSerName val="0"/>
          <c:showPercent val="0"/>
          <c:showBubbleSize val="0"/>
        </c:dLbls>
        <c:gapWidth val="52"/>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C3BDB6"/>
            </a:solidFill>
          </a:ln>
        </c:spPr>
        <c:txPr>
          <a:bodyPr/>
          <a:lstStyle/>
          <a:p>
            <a:pPr>
              <a:defRPr sz="700" b="0">
                <a:solidFill>
                  <a:srgbClr val="6F6A66"/>
                </a:solidFill>
                <a:latin typeface="Calibri"/>
              </a:defRPr>
            </a:pPr>
            <a:endParaRPr lang="en-US"/>
          </a:p>
        </c:txPr>
        <c:crossAx val="-2113994440"/>
        <c:crosses val="autoZero"/>
        <c:auto val="1"/>
        <c:lblAlgn val="ctr"/>
        <c:lblOffset val="100"/>
        <c:noMultiLvlLbl val="0"/>
      </c:catAx>
      <c:valAx>
        <c:axId val="-2113994440"/>
        <c:scaling>
          <c:orientation val="minMax"/>
          <c:max val="66"/>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US private equity healthcare services transactions per year</c:v>
                </c:pt>
              </c:strCache>
            </c:strRef>
          </c:tx>
          <c:invertIfNegative val="1"/>
          <c:dPt>
            <c:idx val="0"/>
            <c:invertIfNegative val="1"/>
            <c:bubble3D val="0"/>
            <c:spPr>
              <a:solidFill>
                <a:srgbClr val="1B1A1A"/>
              </a:solidFill>
            </c:spPr>
            <c:extLst>
              <c:ext xmlns:c16="http://schemas.microsoft.com/office/drawing/2014/chart" uri="{C3380CC4-5D6E-409C-BE32-E72D297353CC}">
                <c16:uniqueId val="{00000001-72FF-476B-A377-ED890EDC1269}"/>
              </c:ext>
            </c:extLst>
          </c:dPt>
          <c:dPt>
            <c:idx val="1"/>
            <c:invertIfNegative val="1"/>
            <c:bubble3D val="0"/>
            <c:spPr>
              <a:solidFill>
                <a:srgbClr val="1B1A1A"/>
              </a:solidFill>
            </c:spPr>
            <c:extLst>
              <c:ext xmlns:c16="http://schemas.microsoft.com/office/drawing/2014/chart" uri="{C3380CC4-5D6E-409C-BE32-E72D297353CC}">
                <c16:uniqueId val="{00000003-72FF-476B-A377-ED890EDC1269}"/>
              </c:ext>
            </c:extLst>
          </c:dPt>
          <c:dPt>
            <c:idx val="2"/>
            <c:invertIfNegative val="1"/>
            <c:bubble3D val="0"/>
            <c:spPr>
              <a:solidFill>
                <a:srgbClr val="1B1A1A"/>
              </a:solidFill>
            </c:spPr>
            <c:extLst>
              <c:ext xmlns:c16="http://schemas.microsoft.com/office/drawing/2014/chart" uri="{C3380CC4-5D6E-409C-BE32-E72D297353CC}">
                <c16:uniqueId val="{00000005-72FF-476B-A377-ED890EDC1269}"/>
              </c:ext>
            </c:extLst>
          </c:dPt>
          <c:dPt>
            <c:idx val="3"/>
            <c:invertIfNegative val="1"/>
            <c:bubble3D val="0"/>
            <c:spPr>
              <a:solidFill>
                <a:srgbClr val="1B1A1A"/>
              </a:solidFill>
            </c:spPr>
            <c:extLst>
              <c:ext xmlns:c16="http://schemas.microsoft.com/office/drawing/2014/chart" uri="{C3380CC4-5D6E-409C-BE32-E72D297353CC}">
                <c16:uniqueId val="{00000007-72FF-476B-A377-ED890EDC1269}"/>
              </c:ext>
            </c:extLst>
          </c:dPt>
          <c:dPt>
            <c:idx val="4"/>
            <c:invertIfNegative val="1"/>
            <c:bubble3D val="0"/>
            <c:spPr>
              <a:solidFill>
                <a:srgbClr val="1B1A1A"/>
              </a:solidFill>
            </c:spPr>
            <c:extLst>
              <c:ext xmlns:c16="http://schemas.microsoft.com/office/drawing/2014/chart" uri="{C3380CC4-5D6E-409C-BE32-E72D297353CC}">
                <c16:uniqueId val="{00000009-72FF-476B-A377-ED890EDC1269}"/>
              </c:ext>
            </c:extLst>
          </c:dPt>
          <c:dPt>
            <c:idx val="5"/>
            <c:invertIfNegative val="1"/>
            <c:bubble3D val="0"/>
            <c:spPr>
              <a:solidFill>
                <a:srgbClr val="1B1A1A"/>
              </a:solidFill>
            </c:spPr>
            <c:extLst>
              <c:ext xmlns:c16="http://schemas.microsoft.com/office/drawing/2014/chart" uri="{C3380CC4-5D6E-409C-BE32-E72D297353CC}">
                <c16:uniqueId val="{0000000B-72FF-476B-A377-ED890EDC1269}"/>
              </c:ext>
            </c:extLst>
          </c:dPt>
          <c:dPt>
            <c:idx val="6"/>
            <c:invertIfNegative val="1"/>
            <c:bubble3D val="0"/>
            <c:spPr>
              <a:solidFill>
                <a:srgbClr val="1B1A1A"/>
              </a:solidFill>
            </c:spPr>
            <c:extLst>
              <c:ext xmlns:c16="http://schemas.microsoft.com/office/drawing/2014/chart" uri="{C3380CC4-5D6E-409C-BE32-E72D297353CC}">
                <c16:uniqueId val="{0000000D-72FF-476B-A377-ED890EDC1269}"/>
              </c:ext>
            </c:extLst>
          </c:dPt>
          <c:dPt>
            <c:idx val="7"/>
            <c:invertIfNegative val="1"/>
            <c:bubble3D val="0"/>
            <c:spPr>
              <a:solidFill>
                <a:srgbClr val="1B1A1A"/>
              </a:solidFill>
            </c:spPr>
            <c:extLst>
              <c:ext xmlns:c16="http://schemas.microsoft.com/office/drawing/2014/chart" uri="{C3380CC4-5D6E-409C-BE32-E72D297353CC}">
                <c16:uniqueId val="{0000000F-72FF-476B-A377-ED890EDC1269}"/>
              </c:ext>
            </c:extLst>
          </c:dPt>
          <c:dPt>
            <c:idx val="8"/>
            <c:invertIfNegative val="1"/>
            <c:bubble3D val="0"/>
            <c:spPr>
              <a:solidFill>
                <a:srgbClr val="1B1A1A"/>
              </a:solidFill>
            </c:spPr>
            <c:extLst>
              <c:ext xmlns:c16="http://schemas.microsoft.com/office/drawing/2014/chart" uri="{C3380CC4-5D6E-409C-BE32-E72D297353CC}">
                <c16:uniqueId val="{00000011-72FF-476B-A377-ED890EDC1269}"/>
              </c:ext>
            </c:extLst>
          </c:dPt>
          <c:dPt>
            <c:idx val="9"/>
            <c:invertIfNegative val="1"/>
            <c:bubble3D val="0"/>
            <c:spPr>
              <a:solidFill>
                <a:srgbClr val="C3BDB6"/>
              </a:solidFill>
            </c:spPr>
            <c:extLst>
              <c:ext xmlns:c16="http://schemas.microsoft.com/office/drawing/2014/chart" uri="{C3380CC4-5D6E-409C-BE32-E72D297353CC}">
                <c16:uniqueId val="{00000013-72FF-476B-A377-ED890EDC1269}"/>
              </c:ext>
            </c:extLst>
          </c:dPt>
          <c:dLbls>
            <c:numFmt formatCode="#,##0" sourceLinked="0"/>
            <c:spPr>
              <a:noFill/>
              <a:ln>
                <a:noFill/>
              </a:ln>
              <a:effectLst/>
            </c:spPr>
            <c:txPr>
              <a:bodyPr/>
              <a:lstStyle/>
              <a:p>
                <a:pPr>
                  <a:defRPr sz="750" b="1">
                    <a:solidFill>
                      <a:srgbClr val="1B1A1A"/>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2017</c:v>
                </c:pt>
                <c:pt idx="1">
                  <c:v>2018</c:v>
                </c:pt>
                <c:pt idx="2">
                  <c:v>2019</c:v>
                </c:pt>
                <c:pt idx="3">
                  <c:v>2020</c:v>
                </c:pt>
                <c:pt idx="4">
                  <c:v>2021</c:v>
                </c:pt>
                <c:pt idx="5">
                  <c:v>2022</c:v>
                </c:pt>
                <c:pt idx="6">
                  <c:v>2023</c:v>
                </c:pt>
                <c:pt idx="7">
                  <c:v>2024</c:v>
                </c:pt>
                <c:pt idx="8">
                  <c:v>2025</c:v>
                </c:pt>
                <c:pt idx="9">
                  <c:v>2026*</c:v>
                </c:pt>
              </c:strCache>
            </c:strRef>
          </c:cat>
          <c:val>
            <c:numRef>
              <c:f>Sheet1!$B$2:$B$11</c:f>
              <c:numCache>
                <c:formatCode>General</c:formatCode>
                <c:ptCount val="10"/>
                <c:pt idx="0">
                  <c:v>490</c:v>
                </c:pt>
                <c:pt idx="1">
                  <c:v>651</c:v>
                </c:pt>
                <c:pt idx="2">
                  <c:v>684</c:v>
                </c:pt>
                <c:pt idx="3">
                  <c:v>829</c:v>
                </c:pt>
                <c:pt idx="4">
                  <c:v>1217</c:v>
                </c:pt>
                <c:pt idx="5">
                  <c:v>998</c:v>
                </c:pt>
                <c:pt idx="6">
                  <c:v>801</c:v>
                </c:pt>
                <c:pt idx="7">
                  <c:v>682</c:v>
                </c:pt>
                <c:pt idx="8">
                  <c:v>747</c:v>
                </c:pt>
                <c:pt idx="9">
                  <c:v>674</c:v>
                </c:pt>
              </c:numCache>
            </c:numRef>
          </c:val>
          <c:extLst>
            <c:ext xmlns:c16="http://schemas.microsoft.com/office/drawing/2014/chart" uri="{C3380CC4-5D6E-409C-BE32-E72D297353CC}">
              <c16:uniqueId val="{00000014-72FF-476B-A377-ED890EDC1269}"/>
            </c:ext>
          </c:extLst>
        </c:ser>
        <c:dLbls>
          <c:dLblPos val="outEnd"/>
          <c:showLegendKey val="0"/>
          <c:showVal val="1"/>
          <c:showCatName val="0"/>
          <c:showSerName val="0"/>
          <c:showPercent val="0"/>
          <c:showBubbleSize val="0"/>
        </c:dLbls>
        <c:gapWidth val="79"/>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C3BDB6"/>
            </a:solidFill>
          </a:ln>
        </c:spPr>
        <c:txPr>
          <a:bodyPr/>
          <a:lstStyle/>
          <a:p>
            <a:pPr>
              <a:defRPr sz="700" b="0">
                <a:solidFill>
                  <a:srgbClr val="6F6A66"/>
                </a:solidFill>
                <a:latin typeface="Calibri"/>
              </a:defRPr>
            </a:pPr>
            <a:endParaRPr lang="en-US"/>
          </a:p>
        </c:txPr>
        <c:crossAx val="-2113994440"/>
        <c:crosses val="autoZero"/>
        <c:auto val="1"/>
        <c:lblAlgn val="ctr"/>
        <c:lblOffset val="100"/>
        <c:noMultiLvlLbl val="0"/>
      </c:catAx>
      <c:valAx>
        <c:axId val="-2113994440"/>
        <c:scaling>
          <c:orientation val="minMax"/>
          <c:max val="1400"/>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Provider Services</c:v>
                </c:pt>
              </c:strCache>
            </c:strRef>
          </c:tx>
          <c:spPr>
            <a:ln w="22225">
              <a:solidFill>
                <a:srgbClr val="1B1A1A"/>
              </a:solidFill>
            </a:ln>
          </c:spPr>
          <c:marker>
            <c:symbol val="none"/>
          </c:marker>
          <c:dLbls>
            <c:dLbl>
              <c:idx val="12"/>
              <c:numFmt formatCode="0.0&quot;x&quot;" sourceLinked="0"/>
              <c:spPr/>
              <c:txPr>
                <a:bodyPr/>
                <a:lstStyle/>
                <a:p>
                  <a:pPr>
                    <a:defRPr sz="800" b="1">
                      <a:solidFill>
                        <a:srgbClr val="1B1A1A"/>
                      </a:solidFill>
                      <a:latin typeface="Calibri"/>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71B-4CBE-8365-DADDF523E7F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Sheet1!$A$2:$A$14</c:f>
              <c:strCache>
                <c:ptCount val="13"/>
                <c:pt idx="0">
                  <c:v>Sep '23</c:v>
                </c:pt>
                <c:pt idx="1">
                  <c:v>Dec '23</c:v>
                </c:pt>
                <c:pt idx="2">
                  <c:v>Mar '24</c:v>
                </c:pt>
                <c:pt idx="3">
                  <c:v>Jun '24</c:v>
                </c:pt>
                <c:pt idx="4">
                  <c:v>Sep '24</c:v>
                </c:pt>
                <c:pt idx="5">
                  <c:v>Dec '24</c:v>
                </c:pt>
                <c:pt idx="6">
                  <c:v>Mar '25</c:v>
                </c:pt>
                <c:pt idx="7">
                  <c:v>Jun '25</c:v>
                </c:pt>
                <c:pt idx="8">
                  <c:v>Sep '25</c:v>
                </c:pt>
                <c:pt idx="9">
                  <c:v>Dec '25</c:v>
                </c:pt>
                <c:pt idx="10">
                  <c:v>Mar '26</c:v>
                </c:pt>
                <c:pt idx="11">
                  <c:v>Jun '26</c:v>
                </c:pt>
                <c:pt idx="12">
                  <c:v>Oct '26</c:v>
                </c:pt>
              </c:strCache>
            </c:strRef>
          </c:cat>
          <c:val>
            <c:numRef>
              <c:f>Sheet1!$B$2:$B$14</c:f>
              <c:numCache>
                <c:formatCode>General</c:formatCode>
                <c:ptCount val="13"/>
                <c:pt idx="0">
                  <c:v>13.49</c:v>
                </c:pt>
                <c:pt idx="1">
                  <c:v>15</c:v>
                </c:pt>
                <c:pt idx="2">
                  <c:v>15.4</c:v>
                </c:pt>
                <c:pt idx="3">
                  <c:v>18.239999999999998</c:v>
                </c:pt>
                <c:pt idx="4">
                  <c:v>11.74</c:v>
                </c:pt>
                <c:pt idx="5">
                  <c:v>10.55</c:v>
                </c:pt>
                <c:pt idx="6">
                  <c:v>10.815000000000001</c:v>
                </c:pt>
                <c:pt idx="7">
                  <c:v>10.925000000000001</c:v>
                </c:pt>
                <c:pt idx="8">
                  <c:v>11.205</c:v>
                </c:pt>
                <c:pt idx="9">
                  <c:v>11.01</c:v>
                </c:pt>
                <c:pt idx="10">
                  <c:v>11.09</c:v>
                </c:pt>
                <c:pt idx="11">
                  <c:v>11.44</c:v>
                </c:pt>
                <c:pt idx="12">
                  <c:v>11.254999999999999</c:v>
                </c:pt>
              </c:numCache>
            </c:numRef>
          </c:val>
          <c:smooth val="0"/>
          <c:extLst>
            <c:ext xmlns:c16="http://schemas.microsoft.com/office/drawing/2014/chart" uri="{C3380CC4-5D6E-409C-BE32-E72D297353CC}">
              <c16:uniqueId val="{00000001-971B-4CBE-8365-DADDF523E7F2}"/>
            </c:ext>
          </c:extLst>
        </c:ser>
        <c:ser>
          <c:idx val="1"/>
          <c:order val="1"/>
          <c:tx>
            <c:strRef>
              <c:f>Sheet1!$C$1</c:f>
              <c:strCache>
                <c:ptCount val="1"/>
                <c:pt idx="0">
                  <c:v>Life Sciences &amp; Diagnostics</c:v>
                </c:pt>
              </c:strCache>
            </c:strRef>
          </c:tx>
          <c:spPr>
            <a:ln w="22225">
              <a:solidFill>
                <a:srgbClr val="B68757"/>
              </a:solidFill>
            </a:ln>
          </c:spPr>
          <c:marker>
            <c:symbol val="none"/>
          </c:marker>
          <c:dLbls>
            <c:dLbl>
              <c:idx val="12"/>
              <c:numFmt formatCode="0.0&quot;x&quot;" sourceLinked="0"/>
              <c:spPr/>
              <c:txPr>
                <a:bodyPr/>
                <a:lstStyle/>
                <a:p>
                  <a:pPr>
                    <a:defRPr sz="800" b="1">
                      <a:solidFill>
                        <a:srgbClr val="B68757"/>
                      </a:solidFill>
                      <a:latin typeface="Calibri"/>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71B-4CBE-8365-DADDF523E7F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Sheet1!$A$2:$A$14</c:f>
              <c:strCache>
                <c:ptCount val="13"/>
                <c:pt idx="0">
                  <c:v>Sep '23</c:v>
                </c:pt>
                <c:pt idx="1">
                  <c:v>Dec '23</c:v>
                </c:pt>
                <c:pt idx="2">
                  <c:v>Mar '24</c:v>
                </c:pt>
                <c:pt idx="3">
                  <c:v>Jun '24</c:v>
                </c:pt>
                <c:pt idx="4">
                  <c:v>Sep '24</c:v>
                </c:pt>
                <c:pt idx="5">
                  <c:v>Dec '24</c:v>
                </c:pt>
                <c:pt idx="6">
                  <c:v>Mar '25</c:v>
                </c:pt>
                <c:pt idx="7">
                  <c:v>Jun '25</c:v>
                </c:pt>
                <c:pt idx="8">
                  <c:v>Sep '25</c:v>
                </c:pt>
                <c:pt idx="9">
                  <c:v>Dec '25</c:v>
                </c:pt>
                <c:pt idx="10">
                  <c:v>Mar '26</c:v>
                </c:pt>
                <c:pt idx="11">
                  <c:v>Jun '26</c:v>
                </c:pt>
                <c:pt idx="12">
                  <c:v>Oct '26</c:v>
                </c:pt>
              </c:strCache>
            </c:strRef>
          </c:cat>
          <c:val>
            <c:numRef>
              <c:f>Sheet1!$C$2:$C$14</c:f>
              <c:numCache>
                <c:formatCode>General</c:formatCode>
                <c:ptCount val="13"/>
                <c:pt idx="0">
                  <c:v>15.65</c:v>
                </c:pt>
                <c:pt idx="1">
                  <c:v>17.170000000000002</c:v>
                </c:pt>
                <c:pt idx="2">
                  <c:v>18.5</c:v>
                </c:pt>
                <c:pt idx="3">
                  <c:v>16.98</c:v>
                </c:pt>
                <c:pt idx="4">
                  <c:v>16.690000000000001</c:v>
                </c:pt>
                <c:pt idx="5">
                  <c:v>14.23</c:v>
                </c:pt>
                <c:pt idx="6">
                  <c:v>14.03</c:v>
                </c:pt>
                <c:pt idx="7">
                  <c:v>14.76</c:v>
                </c:pt>
                <c:pt idx="8">
                  <c:v>14.54</c:v>
                </c:pt>
                <c:pt idx="9">
                  <c:v>18.579999999999998</c:v>
                </c:pt>
                <c:pt idx="10">
                  <c:v>15.43</c:v>
                </c:pt>
                <c:pt idx="11">
                  <c:v>19.329999999999998</c:v>
                </c:pt>
                <c:pt idx="12">
                  <c:v>21.81</c:v>
                </c:pt>
              </c:numCache>
            </c:numRef>
          </c:val>
          <c:smooth val="0"/>
          <c:extLst>
            <c:ext xmlns:c16="http://schemas.microsoft.com/office/drawing/2014/chart" uri="{C3380CC4-5D6E-409C-BE32-E72D297353CC}">
              <c16:uniqueId val="{00000003-971B-4CBE-8365-DADDF523E7F2}"/>
            </c:ext>
          </c:extLst>
        </c:ser>
        <c:ser>
          <c:idx val="2"/>
          <c:order val="2"/>
          <c:tx>
            <c:strRef>
              <c:f>Sheet1!$D$1</c:f>
              <c:strCache>
                <c:ptCount val="1"/>
                <c:pt idx="0">
                  <c:v>Medical Products &amp; Distribution</c:v>
                </c:pt>
              </c:strCache>
            </c:strRef>
          </c:tx>
          <c:spPr>
            <a:ln w="22225">
              <a:solidFill>
                <a:srgbClr val="6D7681"/>
              </a:solidFill>
            </a:ln>
          </c:spPr>
          <c:marker>
            <c:symbol val="none"/>
          </c:marker>
          <c:dLbls>
            <c:dLbl>
              <c:idx val="12"/>
              <c:numFmt formatCode="0.0&quot;x&quot;" sourceLinked="0"/>
              <c:spPr/>
              <c:txPr>
                <a:bodyPr/>
                <a:lstStyle/>
                <a:p>
                  <a:pPr>
                    <a:defRPr sz="800" b="1">
                      <a:solidFill>
                        <a:srgbClr val="6D7681"/>
                      </a:solidFill>
                      <a:latin typeface="Calibri"/>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71B-4CBE-8365-DADDF523E7F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Sheet1!$A$2:$A$14</c:f>
              <c:strCache>
                <c:ptCount val="13"/>
                <c:pt idx="0">
                  <c:v>Sep '23</c:v>
                </c:pt>
                <c:pt idx="1">
                  <c:v>Dec '23</c:v>
                </c:pt>
                <c:pt idx="2">
                  <c:v>Mar '24</c:v>
                </c:pt>
                <c:pt idx="3">
                  <c:v>Jun '24</c:v>
                </c:pt>
                <c:pt idx="4">
                  <c:v>Sep '24</c:v>
                </c:pt>
                <c:pt idx="5">
                  <c:v>Dec '24</c:v>
                </c:pt>
                <c:pt idx="6">
                  <c:v>Mar '25</c:v>
                </c:pt>
                <c:pt idx="7">
                  <c:v>Jun '25</c:v>
                </c:pt>
                <c:pt idx="8">
                  <c:v>Sep '25</c:v>
                </c:pt>
                <c:pt idx="9">
                  <c:v>Dec '25</c:v>
                </c:pt>
                <c:pt idx="10">
                  <c:v>Mar '26</c:v>
                </c:pt>
                <c:pt idx="11">
                  <c:v>Jun '26</c:v>
                </c:pt>
                <c:pt idx="12">
                  <c:v>Oct '26</c:v>
                </c:pt>
              </c:strCache>
            </c:strRef>
          </c:cat>
          <c:val>
            <c:numRef>
              <c:f>Sheet1!$D$2:$D$14</c:f>
              <c:numCache>
                <c:formatCode>General</c:formatCode>
                <c:ptCount val="13"/>
                <c:pt idx="0">
                  <c:v>13</c:v>
                </c:pt>
                <c:pt idx="1">
                  <c:v>14.83</c:v>
                </c:pt>
                <c:pt idx="2">
                  <c:v>14.344999999999999</c:v>
                </c:pt>
                <c:pt idx="3">
                  <c:v>12.395</c:v>
                </c:pt>
                <c:pt idx="4">
                  <c:v>14.55</c:v>
                </c:pt>
                <c:pt idx="5">
                  <c:v>12.87</c:v>
                </c:pt>
                <c:pt idx="6">
                  <c:v>13.885</c:v>
                </c:pt>
                <c:pt idx="7">
                  <c:v>14.135000000000002</c:v>
                </c:pt>
                <c:pt idx="8">
                  <c:v>13.18</c:v>
                </c:pt>
                <c:pt idx="9">
                  <c:v>11.31</c:v>
                </c:pt>
                <c:pt idx="10">
                  <c:v>12.615</c:v>
                </c:pt>
                <c:pt idx="11">
                  <c:v>13.635</c:v>
                </c:pt>
                <c:pt idx="12">
                  <c:v>12.745000000000001</c:v>
                </c:pt>
              </c:numCache>
            </c:numRef>
          </c:val>
          <c:smooth val="0"/>
          <c:extLst>
            <c:ext xmlns:c16="http://schemas.microsoft.com/office/drawing/2014/chart" uri="{C3380CC4-5D6E-409C-BE32-E72D297353CC}">
              <c16:uniqueId val="{00000005-971B-4CBE-8365-DADDF523E7F2}"/>
            </c:ext>
          </c:extLst>
        </c:ser>
        <c:ser>
          <c:idx val="3"/>
          <c:order val="3"/>
          <c:tx>
            <c:strRef>
              <c:f>Sheet1!$E$1</c:f>
              <c:strCache>
                <c:ptCount val="1"/>
                <c:pt idx="0">
                  <c:v>Pharmacy &amp; Healthcare Services</c:v>
                </c:pt>
              </c:strCache>
            </c:strRef>
          </c:tx>
          <c:spPr>
            <a:ln w="22225">
              <a:solidFill>
                <a:srgbClr val="A39486"/>
              </a:solidFill>
            </a:ln>
          </c:spPr>
          <c:marker>
            <c:symbol val="none"/>
          </c:marker>
          <c:dLbls>
            <c:dLbl>
              <c:idx val="12"/>
              <c:numFmt formatCode="0.0&quot;x&quot;" sourceLinked="0"/>
              <c:spPr/>
              <c:txPr>
                <a:bodyPr/>
                <a:lstStyle/>
                <a:p>
                  <a:pPr>
                    <a:defRPr sz="800" b="1">
                      <a:solidFill>
                        <a:srgbClr val="A39486"/>
                      </a:solidFill>
                      <a:latin typeface="Calibri"/>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971B-4CBE-8365-DADDF523E7F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Sheet1!$A$2:$A$14</c:f>
              <c:strCache>
                <c:ptCount val="13"/>
                <c:pt idx="0">
                  <c:v>Sep '23</c:v>
                </c:pt>
                <c:pt idx="1">
                  <c:v>Dec '23</c:v>
                </c:pt>
                <c:pt idx="2">
                  <c:v>Mar '24</c:v>
                </c:pt>
                <c:pt idx="3">
                  <c:v>Jun '24</c:v>
                </c:pt>
                <c:pt idx="4">
                  <c:v>Sep '24</c:v>
                </c:pt>
                <c:pt idx="5">
                  <c:v>Dec '24</c:v>
                </c:pt>
                <c:pt idx="6">
                  <c:v>Mar '25</c:v>
                </c:pt>
                <c:pt idx="7">
                  <c:v>Jun '25</c:v>
                </c:pt>
                <c:pt idx="8">
                  <c:v>Sep '25</c:v>
                </c:pt>
                <c:pt idx="9">
                  <c:v>Dec '25</c:v>
                </c:pt>
                <c:pt idx="10">
                  <c:v>Mar '26</c:v>
                </c:pt>
                <c:pt idx="11">
                  <c:v>Jun '26</c:v>
                </c:pt>
                <c:pt idx="12">
                  <c:v>Oct '26</c:v>
                </c:pt>
              </c:strCache>
            </c:strRef>
          </c:cat>
          <c:val>
            <c:numRef>
              <c:f>Sheet1!$E$2:$E$14</c:f>
              <c:numCache>
                <c:formatCode>General</c:formatCode>
                <c:ptCount val="13"/>
                <c:pt idx="0">
                  <c:v>10.344999999999999</c:v>
                </c:pt>
                <c:pt idx="1">
                  <c:v>10.74</c:v>
                </c:pt>
                <c:pt idx="2">
                  <c:v>13.57</c:v>
                </c:pt>
                <c:pt idx="3">
                  <c:v>12.29</c:v>
                </c:pt>
                <c:pt idx="4">
                  <c:v>11.49</c:v>
                </c:pt>
                <c:pt idx="5">
                  <c:v>10.75</c:v>
                </c:pt>
                <c:pt idx="6">
                  <c:v>14.17</c:v>
                </c:pt>
                <c:pt idx="7">
                  <c:v>14.61</c:v>
                </c:pt>
                <c:pt idx="8">
                  <c:v>13.78</c:v>
                </c:pt>
                <c:pt idx="9">
                  <c:v>14.27</c:v>
                </c:pt>
                <c:pt idx="10">
                  <c:v>13.1</c:v>
                </c:pt>
                <c:pt idx="11">
                  <c:v>12.29</c:v>
                </c:pt>
                <c:pt idx="12">
                  <c:v>13.97</c:v>
                </c:pt>
              </c:numCache>
            </c:numRef>
          </c:val>
          <c:smooth val="0"/>
          <c:extLst>
            <c:ext xmlns:c16="http://schemas.microsoft.com/office/drawing/2014/chart" uri="{C3380CC4-5D6E-409C-BE32-E72D297353CC}">
              <c16:uniqueId val="{00000007-971B-4CBE-8365-DADDF523E7F2}"/>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extTo"/>
        <c:spPr>
          <a:ln>
            <a:solidFill>
              <a:srgbClr val="E3DCD3"/>
            </a:solidFill>
          </a:ln>
        </c:spPr>
        <c:txPr>
          <a:bodyPr rot="0" vert="horz"/>
          <a:lstStyle/>
          <a:p>
            <a:pPr>
              <a:defRPr sz="700" b="0">
                <a:solidFill>
                  <a:srgbClr val="6F6A66"/>
                </a:solidFill>
                <a:latin typeface="Calibri"/>
              </a:defRPr>
            </a:pPr>
            <a:endParaRPr lang="en-US"/>
          </a:p>
        </c:txPr>
        <c:crossAx val="2140495176"/>
        <c:crosses val="autoZero"/>
        <c:auto val="1"/>
        <c:lblAlgn val="ctr"/>
        <c:lblOffset val="100"/>
        <c:tickLblSkip val="2"/>
        <c:tickMarkSkip val="2"/>
        <c:noMultiLvlLbl val="0"/>
      </c:catAx>
      <c:valAx>
        <c:axId val="2140495176"/>
        <c:scaling>
          <c:orientation val="minMax"/>
          <c:max val="24"/>
          <c:min val="8"/>
        </c:scaling>
        <c:delete val="0"/>
        <c:axPos val="l"/>
        <c:majorGridlines>
          <c:spPr>
            <a:ln w="6350">
              <a:solidFill>
                <a:srgbClr val="E3DCD3"/>
              </a:solidFill>
            </a:ln>
          </c:spPr>
        </c:majorGridlines>
        <c:numFmt formatCode="0&quot;x&quot;" sourceLinked="0"/>
        <c:majorTickMark val="none"/>
        <c:minorTickMark val="none"/>
        <c:tickLblPos val="nextTo"/>
        <c:spPr>
          <a:ln>
            <a:noFill/>
          </a:ln>
        </c:spPr>
        <c:txPr>
          <a:bodyPr/>
          <a:lstStyle/>
          <a:p>
            <a:pPr>
              <a:defRPr sz="700" b="0">
                <a:solidFill>
                  <a:srgbClr val="6F6A66"/>
                </a:solidFill>
                <a:latin typeface="Calibri"/>
              </a:defRPr>
            </a:pPr>
            <a:endParaRPr lang="en-US"/>
          </a:p>
        </c:txPr>
        <c:crossAx val="2118791784"/>
        <c:crosses val="autoZero"/>
        <c:crossBetween val="between"/>
        <c:majorUnit val="4"/>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Median share price change over 52 weeks by sector</c:v>
                </c:pt>
              </c:strCache>
            </c:strRef>
          </c:tx>
          <c:invertIfNegative val="1"/>
          <c:dPt>
            <c:idx val="0"/>
            <c:invertIfNegative val="1"/>
            <c:bubble3D val="0"/>
            <c:spPr>
              <a:solidFill>
                <a:srgbClr val="1B1A1A"/>
              </a:solidFill>
            </c:spPr>
            <c:extLst>
              <c:ext xmlns:c16="http://schemas.microsoft.com/office/drawing/2014/chart" uri="{C3380CC4-5D6E-409C-BE32-E72D297353CC}">
                <c16:uniqueId val="{00000001-559D-418E-87F1-3ECBDCE88A2C}"/>
              </c:ext>
            </c:extLst>
          </c:dPt>
          <c:dPt>
            <c:idx val="1"/>
            <c:invertIfNegative val="1"/>
            <c:bubble3D val="0"/>
            <c:spPr>
              <a:solidFill>
                <a:srgbClr val="B68757"/>
              </a:solidFill>
            </c:spPr>
            <c:extLst>
              <c:ext xmlns:c16="http://schemas.microsoft.com/office/drawing/2014/chart" uri="{C3380CC4-5D6E-409C-BE32-E72D297353CC}">
                <c16:uniqueId val="{00000003-559D-418E-87F1-3ECBDCE88A2C}"/>
              </c:ext>
            </c:extLst>
          </c:dPt>
          <c:dPt>
            <c:idx val="2"/>
            <c:invertIfNegative val="1"/>
            <c:bubble3D val="0"/>
            <c:spPr>
              <a:solidFill>
                <a:srgbClr val="6D7681"/>
              </a:solidFill>
            </c:spPr>
            <c:extLst>
              <c:ext xmlns:c16="http://schemas.microsoft.com/office/drawing/2014/chart" uri="{C3380CC4-5D6E-409C-BE32-E72D297353CC}">
                <c16:uniqueId val="{00000005-559D-418E-87F1-3ECBDCE88A2C}"/>
              </c:ext>
            </c:extLst>
          </c:dPt>
          <c:dPt>
            <c:idx val="3"/>
            <c:invertIfNegative val="1"/>
            <c:bubble3D val="0"/>
            <c:spPr>
              <a:solidFill>
                <a:srgbClr val="A39486"/>
              </a:solidFill>
            </c:spPr>
            <c:extLst>
              <c:ext xmlns:c16="http://schemas.microsoft.com/office/drawing/2014/chart" uri="{C3380CC4-5D6E-409C-BE32-E72D297353CC}">
                <c16:uniqueId val="{00000007-559D-418E-87F1-3ECBDCE88A2C}"/>
              </c:ext>
            </c:extLst>
          </c:dPt>
          <c:dLbls>
            <c:numFmt formatCode="\+0.0&quot;%&quot;;\-0.0&quot;%&quot;" sourceLinked="0"/>
            <c:spPr>
              <a:noFill/>
              <a:ln>
                <a:noFill/>
              </a:ln>
              <a:effectLst/>
            </c:spPr>
            <c:txPr>
              <a:bodyPr/>
              <a:lstStyle/>
              <a:p>
                <a:pPr>
                  <a:defRPr sz="750" b="1">
                    <a:solidFill>
                      <a:srgbClr val="1B1A1A"/>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Provider Services</c:v>
                </c:pt>
                <c:pt idx="1">
                  <c:v>Life Sciences &amp; Dx</c:v>
                </c:pt>
                <c:pt idx="2">
                  <c:v>Medical Products</c:v>
                </c:pt>
                <c:pt idx="3">
                  <c:v>Pharmacy &amp; Services</c:v>
                </c:pt>
              </c:strCache>
            </c:strRef>
          </c:cat>
          <c:val>
            <c:numRef>
              <c:f>Sheet1!$B$2:$B$5</c:f>
              <c:numCache>
                <c:formatCode>General</c:formatCode>
                <c:ptCount val="4"/>
                <c:pt idx="0">
                  <c:v>6.49</c:v>
                </c:pt>
                <c:pt idx="1">
                  <c:v>20.83</c:v>
                </c:pt>
                <c:pt idx="2">
                  <c:v>5.8849999999999998</c:v>
                </c:pt>
                <c:pt idx="3">
                  <c:v>38.375</c:v>
                </c:pt>
              </c:numCache>
            </c:numRef>
          </c:val>
          <c:extLst>
            <c:ext xmlns:c16="http://schemas.microsoft.com/office/drawing/2014/chart" uri="{C3380CC4-5D6E-409C-BE32-E72D297353CC}">
              <c16:uniqueId val="{00000008-559D-418E-87F1-3ECBDCE88A2C}"/>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none"/>
        <c:minorTickMark val="none"/>
        <c:tickLblPos val="nextTo"/>
        <c:spPr>
          <a:ln>
            <a:solidFill>
              <a:srgbClr val="C3BDB6"/>
            </a:solidFill>
          </a:ln>
        </c:spPr>
        <c:txPr>
          <a:bodyPr/>
          <a:lstStyle/>
          <a:p>
            <a:pPr>
              <a:defRPr sz="750" b="0">
                <a:solidFill>
                  <a:srgbClr val="333231"/>
                </a:solidFill>
                <a:latin typeface="Calibri"/>
              </a:defRPr>
            </a:pPr>
            <a:endParaRPr lang="en-US"/>
          </a:p>
        </c:txPr>
        <c:crossAx val="-2113994440"/>
        <c:crosses val="autoZero"/>
        <c:auto val="1"/>
        <c:lblAlgn val="ctr"/>
        <c:lblOffset val="100"/>
        <c:noMultiLvlLbl val="0"/>
      </c:catAx>
      <c:valAx>
        <c:axId val="-2113994440"/>
        <c:scaling>
          <c:orientation val="minMax"/>
          <c:max val="53.846153846153847"/>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Median share price as a percentage of the 52-week high by fo</c:v>
                </c:pt>
              </c:strCache>
            </c:strRef>
          </c:tx>
          <c:invertIfNegative val="1"/>
          <c:dPt>
            <c:idx val="0"/>
            <c:invertIfNegative val="1"/>
            <c:bubble3D val="0"/>
            <c:spPr>
              <a:solidFill>
                <a:srgbClr val="1B1A1A"/>
              </a:solidFill>
            </c:spPr>
            <c:extLst>
              <c:ext xmlns:c16="http://schemas.microsoft.com/office/drawing/2014/chart" uri="{C3380CC4-5D6E-409C-BE32-E72D297353CC}">
                <c16:uniqueId val="{00000001-6C92-4D78-A79F-BA11ADDC9970}"/>
              </c:ext>
            </c:extLst>
          </c:dPt>
          <c:dPt>
            <c:idx val="1"/>
            <c:invertIfNegative val="1"/>
            <c:bubble3D val="0"/>
            <c:spPr>
              <a:solidFill>
                <a:srgbClr val="B68757"/>
              </a:solidFill>
            </c:spPr>
            <c:extLst>
              <c:ext xmlns:c16="http://schemas.microsoft.com/office/drawing/2014/chart" uri="{C3380CC4-5D6E-409C-BE32-E72D297353CC}">
                <c16:uniqueId val="{00000003-6C92-4D78-A79F-BA11ADDC9970}"/>
              </c:ext>
            </c:extLst>
          </c:dPt>
          <c:dPt>
            <c:idx val="2"/>
            <c:invertIfNegative val="1"/>
            <c:bubble3D val="0"/>
            <c:spPr>
              <a:solidFill>
                <a:srgbClr val="6D7681"/>
              </a:solidFill>
            </c:spPr>
            <c:extLst>
              <c:ext xmlns:c16="http://schemas.microsoft.com/office/drawing/2014/chart" uri="{C3380CC4-5D6E-409C-BE32-E72D297353CC}">
                <c16:uniqueId val="{00000005-6C92-4D78-A79F-BA11ADDC9970}"/>
              </c:ext>
            </c:extLst>
          </c:dPt>
          <c:dPt>
            <c:idx val="3"/>
            <c:invertIfNegative val="1"/>
            <c:bubble3D val="0"/>
            <c:spPr>
              <a:solidFill>
                <a:srgbClr val="A39486"/>
              </a:solidFill>
            </c:spPr>
            <c:extLst>
              <c:ext xmlns:c16="http://schemas.microsoft.com/office/drawing/2014/chart" uri="{C3380CC4-5D6E-409C-BE32-E72D297353CC}">
                <c16:uniqueId val="{00000007-6C92-4D78-A79F-BA11ADDC9970}"/>
              </c:ext>
            </c:extLst>
          </c:dPt>
          <c:dLbls>
            <c:numFmt formatCode="0&quot;%&quot;" sourceLinked="0"/>
            <c:spPr>
              <a:noFill/>
              <a:ln>
                <a:noFill/>
              </a:ln>
              <a:effectLst/>
            </c:spPr>
            <c:txPr>
              <a:bodyPr/>
              <a:lstStyle/>
              <a:p>
                <a:pPr>
                  <a:defRPr sz="750" b="1">
                    <a:solidFill>
                      <a:srgbClr val="1B1A1A"/>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Provider Services</c:v>
                </c:pt>
                <c:pt idx="1">
                  <c:v>Life Sciences &amp; Dx</c:v>
                </c:pt>
                <c:pt idx="2">
                  <c:v>Medical Products</c:v>
                </c:pt>
                <c:pt idx="3">
                  <c:v>Pharmacy &amp; Services</c:v>
                </c:pt>
              </c:strCache>
            </c:strRef>
          </c:cat>
          <c:val>
            <c:numRef>
              <c:f>Sheet1!$B$2:$B$5</c:f>
              <c:numCache>
                <c:formatCode>General</c:formatCode>
                <c:ptCount val="4"/>
                <c:pt idx="0">
                  <c:v>89.23</c:v>
                </c:pt>
                <c:pt idx="1">
                  <c:v>91.5</c:v>
                </c:pt>
                <c:pt idx="2">
                  <c:v>80.650000000000006</c:v>
                </c:pt>
                <c:pt idx="3">
                  <c:v>86.75</c:v>
                </c:pt>
              </c:numCache>
            </c:numRef>
          </c:val>
          <c:extLst>
            <c:ext xmlns:c16="http://schemas.microsoft.com/office/drawing/2014/chart" uri="{C3380CC4-5D6E-409C-BE32-E72D297353CC}">
              <c16:uniqueId val="{00000008-6C92-4D78-A79F-BA11ADDC9970}"/>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none"/>
        <c:minorTickMark val="none"/>
        <c:tickLblPos val="nextTo"/>
        <c:spPr>
          <a:ln>
            <a:solidFill>
              <a:srgbClr val="C3BDB6"/>
            </a:solidFill>
          </a:ln>
        </c:spPr>
        <c:txPr>
          <a:bodyPr/>
          <a:lstStyle/>
          <a:p>
            <a:pPr>
              <a:defRPr sz="750" b="0">
                <a:solidFill>
                  <a:srgbClr val="333231"/>
                </a:solidFill>
                <a:latin typeface="Calibri"/>
              </a:defRPr>
            </a:pPr>
            <a:endParaRPr lang="en-US"/>
          </a:p>
        </c:txPr>
        <c:crossAx val="-2113994440"/>
        <c:crosses val="autoZero"/>
        <c:auto val="1"/>
        <c:lblAlgn val="ctr"/>
        <c:lblOffset val="100"/>
        <c:noMultiLvlLbl val="0"/>
      </c:catAx>
      <c:valAx>
        <c:axId val="-2113994440"/>
        <c:scaling>
          <c:orientation val="minMax"/>
          <c:max val="131.62393162393161"/>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Revenue growth</c:v>
                </c:pt>
              </c:strCache>
            </c:strRef>
          </c:tx>
          <c:invertIfNegative val="1"/>
          <c:dPt>
            <c:idx val="0"/>
            <c:invertIfNegative val="1"/>
            <c:bubble3D val="0"/>
            <c:spPr>
              <a:solidFill>
                <a:srgbClr val="1B1A1A"/>
              </a:solidFill>
            </c:spPr>
            <c:extLst>
              <c:ext xmlns:c16="http://schemas.microsoft.com/office/drawing/2014/chart" uri="{C3380CC4-5D6E-409C-BE32-E72D297353CC}">
                <c16:uniqueId val="{00000001-4A32-464F-9ED9-0A561D68F8A1}"/>
              </c:ext>
            </c:extLst>
          </c:dPt>
          <c:dPt>
            <c:idx val="1"/>
            <c:invertIfNegative val="1"/>
            <c:bubble3D val="0"/>
            <c:spPr>
              <a:solidFill>
                <a:srgbClr val="B68757"/>
              </a:solidFill>
            </c:spPr>
            <c:extLst>
              <c:ext xmlns:c16="http://schemas.microsoft.com/office/drawing/2014/chart" uri="{C3380CC4-5D6E-409C-BE32-E72D297353CC}">
                <c16:uniqueId val="{00000003-4A32-464F-9ED9-0A561D68F8A1}"/>
              </c:ext>
            </c:extLst>
          </c:dPt>
          <c:dPt>
            <c:idx val="2"/>
            <c:invertIfNegative val="1"/>
            <c:bubble3D val="0"/>
            <c:spPr>
              <a:solidFill>
                <a:srgbClr val="6D7681"/>
              </a:solidFill>
            </c:spPr>
            <c:extLst>
              <c:ext xmlns:c16="http://schemas.microsoft.com/office/drawing/2014/chart" uri="{C3380CC4-5D6E-409C-BE32-E72D297353CC}">
                <c16:uniqueId val="{00000005-4A32-464F-9ED9-0A561D68F8A1}"/>
              </c:ext>
            </c:extLst>
          </c:dPt>
          <c:dPt>
            <c:idx val="3"/>
            <c:invertIfNegative val="1"/>
            <c:bubble3D val="0"/>
            <c:spPr>
              <a:solidFill>
                <a:srgbClr val="A39486"/>
              </a:solidFill>
            </c:spPr>
            <c:extLst>
              <c:ext xmlns:c16="http://schemas.microsoft.com/office/drawing/2014/chart" uri="{C3380CC4-5D6E-409C-BE32-E72D297353CC}">
                <c16:uniqueId val="{00000007-4A32-464F-9ED9-0A561D68F8A1}"/>
              </c:ext>
            </c:extLst>
          </c:dPt>
          <c:dLbls>
            <c:numFmt formatCode="0.0&quot;%&quot;" sourceLinked="0"/>
            <c:spPr>
              <a:noFill/>
              <a:ln>
                <a:noFill/>
              </a:ln>
              <a:effectLst/>
            </c:spPr>
            <c:txPr>
              <a:bodyPr/>
              <a:lstStyle/>
              <a:p>
                <a:pPr>
                  <a:defRPr sz="750" b="1">
                    <a:solidFill>
                      <a:srgbClr val="1B1A1A"/>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Provider Services</c:v>
                </c:pt>
                <c:pt idx="1">
                  <c:v>Life Sciences &amp; Dx</c:v>
                </c:pt>
                <c:pt idx="2">
                  <c:v>Medical Products</c:v>
                </c:pt>
                <c:pt idx="3">
                  <c:v>Pharmacy &amp; Services</c:v>
                </c:pt>
              </c:strCache>
            </c:strRef>
          </c:cat>
          <c:val>
            <c:numRef>
              <c:f>Sheet1!$B$2:$B$5</c:f>
              <c:numCache>
                <c:formatCode>General</c:formatCode>
                <c:ptCount val="4"/>
                <c:pt idx="0">
                  <c:v>14.02</c:v>
                </c:pt>
                <c:pt idx="1">
                  <c:v>7.23</c:v>
                </c:pt>
                <c:pt idx="2">
                  <c:v>8.3699999999999992</c:v>
                </c:pt>
                <c:pt idx="3">
                  <c:v>9.5500000000000007</c:v>
                </c:pt>
              </c:numCache>
            </c:numRef>
          </c:val>
          <c:extLst>
            <c:ext xmlns:c16="http://schemas.microsoft.com/office/drawing/2014/chart" uri="{C3380CC4-5D6E-409C-BE32-E72D297353CC}">
              <c16:uniqueId val="{00000008-4A32-464F-9ED9-0A561D68F8A1}"/>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none"/>
        <c:minorTickMark val="none"/>
        <c:tickLblPos val="none"/>
        <c:spPr>
          <a:ln>
            <a:solidFill>
              <a:srgbClr val="C3BDB6"/>
            </a:solidFill>
          </a:ln>
        </c:spPr>
        <c:txPr>
          <a:bodyPr/>
          <a:lstStyle/>
          <a:p>
            <a:pPr>
              <a:defRPr sz="750" b="0">
                <a:solidFill>
                  <a:srgbClr val="333231"/>
                </a:solidFill>
                <a:latin typeface="Calibri"/>
              </a:defRPr>
            </a:pPr>
            <a:endParaRPr lang="en-US"/>
          </a:p>
        </c:txPr>
        <c:crossAx val="-2113994440"/>
        <c:crosses val="autoZero"/>
        <c:auto val="1"/>
        <c:lblAlgn val="ctr"/>
        <c:lblOffset val="100"/>
        <c:noMultiLvlLbl val="0"/>
      </c:catAx>
      <c:valAx>
        <c:axId val="-2113994440"/>
        <c:scaling>
          <c:orientation val="minMax"/>
          <c:max val="23.175000000000001"/>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Revenue growth</c:v>
                </c:pt>
              </c:strCache>
            </c:strRef>
          </c:tx>
          <c:invertIfNegative val="1"/>
          <c:dPt>
            <c:idx val="0"/>
            <c:invertIfNegative val="1"/>
            <c:bubble3D val="0"/>
            <c:spPr>
              <a:solidFill>
                <a:srgbClr val="1B1A1A"/>
              </a:solidFill>
            </c:spPr>
            <c:extLst>
              <c:ext xmlns:c16="http://schemas.microsoft.com/office/drawing/2014/chart" uri="{C3380CC4-5D6E-409C-BE32-E72D297353CC}">
                <c16:uniqueId val="{00000001-B703-45A5-A4B2-A5948389BFAC}"/>
              </c:ext>
            </c:extLst>
          </c:dPt>
          <c:dPt>
            <c:idx val="1"/>
            <c:invertIfNegative val="1"/>
            <c:bubble3D val="0"/>
            <c:spPr>
              <a:solidFill>
                <a:srgbClr val="B68757"/>
              </a:solidFill>
            </c:spPr>
            <c:extLst>
              <c:ext xmlns:c16="http://schemas.microsoft.com/office/drawing/2014/chart" uri="{C3380CC4-5D6E-409C-BE32-E72D297353CC}">
                <c16:uniqueId val="{00000003-B703-45A5-A4B2-A5948389BFAC}"/>
              </c:ext>
            </c:extLst>
          </c:dPt>
          <c:dPt>
            <c:idx val="2"/>
            <c:invertIfNegative val="1"/>
            <c:bubble3D val="0"/>
            <c:spPr>
              <a:solidFill>
                <a:srgbClr val="6D7681"/>
              </a:solidFill>
            </c:spPr>
            <c:extLst>
              <c:ext xmlns:c16="http://schemas.microsoft.com/office/drawing/2014/chart" uri="{C3380CC4-5D6E-409C-BE32-E72D297353CC}">
                <c16:uniqueId val="{00000005-B703-45A5-A4B2-A5948389BFAC}"/>
              </c:ext>
            </c:extLst>
          </c:dPt>
          <c:dPt>
            <c:idx val="3"/>
            <c:invertIfNegative val="1"/>
            <c:bubble3D val="0"/>
            <c:spPr>
              <a:solidFill>
                <a:srgbClr val="A39486"/>
              </a:solidFill>
            </c:spPr>
            <c:extLst>
              <c:ext xmlns:c16="http://schemas.microsoft.com/office/drawing/2014/chart" uri="{C3380CC4-5D6E-409C-BE32-E72D297353CC}">
                <c16:uniqueId val="{00000007-B703-45A5-A4B2-A5948389BFAC}"/>
              </c:ext>
            </c:extLst>
          </c:dPt>
          <c:dLbls>
            <c:numFmt formatCode="0.0&quot;%&quot;" sourceLinked="0"/>
            <c:spPr>
              <a:noFill/>
              <a:ln>
                <a:noFill/>
              </a:ln>
              <a:effectLst/>
            </c:spPr>
            <c:txPr>
              <a:bodyPr/>
              <a:lstStyle/>
              <a:p>
                <a:pPr>
                  <a:defRPr sz="750" b="1">
                    <a:solidFill>
                      <a:srgbClr val="1B1A1A"/>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Provider Services</c:v>
                </c:pt>
                <c:pt idx="1">
                  <c:v>Life Sciences &amp; Dx</c:v>
                </c:pt>
                <c:pt idx="2">
                  <c:v>Medical Products</c:v>
                </c:pt>
                <c:pt idx="3">
                  <c:v>Pharmacy &amp; Services</c:v>
                </c:pt>
              </c:strCache>
            </c:strRef>
          </c:cat>
          <c:val>
            <c:numRef>
              <c:f>Sheet1!$B$2:$B$5</c:f>
              <c:numCache>
                <c:formatCode>General</c:formatCode>
                <c:ptCount val="4"/>
                <c:pt idx="0">
                  <c:v>8.74</c:v>
                </c:pt>
                <c:pt idx="1">
                  <c:v>6.79</c:v>
                </c:pt>
                <c:pt idx="2">
                  <c:v>5.57</c:v>
                </c:pt>
                <c:pt idx="3">
                  <c:v>4.7249999999999996</c:v>
                </c:pt>
              </c:numCache>
            </c:numRef>
          </c:val>
          <c:extLst>
            <c:ext xmlns:c16="http://schemas.microsoft.com/office/drawing/2014/chart" uri="{C3380CC4-5D6E-409C-BE32-E72D297353CC}">
              <c16:uniqueId val="{00000008-B703-45A5-A4B2-A5948389BFAC}"/>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none"/>
        <c:minorTickMark val="none"/>
        <c:tickLblPos val="none"/>
        <c:spPr>
          <a:ln>
            <a:solidFill>
              <a:srgbClr val="C3BDB6"/>
            </a:solidFill>
          </a:ln>
        </c:spPr>
        <c:txPr>
          <a:bodyPr/>
          <a:lstStyle/>
          <a:p>
            <a:pPr>
              <a:defRPr sz="750" b="0">
                <a:solidFill>
                  <a:srgbClr val="333231"/>
                </a:solidFill>
                <a:latin typeface="Calibri"/>
              </a:defRPr>
            </a:pPr>
            <a:endParaRPr lang="en-US"/>
          </a:p>
        </c:txPr>
        <c:crossAx val="-2113994440"/>
        <c:crosses val="autoZero"/>
        <c:auto val="1"/>
        <c:lblAlgn val="ctr"/>
        <c:lblOffset val="100"/>
        <c:noMultiLvlLbl val="0"/>
      </c:catAx>
      <c:valAx>
        <c:axId val="-2113994440"/>
        <c:scaling>
          <c:orientation val="minMax"/>
          <c:max val="23.175000000000001"/>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EBITDA margin</c:v>
                </c:pt>
              </c:strCache>
            </c:strRef>
          </c:tx>
          <c:invertIfNegative val="1"/>
          <c:dPt>
            <c:idx val="0"/>
            <c:invertIfNegative val="1"/>
            <c:bubble3D val="0"/>
            <c:spPr>
              <a:solidFill>
                <a:srgbClr val="1B1A1A"/>
              </a:solidFill>
            </c:spPr>
            <c:extLst>
              <c:ext xmlns:c16="http://schemas.microsoft.com/office/drawing/2014/chart" uri="{C3380CC4-5D6E-409C-BE32-E72D297353CC}">
                <c16:uniqueId val="{00000001-F4BA-4E36-B346-730C45E0DB44}"/>
              </c:ext>
            </c:extLst>
          </c:dPt>
          <c:dPt>
            <c:idx val="1"/>
            <c:invertIfNegative val="1"/>
            <c:bubble3D val="0"/>
            <c:spPr>
              <a:solidFill>
                <a:srgbClr val="B68757"/>
              </a:solidFill>
            </c:spPr>
            <c:extLst>
              <c:ext xmlns:c16="http://schemas.microsoft.com/office/drawing/2014/chart" uri="{C3380CC4-5D6E-409C-BE32-E72D297353CC}">
                <c16:uniqueId val="{00000003-F4BA-4E36-B346-730C45E0DB44}"/>
              </c:ext>
            </c:extLst>
          </c:dPt>
          <c:dPt>
            <c:idx val="2"/>
            <c:invertIfNegative val="1"/>
            <c:bubble3D val="0"/>
            <c:spPr>
              <a:solidFill>
                <a:srgbClr val="6D7681"/>
              </a:solidFill>
            </c:spPr>
            <c:extLst>
              <c:ext xmlns:c16="http://schemas.microsoft.com/office/drawing/2014/chart" uri="{C3380CC4-5D6E-409C-BE32-E72D297353CC}">
                <c16:uniqueId val="{00000005-F4BA-4E36-B346-730C45E0DB44}"/>
              </c:ext>
            </c:extLst>
          </c:dPt>
          <c:dPt>
            <c:idx val="3"/>
            <c:invertIfNegative val="1"/>
            <c:bubble3D val="0"/>
            <c:spPr>
              <a:solidFill>
                <a:srgbClr val="A39486"/>
              </a:solidFill>
            </c:spPr>
            <c:extLst>
              <c:ext xmlns:c16="http://schemas.microsoft.com/office/drawing/2014/chart" uri="{C3380CC4-5D6E-409C-BE32-E72D297353CC}">
                <c16:uniqueId val="{00000007-F4BA-4E36-B346-730C45E0DB44}"/>
              </c:ext>
            </c:extLst>
          </c:dPt>
          <c:dLbls>
            <c:numFmt formatCode="0.0&quot;%&quot;" sourceLinked="0"/>
            <c:spPr>
              <a:noFill/>
              <a:ln>
                <a:noFill/>
              </a:ln>
              <a:effectLst/>
            </c:spPr>
            <c:txPr>
              <a:bodyPr/>
              <a:lstStyle/>
              <a:p>
                <a:pPr>
                  <a:defRPr sz="750" b="1">
                    <a:solidFill>
                      <a:srgbClr val="1B1A1A"/>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Provider Services</c:v>
                </c:pt>
                <c:pt idx="1">
                  <c:v>Life Sciences &amp; Dx</c:v>
                </c:pt>
                <c:pt idx="2">
                  <c:v>Medical Products</c:v>
                </c:pt>
                <c:pt idx="3">
                  <c:v>Pharmacy &amp; Services</c:v>
                </c:pt>
              </c:strCache>
            </c:strRef>
          </c:cat>
          <c:val>
            <c:numRef>
              <c:f>Sheet1!$B$2:$B$5</c:f>
              <c:numCache>
                <c:formatCode>General</c:formatCode>
                <c:ptCount val="4"/>
                <c:pt idx="0">
                  <c:v>12.68</c:v>
                </c:pt>
                <c:pt idx="1">
                  <c:v>21.23</c:v>
                </c:pt>
                <c:pt idx="2">
                  <c:v>18.21</c:v>
                </c:pt>
                <c:pt idx="3">
                  <c:v>4.2</c:v>
                </c:pt>
              </c:numCache>
            </c:numRef>
          </c:val>
          <c:extLst>
            <c:ext xmlns:c16="http://schemas.microsoft.com/office/drawing/2014/chart" uri="{C3380CC4-5D6E-409C-BE32-E72D297353CC}">
              <c16:uniqueId val="{00000008-F4BA-4E36-B346-730C45E0DB44}"/>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none"/>
        <c:minorTickMark val="none"/>
        <c:tickLblPos val="none"/>
        <c:spPr>
          <a:ln>
            <a:solidFill>
              <a:srgbClr val="C3BDB6"/>
            </a:solidFill>
          </a:ln>
        </c:spPr>
        <c:txPr>
          <a:bodyPr/>
          <a:lstStyle/>
          <a:p>
            <a:pPr>
              <a:defRPr sz="750" b="0">
                <a:solidFill>
                  <a:srgbClr val="333231"/>
                </a:solidFill>
                <a:latin typeface="Calibri"/>
              </a:defRPr>
            </a:pPr>
            <a:endParaRPr lang="en-US"/>
          </a:p>
        </c:txPr>
        <c:crossAx val="-2113994440"/>
        <c:crosses val="autoZero"/>
        <c:auto val="1"/>
        <c:lblAlgn val="ctr"/>
        <c:lblOffset val="100"/>
        <c:noMultiLvlLbl val="0"/>
      </c:catAx>
      <c:valAx>
        <c:axId val="-2113994440"/>
        <c:scaling>
          <c:orientation val="minMax"/>
          <c:max val="34.762500000000003"/>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Free cash flow margin</c:v>
                </c:pt>
              </c:strCache>
            </c:strRef>
          </c:tx>
          <c:invertIfNegative val="1"/>
          <c:dPt>
            <c:idx val="0"/>
            <c:invertIfNegative val="1"/>
            <c:bubble3D val="0"/>
            <c:spPr>
              <a:solidFill>
                <a:srgbClr val="1B1A1A"/>
              </a:solidFill>
            </c:spPr>
            <c:extLst>
              <c:ext xmlns:c16="http://schemas.microsoft.com/office/drawing/2014/chart" uri="{C3380CC4-5D6E-409C-BE32-E72D297353CC}">
                <c16:uniqueId val="{00000001-346D-4ACF-A068-C5C4C9A45DA7}"/>
              </c:ext>
            </c:extLst>
          </c:dPt>
          <c:dPt>
            <c:idx val="1"/>
            <c:invertIfNegative val="1"/>
            <c:bubble3D val="0"/>
            <c:spPr>
              <a:solidFill>
                <a:srgbClr val="B68757"/>
              </a:solidFill>
            </c:spPr>
            <c:extLst>
              <c:ext xmlns:c16="http://schemas.microsoft.com/office/drawing/2014/chart" uri="{C3380CC4-5D6E-409C-BE32-E72D297353CC}">
                <c16:uniqueId val="{00000003-346D-4ACF-A068-C5C4C9A45DA7}"/>
              </c:ext>
            </c:extLst>
          </c:dPt>
          <c:dPt>
            <c:idx val="2"/>
            <c:invertIfNegative val="1"/>
            <c:bubble3D val="0"/>
            <c:spPr>
              <a:solidFill>
                <a:srgbClr val="6D7681"/>
              </a:solidFill>
            </c:spPr>
            <c:extLst>
              <c:ext xmlns:c16="http://schemas.microsoft.com/office/drawing/2014/chart" uri="{C3380CC4-5D6E-409C-BE32-E72D297353CC}">
                <c16:uniqueId val="{00000005-346D-4ACF-A068-C5C4C9A45DA7}"/>
              </c:ext>
            </c:extLst>
          </c:dPt>
          <c:dPt>
            <c:idx val="3"/>
            <c:invertIfNegative val="1"/>
            <c:bubble3D val="0"/>
            <c:spPr>
              <a:solidFill>
                <a:srgbClr val="A39486"/>
              </a:solidFill>
            </c:spPr>
            <c:extLst>
              <c:ext xmlns:c16="http://schemas.microsoft.com/office/drawing/2014/chart" uri="{C3380CC4-5D6E-409C-BE32-E72D297353CC}">
                <c16:uniqueId val="{00000007-346D-4ACF-A068-C5C4C9A45DA7}"/>
              </c:ext>
            </c:extLst>
          </c:dPt>
          <c:dLbls>
            <c:numFmt formatCode="0.0&quot;%&quot;" sourceLinked="0"/>
            <c:spPr>
              <a:noFill/>
              <a:ln>
                <a:noFill/>
              </a:ln>
              <a:effectLst/>
            </c:spPr>
            <c:txPr>
              <a:bodyPr/>
              <a:lstStyle/>
              <a:p>
                <a:pPr>
                  <a:defRPr sz="750" b="1">
                    <a:solidFill>
                      <a:srgbClr val="1B1A1A"/>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Provider Services</c:v>
                </c:pt>
                <c:pt idx="1">
                  <c:v>Life Sciences &amp; Dx</c:v>
                </c:pt>
                <c:pt idx="2">
                  <c:v>Medical Products</c:v>
                </c:pt>
                <c:pt idx="3">
                  <c:v>Pharmacy &amp; Services</c:v>
                </c:pt>
              </c:strCache>
            </c:strRef>
          </c:cat>
          <c:val>
            <c:numRef>
              <c:f>Sheet1!$B$2:$B$5</c:f>
              <c:numCache>
                <c:formatCode>General</c:formatCode>
                <c:ptCount val="4"/>
                <c:pt idx="0">
                  <c:v>7.97</c:v>
                </c:pt>
                <c:pt idx="1">
                  <c:v>12.86</c:v>
                </c:pt>
                <c:pt idx="2">
                  <c:v>9.19</c:v>
                </c:pt>
                <c:pt idx="3">
                  <c:v>2.8250000000000002</c:v>
                </c:pt>
              </c:numCache>
            </c:numRef>
          </c:val>
          <c:extLst>
            <c:ext xmlns:c16="http://schemas.microsoft.com/office/drawing/2014/chart" uri="{C3380CC4-5D6E-409C-BE32-E72D297353CC}">
              <c16:uniqueId val="{00000008-346D-4ACF-A068-C5C4C9A45DA7}"/>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none"/>
        <c:minorTickMark val="none"/>
        <c:tickLblPos val="none"/>
        <c:spPr>
          <a:ln>
            <a:solidFill>
              <a:srgbClr val="C3BDB6"/>
            </a:solidFill>
          </a:ln>
        </c:spPr>
        <c:txPr>
          <a:bodyPr/>
          <a:lstStyle/>
          <a:p>
            <a:pPr>
              <a:defRPr sz="750" b="0">
                <a:solidFill>
                  <a:srgbClr val="333231"/>
                </a:solidFill>
                <a:latin typeface="Calibri"/>
              </a:defRPr>
            </a:pPr>
            <a:endParaRPr lang="en-US"/>
          </a:p>
        </c:txPr>
        <c:crossAx val="-2113994440"/>
        <c:crosses val="autoZero"/>
        <c:auto val="1"/>
        <c:lblAlgn val="ctr"/>
        <c:lblOffset val="100"/>
        <c:noMultiLvlLbl val="0"/>
      </c:catAx>
      <c:valAx>
        <c:axId val="-2113994440"/>
        <c:scaling>
          <c:orientation val="minMax"/>
          <c:max val="34.762500000000003"/>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EV to trailing revenue</c:v>
                </c:pt>
              </c:strCache>
            </c:strRef>
          </c:tx>
          <c:invertIfNegative val="1"/>
          <c:dPt>
            <c:idx val="0"/>
            <c:invertIfNegative val="1"/>
            <c:bubble3D val="0"/>
            <c:spPr>
              <a:solidFill>
                <a:srgbClr val="1B1A1A"/>
              </a:solidFill>
            </c:spPr>
            <c:extLst>
              <c:ext xmlns:c16="http://schemas.microsoft.com/office/drawing/2014/chart" uri="{C3380CC4-5D6E-409C-BE32-E72D297353CC}">
                <c16:uniqueId val="{00000001-FDAF-4994-829D-7C15B53A2646}"/>
              </c:ext>
            </c:extLst>
          </c:dPt>
          <c:dPt>
            <c:idx val="1"/>
            <c:invertIfNegative val="1"/>
            <c:bubble3D val="0"/>
            <c:spPr>
              <a:solidFill>
                <a:srgbClr val="B68757"/>
              </a:solidFill>
            </c:spPr>
            <c:extLst>
              <c:ext xmlns:c16="http://schemas.microsoft.com/office/drawing/2014/chart" uri="{C3380CC4-5D6E-409C-BE32-E72D297353CC}">
                <c16:uniqueId val="{00000003-FDAF-4994-829D-7C15B53A2646}"/>
              </c:ext>
            </c:extLst>
          </c:dPt>
          <c:dPt>
            <c:idx val="2"/>
            <c:invertIfNegative val="1"/>
            <c:bubble3D val="0"/>
            <c:spPr>
              <a:solidFill>
                <a:srgbClr val="6D7681"/>
              </a:solidFill>
            </c:spPr>
            <c:extLst>
              <c:ext xmlns:c16="http://schemas.microsoft.com/office/drawing/2014/chart" uri="{C3380CC4-5D6E-409C-BE32-E72D297353CC}">
                <c16:uniqueId val="{00000005-FDAF-4994-829D-7C15B53A2646}"/>
              </c:ext>
            </c:extLst>
          </c:dPt>
          <c:dPt>
            <c:idx val="3"/>
            <c:invertIfNegative val="1"/>
            <c:bubble3D val="0"/>
            <c:spPr>
              <a:solidFill>
                <a:srgbClr val="A39486"/>
              </a:solidFill>
            </c:spPr>
            <c:extLst>
              <c:ext xmlns:c16="http://schemas.microsoft.com/office/drawing/2014/chart" uri="{C3380CC4-5D6E-409C-BE32-E72D297353CC}">
                <c16:uniqueId val="{00000007-FDAF-4994-829D-7C15B53A2646}"/>
              </c:ext>
            </c:extLst>
          </c:dPt>
          <c:dLbls>
            <c:numFmt formatCode="0.0&quot;x&quot;" sourceLinked="0"/>
            <c:spPr>
              <a:noFill/>
              <a:ln>
                <a:noFill/>
              </a:ln>
              <a:effectLst/>
            </c:spPr>
            <c:txPr>
              <a:bodyPr/>
              <a:lstStyle/>
              <a:p>
                <a:pPr>
                  <a:defRPr sz="750" b="1">
                    <a:solidFill>
                      <a:srgbClr val="1B1A1A"/>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Provider Services</c:v>
                </c:pt>
                <c:pt idx="1">
                  <c:v>Life Sciences &amp; Dx</c:v>
                </c:pt>
                <c:pt idx="2">
                  <c:v>Medical Products</c:v>
                </c:pt>
                <c:pt idx="3">
                  <c:v>Pharmacy &amp; Services</c:v>
                </c:pt>
              </c:strCache>
            </c:strRef>
          </c:cat>
          <c:val>
            <c:numRef>
              <c:f>Sheet1!$B$2:$B$5</c:f>
              <c:numCache>
                <c:formatCode>General</c:formatCode>
                <c:ptCount val="4"/>
                <c:pt idx="0">
                  <c:v>1.73</c:v>
                </c:pt>
                <c:pt idx="1">
                  <c:v>4.3499999999999996</c:v>
                </c:pt>
                <c:pt idx="2">
                  <c:v>2.62</c:v>
                </c:pt>
                <c:pt idx="3">
                  <c:v>0.46499999999999997</c:v>
                </c:pt>
              </c:numCache>
            </c:numRef>
          </c:val>
          <c:extLst>
            <c:ext xmlns:c16="http://schemas.microsoft.com/office/drawing/2014/chart" uri="{C3380CC4-5D6E-409C-BE32-E72D297353CC}">
              <c16:uniqueId val="{00000008-FDAF-4994-829D-7C15B53A2646}"/>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none"/>
        <c:minorTickMark val="none"/>
        <c:tickLblPos val="none"/>
        <c:spPr>
          <a:ln>
            <a:solidFill>
              <a:srgbClr val="C3BDB6"/>
            </a:solidFill>
          </a:ln>
        </c:spPr>
        <c:txPr>
          <a:bodyPr/>
          <a:lstStyle/>
          <a:p>
            <a:pPr>
              <a:defRPr sz="750" b="0">
                <a:solidFill>
                  <a:srgbClr val="333231"/>
                </a:solidFill>
                <a:latin typeface="Calibri"/>
              </a:defRPr>
            </a:pPr>
            <a:endParaRPr lang="en-US"/>
          </a:p>
        </c:txPr>
        <c:crossAx val="-2113994440"/>
        <c:crosses val="autoZero"/>
        <c:auto val="1"/>
        <c:lblAlgn val="ctr"/>
        <c:lblOffset val="100"/>
        <c:noMultiLvlLbl val="0"/>
      </c:catAx>
      <c:valAx>
        <c:axId val="-2113994440"/>
        <c:scaling>
          <c:orientation val="minMax"/>
          <c:max val="7.2099999999999991"/>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EV to trailing EBITDA</c:v>
                </c:pt>
              </c:strCache>
            </c:strRef>
          </c:tx>
          <c:invertIfNegative val="1"/>
          <c:dPt>
            <c:idx val="0"/>
            <c:invertIfNegative val="1"/>
            <c:bubble3D val="0"/>
            <c:spPr>
              <a:solidFill>
                <a:srgbClr val="1B1A1A"/>
              </a:solidFill>
            </c:spPr>
            <c:extLst>
              <c:ext xmlns:c16="http://schemas.microsoft.com/office/drawing/2014/chart" uri="{C3380CC4-5D6E-409C-BE32-E72D297353CC}">
                <c16:uniqueId val="{00000001-C16E-481D-A836-743894632E71}"/>
              </c:ext>
            </c:extLst>
          </c:dPt>
          <c:dPt>
            <c:idx val="1"/>
            <c:invertIfNegative val="1"/>
            <c:bubble3D val="0"/>
            <c:spPr>
              <a:solidFill>
                <a:srgbClr val="B68757"/>
              </a:solidFill>
            </c:spPr>
            <c:extLst>
              <c:ext xmlns:c16="http://schemas.microsoft.com/office/drawing/2014/chart" uri="{C3380CC4-5D6E-409C-BE32-E72D297353CC}">
                <c16:uniqueId val="{00000003-C16E-481D-A836-743894632E71}"/>
              </c:ext>
            </c:extLst>
          </c:dPt>
          <c:dPt>
            <c:idx val="2"/>
            <c:invertIfNegative val="1"/>
            <c:bubble3D val="0"/>
            <c:spPr>
              <a:solidFill>
                <a:srgbClr val="6D7681"/>
              </a:solidFill>
            </c:spPr>
            <c:extLst>
              <c:ext xmlns:c16="http://schemas.microsoft.com/office/drawing/2014/chart" uri="{C3380CC4-5D6E-409C-BE32-E72D297353CC}">
                <c16:uniqueId val="{00000005-C16E-481D-A836-743894632E71}"/>
              </c:ext>
            </c:extLst>
          </c:dPt>
          <c:dPt>
            <c:idx val="3"/>
            <c:invertIfNegative val="1"/>
            <c:bubble3D val="0"/>
            <c:spPr>
              <a:solidFill>
                <a:srgbClr val="A39486"/>
              </a:solidFill>
            </c:spPr>
            <c:extLst>
              <c:ext xmlns:c16="http://schemas.microsoft.com/office/drawing/2014/chart" uri="{C3380CC4-5D6E-409C-BE32-E72D297353CC}">
                <c16:uniqueId val="{00000007-C16E-481D-A836-743894632E71}"/>
              </c:ext>
            </c:extLst>
          </c:dPt>
          <c:dLbls>
            <c:numFmt formatCode="0.0&quot;x&quot;" sourceLinked="0"/>
            <c:spPr>
              <a:noFill/>
              <a:ln>
                <a:noFill/>
              </a:ln>
              <a:effectLst/>
            </c:spPr>
            <c:txPr>
              <a:bodyPr/>
              <a:lstStyle/>
              <a:p>
                <a:pPr>
                  <a:defRPr sz="750" b="1">
                    <a:solidFill>
                      <a:srgbClr val="1B1A1A"/>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Provider Services</c:v>
                </c:pt>
                <c:pt idx="1">
                  <c:v>Life Sciences &amp; Dx</c:v>
                </c:pt>
                <c:pt idx="2">
                  <c:v>Medical Products</c:v>
                </c:pt>
                <c:pt idx="3">
                  <c:v>Pharmacy &amp; Services</c:v>
                </c:pt>
              </c:strCache>
            </c:strRef>
          </c:cat>
          <c:val>
            <c:numRef>
              <c:f>Sheet1!$B$2:$B$5</c:f>
              <c:numCache>
                <c:formatCode>General</c:formatCode>
                <c:ptCount val="4"/>
                <c:pt idx="0">
                  <c:v>11.254999999999999</c:v>
                </c:pt>
                <c:pt idx="1">
                  <c:v>21.81</c:v>
                </c:pt>
                <c:pt idx="2">
                  <c:v>12.745000000000001</c:v>
                </c:pt>
                <c:pt idx="3">
                  <c:v>13.97</c:v>
                </c:pt>
              </c:numCache>
            </c:numRef>
          </c:val>
          <c:extLst>
            <c:ext xmlns:c16="http://schemas.microsoft.com/office/drawing/2014/chart" uri="{C3380CC4-5D6E-409C-BE32-E72D297353CC}">
              <c16:uniqueId val="{00000008-C16E-481D-A836-743894632E71}"/>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none"/>
        <c:minorTickMark val="none"/>
        <c:tickLblPos val="none"/>
        <c:spPr>
          <a:ln>
            <a:solidFill>
              <a:srgbClr val="C3BDB6"/>
            </a:solidFill>
          </a:ln>
        </c:spPr>
        <c:txPr>
          <a:bodyPr/>
          <a:lstStyle/>
          <a:p>
            <a:pPr>
              <a:defRPr sz="750" b="0">
                <a:solidFill>
                  <a:srgbClr val="333231"/>
                </a:solidFill>
                <a:latin typeface="Calibri"/>
              </a:defRPr>
            </a:pPr>
            <a:endParaRPr lang="en-US"/>
          </a:p>
        </c:txPr>
        <c:crossAx val="-2113994440"/>
        <c:crosses val="autoZero"/>
        <c:auto val="1"/>
        <c:lblAlgn val="ctr"/>
        <c:lblOffset val="100"/>
        <c:noMultiLvlLbl val="0"/>
      </c:catAx>
      <c:valAx>
        <c:axId val="-2113994440"/>
        <c:scaling>
          <c:orientation val="minMax"/>
          <c:max val="36.049999999999997"/>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EV to trailing EBITDA</c:v>
                </c:pt>
              </c:strCache>
            </c:strRef>
          </c:tx>
          <c:invertIfNegative val="1"/>
          <c:dPt>
            <c:idx val="0"/>
            <c:invertIfNegative val="1"/>
            <c:bubble3D val="0"/>
            <c:spPr>
              <a:solidFill>
                <a:srgbClr val="1B1A1A"/>
              </a:solidFill>
            </c:spPr>
            <c:extLst>
              <c:ext xmlns:c16="http://schemas.microsoft.com/office/drawing/2014/chart" uri="{C3380CC4-5D6E-409C-BE32-E72D297353CC}">
                <c16:uniqueId val="{00000001-CAF6-42BB-8F9B-580458E84FC2}"/>
              </c:ext>
            </c:extLst>
          </c:dPt>
          <c:dPt>
            <c:idx val="1"/>
            <c:invertIfNegative val="1"/>
            <c:bubble3D val="0"/>
            <c:spPr>
              <a:solidFill>
                <a:srgbClr val="B68757"/>
              </a:solidFill>
            </c:spPr>
            <c:extLst>
              <c:ext xmlns:c16="http://schemas.microsoft.com/office/drawing/2014/chart" uri="{C3380CC4-5D6E-409C-BE32-E72D297353CC}">
                <c16:uniqueId val="{00000003-CAF6-42BB-8F9B-580458E84FC2}"/>
              </c:ext>
            </c:extLst>
          </c:dPt>
          <c:dPt>
            <c:idx val="2"/>
            <c:invertIfNegative val="1"/>
            <c:bubble3D val="0"/>
            <c:spPr>
              <a:solidFill>
                <a:srgbClr val="6D7681"/>
              </a:solidFill>
            </c:spPr>
            <c:extLst>
              <c:ext xmlns:c16="http://schemas.microsoft.com/office/drawing/2014/chart" uri="{C3380CC4-5D6E-409C-BE32-E72D297353CC}">
                <c16:uniqueId val="{00000005-CAF6-42BB-8F9B-580458E84FC2}"/>
              </c:ext>
            </c:extLst>
          </c:dPt>
          <c:dPt>
            <c:idx val="3"/>
            <c:invertIfNegative val="1"/>
            <c:bubble3D val="0"/>
            <c:spPr>
              <a:solidFill>
                <a:srgbClr val="A39486"/>
              </a:solidFill>
            </c:spPr>
            <c:extLst>
              <c:ext xmlns:c16="http://schemas.microsoft.com/office/drawing/2014/chart" uri="{C3380CC4-5D6E-409C-BE32-E72D297353CC}">
                <c16:uniqueId val="{00000007-CAF6-42BB-8F9B-580458E84FC2}"/>
              </c:ext>
            </c:extLst>
          </c:dPt>
          <c:dLbls>
            <c:numFmt formatCode="0.0&quot;x&quot;" sourceLinked="0"/>
            <c:spPr>
              <a:noFill/>
              <a:ln>
                <a:noFill/>
              </a:ln>
              <a:effectLst/>
            </c:spPr>
            <c:txPr>
              <a:bodyPr/>
              <a:lstStyle/>
              <a:p>
                <a:pPr>
                  <a:defRPr sz="750" b="1">
                    <a:solidFill>
                      <a:srgbClr val="1B1A1A"/>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Provider Services</c:v>
                </c:pt>
                <c:pt idx="1">
                  <c:v>Life Sciences &amp; Dx</c:v>
                </c:pt>
                <c:pt idx="2">
                  <c:v>Medical Products</c:v>
                </c:pt>
                <c:pt idx="3">
                  <c:v>Pharmacy &amp; Services</c:v>
                </c:pt>
              </c:strCache>
            </c:strRef>
          </c:cat>
          <c:val>
            <c:numRef>
              <c:f>Sheet1!$B$2:$B$5</c:f>
              <c:numCache>
                <c:formatCode>General</c:formatCode>
                <c:ptCount val="4"/>
                <c:pt idx="0">
                  <c:v>11.205</c:v>
                </c:pt>
                <c:pt idx="1">
                  <c:v>14.54</c:v>
                </c:pt>
                <c:pt idx="2">
                  <c:v>13.18</c:v>
                </c:pt>
                <c:pt idx="3">
                  <c:v>13.78</c:v>
                </c:pt>
              </c:numCache>
            </c:numRef>
          </c:val>
          <c:extLst>
            <c:ext xmlns:c16="http://schemas.microsoft.com/office/drawing/2014/chart" uri="{C3380CC4-5D6E-409C-BE32-E72D297353CC}">
              <c16:uniqueId val="{00000008-CAF6-42BB-8F9B-580458E84FC2}"/>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none"/>
        <c:minorTickMark val="none"/>
        <c:tickLblPos val="none"/>
        <c:spPr>
          <a:ln>
            <a:solidFill>
              <a:srgbClr val="C3BDB6"/>
            </a:solidFill>
          </a:ln>
        </c:spPr>
        <c:txPr>
          <a:bodyPr/>
          <a:lstStyle/>
          <a:p>
            <a:pPr>
              <a:defRPr sz="750" b="0">
                <a:solidFill>
                  <a:srgbClr val="333231"/>
                </a:solidFill>
                <a:latin typeface="Calibri"/>
              </a:defRPr>
            </a:pPr>
            <a:endParaRPr lang="en-US"/>
          </a:p>
        </c:txPr>
        <c:crossAx val="-2113994440"/>
        <c:crosses val="autoZero"/>
        <c:auto val="1"/>
        <c:lblAlgn val="ctr"/>
        <c:lblOffset val="100"/>
        <c:noMultiLvlLbl val="0"/>
      </c:catAx>
      <c:valAx>
        <c:axId val="-2113994440"/>
        <c:scaling>
          <c:orientation val="minMax"/>
          <c:max val="36.049999999999997"/>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Share price relative to 52-week high</c:v>
                </c:pt>
              </c:strCache>
            </c:strRef>
          </c:tx>
          <c:invertIfNegative val="1"/>
          <c:dPt>
            <c:idx val="0"/>
            <c:invertIfNegative val="1"/>
            <c:bubble3D val="0"/>
            <c:spPr>
              <a:solidFill>
                <a:srgbClr val="1B1A1A"/>
              </a:solidFill>
            </c:spPr>
            <c:extLst>
              <c:ext xmlns:c16="http://schemas.microsoft.com/office/drawing/2014/chart" uri="{C3380CC4-5D6E-409C-BE32-E72D297353CC}">
                <c16:uniqueId val="{00000001-091B-4003-A698-7001C4B7CE50}"/>
              </c:ext>
            </c:extLst>
          </c:dPt>
          <c:dPt>
            <c:idx val="1"/>
            <c:invertIfNegative val="1"/>
            <c:bubble3D val="0"/>
            <c:spPr>
              <a:solidFill>
                <a:srgbClr val="B68757"/>
              </a:solidFill>
            </c:spPr>
            <c:extLst>
              <c:ext xmlns:c16="http://schemas.microsoft.com/office/drawing/2014/chart" uri="{C3380CC4-5D6E-409C-BE32-E72D297353CC}">
                <c16:uniqueId val="{00000003-091B-4003-A698-7001C4B7CE50}"/>
              </c:ext>
            </c:extLst>
          </c:dPt>
          <c:dPt>
            <c:idx val="2"/>
            <c:invertIfNegative val="1"/>
            <c:bubble3D val="0"/>
            <c:spPr>
              <a:solidFill>
                <a:srgbClr val="6D7681"/>
              </a:solidFill>
            </c:spPr>
            <c:extLst>
              <c:ext xmlns:c16="http://schemas.microsoft.com/office/drawing/2014/chart" uri="{C3380CC4-5D6E-409C-BE32-E72D297353CC}">
                <c16:uniqueId val="{00000005-091B-4003-A698-7001C4B7CE50}"/>
              </c:ext>
            </c:extLst>
          </c:dPt>
          <c:dPt>
            <c:idx val="3"/>
            <c:invertIfNegative val="1"/>
            <c:bubble3D val="0"/>
            <c:spPr>
              <a:solidFill>
                <a:srgbClr val="A39486"/>
              </a:solidFill>
            </c:spPr>
            <c:extLst>
              <c:ext xmlns:c16="http://schemas.microsoft.com/office/drawing/2014/chart" uri="{C3380CC4-5D6E-409C-BE32-E72D297353CC}">
                <c16:uniqueId val="{00000007-091B-4003-A698-7001C4B7CE50}"/>
              </c:ext>
            </c:extLst>
          </c:dPt>
          <c:dLbls>
            <c:numFmt formatCode="0&quot;%&quot;" sourceLinked="0"/>
            <c:spPr>
              <a:noFill/>
              <a:ln>
                <a:noFill/>
              </a:ln>
              <a:effectLst/>
            </c:spPr>
            <c:txPr>
              <a:bodyPr/>
              <a:lstStyle/>
              <a:p>
                <a:pPr>
                  <a:defRPr sz="750" b="1">
                    <a:solidFill>
                      <a:srgbClr val="1B1A1A"/>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Provider Services</c:v>
                </c:pt>
                <c:pt idx="1">
                  <c:v>Life Sciences &amp; Dx</c:v>
                </c:pt>
                <c:pt idx="2">
                  <c:v>Medical Products</c:v>
                </c:pt>
                <c:pt idx="3">
                  <c:v>Pharmacy &amp; Services</c:v>
                </c:pt>
              </c:strCache>
            </c:strRef>
          </c:cat>
          <c:val>
            <c:numRef>
              <c:f>Sheet1!$B$2:$B$5</c:f>
              <c:numCache>
                <c:formatCode>General</c:formatCode>
                <c:ptCount val="4"/>
                <c:pt idx="0">
                  <c:v>89.23</c:v>
                </c:pt>
                <c:pt idx="1">
                  <c:v>91.5</c:v>
                </c:pt>
                <c:pt idx="2">
                  <c:v>80.650000000000006</c:v>
                </c:pt>
                <c:pt idx="3">
                  <c:v>86.75</c:v>
                </c:pt>
              </c:numCache>
            </c:numRef>
          </c:val>
          <c:extLst>
            <c:ext xmlns:c16="http://schemas.microsoft.com/office/drawing/2014/chart" uri="{C3380CC4-5D6E-409C-BE32-E72D297353CC}">
              <c16:uniqueId val="{00000008-091B-4003-A698-7001C4B7CE50}"/>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none"/>
        <c:minorTickMark val="none"/>
        <c:tickLblPos val="none"/>
        <c:spPr>
          <a:ln>
            <a:solidFill>
              <a:srgbClr val="C3BDB6"/>
            </a:solidFill>
          </a:ln>
        </c:spPr>
        <c:txPr>
          <a:bodyPr/>
          <a:lstStyle/>
          <a:p>
            <a:pPr>
              <a:defRPr sz="750" b="0">
                <a:solidFill>
                  <a:srgbClr val="333231"/>
                </a:solidFill>
                <a:latin typeface="Calibri"/>
              </a:defRPr>
            </a:pPr>
            <a:endParaRPr lang="en-US"/>
          </a:p>
        </c:txPr>
        <c:crossAx val="-2113994440"/>
        <c:crosses val="autoZero"/>
        <c:auto val="1"/>
        <c:lblAlgn val="ctr"/>
        <c:lblOffset val="100"/>
        <c:noMultiLvlLbl val="0"/>
      </c:catAx>
      <c:valAx>
        <c:axId val="-2113994440"/>
        <c:scaling>
          <c:orientation val="minMax"/>
          <c:max val="160.9375"/>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4.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hyperlink" Target="https://www.fiercehealthcare.com/finance/projected-healthcare-services-deal-count-be-lowest-2017-pitchbook-finds" TargetMode="External"/><Relationship Id="rId4" Type="http://schemas.openxmlformats.org/officeDocument/2006/relationships/hyperlink" Target="https://www.medtechdive.com/news/medtech-ma-maintains-momentum-following-decade-high-2025-pwc/823113/" TargetMode="External"/><Relationship Id="rId5" Type="http://schemas.openxmlformats.org/officeDocument/2006/relationships/hyperlink" Target="https://www.kaufmanhall.com/news/hospital-and-health-system-ma-activity-among-highest-q2-levels-2019" TargetMode="External"/><Relationship Id="rId6" Type="http://schemas.openxmlformats.org/officeDocument/2006/relationships/hyperlink" Target="https://www.iqvia.com/locations/emea/blogs/2026/07/biopharma-ma-mid-year-2026-update" TargetMode="External"/><Relationship Id="rId7" Type="http://schemas.openxmlformats.org/officeDocument/2006/relationships/image" Target="../media/image6.png"/><Relationship Id="rId8" Type="http://schemas.openxmlformats.org/officeDocument/2006/relationships/hyperlink" Target="https://www.cms.gov/newsroom/fact-sheets/calendar-year-cy-2027-medicare-physician-fee-schedule-proposed-rule" TargetMode="External"/><Relationship Id="rId9" Type="http://schemas.openxmlformats.org/officeDocument/2006/relationships/hyperlink" Target="https://www.cms.gov/medicare/payment/prospective-payment-systems/hospital-outpatient/regulations-notices" TargetMode="External"/><Relationship Id="rId10" Type="http://schemas.openxmlformats.org/officeDocument/2006/relationships/hyperlink" Target="https://www.cms.gov/newsroom/fact-sheets/calendar-year-cy-2027-home-health-prospective-payment-system-proposed-rule-fact-sheet-cms-1844-p" TargetMode="External"/><Relationship Id="rId11" Type="http://schemas.openxmlformats.org/officeDocument/2006/relationships/hyperlink" Target="https://www.cms.gov/newsroom/fact-sheets/2027-medicare-advantage-part-d-rate-announcement" TargetMode="External"/><Relationship Id="rId12" Type="http://schemas.openxmlformats.org/officeDocument/2006/relationships/hyperlink" Target="https://www.medicaid.gov/resources-for-states/working-families-tax-cut-legislation" TargetMode="External"/><Relationship Id="rId13" Type="http://schemas.openxmlformats.org/officeDocument/2006/relationships/image" Target="../media/image7.png"/><Relationship Id="rId14" Type="http://schemas.openxmlformats.org/officeDocument/2006/relationships/hyperlink" Target="https://federalreserve.gov/newsevents/pressreleases/monetary20260916a.htm" TargetMode="External"/><Relationship Id="rId15" Type="http://schemas.openxmlformats.org/officeDocument/2006/relationships/hyperlink" Target="https://home.treasury.gov/resource-center/data-chart-center/interest-rates/TextView?type=daily_treasury_yield_curve&amp;field_tdr_date_value_month=202610" TargetMode="External"/><Relationship Id="rId16" Type="http://schemas.openxmlformats.org/officeDocument/2006/relationships/hyperlink" Target="https://pitchbook.brightspotcdn.com/40/42/bbeb88094080abaea3d7c87530b8/q2-2026-us-pe-breakdown.pdf" TargetMode="External"/><Relationship Id="rId17" Type="http://schemas.openxmlformats.org/officeDocument/2006/relationships/hyperlink" Target="https://www.acg.org/news-trends/news/gf-data-reports-show-steady-middle-market-deal-flow-amid-more-selective" TargetMode="External"/><Relationship Id="rId18" Type="http://schemas.openxmlformats.org/officeDocument/2006/relationships/image" Target="../media/image8.png"/><Relationship Id="rId19" Type="http://schemas.openxmlformats.org/officeDocument/2006/relationships/hyperlink" Target="https://www.altarum.org/news-and-insights/september-2026-health-sector-economic-indicators-briefs" TargetMode="External"/><Relationship Id="rId20" Type="http://schemas.openxmlformats.org/officeDocument/2006/relationships/hyperlink" Target="https://www.cms.gov/data-research/statistics-trends-and-reports/national-health-expenditure-data/nhe-fact-sheet" TargetMode="External"/><Relationship Id="rId21" Type="http://schemas.openxmlformats.org/officeDocument/2006/relationships/hyperlink" Target="https://www.bls.gov/news.release/archives/empsit_10022026.htm" TargetMode="External"/><Relationship Id="rId22" Type="http://schemas.openxmlformats.org/officeDocument/2006/relationships/image" Target="../media/image9.png"/><Relationship Id="rId23" Type="http://schemas.openxmlformats.org/officeDocument/2006/relationships/hyperlink" Target="https://www.whitehouse.gov/presidential-actions/2026/04/adjusting-imports-of-pharmaceuticals-and-pharmaceutical-ingredients-into-the-united-states/" TargetMode="External"/><Relationship Id="rId24" Type="http://schemas.openxmlformats.org/officeDocument/2006/relationships/hyperlink" Target="https://idataresearch.com/news-medical-device-tariffs-in-2026/" TargetMode="External"/><Relationship Id="rId25" Type="http://schemas.openxmlformats.org/officeDocument/2006/relationships/hyperlink" Target="https://www.nixonpeabody.com/insights/alerts/2026/05/27/ohcas-proposed-emergency-regulations-clarify-ab-1415-notice-requirements" TargetMode="External"/><Relationship Id="rId26" Type="http://schemas.openxmlformats.org/officeDocument/2006/relationships/hyperlink" Target="https://www.bakerlaw.com/insights/healthcare-and-private-equity-transactions-continue-to-be-under-state-scrutiny/" TargetMode="External"/><Relationship Id="rId27" Type="http://schemas.openxmlformats.org/officeDocument/2006/relationships/image" Target="../media/image2.jpg"/><Relationship Id="rId28" Type="http://schemas.openxmlformats.org/officeDocument/2006/relationships/hyperlink" Target="https://www.beckersasc.com/asc-transactions-and-valuation-issues/why-asc-deals-are-outperforming-the-rest-of-healthcare-ma-in-2026-8-things-to-know/" TargetMode="External"/><Relationship Id="rId29" Type="http://schemas.openxmlformats.org/officeDocument/2006/relationships/hyperlink" Target="https://www.webull.com/news/15462423712777216" TargetMode="External"/><Relationship Id="rId30"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cms.gov/data-research/statistics-trends-and-reports/national-health-expenditure-data/nhe-fact-sheet" TargetMode="External"/><Relationship Id="rId3" Type="http://schemas.openxmlformats.org/officeDocument/2006/relationships/hyperlink" Target="https://www.crfb.org/blogs/national-health-expenditures-continue-rise" TargetMode="External"/><Relationship Id="rId4" Type="http://schemas.openxmlformats.org/officeDocument/2006/relationships/hyperlink" Target="https://www.kaufmanhall.com/news/hospital-and-health-system-ma-activity-ends-2025-momentum" TargetMode="External"/><Relationship Id="rId5" Type="http://schemas.openxmlformats.org/officeDocument/2006/relationships/hyperlink" Target="https://www.kaufmanhall.com/sites/default/files/2026-04/KH-Report_M%2BA_2026-Q1.pdf" TargetMode="External"/><Relationship Id="rId6" Type="http://schemas.openxmlformats.org/officeDocument/2006/relationships/hyperlink" Target="https://www.kaufmanhall.com/news/hospital-and-health-system-ma-activity-among-highest-q2-levels-2019" TargetMode="External"/><Relationship Id="rId7" Type="http://schemas.openxmlformats.org/officeDocument/2006/relationships/hyperlink" Target="https://pitchbook.brightspotcdn.com/2d/0a/acb3601c4e19925c22d3f3877637/q4-2025-healthcare-services-report.pdf" TargetMode="External"/><Relationship Id="rId8" Type="http://schemas.openxmlformats.org/officeDocument/2006/relationships/chart" Target="../charts/chart1.xml"/><Relationship Id="rId9" Type="http://schemas.openxmlformats.org/officeDocument/2006/relationships/hyperlink" Target="https://www.beckershospitalreview.com/hospital-transactions-and-valuation/how-health-system-m-as-have-fluctuated-over-the-last-decade/" TargetMode="External"/><Relationship Id="rId10" Type="http://schemas.openxmlformats.org/officeDocument/2006/relationships/chart" Target="../charts/chart2.xml"/><Relationship Id="rId11"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fred.stlouisfed.org/series/CES6562000101" TargetMode="External"/><Relationship Id="rId3" Type="http://schemas.openxmlformats.org/officeDocument/2006/relationships/chart" Target="../charts/chart3.xml"/><Relationship Id="rId4" Type="http://schemas.openxmlformats.org/officeDocument/2006/relationships/hyperlink" Target="https://www.bls.gov/news.release/jolts.t01.htm" TargetMode="External"/><Relationship Id="rId5" Type="http://schemas.openxmlformats.org/officeDocument/2006/relationships/hyperlink" Target="https://fred.stlouisfed.org/series/TLHLTHCONS" TargetMode="External"/><Relationship Id="rId6" Type="http://schemas.openxmlformats.org/officeDocument/2006/relationships/chart" Target="../charts/chart4.xml"/><Relationship Id="rId7" Type="http://schemas.openxmlformats.org/officeDocument/2006/relationships/hyperlink" Target="https://fred.stlouisfed.org/series/CPIMEDSL" TargetMode="External"/><Relationship Id="rId8" Type="http://schemas.openxmlformats.org/officeDocument/2006/relationships/hyperlink" Target="https://www.fda.gov/drugs/novel-drug-approvals-fda/novel-drug-approvals-2026" TargetMode="External"/><Relationship Id="rId9" Type="http://schemas.openxmlformats.org/officeDocument/2006/relationships/hyperlink" Target="https://www.raps.org/resource/cder-approved-50-novel-drugs-in-2024-record-numbe.html" TargetMode="External"/><Relationship Id="rId10" Type="http://schemas.openxmlformats.org/officeDocument/2006/relationships/chart" Target="../charts/chart5.xml"/><Relationship Id="rId11" Type="http://schemas.openxmlformats.org/officeDocument/2006/relationships/hyperlink" Target="https://www.biospace.com/press-releases/iqvia-reports-second-quarter-2026-results" TargetMode="External"/><Relationship Id="rId12"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jpg"/><Relationship Id="rId4" Type="http://schemas.openxmlformats.org/officeDocument/2006/relationships/hyperlink" Target="https://www.jucm.com/?p=86881" TargetMode="External"/><Relationship Id="rId5" Type="http://schemas.openxmlformats.org/officeDocument/2006/relationships/hyperlink" Target="https://www.beckersasc.com/asc-transactions-and-valuation-issues/hcas-urgent-care-acquisition-spree/" TargetMode="External"/><Relationship Id="rId6" Type="http://schemas.openxmlformats.org/officeDocument/2006/relationships/hyperlink" Target="https://www.healthcaredive.com/news/hca-texas-medclinic-acquisition-urgent-care/826917/" TargetMode="External"/><Relationship Id="rId7" Type="http://schemas.openxmlformats.org/officeDocument/2006/relationships/hyperlink" Target="https://hlth.com/insights/news/home-health-and-hospice-provider-enhabit-to-go-private-in-1-1b-deal-2026-02-24" TargetMode="External"/><Relationship Id="rId8" Type="http://schemas.openxmlformats.org/officeDocument/2006/relationships/hyperlink" Target="https://www.medicaleconomics.com/view/ama-physician-private-practice-unraveling-due-to-low-payment-high-costs-administrative-burdens" TargetMode="External"/><Relationship Id="rId9" Type="http://schemas.openxmlformats.org/officeDocument/2006/relationships/image" Target="../media/image13.png"/><Relationship Id="rId10" Type="http://schemas.openxmlformats.org/officeDocument/2006/relationships/image" Target="../media/image14.jpg"/><Relationship Id="rId11" Type="http://schemas.openxmlformats.org/officeDocument/2006/relationships/hyperlink" Target="https://newsroom.questdiagnostics.com/2026-07-23-Quest-Diagnostics-Reports-Second-Quarter-2026-Financial-Results-Raises-Revenue-and-EPS-Guidance-for-Full-Year-2026" TargetMode="External"/><Relationship Id="rId12" Type="http://schemas.openxmlformats.org/officeDocument/2006/relationships/hyperlink" Target="https://www.sec.gov/Archives/edgar/data/0000920148/000092014826000175/lh-20260630.htm" TargetMode="External"/><Relationship Id="rId13" Type="http://schemas.openxmlformats.org/officeDocument/2006/relationships/hyperlink" Target="https://myadlm.org/cln/The-Lab-Advocate/2026/August/ADLM-Continues-Push-for-Permanent-PAMA-Reform" TargetMode="External"/><Relationship Id="rId14" Type="http://schemas.openxmlformats.org/officeDocument/2006/relationships/hyperlink" Target="https://www.biospace.com/press-releases/iqvia-reports-second-quarter-2026-results" TargetMode="External"/><Relationship Id="rId15" Type="http://schemas.openxmlformats.org/officeDocument/2006/relationships/hyperlink" Target="https://www.sec.gov/Archives/edgar/data/0001668397/000166839726000023/medp-2026722exx991.htm" TargetMode="External"/><Relationship Id="rId16" Type="http://schemas.openxmlformats.org/officeDocument/2006/relationships/hyperlink" Target="https://www.prnewswire.com/news-releases/headlands-research-expands-california-presence-with-acquisition-of-clinical-trials-research-302814202.html" TargetMode="External"/><Relationship Id="rId17" Type="http://schemas.openxmlformats.org/officeDocument/2006/relationships/hyperlink" Target="https://www.prnewswire.com/news-releases/summit-clinical-research-solutions-expands-pinnacle-site-network-with-acquisition-of-dallas-research-institute-302874775.html" TargetMode="External"/><Relationship Id="rId18"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jpg"/><Relationship Id="rId4" Type="http://schemas.openxmlformats.org/officeDocument/2006/relationships/hyperlink" Target="https://www.sec.gov/Archives/edgar/data/0000310764/000031076426000048/sykex991earningsq22026.htm" TargetMode="External"/><Relationship Id="rId5" Type="http://schemas.openxmlformats.org/officeDocument/2006/relationships/hyperlink" Target="https://www.biospace.com/press-releases/steris-announces-financial-results-for-fiscal-2027-first-quarter" TargetMode="External"/><Relationship Id="rId6" Type="http://schemas.openxmlformats.org/officeDocument/2006/relationships/hyperlink" Target="https://www.hfma.org/fast-finance/health-system-capital-investment-strategy-2026/" TargetMode="External"/><Relationship Id="rId7" Type="http://schemas.openxmlformats.org/officeDocument/2006/relationships/hyperlink" Target="https://www.owens-minor.com/pressreleases/owens-minor-announces-definitive-agreement-to-divest-products-healthcare-services-segment-to-platinum-equity-for-375mm-in-cash-and-a-retained-equity-stake/" TargetMode="External"/><Relationship Id="rId8" Type="http://schemas.openxmlformats.org/officeDocument/2006/relationships/hyperlink" Target="https://www.sec.gov/Archives/edgar/data/0000927653/000092765326000232/mck_exhibit991x6302026.htm" TargetMode="External"/><Relationship Id="rId9" Type="http://schemas.openxmlformats.org/officeDocument/2006/relationships/hyperlink" Target="https://www.barnesdennig.com/section-122-tariffs-ieepa-refunds-update/" TargetMode="External"/><Relationship Id="rId10" Type="http://schemas.openxmlformats.org/officeDocument/2006/relationships/image" Target="../media/image17.png"/><Relationship Id="rId11" Type="http://schemas.openxmlformats.org/officeDocument/2006/relationships/image" Target="../media/image18.jpg"/><Relationship Id="rId12" Type="http://schemas.openxmlformats.org/officeDocument/2006/relationships/hyperlink" Target="https://www.iqvia.com/insights/the-iqvia-institute/reports/us-medicine-use-trends-2026" TargetMode="External"/><Relationship Id="rId13" Type="http://schemas.openxmlformats.org/officeDocument/2006/relationships/hyperlink" Target="https://ncpa.org/newsroom/news-releases/2025/10/19/ncpa-releases-2025-digest-report" TargetMode="External"/><Relationship Id="rId14" Type="http://schemas.openxmlformats.org/officeDocument/2006/relationships/hyperlink" Target="https://www.sec.gov/Archives/edgar/data/0001802255/000119312526338032/d160709dex991.htm" TargetMode="External"/><Relationship Id="rId15" Type="http://schemas.openxmlformats.org/officeDocument/2006/relationships/hyperlink" Target="https://www.sec.gov/Archives/edgar/data/0001865782/000119312526326654/btsg-ex99_1.htm" TargetMode="External"/><Relationship Id="rId16" Type="http://schemas.openxmlformats.org/officeDocument/2006/relationships/hyperlink" Target="https://www.staffingindustry.com/editorial/healthcare-staffing-report/healthcare-staffing-rebounds-as-demand-strengthens-in-the-second-and-third-quarters" TargetMode="External"/><Relationship Id="rId17"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9.png"/><Relationship Id="rId4" Type="http://schemas.openxmlformats.org/officeDocument/2006/relationships/hyperlink" Target="https://www.fiercehealthcare.com/finance/projected-healthcare-services-deal-count-be-lowest-2017-pitchbook-finds" TargetMode="External"/><Relationship Id="rId5" Type="http://schemas.openxmlformats.org/officeDocument/2006/relationships/hyperlink" Target="https://www.iqvia.com/locations/emea/blogs/2026/07/biopharma-ma-mid-year-2026-update" TargetMode="External"/><Relationship Id="rId6" Type="http://schemas.openxmlformats.org/officeDocument/2006/relationships/hyperlink" Target="https://www.medtechdive.com/news/top-10-medtech-deals-in-the-first-half-of-2026/824435/" TargetMode="External"/><Relationship Id="rId7" Type="http://schemas.openxmlformats.org/officeDocument/2006/relationships/hyperlink" Target="https://www.drugchannels.net/2026/08/the-k-shaped-pharmacy-shakeout.html" TargetMode="External"/><Relationship Id="rId8"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20.jp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ama-assn.org/system/files/2021-01/cf-history.pdf" TargetMode="External"/><Relationship Id="rId3" Type="http://schemas.openxmlformats.org/officeDocument/2006/relationships/hyperlink" Target="https://pitchbook.brightspotcdn.com/2d/0a/acb3601c4e19925c22d3f3877637/q4-2025-healthcare-services-report.pdf" TargetMode="External"/><Relationship Id="rId4" Type="http://schemas.openxmlformats.org/officeDocument/2006/relationships/hyperlink" Target="https://www.fiercehealthcare.com/finance/projected-healthcare-services-deal-count-be-lowest-2017-pitchbook-finds" TargetMode="External"/><Relationship Id="rId5" Type="http://schemas.openxmlformats.org/officeDocument/2006/relationships/chart" Target="../charts/chart6.xml"/><Relationship Id="rId6"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hyperlink" Target="https://stockanalysis.com/stocks/hca/statistics/" TargetMode="External"/><Relationship Id="rId4" Type="http://schemas.openxmlformats.org/officeDocument/2006/relationships/hyperlink" Target="https://stockanalysis.com/stocks/thc/statistics/" TargetMode="External"/><Relationship Id="rId5" Type="http://schemas.openxmlformats.org/officeDocument/2006/relationships/hyperlink" Target="https://stockanalysis.com/stocks/usph/statistics/" TargetMode="External"/><Relationship Id="rId6" Type="http://schemas.openxmlformats.org/officeDocument/2006/relationships/hyperlink" Target="https://stockanalysis.com/stocks/dva/statistics/" TargetMode="External"/><Relationship Id="rId7" Type="http://schemas.openxmlformats.org/officeDocument/2006/relationships/hyperlink" Target="https://stockanalysis.com/stocks/adus/statistics/" TargetMode="External"/><Relationship Id="rId8" Type="http://schemas.openxmlformats.org/officeDocument/2006/relationships/hyperlink" Target="https://stockanalysis.com/stocks/pntg/statistics/" TargetMode="External"/><Relationship Id="rId9" Type="http://schemas.openxmlformats.org/officeDocument/2006/relationships/hyperlink" Target="https://stockanalysis.com/stocks/achc/statistics/" TargetMode="External"/><Relationship Id="rId10" Type="http://schemas.openxmlformats.org/officeDocument/2006/relationships/hyperlink" Target="https://stockanalysis.com/stocks/lfst/statistics/" TargetMode="External"/><Relationship Id="rId11" Type="http://schemas.openxmlformats.org/officeDocument/2006/relationships/hyperlink" Target="https://stockanalysis.com/stocks/prva/statistics/" TargetMode="External"/><Relationship Id="rId12" Type="http://schemas.openxmlformats.org/officeDocument/2006/relationships/hyperlink" Target="https://stockanalysis.com/stocks/con/statistics/" TargetMode="External"/><Relationship Id="rId13" Type="http://schemas.openxmlformats.org/officeDocument/2006/relationships/hyperlink" Target="https://stockanalysis.com/stocks/ensg/statistics/" TargetMode="External"/><Relationship Id="rId14" Type="http://schemas.openxmlformats.org/officeDocument/2006/relationships/image" Target="../media/image22.png"/><Relationship Id="rId15" Type="http://schemas.openxmlformats.org/officeDocument/2006/relationships/hyperlink" Target="https://stockanalysis.com/stocks/lh/statistics/" TargetMode="External"/><Relationship Id="rId16" Type="http://schemas.openxmlformats.org/officeDocument/2006/relationships/hyperlink" Target="https://stockanalysis.com/stocks/dgx/statistics/" TargetMode="External"/><Relationship Id="rId17" Type="http://schemas.openxmlformats.org/officeDocument/2006/relationships/hyperlink" Target="https://stockanalysis.com/stocks/tmo/statistics/" TargetMode="External"/><Relationship Id="rId18" Type="http://schemas.openxmlformats.org/officeDocument/2006/relationships/hyperlink" Target="https://stockanalysis.com/stocks/dhr/statistics/" TargetMode="External"/><Relationship Id="rId19" Type="http://schemas.openxmlformats.org/officeDocument/2006/relationships/hyperlink" Target="https://stockanalysis.com/stocks/tech/statistics/" TargetMode="External"/><Relationship Id="rId20" Type="http://schemas.openxmlformats.org/officeDocument/2006/relationships/hyperlink" Target="https://stockanalysis.com/stocks/iqv/statistics/" TargetMode="External"/><Relationship Id="rId21" Type="http://schemas.openxmlformats.org/officeDocument/2006/relationships/hyperlink" Target="https://stockanalysis.com/stocks/medp/statistics/" TargetMode="External"/><Relationship Id="rId22" Type="http://schemas.openxmlformats.org/officeDocument/2006/relationships/hyperlink" Target="https://stockanalysis.com/stocks/iclr/statistics/" TargetMode="External"/><Relationship Id="rId23" Type="http://schemas.openxmlformats.org/officeDocument/2006/relationships/hyperlink" Target="https://stockanalysis.com/stocks/crl/statistics/" TargetMode="External"/><Relationship Id="rId24" Type="http://schemas.openxmlformats.org/officeDocument/2006/relationships/image" Target="../media/image23.png"/><Relationship Id="rId25" Type="http://schemas.openxmlformats.org/officeDocument/2006/relationships/hyperlink" Target="https://stockanalysis.com/stocks/syk/statistics/" TargetMode="External"/><Relationship Id="rId26" Type="http://schemas.openxmlformats.org/officeDocument/2006/relationships/hyperlink" Target="https://stockanalysis.com/stocks/ste/statistics/" TargetMode="External"/><Relationship Id="rId27" Type="http://schemas.openxmlformats.org/officeDocument/2006/relationships/hyperlink" Target="https://stockanalysis.com/stocks/tfx/statistics/" TargetMode="External"/><Relationship Id="rId28" Type="http://schemas.openxmlformats.org/officeDocument/2006/relationships/hyperlink" Target="https://stockanalysis.com/stocks/hsic/statistics/" TargetMode="External"/><Relationship Id="rId29" Type="http://schemas.openxmlformats.org/officeDocument/2006/relationships/hyperlink" Target="https://stockanalysis.com/stocks/xray/statistics/" TargetMode="External"/><Relationship Id="rId30" Type="http://schemas.openxmlformats.org/officeDocument/2006/relationships/hyperlink" Target="https://stockanalysis.com/stocks/nvst/statistics/" TargetMode="External"/><Relationship Id="rId31" Type="http://schemas.openxmlformats.org/officeDocument/2006/relationships/hyperlink" Target="https://stockanalysis.com/stocks/zbh/statistics/" TargetMode="External"/><Relationship Id="rId32" Type="http://schemas.openxmlformats.org/officeDocument/2006/relationships/hyperlink" Target="https://stockanalysis.com/stocks/itgr/statistics/" TargetMode="External"/><Relationship Id="rId33" Type="http://schemas.openxmlformats.org/officeDocument/2006/relationships/hyperlink" Target="https://stockanalysis.com/stocks/solv/statistics/" TargetMode="External"/><Relationship Id="rId34" Type="http://schemas.openxmlformats.org/officeDocument/2006/relationships/hyperlink" Target="https://stockanalysis.com/stocks/vmd/statistics/" TargetMode="External"/><Relationship Id="rId35" Type="http://schemas.openxmlformats.org/officeDocument/2006/relationships/image" Target="../media/image24.png"/><Relationship Id="rId36" Type="http://schemas.openxmlformats.org/officeDocument/2006/relationships/hyperlink" Target="https://stockanalysis.com/stocks/opch/statistics/" TargetMode="External"/><Relationship Id="rId37" Type="http://schemas.openxmlformats.org/officeDocument/2006/relationships/hyperlink" Target="https://stockanalysis.com/stocks/btsg/statistics/" TargetMode="External"/><Relationship Id="rId38" Type="http://schemas.openxmlformats.org/officeDocument/2006/relationships/hyperlink" Target="https://stockanalysis.com/stocks/grdn/statistics/" TargetMode="External"/><Relationship Id="rId39" Type="http://schemas.openxmlformats.org/officeDocument/2006/relationships/hyperlink" Target="https://stockanalysis.com/stocks/mck/statistics/" TargetMode="External"/><Relationship Id="rId40" Type="http://schemas.openxmlformats.org/officeDocument/2006/relationships/hyperlink" Target="https://stockanalysis.com/stocks/cor/statistics/" TargetMode="External"/><Relationship Id="rId41" Type="http://schemas.openxmlformats.org/officeDocument/2006/relationships/hyperlink" Target="https://stockanalysis.com/stocks/cah/statistics/" TargetMode="External"/><Relationship Id="rId42" Type="http://schemas.openxmlformats.org/officeDocument/2006/relationships/hyperlink" Target="https://stockanalysis.com/stocks/cvs/statistics/" TargetMode="External"/><Relationship Id="rId43" Type="http://schemas.openxmlformats.org/officeDocument/2006/relationships/hyperlink" Target="https://stockanalysis.com/stocks/amn/statistics/" TargetMode="External"/><Relationship Id="rId4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businesswire.com/news/home/20260928896885/en/EyeCare-Partners-Announces-Sale-of-Optometry-Business" TargetMode="External"/><Relationship Id="rId3" Type="http://schemas.openxmlformats.org/officeDocument/2006/relationships/hyperlink" Target="https://www.sec.gov/Archives/edgar/data/0001468328/000143774926030348/ex_1015828.htm" TargetMode="External"/><Relationship Id="rId4" Type="http://schemas.openxmlformats.org/officeDocument/2006/relationships/hyperlink" Target="https://www.sec.gov/Archives/edgar/data/0000842023/000199937126013429/ex99-1.htm" TargetMode="External"/><Relationship Id="rId5" Type="http://schemas.openxmlformats.org/officeDocument/2006/relationships/hyperlink" Target="https://peprofessional.com/2026/07/statlab-sold-to-danahers-leica-biosystems/" TargetMode="External"/><Relationship Id="rId6" Type="http://schemas.openxmlformats.org/officeDocument/2006/relationships/hyperlink" Target="https://www.medicaldesignandoutsourcing.com/?p=280019" TargetMode="External"/><Relationship Id="rId7" Type="http://schemas.openxmlformats.org/officeDocument/2006/relationships/hyperlink" Target="https://www.staffingindustry.com/news/global-daily-news/aya-healthcare-terminates-merger-agreement-with-cross-country-healthcare" TargetMode="External"/><Relationship Id="rId8" Type="http://schemas.openxmlformats.org/officeDocument/2006/relationships/hyperlink" Target="https://www.fiercehealthcare.com/finance/staffing-firm-cross-country-healthcare-be-acquired-knox-lane-437m" TargetMode="External"/><Relationship Id="rId9"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hyperlink" Target="https://www.benchmarkintl.com/about/our-success/" TargetMode="External"/><Relationship Id="rId4" Type="http://schemas.openxmlformats.org/officeDocument/2006/relationships/hyperlink" Target="https://www.benchmarkintl.com/insights/benchmark-international-successfully-facilitated-the-transaction-between-precise-bioscience-llc-and-new-horizon-medical-solutions/" TargetMode="External"/><Relationship Id="rId5" Type="http://schemas.openxmlformats.org/officeDocument/2006/relationships/hyperlink" Target="https://www.benchmarkintl.com/insights/completed-transactions/benchmark-international-successfully-facilitated-the-transaction-between-formulation-technology-incorporated-and-aavin-private-equity/" TargetMode="External"/><Relationship Id="rId6" Type="http://schemas.openxmlformats.org/officeDocument/2006/relationships/hyperlink" Target="https://www.benchmarkintl.com/insights/completed-transactions/benchmark-international-successfully-facilitated-the-transaction-between-fast-response-onsite-testing-inc-and-relentless-health-inc/" TargetMode="External"/><Relationship Id="rId7" Type="http://schemas.openxmlformats.org/officeDocument/2006/relationships/hyperlink" Target="https://www.benchmarkintl.com/insights/completed-transactions/benchmark-international-successfully-facilitated-the-transaction-between-critical-environments-professionals-and-scientific-safety-alliance/" TargetMode="External"/><Relationship Id="rId8" Type="http://schemas.openxmlformats.org/officeDocument/2006/relationships/image" Target="../media/image25.png"/><Relationship Id="rId9" Type="http://schemas.openxmlformats.org/officeDocument/2006/relationships/hyperlink" Target="https://www.benchmarkintl.com/insights/completed-transactions/benchmark-international-facilitated-the-transaction-of-dental-holdings-llc-and-solmetex-llc/" TargetMode="External"/><Relationship Id="rId10" Type="http://schemas.openxmlformats.org/officeDocument/2006/relationships/image" Target="../media/image26.png"/><Relationship Id="rId11" Type="http://schemas.openxmlformats.org/officeDocument/2006/relationships/hyperlink" Target="https://www.benchmarkintl.com/insights/benchmark-international-successfully-facilitated-the-transaction-between-fosterbridge-inc-and-amvie/" TargetMode="External"/><Relationship Id="rId12" Type="http://schemas.openxmlformats.org/officeDocument/2006/relationships/hyperlink" Target="https://www.benchmarkintl.com/insights/benchmark-international-successfully-facilitated-the-transaction-between-medical-temps-inc-and-health-advocates-network/" TargetMode="External"/><Relationship Id="rId13" Type="http://schemas.openxmlformats.org/officeDocument/2006/relationships/hyperlink" Target="https://www.benchmarkintl.com/insights/completed-transactions/benchmark-international-successfully-facilitated-the-transaction-between-the-brooks-group-and-private-investors/" TargetMode="External"/><Relationship Id="rId1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image" Target="../media/image2.jpg"/><Relationship Id="rId4" Type="http://schemas.openxmlformats.org/officeDocument/2006/relationships/hyperlink" Target="https://www.beckersasc.com/asc-transactions-and-valuation-issues/why-asc-deals-are-outperforming-the-rest-of-healthcare-ma-in-2026-8-things-to-know/" TargetMode="External"/><Relationship Id="rId5" Type="http://schemas.openxmlformats.org/officeDocument/2006/relationships/hyperlink" Target="https://www.acg.org/news-trends/news/gf-data-reports-show-steady-middle-market-deal-flow-amid-more-selective" TargetMode="External"/><Relationship Id="rId6" Type="http://schemas.openxmlformats.org/officeDocument/2006/relationships/hyperlink" Target="https://www.ibba.org/wp-content/uploads/2026/08/mp-highlights-q2-2026.pdf" TargetMode="External"/><Relationship Id="rId7" Type="http://schemas.openxmlformats.org/officeDocument/2006/relationships/image" Target="../media/image10.png"/><Relationship Id="rId8" Type="http://schemas.openxmlformats.org/officeDocument/2006/relationships/hyperlink" Target="https://stockanalysis.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 Id="rId3" Type="http://schemas.openxmlformats.org/officeDocument/2006/relationships/chart" Target="../charts/chart9.xml"/><Relationship Id="rId4" Type="http://schemas.openxmlformats.org/officeDocument/2006/relationships/image" Target="../media/image10.png"/><Relationship Id="rId5" Type="http://schemas.openxmlformats.org/officeDocument/2006/relationships/hyperlink" Target="https://stockanalysis.co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chart" Target="../charts/chart13.xml"/><Relationship Id="rId6" Type="http://schemas.openxmlformats.org/officeDocument/2006/relationships/chart" Target="../charts/chart14.xml"/><Relationship Id="rId7" Type="http://schemas.openxmlformats.org/officeDocument/2006/relationships/chart" Target="../charts/chart15.xml"/><Relationship Id="rId8" Type="http://schemas.openxmlformats.org/officeDocument/2006/relationships/chart" Target="../charts/chart16.xml"/><Relationship Id="rId9" Type="http://schemas.openxmlformats.org/officeDocument/2006/relationships/chart" Target="../charts/chart17.xml"/><Relationship Id="rId10" Type="http://schemas.openxmlformats.org/officeDocument/2006/relationships/image" Target="../media/image10.png"/><Relationship Id="rId11" Type="http://schemas.openxmlformats.org/officeDocument/2006/relationships/hyperlink" Target="https://stockanalysis.co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sec.gov/Archives/edgar/data/0001125376/000112537626000036/q22026pressrelease.htm" TargetMode="External"/><Relationship Id="rId3" Type="http://schemas.openxmlformats.org/officeDocument/2006/relationships/hyperlink" Target="https://www.sec.gov/Archives/edgar/data/0001668397/000166839726000023/medp-2026722exx991.htm" TargetMode="External"/><Relationship Id="rId4" Type="http://schemas.openxmlformats.org/officeDocument/2006/relationships/hyperlink" Target="https://newsroom.questdiagnostics.com/2026-07-23-Quest-Diagnostics-Reports-Second-Quarter-2026-Financial-Results-Raises-Revenue-and-EPS-Guidance-for-Full-Year-2026" TargetMode="External"/><Relationship Id="rId5" Type="http://schemas.openxmlformats.org/officeDocument/2006/relationships/hyperlink" Target="https://www.sec.gov/Archives/edgar/data/0000097745/000009774526000138/q22026earnings8kex99_1.htm" TargetMode="External"/><Relationship Id="rId6" Type="http://schemas.openxmlformats.org/officeDocument/2006/relationships/hyperlink" Target="https://www.sec.gov/Archives/edgar/data/0000310764/000031076426000048/sykex991earningsq22026.htm" TargetMode="External"/><Relationship Id="rId7" Type="http://schemas.openxmlformats.org/officeDocument/2006/relationships/hyperlink" Target="https://www.sec.gov/Archives/edgar/data/0000860730/000119312526315151/hca-ex99_1.htm" TargetMode="External"/><Relationship Id="rId8" Type="http://schemas.openxmlformats.org/officeDocument/2006/relationships/hyperlink" Target="https://www.sec.gov/Archives/edgar/data/0001478242/000162828026049923/iqv-q2x2026earningspressre.htm" TargetMode="External"/><Relationship Id="rId9" Type="http://schemas.openxmlformats.org/officeDocument/2006/relationships/hyperlink" Target="https://www.sec.gov/Archives/edgar/data/0000885978/000088597826000042/ex99-1.htm" TargetMode="External"/><Relationship Id="rId10" Type="http://schemas.openxmlformats.org/officeDocument/2006/relationships/hyperlink" Target="https://www.sec.gov/Archives/edgar/data/0001468328/000143774926025448/ex_997368.htm" TargetMode="External"/><Relationship Id="rId11" Type="http://schemas.openxmlformats.org/officeDocument/2006/relationships/hyperlink" Target="https://www.mckesson.com/about-us/newsroom/press-releases/2026/mckesson-reports-fiscal-2027-first-quarter-results-and-raises-full-year-adjusted-eps-guidance/" TargetMode="External"/><Relationship Id="rId12" Type="http://schemas.openxmlformats.org/officeDocument/2006/relationships/hyperlink" Target="https://www.sec.gov/Archives/edgar/data/0001757898/000162828026053412/ste6302026ex991.htm" TargetMode="External"/><Relationship Id="rId13" Type="http://schemas.openxmlformats.org/officeDocument/2006/relationships/hyperlink" Target="https://www.sec.gov/Archives/edgar/data/0000070318/000007031826000032/thc-20260630ex991earningsr.htm" TargetMode="External"/><Relationship Id="rId14" Type="http://schemas.openxmlformats.org/officeDocument/2006/relationships/hyperlink" Target="https://investor.henryschein.com/news-releases/news-release-details/2026/Henry-Schein-Reports-Strong-Second-Quarter-2026-Financial-Results-and-Raises-FY2026-Guidance" TargetMode="External"/><Relationship Id="rId15" Type="http://schemas.openxmlformats.org/officeDocument/2006/relationships/hyperlink" Target="https://www.sec.gov/Archives/edgar/data/0000721371/000072137126000037/a26q4_x063026xex991xnewsre.htm" TargetMode="External"/><Relationship Id="rId16" Type="http://schemas.openxmlformats.org/officeDocument/2006/relationships/hyperlink" Target="https://www.sec.gov/Archives/edgar/data/0000920148/000092014826000162/form8-kexhibit9912q26.htm" TargetMode="External"/><Relationship Id="rId17" Type="http://schemas.openxmlformats.org/officeDocument/2006/relationships/hyperlink" Target="https://www.sec.gov/Archives/edgar/data/0001802255/000119312526338032/d160709dex991.htm" TargetMode="External"/><Relationship Id="rId18" Type="http://schemas.openxmlformats.org/officeDocument/2006/relationships/hyperlink" Target="https://www.sec.gov/Archives/edgar/data/0001142750/000114275026000008/amn-ex991x20260630xearning.htm" TargetMode="External"/><Relationship Id="rId19" Type="http://schemas.openxmlformats.org/officeDocument/2006/relationships/hyperlink" Target="https://www.sec.gov/Archives/edgar/data/1014739/000101473926000021/exhibit991-q22026.htm" TargetMode="External"/><Relationship Id="rId20" Type="http://schemas.openxmlformats.org/officeDocument/2006/relationships/hyperlink" Target="https://stockanalysis.com/stocks/adus/transcripts/660727-q2-2026/" TargetMode="External"/><Relationship Id="rId21" Type="http://schemas.openxmlformats.org/officeDocument/2006/relationships/hyperlink" Target="https://s2.q4cdn.com/390454341/files/doc_earnings/2026/q2/transcript/prepared-comments-for-website-Q2-2026-final.pdf" TargetMode="External"/><Relationship Id="rId22" Type="http://schemas.openxmlformats.org/officeDocument/2006/relationships/hyperlink" Target="https://stockanalysis.com/stocks/tmo/transcripts/653574-q2-2026/" TargetMode="External"/><Relationship Id="rId23" Type="http://schemas.openxmlformats.org/officeDocument/2006/relationships/hyperlink" Target="https://stockanalysis.com/stocks/ste/transcripts/666655-q1-2027/" TargetMode="External"/><Relationship Id="rId24" Type="http://schemas.openxmlformats.org/officeDocument/2006/relationships/hyperlink" Target="https://s206.q4cdn.com/399858780/files/doc_financials/2026/q2/HSIC-USQ_Transcript_2026-08-04.pdf" TargetMode="External"/><Relationship Id="rId25" Type="http://schemas.openxmlformats.org/officeDocument/2006/relationships/hyperlink" Target="https://s201.q4cdn.com/566741227/files/doc_financials/2026/q4/Q4-FY26-CAH-Earnings-Transcript.pdf" TargetMode="External"/><Relationship Id="rId26" Type="http://schemas.openxmlformats.org/officeDocument/2006/relationships/hyperlink" Target="https://stockanalysis.com/stocks/amn/transcripts/662833-q2-2026/" TargetMode="External"/><Relationship Id="rId27"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27.jp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hyperlink" Target="tel:8137716675" TargetMode="External"/><Relationship Id="rId4" Type="http://schemas.openxmlformats.org/officeDocument/2006/relationships/hyperlink" Target="mailto:j.hardin@benchmarkintl.com" TargetMode="External"/><Relationship Id="rId5" Type="http://schemas.openxmlformats.org/officeDocument/2006/relationships/hyperlink" Target="mailto:j.hardin@benchmarkintl.com?subject=Healthcare%20Q4%202026%20brief" TargetMode="External"/><Relationship Id="rId6" Type="http://schemas.openxmlformats.org/officeDocument/2006/relationships/hyperlink" Target="https://jp-hardin.github.io/about/mid-market-practice/insights/healthcare-industry-report-q4-2026.html" TargetMode="External"/><Relationship Id="rId7" Type="http://schemas.openxmlformats.org/officeDocument/2006/relationships/image" Target="../media/image29.jpg"/><Relationship Id="rId8"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0.jpg"/><Relationship Id="rId4" Type="http://schemas.openxmlformats.org/officeDocument/2006/relationships/image" Target="../media/image28.jpg"/><Relationship Id="rId5" Type="http://schemas.openxmlformats.org/officeDocument/2006/relationships/hyperlink" Target="tel:8137716675" TargetMode="External"/><Relationship Id="rId6" Type="http://schemas.openxmlformats.org/officeDocument/2006/relationships/hyperlink" Target="mailto:j.hardin@benchmarkintl.com" TargetMode="External"/><Relationship Id="rId7" Type="http://schemas.openxmlformats.org/officeDocument/2006/relationships/image" Target="../media/image31.jpg"/><Relationship Id="rId8" Type="http://schemas.openxmlformats.org/officeDocument/2006/relationships/image" Target="../media/image32.jpg"/><Relationship Id="rId9" Type="http://schemas.openxmlformats.org/officeDocument/2006/relationships/image" Target="../media/image33.jpg"/><Relationship Id="rId10" Type="http://schemas.openxmlformats.org/officeDocument/2006/relationships/image" Target="../media/image34.jpg"/><Relationship Id="rId11" Type="http://schemas.openxmlformats.org/officeDocument/2006/relationships/image" Target="../media/image35.jpg"/><Relationship Id="rId12" Type="http://schemas.openxmlformats.org/officeDocument/2006/relationships/image" Target="../media/image36.jpg"/><Relationship Id="rId13" Type="http://schemas.openxmlformats.org/officeDocument/2006/relationships/image" Target="../media/image37.jpg"/><Relationship Id="rId14" Type="http://schemas.openxmlformats.org/officeDocument/2006/relationships/image" Target="../media/image38.jpg"/><Relationship Id="rId15" Type="http://schemas.openxmlformats.org/officeDocument/2006/relationships/image" Target="../media/image39.png"/><Relationship Id="rId16" Type="http://schemas.openxmlformats.org/officeDocument/2006/relationships/image" Target="../media/image40.png"/><Relationship Id="rId17" Type="http://schemas.openxmlformats.org/officeDocument/2006/relationships/image" Target="../media/image41.png"/><Relationship Id="rId18" Type="http://schemas.openxmlformats.org/officeDocument/2006/relationships/image" Target="../media/image42.png"/><Relationship Id="rId19" Type="http://schemas.openxmlformats.org/officeDocument/2006/relationships/image" Target="../media/image10.png"/><Relationship Id="rId20" Type="http://schemas.openxmlformats.org/officeDocument/2006/relationships/hyperlink" Target="mailto:jhoutz@benchmarkintl.com" TargetMode="External"/><Relationship Id="rId21" Type="http://schemas.openxmlformats.org/officeDocument/2006/relationships/hyperlink" Target="tel:8138982372" TargetMode="External"/><Relationship Id="rId22" Type="http://schemas.openxmlformats.org/officeDocument/2006/relationships/hyperlink" Target="mailto:azykov@benchmarkintl.com" TargetMode="External"/><Relationship Id="rId23" Type="http://schemas.openxmlformats.org/officeDocument/2006/relationships/hyperlink" Target="tel:8138982397" TargetMode="External"/><Relationship Id="rId24" Type="http://schemas.openxmlformats.org/officeDocument/2006/relationships/hyperlink" Target="mailto:hess@benchmarkintl.com" TargetMode="External"/><Relationship Id="rId25" Type="http://schemas.openxmlformats.org/officeDocument/2006/relationships/hyperlink" Target="tel:8138982357" TargetMode="External"/><Relationship Id="rId26" Type="http://schemas.openxmlformats.org/officeDocument/2006/relationships/hyperlink" Target="mailto:garten@benchmarkintl.com" TargetMode="External"/><Relationship Id="rId27" Type="http://schemas.openxmlformats.org/officeDocument/2006/relationships/hyperlink" Target="tel:8133844972" TargetMode="External"/><Relationship Id="rId28" Type="http://schemas.openxmlformats.org/officeDocument/2006/relationships/hyperlink" Target="mailto:mwynn@benchmarkintl.com" TargetMode="External"/><Relationship Id="rId29" Type="http://schemas.openxmlformats.org/officeDocument/2006/relationships/hyperlink" Target="mailto:jlisiak@benchmarkintl.com" TargetMode="External"/><Relationship Id="rId30" Type="http://schemas.openxmlformats.org/officeDocument/2006/relationships/hyperlink" Target="tel:8133876046" TargetMode="External"/><Relationship Id="rId31" Type="http://schemas.openxmlformats.org/officeDocument/2006/relationships/hyperlink" Target="mailto:abarr@benchmarkintl.com" TargetMode="External"/><Relationship Id="rId32" Type="http://schemas.openxmlformats.org/officeDocument/2006/relationships/hyperlink" Target="tel:8138982398" TargetMode="External"/><Relationship Id="rId33" Type="http://schemas.openxmlformats.org/officeDocument/2006/relationships/hyperlink" Target="mailto:jwarren@benchmarkintl.com" TargetMode="External"/><Relationship Id="rId34" Type="http://schemas.openxmlformats.org/officeDocument/2006/relationships/hyperlink" Target="tel:8137716318" TargetMode="External"/><Relationship Id="rId35" Type="http://schemas.openxmlformats.org/officeDocument/2006/relationships/hyperlink" Target="mailto:lernst@benchmarkintl.com"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image" Target="../media/image48.png"/><Relationship Id="rId10" Type="http://schemas.openxmlformats.org/officeDocument/2006/relationships/image" Target="../media/image49.png"/><Relationship Id="rId11" Type="http://schemas.openxmlformats.org/officeDocument/2006/relationships/image" Target="../media/image50.png"/><Relationship Id="rId12" Type="http://schemas.openxmlformats.org/officeDocument/2006/relationships/image" Target="../media/image51.png"/><Relationship Id="rId13" Type="http://schemas.openxmlformats.org/officeDocument/2006/relationships/image" Target="../media/image10.png"/><Relationship Id="rId14" Type="http://schemas.openxmlformats.org/officeDocument/2006/relationships/hyperlink" Target="https://www.benchmarkintl.com/about/our-succes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hyperlink" Target="https://stockanalysis.com/"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hyperlink" Target="https://stockanalysis.com/"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ercehealthcare.com/finance/projected-healthcare-services-deal-count-be-lowest-2017-pitchbook-finds" TargetMode="External"/><Relationship Id="rId3" Type="http://schemas.openxmlformats.org/officeDocument/2006/relationships/hyperlink" Target="https://www.medtechdive.com/news/medtech-ma-maintains-momentum-following-decade-high-2025-pwc/823113/" TargetMode="External"/><Relationship Id="rId4" Type="http://schemas.openxmlformats.org/officeDocument/2006/relationships/hyperlink" Target="https://www.kaufmanhall.com/news/hospital-and-health-system-ma-activity-among-highest-q2-levels-2019" TargetMode="External"/><Relationship Id="rId5" Type="http://schemas.openxmlformats.org/officeDocument/2006/relationships/hyperlink" Target="https://www.iqvia.com/locations/emea/blogs/2026/07/biopharma-ma-mid-year-2026-update" TargetMode="External"/><Relationship Id="rId6" Type="http://schemas.openxmlformats.org/officeDocument/2006/relationships/hyperlink" Target="https://www.cms.gov/newsroom/fact-sheets/calendar-year-cy-2027-medicare-physician-fee-schedule-proposed-rule" TargetMode="External"/><Relationship Id="rId7" Type="http://schemas.openxmlformats.org/officeDocument/2006/relationships/hyperlink" Target="https://www.cms.gov/medicare/payment/prospective-payment-systems/hospital-outpatient/regulations-notices" TargetMode="External"/><Relationship Id="rId8" Type="http://schemas.openxmlformats.org/officeDocument/2006/relationships/hyperlink" Target="https://www.cms.gov/newsroom/fact-sheets/calendar-year-cy-2027-home-health-prospective-payment-system-proposed-rule-fact-sheet-cms-1844-p" TargetMode="External"/><Relationship Id="rId9" Type="http://schemas.openxmlformats.org/officeDocument/2006/relationships/hyperlink" Target="https://www.cms.gov/newsroom/fact-sheets/2027-medicare-advantage-part-d-rate-announcement" TargetMode="External"/><Relationship Id="rId10" Type="http://schemas.openxmlformats.org/officeDocument/2006/relationships/hyperlink" Target="https://www.medicaid.gov/resources-for-states/working-families-tax-cut-legislation" TargetMode="External"/><Relationship Id="rId11" Type="http://schemas.openxmlformats.org/officeDocument/2006/relationships/hyperlink" Target="https://federalreserve.gov/newsevents/pressreleases/monetary20260916a.htm" TargetMode="External"/><Relationship Id="rId12" Type="http://schemas.openxmlformats.org/officeDocument/2006/relationships/hyperlink" Target="https://home.treasury.gov/resource-center/data-chart-center/interest-rates/TextView?type=daily_treasury_yield_curve&amp;field_tdr_date_value_month=202610" TargetMode="External"/><Relationship Id="rId13" Type="http://schemas.openxmlformats.org/officeDocument/2006/relationships/hyperlink" Target="https://pitchbook.brightspotcdn.com/40/42/bbeb88094080abaea3d7c87530b8/q2-2026-us-pe-breakdown.pdf" TargetMode="External"/><Relationship Id="rId14" Type="http://schemas.openxmlformats.org/officeDocument/2006/relationships/hyperlink" Target="https://www.acg.org/news-trends/news/gf-data-reports-show-steady-middle-market-deal-flow-amid-more-selective" TargetMode="External"/><Relationship Id="rId15" Type="http://schemas.openxmlformats.org/officeDocument/2006/relationships/hyperlink" Target="https://www.altarum.org/news-and-insights/september-2026-health-sector-economic-indicators-briefs" TargetMode="External"/><Relationship Id="rId16" Type="http://schemas.openxmlformats.org/officeDocument/2006/relationships/hyperlink" Target="https://www.cms.gov/data-research/statistics-trends-and-reports/national-health-expenditure-data/nhe-fact-sheet" TargetMode="External"/><Relationship Id="rId17" Type="http://schemas.openxmlformats.org/officeDocument/2006/relationships/hyperlink" Target="https://www.bls.gov/news.release/archives/empsit_10022026.htm" TargetMode="External"/><Relationship Id="rId18" Type="http://schemas.openxmlformats.org/officeDocument/2006/relationships/hyperlink" Target="https://www.whitehouse.gov/presidential-actions/2026/04/adjusting-imports-of-pharmaceuticals-and-pharmaceutical-ingredients-into-the-united-states/" TargetMode="External"/><Relationship Id="rId19" Type="http://schemas.openxmlformats.org/officeDocument/2006/relationships/hyperlink" Target="https://idataresearch.com/news-medical-device-tariffs-in-2026/" TargetMode="External"/><Relationship Id="rId20" Type="http://schemas.openxmlformats.org/officeDocument/2006/relationships/hyperlink" Target="https://www.nixonpeabody.com/insights/alerts/2026/05/27/ohcas-proposed-emergency-regulations-clarify-ab-1415-notice-requirements" TargetMode="External"/><Relationship Id="rId21" Type="http://schemas.openxmlformats.org/officeDocument/2006/relationships/hyperlink" Target="https://www.bakerlaw.com/insights/healthcare-and-private-equity-transactions-continue-to-be-under-state-scrutiny/" TargetMode="External"/><Relationship Id="rId22" Type="http://schemas.openxmlformats.org/officeDocument/2006/relationships/hyperlink" Target="https://www.beckersasc.com/asc-transactions-and-valuation-issues/why-asc-deals-are-outperforming-the-rest-of-healthcare-ma-in-2026-8-things-to-know/" TargetMode="External"/><Relationship Id="rId23" Type="http://schemas.openxmlformats.org/officeDocument/2006/relationships/hyperlink" Target="https://www.webull.com/news/15462423712777216" TargetMode="External"/><Relationship Id="rId24" Type="http://schemas.openxmlformats.org/officeDocument/2006/relationships/hyperlink" Target="https://www.crfb.org/blogs/national-health-expenditures-continue-rise" TargetMode="External"/><Relationship Id="rId25" Type="http://schemas.openxmlformats.org/officeDocument/2006/relationships/hyperlink" Target="https://www.kaufmanhall.com/news/hospital-and-health-system-ma-activity-ends-2025-momentum" TargetMode="External"/><Relationship Id="rId26" Type="http://schemas.openxmlformats.org/officeDocument/2006/relationships/hyperlink" Target="https://www.kaufmanhall.com/sites/default/files/2026-04/KH-Report_M%2BA_2026-Q1.pdf" TargetMode="External"/><Relationship Id="rId27" Type="http://schemas.openxmlformats.org/officeDocument/2006/relationships/hyperlink" Target="https://pitchbook.brightspotcdn.com/2d/0a/acb3601c4e19925c22d3f3877637/q4-2025-healthcare-services-report.pdf" TargetMode="External"/><Relationship Id="rId28" Type="http://schemas.openxmlformats.org/officeDocument/2006/relationships/hyperlink" Target="https://www.beckershospitalreview.com/hospital-transactions-and-valuation/how-health-system-m-as-have-fluctuated-over-the-last-decade/" TargetMode="External"/><Relationship Id="rId29" Type="http://schemas.openxmlformats.org/officeDocument/2006/relationships/hyperlink" Target="https://fred.stlouisfed.org/series/CES6562000101" TargetMode="External"/><Relationship Id="rId30" Type="http://schemas.openxmlformats.org/officeDocument/2006/relationships/hyperlink" Target="https://www.bls.gov/news.release/jolts.t01.htm" TargetMode="External"/><Relationship Id="rId31" Type="http://schemas.openxmlformats.org/officeDocument/2006/relationships/hyperlink" Target="https://fred.stlouisfed.org/series/TLHLTHCONS" TargetMode="External"/><Relationship Id="rId32" Type="http://schemas.openxmlformats.org/officeDocument/2006/relationships/hyperlink" Target="https://fred.stlouisfed.org/series/CPIMEDSL" TargetMode="External"/><Relationship Id="rId33" Type="http://schemas.openxmlformats.org/officeDocument/2006/relationships/hyperlink" Target="https://www.fda.gov/drugs/novel-drug-approvals-fda/novel-drug-approvals-2026" TargetMode="External"/><Relationship Id="rId34" Type="http://schemas.openxmlformats.org/officeDocument/2006/relationships/hyperlink" Target="https://www.raps.org/resource/cder-approved-50-novel-drugs-in-2024-record-numbe.html" TargetMode="External"/><Relationship Id="rId35" Type="http://schemas.openxmlformats.org/officeDocument/2006/relationships/hyperlink" Target="https://www.biospace.com/press-releases/iqvia-reports-second-quarter-2026-results" TargetMode="External"/><Relationship Id="rId36" Type="http://schemas.openxmlformats.org/officeDocument/2006/relationships/hyperlink" Target="https://www.jucm.com/?p=86881" TargetMode="External"/><Relationship Id="rId37" Type="http://schemas.openxmlformats.org/officeDocument/2006/relationships/hyperlink" Target="https://www.beckersasc.com/asc-transactions-and-valuation-issues/hcas-urgent-care-acquisition-spree/" TargetMode="External"/><Relationship Id="rId38" Type="http://schemas.openxmlformats.org/officeDocument/2006/relationships/hyperlink" Target="https://www.healthcaredive.com/news/hca-texas-medclinic-acquisition-urgent-care/826917/" TargetMode="External"/><Relationship Id="rId39" Type="http://schemas.openxmlformats.org/officeDocument/2006/relationships/hyperlink" Target="https://hlth.com/insights/news/home-health-and-hospice-provider-enhabit-to-go-private-in-1-1b-deal-2026-02-24" TargetMode="External"/><Relationship Id="rId40" Type="http://schemas.openxmlformats.org/officeDocument/2006/relationships/hyperlink" Target="https://www.medicaleconomics.com/view/ama-physician-private-practice-unraveling-due-to-low-payment-high-costs-administrative-burdens" TargetMode="External"/><Relationship Id="rId41" Type="http://schemas.openxmlformats.org/officeDocument/2006/relationships/hyperlink" Target="https://newsroom.questdiagnostics.com/2026-07-23-Quest-Diagnostics-Reports-Second-Quarter-2026-Financial-Results-Raises-Revenue-and-EPS-Guidance-for-Full-Year-2026" TargetMode="External"/><Relationship Id="rId42" Type="http://schemas.openxmlformats.org/officeDocument/2006/relationships/hyperlink" Target="https://www.sec.gov/Archives/edgar/data/0000920148/000092014826000175/lh-20260630.htm" TargetMode="External"/><Relationship Id="rId43" Type="http://schemas.openxmlformats.org/officeDocument/2006/relationships/hyperlink" Target="https://myadlm.org/cln/The-Lab-Advocate/2026/August/ADLM-Continues-Push-for-Permanent-PAMA-Reform" TargetMode="External"/><Relationship Id="rId44" Type="http://schemas.openxmlformats.org/officeDocument/2006/relationships/hyperlink" Target="https://www.sec.gov/Archives/edgar/data/0001668397/000166839726000023/medp-2026722exx991.htm" TargetMode="External"/><Relationship Id="rId45" Type="http://schemas.openxmlformats.org/officeDocument/2006/relationships/hyperlink" Target="https://www.prnewswire.com/news-releases/headlands-research-expands-california-presence-with-acquisition-of-clinical-trials-research-302814202.html" TargetMode="External"/><Relationship Id="rId46" Type="http://schemas.openxmlformats.org/officeDocument/2006/relationships/hyperlink" Target="https://www.prnewswire.com/news-releases/summit-clinical-research-solutions-expands-pinnacle-site-network-with-acquisition-of-dallas-research-institute-302874775.html" TargetMode="External"/><Relationship Id="rId47" Type="http://schemas.openxmlformats.org/officeDocument/2006/relationships/hyperlink" Target="https://www.sec.gov/Archives/edgar/data/0000310764/000031076426000048/sykex991earningsq22026.htm" TargetMode="External"/><Relationship Id="rId48" Type="http://schemas.openxmlformats.org/officeDocument/2006/relationships/hyperlink" Target="https://www.biospace.com/press-releases/steris-announces-financial-results-for-fiscal-2027-first-quarter" TargetMode="External"/><Relationship Id="rId49" Type="http://schemas.openxmlformats.org/officeDocument/2006/relationships/hyperlink" Target="https://www.hfma.org/fast-finance/health-system-capital-investment-strategy-2026/" TargetMode="External"/><Relationship Id="rId50" Type="http://schemas.openxmlformats.org/officeDocument/2006/relationships/hyperlink" Target="https://www.owens-minor.com/pressreleases/owens-minor-announces-definitive-agreement-to-divest-products-healthcare-services-segment-to-platinum-equity-for-375mm-in-cash-and-a-retained-equity-stake/" TargetMode="External"/><Relationship Id="rId51" Type="http://schemas.openxmlformats.org/officeDocument/2006/relationships/hyperlink" Target="https://www.sec.gov/Archives/edgar/data/0000927653/000092765326000232/mck_exhibit991x6302026.htm" TargetMode="External"/><Relationship Id="rId52" Type="http://schemas.openxmlformats.org/officeDocument/2006/relationships/hyperlink" Target="https://www.barnesdennig.com/section-122-tariffs-ieepa-refunds-update/" TargetMode="External"/><Relationship Id="rId53" Type="http://schemas.openxmlformats.org/officeDocument/2006/relationships/hyperlink" Target="https://www.iqvia.com/insights/the-iqvia-institute/reports/us-medicine-use-trends-2026" TargetMode="External"/><Relationship Id="rId54" Type="http://schemas.openxmlformats.org/officeDocument/2006/relationships/hyperlink" Target="https://ncpa.org/newsroom/news-releases/2025/10/19/ncpa-releases-2025-digest-report" TargetMode="External"/><Relationship Id="rId55" Type="http://schemas.openxmlformats.org/officeDocument/2006/relationships/hyperlink" Target="https://www.sec.gov/Archives/edgar/data/0001802255/000119312526338032/d160709dex991.htm" TargetMode="External"/><Relationship Id="rId56" Type="http://schemas.openxmlformats.org/officeDocument/2006/relationships/hyperlink" Target="https://www.sec.gov/Archives/edgar/data/0001865782/000119312526326654/btsg-ex99_1.htm" TargetMode="External"/><Relationship Id="rId57" Type="http://schemas.openxmlformats.org/officeDocument/2006/relationships/hyperlink" Target="https://www.staffingindustry.com/editorial/healthcare-staffing-report/healthcare-staffing-rebounds-as-demand-strengthens-in-the-second-and-third-quarters" TargetMode="External"/><Relationship Id="rId58" Type="http://schemas.openxmlformats.org/officeDocument/2006/relationships/hyperlink" Target="https://www.medtechdive.com/news/top-10-medtech-deals-in-the-first-half-of-2026/824435/" TargetMode="External"/><Relationship Id="rId59" Type="http://schemas.openxmlformats.org/officeDocument/2006/relationships/hyperlink" Target="https://www.drugchannels.net/2026/08/the-k-shaped-pharmacy-shakeout.html" TargetMode="External"/><Relationship Id="rId60" Type="http://schemas.openxmlformats.org/officeDocument/2006/relationships/hyperlink" Target="https://www.ama-assn.org/system/files/2021-01/cf-history.pdf" TargetMode="External"/><Relationship Id="rId61" Type="http://schemas.openxmlformats.org/officeDocument/2006/relationships/hyperlink" Target="https://www.businesswire.com/news/home/20260928896885/en/EyeCare-Partners-Announces-Sale-of-Optometry-Business" TargetMode="External"/><Relationship Id="rId62" Type="http://schemas.openxmlformats.org/officeDocument/2006/relationships/hyperlink" Target="https://www.sec.gov/Archives/edgar/data/0001468328/000143774926030348/ex_1015828.htm" TargetMode="External"/><Relationship Id="rId63" Type="http://schemas.openxmlformats.org/officeDocument/2006/relationships/hyperlink" Target="https://www.sec.gov/Archives/edgar/data/0000842023/000199937126013429/ex99-1.htm" TargetMode="External"/><Relationship Id="rId64" Type="http://schemas.openxmlformats.org/officeDocument/2006/relationships/hyperlink" Target="https://peprofessional.com/2026/07/statlab-sold-to-danahers-leica-biosystems/" TargetMode="External"/><Relationship Id="rId65" Type="http://schemas.openxmlformats.org/officeDocument/2006/relationships/hyperlink" Target="https://www.medicaldesignandoutsourcing.com/?p=280019" TargetMode="External"/><Relationship Id="rId66" Type="http://schemas.openxmlformats.org/officeDocument/2006/relationships/hyperlink" Target="https://www.staffingindustry.com/news/global-daily-news/aya-healthcare-terminates-merger-agreement-with-cross-country-healthcare" TargetMode="External"/><Relationship Id="rId67" Type="http://schemas.openxmlformats.org/officeDocument/2006/relationships/hyperlink" Target="https://www.fiercehealthcare.com/finance/staffing-firm-cross-country-healthcare-be-acquired-knox-lane-437m" TargetMode="External"/><Relationship Id="rId68" Type="http://schemas.openxmlformats.org/officeDocument/2006/relationships/hyperlink" Target="https://www.benchmarkintl.com/about/our-success/" TargetMode="External"/><Relationship Id="rId69" Type="http://schemas.openxmlformats.org/officeDocument/2006/relationships/hyperlink" Target="https://www.benchmarkintl.com/insights/benchmark-international-successfully-facilitated-the-transaction-between-precise-bioscience-llc-and-new-horizon-medical-solutions/" TargetMode="External"/><Relationship Id="rId70" Type="http://schemas.openxmlformats.org/officeDocument/2006/relationships/hyperlink" Target="https://www.benchmarkintl.com/insights/completed-transactions/benchmark-international-successfully-facilitated-the-transaction-between-formulation-technology-incorporated-and-aavin-private-equity/" TargetMode="External"/><Relationship Id="rId71" Type="http://schemas.openxmlformats.org/officeDocument/2006/relationships/hyperlink" Target="https://www.benchmarkintl.com/insights/completed-transactions/benchmark-international-successfully-facilitated-the-transaction-between-fast-response-onsite-testing-inc-and-relentless-health-inc/" TargetMode="External"/><Relationship Id="rId72" Type="http://schemas.openxmlformats.org/officeDocument/2006/relationships/hyperlink" Target="https://www.benchmarkintl.com/insights/completed-transactions/benchmark-international-successfully-facilitated-the-transaction-between-critical-environments-professionals-and-scientific-safety-alliance/" TargetMode="External"/><Relationship Id="rId73" Type="http://schemas.openxmlformats.org/officeDocument/2006/relationships/hyperlink" Target="https://www.benchmarkintl.com/insights/completed-transactions/benchmark-international-facilitated-the-transaction-of-dental-holdings-llc-and-solmetex-llc/" TargetMode="External"/><Relationship Id="rId74" Type="http://schemas.openxmlformats.org/officeDocument/2006/relationships/hyperlink" Target="https://www.benchmarkintl.com/insights/benchmark-international-successfully-facilitated-the-transaction-between-fosterbridge-inc-and-amvie/" TargetMode="External"/><Relationship Id="rId75" Type="http://schemas.openxmlformats.org/officeDocument/2006/relationships/hyperlink" Target="https://www.benchmarkintl.com/insights/benchmark-international-successfully-facilitated-the-transaction-between-medical-temps-inc-and-health-advocates-network/" TargetMode="External"/><Relationship Id="rId76" Type="http://schemas.openxmlformats.org/officeDocument/2006/relationships/hyperlink" Target="https://www.benchmarkintl.com/insights/completed-transactions/benchmark-international-successfully-facilitated-the-transaction-between-the-brooks-group-and-private-investors/" TargetMode="External"/><Relationship Id="rId77" Type="http://schemas.openxmlformats.org/officeDocument/2006/relationships/hyperlink" Target="https://www.ibba.org/wp-content/uploads/2026/08/mp-highlights-q2-2026.pdf" TargetMode="External"/><Relationship Id="rId78" Type="http://schemas.openxmlformats.org/officeDocument/2006/relationships/hyperlink" Target="https://stockanalysis.com/" TargetMode="External"/><Relationship Id="rId79" Type="http://schemas.openxmlformats.org/officeDocument/2006/relationships/hyperlink" Target="https://www.sec.gov/Archives/edgar/data/0001125376/000112537626000036/q22026pressrelease.htm" TargetMode="External"/><Relationship Id="rId80" Type="http://schemas.openxmlformats.org/officeDocument/2006/relationships/hyperlink" Target="https://s2.q4cdn.com/390454341/files/doc_earnings/2026/q2/transcript/prepared-comments-for-website-Q2-2026-final.pdf" TargetMode="External"/><Relationship Id="rId81" Type="http://schemas.openxmlformats.org/officeDocument/2006/relationships/hyperlink" Target="https://stockanalysis.com/stocks/tmo/transcripts/653574-q2-2026/" TargetMode="External"/><Relationship Id="rId82" Type="http://schemas.openxmlformats.org/officeDocument/2006/relationships/hyperlink" Target="https://www.sec.gov/Archives/edgar/data/0000860730/000119312526315151/hca-ex99_1.htm" TargetMode="External"/><Relationship Id="rId83" Type="http://schemas.openxmlformats.org/officeDocument/2006/relationships/hyperlink" Target="https://www.sec.gov/Archives/edgar/data/0001478242/000162828026049923/iqv-q2x2026earningspressre.htm" TargetMode="External"/><Relationship Id="rId84" Type="http://schemas.openxmlformats.org/officeDocument/2006/relationships/hyperlink" Target="https://www.sec.gov/Archives/edgar/data/0000885978/000088597826000042/ex99-1.htm" TargetMode="External"/><Relationship Id="rId85" Type="http://schemas.openxmlformats.org/officeDocument/2006/relationships/hyperlink" Target="https://stockanalysis.com/stocks/adus/transcripts/660727-q2-2026/" TargetMode="External"/><Relationship Id="rId86" Type="http://schemas.openxmlformats.org/officeDocument/2006/relationships/hyperlink" Target="https://www.mckesson.com/about-us/newsroom/press-releases/2026/mckesson-reports-fiscal-2027-first-quarter-results-and-raises-full-year-adjusted-eps-guidance/" TargetMode="External"/><Relationship Id="rId87" Type="http://schemas.openxmlformats.org/officeDocument/2006/relationships/hyperlink" Target="https://stockanalysis.com/stocks/ste/transcripts/666655-q1-2027/" TargetMode="External"/><Relationship Id="rId88" Type="http://schemas.openxmlformats.org/officeDocument/2006/relationships/hyperlink" Target="https://www.sec.gov/Archives/edgar/data/0000070318/000007031826000032/thc-20260630ex991earningsr.htm" TargetMode="External"/><Relationship Id="rId89" Type="http://schemas.openxmlformats.org/officeDocument/2006/relationships/hyperlink" Target="https://s206.q4cdn.com/399858780/files/doc_financials/2026/q2/HSIC-USQ_Transcript_2026-08-04.pdf" TargetMode="External"/><Relationship Id="rId90" Type="http://schemas.openxmlformats.org/officeDocument/2006/relationships/hyperlink" Target="https://s201.q4cdn.com/566741227/files/doc_financials/2026/q4/Q4-FY26-CAH-Earnings-Transcript.pdf" TargetMode="External"/><Relationship Id="rId91" Type="http://schemas.openxmlformats.org/officeDocument/2006/relationships/hyperlink" Target="https://www.sec.gov/Archives/edgar/data/0000920148/000092014826000162/form8-kexhibit9912q26.htm" TargetMode="External"/><Relationship Id="rId92" Type="http://schemas.openxmlformats.org/officeDocument/2006/relationships/hyperlink" Target="https://stockanalysis.com/stocks/amn/transcripts/662833-q2-2026/" TargetMode="External"/><Relationship Id="rId93" Type="http://schemas.openxmlformats.org/officeDocument/2006/relationships/hyperlink" Target="https://www.sec.gov/Archives/edgar/data/1014739/000101473926000021/exhibit991-q22026.htm" TargetMode="External"/><Relationship Id="rId9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1A1A"/>
        </a:solidFill>
        <a:effectLst/>
      </p:bgPr>
    </p:bg>
    <p:spTree>
      <p:nvGrpSpPr>
        <p:cNvPr id="1" name=""/>
        <p:cNvGrpSpPr/>
        <p:nvPr/>
      </p:nvGrpSpPr>
      <p:grpSpPr>
        <a:xfrm>
          <a:off x="0" y="0"/>
          <a:ext cx="0" cy="0"/>
          <a:chOff x="0" y="0"/>
          <a:chExt cx="0" cy="0"/>
        </a:xfrm>
      </p:grpSpPr>
      <p:pic>
        <p:nvPicPr>
          <p:cNvPr id="2" name="Picture 1" descr="A surgeon at work in an operating room"/>
          <p:cNvPicPr>
            <a:picLocks noChangeAspect="1"/>
          </p:cNvPicPr>
          <p:nvPr/>
        </p:nvPicPr>
        <p:blipFill>
          <a:blip r:embed="rId2"/>
          <a:srcRect l="21575" r="50341"/>
          <a:stretch>
            <a:fillRect/>
          </a:stretch>
        </p:blipFill>
        <p:spPr>
          <a:xfrm>
            <a:off x="0" y="0"/>
            <a:ext cx="4191000" cy="7772400"/>
          </a:xfrm>
          <a:prstGeom prst="rect">
            <a:avLst/>
          </a:prstGeom>
        </p:spPr>
      </p:pic>
      <p:sp>
        <p:nvSpPr>
          <p:cNvPr id="3" name="Rectangle 2"/>
          <p:cNvSpPr/>
          <p:nvPr/>
        </p:nvSpPr>
        <p:spPr>
          <a:xfrm>
            <a:off x="0" y="0"/>
            <a:ext cx="4191000" cy="7772400"/>
          </a:xfrm>
          <a:prstGeom prst="rect">
            <a:avLst/>
          </a:prstGeom>
          <a:gradFill rotWithShape="1">
            <a:gsLst>
              <a:gs pos="0">
                <a:srgbClr val="1B1A1A">
                  <a:alpha val="15000"/>
                </a:srgbClr>
              </a:gs>
              <a:gs pos="45000">
                <a:srgbClr val="1B1A1A">
                  <a:alpha val="5000"/>
                </a:srgbClr>
              </a:gs>
              <a:gs pos="100000">
                <a:srgbClr val="1B1A1A">
                  <a:alpha val="80000"/>
                </a:srgbClr>
              </a:gs>
            </a:gsLst>
            <a:lin ang="5400000" scaled="0"/>
          </a:gradFill>
          <a:ln>
            <a:noFill/>
          </a:ln>
        </p:spPr>
        <p:txBody>
          <a:bodyPr rtlCol="0" anchor="ctr"/>
          <a:lstStyle/>
          <a:p>
            <a:pPr algn="ctr"/>
            <a:endParaRPr/>
          </a:p>
        </p:txBody>
      </p:sp>
      <p:sp>
        <p:nvSpPr>
          <p:cNvPr id="4" name="Rectangle 3"/>
          <p:cNvSpPr/>
          <p:nvPr/>
        </p:nvSpPr>
        <p:spPr>
          <a:xfrm>
            <a:off x="4191000" y="0"/>
            <a:ext cx="5695950" cy="7772400"/>
          </a:xfrm>
          <a:prstGeom prst="rect">
            <a:avLst/>
          </a:prstGeom>
          <a:solidFill>
            <a:srgbClr val="1B1A1A"/>
          </a:solidFill>
          <a:ln>
            <a:noFill/>
          </a:ln>
          <a:effectLst/>
        </p:spPr>
        <p:txBody>
          <a:bodyPr rtlCol="0" anchor="ctr"/>
          <a:lstStyle/>
          <a:p>
            <a:pPr algn="ctr"/>
            <a:endParaRPr/>
          </a:p>
        </p:txBody>
      </p:sp>
      <p:pic>
        <p:nvPicPr>
          <p:cNvPr id="5" name="Picture 4" descr="knot-dark.jpg"/>
          <p:cNvPicPr>
            <a:picLocks noChangeAspect="1"/>
          </p:cNvPicPr>
          <p:nvPr/>
        </p:nvPicPr>
        <p:blipFill>
          <a:blip r:embed="rId3">
            <a:alphaModFix amt="55000"/>
          </a:blip>
          <a:srcRect l="29389" r="29389"/>
          <a:stretch>
            <a:fillRect/>
          </a:stretch>
        </p:blipFill>
        <p:spPr>
          <a:xfrm>
            <a:off x="4191000" y="0"/>
            <a:ext cx="5695950" cy="7772400"/>
          </a:xfrm>
          <a:prstGeom prst="rect">
            <a:avLst/>
          </a:prstGeom>
        </p:spPr>
      </p:pic>
      <p:sp>
        <p:nvSpPr>
          <p:cNvPr id="6" name="Rectangle 5"/>
          <p:cNvSpPr/>
          <p:nvPr/>
        </p:nvSpPr>
        <p:spPr>
          <a:xfrm>
            <a:off x="4191000" y="0"/>
            <a:ext cx="57150" cy="7772400"/>
          </a:xfrm>
          <a:prstGeom prst="rect">
            <a:avLst/>
          </a:prstGeom>
          <a:solidFill>
            <a:srgbClr val="B68757"/>
          </a:solidFill>
          <a:ln>
            <a:noFill/>
          </a:ln>
          <a:effectLst/>
        </p:spPr>
        <p:txBody>
          <a:bodyPr rtlCol="0" anchor="ctr"/>
          <a:lstStyle/>
          <a:p>
            <a:pPr algn="ctr"/>
            <a:endParaRPr/>
          </a:p>
        </p:txBody>
      </p:sp>
      <p:sp>
        <p:nvSpPr>
          <p:cNvPr id="7" name="Text: PROVIDER SERVICES · LIFE SCIENCES "/>
          <p:cNvSpPr txBox="1"/>
          <p:nvPr/>
        </p:nvSpPr>
        <p:spPr>
          <a:xfrm>
            <a:off x="419100" y="6867525"/>
            <a:ext cx="4054316" cy="485775"/>
          </a:xfrm>
          <a:prstGeom prst="rect">
            <a:avLst/>
          </a:prstGeom>
          <a:noFill/>
        </p:spPr>
        <p:txBody>
          <a:bodyPr wrap="square" lIns="0" tIns="0" rIns="0" bIns="0" anchor="t">
            <a:spAutoFit/>
          </a:bodyPr>
          <a:lstStyle/>
          <a:p>
            <a:pPr algn="l">
              <a:lnSpc>
                <a:spcPts val="1275"/>
              </a:lnSpc>
            </a:pPr>
            <a:r>
              <a:rPr sz="675" b="1" i="0" spc="165">
                <a:solidFill>
                  <a:srgbClr val="FFFFFF"/>
                </a:solidFill>
                <a:latin typeface="Calibri"/>
              </a:rPr>
              <a:t>PROVIDER SERVICES · LIFE SCIENCES &amp; DIAGNOSTICS</a:t>
            </a:r>
            <a:br/>
            <a:r>
              <a:rPr sz="675" b="1" i="0" spc="165">
                <a:solidFill>
                  <a:srgbClr val="FFFFFF"/>
                </a:solidFill>
                <a:latin typeface="Calibri"/>
              </a:rPr>
              <a:t>MEDICAL PRODUCTS &amp; DISTRIBUTION</a:t>
            </a:r>
            <a:br/>
            <a:r>
              <a:rPr sz="675" b="1" i="0" spc="165">
                <a:solidFill>
                  <a:srgbClr val="FFFFFF"/>
                </a:solidFill>
                <a:latin typeface="Calibri"/>
              </a:rPr>
              <a:t>PHARMACY &amp; HEALTHCARE SERVICES</a:t>
            </a:r>
          </a:p>
        </p:txBody>
      </p:sp>
      <p:pic>
        <p:nvPicPr>
          <p:cNvPr id="8" name="Picture 7" descr="Benchmark International"/>
          <p:cNvPicPr>
            <a:picLocks noChangeAspect="1"/>
          </p:cNvPicPr>
          <p:nvPr/>
        </p:nvPicPr>
        <p:blipFill>
          <a:blip r:embed="rId4"/>
          <a:srcRect/>
          <a:stretch>
            <a:fillRect/>
          </a:stretch>
        </p:blipFill>
        <p:spPr>
          <a:xfrm>
            <a:off x="4724400" y="571500"/>
            <a:ext cx="2438400" cy="457200"/>
          </a:xfrm>
          <a:prstGeom prst="rect">
            <a:avLst/>
          </a:prstGeom>
        </p:spPr>
      </p:pic>
      <p:sp>
        <p:nvSpPr>
          <p:cNvPr id="9" name="TextBox"/>
          <p:cNvSpPr txBox="1"/>
          <p:nvPr/>
        </p:nvSpPr>
        <p:spPr>
          <a:xfrm>
            <a:off x="4724400" y="1123950"/>
            <a:ext cx="2030164" cy="133350"/>
          </a:xfrm>
          <a:prstGeom prst="rect">
            <a:avLst/>
          </a:prstGeom>
          <a:noFill/>
        </p:spPr>
        <p:txBody>
          <a:bodyPr wrap="square" lIns="0" tIns="0" rIns="0" bIns="0" anchor="t">
            <a:spAutoFit/>
          </a:bodyPr>
          <a:lstStyle/>
          <a:p>
            <a:pPr algn="l">
              <a:lnSpc>
                <a:spcPts val="1050"/>
              </a:lnSpc>
            </a:pPr>
            <a:r>
              <a:rPr sz="712" b="1" i="0" spc="255">
                <a:solidFill>
                  <a:srgbClr val="D3AE84"/>
                </a:solidFill>
                <a:latin typeface="Calibri"/>
              </a:rPr>
              <a:t>MIDDLE MARKET</a:t>
            </a:r>
          </a:p>
        </p:txBody>
      </p:sp>
      <p:sp>
        <p:nvSpPr>
          <p:cNvPr id="10" name="Text: QUARTERLY SECTOR BRIEF | Q4 2026"/>
          <p:cNvSpPr txBox="1"/>
          <p:nvPr/>
        </p:nvSpPr>
        <p:spPr>
          <a:xfrm>
            <a:off x="4724400" y="2247900"/>
            <a:ext cx="4929188" cy="152400"/>
          </a:xfrm>
          <a:prstGeom prst="rect">
            <a:avLst/>
          </a:prstGeom>
          <a:noFill/>
        </p:spPr>
        <p:txBody>
          <a:bodyPr wrap="square" lIns="0" tIns="0" rIns="0" bIns="0" anchor="t">
            <a:spAutoFit/>
          </a:bodyPr>
          <a:lstStyle/>
          <a:p>
            <a:pPr algn="l">
              <a:lnSpc>
                <a:spcPts val="1200"/>
              </a:lnSpc>
            </a:pPr>
            <a:r>
              <a:rPr sz="788" b="1" i="0" spc="225">
                <a:solidFill>
                  <a:srgbClr val="D3AE84"/>
                </a:solidFill>
                <a:latin typeface="Calibri"/>
              </a:rPr>
              <a:t>QUARTERLY INDUSTRY REPORT | Q4 2026</a:t>
            </a:r>
          </a:p>
        </p:txBody>
      </p:sp>
      <p:sp>
        <p:nvSpPr>
          <p:cNvPr id="11" name="Text: HEALTHCARE"/>
          <p:cNvSpPr txBox="1"/>
          <p:nvPr/>
        </p:nvSpPr>
        <p:spPr>
          <a:xfrm>
            <a:off x="4724400" y="2514600"/>
            <a:ext cx="5479256" cy="647700"/>
          </a:xfrm>
          <a:prstGeom prst="rect">
            <a:avLst/>
          </a:prstGeom>
          <a:noFill/>
        </p:spPr>
        <p:txBody>
          <a:bodyPr wrap="square" lIns="0" tIns="0" rIns="0" bIns="0" anchor="t">
            <a:spAutoFit/>
          </a:bodyPr>
          <a:lstStyle/>
          <a:p>
            <a:pPr algn="l">
              <a:lnSpc>
                <a:spcPts val="5100"/>
              </a:lnSpc>
            </a:pPr>
            <a:r>
              <a:rPr sz="4500" b="0" i="0" spc="300">
                <a:solidFill>
                  <a:srgbClr val="FFFFFF"/>
                </a:solidFill>
                <a:latin typeface="Cambria"/>
              </a:rPr>
              <a:t>HEALTHCARE</a:t>
            </a:r>
          </a:p>
        </p:txBody>
      </p:sp>
      <p:sp>
        <p:nvSpPr>
          <p:cNvPr id="12" name="Rectangle 11"/>
          <p:cNvSpPr/>
          <p:nvPr/>
        </p:nvSpPr>
        <p:spPr>
          <a:xfrm>
            <a:off x="4724400" y="3333750"/>
            <a:ext cx="914400" cy="19050"/>
          </a:xfrm>
          <a:prstGeom prst="rect">
            <a:avLst/>
          </a:prstGeom>
          <a:solidFill>
            <a:srgbClr val="B68757"/>
          </a:solidFill>
          <a:ln>
            <a:noFill/>
          </a:ln>
          <a:effectLst/>
        </p:spPr>
        <p:txBody>
          <a:bodyPr rtlCol="0" anchor="ctr"/>
          <a:lstStyle/>
          <a:p>
            <a:pPr algn="ctr"/>
            <a:endParaRPr/>
          </a:p>
        </p:txBody>
      </p:sp>
      <p:sp>
        <p:nvSpPr>
          <p:cNvPr id="13" name="Text: Mergers and acquisitions across pr"/>
          <p:cNvSpPr txBox="1"/>
          <p:nvPr/>
        </p:nvSpPr>
        <p:spPr>
          <a:xfrm>
            <a:off x="4724400" y="3524250"/>
            <a:ext cx="4929188" cy="533400"/>
          </a:xfrm>
          <a:prstGeom prst="rect">
            <a:avLst/>
          </a:prstGeom>
          <a:noFill/>
        </p:spPr>
        <p:txBody>
          <a:bodyPr wrap="square" lIns="0" tIns="0" rIns="0" bIns="0" anchor="t">
            <a:spAutoFit/>
          </a:bodyPr>
          <a:lstStyle/>
          <a:p>
            <a:pPr algn="l">
              <a:lnSpc>
                <a:spcPts val="2100"/>
              </a:lnSpc>
            </a:pPr>
            <a:r>
              <a:rPr sz="1500" b="0" i="1">
                <a:solidFill>
                  <a:srgbClr val="F1ECE5"/>
                </a:solidFill>
                <a:latin typeface="Cambria"/>
              </a:rPr>
              <a:t>Mergers and acquisitions across provider services, life sciences, medical products, and pharmacy services.</a:t>
            </a:r>
          </a:p>
        </p:txBody>
      </p:sp>
      <p:sp>
        <p:nvSpPr>
          <p:cNvPr id="14" name="Text: WHAT'S INCLUDED"/>
          <p:cNvSpPr txBox="1"/>
          <p:nvPr/>
        </p:nvSpPr>
        <p:spPr>
          <a:xfrm>
            <a:off x="4724400" y="4953000"/>
            <a:ext cx="4929188" cy="133350"/>
          </a:xfrm>
          <a:prstGeom prst="rect">
            <a:avLst/>
          </a:prstGeom>
          <a:noFill/>
        </p:spPr>
        <p:txBody>
          <a:bodyPr wrap="square" lIns="0" tIns="0" rIns="0" bIns="0" anchor="t">
            <a:spAutoFit/>
          </a:bodyPr>
          <a:lstStyle/>
          <a:p>
            <a:pPr algn="l">
              <a:lnSpc>
                <a:spcPts val="1050"/>
              </a:lnSpc>
            </a:pPr>
            <a:r>
              <a:rPr sz="712" b="1" i="0" spc="225">
                <a:solidFill>
                  <a:srgbClr val="D3AE84"/>
                </a:solidFill>
                <a:latin typeface="Calibri"/>
              </a:rPr>
              <a:t>WHAT'S INCLUDED</a:t>
            </a:r>
          </a:p>
        </p:txBody>
      </p:sp>
      <p:sp>
        <p:nvSpPr>
          <p:cNvPr id="15" name="Rectangle 14"/>
          <p:cNvSpPr/>
          <p:nvPr/>
        </p:nvSpPr>
        <p:spPr>
          <a:xfrm>
            <a:off x="4724400" y="5181600"/>
            <a:ext cx="4914900" cy="9525"/>
          </a:xfrm>
          <a:prstGeom prst="rect">
            <a:avLst/>
          </a:prstGeom>
          <a:solidFill>
            <a:srgbClr val="FFFFFF">
              <a:alpha val="16000"/>
            </a:srgbClr>
          </a:solidFill>
          <a:ln>
            <a:noFill/>
          </a:ln>
          <a:effectLst/>
        </p:spPr>
        <p:txBody>
          <a:bodyPr rtlCol="0" anchor="ctr"/>
          <a:lstStyle/>
          <a:p>
            <a:pPr algn="ctr"/>
            <a:endParaRPr/>
          </a:p>
        </p:txBody>
      </p:sp>
      <p:sp>
        <p:nvSpPr>
          <p:cNvPr id="16" name="Text: 01"/>
          <p:cNvSpPr txBox="1"/>
          <p:nvPr/>
        </p:nvSpPr>
        <p:spPr>
          <a:xfrm>
            <a:off x="4724400" y="5305425"/>
            <a:ext cx="319088" cy="228600"/>
          </a:xfrm>
          <a:prstGeom prst="rect">
            <a:avLst/>
          </a:prstGeom>
          <a:noFill/>
        </p:spPr>
        <p:txBody>
          <a:bodyPr wrap="square" lIns="0" tIns="0" rIns="0" bIns="0" anchor="t">
            <a:spAutoFit/>
          </a:bodyPr>
          <a:lstStyle/>
          <a:p>
            <a:pPr algn="l">
              <a:lnSpc>
                <a:spcPts val="1800"/>
              </a:lnSpc>
            </a:pPr>
            <a:r>
              <a:rPr sz="1500" b="0" i="0" spc="75">
                <a:solidFill>
                  <a:srgbClr val="D3AE84"/>
                </a:solidFill>
                <a:latin typeface="Cambria"/>
              </a:rPr>
              <a:t>01</a:t>
            </a:r>
          </a:p>
        </p:txBody>
      </p:sp>
      <p:sp>
        <p:nvSpPr>
          <p:cNvPr id="17" name="Text: INSIGHTS"/>
          <p:cNvSpPr txBox="1"/>
          <p:nvPr/>
        </p:nvSpPr>
        <p:spPr>
          <a:xfrm>
            <a:off x="5162550" y="5362575"/>
            <a:ext cx="1328738" cy="171450"/>
          </a:xfrm>
          <a:prstGeom prst="rect">
            <a:avLst/>
          </a:prstGeom>
          <a:noFill/>
        </p:spPr>
        <p:txBody>
          <a:bodyPr wrap="square" lIns="0" tIns="0" rIns="0" bIns="0" anchor="t">
            <a:spAutoFit/>
          </a:bodyPr>
          <a:lstStyle/>
          <a:p>
            <a:pPr algn="l">
              <a:lnSpc>
                <a:spcPts val="1350"/>
              </a:lnSpc>
            </a:pPr>
            <a:r>
              <a:rPr sz="900" b="1" i="0" spc="135">
                <a:solidFill>
                  <a:srgbClr val="FFFFFF"/>
                </a:solidFill>
                <a:latin typeface="Calibri"/>
              </a:rPr>
              <a:t>INSIGHTS</a:t>
            </a:r>
          </a:p>
        </p:txBody>
      </p:sp>
      <p:sp>
        <p:nvSpPr>
          <p:cNvPr id="18" name="Text: The state of play, market context,"/>
          <p:cNvSpPr txBox="1"/>
          <p:nvPr/>
        </p:nvSpPr>
        <p:spPr>
          <a:xfrm>
            <a:off x="6610350" y="5362575"/>
            <a:ext cx="3043238" cy="342900"/>
          </a:xfrm>
          <a:prstGeom prst="rect">
            <a:avLst/>
          </a:prstGeom>
          <a:noFill/>
        </p:spPr>
        <p:txBody>
          <a:bodyPr wrap="square" lIns="0" tIns="0" rIns="0" bIns="0" anchor="t">
            <a:spAutoFit/>
          </a:bodyPr>
          <a:lstStyle/>
          <a:p>
            <a:pPr algn="l">
              <a:lnSpc>
                <a:spcPts val="1350"/>
              </a:lnSpc>
            </a:pPr>
            <a:r>
              <a:rPr sz="900" b="0" i="0" spc="15">
                <a:solidFill>
                  <a:srgbClr val="C3BDB6"/>
                </a:solidFill>
                <a:latin typeface="Calibri"/>
              </a:rPr>
              <a:t>The state of play, market context, perspectives on four sectors, and what we are reading</a:t>
            </a:r>
          </a:p>
        </p:txBody>
      </p:sp>
      <p:sp>
        <p:nvSpPr>
          <p:cNvPr id="19" name="Rectangle 18"/>
          <p:cNvSpPr/>
          <p:nvPr/>
        </p:nvSpPr>
        <p:spPr>
          <a:xfrm>
            <a:off x="4724400" y="5819775"/>
            <a:ext cx="4914900" cy="9525"/>
          </a:xfrm>
          <a:prstGeom prst="rect">
            <a:avLst/>
          </a:prstGeom>
          <a:solidFill>
            <a:srgbClr val="FFFFFF">
              <a:alpha val="16000"/>
            </a:srgbClr>
          </a:solidFill>
          <a:ln>
            <a:noFill/>
          </a:ln>
          <a:effectLst/>
        </p:spPr>
        <p:txBody>
          <a:bodyPr rtlCol="0" anchor="ctr"/>
          <a:lstStyle/>
          <a:p>
            <a:pPr algn="ctr"/>
            <a:endParaRPr/>
          </a:p>
        </p:txBody>
      </p:sp>
      <p:sp>
        <p:nvSpPr>
          <p:cNvPr id="20" name="Text: 02"/>
          <p:cNvSpPr txBox="1"/>
          <p:nvPr/>
        </p:nvSpPr>
        <p:spPr>
          <a:xfrm>
            <a:off x="4724400" y="5943600"/>
            <a:ext cx="319088" cy="228600"/>
          </a:xfrm>
          <a:prstGeom prst="rect">
            <a:avLst/>
          </a:prstGeom>
          <a:noFill/>
        </p:spPr>
        <p:txBody>
          <a:bodyPr wrap="square" lIns="0" tIns="0" rIns="0" bIns="0" anchor="t">
            <a:spAutoFit/>
          </a:bodyPr>
          <a:lstStyle/>
          <a:p>
            <a:pPr algn="l">
              <a:lnSpc>
                <a:spcPts val="1800"/>
              </a:lnSpc>
            </a:pPr>
            <a:r>
              <a:rPr sz="1500" b="0" i="0" spc="75">
                <a:solidFill>
                  <a:srgbClr val="D3AE84"/>
                </a:solidFill>
                <a:latin typeface="Cambria"/>
              </a:rPr>
              <a:t>02</a:t>
            </a:r>
          </a:p>
        </p:txBody>
      </p:sp>
      <p:sp>
        <p:nvSpPr>
          <p:cNvPr id="21" name="Text: SECTOR ACTIVITY"/>
          <p:cNvSpPr txBox="1"/>
          <p:nvPr/>
        </p:nvSpPr>
        <p:spPr>
          <a:xfrm>
            <a:off x="5162550" y="6000750"/>
            <a:ext cx="1328738" cy="171450"/>
          </a:xfrm>
          <a:prstGeom prst="rect">
            <a:avLst/>
          </a:prstGeom>
          <a:noFill/>
        </p:spPr>
        <p:txBody>
          <a:bodyPr wrap="square" lIns="0" tIns="0" rIns="0" bIns="0" anchor="t">
            <a:spAutoFit/>
          </a:bodyPr>
          <a:lstStyle/>
          <a:p>
            <a:pPr algn="l">
              <a:lnSpc>
                <a:spcPts val="1350"/>
              </a:lnSpc>
            </a:pPr>
            <a:r>
              <a:rPr sz="900" b="1" i="0" spc="135">
                <a:solidFill>
                  <a:srgbClr val="FFFFFF"/>
                </a:solidFill>
                <a:latin typeface="Calibri"/>
              </a:rPr>
              <a:t>INDUSTRY ACTIVITY</a:t>
            </a:r>
          </a:p>
        </p:txBody>
      </p:sp>
      <p:sp>
        <p:nvSpPr>
          <p:cNvPr id="22" name="Text: The market landscape, recent trans"/>
          <p:cNvSpPr txBox="1"/>
          <p:nvPr/>
        </p:nvSpPr>
        <p:spPr>
          <a:xfrm>
            <a:off x="6610350" y="6000750"/>
            <a:ext cx="3043238" cy="342900"/>
          </a:xfrm>
          <a:prstGeom prst="rect">
            <a:avLst/>
          </a:prstGeom>
          <a:noFill/>
        </p:spPr>
        <p:txBody>
          <a:bodyPr wrap="square" lIns="0" tIns="0" rIns="0" bIns="0" anchor="t">
            <a:spAutoFit/>
          </a:bodyPr>
          <a:lstStyle/>
          <a:p>
            <a:pPr algn="l">
              <a:lnSpc>
                <a:spcPts val="1350"/>
              </a:lnSpc>
            </a:pPr>
            <a:r>
              <a:rPr sz="900" b="0" i="0" spc="15">
                <a:solidFill>
                  <a:srgbClr val="C3BDB6"/>
                </a:solidFill>
                <a:latin typeface="Calibri"/>
              </a:rPr>
              <a:t>Market conditions, recent transactions, listed-company valuation and performance, and earnings commentary</a:t>
            </a:r>
          </a:p>
        </p:txBody>
      </p:sp>
      <p:sp>
        <p:nvSpPr>
          <p:cNvPr id="23" name="Rectangle 22"/>
          <p:cNvSpPr/>
          <p:nvPr/>
        </p:nvSpPr>
        <p:spPr>
          <a:xfrm>
            <a:off x="4724400" y="6457950"/>
            <a:ext cx="4914900" cy="9525"/>
          </a:xfrm>
          <a:prstGeom prst="rect">
            <a:avLst/>
          </a:prstGeom>
          <a:solidFill>
            <a:srgbClr val="FFFFFF">
              <a:alpha val="16000"/>
            </a:srgbClr>
          </a:solidFill>
          <a:ln>
            <a:noFill/>
          </a:ln>
          <a:effectLst/>
        </p:spPr>
        <p:txBody>
          <a:bodyPr rtlCol="0" anchor="ctr"/>
          <a:lstStyle/>
          <a:p>
            <a:pPr algn="ctr"/>
            <a:endParaRPr/>
          </a:p>
        </p:txBody>
      </p:sp>
      <p:sp>
        <p:nvSpPr>
          <p:cNvPr id="24" name="Text: 03"/>
          <p:cNvSpPr txBox="1"/>
          <p:nvPr/>
        </p:nvSpPr>
        <p:spPr>
          <a:xfrm>
            <a:off x="4724400" y="6581775"/>
            <a:ext cx="319088" cy="228600"/>
          </a:xfrm>
          <a:prstGeom prst="rect">
            <a:avLst/>
          </a:prstGeom>
          <a:noFill/>
        </p:spPr>
        <p:txBody>
          <a:bodyPr wrap="square" lIns="0" tIns="0" rIns="0" bIns="0" anchor="t">
            <a:spAutoFit/>
          </a:bodyPr>
          <a:lstStyle/>
          <a:p>
            <a:pPr algn="l">
              <a:lnSpc>
                <a:spcPts val="1800"/>
              </a:lnSpc>
            </a:pPr>
            <a:r>
              <a:rPr sz="1500" b="0" i="0" spc="75">
                <a:solidFill>
                  <a:srgbClr val="D3AE84"/>
                </a:solidFill>
                <a:latin typeface="Cambria"/>
              </a:rPr>
              <a:t>03</a:t>
            </a:r>
          </a:p>
        </p:txBody>
      </p:sp>
      <p:sp>
        <p:nvSpPr>
          <p:cNvPr id="25" name="Text: CONNECT WITH US"/>
          <p:cNvSpPr txBox="1"/>
          <p:nvPr/>
        </p:nvSpPr>
        <p:spPr>
          <a:xfrm>
            <a:off x="5162550" y="6638925"/>
            <a:ext cx="1328738" cy="171450"/>
          </a:xfrm>
          <a:prstGeom prst="rect">
            <a:avLst/>
          </a:prstGeom>
          <a:noFill/>
        </p:spPr>
        <p:txBody>
          <a:bodyPr wrap="square" lIns="0" tIns="0" rIns="0" bIns="0" anchor="t">
            <a:spAutoFit/>
          </a:bodyPr>
          <a:lstStyle/>
          <a:p>
            <a:pPr algn="l">
              <a:lnSpc>
                <a:spcPts val="1350"/>
              </a:lnSpc>
            </a:pPr>
            <a:r>
              <a:rPr sz="900" b="1" i="0" spc="135">
                <a:solidFill>
                  <a:srgbClr val="FFFFFF"/>
                </a:solidFill>
                <a:latin typeface="Calibri"/>
              </a:rPr>
              <a:t>CONNECT WITH US</a:t>
            </a:r>
          </a:p>
        </p:txBody>
      </p:sp>
      <p:sp>
        <p:nvSpPr>
          <p:cNvPr id="26" name="TextBox"/>
          <p:cNvSpPr txBox="1"/>
          <p:nvPr/>
        </p:nvSpPr>
        <p:spPr>
          <a:xfrm>
            <a:off x="6610350" y="6638925"/>
            <a:ext cx="3043238" cy="171450"/>
          </a:xfrm>
          <a:prstGeom prst="rect">
            <a:avLst/>
          </a:prstGeom>
          <a:noFill/>
        </p:spPr>
        <p:txBody>
          <a:bodyPr wrap="square" lIns="0" tIns="0" rIns="0" bIns="0" anchor="t">
            <a:spAutoFit/>
          </a:bodyPr>
          <a:lstStyle/>
          <a:p>
            <a:pPr algn="l">
              <a:lnSpc>
                <a:spcPts val="1350"/>
              </a:lnSpc>
            </a:pPr>
            <a:r>
              <a:rPr sz="900" b="0" i="0" spc="15">
                <a:solidFill>
                  <a:srgbClr val="C3BDB6"/>
                </a:solidFill>
                <a:latin typeface="Calibri"/>
              </a:rPr>
              <a:t>The Middle Market team and Benchmark International</a:t>
            </a:r>
          </a:p>
        </p:txBody>
      </p:sp>
      <p:sp>
        <p:nvSpPr>
          <p:cNvPr id="27" name="Rectangle 26"/>
          <p:cNvSpPr/>
          <p:nvPr/>
        </p:nvSpPr>
        <p:spPr>
          <a:xfrm>
            <a:off x="4724400" y="6924675"/>
            <a:ext cx="4914900" cy="9525"/>
          </a:xfrm>
          <a:prstGeom prst="rect">
            <a:avLst/>
          </a:prstGeom>
          <a:solidFill>
            <a:srgbClr val="FFFFFF">
              <a:alpha val="16000"/>
            </a:srgbClr>
          </a:solidFill>
          <a:ln>
            <a:noFill/>
          </a:ln>
          <a:effectLst/>
        </p:spPr>
        <p:txBody>
          <a:bodyPr rtlCol="0" anchor="ctr"/>
          <a:lstStyle/>
          <a:p>
            <a:pPr algn="ctr"/>
            <a:endParaRPr/>
          </a:p>
        </p:txBody>
      </p:sp>
      <p:sp>
        <p:nvSpPr>
          <p:cNvPr id="28" name="Text: OCTOBER 2026 | JARED HARDIN, MANAG"/>
          <p:cNvSpPr txBox="1"/>
          <p:nvPr/>
        </p:nvSpPr>
        <p:spPr>
          <a:xfrm>
            <a:off x="4724400" y="7219950"/>
            <a:ext cx="4929188" cy="133350"/>
          </a:xfrm>
          <a:prstGeom prst="rect">
            <a:avLst/>
          </a:prstGeom>
          <a:noFill/>
        </p:spPr>
        <p:txBody>
          <a:bodyPr wrap="square" lIns="0" tIns="0" rIns="0" bIns="0" anchor="t">
            <a:spAutoFit/>
          </a:bodyPr>
          <a:lstStyle/>
          <a:p>
            <a:pPr algn="l">
              <a:lnSpc>
                <a:spcPts val="1050"/>
              </a:lnSpc>
            </a:pPr>
            <a:r>
              <a:rPr sz="712" b="1" i="0" spc="150">
                <a:solidFill>
                  <a:srgbClr val="C3BDB6"/>
                </a:solidFill>
                <a:latin typeface="Calibri"/>
              </a:rPr>
              <a:t>OCTOBER 2026 | JARED HARDIN, MANAGING DIRECTOR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1A1A"/>
        </a:solidFill>
        <a:effectLst/>
      </p:bgPr>
    </p:bg>
    <p:spTree>
      <p:nvGrpSpPr>
        <p:cNvPr id="1" name=""/>
        <p:cNvGrpSpPr/>
        <p:nvPr/>
      </p:nvGrpSpPr>
      <p:grpSpPr>
        <a:xfrm>
          <a:off x="0" y="0"/>
          <a:ext cx="0" cy="0"/>
          <a:chOff x="0" y="0"/>
          <a:chExt cx="0" cy="0"/>
        </a:xfrm>
      </p:grpSpPr>
      <p:pic>
        <p:nvPicPr>
          <p:cNvPr id="2" name="Picture 1" descr="knot-dark.jpg"/>
          <p:cNvPicPr>
            <a:picLocks noChangeAspect="1"/>
          </p:cNvPicPr>
          <p:nvPr/>
        </p:nvPicPr>
        <p:blipFill>
          <a:blip r:embed="rId2">
            <a:alphaModFix amt="60000"/>
          </a:blip>
          <a:srcRect l="13603" r="13603"/>
          <a:stretch>
            <a:fillRect/>
          </a:stretch>
        </p:blipFill>
        <p:spPr>
          <a:xfrm>
            <a:off x="0" y="0"/>
            <a:ext cx="10058400" cy="7772400"/>
          </a:xfrm>
          <a:prstGeom prst="rect">
            <a:avLst/>
          </a:prstGeom>
        </p:spPr>
      </p:pic>
      <p:pic>
        <p:nvPicPr>
          <p:cNvPr id="3" name="Picture 2" descr="Laboratory scientists at work"/>
          <p:cNvPicPr>
            <a:picLocks noChangeAspect="1"/>
          </p:cNvPicPr>
          <p:nvPr/>
        </p:nvPicPr>
        <p:blipFill>
          <a:blip r:embed="rId3"/>
          <a:srcRect l="23529" r="23529"/>
          <a:stretch>
            <a:fillRect/>
          </a:stretch>
        </p:blipFill>
        <p:spPr>
          <a:xfrm>
            <a:off x="4572000" y="0"/>
            <a:ext cx="5486400" cy="7772400"/>
          </a:xfrm>
          <a:prstGeom prst="rect">
            <a:avLst/>
          </a:prstGeom>
        </p:spPr>
      </p:pic>
      <p:sp>
        <p:nvSpPr>
          <p:cNvPr id="4" name="Rectangle 3"/>
          <p:cNvSpPr/>
          <p:nvPr/>
        </p:nvSpPr>
        <p:spPr>
          <a:xfrm>
            <a:off x="4572000" y="0"/>
            <a:ext cx="5486400" cy="7772400"/>
          </a:xfrm>
          <a:prstGeom prst="rect">
            <a:avLst/>
          </a:prstGeom>
          <a:gradFill rotWithShape="1">
            <a:gsLst>
              <a:gs pos="0">
                <a:srgbClr val="1B1A1A">
                  <a:alpha val="50000"/>
                </a:srgbClr>
              </a:gs>
              <a:gs pos="60000">
                <a:srgbClr val="1B1A1A">
                  <a:alpha val="5000"/>
                </a:srgbClr>
              </a:gs>
            </a:gsLst>
            <a:lin ang="0" scaled="0"/>
          </a:gradFill>
          <a:ln>
            <a:noFill/>
          </a:ln>
        </p:spPr>
        <p:txBody>
          <a:bodyPr rtlCol="0" anchor="ctr"/>
          <a:lstStyle/>
          <a:p>
            <a:pPr algn="ctr"/>
            <a:endParaRPr/>
          </a:p>
        </p:txBody>
      </p:sp>
      <p:sp>
        <p:nvSpPr>
          <p:cNvPr id="5" name="Freeform 4"/>
          <p:cNvSpPr/>
          <p:nvPr/>
        </p:nvSpPr>
        <p:spPr>
          <a:xfrm>
            <a:off x="4572000" y="0"/>
            <a:ext cx="1316736" cy="7772400"/>
          </a:xfrm>
          <a:custGeom>
            <a:avLst/>
            <a:gdLst/>
            <a:ahLst/>
            <a:cxnLst/>
            <a:rect l="l" t="t" r="r" b="b"/>
            <a:pathLst>
              <a:path w="1316736" h="7772400">
                <a:moveTo>
                  <a:pt x="0" y="0"/>
                </a:moveTo>
                <a:lnTo>
                  <a:pt x="1316736" y="0"/>
                </a:lnTo>
                <a:lnTo>
                  <a:pt x="0" y="7772400"/>
                </a:lnTo>
                <a:close/>
              </a:path>
            </a:pathLst>
          </a:custGeom>
          <a:solidFill>
            <a:srgbClr val="1B1A1A"/>
          </a:solidFill>
          <a:ln>
            <a:noFill/>
          </a:ln>
        </p:spPr>
        <p:txBody>
          <a:bodyPr rtlCol="0" anchor="ctr"/>
          <a:lstStyle/>
          <a:p>
            <a:pPr algn="ctr"/>
            <a:endParaRPr/>
          </a:p>
        </p:txBody>
      </p:sp>
      <p:cxnSp>
        <p:nvCxnSpPr>
          <p:cNvPr id="6" name="Connector 5"/>
          <p:cNvCxnSpPr/>
          <p:nvPr/>
        </p:nvCxnSpPr>
        <p:spPr>
          <a:xfrm flipH="1">
            <a:off x="4562475" y="0"/>
            <a:ext cx="1314450" cy="7772400"/>
          </a:xfrm>
          <a:prstGeom prst="line">
            <a:avLst/>
          </a:prstGeom>
          <a:ln w="38100">
            <a:solidFill>
              <a:srgbClr val="B68757"/>
            </a:solidFill>
          </a:ln>
        </p:spPr>
      </p:cxnSp>
      <p:sp>
        <p:nvSpPr>
          <p:cNvPr id="7" name="Text: 01"/>
          <p:cNvSpPr txBox="1"/>
          <p:nvPr/>
        </p:nvSpPr>
        <p:spPr>
          <a:xfrm>
            <a:off x="609600" y="1676400"/>
            <a:ext cx="4014788" cy="1143000"/>
          </a:xfrm>
          <a:prstGeom prst="rect">
            <a:avLst/>
          </a:prstGeom>
          <a:noFill/>
        </p:spPr>
        <p:txBody>
          <a:bodyPr wrap="square" lIns="0" tIns="0" rIns="0" bIns="0" anchor="t">
            <a:spAutoFit/>
          </a:bodyPr>
          <a:lstStyle/>
          <a:p>
            <a:pPr algn="l">
              <a:lnSpc>
                <a:spcPts val="9000"/>
              </a:lnSpc>
            </a:pPr>
            <a:r>
              <a:rPr sz="9000" b="0" i="0" spc="300">
                <a:solidFill>
                  <a:srgbClr val="D3AE84"/>
                </a:solidFill>
                <a:latin typeface="Cambria"/>
              </a:rPr>
              <a:t>01</a:t>
            </a:r>
          </a:p>
        </p:txBody>
      </p:sp>
      <p:sp>
        <p:nvSpPr>
          <p:cNvPr id="8" name="Text: Insights"/>
          <p:cNvSpPr txBox="1"/>
          <p:nvPr/>
        </p:nvSpPr>
        <p:spPr>
          <a:xfrm>
            <a:off x="609600" y="2895600"/>
            <a:ext cx="4473416" cy="590550"/>
          </a:xfrm>
          <a:prstGeom prst="rect">
            <a:avLst/>
          </a:prstGeom>
          <a:noFill/>
        </p:spPr>
        <p:txBody>
          <a:bodyPr wrap="square" lIns="0" tIns="0" rIns="0" bIns="0" anchor="t">
            <a:spAutoFit/>
          </a:bodyPr>
          <a:lstStyle/>
          <a:p>
            <a:pPr algn="l">
              <a:lnSpc>
                <a:spcPts val="4650"/>
              </a:lnSpc>
            </a:pPr>
            <a:r>
              <a:rPr sz="4050" b="1" i="0">
                <a:solidFill>
                  <a:srgbClr val="FFFFFF"/>
                </a:solidFill>
                <a:latin typeface="Cambria"/>
              </a:rPr>
              <a:t>Insights</a:t>
            </a:r>
          </a:p>
        </p:txBody>
      </p:sp>
      <p:sp>
        <p:nvSpPr>
          <p:cNvPr id="9" name="Rectangle 8"/>
          <p:cNvSpPr/>
          <p:nvPr/>
        </p:nvSpPr>
        <p:spPr>
          <a:xfrm>
            <a:off x="609600" y="3714750"/>
            <a:ext cx="914400" cy="19050"/>
          </a:xfrm>
          <a:prstGeom prst="rect">
            <a:avLst/>
          </a:prstGeom>
          <a:solidFill>
            <a:srgbClr val="B68757"/>
          </a:solidFill>
          <a:ln>
            <a:noFill/>
          </a:ln>
          <a:effectLst/>
        </p:spPr>
        <p:txBody>
          <a:bodyPr rtlCol="0" anchor="ctr"/>
          <a:lstStyle/>
          <a:p>
            <a:pPr algn="ctr"/>
            <a:endParaRPr/>
          </a:p>
        </p:txBody>
      </p:sp>
      <p:pic>
        <p:nvPicPr>
          <p:cNvPr id="26" name="Picture 25" descr="Benchmark International"/>
          <p:cNvPicPr>
            <a:picLocks noChangeAspect="1"/>
          </p:cNvPicPr>
          <p:nvPr/>
        </p:nvPicPr>
        <p:blipFill>
          <a:blip r:embed="rId4"/>
          <a:srcRect/>
          <a:stretch>
            <a:fillRect/>
          </a:stretch>
        </p:blipFill>
        <p:spPr>
          <a:xfrm>
            <a:off x="609600" y="7086600"/>
            <a:ext cx="1428750" cy="266700"/>
          </a:xfrm>
          <a:prstGeom prst="rect">
            <a:avLst/>
          </a:prstGeom>
        </p:spPr>
      </p:pic>
      <p:sp>
        <p:nvSpPr>
          <p:cNvPr id="27" name="Text: HEALTHCARE | Q4 2026"/>
          <p:cNvSpPr txBox="1"/>
          <p:nvPr/>
        </p:nvSpPr>
        <p:spPr>
          <a:xfrm>
            <a:off x="2209800" y="7181850"/>
            <a:ext cx="1482179" cy="133350"/>
          </a:xfrm>
          <a:prstGeom prst="rect">
            <a:avLst/>
          </a:prstGeom>
          <a:noFill/>
        </p:spPr>
        <p:txBody>
          <a:bodyPr wrap="square" lIns="0" tIns="0" rIns="0" bIns="0" anchor="t">
            <a:spAutoFit/>
          </a:bodyPr>
          <a:lstStyle/>
          <a:p>
            <a:pPr algn="l">
              <a:lnSpc>
                <a:spcPts val="1050"/>
              </a:lnSpc>
            </a:pPr>
            <a:r>
              <a:rPr sz="712" b="1" i="0" spc="195">
                <a:solidFill>
                  <a:srgbClr val="C3BDB6"/>
                </a:solidFill>
                <a:latin typeface="Calibri"/>
              </a:rPr>
              <a:t>HEALTHCARE | Q4 2026</a:t>
            </a:r>
          </a:p>
        </p:txBody>
      </p:sp>
      <p:sp>
        <p:nvSpPr>
          <p:cNvPr id="28" name="TextBox 27"/>
          <p:cNvSpPr txBox="1"/>
          <p:nvPr/>
        </p:nvSpPr>
        <p:spPr>
          <a:xfrm>
            <a:off x="609600" y="3835400"/>
            <a:ext cx="3810000" cy="3022600"/>
          </a:xfrm>
          <a:prstGeom prst="rect">
            <a:avLst/>
          </a:prstGeom>
          <a:noFill/>
        </p:spPr>
        <p:txBody>
          <a:bodyPr wrap="square" lIns="0" tIns="0" rIns="0" bIns="0">
            <a:spAutoFit/>
          </a:bodyPr>
          <a:lstStyle/>
          <a:p>
            <a:pPr>
              <a:spcAft>
                <a:spcPts val="500"/>
              </a:spcAft>
            </a:pPr>
            <a:r>
              <a:rPr sz="650" b="1" spc="200">
                <a:solidFill>
                  <a:srgbClr val="C99A6A"/>
                </a:solidFill>
                <a:latin typeface="Calibri"/>
              </a:rPr>
              <a:t>KEY INSIGHTS</a:t>
            </a:r>
          </a:p>
          <a:p>
            <a:pPr>
              <a:spcBef>
                <a:spcPts val="600"/>
              </a:spcBef>
            </a:pPr>
            <a:r>
              <a:rPr sz="850" b="1">
                <a:solidFill>
                  <a:srgbClr val="C99A6A"/>
                </a:solidFill>
                <a:latin typeface="Calibri"/>
              </a:rPr>
              <a:t>01  </a:t>
            </a:r>
            <a:r>
              <a:rPr sz="850" b="1">
                <a:solidFill>
                  <a:srgbClr val="FFFFFF"/>
                </a:solidFill>
                <a:latin typeface="Calibri"/>
              </a:rPr>
              <a:t>Strategic buyers are setting the pace</a:t>
            </a:r>
          </a:p>
          <a:p>
            <a:pPr>
              <a:lnSpc>
                <a:spcPct val="120000"/>
              </a:lnSpc>
            </a:pPr>
            <a:r>
              <a:rPr sz="800" b="0">
                <a:solidFill>
                  <a:srgbClr val="D9D2C9"/>
                </a:solidFill>
                <a:latin typeface="Calibri"/>
              </a:rPr>
              <a:t>Private equity is on pace for 674 healthcare services transactions this year, the slowest since 2017. Medtech deal value reached $36.5 billion in the first half. Put strategic acquirers on every buyer list.</a:t>
            </a:r>
          </a:p>
          <a:p>
            <a:pPr>
              <a:spcBef>
                <a:spcPts val="600"/>
              </a:spcBef>
            </a:pPr>
            <a:r>
              <a:rPr sz="850" b="1">
                <a:solidFill>
                  <a:srgbClr val="C99A6A"/>
                </a:solidFill>
                <a:latin typeface="Calibri"/>
              </a:rPr>
              <a:t>02  </a:t>
            </a:r>
            <a:r>
              <a:rPr sz="850" b="1">
                <a:solidFill>
                  <a:srgbClr val="FFFFFF"/>
                </a:solidFill>
                <a:latin typeface="Calibri"/>
              </a:rPr>
              <a:t>Debt costs healthcare buyers more</a:t>
            </a:r>
          </a:p>
          <a:p>
            <a:pPr>
              <a:lnSpc>
                <a:spcPct val="120000"/>
              </a:lnSpc>
            </a:pPr>
            <a:r>
              <a:rPr sz="800" b="0">
                <a:solidFill>
                  <a:srgbClr val="D9D2C9"/>
                </a:solidFill>
                <a:latin typeface="Calibri"/>
              </a:rPr>
              <a:t>Direct lenders widened buyout loan spreads to an average of 509 basis points in the second quarter, from 474 in the first. Senior debt on completed middle-market deals was priced at 7.8%.</a:t>
            </a:r>
          </a:p>
          <a:p>
            <a:pPr>
              <a:spcBef>
                <a:spcPts val="600"/>
              </a:spcBef>
            </a:pPr>
            <a:r>
              <a:rPr sz="850" b="1">
                <a:solidFill>
                  <a:srgbClr val="C99A6A"/>
                </a:solidFill>
                <a:latin typeface="Calibri"/>
              </a:rPr>
              <a:t>03  </a:t>
            </a:r>
            <a:r>
              <a:rPr sz="850" b="1">
                <a:solidFill>
                  <a:srgbClr val="FFFFFF"/>
                </a:solidFill>
                <a:latin typeface="Calibri"/>
              </a:rPr>
              <a:t>Recurring revenue earns the best price</a:t>
            </a:r>
          </a:p>
          <a:p>
            <a:pPr>
              <a:lnSpc>
                <a:spcPct val="120000"/>
              </a:lnSpc>
            </a:pPr>
            <a:r>
              <a:rPr sz="800" b="0">
                <a:solidFill>
                  <a:srgbClr val="D9D2C9"/>
                </a:solidFill>
                <a:latin typeface="Calibri"/>
              </a:rPr>
              <a:t>The median private equity entry multiple for healthcare services was 13.6x EBITDA in 2025, weighted toward larger platforms. The best prices go to revenue that recurs under contract or clinical necessity, paid by a balanced mix of payers.</a:t>
            </a:r>
          </a:p>
          <a:p>
            <a:pPr>
              <a:spcBef>
                <a:spcPts val="600"/>
              </a:spcBef>
            </a:pPr>
            <a:r>
              <a:rPr sz="850" b="1">
                <a:solidFill>
                  <a:srgbClr val="C99A6A"/>
                </a:solidFill>
                <a:latin typeface="Calibri"/>
              </a:rPr>
              <a:t>04  </a:t>
            </a:r>
            <a:r>
              <a:rPr sz="850" b="1">
                <a:solidFill>
                  <a:srgbClr val="FFFFFF"/>
                </a:solidFill>
                <a:latin typeface="Calibri"/>
              </a:rPr>
              <a:t>Plan now for 2027 rate and notice rules</a:t>
            </a:r>
          </a:p>
          <a:p>
            <a:pPr>
              <a:lnSpc>
                <a:spcPct val="120000"/>
              </a:lnSpc>
            </a:pPr>
            <a:r>
              <a:rPr sz="800" b="0">
                <a:solidFill>
                  <a:srgbClr val="D9D2C9"/>
                </a:solidFill>
                <a:latin typeface="Calibri"/>
              </a:rPr>
              <a:t>Medicare proposes physician conversion factor cuts of up to 1.68% for 2027. Maine's 180-day notice and approval regime begins January 1, 2027. Model the rates and build review time into the deal calendar.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57150" cy="7772400"/>
          </a:xfrm>
          <a:prstGeom prst="rect">
            <a:avLst/>
          </a:prstGeom>
          <a:solidFill>
            <a:srgbClr val="B68757"/>
          </a:solidFill>
          <a:ln>
            <a:noFill/>
          </a:ln>
          <a:effectLst/>
        </p:spPr>
        <p:txBody>
          <a:bodyPr rtlCol="0" anchor="ctr"/>
          <a:lstStyle/>
          <a:p>
            <a:pPr algn="ctr"/>
            <a:endParaRPr/>
          </a:p>
        </p:txBody>
      </p:sp>
      <p:sp>
        <p:nvSpPr>
          <p:cNvPr id="3" name="Text: HEALTHCARE | QUARTERLY SECTOR BRIE"/>
          <p:cNvSpPr txBox="1"/>
          <p:nvPr/>
        </p:nvSpPr>
        <p:spPr>
          <a:xfrm>
            <a:off x="419100" y="381000"/>
            <a:ext cx="2439591" cy="133350"/>
          </a:xfrm>
          <a:prstGeom prst="rect">
            <a:avLst/>
          </a:prstGeom>
          <a:noFill/>
        </p:spPr>
        <p:txBody>
          <a:bodyPr wrap="none" lIns="0" tIns="0" rIns="0" bIns="0" anchor="t">
            <a:spAutoFit/>
          </a:bodyPr>
          <a:lstStyle/>
          <a:p>
            <a:pPr algn="l">
              <a:lnSpc>
                <a:spcPts val="1050"/>
              </a:lnSpc>
            </a:pPr>
            <a:r>
              <a:rPr sz="675" b="1" i="0" spc="195">
                <a:solidFill>
                  <a:srgbClr val="8C6239"/>
                </a:solidFill>
                <a:latin typeface="Calibri"/>
              </a:rPr>
              <a:t>HEALTHCARE | QUARTERLY INDUSTRY REPORT</a:t>
            </a:r>
          </a:p>
        </p:txBody>
      </p:sp>
      <p:sp>
        <p:nvSpPr>
          <p:cNvPr id="4" name="Text: Q4 2026"/>
          <p:cNvSpPr txBox="1"/>
          <p:nvPr/>
        </p:nvSpPr>
        <p:spPr>
          <a:xfrm>
            <a:off x="9188648" y="361950"/>
            <a:ext cx="464939" cy="171450"/>
          </a:xfrm>
          <a:prstGeom prst="rect">
            <a:avLst/>
          </a:prstGeom>
          <a:noFill/>
        </p:spPr>
        <p:txBody>
          <a:bodyPr wrap="square" lIns="0" tIns="0" rIns="0" bIns="0" anchor="t">
            <a:spAutoFit/>
          </a:bodyPr>
          <a:lstStyle/>
          <a:p>
            <a:pPr algn="l">
              <a:lnSpc>
                <a:spcPts val="1350"/>
              </a:lnSpc>
            </a:pPr>
            <a:r>
              <a:rPr sz="900" b="0" i="0" spc="90">
                <a:solidFill>
                  <a:srgbClr val="6F6A66"/>
                </a:solidFill>
                <a:latin typeface="Cambria"/>
              </a:rPr>
              <a:t>Q4 2026</a:t>
            </a:r>
          </a:p>
        </p:txBody>
      </p:sp>
      <p:sp>
        <p:nvSpPr>
          <p:cNvPr id="5" name="Text: Healthcare M&amp;A: State of Play"/>
          <p:cNvSpPr txBox="1"/>
          <p:nvPr/>
        </p:nvSpPr>
        <p:spPr>
          <a:xfrm>
            <a:off x="419100" y="523875"/>
            <a:ext cx="9234488" cy="323850"/>
          </a:xfrm>
          <a:prstGeom prst="rect">
            <a:avLst/>
          </a:prstGeom>
          <a:noFill/>
        </p:spPr>
        <p:txBody>
          <a:bodyPr wrap="square" lIns="0" tIns="0" rIns="0" bIns="0" anchor="t">
            <a:spAutoFit/>
          </a:bodyPr>
          <a:lstStyle/>
          <a:p>
            <a:pPr algn="l">
              <a:lnSpc>
                <a:spcPts val="2550"/>
              </a:lnSpc>
            </a:pPr>
            <a:r>
              <a:rPr sz="2025" b="1" i="0">
                <a:solidFill>
                  <a:srgbClr val="1B1A1A"/>
                </a:solidFill>
                <a:latin typeface="Cambria"/>
              </a:rPr>
              <a:t>Healthcare M&amp;A: State of Play</a:t>
            </a:r>
          </a:p>
        </p:txBody>
      </p:sp>
      <p:sp>
        <p:nvSpPr>
          <p:cNvPr id="6" name="Text: Strategic buyers are setting the p"/>
          <p:cNvSpPr txBox="1"/>
          <p:nvPr/>
        </p:nvSpPr>
        <p:spPr>
          <a:xfrm>
            <a:off x="419100" y="885825"/>
            <a:ext cx="10215086" cy="180975"/>
          </a:xfrm>
          <a:prstGeom prst="rect">
            <a:avLst/>
          </a:prstGeom>
          <a:noFill/>
        </p:spPr>
        <p:txBody>
          <a:bodyPr wrap="square" lIns="0" tIns="0" rIns="0" bIns="0" anchor="t">
            <a:spAutoFit/>
          </a:bodyPr>
          <a:lstStyle/>
          <a:p>
            <a:pPr algn="l">
              <a:lnSpc>
                <a:spcPts val="1388"/>
              </a:lnSpc>
            </a:pPr>
            <a:r>
              <a:rPr sz="938" b="0" i="0" spc="15">
                <a:solidFill>
                  <a:srgbClr val="6F6A66"/>
                </a:solidFill>
                <a:latin typeface="Calibri"/>
              </a:rPr>
              <a:t>Strategic buyers are setting the pace in 2026 while private equity completes fewer healthcare services transactions.</a:t>
            </a:r>
          </a:p>
        </p:txBody>
      </p:sp>
      <p:sp>
        <p:nvSpPr>
          <p:cNvPr id="7" name="Rectangle 6"/>
          <p:cNvSpPr/>
          <p:nvPr/>
        </p:nvSpPr>
        <p:spPr>
          <a:xfrm>
            <a:off x="419100" y="1143000"/>
            <a:ext cx="9220200" cy="9525"/>
          </a:xfrm>
          <a:prstGeom prst="rect">
            <a:avLst/>
          </a:prstGeom>
          <a:solidFill>
            <a:srgbClr val="E3DCD3"/>
          </a:solidFill>
          <a:ln>
            <a:noFill/>
          </a:ln>
          <a:effectLst/>
        </p:spPr>
        <p:txBody>
          <a:bodyPr rtlCol="0" anchor="ctr"/>
          <a:lstStyle/>
          <a:p>
            <a:pPr algn="ctr"/>
            <a:endParaRPr/>
          </a:p>
        </p:txBody>
      </p:sp>
      <p:sp>
        <p:nvSpPr>
          <p:cNvPr id="8" name="Rectangle 7"/>
          <p:cNvSpPr/>
          <p:nvPr/>
        </p:nvSpPr>
        <p:spPr>
          <a:xfrm>
            <a:off x="419100" y="1238250"/>
            <a:ext cx="2971800" cy="2781300"/>
          </a:xfrm>
          <a:prstGeom prst="rect">
            <a:avLst/>
          </a:prstGeom>
          <a:solidFill>
            <a:srgbClr val="FAF7F3"/>
          </a:solidFill>
          <a:ln>
            <a:noFill/>
          </a:ln>
          <a:effectLst/>
        </p:spPr>
        <p:txBody>
          <a:bodyPr rtlCol="0" anchor="ctr"/>
          <a:lstStyle/>
          <a:p>
            <a:pPr algn="ctr"/>
            <a:endParaRPr/>
          </a:p>
        </p:txBody>
      </p:sp>
      <p:sp>
        <p:nvSpPr>
          <p:cNvPr id="9" name="Rectangle 8"/>
          <p:cNvSpPr/>
          <p:nvPr/>
        </p:nvSpPr>
        <p:spPr>
          <a:xfrm>
            <a:off x="419100" y="1238250"/>
            <a:ext cx="2971800" cy="28575"/>
          </a:xfrm>
          <a:prstGeom prst="rect">
            <a:avLst/>
          </a:prstGeom>
          <a:solidFill>
            <a:srgbClr val="B68757"/>
          </a:solidFill>
          <a:ln>
            <a:noFill/>
          </a:ln>
          <a:effectLst/>
        </p:spPr>
        <p:txBody>
          <a:bodyPr rtlCol="0" anchor="ctr"/>
          <a:lstStyle/>
          <a:p>
            <a:pPr algn="ctr"/>
            <a:endParaRPr/>
          </a:p>
        </p:txBody>
      </p:sp>
      <p:sp>
        <p:nvSpPr>
          <p:cNvPr id="10" name="Oval 9"/>
          <p:cNvSpPr/>
          <p:nvPr/>
        </p:nvSpPr>
        <p:spPr>
          <a:xfrm>
            <a:off x="590550" y="1390650"/>
            <a:ext cx="381000" cy="381000"/>
          </a:xfrm>
          <a:prstGeom prst="ellipse">
            <a:avLst/>
          </a:prstGeom>
          <a:solidFill>
            <a:srgbClr val="1B1A1A"/>
          </a:solidFill>
          <a:ln>
            <a:noFill/>
          </a:ln>
          <a:effectLst/>
        </p:spPr>
        <p:txBody>
          <a:bodyPr rtlCol="0" anchor="ctr"/>
          <a:lstStyle/>
          <a:p>
            <a:pPr algn="ctr"/>
            <a:endParaRPr/>
          </a:p>
        </p:txBody>
      </p:sp>
      <p:pic>
        <p:nvPicPr>
          <p:cNvPr id="11" name="Picture 10" descr="v769a711e4ef1.png"/>
          <p:cNvPicPr>
            <a:picLocks noChangeAspect="1"/>
          </p:cNvPicPr>
          <p:nvPr/>
        </p:nvPicPr>
        <p:blipFill>
          <a:blip r:embed="rId2"/>
          <a:stretch>
            <a:fillRect/>
          </a:stretch>
        </p:blipFill>
        <p:spPr>
          <a:xfrm>
            <a:off x="657225" y="1457325"/>
            <a:ext cx="247650" cy="247650"/>
          </a:xfrm>
          <a:prstGeom prst="rect">
            <a:avLst/>
          </a:prstGeom>
        </p:spPr>
      </p:pic>
      <p:sp>
        <p:nvSpPr>
          <p:cNvPr id="12" name="Text: M&amp;A market dynamics"/>
          <p:cNvSpPr txBox="1"/>
          <p:nvPr/>
        </p:nvSpPr>
        <p:spPr>
          <a:xfrm>
            <a:off x="1085850" y="1495425"/>
            <a:ext cx="1255663" cy="171450"/>
          </a:xfrm>
          <a:prstGeom prst="rect">
            <a:avLst/>
          </a:prstGeom>
          <a:noFill/>
        </p:spPr>
        <p:txBody>
          <a:bodyPr wrap="square" lIns="0" tIns="0" rIns="0" bIns="0" anchor="t">
            <a:spAutoFit/>
          </a:bodyPr>
          <a:lstStyle/>
          <a:p>
            <a:pPr algn="l">
              <a:lnSpc>
                <a:spcPts val="1350"/>
              </a:lnSpc>
            </a:pPr>
            <a:r>
              <a:rPr sz="1011" b="1" i="0" spc="8">
                <a:solidFill>
                  <a:srgbClr val="1B1A1A"/>
                </a:solidFill>
                <a:latin typeface="Calibri"/>
              </a:rPr>
              <a:t>M&amp;A market conditions</a:t>
            </a:r>
          </a:p>
        </p:txBody>
      </p:sp>
      <p:sp>
        <p:nvSpPr>
          <p:cNvPr id="13" name="Rectangle 12"/>
          <p:cNvSpPr/>
          <p:nvPr/>
        </p:nvSpPr>
        <p:spPr>
          <a:xfrm>
            <a:off x="590550" y="1905000"/>
            <a:ext cx="47625" cy="47625"/>
          </a:xfrm>
          <a:prstGeom prst="rect">
            <a:avLst/>
          </a:prstGeom>
          <a:solidFill>
            <a:srgbClr val="B68757"/>
          </a:solidFill>
          <a:ln>
            <a:noFill/>
          </a:ln>
          <a:effectLst/>
        </p:spPr>
        <p:txBody>
          <a:bodyPr rtlCol="0" anchor="ctr"/>
          <a:lstStyle/>
          <a:p>
            <a:pPr algn="ctr"/>
            <a:endParaRPr/>
          </a:p>
        </p:txBody>
      </p:sp>
      <p:sp>
        <p:nvSpPr>
          <p:cNvPr id="14" name="Text: Private equity completed an estima"/>
          <p:cNvSpPr txBox="1"/>
          <p:nvPr/>
        </p:nvSpPr>
        <p:spPr>
          <a:xfrm>
            <a:off x="714375" y="1866900"/>
            <a:ext cx="2519362" cy="666750"/>
          </a:xfrm>
          <a:prstGeom prst="rect">
            <a:avLst/>
          </a:prstGeom>
          <a:noFill/>
        </p:spPr>
        <p:txBody>
          <a:bodyPr wrap="square" lIns="0" tIns="0" rIns="0" bIns="0" anchor="t">
            <a:spAutoFit/>
          </a:bodyPr>
          <a:lstStyle/>
          <a:p>
            <a:pPr algn="l">
              <a:lnSpc>
                <a:spcPts val="1312"/>
              </a:lnSpc>
            </a:pPr>
            <a:r>
              <a:rPr sz="861" b="0" i="0" spc="15">
                <a:solidFill>
                  <a:srgbClr val="333231"/>
                </a:solidFill>
                <a:latin typeface="Calibri"/>
              </a:rPr>
              <a:t>Private equity completed an estimated 337 healthcare services transactions in the first half, a pace of 674 for the year, and the slowest since 2017 (</a:t>
            </a:r>
            <a:r>
              <a:rPr sz="861" b="0" i="0" spc="15">
                <a:solidFill>
                  <a:srgbClr val="8C6239"/>
                </a:solidFill>
                <a:latin typeface="Calibri"/>
                <a:hlinkClick r:id="rId3">
                  <a:extLst>
                    <a:ext uri="{A12FA001-AC4F-418D-AE19-62706E023703}">
                      <ahyp:hlinkClr xmlns:ahyp="http://schemas.microsoft.com/office/drawing/2018/hyperlinkcolor" val="tx"/>
                    </a:ext>
                  </a:extLst>
                </a:hlinkClick>
              </a:rPr>
              <a:t>PitchBook via Fierce Healthcare</a:t>
            </a:r>
            <a:r>
              <a:rPr sz="861" b="0" i="0" spc="15">
                <a:solidFill>
                  <a:srgbClr val="333231"/>
                </a:solidFill>
                <a:latin typeface="Calibri"/>
              </a:rPr>
              <a:t>).</a:t>
            </a:r>
          </a:p>
        </p:txBody>
      </p:sp>
      <p:sp>
        <p:nvSpPr>
          <p:cNvPr id="15" name="Rectangle 14"/>
          <p:cNvSpPr/>
          <p:nvPr/>
        </p:nvSpPr>
        <p:spPr>
          <a:xfrm>
            <a:off x="590550" y="2657475"/>
            <a:ext cx="47625" cy="47625"/>
          </a:xfrm>
          <a:prstGeom prst="rect">
            <a:avLst/>
          </a:prstGeom>
          <a:solidFill>
            <a:srgbClr val="B68757"/>
          </a:solidFill>
          <a:ln>
            <a:noFill/>
          </a:ln>
          <a:effectLst/>
        </p:spPr>
        <p:txBody>
          <a:bodyPr rtlCol="0" anchor="ctr"/>
          <a:lstStyle/>
          <a:p>
            <a:pPr algn="ctr"/>
            <a:endParaRPr/>
          </a:p>
        </p:txBody>
      </p:sp>
      <p:sp>
        <p:nvSpPr>
          <p:cNvPr id="16" name="Text: Strategic buyers carried more of t"/>
          <p:cNvSpPr txBox="1"/>
          <p:nvPr/>
        </p:nvSpPr>
        <p:spPr>
          <a:xfrm>
            <a:off x="714375" y="2619375"/>
            <a:ext cx="2519362" cy="666750"/>
          </a:xfrm>
          <a:prstGeom prst="rect">
            <a:avLst/>
          </a:prstGeom>
          <a:noFill/>
        </p:spPr>
        <p:txBody>
          <a:bodyPr wrap="square" lIns="0" tIns="0" rIns="0" bIns="0" anchor="t">
            <a:spAutoFit/>
          </a:bodyPr>
          <a:lstStyle/>
          <a:p>
            <a:pPr algn="l">
              <a:lnSpc>
                <a:spcPts val="1312"/>
              </a:lnSpc>
            </a:pPr>
            <a:r>
              <a:rPr sz="861" b="0" i="0" spc="15" dirty="0">
                <a:solidFill>
                  <a:srgbClr val="333231"/>
                </a:solidFill>
                <a:latin typeface="Calibri"/>
              </a:rPr>
              <a:t>Strategic buyers carried more of the activity. Medtech deal value reached $36.5 billion in the first half (</a:t>
            </a:r>
            <a:r>
              <a:rPr sz="861" b="0" i="0" spc="15" dirty="0">
                <a:solidFill>
                  <a:srgbClr val="8C6239"/>
                </a:solidFill>
                <a:latin typeface="Calibri"/>
                <a:hlinkClick r:id="rId4">
                  <a:extLst>
                    <a:ext uri="{A12FA001-AC4F-418D-AE19-62706E023703}">
                      <ahyp:hlinkClr xmlns:ahyp="http://schemas.microsoft.com/office/drawing/2018/hyperlinkcolor" val="tx"/>
                    </a:ext>
                  </a:extLst>
                </a:hlinkClick>
              </a:rPr>
              <a:t>PwC via MedTech Dive</a:t>
            </a:r>
            <a:r>
              <a:rPr sz="861" b="0" i="0" spc="15" dirty="0">
                <a:solidFill>
                  <a:srgbClr val="333231"/>
                </a:solidFill>
                <a:latin typeface="Calibri"/>
              </a:rPr>
              <a:t>) and health systems announced 18 transactions in the second quarter (</a:t>
            </a:r>
            <a:r>
              <a:rPr sz="861" b="0" i="0" spc="15" dirty="0">
                <a:solidFill>
                  <a:srgbClr val="8C6239"/>
                </a:solidFill>
                <a:latin typeface="Calibri"/>
                <a:hlinkClick r:id="rId5">
                  <a:extLst>
                    <a:ext uri="{A12FA001-AC4F-418D-AE19-62706E023703}">
                      <ahyp:hlinkClr xmlns:ahyp="http://schemas.microsoft.com/office/drawing/2018/hyperlinkcolor" val="tx"/>
                    </a:ext>
                  </a:extLst>
                </a:hlinkClick>
              </a:rPr>
              <a:t>Kaufman Hall</a:t>
            </a:r>
            <a:r>
              <a:rPr sz="861" b="0" i="0" spc="15" dirty="0">
                <a:solidFill>
                  <a:srgbClr val="333231"/>
                </a:solidFill>
                <a:latin typeface="Calibri"/>
              </a:rPr>
              <a:t>).</a:t>
            </a:r>
          </a:p>
        </p:txBody>
      </p:sp>
      <p:sp>
        <p:nvSpPr>
          <p:cNvPr id="17" name="Rectangle 16"/>
          <p:cNvSpPr/>
          <p:nvPr/>
        </p:nvSpPr>
        <p:spPr>
          <a:xfrm>
            <a:off x="590550" y="3409950"/>
            <a:ext cx="47625" cy="47625"/>
          </a:xfrm>
          <a:prstGeom prst="rect">
            <a:avLst/>
          </a:prstGeom>
          <a:solidFill>
            <a:srgbClr val="B68757"/>
          </a:solidFill>
          <a:ln>
            <a:noFill/>
          </a:ln>
          <a:effectLst/>
        </p:spPr>
        <p:txBody>
          <a:bodyPr rtlCol="0" anchor="ctr"/>
          <a:lstStyle/>
          <a:p>
            <a:pPr algn="ctr"/>
            <a:endParaRPr/>
          </a:p>
        </p:txBody>
      </p:sp>
      <p:sp>
        <p:nvSpPr>
          <p:cNvPr id="18" name="Text: Biopharma deal value reached $130 "/>
          <p:cNvSpPr txBox="1"/>
          <p:nvPr/>
        </p:nvSpPr>
        <p:spPr>
          <a:xfrm>
            <a:off x="714375" y="3371850"/>
            <a:ext cx="2519362" cy="500062"/>
          </a:xfrm>
          <a:prstGeom prst="rect">
            <a:avLst/>
          </a:prstGeom>
          <a:noFill/>
        </p:spPr>
        <p:txBody>
          <a:bodyPr wrap="square" lIns="0" tIns="0" rIns="0" bIns="0" anchor="t">
            <a:spAutoFit/>
          </a:bodyPr>
          <a:lstStyle/>
          <a:p>
            <a:pPr algn="l">
              <a:lnSpc>
                <a:spcPts val="1312"/>
              </a:lnSpc>
            </a:pPr>
            <a:r>
              <a:rPr sz="861" b="0" i="0" spc="15">
                <a:solidFill>
                  <a:srgbClr val="333231"/>
                </a:solidFill>
                <a:latin typeface="Calibri"/>
              </a:rPr>
              <a:t>Biopharma deal value reached $130 billion in six months, almost matching the total for all of 2025 (</a:t>
            </a:r>
            <a:r>
              <a:rPr sz="861" b="0" i="0" spc="15">
                <a:solidFill>
                  <a:srgbClr val="8C6239"/>
                </a:solidFill>
                <a:latin typeface="Calibri"/>
                <a:hlinkClick r:id="rId6">
                  <a:extLst>
                    <a:ext uri="{A12FA001-AC4F-418D-AE19-62706E023703}">
                      <ahyp:hlinkClr xmlns:ahyp="http://schemas.microsoft.com/office/drawing/2018/hyperlinkcolor" val="tx"/>
                    </a:ext>
                  </a:extLst>
                </a:hlinkClick>
              </a:rPr>
              <a:t>IQVIA</a:t>
            </a:r>
            <a:r>
              <a:rPr sz="861" b="0" i="0" spc="15">
                <a:solidFill>
                  <a:srgbClr val="333231"/>
                </a:solidFill>
                <a:latin typeface="Calibri"/>
              </a:rPr>
              <a:t>).</a:t>
            </a:r>
          </a:p>
        </p:txBody>
      </p:sp>
      <p:sp>
        <p:nvSpPr>
          <p:cNvPr id="19" name="Rectangle 18"/>
          <p:cNvSpPr/>
          <p:nvPr/>
        </p:nvSpPr>
        <p:spPr>
          <a:xfrm>
            <a:off x="3543300" y="1238250"/>
            <a:ext cx="2971800" cy="2781300"/>
          </a:xfrm>
          <a:prstGeom prst="rect">
            <a:avLst/>
          </a:prstGeom>
          <a:solidFill>
            <a:srgbClr val="FAF7F3"/>
          </a:solidFill>
          <a:ln>
            <a:noFill/>
          </a:ln>
          <a:effectLst/>
        </p:spPr>
        <p:txBody>
          <a:bodyPr rtlCol="0" anchor="ctr"/>
          <a:lstStyle/>
          <a:p>
            <a:pPr algn="ctr"/>
            <a:endParaRPr/>
          </a:p>
        </p:txBody>
      </p:sp>
      <p:sp>
        <p:nvSpPr>
          <p:cNvPr id="20" name="Rectangle 19"/>
          <p:cNvSpPr/>
          <p:nvPr/>
        </p:nvSpPr>
        <p:spPr>
          <a:xfrm>
            <a:off x="3543300" y="1238250"/>
            <a:ext cx="2971800" cy="28575"/>
          </a:xfrm>
          <a:prstGeom prst="rect">
            <a:avLst/>
          </a:prstGeom>
          <a:solidFill>
            <a:srgbClr val="B68757"/>
          </a:solidFill>
          <a:ln>
            <a:noFill/>
          </a:ln>
          <a:effectLst/>
        </p:spPr>
        <p:txBody>
          <a:bodyPr rtlCol="0" anchor="ctr"/>
          <a:lstStyle/>
          <a:p>
            <a:pPr algn="ctr"/>
            <a:endParaRPr/>
          </a:p>
        </p:txBody>
      </p:sp>
      <p:sp>
        <p:nvSpPr>
          <p:cNvPr id="21" name="Oval 20"/>
          <p:cNvSpPr/>
          <p:nvPr/>
        </p:nvSpPr>
        <p:spPr>
          <a:xfrm>
            <a:off x="3714750" y="1390650"/>
            <a:ext cx="381000" cy="381000"/>
          </a:xfrm>
          <a:prstGeom prst="ellipse">
            <a:avLst/>
          </a:prstGeom>
          <a:solidFill>
            <a:srgbClr val="1B1A1A"/>
          </a:solidFill>
          <a:ln>
            <a:noFill/>
          </a:ln>
          <a:effectLst/>
        </p:spPr>
        <p:txBody>
          <a:bodyPr rtlCol="0" anchor="ctr"/>
          <a:lstStyle/>
          <a:p>
            <a:pPr algn="ctr"/>
            <a:endParaRPr/>
          </a:p>
        </p:txBody>
      </p:sp>
      <p:pic>
        <p:nvPicPr>
          <p:cNvPr id="22" name="Picture 21" descr="v74d6ff94dead.png"/>
          <p:cNvPicPr>
            <a:picLocks noChangeAspect="1"/>
          </p:cNvPicPr>
          <p:nvPr/>
        </p:nvPicPr>
        <p:blipFill>
          <a:blip r:embed="rId7"/>
          <a:stretch>
            <a:fillRect/>
          </a:stretch>
        </p:blipFill>
        <p:spPr>
          <a:xfrm>
            <a:off x="3781425" y="1457325"/>
            <a:ext cx="247650" cy="247650"/>
          </a:xfrm>
          <a:prstGeom prst="rect">
            <a:avLst/>
          </a:prstGeom>
        </p:spPr>
      </p:pic>
      <p:sp>
        <p:nvSpPr>
          <p:cNvPr id="23" name="Text: Reimbursement and policy"/>
          <p:cNvSpPr txBox="1"/>
          <p:nvPr/>
        </p:nvSpPr>
        <p:spPr>
          <a:xfrm>
            <a:off x="4210050" y="1495425"/>
            <a:ext cx="1464171" cy="171450"/>
          </a:xfrm>
          <a:prstGeom prst="rect">
            <a:avLst/>
          </a:prstGeom>
          <a:noFill/>
        </p:spPr>
        <p:txBody>
          <a:bodyPr wrap="square" lIns="0" tIns="0" rIns="0" bIns="0" anchor="t">
            <a:spAutoFit/>
          </a:bodyPr>
          <a:lstStyle/>
          <a:p>
            <a:pPr algn="l">
              <a:lnSpc>
                <a:spcPts val="1350"/>
              </a:lnSpc>
            </a:pPr>
            <a:r>
              <a:rPr sz="1011" b="1" i="0" spc="8">
                <a:solidFill>
                  <a:srgbClr val="1B1A1A"/>
                </a:solidFill>
                <a:latin typeface="Calibri"/>
              </a:rPr>
              <a:t>Reimbursement and policy</a:t>
            </a:r>
          </a:p>
        </p:txBody>
      </p:sp>
      <p:sp>
        <p:nvSpPr>
          <p:cNvPr id="24" name="Rectangle 23"/>
          <p:cNvSpPr/>
          <p:nvPr/>
        </p:nvSpPr>
        <p:spPr>
          <a:xfrm>
            <a:off x="3714750" y="1905000"/>
            <a:ext cx="47625" cy="47625"/>
          </a:xfrm>
          <a:prstGeom prst="rect">
            <a:avLst/>
          </a:prstGeom>
          <a:solidFill>
            <a:srgbClr val="B68757"/>
          </a:solidFill>
          <a:ln>
            <a:noFill/>
          </a:ln>
          <a:effectLst/>
        </p:spPr>
        <p:txBody>
          <a:bodyPr rtlCol="0" anchor="ctr"/>
          <a:lstStyle/>
          <a:p>
            <a:pPr algn="ctr"/>
            <a:endParaRPr/>
          </a:p>
        </p:txBody>
      </p:sp>
      <p:sp>
        <p:nvSpPr>
          <p:cNvPr id="25" name="Text: Medicare has proposed 2027 physici"/>
          <p:cNvSpPr txBox="1"/>
          <p:nvPr/>
        </p:nvSpPr>
        <p:spPr>
          <a:xfrm>
            <a:off x="3838575" y="1866900"/>
            <a:ext cx="2519362" cy="500062"/>
          </a:xfrm>
          <a:prstGeom prst="rect">
            <a:avLst/>
          </a:prstGeom>
          <a:noFill/>
        </p:spPr>
        <p:txBody>
          <a:bodyPr wrap="square" lIns="0" tIns="0" rIns="0" bIns="0" anchor="t">
            <a:spAutoFit/>
          </a:bodyPr>
          <a:lstStyle/>
          <a:p>
            <a:pPr algn="l">
              <a:lnSpc>
                <a:spcPts val="1312"/>
              </a:lnSpc>
            </a:pPr>
            <a:r>
              <a:rPr sz="861" b="0" i="0" spc="15">
                <a:solidFill>
                  <a:srgbClr val="333231"/>
                </a:solidFill>
                <a:latin typeface="Calibri"/>
              </a:rPr>
              <a:t>Medicare has proposed 2027 physician conversion factors of $33.17 and $32.84, reductions of 1.19% and 1.68%, with the final rule pending (</a:t>
            </a:r>
            <a:r>
              <a:rPr sz="861" b="0" i="0" spc="15">
                <a:solidFill>
                  <a:srgbClr val="8C6239"/>
                </a:solidFill>
                <a:latin typeface="Calibri"/>
                <a:hlinkClick r:id="rId8">
                  <a:extLst>
                    <a:ext uri="{A12FA001-AC4F-418D-AE19-62706E023703}">
                      <ahyp:hlinkClr xmlns:ahyp="http://schemas.microsoft.com/office/drawing/2018/hyperlinkcolor" val="tx"/>
                    </a:ext>
                  </a:extLst>
                </a:hlinkClick>
              </a:rPr>
              <a:t>CMS</a:t>
            </a:r>
            <a:r>
              <a:rPr sz="861" b="0" i="0" spc="15">
                <a:solidFill>
                  <a:srgbClr val="333231"/>
                </a:solidFill>
                <a:latin typeface="Calibri"/>
              </a:rPr>
              <a:t>).</a:t>
            </a:r>
          </a:p>
        </p:txBody>
      </p:sp>
      <p:sp>
        <p:nvSpPr>
          <p:cNvPr id="26" name="Rectangle 25"/>
          <p:cNvSpPr/>
          <p:nvPr/>
        </p:nvSpPr>
        <p:spPr>
          <a:xfrm>
            <a:off x="3714750" y="2490788"/>
            <a:ext cx="47625" cy="47625"/>
          </a:xfrm>
          <a:prstGeom prst="rect">
            <a:avLst/>
          </a:prstGeom>
          <a:solidFill>
            <a:srgbClr val="B68757"/>
          </a:solidFill>
          <a:ln>
            <a:noFill/>
          </a:ln>
          <a:effectLst/>
        </p:spPr>
        <p:txBody>
          <a:bodyPr rtlCol="0" anchor="ctr"/>
          <a:lstStyle/>
          <a:p>
            <a:pPr algn="ctr"/>
            <a:endParaRPr/>
          </a:p>
        </p:txBody>
      </p:sp>
      <p:sp>
        <p:nvSpPr>
          <p:cNvPr id="27" name="Text: Hospital outpatient, surgery cente"/>
          <p:cNvSpPr txBox="1"/>
          <p:nvPr/>
        </p:nvSpPr>
        <p:spPr>
          <a:xfrm>
            <a:off x="3838575" y="2452688"/>
            <a:ext cx="2519362" cy="666750"/>
          </a:xfrm>
          <a:prstGeom prst="rect">
            <a:avLst/>
          </a:prstGeom>
          <a:noFill/>
        </p:spPr>
        <p:txBody>
          <a:bodyPr wrap="square" lIns="0" tIns="0" rIns="0" bIns="0" anchor="t">
            <a:spAutoFit/>
          </a:bodyPr>
          <a:lstStyle/>
          <a:p>
            <a:pPr algn="l">
              <a:lnSpc>
                <a:spcPts val="1312"/>
              </a:lnSpc>
            </a:pPr>
            <a:r>
              <a:rPr sz="861" b="0" i="0" spc="15">
                <a:solidFill>
                  <a:srgbClr val="333231"/>
                </a:solidFill>
                <a:latin typeface="Calibri"/>
              </a:rPr>
              <a:t>Hospital outpatient, surgery center, and home health rates are each proposed to rise 2.4% (</a:t>
            </a:r>
            <a:r>
              <a:rPr sz="861" b="0" i="0" spc="15">
                <a:solidFill>
                  <a:srgbClr val="8C6239"/>
                </a:solidFill>
                <a:latin typeface="Calibri"/>
                <a:hlinkClick r:id="rId9">
                  <a:extLst>
                    <a:ext uri="{A12FA001-AC4F-418D-AE19-62706E023703}">
                      <ahyp:hlinkClr xmlns:ahyp="http://schemas.microsoft.com/office/drawing/2018/hyperlinkcolor" val="tx"/>
                    </a:ext>
                  </a:extLst>
                </a:hlinkClick>
              </a:rPr>
              <a:t>CMS outpatient rule</a:t>
            </a:r>
            <a:r>
              <a:rPr sz="861" b="0" i="0" spc="15">
                <a:solidFill>
                  <a:srgbClr val="333231"/>
                </a:solidFill>
                <a:latin typeface="Calibri"/>
              </a:rPr>
              <a:t>; </a:t>
            </a:r>
            <a:r>
              <a:rPr sz="861" b="0" i="0" spc="15">
                <a:solidFill>
                  <a:srgbClr val="8C6239"/>
                </a:solidFill>
                <a:latin typeface="Calibri"/>
                <a:hlinkClick r:id="rId10">
                  <a:extLst>
                    <a:ext uri="{A12FA001-AC4F-418D-AE19-62706E023703}">
                      <ahyp:hlinkClr xmlns:ahyp="http://schemas.microsoft.com/office/drawing/2018/hyperlinkcolor" val="tx"/>
                    </a:ext>
                  </a:extLst>
                </a:hlinkClick>
              </a:rPr>
              <a:t>CMS home health</a:t>
            </a:r>
            <a:r>
              <a:rPr sz="861" b="0" i="0" spc="15">
                <a:solidFill>
                  <a:srgbClr val="333231"/>
                </a:solidFill>
                <a:latin typeface="Calibri"/>
              </a:rPr>
              <a:t>), and Medicare Advantage rates rise 2.48% (</a:t>
            </a:r>
            <a:r>
              <a:rPr sz="861" b="0" i="0" spc="15">
                <a:solidFill>
                  <a:srgbClr val="8C6239"/>
                </a:solidFill>
                <a:latin typeface="Calibri"/>
                <a:hlinkClick r:id="rId11">
                  <a:extLst>
                    <a:ext uri="{A12FA001-AC4F-418D-AE19-62706E023703}">
                      <ahyp:hlinkClr xmlns:ahyp="http://schemas.microsoft.com/office/drawing/2018/hyperlinkcolor" val="tx"/>
                    </a:ext>
                  </a:extLst>
                </a:hlinkClick>
              </a:rPr>
              <a:t>CMS rate notice</a:t>
            </a:r>
            <a:r>
              <a:rPr sz="861" b="0" i="0" spc="15">
                <a:solidFill>
                  <a:srgbClr val="333231"/>
                </a:solidFill>
                <a:latin typeface="Calibri"/>
              </a:rPr>
              <a:t>).</a:t>
            </a:r>
          </a:p>
        </p:txBody>
      </p:sp>
      <p:sp>
        <p:nvSpPr>
          <p:cNvPr id="28" name="Rectangle 27"/>
          <p:cNvSpPr/>
          <p:nvPr/>
        </p:nvSpPr>
        <p:spPr>
          <a:xfrm>
            <a:off x="3714750" y="3243262"/>
            <a:ext cx="47625" cy="47625"/>
          </a:xfrm>
          <a:prstGeom prst="rect">
            <a:avLst/>
          </a:prstGeom>
          <a:solidFill>
            <a:srgbClr val="B68757"/>
          </a:solidFill>
          <a:ln>
            <a:noFill/>
          </a:ln>
          <a:effectLst/>
        </p:spPr>
        <p:txBody>
          <a:bodyPr rtlCol="0" anchor="ctr"/>
          <a:lstStyle/>
          <a:p>
            <a:pPr algn="ctr"/>
            <a:endParaRPr/>
          </a:p>
        </p:txBody>
      </p:sp>
      <p:sp>
        <p:nvSpPr>
          <p:cNvPr id="29" name="Text: Medicaid work requirements and six"/>
          <p:cNvSpPr txBox="1"/>
          <p:nvPr/>
        </p:nvSpPr>
        <p:spPr>
          <a:xfrm>
            <a:off x="3838575" y="3205162"/>
            <a:ext cx="2519362" cy="500062"/>
          </a:xfrm>
          <a:prstGeom prst="rect">
            <a:avLst/>
          </a:prstGeom>
          <a:noFill/>
        </p:spPr>
        <p:txBody>
          <a:bodyPr wrap="square" lIns="0" tIns="0" rIns="0" bIns="0" anchor="t">
            <a:spAutoFit/>
          </a:bodyPr>
          <a:lstStyle/>
          <a:p>
            <a:pPr algn="l">
              <a:lnSpc>
                <a:spcPts val="1312"/>
              </a:lnSpc>
            </a:pPr>
            <a:r>
              <a:rPr sz="861" b="0" i="0" spc="15">
                <a:solidFill>
                  <a:srgbClr val="333231"/>
                </a:solidFill>
                <a:latin typeface="Calibri"/>
              </a:rPr>
              <a:t>Medicaid work requirements and six-month eligibility reviews for expansion adults begin in 2027 (</a:t>
            </a:r>
            <a:r>
              <a:rPr sz="861" b="0" i="0" spc="15">
                <a:solidFill>
                  <a:srgbClr val="8C6239"/>
                </a:solidFill>
                <a:latin typeface="Calibri"/>
                <a:hlinkClick r:id="rId12">
                  <a:extLst>
                    <a:ext uri="{A12FA001-AC4F-418D-AE19-62706E023703}">
                      <ahyp:hlinkClr xmlns:ahyp="http://schemas.microsoft.com/office/drawing/2018/hyperlinkcolor" val="tx"/>
                    </a:ext>
                  </a:extLst>
                </a:hlinkClick>
              </a:rPr>
              <a:t>Medicaid.gov</a:t>
            </a:r>
            <a:r>
              <a:rPr sz="861" b="0" i="0" spc="15">
                <a:solidFill>
                  <a:srgbClr val="333231"/>
                </a:solidFill>
                <a:latin typeface="Calibri"/>
              </a:rPr>
              <a:t>).</a:t>
            </a:r>
          </a:p>
        </p:txBody>
      </p:sp>
      <p:sp>
        <p:nvSpPr>
          <p:cNvPr id="30" name="Rectangle 29"/>
          <p:cNvSpPr/>
          <p:nvPr/>
        </p:nvSpPr>
        <p:spPr>
          <a:xfrm>
            <a:off x="6667500" y="1238250"/>
            <a:ext cx="2971800" cy="2781300"/>
          </a:xfrm>
          <a:prstGeom prst="rect">
            <a:avLst/>
          </a:prstGeom>
          <a:solidFill>
            <a:srgbClr val="FAF7F3"/>
          </a:solidFill>
          <a:ln>
            <a:noFill/>
          </a:ln>
          <a:effectLst/>
        </p:spPr>
        <p:txBody>
          <a:bodyPr rtlCol="0" anchor="ctr"/>
          <a:lstStyle/>
          <a:p>
            <a:pPr algn="ctr"/>
            <a:endParaRPr/>
          </a:p>
        </p:txBody>
      </p:sp>
      <p:sp>
        <p:nvSpPr>
          <p:cNvPr id="31" name="Rectangle 30"/>
          <p:cNvSpPr/>
          <p:nvPr/>
        </p:nvSpPr>
        <p:spPr>
          <a:xfrm>
            <a:off x="6667500" y="1238250"/>
            <a:ext cx="2971800" cy="28575"/>
          </a:xfrm>
          <a:prstGeom prst="rect">
            <a:avLst/>
          </a:prstGeom>
          <a:solidFill>
            <a:srgbClr val="B68757"/>
          </a:solidFill>
          <a:ln>
            <a:noFill/>
          </a:ln>
          <a:effectLst/>
        </p:spPr>
        <p:txBody>
          <a:bodyPr rtlCol="0" anchor="ctr"/>
          <a:lstStyle/>
          <a:p>
            <a:pPr algn="ctr"/>
            <a:endParaRPr/>
          </a:p>
        </p:txBody>
      </p:sp>
      <p:sp>
        <p:nvSpPr>
          <p:cNvPr id="32" name="Oval 31"/>
          <p:cNvSpPr/>
          <p:nvPr/>
        </p:nvSpPr>
        <p:spPr>
          <a:xfrm>
            <a:off x="6838950" y="1390650"/>
            <a:ext cx="381000" cy="381000"/>
          </a:xfrm>
          <a:prstGeom prst="ellipse">
            <a:avLst/>
          </a:prstGeom>
          <a:solidFill>
            <a:srgbClr val="1B1A1A"/>
          </a:solidFill>
          <a:ln>
            <a:noFill/>
          </a:ln>
          <a:effectLst/>
        </p:spPr>
        <p:txBody>
          <a:bodyPr rtlCol="0" anchor="ctr"/>
          <a:lstStyle/>
          <a:p>
            <a:pPr algn="ctr"/>
            <a:endParaRPr/>
          </a:p>
        </p:txBody>
      </p:sp>
      <p:pic>
        <p:nvPicPr>
          <p:cNvPr id="33" name="Picture 32" descr="v757cc04a4224.png"/>
          <p:cNvPicPr>
            <a:picLocks noChangeAspect="1"/>
          </p:cNvPicPr>
          <p:nvPr/>
        </p:nvPicPr>
        <p:blipFill>
          <a:blip r:embed="rId13"/>
          <a:stretch>
            <a:fillRect/>
          </a:stretch>
        </p:blipFill>
        <p:spPr>
          <a:xfrm>
            <a:off x="6905625" y="1457325"/>
            <a:ext cx="247650" cy="247650"/>
          </a:xfrm>
          <a:prstGeom prst="rect">
            <a:avLst/>
          </a:prstGeom>
        </p:spPr>
      </p:pic>
      <p:sp>
        <p:nvSpPr>
          <p:cNvPr id="34" name="Text: Financing and macro backdrop"/>
          <p:cNvSpPr txBox="1"/>
          <p:nvPr/>
        </p:nvSpPr>
        <p:spPr>
          <a:xfrm>
            <a:off x="7334250" y="1495425"/>
            <a:ext cx="1668661" cy="171450"/>
          </a:xfrm>
          <a:prstGeom prst="rect">
            <a:avLst/>
          </a:prstGeom>
          <a:noFill/>
        </p:spPr>
        <p:txBody>
          <a:bodyPr wrap="square" lIns="0" tIns="0" rIns="0" bIns="0" anchor="t">
            <a:spAutoFit/>
          </a:bodyPr>
          <a:lstStyle/>
          <a:p>
            <a:pPr algn="l">
              <a:lnSpc>
                <a:spcPts val="1350"/>
              </a:lnSpc>
            </a:pPr>
            <a:r>
              <a:rPr sz="1011" b="1" i="0" spc="8">
                <a:solidFill>
                  <a:srgbClr val="1B1A1A"/>
                </a:solidFill>
                <a:latin typeface="Calibri"/>
              </a:rPr>
              <a:t>Financing and macro backdrop</a:t>
            </a:r>
          </a:p>
        </p:txBody>
      </p:sp>
      <p:sp>
        <p:nvSpPr>
          <p:cNvPr id="35" name="Rectangle 34"/>
          <p:cNvSpPr/>
          <p:nvPr/>
        </p:nvSpPr>
        <p:spPr>
          <a:xfrm>
            <a:off x="6838950" y="1905000"/>
            <a:ext cx="47625" cy="47625"/>
          </a:xfrm>
          <a:prstGeom prst="rect">
            <a:avLst/>
          </a:prstGeom>
          <a:solidFill>
            <a:srgbClr val="B68757"/>
          </a:solidFill>
          <a:ln>
            <a:noFill/>
          </a:ln>
          <a:effectLst/>
        </p:spPr>
        <p:txBody>
          <a:bodyPr rtlCol="0" anchor="ctr"/>
          <a:lstStyle/>
          <a:p>
            <a:pPr algn="ctr"/>
            <a:endParaRPr/>
          </a:p>
        </p:txBody>
      </p:sp>
      <p:sp>
        <p:nvSpPr>
          <p:cNvPr id="36" name="Text: The Federal Reserve raised its tar"/>
          <p:cNvSpPr txBox="1"/>
          <p:nvPr/>
        </p:nvSpPr>
        <p:spPr>
          <a:xfrm>
            <a:off x="6962775" y="1866900"/>
            <a:ext cx="2519362" cy="666750"/>
          </a:xfrm>
          <a:prstGeom prst="rect">
            <a:avLst/>
          </a:prstGeom>
          <a:noFill/>
        </p:spPr>
        <p:txBody>
          <a:bodyPr wrap="square" lIns="0" tIns="0" rIns="0" bIns="0" anchor="t">
            <a:spAutoFit/>
          </a:bodyPr>
          <a:lstStyle/>
          <a:p>
            <a:pPr algn="l">
              <a:lnSpc>
                <a:spcPts val="1312"/>
              </a:lnSpc>
            </a:pPr>
            <a:r>
              <a:rPr sz="861" b="0" i="0" spc="15">
                <a:solidFill>
                  <a:srgbClr val="333231"/>
                </a:solidFill>
                <a:latin typeface="Calibri"/>
              </a:rPr>
              <a:t>The Federal Reserve raised its target range to 3.75% to 4.00% on September 16 (</a:t>
            </a:r>
            <a:r>
              <a:rPr sz="861" b="0" i="0" spc="15">
                <a:solidFill>
                  <a:srgbClr val="8C6239"/>
                </a:solidFill>
                <a:latin typeface="Calibri"/>
                <a:hlinkClick r:id="rId14">
                  <a:extLst>
                    <a:ext uri="{A12FA001-AC4F-418D-AE19-62706E023703}">
                      <ahyp:hlinkClr xmlns:ahyp="http://schemas.microsoft.com/office/drawing/2018/hyperlinkcolor" val="tx"/>
                    </a:ext>
                  </a:extLst>
                </a:hlinkClick>
              </a:rPr>
              <a:t>Federal Reserve</a:t>
            </a:r>
            <a:r>
              <a:rPr sz="861" b="0" i="0" spc="15">
                <a:solidFill>
                  <a:srgbClr val="333231"/>
                </a:solidFill>
                <a:latin typeface="Calibri"/>
              </a:rPr>
              <a:t>) and the 10-year Treasury yielded 5.24% on October 1 (</a:t>
            </a:r>
            <a:r>
              <a:rPr sz="861" b="0" i="0" spc="15">
                <a:solidFill>
                  <a:srgbClr val="8C6239"/>
                </a:solidFill>
                <a:latin typeface="Calibri"/>
                <a:hlinkClick r:id="rId15">
                  <a:extLst>
                    <a:ext uri="{A12FA001-AC4F-418D-AE19-62706E023703}">
                      <ahyp:hlinkClr xmlns:ahyp="http://schemas.microsoft.com/office/drawing/2018/hyperlinkcolor" val="tx"/>
                    </a:ext>
                  </a:extLst>
                </a:hlinkClick>
              </a:rPr>
              <a:t>US Treasury</a:t>
            </a:r>
            <a:r>
              <a:rPr sz="861" b="0" i="0" spc="15">
                <a:solidFill>
                  <a:srgbClr val="333231"/>
                </a:solidFill>
                <a:latin typeface="Calibri"/>
              </a:rPr>
              <a:t>).</a:t>
            </a:r>
          </a:p>
        </p:txBody>
      </p:sp>
      <p:sp>
        <p:nvSpPr>
          <p:cNvPr id="37" name="Rectangle 36"/>
          <p:cNvSpPr/>
          <p:nvPr/>
        </p:nvSpPr>
        <p:spPr>
          <a:xfrm>
            <a:off x="6838950" y="2657475"/>
            <a:ext cx="47625" cy="47625"/>
          </a:xfrm>
          <a:prstGeom prst="rect">
            <a:avLst/>
          </a:prstGeom>
          <a:solidFill>
            <a:srgbClr val="B68757"/>
          </a:solidFill>
          <a:ln>
            <a:noFill/>
          </a:ln>
          <a:effectLst/>
        </p:spPr>
        <p:txBody>
          <a:bodyPr rtlCol="0" anchor="ctr"/>
          <a:lstStyle/>
          <a:p>
            <a:pPr algn="ctr"/>
            <a:endParaRPr/>
          </a:p>
        </p:txBody>
      </p:sp>
      <p:sp>
        <p:nvSpPr>
          <p:cNvPr id="38" name="Text: Direct lenders widened buyout loan"/>
          <p:cNvSpPr txBox="1"/>
          <p:nvPr/>
        </p:nvSpPr>
        <p:spPr>
          <a:xfrm>
            <a:off x="6962775" y="2619375"/>
            <a:ext cx="2519362" cy="500062"/>
          </a:xfrm>
          <a:prstGeom prst="rect">
            <a:avLst/>
          </a:prstGeom>
          <a:noFill/>
        </p:spPr>
        <p:txBody>
          <a:bodyPr wrap="square" lIns="0" tIns="0" rIns="0" bIns="0" anchor="t">
            <a:spAutoFit/>
          </a:bodyPr>
          <a:lstStyle/>
          <a:p>
            <a:pPr algn="l">
              <a:lnSpc>
                <a:spcPts val="1312"/>
              </a:lnSpc>
            </a:pPr>
            <a:r>
              <a:rPr sz="861" b="0" i="0" spc="15">
                <a:solidFill>
                  <a:srgbClr val="333231"/>
                </a:solidFill>
                <a:latin typeface="Calibri"/>
              </a:rPr>
              <a:t>Direct lenders widened buyout loan spreads to an average of 509 basis points in the second quarter from 474 in the first (</a:t>
            </a:r>
            <a:r>
              <a:rPr sz="861" b="0" i="0" spc="15">
                <a:solidFill>
                  <a:srgbClr val="8C6239"/>
                </a:solidFill>
                <a:latin typeface="Calibri"/>
                <a:hlinkClick r:id="rId16">
                  <a:extLst>
                    <a:ext uri="{A12FA001-AC4F-418D-AE19-62706E023703}">
                      <ahyp:hlinkClr xmlns:ahyp="http://schemas.microsoft.com/office/drawing/2018/hyperlinkcolor" val="tx"/>
                    </a:ext>
                  </a:extLst>
                </a:hlinkClick>
              </a:rPr>
              <a:t>PitchBook</a:t>
            </a:r>
            <a:r>
              <a:rPr sz="861" b="0" i="0" spc="15">
                <a:solidFill>
                  <a:srgbClr val="333231"/>
                </a:solidFill>
                <a:latin typeface="Calibri"/>
              </a:rPr>
              <a:t>).</a:t>
            </a:r>
          </a:p>
        </p:txBody>
      </p:sp>
      <p:sp>
        <p:nvSpPr>
          <p:cNvPr id="39" name="Rectangle 38"/>
          <p:cNvSpPr/>
          <p:nvPr/>
        </p:nvSpPr>
        <p:spPr>
          <a:xfrm>
            <a:off x="6838950" y="3243262"/>
            <a:ext cx="47625" cy="47625"/>
          </a:xfrm>
          <a:prstGeom prst="rect">
            <a:avLst/>
          </a:prstGeom>
          <a:solidFill>
            <a:srgbClr val="B68757"/>
          </a:solidFill>
          <a:ln>
            <a:noFill/>
          </a:ln>
          <a:effectLst/>
        </p:spPr>
        <p:txBody>
          <a:bodyPr rtlCol="0" anchor="ctr"/>
          <a:lstStyle/>
          <a:p>
            <a:pPr algn="ctr"/>
            <a:endParaRPr/>
          </a:p>
        </p:txBody>
      </p:sp>
      <p:sp>
        <p:nvSpPr>
          <p:cNvPr id="40" name="Text: Completed middle-market transactio"/>
          <p:cNvSpPr txBox="1"/>
          <p:nvPr/>
        </p:nvSpPr>
        <p:spPr>
          <a:xfrm>
            <a:off x="6962775" y="3205162"/>
            <a:ext cx="2519362" cy="500062"/>
          </a:xfrm>
          <a:prstGeom prst="rect">
            <a:avLst/>
          </a:prstGeom>
          <a:noFill/>
        </p:spPr>
        <p:txBody>
          <a:bodyPr wrap="square" lIns="0" tIns="0" rIns="0" bIns="0" anchor="t">
            <a:spAutoFit/>
          </a:bodyPr>
          <a:lstStyle/>
          <a:p>
            <a:pPr algn="l">
              <a:lnSpc>
                <a:spcPts val="1312"/>
              </a:lnSpc>
            </a:pPr>
            <a:r>
              <a:rPr sz="861" b="0" i="0" spc="15">
                <a:solidFill>
                  <a:srgbClr val="333231"/>
                </a:solidFill>
                <a:latin typeface="Calibri"/>
              </a:rPr>
              <a:t>Completed middle-market transactions in all industries averaged 7.0x EBITDA, with senior debt priced at 7.8% (</a:t>
            </a:r>
            <a:r>
              <a:rPr sz="861" b="0" i="0" spc="15">
                <a:solidFill>
                  <a:srgbClr val="8C6239"/>
                </a:solidFill>
                <a:latin typeface="Calibri"/>
                <a:hlinkClick r:id="rId17">
                  <a:extLst>
                    <a:ext uri="{A12FA001-AC4F-418D-AE19-62706E023703}">
                      <ahyp:hlinkClr xmlns:ahyp="http://schemas.microsoft.com/office/drawing/2018/hyperlinkcolor" val="tx"/>
                    </a:ext>
                  </a:extLst>
                </a:hlinkClick>
              </a:rPr>
              <a:t>GF Data via ACG</a:t>
            </a:r>
            <a:r>
              <a:rPr sz="861" b="0" i="0" spc="15">
                <a:solidFill>
                  <a:srgbClr val="333231"/>
                </a:solidFill>
                <a:latin typeface="Calibri"/>
              </a:rPr>
              <a:t>).</a:t>
            </a:r>
          </a:p>
        </p:txBody>
      </p:sp>
      <p:sp>
        <p:nvSpPr>
          <p:cNvPr id="41" name="Rectangle 40"/>
          <p:cNvSpPr/>
          <p:nvPr/>
        </p:nvSpPr>
        <p:spPr>
          <a:xfrm>
            <a:off x="419100" y="4152900"/>
            <a:ext cx="2971800" cy="2781300"/>
          </a:xfrm>
          <a:prstGeom prst="rect">
            <a:avLst/>
          </a:prstGeom>
          <a:solidFill>
            <a:srgbClr val="FAF7F3"/>
          </a:solidFill>
          <a:ln>
            <a:noFill/>
          </a:ln>
          <a:effectLst/>
        </p:spPr>
        <p:txBody>
          <a:bodyPr rtlCol="0" anchor="ctr"/>
          <a:lstStyle/>
          <a:p>
            <a:pPr algn="ctr"/>
            <a:endParaRPr/>
          </a:p>
        </p:txBody>
      </p:sp>
      <p:sp>
        <p:nvSpPr>
          <p:cNvPr id="42" name="Rectangle 41"/>
          <p:cNvSpPr/>
          <p:nvPr/>
        </p:nvSpPr>
        <p:spPr>
          <a:xfrm>
            <a:off x="419100" y="4152900"/>
            <a:ext cx="2971800" cy="28575"/>
          </a:xfrm>
          <a:prstGeom prst="rect">
            <a:avLst/>
          </a:prstGeom>
          <a:solidFill>
            <a:srgbClr val="B68757"/>
          </a:solidFill>
          <a:ln>
            <a:noFill/>
          </a:ln>
          <a:effectLst/>
        </p:spPr>
        <p:txBody>
          <a:bodyPr rtlCol="0" anchor="ctr"/>
          <a:lstStyle/>
          <a:p>
            <a:pPr algn="ctr"/>
            <a:endParaRPr/>
          </a:p>
        </p:txBody>
      </p:sp>
      <p:sp>
        <p:nvSpPr>
          <p:cNvPr id="43" name="Oval 42"/>
          <p:cNvSpPr/>
          <p:nvPr/>
        </p:nvSpPr>
        <p:spPr>
          <a:xfrm>
            <a:off x="590550" y="4305300"/>
            <a:ext cx="381000" cy="381000"/>
          </a:xfrm>
          <a:prstGeom prst="ellipse">
            <a:avLst/>
          </a:prstGeom>
          <a:solidFill>
            <a:srgbClr val="1B1A1A"/>
          </a:solidFill>
          <a:ln>
            <a:noFill/>
          </a:ln>
          <a:effectLst/>
        </p:spPr>
        <p:txBody>
          <a:bodyPr rtlCol="0" anchor="ctr"/>
          <a:lstStyle/>
          <a:p>
            <a:pPr algn="ctr"/>
            <a:endParaRPr/>
          </a:p>
        </p:txBody>
      </p:sp>
      <p:pic>
        <p:nvPicPr>
          <p:cNvPr id="44" name="Picture 43" descr="vbcf48558bbf5.png"/>
          <p:cNvPicPr>
            <a:picLocks noChangeAspect="1"/>
          </p:cNvPicPr>
          <p:nvPr/>
        </p:nvPicPr>
        <p:blipFill>
          <a:blip r:embed="rId18"/>
          <a:stretch>
            <a:fillRect/>
          </a:stretch>
        </p:blipFill>
        <p:spPr>
          <a:xfrm>
            <a:off x="657225" y="4371975"/>
            <a:ext cx="247650" cy="247650"/>
          </a:xfrm>
          <a:prstGeom prst="rect">
            <a:avLst/>
          </a:prstGeom>
        </p:spPr>
      </p:pic>
      <p:sp>
        <p:nvSpPr>
          <p:cNvPr id="45" name="Text: Demand fundamentals"/>
          <p:cNvSpPr txBox="1"/>
          <p:nvPr/>
        </p:nvSpPr>
        <p:spPr>
          <a:xfrm>
            <a:off x="1085850" y="4410075"/>
            <a:ext cx="1251347" cy="171450"/>
          </a:xfrm>
          <a:prstGeom prst="rect">
            <a:avLst/>
          </a:prstGeom>
          <a:noFill/>
        </p:spPr>
        <p:txBody>
          <a:bodyPr wrap="square" lIns="0" tIns="0" rIns="0" bIns="0" anchor="t">
            <a:spAutoFit/>
          </a:bodyPr>
          <a:lstStyle/>
          <a:p>
            <a:pPr algn="l">
              <a:lnSpc>
                <a:spcPts val="1350"/>
              </a:lnSpc>
            </a:pPr>
            <a:r>
              <a:rPr sz="1011" b="1" i="0" spc="8">
                <a:solidFill>
                  <a:srgbClr val="1B1A1A"/>
                </a:solidFill>
                <a:latin typeface="Calibri"/>
              </a:rPr>
              <a:t>Demand fundamentals</a:t>
            </a:r>
          </a:p>
        </p:txBody>
      </p:sp>
      <p:sp>
        <p:nvSpPr>
          <p:cNvPr id="46" name="Rectangle 45"/>
          <p:cNvSpPr/>
          <p:nvPr/>
        </p:nvSpPr>
        <p:spPr>
          <a:xfrm>
            <a:off x="590550" y="4819650"/>
            <a:ext cx="47625" cy="47625"/>
          </a:xfrm>
          <a:prstGeom prst="rect">
            <a:avLst/>
          </a:prstGeom>
          <a:solidFill>
            <a:srgbClr val="B68757"/>
          </a:solidFill>
          <a:ln>
            <a:noFill/>
          </a:ln>
          <a:effectLst/>
        </p:spPr>
        <p:txBody>
          <a:bodyPr rtlCol="0" anchor="ctr"/>
          <a:lstStyle/>
          <a:p>
            <a:pPr algn="ctr"/>
            <a:endParaRPr/>
          </a:p>
        </p:txBody>
      </p:sp>
      <p:sp>
        <p:nvSpPr>
          <p:cNvPr id="47" name="Text: National health spending grew 6.8%"/>
          <p:cNvSpPr txBox="1"/>
          <p:nvPr/>
        </p:nvSpPr>
        <p:spPr>
          <a:xfrm>
            <a:off x="714375" y="4781550"/>
            <a:ext cx="2519362" cy="333375"/>
          </a:xfrm>
          <a:prstGeom prst="rect">
            <a:avLst/>
          </a:prstGeom>
          <a:noFill/>
        </p:spPr>
        <p:txBody>
          <a:bodyPr wrap="square" lIns="0" tIns="0" rIns="0" bIns="0" anchor="t">
            <a:spAutoFit/>
          </a:bodyPr>
          <a:lstStyle/>
          <a:p>
            <a:pPr algn="l">
              <a:lnSpc>
                <a:spcPts val="1312"/>
              </a:lnSpc>
            </a:pPr>
            <a:r>
              <a:rPr sz="861" b="0" i="0" spc="15">
                <a:solidFill>
                  <a:srgbClr val="333231"/>
                </a:solidFill>
                <a:latin typeface="Calibri"/>
              </a:rPr>
              <a:t>National health spending grew 6.8% in the year to July 2026 and represented 18.4% of GDP (</a:t>
            </a:r>
            <a:r>
              <a:rPr sz="861" b="0" i="0" spc="15">
                <a:solidFill>
                  <a:srgbClr val="8C6239"/>
                </a:solidFill>
                <a:latin typeface="Calibri"/>
                <a:hlinkClick r:id="rId19">
                  <a:extLst>
                    <a:ext uri="{A12FA001-AC4F-418D-AE19-62706E023703}">
                      <ahyp:hlinkClr xmlns:ahyp="http://schemas.microsoft.com/office/drawing/2018/hyperlinkcolor" val="tx"/>
                    </a:ext>
                  </a:extLst>
                </a:hlinkClick>
              </a:rPr>
              <a:t>Altarum</a:t>
            </a:r>
            <a:r>
              <a:rPr sz="861" b="0" i="0" spc="15">
                <a:solidFill>
                  <a:srgbClr val="333231"/>
                </a:solidFill>
                <a:latin typeface="Calibri"/>
              </a:rPr>
              <a:t>).</a:t>
            </a:r>
          </a:p>
        </p:txBody>
      </p:sp>
      <p:sp>
        <p:nvSpPr>
          <p:cNvPr id="48" name="Rectangle 47"/>
          <p:cNvSpPr/>
          <p:nvPr/>
        </p:nvSpPr>
        <p:spPr>
          <a:xfrm>
            <a:off x="590550" y="5238750"/>
            <a:ext cx="47625" cy="47625"/>
          </a:xfrm>
          <a:prstGeom prst="rect">
            <a:avLst/>
          </a:prstGeom>
          <a:solidFill>
            <a:srgbClr val="B68757"/>
          </a:solidFill>
          <a:ln>
            <a:noFill/>
          </a:ln>
          <a:effectLst/>
        </p:spPr>
        <p:txBody>
          <a:bodyPr rtlCol="0" anchor="ctr"/>
          <a:lstStyle/>
          <a:p>
            <a:pPr algn="ctr"/>
            <a:endParaRPr/>
          </a:p>
        </p:txBody>
      </p:sp>
      <p:sp>
        <p:nvSpPr>
          <p:cNvPr id="49" name="Text: CMS projects nearly $9.0 trillion "/>
          <p:cNvSpPr txBox="1"/>
          <p:nvPr/>
        </p:nvSpPr>
        <p:spPr>
          <a:xfrm>
            <a:off x="714375" y="5200650"/>
            <a:ext cx="2519362" cy="500062"/>
          </a:xfrm>
          <a:prstGeom prst="rect">
            <a:avLst/>
          </a:prstGeom>
          <a:noFill/>
        </p:spPr>
        <p:txBody>
          <a:bodyPr wrap="square" lIns="0" tIns="0" rIns="0" bIns="0" anchor="t">
            <a:spAutoFit/>
          </a:bodyPr>
          <a:lstStyle/>
          <a:p>
            <a:pPr algn="l">
              <a:lnSpc>
                <a:spcPts val="1312"/>
              </a:lnSpc>
            </a:pPr>
            <a:r>
              <a:rPr sz="861" b="0" i="0" spc="15">
                <a:solidFill>
                  <a:srgbClr val="333231"/>
                </a:solidFill>
                <a:latin typeface="Calibri"/>
              </a:rPr>
              <a:t>CMS projects nearly $9.0 trillion of spending in 2034, or 20.6% of GDP, on average annual growth of 5.4% (</a:t>
            </a:r>
            <a:r>
              <a:rPr sz="861" b="0" i="0" spc="15">
                <a:solidFill>
                  <a:srgbClr val="8C6239"/>
                </a:solidFill>
                <a:latin typeface="Calibri"/>
                <a:hlinkClick r:id="rId20">
                  <a:extLst>
                    <a:ext uri="{A12FA001-AC4F-418D-AE19-62706E023703}">
                      <ahyp:hlinkClr xmlns:ahyp="http://schemas.microsoft.com/office/drawing/2018/hyperlinkcolor" val="tx"/>
                    </a:ext>
                  </a:extLst>
                </a:hlinkClick>
              </a:rPr>
              <a:t>CMS</a:t>
            </a:r>
            <a:r>
              <a:rPr sz="861" b="0" i="0" spc="15">
                <a:solidFill>
                  <a:srgbClr val="333231"/>
                </a:solidFill>
                <a:latin typeface="Calibri"/>
              </a:rPr>
              <a:t>).</a:t>
            </a:r>
          </a:p>
        </p:txBody>
      </p:sp>
      <p:sp>
        <p:nvSpPr>
          <p:cNvPr id="50" name="Rectangle 49"/>
          <p:cNvSpPr/>
          <p:nvPr/>
        </p:nvSpPr>
        <p:spPr>
          <a:xfrm>
            <a:off x="590550" y="5824538"/>
            <a:ext cx="47625" cy="47625"/>
          </a:xfrm>
          <a:prstGeom prst="rect">
            <a:avLst/>
          </a:prstGeom>
          <a:solidFill>
            <a:srgbClr val="B68757"/>
          </a:solidFill>
          <a:ln>
            <a:noFill/>
          </a:ln>
          <a:effectLst/>
        </p:spPr>
        <p:txBody>
          <a:bodyPr rtlCol="0" anchor="ctr"/>
          <a:lstStyle/>
          <a:p>
            <a:pPr algn="ctr"/>
            <a:endParaRPr/>
          </a:p>
        </p:txBody>
      </p:sp>
      <p:sp>
        <p:nvSpPr>
          <p:cNvPr id="51" name="Text: Healthcare employers added 17,000 "/>
          <p:cNvSpPr txBox="1"/>
          <p:nvPr/>
        </p:nvSpPr>
        <p:spPr>
          <a:xfrm>
            <a:off x="714375" y="5786438"/>
            <a:ext cx="2519362" cy="500062"/>
          </a:xfrm>
          <a:prstGeom prst="rect">
            <a:avLst/>
          </a:prstGeom>
          <a:noFill/>
        </p:spPr>
        <p:txBody>
          <a:bodyPr wrap="square" lIns="0" tIns="0" rIns="0" bIns="0" anchor="t">
            <a:spAutoFit/>
          </a:bodyPr>
          <a:lstStyle/>
          <a:p>
            <a:pPr algn="l">
              <a:lnSpc>
                <a:spcPts val="1312"/>
              </a:lnSpc>
            </a:pPr>
            <a:r>
              <a:rPr sz="861" b="0" i="0" spc="15">
                <a:solidFill>
                  <a:srgbClr val="333231"/>
                </a:solidFill>
                <a:latin typeface="Calibri"/>
              </a:rPr>
              <a:t>Healthcare employers added 17,000 jobs in September against a twelve-month average of 33,000 (</a:t>
            </a:r>
            <a:r>
              <a:rPr sz="861" b="0" i="0" spc="15">
                <a:solidFill>
                  <a:srgbClr val="8C6239"/>
                </a:solidFill>
                <a:latin typeface="Calibri"/>
                <a:hlinkClick r:id="rId21">
                  <a:extLst>
                    <a:ext uri="{A12FA001-AC4F-418D-AE19-62706E023703}">
                      <ahyp:hlinkClr xmlns:ahyp="http://schemas.microsoft.com/office/drawing/2018/hyperlinkcolor" val="tx"/>
                    </a:ext>
                  </a:extLst>
                </a:hlinkClick>
              </a:rPr>
              <a:t>Bureau of Labor Statistics</a:t>
            </a:r>
            <a:r>
              <a:rPr sz="861" b="0" i="0" spc="15">
                <a:solidFill>
                  <a:srgbClr val="333231"/>
                </a:solidFill>
                <a:latin typeface="Calibri"/>
              </a:rPr>
              <a:t>).</a:t>
            </a:r>
          </a:p>
        </p:txBody>
      </p:sp>
      <p:sp>
        <p:nvSpPr>
          <p:cNvPr id="52" name="Rectangle 51"/>
          <p:cNvSpPr/>
          <p:nvPr/>
        </p:nvSpPr>
        <p:spPr>
          <a:xfrm>
            <a:off x="3543300" y="4152900"/>
            <a:ext cx="2971800" cy="2781300"/>
          </a:xfrm>
          <a:prstGeom prst="rect">
            <a:avLst/>
          </a:prstGeom>
          <a:solidFill>
            <a:srgbClr val="FAF7F3"/>
          </a:solidFill>
          <a:ln>
            <a:noFill/>
          </a:ln>
          <a:effectLst/>
        </p:spPr>
        <p:txBody>
          <a:bodyPr rtlCol="0" anchor="ctr"/>
          <a:lstStyle/>
          <a:p>
            <a:pPr algn="ctr"/>
            <a:endParaRPr/>
          </a:p>
        </p:txBody>
      </p:sp>
      <p:sp>
        <p:nvSpPr>
          <p:cNvPr id="53" name="Rectangle 52"/>
          <p:cNvSpPr/>
          <p:nvPr/>
        </p:nvSpPr>
        <p:spPr>
          <a:xfrm>
            <a:off x="3543300" y="4152900"/>
            <a:ext cx="2971800" cy="28575"/>
          </a:xfrm>
          <a:prstGeom prst="rect">
            <a:avLst/>
          </a:prstGeom>
          <a:solidFill>
            <a:srgbClr val="B68757"/>
          </a:solidFill>
          <a:ln>
            <a:noFill/>
          </a:ln>
          <a:effectLst/>
        </p:spPr>
        <p:txBody>
          <a:bodyPr rtlCol="0" anchor="ctr"/>
          <a:lstStyle/>
          <a:p>
            <a:pPr algn="ctr"/>
            <a:endParaRPr/>
          </a:p>
        </p:txBody>
      </p:sp>
      <p:sp>
        <p:nvSpPr>
          <p:cNvPr id="54" name="Oval 53"/>
          <p:cNvSpPr/>
          <p:nvPr/>
        </p:nvSpPr>
        <p:spPr>
          <a:xfrm>
            <a:off x="3714750" y="4305300"/>
            <a:ext cx="381000" cy="381000"/>
          </a:xfrm>
          <a:prstGeom prst="ellipse">
            <a:avLst/>
          </a:prstGeom>
          <a:solidFill>
            <a:srgbClr val="1B1A1A"/>
          </a:solidFill>
          <a:ln>
            <a:noFill/>
          </a:ln>
          <a:effectLst/>
        </p:spPr>
        <p:txBody>
          <a:bodyPr rtlCol="0" anchor="ctr"/>
          <a:lstStyle/>
          <a:p>
            <a:pPr algn="ctr"/>
            <a:endParaRPr/>
          </a:p>
        </p:txBody>
      </p:sp>
      <p:pic>
        <p:nvPicPr>
          <p:cNvPr id="55" name="Picture 54" descr="vc5336cf5d96f.png"/>
          <p:cNvPicPr>
            <a:picLocks noChangeAspect="1"/>
          </p:cNvPicPr>
          <p:nvPr/>
        </p:nvPicPr>
        <p:blipFill>
          <a:blip r:embed="rId22"/>
          <a:stretch>
            <a:fillRect/>
          </a:stretch>
        </p:blipFill>
        <p:spPr>
          <a:xfrm>
            <a:off x="3781425" y="4371975"/>
            <a:ext cx="247650" cy="247650"/>
          </a:xfrm>
          <a:prstGeom prst="rect">
            <a:avLst/>
          </a:prstGeom>
        </p:spPr>
      </p:pic>
      <p:sp>
        <p:nvSpPr>
          <p:cNvPr id="56" name="Text: Trade and deal regulation"/>
          <p:cNvSpPr txBox="1"/>
          <p:nvPr/>
        </p:nvSpPr>
        <p:spPr>
          <a:xfrm>
            <a:off x="4210050" y="4410075"/>
            <a:ext cx="1400026" cy="171450"/>
          </a:xfrm>
          <a:prstGeom prst="rect">
            <a:avLst/>
          </a:prstGeom>
          <a:noFill/>
        </p:spPr>
        <p:txBody>
          <a:bodyPr wrap="square" lIns="0" tIns="0" rIns="0" bIns="0" anchor="t">
            <a:spAutoFit/>
          </a:bodyPr>
          <a:lstStyle/>
          <a:p>
            <a:pPr algn="l">
              <a:lnSpc>
                <a:spcPts val="1350"/>
              </a:lnSpc>
            </a:pPr>
            <a:r>
              <a:rPr sz="1011" b="1" i="0" spc="8">
                <a:solidFill>
                  <a:srgbClr val="1B1A1A"/>
                </a:solidFill>
                <a:latin typeface="Calibri"/>
              </a:rPr>
              <a:t>Trade and deal regulation</a:t>
            </a:r>
          </a:p>
        </p:txBody>
      </p:sp>
      <p:sp>
        <p:nvSpPr>
          <p:cNvPr id="57" name="Rectangle 56"/>
          <p:cNvSpPr/>
          <p:nvPr/>
        </p:nvSpPr>
        <p:spPr>
          <a:xfrm>
            <a:off x="3714750" y="4819650"/>
            <a:ext cx="47625" cy="47625"/>
          </a:xfrm>
          <a:prstGeom prst="rect">
            <a:avLst/>
          </a:prstGeom>
          <a:solidFill>
            <a:srgbClr val="B68757"/>
          </a:solidFill>
          <a:ln>
            <a:noFill/>
          </a:ln>
          <a:effectLst/>
        </p:spPr>
        <p:txBody>
          <a:bodyPr rtlCol="0" anchor="ctr"/>
          <a:lstStyle/>
          <a:p>
            <a:pPr algn="ctr"/>
            <a:endParaRPr/>
          </a:p>
        </p:txBody>
      </p:sp>
      <p:sp>
        <p:nvSpPr>
          <p:cNvPr id="58" name="Text: A 100% default tariff applies to c"/>
          <p:cNvSpPr txBox="1"/>
          <p:nvPr/>
        </p:nvSpPr>
        <p:spPr>
          <a:xfrm>
            <a:off x="3838575" y="4781550"/>
            <a:ext cx="2519362" cy="1000125"/>
          </a:xfrm>
          <a:prstGeom prst="rect">
            <a:avLst/>
          </a:prstGeom>
          <a:noFill/>
        </p:spPr>
        <p:txBody>
          <a:bodyPr wrap="square" lIns="0" tIns="0" rIns="0" bIns="0" anchor="t">
            <a:spAutoFit/>
          </a:bodyPr>
          <a:lstStyle/>
          <a:p>
            <a:pPr algn="l">
              <a:lnSpc>
                <a:spcPts val="1312"/>
              </a:lnSpc>
            </a:pPr>
            <a:r>
              <a:rPr sz="861" b="0" i="0" spc="15">
                <a:solidFill>
                  <a:srgbClr val="333231"/>
                </a:solidFill>
                <a:latin typeface="Calibri"/>
              </a:rPr>
              <a:t>A 100% default tariff applies to covered patented pharmaceuticals, with country and company exceptions and generics excluded (</a:t>
            </a:r>
            <a:r>
              <a:rPr sz="861" b="0" i="0" spc="15">
                <a:solidFill>
                  <a:srgbClr val="8C6239"/>
                </a:solidFill>
                <a:latin typeface="Calibri"/>
                <a:hlinkClick r:id="rId23">
                  <a:extLst>
                    <a:ext uri="{A12FA001-AC4F-418D-AE19-62706E023703}">
                      <ahyp:hlinkClr xmlns:ahyp="http://schemas.microsoft.com/office/drawing/2018/hyperlinkcolor" val="tx"/>
                    </a:ext>
                  </a:extLst>
                </a:hlinkClick>
              </a:rPr>
              <a:t>White House proclamation</a:t>
            </a:r>
            <a:r>
              <a:rPr sz="861" b="0" i="0" spc="15">
                <a:solidFill>
                  <a:srgbClr val="333231"/>
                </a:solidFill>
                <a:latin typeface="Calibri"/>
              </a:rPr>
              <a:t>). The medical device investigation remained open in September with no tariff imposed (</a:t>
            </a:r>
            <a:r>
              <a:rPr sz="861" b="0" i="0" spc="15">
                <a:solidFill>
                  <a:srgbClr val="8C6239"/>
                </a:solidFill>
                <a:latin typeface="Calibri"/>
                <a:hlinkClick r:id="rId24">
                  <a:extLst>
                    <a:ext uri="{A12FA001-AC4F-418D-AE19-62706E023703}">
                      <ahyp:hlinkClr xmlns:ahyp="http://schemas.microsoft.com/office/drawing/2018/hyperlinkcolor" val="tx"/>
                    </a:ext>
                  </a:extLst>
                </a:hlinkClick>
              </a:rPr>
              <a:t>iData Research</a:t>
            </a:r>
            <a:r>
              <a:rPr sz="861" b="0" i="0" spc="15">
                <a:solidFill>
                  <a:srgbClr val="333231"/>
                </a:solidFill>
                <a:latin typeface="Calibri"/>
              </a:rPr>
              <a:t>).</a:t>
            </a:r>
          </a:p>
        </p:txBody>
      </p:sp>
      <p:sp>
        <p:nvSpPr>
          <p:cNvPr id="59" name="Rectangle 58"/>
          <p:cNvSpPr/>
          <p:nvPr/>
        </p:nvSpPr>
        <p:spPr>
          <a:xfrm>
            <a:off x="3714750" y="5905500"/>
            <a:ext cx="47625" cy="47625"/>
          </a:xfrm>
          <a:prstGeom prst="rect">
            <a:avLst/>
          </a:prstGeom>
          <a:solidFill>
            <a:srgbClr val="B68757"/>
          </a:solidFill>
          <a:ln>
            <a:noFill/>
          </a:ln>
          <a:effectLst/>
        </p:spPr>
        <p:txBody>
          <a:bodyPr rtlCol="0" anchor="ctr"/>
          <a:lstStyle/>
          <a:p>
            <a:pPr algn="ctr"/>
            <a:endParaRPr/>
          </a:p>
        </p:txBody>
      </p:sp>
      <p:sp>
        <p:nvSpPr>
          <p:cNvPr id="60" name="Text: California now requires transactio"/>
          <p:cNvSpPr txBox="1"/>
          <p:nvPr/>
        </p:nvSpPr>
        <p:spPr>
          <a:xfrm>
            <a:off x="3838575" y="5867400"/>
            <a:ext cx="2519362" cy="833438"/>
          </a:xfrm>
          <a:prstGeom prst="rect">
            <a:avLst/>
          </a:prstGeom>
          <a:noFill/>
        </p:spPr>
        <p:txBody>
          <a:bodyPr wrap="square" lIns="0" tIns="0" rIns="0" bIns="0" anchor="t">
            <a:spAutoFit/>
          </a:bodyPr>
          <a:lstStyle/>
          <a:p>
            <a:pPr algn="l">
              <a:lnSpc>
                <a:spcPts val="1312"/>
              </a:lnSpc>
            </a:pPr>
            <a:r>
              <a:rPr sz="861" b="0" i="0" spc="15">
                <a:solidFill>
                  <a:srgbClr val="333231"/>
                </a:solidFill>
                <a:latin typeface="Calibri"/>
              </a:rPr>
              <a:t>California now requires transaction notices from private equity groups and management services organizations (</a:t>
            </a:r>
            <a:r>
              <a:rPr sz="861" b="0" i="0" spc="15">
                <a:solidFill>
                  <a:srgbClr val="8C6239"/>
                </a:solidFill>
                <a:latin typeface="Calibri"/>
                <a:hlinkClick r:id="rId25">
                  <a:extLst>
                    <a:ext uri="{A12FA001-AC4F-418D-AE19-62706E023703}">
                      <ahyp:hlinkClr xmlns:ahyp="http://schemas.microsoft.com/office/drawing/2018/hyperlinkcolor" val="tx"/>
                    </a:ext>
                  </a:extLst>
                </a:hlinkClick>
              </a:rPr>
              <a:t>Nixon Peabody</a:t>
            </a:r>
            <a:r>
              <a:rPr sz="861" b="0" i="0" spc="15">
                <a:solidFill>
                  <a:srgbClr val="333231"/>
                </a:solidFill>
                <a:latin typeface="Calibri"/>
              </a:rPr>
              <a:t>), and Maine's 180-day notice and approval regime begins January 1, 2027 (</a:t>
            </a:r>
            <a:r>
              <a:rPr sz="861" b="0" i="0" spc="15">
                <a:solidFill>
                  <a:srgbClr val="8C6239"/>
                </a:solidFill>
                <a:latin typeface="Calibri"/>
                <a:hlinkClick r:id="rId26">
                  <a:extLst>
                    <a:ext uri="{A12FA001-AC4F-418D-AE19-62706E023703}">
                      <ahyp:hlinkClr xmlns:ahyp="http://schemas.microsoft.com/office/drawing/2018/hyperlinkcolor" val="tx"/>
                    </a:ext>
                  </a:extLst>
                </a:hlinkClick>
              </a:rPr>
              <a:t>BakerHostetler</a:t>
            </a:r>
            <a:r>
              <a:rPr sz="861" b="0" i="0" spc="15">
                <a:solidFill>
                  <a:srgbClr val="333231"/>
                </a:solidFill>
                <a:latin typeface="Calibri"/>
              </a:rPr>
              <a:t>).</a:t>
            </a:r>
          </a:p>
        </p:txBody>
      </p:sp>
      <p:sp>
        <p:nvSpPr>
          <p:cNvPr id="61" name="Rectangle 60"/>
          <p:cNvSpPr/>
          <p:nvPr/>
        </p:nvSpPr>
        <p:spPr>
          <a:xfrm>
            <a:off x="6667500" y="4152900"/>
            <a:ext cx="2971800" cy="2781300"/>
          </a:xfrm>
          <a:prstGeom prst="rect">
            <a:avLst/>
          </a:prstGeom>
          <a:solidFill>
            <a:srgbClr val="1B1A1A"/>
          </a:solidFill>
          <a:ln>
            <a:noFill/>
          </a:ln>
          <a:effectLst/>
        </p:spPr>
        <p:txBody>
          <a:bodyPr rtlCol="0" anchor="ctr"/>
          <a:lstStyle/>
          <a:p>
            <a:pPr algn="ctr"/>
            <a:endParaRPr/>
          </a:p>
        </p:txBody>
      </p:sp>
      <p:pic>
        <p:nvPicPr>
          <p:cNvPr id="62" name="Picture 61" descr="knot-dark.jpg"/>
          <p:cNvPicPr>
            <a:picLocks noChangeAspect="1"/>
          </p:cNvPicPr>
          <p:nvPr/>
        </p:nvPicPr>
        <p:blipFill>
          <a:blip r:embed="rId27">
            <a:alphaModFix amt="50000"/>
          </a:blip>
          <a:srcRect l="33333" t="20370" r="32000" b="21951"/>
          <a:stretch>
            <a:fillRect/>
          </a:stretch>
        </p:blipFill>
        <p:spPr>
          <a:xfrm>
            <a:off x="6667500" y="4152900"/>
            <a:ext cx="2971800" cy="2781300"/>
          </a:xfrm>
          <a:prstGeom prst="rect">
            <a:avLst/>
          </a:prstGeom>
        </p:spPr>
      </p:pic>
      <p:sp>
        <p:nvSpPr>
          <p:cNvPr id="63" name="Text: WHAT IT MEANS FOR OWNERS"/>
          <p:cNvSpPr txBox="1"/>
          <p:nvPr/>
        </p:nvSpPr>
        <p:spPr>
          <a:xfrm>
            <a:off x="6858000" y="4324350"/>
            <a:ext cx="2605088" cy="123825"/>
          </a:xfrm>
          <a:prstGeom prst="rect">
            <a:avLst/>
          </a:prstGeom>
          <a:noFill/>
        </p:spPr>
        <p:txBody>
          <a:bodyPr wrap="square" lIns="0" tIns="0" rIns="0" bIns="0" anchor="t">
            <a:spAutoFit/>
          </a:bodyPr>
          <a:lstStyle/>
          <a:p>
            <a:pPr algn="l">
              <a:lnSpc>
                <a:spcPts val="975"/>
              </a:lnSpc>
            </a:pPr>
            <a:r>
              <a:rPr sz="675" b="1" i="0" spc="150">
                <a:solidFill>
                  <a:srgbClr val="D3AE84"/>
                </a:solidFill>
                <a:latin typeface="Calibri"/>
              </a:rPr>
              <a:t>WHAT IT MEANS FOR OWNERS</a:t>
            </a:r>
          </a:p>
        </p:txBody>
      </p:sp>
      <p:sp>
        <p:nvSpPr>
          <p:cNvPr id="64" name="Text: Buyers are paying most readily for"/>
          <p:cNvSpPr txBox="1"/>
          <p:nvPr/>
        </p:nvSpPr>
        <p:spPr>
          <a:xfrm>
            <a:off x="6858000" y="4543425"/>
            <a:ext cx="2605088" cy="838200"/>
          </a:xfrm>
          <a:prstGeom prst="rect">
            <a:avLst/>
          </a:prstGeom>
          <a:noFill/>
        </p:spPr>
        <p:txBody>
          <a:bodyPr wrap="square" lIns="0" tIns="0" rIns="0" bIns="0" anchor="t">
            <a:spAutoFit/>
          </a:bodyPr>
          <a:lstStyle/>
          <a:p>
            <a:pPr algn="l">
              <a:lnSpc>
                <a:spcPts val="1650"/>
              </a:lnSpc>
            </a:pPr>
            <a:r>
              <a:rPr sz="1200" b="0" i="0">
                <a:solidFill>
                  <a:srgbClr val="FFFFFF"/>
                </a:solidFill>
                <a:latin typeface="Cambria"/>
              </a:rPr>
              <a:t>Buyers are paying most readily for revenue that recurs under contract or clinical necessity and that is paid by a balanced mix of payers.</a:t>
            </a:r>
          </a:p>
        </p:txBody>
      </p:sp>
      <p:sp>
        <p:nvSpPr>
          <p:cNvPr id="65" name="Text: The median private equity entry mu"/>
          <p:cNvSpPr txBox="1"/>
          <p:nvPr/>
        </p:nvSpPr>
        <p:spPr>
          <a:xfrm>
            <a:off x="6858000" y="5495925"/>
            <a:ext cx="2605088" cy="942975"/>
          </a:xfrm>
          <a:prstGeom prst="rect">
            <a:avLst/>
          </a:prstGeom>
          <a:noFill/>
        </p:spPr>
        <p:txBody>
          <a:bodyPr wrap="square" lIns="0" tIns="0" rIns="0" bIns="0" anchor="t">
            <a:spAutoFit/>
          </a:bodyPr>
          <a:lstStyle/>
          <a:p>
            <a:pPr algn="l">
              <a:lnSpc>
                <a:spcPts val="1238"/>
              </a:lnSpc>
            </a:pPr>
            <a:r>
              <a:rPr sz="825" b="0" i="0" spc="15">
                <a:solidFill>
                  <a:srgbClr val="E8E2DA"/>
                </a:solidFill>
                <a:latin typeface="Calibri"/>
              </a:rPr>
              <a:t>The median private equity entry multiple for healthcare services was 13.6x EBITDA in 2025, a figure weighted toward larger platforms (</a:t>
            </a:r>
            <a:r>
              <a:rPr sz="825" b="0" i="0" spc="15">
                <a:solidFill>
                  <a:srgbClr val="D3AE84"/>
                </a:solidFill>
                <a:latin typeface="Calibri"/>
                <a:hlinkClick r:id="rId28">
                  <a:extLst>
                    <a:ext uri="{A12FA001-AC4F-418D-AE19-62706E023703}">
                      <ahyp:hlinkClr xmlns:ahyp="http://schemas.microsoft.com/office/drawing/2018/hyperlinkcolor" val="tx"/>
                    </a:ext>
                  </a:extLst>
                </a:hlinkClick>
              </a:rPr>
              <a:t>PitchBook via Becker's ASC Review</a:t>
            </a:r>
            <a:r>
              <a:rPr sz="825" b="0" i="0" spc="15">
                <a:solidFill>
                  <a:srgbClr val="E8E2DA"/>
                </a:solidFill>
                <a:latin typeface="Calibri"/>
              </a:rPr>
              <a:t>), and 87% of sales above $5 million in all industries drew three or more offers (</a:t>
            </a:r>
            <a:r>
              <a:rPr sz="825" b="0" i="0" spc="15">
                <a:solidFill>
                  <a:srgbClr val="D3AE84"/>
                </a:solidFill>
                <a:latin typeface="Calibri"/>
                <a:hlinkClick r:id="rId29">
                  <a:extLst>
                    <a:ext uri="{A12FA001-AC4F-418D-AE19-62706E023703}">
                      <ahyp:hlinkClr xmlns:ahyp="http://schemas.microsoft.com/office/drawing/2018/hyperlinkcolor" val="tx"/>
                    </a:ext>
                  </a:extLst>
                </a:hlinkClick>
              </a:rPr>
              <a:t>IBBA and M&amp;A Source</a:t>
            </a:r>
            <a:r>
              <a:rPr sz="825" b="0" i="0" spc="15">
                <a:solidFill>
                  <a:srgbClr val="E8E2DA"/>
                </a:solidFill>
                <a:latin typeface="Calibri"/>
              </a:rPr>
              <a:t>).</a:t>
            </a:r>
          </a:p>
        </p:txBody>
      </p:sp>
      <p:sp>
        <p:nvSpPr>
          <p:cNvPr id="66" name="Rectangle 65"/>
          <p:cNvSpPr/>
          <p:nvPr/>
        </p:nvSpPr>
        <p:spPr>
          <a:xfrm>
            <a:off x="419100" y="7029450"/>
            <a:ext cx="9220200" cy="9525"/>
          </a:xfrm>
          <a:prstGeom prst="rect">
            <a:avLst/>
          </a:prstGeom>
          <a:solidFill>
            <a:srgbClr val="E3DCD3"/>
          </a:solidFill>
          <a:ln>
            <a:noFill/>
          </a:ln>
          <a:effectLst/>
        </p:spPr>
        <p:txBody>
          <a:bodyPr rtlCol="0" anchor="ctr"/>
          <a:lstStyle/>
          <a:p>
            <a:pPr algn="ctr"/>
            <a:endParaRPr/>
          </a:p>
        </p:txBody>
      </p:sp>
      <p:pic>
        <p:nvPicPr>
          <p:cNvPr id="67" name="Picture 66" descr="Benchmark International"/>
          <p:cNvPicPr>
            <a:picLocks noChangeAspect="1"/>
          </p:cNvPicPr>
          <p:nvPr/>
        </p:nvPicPr>
        <p:blipFill>
          <a:blip r:embed="rId30"/>
          <a:srcRect/>
          <a:stretch>
            <a:fillRect/>
          </a:stretch>
        </p:blipFill>
        <p:spPr>
          <a:xfrm>
            <a:off x="419100" y="7143750"/>
            <a:ext cx="914400" cy="171450"/>
          </a:xfrm>
          <a:prstGeom prst="rect">
            <a:avLst/>
          </a:prstGeom>
        </p:spPr>
      </p:pic>
      <p:sp>
        <p:nvSpPr>
          <p:cNvPr id="68" name="Text: Figures are the latest published a"/>
          <p:cNvSpPr txBox="1"/>
          <p:nvPr/>
        </p:nvSpPr>
        <p:spPr>
          <a:xfrm>
            <a:off x="1543050" y="7105650"/>
            <a:ext cx="7748588" cy="238125"/>
          </a:xfrm>
          <a:prstGeom prst="rect">
            <a:avLst/>
          </a:prstGeom>
          <a:noFill/>
        </p:spPr>
        <p:txBody>
          <a:bodyPr wrap="square" lIns="0" tIns="0" rIns="0" bIns="0" anchor="t">
            <a:spAutoFit/>
          </a:bodyPr>
          <a:lstStyle/>
          <a:p>
            <a:pPr algn="l">
              <a:lnSpc>
                <a:spcPts val="938"/>
              </a:lnSpc>
            </a:pPr>
            <a:r>
              <a:rPr sz="675" b="0" i="0" spc="8">
                <a:solidFill>
                  <a:srgbClr val="6F6A66"/>
                </a:solidFill>
                <a:latin typeface="Calibri"/>
              </a:rPr>
              <a:t>Figures are the latest published as of October 7, 2026, and each is linked to its source. Deal counts and values are as reported by the named publisher and are revised as transactions are confirmed.</a:t>
            </a:r>
          </a:p>
        </p:txBody>
      </p:sp>
      <p:sp>
        <p:nvSpPr>
          <p:cNvPr id="69" name="Text: 03"/>
          <p:cNvSpPr txBox="1"/>
          <p:nvPr/>
        </p:nvSpPr>
        <p:spPr>
          <a:xfrm>
            <a:off x="9509373" y="7162800"/>
            <a:ext cx="144214" cy="133350"/>
          </a:xfrm>
          <a:prstGeom prst="rect">
            <a:avLst/>
          </a:prstGeom>
          <a:noFill/>
        </p:spPr>
        <p:txBody>
          <a:bodyPr wrap="square" lIns="0" tIns="0" rIns="0" bIns="0" anchor="t">
            <a:spAutoFit/>
          </a:bodyPr>
          <a:lstStyle/>
          <a:p>
            <a:pPr algn="l">
              <a:lnSpc>
                <a:spcPts val="1050"/>
              </a:lnSpc>
            </a:pPr>
            <a:r>
              <a:rPr sz="712" b="1" i="0" spc="150">
                <a:solidFill>
                  <a:srgbClr val="1B1A1A"/>
                </a:solidFill>
                <a:latin typeface="Calibri"/>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57150" cy="7772400"/>
          </a:xfrm>
          <a:prstGeom prst="rect">
            <a:avLst/>
          </a:prstGeom>
          <a:solidFill>
            <a:srgbClr val="B68757"/>
          </a:solidFill>
          <a:ln>
            <a:noFill/>
          </a:ln>
          <a:effectLst/>
        </p:spPr>
        <p:txBody>
          <a:bodyPr rtlCol="0" anchor="ctr"/>
          <a:lstStyle/>
          <a:p>
            <a:pPr algn="ctr"/>
            <a:endParaRPr/>
          </a:p>
        </p:txBody>
      </p:sp>
      <p:sp>
        <p:nvSpPr>
          <p:cNvPr id="3" name="Text: HEALTHCARE | QUARTERLY SECTOR BRIE"/>
          <p:cNvSpPr txBox="1"/>
          <p:nvPr/>
        </p:nvSpPr>
        <p:spPr>
          <a:xfrm>
            <a:off x="419100" y="381000"/>
            <a:ext cx="2439591" cy="133350"/>
          </a:xfrm>
          <a:prstGeom prst="rect">
            <a:avLst/>
          </a:prstGeom>
          <a:noFill/>
        </p:spPr>
        <p:txBody>
          <a:bodyPr wrap="none" lIns="0" tIns="0" rIns="0" bIns="0" anchor="t">
            <a:spAutoFit/>
          </a:bodyPr>
          <a:lstStyle/>
          <a:p>
            <a:pPr algn="l">
              <a:lnSpc>
                <a:spcPts val="1050"/>
              </a:lnSpc>
            </a:pPr>
            <a:r>
              <a:rPr sz="675" b="1" i="0" spc="195">
                <a:solidFill>
                  <a:srgbClr val="8C6239"/>
                </a:solidFill>
                <a:latin typeface="Calibri"/>
              </a:rPr>
              <a:t>HEALTHCARE | QUARTERLY INDUSTRY REPORT</a:t>
            </a:r>
          </a:p>
        </p:txBody>
      </p:sp>
      <p:sp>
        <p:nvSpPr>
          <p:cNvPr id="4" name="Text: Q4 2026"/>
          <p:cNvSpPr txBox="1"/>
          <p:nvPr/>
        </p:nvSpPr>
        <p:spPr>
          <a:xfrm>
            <a:off x="9188648" y="361950"/>
            <a:ext cx="464939" cy="171450"/>
          </a:xfrm>
          <a:prstGeom prst="rect">
            <a:avLst/>
          </a:prstGeom>
          <a:noFill/>
        </p:spPr>
        <p:txBody>
          <a:bodyPr wrap="square" lIns="0" tIns="0" rIns="0" bIns="0" anchor="t">
            <a:spAutoFit/>
          </a:bodyPr>
          <a:lstStyle/>
          <a:p>
            <a:pPr algn="l">
              <a:lnSpc>
                <a:spcPts val="1350"/>
              </a:lnSpc>
            </a:pPr>
            <a:r>
              <a:rPr sz="900" b="0" i="0" spc="90">
                <a:solidFill>
                  <a:srgbClr val="6F6A66"/>
                </a:solidFill>
                <a:latin typeface="Cambria"/>
              </a:rPr>
              <a:t>Q4 2026</a:t>
            </a:r>
          </a:p>
        </p:txBody>
      </p:sp>
      <p:sp>
        <p:nvSpPr>
          <p:cNvPr id="5" name="Text: Historical Market Context"/>
          <p:cNvSpPr txBox="1"/>
          <p:nvPr/>
        </p:nvSpPr>
        <p:spPr>
          <a:xfrm>
            <a:off x="419100" y="523875"/>
            <a:ext cx="9234488" cy="323850"/>
          </a:xfrm>
          <a:prstGeom prst="rect">
            <a:avLst/>
          </a:prstGeom>
          <a:noFill/>
        </p:spPr>
        <p:txBody>
          <a:bodyPr wrap="square" lIns="0" tIns="0" rIns="0" bIns="0" anchor="t">
            <a:spAutoFit/>
          </a:bodyPr>
          <a:lstStyle/>
          <a:p>
            <a:pPr algn="l">
              <a:lnSpc>
                <a:spcPts val="2550"/>
              </a:lnSpc>
            </a:pPr>
            <a:r>
              <a:rPr sz="2025" b="1" i="0">
                <a:solidFill>
                  <a:srgbClr val="1B1A1A"/>
                </a:solidFill>
                <a:latin typeface="Cambria"/>
              </a:rPr>
              <a:t>Historical Market Context</a:t>
            </a:r>
          </a:p>
        </p:txBody>
      </p:sp>
      <p:sp>
        <p:nvSpPr>
          <p:cNvPr id="6" name="Text: Health spending has compounded thr"/>
          <p:cNvSpPr txBox="1"/>
          <p:nvPr/>
        </p:nvSpPr>
        <p:spPr>
          <a:xfrm>
            <a:off x="419100" y="885825"/>
            <a:ext cx="10215086" cy="180975"/>
          </a:xfrm>
          <a:prstGeom prst="rect">
            <a:avLst/>
          </a:prstGeom>
          <a:noFill/>
        </p:spPr>
        <p:txBody>
          <a:bodyPr wrap="square" lIns="0" tIns="0" rIns="0" bIns="0" anchor="t">
            <a:spAutoFit/>
          </a:bodyPr>
          <a:lstStyle/>
          <a:p>
            <a:pPr algn="l">
              <a:lnSpc>
                <a:spcPts val="1388"/>
              </a:lnSpc>
            </a:pPr>
            <a:r>
              <a:rPr sz="938" b="0" i="0" spc="15">
                <a:solidFill>
                  <a:srgbClr val="6F6A66"/>
                </a:solidFill>
                <a:latin typeface="Calibri"/>
              </a:rPr>
              <a:t>Health spending has compounded through every cycle since 2016, and hospital transaction counts have recovered from the 2025 low.</a:t>
            </a:r>
          </a:p>
        </p:txBody>
      </p:sp>
      <p:sp>
        <p:nvSpPr>
          <p:cNvPr id="7" name="Rectangle 6"/>
          <p:cNvSpPr/>
          <p:nvPr/>
        </p:nvSpPr>
        <p:spPr>
          <a:xfrm>
            <a:off x="419100" y="1143000"/>
            <a:ext cx="9220200" cy="9525"/>
          </a:xfrm>
          <a:prstGeom prst="rect">
            <a:avLst/>
          </a:prstGeom>
          <a:solidFill>
            <a:srgbClr val="E3DCD3"/>
          </a:solidFill>
          <a:ln>
            <a:noFill/>
          </a:ln>
          <a:effectLst/>
        </p:spPr>
        <p:txBody>
          <a:bodyPr rtlCol="0" anchor="ctr"/>
          <a:lstStyle/>
          <a:p>
            <a:pPr algn="ctr"/>
            <a:endParaRPr/>
          </a:p>
        </p:txBody>
      </p:sp>
      <p:sp>
        <p:nvSpPr>
          <p:cNvPr id="8" name="Text: Spending on care has grown every y"/>
          <p:cNvSpPr txBox="1"/>
          <p:nvPr/>
        </p:nvSpPr>
        <p:spPr>
          <a:xfrm>
            <a:off x="419100" y="1238250"/>
            <a:ext cx="3500438" cy="671512"/>
          </a:xfrm>
          <a:prstGeom prst="rect">
            <a:avLst/>
          </a:prstGeom>
          <a:noFill/>
        </p:spPr>
        <p:txBody>
          <a:bodyPr wrap="square" lIns="0" tIns="0" rIns="0" bIns="0" anchor="t">
            <a:spAutoFit/>
          </a:bodyPr>
          <a:lstStyle/>
          <a:p>
            <a:pPr algn="l">
              <a:lnSpc>
                <a:spcPts val="1762"/>
              </a:lnSpc>
            </a:pPr>
            <a:r>
              <a:rPr sz="1275" b="0" i="1">
                <a:solidFill>
                  <a:srgbClr val="1B1A1A"/>
                </a:solidFill>
                <a:latin typeface="Cambria"/>
              </a:rPr>
              <a:t>Spending on care has grown every year for a decade, while the number of transactions has moved with financing costs and policy.</a:t>
            </a:r>
          </a:p>
        </p:txBody>
      </p:sp>
      <p:sp>
        <p:nvSpPr>
          <p:cNvPr id="9" name="Rectangle 8"/>
          <p:cNvSpPr/>
          <p:nvPr/>
        </p:nvSpPr>
        <p:spPr>
          <a:xfrm>
            <a:off x="419100" y="2043112"/>
            <a:ext cx="3486150" cy="9525"/>
          </a:xfrm>
          <a:prstGeom prst="rect">
            <a:avLst/>
          </a:prstGeom>
          <a:solidFill>
            <a:srgbClr val="E3DCD3"/>
          </a:solidFill>
          <a:ln>
            <a:noFill/>
          </a:ln>
          <a:effectLst/>
        </p:spPr>
        <p:txBody>
          <a:bodyPr rtlCol="0" anchor="ctr"/>
          <a:lstStyle/>
          <a:p>
            <a:pPr algn="ctr"/>
            <a:endParaRPr/>
          </a:p>
        </p:txBody>
      </p:sp>
      <p:sp>
        <p:nvSpPr>
          <p:cNvPr id="10" name="Text: $5.3T"/>
          <p:cNvSpPr txBox="1"/>
          <p:nvPr/>
        </p:nvSpPr>
        <p:spPr>
          <a:xfrm>
            <a:off x="419100" y="2176462"/>
            <a:ext cx="1036796" cy="285750"/>
          </a:xfrm>
          <a:prstGeom prst="rect">
            <a:avLst/>
          </a:prstGeom>
          <a:noFill/>
        </p:spPr>
        <p:txBody>
          <a:bodyPr wrap="square" lIns="0" tIns="0" rIns="0" bIns="0" anchor="t">
            <a:spAutoFit/>
          </a:bodyPr>
          <a:lstStyle/>
          <a:p>
            <a:pPr algn="l">
              <a:lnSpc>
                <a:spcPts val="2250"/>
              </a:lnSpc>
            </a:pPr>
            <a:r>
              <a:rPr sz="2025" b="1" i="0" spc="15">
                <a:solidFill>
                  <a:srgbClr val="8C6239"/>
                </a:solidFill>
                <a:latin typeface="Cambria"/>
              </a:rPr>
              <a:t>$5.3T</a:t>
            </a:r>
          </a:p>
        </p:txBody>
      </p:sp>
      <p:sp>
        <p:nvSpPr>
          <p:cNvPr id="11" name="Text: National health expenditures reach"/>
          <p:cNvSpPr txBox="1"/>
          <p:nvPr/>
        </p:nvSpPr>
        <p:spPr>
          <a:xfrm>
            <a:off x="1447800" y="2290762"/>
            <a:ext cx="2471738" cy="485775"/>
          </a:xfrm>
          <a:prstGeom prst="rect">
            <a:avLst/>
          </a:prstGeom>
          <a:noFill/>
        </p:spPr>
        <p:txBody>
          <a:bodyPr wrap="square" lIns="0" tIns="0" rIns="0" bIns="0" anchor="t">
            <a:spAutoFit/>
          </a:bodyPr>
          <a:lstStyle/>
          <a:p>
            <a:pPr algn="l">
              <a:lnSpc>
                <a:spcPts val="1275"/>
              </a:lnSpc>
            </a:pPr>
            <a:r>
              <a:rPr sz="861" b="0" i="0" spc="15">
                <a:solidFill>
                  <a:srgbClr val="333231"/>
                </a:solidFill>
                <a:latin typeface="Calibri"/>
              </a:rPr>
              <a:t>National health expenditures reached $5.3 trillion in 2024, or 18.0% of GDP, against $3.3 trillion in 2016 (</a:t>
            </a:r>
            <a:r>
              <a:rPr sz="861" b="0" i="0" spc="15">
                <a:solidFill>
                  <a:srgbClr val="8C6239"/>
                </a:solidFill>
                <a:latin typeface="Calibri"/>
                <a:hlinkClick r:id="rId2">
                  <a:extLst>
                    <a:ext uri="{A12FA001-AC4F-418D-AE19-62706E023703}">
                      <ahyp:hlinkClr xmlns:ahyp="http://schemas.microsoft.com/office/drawing/2018/hyperlinkcolor" val="tx"/>
                    </a:ext>
                  </a:extLst>
                </a:hlinkClick>
              </a:rPr>
              <a:t>CMS</a:t>
            </a:r>
            <a:r>
              <a:rPr sz="861" b="0" i="0" spc="15">
                <a:solidFill>
                  <a:srgbClr val="333231"/>
                </a:solidFill>
                <a:latin typeface="Calibri"/>
              </a:rPr>
              <a:t>).</a:t>
            </a:r>
          </a:p>
        </p:txBody>
      </p:sp>
      <p:sp>
        <p:nvSpPr>
          <p:cNvPr id="12" name="Rectangle 11"/>
          <p:cNvSpPr/>
          <p:nvPr/>
        </p:nvSpPr>
        <p:spPr>
          <a:xfrm>
            <a:off x="419100" y="2900362"/>
            <a:ext cx="3486150" cy="9525"/>
          </a:xfrm>
          <a:prstGeom prst="rect">
            <a:avLst/>
          </a:prstGeom>
          <a:solidFill>
            <a:srgbClr val="E3DCD3"/>
          </a:solidFill>
          <a:ln>
            <a:noFill/>
          </a:ln>
          <a:effectLst/>
        </p:spPr>
        <p:txBody>
          <a:bodyPr rtlCol="0" anchor="ctr"/>
          <a:lstStyle/>
          <a:p>
            <a:pPr algn="ctr"/>
            <a:endParaRPr/>
          </a:p>
        </p:txBody>
      </p:sp>
      <p:sp>
        <p:nvSpPr>
          <p:cNvPr id="13" name="Text: 5.4%"/>
          <p:cNvSpPr txBox="1"/>
          <p:nvPr/>
        </p:nvSpPr>
        <p:spPr>
          <a:xfrm>
            <a:off x="419100" y="3033712"/>
            <a:ext cx="1036796" cy="285750"/>
          </a:xfrm>
          <a:prstGeom prst="rect">
            <a:avLst/>
          </a:prstGeom>
          <a:noFill/>
        </p:spPr>
        <p:txBody>
          <a:bodyPr wrap="square" lIns="0" tIns="0" rIns="0" bIns="0" anchor="t">
            <a:spAutoFit/>
          </a:bodyPr>
          <a:lstStyle/>
          <a:p>
            <a:pPr algn="l">
              <a:lnSpc>
                <a:spcPts val="2250"/>
              </a:lnSpc>
            </a:pPr>
            <a:r>
              <a:rPr sz="2025" b="1" i="0" spc="15">
                <a:solidFill>
                  <a:srgbClr val="8C6239"/>
                </a:solidFill>
                <a:latin typeface="Cambria"/>
              </a:rPr>
              <a:t>5.4%</a:t>
            </a:r>
          </a:p>
        </p:txBody>
      </p:sp>
      <p:sp>
        <p:nvSpPr>
          <p:cNvPr id="14" name="Text: CMS projects average annual spendi"/>
          <p:cNvSpPr txBox="1"/>
          <p:nvPr/>
        </p:nvSpPr>
        <p:spPr>
          <a:xfrm>
            <a:off x="1447800" y="3148012"/>
            <a:ext cx="2471738" cy="647700"/>
          </a:xfrm>
          <a:prstGeom prst="rect">
            <a:avLst/>
          </a:prstGeom>
          <a:noFill/>
        </p:spPr>
        <p:txBody>
          <a:bodyPr wrap="square" lIns="0" tIns="0" rIns="0" bIns="0" anchor="t">
            <a:spAutoFit/>
          </a:bodyPr>
          <a:lstStyle/>
          <a:p>
            <a:pPr algn="l">
              <a:lnSpc>
                <a:spcPts val="1275"/>
              </a:lnSpc>
            </a:pPr>
            <a:r>
              <a:rPr sz="861" b="0" i="0" spc="15">
                <a:solidFill>
                  <a:srgbClr val="333231"/>
                </a:solidFill>
                <a:latin typeface="Calibri"/>
              </a:rPr>
              <a:t>CMS projects average annual spending growth of 5.4% from 2025 to 2034, against 4.1% for the economy, which would take spending to $9.0 trillion (</a:t>
            </a:r>
            <a:r>
              <a:rPr sz="861" b="0" i="0" spc="15">
                <a:solidFill>
                  <a:srgbClr val="8C6239"/>
                </a:solidFill>
                <a:latin typeface="Calibri"/>
                <a:hlinkClick r:id="rId3">
                  <a:extLst>
                    <a:ext uri="{A12FA001-AC4F-418D-AE19-62706E023703}">
                      <ahyp:hlinkClr xmlns:ahyp="http://schemas.microsoft.com/office/drawing/2018/hyperlinkcolor" val="tx"/>
                    </a:ext>
                  </a:extLst>
                </a:hlinkClick>
              </a:rPr>
              <a:t>Committee for a Responsible Federal Budget</a:t>
            </a:r>
            <a:r>
              <a:rPr sz="861" b="0" i="0" spc="15">
                <a:solidFill>
                  <a:srgbClr val="333231"/>
                </a:solidFill>
                <a:latin typeface="Calibri"/>
              </a:rPr>
              <a:t>).</a:t>
            </a:r>
          </a:p>
        </p:txBody>
      </p:sp>
      <p:sp>
        <p:nvSpPr>
          <p:cNvPr id="15" name="Rectangle 14"/>
          <p:cNvSpPr/>
          <p:nvPr/>
        </p:nvSpPr>
        <p:spPr>
          <a:xfrm>
            <a:off x="419100" y="3919538"/>
            <a:ext cx="3486150" cy="9525"/>
          </a:xfrm>
          <a:prstGeom prst="rect">
            <a:avLst/>
          </a:prstGeom>
          <a:solidFill>
            <a:srgbClr val="E3DCD3"/>
          </a:solidFill>
          <a:ln>
            <a:noFill/>
          </a:ln>
          <a:effectLst/>
        </p:spPr>
        <p:txBody>
          <a:bodyPr rtlCol="0" anchor="ctr"/>
          <a:lstStyle/>
          <a:p>
            <a:pPr algn="ctr"/>
            <a:endParaRPr/>
          </a:p>
        </p:txBody>
      </p:sp>
      <p:sp>
        <p:nvSpPr>
          <p:cNvPr id="16" name="Text: 46"/>
          <p:cNvSpPr txBox="1"/>
          <p:nvPr/>
        </p:nvSpPr>
        <p:spPr>
          <a:xfrm>
            <a:off x="419100" y="4052888"/>
            <a:ext cx="1036796" cy="285750"/>
          </a:xfrm>
          <a:prstGeom prst="rect">
            <a:avLst/>
          </a:prstGeom>
          <a:noFill/>
        </p:spPr>
        <p:txBody>
          <a:bodyPr wrap="square" lIns="0" tIns="0" rIns="0" bIns="0" anchor="t">
            <a:spAutoFit/>
          </a:bodyPr>
          <a:lstStyle/>
          <a:p>
            <a:pPr algn="l">
              <a:lnSpc>
                <a:spcPts val="2250"/>
              </a:lnSpc>
            </a:pPr>
            <a:r>
              <a:rPr sz="2025" b="1" i="0" spc="15">
                <a:solidFill>
                  <a:srgbClr val="8C6239"/>
                </a:solidFill>
                <a:latin typeface="Cambria"/>
              </a:rPr>
              <a:t>46</a:t>
            </a:r>
          </a:p>
        </p:txBody>
      </p:sp>
      <p:sp>
        <p:nvSpPr>
          <p:cNvPr id="17" name="Text: Hospitals and health systems annou"/>
          <p:cNvSpPr txBox="1"/>
          <p:nvPr/>
        </p:nvSpPr>
        <p:spPr>
          <a:xfrm>
            <a:off x="1447800" y="4167188"/>
            <a:ext cx="2471738" cy="485775"/>
          </a:xfrm>
          <a:prstGeom prst="rect">
            <a:avLst/>
          </a:prstGeom>
          <a:noFill/>
        </p:spPr>
        <p:txBody>
          <a:bodyPr wrap="square" lIns="0" tIns="0" rIns="0" bIns="0" anchor="t">
            <a:spAutoFit/>
          </a:bodyPr>
          <a:lstStyle/>
          <a:p>
            <a:pPr algn="l">
              <a:lnSpc>
                <a:spcPts val="1275"/>
              </a:lnSpc>
            </a:pPr>
            <a:r>
              <a:rPr sz="861" b="0" i="0" spc="15">
                <a:solidFill>
                  <a:srgbClr val="333231"/>
                </a:solidFill>
                <a:latin typeface="Calibri"/>
              </a:rPr>
              <a:t>Hospitals and health systems announced 46 transactions in 2025, the fewest in the series, against 117 in 2017 (</a:t>
            </a:r>
            <a:r>
              <a:rPr sz="861" b="0" i="0" spc="15">
                <a:solidFill>
                  <a:srgbClr val="8C6239"/>
                </a:solidFill>
                <a:latin typeface="Calibri"/>
                <a:hlinkClick r:id="rId4">
                  <a:extLst>
                    <a:ext uri="{A12FA001-AC4F-418D-AE19-62706E023703}">
                      <ahyp:hlinkClr xmlns:ahyp="http://schemas.microsoft.com/office/drawing/2018/hyperlinkcolor" val="tx"/>
                    </a:ext>
                  </a:extLst>
                </a:hlinkClick>
              </a:rPr>
              <a:t>Kaufman Hall</a:t>
            </a:r>
            <a:r>
              <a:rPr sz="861" b="0" i="0" spc="15">
                <a:solidFill>
                  <a:srgbClr val="333231"/>
                </a:solidFill>
                <a:latin typeface="Calibri"/>
              </a:rPr>
              <a:t>).</a:t>
            </a:r>
          </a:p>
        </p:txBody>
      </p:sp>
      <p:sp>
        <p:nvSpPr>
          <p:cNvPr id="18" name="Rectangle 17"/>
          <p:cNvSpPr/>
          <p:nvPr/>
        </p:nvSpPr>
        <p:spPr>
          <a:xfrm>
            <a:off x="419100" y="4776788"/>
            <a:ext cx="3486150" cy="9525"/>
          </a:xfrm>
          <a:prstGeom prst="rect">
            <a:avLst/>
          </a:prstGeom>
          <a:solidFill>
            <a:srgbClr val="E3DCD3"/>
          </a:solidFill>
          <a:ln>
            <a:noFill/>
          </a:ln>
          <a:effectLst/>
        </p:spPr>
        <p:txBody>
          <a:bodyPr rtlCol="0" anchor="ctr"/>
          <a:lstStyle/>
          <a:p>
            <a:pPr algn="ctr"/>
            <a:endParaRPr/>
          </a:p>
        </p:txBody>
      </p:sp>
      <p:sp>
        <p:nvSpPr>
          <p:cNvPr id="19" name="Text: 40"/>
          <p:cNvSpPr txBox="1"/>
          <p:nvPr/>
        </p:nvSpPr>
        <p:spPr>
          <a:xfrm>
            <a:off x="419100" y="4910138"/>
            <a:ext cx="1036796" cy="285750"/>
          </a:xfrm>
          <a:prstGeom prst="rect">
            <a:avLst/>
          </a:prstGeom>
          <a:noFill/>
        </p:spPr>
        <p:txBody>
          <a:bodyPr wrap="square" lIns="0" tIns="0" rIns="0" bIns="0" anchor="t">
            <a:spAutoFit/>
          </a:bodyPr>
          <a:lstStyle/>
          <a:p>
            <a:pPr algn="l">
              <a:lnSpc>
                <a:spcPts val="2250"/>
              </a:lnSpc>
            </a:pPr>
            <a:r>
              <a:rPr sz="2025" b="1" i="0" spc="15">
                <a:solidFill>
                  <a:srgbClr val="8C6239"/>
                </a:solidFill>
                <a:latin typeface="Cambria"/>
              </a:rPr>
              <a:t>40</a:t>
            </a:r>
          </a:p>
        </p:txBody>
      </p:sp>
      <p:sp>
        <p:nvSpPr>
          <p:cNvPr id="20" name="Text: The first half of 2026 has already"/>
          <p:cNvSpPr txBox="1"/>
          <p:nvPr/>
        </p:nvSpPr>
        <p:spPr>
          <a:xfrm>
            <a:off x="1447800" y="5024438"/>
            <a:ext cx="2471738" cy="647700"/>
          </a:xfrm>
          <a:prstGeom prst="rect">
            <a:avLst/>
          </a:prstGeom>
          <a:noFill/>
        </p:spPr>
        <p:txBody>
          <a:bodyPr wrap="square" lIns="0" tIns="0" rIns="0" bIns="0" anchor="t">
            <a:spAutoFit/>
          </a:bodyPr>
          <a:lstStyle/>
          <a:p>
            <a:pPr algn="l">
              <a:lnSpc>
                <a:spcPts val="1275"/>
              </a:lnSpc>
            </a:pPr>
            <a:r>
              <a:rPr sz="861" b="0" i="0" spc="15">
                <a:solidFill>
                  <a:srgbClr val="333231"/>
                </a:solidFill>
                <a:latin typeface="Calibri"/>
              </a:rPr>
              <a:t>The first half of 2026 has already produced 40 announced hospital transactions, 22 in the first quarter and 18 in the second (</a:t>
            </a:r>
            <a:r>
              <a:rPr sz="861" b="0" i="0" spc="15">
                <a:solidFill>
                  <a:srgbClr val="8C6239"/>
                </a:solidFill>
                <a:latin typeface="Calibri"/>
                <a:hlinkClick r:id="rId5">
                  <a:extLst>
                    <a:ext uri="{A12FA001-AC4F-418D-AE19-62706E023703}">
                      <ahyp:hlinkClr xmlns:ahyp="http://schemas.microsoft.com/office/drawing/2018/hyperlinkcolor" val="tx"/>
                    </a:ext>
                  </a:extLst>
                </a:hlinkClick>
              </a:rPr>
              <a:t>Kaufman Hall, first quarter</a:t>
            </a:r>
            <a:r>
              <a:rPr sz="861" b="0" i="0" spc="15">
                <a:solidFill>
                  <a:srgbClr val="333231"/>
                </a:solidFill>
                <a:latin typeface="Calibri"/>
              </a:rPr>
              <a:t>; </a:t>
            </a:r>
            <a:r>
              <a:rPr sz="861" b="0" i="0" spc="15">
                <a:solidFill>
                  <a:srgbClr val="8C6239"/>
                </a:solidFill>
                <a:latin typeface="Calibri"/>
                <a:hlinkClick r:id="rId6">
                  <a:extLst>
                    <a:ext uri="{A12FA001-AC4F-418D-AE19-62706E023703}">
                      <ahyp:hlinkClr xmlns:ahyp="http://schemas.microsoft.com/office/drawing/2018/hyperlinkcolor" val="tx"/>
                    </a:ext>
                  </a:extLst>
                </a:hlinkClick>
              </a:rPr>
              <a:t>second quarter</a:t>
            </a:r>
            <a:r>
              <a:rPr sz="861" b="0" i="0" spc="15">
                <a:solidFill>
                  <a:srgbClr val="333231"/>
                </a:solidFill>
                <a:latin typeface="Calibri"/>
              </a:rPr>
              <a:t>).</a:t>
            </a:r>
          </a:p>
        </p:txBody>
      </p:sp>
      <p:sp>
        <p:nvSpPr>
          <p:cNvPr id="21" name="Rectangle 20"/>
          <p:cNvSpPr/>
          <p:nvPr/>
        </p:nvSpPr>
        <p:spPr>
          <a:xfrm>
            <a:off x="419100" y="5795962"/>
            <a:ext cx="3486150" cy="9525"/>
          </a:xfrm>
          <a:prstGeom prst="rect">
            <a:avLst/>
          </a:prstGeom>
          <a:solidFill>
            <a:srgbClr val="E3DCD3"/>
          </a:solidFill>
          <a:ln>
            <a:noFill/>
          </a:ln>
          <a:effectLst/>
        </p:spPr>
        <p:txBody>
          <a:bodyPr rtlCol="0" anchor="ctr"/>
          <a:lstStyle/>
          <a:p>
            <a:pPr algn="ctr"/>
            <a:endParaRPr/>
          </a:p>
        </p:txBody>
      </p:sp>
      <p:sp>
        <p:nvSpPr>
          <p:cNvPr id="22" name="Text: 1,217"/>
          <p:cNvSpPr txBox="1"/>
          <p:nvPr/>
        </p:nvSpPr>
        <p:spPr>
          <a:xfrm>
            <a:off x="419100" y="5929312"/>
            <a:ext cx="1036796" cy="285750"/>
          </a:xfrm>
          <a:prstGeom prst="rect">
            <a:avLst/>
          </a:prstGeom>
          <a:noFill/>
        </p:spPr>
        <p:txBody>
          <a:bodyPr wrap="square" lIns="0" tIns="0" rIns="0" bIns="0" anchor="t">
            <a:spAutoFit/>
          </a:bodyPr>
          <a:lstStyle/>
          <a:p>
            <a:pPr algn="l">
              <a:lnSpc>
                <a:spcPts val="2250"/>
              </a:lnSpc>
            </a:pPr>
            <a:r>
              <a:rPr sz="2025" b="1" i="0" spc="15">
                <a:solidFill>
                  <a:srgbClr val="8C6239"/>
                </a:solidFill>
                <a:latin typeface="Cambria"/>
              </a:rPr>
              <a:t>1,217</a:t>
            </a:r>
          </a:p>
        </p:txBody>
      </p:sp>
      <p:sp>
        <p:nvSpPr>
          <p:cNvPr id="23" name="Text: Private equity completed 1,217 hea"/>
          <p:cNvSpPr txBox="1"/>
          <p:nvPr/>
        </p:nvSpPr>
        <p:spPr>
          <a:xfrm>
            <a:off x="1447800" y="6043612"/>
            <a:ext cx="2471738" cy="485775"/>
          </a:xfrm>
          <a:prstGeom prst="rect">
            <a:avLst/>
          </a:prstGeom>
          <a:noFill/>
        </p:spPr>
        <p:txBody>
          <a:bodyPr wrap="square" lIns="0" tIns="0" rIns="0" bIns="0" anchor="t">
            <a:spAutoFit/>
          </a:bodyPr>
          <a:lstStyle/>
          <a:p>
            <a:pPr algn="l">
              <a:lnSpc>
                <a:spcPts val="1275"/>
              </a:lnSpc>
            </a:pPr>
            <a:r>
              <a:rPr sz="861" b="0" i="0" spc="15">
                <a:solidFill>
                  <a:srgbClr val="333231"/>
                </a:solidFill>
                <a:latin typeface="Calibri"/>
              </a:rPr>
              <a:t>Private equity completed 1,217 healthcare services transactions in 2021 and an estimated 747 in 2025 (</a:t>
            </a:r>
            <a:r>
              <a:rPr sz="861" b="0" i="0" spc="15">
                <a:solidFill>
                  <a:srgbClr val="8C6239"/>
                </a:solidFill>
                <a:latin typeface="Calibri"/>
                <a:hlinkClick r:id="rId7">
                  <a:extLst>
                    <a:ext uri="{A12FA001-AC4F-418D-AE19-62706E023703}">
                      <ahyp:hlinkClr xmlns:ahyp="http://schemas.microsoft.com/office/drawing/2018/hyperlinkcolor" val="tx"/>
                    </a:ext>
                  </a:extLst>
                </a:hlinkClick>
              </a:rPr>
              <a:t>PitchBook</a:t>
            </a:r>
            <a:r>
              <a:rPr sz="861" b="0" i="0" spc="15">
                <a:solidFill>
                  <a:srgbClr val="333231"/>
                </a:solidFill>
                <a:latin typeface="Calibri"/>
              </a:rPr>
              <a:t>).</a:t>
            </a:r>
          </a:p>
        </p:txBody>
      </p:sp>
      <p:sp>
        <p:nvSpPr>
          <p:cNvPr id="24" name="Rectangle 23"/>
          <p:cNvSpPr/>
          <p:nvPr/>
        </p:nvSpPr>
        <p:spPr>
          <a:xfrm>
            <a:off x="419100" y="6653212"/>
            <a:ext cx="3486150" cy="9525"/>
          </a:xfrm>
          <a:prstGeom prst="rect">
            <a:avLst/>
          </a:prstGeom>
          <a:solidFill>
            <a:srgbClr val="E3DCD3"/>
          </a:solidFill>
          <a:ln>
            <a:noFill/>
          </a:ln>
          <a:effectLst/>
        </p:spPr>
        <p:txBody>
          <a:bodyPr rtlCol="0" anchor="ctr"/>
          <a:lstStyle/>
          <a:p>
            <a:pPr algn="ctr"/>
            <a:endParaRPr/>
          </a:p>
        </p:txBody>
      </p:sp>
      <p:sp>
        <p:nvSpPr>
          <p:cNvPr id="25" name="Rectangle 24"/>
          <p:cNvSpPr/>
          <p:nvPr/>
        </p:nvSpPr>
        <p:spPr>
          <a:xfrm>
            <a:off x="4114800" y="1238250"/>
            <a:ext cx="5524500" cy="9525"/>
          </a:xfrm>
          <a:prstGeom prst="rect">
            <a:avLst/>
          </a:prstGeom>
          <a:solidFill>
            <a:srgbClr val="E3DCD3"/>
          </a:solidFill>
          <a:ln>
            <a:noFill/>
          </a:ln>
          <a:effectLst/>
        </p:spPr>
        <p:txBody>
          <a:bodyPr rtlCol="0" anchor="ctr"/>
          <a:lstStyle/>
          <a:p>
            <a:pPr algn="ctr"/>
            <a:endParaRPr/>
          </a:p>
        </p:txBody>
      </p:sp>
      <p:sp>
        <p:nvSpPr>
          <p:cNvPr id="26" name="Rectangle 25"/>
          <p:cNvSpPr/>
          <p:nvPr/>
        </p:nvSpPr>
        <p:spPr>
          <a:xfrm>
            <a:off x="9629775" y="1238250"/>
            <a:ext cx="9525" cy="2781300"/>
          </a:xfrm>
          <a:prstGeom prst="rect">
            <a:avLst/>
          </a:prstGeom>
          <a:solidFill>
            <a:srgbClr val="E3DCD3"/>
          </a:solidFill>
          <a:ln>
            <a:noFill/>
          </a:ln>
          <a:effectLst/>
        </p:spPr>
        <p:txBody>
          <a:bodyPr rtlCol="0" anchor="ctr"/>
          <a:lstStyle/>
          <a:p>
            <a:pPr algn="ctr"/>
            <a:endParaRPr/>
          </a:p>
        </p:txBody>
      </p:sp>
      <p:sp>
        <p:nvSpPr>
          <p:cNvPr id="27" name="Rectangle 26"/>
          <p:cNvSpPr/>
          <p:nvPr/>
        </p:nvSpPr>
        <p:spPr>
          <a:xfrm>
            <a:off x="4114800" y="4010025"/>
            <a:ext cx="5524500" cy="9525"/>
          </a:xfrm>
          <a:prstGeom prst="rect">
            <a:avLst/>
          </a:prstGeom>
          <a:solidFill>
            <a:srgbClr val="E3DCD3"/>
          </a:solidFill>
          <a:ln>
            <a:noFill/>
          </a:ln>
          <a:effectLst/>
        </p:spPr>
        <p:txBody>
          <a:bodyPr rtlCol="0" anchor="ctr"/>
          <a:lstStyle/>
          <a:p>
            <a:pPr algn="ctr"/>
            <a:endParaRPr/>
          </a:p>
        </p:txBody>
      </p:sp>
      <p:sp>
        <p:nvSpPr>
          <p:cNvPr id="28" name="Rectangle 27"/>
          <p:cNvSpPr/>
          <p:nvPr/>
        </p:nvSpPr>
        <p:spPr>
          <a:xfrm>
            <a:off x="4114800" y="1238250"/>
            <a:ext cx="9525" cy="2781300"/>
          </a:xfrm>
          <a:prstGeom prst="rect">
            <a:avLst/>
          </a:prstGeom>
          <a:solidFill>
            <a:srgbClr val="E3DCD3"/>
          </a:solidFill>
          <a:ln>
            <a:noFill/>
          </a:ln>
          <a:effectLst/>
        </p:spPr>
        <p:txBody>
          <a:bodyPr rtlCol="0" anchor="ctr"/>
          <a:lstStyle/>
          <a:p>
            <a:pPr algn="ctr"/>
            <a:endParaRPr/>
          </a:p>
        </p:txBody>
      </p:sp>
      <p:sp>
        <p:nvSpPr>
          <p:cNvPr id="29" name="Text: National health expenditures"/>
          <p:cNvSpPr txBox="1"/>
          <p:nvPr/>
        </p:nvSpPr>
        <p:spPr>
          <a:xfrm>
            <a:off x="4276725" y="1362075"/>
            <a:ext cx="5214938" cy="161925"/>
          </a:xfrm>
          <a:prstGeom prst="rect">
            <a:avLst/>
          </a:prstGeom>
          <a:noFill/>
        </p:spPr>
        <p:txBody>
          <a:bodyPr wrap="square" lIns="0" tIns="0" rIns="0" bIns="0" anchor="t">
            <a:spAutoFit/>
          </a:bodyPr>
          <a:lstStyle/>
          <a:p>
            <a:pPr algn="l">
              <a:lnSpc>
                <a:spcPts val="1275"/>
              </a:lnSpc>
            </a:pPr>
            <a:r>
              <a:rPr sz="938" b="1" i="0" spc="15">
                <a:solidFill>
                  <a:srgbClr val="1B1A1A"/>
                </a:solidFill>
                <a:latin typeface="Calibri"/>
              </a:rPr>
              <a:t>National health expenditures</a:t>
            </a:r>
          </a:p>
        </p:txBody>
      </p:sp>
      <p:sp>
        <p:nvSpPr>
          <p:cNvPr id="30" name="Text: $ trillions; 2025 and 2026 are CMS"/>
          <p:cNvSpPr txBox="1"/>
          <p:nvPr/>
        </p:nvSpPr>
        <p:spPr>
          <a:xfrm>
            <a:off x="4276725" y="1524000"/>
            <a:ext cx="5214938" cy="133350"/>
          </a:xfrm>
          <a:prstGeom prst="rect">
            <a:avLst/>
          </a:prstGeom>
          <a:noFill/>
        </p:spPr>
        <p:txBody>
          <a:bodyPr wrap="square" lIns="0" tIns="0" rIns="0" bIns="0" anchor="t">
            <a:spAutoFit/>
          </a:bodyPr>
          <a:lstStyle/>
          <a:p>
            <a:pPr algn="l">
              <a:lnSpc>
                <a:spcPts val="1050"/>
              </a:lnSpc>
            </a:pPr>
            <a:r>
              <a:rPr sz="750" b="0" i="0" spc="15">
                <a:solidFill>
                  <a:srgbClr val="6F6A66"/>
                </a:solidFill>
                <a:latin typeface="Calibri"/>
              </a:rPr>
              <a:t>$ trillions; 2025 and 2026 are CMS projections. Source: </a:t>
            </a:r>
            <a:r>
              <a:rPr sz="750" b="0" i="0" spc="15">
                <a:solidFill>
                  <a:srgbClr val="8C6239"/>
                </a:solidFill>
                <a:latin typeface="Calibri"/>
                <a:hlinkClick r:id="rId2">
                  <a:extLst>
                    <a:ext uri="{A12FA001-AC4F-418D-AE19-62706E023703}">
                      <ahyp:hlinkClr xmlns:ahyp="http://schemas.microsoft.com/office/drawing/2018/hyperlinkcolor" val="tx"/>
                    </a:ext>
                  </a:extLst>
                </a:hlinkClick>
              </a:rPr>
              <a:t>CMS</a:t>
            </a:r>
            <a:r>
              <a:rPr sz="750" b="0" i="0" spc="15">
                <a:solidFill>
                  <a:srgbClr val="6F6A66"/>
                </a:solidFill>
                <a:latin typeface="Calibri"/>
              </a:rPr>
              <a:t>; </a:t>
            </a:r>
            <a:r>
              <a:rPr sz="750" b="0" i="0" spc="15">
                <a:solidFill>
                  <a:srgbClr val="8C6239"/>
                </a:solidFill>
                <a:latin typeface="Calibri"/>
                <a:hlinkClick r:id="rId3">
                  <a:extLst>
                    <a:ext uri="{A12FA001-AC4F-418D-AE19-62706E023703}">
                      <ahyp:hlinkClr xmlns:ahyp="http://schemas.microsoft.com/office/drawing/2018/hyperlinkcolor" val="tx"/>
                    </a:ext>
                  </a:extLst>
                </a:hlinkClick>
              </a:rPr>
              <a:t>CRFB</a:t>
            </a:r>
          </a:p>
        </p:txBody>
      </p:sp>
      <p:graphicFrame>
        <p:nvGraphicFramePr>
          <p:cNvPr id="31" name="Chart (edit data to update)"/>
          <p:cNvGraphicFramePr>
            <a:graphicFrameLocks noGrp="1"/>
          </p:cNvGraphicFramePr>
          <p:nvPr/>
        </p:nvGraphicFramePr>
        <p:xfrm>
          <a:off x="4276725" y="2047875"/>
          <a:ext cx="5181600" cy="1866900"/>
        </p:xfrm>
        <a:graphic>
          <a:graphicData uri="http://schemas.openxmlformats.org/drawingml/2006/chart">
            <c:chart xmlns:c="http://schemas.openxmlformats.org/drawingml/2006/chart" xmlns:r="http://schemas.openxmlformats.org/officeDocument/2006/relationships" r:id="rId8"/>
          </a:graphicData>
        </a:graphic>
      </p:graphicFrame>
      <p:sp>
        <p:nvSpPr>
          <p:cNvPr id="32" name="Rectangle 31"/>
          <p:cNvSpPr/>
          <p:nvPr/>
        </p:nvSpPr>
        <p:spPr>
          <a:xfrm>
            <a:off x="4114800" y="4152900"/>
            <a:ext cx="5524500" cy="9525"/>
          </a:xfrm>
          <a:prstGeom prst="rect">
            <a:avLst/>
          </a:prstGeom>
          <a:solidFill>
            <a:srgbClr val="E3DCD3"/>
          </a:solidFill>
          <a:ln>
            <a:noFill/>
          </a:ln>
          <a:effectLst/>
        </p:spPr>
        <p:txBody>
          <a:bodyPr rtlCol="0" anchor="ctr"/>
          <a:lstStyle/>
          <a:p>
            <a:pPr algn="ctr"/>
            <a:endParaRPr/>
          </a:p>
        </p:txBody>
      </p:sp>
      <p:sp>
        <p:nvSpPr>
          <p:cNvPr id="33" name="Rectangle 32"/>
          <p:cNvSpPr/>
          <p:nvPr/>
        </p:nvSpPr>
        <p:spPr>
          <a:xfrm>
            <a:off x="9629775" y="4152900"/>
            <a:ext cx="9525" cy="2781300"/>
          </a:xfrm>
          <a:prstGeom prst="rect">
            <a:avLst/>
          </a:prstGeom>
          <a:solidFill>
            <a:srgbClr val="E3DCD3"/>
          </a:solidFill>
          <a:ln>
            <a:noFill/>
          </a:ln>
          <a:effectLst/>
        </p:spPr>
        <p:txBody>
          <a:bodyPr rtlCol="0" anchor="ctr"/>
          <a:lstStyle/>
          <a:p>
            <a:pPr algn="ctr"/>
            <a:endParaRPr/>
          </a:p>
        </p:txBody>
      </p:sp>
      <p:sp>
        <p:nvSpPr>
          <p:cNvPr id="34" name="Rectangle 33"/>
          <p:cNvSpPr/>
          <p:nvPr/>
        </p:nvSpPr>
        <p:spPr>
          <a:xfrm>
            <a:off x="4114800" y="6924675"/>
            <a:ext cx="5524500" cy="9525"/>
          </a:xfrm>
          <a:prstGeom prst="rect">
            <a:avLst/>
          </a:prstGeom>
          <a:solidFill>
            <a:srgbClr val="E3DCD3"/>
          </a:solidFill>
          <a:ln>
            <a:noFill/>
          </a:ln>
          <a:effectLst/>
        </p:spPr>
        <p:txBody>
          <a:bodyPr rtlCol="0" anchor="ctr"/>
          <a:lstStyle/>
          <a:p>
            <a:pPr algn="ctr"/>
            <a:endParaRPr/>
          </a:p>
        </p:txBody>
      </p:sp>
      <p:sp>
        <p:nvSpPr>
          <p:cNvPr id="35" name="Rectangle 34"/>
          <p:cNvSpPr/>
          <p:nvPr/>
        </p:nvSpPr>
        <p:spPr>
          <a:xfrm>
            <a:off x="4114800" y="4152900"/>
            <a:ext cx="9525" cy="2781300"/>
          </a:xfrm>
          <a:prstGeom prst="rect">
            <a:avLst/>
          </a:prstGeom>
          <a:solidFill>
            <a:srgbClr val="E3DCD3"/>
          </a:solidFill>
          <a:ln>
            <a:noFill/>
          </a:ln>
          <a:effectLst/>
        </p:spPr>
        <p:txBody>
          <a:bodyPr rtlCol="0" anchor="ctr"/>
          <a:lstStyle/>
          <a:p>
            <a:pPr algn="ctr"/>
            <a:endParaRPr/>
          </a:p>
        </p:txBody>
      </p:sp>
      <p:sp>
        <p:nvSpPr>
          <p:cNvPr id="36" name="Text: Announced hospital and health syst"/>
          <p:cNvSpPr txBox="1"/>
          <p:nvPr/>
        </p:nvSpPr>
        <p:spPr>
          <a:xfrm>
            <a:off x="4276725" y="4276725"/>
            <a:ext cx="5214938" cy="161925"/>
          </a:xfrm>
          <a:prstGeom prst="rect">
            <a:avLst/>
          </a:prstGeom>
          <a:noFill/>
        </p:spPr>
        <p:txBody>
          <a:bodyPr wrap="square" lIns="0" tIns="0" rIns="0" bIns="0" anchor="t">
            <a:spAutoFit/>
          </a:bodyPr>
          <a:lstStyle/>
          <a:p>
            <a:pPr algn="l">
              <a:lnSpc>
                <a:spcPts val="1275"/>
              </a:lnSpc>
            </a:pPr>
            <a:r>
              <a:rPr sz="938" b="1" i="0" spc="15">
                <a:solidFill>
                  <a:srgbClr val="1B1A1A"/>
                </a:solidFill>
                <a:latin typeface="Calibri"/>
              </a:rPr>
              <a:t>Announced hospital and health system transactions</a:t>
            </a:r>
          </a:p>
        </p:txBody>
      </p:sp>
      <p:sp>
        <p:nvSpPr>
          <p:cNvPr id="37" name="Text: Number per year; 2026 covers the f"/>
          <p:cNvSpPr txBox="1"/>
          <p:nvPr/>
        </p:nvSpPr>
        <p:spPr>
          <a:xfrm>
            <a:off x="4276725" y="4438650"/>
            <a:ext cx="5214938" cy="133350"/>
          </a:xfrm>
          <a:prstGeom prst="rect">
            <a:avLst/>
          </a:prstGeom>
          <a:noFill/>
        </p:spPr>
        <p:txBody>
          <a:bodyPr wrap="square" lIns="0" tIns="0" rIns="0" bIns="0" anchor="t">
            <a:spAutoFit/>
          </a:bodyPr>
          <a:lstStyle/>
          <a:p>
            <a:pPr algn="l">
              <a:lnSpc>
                <a:spcPts val="1050"/>
              </a:lnSpc>
            </a:pPr>
            <a:r>
              <a:rPr sz="750" b="0" i="0" spc="15">
                <a:solidFill>
                  <a:srgbClr val="6F6A66"/>
                </a:solidFill>
                <a:latin typeface="Calibri"/>
              </a:rPr>
              <a:t>Number per year; 2026 covers the first half. Source: Kaufman Hall (</a:t>
            </a:r>
            <a:r>
              <a:rPr sz="750" b="0" i="0" spc="15">
                <a:solidFill>
                  <a:srgbClr val="8C6239"/>
                </a:solidFill>
                <a:latin typeface="Calibri"/>
                <a:hlinkClick r:id="rId9">
                  <a:extLst>
                    <a:ext uri="{A12FA001-AC4F-418D-AE19-62706E023703}">
                      <ahyp:hlinkClr xmlns:ahyp="http://schemas.microsoft.com/office/drawing/2018/hyperlinkcolor" val="tx"/>
                    </a:ext>
                  </a:extLst>
                </a:hlinkClick>
              </a:rPr>
              <a:t>2012 to 2022</a:t>
            </a:r>
            <a:r>
              <a:rPr sz="750" b="0" i="0" spc="15">
                <a:solidFill>
                  <a:srgbClr val="6F6A66"/>
                </a:solidFill>
                <a:latin typeface="Calibri"/>
              </a:rPr>
              <a:t>; </a:t>
            </a:r>
            <a:r>
              <a:rPr sz="750" b="0" i="0" spc="15">
                <a:solidFill>
                  <a:srgbClr val="8C6239"/>
                </a:solidFill>
                <a:latin typeface="Calibri"/>
                <a:hlinkClick r:id="rId4">
                  <a:extLst>
                    <a:ext uri="{A12FA001-AC4F-418D-AE19-62706E023703}">
                      <ahyp:hlinkClr xmlns:ahyp="http://schemas.microsoft.com/office/drawing/2018/hyperlinkcolor" val="tx"/>
                    </a:ext>
                  </a:extLst>
                </a:hlinkClick>
              </a:rPr>
              <a:t>2025</a:t>
            </a:r>
            <a:r>
              <a:rPr sz="750" b="0" i="0" spc="15">
                <a:solidFill>
                  <a:srgbClr val="6F6A66"/>
                </a:solidFill>
                <a:latin typeface="Calibri"/>
              </a:rPr>
              <a:t>; </a:t>
            </a:r>
            <a:r>
              <a:rPr sz="750" b="0" i="0" spc="15">
                <a:solidFill>
                  <a:srgbClr val="8C6239"/>
                </a:solidFill>
                <a:latin typeface="Calibri"/>
                <a:hlinkClick r:id="rId6">
                  <a:extLst>
                    <a:ext uri="{A12FA001-AC4F-418D-AE19-62706E023703}">
                      <ahyp:hlinkClr xmlns:ahyp="http://schemas.microsoft.com/office/drawing/2018/hyperlinkcolor" val="tx"/>
                    </a:ext>
                  </a:extLst>
                </a:hlinkClick>
              </a:rPr>
              <a:t>2026</a:t>
            </a:r>
            <a:r>
              <a:rPr sz="750" b="0" i="0" spc="15">
                <a:solidFill>
                  <a:srgbClr val="6F6A66"/>
                </a:solidFill>
                <a:latin typeface="Calibri"/>
              </a:rPr>
              <a:t>)</a:t>
            </a:r>
          </a:p>
        </p:txBody>
      </p:sp>
      <p:graphicFrame>
        <p:nvGraphicFramePr>
          <p:cNvPr id="38" name="Chart (edit data to update)"/>
          <p:cNvGraphicFramePr>
            <a:graphicFrameLocks noGrp="1"/>
          </p:cNvGraphicFramePr>
          <p:nvPr/>
        </p:nvGraphicFramePr>
        <p:xfrm>
          <a:off x="4276725" y="4962525"/>
          <a:ext cx="5181600" cy="1866900"/>
        </p:xfrm>
        <a:graphic>
          <a:graphicData uri="http://schemas.openxmlformats.org/drawingml/2006/chart">
            <c:chart xmlns:c="http://schemas.openxmlformats.org/drawingml/2006/chart" xmlns:r="http://schemas.openxmlformats.org/officeDocument/2006/relationships" r:id="rId10"/>
          </a:graphicData>
        </a:graphic>
      </p:graphicFrame>
      <p:sp>
        <p:nvSpPr>
          <p:cNvPr id="39" name="Rectangle 38"/>
          <p:cNvSpPr/>
          <p:nvPr/>
        </p:nvSpPr>
        <p:spPr>
          <a:xfrm>
            <a:off x="419100" y="7029450"/>
            <a:ext cx="9220200" cy="9525"/>
          </a:xfrm>
          <a:prstGeom prst="rect">
            <a:avLst/>
          </a:prstGeom>
          <a:solidFill>
            <a:srgbClr val="E3DCD3"/>
          </a:solidFill>
          <a:ln>
            <a:noFill/>
          </a:ln>
          <a:effectLst/>
        </p:spPr>
        <p:txBody>
          <a:bodyPr rtlCol="0" anchor="ctr"/>
          <a:lstStyle/>
          <a:p>
            <a:pPr algn="ctr"/>
            <a:endParaRPr/>
          </a:p>
        </p:txBody>
      </p:sp>
      <p:pic>
        <p:nvPicPr>
          <p:cNvPr id="40" name="Picture 39" descr="Benchmark International"/>
          <p:cNvPicPr>
            <a:picLocks noChangeAspect="1"/>
          </p:cNvPicPr>
          <p:nvPr/>
        </p:nvPicPr>
        <p:blipFill>
          <a:blip r:embed="rId11"/>
          <a:srcRect/>
          <a:stretch>
            <a:fillRect/>
          </a:stretch>
        </p:blipFill>
        <p:spPr>
          <a:xfrm>
            <a:off x="419100" y="7143750"/>
            <a:ext cx="914400" cy="171450"/>
          </a:xfrm>
          <a:prstGeom prst="rect">
            <a:avLst/>
          </a:prstGeom>
        </p:spPr>
      </p:pic>
      <p:sp>
        <p:nvSpPr>
          <p:cNvPr id="41" name="Text: National health expenditure figure"/>
          <p:cNvSpPr txBox="1"/>
          <p:nvPr/>
        </p:nvSpPr>
        <p:spPr>
          <a:xfrm>
            <a:off x="1543050" y="7105650"/>
            <a:ext cx="7748588" cy="238125"/>
          </a:xfrm>
          <a:prstGeom prst="rect">
            <a:avLst/>
          </a:prstGeom>
          <a:noFill/>
        </p:spPr>
        <p:txBody>
          <a:bodyPr wrap="square" lIns="0" tIns="0" rIns="0" bIns="0" anchor="t">
            <a:spAutoFit/>
          </a:bodyPr>
          <a:lstStyle/>
          <a:p>
            <a:pPr algn="l">
              <a:lnSpc>
                <a:spcPts val="938"/>
              </a:lnSpc>
            </a:pPr>
            <a:r>
              <a:rPr sz="675" b="0" i="0" spc="8">
                <a:solidFill>
                  <a:srgbClr val="6F6A66"/>
                </a:solidFill>
                <a:latin typeface="Calibri"/>
              </a:rPr>
              <a:t>National health expenditure figures for 2016 to 2023 are drawn from CMS releases of different years, and CMS revises earlier years with each release. Transaction counts are announced transactions as tallied by Kaufman Hall.</a:t>
            </a:r>
          </a:p>
        </p:txBody>
      </p:sp>
      <p:sp>
        <p:nvSpPr>
          <p:cNvPr id="42" name="Text: 04"/>
          <p:cNvSpPr txBox="1"/>
          <p:nvPr/>
        </p:nvSpPr>
        <p:spPr>
          <a:xfrm>
            <a:off x="9509373" y="7162800"/>
            <a:ext cx="144214" cy="133350"/>
          </a:xfrm>
          <a:prstGeom prst="rect">
            <a:avLst/>
          </a:prstGeom>
          <a:noFill/>
        </p:spPr>
        <p:txBody>
          <a:bodyPr wrap="square" lIns="0" tIns="0" rIns="0" bIns="0" anchor="t">
            <a:spAutoFit/>
          </a:bodyPr>
          <a:lstStyle/>
          <a:p>
            <a:pPr algn="l">
              <a:lnSpc>
                <a:spcPts val="1050"/>
              </a:lnSpc>
            </a:pPr>
            <a:r>
              <a:rPr sz="712" b="1" i="0" spc="150">
                <a:solidFill>
                  <a:srgbClr val="1B1A1A"/>
                </a:solidFill>
                <a:latin typeface="Calibri"/>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57150" cy="7772400"/>
          </a:xfrm>
          <a:prstGeom prst="rect">
            <a:avLst/>
          </a:prstGeom>
          <a:solidFill>
            <a:srgbClr val="B68757"/>
          </a:solidFill>
          <a:ln>
            <a:noFill/>
          </a:ln>
          <a:effectLst/>
        </p:spPr>
        <p:txBody>
          <a:bodyPr rtlCol="0" anchor="ctr"/>
          <a:lstStyle/>
          <a:p>
            <a:pPr algn="ctr"/>
            <a:endParaRPr/>
          </a:p>
        </p:txBody>
      </p:sp>
      <p:sp>
        <p:nvSpPr>
          <p:cNvPr id="3" name="Text: HEALTHCARE | QUARTERLY SECTOR BRIE"/>
          <p:cNvSpPr txBox="1"/>
          <p:nvPr/>
        </p:nvSpPr>
        <p:spPr>
          <a:xfrm>
            <a:off x="419100" y="381000"/>
            <a:ext cx="2439591" cy="133350"/>
          </a:xfrm>
          <a:prstGeom prst="rect">
            <a:avLst/>
          </a:prstGeom>
          <a:noFill/>
        </p:spPr>
        <p:txBody>
          <a:bodyPr wrap="none" lIns="0" tIns="0" rIns="0" bIns="0" anchor="t">
            <a:spAutoFit/>
          </a:bodyPr>
          <a:lstStyle/>
          <a:p>
            <a:pPr algn="l">
              <a:lnSpc>
                <a:spcPts val="1050"/>
              </a:lnSpc>
            </a:pPr>
            <a:r>
              <a:rPr sz="675" b="1" i="0" spc="195">
                <a:solidFill>
                  <a:srgbClr val="8C6239"/>
                </a:solidFill>
                <a:latin typeface="Calibri"/>
              </a:rPr>
              <a:t>HEALTHCARE | QUARTERLY INDUSTRY REPORT</a:t>
            </a:r>
          </a:p>
        </p:txBody>
      </p:sp>
      <p:sp>
        <p:nvSpPr>
          <p:cNvPr id="4" name="Text: Q4 2026"/>
          <p:cNvSpPr txBox="1"/>
          <p:nvPr/>
        </p:nvSpPr>
        <p:spPr>
          <a:xfrm>
            <a:off x="9188648" y="361950"/>
            <a:ext cx="464939" cy="171450"/>
          </a:xfrm>
          <a:prstGeom prst="rect">
            <a:avLst/>
          </a:prstGeom>
          <a:noFill/>
        </p:spPr>
        <p:txBody>
          <a:bodyPr wrap="square" lIns="0" tIns="0" rIns="0" bIns="0" anchor="t">
            <a:spAutoFit/>
          </a:bodyPr>
          <a:lstStyle/>
          <a:p>
            <a:pPr algn="l">
              <a:lnSpc>
                <a:spcPts val="1350"/>
              </a:lnSpc>
            </a:pPr>
            <a:r>
              <a:rPr sz="900" b="0" i="0" spc="90">
                <a:solidFill>
                  <a:srgbClr val="6F6A66"/>
                </a:solidFill>
                <a:latin typeface="Cambria"/>
              </a:rPr>
              <a:t>Q4 2026</a:t>
            </a:r>
          </a:p>
        </p:txBody>
      </p:sp>
      <p:sp>
        <p:nvSpPr>
          <p:cNvPr id="5" name="Text: Strong Fundamentals Support Contin"/>
          <p:cNvSpPr txBox="1"/>
          <p:nvPr/>
        </p:nvSpPr>
        <p:spPr>
          <a:xfrm>
            <a:off x="419100" y="523875"/>
            <a:ext cx="9234488" cy="323850"/>
          </a:xfrm>
          <a:prstGeom prst="rect">
            <a:avLst/>
          </a:prstGeom>
          <a:noFill/>
        </p:spPr>
        <p:txBody>
          <a:bodyPr wrap="square" lIns="0" tIns="0" rIns="0" bIns="0" anchor="t">
            <a:spAutoFit/>
          </a:bodyPr>
          <a:lstStyle/>
          <a:p>
            <a:pPr algn="l">
              <a:lnSpc>
                <a:spcPts val="2550"/>
              </a:lnSpc>
            </a:pPr>
            <a:r>
              <a:rPr sz="2025" b="1" i="0">
                <a:solidFill>
                  <a:srgbClr val="1B1A1A"/>
                </a:solidFill>
                <a:latin typeface="Cambria"/>
              </a:rPr>
              <a:t>Strong Fundamentals Support Continued Activity</a:t>
            </a:r>
          </a:p>
        </p:txBody>
      </p:sp>
      <p:sp>
        <p:nvSpPr>
          <p:cNvPr id="6" name="Text: Employment, capital investment and"/>
          <p:cNvSpPr txBox="1"/>
          <p:nvPr/>
        </p:nvSpPr>
        <p:spPr>
          <a:xfrm>
            <a:off x="419100" y="885825"/>
            <a:ext cx="10215086" cy="180975"/>
          </a:xfrm>
          <a:prstGeom prst="rect">
            <a:avLst/>
          </a:prstGeom>
          <a:noFill/>
        </p:spPr>
        <p:txBody>
          <a:bodyPr wrap="square" lIns="0" tIns="0" rIns="0" bIns="0" anchor="t">
            <a:spAutoFit/>
          </a:bodyPr>
          <a:lstStyle/>
          <a:p>
            <a:pPr algn="l">
              <a:lnSpc>
                <a:spcPts val="1388"/>
              </a:lnSpc>
            </a:pPr>
            <a:r>
              <a:rPr sz="938" b="0" i="0" spc="15">
                <a:solidFill>
                  <a:srgbClr val="6F6A66"/>
                </a:solidFill>
                <a:latin typeface="Calibri"/>
              </a:rPr>
              <a:t>Employment, capital investment, and drug approvals have all grown since 2021, which supports demand in each of the four sectors.</a:t>
            </a:r>
          </a:p>
        </p:txBody>
      </p:sp>
      <p:sp>
        <p:nvSpPr>
          <p:cNvPr id="7" name="Rectangle 6"/>
          <p:cNvSpPr/>
          <p:nvPr/>
        </p:nvSpPr>
        <p:spPr>
          <a:xfrm>
            <a:off x="419100" y="1143000"/>
            <a:ext cx="9220200" cy="9525"/>
          </a:xfrm>
          <a:prstGeom prst="rect">
            <a:avLst/>
          </a:prstGeom>
          <a:solidFill>
            <a:srgbClr val="E3DCD3"/>
          </a:solidFill>
          <a:ln>
            <a:noFill/>
          </a:ln>
          <a:effectLst/>
        </p:spPr>
        <p:txBody>
          <a:bodyPr rtlCol="0" anchor="ctr"/>
          <a:lstStyle/>
          <a:p>
            <a:pPr algn="ctr"/>
            <a:endParaRPr/>
          </a:p>
        </p:txBody>
      </p:sp>
      <p:sp>
        <p:nvSpPr>
          <p:cNvPr id="8" name="Rectangle 7"/>
          <p:cNvSpPr/>
          <p:nvPr/>
        </p:nvSpPr>
        <p:spPr>
          <a:xfrm>
            <a:off x="419100" y="1238250"/>
            <a:ext cx="2971800" cy="9525"/>
          </a:xfrm>
          <a:prstGeom prst="rect">
            <a:avLst/>
          </a:prstGeom>
          <a:solidFill>
            <a:srgbClr val="E3DCD3"/>
          </a:solidFill>
          <a:ln>
            <a:noFill/>
          </a:ln>
          <a:effectLst/>
        </p:spPr>
        <p:txBody>
          <a:bodyPr rtlCol="0" anchor="ctr"/>
          <a:lstStyle/>
          <a:p>
            <a:pPr algn="ctr"/>
            <a:endParaRPr/>
          </a:p>
        </p:txBody>
      </p:sp>
      <p:sp>
        <p:nvSpPr>
          <p:cNvPr id="9" name="Rectangle 8"/>
          <p:cNvSpPr/>
          <p:nvPr/>
        </p:nvSpPr>
        <p:spPr>
          <a:xfrm>
            <a:off x="3381375" y="1238250"/>
            <a:ext cx="9525" cy="5695950"/>
          </a:xfrm>
          <a:prstGeom prst="rect">
            <a:avLst/>
          </a:prstGeom>
          <a:solidFill>
            <a:srgbClr val="E3DCD3"/>
          </a:solidFill>
          <a:ln>
            <a:noFill/>
          </a:ln>
          <a:effectLst/>
        </p:spPr>
        <p:txBody>
          <a:bodyPr rtlCol="0" anchor="ctr"/>
          <a:lstStyle/>
          <a:p>
            <a:pPr algn="ctr"/>
            <a:endParaRPr/>
          </a:p>
        </p:txBody>
      </p:sp>
      <p:sp>
        <p:nvSpPr>
          <p:cNvPr id="10" name="Rectangle 9"/>
          <p:cNvSpPr/>
          <p:nvPr/>
        </p:nvSpPr>
        <p:spPr>
          <a:xfrm>
            <a:off x="419100" y="6924675"/>
            <a:ext cx="2971800" cy="9525"/>
          </a:xfrm>
          <a:prstGeom prst="rect">
            <a:avLst/>
          </a:prstGeom>
          <a:solidFill>
            <a:srgbClr val="E3DCD3"/>
          </a:solidFill>
          <a:ln>
            <a:noFill/>
          </a:ln>
          <a:effectLst/>
        </p:spPr>
        <p:txBody>
          <a:bodyPr rtlCol="0" anchor="ctr"/>
          <a:lstStyle/>
          <a:p>
            <a:pPr algn="ctr"/>
            <a:endParaRPr/>
          </a:p>
        </p:txBody>
      </p:sp>
      <p:sp>
        <p:nvSpPr>
          <p:cNvPr id="11" name="Rectangle 10"/>
          <p:cNvSpPr/>
          <p:nvPr/>
        </p:nvSpPr>
        <p:spPr>
          <a:xfrm>
            <a:off x="419100" y="1238250"/>
            <a:ext cx="9525" cy="5695950"/>
          </a:xfrm>
          <a:prstGeom prst="rect">
            <a:avLst/>
          </a:prstGeom>
          <a:solidFill>
            <a:srgbClr val="E3DCD3"/>
          </a:solidFill>
          <a:ln>
            <a:noFill/>
          </a:ln>
          <a:effectLst/>
        </p:spPr>
        <p:txBody>
          <a:bodyPr rtlCol="0" anchor="ctr"/>
          <a:lstStyle/>
          <a:p>
            <a:pPr algn="ctr"/>
            <a:endParaRPr/>
          </a:p>
        </p:txBody>
      </p:sp>
      <p:sp>
        <p:nvSpPr>
          <p:cNvPr id="12" name="Rectangle 11"/>
          <p:cNvSpPr/>
          <p:nvPr/>
        </p:nvSpPr>
        <p:spPr>
          <a:xfrm>
            <a:off x="428625" y="1247775"/>
            <a:ext cx="2952750" cy="323850"/>
          </a:xfrm>
          <a:prstGeom prst="rect">
            <a:avLst/>
          </a:prstGeom>
          <a:solidFill>
            <a:srgbClr val="1B1A1A"/>
          </a:solidFill>
          <a:ln>
            <a:noFill/>
          </a:ln>
          <a:effectLst/>
        </p:spPr>
        <p:txBody>
          <a:bodyPr rtlCol="0" anchor="ctr"/>
          <a:lstStyle/>
          <a:p>
            <a:pPr algn="ctr"/>
            <a:endParaRPr/>
          </a:p>
        </p:txBody>
      </p:sp>
      <p:sp>
        <p:nvSpPr>
          <p:cNvPr id="13" name="Text: HEALTH CARE EMPLOYMENT KEEPS RISIN"/>
          <p:cNvSpPr txBox="1"/>
          <p:nvPr/>
        </p:nvSpPr>
        <p:spPr>
          <a:xfrm>
            <a:off x="561975" y="1343025"/>
            <a:ext cx="2700338" cy="133350"/>
          </a:xfrm>
          <a:prstGeom prst="rect">
            <a:avLst/>
          </a:prstGeom>
          <a:noFill/>
        </p:spPr>
        <p:txBody>
          <a:bodyPr wrap="square" lIns="0" tIns="0" rIns="0" bIns="0" anchor="t">
            <a:spAutoFit/>
          </a:bodyPr>
          <a:lstStyle/>
          <a:p>
            <a:pPr algn="l">
              <a:lnSpc>
                <a:spcPts val="1050"/>
              </a:lnSpc>
            </a:pPr>
            <a:r>
              <a:rPr sz="788" b="1" i="0" spc="120">
                <a:solidFill>
                  <a:srgbClr val="FFFFFF"/>
                </a:solidFill>
                <a:latin typeface="Calibri"/>
              </a:rPr>
              <a:t>HEALTH CARE EMPLOYMENT KEEPS RISING</a:t>
            </a:r>
          </a:p>
        </p:txBody>
      </p:sp>
      <p:sp>
        <p:nvSpPr>
          <p:cNvPr id="14" name="Text: All employees, health care, millio"/>
          <p:cNvSpPr txBox="1"/>
          <p:nvPr/>
        </p:nvSpPr>
        <p:spPr>
          <a:xfrm>
            <a:off x="561975" y="1666875"/>
            <a:ext cx="2700338" cy="400050"/>
          </a:xfrm>
          <a:prstGeom prst="rect">
            <a:avLst/>
          </a:prstGeom>
          <a:noFill/>
        </p:spPr>
        <p:txBody>
          <a:bodyPr wrap="square" lIns="0" tIns="0" rIns="0" bIns="0" anchor="t">
            <a:spAutoFit/>
          </a:bodyPr>
          <a:lstStyle/>
          <a:p>
            <a:pPr algn="l">
              <a:lnSpc>
                <a:spcPts val="1050"/>
              </a:lnSpc>
            </a:pPr>
            <a:r>
              <a:rPr sz="750" b="0" i="0" spc="15">
                <a:solidFill>
                  <a:srgbClr val="6F6A66"/>
                </a:solidFill>
                <a:latin typeface="Calibri"/>
              </a:rPr>
              <a:t>All employees, health care, millions, monthly, seasonally adjusted. Source: Bureau of Labor Statistics via </a:t>
            </a:r>
            <a:r>
              <a:rPr sz="750" b="0" i="0" spc="15">
                <a:solidFill>
                  <a:srgbClr val="8C6239"/>
                </a:solidFill>
                <a:latin typeface="Calibri"/>
                <a:hlinkClick r:id="rId2">
                  <a:extLst>
                    <a:ext uri="{A12FA001-AC4F-418D-AE19-62706E023703}">
                      <ahyp:hlinkClr xmlns:ahyp="http://schemas.microsoft.com/office/drawing/2018/hyperlinkcolor" val="tx"/>
                    </a:ext>
                  </a:extLst>
                </a:hlinkClick>
              </a:rPr>
              <a:t>FRED</a:t>
            </a:r>
          </a:p>
        </p:txBody>
      </p:sp>
      <p:graphicFrame>
        <p:nvGraphicFramePr>
          <p:cNvPr id="15" name="Chart (edit data to update)"/>
          <p:cNvGraphicFramePr>
            <a:graphicFrameLocks noGrp="1"/>
          </p:cNvGraphicFramePr>
          <p:nvPr>
            <p:extLst>
              <p:ext uri="{D42A27DB-BD31-4B8C-83A1-F6EECF244321}">
                <p14:modId xmlns:p14="http://schemas.microsoft.com/office/powerpoint/2010/main" val="839241025"/>
              </p:ext>
            </p:extLst>
          </p:nvPr>
        </p:nvGraphicFramePr>
        <p:xfrm>
          <a:off x="561975" y="2105025"/>
          <a:ext cx="2781300" cy="2381250"/>
        </p:xfrm>
        <a:graphic>
          <a:graphicData uri="http://schemas.openxmlformats.org/drawingml/2006/chart">
            <c:chart xmlns:c="http://schemas.openxmlformats.org/drawingml/2006/chart" xmlns:r="http://schemas.openxmlformats.org/officeDocument/2006/relationships" r:id="rId3"/>
          </a:graphicData>
        </a:graphic>
      </p:graphicFrame>
      <p:sp>
        <p:nvSpPr>
          <p:cNvPr id="16" name="Rectangle 15"/>
          <p:cNvSpPr/>
          <p:nvPr/>
        </p:nvSpPr>
        <p:spPr>
          <a:xfrm>
            <a:off x="561975" y="4600575"/>
            <a:ext cx="2686050" cy="9525"/>
          </a:xfrm>
          <a:prstGeom prst="rect">
            <a:avLst/>
          </a:prstGeom>
          <a:solidFill>
            <a:srgbClr val="E3DCD3"/>
          </a:solidFill>
          <a:ln>
            <a:noFill/>
          </a:ln>
          <a:effectLst/>
        </p:spPr>
        <p:txBody>
          <a:bodyPr rtlCol="0" anchor="ctr"/>
          <a:lstStyle/>
          <a:p>
            <a:pPr algn="ctr"/>
            <a:endParaRPr/>
          </a:p>
        </p:txBody>
      </p:sp>
      <p:sp>
        <p:nvSpPr>
          <p:cNvPr id="17" name="Rectangle 16"/>
          <p:cNvSpPr/>
          <p:nvPr/>
        </p:nvSpPr>
        <p:spPr>
          <a:xfrm>
            <a:off x="561975" y="4752975"/>
            <a:ext cx="47625" cy="47625"/>
          </a:xfrm>
          <a:prstGeom prst="rect">
            <a:avLst/>
          </a:prstGeom>
          <a:solidFill>
            <a:srgbClr val="B68757"/>
          </a:solidFill>
          <a:ln>
            <a:noFill/>
          </a:ln>
          <a:effectLst/>
        </p:spPr>
        <p:txBody>
          <a:bodyPr rtlCol="0" anchor="ctr"/>
          <a:lstStyle/>
          <a:p>
            <a:pPr algn="ctr"/>
            <a:endParaRPr/>
          </a:p>
        </p:txBody>
      </p:sp>
      <p:sp>
        <p:nvSpPr>
          <p:cNvPr id="18" name="Text: Health care employed 18.55 million"/>
          <p:cNvSpPr txBox="1"/>
          <p:nvPr/>
        </p:nvSpPr>
        <p:spPr>
          <a:xfrm>
            <a:off x="685800" y="4714875"/>
            <a:ext cx="2576512" cy="485775"/>
          </a:xfrm>
          <a:prstGeom prst="rect">
            <a:avLst/>
          </a:prstGeom>
          <a:noFill/>
        </p:spPr>
        <p:txBody>
          <a:bodyPr wrap="square" lIns="0" tIns="0" rIns="0" bIns="0" anchor="t">
            <a:spAutoFit/>
          </a:bodyPr>
          <a:lstStyle/>
          <a:p>
            <a:pPr algn="l">
              <a:lnSpc>
                <a:spcPts val="1275"/>
              </a:lnSpc>
            </a:pPr>
            <a:r>
              <a:rPr sz="861" b="0" i="0" spc="15">
                <a:solidFill>
                  <a:srgbClr val="333231"/>
                </a:solidFill>
                <a:latin typeface="Calibri"/>
              </a:rPr>
              <a:t>Healthcare employed 18.55 million people in September 2026, 16.1% more than in September 2021 and 2.0% more than a year earlier.</a:t>
            </a:r>
          </a:p>
        </p:txBody>
      </p:sp>
      <p:sp>
        <p:nvSpPr>
          <p:cNvPr id="19" name="Rectangle 18"/>
          <p:cNvSpPr/>
          <p:nvPr/>
        </p:nvSpPr>
        <p:spPr>
          <a:xfrm>
            <a:off x="561975" y="5324475"/>
            <a:ext cx="47625" cy="47625"/>
          </a:xfrm>
          <a:prstGeom prst="rect">
            <a:avLst/>
          </a:prstGeom>
          <a:solidFill>
            <a:srgbClr val="B68757"/>
          </a:solidFill>
          <a:ln>
            <a:noFill/>
          </a:ln>
          <a:effectLst/>
        </p:spPr>
        <p:txBody>
          <a:bodyPr rtlCol="0" anchor="ctr"/>
          <a:lstStyle/>
          <a:p>
            <a:pPr algn="ctr"/>
            <a:endParaRPr/>
          </a:p>
        </p:txBody>
      </p:sp>
      <p:sp>
        <p:nvSpPr>
          <p:cNvPr id="20" name="Text: Health care and social assistance "/>
          <p:cNvSpPr txBox="1"/>
          <p:nvPr/>
        </p:nvSpPr>
        <p:spPr>
          <a:xfrm>
            <a:off x="685800" y="5286375"/>
            <a:ext cx="2576512" cy="647700"/>
          </a:xfrm>
          <a:prstGeom prst="rect">
            <a:avLst/>
          </a:prstGeom>
          <a:noFill/>
        </p:spPr>
        <p:txBody>
          <a:bodyPr wrap="square" lIns="0" tIns="0" rIns="0" bIns="0" anchor="t">
            <a:spAutoFit/>
          </a:bodyPr>
          <a:lstStyle/>
          <a:p>
            <a:pPr algn="l">
              <a:lnSpc>
                <a:spcPts val="1275"/>
              </a:lnSpc>
            </a:pPr>
            <a:r>
              <a:rPr sz="861" b="0" i="0" spc="15">
                <a:solidFill>
                  <a:srgbClr val="333231"/>
                </a:solidFill>
                <a:latin typeface="Calibri"/>
              </a:rPr>
              <a:t>Health care and social assistance had 1,359,000 open positions in August (</a:t>
            </a:r>
            <a:r>
              <a:rPr sz="861" b="0" i="0" spc="15">
                <a:solidFill>
                  <a:srgbClr val="8C6239"/>
                </a:solidFill>
                <a:latin typeface="Calibri"/>
                <a:hlinkClick r:id="rId4">
                  <a:extLst>
                    <a:ext uri="{A12FA001-AC4F-418D-AE19-62706E023703}">
                      <ahyp:hlinkClr xmlns:ahyp="http://schemas.microsoft.com/office/drawing/2018/hyperlinkcolor" val="tx"/>
                    </a:ext>
                  </a:extLst>
                </a:hlinkClick>
              </a:rPr>
              <a:t>Bureau of Labor Statistics JOLTS</a:t>
            </a:r>
            <a:r>
              <a:rPr sz="861" b="0" i="0" spc="15">
                <a:solidFill>
                  <a:srgbClr val="333231"/>
                </a:solidFill>
                <a:latin typeface="Calibri"/>
              </a:rPr>
              <a:t>), which keeps clinician retention central to how buyers assess a provider.</a:t>
            </a:r>
          </a:p>
        </p:txBody>
      </p:sp>
      <p:sp>
        <p:nvSpPr>
          <p:cNvPr id="21" name="Rectangle 20"/>
          <p:cNvSpPr/>
          <p:nvPr/>
        </p:nvSpPr>
        <p:spPr>
          <a:xfrm>
            <a:off x="3543300" y="1238250"/>
            <a:ext cx="2971800" cy="9525"/>
          </a:xfrm>
          <a:prstGeom prst="rect">
            <a:avLst/>
          </a:prstGeom>
          <a:solidFill>
            <a:srgbClr val="E3DCD3"/>
          </a:solidFill>
          <a:ln>
            <a:noFill/>
          </a:ln>
          <a:effectLst/>
        </p:spPr>
        <p:txBody>
          <a:bodyPr rtlCol="0" anchor="ctr"/>
          <a:lstStyle/>
          <a:p>
            <a:pPr algn="ctr"/>
            <a:endParaRPr/>
          </a:p>
        </p:txBody>
      </p:sp>
      <p:sp>
        <p:nvSpPr>
          <p:cNvPr id="22" name="Rectangle 21"/>
          <p:cNvSpPr/>
          <p:nvPr/>
        </p:nvSpPr>
        <p:spPr>
          <a:xfrm>
            <a:off x="6505575" y="1238250"/>
            <a:ext cx="9525" cy="5695950"/>
          </a:xfrm>
          <a:prstGeom prst="rect">
            <a:avLst/>
          </a:prstGeom>
          <a:solidFill>
            <a:srgbClr val="E3DCD3"/>
          </a:solidFill>
          <a:ln>
            <a:noFill/>
          </a:ln>
          <a:effectLst/>
        </p:spPr>
        <p:txBody>
          <a:bodyPr rtlCol="0" anchor="ctr"/>
          <a:lstStyle/>
          <a:p>
            <a:pPr algn="ctr"/>
            <a:endParaRPr/>
          </a:p>
        </p:txBody>
      </p:sp>
      <p:sp>
        <p:nvSpPr>
          <p:cNvPr id="23" name="Rectangle 22"/>
          <p:cNvSpPr/>
          <p:nvPr/>
        </p:nvSpPr>
        <p:spPr>
          <a:xfrm>
            <a:off x="3543300" y="6924675"/>
            <a:ext cx="2971800" cy="9525"/>
          </a:xfrm>
          <a:prstGeom prst="rect">
            <a:avLst/>
          </a:prstGeom>
          <a:solidFill>
            <a:srgbClr val="E3DCD3"/>
          </a:solidFill>
          <a:ln>
            <a:noFill/>
          </a:ln>
          <a:effectLst/>
        </p:spPr>
        <p:txBody>
          <a:bodyPr rtlCol="0" anchor="ctr"/>
          <a:lstStyle/>
          <a:p>
            <a:pPr algn="ctr"/>
            <a:endParaRPr/>
          </a:p>
        </p:txBody>
      </p:sp>
      <p:sp>
        <p:nvSpPr>
          <p:cNvPr id="24" name="Rectangle 23"/>
          <p:cNvSpPr/>
          <p:nvPr/>
        </p:nvSpPr>
        <p:spPr>
          <a:xfrm>
            <a:off x="3543300" y="1238250"/>
            <a:ext cx="9525" cy="5695950"/>
          </a:xfrm>
          <a:prstGeom prst="rect">
            <a:avLst/>
          </a:prstGeom>
          <a:solidFill>
            <a:srgbClr val="E3DCD3"/>
          </a:solidFill>
          <a:ln>
            <a:noFill/>
          </a:ln>
          <a:effectLst/>
        </p:spPr>
        <p:txBody>
          <a:bodyPr rtlCol="0" anchor="ctr"/>
          <a:lstStyle/>
          <a:p>
            <a:pPr algn="ctr"/>
            <a:endParaRPr/>
          </a:p>
        </p:txBody>
      </p:sp>
      <p:sp>
        <p:nvSpPr>
          <p:cNvPr id="25" name="Rectangle 24"/>
          <p:cNvSpPr/>
          <p:nvPr/>
        </p:nvSpPr>
        <p:spPr>
          <a:xfrm>
            <a:off x="3552825" y="1247775"/>
            <a:ext cx="2952750" cy="323850"/>
          </a:xfrm>
          <a:prstGeom prst="rect">
            <a:avLst/>
          </a:prstGeom>
          <a:solidFill>
            <a:srgbClr val="1B1A1A"/>
          </a:solidFill>
          <a:ln>
            <a:noFill/>
          </a:ln>
          <a:effectLst/>
        </p:spPr>
        <p:txBody>
          <a:bodyPr rtlCol="0" anchor="ctr"/>
          <a:lstStyle/>
          <a:p>
            <a:pPr algn="ctr"/>
            <a:endParaRPr/>
          </a:p>
        </p:txBody>
      </p:sp>
      <p:sp>
        <p:nvSpPr>
          <p:cNvPr id="26" name="Text: CAPITAL KEEPS FLOWING INTO FACILIT"/>
          <p:cNvSpPr txBox="1"/>
          <p:nvPr/>
        </p:nvSpPr>
        <p:spPr>
          <a:xfrm>
            <a:off x="3686175" y="1343025"/>
            <a:ext cx="2700338" cy="133350"/>
          </a:xfrm>
          <a:prstGeom prst="rect">
            <a:avLst/>
          </a:prstGeom>
          <a:noFill/>
        </p:spPr>
        <p:txBody>
          <a:bodyPr wrap="square" lIns="0" tIns="0" rIns="0" bIns="0" anchor="t">
            <a:spAutoFit/>
          </a:bodyPr>
          <a:lstStyle/>
          <a:p>
            <a:pPr algn="l">
              <a:lnSpc>
                <a:spcPts val="1050"/>
              </a:lnSpc>
            </a:pPr>
            <a:r>
              <a:rPr sz="788" b="1" i="0" spc="120">
                <a:solidFill>
                  <a:srgbClr val="FFFFFF"/>
                </a:solidFill>
                <a:latin typeface="Calibri"/>
              </a:rPr>
              <a:t>CAPITAL KEEPS FLOWING INTO FACILITIES</a:t>
            </a:r>
          </a:p>
        </p:txBody>
      </p:sp>
      <p:sp>
        <p:nvSpPr>
          <p:cNvPr id="27" name="Text: Total construction spending on hea"/>
          <p:cNvSpPr txBox="1"/>
          <p:nvPr/>
        </p:nvSpPr>
        <p:spPr>
          <a:xfrm>
            <a:off x="3686175" y="1666875"/>
            <a:ext cx="2700338" cy="400050"/>
          </a:xfrm>
          <a:prstGeom prst="rect">
            <a:avLst/>
          </a:prstGeom>
          <a:noFill/>
        </p:spPr>
        <p:txBody>
          <a:bodyPr wrap="square" lIns="0" tIns="0" rIns="0" bIns="0" anchor="t">
            <a:spAutoFit/>
          </a:bodyPr>
          <a:lstStyle/>
          <a:p>
            <a:pPr algn="l">
              <a:lnSpc>
                <a:spcPts val="1050"/>
              </a:lnSpc>
            </a:pPr>
            <a:r>
              <a:rPr sz="750" b="0" i="0" spc="15">
                <a:solidFill>
                  <a:srgbClr val="6F6A66"/>
                </a:solidFill>
                <a:latin typeface="Calibri"/>
              </a:rPr>
              <a:t>Total construction spending on health care, $ billions at an annual rate, monthly. Source: US Census Bureau via </a:t>
            </a:r>
            <a:r>
              <a:rPr sz="750" b="0" i="0" spc="15">
                <a:solidFill>
                  <a:srgbClr val="8C6239"/>
                </a:solidFill>
                <a:latin typeface="Calibri"/>
                <a:hlinkClick r:id="rId5">
                  <a:extLst>
                    <a:ext uri="{A12FA001-AC4F-418D-AE19-62706E023703}">
                      <ahyp:hlinkClr xmlns:ahyp="http://schemas.microsoft.com/office/drawing/2018/hyperlinkcolor" val="tx"/>
                    </a:ext>
                  </a:extLst>
                </a:hlinkClick>
              </a:rPr>
              <a:t>FRED</a:t>
            </a:r>
          </a:p>
        </p:txBody>
      </p:sp>
      <p:graphicFrame>
        <p:nvGraphicFramePr>
          <p:cNvPr id="28" name="Chart (edit data to update)"/>
          <p:cNvGraphicFramePr>
            <a:graphicFrameLocks noGrp="1"/>
          </p:cNvGraphicFramePr>
          <p:nvPr>
            <p:extLst>
              <p:ext uri="{D42A27DB-BD31-4B8C-83A1-F6EECF244321}">
                <p14:modId xmlns:p14="http://schemas.microsoft.com/office/powerpoint/2010/main" val="857406205"/>
              </p:ext>
            </p:extLst>
          </p:nvPr>
        </p:nvGraphicFramePr>
        <p:xfrm>
          <a:off x="3686175" y="2105025"/>
          <a:ext cx="2781300" cy="2381250"/>
        </p:xfrm>
        <a:graphic>
          <a:graphicData uri="http://schemas.openxmlformats.org/drawingml/2006/chart">
            <c:chart xmlns:c="http://schemas.openxmlformats.org/drawingml/2006/chart" xmlns:r="http://schemas.openxmlformats.org/officeDocument/2006/relationships" r:id="rId6"/>
          </a:graphicData>
        </a:graphic>
      </p:graphicFrame>
      <p:sp>
        <p:nvSpPr>
          <p:cNvPr id="29" name="Rectangle 28"/>
          <p:cNvSpPr/>
          <p:nvPr/>
        </p:nvSpPr>
        <p:spPr>
          <a:xfrm>
            <a:off x="3686175" y="4600575"/>
            <a:ext cx="2686050" cy="9525"/>
          </a:xfrm>
          <a:prstGeom prst="rect">
            <a:avLst/>
          </a:prstGeom>
          <a:solidFill>
            <a:srgbClr val="E3DCD3"/>
          </a:solidFill>
          <a:ln>
            <a:noFill/>
          </a:ln>
          <a:effectLst/>
        </p:spPr>
        <p:txBody>
          <a:bodyPr rtlCol="0" anchor="ctr"/>
          <a:lstStyle/>
          <a:p>
            <a:pPr algn="ctr"/>
            <a:endParaRPr/>
          </a:p>
        </p:txBody>
      </p:sp>
      <p:sp>
        <p:nvSpPr>
          <p:cNvPr id="30" name="Rectangle 29"/>
          <p:cNvSpPr/>
          <p:nvPr/>
        </p:nvSpPr>
        <p:spPr>
          <a:xfrm>
            <a:off x="3686175" y="4752975"/>
            <a:ext cx="47625" cy="47625"/>
          </a:xfrm>
          <a:prstGeom prst="rect">
            <a:avLst/>
          </a:prstGeom>
          <a:solidFill>
            <a:srgbClr val="B68757"/>
          </a:solidFill>
          <a:ln>
            <a:noFill/>
          </a:ln>
          <a:effectLst/>
        </p:spPr>
        <p:txBody>
          <a:bodyPr rtlCol="0" anchor="ctr"/>
          <a:lstStyle/>
          <a:p>
            <a:pPr algn="ctr"/>
            <a:endParaRPr/>
          </a:p>
        </p:txBody>
      </p:sp>
      <p:sp>
        <p:nvSpPr>
          <p:cNvPr id="31" name="Text: Health care construction ran at an"/>
          <p:cNvSpPr txBox="1"/>
          <p:nvPr/>
        </p:nvSpPr>
        <p:spPr>
          <a:xfrm>
            <a:off x="3810000" y="4714875"/>
            <a:ext cx="2576512" cy="323850"/>
          </a:xfrm>
          <a:prstGeom prst="rect">
            <a:avLst/>
          </a:prstGeom>
          <a:noFill/>
        </p:spPr>
        <p:txBody>
          <a:bodyPr wrap="square" lIns="0" tIns="0" rIns="0" bIns="0" anchor="t">
            <a:spAutoFit/>
          </a:bodyPr>
          <a:lstStyle/>
          <a:p>
            <a:pPr algn="l">
              <a:lnSpc>
                <a:spcPts val="1275"/>
              </a:lnSpc>
            </a:pPr>
            <a:r>
              <a:rPr sz="861" b="0" i="0" spc="15">
                <a:solidFill>
                  <a:srgbClr val="333231"/>
                </a:solidFill>
                <a:latin typeface="Calibri"/>
              </a:rPr>
              <a:t>Healthcare construction ran at an annual rate of $75.8 billion in August 2026, 49% above September 2021.</a:t>
            </a:r>
          </a:p>
        </p:txBody>
      </p:sp>
      <p:sp>
        <p:nvSpPr>
          <p:cNvPr id="32" name="Rectangle 31"/>
          <p:cNvSpPr/>
          <p:nvPr/>
        </p:nvSpPr>
        <p:spPr>
          <a:xfrm>
            <a:off x="3686175" y="5162550"/>
            <a:ext cx="47625" cy="47625"/>
          </a:xfrm>
          <a:prstGeom prst="rect">
            <a:avLst/>
          </a:prstGeom>
          <a:solidFill>
            <a:srgbClr val="B68757"/>
          </a:solidFill>
          <a:ln>
            <a:noFill/>
          </a:ln>
          <a:effectLst/>
        </p:spPr>
        <p:txBody>
          <a:bodyPr rtlCol="0" anchor="ctr"/>
          <a:lstStyle/>
          <a:p>
            <a:pPr algn="ctr"/>
            <a:endParaRPr/>
          </a:p>
        </p:txBody>
      </p:sp>
      <p:sp>
        <p:nvSpPr>
          <p:cNvPr id="33" name="Text: Medical care prices rose 13.0% ove"/>
          <p:cNvSpPr txBox="1"/>
          <p:nvPr/>
        </p:nvSpPr>
        <p:spPr>
          <a:xfrm>
            <a:off x="3810000" y="5124450"/>
            <a:ext cx="2576512" cy="485775"/>
          </a:xfrm>
          <a:prstGeom prst="rect">
            <a:avLst/>
          </a:prstGeom>
          <a:noFill/>
        </p:spPr>
        <p:txBody>
          <a:bodyPr wrap="square" lIns="0" tIns="0" rIns="0" bIns="0" anchor="t">
            <a:spAutoFit/>
          </a:bodyPr>
          <a:lstStyle/>
          <a:p>
            <a:pPr algn="l">
              <a:lnSpc>
                <a:spcPts val="1275"/>
              </a:lnSpc>
            </a:pPr>
            <a:r>
              <a:rPr sz="861" b="0" i="0" spc="15">
                <a:solidFill>
                  <a:srgbClr val="333231"/>
                </a:solidFill>
                <a:latin typeface="Calibri"/>
              </a:rPr>
              <a:t>Medical care prices rose 13.0% over the same period on the consumer price index (</a:t>
            </a:r>
            <a:r>
              <a:rPr sz="861" b="0" i="0" spc="15">
                <a:solidFill>
                  <a:srgbClr val="8C6239"/>
                </a:solidFill>
                <a:latin typeface="Calibri"/>
                <a:hlinkClick r:id="rId7">
                  <a:extLst>
                    <a:ext uri="{A12FA001-AC4F-418D-AE19-62706E023703}">
                      <ahyp:hlinkClr xmlns:ahyp="http://schemas.microsoft.com/office/drawing/2018/hyperlinkcolor" val="tx"/>
                    </a:ext>
                  </a:extLst>
                </a:hlinkClick>
              </a:rPr>
              <a:t>FRED</a:t>
            </a:r>
            <a:r>
              <a:rPr sz="861" b="0" i="0" spc="15">
                <a:solidFill>
                  <a:srgbClr val="333231"/>
                </a:solidFill>
                <a:latin typeface="Calibri"/>
              </a:rPr>
              <a:t>), so part of the increase reflects higher costs.</a:t>
            </a:r>
          </a:p>
        </p:txBody>
      </p:sp>
      <p:sp>
        <p:nvSpPr>
          <p:cNvPr id="34" name="Rectangle 33"/>
          <p:cNvSpPr/>
          <p:nvPr/>
        </p:nvSpPr>
        <p:spPr>
          <a:xfrm>
            <a:off x="6667500" y="1238250"/>
            <a:ext cx="2971800" cy="9525"/>
          </a:xfrm>
          <a:prstGeom prst="rect">
            <a:avLst/>
          </a:prstGeom>
          <a:solidFill>
            <a:srgbClr val="E3DCD3"/>
          </a:solidFill>
          <a:ln>
            <a:noFill/>
          </a:ln>
          <a:effectLst/>
        </p:spPr>
        <p:txBody>
          <a:bodyPr rtlCol="0" anchor="ctr"/>
          <a:lstStyle/>
          <a:p>
            <a:pPr algn="ctr"/>
            <a:endParaRPr/>
          </a:p>
        </p:txBody>
      </p:sp>
      <p:sp>
        <p:nvSpPr>
          <p:cNvPr id="35" name="Rectangle 34"/>
          <p:cNvSpPr/>
          <p:nvPr/>
        </p:nvSpPr>
        <p:spPr>
          <a:xfrm>
            <a:off x="9629775" y="1238250"/>
            <a:ext cx="9525" cy="5695950"/>
          </a:xfrm>
          <a:prstGeom prst="rect">
            <a:avLst/>
          </a:prstGeom>
          <a:solidFill>
            <a:srgbClr val="E3DCD3"/>
          </a:solidFill>
          <a:ln>
            <a:noFill/>
          </a:ln>
          <a:effectLst/>
        </p:spPr>
        <p:txBody>
          <a:bodyPr rtlCol="0" anchor="ctr"/>
          <a:lstStyle/>
          <a:p>
            <a:pPr algn="ctr"/>
            <a:endParaRPr/>
          </a:p>
        </p:txBody>
      </p:sp>
      <p:sp>
        <p:nvSpPr>
          <p:cNvPr id="36" name="Rectangle 35"/>
          <p:cNvSpPr/>
          <p:nvPr/>
        </p:nvSpPr>
        <p:spPr>
          <a:xfrm>
            <a:off x="6667500" y="6924675"/>
            <a:ext cx="2971800" cy="9525"/>
          </a:xfrm>
          <a:prstGeom prst="rect">
            <a:avLst/>
          </a:prstGeom>
          <a:solidFill>
            <a:srgbClr val="E3DCD3"/>
          </a:solidFill>
          <a:ln>
            <a:noFill/>
          </a:ln>
          <a:effectLst/>
        </p:spPr>
        <p:txBody>
          <a:bodyPr rtlCol="0" anchor="ctr"/>
          <a:lstStyle/>
          <a:p>
            <a:pPr algn="ctr"/>
            <a:endParaRPr/>
          </a:p>
        </p:txBody>
      </p:sp>
      <p:sp>
        <p:nvSpPr>
          <p:cNvPr id="37" name="Rectangle 36"/>
          <p:cNvSpPr/>
          <p:nvPr/>
        </p:nvSpPr>
        <p:spPr>
          <a:xfrm>
            <a:off x="6667500" y="1238250"/>
            <a:ext cx="9525" cy="5695950"/>
          </a:xfrm>
          <a:prstGeom prst="rect">
            <a:avLst/>
          </a:prstGeom>
          <a:solidFill>
            <a:srgbClr val="E3DCD3"/>
          </a:solidFill>
          <a:ln>
            <a:noFill/>
          </a:ln>
          <a:effectLst/>
        </p:spPr>
        <p:txBody>
          <a:bodyPr rtlCol="0" anchor="ctr"/>
          <a:lstStyle/>
          <a:p>
            <a:pPr algn="ctr"/>
            <a:endParaRPr/>
          </a:p>
        </p:txBody>
      </p:sp>
      <p:sp>
        <p:nvSpPr>
          <p:cNvPr id="38" name="Rectangle 37"/>
          <p:cNvSpPr/>
          <p:nvPr/>
        </p:nvSpPr>
        <p:spPr>
          <a:xfrm>
            <a:off x="6677025" y="1247775"/>
            <a:ext cx="2952750" cy="323850"/>
          </a:xfrm>
          <a:prstGeom prst="rect">
            <a:avLst/>
          </a:prstGeom>
          <a:solidFill>
            <a:srgbClr val="1B1A1A"/>
          </a:solidFill>
          <a:ln>
            <a:noFill/>
          </a:ln>
          <a:effectLst/>
        </p:spPr>
        <p:txBody>
          <a:bodyPr rtlCol="0" anchor="ctr"/>
          <a:lstStyle/>
          <a:p>
            <a:pPr algn="ctr"/>
            <a:endParaRPr/>
          </a:p>
        </p:txBody>
      </p:sp>
      <p:sp>
        <p:nvSpPr>
          <p:cNvPr id="39" name="Text: DRUG APPROVALS HAVE RECOVERED"/>
          <p:cNvSpPr txBox="1"/>
          <p:nvPr/>
        </p:nvSpPr>
        <p:spPr>
          <a:xfrm>
            <a:off x="6810375" y="1343025"/>
            <a:ext cx="2700338" cy="133350"/>
          </a:xfrm>
          <a:prstGeom prst="rect">
            <a:avLst/>
          </a:prstGeom>
          <a:noFill/>
        </p:spPr>
        <p:txBody>
          <a:bodyPr wrap="square" lIns="0" tIns="0" rIns="0" bIns="0" anchor="t">
            <a:spAutoFit/>
          </a:bodyPr>
          <a:lstStyle/>
          <a:p>
            <a:pPr algn="l">
              <a:lnSpc>
                <a:spcPts val="1050"/>
              </a:lnSpc>
            </a:pPr>
            <a:r>
              <a:rPr sz="788" b="1" i="0" spc="120">
                <a:solidFill>
                  <a:srgbClr val="FFFFFF"/>
                </a:solidFill>
                <a:latin typeface="Calibri"/>
              </a:rPr>
              <a:t>DRUG APPROVALS HAVE RECOVERED</a:t>
            </a:r>
          </a:p>
        </p:txBody>
      </p:sp>
      <p:sp>
        <p:nvSpPr>
          <p:cNvPr id="40" name="Text: Novel drugs approved by the FDA Ce"/>
          <p:cNvSpPr txBox="1"/>
          <p:nvPr/>
        </p:nvSpPr>
        <p:spPr>
          <a:xfrm>
            <a:off x="6810375" y="1666875"/>
            <a:ext cx="2700338" cy="400050"/>
          </a:xfrm>
          <a:prstGeom prst="rect">
            <a:avLst/>
          </a:prstGeom>
          <a:noFill/>
        </p:spPr>
        <p:txBody>
          <a:bodyPr wrap="square" lIns="0" tIns="0" rIns="0" bIns="0" anchor="t">
            <a:spAutoFit/>
          </a:bodyPr>
          <a:lstStyle/>
          <a:p>
            <a:pPr algn="l">
              <a:lnSpc>
                <a:spcPts val="1050"/>
              </a:lnSpc>
            </a:pPr>
            <a:r>
              <a:rPr sz="750" b="0" i="0" spc="15">
                <a:solidFill>
                  <a:srgbClr val="6F6A66"/>
                </a:solidFill>
                <a:latin typeface="Calibri"/>
              </a:rPr>
              <a:t>Novel drugs approved by the FDA Center for Drug Evaluation and Research, by year. Source: </a:t>
            </a:r>
            <a:r>
              <a:rPr sz="750" b="0" i="0" spc="15">
                <a:solidFill>
                  <a:srgbClr val="8C6239"/>
                </a:solidFill>
                <a:latin typeface="Calibri"/>
                <a:hlinkClick r:id="rId8">
                  <a:extLst>
                    <a:ext uri="{A12FA001-AC4F-418D-AE19-62706E023703}">
                      <ahyp:hlinkClr xmlns:ahyp="http://schemas.microsoft.com/office/drawing/2018/hyperlinkcolor" val="tx"/>
                    </a:ext>
                  </a:extLst>
                </a:hlinkClick>
              </a:rPr>
              <a:t>FDA</a:t>
            </a:r>
            <a:r>
              <a:rPr sz="750" b="0" i="0" spc="15">
                <a:solidFill>
                  <a:srgbClr val="6F6A66"/>
                </a:solidFill>
                <a:latin typeface="Calibri"/>
              </a:rPr>
              <a:t>; </a:t>
            </a:r>
            <a:r>
              <a:rPr sz="750" b="0" i="0" spc="15">
                <a:solidFill>
                  <a:srgbClr val="8C6239"/>
                </a:solidFill>
                <a:latin typeface="Calibri"/>
                <a:hlinkClick r:id="rId9">
                  <a:extLst>
                    <a:ext uri="{A12FA001-AC4F-418D-AE19-62706E023703}">
                      <ahyp:hlinkClr xmlns:ahyp="http://schemas.microsoft.com/office/drawing/2018/hyperlinkcolor" val="tx"/>
                    </a:ext>
                  </a:extLst>
                </a:hlinkClick>
              </a:rPr>
              <a:t>RAPS</a:t>
            </a:r>
          </a:p>
        </p:txBody>
      </p:sp>
      <p:graphicFrame>
        <p:nvGraphicFramePr>
          <p:cNvPr id="41" name="Chart (edit data to update)"/>
          <p:cNvGraphicFramePr>
            <a:graphicFrameLocks noGrp="1"/>
          </p:cNvGraphicFramePr>
          <p:nvPr/>
        </p:nvGraphicFramePr>
        <p:xfrm>
          <a:off x="6810375" y="2105025"/>
          <a:ext cx="2781300" cy="2381250"/>
        </p:xfrm>
        <a:graphic>
          <a:graphicData uri="http://schemas.openxmlformats.org/drawingml/2006/chart">
            <c:chart xmlns:c="http://schemas.openxmlformats.org/drawingml/2006/chart" xmlns:r="http://schemas.openxmlformats.org/officeDocument/2006/relationships" r:id="rId10"/>
          </a:graphicData>
        </a:graphic>
      </p:graphicFrame>
      <p:sp>
        <p:nvSpPr>
          <p:cNvPr id="42" name="Rectangle 41"/>
          <p:cNvSpPr/>
          <p:nvPr/>
        </p:nvSpPr>
        <p:spPr>
          <a:xfrm>
            <a:off x="6810375" y="4600575"/>
            <a:ext cx="2686050" cy="9525"/>
          </a:xfrm>
          <a:prstGeom prst="rect">
            <a:avLst/>
          </a:prstGeom>
          <a:solidFill>
            <a:srgbClr val="E3DCD3"/>
          </a:solidFill>
          <a:ln>
            <a:noFill/>
          </a:ln>
          <a:effectLst/>
        </p:spPr>
        <p:txBody>
          <a:bodyPr rtlCol="0" anchor="ctr"/>
          <a:lstStyle/>
          <a:p>
            <a:pPr algn="ctr"/>
            <a:endParaRPr/>
          </a:p>
        </p:txBody>
      </p:sp>
      <p:sp>
        <p:nvSpPr>
          <p:cNvPr id="43" name="Rectangle 42"/>
          <p:cNvSpPr/>
          <p:nvPr/>
        </p:nvSpPr>
        <p:spPr>
          <a:xfrm>
            <a:off x="6810375" y="4752975"/>
            <a:ext cx="47625" cy="47625"/>
          </a:xfrm>
          <a:prstGeom prst="rect">
            <a:avLst/>
          </a:prstGeom>
          <a:solidFill>
            <a:srgbClr val="B68757"/>
          </a:solidFill>
          <a:ln>
            <a:noFill/>
          </a:ln>
          <a:effectLst/>
        </p:spPr>
        <p:txBody>
          <a:bodyPr rtlCol="0" anchor="ctr"/>
          <a:lstStyle/>
          <a:p>
            <a:pPr algn="ctr"/>
            <a:endParaRPr/>
          </a:p>
        </p:txBody>
      </p:sp>
      <p:sp>
        <p:nvSpPr>
          <p:cNvPr id="44" name="Text: The FDA approved 46 novel drugs in"/>
          <p:cNvSpPr txBox="1"/>
          <p:nvPr/>
        </p:nvSpPr>
        <p:spPr>
          <a:xfrm>
            <a:off x="6934200" y="4714875"/>
            <a:ext cx="2576512" cy="323850"/>
          </a:xfrm>
          <a:prstGeom prst="rect">
            <a:avLst/>
          </a:prstGeom>
          <a:noFill/>
        </p:spPr>
        <p:txBody>
          <a:bodyPr wrap="square" lIns="0" tIns="0" rIns="0" bIns="0" anchor="t">
            <a:spAutoFit/>
          </a:bodyPr>
          <a:lstStyle/>
          <a:p>
            <a:pPr algn="l">
              <a:lnSpc>
                <a:spcPts val="1275"/>
              </a:lnSpc>
            </a:pPr>
            <a:r>
              <a:rPr sz="861" b="0" i="0" spc="15">
                <a:solidFill>
                  <a:srgbClr val="333231"/>
                </a:solidFill>
                <a:latin typeface="Calibri"/>
              </a:rPr>
              <a:t>The FDA approved 46 novel drugs in 2025 and 45 in 2026 through September 28, after a low of 37 in 2022.</a:t>
            </a:r>
          </a:p>
        </p:txBody>
      </p:sp>
      <p:sp>
        <p:nvSpPr>
          <p:cNvPr id="45" name="Rectangle 44"/>
          <p:cNvSpPr/>
          <p:nvPr/>
        </p:nvSpPr>
        <p:spPr>
          <a:xfrm>
            <a:off x="6810375" y="5162550"/>
            <a:ext cx="47625" cy="47625"/>
          </a:xfrm>
          <a:prstGeom prst="rect">
            <a:avLst/>
          </a:prstGeom>
          <a:solidFill>
            <a:srgbClr val="B68757"/>
          </a:solidFill>
          <a:ln>
            <a:noFill/>
          </a:ln>
          <a:effectLst/>
        </p:spPr>
        <p:txBody>
          <a:bodyPr rtlCol="0" anchor="ctr"/>
          <a:lstStyle/>
          <a:p>
            <a:pPr algn="ctr"/>
            <a:endParaRPr/>
          </a:p>
        </p:txBody>
      </p:sp>
      <p:sp>
        <p:nvSpPr>
          <p:cNvPr id="46" name="Text: Outsourced research has recovered "/>
          <p:cNvSpPr txBox="1"/>
          <p:nvPr/>
        </p:nvSpPr>
        <p:spPr>
          <a:xfrm>
            <a:off x="6934200" y="5124450"/>
            <a:ext cx="2576512" cy="485775"/>
          </a:xfrm>
          <a:prstGeom prst="rect">
            <a:avLst/>
          </a:prstGeom>
          <a:noFill/>
        </p:spPr>
        <p:txBody>
          <a:bodyPr wrap="square" lIns="0" tIns="0" rIns="0" bIns="0" anchor="t">
            <a:spAutoFit/>
          </a:bodyPr>
          <a:lstStyle/>
          <a:p>
            <a:pPr algn="l">
              <a:lnSpc>
                <a:spcPts val="1275"/>
              </a:lnSpc>
            </a:pPr>
            <a:r>
              <a:rPr sz="861" b="0" i="0" spc="15">
                <a:solidFill>
                  <a:srgbClr val="333231"/>
                </a:solidFill>
                <a:latin typeface="Calibri"/>
              </a:rPr>
              <a:t>Outsourced research has recovered alongside approvals, with IQVIA booking $1.22 of new work for each dollar of revenue in the second quarter (</a:t>
            </a:r>
            <a:r>
              <a:rPr sz="861" b="0" i="0" spc="15">
                <a:solidFill>
                  <a:srgbClr val="8C6239"/>
                </a:solidFill>
                <a:latin typeface="Calibri"/>
                <a:hlinkClick r:id="rId11">
                  <a:extLst>
                    <a:ext uri="{A12FA001-AC4F-418D-AE19-62706E023703}">
                      <ahyp:hlinkClr xmlns:ahyp="http://schemas.microsoft.com/office/drawing/2018/hyperlinkcolor" val="tx"/>
                    </a:ext>
                  </a:extLst>
                </a:hlinkClick>
              </a:rPr>
              <a:t>IQVIA</a:t>
            </a:r>
            <a:r>
              <a:rPr sz="861" b="0" i="0" spc="15">
                <a:solidFill>
                  <a:srgbClr val="333231"/>
                </a:solidFill>
                <a:latin typeface="Calibri"/>
              </a:rPr>
              <a:t>).</a:t>
            </a:r>
          </a:p>
        </p:txBody>
      </p:sp>
      <p:sp>
        <p:nvSpPr>
          <p:cNvPr id="47" name="Rectangle 46"/>
          <p:cNvSpPr/>
          <p:nvPr/>
        </p:nvSpPr>
        <p:spPr>
          <a:xfrm>
            <a:off x="419100" y="7029450"/>
            <a:ext cx="9220200" cy="9525"/>
          </a:xfrm>
          <a:prstGeom prst="rect">
            <a:avLst/>
          </a:prstGeom>
          <a:solidFill>
            <a:srgbClr val="E3DCD3"/>
          </a:solidFill>
          <a:ln>
            <a:noFill/>
          </a:ln>
          <a:effectLst/>
        </p:spPr>
        <p:txBody>
          <a:bodyPr rtlCol="0" anchor="ctr"/>
          <a:lstStyle/>
          <a:p>
            <a:pPr algn="ctr"/>
            <a:endParaRPr/>
          </a:p>
        </p:txBody>
      </p:sp>
      <p:pic>
        <p:nvPicPr>
          <p:cNvPr id="48" name="Picture 47" descr="Benchmark International"/>
          <p:cNvPicPr>
            <a:picLocks noChangeAspect="1"/>
          </p:cNvPicPr>
          <p:nvPr/>
        </p:nvPicPr>
        <p:blipFill>
          <a:blip r:embed="rId12"/>
          <a:srcRect/>
          <a:stretch>
            <a:fillRect/>
          </a:stretch>
        </p:blipFill>
        <p:spPr>
          <a:xfrm>
            <a:off x="419100" y="7143750"/>
            <a:ext cx="914400" cy="171450"/>
          </a:xfrm>
          <a:prstGeom prst="rect">
            <a:avLst/>
          </a:prstGeom>
        </p:spPr>
      </p:pic>
      <p:sp>
        <p:nvSpPr>
          <p:cNvPr id="49" name="Text: * 2026 covers approvals through Se"/>
          <p:cNvSpPr txBox="1"/>
          <p:nvPr/>
        </p:nvSpPr>
        <p:spPr>
          <a:xfrm>
            <a:off x="1543050" y="7105650"/>
            <a:ext cx="7748588" cy="238125"/>
          </a:xfrm>
          <a:prstGeom prst="rect">
            <a:avLst/>
          </a:prstGeom>
          <a:noFill/>
        </p:spPr>
        <p:txBody>
          <a:bodyPr wrap="square" lIns="0" tIns="0" rIns="0" bIns="0" anchor="t">
            <a:spAutoFit/>
          </a:bodyPr>
          <a:lstStyle/>
          <a:p>
            <a:pPr algn="l">
              <a:lnSpc>
                <a:spcPts val="938"/>
              </a:lnSpc>
            </a:pPr>
            <a:r>
              <a:rPr sz="675" b="0" i="0" spc="8">
                <a:solidFill>
                  <a:srgbClr val="6F6A66"/>
                </a:solidFill>
                <a:latin typeface="Calibri"/>
              </a:rPr>
              <a:t>* 2026 covers approvals through September 28. Employment and construction series run from September 2021 to the latest month published as of October 7, 2026. Approval counts for 2016 to 2021 and 2024 are as reported by RAPS and US Pharmacist from FDA data.</a:t>
            </a:r>
          </a:p>
        </p:txBody>
      </p:sp>
      <p:sp>
        <p:nvSpPr>
          <p:cNvPr id="50" name="Text: 05"/>
          <p:cNvSpPr txBox="1"/>
          <p:nvPr/>
        </p:nvSpPr>
        <p:spPr>
          <a:xfrm>
            <a:off x="9509373" y="7162800"/>
            <a:ext cx="144214" cy="133350"/>
          </a:xfrm>
          <a:prstGeom prst="rect">
            <a:avLst/>
          </a:prstGeom>
          <a:noFill/>
        </p:spPr>
        <p:txBody>
          <a:bodyPr wrap="square" lIns="0" tIns="0" rIns="0" bIns="0" anchor="t">
            <a:spAutoFit/>
          </a:bodyPr>
          <a:lstStyle/>
          <a:p>
            <a:pPr algn="l">
              <a:lnSpc>
                <a:spcPts val="1050"/>
              </a:lnSpc>
            </a:pPr>
            <a:r>
              <a:rPr sz="712" b="1" i="0" spc="150">
                <a:solidFill>
                  <a:srgbClr val="1B1A1A"/>
                </a:solidFill>
                <a:latin typeface="Calibri"/>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57150" cy="7772400"/>
          </a:xfrm>
          <a:prstGeom prst="rect">
            <a:avLst/>
          </a:prstGeom>
          <a:solidFill>
            <a:srgbClr val="B68757"/>
          </a:solidFill>
          <a:ln>
            <a:noFill/>
          </a:ln>
          <a:effectLst/>
        </p:spPr>
        <p:txBody>
          <a:bodyPr rtlCol="0" anchor="ctr"/>
          <a:lstStyle/>
          <a:p>
            <a:pPr algn="ctr"/>
            <a:endParaRPr/>
          </a:p>
        </p:txBody>
      </p:sp>
      <p:sp>
        <p:nvSpPr>
          <p:cNvPr id="3" name="Text: HEALTHCARE | QUARTERLY SECTOR BRIE"/>
          <p:cNvSpPr txBox="1"/>
          <p:nvPr/>
        </p:nvSpPr>
        <p:spPr>
          <a:xfrm>
            <a:off x="419100" y="381000"/>
            <a:ext cx="2439591" cy="133350"/>
          </a:xfrm>
          <a:prstGeom prst="rect">
            <a:avLst/>
          </a:prstGeom>
          <a:noFill/>
        </p:spPr>
        <p:txBody>
          <a:bodyPr wrap="none" lIns="0" tIns="0" rIns="0" bIns="0" anchor="t">
            <a:spAutoFit/>
          </a:bodyPr>
          <a:lstStyle/>
          <a:p>
            <a:pPr algn="l">
              <a:lnSpc>
                <a:spcPts val="1050"/>
              </a:lnSpc>
            </a:pPr>
            <a:r>
              <a:rPr sz="675" b="1" i="0" spc="195">
                <a:solidFill>
                  <a:srgbClr val="8C6239"/>
                </a:solidFill>
                <a:latin typeface="Calibri"/>
              </a:rPr>
              <a:t>HEALTHCARE | QUARTERLY INDUSTRY REPORT</a:t>
            </a:r>
          </a:p>
        </p:txBody>
      </p:sp>
      <p:sp>
        <p:nvSpPr>
          <p:cNvPr id="4" name="Text: Q4 2026"/>
          <p:cNvSpPr txBox="1"/>
          <p:nvPr/>
        </p:nvSpPr>
        <p:spPr>
          <a:xfrm>
            <a:off x="9188648" y="361950"/>
            <a:ext cx="464939" cy="171450"/>
          </a:xfrm>
          <a:prstGeom prst="rect">
            <a:avLst/>
          </a:prstGeom>
          <a:noFill/>
        </p:spPr>
        <p:txBody>
          <a:bodyPr wrap="square" lIns="0" tIns="0" rIns="0" bIns="0" anchor="t">
            <a:spAutoFit/>
          </a:bodyPr>
          <a:lstStyle/>
          <a:p>
            <a:pPr algn="l">
              <a:lnSpc>
                <a:spcPts val="1350"/>
              </a:lnSpc>
            </a:pPr>
            <a:r>
              <a:rPr sz="900" b="0" i="0" spc="90">
                <a:solidFill>
                  <a:srgbClr val="6F6A66"/>
                </a:solidFill>
                <a:latin typeface="Cambria"/>
              </a:rPr>
              <a:t>Q4 2026</a:t>
            </a:r>
          </a:p>
        </p:txBody>
      </p:sp>
      <p:sp>
        <p:nvSpPr>
          <p:cNvPr id="5" name="Text: Perspectives on Four Focus Areas"/>
          <p:cNvSpPr txBox="1"/>
          <p:nvPr/>
        </p:nvSpPr>
        <p:spPr>
          <a:xfrm>
            <a:off x="419100" y="523875"/>
            <a:ext cx="9234488" cy="323850"/>
          </a:xfrm>
          <a:prstGeom prst="rect">
            <a:avLst/>
          </a:prstGeom>
          <a:noFill/>
        </p:spPr>
        <p:txBody>
          <a:bodyPr wrap="square" lIns="0" tIns="0" rIns="0" bIns="0" anchor="t">
            <a:spAutoFit/>
          </a:bodyPr>
          <a:lstStyle/>
          <a:p>
            <a:pPr algn="l">
              <a:lnSpc>
                <a:spcPts val="2550"/>
              </a:lnSpc>
            </a:pPr>
            <a:r>
              <a:rPr sz="2025" b="1" i="0">
                <a:solidFill>
                  <a:srgbClr val="1B1A1A"/>
                </a:solidFill>
                <a:latin typeface="Cambria"/>
              </a:rPr>
              <a:t>Perspectives on Four Sectors</a:t>
            </a:r>
          </a:p>
        </p:txBody>
      </p:sp>
      <p:sp>
        <p:nvSpPr>
          <p:cNvPr id="6" name="Text: Each focus area has its own buyers"/>
          <p:cNvSpPr txBox="1"/>
          <p:nvPr/>
        </p:nvSpPr>
        <p:spPr>
          <a:xfrm>
            <a:off x="419100" y="885825"/>
            <a:ext cx="10215086" cy="180975"/>
          </a:xfrm>
          <a:prstGeom prst="rect">
            <a:avLst/>
          </a:prstGeom>
          <a:noFill/>
        </p:spPr>
        <p:txBody>
          <a:bodyPr wrap="square" lIns="0" tIns="0" rIns="0" bIns="0" anchor="t">
            <a:spAutoFit/>
          </a:bodyPr>
          <a:lstStyle/>
          <a:p>
            <a:pPr algn="l">
              <a:lnSpc>
                <a:spcPts val="1388"/>
              </a:lnSpc>
            </a:pPr>
            <a:r>
              <a:rPr sz="938" b="0" i="0" spc="15">
                <a:solidFill>
                  <a:srgbClr val="6F6A66"/>
                </a:solidFill>
                <a:latin typeface="Calibri"/>
              </a:rPr>
              <a:t>Each sector has its own buyers and drivers. This page covers providers, laboratories, and research services.</a:t>
            </a:r>
          </a:p>
        </p:txBody>
      </p:sp>
      <p:sp>
        <p:nvSpPr>
          <p:cNvPr id="7" name="Rectangle 6"/>
          <p:cNvSpPr/>
          <p:nvPr/>
        </p:nvSpPr>
        <p:spPr>
          <a:xfrm>
            <a:off x="419100" y="1143000"/>
            <a:ext cx="9220200" cy="9525"/>
          </a:xfrm>
          <a:prstGeom prst="rect">
            <a:avLst/>
          </a:prstGeom>
          <a:solidFill>
            <a:srgbClr val="E3DCD3"/>
          </a:solidFill>
          <a:ln>
            <a:noFill/>
          </a:ln>
          <a:effectLst/>
        </p:spPr>
        <p:txBody>
          <a:bodyPr rtlCol="0" anchor="ctr"/>
          <a:lstStyle/>
          <a:p>
            <a:pPr algn="ctr"/>
            <a:endParaRPr/>
          </a:p>
        </p:txBody>
      </p:sp>
      <p:sp>
        <p:nvSpPr>
          <p:cNvPr id="8" name="Rectangle 7"/>
          <p:cNvSpPr/>
          <p:nvPr/>
        </p:nvSpPr>
        <p:spPr>
          <a:xfrm>
            <a:off x="419100" y="1238250"/>
            <a:ext cx="9220200" cy="2781300"/>
          </a:xfrm>
          <a:prstGeom prst="rect">
            <a:avLst/>
          </a:prstGeom>
          <a:solidFill>
            <a:srgbClr val="FFFFFF"/>
          </a:solidFill>
          <a:ln>
            <a:noFill/>
          </a:ln>
          <a:effectLst/>
        </p:spPr>
        <p:txBody>
          <a:bodyPr rtlCol="0" anchor="ctr"/>
          <a:lstStyle/>
          <a:p>
            <a:pPr algn="ctr"/>
            <a:endParaRPr/>
          </a:p>
        </p:txBody>
      </p:sp>
      <p:sp>
        <p:nvSpPr>
          <p:cNvPr id="9" name="Rectangle 8"/>
          <p:cNvSpPr/>
          <p:nvPr/>
        </p:nvSpPr>
        <p:spPr>
          <a:xfrm>
            <a:off x="419100" y="1238250"/>
            <a:ext cx="9220200" cy="9525"/>
          </a:xfrm>
          <a:prstGeom prst="rect">
            <a:avLst/>
          </a:prstGeom>
          <a:solidFill>
            <a:srgbClr val="E3DCD3"/>
          </a:solidFill>
          <a:ln>
            <a:noFill/>
          </a:ln>
          <a:effectLst/>
        </p:spPr>
        <p:txBody>
          <a:bodyPr rtlCol="0" anchor="ctr"/>
          <a:lstStyle/>
          <a:p>
            <a:pPr algn="ctr"/>
            <a:endParaRPr/>
          </a:p>
        </p:txBody>
      </p:sp>
      <p:sp>
        <p:nvSpPr>
          <p:cNvPr id="10" name="Rectangle 9"/>
          <p:cNvSpPr/>
          <p:nvPr/>
        </p:nvSpPr>
        <p:spPr>
          <a:xfrm>
            <a:off x="9629775" y="1238250"/>
            <a:ext cx="9525" cy="2781300"/>
          </a:xfrm>
          <a:prstGeom prst="rect">
            <a:avLst/>
          </a:prstGeom>
          <a:solidFill>
            <a:srgbClr val="E3DCD3"/>
          </a:solidFill>
          <a:ln>
            <a:noFill/>
          </a:ln>
          <a:effectLst/>
        </p:spPr>
        <p:txBody>
          <a:bodyPr rtlCol="0" anchor="ctr"/>
          <a:lstStyle/>
          <a:p>
            <a:pPr algn="ctr"/>
            <a:endParaRPr/>
          </a:p>
        </p:txBody>
      </p:sp>
      <p:sp>
        <p:nvSpPr>
          <p:cNvPr id="11" name="Rectangle 10"/>
          <p:cNvSpPr/>
          <p:nvPr/>
        </p:nvSpPr>
        <p:spPr>
          <a:xfrm>
            <a:off x="419100" y="4010025"/>
            <a:ext cx="9220200" cy="9525"/>
          </a:xfrm>
          <a:prstGeom prst="rect">
            <a:avLst/>
          </a:prstGeom>
          <a:solidFill>
            <a:srgbClr val="E3DCD3"/>
          </a:solidFill>
          <a:ln>
            <a:noFill/>
          </a:ln>
          <a:effectLst/>
        </p:spPr>
        <p:txBody>
          <a:bodyPr rtlCol="0" anchor="ctr"/>
          <a:lstStyle/>
          <a:p>
            <a:pPr algn="ctr"/>
            <a:endParaRPr/>
          </a:p>
        </p:txBody>
      </p:sp>
      <p:sp>
        <p:nvSpPr>
          <p:cNvPr id="12" name="Rectangle 11"/>
          <p:cNvSpPr/>
          <p:nvPr/>
        </p:nvSpPr>
        <p:spPr>
          <a:xfrm>
            <a:off x="419100" y="1238250"/>
            <a:ext cx="9525" cy="2781300"/>
          </a:xfrm>
          <a:prstGeom prst="rect">
            <a:avLst/>
          </a:prstGeom>
          <a:solidFill>
            <a:srgbClr val="E3DCD3"/>
          </a:solidFill>
          <a:ln>
            <a:noFill/>
          </a:ln>
          <a:effectLst/>
        </p:spPr>
        <p:txBody>
          <a:bodyPr rtlCol="0" anchor="ctr"/>
          <a:lstStyle/>
          <a:p>
            <a:pPr algn="ctr"/>
            <a:endParaRPr/>
          </a:p>
        </p:txBody>
      </p:sp>
      <p:sp>
        <p:nvSpPr>
          <p:cNvPr id="13" name="Rectangle 12"/>
          <p:cNvSpPr/>
          <p:nvPr/>
        </p:nvSpPr>
        <p:spPr>
          <a:xfrm>
            <a:off x="428625" y="1247775"/>
            <a:ext cx="9201150" cy="419100"/>
          </a:xfrm>
          <a:prstGeom prst="rect">
            <a:avLst/>
          </a:prstGeom>
          <a:solidFill>
            <a:srgbClr val="1B1A1A"/>
          </a:solidFill>
          <a:ln>
            <a:noFill/>
          </a:ln>
          <a:effectLst/>
        </p:spPr>
        <p:txBody>
          <a:bodyPr rtlCol="0" anchor="ctr"/>
          <a:lstStyle/>
          <a:p>
            <a:pPr algn="ctr"/>
            <a:endParaRPr/>
          </a:p>
        </p:txBody>
      </p:sp>
      <p:pic>
        <p:nvPicPr>
          <p:cNvPr id="14" name="Picture 13" descr="v2e7b625999a4.png"/>
          <p:cNvPicPr>
            <a:picLocks noChangeAspect="1"/>
          </p:cNvPicPr>
          <p:nvPr/>
        </p:nvPicPr>
        <p:blipFill>
          <a:blip r:embed="rId2"/>
          <a:stretch>
            <a:fillRect/>
          </a:stretch>
        </p:blipFill>
        <p:spPr>
          <a:xfrm>
            <a:off x="581025" y="1323975"/>
            <a:ext cx="266700" cy="266700"/>
          </a:xfrm>
          <a:prstGeom prst="rect">
            <a:avLst/>
          </a:prstGeom>
        </p:spPr>
      </p:pic>
      <p:sp>
        <p:nvSpPr>
          <p:cNvPr id="15" name="Text: PROVIDER SERVICES"/>
          <p:cNvSpPr txBox="1"/>
          <p:nvPr/>
        </p:nvSpPr>
        <p:spPr>
          <a:xfrm>
            <a:off x="952500" y="1390650"/>
            <a:ext cx="1181695" cy="133350"/>
          </a:xfrm>
          <a:prstGeom prst="rect">
            <a:avLst/>
          </a:prstGeom>
          <a:noFill/>
        </p:spPr>
        <p:txBody>
          <a:bodyPr wrap="square" lIns="0" tIns="0" rIns="0" bIns="0" anchor="t">
            <a:spAutoFit/>
          </a:bodyPr>
          <a:lstStyle/>
          <a:p>
            <a:pPr algn="l">
              <a:lnSpc>
                <a:spcPts val="1050"/>
              </a:lnSpc>
            </a:pPr>
            <a:r>
              <a:rPr sz="825" b="1" i="0" spc="135">
                <a:solidFill>
                  <a:srgbClr val="FFFFFF"/>
                </a:solidFill>
                <a:latin typeface="Calibri"/>
              </a:rPr>
              <a:t>PROVIDER SERVICES</a:t>
            </a:r>
          </a:p>
        </p:txBody>
      </p:sp>
      <p:sp>
        <p:nvSpPr>
          <p:cNvPr id="16" name="Rectangle 15"/>
          <p:cNvSpPr/>
          <p:nvPr/>
        </p:nvSpPr>
        <p:spPr>
          <a:xfrm>
            <a:off x="2914650" y="1666875"/>
            <a:ext cx="9525" cy="2343150"/>
          </a:xfrm>
          <a:prstGeom prst="rect">
            <a:avLst/>
          </a:prstGeom>
          <a:solidFill>
            <a:srgbClr val="E3DCD3"/>
          </a:solidFill>
          <a:ln>
            <a:noFill/>
          </a:ln>
          <a:effectLst/>
        </p:spPr>
        <p:txBody>
          <a:bodyPr rtlCol="0" anchor="ctr"/>
          <a:lstStyle/>
          <a:p>
            <a:pPr algn="ctr"/>
            <a:endParaRPr/>
          </a:p>
        </p:txBody>
      </p:sp>
      <p:sp>
        <p:nvSpPr>
          <p:cNvPr id="17" name="Text: Health systems are buying access p"/>
          <p:cNvSpPr txBox="1"/>
          <p:nvPr/>
        </p:nvSpPr>
        <p:spPr>
          <a:xfrm>
            <a:off x="581025" y="1790700"/>
            <a:ext cx="2195512" cy="585788"/>
          </a:xfrm>
          <a:prstGeom prst="rect">
            <a:avLst/>
          </a:prstGeom>
          <a:noFill/>
        </p:spPr>
        <p:txBody>
          <a:bodyPr wrap="square" lIns="0" tIns="0" rIns="0" bIns="0" anchor="t">
            <a:spAutoFit/>
          </a:bodyPr>
          <a:lstStyle/>
          <a:p>
            <a:pPr algn="l">
              <a:lnSpc>
                <a:spcPts val="1538"/>
              </a:lnSpc>
            </a:pPr>
            <a:r>
              <a:rPr sz="1125" b="0" i="1">
                <a:solidFill>
                  <a:srgbClr val="1B1A1A"/>
                </a:solidFill>
                <a:latin typeface="Cambria"/>
              </a:rPr>
              <a:t>Health systems are buying access points and sponsors are trading platforms.</a:t>
            </a:r>
          </a:p>
        </p:txBody>
      </p:sp>
      <p:sp>
        <p:nvSpPr>
          <p:cNvPr id="18" name="Text: BUSINESSES WE COVER"/>
          <p:cNvSpPr txBox="1"/>
          <p:nvPr/>
        </p:nvSpPr>
        <p:spPr>
          <a:xfrm>
            <a:off x="581025" y="2471738"/>
            <a:ext cx="2195512" cy="123825"/>
          </a:xfrm>
          <a:prstGeom prst="rect">
            <a:avLst/>
          </a:prstGeom>
          <a:noFill/>
        </p:spPr>
        <p:txBody>
          <a:bodyPr wrap="square" lIns="0" tIns="0" rIns="0" bIns="0" anchor="t">
            <a:spAutoFit/>
          </a:bodyPr>
          <a:lstStyle/>
          <a:p>
            <a:pPr algn="l">
              <a:lnSpc>
                <a:spcPts val="975"/>
              </a:lnSpc>
            </a:pPr>
            <a:r>
              <a:rPr sz="675" b="1" i="0" spc="150">
                <a:solidFill>
                  <a:srgbClr val="8C6239"/>
                </a:solidFill>
                <a:latin typeface="Calibri"/>
              </a:rPr>
              <a:t>BUSINESSES WE COVER</a:t>
            </a:r>
          </a:p>
        </p:txBody>
      </p:sp>
      <p:sp>
        <p:nvSpPr>
          <p:cNvPr id="19" name="Text: Urgent care, Optometry &amp; eye care,"/>
          <p:cNvSpPr txBox="1"/>
          <p:nvPr/>
        </p:nvSpPr>
        <p:spPr>
          <a:xfrm>
            <a:off x="581025" y="2633662"/>
            <a:ext cx="2195512" cy="442912"/>
          </a:xfrm>
          <a:prstGeom prst="rect">
            <a:avLst/>
          </a:prstGeom>
          <a:noFill/>
        </p:spPr>
        <p:txBody>
          <a:bodyPr wrap="square" lIns="0" tIns="0" rIns="0" bIns="0" anchor="t">
            <a:spAutoFit/>
          </a:bodyPr>
          <a:lstStyle/>
          <a:p>
            <a:pPr algn="l">
              <a:lnSpc>
                <a:spcPts val="1162"/>
              </a:lnSpc>
            </a:pPr>
            <a:r>
              <a:rPr sz="788" b="0" i="0" spc="15">
                <a:solidFill>
                  <a:srgbClr val="333231"/>
                </a:solidFill>
                <a:latin typeface="Calibri"/>
              </a:rPr>
              <a:t>Urgent care, Optometry &amp; eye care, Pediatric &amp; physical therapy, Multi-specialty medical groups, Emergency medical services, Renal care</a:t>
            </a:r>
          </a:p>
        </p:txBody>
      </p:sp>
      <p:pic>
        <p:nvPicPr>
          <p:cNvPr id="20" name="Picture 19" descr="A clinician listening to a child with a stethoscope"/>
          <p:cNvPicPr>
            <a:picLocks noChangeAspect="1"/>
          </p:cNvPicPr>
          <p:nvPr/>
        </p:nvPicPr>
        <p:blipFill>
          <a:blip r:embed="rId3"/>
          <a:srcRect t="24371" b="24371"/>
          <a:stretch>
            <a:fillRect/>
          </a:stretch>
        </p:blipFill>
        <p:spPr>
          <a:xfrm>
            <a:off x="581025" y="3343275"/>
            <a:ext cx="2190750" cy="533400"/>
          </a:xfrm>
          <a:prstGeom prst="rect">
            <a:avLst/>
          </a:prstGeom>
        </p:spPr>
      </p:pic>
      <p:sp>
        <p:nvSpPr>
          <p:cNvPr id="21" name="Text: KEY TRENDS"/>
          <p:cNvSpPr txBox="1"/>
          <p:nvPr/>
        </p:nvSpPr>
        <p:spPr>
          <a:xfrm>
            <a:off x="3095625" y="1800225"/>
            <a:ext cx="4129088" cy="123825"/>
          </a:xfrm>
          <a:prstGeom prst="rect">
            <a:avLst/>
          </a:prstGeom>
          <a:noFill/>
        </p:spPr>
        <p:txBody>
          <a:bodyPr wrap="square" lIns="0" tIns="0" rIns="0" bIns="0" anchor="t">
            <a:spAutoFit/>
          </a:bodyPr>
          <a:lstStyle/>
          <a:p>
            <a:pPr algn="l">
              <a:lnSpc>
                <a:spcPts val="975"/>
              </a:lnSpc>
            </a:pPr>
            <a:r>
              <a:rPr sz="675" b="1" i="0" spc="150">
                <a:solidFill>
                  <a:srgbClr val="8C6239"/>
                </a:solidFill>
                <a:latin typeface="Calibri"/>
              </a:rPr>
              <a:t>KEY TRENDS</a:t>
            </a:r>
          </a:p>
        </p:txBody>
      </p:sp>
      <p:sp>
        <p:nvSpPr>
          <p:cNvPr id="22" name="Rectangle 21"/>
          <p:cNvSpPr/>
          <p:nvPr/>
        </p:nvSpPr>
        <p:spPr>
          <a:xfrm>
            <a:off x="3095625" y="2028825"/>
            <a:ext cx="47625" cy="47625"/>
          </a:xfrm>
          <a:prstGeom prst="rect">
            <a:avLst/>
          </a:prstGeom>
          <a:solidFill>
            <a:srgbClr val="B68757"/>
          </a:solidFill>
          <a:ln>
            <a:noFill/>
          </a:ln>
          <a:effectLst/>
        </p:spPr>
        <p:txBody>
          <a:bodyPr rtlCol="0" anchor="ctr"/>
          <a:lstStyle/>
          <a:p>
            <a:pPr algn="ctr"/>
            <a:endParaRPr/>
          </a:p>
        </p:txBody>
      </p:sp>
      <p:sp>
        <p:nvSpPr>
          <p:cNvPr id="23" name="Text: The 100 largest urgent care operat"/>
          <p:cNvSpPr txBox="1"/>
          <p:nvPr/>
        </p:nvSpPr>
        <p:spPr>
          <a:xfrm>
            <a:off x="3219450" y="1990725"/>
            <a:ext cx="4005262" cy="304800"/>
          </a:xfrm>
          <a:prstGeom prst="rect">
            <a:avLst/>
          </a:prstGeom>
          <a:noFill/>
        </p:spPr>
        <p:txBody>
          <a:bodyPr wrap="square" lIns="0" tIns="0" rIns="0" bIns="0" anchor="t">
            <a:spAutoFit/>
          </a:bodyPr>
          <a:lstStyle/>
          <a:p>
            <a:pPr algn="l">
              <a:lnSpc>
                <a:spcPts val="1200"/>
              </a:lnSpc>
            </a:pPr>
            <a:r>
              <a:rPr sz="825" b="0" i="0" spc="15">
                <a:solidFill>
                  <a:srgbClr val="333231"/>
                </a:solidFill>
                <a:latin typeface="Calibri"/>
              </a:rPr>
              <a:t>The 100 largest urgent care operators hold 6,056 of the country's 14,655 centers, and 55.9% of those locations are affiliated with a hospital (</a:t>
            </a:r>
            <a:r>
              <a:rPr sz="825" b="0" i="0" spc="15">
                <a:solidFill>
                  <a:srgbClr val="8C6239"/>
                </a:solidFill>
                <a:latin typeface="Calibri"/>
                <a:hlinkClick r:id="rId4">
                  <a:extLst>
                    <a:ext uri="{A12FA001-AC4F-418D-AE19-62706E023703}">
                      <ahyp:hlinkClr xmlns:ahyp="http://schemas.microsoft.com/office/drawing/2018/hyperlinkcolor" val="tx"/>
                    </a:ext>
                  </a:extLst>
                </a:hlinkClick>
              </a:rPr>
              <a:t>Journal of Urgent Care Medicine</a:t>
            </a:r>
            <a:r>
              <a:rPr sz="825" b="0" i="0" spc="15">
                <a:solidFill>
                  <a:srgbClr val="333231"/>
                </a:solidFill>
                <a:latin typeface="Calibri"/>
              </a:rPr>
              <a:t>).</a:t>
            </a:r>
          </a:p>
        </p:txBody>
      </p:sp>
      <p:sp>
        <p:nvSpPr>
          <p:cNvPr id="24" name="Rectangle 23"/>
          <p:cNvSpPr/>
          <p:nvPr/>
        </p:nvSpPr>
        <p:spPr>
          <a:xfrm>
            <a:off x="3095625" y="2390775"/>
            <a:ext cx="47625" cy="47625"/>
          </a:xfrm>
          <a:prstGeom prst="rect">
            <a:avLst/>
          </a:prstGeom>
          <a:solidFill>
            <a:srgbClr val="B68757"/>
          </a:solidFill>
          <a:ln>
            <a:noFill/>
          </a:ln>
          <a:effectLst/>
        </p:spPr>
        <p:txBody>
          <a:bodyPr rtlCol="0" anchor="ctr"/>
          <a:lstStyle/>
          <a:p>
            <a:pPr algn="ctr"/>
            <a:endParaRPr/>
          </a:p>
        </p:txBody>
      </p:sp>
      <p:sp>
        <p:nvSpPr>
          <p:cNvPr id="25" name="Text: HCA Healthcare acquired 70 urgent "/>
          <p:cNvSpPr txBox="1"/>
          <p:nvPr/>
        </p:nvSpPr>
        <p:spPr>
          <a:xfrm>
            <a:off x="3219450" y="2352675"/>
            <a:ext cx="4005262" cy="304800"/>
          </a:xfrm>
          <a:prstGeom prst="rect">
            <a:avLst/>
          </a:prstGeom>
          <a:noFill/>
        </p:spPr>
        <p:txBody>
          <a:bodyPr wrap="square" lIns="0" tIns="0" rIns="0" bIns="0" anchor="t">
            <a:spAutoFit/>
          </a:bodyPr>
          <a:lstStyle/>
          <a:p>
            <a:pPr algn="l">
              <a:lnSpc>
                <a:spcPts val="1200"/>
              </a:lnSpc>
            </a:pPr>
            <a:r>
              <a:rPr sz="825" b="0" i="0" spc="15">
                <a:solidFill>
                  <a:srgbClr val="333231"/>
                </a:solidFill>
                <a:latin typeface="Calibri"/>
              </a:rPr>
              <a:t>HCA Healthcare acquired 70 urgent care centers in three 2026 transactions (</a:t>
            </a:r>
            <a:r>
              <a:rPr sz="825" b="0" i="0" spc="15">
                <a:solidFill>
                  <a:srgbClr val="8C6239"/>
                </a:solidFill>
                <a:latin typeface="Calibri"/>
                <a:hlinkClick r:id="rId5">
                  <a:extLst>
                    <a:ext uri="{A12FA001-AC4F-418D-AE19-62706E023703}">
                      <ahyp:hlinkClr xmlns:ahyp="http://schemas.microsoft.com/office/drawing/2018/hyperlinkcolor" val="tx"/>
                    </a:ext>
                  </a:extLst>
                </a:hlinkClick>
              </a:rPr>
              <a:t>Becker's ASC Review</a:t>
            </a:r>
            <a:r>
              <a:rPr sz="825" b="0" i="0" spc="15">
                <a:solidFill>
                  <a:srgbClr val="333231"/>
                </a:solidFill>
                <a:latin typeface="Calibri"/>
              </a:rPr>
              <a:t>; </a:t>
            </a:r>
            <a:r>
              <a:rPr sz="825" b="0" i="0" spc="15">
                <a:solidFill>
                  <a:srgbClr val="8C6239"/>
                </a:solidFill>
                <a:latin typeface="Calibri"/>
                <a:hlinkClick r:id="rId6">
                  <a:extLst>
                    <a:ext uri="{A12FA001-AC4F-418D-AE19-62706E023703}">
                      <ahyp:hlinkClr xmlns:ahyp="http://schemas.microsoft.com/office/drawing/2018/hyperlinkcolor" val="tx"/>
                    </a:ext>
                  </a:extLst>
                </a:hlinkClick>
              </a:rPr>
              <a:t>Healthcare Dive</a:t>
            </a:r>
            <a:r>
              <a:rPr sz="825" b="0" i="0" spc="15">
                <a:solidFill>
                  <a:srgbClr val="333231"/>
                </a:solidFill>
                <a:latin typeface="Calibri"/>
              </a:rPr>
              <a:t>).</a:t>
            </a:r>
          </a:p>
        </p:txBody>
      </p:sp>
      <p:sp>
        <p:nvSpPr>
          <p:cNvPr id="26" name="Rectangle 25"/>
          <p:cNvSpPr/>
          <p:nvPr/>
        </p:nvSpPr>
        <p:spPr>
          <a:xfrm>
            <a:off x="3095625" y="2752725"/>
            <a:ext cx="47625" cy="47625"/>
          </a:xfrm>
          <a:prstGeom prst="rect">
            <a:avLst/>
          </a:prstGeom>
          <a:solidFill>
            <a:srgbClr val="B68757"/>
          </a:solidFill>
          <a:ln>
            <a:noFill/>
          </a:ln>
          <a:effectLst/>
        </p:spPr>
        <p:txBody>
          <a:bodyPr rtlCol="0" anchor="ctr"/>
          <a:lstStyle/>
          <a:p>
            <a:pPr algn="ctr"/>
            <a:endParaRPr/>
          </a:p>
        </p:txBody>
      </p:sp>
      <p:sp>
        <p:nvSpPr>
          <p:cNvPr id="27" name="Text: Care in the home drew the largest "/>
          <p:cNvSpPr txBox="1"/>
          <p:nvPr/>
        </p:nvSpPr>
        <p:spPr>
          <a:xfrm>
            <a:off x="3219450" y="2714625"/>
            <a:ext cx="4005262" cy="304800"/>
          </a:xfrm>
          <a:prstGeom prst="rect">
            <a:avLst/>
          </a:prstGeom>
          <a:noFill/>
        </p:spPr>
        <p:txBody>
          <a:bodyPr wrap="square" lIns="0" tIns="0" rIns="0" bIns="0" anchor="t">
            <a:spAutoFit/>
          </a:bodyPr>
          <a:lstStyle/>
          <a:p>
            <a:pPr algn="l">
              <a:lnSpc>
                <a:spcPts val="1200"/>
              </a:lnSpc>
            </a:pPr>
            <a:r>
              <a:rPr sz="825" b="0" i="0" spc="15">
                <a:solidFill>
                  <a:srgbClr val="333231"/>
                </a:solidFill>
                <a:latin typeface="Calibri"/>
              </a:rPr>
              <a:t>Care in the home drew the largest provider transactions of the year, including Kinderhook's agreement to take Enhabit private at about $1.1 billion (</a:t>
            </a:r>
            <a:r>
              <a:rPr sz="825" b="0" i="0" spc="15">
                <a:solidFill>
                  <a:srgbClr val="8C6239"/>
                </a:solidFill>
                <a:latin typeface="Calibri"/>
                <a:hlinkClick r:id="rId7">
                  <a:extLst>
                    <a:ext uri="{A12FA001-AC4F-418D-AE19-62706E023703}">
                      <ahyp:hlinkClr xmlns:ahyp="http://schemas.microsoft.com/office/drawing/2018/hyperlinkcolor" val="tx"/>
                    </a:ext>
                  </a:extLst>
                </a:hlinkClick>
              </a:rPr>
              <a:t>HLTH</a:t>
            </a:r>
            <a:r>
              <a:rPr sz="825" b="0" i="0" spc="15">
                <a:solidFill>
                  <a:srgbClr val="333231"/>
                </a:solidFill>
                <a:latin typeface="Calibri"/>
              </a:rPr>
              <a:t>).</a:t>
            </a:r>
          </a:p>
        </p:txBody>
      </p:sp>
      <p:sp>
        <p:nvSpPr>
          <p:cNvPr id="28" name="Rectangle 27"/>
          <p:cNvSpPr/>
          <p:nvPr/>
        </p:nvSpPr>
        <p:spPr>
          <a:xfrm>
            <a:off x="3095625" y="3114675"/>
            <a:ext cx="47625" cy="47625"/>
          </a:xfrm>
          <a:prstGeom prst="rect">
            <a:avLst/>
          </a:prstGeom>
          <a:solidFill>
            <a:srgbClr val="B68757"/>
          </a:solidFill>
          <a:ln>
            <a:noFill/>
          </a:ln>
          <a:effectLst/>
        </p:spPr>
        <p:txBody>
          <a:bodyPr rtlCol="0" anchor="ctr"/>
          <a:lstStyle/>
          <a:p>
            <a:pPr algn="ctr"/>
            <a:endParaRPr/>
          </a:p>
        </p:txBody>
      </p:sp>
      <p:sp>
        <p:nvSpPr>
          <p:cNvPr id="29" name="Text: Independent practice continues to "/>
          <p:cNvSpPr txBox="1"/>
          <p:nvPr/>
        </p:nvSpPr>
        <p:spPr>
          <a:xfrm>
            <a:off x="3219450" y="3076575"/>
            <a:ext cx="4005262" cy="304800"/>
          </a:xfrm>
          <a:prstGeom prst="rect">
            <a:avLst/>
          </a:prstGeom>
          <a:noFill/>
        </p:spPr>
        <p:txBody>
          <a:bodyPr wrap="square" lIns="0" tIns="0" rIns="0" bIns="0" anchor="t">
            <a:spAutoFit/>
          </a:bodyPr>
          <a:lstStyle/>
          <a:p>
            <a:pPr algn="l">
              <a:lnSpc>
                <a:spcPts val="1200"/>
              </a:lnSpc>
            </a:pPr>
            <a:r>
              <a:rPr sz="825" b="0" i="0" spc="15">
                <a:solidFill>
                  <a:srgbClr val="333231"/>
                </a:solidFill>
                <a:latin typeface="Calibri"/>
              </a:rPr>
              <a:t>Independent practice continues to shrink, and 42.2% of physicians work in physician-owned practices against 60.1% in 2012 (</a:t>
            </a:r>
            <a:r>
              <a:rPr sz="825" b="0" i="0" spc="15">
                <a:solidFill>
                  <a:srgbClr val="8C6239"/>
                </a:solidFill>
                <a:latin typeface="Calibri"/>
                <a:hlinkClick r:id="rId8">
                  <a:extLst>
                    <a:ext uri="{A12FA001-AC4F-418D-AE19-62706E023703}">
                      <ahyp:hlinkClr xmlns:ahyp="http://schemas.microsoft.com/office/drawing/2018/hyperlinkcolor" val="tx"/>
                    </a:ext>
                  </a:extLst>
                </a:hlinkClick>
              </a:rPr>
              <a:t>AMA survey via Medical Economics</a:t>
            </a:r>
            <a:r>
              <a:rPr sz="825" b="0" i="0" spc="15">
                <a:solidFill>
                  <a:srgbClr val="333231"/>
                </a:solidFill>
                <a:latin typeface="Calibri"/>
              </a:rPr>
              <a:t>).</a:t>
            </a:r>
          </a:p>
        </p:txBody>
      </p:sp>
      <p:sp>
        <p:nvSpPr>
          <p:cNvPr id="30" name="Rectangle 29"/>
          <p:cNvSpPr/>
          <p:nvPr/>
        </p:nvSpPr>
        <p:spPr>
          <a:xfrm>
            <a:off x="7381875" y="1666875"/>
            <a:ext cx="2247900" cy="2343150"/>
          </a:xfrm>
          <a:prstGeom prst="rect">
            <a:avLst/>
          </a:prstGeom>
          <a:solidFill>
            <a:srgbClr val="FAF7F3"/>
          </a:solidFill>
          <a:ln>
            <a:noFill/>
          </a:ln>
          <a:effectLst/>
        </p:spPr>
        <p:txBody>
          <a:bodyPr rtlCol="0" anchor="ctr"/>
          <a:lstStyle/>
          <a:p>
            <a:pPr algn="ctr"/>
            <a:endParaRPr/>
          </a:p>
        </p:txBody>
      </p:sp>
      <p:sp>
        <p:nvSpPr>
          <p:cNvPr id="31" name="Text: ACTIVE BUYERS"/>
          <p:cNvSpPr txBox="1"/>
          <p:nvPr/>
        </p:nvSpPr>
        <p:spPr>
          <a:xfrm>
            <a:off x="7534275" y="1800225"/>
            <a:ext cx="1957388" cy="123825"/>
          </a:xfrm>
          <a:prstGeom prst="rect">
            <a:avLst/>
          </a:prstGeom>
          <a:noFill/>
        </p:spPr>
        <p:txBody>
          <a:bodyPr wrap="square" lIns="0" tIns="0" rIns="0" bIns="0" anchor="t">
            <a:spAutoFit/>
          </a:bodyPr>
          <a:lstStyle/>
          <a:p>
            <a:pPr algn="l">
              <a:lnSpc>
                <a:spcPts val="975"/>
              </a:lnSpc>
            </a:pPr>
            <a:r>
              <a:rPr sz="675" b="1" i="0" spc="150">
                <a:solidFill>
                  <a:srgbClr val="8C6239"/>
                </a:solidFill>
                <a:latin typeface="Calibri"/>
              </a:rPr>
              <a:t>ACTIVE BUYERS</a:t>
            </a:r>
          </a:p>
        </p:txBody>
      </p:sp>
      <p:sp>
        <p:nvSpPr>
          <p:cNvPr id="32" name="Text: HCA Healthcare, MyEyeDr., U.S. Phy"/>
          <p:cNvSpPr txBox="1"/>
          <p:nvPr/>
        </p:nvSpPr>
        <p:spPr>
          <a:xfrm>
            <a:off x="7534275" y="1962150"/>
            <a:ext cx="1957388" cy="471488"/>
          </a:xfrm>
          <a:prstGeom prst="rect">
            <a:avLst/>
          </a:prstGeom>
          <a:noFill/>
        </p:spPr>
        <p:txBody>
          <a:bodyPr wrap="square" lIns="0" tIns="0" rIns="0" bIns="0" anchor="t">
            <a:spAutoFit/>
          </a:bodyPr>
          <a:lstStyle/>
          <a:p>
            <a:pPr algn="l">
              <a:lnSpc>
                <a:spcPts val="1238"/>
              </a:lnSpc>
            </a:pPr>
            <a:r>
              <a:rPr sz="825" b="0" i="0" spc="15">
                <a:solidFill>
                  <a:srgbClr val="333231"/>
                </a:solidFill>
                <a:latin typeface="Calibri"/>
              </a:rPr>
              <a:t>HCA Healthcare, MyEyeDr., U.S. Physical Therapy, Addus HomeCare, Concentra, Kinderhook, and Universal Health Services</a:t>
            </a:r>
          </a:p>
        </p:txBody>
      </p:sp>
      <p:sp>
        <p:nvSpPr>
          <p:cNvPr id="33" name="Rectangle 32"/>
          <p:cNvSpPr/>
          <p:nvPr/>
        </p:nvSpPr>
        <p:spPr>
          <a:xfrm>
            <a:off x="7534275" y="3171825"/>
            <a:ext cx="1943100" cy="9525"/>
          </a:xfrm>
          <a:prstGeom prst="rect">
            <a:avLst/>
          </a:prstGeom>
          <a:solidFill>
            <a:srgbClr val="E3DCD3"/>
          </a:solidFill>
          <a:ln>
            <a:noFill/>
          </a:ln>
          <a:effectLst/>
        </p:spPr>
        <p:txBody>
          <a:bodyPr rtlCol="0" anchor="ctr"/>
          <a:lstStyle/>
          <a:p>
            <a:pPr algn="ctr"/>
            <a:endParaRPr/>
          </a:p>
        </p:txBody>
      </p:sp>
      <p:sp>
        <p:nvSpPr>
          <p:cNvPr id="34" name="Text: LISTED REFERENCE COMPANIES"/>
          <p:cNvSpPr txBox="1"/>
          <p:nvPr/>
        </p:nvSpPr>
        <p:spPr>
          <a:xfrm>
            <a:off x="7534275" y="3276600"/>
            <a:ext cx="1957388" cy="123825"/>
          </a:xfrm>
          <a:prstGeom prst="rect">
            <a:avLst/>
          </a:prstGeom>
          <a:noFill/>
        </p:spPr>
        <p:txBody>
          <a:bodyPr wrap="square" lIns="0" tIns="0" rIns="0" bIns="0" anchor="t">
            <a:spAutoFit/>
          </a:bodyPr>
          <a:lstStyle/>
          <a:p>
            <a:pPr algn="l">
              <a:lnSpc>
                <a:spcPts val="975"/>
              </a:lnSpc>
            </a:pPr>
            <a:r>
              <a:rPr sz="638" b="1" i="0" spc="150">
                <a:solidFill>
                  <a:srgbClr val="6F6A66"/>
                </a:solidFill>
                <a:latin typeface="Calibri"/>
              </a:rPr>
              <a:t>LISTED REFERENCE COMPANIES</a:t>
            </a:r>
          </a:p>
        </p:txBody>
      </p:sp>
      <p:sp>
        <p:nvSpPr>
          <p:cNvPr id="35" name="Rounded Rectangle 34"/>
          <p:cNvSpPr/>
          <p:nvPr/>
        </p:nvSpPr>
        <p:spPr>
          <a:xfrm>
            <a:off x="7534275" y="3457575"/>
            <a:ext cx="257473" cy="190500"/>
          </a:xfrm>
          <a:prstGeom prst="roundRect">
            <a:avLst>
              <a:gd name="adj" fmla="val 15000"/>
            </a:avLst>
          </a:prstGeom>
          <a:solidFill>
            <a:srgbClr val="2A2928"/>
          </a:solidFill>
          <a:ln>
            <a:noFill/>
          </a:ln>
          <a:effectLst/>
        </p:spPr>
        <p:txBody>
          <a:bodyPr rtlCol="0" anchor="ctr"/>
          <a:lstStyle/>
          <a:p>
            <a:pPr algn="ctr"/>
            <a:endParaRPr/>
          </a:p>
        </p:txBody>
      </p:sp>
      <p:sp>
        <p:nvSpPr>
          <p:cNvPr id="36" name="Text: HCA"/>
          <p:cNvSpPr txBox="1"/>
          <p:nvPr/>
        </p:nvSpPr>
        <p:spPr>
          <a:xfrm>
            <a:off x="7591425" y="3457575"/>
            <a:ext cx="157460"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HCA</a:t>
            </a:r>
          </a:p>
        </p:txBody>
      </p:sp>
      <p:sp>
        <p:nvSpPr>
          <p:cNvPr id="37" name="Rounded Rectangle 36"/>
          <p:cNvSpPr/>
          <p:nvPr/>
        </p:nvSpPr>
        <p:spPr>
          <a:xfrm>
            <a:off x="7829848" y="3457575"/>
            <a:ext cx="249138" cy="190500"/>
          </a:xfrm>
          <a:prstGeom prst="roundRect">
            <a:avLst>
              <a:gd name="adj" fmla="val 15000"/>
            </a:avLst>
          </a:prstGeom>
          <a:solidFill>
            <a:srgbClr val="2A2928"/>
          </a:solidFill>
          <a:ln>
            <a:noFill/>
          </a:ln>
          <a:effectLst/>
        </p:spPr>
        <p:txBody>
          <a:bodyPr rtlCol="0" anchor="ctr"/>
          <a:lstStyle/>
          <a:p>
            <a:pPr algn="ctr"/>
            <a:endParaRPr/>
          </a:p>
        </p:txBody>
      </p:sp>
      <p:sp>
        <p:nvSpPr>
          <p:cNvPr id="38" name="Text: THC"/>
          <p:cNvSpPr txBox="1"/>
          <p:nvPr/>
        </p:nvSpPr>
        <p:spPr>
          <a:xfrm>
            <a:off x="7886998" y="3457575"/>
            <a:ext cx="149126"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THC</a:t>
            </a:r>
          </a:p>
        </p:txBody>
      </p:sp>
      <p:sp>
        <p:nvSpPr>
          <p:cNvPr id="39" name="Rounded Rectangle 38"/>
          <p:cNvSpPr/>
          <p:nvPr/>
        </p:nvSpPr>
        <p:spPr>
          <a:xfrm>
            <a:off x="8117086" y="3457575"/>
            <a:ext cx="300186" cy="190500"/>
          </a:xfrm>
          <a:prstGeom prst="roundRect">
            <a:avLst>
              <a:gd name="adj" fmla="val 15000"/>
            </a:avLst>
          </a:prstGeom>
          <a:solidFill>
            <a:srgbClr val="2A2928"/>
          </a:solidFill>
          <a:ln>
            <a:noFill/>
          </a:ln>
          <a:effectLst/>
        </p:spPr>
        <p:txBody>
          <a:bodyPr rtlCol="0" anchor="ctr"/>
          <a:lstStyle/>
          <a:p>
            <a:pPr algn="ctr"/>
            <a:endParaRPr/>
          </a:p>
        </p:txBody>
      </p:sp>
      <p:sp>
        <p:nvSpPr>
          <p:cNvPr id="40" name="Text: USPH"/>
          <p:cNvSpPr txBox="1"/>
          <p:nvPr/>
        </p:nvSpPr>
        <p:spPr>
          <a:xfrm>
            <a:off x="8174236" y="3457575"/>
            <a:ext cx="200174"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USPH</a:t>
            </a:r>
          </a:p>
        </p:txBody>
      </p:sp>
      <p:sp>
        <p:nvSpPr>
          <p:cNvPr id="41" name="Rounded Rectangle 40"/>
          <p:cNvSpPr/>
          <p:nvPr/>
        </p:nvSpPr>
        <p:spPr>
          <a:xfrm>
            <a:off x="8455372" y="3457575"/>
            <a:ext cx="257026" cy="190500"/>
          </a:xfrm>
          <a:prstGeom prst="roundRect">
            <a:avLst>
              <a:gd name="adj" fmla="val 15000"/>
            </a:avLst>
          </a:prstGeom>
          <a:solidFill>
            <a:srgbClr val="2A2928"/>
          </a:solidFill>
          <a:ln>
            <a:noFill/>
          </a:ln>
          <a:effectLst/>
        </p:spPr>
        <p:txBody>
          <a:bodyPr rtlCol="0" anchor="ctr"/>
          <a:lstStyle/>
          <a:p>
            <a:pPr algn="ctr"/>
            <a:endParaRPr/>
          </a:p>
        </p:txBody>
      </p:sp>
      <p:sp>
        <p:nvSpPr>
          <p:cNvPr id="42" name="Text: DVA"/>
          <p:cNvSpPr txBox="1"/>
          <p:nvPr/>
        </p:nvSpPr>
        <p:spPr>
          <a:xfrm>
            <a:off x="8512522" y="3457575"/>
            <a:ext cx="157014"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DVA</a:t>
            </a:r>
          </a:p>
        </p:txBody>
      </p:sp>
      <p:sp>
        <p:nvSpPr>
          <p:cNvPr id="43" name="Rounded Rectangle 42"/>
          <p:cNvSpPr/>
          <p:nvPr/>
        </p:nvSpPr>
        <p:spPr>
          <a:xfrm>
            <a:off x="8750498" y="3457575"/>
            <a:ext cx="305842" cy="190500"/>
          </a:xfrm>
          <a:prstGeom prst="roundRect">
            <a:avLst>
              <a:gd name="adj" fmla="val 15000"/>
            </a:avLst>
          </a:prstGeom>
          <a:solidFill>
            <a:srgbClr val="2A2928"/>
          </a:solidFill>
          <a:ln>
            <a:noFill/>
          </a:ln>
          <a:effectLst/>
        </p:spPr>
        <p:txBody>
          <a:bodyPr rtlCol="0" anchor="ctr"/>
          <a:lstStyle/>
          <a:p>
            <a:pPr algn="ctr"/>
            <a:endParaRPr/>
          </a:p>
        </p:txBody>
      </p:sp>
      <p:sp>
        <p:nvSpPr>
          <p:cNvPr id="44" name="Text: ADUS"/>
          <p:cNvSpPr txBox="1"/>
          <p:nvPr/>
        </p:nvSpPr>
        <p:spPr>
          <a:xfrm>
            <a:off x="8807648" y="3457575"/>
            <a:ext cx="205829"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ADUS</a:t>
            </a:r>
          </a:p>
        </p:txBody>
      </p:sp>
      <p:sp>
        <p:nvSpPr>
          <p:cNvPr id="45" name="Rounded Rectangle 44"/>
          <p:cNvSpPr/>
          <p:nvPr/>
        </p:nvSpPr>
        <p:spPr>
          <a:xfrm>
            <a:off x="9094440" y="3457575"/>
            <a:ext cx="300782" cy="190500"/>
          </a:xfrm>
          <a:prstGeom prst="roundRect">
            <a:avLst>
              <a:gd name="adj" fmla="val 15000"/>
            </a:avLst>
          </a:prstGeom>
          <a:solidFill>
            <a:srgbClr val="2A2928"/>
          </a:solidFill>
          <a:ln>
            <a:noFill/>
          </a:ln>
          <a:effectLst/>
        </p:spPr>
        <p:txBody>
          <a:bodyPr rtlCol="0" anchor="ctr"/>
          <a:lstStyle/>
          <a:p>
            <a:pPr algn="ctr"/>
            <a:endParaRPr/>
          </a:p>
        </p:txBody>
      </p:sp>
      <p:sp>
        <p:nvSpPr>
          <p:cNvPr id="46" name="Text: PNTG"/>
          <p:cNvSpPr txBox="1"/>
          <p:nvPr/>
        </p:nvSpPr>
        <p:spPr>
          <a:xfrm>
            <a:off x="9151590" y="3457575"/>
            <a:ext cx="200769"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PNTG</a:t>
            </a:r>
          </a:p>
        </p:txBody>
      </p:sp>
      <p:sp>
        <p:nvSpPr>
          <p:cNvPr id="47" name="Rounded Rectangle 46"/>
          <p:cNvSpPr/>
          <p:nvPr/>
        </p:nvSpPr>
        <p:spPr>
          <a:xfrm>
            <a:off x="7534275" y="3686175"/>
            <a:ext cx="299889" cy="190500"/>
          </a:xfrm>
          <a:prstGeom prst="roundRect">
            <a:avLst>
              <a:gd name="adj" fmla="val 15000"/>
            </a:avLst>
          </a:prstGeom>
          <a:solidFill>
            <a:srgbClr val="2A2928"/>
          </a:solidFill>
          <a:ln>
            <a:noFill/>
          </a:ln>
          <a:effectLst/>
        </p:spPr>
        <p:txBody>
          <a:bodyPr rtlCol="0" anchor="ctr"/>
          <a:lstStyle/>
          <a:p>
            <a:pPr algn="ctr"/>
            <a:endParaRPr/>
          </a:p>
        </p:txBody>
      </p:sp>
      <p:sp>
        <p:nvSpPr>
          <p:cNvPr id="48" name="Text: ACHC"/>
          <p:cNvSpPr txBox="1"/>
          <p:nvPr/>
        </p:nvSpPr>
        <p:spPr>
          <a:xfrm>
            <a:off x="7591425" y="3686175"/>
            <a:ext cx="199876"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ACHC</a:t>
            </a:r>
          </a:p>
        </p:txBody>
      </p:sp>
      <p:sp>
        <p:nvSpPr>
          <p:cNvPr id="49" name="Rounded Rectangle 48"/>
          <p:cNvSpPr/>
          <p:nvPr/>
        </p:nvSpPr>
        <p:spPr>
          <a:xfrm>
            <a:off x="7872264" y="3686175"/>
            <a:ext cx="265063" cy="190500"/>
          </a:xfrm>
          <a:prstGeom prst="roundRect">
            <a:avLst>
              <a:gd name="adj" fmla="val 15000"/>
            </a:avLst>
          </a:prstGeom>
          <a:solidFill>
            <a:srgbClr val="2A2928"/>
          </a:solidFill>
          <a:ln>
            <a:noFill/>
          </a:ln>
          <a:effectLst/>
        </p:spPr>
        <p:txBody>
          <a:bodyPr rtlCol="0" anchor="ctr"/>
          <a:lstStyle/>
          <a:p>
            <a:pPr algn="ctr"/>
            <a:endParaRPr/>
          </a:p>
        </p:txBody>
      </p:sp>
      <p:sp>
        <p:nvSpPr>
          <p:cNvPr id="50" name="Text: LFST"/>
          <p:cNvSpPr txBox="1"/>
          <p:nvPr/>
        </p:nvSpPr>
        <p:spPr>
          <a:xfrm>
            <a:off x="7929414" y="3686175"/>
            <a:ext cx="165050"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LFST</a:t>
            </a:r>
          </a:p>
        </p:txBody>
      </p:sp>
      <p:sp>
        <p:nvSpPr>
          <p:cNvPr id="51" name="Rounded Rectangle 50"/>
          <p:cNvSpPr/>
          <p:nvPr/>
        </p:nvSpPr>
        <p:spPr>
          <a:xfrm>
            <a:off x="8175427" y="3686175"/>
            <a:ext cx="295573" cy="190500"/>
          </a:xfrm>
          <a:prstGeom prst="roundRect">
            <a:avLst>
              <a:gd name="adj" fmla="val 15000"/>
            </a:avLst>
          </a:prstGeom>
          <a:solidFill>
            <a:srgbClr val="2A2928"/>
          </a:solidFill>
          <a:ln>
            <a:noFill/>
          </a:ln>
          <a:effectLst/>
        </p:spPr>
        <p:txBody>
          <a:bodyPr rtlCol="0" anchor="ctr"/>
          <a:lstStyle/>
          <a:p>
            <a:pPr algn="ctr"/>
            <a:endParaRPr/>
          </a:p>
        </p:txBody>
      </p:sp>
      <p:sp>
        <p:nvSpPr>
          <p:cNvPr id="52" name="Text: PRVA"/>
          <p:cNvSpPr txBox="1"/>
          <p:nvPr/>
        </p:nvSpPr>
        <p:spPr>
          <a:xfrm>
            <a:off x="8232577" y="3686175"/>
            <a:ext cx="195560"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PRVA</a:t>
            </a:r>
          </a:p>
        </p:txBody>
      </p:sp>
      <p:sp>
        <p:nvSpPr>
          <p:cNvPr id="53" name="Rounded Rectangle 52"/>
          <p:cNvSpPr/>
          <p:nvPr/>
        </p:nvSpPr>
        <p:spPr>
          <a:xfrm>
            <a:off x="8509099" y="3686175"/>
            <a:ext cx="264468" cy="190500"/>
          </a:xfrm>
          <a:prstGeom prst="roundRect">
            <a:avLst>
              <a:gd name="adj" fmla="val 15000"/>
            </a:avLst>
          </a:prstGeom>
          <a:solidFill>
            <a:srgbClr val="2A2928"/>
          </a:solidFill>
          <a:ln>
            <a:noFill/>
          </a:ln>
          <a:effectLst/>
        </p:spPr>
        <p:txBody>
          <a:bodyPr rtlCol="0" anchor="ctr"/>
          <a:lstStyle/>
          <a:p>
            <a:pPr algn="ctr"/>
            <a:endParaRPr/>
          </a:p>
        </p:txBody>
      </p:sp>
      <p:sp>
        <p:nvSpPr>
          <p:cNvPr id="54" name="Text: CON"/>
          <p:cNvSpPr txBox="1"/>
          <p:nvPr/>
        </p:nvSpPr>
        <p:spPr>
          <a:xfrm>
            <a:off x="8566249" y="3686175"/>
            <a:ext cx="164455"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CON</a:t>
            </a:r>
          </a:p>
        </p:txBody>
      </p:sp>
      <p:sp>
        <p:nvSpPr>
          <p:cNvPr id="55" name="Rounded Rectangle 54"/>
          <p:cNvSpPr/>
          <p:nvPr/>
        </p:nvSpPr>
        <p:spPr>
          <a:xfrm>
            <a:off x="8811667" y="3686175"/>
            <a:ext cx="297805" cy="190500"/>
          </a:xfrm>
          <a:prstGeom prst="roundRect">
            <a:avLst>
              <a:gd name="adj" fmla="val 15000"/>
            </a:avLst>
          </a:prstGeom>
          <a:solidFill>
            <a:srgbClr val="2A2928"/>
          </a:solidFill>
          <a:ln>
            <a:noFill/>
          </a:ln>
          <a:effectLst/>
        </p:spPr>
        <p:txBody>
          <a:bodyPr rtlCol="0" anchor="ctr"/>
          <a:lstStyle/>
          <a:p>
            <a:pPr algn="ctr"/>
            <a:endParaRPr/>
          </a:p>
        </p:txBody>
      </p:sp>
      <p:sp>
        <p:nvSpPr>
          <p:cNvPr id="56" name="Text: ENSG"/>
          <p:cNvSpPr txBox="1"/>
          <p:nvPr/>
        </p:nvSpPr>
        <p:spPr>
          <a:xfrm>
            <a:off x="8868817" y="3686175"/>
            <a:ext cx="197793"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ENSG</a:t>
            </a:r>
          </a:p>
        </p:txBody>
      </p:sp>
      <p:sp>
        <p:nvSpPr>
          <p:cNvPr id="57" name="Rectangle 56"/>
          <p:cNvSpPr/>
          <p:nvPr/>
        </p:nvSpPr>
        <p:spPr>
          <a:xfrm>
            <a:off x="419100" y="4152900"/>
            <a:ext cx="9220200" cy="2781300"/>
          </a:xfrm>
          <a:prstGeom prst="rect">
            <a:avLst/>
          </a:prstGeom>
          <a:solidFill>
            <a:srgbClr val="FFFFFF"/>
          </a:solidFill>
          <a:ln>
            <a:noFill/>
          </a:ln>
          <a:effectLst/>
        </p:spPr>
        <p:txBody>
          <a:bodyPr rtlCol="0" anchor="ctr"/>
          <a:lstStyle/>
          <a:p>
            <a:pPr algn="ctr"/>
            <a:endParaRPr/>
          </a:p>
        </p:txBody>
      </p:sp>
      <p:sp>
        <p:nvSpPr>
          <p:cNvPr id="58" name="Rectangle 57"/>
          <p:cNvSpPr/>
          <p:nvPr/>
        </p:nvSpPr>
        <p:spPr>
          <a:xfrm>
            <a:off x="419100" y="4152900"/>
            <a:ext cx="9220200" cy="9525"/>
          </a:xfrm>
          <a:prstGeom prst="rect">
            <a:avLst/>
          </a:prstGeom>
          <a:solidFill>
            <a:srgbClr val="E3DCD3"/>
          </a:solidFill>
          <a:ln>
            <a:noFill/>
          </a:ln>
          <a:effectLst/>
        </p:spPr>
        <p:txBody>
          <a:bodyPr rtlCol="0" anchor="ctr"/>
          <a:lstStyle/>
          <a:p>
            <a:pPr algn="ctr"/>
            <a:endParaRPr/>
          </a:p>
        </p:txBody>
      </p:sp>
      <p:sp>
        <p:nvSpPr>
          <p:cNvPr id="59" name="Rectangle 58"/>
          <p:cNvSpPr/>
          <p:nvPr/>
        </p:nvSpPr>
        <p:spPr>
          <a:xfrm>
            <a:off x="9629775" y="4152900"/>
            <a:ext cx="9525" cy="2781300"/>
          </a:xfrm>
          <a:prstGeom prst="rect">
            <a:avLst/>
          </a:prstGeom>
          <a:solidFill>
            <a:srgbClr val="E3DCD3"/>
          </a:solidFill>
          <a:ln>
            <a:noFill/>
          </a:ln>
          <a:effectLst/>
        </p:spPr>
        <p:txBody>
          <a:bodyPr rtlCol="0" anchor="ctr"/>
          <a:lstStyle/>
          <a:p>
            <a:pPr algn="ctr"/>
            <a:endParaRPr/>
          </a:p>
        </p:txBody>
      </p:sp>
      <p:sp>
        <p:nvSpPr>
          <p:cNvPr id="60" name="Rectangle 59"/>
          <p:cNvSpPr/>
          <p:nvPr/>
        </p:nvSpPr>
        <p:spPr>
          <a:xfrm>
            <a:off x="419100" y="6924675"/>
            <a:ext cx="9220200" cy="9525"/>
          </a:xfrm>
          <a:prstGeom prst="rect">
            <a:avLst/>
          </a:prstGeom>
          <a:solidFill>
            <a:srgbClr val="E3DCD3"/>
          </a:solidFill>
          <a:ln>
            <a:noFill/>
          </a:ln>
          <a:effectLst/>
        </p:spPr>
        <p:txBody>
          <a:bodyPr rtlCol="0" anchor="ctr"/>
          <a:lstStyle/>
          <a:p>
            <a:pPr algn="ctr"/>
            <a:endParaRPr/>
          </a:p>
        </p:txBody>
      </p:sp>
      <p:sp>
        <p:nvSpPr>
          <p:cNvPr id="61" name="Rectangle 60"/>
          <p:cNvSpPr/>
          <p:nvPr/>
        </p:nvSpPr>
        <p:spPr>
          <a:xfrm>
            <a:off x="419100" y="4152900"/>
            <a:ext cx="9525" cy="2781300"/>
          </a:xfrm>
          <a:prstGeom prst="rect">
            <a:avLst/>
          </a:prstGeom>
          <a:solidFill>
            <a:srgbClr val="E3DCD3"/>
          </a:solidFill>
          <a:ln>
            <a:noFill/>
          </a:ln>
          <a:effectLst/>
        </p:spPr>
        <p:txBody>
          <a:bodyPr rtlCol="0" anchor="ctr"/>
          <a:lstStyle/>
          <a:p>
            <a:pPr algn="ctr"/>
            <a:endParaRPr/>
          </a:p>
        </p:txBody>
      </p:sp>
      <p:sp>
        <p:nvSpPr>
          <p:cNvPr id="62" name="Rectangle 61"/>
          <p:cNvSpPr/>
          <p:nvPr/>
        </p:nvSpPr>
        <p:spPr>
          <a:xfrm>
            <a:off x="428625" y="4162425"/>
            <a:ext cx="9201150" cy="419100"/>
          </a:xfrm>
          <a:prstGeom prst="rect">
            <a:avLst/>
          </a:prstGeom>
          <a:solidFill>
            <a:srgbClr val="1B1A1A"/>
          </a:solidFill>
          <a:ln>
            <a:noFill/>
          </a:ln>
          <a:effectLst/>
        </p:spPr>
        <p:txBody>
          <a:bodyPr rtlCol="0" anchor="ctr"/>
          <a:lstStyle/>
          <a:p>
            <a:pPr algn="ctr"/>
            <a:endParaRPr/>
          </a:p>
        </p:txBody>
      </p:sp>
      <p:pic>
        <p:nvPicPr>
          <p:cNvPr id="63" name="Picture 62" descr="vb44b605e4ece.png"/>
          <p:cNvPicPr>
            <a:picLocks noChangeAspect="1"/>
          </p:cNvPicPr>
          <p:nvPr/>
        </p:nvPicPr>
        <p:blipFill>
          <a:blip r:embed="rId9"/>
          <a:stretch>
            <a:fillRect/>
          </a:stretch>
        </p:blipFill>
        <p:spPr>
          <a:xfrm>
            <a:off x="581025" y="4238625"/>
            <a:ext cx="266700" cy="266700"/>
          </a:xfrm>
          <a:prstGeom prst="rect">
            <a:avLst/>
          </a:prstGeom>
        </p:spPr>
      </p:pic>
      <p:sp>
        <p:nvSpPr>
          <p:cNvPr id="64" name="Text: LIFE SCIENCES &amp; DIAGNOSTICS"/>
          <p:cNvSpPr txBox="1"/>
          <p:nvPr/>
        </p:nvSpPr>
        <p:spPr>
          <a:xfrm>
            <a:off x="952500" y="4305300"/>
            <a:ext cx="1797844" cy="133350"/>
          </a:xfrm>
          <a:prstGeom prst="rect">
            <a:avLst/>
          </a:prstGeom>
          <a:noFill/>
        </p:spPr>
        <p:txBody>
          <a:bodyPr wrap="square" lIns="0" tIns="0" rIns="0" bIns="0" anchor="t">
            <a:spAutoFit/>
          </a:bodyPr>
          <a:lstStyle/>
          <a:p>
            <a:pPr algn="l">
              <a:lnSpc>
                <a:spcPts val="1050"/>
              </a:lnSpc>
            </a:pPr>
            <a:r>
              <a:rPr sz="825" b="1" i="0" spc="135">
                <a:solidFill>
                  <a:srgbClr val="FFFFFF"/>
                </a:solidFill>
                <a:latin typeface="Calibri"/>
              </a:rPr>
              <a:t>LIFE SCIENCES &amp; DIAGNOSTICS</a:t>
            </a:r>
          </a:p>
        </p:txBody>
      </p:sp>
      <p:sp>
        <p:nvSpPr>
          <p:cNvPr id="65" name="Rectangle 64"/>
          <p:cNvSpPr/>
          <p:nvPr/>
        </p:nvSpPr>
        <p:spPr>
          <a:xfrm>
            <a:off x="2914650" y="4581525"/>
            <a:ext cx="9525" cy="2343150"/>
          </a:xfrm>
          <a:prstGeom prst="rect">
            <a:avLst/>
          </a:prstGeom>
          <a:solidFill>
            <a:srgbClr val="E3DCD3"/>
          </a:solidFill>
          <a:ln>
            <a:noFill/>
          </a:ln>
          <a:effectLst/>
        </p:spPr>
        <p:txBody>
          <a:bodyPr rtlCol="0" anchor="ctr"/>
          <a:lstStyle/>
          <a:p>
            <a:pPr algn="ctr"/>
            <a:endParaRPr/>
          </a:p>
        </p:txBody>
      </p:sp>
      <p:sp>
        <p:nvSpPr>
          <p:cNvPr id="66" name="Text: Research spending has turned up an"/>
          <p:cNvSpPr txBox="1"/>
          <p:nvPr/>
        </p:nvSpPr>
        <p:spPr>
          <a:xfrm>
            <a:off x="581025" y="4705350"/>
            <a:ext cx="2195512" cy="585788"/>
          </a:xfrm>
          <a:prstGeom prst="rect">
            <a:avLst/>
          </a:prstGeom>
          <a:noFill/>
        </p:spPr>
        <p:txBody>
          <a:bodyPr wrap="square" lIns="0" tIns="0" rIns="0" bIns="0" anchor="t">
            <a:spAutoFit/>
          </a:bodyPr>
          <a:lstStyle/>
          <a:p>
            <a:pPr algn="l">
              <a:lnSpc>
                <a:spcPts val="1538"/>
              </a:lnSpc>
            </a:pPr>
            <a:r>
              <a:rPr sz="1125" b="0" i="1">
                <a:solidFill>
                  <a:srgbClr val="1B1A1A"/>
                </a:solidFill>
                <a:latin typeface="Cambria"/>
              </a:rPr>
              <a:t>Research spending has turned up and laboratories are selling to the national networks.</a:t>
            </a:r>
          </a:p>
        </p:txBody>
      </p:sp>
      <p:sp>
        <p:nvSpPr>
          <p:cNvPr id="67" name="Text: BUSINESSES WE COVER"/>
          <p:cNvSpPr txBox="1"/>
          <p:nvPr/>
        </p:nvSpPr>
        <p:spPr>
          <a:xfrm>
            <a:off x="581025" y="5386388"/>
            <a:ext cx="2195512" cy="123825"/>
          </a:xfrm>
          <a:prstGeom prst="rect">
            <a:avLst/>
          </a:prstGeom>
          <a:noFill/>
        </p:spPr>
        <p:txBody>
          <a:bodyPr wrap="square" lIns="0" tIns="0" rIns="0" bIns="0" anchor="t">
            <a:spAutoFit/>
          </a:bodyPr>
          <a:lstStyle/>
          <a:p>
            <a:pPr algn="l">
              <a:lnSpc>
                <a:spcPts val="975"/>
              </a:lnSpc>
            </a:pPr>
            <a:r>
              <a:rPr sz="675" b="1" i="0" spc="150">
                <a:solidFill>
                  <a:srgbClr val="8C6239"/>
                </a:solidFill>
                <a:latin typeface="Calibri"/>
              </a:rPr>
              <a:t>BUSINESSES WE COVER</a:t>
            </a:r>
          </a:p>
        </p:txBody>
      </p:sp>
      <p:sp>
        <p:nvSpPr>
          <p:cNvPr id="68" name="Text: Clinical &amp; pathology labs, Biologi"/>
          <p:cNvSpPr txBox="1"/>
          <p:nvPr/>
        </p:nvSpPr>
        <p:spPr>
          <a:xfrm>
            <a:off x="581025" y="5548312"/>
            <a:ext cx="2195512" cy="442912"/>
          </a:xfrm>
          <a:prstGeom prst="rect">
            <a:avLst/>
          </a:prstGeom>
          <a:noFill/>
        </p:spPr>
        <p:txBody>
          <a:bodyPr wrap="square" lIns="0" tIns="0" rIns="0" bIns="0" anchor="t">
            <a:spAutoFit/>
          </a:bodyPr>
          <a:lstStyle/>
          <a:p>
            <a:pPr algn="l">
              <a:lnSpc>
                <a:spcPts val="1162"/>
              </a:lnSpc>
            </a:pPr>
            <a:r>
              <a:rPr sz="788" b="0" i="0" spc="15">
                <a:solidFill>
                  <a:srgbClr val="333231"/>
                </a:solidFill>
                <a:latin typeface="Calibri"/>
              </a:rPr>
              <a:t>Clinical &amp; pathology labs, Biologics &amp; reagents, Clinical research sites, Human-factors &amp; device design</a:t>
            </a:r>
          </a:p>
        </p:txBody>
      </p:sp>
      <p:pic>
        <p:nvPicPr>
          <p:cNvPr id="69" name="Picture 68" descr="A microscope over a specimen slide"/>
          <p:cNvPicPr>
            <a:picLocks noChangeAspect="1"/>
          </p:cNvPicPr>
          <p:nvPr/>
        </p:nvPicPr>
        <p:blipFill>
          <a:blip r:embed="rId10"/>
          <a:srcRect t="24371" b="24371"/>
          <a:stretch>
            <a:fillRect/>
          </a:stretch>
        </p:blipFill>
        <p:spPr>
          <a:xfrm>
            <a:off x="581025" y="6257925"/>
            <a:ext cx="2190750" cy="533400"/>
          </a:xfrm>
          <a:prstGeom prst="rect">
            <a:avLst/>
          </a:prstGeom>
        </p:spPr>
      </p:pic>
      <p:sp>
        <p:nvSpPr>
          <p:cNvPr id="70" name="Text: KEY TRENDS"/>
          <p:cNvSpPr txBox="1"/>
          <p:nvPr/>
        </p:nvSpPr>
        <p:spPr>
          <a:xfrm>
            <a:off x="3095625" y="4714875"/>
            <a:ext cx="4129088" cy="123825"/>
          </a:xfrm>
          <a:prstGeom prst="rect">
            <a:avLst/>
          </a:prstGeom>
          <a:noFill/>
        </p:spPr>
        <p:txBody>
          <a:bodyPr wrap="square" lIns="0" tIns="0" rIns="0" bIns="0" anchor="t">
            <a:spAutoFit/>
          </a:bodyPr>
          <a:lstStyle/>
          <a:p>
            <a:pPr algn="l">
              <a:lnSpc>
                <a:spcPts val="975"/>
              </a:lnSpc>
            </a:pPr>
            <a:r>
              <a:rPr sz="675" b="1" i="0" spc="150">
                <a:solidFill>
                  <a:srgbClr val="8C6239"/>
                </a:solidFill>
                <a:latin typeface="Calibri"/>
              </a:rPr>
              <a:t>KEY TRENDS</a:t>
            </a:r>
          </a:p>
        </p:txBody>
      </p:sp>
      <p:sp>
        <p:nvSpPr>
          <p:cNvPr id="71" name="Rectangle 70"/>
          <p:cNvSpPr/>
          <p:nvPr/>
        </p:nvSpPr>
        <p:spPr>
          <a:xfrm>
            <a:off x="3095625" y="4943475"/>
            <a:ext cx="47625" cy="47625"/>
          </a:xfrm>
          <a:prstGeom prst="rect">
            <a:avLst/>
          </a:prstGeom>
          <a:solidFill>
            <a:srgbClr val="B68757"/>
          </a:solidFill>
          <a:ln>
            <a:noFill/>
          </a:ln>
          <a:effectLst/>
        </p:spPr>
        <p:txBody>
          <a:bodyPr rtlCol="0" anchor="ctr"/>
          <a:lstStyle/>
          <a:p>
            <a:pPr algn="ctr"/>
            <a:endParaRPr/>
          </a:p>
        </p:txBody>
      </p:sp>
      <p:sp>
        <p:nvSpPr>
          <p:cNvPr id="72" name="Text: Quest grew revenue 10.2% in the se"/>
          <p:cNvSpPr txBox="1"/>
          <p:nvPr/>
        </p:nvSpPr>
        <p:spPr>
          <a:xfrm>
            <a:off x="3219450" y="4905375"/>
            <a:ext cx="4005262" cy="457200"/>
          </a:xfrm>
          <a:prstGeom prst="rect">
            <a:avLst/>
          </a:prstGeom>
          <a:noFill/>
        </p:spPr>
        <p:txBody>
          <a:bodyPr wrap="square" lIns="0" tIns="0" rIns="0" bIns="0" anchor="t">
            <a:spAutoFit/>
          </a:bodyPr>
          <a:lstStyle/>
          <a:p>
            <a:pPr algn="l">
              <a:lnSpc>
                <a:spcPts val="1200"/>
              </a:lnSpc>
            </a:pPr>
            <a:r>
              <a:rPr sz="825" b="0" i="0" spc="15">
                <a:solidFill>
                  <a:srgbClr val="333231"/>
                </a:solidFill>
                <a:latin typeface="Calibri"/>
              </a:rPr>
              <a:t>Quest grew revenue 10.2% in the second quarter on 13.1% more requisitions (</a:t>
            </a:r>
            <a:r>
              <a:rPr sz="825" b="0" i="0" spc="15">
                <a:solidFill>
                  <a:srgbClr val="8C6239"/>
                </a:solidFill>
                <a:latin typeface="Calibri"/>
                <a:hlinkClick r:id="rId11">
                  <a:extLst>
                    <a:ext uri="{A12FA001-AC4F-418D-AE19-62706E023703}">
                      <ahyp:hlinkClr xmlns:ahyp="http://schemas.microsoft.com/office/drawing/2018/hyperlinkcolor" val="tx"/>
                    </a:ext>
                  </a:extLst>
                </a:hlinkClick>
              </a:rPr>
              <a:t>Quest Diagnostics</a:t>
            </a:r>
            <a:r>
              <a:rPr sz="825" b="0" i="0" spc="15">
                <a:solidFill>
                  <a:srgbClr val="333231"/>
                </a:solidFill>
                <a:latin typeface="Calibri"/>
              </a:rPr>
              <a:t>), and Labcorp spent $528.6 million on acquisitions in the first half (</a:t>
            </a:r>
            <a:r>
              <a:rPr sz="825" b="0" i="0" spc="15">
                <a:solidFill>
                  <a:srgbClr val="8C6239"/>
                </a:solidFill>
                <a:latin typeface="Calibri"/>
                <a:hlinkClick r:id="rId12">
                  <a:extLst>
                    <a:ext uri="{A12FA001-AC4F-418D-AE19-62706E023703}">
                      <ahyp:hlinkClr xmlns:ahyp="http://schemas.microsoft.com/office/drawing/2018/hyperlinkcolor" val="tx"/>
                    </a:ext>
                  </a:extLst>
                </a:hlinkClick>
              </a:rPr>
              <a:t>Labcorp Form 10-Q</a:t>
            </a:r>
            <a:r>
              <a:rPr sz="825" b="0" i="0" spc="15">
                <a:solidFill>
                  <a:srgbClr val="333231"/>
                </a:solidFill>
                <a:latin typeface="Calibri"/>
              </a:rPr>
              <a:t>).</a:t>
            </a:r>
          </a:p>
        </p:txBody>
      </p:sp>
      <p:sp>
        <p:nvSpPr>
          <p:cNvPr id="73" name="Rectangle 72"/>
          <p:cNvSpPr/>
          <p:nvPr/>
        </p:nvSpPr>
        <p:spPr>
          <a:xfrm>
            <a:off x="3095625" y="5457825"/>
            <a:ext cx="47625" cy="47625"/>
          </a:xfrm>
          <a:prstGeom prst="rect">
            <a:avLst/>
          </a:prstGeom>
          <a:solidFill>
            <a:srgbClr val="B68757"/>
          </a:solidFill>
          <a:ln>
            <a:noFill/>
          </a:ln>
          <a:effectLst/>
        </p:spPr>
        <p:txBody>
          <a:bodyPr rtlCol="0" anchor="ctr"/>
          <a:lstStyle/>
          <a:p>
            <a:pPr algn="ctr"/>
            <a:endParaRPr/>
          </a:p>
        </p:txBody>
      </p:sp>
      <p:sp>
        <p:nvSpPr>
          <p:cNvPr id="74" name="Text: Medicare laboratory fee cuts of up"/>
          <p:cNvSpPr txBox="1"/>
          <p:nvPr/>
        </p:nvSpPr>
        <p:spPr>
          <a:xfrm>
            <a:off x="3219450" y="5419725"/>
            <a:ext cx="4005262" cy="304800"/>
          </a:xfrm>
          <a:prstGeom prst="rect">
            <a:avLst/>
          </a:prstGeom>
          <a:noFill/>
        </p:spPr>
        <p:txBody>
          <a:bodyPr wrap="square" lIns="0" tIns="0" rIns="0" bIns="0" anchor="t">
            <a:spAutoFit/>
          </a:bodyPr>
          <a:lstStyle/>
          <a:p>
            <a:pPr algn="l">
              <a:lnSpc>
                <a:spcPts val="1200"/>
              </a:lnSpc>
            </a:pPr>
            <a:r>
              <a:rPr sz="825" b="0" i="0" spc="15">
                <a:solidFill>
                  <a:srgbClr val="333231"/>
                </a:solidFill>
                <a:latin typeface="Calibri"/>
              </a:rPr>
              <a:t>Medicare laboratory fee cuts of up to 15% a year could resume in 2027 unless Congress passes the RESULTS Act (</a:t>
            </a:r>
            <a:r>
              <a:rPr sz="825" b="0" i="0" spc="15">
                <a:solidFill>
                  <a:srgbClr val="8C6239"/>
                </a:solidFill>
                <a:latin typeface="Calibri"/>
                <a:hlinkClick r:id="rId13">
                  <a:extLst>
                    <a:ext uri="{A12FA001-AC4F-418D-AE19-62706E023703}">
                      <ahyp:hlinkClr xmlns:ahyp="http://schemas.microsoft.com/office/drawing/2018/hyperlinkcolor" val="tx"/>
                    </a:ext>
                  </a:extLst>
                </a:hlinkClick>
              </a:rPr>
              <a:t>Association for Diagnostics &amp; Laboratory Medicine</a:t>
            </a:r>
            <a:r>
              <a:rPr sz="825" b="0" i="0" spc="15">
                <a:solidFill>
                  <a:srgbClr val="333231"/>
                </a:solidFill>
                <a:latin typeface="Calibri"/>
              </a:rPr>
              <a:t>).</a:t>
            </a:r>
          </a:p>
        </p:txBody>
      </p:sp>
      <p:sp>
        <p:nvSpPr>
          <p:cNvPr id="75" name="Rectangle 74"/>
          <p:cNvSpPr/>
          <p:nvPr/>
        </p:nvSpPr>
        <p:spPr>
          <a:xfrm>
            <a:off x="3095625" y="5819775"/>
            <a:ext cx="47625" cy="47625"/>
          </a:xfrm>
          <a:prstGeom prst="rect">
            <a:avLst/>
          </a:prstGeom>
          <a:solidFill>
            <a:srgbClr val="B68757"/>
          </a:solidFill>
          <a:ln>
            <a:noFill/>
          </a:ln>
          <a:effectLst/>
        </p:spPr>
        <p:txBody>
          <a:bodyPr rtlCol="0" anchor="ctr"/>
          <a:lstStyle/>
          <a:p>
            <a:pPr algn="ctr"/>
            <a:endParaRPr/>
          </a:p>
        </p:txBody>
      </p:sp>
      <p:sp>
        <p:nvSpPr>
          <p:cNvPr id="76" name="Text: Outsourced research has recovered,"/>
          <p:cNvSpPr txBox="1"/>
          <p:nvPr/>
        </p:nvSpPr>
        <p:spPr>
          <a:xfrm>
            <a:off x="3219450" y="5781675"/>
            <a:ext cx="4005262" cy="304800"/>
          </a:xfrm>
          <a:prstGeom prst="rect">
            <a:avLst/>
          </a:prstGeom>
          <a:noFill/>
        </p:spPr>
        <p:txBody>
          <a:bodyPr wrap="square" lIns="0" tIns="0" rIns="0" bIns="0" anchor="t">
            <a:spAutoFit/>
          </a:bodyPr>
          <a:lstStyle/>
          <a:p>
            <a:pPr algn="l">
              <a:lnSpc>
                <a:spcPts val="1200"/>
              </a:lnSpc>
            </a:pPr>
            <a:r>
              <a:rPr sz="825" b="0" i="0" spc="15">
                <a:solidFill>
                  <a:srgbClr val="333231"/>
                </a:solidFill>
                <a:latin typeface="Calibri"/>
              </a:rPr>
              <a:t>Outsourced research has recovered, with IQVIA's net bookings up 19% (</a:t>
            </a:r>
            <a:r>
              <a:rPr sz="825" b="0" i="0" spc="15">
                <a:solidFill>
                  <a:srgbClr val="8C6239"/>
                </a:solidFill>
                <a:latin typeface="Calibri"/>
                <a:hlinkClick r:id="rId14">
                  <a:extLst>
                    <a:ext uri="{A12FA001-AC4F-418D-AE19-62706E023703}">
                      <ahyp:hlinkClr xmlns:ahyp="http://schemas.microsoft.com/office/drawing/2018/hyperlinkcolor" val="tx"/>
                    </a:ext>
                  </a:extLst>
                </a:hlinkClick>
              </a:rPr>
              <a:t>IQVIA</a:t>
            </a:r>
            <a:r>
              <a:rPr sz="825" b="0" i="0" spc="15">
                <a:solidFill>
                  <a:srgbClr val="333231"/>
                </a:solidFill>
                <a:latin typeface="Calibri"/>
              </a:rPr>
              <a:t>) and Medpace growing revenue 17.2% (</a:t>
            </a:r>
            <a:r>
              <a:rPr sz="825" b="0" i="0" spc="15">
                <a:solidFill>
                  <a:srgbClr val="8C6239"/>
                </a:solidFill>
                <a:latin typeface="Calibri"/>
                <a:hlinkClick r:id="rId15">
                  <a:extLst>
                    <a:ext uri="{A12FA001-AC4F-418D-AE19-62706E023703}">
                      <ahyp:hlinkClr xmlns:ahyp="http://schemas.microsoft.com/office/drawing/2018/hyperlinkcolor" val="tx"/>
                    </a:ext>
                  </a:extLst>
                </a:hlinkClick>
              </a:rPr>
              <a:t>Medpace</a:t>
            </a:r>
            <a:r>
              <a:rPr sz="825" b="0" i="0" spc="15">
                <a:solidFill>
                  <a:srgbClr val="333231"/>
                </a:solidFill>
                <a:latin typeface="Calibri"/>
              </a:rPr>
              <a:t>).</a:t>
            </a:r>
          </a:p>
        </p:txBody>
      </p:sp>
      <p:sp>
        <p:nvSpPr>
          <p:cNvPr id="77" name="Rectangle 76"/>
          <p:cNvSpPr/>
          <p:nvPr/>
        </p:nvSpPr>
        <p:spPr>
          <a:xfrm>
            <a:off x="3095625" y="6181725"/>
            <a:ext cx="47625" cy="47625"/>
          </a:xfrm>
          <a:prstGeom prst="rect">
            <a:avLst/>
          </a:prstGeom>
          <a:solidFill>
            <a:srgbClr val="B68757"/>
          </a:solidFill>
          <a:ln>
            <a:noFill/>
          </a:ln>
          <a:effectLst/>
        </p:spPr>
        <p:txBody>
          <a:bodyPr rtlCol="0" anchor="ctr"/>
          <a:lstStyle/>
          <a:p>
            <a:pPr algn="ctr"/>
            <a:endParaRPr/>
          </a:p>
        </p:txBody>
      </p:sp>
      <p:sp>
        <p:nvSpPr>
          <p:cNvPr id="78" name="Text: Sponsor-backed networks continue t"/>
          <p:cNvSpPr txBox="1"/>
          <p:nvPr/>
        </p:nvSpPr>
        <p:spPr>
          <a:xfrm>
            <a:off x="3219450" y="6143625"/>
            <a:ext cx="4005262" cy="457200"/>
          </a:xfrm>
          <a:prstGeom prst="rect">
            <a:avLst/>
          </a:prstGeom>
          <a:noFill/>
        </p:spPr>
        <p:txBody>
          <a:bodyPr wrap="square" lIns="0" tIns="0" rIns="0" bIns="0" anchor="t">
            <a:spAutoFit/>
          </a:bodyPr>
          <a:lstStyle/>
          <a:p>
            <a:pPr algn="l">
              <a:lnSpc>
                <a:spcPts val="1200"/>
              </a:lnSpc>
            </a:pPr>
            <a:r>
              <a:rPr sz="825" b="0" i="0" spc="15">
                <a:solidFill>
                  <a:srgbClr val="333231"/>
                </a:solidFill>
                <a:latin typeface="Calibri"/>
              </a:rPr>
              <a:t>Sponsor-backed networks continue to buy clinical research sites, including Headlands Research in California and Summit Clinical Research in Dallas (</a:t>
            </a:r>
            <a:r>
              <a:rPr sz="825" b="0" i="0" spc="15">
                <a:solidFill>
                  <a:srgbClr val="8C6239"/>
                </a:solidFill>
                <a:latin typeface="Calibri"/>
                <a:hlinkClick r:id="rId16">
                  <a:extLst>
                    <a:ext uri="{A12FA001-AC4F-418D-AE19-62706E023703}">
                      <ahyp:hlinkClr xmlns:ahyp="http://schemas.microsoft.com/office/drawing/2018/hyperlinkcolor" val="tx"/>
                    </a:ext>
                  </a:extLst>
                </a:hlinkClick>
              </a:rPr>
              <a:t>Headlands Research</a:t>
            </a:r>
            <a:r>
              <a:rPr sz="825" b="0" i="0" spc="15">
                <a:solidFill>
                  <a:srgbClr val="333231"/>
                </a:solidFill>
                <a:latin typeface="Calibri"/>
              </a:rPr>
              <a:t>; </a:t>
            </a:r>
            <a:r>
              <a:rPr sz="825" b="0" i="0" spc="15">
                <a:solidFill>
                  <a:srgbClr val="8C6239"/>
                </a:solidFill>
                <a:latin typeface="Calibri"/>
                <a:hlinkClick r:id="rId17">
                  <a:extLst>
                    <a:ext uri="{A12FA001-AC4F-418D-AE19-62706E023703}">
                      <ahyp:hlinkClr xmlns:ahyp="http://schemas.microsoft.com/office/drawing/2018/hyperlinkcolor" val="tx"/>
                    </a:ext>
                  </a:extLst>
                </a:hlinkClick>
              </a:rPr>
              <a:t>Summit Clinical Research</a:t>
            </a:r>
            <a:r>
              <a:rPr sz="825" b="0" i="0" spc="15">
                <a:solidFill>
                  <a:srgbClr val="333231"/>
                </a:solidFill>
                <a:latin typeface="Calibri"/>
              </a:rPr>
              <a:t>).</a:t>
            </a:r>
          </a:p>
        </p:txBody>
      </p:sp>
      <p:sp>
        <p:nvSpPr>
          <p:cNvPr id="79" name="Rectangle 78"/>
          <p:cNvSpPr/>
          <p:nvPr/>
        </p:nvSpPr>
        <p:spPr>
          <a:xfrm>
            <a:off x="7381875" y="4581525"/>
            <a:ext cx="2247900" cy="2343150"/>
          </a:xfrm>
          <a:prstGeom prst="rect">
            <a:avLst/>
          </a:prstGeom>
          <a:solidFill>
            <a:srgbClr val="FAF7F3"/>
          </a:solidFill>
          <a:ln>
            <a:noFill/>
          </a:ln>
          <a:effectLst/>
        </p:spPr>
        <p:txBody>
          <a:bodyPr rtlCol="0" anchor="ctr"/>
          <a:lstStyle/>
          <a:p>
            <a:pPr algn="ctr"/>
            <a:endParaRPr/>
          </a:p>
        </p:txBody>
      </p:sp>
      <p:sp>
        <p:nvSpPr>
          <p:cNvPr id="80" name="Text: ACTIVE BUYERS"/>
          <p:cNvSpPr txBox="1"/>
          <p:nvPr/>
        </p:nvSpPr>
        <p:spPr>
          <a:xfrm>
            <a:off x="7534275" y="4714875"/>
            <a:ext cx="1957388" cy="123825"/>
          </a:xfrm>
          <a:prstGeom prst="rect">
            <a:avLst/>
          </a:prstGeom>
          <a:noFill/>
        </p:spPr>
        <p:txBody>
          <a:bodyPr wrap="square" lIns="0" tIns="0" rIns="0" bIns="0" anchor="t">
            <a:spAutoFit/>
          </a:bodyPr>
          <a:lstStyle/>
          <a:p>
            <a:pPr algn="l">
              <a:lnSpc>
                <a:spcPts val="975"/>
              </a:lnSpc>
            </a:pPr>
            <a:r>
              <a:rPr sz="675" b="1" i="0" spc="150">
                <a:solidFill>
                  <a:srgbClr val="8C6239"/>
                </a:solidFill>
                <a:latin typeface="Calibri"/>
              </a:rPr>
              <a:t>ACTIVE BUYERS</a:t>
            </a:r>
          </a:p>
        </p:txBody>
      </p:sp>
      <p:sp>
        <p:nvSpPr>
          <p:cNvPr id="81" name="Text: Labcorp and Quest for laboratories"/>
          <p:cNvSpPr txBox="1"/>
          <p:nvPr/>
        </p:nvSpPr>
        <p:spPr>
          <a:xfrm>
            <a:off x="7534275" y="4876800"/>
            <a:ext cx="1957388" cy="785812"/>
          </a:xfrm>
          <a:prstGeom prst="rect">
            <a:avLst/>
          </a:prstGeom>
          <a:noFill/>
        </p:spPr>
        <p:txBody>
          <a:bodyPr wrap="square" lIns="0" tIns="0" rIns="0" bIns="0" anchor="t">
            <a:spAutoFit/>
          </a:bodyPr>
          <a:lstStyle/>
          <a:p>
            <a:pPr algn="l">
              <a:lnSpc>
                <a:spcPts val="1238"/>
              </a:lnSpc>
            </a:pPr>
            <a:r>
              <a:rPr sz="825" b="0" i="0" spc="15">
                <a:solidFill>
                  <a:srgbClr val="333231"/>
                </a:solidFill>
                <a:latin typeface="Calibri"/>
              </a:rPr>
              <a:t>Labcorp and Quest for laboratories; Thermo Fisher, Danaher, Agilent, and Merck KGaA for tools and reagents; Headlands Research and Summit Clinical Research for sites</a:t>
            </a:r>
          </a:p>
        </p:txBody>
      </p:sp>
      <p:sp>
        <p:nvSpPr>
          <p:cNvPr id="82" name="Rectangle 81"/>
          <p:cNvSpPr/>
          <p:nvPr/>
        </p:nvSpPr>
        <p:spPr>
          <a:xfrm>
            <a:off x="7534275" y="6086475"/>
            <a:ext cx="1943100" cy="9525"/>
          </a:xfrm>
          <a:prstGeom prst="rect">
            <a:avLst/>
          </a:prstGeom>
          <a:solidFill>
            <a:srgbClr val="E3DCD3"/>
          </a:solidFill>
          <a:ln>
            <a:noFill/>
          </a:ln>
          <a:effectLst/>
        </p:spPr>
        <p:txBody>
          <a:bodyPr rtlCol="0" anchor="ctr"/>
          <a:lstStyle/>
          <a:p>
            <a:pPr algn="ctr"/>
            <a:endParaRPr/>
          </a:p>
        </p:txBody>
      </p:sp>
      <p:sp>
        <p:nvSpPr>
          <p:cNvPr id="83" name="Text: LISTED REFERENCE COMPANIES"/>
          <p:cNvSpPr txBox="1"/>
          <p:nvPr/>
        </p:nvSpPr>
        <p:spPr>
          <a:xfrm>
            <a:off x="7534275" y="6191250"/>
            <a:ext cx="1957388" cy="123825"/>
          </a:xfrm>
          <a:prstGeom prst="rect">
            <a:avLst/>
          </a:prstGeom>
          <a:noFill/>
        </p:spPr>
        <p:txBody>
          <a:bodyPr wrap="square" lIns="0" tIns="0" rIns="0" bIns="0" anchor="t">
            <a:spAutoFit/>
          </a:bodyPr>
          <a:lstStyle/>
          <a:p>
            <a:pPr algn="l">
              <a:lnSpc>
                <a:spcPts val="975"/>
              </a:lnSpc>
            </a:pPr>
            <a:r>
              <a:rPr sz="638" b="1" i="0" spc="150">
                <a:solidFill>
                  <a:srgbClr val="6F6A66"/>
                </a:solidFill>
                <a:latin typeface="Calibri"/>
              </a:rPr>
              <a:t>LISTED REFERENCE COMPANIES</a:t>
            </a:r>
          </a:p>
        </p:txBody>
      </p:sp>
      <p:sp>
        <p:nvSpPr>
          <p:cNvPr id="84" name="Rounded Rectangle 83"/>
          <p:cNvSpPr/>
          <p:nvPr/>
        </p:nvSpPr>
        <p:spPr>
          <a:xfrm>
            <a:off x="7534275" y="6372225"/>
            <a:ext cx="200323" cy="190500"/>
          </a:xfrm>
          <a:prstGeom prst="roundRect">
            <a:avLst>
              <a:gd name="adj" fmla="val 15000"/>
            </a:avLst>
          </a:prstGeom>
          <a:solidFill>
            <a:srgbClr val="2A2928"/>
          </a:solidFill>
          <a:ln>
            <a:noFill/>
          </a:ln>
          <a:effectLst/>
        </p:spPr>
        <p:txBody>
          <a:bodyPr rtlCol="0" anchor="ctr"/>
          <a:lstStyle/>
          <a:p>
            <a:pPr algn="ctr"/>
            <a:endParaRPr/>
          </a:p>
        </p:txBody>
      </p:sp>
      <p:sp>
        <p:nvSpPr>
          <p:cNvPr id="85" name="Text: LH"/>
          <p:cNvSpPr txBox="1"/>
          <p:nvPr/>
        </p:nvSpPr>
        <p:spPr>
          <a:xfrm>
            <a:off x="7591425" y="6372225"/>
            <a:ext cx="100310"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LH</a:t>
            </a:r>
          </a:p>
        </p:txBody>
      </p:sp>
      <p:sp>
        <p:nvSpPr>
          <p:cNvPr id="86" name="Rounded Rectangle 85"/>
          <p:cNvSpPr/>
          <p:nvPr/>
        </p:nvSpPr>
        <p:spPr>
          <a:xfrm>
            <a:off x="7772698" y="6372225"/>
            <a:ext cx="261491" cy="190500"/>
          </a:xfrm>
          <a:prstGeom prst="roundRect">
            <a:avLst>
              <a:gd name="adj" fmla="val 15000"/>
            </a:avLst>
          </a:prstGeom>
          <a:solidFill>
            <a:srgbClr val="2A2928"/>
          </a:solidFill>
          <a:ln>
            <a:noFill/>
          </a:ln>
          <a:effectLst/>
        </p:spPr>
        <p:txBody>
          <a:bodyPr rtlCol="0" anchor="ctr"/>
          <a:lstStyle/>
          <a:p>
            <a:pPr algn="ctr"/>
            <a:endParaRPr/>
          </a:p>
        </p:txBody>
      </p:sp>
      <p:sp>
        <p:nvSpPr>
          <p:cNvPr id="87" name="Text: DGX"/>
          <p:cNvSpPr txBox="1"/>
          <p:nvPr/>
        </p:nvSpPr>
        <p:spPr>
          <a:xfrm>
            <a:off x="7829848" y="6372225"/>
            <a:ext cx="161479"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DGX</a:t>
            </a:r>
          </a:p>
        </p:txBody>
      </p:sp>
      <p:sp>
        <p:nvSpPr>
          <p:cNvPr id="88" name="Rounded Rectangle 87"/>
          <p:cNvSpPr/>
          <p:nvPr/>
        </p:nvSpPr>
        <p:spPr>
          <a:xfrm>
            <a:off x="8072289" y="6372225"/>
            <a:ext cx="278755" cy="190500"/>
          </a:xfrm>
          <a:prstGeom prst="roundRect">
            <a:avLst>
              <a:gd name="adj" fmla="val 15000"/>
            </a:avLst>
          </a:prstGeom>
          <a:solidFill>
            <a:srgbClr val="2A2928"/>
          </a:solidFill>
          <a:ln>
            <a:noFill/>
          </a:ln>
          <a:effectLst/>
        </p:spPr>
        <p:txBody>
          <a:bodyPr rtlCol="0" anchor="ctr"/>
          <a:lstStyle/>
          <a:p>
            <a:pPr algn="ctr"/>
            <a:endParaRPr/>
          </a:p>
        </p:txBody>
      </p:sp>
      <p:sp>
        <p:nvSpPr>
          <p:cNvPr id="89" name="Text: TMO"/>
          <p:cNvSpPr txBox="1"/>
          <p:nvPr/>
        </p:nvSpPr>
        <p:spPr>
          <a:xfrm>
            <a:off x="8129439" y="6372225"/>
            <a:ext cx="178743"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TMO</a:t>
            </a:r>
          </a:p>
        </p:txBody>
      </p:sp>
      <p:sp>
        <p:nvSpPr>
          <p:cNvPr id="90" name="Rounded Rectangle 89"/>
          <p:cNvSpPr/>
          <p:nvPr/>
        </p:nvSpPr>
        <p:spPr>
          <a:xfrm>
            <a:off x="8389144" y="6372225"/>
            <a:ext cx="261938" cy="190500"/>
          </a:xfrm>
          <a:prstGeom prst="roundRect">
            <a:avLst>
              <a:gd name="adj" fmla="val 15000"/>
            </a:avLst>
          </a:prstGeom>
          <a:solidFill>
            <a:srgbClr val="2A2928"/>
          </a:solidFill>
          <a:ln>
            <a:noFill/>
          </a:ln>
          <a:effectLst/>
        </p:spPr>
        <p:txBody>
          <a:bodyPr rtlCol="0" anchor="ctr"/>
          <a:lstStyle/>
          <a:p>
            <a:pPr algn="ctr"/>
            <a:endParaRPr/>
          </a:p>
        </p:txBody>
      </p:sp>
      <p:sp>
        <p:nvSpPr>
          <p:cNvPr id="91" name="Text: DHR"/>
          <p:cNvSpPr txBox="1"/>
          <p:nvPr/>
        </p:nvSpPr>
        <p:spPr>
          <a:xfrm>
            <a:off x="8446294" y="6372225"/>
            <a:ext cx="161925"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DHR</a:t>
            </a:r>
          </a:p>
        </p:txBody>
      </p:sp>
      <p:sp>
        <p:nvSpPr>
          <p:cNvPr id="92" name="Rounded Rectangle 91"/>
          <p:cNvSpPr/>
          <p:nvPr/>
        </p:nvSpPr>
        <p:spPr>
          <a:xfrm>
            <a:off x="8689181" y="6372225"/>
            <a:ext cx="287982" cy="190500"/>
          </a:xfrm>
          <a:prstGeom prst="roundRect">
            <a:avLst>
              <a:gd name="adj" fmla="val 15000"/>
            </a:avLst>
          </a:prstGeom>
          <a:solidFill>
            <a:srgbClr val="2A2928"/>
          </a:solidFill>
          <a:ln>
            <a:noFill/>
          </a:ln>
          <a:effectLst/>
        </p:spPr>
        <p:txBody>
          <a:bodyPr rtlCol="0" anchor="ctr"/>
          <a:lstStyle/>
          <a:p>
            <a:pPr algn="ctr"/>
            <a:endParaRPr/>
          </a:p>
        </p:txBody>
      </p:sp>
      <p:sp>
        <p:nvSpPr>
          <p:cNvPr id="93" name="Text: TECH"/>
          <p:cNvSpPr txBox="1"/>
          <p:nvPr/>
        </p:nvSpPr>
        <p:spPr>
          <a:xfrm>
            <a:off x="8746331" y="6372225"/>
            <a:ext cx="187970"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TECH</a:t>
            </a:r>
          </a:p>
        </p:txBody>
      </p:sp>
      <p:sp>
        <p:nvSpPr>
          <p:cNvPr id="94" name="Rounded Rectangle 93"/>
          <p:cNvSpPr/>
          <p:nvPr/>
        </p:nvSpPr>
        <p:spPr>
          <a:xfrm>
            <a:off x="9015264" y="6372225"/>
            <a:ext cx="239316" cy="190500"/>
          </a:xfrm>
          <a:prstGeom prst="roundRect">
            <a:avLst>
              <a:gd name="adj" fmla="val 15000"/>
            </a:avLst>
          </a:prstGeom>
          <a:solidFill>
            <a:srgbClr val="2A2928"/>
          </a:solidFill>
          <a:ln>
            <a:noFill/>
          </a:ln>
          <a:effectLst/>
        </p:spPr>
        <p:txBody>
          <a:bodyPr rtlCol="0" anchor="ctr"/>
          <a:lstStyle/>
          <a:p>
            <a:pPr algn="ctr"/>
            <a:endParaRPr/>
          </a:p>
        </p:txBody>
      </p:sp>
      <p:sp>
        <p:nvSpPr>
          <p:cNvPr id="95" name="Text: IQV"/>
          <p:cNvSpPr txBox="1"/>
          <p:nvPr/>
        </p:nvSpPr>
        <p:spPr>
          <a:xfrm>
            <a:off x="9072414" y="6372225"/>
            <a:ext cx="139303"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IQV</a:t>
            </a:r>
          </a:p>
        </p:txBody>
      </p:sp>
      <p:sp>
        <p:nvSpPr>
          <p:cNvPr id="96" name="Rounded Rectangle 95"/>
          <p:cNvSpPr/>
          <p:nvPr/>
        </p:nvSpPr>
        <p:spPr>
          <a:xfrm>
            <a:off x="7534275" y="6600825"/>
            <a:ext cx="318195" cy="190500"/>
          </a:xfrm>
          <a:prstGeom prst="roundRect">
            <a:avLst>
              <a:gd name="adj" fmla="val 15000"/>
            </a:avLst>
          </a:prstGeom>
          <a:solidFill>
            <a:srgbClr val="2A2928"/>
          </a:solidFill>
          <a:ln>
            <a:noFill/>
          </a:ln>
          <a:effectLst/>
        </p:spPr>
        <p:txBody>
          <a:bodyPr rtlCol="0" anchor="ctr"/>
          <a:lstStyle/>
          <a:p>
            <a:pPr algn="ctr"/>
            <a:endParaRPr/>
          </a:p>
        </p:txBody>
      </p:sp>
      <p:sp>
        <p:nvSpPr>
          <p:cNvPr id="97" name="Text: MEDP"/>
          <p:cNvSpPr txBox="1"/>
          <p:nvPr/>
        </p:nvSpPr>
        <p:spPr>
          <a:xfrm>
            <a:off x="7591425" y="6600825"/>
            <a:ext cx="218182"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MEDP</a:t>
            </a:r>
          </a:p>
        </p:txBody>
      </p:sp>
      <p:sp>
        <p:nvSpPr>
          <p:cNvPr id="98" name="Rounded Rectangle 97"/>
          <p:cNvSpPr/>
          <p:nvPr/>
        </p:nvSpPr>
        <p:spPr>
          <a:xfrm>
            <a:off x="7890570" y="6600825"/>
            <a:ext cx="261640" cy="190500"/>
          </a:xfrm>
          <a:prstGeom prst="roundRect">
            <a:avLst>
              <a:gd name="adj" fmla="val 15000"/>
            </a:avLst>
          </a:prstGeom>
          <a:solidFill>
            <a:srgbClr val="2A2928"/>
          </a:solidFill>
          <a:ln>
            <a:noFill/>
          </a:ln>
          <a:effectLst/>
        </p:spPr>
        <p:txBody>
          <a:bodyPr rtlCol="0" anchor="ctr"/>
          <a:lstStyle/>
          <a:p>
            <a:pPr algn="ctr"/>
            <a:endParaRPr/>
          </a:p>
        </p:txBody>
      </p:sp>
      <p:sp>
        <p:nvSpPr>
          <p:cNvPr id="99" name="Text: ICLR"/>
          <p:cNvSpPr txBox="1"/>
          <p:nvPr/>
        </p:nvSpPr>
        <p:spPr>
          <a:xfrm>
            <a:off x="7947720" y="6600825"/>
            <a:ext cx="161627"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ICLR</a:t>
            </a:r>
          </a:p>
        </p:txBody>
      </p:sp>
      <p:sp>
        <p:nvSpPr>
          <p:cNvPr id="100" name="Rounded Rectangle 99"/>
          <p:cNvSpPr/>
          <p:nvPr/>
        </p:nvSpPr>
        <p:spPr>
          <a:xfrm>
            <a:off x="8190309" y="6600825"/>
            <a:ext cx="238423" cy="190500"/>
          </a:xfrm>
          <a:prstGeom prst="roundRect">
            <a:avLst>
              <a:gd name="adj" fmla="val 15000"/>
            </a:avLst>
          </a:prstGeom>
          <a:solidFill>
            <a:srgbClr val="2A2928"/>
          </a:solidFill>
          <a:ln>
            <a:noFill/>
          </a:ln>
          <a:effectLst/>
        </p:spPr>
        <p:txBody>
          <a:bodyPr rtlCol="0" anchor="ctr"/>
          <a:lstStyle/>
          <a:p>
            <a:pPr algn="ctr"/>
            <a:endParaRPr/>
          </a:p>
        </p:txBody>
      </p:sp>
      <p:sp>
        <p:nvSpPr>
          <p:cNvPr id="101" name="Text: CRL"/>
          <p:cNvSpPr txBox="1"/>
          <p:nvPr/>
        </p:nvSpPr>
        <p:spPr>
          <a:xfrm>
            <a:off x="8247459" y="6600825"/>
            <a:ext cx="138410"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CRL</a:t>
            </a:r>
          </a:p>
        </p:txBody>
      </p:sp>
      <p:sp>
        <p:nvSpPr>
          <p:cNvPr id="102" name="Rectangle 101"/>
          <p:cNvSpPr/>
          <p:nvPr/>
        </p:nvSpPr>
        <p:spPr>
          <a:xfrm>
            <a:off x="419100" y="7029450"/>
            <a:ext cx="9220200" cy="9525"/>
          </a:xfrm>
          <a:prstGeom prst="rect">
            <a:avLst/>
          </a:prstGeom>
          <a:solidFill>
            <a:srgbClr val="E3DCD3"/>
          </a:solidFill>
          <a:ln>
            <a:noFill/>
          </a:ln>
          <a:effectLst/>
        </p:spPr>
        <p:txBody>
          <a:bodyPr rtlCol="0" anchor="ctr"/>
          <a:lstStyle/>
          <a:p>
            <a:pPr algn="ctr"/>
            <a:endParaRPr/>
          </a:p>
        </p:txBody>
      </p:sp>
      <p:pic>
        <p:nvPicPr>
          <p:cNvPr id="103" name="Picture 102" descr="Benchmark International"/>
          <p:cNvPicPr>
            <a:picLocks noChangeAspect="1"/>
          </p:cNvPicPr>
          <p:nvPr/>
        </p:nvPicPr>
        <p:blipFill>
          <a:blip r:embed="rId18"/>
          <a:srcRect/>
          <a:stretch>
            <a:fillRect/>
          </a:stretch>
        </p:blipFill>
        <p:spPr>
          <a:xfrm>
            <a:off x="419100" y="7143750"/>
            <a:ext cx="914400" cy="171450"/>
          </a:xfrm>
          <a:prstGeom prst="rect">
            <a:avLst/>
          </a:prstGeom>
        </p:spPr>
      </p:pic>
      <p:sp>
        <p:nvSpPr>
          <p:cNvPr id="104" name="Text: Focus areas and the businesses lis"/>
          <p:cNvSpPr txBox="1"/>
          <p:nvPr/>
        </p:nvSpPr>
        <p:spPr>
          <a:xfrm>
            <a:off x="1543050" y="7105650"/>
            <a:ext cx="7748588" cy="238125"/>
          </a:xfrm>
          <a:prstGeom prst="rect">
            <a:avLst/>
          </a:prstGeom>
          <a:noFill/>
        </p:spPr>
        <p:txBody>
          <a:bodyPr wrap="square" lIns="0" tIns="0" rIns="0" bIns="0" anchor="t">
            <a:spAutoFit/>
          </a:bodyPr>
          <a:lstStyle/>
          <a:p>
            <a:pPr algn="l">
              <a:lnSpc>
                <a:spcPts val="938"/>
              </a:lnSpc>
            </a:pPr>
            <a:r>
              <a:rPr sz="675" b="0" i="0" spc="8">
                <a:solidFill>
                  <a:srgbClr val="6F6A66"/>
                </a:solidFill>
                <a:latin typeface="Calibri"/>
              </a:rPr>
              <a:t>Sectors and the businesses listed under each follow the Middle Market team's healthcare coverage. Buyers named are examples drawn from 2026 transactions and results. Tickers identify the listed reference companies on the valuation pages.</a:t>
            </a:r>
          </a:p>
        </p:txBody>
      </p:sp>
      <p:sp>
        <p:nvSpPr>
          <p:cNvPr id="105" name="Text: 06"/>
          <p:cNvSpPr txBox="1"/>
          <p:nvPr/>
        </p:nvSpPr>
        <p:spPr>
          <a:xfrm>
            <a:off x="9509373" y="7162800"/>
            <a:ext cx="144214" cy="133350"/>
          </a:xfrm>
          <a:prstGeom prst="rect">
            <a:avLst/>
          </a:prstGeom>
          <a:noFill/>
        </p:spPr>
        <p:txBody>
          <a:bodyPr wrap="square" lIns="0" tIns="0" rIns="0" bIns="0" anchor="t">
            <a:spAutoFit/>
          </a:bodyPr>
          <a:lstStyle/>
          <a:p>
            <a:pPr algn="l">
              <a:lnSpc>
                <a:spcPts val="1050"/>
              </a:lnSpc>
            </a:pPr>
            <a:r>
              <a:rPr sz="712" b="1" i="0" spc="150">
                <a:solidFill>
                  <a:srgbClr val="1B1A1A"/>
                </a:solidFill>
                <a:latin typeface="Calibri"/>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57150" cy="7772400"/>
          </a:xfrm>
          <a:prstGeom prst="rect">
            <a:avLst/>
          </a:prstGeom>
          <a:solidFill>
            <a:srgbClr val="B68757"/>
          </a:solidFill>
          <a:ln>
            <a:noFill/>
          </a:ln>
          <a:effectLst/>
        </p:spPr>
        <p:txBody>
          <a:bodyPr rtlCol="0" anchor="ctr"/>
          <a:lstStyle/>
          <a:p>
            <a:pPr algn="ctr"/>
            <a:endParaRPr/>
          </a:p>
        </p:txBody>
      </p:sp>
      <p:sp>
        <p:nvSpPr>
          <p:cNvPr id="3" name="Text: HEALTHCARE | QUARTERLY SECTOR BRIE"/>
          <p:cNvSpPr txBox="1"/>
          <p:nvPr/>
        </p:nvSpPr>
        <p:spPr>
          <a:xfrm>
            <a:off x="419100" y="381000"/>
            <a:ext cx="2439591" cy="133350"/>
          </a:xfrm>
          <a:prstGeom prst="rect">
            <a:avLst/>
          </a:prstGeom>
          <a:noFill/>
        </p:spPr>
        <p:txBody>
          <a:bodyPr wrap="none" lIns="0" tIns="0" rIns="0" bIns="0" anchor="t">
            <a:spAutoFit/>
          </a:bodyPr>
          <a:lstStyle/>
          <a:p>
            <a:pPr algn="l">
              <a:lnSpc>
                <a:spcPts val="1050"/>
              </a:lnSpc>
            </a:pPr>
            <a:r>
              <a:rPr sz="675" b="1" i="0" spc="195">
                <a:solidFill>
                  <a:srgbClr val="8C6239"/>
                </a:solidFill>
                <a:latin typeface="Calibri"/>
              </a:rPr>
              <a:t>HEALTHCARE | QUARTERLY INDUSTRY REPORT</a:t>
            </a:r>
          </a:p>
        </p:txBody>
      </p:sp>
      <p:sp>
        <p:nvSpPr>
          <p:cNvPr id="4" name="Text: Q4 2026"/>
          <p:cNvSpPr txBox="1"/>
          <p:nvPr/>
        </p:nvSpPr>
        <p:spPr>
          <a:xfrm>
            <a:off x="9188648" y="361950"/>
            <a:ext cx="464939" cy="171450"/>
          </a:xfrm>
          <a:prstGeom prst="rect">
            <a:avLst/>
          </a:prstGeom>
          <a:noFill/>
        </p:spPr>
        <p:txBody>
          <a:bodyPr wrap="square" lIns="0" tIns="0" rIns="0" bIns="0" anchor="t">
            <a:spAutoFit/>
          </a:bodyPr>
          <a:lstStyle/>
          <a:p>
            <a:pPr algn="l">
              <a:lnSpc>
                <a:spcPts val="1350"/>
              </a:lnSpc>
            </a:pPr>
            <a:r>
              <a:rPr sz="900" b="0" i="0" spc="90">
                <a:solidFill>
                  <a:srgbClr val="6F6A66"/>
                </a:solidFill>
                <a:latin typeface="Cambria"/>
              </a:rPr>
              <a:t>Q4 2026</a:t>
            </a:r>
          </a:p>
        </p:txBody>
      </p:sp>
      <p:sp>
        <p:nvSpPr>
          <p:cNvPr id="5" name="Text: Perspectives on Four Focus Areas"/>
          <p:cNvSpPr txBox="1"/>
          <p:nvPr/>
        </p:nvSpPr>
        <p:spPr>
          <a:xfrm>
            <a:off x="419100" y="523875"/>
            <a:ext cx="9234488" cy="323850"/>
          </a:xfrm>
          <a:prstGeom prst="rect">
            <a:avLst/>
          </a:prstGeom>
          <a:noFill/>
        </p:spPr>
        <p:txBody>
          <a:bodyPr wrap="square" lIns="0" tIns="0" rIns="0" bIns="0" anchor="t">
            <a:spAutoFit/>
          </a:bodyPr>
          <a:lstStyle/>
          <a:p>
            <a:pPr algn="l">
              <a:lnSpc>
                <a:spcPts val="2550"/>
              </a:lnSpc>
            </a:pPr>
            <a:r>
              <a:rPr sz="2025" b="1" i="0">
                <a:solidFill>
                  <a:srgbClr val="1B1A1A"/>
                </a:solidFill>
                <a:latin typeface="Cambria"/>
              </a:rPr>
              <a:t>Perspectives on Four Sectors</a:t>
            </a:r>
          </a:p>
        </p:txBody>
      </p:sp>
      <p:sp>
        <p:nvSpPr>
          <p:cNvPr id="6" name="Text: Each focus area has its own buyers"/>
          <p:cNvSpPr txBox="1"/>
          <p:nvPr/>
        </p:nvSpPr>
        <p:spPr>
          <a:xfrm>
            <a:off x="419100" y="885825"/>
            <a:ext cx="10215086" cy="180975"/>
          </a:xfrm>
          <a:prstGeom prst="rect">
            <a:avLst/>
          </a:prstGeom>
          <a:noFill/>
        </p:spPr>
        <p:txBody>
          <a:bodyPr wrap="square" lIns="0" tIns="0" rIns="0" bIns="0" anchor="t">
            <a:spAutoFit/>
          </a:bodyPr>
          <a:lstStyle/>
          <a:p>
            <a:pPr algn="l">
              <a:lnSpc>
                <a:spcPts val="1388"/>
              </a:lnSpc>
            </a:pPr>
            <a:r>
              <a:rPr sz="938" b="0" i="0" spc="15">
                <a:solidFill>
                  <a:srgbClr val="6F6A66"/>
                </a:solidFill>
                <a:latin typeface="Calibri"/>
              </a:rPr>
              <a:t>Each sector has its own buyers and drivers. This page covers products, distribution, pharmacy, and staffing.</a:t>
            </a:r>
          </a:p>
        </p:txBody>
      </p:sp>
      <p:sp>
        <p:nvSpPr>
          <p:cNvPr id="7" name="Rectangle 6"/>
          <p:cNvSpPr/>
          <p:nvPr/>
        </p:nvSpPr>
        <p:spPr>
          <a:xfrm>
            <a:off x="419100" y="1143000"/>
            <a:ext cx="9220200" cy="9525"/>
          </a:xfrm>
          <a:prstGeom prst="rect">
            <a:avLst/>
          </a:prstGeom>
          <a:solidFill>
            <a:srgbClr val="E3DCD3"/>
          </a:solidFill>
          <a:ln>
            <a:noFill/>
          </a:ln>
          <a:effectLst/>
        </p:spPr>
        <p:txBody>
          <a:bodyPr rtlCol="0" anchor="ctr"/>
          <a:lstStyle/>
          <a:p>
            <a:pPr algn="ctr"/>
            <a:endParaRPr/>
          </a:p>
        </p:txBody>
      </p:sp>
      <p:sp>
        <p:nvSpPr>
          <p:cNvPr id="8" name="Rectangle 7"/>
          <p:cNvSpPr/>
          <p:nvPr/>
        </p:nvSpPr>
        <p:spPr>
          <a:xfrm>
            <a:off x="419100" y="1238250"/>
            <a:ext cx="9220200" cy="2781300"/>
          </a:xfrm>
          <a:prstGeom prst="rect">
            <a:avLst/>
          </a:prstGeom>
          <a:solidFill>
            <a:srgbClr val="FFFFFF"/>
          </a:solidFill>
          <a:ln>
            <a:noFill/>
          </a:ln>
          <a:effectLst/>
        </p:spPr>
        <p:txBody>
          <a:bodyPr rtlCol="0" anchor="ctr"/>
          <a:lstStyle/>
          <a:p>
            <a:pPr algn="ctr"/>
            <a:endParaRPr/>
          </a:p>
        </p:txBody>
      </p:sp>
      <p:sp>
        <p:nvSpPr>
          <p:cNvPr id="9" name="Rectangle 8"/>
          <p:cNvSpPr/>
          <p:nvPr/>
        </p:nvSpPr>
        <p:spPr>
          <a:xfrm>
            <a:off x="419100" y="1238250"/>
            <a:ext cx="9220200" cy="9525"/>
          </a:xfrm>
          <a:prstGeom prst="rect">
            <a:avLst/>
          </a:prstGeom>
          <a:solidFill>
            <a:srgbClr val="E3DCD3"/>
          </a:solidFill>
          <a:ln>
            <a:noFill/>
          </a:ln>
          <a:effectLst/>
        </p:spPr>
        <p:txBody>
          <a:bodyPr rtlCol="0" anchor="ctr"/>
          <a:lstStyle/>
          <a:p>
            <a:pPr algn="ctr"/>
            <a:endParaRPr/>
          </a:p>
        </p:txBody>
      </p:sp>
      <p:sp>
        <p:nvSpPr>
          <p:cNvPr id="10" name="Rectangle 9"/>
          <p:cNvSpPr/>
          <p:nvPr/>
        </p:nvSpPr>
        <p:spPr>
          <a:xfrm>
            <a:off x="9629775" y="1238250"/>
            <a:ext cx="9525" cy="2781300"/>
          </a:xfrm>
          <a:prstGeom prst="rect">
            <a:avLst/>
          </a:prstGeom>
          <a:solidFill>
            <a:srgbClr val="E3DCD3"/>
          </a:solidFill>
          <a:ln>
            <a:noFill/>
          </a:ln>
          <a:effectLst/>
        </p:spPr>
        <p:txBody>
          <a:bodyPr rtlCol="0" anchor="ctr"/>
          <a:lstStyle/>
          <a:p>
            <a:pPr algn="ctr"/>
            <a:endParaRPr/>
          </a:p>
        </p:txBody>
      </p:sp>
      <p:sp>
        <p:nvSpPr>
          <p:cNvPr id="11" name="Rectangle 10"/>
          <p:cNvSpPr/>
          <p:nvPr/>
        </p:nvSpPr>
        <p:spPr>
          <a:xfrm>
            <a:off x="419100" y="4010025"/>
            <a:ext cx="9220200" cy="9525"/>
          </a:xfrm>
          <a:prstGeom prst="rect">
            <a:avLst/>
          </a:prstGeom>
          <a:solidFill>
            <a:srgbClr val="E3DCD3"/>
          </a:solidFill>
          <a:ln>
            <a:noFill/>
          </a:ln>
          <a:effectLst/>
        </p:spPr>
        <p:txBody>
          <a:bodyPr rtlCol="0" anchor="ctr"/>
          <a:lstStyle/>
          <a:p>
            <a:pPr algn="ctr"/>
            <a:endParaRPr/>
          </a:p>
        </p:txBody>
      </p:sp>
      <p:sp>
        <p:nvSpPr>
          <p:cNvPr id="12" name="Rectangle 11"/>
          <p:cNvSpPr/>
          <p:nvPr/>
        </p:nvSpPr>
        <p:spPr>
          <a:xfrm>
            <a:off x="419100" y="1238250"/>
            <a:ext cx="9525" cy="2781300"/>
          </a:xfrm>
          <a:prstGeom prst="rect">
            <a:avLst/>
          </a:prstGeom>
          <a:solidFill>
            <a:srgbClr val="E3DCD3"/>
          </a:solidFill>
          <a:ln>
            <a:noFill/>
          </a:ln>
          <a:effectLst/>
        </p:spPr>
        <p:txBody>
          <a:bodyPr rtlCol="0" anchor="ctr"/>
          <a:lstStyle/>
          <a:p>
            <a:pPr algn="ctr"/>
            <a:endParaRPr/>
          </a:p>
        </p:txBody>
      </p:sp>
      <p:sp>
        <p:nvSpPr>
          <p:cNvPr id="13" name="Rectangle 12"/>
          <p:cNvSpPr/>
          <p:nvPr/>
        </p:nvSpPr>
        <p:spPr>
          <a:xfrm>
            <a:off x="428625" y="1247775"/>
            <a:ext cx="9201150" cy="419100"/>
          </a:xfrm>
          <a:prstGeom prst="rect">
            <a:avLst/>
          </a:prstGeom>
          <a:solidFill>
            <a:srgbClr val="1B1A1A"/>
          </a:solidFill>
          <a:ln>
            <a:noFill/>
          </a:ln>
          <a:effectLst/>
        </p:spPr>
        <p:txBody>
          <a:bodyPr rtlCol="0" anchor="ctr"/>
          <a:lstStyle/>
          <a:p>
            <a:pPr algn="ctr"/>
            <a:endParaRPr/>
          </a:p>
        </p:txBody>
      </p:sp>
      <p:pic>
        <p:nvPicPr>
          <p:cNvPr id="14" name="Picture 13" descr="v4b0893c35aa4.png"/>
          <p:cNvPicPr>
            <a:picLocks noChangeAspect="1"/>
          </p:cNvPicPr>
          <p:nvPr/>
        </p:nvPicPr>
        <p:blipFill>
          <a:blip r:embed="rId2"/>
          <a:stretch>
            <a:fillRect/>
          </a:stretch>
        </p:blipFill>
        <p:spPr>
          <a:xfrm>
            <a:off x="581025" y="1323975"/>
            <a:ext cx="266700" cy="266700"/>
          </a:xfrm>
          <a:prstGeom prst="rect">
            <a:avLst/>
          </a:prstGeom>
        </p:spPr>
      </p:pic>
      <p:sp>
        <p:nvSpPr>
          <p:cNvPr id="15" name="Text: MEDICAL PRODUCTS &amp; DISTRIBUTION"/>
          <p:cNvSpPr txBox="1"/>
          <p:nvPr/>
        </p:nvSpPr>
        <p:spPr>
          <a:xfrm>
            <a:off x="952500" y="1390650"/>
            <a:ext cx="2194620" cy="133350"/>
          </a:xfrm>
          <a:prstGeom prst="rect">
            <a:avLst/>
          </a:prstGeom>
          <a:noFill/>
        </p:spPr>
        <p:txBody>
          <a:bodyPr wrap="square" lIns="0" tIns="0" rIns="0" bIns="0" anchor="t">
            <a:spAutoFit/>
          </a:bodyPr>
          <a:lstStyle/>
          <a:p>
            <a:pPr algn="l">
              <a:lnSpc>
                <a:spcPts val="1050"/>
              </a:lnSpc>
            </a:pPr>
            <a:r>
              <a:rPr sz="825" b="1" i="0" spc="135">
                <a:solidFill>
                  <a:srgbClr val="FFFFFF"/>
                </a:solidFill>
                <a:latin typeface="Calibri"/>
              </a:rPr>
              <a:t>MEDICAL PRODUCTS &amp; DISTRIBUTION</a:t>
            </a:r>
          </a:p>
        </p:txBody>
      </p:sp>
      <p:sp>
        <p:nvSpPr>
          <p:cNvPr id="16" name="Rectangle 15"/>
          <p:cNvSpPr/>
          <p:nvPr/>
        </p:nvSpPr>
        <p:spPr>
          <a:xfrm>
            <a:off x="2914650" y="1666875"/>
            <a:ext cx="9525" cy="2343150"/>
          </a:xfrm>
          <a:prstGeom prst="rect">
            <a:avLst/>
          </a:prstGeom>
          <a:solidFill>
            <a:srgbClr val="E3DCD3"/>
          </a:solidFill>
          <a:ln>
            <a:noFill/>
          </a:ln>
          <a:effectLst/>
        </p:spPr>
        <p:txBody>
          <a:bodyPr rtlCol="0" anchor="ctr"/>
          <a:lstStyle/>
          <a:p>
            <a:pPr algn="ctr"/>
            <a:endParaRPr/>
          </a:p>
        </p:txBody>
      </p:sp>
      <p:sp>
        <p:nvSpPr>
          <p:cNvPr id="17" name="Text: Procedure demand is firm and consu"/>
          <p:cNvSpPr txBox="1"/>
          <p:nvPr/>
        </p:nvSpPr>
        <p:spPr>
          <a:xfrm>
            <a:off x="581025" y="1790700"/>
            <a:ext cx="2195512" cy="585788"/>
          </a:xfrm>
          <a:prstGeom prst="rect">
            <a:avLst/>
          </a:prstGeom>
          <a:noFill/>
        </p:spPr>
        <p:txBody>
          <a:bodyPr wrap="square" lIns="0" tIns="0" rIns="0" bIns="0" anchor="t">
            <a:spAutoFit/>
          </a:bodyPr>
          <a:lstStyle/>
          <a:p>
            <a:pPr algn="l">
              <a:lnSpc>
                <a:spcPts val="1538"/>
              </a:lnSpc>
            </a:pPr>
            <a:r>
              <a:rPr sz="1125" b="0" i="1">
                <a:solidFill>
                  <a:srgbClr val="1B1A1A"/>
                </a:solidFill>
                <a:latin typeface="Cambria"/>
              </a:rPr>
              <a:t>Procedure demand is firm and consumables are outgrowing capital equipment.</a:t>
            </a:r>
          </a:p>
        </p:txBody>
      </p:sp>
      <p:sp>
        <p:nvSpPr>
          <p:cNvPr id="18" name="Text: BUSINESSES WE COVER"/>
          <p:cNvSpPr txBox="1"/>
          <p:nvPr/>
        </p:nvSpPr>
        <p:spPr>
          <a:xfrm>
            <a:off x="581025" y="2471738"/>
            <a:ext cx="2195512" cy="123825"/>
          </a:xfrm>
          <a:prstGeom prst="rect">
            <a:avLst/>
          </a:prstGeom>
          <a:noFill/>
        </p:spPr>
        <p:txBody>
          <a:bodyPr wrap="square" lIns="0" tIns="0" rIns="0" bIns="0" anchor="t">
            <a:spAutoFit/>
          </a:bodyPr>
          <a:lstStyle/>
          <a:p>
            <a:pPr algn="l">
              <a:lnSpc>
                <a:spcPts val="975"/>
              </a:lnSpc>
            </a:pPr>
            <a:r>
              <a:rPr sz="675" b="1" i="0" spc="150">
                <a:solidFill>
                  <a:srgbClr val="8C6239"/>
                </a:solidFill>
                <a:latin typeface="Calibri"/>
              </a:rPr>
              <a:t>BUSINESSES WE COVER</a:t>
            </a:r>
          </a:p>
        </p:txBody>
      </p:sp>
      <p:sp>
        <p:nvSpPr>
          <p:cNvPr id="19" name="Text: Surgical instrument reprocessing, "/>
          <p:cNvSpPr txBox="1"/>
          <p:nvPr/>
        </p:nvSpPr>
        <p:spPr>
          <a:xfrm>
            <a:off x="581025" y="2633662"/>
            <a:ext cx="2195512" cy="442912"/>
          </a:xfrm>
          <a:prstGeom prst="rect">
            <a:avLst/>
          </a:prstGeom>
          <a:noFill/>
        </p:spPr>
        <p:txBody>
          <a:bodyPr wrap="square" lIns="0" tIns="0" rIns="0" bIns="0" anchor="t">
            <a:spAutoFit/>
          </a:bodyPr>
          <a:lstStyle/>
          <a:p>
            <a:pPr algn="l">
              <a:lnSpc>
                <a:spcPts val="1162"/>
              </a:lnSpc>
            </a:pPr>
            <a:r>
              <a:rPr sz="788" b="0" i="0" spc="15">
                <a:solidFill>
                  <a:srgbClr val="333231"/>
                </a:solidFill>
                <a:latin typeface="Calibri"/>
              </a:rPr>
              <a:t>Surgical instrument reprocessing, Emergency medical supplies, Respiratory &amp; anesthesia products, Dental devices, Orthopedic products</a:t>
            </a:r>
          </a:p>
        </p:txBody>
      </p:sp>
      <p:pic>
        <p:nvPicPr>
          <p:cNvPr id="20" name="Picture 19" descr="A surgical light in an operating room"/>
          <p:cNvPicPr>
            <a:picLocks noChangeAspect="1"/>
          </p:cNvPicPr>
          <p:nvPr/>
        </p:nvPicPr>
        <p:blipFill>
          <a:blip r:embed="rId3"/>
          <a:srcRect t="24371" b="24371"/>
          <a:stretch>
            <a:fillRect/>
          </a:stretch>
        </p:blipFill>
        <p:spPr>
          <a:xfrm>
            <a:off x="581025" y="3343275"/>
            <a:ext cx="2190750" cy="533400"/>
          </a:xfrm>
          <a:prstGeom prst="rect">
            <a:avLst/>
          </a:prstGeom>
        </p:spPr>
      </p:pic>
      <p:sp>
        <p:nvSpPr>
          <p:cNvPr id="21" name="Text: KEY TRENDS"/>
          <p:cNvSpPr txBox="1"/>
          <p:nvPr/>
        </p:nvSpPr>
        <p:spPr>
          <a:xfrm>
            <a:off x="3095625" y="1800225"/>
            <a:ext cx="4129088" cy="123825"/>
          </a:xfrm>
          <a:prstGeom prst="rect">
            <a:avLst/>
          </a:prstGeom>
          <a:noFill/>
        </p:spPr>
        <p:txBody>
          <a:bodyPr wrap="square" lIns="0" tIns="0" rIns="0" bIns="0" anchor="t">
            <a:spAutoFit/>
          </a:bodyPr>
          <a:lstStyle/>
          <a:p>
            <a:pPr algn="l">
              <a:lnSpc>
                <a:spcPts val="975"/>
              </a:lnSpc>
            </a:pPr>
            <a:r>
              <a:rPr sz="675" b="1" i="0" spc="150">
                <a:solidFill>
                  <a:srgbClr val="8C6239"/>
                </a:solidFill>
                <a:latin typeface="Calibri"/>
              </a:rPr>
              <a:t>KEY TRENDS</a:t>
            </a:r>
          </a:p>
        </p:txBody>
      </p:sp>
      <p:sp>
        <p:nvSpPr>
          <p:cNvPr id="22" name="Rectangle 21"/>
          <p:cNvSpPr/>
          <p:nvPr/>
        </p:nvSpPr>
        <p:spPr>
          <a:xfrm>
            <a:off x="3095625" y="2028825"/>
            <a:ext cx="47625" cy="47625"/>
          </a:xfrm>
          <a:prstGeom prst="rect">
            <a:avLst/>
          </a:prstGeom>
          <a:solidFill>
            <a:srgbClr val="B68757"/>
          </a:solidFill>
          <a:ln>
            <a:noFill/>
          </a:ln>
          <a:effectLst/>
        </p:spPr>
        <p:txBody>
          <a:bodyPr rtlCol="0" anchor="ctr"/>
          <a:lstStyle/>
          <a:p>
            <a:pPr algn="ctr"/>
            <a:endParaRPr/>
          </a:p>
        </p:txBody>
      </p:sp>
      <p:sp>
        <p:nvSpPr>
          <p:cNvPr id="23" name="Text: Stryker grew 9.0% organically in t"/>
          <p:cNvSpPr txBox="1"/>
          <p:nvPr/>
        </p:nvSpPr>
        <p:spPr>
          <a:xfrm>
            <a:off x="3219450" y="1990725"/>
            <a:ext cx="4005262" cy="304800"/>
          </a:xfrm>
          <a:prstGeom prst="rect">
            <a:avLst/>
          </a:prstGeom>
          <a:noFill/>
        </p:spPr>
        <p:txBody>
          <a:bodyPr wrap="square" lIns="0" tIns="0" rIns="0" bIns="0" anchor="t">
            <a:spAutoFit/>
          </a:bodyPr>
          <a:lstStyle/>
          <a:p>
            <a:pPr algn="l">
              <a:lnSpc>
                <a:spcPts val="1200"/>
              </a:lnSpc>
            </a:pPr>
            <a:r>
              <a:rPr sz="825" b="0" i="0" spc="15">
                <a:solidFill>
                  <a:srgbClr val="333231"/>
                </a:solidFill>
                <a:latin typeface="Calibri"/>
              </a:rPr>
              <a:t>Stryker grew 9.0% organically in the second quarter (</a:t>
            </a:r>
            <a:r>
              <a:rPr sz="825" b="0" i="0" spc="15">
                <a:solidFill>
                  <a:srgbClr val="8C6239"/>
                </a:solidFill>
                <a:latin typeface="Calibri"/>
                <a:hlinkClick r:id="rId4">
                  <a:extLst>
                    <a:ext uri="{A12FA001-AC4F-418D-AE19-62706E023703}">
                      <ahyp:hlinkClr xmlns:ahyp="http://schemas.microsoft.com/office/drawing/2018/hyperlinkcolor" val="tx"/>
                    </a:ext>
                  </a:extLst>
                </a:hlinkClick>
              </a:rPr>
              <a:t>Stryker</a:t>
            </a:r>
            <a:r>
              <a:rPr sz="825" b="0" i="0" spc="15">
                <a:solidFill>
                  <a:srgbClr val="333231"/>
                </a:solidFill>
                <a:latin typeface="Calibri"/>
              </a:rPr>
              <a:t>), and Steris grew healthcare consumables 9% while capital equipment grew 1% (</a:t>
            </a:r>
            <a:r>
              <a:rPr sz="825" b="0" i="0" spc="15">
                <a:solidFill>
                  <a:srgbClr val="8C6239"/>
                </a:solidFill>
                <a:latin typeface="Calibri"/>
                <a:hlinkClick r:id="rId5">
                  <a:extLst>
                    <a:ext uri="{A12FA001-AC4F-418D-AE19-62706E023703}">
                      <ahyp:hlinkClr xmlns:ahyp="http://schemas.microsoft.com/office/drawing/2018/hyperlinkcolor" val="tx"/>
                    </a:ext>
                  </a:extLst>
                </a:hlinkClick>
              </a:rPr>
              <a:t>Steris</a:t>
            </a:r>
            <a:r>
              <a:rPr sz="825" b="0" i="0" spc="15">
                <a:solidFill>
                  <a:srgbClr val="333231"/>
                </a:solidFill>
                <a:latin typeface="Calibri"/>
              </a:rPr>
              <a:t>).</a:t>
            </a:r>
          </a:p>
        </p:txBody>
      </p:sp>
      <p:sp>
        <p:nvSpPr>
          <p:cNvPr id="24" name="Rectangle 23"/>
          <p:cNvSpPr/>
          <p:nvPr/>
        </p:nvSpPr>
        <p:spPr>
          <a:xfrm>
            <a:off x="3095625" y="2390775"/>
            <a:ext cx="47625" cy="47625"/>
          </a:xfrm>
          <a:prstGeom prst="rect">
            <a:avLst/>
          </a:prstGeom>
          <a:solidFill>
            <a:srgbClr val="B68757"/>
          </a:solidFill>
          <a:ln>
            <a:noFill/>
          </a:ln>
          <a:effectLst/>
        </p:spPr>
        <p:txBody>
          <a:bodyPr rtlCol="0" anchor="ctr"/>
          <a:lstStyle/>
          <a:p>
            <a:pPr algn="ctr"/>
            <a:endParaRPr/>
          </a:p>
        </p:txBody>
      </p:sp>
      <p:sp>
        <p:nvSpPr>
          <p:cNvPr id="25" name="Text: Among health system executives, 41"/>
          <p:cNvSpPr txBox="1"/>
          <p:nvPr/>
        </p:nvSpPr>
        <p:spPr>
          <a:xfrm>
            <a:off x="3219450" y="2352675"/>
            <a:ext cx="4005262" cy="304800"/>
          </a:xfrm>
          <a:prstGeom prst="rect">
            <a:avLst/>
          </a:prstGeom>
          <a:noFill/>
        </p:spPr>
        <p:txBody>
          <a:bodyPr wrap="square" lIns="0" tIns="0" rIns="0" bIns="0" anchor="t">
            <a:spAutoFit/>
          </a:bodyPr>
          <a:lstStyle/>
          <a:p>
            <a:pPr algn="l">
              <a:lnSpc>
                <a:spcPts val="1200"/>
              </a:lnSpc>
            </a:pPr>
            <a:r>
              <a:rPr sz="825" b="0" i="0" spc="15">
                <a:solidFill>
                  <a:srgbClr val="333231"/>
                </a:solidFill>
                <a:latin typeface="Calibri"/>
              </a:rPr>
              <a:t>Among health system executives, 41% plan to cut capital spending in 2026 (</a:t>
            </a:r>
            <a:r>
              <a:rPr sz="825" b="0" i="0" spc="15">
                <a:solidFill>
                  <a:srgbClr val="8C6239"/>
                </a:solidFill>
                <a:latin typeface="Calibri"/>
                <a:hlinkClick r:id="rId6">
                  <a:extLst>
                    <a:ext uri="{A12FA001-AC4F-418D-AE19-62706E023703}">
                      <ahyp:hlinkClr xmlns:ahyp="http://schemas.microsoft.com/office/drawing/2018/hyperlinkcolor" val="tx"/>
                    </a:ext>
                  </a:extLst>
                </a:hlinkClick>
              </a:rPr>
              <a:t>HFMA</a:t>
            </a:r>
            <a:r>
              <a:rPr sz="825" b="0" i="0" spc="15">
                <a:solidFill>
                  <a:srgbClr val="333231"/>
                </a:solidFill>
                <a:latin typeface="Calibri"/>
              </a:rPr>
              <a:t>), which favors suppliers of recurring products.</a:t>
            </a:r>
          </a:p>
        </p:txBody>
      </p:sp>
      <p:sp>
        <p:nvSpPr>
          <p:cNvPr id="26" name="Rectangle 25"/>
          <p:cNvSpPr/>
          <p:nvPr/>
        </p:nvSpPr>
        <p:spPr>
          <a:xfrm>
            <a:off x="3095625" y="2752725"/>
            <a:ext cx="47625" cy="47625"/>
          </a:xfrm>
          <a:prstGeom prst="rect">
            <a:avLst/>
          </a:prstGeom>
          <a:solidFill>
            <a:srgbClr val="B68757"/>
          </a:solidFill>
          <a:ln>
            <a:noFill/>
          </a:ln>
          <a:effectLst/>
        </p:spPr>
        <p:txBody>
          <a:bodyPr rtlCol="0" anchor="ctr"/>
          <a:lstStyle/>
          <a:p>
            <a:pPr algn="ctr"/>
            <a:endParaRPr/>
          </a:p>
        </p:txBody>
      </p:sp>
      <p:sp>
        <p:nvSpPr>
          <p:cNvPr id="27" name="Text: Several of the largest distributio"/>
          <p:cNvSpPr txBox="1"/>
          <p:nvPr/>
        </p:nvSpPr>
        <p:spPr>
          <a:xfrm>
            <a:off x="3219450" y="2714625"/>
            <a:ext cx="4005262" cy="457200"/>
          </a:xfrm>
          <a:prstGeom prst="rect">
            <a:avLst/>
          </a:prstGeom>
          <a:noFill/>
        </p:spPr>
        <p:txBody>
          <a:bodyPr wrap="square" lIns="0" tIns="0" rIns="0" bIns="0" anchor="t">
            <a:spAutoFit/>
          </a:bodyPr>
          <a:lstStyle/>
          <a:p>
            <a:pPr algn="l">
              <a:lnSpc>
                <a:spcPts val="1200"/>
              </a:lnSpc>
            </a:pPr>
            <a:r>
              <a:rPr sz="825" b="0" i="0" spc="15">
                <a:solidFill>
                  <a:srgbClr val="333231"/>
                </a:solidFill>
                <a:latin typeface="Calibri"/>
              </a:rPr>
              <a:t>Several of the largest distribution businesses changed ownership, including Owens &amp; Minor's products segment and a 13% interest in McKesson's medical-surgical unit (</a:t>
            </a:r>
            <a:r>
              <a:rPr sz="825" b="0" i="0" spc="15">
                <a:solidFill>
                  <a:srgbClr val="8C6239"/>
                </a:solidFill>
                <a:latin typeface="Calibri"/>
                <a:hlinkClick r:id="rId7">
                  <a:extLst>
                    <a:ext uri="{A12FA001-AC4F-418D-AE19-62706E023703}">
                      <ahyp:hlinkClr xmlns:ahyp="http://schemas.microsoft.com/office/drawing/2018/hyperlinkcolor" val="tx"/>
                    </a:ext>
                  </a:extLst>
                </a:hlinkClick>
              </a:rPr>
              <a:t>Owens &amp; Minor</a:t>
            </a:r>
            <a:r>
              <a:rPr sz="825" b="0" i="0" spc="15">
                <a:solidFill>
                  <a:srgbClr val="333231"/>
                </a:solidFill>
                <a:latin typeface="Calibri"/>
              </a:rPr>
              <a:t>; </a:t>
            </a:r>
            <a:r>
              <a:rPr sz="825" b="0" i="0" spc="15">
                <a:solidFill>
                  <a:srgbClr val="8C6239"/>
                </a:solidFill>
                <a:latin typeface="Calibri"/>
                <a:hlinkClick r:id="rId8">
                  <a:extLst>
                    <a:ext uri="{A12FA001-AC4F-418D-AE19-62706E023703}">
                      <ahyp:hlinkClr xmlns:ahyp="http://schemas.microsoft.com/office/drawing/2018/hyperlinkcolor" val="tx"/>
                    </a:ext>
                  </a:extLst>
                </a:hlinkClick>
              </a:rPr>
              <a:t>McKesson</a:t>
            </a:r>
            <a:r>
              <a:rPr sz="825" b="0" i="0" spc="15">
                <a:solidFill>
                  <a:srgbClr val="333231"/>
                </a:solidFill>
                <a:latin typeface="Calibri"/>
              </a:rPr>
              <a:t>).</a:t>
            </a:r>
          </a:p>
        </p:txBody>
      </p:sp>
      <p:sp>
        <p:nvSpPr>
          <p:cNvPr id="28" name="Rectangle 27"/>
          <p:cNvSpPr/>
          <p:nvPr/>
        </p:nvSpPr>
        <p:spPr>
          <a:xfrm>
            <a:off x="3095625" y="3267075"/>
            <a:ext cx="47625" cy="47625"/>
          </a:xfrm>
          <a:prstGeom prst="rect">
            <a:avLst/>
          </a:prstGeom>
          <a:solidFill>
            <a:srgbClr val="B68757"/>
          </a:solidFill>
          <a:ln>
            <a:noFill/>
          </a:ln>
          <a:effectLst/>
        </p:spPr>
        <p:txBody>
          <a:bodyPr rtlCol="0" anchor="ctr"/>
          <a:lstStyle/>
          <a:p>
            <a:pPr algn="ctr"/>
            <a:endParaRPr/>
          </a:p>
        </p:txBody>
      </p:sp>
      <p:sp>
        <p:nvSpPr>
          <p:cNvPr id="29" name="Text: Tariffs have moved earnings in bot"/>
          <p:cNvSpPr txBox="1"/>
          <p:nvPr/>
        </p:nvSpPr>
        <p:spPr>
          <a:xfrm>
            <a:off x="3219450" y="3228975"/>
            <a:ext cx="4005262" cy="304800"/>
          </a:xfrm>
          <a:prstGeom prst="rect">
            <a:avLst/>
          </a:prstGeom>
          <a:noFill/>
        </p:spPr>
        <p:txBody>
          <a:bodyPr wrap="square" lIns="0" tIns="0" rIns="0" bIns="0" anchor="t">
            <a:spAutoFit/>
          </a:bodyPr>
          <a:lstStyle/>
          <a:p>
            <a:pPr algn="l">
              <a:lnSpc>
                <a:spcPts val="1200"/>
              </a:lnSpc>
            </a:pPr>
            <a:r>
              <a:rPr sz="825" b="0" i="0" spc="15">
                <a:solidFill>
                  <a:srgbClr val="333231"/>
                </a:solidFill>
                <a:latin typeface="Calibri"/>
              </a:rPr>
              <a:t>Tariffs have moved earnings in both directions since the Supreme Court struck down the emergency-powers tariffs in February (</a:t>
            </a:r>
            <a:r>
              <a:rPr sz="825" b="0" i="0" spc="15">
                <a:solidFill>
                  <a:srgbClr val="8C6239"/>
                </a:solidFill>
                <a:latin typeface="Calibri"/>
                <a:hlinkClick r:id="rId9">
                  <a:extLst>
                    <a:ext uri="{A12FA001-AC4F-418D-AE19-62706E023703}">
                      <ahyp:hlinkClr xmlns:ahyp="http://schemas.microsoft.com/office/drawing/2018/hyperlinkcolor" val="tx"/>
                    </a:ext>
                  </a:extLst>
                </a:hlinkClick>
              </a:rPr>
              <a:t>Barnes Dennig</a:t>
            </a:r>
            <a:r>
              <a:rPr sz="825" b="0" i="0" spc="15">
                <a:solidFill>
                  <a:srgbClr val="333231"/>
                </a:solidFill>
                <a:latin typeface="Calibri"/>
              </a:rPr>
              <a:t>).</a:t>
            </a:r>
          </a:p>
        </p:txBody>
      </p:sp>
      <p:sp>
        <p:nvSpPr>
          <p:cNvPr id="30" name="Rectangle 29"/>
          <p:cNvSpPr/>
          <p:nvPr/>
        </p:nvSpPr>
        <p:spPr>
          <a:xfrm>
            <a:off x="7381875" y="1666875"/>
            <a:ext cx="2247900" cy="2343150"/>
          </a:xfrm>
          <a:prstGeom prst="rect">
            <a:avLst/>
          </a:prstGeom>
          <a:solidFill>
            <a:srgbClr val="FAF7F3"/>
          </a:solidFill>
          <a:ln>
            <a:noFill/>
          </a:ln>
          <a:effectLst/>
        </p:spPr>
        <p:txBody>
          <a:bodyPr rtlCol="0" anchor="ctr"/>
          <a:lstStyle/>
          <a:p>
            <a:pPr algn="ctr"/>
            <a:endParaRPr/>
          </a:p>
        </p:txBody>
      </p:sp>
      <p:sp>
        <p:nvSpPr>
          <p:cNvPr id="31" name="Text: ACTIVE BUYERS"/>
          <p:cNvSpPr txBox="1"/>
          <p:nvPr/>
        </p:nvSpPr>
        <p:spPr>
          <a:xfrm>
            <a:off x="7534275" y="1800225"/>
            <a:ext cx="1957388" cy="123825"/>
          </a:xfrm>
          <a:prstGeom prst="rect">
            <a:avLst/>
          </a:prstGeom>
          <a:noFill/>
        </p:spPr>
        <p:txBody>
          <a:bodyPr wrap="square" lIns="0" tIns="0" rIns="0" bIns="0" anchor="t">
            <a:spAutoFit/>
          </a:bodyPr>
          <a:lstStyle/>
          <a:p>
            <a:pPr algn="l">
              <a:lnSpc>
                <a:spcPts val="975"/>
              </a:lnSpc>
            </a:pPr>
            <a:r>
              <a:rPr sz="675" b="1" i="0" spc="150">
                <a:solidFill>
                  <a:srgbClr val="8C6239"/>
                </a:solidFill>
                <a:latin typeface="Calibri"/>
              </a:rPr>
              <a:t>ACTIVE BUYERS</a:t>
            </a:r>
          </a:p>
        </p:txBody>
      </p:sp>
      <p:sp>
        <p:nvSpPr>
          <p:cNvPr id="32" name="Text: KKR, Danaher, Stryker, Mitsui Chem"/>
          <p:cNvSpPr txBox="1"/>
          <p:nvPr/>
        </p:nvSpPr>
        <p:spPr>
          <a:xfrm>
            <a:off x="7534275" y="1962150"/>
            <a:ext cx="1957388" cy="471488"/>
          </a:xfrm>
          <a:prstGeom prst="rect">
            <a:avLst/>
          </a:prstGeom>
          <a:noFill/>
        </p:spPr>
        <p:txBody>
          <a:bodyPr wrap="square" lIns="0" tIns="0" rIns="0" bIns="0" anchor="t">
            <a:spAutoFit/>
          </a:bodyPr>
          <a:lstStyle/>
          <a:p>
            <a:pPr algn="l">
              <a:lnSpc>
                <a:spcPts val="1238"/>
              </a:lnSpc>
            </a:pPr>
            <a:r>
              <a:rPr sz="825" b="0" i="0" spc="15">
                <a:solidFill>
                  <a:srgbClr val="333231"/>
                </a:solidFill>
                <a:latin typeface="Calibri"/>
              </a:rPr>
              <a:t>KKR, Danaher, Stryker, Mitsui Chemicals, Cardinal Health, Aspen Surgical, Platinum Equity, and Apollo</a:t>
            </a:r>
          </a:p>
        </p:txBody>
      </p:sp>
      <p:sp>
        <p:nvSpPr>
          <p:cNvPr id="33" name="Rectangle 32"/>
          <p:cNvSpPr/>
          <p:nvPr/>
        </p:nvSpPr>
        <p:spPr>
          <a:xfrm>
            <a:off x="7534275" y="3171825"/>
            <a:ext cx="1943100" cy="9525"/>
          </a:xfrm>
          <a:prstGeom prst="rect">
            <a:avLst/>
          </a:prstGeom>
          <a:solidFill>
            <a:srgbClr val="E3DCD3"/>
          </a:solidFill>
          <a:ln>
            <a:noFill/>
          </a:ln>
          <a:effectLst/>
        </p:spPr>
        <p:txBody>
          <a:bodyPr rtlCol="0" anchor="ctr"/>
          <a:lstStyle/>
          <a:p>
            <a:pPr algn="ctr"/>
            <a:endParaRPr/>
          </a:p>
        </p:txBody>
      </p:sp>
      <p:sp>
        <p:nvSpPr>
          <p:cNvPr id="34" name="Text: LISTED REFERENCE COMPANIES"/>
          <p:cNvSpPr txBox="1"/>
          <p:nvPr/>
        </p:nvSpPr>
        <p:spPr>
          <a:xfrm>
            <a:off x="7534275" y="3276600"/>
            <a:ext cx="1957388" cy="123825"/>
          </a:xfrm>
          <a:prstGeom prst="rect">
            <a:avLst/>
          </a:prstGeom>
          <a:noFill/>
        </p:spPr>
        <p:txBody>
          <a:bodyPr wrap="square" lIns="0" tIns="0" rIns="0" bIns="0" anchor="t">
            <a:spAutoFit/>
          </a:bodyPr>
          <a:lstStyle/>
          <a:p>
            <a:pPr algn="l">
              <a:lnSpc>
                <a:spcPts val="975"/>
              </a:lnSpc>
            </a:pPr>
            <a:r>
              <a:rPr sz="638" b="1" i="0" spc="150">
                <a:solidFill>
                  <a:srgbClr val="6F6A66"/>
                </a:solidFill>
                <a:latin typeface="Calibri"/>
              </a:rPr>
              <a:t>LISTED REFERENCE COMPANIES</a:t>
            </a:r>
          </a:p>
        </p:txBody>
      </p:sp>
      <p:sp>
        <p:nvSpPr>
          <p:cNvPr id="35" name="Rounded Rectangle 34"/>
          <p:cNvSpPr/>
          <p:nvPr/>
        </p:nvSpPr>
        <p:spPr>
          <a:xfrm>
            <a:off x="7534275" y="3457575"/>
            <a:ext cx="238720" cy="190500"/>
          </a:xfrm>
          <a:prstGeom prst="roundRect">
            <a:avLst>
              <a:gd name="adj" fmla="val 15000"/>
            </a:avLst>
          </a:prstGeom>
          <a:solidFill>
            <a:srgbClr val="2A2928"/>
          </a:solidFill>
          <a:ln>
            <a:noFill/>
          </a:ln>
          <a:effectLst/>
        </p:spPr>
        <p:txBody>
          <a:bodyPr rtlCol="0" anchor="ctr"/>
          <a:lstStyle/>
          <a:p>
            <a:pPr algn="ctr"/>
            <a:endParaRPr/>
          </a:p>
        </p:txBody>
      </p:sp>
      <p:sp>
        <p:nvSpPr>
          <p:cNvPr id="36" name="Text: SYK"/>
          <p:cNvSpPr txBox="1"/>
          <p:nvPr/>
        </p:nvSpPr>
        <p:spPr>
          <a:xfrm>
            <a:off x="7591425" y="3457575"/>
            <a:ext cx="13870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SYK</a:t>
            </a:r>
          </a:p>
        </p:txBody>
      </p:sp>
      <p:sp>
        <p:nvSpPr>
          <p:cNvPr id="37" name="Rounded Rectangle 36"/>
          <p:cNvSpPr/>
          <p:nvPr/>
        </p:nvSpPr>
        <p:spPr>
          <a:xfrm>
            <a:off x="7811095" y="3457575"/>
            <a:ext cx="233065" cy="190500"/>
          </a:xfrm>
          <a:prstGeom prst="roundRect">
            <a:avLst>
              <a:gd name="adj" fmla="val 15000"/>
            </a:avLst>
          </a:prstGeom>
          <a:solidFill>
            <a:srgbClr val="2A2928"/>
          </a:solidFill>
          <a:ln>
            <a:noFill/>
          </a:ln>
          <a:effectLst/>
        </p:spPr>
        <p:txBody>
          <a:bodyPr rtlCol="0" anchor="ctr"/>
          <a:lstStyle/>
          <a:p>
            <a:pPr algn="ctr"/>
            <a:endParaRPr/>
          </a:p>
        </p:txBody>
      </p:sp>
      <p:sp>
        <p:nvSpPr>
          <p:cNvPr id="38" name="Text: STE"/>
          <p:cNvSpPr txBox="1"/>
          <p:nvPr/>
        </p:nvSpPr>
        <p:spPr>
          <a:xfrm>
            <a:off x="7868245" y="3457575"/>
            <a:ext cx="133052"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STE</a:t>
            </a:r>
          </a:p>
        </p:txBody>
      </p:sp>
      <p:sp>
        <p:nvSpPr>
          <p:cNvPr id="39" name="Rounded Rectangle 38"/>
          <p:cNvSpPr/>
          <p:nvPr/>
        </p:nvSpPr>
        <p:spPr>
          <a:xfrm>
            <a:off x="8082260" y="3457575"/>
            <a:ext cx="236637" cy="190500"/>
          </a:xfrm>
          <a:prstGeom prst="roundRect">
            <a:avLst>
              <a:gd name="adj" fmla="val 15000"/>
            </a:avLst>
          </a:prstGeom>
          <a:solidFill>
            <a:srgbClr val="2A2928"/>
          </a:solidFill>
          <a:ln>
            <a:noFill/>
          </a:ln>
          <a:effectLst/>
        </p:spPr>
        <p:txBody>
          <a:bodyPr rtlCol="0" anchor="ctr"/>
          <a:lstStyle/>
          <a:p>
            <a:pPr algn="ctr"/>
            <a:endParaRPr/>
          </a:p>
        </p:txBody>
      </p:sp>
      <p:sp>
        <p:nvSpPr>
          <p:cNvPr id="40" name="Text: TFX"/>
          <p:cNvSpPr txBox="1"/>
          <p:nvPr/>
        </p:nvSpPr>
        <p:spPr>
          <a:xfrm>
            <a:off x="8139410" y="3457575"/>
            <a:ext cx="136624"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TFX</a:t>
            </a:r>
          </a:p>
        </p:txBody>
      </p:sp>
      <p:sp>
        <p:nvSpPr>
          <p:cNvPr id="41" name="Rounded Rectangle 40"/>
          <p:cNvSpPr/>
          <p:nvPr/>
        </p:nvSpPr>
        <p:spPr>
          <a:xfrm>
            <a:off x="8356997" y="3457575"/>
            <a:ext cx="270570" cy="190500"/>
          </a:xfrm>
          <a:prstGeom prst="roundRect">
            <a:avLst>
              <a:gd name="adj" fmla="val 15000"/>
            </a:avLst>
          </a:prstGeom>
          <a:solidFill>
            <a:srgbClr val="2A2928"/>
          </a:solidFill>
          <a:ln>
            <a:noFill/>
          </a:ln>
          <a:effectLst/>
        </p:spPr>
        <p:txBody>
          <a:bodyPr rtlCol="0" anchor="ctr"/>
          <a:lstStyle/>
          <a:p>
            <a:pPr algn="ctr"/>
            <a:endParaRPr/>
          </a:p>
        </p:txBody>
      </p:sp>
      <p:sp>
        <p:nvSpPr>
          <p:cNvPr id="42" name="Text: HSIC"/>
          <p:cNvSpPr txBox="1"/>
          <p:nvPr/>
        </p:nvSpPr>
        <p:spPr>
          <a:xfrm>
            <a:off x="8414147" y="3457575"/>
            <a:ext cx="170557"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HSIC</a:t>
            </a:r>
          </a:p>
        </p:txBody>
      </p:sp>
      <p:sp>
        <p:nvSpPr>
          <p:cNvPr id="43" name="Rounded Rectangle 42"/>
          <p:cNvSpPr/>
          <p:nvPr/>
        </p:nvSpPr>
        <p:spPr>
          <a:xfrm>
            <a:off x="8665666" y="3457575"/>
            <a:ext cx="290215" cy="190500"/>
          </a:xfrm>
          <a:prstGeom prst="roundRect">
            <a:avLst>
              <a:gd name="adj" fmla="val 15000"/>
            </a:avLst>
          </a:prstGeom>
          <a:solidFill>
            <a:srgbClr val="2A2928"/>
          </a:solidFill>
          <a:ln>
            <a:noFill/>
          </a:ln>
          <a:effectLst/>
        </p:spPr>
        <p:txBody>
          <a:bodyPr rtlCol="0" anchor="ctr"/>
          <a:lstStyle/>
          <a:p>
            <a:pPr algn="ctr"/>
            <a:endParaRPr/>
          </a:p>
        </p:txBody>
      </p:sp>
      <p:sp>
        <p:nvSpPr>
          <p:cNvPr id="44" name="Text: XRAY"/>
          <p:cNvSpPr txBox="1"/>
          <p:nvPr/>
        </p:nvSpPr>
        <p:spPr>
          <a:xfrm>
            <a:off x="8722816" y="3457575"/>
            <a:ext cx="190202"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XRAY</a:t>
            </a:r>
          </a:p>
        </p:txBody>
      </p:sp>
      <p:sp>
        <p:nvSpPr>
          <p:cNvPr id="45" name="Rounded Rectangle 44"/>
          <p:cNvSpPr/>
          <p:nvPr/>
        </p:nvSpPr>
        <p:spPr>
          <a:xfrm>
            <a:off x="8993981" y="3457575"/>
            <a:ext cx="293489" cy="190500"/>
          </a:xfrm>
          <a:prstGeom prst="roundRect">
            <a:avLst>
              <a:gd name="adj" fmla="val 15000"/>
            </a:avLst>
          </a:prstGeom>
          <a:solidFill>
            <a:srgbClr val="2A2928"/>
          </a:solidFill>
          <a:ln>
            <a:noFill/>
          </a:ln>
          <a:effectLst/>
        </p:spPr>
        <p:txBody>
          <a:bodyPr rtlCol="0" anchor="ctr"/>
          <a:lstStyle/>
          <a:p>
            <a:pPr algn="ctr"/>
            <a:endParaRPr/>
          </a:p>
        </p:txBody>
      </p:sp>
      <p:sp>
        <p:nvSpPr>
          <p:cNvPr id="46" name="Text: NVST"/>
          <p:cNvSpPr txBox="1"/>
          <p:nvPr/>
        </p:nvSpPr>
        <p:spPr>
          <a:xfrm>
            <a:off x="9051131" y="3457575"/>
            <a:ext cx="193477"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NVST</a:t>
            </a:r>
          </a:p>
        </p:txBody>
      </p:sp>
      <p:sp>
        <p:nvSpPr>
          <p:cNvPr id="47" name="Rounded Rectangle 46"/>
          <p:cNvSpPr/>
          <p:nvPr/>
        </p:nvSpPr>
        <p:spPr>
          <a:xfrm>
            <a:off x="7534275" y="3686175"/>
            <a:ext cx="250180" cy="190500"/>
          </a:xfrm>
          <a:prstGeom prst="roundRect">
            <a:avLst>
              <a:gd name="adj" fmla="val 15000"/>
            </a:avLst>
          </a:prstGeom>
          <a:solidFill>
            <a:srgbClr val="2A2928"/>
          </a:solidFill>
          <a:ln>
            <a:noFill/>
          </a:ln>
          <a:effectLst/>
        </p:spPr>
        <p:txBody>
          <a:bodyPr rtlCol="0" anchor="ctr"/>
          <a:lstStyle/>
          <a:p>
            <a:pPr algn="ctr"/>
            <a:endParaRPr/>
          </a:p>
        </p:txBody>
      </p:sp>
      <p:sp>
        <p:nvSpPr>
          <p:cNvPr id="48" name="Text: ZBH"/>
          <p:cNvSpPr txBox="1"/>
          <p:nvPr/>
        </p:nvSpPr>
        <p:spPr>
          <a:xfrm>
            <a:off x="7591425" y="3686175"/>
            <a:ext cx="15016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ZBH</a:t>
            </a:r>
          </a:p>
        </p:txBody>
      </p:sp>
      <p:sp>
        <p:nvSpPr>
          <p:cNvPr id="49" name="Rounded Rectangle 48"/>
          <p:cNvSpPr/>
          <p:nvPr/>
        </p:nvSpPr>
        <p:spPr>
          <a:xfrm>
            <a:off x="7822555" y="3686175"/>
            <a:ext cx="273248" cy="190500"/>
          </a:xfrm>
          <a:prstGeom prst="roundRect">
            <a:avLst>
              <a:gd name="adj" fmla="val 15000"/>
            </a:avLst>
          </a:prstGeom>
          <a:solidFill>
            <a:srgbClr val="2A2928"/>
          </a:solidFill>
          <a:ln>
            <a:noFill/>
          </a:ln>
          <a:effectLst/>
        </p:spPr>
        <p:txBody>
          <a:bodyPr rtlCol="0" anchor="ctr"/>
          <a:lstStyle/>
          <a:p>
            <a:pPr algn="ctr"/>
            <a:endParaRPr/>
          </a:p>
        </p:txBody>
      </p:sp>
      <p:sp>
        <p:nvSpPr>
          <p:cNvPr id="50" name="Text: ITGR"/>
          <p:cNvSpPr txBox="1"/>
          <p:nvPr/>
        </p:nvSpPr>
        <p:spPr>
          <a:xfrm>
            <a:off x="7879705" y="3686175"/>
            <a:ext cx="173236"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ITGR</a:t>
            </a:r>
          </a:p>
        </p:txBody>
      </p:sp>
      <p:sp>
        <p:nvSpPr>
          <p:cNvPr id="51" name="Rounded Rectangle 50"/>
          <p:cNvSpPr/>
          <p:nvPr/>
        </p:nvSpPr>
        <p:spPr>
          <a:xfrm>
            <a:off x="8133904" y="3686175"/>
            <a:ext cx="284708" cy="190500"/>
          </a:xfrm>
          <a:prstGeom prst="roundRect">
            <a:avLst>
              <a:gd name="adj" fmla="val 15000"/>
            </a:avLst>
          </a:prstGeom>
          <a:solidFill>
            <a:srgbClr val="2A2928"/>
          </a:solidFill>
          <a:ln>
            <a:noFill/>
          </a:ln>
          <a:effectLst/>
        </p:spPr>
        <p:txBody>
          <a:bodyPr rtlCol="0" anchor="ctr"/>
          <a:lstStyle/>
          <a:p>
            <a:pPr algn="ctr"/>
            <a:endParaRPr/>
          </a:p>
        </p:txBody>
      </p:sp>
      <p:sp>
        <p:nvSpPr>
          <p:cNvPr id="52" name="Text: SOLV"/>
          <p:cNvSpPr txBox="1"/>
          <p:nvPr/>
        </p:nvSpPr>
        <p:spPr>
          <a:xfrm>
            <a:off x="8191054" y="3686175"/>
            <a:ext cx="184696"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SOLV</a:t>
            </a:r>
          </a:p>
        </p:txBody>
      </p:sp>
      <p:sp>
        <p:nvSpPr>
          <p:cNvPr id="53" name="Rounded Rectangle 52"/>
          <p:cNvSpPr/>
          <p:nvPr/>
        </p:nvSpPr>
        <p:spPr>
          <a:xfrm>
            <a:off x="8456712" y="3686175"/>
            <a:ext cx="282625" cy="190500"/>
          </a:xfrm>
          <a:prstGeom prst="roundRect">
            <a:avLst>
              <a:gd name="adj" fmla="val 15000"/>
            </a:avLst>
          </a:prstGeom>
          <a:solidFill>
            <a:srgbClr val="2A2928"/>
          </a:solidFill>
          <a:ln>
            <a:noFill/>
          </a:ln>
          <a:effectLst/>
        </p:spPr>
        <p:txBody>
          <a:bodyPr rtlCol="0" anchor="ctr"/>
          <a:lstStyle/>
          <a:p>
            <a:pPr algn="ctr"/>
            <a:endParaRPr/>
          </a:p>
        </p:txBody>
      </p:sp>
      <p:sp>
        <p:nvSpPr>
          <p:cNvPr id="54" name="Text: VMD"/>
          <p:cNvSpPr txBox="1"/>
          <p:nvPr/>
        </p:nvSpPr>
        <p:spPr>
          <a:xfrm>
            <a:off x="8513862" y="3686175"/>
            <a:ext cx="182612"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VMD</a:t>
            </a:r>
          </a:p>
        </p:txBody>
      </p:sp>
      <p:sp>
        <p:nvSpPr>
          <p:cNvPr id="55" name="Rectangle 54"/>
          <p:cNvSpPr/>
          <p:nvPr/>
        </p:nvSpPr>
        <p:spPr>
          <a:xfrm>
            <a:off x="419100" y="4152900"/>
            <a:ext cx="9220200" cy="2781300"/>
          </a:xfrm>
          <a:prstGeom prst="rect">
            <a:avLst/>
          </a:prstGeom>
          <a:solidFill>
            <a:srgbClr val="FFFFFF"/>
          </a:solidFill>
          <a:ln>
            <a:noFill/>
          </a:ln>
          <a:effectLst/>
        </p:spPr>
        <p:txBody>
          <a:bodyPr rtlCol="0" anchor="ctr"/>
          <a:lstStyle/>
          <a:p>
            <a:pPr algn="ctr"/>
            <a:endParaRPr/>
          </a:p>
        </p:txBody>
      </p:sp>
      <p:sp>
        <p:nvSpPr>
          <p:cNvPr id="56" name="Rectangle 55"/>
          <p:cNvSpPr/>
          <p:nvPr/>
        </p:nvSpPr>
        <p:spPr>
          <a:xfrm>
            <a:off x="419100" y="4152900"/>
            <a:ext cx="9220200" cy="9525"/>
          </a:xfrm>
          <a:prstGeom prst="rect">
            <a:avLst/>
          </a:prstGeom>
          <a:solidFill>
            <a:srgbClr val="E3DCD3"/>
          </a:solidFill>
          <a:ln>
            <a:noFill/>
          </a:ln>
          <a:effectLst/>
        </p:spPr>
        <p:txBody>
          <a:bodyPr rtlCol="0" anchor="ctr"/>
          <a:lstStyle/>
          <a:p>
            <a:pPr algn="ctr"/>
            <a:endParaRPr/>
          </a:p>
        </p:txBody>
      </p:sp>
      <p:sp>
        <p:nvSpPr>
          <p:cNvPr id="57" name="Rectangle 56"/>
          <p:cNvSpPr/>
          <p:nvPr/>
        </p:nvSpPr>
        <p:spPr>
          <a:xfrm>
            <a:off x="9629775" y="4152900"/>
            <a:ext cx="9525" cy="2781300"/>
          </a:xfrm>
          <a:prstGeom prst="rect">
            <a:avLst/>
          </a:prstGeom>
          <a:solidFill>
            <a:srgbClr val="E3DCD3"/>
          </a:solidFill>
          <a:ln>
            <a:noFill/>
          </a:ln>
          <a:effectLst/>
        </p:spPr>
        <p:txBody>
          <a:bodyPr rtlCol="0" anchor="ctr"/>
          <a:lstStyle/>
          <a:p>
            <a:pPr algn="ctr"/>
            <a:endParaRPr/>
          </a:p>
        </p:txBody>
      </p:sp>
      <p:sp>
        <p:nvSpPr>
          <p:cNvPr id="58" name="Rectangle 57"/>
          <p:cNvSpPr/>
          <p:nvPr/>
        </p:nvSpPr>
        <p:spPr>
          <a:xfrm>
            <a:off x="419100" y="6924675"/>
            <a:ext cx="9220200" cy="9525"/>
          </a:xfrm>
          <a:prstGeom prst="rect">
            <a:avLst/>
          </a:prstGeom>
          <a:solidFill>
            <a:srgbClr val="E3DCD3"/>
          </a:solidFill>
          <a:ln>
            <a:noFill/>
          </a:ln>
          <a:effectLst/>
        </p:spPr>
        <p:txBody>
          <a:bodyPr rtlCol="0" anchor="ctr"/>
          <a:lstStyle/>
          <a:p>
            <a:pPr algn="ctr"/>
            <a:endParaRPr/>
          </a:p>
        </p:txBody>
      </p:sp>
      <p:sp>
        <p:nvSpPr>
          <p:cNvPr id="59" name="Rectangle 58"/>
          <p:cNvSpPr/>
          <p:nvPr/>
        </p:nvSpPr>
        <p:spPr>
          <a:xfrm>
            <a:off x="419100" y="4152900"/>
            <a:ext cx="9525" cy="2781300"/>
          </a:xfrm>
          <a:prstGeom prst="rect">
            <a:avLst/>
          </a:prstGeom>
          <a:solidFill>
            <a:srgbClr val="E3DCD3"/>
          </a:solidFill>
          <a:ln>
            <a:noFill/>
          </a:ln>
          <a:effectLst/>
        </p:spPr>
        <p:txBody>
          <a:bodyPr rtlCol="0" anchor="ctr"/>
          <a:lstStyle/>
          <a:p>
            <a:pPr algn="ctr"/>
            <a:endParaRPr/>
          </a:p>
        </p:txBody>
      </p:sp>
      <p:sp>
        <p:nvSpPr>
          <p:cNvPr id="60" name="Rectangle 59"/>
          <p:cNvSpPr/>
          <p:nvPr/>
        </p:nvSpPr>
        <p:spPr>
          <a:xfrm>
            <a:off x="428625" y="4162425"/>
            <a:ext cx="9201150" cy="419100"/>
          </a:xfrm>
          <a:prstGeom prst="rect">
            <a:avLst/>
          </a:prstGeom>
          <a:solidFill>
            <a:srgbClr val="1B1A1A"/>
          </a:solidFill>
          <a:ln>
            <a:noFill/>
          </a:ln>
          <a:effectLst/>
        </p:spPr>
        <p:txBody>
          <a:bodyPr rtlCol="0" anchor="ctr"/>
          <a:lstStyle/>
          <a:p>
            <a:pPr algn="ctr"/>
            <a:endParaRPr/>
          </a:p>
        </p:txBody>
      </p:sp>
      <p:pic>
        <p:nvPicPr>
          <p:cNvPr id="61" name="Picture 60" descr="v66edc017b657.png"/>
          <p:cNvPicPr>
            <a:picLocks noChangeAspect="1"/>
          </p:cNvPicPr>
          <p:nvPr/>
        </p:nvPicPr>
        <p:blipFill>
          <a:blip r:embed="rId10"/>
          <a:stretch>
            <a:fillRect/>
          </a:stretch>
        </p:blipFill>
        <p:spPr>
          <a:xfrm>
            <a:off x="581025" y="4238625"/>
            <a:ext cx="266700" cy="266700"/>
          </a:xfrm>
          <a:prstGeom prst="rect">
            <a:avLst/>
          </a:prstGeom>
        </p:spPr>
      </p:pic>
      <p:sp>
        <p:nvSpPr>
          <p:cNvPr id="62" name="Text: PHARMACY &amp; HEALTHCARE SERVICES"/>
          <p:cNvSpPr txBox="1"/>
          <p:nvPr/>
        </p:nvSpPr>
        <p:spPr>
          <a:xfrm>
            <a:off x="952500" y="4305300"/>
            <a:ext cx="2148036" cy="133350"/>
          </a:xfrm>
          <a:prstGeom prst="rect">
            <a:avLst/>
          </a:prstGeom>
          <a:noFill/>
        </p:spPr>
        <p:txBody>
          <a:bodyPr wrap="square" lIns="0" tIns="0" rIns="0" bIns="0" anchor="t">
            <a:spAutoFit/>
          </a:bodyPr>
          <a:lstStyle/>
          <a:p>
            <a:pPr algn="l">
              <a:lnSpc>
                <a:spcPts val="1050"/>
              </a:lnSpc>
            </a:pPr>
            <a:r>
              <a:rPr sz="825" b="1" i="0" spc="135">
                <a:solidFill>
                  <a:srgbClr val="FFFFFF"/>
                </a:solidFill>
                <a:latin typeface="Calibri"/>
              </a:rPr>
              <a:t>PHARMACY &amp; HEALTHCARE SERVICES</a:t>
            </a:r>
          </a:p>
        </p:txBody>
      </p:sp>
      <p:sp>
        <p:nvSpPr>
          <p:cNvPr id="63" name="Rectangle 62"/>
          <p:cNvSpPr/>
          <p:nvPr/>
        </p:nvSpPr>
        <p:spPr>
          <a:xfrm>
            <a:off x="2914650" y="4581525"/>
            <a:ext cx="9525" cy="2343150"/>
          </a:xfrm>
          <a:prstGeom prst="rect">
            <a:avLst/>
          </a:prstGeom>
          <a:solidFill>
            <a:srgbClr val="E3DCD3"/>
          </a:solidFill>
          <a:ln>
            <a:noFill/>
          </a:ln>
          <a:effectLst/>
        </p:spPr>
        <p:txBody>
          <a:bodyPr rtlCol="0" anchor="ctr"/>
          <a:lstStyle/>
          <a:p>
            <a:pPr algn="ctr"/>
            <a:endParaRPr/>
          </a:p>
        </p:txBody>
      </p:sp>
      <p:sp>
        <p:nvSpPr>
          <p:cNvPr id="64" name="Text: Drug pricing reform is reshaping p"/>
          <p:cNvSpPr txBox="1"/>
          <p:nvPr/>
        </p:nvSpPr>
        <p:spPr>
          <a:xfrm>
            <a:off x="581025" y="4705350"/>
            <a:ext cx="2195512" cy="585788"/>
          </a:xfrm>
          <a:prstGeom prst="rect">
            <a:avLst/>
          </a:prstGeom>
          <a:noFill/>
        </p:spPr>
        <p:txBody>
          <a:bodyPr wrap="square" lIns="0" tIns="0" rIns="0" bIns="0" anchor="t">
            <a:spAutoFit/>
          </a:bodyPr>
          <a:lstStyle/>
          <a:p>
            <a:pPr algn="l">
              <a:lnSpc>
                <a:spcPts val="1538"/>
              </a:lnSpc>
            </a:pPr>
            <a:r>
              <a:rPr sz="1125" b="0" i="1">
                <a:solidFill>
                  <a:srgbClr val="1B1A1A"/>
                </a:solidFill>
                <a:latin typeface="Cambria"/>
              </a:rPr>
              <a:t>Drug pricing reform is reshaping pharmacy while staffing returns to growth.</a:t>
            </a:r>
          </a:p>
        </p:txBody>
      </p:sp>
      <p:sp>
        <p:nvSpPr>
          <p:cNvPr id="65" name="Text: BUSINESSES WE COVER"/>
          <p:cNvSpPr txBox="1"/>
          <p:nvPr/>
        </p:nvSpPr>
        <p:spPr>
          <a:xfrm>
            <a:off x="581025" y="5386388"/>
            <a:ext cx="2195512" cy="123825"/>
          </a:xfrm>
          <a:prstGeom prst="rect">
            <a:avLst/>
          </a:prstGeom>
          <a:noFill/>
        </p:spPr>
        <p:txBody>
          <a:bodyPr wrap="square" lIns="0" tIns="0" rIns="0" bIns="0" anchor="t">
            <a:spAutoFit/>
          </a:bodyPr>
          <a:lstStyle/>
          <a:p>
            <a:pPr algn="l">
              <a:lnSpc>
                <a:spcPts val="975"/>
              </a:lnSpc>
            </a:pPr>
            <a:r>
              <a:rPr sz="675" b="1" i="0" spc="150">
                <a:solidFill>
                  <a:srgbClr val="8C6239"/>
                </a:solidFill>
                <a:latin typeface="Calibri"/>
              </a:rPr>
              <a:t>BUSINESSES WE COVER</a:t>
            </a:r>
          </a:p>
        </p:txBody>
      </p:sp>
      <p:sp>
        <p:nvSpPr>
          <p:cNvPr id="66" name="Text: Specialty &amp; mail-order pharmacy, H"/>
          <p:cNvSpPr txBox="1"/>
          <p:nvPr/>
        </p:nvSpPr>
        <p:spPr>
          <a:xfrm>
            <a:off x="581025" y="5548312"/>
            <a:ext cx="2195512" cy="295275"/>
          </a:xfrm>
          <a:prstGeom prst="rect">
            <a:avLst/>
          </a:prstGeom>
          <a:noFill/>
        </p:spPr>
        <p:txBody>
          <a:bodyPr wrap="square" lIns="0" tIns="0" rIns="0" bIns="0" anchor="t">
            <a:spAutoFit/>
          </a:bodyPr>
          <a:lstStyle/>
          <a:p>
            <a:pPr algn="l">
              <a:lnSpc>
                <a:spcPts val="1162"/>
              </a:lnSpc>
            </a:pPr>
            <a:r>
              <a:rPr sz="788" b="0" i="0" spc="15">
                <a:solidFill>
                  <a:srgbClr val="333231"/>
                </a:solidFill>
                <a:latin typeface="Calibri"/>
              </a:rPr>
              <a:t>Specialty &amp; mail-order pharmacy, Home infusion, Pharmaceutical delivery, Clinical staffing</a:t>
            </a:r>
          </a:p>
        </p:txBody>
      </p:sp>
      <p:pic>
        <p:nvPicPr>
          <p:cNvPr id="67" name="Picture 66" descr="Shelves of medicines in a pharmacy"/>
          <p:cNvPicPr>
            <a:picLocks noChangeAspect="1"/>
          </p:cNvPicPr>
          <p:nvPr/>
        </p:nvPicPr>
        <p:blipFill>
          <a:blip r:embed="rId11"/>
          <a:srcRect t="24371" b="24371"/>
          <a:stretch>
            <a:fillRect/>
          </a:stretch>
        </p:blipFill>
        <p:spPr>
          <a:xfrm>
            <a:off x="581025" y="6257925"/>
            <a:ext cx="2190750" cy="533400"/>
          </a:xfrm>
          <a:prstGeom prst="rect">
            <a:avLst/>
          </a:prstGeom>
        </p:spPr>
      </p:pic>
      <p:sp>
        <p:nvSpPr>
          <p:cNvPr id="68" name="Text: KEY TRENDS"/>
          <p:cNvSpPr txBox="1"/>
          <p:nvPr/>
        </p:nvSpPr>
        <p:spPr>
          <a:xfrm>
            <a:off x="3095625" y="4714875"/>
            <a:ext cx="4129088" cy="123825"/>
          </a:xfrm>
          <a:prstGeom prst="rect">
            <a:avLst/>
          </a:prstGeom>
          <a:noFill/>
        </p:spPr>
        <p:txBody>
          <a:bodyPr wrap="square" lIns="0" tIns="0" rIns="0" bIns="0" anchor="t">
            <a:spAutoFit/>
          </a:bodyPr>
          <a:lstStyle/>
          <a:p>
            <a:pPr algn="l">
              <a:lnSpc>
                <a:spcPts val="975"/>
              </a:lnSpc>
            </a:pPr>
            <a:r>
              <a:rPr sz="675" b="1" i="0" spc="150">
                <a:solidFill>
                  <a:srgbClr val="8C6239"/>
                </a:solidFill>
                <a:latin typeface="Calibri"/>
              </a:rPr>
              <a:t>KEY TRENDS</a:t>
            </a:r>
          </a:p>
        </p:txBody>
      </p:sp>
      <p:sp>
        <p:nvSpPr>
          <p:cNvPr id="69" name="Rectangle 68"/>
          <p:cNvSpPr/>
          <p:nvPr/>
        </p:nvSpPr>
        <p:spPr>
          <a:xfrm>
            <a:off x="3095625" y="4943475"/>
            <a:ext cx="47625" cy="47625"/>
          </a:xfrm>
          <a:prstGeom prst="rect">
            <a:avLst/>
          </a:prstGeom>
          <a:solidFill>
            <a:srgbClr val="B68757"/>
          </a:solidFill>
          <a:ln>
            <a:noFill/>
          </a:ln>
          <a:effectLst/>
        </p:spPr>
        <p:txBody>
          <a:bodyPr rtlCol="0" anchor="ctr"/>
          <a:lstStyle/>
          <a:p>
            <a:pPr algn="ctr"/>
            <a:endParaRPr/>
          </a:p>
        </p:txBody>
      </p:sp>
      <p:sp>
        <p:nvSpPr>
          <p:cNvPr id="70" name="Text: US net medicine spending reached $"/>
          <p:cNvSpPr txBox="1"/>
          <p:nvPr/>
        </p:nvSpPr>
        <p:spPr>
          <a:xfrm>
            <a:off x="3219450" y="4905375"/>
            <a:ext cx="4005262" cy="304800"/>
          </a:xfrm>
          <a:prstGeom prst="rect">
            <a:avLst/>
          </a:prstGeom>
          <a:noFill/>
        </p:spPr>
        <p:txBody>
          <a:bodyPr wrap="square" lIns="0" tIns="0" rIns="0" bIns="0" anchor="t">
            <a:spAutoFit/>
          </a:bodyPr>
          <a:lstStyle/>
          <a:p>
            <a:pPr algn="l">
              <a:lnSpc>
                <a:spcPts val="1200"/>
              </a:lnSpc>
            </a:pPr>
            <a:r>
              <a:rPr sz="825" b="0" i="0" spc="15">
                <a:solidFill>
                  <a:srgbClr val="333231"/>
                </a:solidFill>
                <a:latin typeface="Calibri"/>
              </a:rPr>
              <a:t>US net medicine spending reached $606 billion in 2025, up 10.6% (</a:t>
            </a:r>
            <a:r>
              <a:rPr sz="825" b="0" i="0" spc="15">
                <a:solidFill>
                  <a:srgbClr val="8C6239"/>
                </a:solidFill>
                <a:latin typeface="Calibri"/>
                <a:hlinkClick r:id="rId12">
                  <a:extLst>
                    <a:ext uri="{A12FA001-AC4F-418D-AE19-62706E023703}">
                      <ahyp:hlinkClr xmlns:ahyp="http://schemas.microsoft.com/office/drawing/2018/hyperlinkcolor" val="tx"/>
                    </a:ext>
                  </a:extLst>
                </a:hlinkClick>
              </a:rPr>
              <a:t>IQVIA Institute</a:t>
            </a:r>
            <a:r>
              <a:rPr sz="825" b="0" i="0" spc="15">
                <a:solidFill>
                  <a:srgbClr val="333231"/>
                </a:solidFill>
                <a:latin typeface="Calibri"/>
              </a:rPr>
              <a:t>), while independent pharmacies reported their lowest gross profit in ten years (</a:t>
            </a:r>
            <a:r>
              <a:rPr sz="825" b="0" i="0" spc="15">
                <a:solidFill>
                  <a:srgbClr val="8C6239"/>
                </a:solidFill>
                <a:latin typeface="Calibri"/>
                <a:hlinkClick r:id="rId13">
                  <a:extLst>
                    <a:ext uri="{A12FA001-AC4F-418D-AE19-62706E023703}">
                      <ahyp:hlinkClr xmlns:ahyp="http://schemas.microsoft.com/office/drawing/2018/hyperlinkcolor" val="tx"/>
                    </a:ext>
                  </a:extLst>
                </a:hlinkClick>
              </a:rPr>
              <a:t>NCPA Digest</a:t>
            </a:r>
            <a:r>
              <a:rPr sz="825" b="0" i="0" spc="15">
                <a:solidFill>
                  <a:srgbClr val="333231"/>
                </a:solidFill>
                <a:latin typeface="Calibri"/>
              </a:rPr>
              <a:t>).</a:t>
            </a:r>
          </a:p>
        </p:txBody>
      </p:sp>
      <p:sp>
        <p:nvSpPr>
          <p:cNvPr id="71" name="Rectangle 70"/>
          <p:cNvSpPr/>
          <p:nvPr/>
        </p:nvSpPr>
        <p:spPr>
          <a:xfrm>
            <a:off x="3095625" y="5305425"/>
            <a:ext cx="47625" cy="47625"/>
          </a:xfrm>
          <a:prstGeom prst="rect">
            <a:avLst/>
          </a:prstGeom>
          <a:solidFill>
            <a:srgbClr val="B68757"/>
          </a:solidFill>
          <a:ln>
            <a:noFill/>
          </a:ln>
          <a:effectLst/>
        </p:spPr>
        <p:txBody>
          <a:bodyPr rtlCol="0" anchor="ctr"/>
          <a:lstStyle/>
          <a:p>
            <a:pPr algn="ctr"/>
            <a:endParaRPr/>
          </a:p>
        </p:txBody>
      </p:sp>
      <p:sp>
        <p:nvSpPr>
          <p:cNvPr id="72" name="Text: Negotiated Medicare prices have cu"/>
          <p:cNvSpPr txBox="1"/>
          <p:nvPr/>
        </p:nvSpPr>
        <p:spPr>
          <a:xfrm>
            <a:off x="3219450" y="5267325"/>
            <a:ext cx="4005262" cy="457200"/>
          </a:xfrm>
          <a:prstGeom prst="rect">
            <a:avLst/>
          </a:prstGeom>
          <a:noFill/>
        </p:spPr>
        <p:txBody>
          <a:bodyPr wrap="square" lIns="0" tIns="0" rIns="0" bIns="0" anchor="t">
            <a:spAutoFit/>
          </a:bodyPr>
          <a:lstStyle/>
          <a:p>
            <a:pPr algn="l">
              <a:lnSpc>
                <a:spcPts val="1200"/>
              </a:lnSpc>
            </a:pPr>
            <a:r>
              <a:rPr sz="825" b="0" i="0" spc="15">
                <a:solidFill>
                  <a:srgbClr val="333231"/>
                </a:solidFill>
                <a:latin typeface="Calibri"/>
              </a:rPr>
              <a:t>Negotiated Medicare prices have hit hardest in long-term care pharmacy, where Guardian grew revenue 2% while serving 8% more residents (</a:t>
            </a:r>
            <a:r>
              <a:rPr sz="825" b="0" i="0" spc="15">
                <a:solidFill>
                  <a:srgbClr val="8C6239"/>
                </a:solidFill>
                <a:latin typeface="Calibri"/>
                <a:hlinkClick r:id="rId14">
                  <a:extLst>
                    <a:ext uri="{A12FA001-AC4F-418D-AE19-62706E023703}">
                      <ahyp:hlinkClr xmlns:ahyp="http://schemas.microsoft.com/office/drawing/2018/hyperlinkcolor" val="tx"/>
                    </a:ext>
                  </a:extLst>
                </a:hlinkClick>
              </a:rPr>
              <a:t>Guardian Pharmacy Services</a:t>
            </a:r>
            <a:r>
              <a:rPr sz="825" b="0" i="0" spc="15">
                <a:solidFill>
                  <a:srgbClr val="333231"/>
                </a:solidFill>
                <a:latin typeface="Calibri"/>
              </a:rPr>
              <a:t>).</a:t>
            </a:r>
          </a:p>
        </p:txBody>
      </p:sp>
      <p:sp>
        <p:nvSpPr>
          <p:cNvPr id="73" name="Rectangle 72"/>
          <p:cNvSpPr/>
          <p:nvPr/>
        </p:nvSpPr>
        <p:spPr>
          <a:xfrm>
            <a:off x="3095625" y="5819775"/>
            <a:ext cx="47625" cy="47625"/>
          </a:xfrm>
          <a:prstGeom prst="rect">
            <a:avLst/>
          </a:prstGeom>
          <a:solidFill>
            <a:srgbClr val="B68757"/>
          </a:solidFill>
          <a:ln>
            <a:noFill/>
          </a:ln>
          <a:effectLst/>
        </p:spPr>
        <p:txBody>
          <a:bodyPr rtlCol="0" anchor="ctr"/>
          <a:lstStyle/>
          <a:p>
            <a:pPr algn="ctr"/>
            <a:endParaRPr/>
          </a:p>
        </p:txBody>
      </p:sp>
      <p:sp>
        <p:nvSpPr>
          <p:cNvPr id="74" name="Text: Specialty and infusion are growing"/>
          <p:cNvSpPr txBox="1"/>
          <p:nvPr/>
        </p:nvSpPr>
        <p:spPr>
          <a:xfrm>
            <a:off x="3219450" y="5781675"/>
            <a:ext cx="4005262" cy="304800"/>
          </a:xfrm>
          <a:prstGeom prst="rect">
            <a:avLst/>
          </a:prstGeom>
          <a:noFill/>
        </p:spPr>
        <p:txBody>
          <a:bodyPr wrap="square" lIns="0" tIns="0" rIns="0" bIns="0" anchor="t">
            <a:spAutoFit/>
          </a:bodyPr>
          <a:lstStyle/>
          <a:p>
            <a:pPr algn="l">
              <a:lnSpc>
                <a:spcPts val="1200"/>
              </a:lnSpc>
            </a:pPr>
            <a:r>
              <a:rPr sz="825" b="0" i="0" spc="15">
                <a:solidFill>
                  <a:srgbClr val="333231"/>
                </a:solidFill>
                <a:latin typeface="Calibri"/>
              </a:rPr>
              <a:t>Specialty and infusion are growing fastest, and BrightSpring's specialty and infusion revenue rose 30% to $2.9 billion (</a:t>
            </a:r>
            <a:r>
              <a:rPr sz="825" b="0" i="0" spc="15">
                <a:solidFill>
                  <a:srgbClr val="8C6239"/>
                </a:solidFill>
                <a:latin typeface="Calibri"/>
                <a:hlinkClick r:id="rId15">
                  <a:extLst>
                    <a:ext uri="{A12FA001-AC4F-418D-AE19-62706E023703}">
                      <ahyp:hlinkClr xmlns:ahyp="http://schemas.microsoft.com/office/drawing/2018/hyperlinkcolor" val="tx"/>
                    </a:ext>
                  </a:extLst>
                </a:hlinkClick>
              </a:rPr>
              <a:t>BrightSpring</a:t>
            </a:r>
            <a:r>
              <a:rPr sz="825" b="0" i="0" spc="15">
                <a:solidFill>
                  <a:srgbClr val="333231"/>
                </a:solidFill>
                <a:latin typeface="Calibri"/>
              </a:rPr>
              <a:t>).</a:t>
            </a:r>
          </a:p>
        </p:txBody>
      </p:sp>
      <p:sp>
        <p:nvSpPr>
          <p:cNvPr id="75" name="Rectangle 74"/>
          <p:cNvSpPr/>
          <p:nvPr/>
        </p:nvSpPr>
        <p:spPr>
          <a:xfrm>
            <a:off x="3095625" y="6181725"/>
            <a:ext cx="47625" cy="47625"/>
          </a:xfrm>
          <a:prstGeom prst="rect">
            <a:avLst/>
          </a:prstGeom>
          <a:solidFill>
            <a:srgbClr val="B68757"/>
          </a:solidFill>
          <a:ln>
            <a:noFill/>
          </a:ln>
          <a:effectLst/>
        </p:spPr>
        <p:txBody>
          <a:bodyPr rtlCol="0" anchor="ctr"/>
          <a:lstStyle/>
          <a:p>
            <a:pPr algn="ctr"/>
            <a:endParaRPr/>
          </a:p>
        </p:txBody>
      </p:sp>
      <p:sp>
        <p:nvSpPr>
          <p:cNvPr id="76" name="Text: Healthcare staffing is forecast to"/>
          <p:cNvSpPr txBox="1"/>
          <p:nvPr/>
        </p:nvSpPr>
        <p:spPr>
          <a:xfrm>
            <a:off x="3219450" y="6143625"/>
            <a:ext cx="4005262" cy="304800"/>
          </a:xfrm>
          <a:prstGeom prst="rect">
            <a:avLst/>
          </a:prstGeom>
          <a:noFill/>
        </p:spPr>
        <p:txBody>
          <a:bodyPr wrap="square" lIns="0" tIns="0" rIns="0" bIns="0" anchor="t">
            <a:spAutoFit/>
          </a:bodyPr>
          <a:lstStyle/>
          <a:p>
            <a:pPr algn="l">
              <a:lnSpc>
                <a:spcPts val="1200"/>
              </a:lnSpc>
            </a:pPr>
            <a:r>
              <a:rPr sz="825" b="0" i="0" spc="15">
                <a:solidFill>
                  <a:srgbClr val="333231"/>
                </a:solidFill>
                <a:latin typeface="Calibri"/>
              </a:rPr>
              <a:t>Healthcare staffing is forecast to grow 1% to $39.0 billion in 2026 after three years of contraction (</a:t>
            </a:r>
            <a:r>
              <a:rPr sz="825" b="0" i="0" spc="15">
                <a:solidFill>
                  <a:srgbClr val="8C6239"/>
                </a:solidFill>
                <a:latin typeface="Calibri"/>
                <a:hlinkClick r:id="rId16">
                  <a:extLst>
                    <a:ext uri="{A12FA001-AC4F-418D-AE19-62706E023703}">
                      <ahyp:hlinkClr xmlns:ahyp="http://schemas.microsoft.com/office/drawing/2018/hyperlinkcolor" val="tx"/>
                    </a:ext>
                  </a:extLst>
                </a:hlinkClick>
              </a:rPr>
              <a:t>Staffing Industry Analysts</a:t>
            </a:r>
            <a:r>
              <a:rPr sz="825" b="0" i="0" spc="15">
                <a:solidFill>
                  <a:srgbClr val="333231"/>
                </a:solidFill>
                <a:latin typeface="Calibri"/>
              </a:rPr>
              <a:t>).</a:t>
            </a:r>
          </a:p>
        </p:txBody>
      </p:sp>
      <p:sp>
        <p:nvSpPr>
          <p:cNvPr id="77" name="Rectangle 76"/>
          <p:cNvSpPr/>
          <p:nvPr/>
        </p:nvSpPr>
        <p:spPr>
          <a:xfrm>
            <a:off x="7381875" y="4581525"/>
            <a:ext cx="2247900" cy="2343150"/>
          </a:xfrm>
          <a:prstGeom prst="rect">
            <a:avLst/>
          </a:prstGeom>
          <a:solidFill>
            <a:srgbClr val="FAF7F3"/>
          </a:solidFill>
          <a:ln>
            <a:noFill/>
          </a:ln>
          <a:effectLst/>
        </p:spPr>
        <p:txBody>
          <a:bodyPr rtlCol="0" anchor="ctr"/>
          <a:lstStyle/>
          <a:p>
            <a:pPr algn="ctr"/>
            <a:endParaRPr/>
          </a:p>
        </p:txBody>
      </p:sp>
      <p:sp>
        <p:nvSpPr>
          <p:cNvPr id="78" name="Text: ACTIVE BUYERS"/>
          <p:cNvSpPr txBox="1"/>
          <p:nvPr/>
        </p:nvSpPr>
        <p:spPr>
          <a:xfrm>
            <a:off x="7534275" y="4714875"/>
            <a:ext cx="1957388" cy="123825"/>
          </a:xfrm>
          <a:prstGeom prst="rect">
            <a:avLst/>
          </a:prstGeom>
          <a:noFill/>
        </p:spPr>
        <p:txBody>
          <a:bodyPr wrap="square" lIns="0" tIns="0" rIns="0" bIns="0" anchor="t">
            <a:spAutoFit/>
          </a:bodyPr>
          <a:lstStyle/>
          <a:p>
            <a:pPr algn="l">
              <a:lnSpc>
                <a:spcPts val="975"/>
              </a:lnSpc>
            </a:pPr>
            <a:r>
              <a:rPr sz="675" b="1" i="0" spc="150">
                <a:solidFill>
                  <a:srgbClr val="8C6239"/>
                </a:solidFill>
                <a:latin typeface="Calibri"/>
              </a:rPr>
              <a:t>ACTIVE BUYERS</a:t>
            </a:r>
          </a:p>
        </p:txBody>
      </p:sp>
      <p:sp>
        <p:nvSpPr>
          <p:cNvPr id="79" name="Text: Guardian Pharmacy Services, Cencor"/>
          <p:cNvSpPr txBox="1"/>
          <p:nvPr/>
        </p:nvSpPr>
        <p:spPr>
          <a:xfrm>
            <a:off x="7534275" y="4876800"/>
            <a:ext cx="1957388" cy="628650"/>
          </a:xfrm>
          <a:prstGeom prst="rect">
            <a:avLst/>
          </a:prstGeom>
          <a:noFill/>
        </p:spPr>
        <p:txBody>
          <a:bodyPr wrap="square" lIns="0" tIns="0" rIns="0" bIns="0" anchor="t">
            <a:spAutoFit/>
          </a:bodyPr>
          <a:lstStyle/>
          <a:p>
            <a:pPr algn="l">
              <a:lnSpc>
                <a:spcPts val="1238"/>
              </a:lnSpc>
            </a:pPr>
            <a:r>
              <a:rPr sz="825" b="0" i="0" spc="15">
                <a:solidFill>
                  <a:srgbClr val="333231"/>
                </a:solidFill>
                <a:latin typeface="Calibri"/>
              </a:rPr>
              <a:t>Guardian Pharmacy Services, Cencora, Cardinal Health, and McKesson; Knox Lane, JLL Partners, and VeloSource in staffing and logistics; Strata Critical Medical in perfusion</a:t>
            </a:r>
          </a:p>
        </p:txBody>
      </p:sp>
      <p:sp>
        <p:nvSpPr>
          <p:cNvPr id="80" name="Rectangle 79"/>
          <p:cNvSpPr/>
          <p:nvPr/>
        </p:nvSpPr>
        <p:spPr>
          <a:xfrm>
            <a:off x="7534275" y="6086475"/>
            <a:ext cx="1943100" cy="9525"/>
          </a:xfrm>
          <a:prstGeom prst="rect">
            <a:avLst/>
          </a:prstGeom>
          <a:solidFill>
            <a:srgbClr val="E3DCD3"/>
          </a:solidFill>
          <a:ln>
            <a:noFill/>
          </a:ln>
          <a:effectLst/>
        </p:spPr>
        <p:txBody>
          <a:bodyPr rtlCol="0" anchor="ctr"/>
          <a:lstStyle/>
          <a:p>
            <a:pPr algn="ctr"/>
            <a:endParaRPr/>
          </a:p>
        </p:txBody>
      </p:sp>
      <p:sp>
        <p:nvSpPr>
          <p:cNvPr id="81" name="Text: LISTED REFERENCE COMPANIES"/>
          <p:cNvSpPr txBox="1"/>
          <p:nvPr/>
        </p:nvSpPr>
        <p:spPr>
          <a:xfrm>
            <a:off x="7534275" y="6191250"/>
            <a:ext cx="1957388" cy="123825"/>
          </a:xfrm>
          <a:prstGeom prst="rect">
            <a:avLst/>
          </a:prstGeom>
          <a:noFill/>
        </p:spPr>
        <p:txBody>
          <a:bodyPr wrap="square" lIns="0" tIns="0" rIns="0" bIns="0" anchor="t">
            <a:spAutoFit/>
          </a:bodyPr>
          <a:lstStyle/>
          <a:p>
            <a:pPr algn="l">
              <a:lnSpc>
                <a:spcPts val="975"/>
              </a:lnSpc>
            </a:pPr>
            <a:r>
              <a:rPr sz="638" b="1" i="0" spc="150">
                <a:solidFill>
                  <a:srgbClr val="6F6A66"/>
                </a:solidFill>
                <a:latin typeface="Calibri"/>
              </a:rPr>
              <a:t>LISTED REFERENCE COMPANIES</a:t>
            </a:r>
          </a:p>
        </p:txBody>
      </p:sp>
      <p:sp>
        <p:nvSpPr>
          <p:cNvPr id="82" name="Rounded Rectangle 81"/>
          <p:cNvSpPr/>
          <p:nvPr/>
        </p:nvSpPr>
        <p:spPr>
          <a:xfrm>
            <a:off x="7534275" y="6372225"/>
            <a:ext cx="306288" cy="190500"/>
          </a:xfrm>
          <a:prstGeom prst="roundRect">
            <a:avLst>
              <a:gd name="adj" fmla="val 15000"/>
            </a:avLst>
          </a:prstGeom>
          <a:solidFill>
            <a:srgbClr val="2A2928"/>
          </a:solidFill>
          <a:ln>
            <a:noFill/>
          </a:ln>
          <a:effectLst/>
        </p:spPr>
        <p:txBody>
          <a:bodyPr rtlCol="0" anchor="ctr"/>
          <a:lstStyle/>
          <a:p>
            <a:pPr algn="ctr"/>
            <a:endParaRPr/>
          </a:p>
        </p:txBody>
      </p:sp>
      <p:sp>
        <p:nvSpPr>
          <p:cNvPr id="83" name="Text: OPCH"/>
          <p:cNvSpPr txBox="1"/>
          <p:nvPr/>
        </p:nvSpPr>
        <p:spPr>
          <a:xfrm>
            <a:off x="7591425" y="6372225"/>
            <a:ext cx="206276"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OPCH</a:t>
            </a:r>
          </a:p>
        </p:txBody>
      </p:sp>
      <p:sp>
        <p:nvSpPr>
          <p:cNvPr id="84" name="Rounded Rectangle 83"/>
          <p:cNvSpPr/>
          <p:nvPr/>
        </p:nvSpPr>
        <p:spPr>
          <a:xfrm>
            <a:off x="7878663" y="6372225"/>
            <a:ext cx="288727" cy="190500"/>
          </a:xfrm>
          <a:prstGeom prst="roundRect">
            <a:avLst>
              <a:gd name="adj" fmla="val 15000"/>
            </a:avLst>
          </a:prstGeom>
          <a:solidFill>
            <a:srgbClr val="2A2928"/>
          </a:solidFill>
          <a:ln>
            <a:noFill/>
          </a:ln>
          <a:effectLst/>
        </p:spPr>
        <p:txBody>
          <a:bodyPr rtlCol="0" anchor="ctr"/>
          <a:lstStyle/>
          <a:p>
            <a:pPr algn="ctr"/>
            <a:endParaRPr/>
          </a:p>
        </p:txBody>
      </p:sp>
      <p:sp>
        <p:nvSpPr>
          <p:cNvPr id="85" name="Text: BTSG"/>
          <p:cNvSpPr txBox="1"/>
          <p:nvPr/>
        </p:nvSpPr>
        <p:spPr>
          <a:xfrm>
            <a:off x="7935813" y="6372225"/>
            <a:ext cx="188714"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BTSG</a:t>
            </a:r>
          </a:p>
        </p:txBody>
      </p:sp>
      <p:sp>
        <p:nvSpPr>
          <p:cNvPr id="86" name="Rounded Rectangle 85"/>
          <p:cNvSpPr/>
          <p:nvPr/>
        </p:nvSpPr>
        <p:spPr>
          <a:xfrm>
            <a:off x="8205490" y="6372225"/>
            <a:ext cx="315516" cy="190500"/>
          </a:xfrm>
          <a:prstGeom prst="roundRect">
            <a:avLst>
              <a:gd name="adj" fmla="val 15000"/>
            </a:avLst>
          </a:prstGeom>
          <a:solidFill>
            <a:srgbClr val="2A2928"/>
          </a:solidFill>
          <a:ln>
            <a:noFill/>
          </a:ln>
          <a:effectLst/>
        </p:spPr>
        <p:txBody>
          <a:bodyPr rtlCol="0" anchor="ctr"/>
          <a:lstStyle/>
          <a:p>
            <a:pPr algn="ctr"/>
            <a:endParaRPr/>
          </a:p>
        </p:txBody>
      </p:sp>
      <p:sp>
        <p:nvSpPr>
          <p:cNvPr id="87" name="Text: GRDN"/>
          <p:cNvSpPr txBox="1"/>
          <p:nvPr/>
        </p:nvSpPr>
        <p:spPr>
          <a:xfrm>
            <a:off x="8262640" y="6372225"/>
            <a:ext cx="215503"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GRDN</a:t>
            </a:r>
          </a:p>
        </p:txBody>
      </p:sp>
      <p:sp>
        <p:nvSpPr>
          <p:cNvPr id="88" name="Rounded Rectangle 87"/>
          <p:cNvSpPr/>
          <p:nvPr/>
        </p:nvSpPr>
        <p:spPr>
          <a:xfrm>
            <a:off x="8559105" y="6372225"/>
            <a:ext cx="271611" cy="190500"/>
          </a:xfrm>
          <a:prstGeom prst="roundRect">
            <a:avLst>
              <a:gd name="adj" fmla="val 15000"/>
            </a:avLst>
          </a:prstGeom>
          <a:solidFill>
            <a:srgbClr val="2A2928"/>
          </a:solidFill>
          <a:ln>
            <a:noFill/>
          </a:ln>
          <a:effectLst/>
        </p:spPr>
        <p:txBody>
          <a:bodyPr rtlCol="0" anchor="ctr"/>
          <a:lstStyle/>
          <a:p>
            <a:pPr algn="ctr"/>
            <a:endParaRPr/>
          </a:p>
        </p:txBody>
      </p:sp>
      <p:sp>
        <p:nvSpPr>
          <p:cNvPr id="89" name="Text: MCK"/>
          <p:cNvSpPr txBox="1"/>
          <p:nvPr/>
        </p:nvSpPr>
        <p:spPr>
          <a:xfrm>
            <a:off x="8616255" y="6372225"/>
            <a:ext cx="171599"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MCK</a:t>
            </a:r>
          </a:p>
        </p:txBody>
      </p:sp>
      <p:sp>
        <p:nvSpPr>
          <p:cNvPr id="90" name="Rounded Rectangle 89"/>
          <p:cNvSpPr/>
          <p:nvPr/>
        </p:nvSpPr>
        <p:spPr>
          <a:xfrm>
            <a:off x="8868817" y="6372225"/>
            <a:ext cx="257175" cy="190500"/>
          </a:xfrm>
          <a:prstGeom prst="roundRect">
            <a:avLst>
              <a:gd name="adj" fmla="val 15000"/>
            </a:avLst>
          </a:prstGeom>
          <a:solidFill>
            <a:srgbClr val="2A2928"/>
          </a:solidFill>
          <a:ln>
            <a:noFill/>
          </a:ln>
          <a:effectLst/>
        </p:spPr>
        <p:txBody>
          <a:bodyPr rtlCol="0" anchor="ctr"/>
          <a:lstStyle/>
          <a:p>
            <a:pPr algn="ctr"/>
            <a:endParaRPr/>
          </a:p>
        </p:txBody>
      </p:sp>
      <p:sp>
        <p:nvSpPr>
          <p:cNvPr id="91" name="Text: COR"/>
          <p:cNvSpPr txBox="1"/>
          <p:nvPr/>
        </p:nvSpPr>
        <p:spPr>
          <a:xfrm>
            <a:off x="8925967" y="6372225"/>
            <a:ext cx="157162"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COR</a:t>
            </a:r>
          </a:p>
        </p:txBody>
      </p:sp>
      <p:sp>
        <p:nvSpPr>
          <p:cNvPr id="92" name="Rounded Rectangle 91"/>
          <p:cNvSpPr/>
          <p:nvPr/>
        </p:nvSpPr>
        <p:spPr>
          <a:xfrm>
            <a:off x="9164092" y="6372225"/>
            <a:ext cx="257473" cy="190500"/>
          </a:xfrm>
          <a:prstGeom prst="roundRect">
            <a:avLst>
              <a:gd name="adj" fmla="val 15000"/>
            </a:avLst>
          </a:prstGeom>
          <a:solidFill>
            <a:srgbClr val="2A2928"/>
          </a:solidFill>
          <a:ln>
            <a:noFill/>
          </a:ln>
          <a:effectLst/>
        </p:spPr>
        <p:txBody>
          <a:bodyPr rtlCol="0" anchor="ctr"/>
          <a:lstStyle/>
          <a:p>
            <a:pPr algn="ctr"/>
            <a:endParaRPr/>
          </a:p>
        </p:txBody>
      </p:sp>
      <p:sp>
        <p:nvSpPr>
          <p:cNvPr id="93" name="Text: CAH"/>
          <p:cNvSpPr txBox="1"/>
          <p:nvPr/>
        </p:nvSpPr>
        <p:spPr>
          <a:xfrm>
            <a:off x="9221242" y="6372225"/>
            <a:ext cx="157460"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CAH</a:t>
            </a:r>
          </a:p>
        </p:txBody>
      </p:sp>
      <p:sp>
        <p:nvSpPr>
          <p:cNvPr id="94" name="Rounded Rectangle 93"/>
          <p:cNvSpPr/>
          <p:nvPr/>
        </p:nvSpPr>
        <p:spPr>
          <a:xfrm>
            <a:off x="7534275" y="6600825"/>
            <a:ext cx="243780" cy="190500"/>
          </a:xfrm>
          <a:prstGeom prst="roundRect">
            <a:avLst>
              <a:gd name="adj" fmla="val 15000"/>
            </a:avLst>
          </a:prstGeom>
          <a:solidFill>
            <a:srgbClr val="2A2928"/>
          </a:solidFill>
          <a:ln>
            <a:noFill/>
          </a:ln>
          <a:effectLst/>
        </p:spPr>
        <p:txBody>
          <a:bodyPr rtlCol="0" anchor="ctr"/>
          <a:lstStyle/>
          <a:p>
            <a:pPr algn="ctr"/>
            <a:endParaRPr/>
          </a:p>
        </p:txBody>
      </p:sp>
      <p:sp>
        <p:nvSpPr>
          <p:cNvPr id="95" name="Text: CVS"/>
          <p:cNvSpPr txBox="1"/>
          <p:nvPr/>
        </p:nvSpPr>
        <p:spPr>
          <a:xfrm>
            <a:off x="7591425" y="6600825"/>
            <a:ext cx="14376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CVS</a:t>
            </a:r>
          </a:p>
        </p:txBody>
      </p:sp>
      <p:sp>
        <p:nvSpPr>
          <p:cNvPr id="96" name="Rounded Rectangle 95"/>
          <p:cNvSpPr/>
          <p:nvPr/>
        </p:nvSpPr>
        <p:spPr>
          <a:xfrm>
            <a:off x="7816155" y="6600825"/>
            <a:ext cx="285899" cy="190500"/>
          </a:xfrm>
          <a:prstGeom prst="roundRect">
            <a:avLst>
              <a:gd name="adj" fmla="val 15000"/>
            </a:avLst>
          </a:prstGeom>
          <a:solidFill>
            <a:srgbClr val="2A2928"/>
          </a:solidFill>
          <a:ln>
            <a:noFill/>
          </a:ln>
          <a:effectLst/>
        </p:spPr>
        <p:txBody>
          <a:bodyPr rtlCol="0" anchor="ctr"/>
          <a:lstStyle/>
          <a:p>
            <a:pPr algn="ctr"/>
            <a:endParaRPr/>
          </a:p>
        </p:txBody>
      </p:sp>
      <p:sp>
        <p:nvSpPr>
          <p:cNvPr id="97" name="Text: AMN"/>
          <p:cNvSpPr txBox="1"/>
          <p:nvPr/>
        </p:nvSpPr>
        <p:spPr>
          <a:xfrm>
            <a:off x="7873305" y="6600825"/>
            <a:ext cx="185886"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AMN</a:t>
            </a:r>
          </a:p>
        </p:txBody>
      </p:sp>
      <p:sp>
        <p:nvSpPr>
          <p:cNvPr id="98" name="Rectangle 97"/>
          <p:cNvSpPr/>
          <p:nvPr/>
        </p:nvSpPr>
        <p:spPr>
          <a:xfrm>
            <a:off x="419100" y="7029450"/>
            <a:ext cx="9220200" cy="9525"/>
          </a:xfrm>
          <a:prstGeom prst="rect">
            <a:avLst/>
          </a:prstGeom>
          <a:solidFill>
            <a:srgbClr val="E3DCD3"/>
          </a:solidFill>
          <a:ln>
            <a:noFill/>
          </a:ln>
          <a:effectLst/>
        </p:spPr>
        <p:txBody>
          <a:bodyPr rtlCol="0" anchor="ctr"/>
          <a:lstStyle/>
          <a:p>
            <a:pPr algn="ctr"/>
            <a:endParaRPr/>
          </a:p>
        </p:txBody>
      </p:sp>
      <p:pic>
        <p:nvPicPr>
          <p:cNvPr id="99" name="Picture 98" descr="Benchmark International"/>
          <p:cNvPicPr>
            <a:picLocks noChangeAspect="1"/>
          </p:cNvPicPr>
          <p:nvPr/>
        </p:nvPicPr>
        <p:blipFill>
          <a:blip r:embed="rId17"/>
          <a:srcRect/>
          <a:stretch>
            <a:fillRect/>
          </a:stretch>
        </p:blipFill>
        <p:spPr>
          <a:xfrm>
            <a:off x="419100" y="7143750"/>
            <a:ext cx="914400" cy="171450"/>
          </a:xfrm>
          <a:prstGeom prst="rect">
            <a:avLst/>
          </a:prstGeom>
        </p:spPr>
      </p:pic>
      <p:sp>
        <p:nvSpPr>
          <p:cNvPr id="100" name="Text: Focus areas and the businesses lis"/>
          <p:cNvSpPr txBox="1"/>
          <p:nvPr/>
        </p:nvSpPr>
        <p:spPr>
          <a:xfrm>
            <a:off x="1543050" y="7105650"/>
            <a:ext cx="7748588" cy="238125"/>
          </a:xfrm>
          <a:prstGeom prst="rect">
            <a:avLst/>
          </a:prstGeom>
          <a:noFill/>
        </p:spPr>
        <p:txBody>
          <a:bodyPr wrap="square" lIns="0" tIns="0" rIns="0" bIns="0" anchor="t">
            <a:spAutoFit/>
          </a:bodyPr>
          <a:lstStyle/>
          <a:p>
            <a:pPr algn="l">
              <a:lnSpc>
                <a:spcPts val="938"/>
              </a:lnSpc>
            </a:pPr>
            <a:r>
              <a:rPr sz="675" b="0" i="0" spc="8">
                <a:solidFill>
                  <a:srgbClr val="6F6A66"/>
                </a:solidFill>
                <a:latin typeface="Calibri"/>
              </a:rPr>
              <a:t>Sectors and the businesses listed under each follow the Middle Market team's healthcare coverage. Buyers named are examples drawn from 2026 transactions and results. Tickers identify the listed reference companies on the valuation pages.</a:t>
            </a:r>
          </a:p>
        </p:txBody>
      </p:sp>
      <p:sp>
        <p:nvSpPr>
          <p:cNvPr id="101" name="Text: 07"/>
          <p:cNvSpPr txBox="1"/>
          <p:nvPr/>
        </p:nvSpPr>
        <p:spPr>
          <a:xfrm>
            <a:off x="9509373" y="7162800"/>
            <a:ext cx="144214" cy="133350"/>
          </a:xfrm>
          <a:prstGeom prst="rect">
            <a:avLst/>
          </a:prstGeom>
          <a:noFill/>
        </p:spPr>
        <p:txBody>
          <a:bodyPr wrap="square" lIns="0" tIns="0" rIns="0" bIns="0" anchor="t">
            <a:spAutoFit/>
          </a:bodyPr>
          <a:lstStyle/>
          <a:p>
            <a:pPr algn="l">
              <a:lnSpc>
                <a:spcPts val="1050"/>
              </a:lnSpc>
            </a:pPr>
            <a:r>
              <a:rPr sz="712" b="1" i="0" spc="150">
                <a:solidFill>
                  <a:srgbClr val="1B1A1A"/>
                </a:solidFill>
                <a:latin typeface="Calibri"/>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57150" cy="7772400"/>
          </a:xfrm>
          <a:prstGeom prst="rect">
            <a:avLst/>
          </a:prstGeom>
          <a:solidFill>
            <a:srgbClr val="B68757"/>
          </a:solidFill>
          <a:ln>
            <a:noFill/>
          </a:ln>
          <a:effectLst/>
        </p:spPr>
        <p:txBody>
          <a:bodyPr rtlCol="0" anchor="ctr"/>
          <a:lstStyle/>
          <a:p>
            <a:pPr algn="ctr"/>
            <a:endParaRPr/>
          </a:p>
        </p:txBody>
      </p:sp>
      <p:sp>
        <p:nvSpPr>
          <p:cNvPr id="3" name="Text: HEALTHCARE | QUARTERLY SECTOR BRIE"/>
          <p:cNvSpPr txBox="1"/>
          <p:nvPr/>
        </p:nvSpPr>
        <p:spPr>
          <a:xfrm>
            <a:off x="419100" y="381000"/>
            <a:ext cx="2439591" cy="133350"/>
          </a:xfrm>
          <a:prstGeom prst="rect">
            <a:avLst/>
          </a:prstGeom>
          <a:noFill/>
        </p:spPr>
        <p:txBody>
          <a:bodyPr wrap="none" lIns="0" tIns="0" rIns="0" bIns="0" anchor="t">
            <a:spAutoFit/>
          </a:bodyPr>
          <a:lstStyle/>
          <a:p>
            <a:pPr algn="l">
              <a:lnSpc>
                <a:spcPts val="1050"/>
              </a:lnSpc>
            </a:pPr>
            <a:r>
              <a:rPr sz="675" b="1" i="0" spc="195">
                <a:solidFill>
                  <a:srgbClr val="8C6239"/>
                </a:solidFill>
                <a:latin typeface="Calibri"/>
              </a:rPr>
              <a:t>HEALTHCARE | QUARTERLY INDUSTRY REPORT</a:t>
            </a:r>
          </a:p>
        </p:txBody>
      </p:sp>
      <p:sp>
        <p:nvSpPr>
          <p:cNvPr id="4" name="Text: Q4 2026"/>
          <p:cNvSpPr txBox="1"/>
          <p:nvPr/>
        </p:nvSpPr>
        <p:spPr>
          <a:xfrm>
            <a:off x="9188648" y="361950"/>
            <a:ext cx="464939" cy="171450"/>
          </a:xfrm>
          <a:prstGeom prst="rect">
            <a:avLst/>
          </a:prstGeom>
          <a:noFill/>
        </p:spPr>
        <p:txBody>
          <a:bodyPr wrap="square" lIns="0" tIns="0" rIns="0" bIns="0" anchor="t">
            <a:spAutoFit/>
          </a:bodyPr>
          <a:lstStyle/>
          <a:p>
            <a:pPr algn="l">
              <a:lnSpc>
                <a:spcPts val="1350"/>
              </a:lnSpc>
            </a:pPr>
            <a:r>
              <a:rPr sz="900" b="0" i="0" spc="90">
                <a:solidFill>
                  <a:srgbClr val="6F6A66"/>
                </a:solidFill>
                <a:latin typeface="Cambria"/>
              </a:rPr>
              <a:t>Q4 2026</a:t>
            </a:r>
          </a:p>
        </p:txBody>
      </p:sp>
      <p:sp>
        <p:nvSpPr>
          <p:cNvPr id="5" name="Text: What We're Reading"/>
          <p:cNvSpPr txBox="1"/>
          <p:nvPr/>
        </p:nvSpPr>
        <p:spPr>
          <a:xfrm>
            <a:off x="419100" y="523875"/>
            <a:ext cx="9234488" cy="323850"/>
          </a:xfrm>
          <a:prstGeom prst="rect">
            <a:avLst/>
          </a:prstGeom>
          <a:noFill/>
        </p:spPr>
        <p:txBody>
          <a:bodyPr wrap="square" lIns="0" tIns="0" rIns="0" bIns="0" anchor="t">
            <a:spAutoFit/>
          </a:bodyPr>
          <a:lstStyle/>
          <a:p>
            <a:pPr algn="l">
              <a:lnSpc>
                <a:spcPts val="2550"/>
              </a:lnSpc>
            </a:pPr>
            <a:r>
              <a:rPr sz="2025" b="1" i="0">
                <a:solidFill>
                  <a:srgbClr val="1B1A1A"/>
                </a:solidFill>
                <a:latin typeface="Cambria"/>
              </a:rPr>
              <a:t>What We're Reading</a:t>
            </a:r>
          </a:p>
        </p:txBody>
      </p:sp>
      <p:sp>
        <p:nvSpPr>
          <p:cNvPr id="6" name="Text: Primary sources and trade reportin"/>
          <p:cNvSpPr txBox="1"/>
          <p:nvPr/>
        </p:nvSpPr>
        <p:spPr>
          <a:xfrm>
            <a:off x="419100" y="885825"/>
            <a:ext cx="10215086" cy="180975"/>
          </a:xfrm>
          <a:prstGeom prst="rect">
            <a:avLst/>
          </a:prstGeom>
          <a:noFill/>
        </p:spPr>
        <p:txBody>
          <a:bodyPr wrap="square" lIns="0" tIns="0" rIns="0" bIns="0" anchor="t">
            <a:spAutoFit/>
          </a:bodyPr>
          <a:lstStyle/>
          <a:p>
            <a:pPr algn="l">
              <a:lnSpc>
                <a:spcPts val="1388"/>
              </a:lnSpc>
            </a:pPr>
            <a:r>
              <a:rPr sz="938" b="0" i="0" spc="15">
                <a:solidFill>
                  <a:srgbClr val="6F6A66"/>
                </a:solidFill>
                <a:latin typeface="Calibri"/>
              </a:rPr>
              <a:t>Primary sources and trade reporting from the third quarter.</a:t>
            </a:r>
          </a:p>
        </p:txBody>
      </p:sp>
      <p:sp>
        <p:nvSpPr>
          <p:cNvPr id="7" name="Rectangle 6"/>
          <p:cNvSpPr/>
          <p:nvPr/>
        </p:nvSpPr>
        <p:spPr>
          <a:xfrm>
            <a:off x="419100" y="1143000"/>
            <a:ext cx="9220200" cy="9525"/>
          </a:xfrm>
          <a:prstGeom prst="rect">
            <a:avLst/>
          </a:prstGeom>
          <a:solidFill>
            <a:srgbClr val="E3DCD3"/>
          </a:solidFill>
          <a:ln>
            <a:noFill/>
          </a:ln>
          <a:effectLst/>
        </p:spPr>
        <p:txBody>
          <a:bodyPr rtlCol="0" anchor="ctr"/>
          <a:lstStyle/>
          <a:p>
            <a:pPr algn="ctr"/>
            <a:endParaRPr/>
          </a:p>
        </p:txBody>
      </p:sp>
      <p:sp>
        <p:nvSpPr>
          <p:cNvPr id="8" name="Rectangle 7"/>
          <p:cNvSpPr/>
          <p:nvPr/>
        </p:nvSpPr>
        <p:spPr>
          <a:xfrm>
            <a:off x="419100" y="1238250"/>
            <a:ext cx="1809750" cy="5695950"/>
          </a:xfrm>
          <a:prstGeom prst="rect">
            <a:avLst/>
          </a:prstGeom>
          <a:solidFill>
            <a:srgbClr val="1B1A1A"/>
          </a:solidFill>
          <a:ln>
            <a:noFill/>
          </a:ln>
          <a:effectLst/>
        </p:spPr>
        <p:txBody>
          <a:bodyPr rtlCol="0" anchor="ctr"/>
          <a:lstStyle/>
          <a:p>
            <a:pPr algn="ctr"/>
            <a:endParaRPr/>
          </a:p>
        </p:txBody>
      </p:sp>
      <p:pic>
        <p:nvPicPr>
          <p:cNvPr id="9" name="Picture 8" descr="knot-dark.jpg"/>
          <p:cNvPicPr>
            <a:picLocks noChangeAspect="1"/>
          </p:cNvPicPr>
          <p:nvPr/>
        </p:nvPicPr>
        <p:blipFill>
          <a:blip r:embed="rId2">
            <a:alphaModFix amt="50000"/>
          </a:blip>
          <a:srcRect l="30109" t="1500" r="52555" b="1500"/>
          <a:stretch>
            <a:fillRect/>
          </a:stretch>
        </p:blipFill>
        <p:spPr>
          <a:xfrm>
            <a:off x="419100" y="1238250"/>
            <a:ext cx="1809750" cy="5695950"/>
          </a:xfrm>
          <a:prstGeom prst="rect">
            <a:avLst/>
          </a:prstGeom>
        </p:spPr>
      </p:pic>
      <p:pic>
        <p:nvPicPr>
          <p:cNvPr id="10" name="Picture 9" descr="v243e81c5256f.png"/>
          <p:cNvPicPr>
            <a:picLocks noChangeAspect="1"/>
          </p:cNvPicPr>
          <p:nvPr/>
        </p:nvPicPr>
        <p:blipFill>
          <a:blip r:embed="rId3"/>
          <a:stretch>
            <a:fillRect/>
          </a:stretch>
        </p:blipFill>
        <p:spPr>
          <a:xfrm>
            <a:off x="609600" y="1504950"/>
            <a:ext cx="419100" cy="419100"/>
          </a:xfrm>
          <a:prstGeom prst="rect">
            <a:avLst/>
          </a:prstGeom>
        </p:spPr>
      </p:pic>
      <p:sp>
        <p:nvSpPr>
          <p:cNvPr id="11" name="Text: What We're Reading"/>
          <p:cNvSpPr txBox="1"/>
          <p:nvPr/>
        </p:nvSpPr>
        <p:spPr>
          <a:xfrm>
            <a:off x="609600" y="2114550"/>
            <a:ext cx="1443038" cy="1028700"/>
          </a:xfrm>
          <a:prstGeom prst="rect">
            <a:avLst/>
          </a:prstGeom>
          <a:noFill/>
        </p:spPr>
        <p:txBody>
          <a:bodyPr wrap="square" lIns="0" tIns="0" rIns="0" bIns="0" anchor="t">
            <a:spAutoFit/>
          </a:bodyPr>
          <a:lstStyle/>
          <a:p>
            <a:pPr algn="l">
              <a:lnSpc>
                <a:spcPts val="2700"/>
              </a:lnSpc>
            </a:pPr>
            <a:r>
              <a:rPr sz="2250" b="1" i="0">
                <a:solidFill>
                  <a:srgbClr val="FFFFFF"/>
                </a:solidFill>
                <a:latin typeface="Cambria"/>
              </a:rPr>
              <a:t>What We're Reading</a:t>
            </a:r>
          </a:p>
        </p:txBody>
      </p:sp>
      <p:sp>
        <p:nvSpPr>
          <p:cNvPr id="12" name="Rectangle 11"/>
          <p:cNvSpPr/>
          <p:nvPr/>
        </p:nvSpPr>
        <p:spPr>
          <a:xfrm>
            <a:off x="609600" y="3314700"/>
            <a:ext cx="533400" cy="19050"/>
          </a:xfrm>
          <a:prstGeom prst="rect">
            <a:avLst/>
          </a:prstGeom>
          <a:solidFill>
            <a:srgbClr val="B68757"/>
          </a:solidFill>
          <a:ln>
            <a:noFill/>
          </a:ln>
          <a:effectLst/>
        </p:spPr>
        <p:txBody>
          <a:bodyPr rtlCol="0" anchor="ctr"/>
          <a:lstStyle/>
          <a:p>
            <a:pPr algn="ctr"/>
            <a:endParaRPr/>
          </a:p>
        </p:txBody>
      </p:sp>
      <p:sp>
        <p:nvSpPr>
          <p:cNvPr id="13" name="Text: Four pieces from the third quarter"/>
          <p:cNvSpPr txBox="1"/>
          <p:nvPr/>
        </p:nvSpPr>
        <p:spPr>
          <a:xfrm>
            <a:off x="609600" y="3505200"/>
            <a:ext cx="1443038" cy="904875"/>
          </a:xfrm>
          <a:prstGeom prst="rect">
            <a:avLst/>
          </a:prstGeom>
          <a:noFill/>
        </p:spPr>
        <p:txBody>
          <a:bodyPr wrap="square" lIns="0" tIns="0" rIns="0" bIns="0" anchor="t">
            <a:spAutoFit/>
          </a:bodyPr>
          <a:lstStyle/>
          <a:p>
            <a:pPr algn="l">
              <a:lnSpc>
                <a:spcPts val="1425"/>
              </a:lnSpc>
            </a:pPr>
            <a:r>
              <a:rPr sz="900" b="0" i="0" spc="15">
                <a:solidFill>
                  <a:srgbClr val="E8E2DA"/>
                </a:solidFill>
                <a:latin typeface="Calibri"/>
              </a:rPr>
              <a:t>Four pieces from the third quarter, one for each sector, with the passage we marked and what it means for an owner.</a:t>
            </a:r>
          </a:p>
        </p:txBody>
      </p:sp>
      <p:sp>
        <p:nvSpPr>
          <p:cNvPr id="14" name="Rectangle 13"/>
          <p:cNvSpPr/>
          <p:nvPr/>
        </p:nvSpPr>
        <p:spPr>
          <a:xfrm>
            <a:off x="2400300" y="1238250"/>
            <a:ext cx="3543300" cy="2771775"/>
          </a:xfrm>
          <a:prstGeom prst="rect">
            <a:avLst/>
          </a:prstGeom>
          <a:solidFill>
            <a:srgbClr val="FAF7F3"/>
          </a:solidFill>
          <a:ln>
            <a:noFill/>
          </a:ln>
          <a:effectLst/>
        </p:spPr>
        <p:txBody>
          <a:bodyPr rtlCol="0" anchor="ctr"/>
          <a:lstStyle/>
          <a:p>
            <a:pPr algn="ctr"/>
            <a:endParaRPr/>
          </a:p>
        </p:txBody>
      </p:sp>
      <p:sp>
        <p:nvSpPr>
          <p:cNvPr id="15" name="Rectangle 14"/>
          <p:cNvSpPr/>
          <p:nvPr/>
        </p:nvSpPr>
        <p:spPr>
          <a:xfrm>
            <a:off x="2400300" y="1238250"/>
            <a:ext cx="3543300" cy="28575"/>
          </a:xfrm>
          <a:prstGeom prst="rect">
            <a:avLst/>
          </a:prstGeom>
          <a:solidFill>
            <a:srgbClr val="B68757"/>
          </a:solidFill>
          <a:ln>
            <a:noFill/>
          </a:ln>
          <a:effectLst/>
        </p:spPr>
        <p:txBody>
          <a:bodyPr rtlCol="0" anchor="ctr"/>
          <a:lstStyle/>
          <a:p>
            <a:pPr algn="ctr"/>
            <a:endParaRPr/>
          </a:p>
        </p:txBody>
      </p:sp>
      <p:sp>
        <p:nvSpPr>
          <p:cNvPr id="16" name="Text: FIERCE HEALTHCARE | PROVIDER SERVI"/>
          <p:cNvSpPr txBox="1"/>
          <p:nvPr/>
        </p:nvSpPr>
        <p:spPr>
          <a:xfrm>
            <a:off x="2552700" y="1400175"/>
            <a:ext cx="2224683" cy="123825"/>
          </a:xfrm>
          <a:prstGeom prst="rect">
            <a:avLst/>
          </a:prstGeom>
          <a:noFill/>
        </p:spPr>
        <p:txBody>
          <a:bodyPr wrap="square" lIns="0" tIns="0" rIns="0" bIns="0" anchor="t">
            <a:spAutoFit/>
          </a:bodyPr>
          <a:lstStyle/>
          <a:p>
            <a:pPr algn="l">
              <a:lnSpc>
                <a:spcPts val="975"/>
              </a:lnSpc>
            </a:pPr>
            <a:r>
              <a:rPr sz="638" b="1" i="0" spc="150">
                <a:solidFill>
                  <a:srgbClr val="8C6239"/>
                </a:solidFill>
                <a:latin typeface="Calibri"/>
              </a:rPr>
              <a:t>FIERCE HEALTHCARE | PROVIDER SERVICES</a:t>
            </a:r>
          </a:p>
        </p:txBody>
      </p:sp>
      <p:sp>
        <p:nvSpPr>
          <p:cNvPr id="17" name="Text: August 19, 2026"/>
          <p:cNvSpPr txBox="1"/>
          <p:nvPr/>
        </p:nvSpPr>
        <p:spPr>
          <a:xfrm>
            <a:off x="5169098" y="1390650"/>
            <a:ext cx="757178" cy="123825"/>
          </a:xfrm>
          <a:prstGeom prst="rect">
            <a:avLst/>
          </a:prstGeom>
          <a:noFill/>
        </p:spPr>
        <p:txBody>
          <a:bodyPr wrap="square" lIns="0" tIns="0" rIns="0" bIns="0" anchor="t">
            <a:spAutoFit/>
          </a:bodyPr>
          <a:lstStyle/>
          <a:p>
            <a:pPr algn="l">
              <a:lnSpc>
                <a:spcPts val="975"/>
              </a:lnSpc>
            </a:pPr>
            <a:r>
              <a:rPr sz="712" b="0" i="0" spc="15">
                <a:solidFill>
                  <a:srgbClr val="6F6A66"/>
                </a:solidFill>
                <a:latin typeface="Calibri"/>
              </a:rPr>
              <a:t>August 19, 2026</a:t>
            </a:r>
          </a:p>
        </p:txBody>
      </p:sp>
      <p:sp>
        <p:nvSpPr>
          <p:cNvPr id="18" name="Text: Projected healthcare services deal"/>
          <p:cNvSpPr txBox="1"/>
          <p:nvPr/>
        </p:nvSpPr>
        <p:spPr>
          <a:xfrm>
            <a:off x="2552700" y="1590675"/>
            <a:ext cx="3252788" cy="371475"/>
          </a:xfrm>
          <a:prstGeom prst="rect">
            <a:avLst/>
          </a:prstGeom>
          <a:noFill/>
        </p:spPr>
        <p:txBody>
          <a:bodyPr wrap="square" lIns="0" tIns="0" rIns="0" bIns="0" anchor="t">
            <a:spAutoFit/>
          </a:bodyPr>
          <a:lstStyle/>
          <a:p>
            <a:pPr algn="l">
              <a:lnSpc>
                <a:spcPts val="1462"/>
              </a:lnSpc>
            </a:pPr>
            <a:r>
              <a:rPr sz="1125" b="1" i="0">
                <a:solidFill>
                  <a:srgbClr val="1B1A1A"/>
                </a:solidFill>
                <a:latin typeface="Cambria"/>
              </a:rPr>
              <a:t>Projected healthcare services deal count to be lowest since 2017, PitchBook finds</a:t>
            </a:r>
          </a:p>
        </p:txBody>
      </p:sp>
      <p:sp>
        <p:nvSpPr>
          <p:cNvPr id="19" name="Rectangle 18"/>
          <p:cNvSpPr/>
          <p:nvPr/>
        </p:nvSpPr>
        <p:spPr>
          <a:xfrm>
            <a:off x="2552700" y="2057400"/>
            <a:ext cx="19050" cy="495300"/>
          </a:xfrm>
          <a:prstGeom prst="rect">
            <a:avLst/>
          </a:prstGeom>
          <a:solidFill>
            <a:srgbClr val="B68757"/>
          </a:solidFill>
          <a:ln>
            <a:noFill/>
          </a:ln>
          <a:effectLst/>
        </p:spPr>
        <p:txBody>
          <a:bodyPr rtlCol="0" anchor="ctr"/>
          <a:lstStyle/>
          <a:p>
            <a:pPr algn="ctr"/>
            <a:endParaRPr/>
          </a:p>
        </p:txBody>
      </p:sp>
      <p:sp>
        <p:nvSpPr>
          <p:cNvPr id="20" name="Text: “It’s hard to imagine that things "/>
          <p:cNvSpPr txBox="1"/>
          <p:nvPr/>
        </p:nvSpPr>
        <p:spPr>
          <a:xfrm>
            <a:off x="2686050" y="2057400"/>
            <a:ext cx="3119438" cy="333375"/>
          </a:xfrm>
          <a:prstGeom prst="rect">
            <a:avLst/>
          </a:prstGeom>
          <a:noFill/>
        </p:spPr>
        <p:txBody>
          <a:bodyPr wrap="square" lIns="0" tIns="0" rIns="0" bIns="0" anchor="t">
            <a:spAutoFit/>
          </a:bodyPr>
          <a:lstStyle/>
          <a:p>
            <a:pPr algn="l">
              <a:lnSpc>
                <a:spcPts val="1312"/>
              </a:lnSpc>
            </a:pPr>
            <a:r>
              <a:rPr sz="938" b="0" i="1">
                <a:solidFill>
                  <a:srgbClr val="2A2928"/>
                </a:solidFill>
                <a:latin typeface="Cambria"/>
              </a:rPr>
              <a:t>“It’s hard to imagine that things stay at such a depressed level. We expect mean reversion going forward.”</a:t>
            </a:r>
          </a:p>
        </p:txBody>
      </p:sp>
      <p:sp>
        <p:nvSpPr>
          <p:cNvPr id="21" name="Text: Brian Wright, lead research analys"/>
          <p:cNvSpPr txBox="1"/>
          <p:nvPr/>
        </p:nvSpPr>
        <p:spPr>
          <a:xfrm>
            <a:off x="2686050" y="2419350"/>
            <a:ext cx="3119438" cy="133350"/>
          </a:xfrm>
          <a:prstGeom prst="rect">
            <a:avLst/>
          </a:prstGeom>
          <a:noFill/>
        </p:spPr>
        <p:txBody>
          <a:bodyPr wrap="square" lIns="0" tIns="0" rIns="0" bIns="0" anchor="t">
            <a:spAutoFit/>
          </a:bodyPr>
          <a:lstStyle/>
          <a:p>
            <a:pPr algn="l">
              <a:lnSpc>
                <a:spcPts val="1050"/>
              </a:lnSpc>
            </a:pPr>
            <a:r>
              <a:rPr sz="712" b="0" i="0" spc="15">
                <a:solidFill>
                  <a:srgbClr val="6F6A66"/>
                </a:solidFill>
                <a:latin typeface="Calibri"/>
              </a:rPr>
              <a:t>Brian Wright, lead research analyst of healthcare at PitchBook</a:t>
            </a:r>
          </a:p>
        </p:txBody>
      </p:sp>
      <p:sp>
        <p:nvSpPr>
          <p:cNvPr id="22" name="Text: Key takeaway."/>
          <p:cNvSpPr txBox="1"/>
          <p:nvPr/>
        </p:nvSpPr>
        <p:spPr>
          <a:xfrm>
            <a:off x="2552700" y="3138488"/>
            <a:ext cx="3252788" cy="442912"/>
          </a:xfrm>
          <a:prstGeom prst="rect">
            <a:avLst/>
          </a:prstGeom>
          <a:noFill/>
        </p:spPr>
        <p:txBody>
          <a:bodyPr wrap="square" lIns="0" tIns="0" rIns="0" bIns="0" anchor="t">
            <a:spAutoFit/>
          </a:bodyPr>
          <a:lstStyle/>
          <a:p>
            <a:pPr algn="l">
              <a:lnSpc>
                <a:spcPts val="1162"/>
              </a:lnSpc>
            </a:pPr>
            <a:r>
              <a:rPr sz="788" b="1" i="0" spc="15">
                <a:solidFill>
                  <a:srgbClr val="1B1A1A"/>
                </a:solidFill>
                <a:latin typeface="Calibri"/>
              </a:rPr>
              <a:t>Our read.</a:t>
            </a:r>
            <a:r>
              <a:rPr sz="788" b="0" i="0" spc="15">
                <a:solidFill>
                  <a:srgbClr val="333231"/>
                </a:solidFill>
                <a:latin typeface="Calibri"/>
              </a:rPr>
              <a:t> Private equity is on pace for 674 healthcare services transactions in 2026 after an estimated 337 in the first half. The analyst behind the count expects activity to return toward its longer-run level.</a:t>
            </a:r>
          </a:p>
        </p:txBody>
      </p:sp>
      <p:sp>
        <p:nvSpPr>
          <p:cNvPr id="23" name="Rectangle 22"/>
          <p:cNvSpPr/>
          <p:nvPr/>
        </p:nvSpPr>
        <p:spPr>
          <a:xfrm>
            <a:off x="2552700" y="3657600"/>
            <a:ext cx="838646" cy="228600"/>
          </a:xfrm>
          <a:prstGeom prst="rect">
            <a:avLst/>
          </a:prstGeom>
          <a:solidFill>
            <a:srgbClr val="1B1A1A"/>
          </a:solidFill>
          <a:ln>
            <a:noFill/>
          </a:ln>
          <a:effectLst/>
        </p:spPr>
        <p:txBody>
          <a:bodyPr rtlCol="0" anchor="ctr"/>
          <a:lstStyle/>
          <a:p>
            <a:pPr algn="ctr"/>
            <a:endParaRPr/>
          </a:p>
        </p:txBody>
      </p:sp>
      <p:sp>
        <p:nvSpPr>
          <p:cNvPr id="24" name="Text: READ HERE">
            <a:hlinkClick r:id="rId4"/>
          </p:cNvPr>
          <p:cNvSpPr txBox="1"/>
          <p:nvPr/>
        </p:nvSpPr>
        <p:spPr>
          <a:xfrm>
            <a:off x="2686050" y="3714750"/>
            <a:ext cx="586234" cy="114300"/>
          </a:xfrm>
          <a:prstGeom prst="rect">
            <a:avLst/>
          </a:prstGeom>
          <a:noFill/>
        </p:spPr>
        <p:txBody>
          <a:bodyPr wrap="square" lIns="0" tIns="0" rIns="0" bIns="0" anchor="t">
            <a:spAutoFit/>
          </a:bodyPr>
          <a:lstStyle/>
          <a:p>
            <a:pPr algn="l">
              <a:lnSpc>
                <a:spcPts val="900"/>
              </a:lnSpc>
            </a:pPr>
            <a:r>
              <a:rPr sz="675" b="1" i="0" spc="150">
                <a:solidFill>
                  <a:srgbClr val="FFFFFF"/>
                </a:solidFill>
                <a:latin typeface="Calibri"/>
              </a:rPr>
              <a:t>READ HERE</a:t>
            </a:r>
          </a:p>
        </p:txBody>
      </p:sp>
      <p:sp>
        <p:nvSpPr>
          <p:cNvPr id="25" name="Rectangle 24"/>
          <p:cNvSpPr/>
          <p:nvPr/>
        </p:nvSpPr>
        <p:spPr>
          <a:xfrm>
            <a:off x="6096000" y="1238250"/>
            <a:ext cx="3543300" cy="2771775"/>
          </a:xfrm>
          <a:prstGeom prst="rect">
            <a:avLst/>
          </a:prstGeom>
          <a:solidFill>
            <a:srgbClr val="FAF7F3"/>
          </a:solidFill>
          <a:ln>
            <a:noFill/>
          </a:ln>
          <a:effectLst/>
        </p:spPr>
        <p:txBody>
          <a:bodyPr rtlCol="0" anchor="ctr"/>
          <a:lstStyle/>
          <a:p>
            <a:pPr algn="ctr"/>
            <a:endParaRPr/>
          </a:p>
        </p:txBody>
      </p:sp>
      <p:sp>
        <p:nvSpPr>
          <p:cNvPr id="26" name="Rectangle 25"/>
          <p:cNvSpPr/>
          <p:nvPr/>
        </p:nvSpPr>
        <p:spPr>
          <a:xfrm>
            <a:off x="6096000" y="1238250"/>
            <a:ext cx="3543300" cy="28575"/>
          </a:xfrm>
          <a:prstGeom prst="rect">
            <a:avLst/>
          </a:prstGeom>
          <a:solidFill>
            <a:srgbClr val="B68757"/>
          </a:solidFill>
          <a:ln>
            <a:noFill/>
          </a:ln>
          <a:effectLst/>
        </p:spPr>
        <p:txBody>
          <a:bodyPr rtlCol="0" anchor="ctr"/>
          <a:lstStyle/>
          <a:p>
            <a:pPr algn="ctr"/>
            <a:endParaRPr/>
          </a:p>
        </p:txBody>
      </p:sp>
      <p:sp>
        <p:nvSpPr>
          <p:cNvPr id="27" name="Text: IQVIA | LIFE SCIENCES &amp; DIAGNOSTIC"/>
          <p:cNvSpPr txBox="1"/>
          <p:nvPr/>
        </p:nvSpPr>
        <p:spPr>
          <a:xfrm>
            <a:off x="6248400" y="1400175"/>
            <a:ext cx="2045494" cy="123825"/>
          </a:xfrm>
          <a:prstGeom prst="rect">
            <a:avLst/>
          </a:prstGeom>
          <a:noFill/>
        </p:spPr>
        <p:txBody>
          <a:bodyPr wrap="square" lIns="0" tIns="0" rIns="0" bIns="0" anchor="t">
            <a:spAutoFit/>
          </a:bodyPr>
          <a:lstStyle/>
          <a:p>
            <a:pPr algn="l">
              <a:lnSpc>
                <a:spcPts val="975"/>
              </a:lnSpc>
            </a:pPr>
            <a:r>
              <a:rPr sz="638" b="1" i="0" spc="150">
                <a:solidFill>
                  <a:srgbClr val="8C6239"/>
                </a:solidFill>
                <a:latin typeface="Calibri"/>
              </a:rPr>
              <a:t>IQVIA | LIFE SCIENCES &amp; DIAGNOSTICS</a:t>
            </a:r>
          </a:p>
        </p:txBody>
      </p:sp>
      <p:sp>
        <p:nvSpPr>
          <p:cNvPr id="28" name="Text: July 8, 2026"/>
          <p:cNvSpPr txBox="1"/>
          <p:nvPr/>
        </p:nvSpPr>
        <p:spPr>
          <a:xfrm>
            <a:off x="9032974" y="1390650"/>
            <a:ext cx="572185" cy="123825"/>
          </a:xfrm>
          <a:prstGeom prst="rect">
            <a:avLst/>
          </a:prstGeom>
          <a:noFill/>
        </p:spPr>
        <p:txBody>
          <a:bodyPr wrap="square" lIns="0" tIns="0" rIns="0" bIns="0" anchor="t">
            <a:spAutoFit/>
          </a:bodyPr>
          <a:lstStyle/>
          <a:p>
            <a:pPr algn="l">
              <a:lnSpc>
                <a:spcPts val="975"/>
              </a:lnSpc>
            </a:pPr>
            <a:r>
              <a:rPr sz="712" b="0" i="0" spc="15">
                <a:solidFill>
                  <a:srgbClr val="6F6A66"/>
                </a:solidFill>
                <a:latin typeface="Calibri"/>
              </a:rPr>
              <a:t>July 8, 2026</a:t>
            </a:r>
          </a:p>
        </p:txBody>
      </p:sp>
      <p:sp>
        <p:nvSpPr>
          <p:cNvPr id="29" name="Text: Biopharma M&amp;A: Mid-year 2026 updat"/>
          <p:cNvSpPr txBox="1"/>
          <p:nvPr/>
        </p:nvSpPr>
        <p:spPr>
          <a:xfrm>
            <a:off x="6248400" y="1590675"/>
            <a:ext cx="3252788" cy="185738"/>
          </a:xfrm>
          <a:prstGeom prst="rect">
            <a:avLst/>
          </a:prstGeom>
          <a:noFill/>
        </p:spPr>
        <p:txBody>
          <a:bodyPr wrap="square" lIns="0" tIns="0" rIns="0" bIns="0" anchor="t">
            <a:spAutoFit/>
          </a:bodyPr>
          <a:lstStyle/>
          <a:p>
            <a:pPr algn="l">
              <a:lnSpc>
                <a:spcPts val="1462"/>
              </a:lnSpc>
            </a:pPr>
            <a:r>
              <a:rPr sz="1125" b="1" i="0">
                <a:solidFill>
                  <a:srgbClr val="1B1A1A"/>
                </a:solidFill>
                <a:latin typeface="Cambria"/>
              </a:rPr>
              <a:t>Biopharma M&amp;A: Mid-year 2026 update</a:t>
            </a:r>
          </a:p>
        </p:txBody>
      </p:sp>
      <p:sp>
        <p:nvSpPr>
          <p:cNvPr id="30" name="Rectangle 29"/>
          <p:cNvSpPr/>
          <p:nvPr/>
        </p:nvSpPr>
        <p:spPr>
          <a:xfrm>
            <a:off x="6248400" y="1871662"/>
            <a:ext cx="19050" cy="828675"/>
          </a:xfrm>
          <a:prstGeom prst="rect">
            <a:avLst/>
          </a:prstGeom>
          <a:solidFill>
            <a:srgbClr val="B68757"/>
          </a:solidFill>
          <a:ln>
            <a:noFill/>
          </a:ln>
          <a:effectLst/>
        </p:spPr>
        <p:txBody>
          <a:bodyPr rtlCol="0" anchor="ctr"/>
          <a:lstStyle/>
          <a:p>
            <a:pPr algn="ctr"/>
            <a:endParaRPr/>
          </a:p>
        </p:txBody>
      </p:sp>
      <p:sp>
        <p:nvSpPr>
          <p:cNvPr id="31" name="Text: “After the first six months of 202"/>
          <p:cNvSpPr txBox="1"/>
          <p:nvPr/>
        </p:nvSpPr>
        <p:spPr>
          <a:xfrm>
            <a:off x="6381750" y="1871662"/>
            <a:ext cx="3119438" cy="666750"/>
          </a:xfrm>
          <a:prstGeom prst="rect">
            <a:avLst/>
          </a:prstGeom>
          <a:noFill/>
        </p:spPr>
        <p:txBody>
          <a:bodyPr wrap="square" lIns="0" tIns="0" rIns="0" bIns="0" anchor="t">
            <a:spAutoFit/>
          </a:bodyPr>
          <a:lstStyle/>
          <a:p>
            <a:pPr algn="l">
              <a:lnSpc>
                <a:spcPts val="1312"/>
              </a:lnSpc>
            </a:pPr>
            <a:r>
              <a:rPr sz="938" b="0" i="1">
                <a:solidFill>
                  <a:srgbClr val="2A2928"/>
                </a:solidFill>
                <a:latin typeface="Cambria"/>
              </a:rPr>
              <a:t>“After the first six months of 2026, aggregate M&amp;A deal value has already reached $130Bn, almost matching the full-year total for 2025, with a year-to-date deal count of 42, or 84% of the 2025 total.”</a:t>
            </a:r>
          </a:p>
        </p:txBody>
      </p:sp>
      <p:sp>
        <p:nvSpPr>
          <p:cNvPr id="32" name="Text: IQVIA Global Thought Leadership"/>
          <p:cNvSpPr txBox="1"/>
          <p:nvPr/>
        </p:nvSpPr>
        <p:spPr>
          <a:xfrm>
            <a:off x="6381750" y="2566988"/>
            <a:ext cx="3119438" cy="133350"/>
          </a:xfrm>
          <a:prstGeom prst="rect">
            <a:avLst/>
          </a:prstGeom>
          <a:noFill/>
        </p:spPr>
        <p:txBody>
          <a:bodyPr wrap="square" lIns="0" tIns="0" rIns="0" bIns="0" anchor="t">
            <a:spAutoFit/>
          </a:bodyPr>
          <a:lstStyle/>
          <a:p>
            <a:pPr algn="l">
              <a:lnSpc>
                <a:spcPts val="1050"/>
              </a:lnSpc>
            </a:pPr>
            <a:r>
              <a:rPr sz="712" b="0" i="0" spc="15">
                <a:solidFill>
                  <a:srgbClr val="6F6A66"/>
                </a:solidFill>
                <a:latin typeface="Calibri"/>
              </a:rPr>
              <a:t>IQVIA Global Thought Leadership</a:t>
            </a:r>
          </a:p>
        </p:txBody>
      </p:sp>
      <p:sp>
        <p:nvSpPr>
          <p:cNvPr id="33" name="Text: Key takeaway."/>
          <p:cNvSpPr txBox="1"/>
          <p:nvPr/>
        </p:nvSpPr>
        <p:spPr>
          <a:xfrm>
            <a:off x="6248400" y="2990850"/>
            <a:ext cx="3252788" cy="590550"/>
          </a:xfrm>
          <a:prstGeom prst="rect">
            <a:avLst/>
          </a:prstGeom>
          <a:noFill/>
        </p:spPr>
        <p:txBody>
          <a:bodyPr wrap="square" lIns="0" tIns="0" rIns="0" bIns="0" anchor="t">
            <a:spAutoFit/>
          </a:bodyPr>
          <a:lstStyle/>
          <a:p>
            <a:pPr algn="l">
              <a:lnSpc>
                <a:spcPts val="1162"/>
              </a:lnSpc>
            </a:pPr>
            <a:r>
              <a:rPr sz="788" b="1" i="0" spc="15">
                <a:solidFill>
                  <a:srgbClr val="1B1A1A"/>
                </a:solidFill>
                <a:latin typeface="Calibri"/>
              </a:rPr>
              <a:t>Our read.</a:t>
            </a:r>
            <a:r>
              <a:rPr sz="788" b="0" i="0" spc="15">
                <a:solidFill>
                  <a:srgbClr val="333231"/>
                </a:solidFill>
                <a:latin typeface="Calibri"/>
              </a:rPr>
              <a:t> The count covers acquisitions of $250 million or more, so it describes the largest buyers. Their spending supports demand for the research, laboratory, and manufacturing services that founder-owned companies supply.</a:t>
            </a:r>
          </a:p>
        </p:txBody>
      </p:sp>
      <p:sp>
        <p:nvSpPr>
          <p:cNvPr id="34" name="Rectangle 33"/>
          <p:cNvSpPr/>
          <p:nvPr/>
        </p:nvSpPr>
        <p:spPr>
          <a:xfrm>
            <a:off x="6248400" y="3657600"/>
            <a:ext cx="838646" cy="228600"/>
          </a:xfrm>
          <a:prstGeom prst="rect">
            <a:avLst/>
          </a:prstGeom>
          <a:solidFill>
            <a:srgbClr val="1B1A1A"/>
          </a:solidFill>
          <a:ln>
            <a:noFill/>
          </a:ln>
          <a:effectLst/>
        </p:spPr>
        <p:txBody>
          <a:bodyPr rtlCol="0" anchor="ctr"/>
          <a:lstStyle/>
          <a:p>
            <a:pPr algn="ctr"/>
            <a:endParaRPr/>
          </a:p>
        </p:txBody>
      </p:sp>
      <p:sp>
        <p:nvSpPr>
          <p:cNvPr id="35" name="Text: READ HERE">
            <a:hlinkClick r:id="rId5"/>
          </p:cNvPr>
          <p:cNvSpPr txBox="1"/>
          <p:nvPr/>
        </p:nvSpPr>
        <p:spPr>
          <a:xfrm>
            <a:off x="6381750" y="3714750"/>
            <a:ext cx="586234" cy="114300"/>
          </a:xfrm>
          <a:prstGeom prst="rect">
            <a:avLst/>
          </a:prstGeom>
          <a:noFill/>
        </p:spPr>
        <p:txBody>
          <a:bodyPr wrap="square" lIns="0" tIns="0" rIns="0" bIns="0" anchor="t">
            <a:spAutoFit/>
          </a:bodyPr>
          <a:lstStyle/>
          <a:p>
            <a:pPr algn="l">
              <a:lnSpc>
                <a:spcPts val="900"/>
              </a:lnSpc>
            </a:pPr>
            <a:r>
              <a:rPr sz="675" b="1" i="0" spc="150">
                <a:solidFill>
                  <a:srgbClr val="FFFFFF"/>
                </a:solidFill>
                <a:latin typeface="Calibri"/>
              </a:rPr>
              <a:t>READ HERE</a:t>
            </a:r>
          </a:p>
        </p:txBody>
      </p:sp>
      <p:sp>
        <p:nvSpPr>
          <p:cNvPr id="36" name="Rectangle 35"/>
          <p:cNvSpPr/>
          <p:nvPr/>
        </p:nvSpPr>
        <p:spPr>
          <a:xfrm>
            <a:off x="2400300" y="4162425"/>
            <a:ext cx="3543300" cy="2771775"/>
          </a:xfrm>
          <a:prstGeom prst="rect">
            <a:avLst/>
          </a:prstGeom>
          <a:solidFill>
            <a:srgbClr val="FAF7F3"/>
          </a:solidFill>
          <a:ln>
            <a:noFill/>
          </a:ln>
          <a:effectLst/>
        </p:spPr>
        <p:txBody>
          <a:bodyPr rtlCol="0" anchor="ctr"/>
          <a:lstStyle/>
          <a:p>
            <a:pPr algn="ctr"/>
            <a:endParaRPr/>
          </a:p>
        </p:txBody>
      </p:sp>
      <p:sp>
        <p:nvSpPr>
          <p:cNvPr id="37" name="Rectangle 36"/>
          <p:cNvSpPr/>
          <p:nvPr/>
        </p:nvSpPr>
        <p:spPr>
          <a:xfrm>
            <a:off x="2400300" y="4162425"/>
            <a:ext cx="3543300" cy="28575"/>
          </a:xfrm>
          <a:prstGeom prst="rect">
            <a:avLst/>
          </a:prstGeom>
          <a:solidFill>
            <a:srgbClr val="B68757"/>
          </a:solidFill>
          <a:ln>
            <a:noFill/>
          </a:ln>
          <a:effectLst/>
        </p:spPr>
        <p:txBody>
          <a:bodyPr rtlCol="0" anchor="ctr"/>
          <a:lstStyle/>
          <a:p>
            <a:pPr algn="ctr"/>
            <a:endParaRPr/>
          </a:p>
        </p:txBody>
      </p:sp>
      <p:sp>
        <p:nvSpPr>
          <p:cNvPr id="38" name="Text: MEDTECH DIVE | MEDICAL PRODUCTS &amp; "/>
          <p:cNvSpPr txBox="1"/>
          <p:nvPr/>
        </p:nvSpPr>
        <p:spPr>
          <a:xfrm>
            <a:off x="2552700" y="4324350"/>
            <a:ext cx="2703612" cy="247650"/>
          </a:xfrm>
          <a:prstGeom prst="rect">
            <a:avLst/>
          </a:prstGeom>
          <a:noFill/>
        </p:spPr>
        <p:txBody>
          <a:bodyPr wrap="square" lIns="0" tIns="0" rIns="0" bIns="0" anchor="t">
            <a:spAutoFit/>
          </a:bodyPr>
          <a:lstStyle/>
          <a:p>
            <a:pPr algn="l">
              <a:lnSpc>
                <a:spcPts val="975"/>
              </a:lnSpc>
            </a:pPr>
            <a:r>
              <a:rPr sz="638" b="1" i="0" spc="150">
                <a:solidFill>
                  <a:srgbClr val="8C6239"/>
                </a:solidFill>
                <a:latin typeface="Calibri"/>
              </a:rPr>
              <a:t>MEDTECH DIVE | MEDICAL PRODUCTS &amp; DISTRIBUTION</a:t>
            </a:r>
          </a:p>
        </p:txBody>
      </p:sp>
      <p:sp>
        <p:nvSpPr>
          <p:cNvPr id="39" name="Text: July 6, 2026"/>
          <p:cNvSpPr txBox="1"/>
          <p:nvPr/>
        </p:nvSpPr>
        <p:spPr>
          <a:xfrm>
            <a:off x="5337274" y="4314825"/>
            <a:ext cx="572185" cy="123825"/>
          </a:xfrm>
          <a:prstGeom prst="rect">
            <a:avLst/>
          </a:prstGeom>
          <a:noFill/>
        </p:spPr>
        <p:txBody>
          <a:bodyPr wrap="square" lIns="0" tIns="0" rIns="0" bIns="0" anchor="t">
            <a:spAutoFit/>
          </a:bodyPr>
          <a:lstStyle/>
          <a:p>
            <a:pPr algn="l">
              <a:lnSpc>
                <a:spcPts val="975"/>
              </a:lnSpc>
            </a:pPr>
            <a:r>
              <a:rPr sz="712" b="0" i="0" spc="15">
                <a:solidFill>
                  <a:srgbClr val="6F6A66"/>
                </a:solidFill>
                <a:latin typeface="Calibri"/>
              </a:rPr>
              <a:t>July 6, 2026</a:t>
            </a:r>
          </a:p>
        </p:txBody>
      </p:sp>
      <p:sp>
        <p:nvSpPr>
          <p:cNvPr id="40" name="Text: Top 10 medtech deals in the first "/>
          <p:cNvSpPr txBox="1"/>
          <p:nvPr/>
        </p:nvSpPr>
        <p:spPr>
          <a:xfrm>
            <a:off x="2552700" y="4638675"/>
            <a:ext cx="3252788" cy="185738"/>
          </a:xfrm>
          <a:prstGeom prst="rect">
            <a:avLst/>
          </a:prstGeom>
          <a:noFill/>
        </p:spPr>
        <p:txBody>
          <a:bodyPr wrap="square" lIns="0" tIns="0" rIns="0" bIns="0" anchor="t">
            <a:spAutoFit/>
          </a:bodyPr>
          <a:lstStyle/>
          <a:p>
            <a:pPr algn="l">
              <a:lnSpc>
                <a:spcPts val="1462"/>
              </a:lnSpc>
            </a:pPr>
            <a:r>
              <a:rPr sz="1125" b="1" i="0">
                <a:solidFill>
                  <a:srgbClr val="1B1A1A"/>
                </a:solidFill>
                <a:latin typeface="Cambria"/>
              </a:rPr>
              <a:t>Top 10 medtech deals in the first half of 2026</a:t>
            </a:r>
          </a:p>
        </p:txBody>
      </p:sp>
      <p:sp>
        <p:nvSpPr>
          <p:cNvPr id="41" name="Rectangle 40"/>
          <p:cNvSpPr/>
          <p:nvPr/>
        </p:nvSpPr>
        <p:spPr>
          <a:xfrm>
            <a:off x="2552700" y="4919662"/>
            <a:ext cx="19050" cy="661988"/>
          </a:xfrm>
          <a:prstGeom prst="rect">
            <a:avLst/>
          </a:prstGeom>
          <a:solidFill>
            <a:srgbClr val="B68757"/>
          </a:solidFill>
          <a:ln>
            <a:noFill/>
          </a:ln>
          <a:effectLst/>
        </p:spPr>
        <p:txBody>
          <a:bodyPr rtlCol="0" anchor="ctr"/>
          <a:lstStyle/>
          <a:p>
            <a:pPr algn="ctr"/>
            <a:endParaRPr/>
          </a:p>
        </p:txBody>
      </p:sp>
      <p:sp>
        <p:nvSpPr>
          <p:cNvPr id="42" name="Text: “Medtech dealmakers remained busy "/>
          <p:cNvSpPr txBox="1"/>
          <p:nvPr/>
        </p:nvSpPr>
        <p:spPr>
          <a:xfrm>
            <a:off x="2686050" y="4919662"/>
            <a:ext cx="3119438" cy="500062"/>
          </a:xfrm>
          <a:prstGeom prst="rect">
            <a:avLst/>
          </a:prstGeom>
          <a:noFill/>
        </p:spPr>
        <p:txBody>
          <a:bodyPr wrap="square" lIns="0" tIns="0" rIns="0" bIns="0" anchor="t">
            <a:spAutoFit/>
          </a:bodyPr>
          <a:lstStyle/>
          <a:p>
            <a:pPr algn="l">
              <a:lnSpc>
                <a:spcPts val="1312"/>
              </a:lnSpc>
            </a:pPr>
            <a:r>
              <a:rPr sz="938" b="0" i="1">
                <a:solidFill>
                  <a:srgbClr val="2A2928"/>
                </a:solidFill>
                <a:latin typeface="Cambria"/>
              </a:rPr>
              <a:t>“Medtech dealmakers remained busy over the first half of 2026, building on the decade-high M&amp;A activity achieved last year with a string of deals worth upward of $1 billion.”</a:t>
            </a:r>
          </a:p>
        </p:txBody>
      </p:sp>
      <p:sp>
        <p:nvSpPr>
          <p:cNvPr id="43" name="Text: MedTech Dive"/>
          <p:cNvSpPr txBox="1"/>
          <p:nvPr/>
        </p:nvSpPr>
        <p:spPr>
          <a:xfrm>
            <a:off x="2686050" y="5448300"/>
            <a:ext cx="3119438" cy="133350"/>
          </a:xfrm>
          <a:prstGeom prst="rect">
            <a:avLst/>
          </a:prstGeom>
          <a:noFill/>
        </p:spPr>
        <p:txBody>
          <a:bodyPr wrap="square" lIns="0" tIns="0" rIns="0" bIns="0" anchor="t">
            <a:spAutoFit/>
          </a:bodyPr>
          <a:lstStyle/>
          <a:p>
            <a:pPr algn="l">
              <a:lnSpc>
                <a:spcPts val="1050"/>
              </a:lnSpc>
            </a:pPr>
            <a:r>
              <a:rPr sz="712" b="0" i="0" spc="15">
                <a:solidFill>
                  <a:srgbClr val="6F6A66"/>
                </a:solidFill>
                <a:latin typeface="Calibri"/>
              </a:rPr>
              <a:t>MedTech Dive</a:t>
            </a:r>
          </a:p>
        </p:txBody>
      </p:sp>
      <p:sp>
        <p:nvSpPr>
          <p:cNvPr id="44" name="Text: Key takeaway."/>
          <p:cNvSpPr txBox="1"/>
          <p:nvPr/>
        </p:nvSpPr>
        <p:spPr>
          <a:xfrm>
            <a:off x="2552700" y="6062662"/>
            <a:ext cx="3252788" cy="442912"/>
          </a:xfrm>
          <a:prstGeom prst="rect">
            <a:avLst/>
          </a:prstGeom>
          <a:noFill/>
        </p:spPr>
        <p:txBody>
          <a:bodyPr wrap="square" lIns="0" tIns="0" rIns="0" bIns="0" anchor="t">
            <a:spAutoFit/>
          </a:bodyPr>
          <a:lstStyle/>
          <a:p>
            <a:pPr algn="l">
              <a:lnSpc>
                <a:spcPts val="1162"/>
              </a:lnSpc>
            </a:pPr>
            <a:r>
              <a:rPr sz="788" b="1" i="0" spc="15">
                <a:solidFill>
                  <a:srgbClr val="1B1A1A"/>
                </a:solidFill>
                <a:latin typeface="Calibri"/>
              </a:rPr>
              <a:t>Our read.</a:t>
            </a:r>
            <a:r>
              <a:rPr sz="788" b="0" i="0" spc="15">
                <a:solidFill>
                  <a:srgbClr val="333231"/>
                </a:solidFill>
                <a:latin typeface="Calibri"/>
              </a:rPr>
              <a:t> PwC counted $36.5 billion of medtech acquisitions in the first half. The largest were Boston Scientific’s $14.5 billion purchase of Penumbra and Danaher’s $9.9 billion purchase of Masimo.</a:t>
            </a:r>
          </a:p>
        </p:txBody>
      </p:sp>
      <p:sp>
        <p:nvSpPr>
          <p:cNvPr id="45" name="Rectangle 44"/>
          <p:cNvSpPr/>
          <p:nvPr/>
        </p:nvSpPr>
        <p:spPr>
          <a:xfrm>
            <a:off x="2552700" y="6581775"/>
            <a:ext cx="838646" cy="228600"/>
          </a:xfrm>
          <a:prstGeom prst="rect">
            <a:avLst/>
          </a:prstGeom>
          <a:solidFill>
            <a:srgbClr val="1B1A1A"/>
          </a:solidFill>
          <a:ln>
            <a:noFill/>
          </a:ln>
          <a:effectLst/>
        </p:spPr>
        <p:txBody>
          <a:bodyPr rtlCol="0" anchor="ctr"/>
          <a:lstStyle/>
          <a:p>
            <a:pPr algn="ctr"/>
            <a:endParaRPr/>
          </a:p>
        </p:txBody>
      </p:sp>
      <p:sp>
        <p:nvSpPr>
          <p:cNvPr id="46" name="Text: READ HERE">
            <a:hlinkClick r:id="rId6"/>
          </p:cNvPr>
          <p:cNvSpPr txBox="1"/>
          <p:nvPr/>
        </p:nvSpPr>
        <p:spPr>
          <a:xfrm>
            <a:off x="2686050" y="6638925"/>
            <a:ext cx="586234" cy="114300"/>
          </a:xfrm>
          <a:prstGeom prst="rect">
            <a:avLst/>
          </a:prstGeom>
          <a:noFill/>
        </p:spPr>
        <p:txBody>
          <a:bodyPr wrap="square" lIns="0" tIns="0" rIns="0" bIns="0" anchor="t">
            <a:spAutoFit/>
          </a:bodyPr>
          <a:lstStyle/>
          <a:p>
            <a:pPr algn="l">
              <a:lnSpc>
                <a:spcPts val="900"/>
              </a:lnSpc>
            </a:pPr>
            <a:r>
              <a:rPr sz="675" b="1" i="0" spc="150">
                <a:solidFill>
                  <a:srgbClr val="FFFFFF"/>
                </a:solidFill>
                <a:latin typeface="Calibri"/>
              </a:rPr>
              <a:t>READ HERE</a:t>
            </a:r>
          </a:p>
        </p:txBody>
      </p:sp>
      <p:sp>
        <p:nvSpPr>
          <p:cNvPr id="47" name="Rectangle 46"/>
          <p:cNvSpPr/>
          <p:nvPr/>
        </p:nvSpPr>
        <p:spPr>
          <a:xfrm>
            <a:off x="6096000" y="4162425"/>
            <a:ext cx="3543300" cy="2771775"/>
          </a:xfrm>
          <a:prstGeom prst="rect">
            <a:avLst/>
          </a:prstGeom>
          <a:solidFill>
            <a:srgbClr val="FAF7F3"/>
          </a:solidFill>
          <a:ln>
            <a:noFill/>
          </a:ln>
          <a:effectLst/>
        </p:spPr>
        <p:txBody>
          <a:bodyPr rtlCol="0" anchor="ctr"/>
          <a:lstStyle/>
          <a:p>
            <a:pPr algn="ctr"/>
            <a:endParaRPr/>
          </a:p>
        </p:txBody>
      </p:sp>
      <p:sp>
        <p:nvSpPr>
          <p:cNvPr id="48" name="Rectangle 47"/>
          <p:cNvSpPr/>
          <p:nvPr/>
        </p:nvSpPr>
        <p:spPr>
          <a:xfrm>
            <a:off x="6096000" y="4162425"/>
            <a:ext cx="3543300" cy="28575"/>
          </a:xfrm>
          <a:prstGeom prst="rect">
            <a:avLst/>
          </a:prstGeom>
          <a:solidFill>
            <a:srgbClr val="B68757"/>
          </a:solidFill>
          <a:ln>
            <a:noFill/>
          </a:ln>
          <a:effectLst/>
        </p:spPr>
        <p:txBody>
          <a:bodyPr rtlCol="0" anchor="ctr"/>
          <a:lstStyle/>
          <a:p>
            <a:pPr algn="ctr"/>
            <a:endParaRPr/>
          </a:p>
        </p:txBody>
      </p:sp>
      <p:sp>
        <p:nvSpPr>
          <p:cNvPr id="49" name="Text: DRUG CHANNELS | PHARMACY &amp; HEALTHC"/>
          <p:cNvSpPr txBox="1"/>
          <p:nvPr/>
        </p:nvSpPr>
        <p:spPr>
          <a:xfrm>
            <a:off x="6248400" y="4324350"/>
            <a:ext cx="2535436" cy="247650"/>
          </a:xfrm>
          <a:prstGeom prst="rect">
            <a:avLst/>
          </a:prstGeom>
          <a:noFill/>
        </p:spPr>
        <p:txBody>
          <a:bodyPr wrap="square" lIns="0" tIns="0" rIns="0" bIns="0" anchor="t">
            <a:spAutoFit/>
          </a:bodyPr>
          <a:lstStyle/>
          <a:p>
            <a:pPr algn="l">
              <a:lnSpc>
                <a:spcPts val="975"/>
              </a:lnSpc>
            </a:pPr>
            <a:r>
              <a:rPr sz="638" b="1" i="0" spc="150">
                <a:solidFill>
                  <a:srgbClr val="8C6239"/>
                </a:solidFill>
                <a:latin typeface="Calibri"/>
              </a:rPr>
              <a:t>DRUG CHANNELS | PHARMACY &amp; HEALTHCARE SERVICES</a:t>
            </a:r>
          </a:p>
        </p:txBody>
      </p:sp>
      <p:sp>
        <p:nvSpPr>
          <p:cNvPr id="50" name="Text: August 11, 2026"/>
          <p:cNvSpPr txBox="1"/>
          <p:nvPr/>
        </p:nvSpPr>
        <p:spPr>
          <a:xfrm>
            <a:off x="8864798" y="4314825"/>
            <a:ext cx="757178" cy="123825"/>
          </a:xfrm>
          <a:prstGeom prst="rect">
            <a:avLst/>
          </a:prstGeom>
          <a:noFill/>
        </p:spPr>
        <p:txBody>
          <a:bodyPr wrap="square" lIns="0" tIns="0" rIns="0" bIns="0" anchor="t">
            <a:spAutoFit/>
          </a:bodyPr>
          <a:lstStyle/>
          <a:p>
            <a:pPr algn="l">
              <a:lnSpc>
                <a:spcPts val="975"/>
              </a:lnSpc>
            </a:pPr>
            <a:r>
              <a:rPr sz="712" b="0" i="0" spc="15">
                <a:solidFill>
                  <a:srgbClr val="6F6A66"/>
                </a:solidFill>
                <a:latin typeface="Calibri"/>
              </a:rPr>
              <a:t>August 11, 2026</a:t>
            </a:r>
          </a:p>
        </p:txBody>
      </p:sp>
      <p:sp>
        <p:nvSpPr>
          <p:cNvPr id="51" name="Text: The K-Shaped Pharmacy Shakeout: Co"/>
          <p:cNvSpPr txBox="1"/>
          <p:nvPr/>
        </p:nvSpPr>
        <p:spPr>
          <a:xfrm>
            <a:off x="6248400" y="4638675"/>
            <a:ext cx="3252788" cy="371475"/>
          </a:xfrm>
          <a:prstGeom prst="rect">
            <a:avLst/>
          </a:prstGeom>
          <a:noFill/>
        </p:spPr>
        <p:txBody>
          <a:bodyPr wrap="square" lIns="0" tIns="0" rIns="0" bIns="0" anchor="t">
            <a:spAutoFit/>
          </a:bodyPr>
          <a:lstStyle/>
          <a:p>
            <a:pPr algn="l">
              <a:lnSpc>
                <a:spcPts val="1462"/>
              </a:lnSpc>
            </a:pPr>
            <a:r>
              <a:rPr sz="1125" b="1" i="0">
                <a:solidFill>
                  <a:srgbClr val="1B1A1A"/>
                </a:solidFill>
                <a:latin typeface="Cambria"/>
              </a:rPr>
              <a:t>The K-Shaped Pharmacy Shakeout: Consolidation in Cities, Lost Access in Rural America</a:t>
            </a:r>
          </a:p>
        </p:txBody>
      </p:sp>
      <p:sp>
        <p:nvSpPr>
          <p:cNvPr id="52" name="Rectangle 51"/>
          <p:cNvSpPr/>
          <p:nvPr/>
        </p:nvSpPr>
        <p:spPr>
          <a:xfrm>
            <a:off x="6248400" y="5105400"/>
            <a:ext cx="19050" cy="495300"/>
          </a:xfrm>
          <a:prstGeom prst="rect">
            <a:avLst/>
          </a:prstGeom>
          <a:solidFill>
            <a:srgbClr val="B68757"/>
          </a:solidFill>
          <a:ln>
            <a:noFill/>
          </a:ln>
          <a:effectLst/>
        </p:spPr>
        <p:txBody>
          <a:bodyPr rtlCol="0" anchor="ctr"/>
          <a:lstStyle/>
          <a:p>
            <a:pPr algn="ctr"/>
            <a:endParaRPr/>
          </a:p>
        </p:txBody>
      </p:sp>
      <p:sp>
        <p:nvSpPr>
          <p:cNvPr id="53" name="Text: “The United States has almost 8,00"/>
          <p:cNvSpPr txBox="1"/>
          <p:nvPr/>
        </p:nvSpPr>
        <p:spPr>
          <a:xfrm>
            <a:off x="6381750" y="5105400"/>
            <a:ext cx="3119438" cy="333375"/>
          </a:xfrm>
          <a:prstGeom prst="rect">
            <a:avLst/>
          </a:prstGeom>
          <a:noFill/>
        </p:spPr>
        <p:txBody>
          <a:bodyPr wrap="square" lIns="0" tIns="0" rIns="0" bIns="0" anchor="t">
            <a:spAutoFit/>
          </a:bodyPr>
          <a:lstStyle/>
          <a:p>
            <a:pPr algn="l">
              <a:lnSpc>
                <a:spcPts val="1312"/>
              </a:lnSpc>
            </a:pPr>
            <a:r>
              <a:rPr sz="938" b="0" i="1">
                <a:solidFill>
                  <a:srgbClr val="2A2928"/>
                </a:solidFill>
                <a:latin typeface="Cambria"/>
              </a:rPr>
              <a:t>“The United States has almost 8,000 fewer retail pharmacies than it did in 2018, and more than 2,000 closed in 2025 alone.”</a:t>
            </a:r>
          </a:p>
        </p:txBody>
      </p:sp>
      <p:sp>
        <p:nvSpPr>
          <p:cNvPr id="54" name="Text: Bryce Platt, PharmD, Drug Channels"/>
          <p:cNvSpPr txBox="1"/>
          <p:nvPr/>
        </p:nvSpPr>
        <p:spPr>
          <a:xfrm>
            <a:off x="6381750" y="5467350"/>
            <a:ext cx="3119438" cy="133350"/>
          </a:xfrm>
          <a:prstGeom prst="rect">
            <a:avLst/>
          </a:prstGeom>
          <a:noFill/>
        </p:spPr>
        <p:txBody>
          <a:bodyPr wrap="square" lIns="0" tIns="0" rIns="0" bIns="0" anchor="t">
            <a:spAutoFit/>
          </a:bodyPr>
          <a:lstStyle/>
          <a:p>
            <a:pPr algn="l">
              <a:lnSpc>
                <a:spcPts val="1050"/>
              </a:lnSpc>
            </a:pPr>
            <a:r>
              <a:rPr sz="712" b="0" i="0" spc="15">
                <a:solidFill>
                  <a:srgbClr val="6F6A66"/>
                </a:solidFill>
                <a:latin typeface="Calibri"/>
              </a:rPr>
              <a:t>Bryce Platt, PharmD, Drug Channels</a:t>
            </a:r>
          </a:p>
        </p:txBody>
      </p:sp>
      <p:sp>
        <p:nvSpPr>
          <p:cNvPr id="55" name="Text: Key takeaway."/>
          <p:cNvSpPr txBox="1"/>
          <p:nvPr/>
        </p:nvSpPr>
        <p:spPr>
          <a:xfrm>
            <a:off x="6248400" y="5915025"/>
            <a:ext cx="3252788" cy="590550"/>
          </a:xfrm>
          <a:prstGeom prst="rect">
            <a:avLst/>
          </a:prstGeom>
          <a:noFill/>
        </p:spPr>
        <p:txBody>
          <a:bodyPr wrap="square" lIns="0" tIns="0" rIns="0" bIns="0" anchor="t">
            <a:spAutoFit/>
          </a:bodyPr>
          <a:lstStyle/>
          <a:p>
            <a:pPr algn="l">
              <a:lnSpc>
                <a:spcPts val="1162"/>
              </a:lnSpc>
            </a:pPr>
            <a:r>
              <a:rPr sz="788" b="1" i="0" spc="15">
                <a:solidFill>
                  <a:srgbClr val="1B1A1A"/>
                </a:solidFill>
                <a:latin typeface="Calibri"/>
              </a:rPr>
              <a:t>Our read.</a:t>
            </a:r>
            <a:r>
              <a:rPr sz="788" b="0" i="0" spc="15">
                <a:solidFill>
                  <a:srgbClr val="333231"/>
                </a:solidFill>
                <a:latin typeface="Calibri"/>
              </a:rPr>
              <a:t> Prescription dispensing revenues reached a record $751 billion in 2025, up 10%, while the number of pharmacies fell. Scale, specialty mix, and payer contracts decide which pharmacies remain attractive to a buyer.</a:t>
            </a:r>
          </a:p>
        </p:txBody>
      </p:sp>
      <p:sp>
        <p:nvSpPr>
          <p:cNvPr id="56" name="Rectangle 55"/>
          <p:cNvSpPr/>
          <p:nvPr/>
        </p:nvSpPr>
        <p:spPr>
          <a:xfrm>
            <a:off x="6248400" y="6581775"/>
            <a:ext cx="838646" cy="228600"/>
          </a:xfrm>
          <a:prstGeom prst="rect">
            <a:avLst/>
          </a:prstGeom>
          <a:solidFill>
            <a:srgbClr val="1B1A1A"/>
          </a:solidFill>
          <a:ln>
            <a:noFill/>
          </a:ln>
          <a:effectLst/>
        </p:spPr>
        <p:txBody>
          <a:bodyPr rtlCol="0" anchor="ctr"/>
          <a:lstStyle/>
          <a:p>
            <a:pPr algn="ctr"/>
            <a:endParaRPr/>
          </a:p>
        </p:txBody>
      </p:sp>
      <p:sp>
        <p:nvSpPr>
          <p:cNvPr id="57" name="Text: READ HERE">
            <a:hlinkClick r:id="rId7"/>
          </p:cNvPr>
          <p:cNvSpPr txBox="1"/>
          <p:nvPr/>
        </p:nvSpPr>
        <p:spPr>
          <a:xfrm>
            <a:off x="6381750" y="6638925"/>
            <a:ext cx="586234" cy="114300"/>
          </a:xfrm>
          <a:prstGeom prst="rect">
            <a:avLst/>
          </a:prstGeom>
          <a:noFill/>
        </p:spPr>
        <p:txBody>
          <a:bodyPr wrap="square" lIns="0" tIns="0" rIns="0" bIns="0" anchor="t">
            <a:spAutoFit/>
          </a:bodyPr>
          <a:lstStyle/>
          <a:p>
            <a:pPr algn="l">
              <a:lnSpc>
                <a:spcPts val="900"/>
              </a:lnSpc>
            </a:pPr>
            <a:r>
              <a:rPr sz="675" b="1" i="0" spc="150">
                <a:solidFill>
                  <a:srgbClr val="FFFFFF"/>
                </a:solidFill>
                <a:latin typeface="Calibri"/>
              </a:rPr>
              <a:t>READ HERE</a:t>
            </a:r>
          </a:p>
        </p:txBody>
      </p:sp>
      <p:sp>
        <p:nvSpPr>
          <p:cNvPr id="58" name="Rectangle 57"/>
          <p:cNvSpPr/>
          <p:nvPr/>
        </p:nvSpPr>
        <p:spPr>
          <a:xfrm>
            <a:off x="419100" y="7029450"/>
            <a:ext cx="9220200" cy="9525"/>
          </a:xfrm>
          <a:prstGeom prst="rect">
            <a:avLst/>
          </a:prstGeom>
          <a:solidFill>
            <a:srgbClr val="E3DCD3"/>
          </a:solidFill>
          <a:ln>
            <a:noFill/>
          </a:ln>
          <a:effectLst/>
        </p:spPr>
        <p:txBody>
          <a:bodyPr rtlCol="0" anchor="ctr"/>
          <a:lstStyle/>
          <a:p>
            <a:pPr algn="ctr"/>
            <a:endParaRPr/>
          </a:p>
        </p:txBody>
      </p:sp>
      <p:pic>
        <p:nvPicPr>
          <p:cNvPr id="59" name="Picture 58" descr="Benchmark International"/>
          <p:cNvPicPr>
            <a:picLocks noChangeAspect="1"/>
          </p:cNvPicPr>
          <p:nvPr/>
        </p:nvPicPr>
        <p:blipFill>
          <a:blip r:embed="rId8"/>
          <a:srcRect/>
          <a:stretch>
            <a:fillRect/>
          </a:stretch>
        </p:blipFill>
        <p:spPr>
          <a:xfrm>
            <a:off x="419100" y="7143750"/>
            <a:ext cx="914400" cy="171450"/>
          </a:xfrm>
          <a:prstGeom prst="rect">
            <a:avLst/>
          </a:prstGeom>
        </p:spPr>
      </p:pic>
      <p:sp>
        <p:nvSpPr>
          <p:cNvPr id="60" name="Text: Quotations are reproduced as publi"/>
          <p:cNvSpPr txBox="1"/>
          <p:nvPr/>
        </p:nvSpPr>
        <p:spPr>
          <a:xfrm>
            <a:off x="1543050" y="7105650"/>
            <a:ext cx="7748588" cy="238125"/>
          </a:xfrm>
          <a:prstGeom prst="rect">
            <a:avLst/>
          </a:prstGeom>
          <a:noFill/>
        </p:spPr>
        <p:txBody>
          <a:bodyPr wrap="square" lIns="0" tIns="0" rIns="0" bIns="0" anchor="t">
            <a:spAutoFit/>
          </a:bodyPr>
          <a:lstStyle/>
          <a:p>
            <a:pPr algn="l">
              <a:lnSpc>
                <a:spcPts val="938"/>
              </a:lnSpc>
            </a:pPr>
            <a:r>
              <a:rPr sz="675" b="0" i="0" spc="8">
                <a:solidFill>
                  <a:srgbClr val="6F6A66"/>
                </a:solidFill>
                <a:latin typeface="Calibri"/>
              </a:rPr>
              <a:t>Quotations are reproduced as published. The Fierce Healthcare quotation joins two consecutive sentences spoken by the analyst. The IQVIA and MedTech Dive passages are the publications' own text.</a:t>
            </a:r>
          </a:p>
        </p:txBody>
      </p:sp>
      <p:sp>
        <p:nvSpPr>
          <p:cNvPr id="61" name="Text: 08"/>
          <p:cNvSpPr txBox="1"/>
          <p:nvPr/>
        </p:nvSpPr>
        <p:spPr>
          <a:xfrm>
            <a:off x="9509373" y="7162800"/>
            <a:ext cx="144214" cy="133350"/>
          </a:xfrm>
          <a:prstGeom prst="rect">
            <a:avLst/>
          </a:prstGeom>
          <a:noFill/>
        </p:spPr>
        <p:txBody>
          <a:bodyPr wrap="square" lIns="0" tIns="0" rIns="0" bIns="0" anchor="t">
            <a:spAutoFit/>
          </a:bodyPr>
          <a:lstStyle/>
          <a:p>
            <a:pPr algn="l">
              <a:lnSpc>
                <a:spcPts val="1050"/>
              </a:lnSpc>
            </a:pPr>
            <a:r>
              <a:rPr sz="712" b="1" i="0" spc="150">
                <a:solidFill>
                  <a:srgbClr val="1B1A1A"/>
                </a:solidFill>
                <a:latin typeface="Calibri"/>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B1A1A"/>
        </a:solidFill>
        <a:effectLst/>
      </p:bgPr>
    </p:bg>
    <p:spTree>
      <p:nvGrpSpPr>
        <p:cNvPr id="1" name=""/>
        <p:cNvGrpSpPr/>
        <p:nvPr/>
      </p:nvGrpSpPr>
      <p:grpSpPr>
        <a:xfrm>
          <a:off x="0" y="0"/>
          <a:ext cx="0" cy="0"/>
          <a:chOff x="0" y="0"/>
          <a:chExt cx="0" cy="0"/>
        </a:xfrm>
      </p:grpSpPr>
      <p:pic>
        <p:nvPicPr>
          <p:cNvPr id="2" name="Picture 1" descr="knot-dark.jpg"/>
          <p:cNvPicPr>
            <a:picLocks noChangeAspect="1"/>
          </p:cNvPicPr>
          <p:nvPr/>
        </p:nvPicPr>
        <p:blipFill>
          <a:blip r:embed="rId2">
            <a:alphaModFix amt="60000"/>
          </a:blip>
          <a:srcRect l="13603" r="13603"/>
          <a:stretch>
            <a:fillRect/>
          </a:stretch>
        </p:blipFill>
        <p:spPr>
          <a:xfrm>
            <a:off x="0" y="0"/>
            <a:ext cx="10058400" cy="7772400"/>
          </a:xfrm>
          <a:prstGeom prst="rect">
            <a:avLst/>
          </a:prstGeom>
        </p:spPr>
      </p:pic>
      <p:pic>
        <p:nvPicPr>
          <p:cNvPr id="3" name="Picture 2" descr="Two people reviewing a document before signing"/>
          <p:cNvPicPr>
            <a:picLocks noChangeAspect="1"/>
          </p:cNvPicPr>
          <p:nvPr/>
        </p:nvPicPr>
        <p:blipFill>
          <a:blip r:embed="rId3"/>
          <a:srcRect l="31618" r="31618"/>
          <a:stretch>
            <a:fillRect/>
          </a:stretch>
        </p:blipFill>
        <p:spPr>
          <a:xfrm>
            <a:off x="4572000" y="0"/>
            <a:ext cx="5486400" cy="7772400"/>
          </a:xfrm>
          <a:prstGeom prst="rect">
            <a:avLst/>
          </a:prstGeom>
        </p:spPr>
      </p:pic>
      <p:sp>
        <p:nvSpPr>
          <p:cNvPr id="4" name="Rectangle 3"/>
          <p:cNvSpPr/>
          <p:nvPr/>
        </p:nvSpPr>
        <p:spPr>
          <a:xfrm>
            <a:off x="4572000" y="0"/>
            <a:ext cx="5486400" cy="7772400"/>
          </a:xfrm>
          <a:prstGeom prst="rect">
            <a:avLst/>
          </a:prstGeom>
          <a:gradFill rotWithShape="1">
            <a:gsLst>
              <a:gs pos="0">
                <a:srgbClr val="1B1A1A">
                  <a:alpha val="50000"/>
                </a:srgbClr>
              </a:gs>
              <a:gs pos="60000">
                <a:srgbClr val="1B1A1A">
                  <a:alpha val="5000"/>
                </a:srgbClr>
              </a:gs>
            </a:gsLst>
            <a:lin ang="0" scaled="0"/>
          </a:gradFill>
          <a:ln>
            <a:noFill/>
          </a:ln>
        </p:spPr>
        <p:txBody>
          <a:bodyPr rtlCol="0" anchor="ctr"/>
          <a:lstStyle/>
          <a:p>
            <a:pPr algn="ctr"/>
            <a:endParaRPr/>
          </a:p>
        </p:txBody>
      </p:sp>
      <p:sp>
        <p:nvSpPr>
          <p:cNvPr id="5" name="Freeform 4"/>
          <p:cNvSpPr/>
          <p:nvPr/>
        </p:nvSpPr>
        <p:spPr>
          <a:xfrm>
            <a:off x="4572000" y="0"/>
            <a:ext cx="1316736" cy="7772400"/>
          </a:xfrm>
          <a:custGeom>
            <a:avLst/>
            <a:gdLst/>
            <a:ahLst/>
            <a:cxnLst/>
            <a:rect l="l" t="t" r="r" b="b"/>
            <a:pathLst>
              <a:path w="1316736" h="7772400">
                <a:moveTo>
                  <a:pt x="0" y="0"/>
                </a:moveTo>
                <a:lnTo>
                  <a:pt x="1316736" y="0"/>
                </a:lnTo>
                <a:lnTo>
                  <a:pt x="0" y="7772400"/>
                </a:lnTo>
                <a:close/>
              </a:path>
            </a:pathLst>
          </a:custGeom>
          <a:solidFill>
            <a:srgbClr val="1B1A1A"/>
          </a:solidFill>
          <a:ln>
            <a:noFill/>
          </a:ln>
        </p:spPr>
        <p:txBody>
          <a:bodyPr rtlCol="0" anchor="ctr"/>
          <a:lstStyle/>
          <a:p>
            <a:pPr algn="ctr"/>
            <a:endParaRPr/>
          </a:p>
        </p:txBody>
      </p:sp>
      <p:cxnSp>
        <p:nvCxnSpPr>
          <p:cNvPr id="6" name="Connector 5"/>
          <p:cNvCxnSpPr/>
          <p:nvPr/>
        </p:nvCxnSpPr>
        <p:spPr>
          <a:xfrm flipH="1">
            <a:off x="4562475" y="0"/>
            <a:ext cx="1314450" cy="7772400"/>
          </a:xfrm>
          <a:prstGeom prst="line">
            <a:avLst/>
          </a:prstGeom>
          <a:ln w="38100">
            <a:solidFill>
              <a:srgbClr val="B68757"/>
            </a:solidFill>
          </a:ln>
        </p:spPr>
      </p:cxnSp>
      <p:sp>
        <p:nvSpPr>
          <p:cNvPr id="7" name="Text: 02"/>
          <p:cNvSpPr txBox="1"/>
          <p:nvPr/>
        </p:nvSpPr>
        <p:spPr>
          <a:xfrm>
            <a:off x="609600" y="1676400"/>
            <a:ext cx="4014788" cy="1143000"/>
          </a:xfrm>
          <a:prstGeom prst="rect">
            <a:avLst/>
          </a:prstGeom>
          <a:noFill/>
        </p:spPr>
        <p:txBody>
          <a:bodyPr wrap="square" lIns="0" tIns="0" rIns="0" bIns="0" anchor="t">
            <a:spAutoFit/>
          </a:bodyPr>
          <a:lstStyle/>
          <a:p>
            <a:pPr algn="l">
              <a:lnSpc>
                <a:spcPts val="9000"/>
              </a:lnSpc>
            </a:pPr>
            <a:r>
              <a:rPr sz="9000" b="0" i="0" spc="300">
                <a:solidFill>
                  <a:srgbClr val="D3AE84"/>
                </a:solidFill>
                <a:latin typeface="Cambria"/>
              </a:rPr>
              <a:t>02</a:t>
            </a:r>
          </a:p>
        </p:txBody>
      </p:sp>
      <p:sp>
        <p:nvSpPr>
          <p:cNvPr id="8" name="Text: Sector Activity"/>
          <p:cNvSpPr txBox="1"/>
          <p:nvPr/>
        </p:nvSpPr>
        <p:spPr>
          <a:xfrm>
            <a:off x="609600" y="2895600"/>
            <a:ext cx="4473416" cy="590550"/>
          </a:xfrm>
          <a:prstGeom prst="rect">
            <a:avLst/>
          </a:prstGeom>
          <a:noFill/>
        </p:spPr>
        <p:txBody>
          <a:bodyPr wrap="square" lIns="0" tIns="0" rIns="0" bIns="0" anchor="t">
            <a:spAutoFit/>
          </a:bodyPr>
          <a:lstStyle/>
          <a:p>
            <a:pPr algn="l">
              <a:lnSpc>
                <a:spcPts val="4650"/>
              </a:lnSpc>
            </a:pPr>
            <a:r>
              <a:rPr sz="4050" b="1" i="0">
                <a:solidFill>
                  <a:srgbClr val="FFFFFF"/>
                </a:solidFill>
                <a:latin typeface="Cambria"/>
              </a:rPr>
              <a:t>Industry Activity</a:t>
            </a:r>
          </a:p>
        </p:txBody>
      </p:sp>
      <p:sp>
        <p:nvSpPr>
          <p:cNvPr id="9" name="Rectangle 8"/>
          <p:cNvSpPr/>
          <p:nvPr/>
        </p:nvSpPr>
        <p:spPr>
          <a:xfrm>
            <a:off x="609600" y="3714750"/>
            <a:ext cx="914400" cy="19050"/>
          </a:xfrm>
          <a:prstGeom prst="rect">
            <a:avLst/>
          </a:prstGeom>
          <a:solidFill>
            <a:srgbClr val="B68757"/>
          </a:solidFill>
          <a:ln>
            <a:noFill/>
          </a:ln>
          <a:effectLst/>
        </p:spPr>
        <p:txBody>
          <a:bodyPr rtlCol="0" anchor="ctr"/>
          <a:lstStyle/>
          <a:p>
            <a:pPr algn="ctr"/>
            <a:endParaRPr/>
          </a:p>
        </p:txBody>
      </p:sp>
      <p:sp>
        <p:nvSpPr>
          <p:cNvPr id="10" name="Rectangle 9"/>
          <p:cNvSpPr/>
          <p:nvPr/>
        </p:nvSpPr>
        <p:spPr>
          <a:xfrm>
            <a:off x="609600" y="3924300"/>
            <a:ext cx="3333750" cy="9525"/>
          </a:xfrm>
          <a:prstGeom prst="rect">
            <a:avLst/>
          </a:prstGeom>
          <a:solidFill>
            <a:srgbClr val="FFFFFF">
              <a:alpha val="16000"/>
            </a:srgbClr>
          </a:solidFill>
          <a:ln>
            <a:noFill/>
          </a:ln>
          <a:effectLst/>
        </p:spPr>
        <p:txBody>
          <a:bodyPr rtlCol="0" anchor="ctr"/>
          <a:lstStyle/>
          <a:p>
            <a:pPr algn="ctr"/>
            <a:endParaRPr/>
          </a:p>
        </p:txBody>
      </p:sp>
      <p:sp>
        <p:nvSpPr>
          <p:cNvPr id="11" name="Rectangle 10"/>
          <p:cNvSpPr/>
          <p:nvPr/>
        </p:nvSpPr>
        <p:spPr>
          <a:xfrm>
            <a:off x="609600" y="4057650"/>
            <a:ext cx="57150" cy="57150"/>
          </a:xfrm>
          <a:prstGeom prst="rect">
            <a:avLst/>
          </a:prstGeom>
          <a:solidFill>
            <a:srgbClr val="B68757"/>
          </a:solidFill>
          <a:ln>
            <a:noFill/>
          </a:ln>
          <a:effectLst/>
        </p:spPr>
        <p:txBody>
          <a:bodyPr rtlCol="0" anchor="ctr"/>
          <a:lstStyle/>
          <a:p>
            <a:pPr algn="ctr"/>
            <a:endParaRPr/>
          </a:p>
        </p:txBody>
      </p:sp>
      <p:sp>
        <p:nvSpPr>
          <p:cNvPr id="12" name="Text: Momentum in healthcare services tr"/>
          <p:cNvSpPr txBox="1"/>
          <p:nvPr/>
        </p:nvSpPr>
        <p:spPr>
          <a:xfrm>
            <a:off x="781050" y="4010025"/>
            <a:ext cx="2365028" cy="180975"/>
          </a:xfrm>
          <a:prstGeom prst="rect">
            <a:avLst/>
          </a:prstGeom>
          <a:noFill/>
        </p:spPr>
        <p:txBody>
          <a:bodyPr wrap="square" lIns="0" tIns="0" rIns="0" bIns="0" anchor="t">
            <a:spAutoFit/>
          </a:bodyPr>
          <a:lstStyle/>
          <a:p>
            <a:pPr algn="l">
              <a:lnSpc>
                <a:spcPts val="1425"/>
              </a:lnSpc>
            </a:pPr>
            <a:r>
              <a:rPr sz="938" b="0" i="0" spc="15">
                <a:solidFill>
                  <a:srgbClr val="C3BDB6"/>
                </a:solidFill>
                <a:latin typeface="Calibri"/>
              </a:rPr>
              <a:t>Momentum in healthcare services transactions</a:t>
            </a:r>
          </a:p>
        </p:txBody>
      </p:sp>
      <p:sp>
        <p:nvSpPr>
          <p:cNvPr id="13" name="Rectangle 12"/>
          <p:cNvSpPr/>
          <p:nvPr/>
        </p:nvSpPr>
        <p:spPr>
          <a:xfrm>
            <a:off x="609600" y="4267200"/>
            <a:ext cx="3333750" cy="9525"/>
          </a:xfrm>
          <a:prstGeom prst="rect">
            <a:avLst/>
          </a:prstGeom>
          <a:solidFill>
            <a:srgbClr val="FFFFFF">
              <a:alpha val="16000"/>
            </a:srgbClr>
          </a:solidFill>
          <a:ln>
            <a:noFill/>
          </a:ln>
          <a:effectLst/>
        </p:spPr>
        <p:txBody>
          <a:bodyPr rtlCol="0" anchor="ctr"/>
          <a:lstStyle/>
          <a:p>
            <a:pPr algn="ctr"/>
            <a:endParaRPr/>
          </a:p>
        </p:txBody>
      </p:sp>
      <p:sp>
        <p:nvSpPr>
          <p:cNvPr id="14" name="Rectangle 13"/>
          <p:cNvSpPr/>
          <p:nvPr/>
        </p:nvSpPr>
        <p:spPr>
          <a:xfrm>
            <a:off x="609600" y="4400550"/>
            <a:ext cx="57150" cy="57150"/>
          </a:xfrm>
          <a:prstGeom prst="rect">
            <a:avLst/>
          </a:prstGeom>
          <a:solidFill>
            <a:srgbClr val="B68757"/>
          </a:solidFill>
          <a:ln>
            <a:noFill/>
          </a:ln>
          <a:effectLst/>
        </p:spPr>
        <p:txBody>
          <a:bodyPr rtlCol="0" anchor="ctr"/>
          <a:lstStyle/>
          <a:p>
            <a:pPr algn="ctr"/>
            <a:endParaRPr/>
          </a:p>
        </p:txBody>
      </p:sp>
      <p:sp>
        <p:nvSpPr>
          <p:cNvPr id="15" name="Text: Landscape of select participants"/>
          <p:cNvSpPr txBox="1"/>
          <p:nvPr/>
        </p:nvSpPr>
        <p:spPr>
          <a:xfrm>
            <a:off x="781050" y="4352925"/>
            <a:ext cx="1618208" cy="180975"/>
          </a:xfrm>
          <a:prstGeom prst="rect">
            <a:avLst/>
          </a:prstGeom>
          <a:noFill/>
        </p:spPr>
        <p:txBody>
          <a:bodyPr wrap="square" lIns="0" tIns="0" rIns="0" bIns="0" anchor="t">
            <a:spAutoFit/>
          </a:bodyPr>
          <a:lstStyle/>
          <a:p>
            <a:pPr algn="l">
              <a:lnSpc>
                <a:spcPts val="1425"/>
              </a:lnSpc>
            </a:pPr>
            <a:r>
              <a:rPr sz="938" b="0" i="0" spc="15">
                <a:solidFill>
                  <a:srgbClr val="C3BDB6"/>
                </a:solidFill>
                <a:latin typeface="Calibri"/>
              </a:rPr>
              <a:t>Select market participants</a:t>
            </a:r>
          </a:p>
        </p:txBody>
      </p:sp>
      <p:sp>
        <p:nvSpPr>
          <p:cNvPr id="16" name="Rectangle 15"/>
          <p:cNvSpPr/>
          <p:nvPr/>
        </p:nvSpPr>
        <p:spPr>
          <a:xfrm>
            <a:off x="609600" y="4610100"/>
            <a:ext cx="3333750" cy="9525"/>
          </a:xfrm>
          <a:prstGeom prst="rect">
            <a:avLst/>
          </a:prstGeom>
          <a:solidFill>
            <a:srgbClr val="FFFFFF">
              <a:alpha val="16000"/>
            </a:srgbClr>
          </a:solidFill>
          <a:ln>
            <a:noFill/>
          </a:ln>
          <a:effectLst/>
        </p:spPr>
        <p:txBody>
          <a:bodyPr rtlCol="0" anchor="ctr"/>
          <a:lstStyle/>
          <a:p>
            <a:pPr algn="ctr"/>
            <a:endParaRPr/>
          </a:p>
        </p:txBody>
      </p:sp>
      <p:sp>
        <p:nvSpPr>
          <p:cNvPr id="17" name="Rectangle 16"/>
          <p:cNvSpPr/>
          <p:nvPr/>
        </p:nvSpPr>
        <p:spPr>
          <a:xfrm>
            <a:off x="609600" y="4743450"/>
            <a:ext cx="57150" cy="57150"/>
          </a:xfrm>
          <a:prstGeom prst="rect">
            <a:avLst/>
          </a:prstGeom>
          <a:solidFill>
            <a:srgbClr val="B68757"/>
          </a:solidFill>
          <a:ln>
            <a:noFill/>
          </a:ln>
          <a:effectLst/>
        </p:spPr>
        <p:txBody>
          <a:bodyPr rtlCol="0" anchor="ctr"/>
          <a:lstStyle/>
          <a:p>
            <a:pPr algn="ctr"/>
            <a:endParaRPr/>
          </a:p>
        </p:txBody>
      </p:sp>
      <p:sp>
        <p:nvSpPr>
          <p:cNvPr id="18" name="Text: Select recent M&amp;A transactions"/>
          <p:cNvSpPr txBox="1"/>
          <p:nvPr/>
        </p:nvSpPr>
        <p:spPr>
          <a:xfrm>
            <a:off x="781050" y="4695825"/>
            <a:ext cx="1596628" cy="180975"/>
          </a:xfrm>
          <a:prstGeom prst="rect">
            <a:avLst/>
          </a:prstGeom>
          <a:noFill/>
        </p:spPr>
        <p:txBody>
          <a:bodyPr wrap="square" lIns="0" tIns="0" rIns="0" bIns="0" anchor="t">
            <a:spAutoFit/>
          </a:bodyPr>
          <a:lstStyle/>
          <a:p>
            <a:pPr algn="l">
              <a:lnSpc>
                <a:spcPts val="1425"/>
              </a:lnSpc>
            </a:pPr>
            <a:r>
              <a:rPr sz="938" b="0" i="0" spc="15">
                <a:solidFill>
                  <a:srgbClr val="C3BDB6"/>
                </a:solidFill>
                <a:latin typeface="Calibri"/>
              </a:rPr>
              <a:t>Select recent M&amp;A transactions</a:t>
            </a:r>
          </a:p>
        </p:txBody>
      </p:sp>
      <p:sp>
        <p:nvSpPr>
          <p:cNvPr id="19" name="Rectangle 18"/>
          <p:cNvSpPr/>
          <p:nvPr/>
        </p:nvSpPr>
        <p:spPr>
          <a:xfrm>
            <a:off x="609600" y="4953000"/>
            <a:ext cx="3333750" cy="9525"/>
          </a:xfrm>
          <a:prstGeom prst="rect">
            <a:avLst/>
          </a:prstGeom>
          <a:solidFill>
            <a:srgbClr val="FFFFFF">
              <a:alpha val="16000"/>
            </a:srgbClr>
          </a:solidFill>
          <a:ln>
            <a:noFill/>
          </a:ln>
          <a:effectLst/>
        </p:spPr>
        <p:txBody>
          <a:bodyPr rtlCol="0" anchor="ctr"/>
          <a:lstStyle/>
          <a:p>
            <a:pPr algn="ctr"/>
            <a:endParaRPr/>
          </a:p>
        </p:txBody>
      </p:sp>
      <p:sp>
        <p:nvSpPr>
          <p:cNvPr id="20" name="Rectangle 19"/>
          <p:cNvSpPr/>
          <p:nvPr/>
        </p:nvSpPr>
        <p:spPr>
          <a:xfrm>
            <a:off x="609600" y="5086350"/>
            <a:ext cx="57150" cy="57150"/>
          </a:xfrm>
          <a:prstGeom prst="rect">
            <a:avLst/>
          </a:prstGeom>
          <a:solidFill>
            <a:srgbClr val="B68757"/>
          </a:solidFill>
          <a:ln>
            <a:noFill/>
          </a:ln>
          <a:effectLst/>
        </p:spPr>
        <p:txBody>
          <a:bodyPr rtlCol="0" anchor="ctr"/>
          <a:lstStyle/>
          <a:p>
            <a:pPr algn="ctr"/>
            <a:endParaRPr/>
          </a:p>
        </p:txBody>
      </p:sp>
      <p:sp>
        <p:nvSpPr>
          <p:cNvPr id="21" name="Text: Benchmark International transactio"/>
          <p:cNvSpPr txBox="1"/>
          <p:nvPr/>
        </p:nvSpPr>
        <p:spPr>
          <a:xfrm>
            <a:off x="781050" y="5038725"/>
            <a:ext cx="1901726" cy="180975"/>
          </a:xfrm>
          <a:prstGeom prst="rect">
            <a:avLst/>
          </a:prstGeom>
          <a:noFill/>
        </p:spPr>
        <p:txBody>
          <a:bodyPr wrap="square" lIns="0" tIns="0" rIns="0" bIns="0" anchor="t">
            <a:spAutoFit/>
          </a:bodyPr>
          <a:lstStyle/>
          <a:p>
            <a:pPr algn="l">
              <a:lnSpc>
                <a:spcPts val="1425"/>
              </a:lnSpc>
            </a:pPr>
            <a:r>
              <a:rPr sz="938" b="0" i="0" spc="15">
                <a:solidFill>
                  <a:srgbClr val="C3BDB6"/>
                </a:solidFill>
                <a:latin typeface="Calibri"/>
              </a:rPr>
              <a:t>Benchmark International transactions</a:t>
            </a:r>
          </a:p>
        </p:txBody>
      </p:sp>
      <p:sp>
        <p:nvSpPr>
          <p:cNvPr id="22" name="Rectangle 21"/>
          <p:cNvSpPr/>
          <p:nvPr/>
        </p:nvSpPr>
        <p:spPr>
          <a:xfrm>
            <a:off x="609600" y="5295900"/>
            <a:ext cx="3333750" cy="9525"/>
          </a:xfrm>
          <a:prstGeom prst="rect">
            <a:avLst/>
          </a:prstGeom>
          <a:solidFill>
            <a:srgbClr val="FFFFFF">
              <a:alpha val="16000"/>
            </a:srgbClr>
          </a:solidFill>
          <a:ln>
            <a:noFill/>
          </a:ln>
          <a:effectLst/>
        </p:spPr>
        <p:txBody>
          <a:bodyPr rtlCol="0" anchor="ctr"/>
          <a:lstStyle/>
          <a:p>
            <a:pPr algn="ctr"/>
            <a:endParaRPr/>
          </a:p>
        </p:txBody>
      </p:sp>
      <p:sp>
        <p:nvSpPr>
          <p:cNvPr id="23" name="Rectangle 22"/>
          <p:cNvSpPr/>
          <p:nvPr/>
        </p:nvSpPr>
        <p:spPr>
          <a:xfrm>
            <a:off x="609600" y="5429250"/>
            <a:ext cx="57150" cy="57150"/>
          </a:xfrm>
          <a:prstGeom prst="rect">
            <a:avLst/>
          </a:prstGeom>
          <a:solidFill>
            <a:srgbClr val="B68757"/>
          </a:solidFill>
          <a:ln>
            <a:noFill/>
          </a:ln>
          <a:effectLst/>
        </p:spPr>
        <p:txBody>
          <a:bodyPr rtlCol="0" anchor="ctr"/>
          <a:lstStyle/>
          <a:p>
            <a:pPr algn="ctr"/>
            <a:endParaRPr/>
          </a:p>
        </p:txBody>
      </p:sp>
      <p:sp>
        <p:nvSpPr>
          <p:cNvPr id="24" name="Text: Public companies: valuation, perfo"/>
          <p:cNvSpPr txBox="1"/>
          <p:nvPr/>
        </p:nvSpPr>
        <p:spPr>
          <a:xfrm>
            <a:off x="781050" y="5381625"/>
            <a:ext cx="2738289" cy="180975"/>
          </a:xfrm>
          <a:prstGeom prst="rect">
            <a:avLst/>
          </a:prstGeom>
          <a:noFill/>
        </p:spPr>
        <p:txBody>
          <a:bodyPr wrap="square" lIns="0" tIns="0" rIns="0" bIns="0" anchor="t">
            <a:spAutoFit/>
          </a:bodyPr>
          <a:lstStyle/>
          <a:p>
            <a:pPr algn="l">
              <a:lnSpc>
                <a:spcPts val="1425"/>
              </a:lnSpc>
            </a:pPr>
            <a:r>
              <a:rPr sz="938" b="0" i="0" spc="15">
                <a:solidFill>
                  <a:srgbClr val="C3BDB6"/>
                </a:solidFill>
                <a:latin typeface="Calibri"/>
              </a:rPr>
              <a:t>Public companies: valuation, performance, and metrics</a:t>
            </a:r>
          </a:p>
        </p:txBody>
      </p:sp>
      <p:sp>
        <p:nvSpPr>
          <p:cNvPr id="25" name="Rectangle 24"/>
          <p:cNvSpPr/>
          <p:nvPr/>
        </p:nvSpPr>
        <p:spPr>
          <a:xfrm>
            <a:off x="609600" y="5638800"/>
            <a:ext cx="3333750" cy="9525"/>
          </a:xfrm>
          <a:prstGeom prst="rect">
            <a:avLst/>
          </a:prstGeom>
          <a:solidFill>
            <a:srgbClr val="FFFFFF">
              <a:alpha val="16000"/>
            </a:srgbClr>
          </a:solidFill>
          <a:ln>
            <a:noFill/>
          </a:ln>
          <a:effectLst/>
        </p:spPr>
        <p:txBody>
          <a:bodyPr rtlCol="0" anchor="ctr"/>
          <a:lstStyle/>
          <a:p>
            <a:pPr algn="ctr"/>
            <a:endParaRPr/>
          </a:p>
        </p:txBody>
      </p:sp>
      <p:sp>
        <p:nvSpPr>
          <p:cNvPr id="26" name="Rectangle 25"/>
          <p:cNvSpPr/>
          <p:nvPr/>
        </p:nvSpPr>
        <p:spPr>
          <a:xfrm>
            <a:off x="609600" y="5772150"/>
            <a:ext cx="57150" cy="57150"/>
          </a:xfrm>
          <a:prstGeom prst="rect">
            <a:avLst/>
          </a:prstGeom>
          <a:solidFill>
            <a:srgbClr val="B68757"/>
          </a:solidFill>
          <a:ln>
            <a:noFill/>
          </a:ln>
          <a:effectLst/>
        </p:spPr>
        <p:txBody>
          <a:bodyPr rtlCol="0" anchor="ctr"/>
          <a:lstStyle/>
          <a:p>
            <a:pPr algn="ctr"/>
            <a:endParaRPr/>
          </a:p>
        </p:txBody>
      </p:sp>
      <p:sp>
        <p:nvSpPr>
          <p:cNvPr id="27" name="Text: Earnings and commentary"/>
          <p:cNvSpPr txBox="1"/>
          <p:nvPr/>
        </p:nvSpPr>
        <p:spPr>
          <a:xfrm>
            <a:off x="781050" y="5724525"/>
            <a:ext cx="1318320" cy="180975"/>
          </a:xfrm>
          <a:prstGeom prst="rect">
            <a:avLst/>
          </a:prstGeom>
          <a:noFill/>
        </p:spPr>
        <p:txBody>
          <a:bodyPr wrap="square" lIns="0" tIns="0" rIns="0" bIns="0" anchor="t">
            <a:spAutoFit/>
          </a:bodyPr>
          <a:lstStyle/>
          <a:p>
            <a:pPr algn="l">
              <a:lnSpc>
                <a:spcPts val="1425"/>
              </a:lnSpc>
            </a:pPr>
            <a:r>
              <a:rPr sz="938" b="0" i="0" spc="15">
                <a:solidFill>
                  <a:srgbClr val="C3BDB6"/>
                </a:solidFill>
                <a:latin typeface="Calibri"/>
              </a:rPr>
              <a:t>Earnings and commentary</a:t>
            </a:r>
          </a:p>
        </p:txBody>
      </p:sp>
      <p:sp>
        <p:nvSpPr>
          <p:cNvPr id="28" name="Rectangle 27"/>
          <p:cNvSpPr/>
          <p:nvPr/>
        </p:nvSpPr>
        <p:spPr>
          <a:xfrm>
            <a:off x="609600" y="5981700"/>
            <a:ext cx="3333750" cy="9525"/>
          </a:xfrm>
          <a:prstGeom prst="rect">
            <a:avLst/>
          </a:prstGeom>
          <a:solidFill>
            <a:srgbClr val="FFFFFF">
              <a:alpha val="16000"/>
            </a:srgbClr>
          </a:solidFill>
          <a:ln>
            <a:noFill/>
          </a:ln>
          <a:effectLst/>
        </p:spPr>
        <p:txBody>
          <a:bodyPr rtlCol="0" anchor="ctr"/>
          <a:lstStyle/>
          <a:p>
            <a:pPr algn="ctr"/>
            <a:endParaRPr/>
          </a:p>
        </p:txBody>
      </p:sp>
      <p:pic>
        <p:nvPicPr>
          <p:cNvPr id="29" name="Picture 28" descr="Benchmark International"/>
          <p:cNvPicPr>
            <a:picLocks noChangeAspect="1"/>
          </p:cNvPicPr>
          <p:nvPr/>
        </p:nvPicPr>
        <p:blipFill>
          <a:blip r:embed="rId4"/>
          <a:srcRect/>
          <a:stretch>
            <a:fillRect/>
          </a:stretch>
        </p:blipFill>
        <p:spPr>
          <a:xfrm>
            <a:off x="609600" y="7086600"/>
            <a:ext cx="1428750" cy="266700"/>
          </a:xfrm>
          <a:prstGeom prst="rect">
            <a:avLst/>
          </a:prstGeom>
        </p:spPr>
      </p:pic>
      <p:sp>
        <p:nvSpPr>
          <p:cNvPr id="30" name="Text: HEALTHCARE | Q4 2026"/>
          <p:cNvSpPr txBox="1"/>
          <p:nvPr/>
        </p:nvSpPr>
        <p:spPr>
          <a:xfrm>
            <a:off x="2209800" y="7181850"/>
            <a:ext cx="1482179" cy="133350"/>
          </a:xfrm>
          <a:prstGeom prst="rect">
            <a:avLst/>
          </a:prstGeom>
          <a:noFill/>
        </p:spPr>
        <p:txBody>
          <a:bodyPr wrap="square" lIns="0" tIns="0" rIns="0" bIns="0" anchor="t">
            <a:spAutoFit/>
          </a:bodyPr>
          <a:lstStyle/>
          <a:p>
            <a:pPr algn="l">
              <a:lnSpc>
                <a:spcPts val="1050"/>
              </a:lnSpc>
            </a:pPr>
            <a:r>
              <a:rPr sz="712" b="1" i="0" spc="195">
                <a:solidFill>
                  <a:srgbClr val="C3BDB6"/>
                </a:solidFill>
                <a:latin typeface="Calibri"/>
              </a:rPr>
              <a:t>HEALTHCARE | Q4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57150" cy="7772400"/>
          </a:xfrm>
          <a:prstGeom prst="rect">
            <a:avLst/>
          </a:prstGeom>
          <a:solidFill>
            <a:srgbClr val="B68757"/>
          </a:solidFill>
          <a:ln>
            <a:noFill/>
          </a:ln>
          <a:effectLst/>
        </p:spPr>
        <p:txBody>
          <a:bodyPr rtlCol="0" anchor="ctr"/>
          <a:lstStyle/>
          <a:p>
            <a:pPr algn="ctr"/>
            <a:endParaRPr/>
          </a:p>
        </p:txBody>
      </p:sp>
      <p:sp>
        <p:nvSpPr>
          <p:cNvPr id="3" name="Text: HEALTHCARE | QUARTERLY SECTOR BRIE"/>
          <p:cNvSpPr txBox="1"/>
          <p:nvPr/>
        </p:nvSpPr>
        <p:spPr>
          <a:xfrm>
            <a:off x="419100" y="381000"/>
            <a:ext cx="2439591" cy="133350"/>
          </a:xfrm>
          <a:prstGeom prst="rect">
            <a:avLst/>
          </a:prstGeom>
          <a:noFill/>
        </p:spPr>
        <p:txBody>
          <a:bodyPr wrap="none" lIns="0" tIns="0" rIns="0" bIns="0" anchor="t">
            <a:spAutoFit/>
          </a:bodyPr>
          <a:lstStyle/>
          <a:p>
            <a:pPr algn="l">
              <a:lnSpc>
                <a:spcPts val="1050"/>
              </a:lnSpc>
            </a:pPr>
            <a:r>
              <a:rPr sz="675" b="1" i="0" spc="195">
                <a:solidFill>
                  <a:srgbClr val="8C6239"/>
                </a:solidFill>
                <a:latin typeface="Calibri"/>
              </a:rPr>
              <a:t>HEALTHCARE | QUARTERLY INDUSTRY REPORT</a:t>
            </a:r>
          </a:p>
        </p:txBody>
      </p:sp>
      <p:sp>
        <p:nvSpPr>
          <p:cNvPr id="4" name="Text: Q4 2026"/>
          <p:cNvSpPr txBox="1"/>
          <p:nvPr/>
        </p:nvSpPr>
        <p:spPr>
          <a:xfrm>
            <a:off x="9188648" y="361950"/>
            <a:ext cx="464939" cy="171450"/>
          </a:xfrm>
          <a:prstGeom prst="rect">
            <a:avLst/>
          </a:prstGeom>
          <a:noFill/>
        </p:spPr>
        <p:txBody>
          <a:bodyPr wrap="square" lIns="0" tIns="0" rIns="0" bIns="0" anchor="t">
            <a:spAutoFit/>
          </a:bodyPr>
          <a:lstStyle/>
          <a:p>
            <a:pPr algn="l">
              <a:lnSpc>
                <a:spcPts val="1350"/>
              </a:lnSpc>
            </a:pPr>
            <a:r>
              <a:rPr sz="900" b="0" i="0" spc="90">
                <a:solidFill>
                  <a:srgbClr val="6F6A66"/>
                </a:solidFill>
                <a:latin typeface="Cambria"/>
              </a:rPr>
              <a:t>Q4 2026</a:t>
            </a:r>
          </a:p>
        </p:txBody>
      </p:sp>
      <p:sp>
        <p:nvSpPr>
          <p:cNvPr id="5" name="Text: Healthcare Services Deal Volume Ha"/>
          <p:cNvSpPr txBox="1"/>
          <p:nvPr/>
        </p:nvSpPr>
        <p:spPr>
          <a:xfrm>
            <a:off x="419100" y="523875"/>
            <a:ext cx="9234488" cy="323850"/>
          </a:xfrm>
          <a:prstGeom prst="rect">
            <a:avLst/>
          </a:prstGeom>
          <a:noFill/>
        </p:spPr>
        <p:txBody>
          <a:bodyPr wrap="square" lIns="0" tIns="0" rIns="0" bIns="0" anchor="t">
            <a:spAutoFit/>
          </a:bodyPr>
          <a:lstStyle/>
          <a:p>
            <a:pPr algn="l">
              <a:lnSpc>
                <a:spcPts val="2550"/>
              </a:lnSpc>
            </a:pPr>
            <a:r>
              <a:rPr sz="2025" b="1" i="0">
                <a:solidFill>
                  <a:srgbClr val="1B1A1A"/>
                </a:solidFill>
                <a:latin typeface="Cambria"/>
              </a:rPr>
              <a:t>Healthcare Services Deal Volume Has Reset</a:t>
            </a:r>
          </a:p>
        </p:txBody>
      </p:sp>
      <p:sp>
        <p:nvSpPr>
          <p:cNvPr id="6" name="Text: Private equity completed 1,217 hea"/>
          <p:cNvSpPr txBox="1"/>
          <p:nvPr/>
        </p:nvSpPr>
        <p:spPr>
          <a:xfrm>
            <a:off x="419100" y="885825"/>
            <a:ext cx="10215086" cy="180975"/>
          </a:xfrm>
          <a:prstGeom prst="rect">
            <a:avLst/>
          </a:prstGeom>
          <a:noFill/>
        </p:spPr>
        <p:txBody>
          <a:bodyPr wrap="square" lIns="0" tIns="0" rIns="0" bIns="0" anchor="t">
            <a:spAutoFit/>
          </a:bodyPr>
          <a:lstStyle/>
          <a:p>
            <a:pPr algn="l">
              <a:lnSpc>
                <a:spcPts val="1388"/>
              </a:lnSpc>
            </a:pPr>
            <a:r>
              <a:rPr sz="938" b="0" i="0" spc="15">
                <a:solidFill>
                  <a:srgbClr val="6F6A66"/>
                </a:solidFill>
                <a:latin typeface="Calibri"/>
              </a:rPr>
              <a:t>Private equity completed 1,217 healthcare services transactions in 2021 and is on pace for 674 in 2026, the fewest since 2017.</a:t>
            </a:r>
          </a:p>
        </p:txBody>
      </p:sp>
      <p:sp>
        <p:nvSpPr>
          <p:cNvPr id="7" name="Rectangle 6"/>
          <p:cNvSpPr/>
          <p:nvPr/>
        </p:nvSpPr>
        <p:spPr>
          <a:xfrm>
            <a:off x="419100" y="1143000"/>
            <a:ext cx="9220200" cy="9525"/>
          </a:xfrm>
          <a:prstGeom prst="rect">
            <a:avLst/>
          </a:prstGeom>
          <a:solidFill>
            <a:srgbClr val="E3DCD3"/>
          </a:solidFill>
          <a:ln>
            <a:noFill/>
          </a:ln>
          <a:effectLst/>
        </p:spPr>
        <p:txBody>
          <a:bodyPr rtlCol="0" anchor="ctr"/>
          <a:lstStyle/>
          <a:p>
            <a:pPr algn="ctr"/>
            <a:endParaRPr/>
          </a:p>
        </p:txBody>
      </p:sp>
      <p:sp>
        <p:nvSpPr>
          <p:cNvPr id="8" name="Rectangle 7"/>
          <p:cNvSpPr/>
          <p:nvPr/>
        </p:nvSpPr>
        <p:spPr>
          <a:xfrm>
            <a:off x="419100" y="1238250"/>
            <a:ext cx="2686050" cy="1762125"/>
          </a:xfrm>
          <a:prstGeom prst="rect">
            <a:avLst/>
          </a:prstGeom>
          <a:solidFill>
            <a:srgbClr val="FAF7F3"/>
          </a:solidFill>
          <a:ln>
            <a:noFill/>
          </a:ln>
          <a:effectLst/>
        </p:spPr>
        <p:txBody>
          <a:bodyPr rtlCol="0" anchor="ctr"/>
          <a:lstStyle/>
          <a:p>
            <a:pPr algn="ctr"/>
            <a:endParaRPr/>
          </a:p>
        </p:txBody>
      </p:sp>
      <p:sp>
        <p:nvSpPr>
          <p:cNvPr id="9" name="Rectangle 8"/>
          <p:cNvSpPr/>
          <p:nvPr/>
        </p:nvSpPr>
        <p:spPr>
          <a:xfrm>
            <a:off x="419100" y="1238250"/>
            <a:ext cx="2686050" cy="28575"/>
          </a:xfrm>
          <a:prstGeom prst="rect">
            <a:avLst/>
          </a:prstGeom>
          <a:solidFill>
            <a:srgbClr val="B68757"/>
          </a:solidFill>
          <a:ln>
            <a:noFill/>
          </a:ln>
          <a:effectLst/>
        </p:spPr>
        <p:txBody>
          <a:bodyPr rtlCol="0" anchor="ctr"/>
          <a:lstStyle/>
          <a:p>
            <a:pPr algn="ctr"/>
            <a:endParaRPr/>
          </a:p>
        </p:txBody>
      </p:sp>
      <p:sp>
        <p:nvSpPr>
          <p:cNvPr id="10" name="Text: 2017 to 2019"/>
          <p:cNvSpPr txBox="1"/>
          <p:nvPr/>
        </p:nvSpPr>
        <p:spPr>
          <a:xfrm>
            <a:off x="552450" y="1381125"/>
            <a:ext cx="966564" cy="190500"/>
          </a:xfrm>
          <a:prstGeom prst="rect">
            <a:avLst/>
          </a:prstGeom>
          <a:noFill/>
        </p:spPr>
        <p:txBody>
          <a:bodyPr wrap="square" lIns="0" tIns="0" rIns="0" bIns="0" anchor="t">
            <a:spAutoFit/>
          </a:bodyPr>
          <a:lstStyle/>
          <a:p>
            <a:pPr algn="l">
              <a:lnSpc>
                <a:spcPts val="1500"/>
              </a:lnSpc>
            </a:pPr>
            <a:r>
              <a:rPr sz="1125" b="0" i="0" spc="75">
                <a:solidFill>
                  <a:srgbClr val="8C6239"/>
                </a:solidFill>
                <a:latin typeface="Cambria"/>
              </a:rPr>
              <a:t>2017 to 2019</a:t>
            </a:r>
          </a:p>
        </p:txBody>
      </p:sp>
      <p:sp>
        <p:nvSpPr>
          <p:cNvPr id="11" name="Text: Steady platform building"/>
          <p:cNvSpPr txBox="1"/>
          <p:nvPr/>
        </p:nvSpPr>
        <p:spPr>
          <a:xfrm>
            <a:off x="552450" y="1600200"/>
            <a:ext cx="2433638" cy="161925"/>
          </a:xfrm>
          <a:prstGeom prst="rect">
            <a:avLst/>
          </a:prstGeom>
          <a:noFill/>
        </p:spPr>
        <p:txBody>
          <a:bodyPr wrap="square" lIns="0" tIns="0" rIns="0" bIns="0" anchor="t">
            <a:spAutoFit/>
          </a:bodyPr>
          <a:lstStyle/>
          <a:p>
            <a:pPr algn="l">
              <a:lnSpc>
                <a:spcPts val="1275"/>
              </a:lnSpc>
            </a:pPr>
            <a:r>
              <a:rPr sz="938" b="1" i="0" spc="15">
                <a:solidFill>
                  <a:srgbClr val="1B1A1A"/>
                </a:solidFill>
                <a:latin typeface="Calibri"/>
              </a:rPr>
              <a:t>Steady platform building</a:t>
            </a:r>
          </a:p>
        </p:txBody>
      </p:sp>
      <p:sp>
        <p:nvSpPr>
          <p:cNvPr id="12" name="Text: Private equity completed between 4"/>
          <p:cNvSpPr txBox="1"/>
          <p:nvPr/>
        </p:nvSpPr>
        <p:spPr>
          <a:xfrm>
            <a:off x="552450" y="1819275"/>
            <a:ext cx="2433638" cy="457200"/>
          </a:xfrm>
          <a:prstGeom prst="rect">
            <a:avLst/>
          </a:prstGeom>
          <a:noFill/>
        </p:spPr>
        <p:txBody>
          <a:bodyPr wrap="square" lIns="0" tIns="0" rIns="0" bIns="0" anchor="t">
            <a:spAutoFit/>
          </a:bodyPr>
          <a:lstStyle/>
          <a:p>
            <a:pPr algn="l">
              <a:lnSpc>
                <a:spcPts val="1200"/>
              </a:lnSpc>
            </a:pPr>
            <a:r>
              <a:rPr sz="825" b="0" i="0" spc="15">
                <a:solidFill>
                  <a:srgbClr val="333231"/>
                </a:solidFill>
                <a:latin typeface="Calibri"/>
              </a:rPr>
              <a:t>Private equity completed between 490 and 684 healthcare services transactions a year, and hospitals announced 117 transactions in 2017 and 92 in 2019.</a:t>
            </a:r>
          </a:p>
        </p:txBody>
      </p:sp>
      <p:sp>
        <p:nvSpPr>
          <p:cNvPr id="13" name="Rectangle 12"/>
          <p:cNvSpPr/>
          <p:nvPr/>
        </p:nvSpPr>
        <p:spPr>
          <a:xfrm>
            <a:off x="3219450" y="1238250"/>
            <a:ext cx="1752600" cy="1762125"/>
          </a:xfrm>
          <a:prstGeom prst="rect">
            <a:avLst/>
          </a:prstGeom>
          <a:solidFill>
            <a:srgbClr val="FAF7F3"/>
          </a:solidFill>
          <a:ln>
            <a:noFill/>
          </a:ln>
          <a:effectLst/>
        </p:spPr>
        <p:txBody>
          <a:bodyPr rtlCol="0" anchor="ctr"/>
          <a:lstStyle/>
          <a:p>
            <a:pPr algn="ctr"/>
            <a:endParaRPr/>
          </a:p>
        </p:txBody>
      </p:sp>
      <p:sp>
        <p:nvSpPr>
          <p:cNvPr id="14" name="Rectangle 13"/>
          <p:cNvSpPr/>
          <p:nvPr/>
        </p:nvSpPr>
        <p:spPr>
          <a:xfrm>
            <a:off x="3219450" y="1238250"/>
            <a:ext cx="1752600" cy="28575"/>
          </a:xfrm>
          <a:prstGeom prst="rect">
            <a:avLst/>
          </a:prstGeom>
          <a:solidFill>
            <a:srgbClr val="B68757"/>
          </a:solidFill>
          <a:ln>
            <a:noFill/>
          </a:ln>
          <a:effectLst/>
        </p:spPr>
        <p:txBody>
          <a:bodyPr rtlCol="0" anchor="ctr"/>
          <a:lstStyle/>
          <a:p>
            <a:pPr algn="ctr"/>
            <a:endParaRPr/>
          </a:p>
        </p:txBody>
      </p:sp>
      <p:sp>
        <p:nvSpPr>
          <p:cNvPr id="15" name="Text: 2020 to 2021"/>
          <p:cNvSpPr txBox="1"/>
          <p:nvPr/>
        </p:nvSpPr>
        <p:spPr>
          <a:xfrm>
            <a:off x="3352800" y="1381125"/>
            <a:ext cx="990302" cy="190500"/>
          </a:xfrm>
          <a:prstGeom prst="rect">
            <a:avLst/>
          </a:prstGeom>
          <a:noFill/>
        </p:spPr>
        <p:txBody>
          <a:bodyPr wrap="square" lIns="0" tIns="0" rIns="0" bIns="0" anchor="t">
            <a:spAutoFit/>
          </a:bodyPr>
          <a:lstStyle/>
          <a:p>
            <a:pPr algn="l">
              <a:lnSpc>
                <a:spcPts val="1500"/>
              </a:lnSpc>
            </a:pPr>
            <a:r>
              <a:rPr sz="1125" b="0" i="0" spc="75">
                <a:solidFill>
                  <a:srgbClr val="8C6239"/>
                </a:solidFill>
                <a:latin typeface="Cambria"/>
              </a:rPr>
              <a:t>2020 to 2021</a:t>
            </a:r>
          </a:p>
        </p:txBody>
      </p:sp>
      <p:sp>
        <p:nvSpPr>
          <p:cNvPr id="16" name="Text: The peak"/>
          <p:cNvSpPr txBox="1"/>
          <p:nvPr/>
        </p:nvSpPr>
        <p:spPr>
          <a:xfrm>
            <a:off x="3352800" y="1600200"/>
            <a:ext cx="1500188" cy="161925"/>
          </a:xfrm>
          <a:prstGeom prst="rect">
            <a:avLst/>
          </a:prstGeom>
          <a:noFill/>
        </p:spPr>
        <p:txBody>
          <a:bodyPr wrap="square" lIns="0" tIns="0" rIns="0" bIns="0" anchor="t">
            <a:spAutoFit/>
          </a:bodyPr>
          <a:lstStyle/>
          <a:p>
            <a:pPr algn="l">
              <a:lnSpc>
                <a:spcPts val="1275"/>
              </a:lnSpc>
            </a:pPr>
            <a:r>
              <a:rPr sz="938" b="1" i="0" spc="15">
                <a:solidFill>
                  <a:srgbClr val="1B1A1A"/>
                </a:solidFill>
                <a:latin typeface="Calibri"/>
              </a:rPr>
              <a:t>The peak</a:t>
            </a:r>
          </a:p>
        </p:txBody>
      </p:sp>
      <p:sp>
        <p:nvSpPr>
          <p:cNvPr id="17" name="Text: Volume rose to 829 in 2020 and 1,2"/>
          <p:cNvSpPr txBox="1"/>
          <p:nvPr/>
        </p:nvSpPr>
        <p:spPr>
          <a:xfrm>
            <a:off x="3352800" y="1819275"/>
            <a:ext cx="1500188" cy="457200"/>
          </a:xfrm>
          <a:prstGeom prst="rect">
            <a:avLst/>
          </a:prstGeom>
          <a:noFill/>
        </p:spPr>
        <p:txBody>
          <a:bodyPr wrap="square" lIns="0" tIns="0" rIns="0" bIns="0" anchor="t">
            <a:spAutoFit/>
          </a:bodyPr>
          <a:lstStyle/>
          <a:p>
            <a:pPr algn="l">
              <a:lnSpc>
                <a:spcPts val="1200"/>
              </a:lnSpc>
            </a:pPr>
            <a:r>
              <a:rPr sz="825" b="0" i="0" spc="15">
                <a:solidFill>
                  <a:srgbClr val="333231"/>
                </a:solidFill>
                <a:latin typeface="Calibri"/>
              </a:rPr>
              <a:t>Volume rose to 829 in 2020 and 1,217 in 2021, the highest in the series.</a:t>
            </a:r>
          </a:p>
        </p:txBody>
      </p:sp>
      <p:sp>
        <p:nvSpPr>
          <p:cNvPr id="18" name="Rectangle 17"/>
          <p:cNvSpPr/>
          <p:nvPr/>
        </p:nvSpPr>
        <p:spPr>
          <a:xfrm>
            <a:off x="5086350" y="1238250"/>
            <a:ext cx="2686050" cy="1762125"/>
          </a:xfrm>
          <a:prstGeom prst="rect">
            <a:avLst/>
          </a:prstGeom>
          <a:solidFill>
            <a:srgbClr val="FAF7F3"/>
          </a:solidFill>
          <a:ln>
            <a:noFill/>
          </a:ln>
          <a:effectLst/>
        </p:spPr>
        <p:txBody>
          <a:bodyPr rtlCol="0" anchor="ctr"/>
          <a:lstStyle/>
          <a:p>
            <a:pPr algn="ctr"/>
            <a:endParaRPr/>
          </a:p>
        </p:txBody>
      </p:sp>
      <p:sp>
        <p:nvSpPr>
          <p:cNvPr id="19" name="Rectangle 18"/>
          <p:cNvSpPr/>
          <p:nvPr/>
        </p:nvSpPr>
        <p:spPr>
          <a:xfrm>
            <a:off x="5086350" y="1238250"/>
            <a:ext cx="2686050" cy="28575"/>
          </a:xfrm>
          <a:prstGeom prst="rect">
            <a:avLst/>
          </a:prstGeom>
          <a:solidFill>
            <a:srgbClr val="B68757"/>
          </a:solidFill>
          <a:ln>
            <a:noFill/>
          </a:ln>
          <a:effectLst/>
        </p:spPr>
        <p:txBody>
          <a:bodyPr rtlCol="0" anchor="ctr"/>
          <a:lstStyle/>
          <a:p>
            <a:pPr algn="ctr"/>
            <a:endParaRPr/>
          </a:p>
        </p:txBody>
      </p:sp>
      <p:sp>
        <p:nvSpPr>
          <p:cNvPr id="20" name="Text: 2022 to 2024"/>
          <p:cNvSpPr txBox="1"/>
          <p:nvPr/>
        </p:nvSpPr>
        <p:spPr>
          <a:xfrm>
            <a:off x="5219700" y="1381125"/>
            <a:ext cx="1003727" cy="190500"/>
          </a:xfrm>
          <a:prstGeom prst="rect">
            <a:avLst/>
          </a:prstGeom>
          <a:noFill/>
        </p:spPr>
        <p:txBody>
          <a:bodyPr wrap="square" lIns="0" tIns="0" rIns="0" bIns="0" anchor="t">
            <a:spAutoFit/>
          </a:bodyPr>
          <a:lstStyle/>
          <a:p>
            <a:pPr algn="l">
              <a:lnSpc>
                <a:spcPts val="1500"/>
              </a:lnSpc>
            </a:pPr>
            <a:r>
              <a:rPr sz="1125" b="0" i="0" spc="75">
                <a:solidFill>
                  <a:srgbClr val="8C6239"/>
                </a:solidFill>
                <a:latin typeface="Cambria"/>
              </a:rPr>
              <a:t>2022 to 2024</a:t>
            </a:r>
          </a:p>
        </p:txBody>
      </p:sp>
      <p:sp>
        <p:nvSpPr>
          <p:cNvPr id="21" name="Text: Three years of decline"/>
          <p:cNvSpPr txBox="1"/>
          <p:nvPr/>
        </p:nvSpPr>
        <p:spPr>
          <a:xfrm>
            <a:off x="5219700" y="1600200"/>
            <a:ext cx="2433638" cy="161925"/>
          </a:xfrm>
          <a:prstGeom prst="rect">
            <a:avLst/>
          </a:prstGeom>
          <a:noFill/>
        </p:spPr>
        <p:txBody>
          <a:bodyPr wrap="square" lIns="0" tIns="0" rIns="0" bIns="0" anchor="t">
            <a:spAutoFit/>
          </a:bodyPr>
          <a:lstStyle/>
          <a:p>
            <a:pPr algn="l">
              <a:lnSpc>
                <a:spcPts val="1275"/>
              </a:lnSpc>
            </a:pPr>
            <a:r>
              <a:rPr sz="938" b="1" i="0" spc="15">
                <a:solidFill>
                  <a:srgbClr val="1B1A1A"/>
                </a:solidFill>
                <a:latin typeface="Calibri"/>
              </a:rPr>
              <a:t>Three years of decline</a:t>
            </a:r>
          </a:p>
        </p:txBody>
      </p:sp>
      <p:sp>
        <p:nvSpPr>
          <p:cNvPr id="22" name="Text: Annual volume fell from 998 to 682"/>
          <p:cNvSpPr txBox="1"/>
          <p:nvPr/>
        </p:nvSpPr>
        <p:spPr>
          <a:xfrm>
            <a:off x="5219700" y="1819275"/>
            <a:ext cx="2433638" cy="457200"/>
          </a:xfrm>
          <a:prstGeom prst="rect">
            <a:avLst/>
          </a:prstGeom>
          <a:noFill/>
        </p:spPr>
        <p:txBody>
          <a:bodyPr wrap="square" lIns="0" tIns="0" rIns="0" bIns="0" anchor="t">
            <a:spAutoFit/>
          </a:bodyPr>
          <a:lstStyle/>
          <a:p>
            <a:pPr algn="l">
              <a:lnSpc>
                <a:spcPts val="1200"/>
              </a:lnSpc>
            </a:pPr>
            <a:r>
              <a:rPr sz="825" b="0" i="0" spc="15">
                <a:solidFill>
                  <a:srgbClr val="333231"/>
                </a:solidFill>
                <a:latin typeface="Calibri"/>
              </a:rPr>
              <a:t>Annual volume fell from 998 to 682. The Medicare conversion factor fell from $34.61 in 2022 to $32.35 in 2025 (</a:t>
            </a:r>
            <a:r>
              <a:rPr sz="825" b="0" i="0" spc="15">
                <a:solidFill>
                  <a:srgbClr val="8C6239"/>
                </a:solidFill>
                <a:latin typeface="Calibri"/>
                <a:hlinkClick r:id="rId2">
                  <a:extLst>
                    <a:ext uri="{A12FA001-AC4F-418D-AE19-62706E023703}">
                      <ahyp:hlinkClr xmlns:ahyp="http://schemas.microsoft.com/office/drawing/2018/hyperlinkcolor" val="tx"/>
                    </a:ext>
                  </a:extLst>
                </a:hlinkClick>
              </a:rPr>
              <a:t>AMA</a:t>
            </a:r>
            <a:r>
              <a:rPr sz="825" b="0" i="0" spc="15">
                <a:solidFill>
                  <a:srgbClr val="333231"/>
                </a:solidFill>
                <a:latin typeface="Calibri"/>
              </a:rPr>
              <a:t>).</a:t>
            </a:r>
          </a:p>
        </p:txBody>
      </p:sp>
      <p:sp>
        <p:nvSpPr>
          <p:cNvPr id="23" name="Rectangle 22"/>
          <p:cNvSpPr/>
          <p:nvPr/>
        </p:nvSpPr>
        <p:spPr>
          <a:xfrm>
            <a:off x="7886700" y="1238250"/>
            <a:ext cx="1752600" cy="1762125"/>
          </a:xfrm>
          <a:prstGeom prst="rect">
            <a:avLst/>
          </a:prstGeom>
          <a:solidFill>
            <a:srgbClr val="FAF7F3"/>
          </a:solidFill>
          <a:ln>
            <a:noFill/>
          </a:ln>
          <a:effectLst/>
        </p:spPr>
        <p:txBody>
          <a:bodyPr rtlCol="0" anchor="ctr"/>
          <a:lstStyle/>
          <a:p>
            <a:pPr algn="ctr"/>
            <a:endParaRPr/>
          </a:p>
        </p:txBody>
      </p:sp>
      <p:sp>
        <p:nvSpPr>
          <p:cNvPr id="24" name="Rectangle 23"/>
          <p:cNvSpPr/>
          <p:nvPr/>
        </p:nvSpPr>
        <p:spPr>
          <a:xfrm>
            <a:off x="7886700" y="1238250"/>
            <a:ext cx="1752600" cy="28575"/>
          </a:xfrm>
          <a:prstGeom prst="rect">
            <a:avLst/>
          </a:prstGeom>
          <a:solidFill>
            <a:srgbClr val="B68757"/>
          </a:solidFill>
          <a:ln>
            <a:noFill/>
          </a:ln>
          <a:effectLst/>
        </p:spPr>
        <p:txBody>
          <a:bodyPr rtlCol="0" anchor="ctr"/>
          <a:lstStyle/>
          <a:p>
            <a:pPr algn="ctr"/>
            <a:endParaRPr/>
          </a:p>
        </p:txBody>
      </p:sp>
      <p:sp>
        <p:nvSpPr>
          <p:cNvPr id="25" name="Text: 2025 to 2026"/>
          <p:cNvSpPr txBox="1"/>
          <p:nvPr/>
        </p:nvSpPr>
        <p:spPr>
          <a:xfrm>
            <a:off x="8020050" y="1381125"/>
            <a:ext cx="1000616" cy="190500"/>
          </a:xfrm>
          <a:prstGeom prst="rect">
            <a:avLst/>
          </a:prstGeom>
          <a:noFill/>
        </p:spPr>
        <p:txBody>
          <a:bodyPr wrap="square" lIns="0" tIns="0" rIns="0" bIns="0" anchor="t">
            <a:spAutoFit/>
          </a:bodyPr>
          <a:lstStyle/>
          <a:p>
            <a:pPr algn="l">
              <a:lnSpc>
                <a:spcPts val="1500"/>
              </a:lnSpc>
            </a:pPr>
            <a:r>
              <a:rPr sz="1125" b="0" i="0" spc="75">
                <a:solidFill>
                  <a:srgbClr val="8C6239"/>
                </a:solidFill>
                <a:latin typeface="Cambria"/>
              </a:rPr>
              <a:t>2025 to 2026</a:t>
            </a:r>
          </a:p>
        </p:txBody>
      </p:sp>
      <p:sp>
        <p:nvSpPr>
          <p:cNvPr id="26" name="Text: Strategic buyers lead"/>
          <p:cNvSpPr txBox="1"/>
          <p:nvPr/>
        </p:nvSpPr>
        <p:spPr>
          <a:xfrm>
            <a:off x="8020050" y="1600200"/>
            <a:ext cx="1500188" cy="161925"/>
          </a:xfrm>
          <a:prstGeom prst="rect">
            <a:avLst/>
          </a:prstGeom>
          <a:noFill/>
        </p:spPr>
        <p:txBody>
          <a:bodyPr wrap="square" lIns="0" tIns="0" rIns="0" bIns="0" anchor="t">
            <a:spAutoFit/>
          </a:bodyPr>
          <a:lstStyle/>
          <a:p>
            <a:pPr algn="l">
              <a:lnSpc>
                <a:spcPts val="1275"/>
              </a:lnSpc>
            </a:pPr>
            <a:r>
              <a:rPr sz="938" b="1" i="0" spc="15">
                <a:solidFill>
                  <a:srgbClr val="1B1A1A"/>
                </a:solidFill>
                <a:latin typeface="Calibri"/>
              </a:rPr>
              <a:t>Strategic buyers lead</a:t>
            </a:r>
          </a:p>
        </p:txBody>
      </p:sp>
      <p:sp>
        <p:nvSpPr>
          <p:cNvPr id="27" name="Text: Volume recovered to an estimated 7"/>
          <p:cNvSpPr txBox="1"/>
          <p:nvPr/>
        </p:nvSpPr>
        <p:spPr>
          <a:xfrm>
            <a:off x="8020050" y="1819275"/>
            <a:ext cx="1500188" cy="1066800"/>
          </a:xfrm>
          <a:prstGeom prst="rect">
            <a:avLst/>
          </a:prstGeom>
          <a:noFill/>
        </p:spPr>
        <p:txBody>
          <a:bodyPr wrap="square" lIns="0" tIns="0" rIns="0" bIns="0" anchor="t">
            <a:spAutoFit/>
          </a:bodyPr>
          <a:lstStyle/>
          <a:p>
            <a:pPr algn="l">
              <a:lnSpc>
                <a:spcPts val="1200"/>
              </a:lnSpc>
            </a:pPr>
            <a:r>
              <a:rPr sz="825" b="0" i="0" spc="15">
                <a:solidFill>
                  <a:srgbClr val="333231"/>
                </a:solidFill>
                <a:latin typeface="Calibri"/>
              </a:rPr>
              <a:t>Volume recovered to an estimated 747 in 2025. The first half of 2026 produced an estimated 337, while medtech deal value reached $36.5 billion and biopharma deal value reached $130 billion.</a:t>
            </a:r>
          </a:p>
        </p:txBody>
      </p:sp>
      <p:sp>
        <p:nvSpPr>
          <p:cNvPr id="28" name="Text: US private equity healthcare servi"/>
          <p:cNvSpPr txBox="1"/>
          <p:nvPr/>
        </p:nvSpPr>
        <p:spPr>
          <a:xfrm>
            <a:off x="419100" y="3152775"/>
            <a:ext cx="9234488" cy="161925"/>
          </a:xfrm>
          <a:prstGeom prst="rect">
            <a:avLst/>
          </a:prstGeom>
          <a:noFill/>
        </p:spPr>
        <p:txBody>
          <a:bodyPr wrap="square" lIns="0" tIns="0" rIns="0" bIns="0" anchor="t">
            <a:spAutoFit/>
          </a:bodyPr>
          <a:lstStyle/>
          <a:p>
            <a:pPr algn="l">
              <a:lnSpc>
                <a:spcPts val="1275"/>
              </a:lnSpc>
            </a:pPr>
            <a:r>
              <a:rPr sz="938" b="1" i="0" spc="15">
                <a:solidFill>
                  <a:srgbClr val="1B1A1A"/>
                </a:solidFill>
                <a:latin typeface="Calibri"/>
              </a:rPr>
              <a:t>US private equity healthcare services transactions</a:t>
            </a:r>
          </a:p>
        </p:txBody>
      </p:sp>
      <p:sp>
        <p:nvSpPr>
          <p:cNvPr id="29" name="Text: Announced or closed transactions p"/>
          <p:cNvSpPr txBox="1"/>
          <p:nvPr/>
        </p:nvSpPr>
        <p:spPr>
          <a:xfrm>
            <a:off x="419100" y="3314700"/>
            <a:ext cx="9234488" cy="133350"/>
          </a:xfrm>
          <a:prstGeom prst="rect">
            <a:avLst/>
          </a:prstGeom>
          <a:noFill/>
        </p:spPr>
        <p:txBody>
          <a:bodyPr wrap="square" lIns="0" tIns="0" rIns="0" bIns="0" anchor="t">
            <a:spAutoFit/>
          </a:bodyPr>
          <a:lstStyle/>
          <a:p>
            <a:pPr algn="l">
              <a:lnSpc>
                <a:spcPts val="1050"/>
              </a:lnSpc>
            </a:pPr>
            <a:r>
              <a:rPr sz="750" b="0" i="0" spc="15">
                <a:solidFill>
                  <a:srgbClr val="6F6A66"/>
                </a:solidFill>
                <a:latin typeface="Calibri"/>
              </a:rPr>
              <a:t>Announced or closed transactions per year. Source: PitchBook, </a:t>
            </a:r>
            <a:r>
              <a:rPr sz="750" b="0" i="0" spc="15">
                <a:solidFill>
                  <a:srgbClr val="8C6239"/>
                </a:solidFill>
                <a:latin typeface="Calibri"/>
                <a:hlinkClick r:id="rId3">
                  <a:extLst>
                    <a:ext uri="{A12FA001-AC4F-418D-AE19-62706E023703}">
                      <ahyp:hlinkClr xmlns:ahyp="http://schemas.microsoft.com/office/drawing/2018/hyperlinkcolor" val="tx"/>
                    </a:ext>
                  </a:extLst>
                </a:hlinkClick>
              </a:rPr>
              <a:t>Q4 2025 Healthcare Services Report</a:t>
            </a:r>
            <a:r>
              <a:rPr sz="750" b="0" i="0" spc="15">
                <a:solidFill>
                  <a:srgbClr val="6F6A66"/>
                </a:solidFill>
                <a:latin typeface="Calibri"/>
              </a:rPr>
              <a:t>; 2026 from </a:t>
            </a:r>
            <a:r>
              <a:rPr sz="750" b="0" i="0" spc="15">
                <a:solidFill>
                  <a:srgbClr val="8C6239"/>
                </a:solidFill>
                <a:latin typeface="Calibri"/>
                <a:hlinkClick r:id="rId4">
                  <a:extLst>
                    <a:ext uri="{A12FA001-AC4F-418D-AE19-62706E023703}">
                      <ahyp:hlinkClr xmlns:ahyp="http://schemas.microsoft.com/office/drawing/2018/hyperlinkcolor" val="tx"/>
                    </a:ext>
                  </a:extLst>
                </a:hlinkClick>
              </a:rPr>
              <a:t>PitchBook via Fierce Healthcare</a:t>
            </a:r>
          </a:p>
        </p:txBody>
      </p:sp>
      <p:graphicFrame>
        <p:nvGraphicFramePr>
          <p:cNvPr id="30" name="Chart (edit data to update)"/>
          <p:cNvGraphicFramePr>
            <a:graphicFrameLocks noGrp="1"/>
          </p:cNvGraphicFramePr>
          <p:nvPr/>
        </p:nvGraphicFramePr>
        <p:xfrm>
          <a:off x="419100" y="3752850"/>
          <a:ext cx="9220200" cy="3181350"/>
        </p:xfrm>
        <a:graphic>
          <a:graphicData uri="http://schemas.openxmlformats.org/drawingml/2006/chart">
            <c:chart xmlns:c="http://schemas.openxmlformats.org/drawingml/2006/chart" xmlns:r="http://schemas.openxmlformats.org/officeDocument/2006/relationships" r:id="rId5"/>
          </a:graphicData>
        </a:graphic>
      </p:graphicFrame>
      <p:sp>
        <p:nvSpPr>
          <p:cNvPr id="31" name="Rectangle 30"/>
          <p:cNvSpPr/>
          <p:nvPr/>
        </p:nvSpPr>
        <p:spPr>
          <a:xfrm>
            <a:off x="419100" y="7029450"/>
            <a:ext cx="9220200" cy="9525"/>
          </a:xfrm>
          <a:prstGeom prst="rect">
            <a:avLst/>
          </a:prstGeom>
          <a:solidFill>
            <a:srgbClr val="E3DCD3"/>
          </a:solidFill>
          <a:ln>
            <a:noFill/>
          </a:ln>
          <a:effectLst/>
        </p:spPr>
        <p:txBody>
          <a:bodyPr rtlCol="0" anchor="ctr"/>
          <a:lstStyle/>
          <a:p>
            <a:pPr algn="ctr"/>
            <a:endParaRPr/>
          </a:p>
        </p:txBody>
      </p:sp>
      <p:pic>
        <p:nvPicPr>
          <p:cNvPr id="32" name="Picture 31" descr="Benchmark International"/>
          <p:cNvPicPr>
            <a:picLocks noChangeAspect="1"/>
          </p:cNvPicPr>
          <p:nvPr/>
        </p:nvPicPr>
        <p:blipFill>
          <a:blip r:embed="rId6"/>
          <a:srcRect/>
          <a:stretch>
            <a:fillRect/>
          </a:stretch>
        </p:blipFill>
        <p:spPr>
          <a:xfrm>
            <a:off x="419100" y="7143750"/>
            <a:ext cx="914400" cy="171450"/>
          </a:xfrm>
          <a:prstGeom prst="rect">
            <a:avLst/>
          </a:prstGeom>
        </p:spPr>
      </p:pic>
      <p:sp>
        <p:nvSpPr>
          <p:cNvPr id="33" name="Text: * 2026 is the annualized pace of a"/>
          <p:cNvSpPr txBox="1"/>
          <p:nvPr/>
        </p:nvSpPr>
        <p:spPr>
          <a:xfrm>
            <a:off x="1543050" y="7105650"/>
            <a:ext cx="7748588" cy="238125"/>
          </a:xfrm>
          <a:prstGeom prst="rect">
            <a:avLst/>
          </a:prstGeom>
          <a:noFill/>
        </p:spPr>
        <p:txBody>
          <a:bodyPr wrap="square" lIns="0" tIns="0" rIns="0" bIns="0" anchor="t">
            <a:spAutoFit/>
          </a:bodyPr>
          <a:lstStyle/>
          <a:p>
            <a:pPr algn="l">
              <a:lnSpc>
                <a:spcPts val="938"/>
              </a:lnSpc>
            </a:pPr>
            <a:r>
              <a:rPr sz="675" b="0" i="0" spc="8">
                <a:solidFill>
                  <a:srgbClr val="6F6A66"/>
                </a:solidFill>
                <a:latin typeface="Calibri"/>
              </a:rPr>
              <a:t>* 2026 is the annualized pace of an estimated 337 transactions in the first half. Annual counts are the chart labels in PitchBook's Q4 2025 report, and PitchBook restates earlier years as late-reported transactions are added. The 2025 count is an estimate.</a:t>
            </a:r>
          </a:p>
        </p:txBody>
      </p:sp>
      <p:sp>
        <p:nvSpPr>
          <p:cNvPr id="34" name="Text: 10"/>
          <p:cNvSpPr txBox="1"/>
          <p:nvPr/>
        </p:nvSpPr>
        <p:spPr>
          <a:xfrm>
            <a:off x="9509373" y="7162800"/>
            <a:ext cx="144214" cy="133350"/>
          </a:xfrm>
          <a:prstGeom prst="rect">
            <a:avLst/>
          </a:prstGeom>
          <a:noFill/>
        </p:spPr>
        <p:txBody>
          <a:bodyPr wrap="square" lIns="0" tIns="0" rIns="0" bIns="0" anchor="t">
            <a:spAutoFit/>
          </a:bodyPr>
          <a:lstStyle/>
          <a:p>
            <a:pPr algn="l">
              <a:lnSpc>
                <a:spcPts val="1050"/>
              </a:lnSpc>
            </a:pPr>
            <a:r>
              <a:rPr sz="712" b="1" i="0" spc="150">
                <a:solidFill>
                  <a:srgbClr val="1B1A1A"/>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57150" cy="7772400"/>
          </a:xfrm>
          <a:prstGeom prst="rect">
            <a:avLst/>
          </a:prstGeom>
          <a:solidFill>
            <a:srgbClr val="B68757"/>
          </a:solidFill>
          <a:ln>
            <a:noFill/>
          </a:ln>
          <a:effectLst/>
        </p:spPr>
        <p:txBody>
          <a:bodyPr rtlCol="0" anchor="ctr"/>
          <a:lstStyle/>
          <a:p>
            <a:pPr algn="ctr"/>
            <a:endParaRPr/>
          </a:p>
        </p:txBody>
      </p:sp>
      <p:sp>
        <p:nvSpPr>
          <p:cNvPr id="3" name="Text: HEALTHCARE | QUARTERLY SECTOR BRIE"/>
          <p:cNvSpPr txBox="1"/>
          <p:nvPr/>
        </p:nvSpPr>
        <p:spPr>
          <a:xfrm>
            <a:off x="419100" y="381000"/>
            <a:ext cx="2439591" cy="133350"/>
          </a:xfrm>
          <a:prstGeom prst="rect">
            <a:avLst/>
          </a:prstGeom>
          <a:noFill/>
        </p:spPr>
        <p:txBody>
          <a:bodyPr wrap="none" lIns="0" tIns="0" rIns="0" bIns="0" anchor="t">
            <a:spAutoFit/>
          </a:bodyPr>
          <a:lstStyle/>
          <a:p>
            <a:pPr algn="l">
              <a:lnSpc>
                <a:spcPts val="1050"/>
              </a:lnSpc>
            </a:pPr>
            <a:r>
              <a:rPr sz="675" b="1" i="0" spc="195">
                <a:solidFill>
                  <a:srgbClr val="8C6239"/>
                </a:solidFill>
                <a:latin typeface="Calibri"/>
              </a:rPr>
              <a:t>HEALTHCARE | QUARTERLY INDUSTRY REPORT</a:t>
            </a:r>
          </a:p>
        </p:txBody>
      </p:sp>
      <p:sp>
        <p:nvSpPr>
          <p:cNvPr id="4" name="Text: Q4 2026"/>
          <p:cNvSpPr txBox="1"/>
          <p:nvPr/>
        </p:nvSpPr>
        <p:spPr>
          <a:xfrm>
            <a:off x="9188648" y="361950"/>
            <a:ext cx="464939" cy="171450"/>
          </a:xfrm>
          <a:prstGeom prst="rect">
            <a:avLst/>
          </a:prstGeom>
          <a:noFill/>
        </p:spPr>
        <p:txBody>
          <a:bodyPr wrap="square" lIns="0" tIns="0" rIns="0" bIns="0" anchor="t">
            <a:spAutoFit/>
          </a:bodyPr>
          <a:lstStyle/>
          <a:p>
            <a:pPr algn="l">
              <a:lnSpc>
                <a:spcPts val="1350"/>
              </a:lnSpc>
            </a:pPr>
            <a:r>
              <a:rPr sz="900" b="0" i="0" spc="90">
                <a:solidFill>
                  <a:srgbClr val="6F6A66"/>
                </a:solidFill>
                <a:latin typeface="Cambria"/>
              </a:rPr>
              <a:t>Q4 2026</a:t>
            </a:r>
          </a:p>
        </p:txBody>
      </p:sp>
      <p:sp>
        <p:nvSpPr>
          <p:cNvPr id="5" name="Text: Healthcare Market Landscape: Selec"/>
          <p:cNvSpPr txBox="1"/>
          <p:nvPr/>
        </p:nvSpPr>
        <p:spPr>
          <a:xfrm>
            <a:off x="419100" y="523875"/>
            <a:ext cx="9234488" cy="323850"/>
          </a:xfrm>
          <a:prstGeom prst="rect">
            <a:avLst/>
          </a:prstGeom>
          <a:noFill/>
        </p:spPr>
        <p:txBody>
          <a:bodyPr wrap="square" lIns="0" tIns="0" rIns="0" bIns="0" anchor="t">
            <a:spAutoFit/>
          </a:bodyPr>
          <a:lstStyle/>
          <a:p>
            <a:pPr algn="l">
              <a:lnSpc>
                <a:spcPts val="2550"/>
              </a:lnSpc>
            </a:pPr>
            <a:r>
              <a:rPr sz="2025" b="1" i="0">
                <a:solidFill>
                  <a:srgbClr val="1B1A1A"/>
                </a:solidFill>
                <a:latin typeface="Cambria"/>
              </a:rPr>
              <a:t>Healthcare Market: Select Participants</a:t>
            </a:r>
          </a:p>
        </p:txBody>
      </p:sp>
      <p:sp>
        <p:nvSpPr>
          <p:cNvPr id="6" name="Text: The listed reference companies in "/>
          <p:cNvSpPr txBox="1"/>
          <p:nvPr/>
        </p:nvSpPr>
        <p:spPr>
          <a:xfrm>
            <a:off x="419100" y="885825"/>
            <a:ext cx="10215086" cy="180975"/>
          </a:xfrm>
          <a:prstGeom prst="rect">
            <a:avLst/>
          </a:prstGeom>
          <a:noFill/>
        </p:spPr>
        <p:txBody>
          <a:bodyPr wrap="square" lIns="0" tIns="0" rIns="0" bIns="0" anchor="t">
            <a:spAutoFit/>
          </a:bodyPr>
          <a:lstStyle/>
          <a:p>
            <a:pPr algn="l">
              <a:lnSpc>
                <a:spcPts val="1388"/>
              </a:lnSpc>
            </a:pPr>
            <a:r>
              <a:rPr sz="938" b="0" i="0" spc="15">
                <a:solidFill>
                  <a:srgbClr val="6F6A66"/>
                </a:solidFill>
                <a:latin typeface="Calibri"/>
              </a:rPr>
              <a:t>The listed reference companies in each sector and the private platforms, sponsors, and strategic buyers acquiring founder-owned businesses.</a:t>
            </a:r>
          </a:p>
        </p:txBody>
      </p:sp>
      <p:sp>
        <p:nvSpPr>
          <p:cNvPr id="7" name="Rectangle 6"/>
          <p:cNvSpPr/>
          <p:nvPr/>
        </p:nvSpPr>
        <p:spPr>
          <a:xfrm>
            <a:off x="419100" y="1143000"/>
            <a:ext cx="9220200" cy="9525"/>
          </a:xfrm>
          <a:prstGeom prst="rect">
            <a:avLst/>
          </a:prstGeom>
          <a:solidFill>
            <a:srgbClr val="E3DCD3"/>
          </a:solidFill>
          <a:ln>
            <a:noFill/>
          </a:ln>
          <a:effectLst/>
        </p:spPr>
        <p:txBody>
          <a:bodyPr rtlCol="0" anchor="ctr"/>
          <a:lstStyle/>
          <a:p>
            <a:pPr algn="ctr"/>
            <a:endParaRPr/>
          </a:p>
        </p:txBody>
      </p:sp>
      <p:sp>
        <p:nvSpPr>
          <p:cNvPr id="8" name="Rectangle 7"/>
          <p:cNvSpPr/>
          <p:nvPr/>
        </p:nvSpPr>
        <p:spPr>
          <a:xfrm>
            <a:off x="419100" y="1238250"/>
            <a:ext cx="2205038" cy="5695950"/>
          </a:xfrm>
          <a:prstGeom prst="rect">
            <a:avLst/>
          </a:prstGeom>
          <a:solidFill>
            <a:srgbClr val="FAF7F3"/>
          </a:solidFill>
          <a:ln>
            <a:noFill/>
          </a:ln>
          <a:effectLst/>
        </p:spPr>
        <p:txBody>
          <a:bodyPr rtlCol="0" anchor="ctr"/>
          <a:lstStyle/>
          <a:p>
            <a:pPr algn="ctr"/>
            <a:endParaRPr/>
          </a:p>
        </p:txBody>
      </p:sp>
      <p:sp>
        <p:nvSpPr>
          <p:cNvPr id="9" name="Rectangle 8"/>
          <p:cNvSpPr/>
          <p:nvPr/>
        </p:nvSpPr>
        <p:spPr>
          <a:xfrm>
            <a:off x="419100" y="1238250"/>
            <a:ext cx="2205038" cy="9525"/>
          </a:xfrm>
          <a:prstGeom prst="rect">
            <a:avLst/>
          </a:prstGeom>
          <a:solidFill>
            <a:srgbClr val="E3DCD3"/>
          </a:solidFill>
          <a:ln>
            <a:noFill/>
          </a:ln>
          <a:effectLst/>
        </p:spPr>
        <p:txBody>
          <a:bodyPr rtlCol="0" anchor="ctr"/>
          <a:lstStyle/>
          <a:p>
            <a:pPr algn="ctr"/>
            <a:endParaRPr/>
          </a:p>
        </p:txBody>
      </p:sp>
      <p:sp>
        <p:nvSpPr>
          <p:cNvPr id="10" name="Rectangle 9"/>
          <p:cNvSpPr/>
          <p:nvPr/>
        </p:nvSpPr>
        <p:spPr>
          <a:xfrm>
            <a:off x="2614612" y="1238250"/>
            <a:ext cx="9525" cy="5695950"/>
          </a:xfrm>
          <a:prstGeom prst="rect">
            <a:avLst/>
          </a:prstGeom>
          <a:solidFill>
            <a:srgbClr val="E3DCD3"/>
          </a:solidFill>
          <a:ln>
            <a:noFill/>
          </a:ln>
          <a:effectLst/>
        </p:spPr>
        <p:txBody>
          <a:bodyPr rtlCol="0" anchor="ctr"/>
          <a:lstStyle/>
          <a:p>
            <a:pPr algn="ctr"/>
            <a:endParaRPr/>
          </a:p>
        </p:txBody>
      </p:sp>
      <p:sp>
        <p:nvSpPr>
          <p:cNvPr id="11" name="Rectangle 10"/>
          <p:cNvSpPr/>
          <p:nvPr/>
        </p:nvSpPr>
        <p:spPr>
          <a:xfrm>
            <a:off x="419100" y="6924675"/>
            <a:ext cx="2205038" cy="9525"/>
          </a:xfrm>
          <a:prstGeom prst="rect">
            <a:avLst/>
          </a:prstGeom>
          <a:solidFill>
            <a:srgbClr val="E3DCD3"/>
          </a:solidFill>
          <a:ln>
            <a:noFill/>
          </a:ln>
          <a:effectLst/>
        </p:spPr>
        <p:txBody>
          <a:bodyPr rtlCol="0" anchor="ctr"/>
          <a:lstStyle/>
          <a:p>
            <a:pPr algn="ctr"/>
            <a:endParaRPr/>
          </a:p>
        </p:txBody>
      </p:sp>
      <p:sp>
        <p:nvSpPr>
          <p:cNvPr id="12" name="Rectangle 11"/>
          <p:cNvSpPr/>
          <p:nvPr/>
        </p:nvSpPr>
        <p:spPr>
          <a:xfrm>
            <a:off x="419100" y="1238250"/>
            <a:ext cx="9525" cy="5695950"/>
          </a:xfrm>
          <a:prstGeom prst="rect">
            <a:avLst/>
          </a:prstGeom>
          <a:solidFill>
            <a:srgbClr val="E3DCD3"/>
          </a:solidFill>
          <a:ln>
            <a:noFill/>
          </a:ln>
          <a:effectLst/>
        </p:spPr>
        <p:txBody>
          <a:bodyPr rtlCol="0" anchor="ctr"/>
          <a:lstStyle/>
          <a:p>
            <a:pPr algn="ctr"/>
            <a:endParaRPr/>
          </a:p>
        </p:txBody>
      </p:sp>
      <p:sp>
        <p:nvSpPr>
          <p:cNvPr id="13" name="Rectangle 12"/>
          <p:cNvSpPr/>
          <p:nvPr/>
        </p:nvSpPr>
        <p:spPr>
          <a:xfrm>
            <a:off x="428625" y="1247775"/>
            <a:ext cx="2185988" cy="419100"/>
          </a:xfrm>
          <a:prstGeom prst="rect">
            <a:avLst/>
          </a:prstGeom>
          <a:solidFill>
            <a:srgbClr val="1B1A1A"/>
          </a:solidFill>
          <a:ln>
            <a:noFill/>
          </a:ln>
          <a:effectLst/>
        </p:spPr>
        <p:txBody>
          <a:bodyPr rtlCol="0" anchor="ctr"/>
          <a:lstStyle/>
          <a:p>
            <a:pPr algn="ctr"/>
            <a:endParaRPr/>
          </a:p>
        </p:txBody>
      </p:sp>
      <p:pic>
        <p:nvPicPr>
          <p:cNvPr id="14" name="Picture 13" descr="v2acca1c8a04e.png"/>
          <p:cNvPicPr>
            <a:picLocks noChangeAspect="1"/>
          </p:cNvPicPr>
          <p:nvPr/>
        </p:nvPicPr>
        <p:blipFill>
          <a:blip r:embed="rId2"/>
          <a:stretch>
            <a:fillRect/>
          </a:stretch>
        </p:blipFill>
        <p:spPr>
          <a:xfrm>
            <a:off x="542925" y="1333500"/>
            <a:ext cx="247650" cy="247650"/>
          </a:xfrm>
          <a:prstGeom prst="rect">
            <a:avLst/>
          </a:prstGeom>
        </p:spPr>
      </p:pic>
      <p:sp>
        <p:nvSpPr>
          <p:cNvPr id="15" name="Text: PROVIDER SERVICES"/>
          <p:cNvSpPr txBox="1"/>
          <p:nvPr/>
        </p:nvSpPr>
        <p:spPr>
          <a:xfrm>
            <a:off x="885825" y="1395412"/>
            <a:ext cx="1013668" cy="123825"/>
          </a:xfrm>
          <a:prstGeom prst="rect">
            <a:avLst/>
          </a:prstGeom>
          <a:noFill/>
        </p:spPr>
        <p:txBody>
          <a:bodyPr wrap="square" lIns="0" tIns="0" rIns="0" bIns="0" anchor="t">
            <a:spAutoFit/>
          </a:bodyPr>
          <a:lstStyle/>
          <a:p>
            <a:pPr algn="l">
              <a:lnSpc>
                <a:spcPts val="975"/>
              </a:lnSpc>
            </a:pPr>
            <a:r>
              <a:rPr sz="712" b="1" i="0" spc="112">
                <a:solidFill>
                  <a:srgbClr val="FFFFFF"/>
                </a:solidFill>
                <a:latin typeface="Calibri"/>
              </a:rPr>
              <a:t>PROVIDER SERVICES</a:t>
            </a:r>
          </a:p>
        </p:txBody>
      </p:sp>
      <p:sp>
        <p:nvSpPr>
          <p:cNvPr id="16" name="Text: LISTED COMPANIES"/>
          <p:cNvSpPr txBox="1"/>
          <p:nvPr/>
        </p:nvSpPr>
        <p:spPr>
          <a:xfrm>
            <a:off x="542925" y="1771650"/>
            <a:ext cx="1971675" cy="123825"/>
          </a:xfrm>
          <a:prstGeom prst="rect">
            <a:avLst/>
          </a:prstGeom>
          <a:noFill/>
        </p:spPr>
        <p:txBody>
          <a:bodyPr wrap="square" lIns="0" tIns="0" rIns="0" bIns="0" anchor="t">
            <a:spAutoFit/>
          </a:bodyPr>
          <a:lstStyle/>
          <a:p>
            <a:pPr algn="l">
              <a:lnSpc>
                <a:spcPts val="975"/>
              </a:lnSpc>
            </a:pPr>
            <a:r>
              <a:rPr sz="638" b="1" i="0" spc="150">
                <a:solidFill>
                  <a:srgbClr val="8C6239"/>
                </a:solidFill>
                <a:latin typeface="Calibri"/>
              </a:rPr>
              <a:t>LISTED COMPANIES</a:t>
            </a:r>
          </a:p>
        </p:txBody>
      </p:sp>
      <p:sp>
        <p:nvSpPr>
          <p:cNvPr id="17" name="Rectangle 16"/>
          <p:cNvSpPr/>
          <p:nvPr/>
        </p:nvSpPr>
        <p:spPr>
          <a:xfrm>
            <a:off x="542925" y="1952625"/>
            <a:ext cx="1957388" cy="228600"/>
          </a:xfrm>
          <a:prstGeom prst="rect">
            <a:avLst/>
          </a:prstGeom>
          <a:solidFill>
            <a:srgbClr val="FFFFFF"/>
          </a:solidFill>
          <a:ln>
            <a:noFill/>
          </a:ln>
          <a:effectLst/>
        </p:spPr>
        <p:txBody>
          <a:bodyPr rtlCol="0" anchor="ctr"/>
          <a:lstStyle/>
          <a:p>
            <a:pPr algn="ctr"/>
            <a:endParaRPr/>
          </a:p>
        </p:txBody>
      </p:sp>
      <p:sp>
        <p:nvSpPr>
          <p:cNvPr id="18" name="Rectangle 17"/>
          <p:cNvSpPr/>
          <p:nvPr/>
        </p:nvSpPr>
        <p:spPr>
          <a:xfrm>
            <a:off x="542925" y="1952625"/>
            <a:ext cx="1957388" cy="9525"/>
          </a:xfrm>
          <a:prstGeom prst="rect">
            <a:avLst/>
          </a:prstGeom>
          <a:solidFill>
            <a:srgbClr val="E3DCD3"/>
          </a:solidFill>
          <a:ln>
            <a:noFill/>
          </a:ln>
          <a:effectLst/>
        </p:spPr>
        <p:txBody>
          <a:bodyPr rtlCol="0" anchor="ctr"/>
          <a:lstStyle/>
          <a:p>
            <a:pPr algn="ctr"/>
            <a:endParaRPr/>
          </a:p>
        </p:txBody>
      </p:sp>
      <p:sp>
        <p:nvSpPr>
          <p:cNvPr id="19" name="Rectangle 18"/>
          <p:cNvSpPr/>
          <p:nvPr/>
        </p:nvSpPr>
        <p:spPr>
          <a:xfrm>
            <a:off x="2490788" y="1952625"/>
            <a:ext cx="9525" cy="228600"/>
          </a:xfrm>
          <a:prstGeom prst="rect">
            <a:avLst/>
          </a:prstGeom>
          <a:solidFill>
            <a:srgbClr val="E3DCD3"/>
          </a:solidFill>
          <a:ln>
            <a:noFill/>
          </a:ln>
          <a:effectLst/>
        </p:spPr>
        <p:txBody>
          <a:bodyPr rtlCol="0" anchor="ctr"/>
          <a:lstStyle/>
          <a:p>
            <a:pPr algn="ctr"/>
            <a:endParaRPr/>
          </a:p>
        </p:txBody>
      </p:sp>
      <p:sp>
        <p:nvSpPr>
          <p:cNvPr id="20" name="Rectangle 19"/>
          <p:cNvSpPr/>
          <p:nvPr/>
        </p:nvSpPr>
        <p:spPr>
          <a:xfrm>
            <a:off x="542925" y="2171700"/>
            <a:ext cx="1957388" cy="9525"/>
          </a:xfrm>
          <a:prstGeom prst="rect">
            <a:avLst/>
          </a:prstGeom>
          <a:solidFill>
            <a:srgbClr val="E3DCD3"/>
          </a:solidFill>
          <a:ln>
            <a:noFill/>
          </a:ln>
          <a:effectLst/>
        </p:spPr>
        <p:txBody>
          <a:bodyPr rtlCol="0" anchor="ctr"/>
          <a:lstStyle/>
          <a:p>
            <a:pPr algn="ctr"/>
            <a:endParaRPr/>
          </a:p>
        </p:txBody>
      </p:sp>
      <p:sp>
        <p:nvSpPr>
          <p:cNvPr id="21" name="Rectangle 20"/>
          <p:cNvSpPr/>
          <p:nvPr/>
        </p:nvSpPr>
        <p:spPr>
          <a:xfrm>
            <a:off x="542925" y="1952625"/>
            <a:ext cx="9525" cy="228600"/>
          </a:xfrm>
          <a:prstGeom prst="rect">
            <a:avLst/>
          </a:prstGeom>
          <a:solidFill>
            <a:srgbClr val="E3DCD3"/>
          </a:solidFill>
          <a:ln>
            <a:noFill/>
          </a:ln>
          <a:effectLst/>
        </p:spPr>
        <p:txBody>
          <a:bodyPr rtlCol="0" anchor="ctr"/>
          <a:lstStyle/>
          <a:p>
            <a:pPr algn="ctr"/>
            <a:endParaRPr/>
          </a:p>
        </p:txBody>
      </p:sp>
      <p:sp>
        <p:nvSpPr>
          <p:cNvPr id="22" name="Rounded Rectangle 21"/>
          <p:cNvSpPr/>
          <p:nvPr/>
        </p:nvSpPr>
        <p:spPr>
          <a:xfrm>
            <a:off x="561975" y="197167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23" name="Text: HCA">
            <a:hlinkClick r:id="rId3"/>
          </p:cNvPr>
          <p:cNvSpPr txBox="1"/>
          <p:nvPr/>
        </p:nvSpPr>
        <p:spPr>
          <a:xfrm>
            <a:off x="561975" y="197167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HCA</a:t>
            </a:r>
          </a:p>
        </p:txBody>
      </p:sp>
      <p:sp>
        <p:nvSpPr>
          <p:cNvPr id="24" name="Text: HCA Healthcare">
            <a:hlinkClick r:id="rId3"/>
          </p:cNvPr>
          <p:cNvSpPr txBox="1"/>
          <p:nvPr/>
        </p:nvSpPr>
        <p:spPr>
          <a:xfrm>
            <a:off x="990600" y="2002631"/>
            <a:ext cx="660499"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HCA Healthcare</a:t>
            </a:r>
          </a:p>
        </p:txBody>
      </p:sp>
      <p:sp>
        <p:nvSpPr>
          <p:cNvPr id="25" name="Rectangle 24"/>
          <p:cNvSpPr/>
          <p:nvPr/>
        </p:nvSpPr>
        <p:spPr>
          <a:xfrm>
            <a:off x="542925" y="2200275"/>
            <a:ext cx="1957388" cy="228600"/>
          </a:xfrm>
          <a:prstGeom prst="rect">
            <a:avLst/>
          </a:prstGeom>
          <a:solidFill>
            <a:srgbClr val="FFFFFF"/>
          </a:solidFill>
          <a:ln>
            <a:noFill/>
          </a:ln>
          <a:effectLst/>
        </p:spPr>
        <p:txBody>
          <a:bodyPr rtlCol="0" anchor="ctr"/>
          <a:lstStyle/>
          <a:p>
            <a:pPr algn="ctr"/>
            <a:endParaRPr/>
          </a:p>
        </p:txBody>
      </p:sp>
      <p:sp>
        <p:nvSpPr>
          <p:cNvPr id="26" name="Rectangle 25"/>
          <p:cNvSpPr/>
          <p:nvPr/>
        </p:nvSpPr>
        <p:spPr>
          <a:xfrm>
            <a:off x="542925" y="2200275"/>
            <a:ext cx="1957388" cy="9525"/>
          </a:xfrm>
          <a:prstGeom prst="rect">
            <a:avLst/>
          </a:prstGeom>
          <a:solidFill>
            <a:srgbClr val="E3DCD3"/>
          </a:solidFill>
          <a:ln>
            <a:noFill/>
          </a:ln>
          <a:effectLst/>
        </p:spPr>
        <p:txBody>
          <a:bodyPr rtlCol="0" anchor="ctr"/>
          <a:lstStyle/>
          <a:p>
            <a:pPr algn="ctr"/>
            <a:endParaRPr/>
          </a:p>
        </p:txBody>
      </p:sp>
      <p:sp>
        <p:nvSpPr>
          <p:cNvPr id="27" name="Rectangle 26"/>
          <p:cNvSpPr/>
          <p:nvPr/>
        </p:nvSpPr>
        <p:spPr>
          <a:xfrm>
            <a:off x="2490788" y="2200275"/>
            <a:ext cx="9525" cy="228600"/>
          </a:xfrm>
          <a:prstGeom prst="rect">
            <a:avLst/>
          </a:prstGeom>
          <a:solidFill>
            <a:srgbClr val="E3DCD3"/>
          </a:solidFill>
          <a:ln>
            <a:noFill/>
          </a:ln>
          <a:effectLst/>
        </p:spPr>
        <p:txBody>
          <a:bodyPr rtlCol="0" anchor="ctr"/>
          <a:lstStyle/>
          <a:p>
            <a:pPr algn="ctr"/>
            <a:endParaRPr/>
          </a:p>
        </p:txBody>
      </p:sp>
      <p:sp>
        <p:nvSpPr>
          <p:cNvPr id="28" name="Rectangle 27"/>
          <p:cNvSpPr/>
          <p:nvPr/>
        </p:nvSpPr>
        <p:spPr>
          <a:xfrm>
            <a:off x="542925" y="2419350"/>
            <a:ext cx="1957388" cy="9525"/>
          </a:xfrm>
          <a:prstGeom prst="rect">
            <a:avLst/>
          </a:prstGeom>
          <a:solidFill>
            <a:srgbClr val="E3DCD3"/>
          </a:solidFill>
          <a:ln>
            <a:noFill/>
          </a:ln>
          <a:effectLst/>
        </p:spPr>
        <p:txBody>
          <a:bodyPr rtlCol="0" anchor="ctr"/>
          <a:lstStyle/>
          <a:p>
            <a:pPr algn="ctr"/>
            <a:endParaRPr/>
          </a:p>
        </p:txBody>
      </p:sp>
      <p:sp>
        <p:nvSpPr>
          <p:cNvPr id="29" name="Rectangle 28"/>
          <p:cNvSpPr/>
          <p:nvPr/>
        </p:nvSpPr>
        <p:spPr>
          <a:xfrm>
            <a:off x="542925" y="2200275"/>
            <a:ext cx="9525" cy="228600"/>
          </a:xfrm>
          <a:prstGeom prst="rect">
            <a:avLst/>
          </a:prstGeom>
          <a:solidFill>
            <a:srgbClr val="E3DCD3"/>
          </a:solidFill>
          <a:ln>
            <a:noFill/>
          </a:ln>
          <a:effectLst/>
        </p:spPr>
        <p:txBody>
          <a:bodyPr rtlCol="0" anchor="ctr"/>
          <a:lstStyle/>
          <a:p>
            <a:pPr algn="ctr"/>
            <a:endParaRPr/>
          </a:p>
        </p:txBody>
      </p:sp>
      <p:sp>
        <p:nvSpPr>
          <p:cNvPr id="30" name="Rounded Rectangle 29"/>
          <p:cNvSpPr/>
          <p:nvPr/>
        </p:nvSpPr>
        <p:spPr>
          <a:xfrm>
            <a:off x="561975" y="221932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31" name="Text: THC">
            <a:hlinkClick r:id="rId4"/>
          </p:cNvPr>
          <p:cNvSpPr txBox="1"/>
          <p:nvPr/>
        </p:nvSpPr>
        <p:spPr>
          <a:xfrm>
            <a:off x="561975" y="221932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THC</a:t>
            </a:r>
          </a:p>
        </p:txBody>
      </p:sp>
      <p:sp>
        <p:nvSpPr>
          <p:cNvPr id="32" name="Text: Tenet Healthcare">
            <a:hlinkClick r:id="rId4"/>
          </p:cNvPr>
          <p:cNvSpPr txBox="1"/>
          <p:nvPr/>
        </p:nvSpPr>
        <p:spPr>
          <a:xfrm>
            <a:off x="990600" y="2250281"/>
            <a:ext cx="714375"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Tenet Healthcare</a:t>
            </a:r>
          </a:p>
        </p:txBody>
      </p:sp>
      <p:sp>
        <p:nvSpPr>
          <p:cNvPr id="33" name="Rectangle 32"/>
          <p:cNvSpPr/>
          <p:nvPr/>
        </p:nvSpPr>
        <p:spPr>
          <a:xfrm>
            <a:off x="542925" y="2447925"/>
            <a:ext cx="1957388" cy="228600"/>
          </a:xfrm>
          <a:prstGeom prst="rect">
            <a:avLst/>
          </a:prstGeom>
          <a:solidFill>
            <a:srgbClr val="FFFFFF"/>
          </a:solidFill>
          <a:ln>
            <a:noFill/>
          </a:ln>
          <a:effectLst/>
        </p:spPr>
        <p:txBody>
          <a:bodyPr rtlCol="0" anchor="ctr"/>
          <a:lstStyle/>
          <a:p>
            <a:pPr algn="ctr"/>
            <a:endParaRPr/>
          </a:p>
        </p:txBody>
      </p:sp>
      <p:sp>
        <p:nvSpPr>
          <p:cNvPr id="34" name="Rectangle 33"/>
          <p:cNvSpPr/>
          <p:nvPr/>
        </p:nvSpPr>
        <p:spPr>
          <a:xfrm>
            <a:off x="542925" y="2447925"/>
            <a:ext cx="1957388" cy="9525"/>
          </a:xfrm>
          <a:prstGeom prst="rect">
            <a:avLst/>
          </a:prstGeom>
          <a:solidFill>
            <a:srgbClr val="E3DCD3"/>
          </a:solidFill>
          <a:ln>
            <a:noFill/>
          </a:ln>
          <a:effectLst/>
        </p:spPr>
        <p:txBody>
          <a:bodyPr rtlCol="0" anchor="ctr"/>
          <a:lstStyle/>
          <a:p>
            <a:pPr algn="ctr"/>
            <a:endParaRPr/>
          </a:p>
        </p:txBody>
      </p:sp>
      <p:sp>
        <p:nvSpPr>
          <p:cNvPr id="35" name="Rectangle 34"/>
          <p:cNvSpPr/>
          <p:nvPr/>
        </p:nvSpPr>
        <p:spPr>
          <a:xfrm>
            <a:off x="2490788" y="2447925"/>
            <a:ext cx="9525" cy="228600"/>
          </a:xfrm>
          <a:prstGeom prst="rect">
            <a:avLst/>
          </a:prstGeom>
          <a:solidFill>
            <a:srgbClr val="E3DCD3"/>
          </a:solidFill>
          <a:ln>
            <a:noFill/>
          </a:ln>
          <a:effectLst/>
        </p:spPr>
        <p:txBody>
          <a:bodyPr rtlCol="0" anchor="ctr"/>
          <a:lstStyle/>
          <a:p>
            <a:pPr algn="ctr"/>
            <a:endParaRPr/>
          </a:p>
        </p:txBody>
      </p:sp>
      <p:sp>
        <p:nvSpPr>
          <p:cNvPr id="36" name="Rectangle 35"/>
          <p:cNvSpPr/>
          <p:nvPr/>
        </p:nvSpPr>
        <p:spPr>
          <a:xfrm>
            <a:off x="542925" y="2667000"/>
            <a:ext cx="1957388" cy="9525"/>
          </a:xfrm>
          <a:prstGeom prst="rect">
            <a:avLst/>
          </a:prstGeom>
          <a:solidFill>
            <a:srgbClr val="E3DCD3"/>
          </a:solidFill>
          <a:ln>
            <a:noFill/>
          </a:ln>
          <a:effectLst/>
        </p:spPr>
        <p:txBody>
          <a:bodyPr rtlCol="0" anchor="ctr"/>
          <a:lstStyle/>
          <a:p>
            <a:pPr algn="ctr"/>
            <a:endParaRPr/>
          </a:p>
        </p:txBody>
      </p:sp>
      <p:sp>
        <p:nvSpPr>
          <p:cNvPr id="37" name="Rectangle 36"/>
          <p:cNvSpPr/>
          <p:nvPr/>
        </p:nvSpPr>
        <p:spPr>
          <a:xfrm>
            <a:off x="542925" y="2447925"/>
            <a:ext cx="9525" cy="228600"/>
          </a:xfrm>
          <a:prstGeom prst="rect">
            <a:avLst/>
          </a:prstGeom>
          <a:solidFill>
            <a:srgbClr val="E3DCD3"/>
          </a:solidFill>
          <a:ln>
            <a:noFill/>
          </a:ln>
          <a:effectLst/>
        </p:spPr>
        <p:txBody>
          <a:bodyPr rtlCol="0" anchor="ctr"/>
          <a:lstStyle/>
          <a:p>
            <a:pPr algn="ctr"/>
            <a:endParaRPr/>
          </a:p>
        </p:txBody>
      </p:sp>
      <p:sp>
        <p:nvSpPr>
          <p:cNvPr id="38" name="Rounded Rectangle 37"/>
          <p:cNvSpPr/>
          <p:nvPr/>
        </p:nvSpPr>
        <p:spPr>
          <a:xfrm>
            <a:off x="561975" y="246697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39" name="Text: USPH">
            <a:hlinkClick r:id="rId5"/>
          </p:cNvPr>
          <p:cNvSpPr txBox="1"/>
          <p:nvPr/>
        </p:nvSpPr>
        <p:spPr>
          <a:xfrm>
            <a:off x="561975" y="246697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USPH</a:t>
            </a:r>
          </a:p>
        </p:txBody>
      </p:sp>
      <p:sp>
        <p:nvSpPr>
          <p:cNvPr id="40" name="Text: U.S. Physical Therapy">
            <a:hlinkClick r:id="rId5"/>
          </p:cNvPr>
          <p:cNvSpPr txBox="1"/>
          <p:nvPr/>
        </p:nvSpPr>
        <p:spPr>
          <a:xfrm>
            <a:off x="990600" y="2497931"/>
            <a:ext cx="890736"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U.S. Physical Therapy</a:t>
            </a:r>
          </a:p>
        </p:txBody>
      </p:sp>
      <p:sp>
        <p:nvSpPr>
          <p:cNvPr id="41" name="Rectangle 40"/>
          <p:cNvSpPr/>
          <p:nvPr/>
        </p:nvSpPr>
        <p:spPr>
          <a:xfrm>
            <a:off x="542925" y="2695575"/>
            <a:ext cx="1957388" cy="228600"/>
          </a:xfrm>
          <a:prstGeom prst="rect">
            <a:avLst/>
          </a:prstGeom>
          <a:solidFill>
            <a:srgbClr val="FFFFFF"/>
          </a:solidFill>
          <a:ln>
            <a:noFill/>
          </a:ln>
          <a:effectLst/>
        </p:spPr>
        <p:txBody>
          <a:bodyPr rtlCol="0" anchor="ctr"/>
          <a:lstStyle/>
          <a:p>
            <a:pPr algn="ctr"/>
            <a:endParaRPr/>
          </a:p>
        </p:txBody>
      </p:sp>
      <p:sp>
        <p:nvSpPr>
          <p:cNvPr id="42" name="Rectangle 41"/>
          <p:cNvSpPr/>
          <p:nvPr/>
        </p:nvSpPr>
        <p:spPr>
          <a:xfrm>
            <a:off x="542925" y="2695575"/>
            <a:ext cx="1957388" cy="9525"/>
          </a:xfrm>
          <a:prstGeom prst="rect">
            <a:avLst/>
          </a:prstGeom>
          <a:solidFill>
            <a:srgbClr val="E3DCD3"/>
          </a:solidFill>
          <a:ln>
            <a:noFill/>
          </a:ln>
          <a:effectLst/>
        </p:spPr>
        <p:txBody>
          <a:bodyPr rtlCol="0" anchor="ctr"/>
          <a:lstStyle/>
          <a:p>
            <a:pPr algn="ctr"/>
            <a:endParaRPr/>
          </a:p>
        </p:txBody>
      </p:sp>
      <p:sp>
        <p:nvSpPr>
          <p:cNvPr id="43" name="Rectangle 42"/>
          <p:cNvSpPr/>
          <p:nvPr/>
        </p:nvSpPr>
        <p:spPr>
          <a:xfrm>
            <a:off x="2490788" y="2695575"/>
            <a:ext cx="9525" cy="228600"/>
          </a:xfrm>
          <a:prstGeom prst="rect">
            <a:avLst/>
          </a:prstGeom>
          <a:solidFill>
            <a:srgbClr val="E3DCD3"/>
          </a:solidFill>
          <a:ln>
            <a:noFill/>
          </a:ln>
          <a:effectLst/>
        </p:spPr>
        <p:txBody>
          <a:bodyPr rtlCol="0" anchor="ctr"/>
          <a:lstStyle/>
          <a:p>
            <a:pPr algn="ctr"/>
            <a:endParaRPr/>
          </a:p>
        </p:txBody>
      </p:sp>
      <p:sp>
        <p:nvSpPr>
          <p:cNvPr id="44" name="Rectangle 43"/>
          <p:cNvSpPr/>
          <p:nvPr/>
        </p:nvSpPr>
        <p:spPr>
          <a:xfrm>
            <a:off x="542925" y="2914650"/>
            <a:ext cx="1957388" cy="9525"/>
          </a:xfrm>
          <a:prstGeom prst="rect">
            <a:avLst/>
          </a:prstGeom>
          <a:solidFill>
            <a:srgbClr val="E3DCD3"/>
          </a:solidFill>
          <a:ln>
            <a:noFill/>
          </a:ln>
          <a:effectLst/>
        </p:spPr>
        <p:txBody>
          <a:bodyPr rtlCol="0" anchor="ctr"/>
          <a:lstStyle/>
          <a:p>
            <a:pPr algn="ctr"/>
            <a:endParaRPr/>
          </a:p>
        </p:txBody>
      </p:sp>
      <p:sp>
        <p:nvSpPr>
          <p:cNvPr id="45" name="Rectangle 44"/>
          <p:cNvSpPr/>
          <p:nvPr/>
        </p:nvSpPr>
        <p:spPr>
          <a:xfrm>
            <a:off x="542925" y="2695575"/>
            <a:ext cx="9525" cy="228600"/>
          </a:xfrm>
          <a:prstGeom prst="rect">
            <a:avLst/>
          </a:prstGeom>
          <a:solidFill>
            <a:srgbClr val="E3DCD3"/>
          </a:solidFill>
          <a:ln>
            <a:noFill/>
          </a:ln>
          <a:effectLst/>
        </p:spPr>
        <p:txBody>
          <a:bodyPr rtlCol="0" anchor="ctr"/>
          <a:lstStyle/>
          <a:p>
            <a:pPr algn="ctr"/>
            <a:endParaRPr/>
          </a:p>
        </p:txBody>
      </p:sp>
      <p:sp>
        <p:nvSpPr>
          <p:cNvPr id="46" name="Rounded Rectangle 45"/>
          <p:cNvSpPr/>
          <p:nvPr/>
        </p:nvSpPr>
        <p:spPr>
          <a:xfrm>
            <a:off x="561975" y="271462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47" name="Text: DVA">
            <a:hlinkClick r:id="rId6"/>
          </p:cNvPr>
          <p:cNvSpPr txBox="1"/>
          <p:nvPr/>
        </p:nvSpPr>
        <p:spPr>
          <a:xfrm>
            <a:off x="561975" y="271462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DVA</a:t>
            </a:r>
          </a:p>
        </p:txBody>
      </p:sp>
      <p:sp>
        <p:nvSpPr>
          <p:cNvPr id="48" name="Text: DaVita">
            <a:hlinkClick r:id="rId6"/>
          </p:cNvPr>
          <p:cNvSpPr txBox="1"/>
          <p:nvPr/>
        </p:nvSpPr>
        <p:spPr>
          <a:xfrm>
            <a:off x="990600" y="2745581"/>
            <a:ext cx="291703"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DaVita</a:t>
            </a:r>
          </a:p>
        </p:txBody>
      </p:sp>
      <p:sp>
        <p:nvSpPr>
          <p:cNvPr id="49" name="Rectangle 48"/>
          <p:cNvSpPr/>
          <p:nvPr/>
        </p:nvSpPr>
        <p:spPr>
          <a:xfrm>
            <a:off x="542925" y="2943225"/>
            <a:ext cx="1957388" cy="228600"/>
          </a:xfrm>
          <a:prstGeom prst="rect">
            <a:avLst/>
          </a:prstGeom>
          <a:solidFill>
            <a:srgbClr val="FFFFFF"/>
          </a:solidFill>
          <a:ln>
            <a:noFill/>
          </a:ln>
          <a:effectLst/>
        </p:spPr>
        <p:txBody>
          <a:bodyPr rtlCol="0" anchor="ctr"/>
          <a:lstStyle/>
          <a:p>
            <a:pPr algn="ctr"/>
            <a:endParaRPr/>
          </a:p>
        </p:txBody>
      </p:sp>
      <p:sp>
        <p:nvSpPr>
          <p:cNvPr id="50" name="Rectangle 49"/>
          <p:cNvSpPr/>
          <p:nvPr/>
        </p:nvSpPr>
        <p:spPr>
          <a:xfrm>
            <a:off x="542925" y="2943225"/>
            <a:ext cx="1957388" cy="9525"/>
          </a:xfrm>
          <a:prstGeom prst="rect">
            <a:avLst/>
          </a:prstGeom>
          <a:solidFill>
            <a:srgbClr val="E3DCD3"/>
          </a:solidFill>
          <a:ln>
            <a:noFill/>
          </a:ln>
          <a:effectLst/>
        </p:spPr>
        <p:txBody>
          <a:bodyPr rtlCol="0" anchor="ctr"/>
          <a:lstStyle/>
          <a:p>
            <a:pPr algn="ctr"/>
            <a:endParaRPr/>
          </a:p>
        </p:txBody>
      </p:sp>
      <p:sp>
        <p:nvSpPr>
          <p:cNvPr id="51" name="Rectangle 50"/>
          <p:cNvSpPr/>
          <p:nvPr/>
        </p:nvSpPr>
        <p:spPr>
          <a:xfrm>
            <a:off x="2490788" y="2943225"/>
            <a:ext cx="9525" cy="228600"/>
          </a:xfrm>
          <a:prstGeom prst="rect">
            <a:avLst/>
          </a:prstGeom>
          <a:solidFill>
            <a:srgbClr val="E3DCD3"/>
          </a:solidFill>
          <a:ln>
            <a:noFill/>
          </a:ln>
          <a:effectLst/>
        </p:spPr>
        <p:txBody>
          <a:bodyPr rtlCol="0" anchor="ctr"/>
          <a:lstStyle/>
          <a:p>
            <a:pPr algn="ctr"/>
            <a:endParaRPr/>
          </a:p>
        </p:txBody>
      </p:sp>
      <p:sp>
        <p:nvSpPr>
          <p:cNvPr id="52" name="Rectangle 51"/>
          <p:cNvSpPr/>
          <p:nvPr/>
        </p:nvSpPr>
        <p:spPr>
          <a:xfrm>
            <a:off x="542925" y="3162300"/>
            <a:ext cx="1957388" cy="9525"/>
          </a:xfrm>
          <a:prstGeom prst="rect">
            <a:avLst/>
          </a:prstGeom>
          <a:solidFill>
            <a:srgbClr val="E3DCD3"/>
          </a:solidFill>
          <a:ln>
            <a:noFill/>
          </a:ln>
          <a:effectLst/>
        </p:spPr>
        <p:txBody>
          <a:bodyPr rtlCol="0" anchor="ctr"/>
          <a:lstStyle/>
          <a:p>
            <a:pPr algn="ctr"/>
            <a:endParaRPr/>
          </a:p>
        </p:txBody>
      </p:sp>
      <p:sp>
        <p:nvSpPr>
          <p:cNvPr id="53" name="Rectangle 52"/>
          <p:cNvSpPr/>
          <p:nvPr/>
        </p:nvSpPr>
        <p:spPr>
          <a:xfrm>
            <a:off x="542925" y="2943225"/>
            <a:ext cx="9525" cy="228600"/>
          </a:xfrm>
          <a:prstGeom prst="rect">
            <a:avLst/>
          </a:prstGeom>
          <a:solidFill>
            <a:srgbClr val="E3DCD3"/>
          </a:solidFill>
          <a:ln>
            <a:noFill/>
          </a:ln>
          <a:effectLst/>
        </p:spPr>
        <p:txBody>
          <a:bodyPr rtlCol="0" anchor="ctr"/>
          <a:lstStyle/>
          <a:p>
            <a:pPr algn="ctr"/>
            <a:endParaRPr/>
          </a:p>
        </p:txBody>
      </p:sp>
      <p:sp>
        <p:nvSpPr>
          <p:cNvPr id="54" name="Rounded Rectangle 53"/>
          <p:cNvSpPr/>
          <p:nvPr/>
        </p:nvSpPr>
        <p:spPr>
          <a:xfrm>
            <a:off x="561975" y="296227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55" name="Text: ADUS">
            <a:hlinkClick r:id="rId7"/>
          </p:cNvPr>
          <p:cNvSpPr txBox="1"/>
          <p:nvPr/>
        </p:nvSpPr>
        <p:spPr>
          <a:xfrm>
            <a:off x="561975" y="296227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ADUS</a:t>
            </a:r>
          </a:p>
        </p:txBody>
      </p:sp>
      <p:sp>
        <p:nvSpPr>
          <p:cNvPr id="56" name="Text: Addus HomeCare">
            <a:hlinkClick r:id="rId7"/>
          </p:cNvPr>
          <p:cNvSpPr txBox="1"/>
          <p:nvPr/>
        </p:nvSpPr>
        <p:spPr>
          <a:xfrm>
            <a:off x="990600" y="2993231"/>
            <a:ext cx="726579"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Addus HomeCare</a:t>
            </a:r>
          </a:p>
        </p:txBody>
      </p:sp>
      <p:sp>
        <p:nvSpPr>
          <p:cNvPr id="57" name="Rectangle 56"/>
          <p:cNvSpPr/>
          <p:nvPr/>
        </p:nvSpPr>
        <p:spPr>
          <a:xfrm>
            <a:off x="542925" y="3190875"/>
            <a:ext cx="1957388" cy="228600"/>
          </a:xfrm>
          <a:prstGeom prst="rect">
            <a:avLst/>
          </a:prstGeom>
          <a:solidFill>
            <a:srgbClr val="FFFFFF"/>
          </a:solidFill>
          <a:ln>
            <a:noFill/>
          </a:ln>
          <a:effectLst/>
        </p:spPr>
        <p:txBody>
          <a:bodyPr rtlCol="0" anchor="ctr"/>
          <a:lstStyle/>
          <a:p>
            <a:pPr algn="ctr"/>
            <a:endParaRPr/>
          </a:p>
        </p:txBody>
      </p:sp>
      <p:sp>
        <p:nvSpPr>
          <p:cNvPr id="58" name="Rectangle 57"/>
          <p:cNvSpPr/>
          <p:nvPr/>
        </p:nvSpPr>
        <p:spPr>
          <a:xfrm>
            <a:off x="542925" y="3190875"/>
            <a:ext cx="1957388" cy="9525"/>
          </a:xfrm>
          <a:prstGeom prst="rect">
            <a:avLst/>
          </a:prstGeom>
          <a:solidFill>
            <a:srgbClr val="E3DCD3"/>
          </a:solidFill>
          <a:ln>
            <a:noFill/>
          </a:ln>
          <a:effectLst/>
        </p:spPr>
        <p:txBody>
          <a:bodyPr rtlCol="0" anchor="ctr"/>
          <a:lstStyle/>
          <a:p>
            <a:pPr algn="ctr"/>
            <a:endParaRPr/>
          </a:p>
        </p:txBody>
      </p:sp>
      <p:sp>
        <p:nvSpPr>
          <p:cNvPr id="59" name="Rectangle 58"/>
          <p:cNvSpPr/>
          <p:nvPr/>
        </p:nvSpPr>
        <p:spPr>
          <a:xfrm>
            <a:off x="2490788" y="3190875"/>
            <a:ext cx="9525" cy="228600"/>
          </a:xfrm>
          <a:prstGeom prst="rect">
            <a:avLst/>
          </a:prstGeom>
          <a:solidFill>
            <a:srgbClr val="E3DCD3"/>
          </a:solidFill>
          <a:ln>
            <a:noFill/>
          </a:ln>
          <a:effectLst/>
        </p:spPr>
        <p:txBody>
          <a:bodyPr rtlCol="0" anchor="ctr"/>
          <a:lstStyle/>
          <a:p>
            <a:pPr algn="ctr"/>
            <a:endParaRPr/>
          </a:p>
        </p:txBody>
      </p:sp>
      <p:sp>
        <p:nvSpPr>
          <p:cNvPr id="60" name="Rectangle 59"/>
          <p:cNvSpPr/>
          <p:nvPr/>
        </p:nvSpPr>
        <p:spPr>
          <a:xfrm>
            <a:off x="542925" y="3409950"/>
            <a:ext cx="1957388" cy="9525"/>
          </a:xfrm>
          <a:prstGeom prst="rect">
            <a:avLst/>
          </a:prstGeom>
          <a:solidFill>
            <a:srgbClr val="E3DCD3"/>
          </a:solidFill>
          <a:ln>
            <a:noFill/>
          </a:ln>
          <a:effectLst/>
        </p:spPr>
        <p:txBody>
          <a:bodyPr rtlCol="0" anchor="ctr"/>
          <a:lstStyle/>
          <a:p>
            <a:pPr algn="ctr"/>
            <a:endParaRPr/>
          </a:p>
        </p:txBody>
      </p:sp>
      <p:sp>
        <p:nvSpPr>
          <p:cNvPr id="61" name="Rectangle 60"/>
          <p:cNvSpPr/>
          <p:nvPr/>
        </p:nvSpPr>
        <p:spPr>
          <a:xfrm>
            <a:off x="542925" y="3190875"/>
            <a:ext cx="9525" cy="228600"/>
          </a:xfrm>
          <a:prstGeom prst="rect">
            <a:avLst/>
          </a:prstGeom>
          <a:solidFill>
            <a:srgbClr val="E3DCD3"/>
          </a:solidFill>
          <a:ln>
            <a:noFill/>
          </a:ln>
          <a:effectLst/>
        </p:spPr>
        <p:txBody>
          <a:bodyPr rtlCol="0" anchor="ctr"/>
          <a:lstStyle/>
          <a:p>
            <a:pPr algn="ctr"/>
            <a:endParaRPr/>
          </a:p>
        </p:txBody>
      </p:sp>
      <p:sp>
        <p:nvSpPr>
          <p:cNvPr id="62" name="Rounded Rectangle 61"/>
          <p:cNvSpPr/>
          <p:nvPr/>
        </p:nvSpPr>
        <p:spPr>
          <a:xfrm>
            <a:off x="561975" y="320992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63" name="Text: PNTG">
            <a:hlinkClick r:id="rId8"/>
          </p:cNvPr>
          <p:cNvSpPr txBox="1"/>
          <p:nvPr/>
        </p:nvSpPr>
        <p:spPr>
          <a:xfrm>
            <a:off x="561975" y="320992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PNTG</a:t>
            </a:r>
          </a:p>
        </p:txBody>
      </p:sp>
      <p:sp>
        <p:nvSpPr>
          <p:cNvPr id="64" name="Text: Pennant Group">
            <a:hlinkClick r:id="rId8"/>
          </p:cNvPr>
          <p:cNvSpPr txBox="1"/>
          <p:nvPr/>
        </p:nvSpPr>
        <p:spPr>
          <a:xfrm>
            <a:off x="990600" y="3240881"/>
            <a:ext cx="637133"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Pennant Group</a:t>
            </a:r>
          </a:p>
        </p:txBody>
      </p:sp>
      <p:sp>
        <p:nvSpPr>
          <p:cNvPr id="65" name="Rectangle 64"/>
          <p:cNvSpPr/>
          <p:nvPr/>
        </p:nvSpPr>
        <p:spPr>
          <a:xfrm>
            <a:off x="542925" y="3438525"/>
            <a:ext cx="1957388" cy="228600"/>
          </a:xfrm>
          <a:prstGeom prst="rect">
            <a:avLst/>
          </a:prstGeom>
          <a:solidFill>
            <a:srgbClr val="FFFFFF"/>
          </a:solidFill>
          <a:ln>
            <a:noFill/>
          </a:ln>
          <a:effectLst/>
        </p:spPr>
        <p:txBody>
          <a:bodyPr rtlCol="0" anchor="ctr"/>
          <a:lstStyle/>
          <a:p>
            <a:pPr algn="ctr"/>
            <a:endParaRPr/>
          </a:p>
        </p:txBody>
      </p:sp>
      <p:sp>
        <p:nvSpPr>
          <p:cNvPr id="66" name="Rectangle 65"/>
          <p:cNvSpPr/>
          <p:nvPr/>
        </p:nvSpPr>
        <p:spPr>
          <a:xfrm>
            <a:off x="542925" y="3438525"/>
            <a:ext cx="1957388" cy="9525"/>
          </a:xfrm>
          <a:prstGeom prst="rect">
            <a:avLst/>
          </a:prstGeom>
          <a:solidFill>
            <a:srgbClr val="E3DCD3"/>
          </a:solidFill>
          <a:ln>
            <a:noFill/>
          </a:ln>
          <a:effectLst/>
        </p:spPr>
        <p:txBody>
          <a:bodyPr rtlCol="0" anchor="ctr"/>
          <a:lstStyle/>
          <a:p>
            <a:pPr algn="ctr"/>
            <a:endParaRPr/>
          </a:p>
        </p:txBody>
      </p:sp>
      <p:sp>
        <p:nvSpPr>
          <p:cNvPr id="67" name="Rectangle 66"/>
          <p:cNvSpPr/>
          <p:nvPr/>
        </p:nvSpPr>
        <p:spPr>
          <a:xfrm>
            <a:off x="2490788" y="3438525"/>
            <a:ext cx="9525" cy="228600"/>
          </a:xfrm>
          <a:prstGeom prst="rect">
            <a:avLst/>
          </a:prstGeom>
          <a:solidFill>
            <a:srgbClr val="E3DCD3"/>
          </a:solidFill>
          <a:ln>
            <a:noFill/>
          </a:ln>
          <a:effectLst/>
        </p:spPr>
        <p:txBody>
          <a:bodyPr rtlCol="0" anchor="ctr"/>
          <a:lstStyle/>
          <a:p>
            <a:pPr algn="ctr"/>
            <a:endParaRPr/>
          </a:p>
        </p:txBody>
      </p:sp>
      <p:sp>
        <p:nvSpPr>
          <p:cNvPr id="68" name="Rectangle 67"/>
          <p:cNvSpPr/>
          <p:nvPr/>
        </p:nvSpPr>
        <p:spPr>
          <a:xfrm>
            <a:off x="542925" y="3657600"/>
            <a:ext cx="1957388" cy="9525"/>
          </a:xfrm>
          <a:prstGeom prst="rect">
            <a:avLst/>
          </a:prstGeom>
          <a:solidFill>
            <a:srgbClr val="E3DCD3"/>
          </a:solidFill>
          <a:ln>
            <a:noFill/>
          </a:ln>
          <a:effectLst/>
        </p:spPr>
        <p:txBody>
          <a:bodyPr rtlCol="0" anchor="ctr"/>
          <a:lstStyle/>
          <a:p>
            <a:pPr algn="ctr"/>
            <a:endParaRPr/>
          </a:p>
        </p:txBody>
      </p:sp>
      <p:sp>
        <p:nvSpPr>
          <p:cNvPr id="69" name="Rectangle 68"/>
          <p:cNvSpPr/>
          <p:nvPr/>
        </p:nvSpPr>
        <p:spPr>
          <a:xfrm>
            <a:off x="542925" y="3438525"/>
            <a:ext cx="9525" cy="228600"/>
          </a:xfrm>
          <a:prstGeom prst="rect">
            <a:avLst/>
          </a:prstGeom>
          <a:solidFill>
            <a:srgbClr val="E3DCD3"/>
          </a:solidFill>
          <a:ln>
            <a:noFill/>
          </a:ln>
          <a:effectLst/>
        </p:spPr>
        <p:txBody>
          <a:bodyPr rtlCol="0" anchor="ctr"/>
          <a:lstStyle/>
          <a:p>
            <a:pPr algn="ctr"/>
            <a:endParaRPr/>
          </a:p>
        </p:txBody>
      </p:sp>
      <p:sp>
        <p:nvSpPr>
          <p:cNvPr id="70" name="Rounded Rectangle 69"/>
          <p:cNvSpPr/>
          <p:nvPr/>
        </p:nvSpPr>
        <p:spPr>
          <a:xfrm>
            <a:off x="561975" y="345757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71" name="Text: ACHC">
            <a:hlinkClick r:id="rId9"/>
          </p:cNvPr>
          <p:cNvSpPr txBox="1"/>
          <p:nvPr/>
        </p:nvSpPr>
        <p:spPr>
          <a:xfrm>
            <a:off x="561975" y="345757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ACHC</a:t>
            </a:r>
          </a:p>
        </p:txBody>
      </p:sp>
      <p:sp>
        <p:nvSpPr>
          <p:cNvPr id="72" name="Text: Acadia Healthcare">
            <a:hlinkClick r:id="rId9"/>
          </p:cNvPr>
          <p:cNvSpPr txBox="1"/>
          <p:nvPr/>
        </p:nvSpPr>
        <p:spPr>
          <a:xfrm>
            <a:off x="990600" y="3488531"/>
            <a:ext cx="763488"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Acadia Healthcare</a:t>
            </a:r>
          </a:p>
        </p:txBody>
      </p:sp>
      <p:sp>
        <p:nvSpPr>
          <p:cNvPr id="73" name="Rectangle 72"/>
          <p:cNvSpPr/>
          <p:nvPr/>
        </p:nvSpPr>
        <p:spPr>
          <a:xfrm>
            <a:off x="542925" y="3686175"/>
            <a:ext cx="1957388" cy="228600"/>
          </a:xfrm>
          <a:prstGeom prst="rect">
            <a:avLst/>
          </a:prstGeom>
          <a:solidFill>
            <a:srgbClr val="FFFFFF"/>
          </a:solidFill>
          <a:ln>
            <a:noFill/>
          </a:ln>
          <a:effectLst/>
        </p:spPr>
        <p:txBody>
          <a:bodyPr rtlCol="0" anchor="ctr"/>
          <a:lstStyle/>
          <a:p>
            <a:pPr algn="ctr"/>
            <a:endParaRPr/>
          </a:p>
        </p:txBody>
      </p:sp>
      <p:sp>
        <p:nvSpPr>
          <p:cNvPr id="74" name="Rectangle 73"/>
          <p:cNvSpPr/>
          <p:nvPr/>
        </p:nvSpPr>
        <p:spPr>
          <a:xfrm>
            <a:off x="542925" y="3686175"/>
            <a:ext cx="1957388" cy="9525"/>
          </a:xfrm>
          <a:prstGeom prst="rect">
            <a:avLst/>
          </a:prstGeom>
          <a:solidFill>
            <a:srgbClr val="E3DCD3"/>
          </a:solidFill>
          <a:ln>
            <a:noFill/>
          </a:ln>
          <a:effectLst/>
        </p:spPr>
        <p:txBody>
          <a:bodyPr rtlCol="0" anchor="ctr"/>
          <a:lstStyle/>
          <a:p>
            <a:pPr algn="ctr"/>
            <a:endParaRPr/>
          </a:p>
        </p:txBody>
      </p:sp>
      <p:sp>
        <p:nvSpPr>
          <p:cNvPr id="75" name="Rectangle 74"/>
          <p:cNvSpPr/>
          <p:nvPr/>
        </p:nvSpPr>
        <p:spPr>
          <a:xfrm>
            <a:off x="2490788" y="3686175"/>
            <a:ext cx="9525" cy="228600"/>
          </a:xfrm>
          <a:prstGeom prst="rect">
            <a:avLst/>
          </a:prstGeom>
          <a:solidFill>
            <a:srgbClr val="E3DCD3"/>
          </a:solidFill>
          <a:ln>
            <a:noFill/>
          </a:ln>
          <a:effectLst/>
        </p:spPr>
        <p:txBody>
          <a:bodyPr rtlCol="0" anchor="ctr"/>
          <a:lstStyle/>
          <a:p>
            <a:pPr algn="ctr"/>
            <a:endParaRPr/>
          </a:p>
        </p:txBody>
      </p:sp>
      <p:sp>
        <p:nvSpPr>
          <p:cNvPr id="76" name="Rectangle 75"/>
          <p:cNvSpPr/>
          <p:nvPr/>
        </p:nvSpPr>
        <p:spPr>
          <a:xfrm>
            <a:off x="542925" y="3905250"/>
            <a:ext cx="1957388" cy="9525"/>
          </a:xfrm>
          <a:prstGeom prst="rect">
            <a:avLst/>
          </a:prstGeom>
          <a:solidFill>
            <a:srgbClr val="E3DCD3"/>
          </a:solidFill>
          <a:ln>
            <a:noFill/>
          </a:ln>
          <a:effectLst/>
        </p:spPr>
        <p:txBody>
          <a:bodyPr rtlCol="0" anchor="ctr"/>
          <a:lstStyle/>
          <a:p>
            <a:pPr algn="ctr"/>
            <a:endParaRPr/>
          </a:p>
        </p:txBody>
      </p:sp>
      <p:sp>
        <p:nvSpPr>
          <p:cNvPr id="77" name="Rectangle 76"/>
          <p:cNvSpPr/>
          <p:nvPr/>
        </p:nvSpPr>
        <p:spPr>
          <a:xfrm>
            <a:off x="542925" y="3686175"/>
            <a:ext cx="9525" cy="228600"/>
          </a:xfrm>
          <a:prstGeom prst="rect">
            <a:avLst/>
          </a:prstGeom>
          <a:solidFill>
            <a:srgbClr val="E3DCD3"/>
          </a:solidFill>
          <a:ln>
            <a:noFill/>
          </a:ln>
          <a:effectLst/>
        </p:spPr>
        <p:txBody>
          <a:bodyPr rtlCol="0" anchor="ctr"/>
          <a:lstStyle/>
          <a:p>
            <a:pPr algn="ctr"/>
            <a:endParaRPr/>
          </a:p>
        </p:txBody>
      </p:sp>
      <p:sp>
        <p:nvSpPr>
          <p:cNvPr id="78" name="Rounded Rectangle 77"/>
          <p:cNvSpPr/>
          <p:nvPr/>
        </p:nvSpPr>
        <p:spPr>
          <a:xfrm>
            <a:off x="561975" y="370522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79" name="Text: LFST">
            <a:hlinkClick r:id="rId10"/>
          </p:cNvPr>
          <p:cNvSpPr txBox="1"/>
          <p:nvPr/>
        </p:nvSpPr>
        <p:spPr>
          <a:xfrm>
            <a:off x="561975" y="370522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LFST</a:t>
            </a:r>
          </a:p>
        </p:txBody>
      </p:sp>
      <p:sp>
        <p:nvSpPr>
          <p:cNvPr id="80" name="Text: LifeStance Health">
            <a:hlinkClick r:id="rId10"/>
          </p:cNvPr>
          <p:cNvSpPr txBox="1"/>
          <p:nvPr/>
        </p:nvSpPr>
        <p:spPr>
          <a:xfrm>
            <a:off x="990600" y="3736181"/>
            <a:ext cx="734020"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LifeStance Health</a:t>
            </a:r>
          </a:p>
        </p:txBody>
      </p:sp>
      <p:sp>
        <p:nvSpPr>
          <p:cNvPr id="81" name="Rectangle 80"/>
          <p:cNvSpPr/>
          <p:nvPr/>
        </p:nvSpPr>
        <p:spPr>
          <a:xfrm>
            <a:off x="542925" y="3933825"/>
            <a:ext cx="1957388" cy="228600"/>
          </a:xfrm>
          <a:prstGeom prst="rect">
            <a:avLst/>
          </a:prstGeom>
          <a:solidFill>
            <a:srgbClr val="FFFFFF"/>
          </a:solidFill>
          <a:ln>
            <a:noFill/>
          </a:ln>
          <a:effectLst/>
        </p:spPr>
        <p:txBody>
          <a:bodyPr rtlCol="0" anchor="ctr"/>
          <a:lstStyle/>
          <a:p>
            <a:pPr algn="ctr"/>
            <a:endParaRPr/>
          </a:p>
        </p:txBody>
      </p:sp>
      <p:sp>
        <p:nvSpPr>
          <p:cNvPr id="82" name="Rectangle 81"/>
          <p:cNvSpPr/>
          <p:nvPr/>
        </p:nvSpPr>
        <p:spPr>
          <a:xfrm>
            <a:off x="542925" y="3933825"/>
            <a:ext cx="1957388" cy="9525"/>
          </a:xfrm>
          <a:prstGeom prst="rect">
            <a:avLst/>
          </a:prstGeom>
          <a:solidFill>
            <a:srgbClr val="E3DCD3"/>
          </a:solidFill>
          <a:ln>
            <a:noFill/>
          </a:ln>
          <a:effectLst/>
        </p:spPr>
        <p:txBody>
          <a:bodyPr rtlCol="0" anchor="ctr"/>
          <a:lstStyle/>
          <a:p>
            <a:pPr algn="ctr"/>
            <a:endParaRPr/>
          </a:p>
        </p:txBody>
      </p:sp>
      <p:sp>
        <p:nvSpPr>
          <p:cNvPr id="83" name="Rectangle 82"/>
          <p:cNvSpPr/>
          <p:nvPr/>
        </p:nvSpPr>
        <p:spPr>
          <a:xfrm>
            <a:off x="2490788" y="3933825"/>
            <a:ext cx="9525" cy="228600"/>
          </a:xfrm>
          <a:prstGeom prst="rect">
            <a:avLst/>
          </a:prstGeom>
          <a:solidFill>
            <a:srgbClr val="E3DCD3"/>
          </a:solidFill>
          <a:ln>
            <a:noFill/>
          </a:ln>
          <a:effectLst/>
        </p:spPr>
        <p:txBody>
          <a:bodyPr rtlCol="0" anchor="ctr"/>
          <a:lstStyle/>
          <a:p>
            <a:pPr algn="ctr"/>
            <a:endParaRPr/>
          </a:p>
        </p:txBody>
      </p:sp>
      <p:sp>
        <p:nvSpPr>
          <p:cNvPr id="84" name="Rectangle 83"/>
          <p:cNvSpPr/>
          <p:nvPr/>
        </p:nvSpPr>
        <p:spPr>
          <a:xfrm>
            <a:off x="542925" y="4152900"/>
            <a:ext cx="1957388" cy="9525"/>
          </a:xfrm>
          <a:prstGeom prst="rect">
            <a:avLst/>
          </a:prstGeom>
          <a:solidFill>
            <a:srgbClr val="E3DCD3"/>
          </a:solidFill>
          <a:ln>
            <a:noFill/>
          </a:ln>
          <a:effectLst/>
        </p:spPr>
        <p:txBody>
          <a:bodyPr rtlCol="0" anchor="ctr"/>
          <a:lstStyle/>
          <a:p>
            <a:pPr algn="ctr"/>
            <a:endParaRPr/>
          </a:p>
        </p:txBody>
      </p:sp>
      <p:sp>
        <p:nvSpPr>
          <p:cNvPr id="85" name="Rectangle 84"/>
          <p:cNvSpPr/>
          <p:nvPr/>
        </p:nvSpPr>
        <p:spPr>
          <a:xfrm>
            <a:off x="542925" y="3933825"/>
            <a:ext cx="9525" cy="228600"/>
          </a:xfrm>
          <a:prstGeom prst="rect">
            <a:avLst/>
          </a:prstGeom>
          <a:solidFill>
            <a:srgbClr val="E3DCD3"/>
          </a:solidFill>
          <a:ln>
            <a:noFill/>
          </a:ln>
          <a:effectLst/>
        </p:spPr>
        <p:txBody>
          <a:bodyPr rtlCol="0" anchor="ctr"/>
          <a:lstStyle/>
          <a:p>
            <a:pPr algn="ctr"/>
            <a:endParaRPr/>
          </a:p>
        </p:txBody>
      </p:sp>
      <p:sp>
        <p:nvSpPr>
          <p:cNvPr id="86" name="Rounded Rectangle 85"/>
          <p:cNvSpPr/>
          <p:nvPr/>
        </p:nvSpPr>
        <p:spPr>
          <a:xfrm>
            <a:off x="561975" y="395287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87" name="Text: PRVA">
            <a:hlinkClick r:id="rId11"/>
          </p:cNvPr>
          <p:cNvSpPr txBox="1"/>
          <p:nvPr/>
        </p:nvSpPr>
        <p:spPr>
          <a:xfrm>
            <a:off x="561975" y="395287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PRVA</a:t>
            </a:r>
          </a:p>
        </p:txBody>
      </p:sp>
      <p:sp>
        <p:nvSpPr>
          <p:cNvPr id="88" name="Text: Privia Health">
            <a:hlinkClick r:id="rId11"/>
          </p:cNvPr>
          <p:cNvSpPr txBox="1"/>
          <p:nvPr/>
        </p:nvSpPr>
        <p:spPr>
          <a:xfrm>
            <a:off x="990600" y="3983831"/>
            <a:ext cx="546646"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Privia Health</a:t>
            </a:r>
          </a:p>
        </p:txBody>
      </p:sp>
      <p:sp>
        <p:nvSpPr>
          <p:cNvPr id="89" name="Rectangle 88"/>
          <p:cNvSpPr/>
          <p:nvPr/>
        </p:nvSpPr>
        <p:spPr>
          <a:xfrm>
            <a:off x="542925" y="4181475"/>
            <a:ext cx="1957388" cy="228600"/>
          </a:xfrm>
          <a:prstGeom prst="rect">
            <a:avLst/>
          </a:prstGeom>
          <a:solidFill>
            <a:srgbClr val="FFFFFF"/>
          </a:solidFill>
          <a:ln>
            <a:noFill/>
          </a:ln>
          <a:effectLst/>
        </p:spPr>
        <p:txBody>
          <a:bodyPr rtlCol="0" anchor="ctr"/>
          <a:lstStyle/>
          <a:p>
            <a:pPr algn="ctr"/>
            <a:endParaRPr/>
          </a:p>
        </p:txBody>
      </p:sp>
      <p:sp>
        <p:nvSpPr>
          <p:cNvPr id="90" name="Rectangle 89"/>
          <p:cNvSpPr/>
          <p:nvPr/>
        </p:nvSpPr>
        <p:spPr>
          <a:xfrm>
            <a:off x="542925" y="4181475"/>
            <a:ext cx="1957388" cy="9525"/>
          </a:xfrm>
          <a:prstGeom prst="rect">
            <a:avLst/>
          </a:prstGeom>
          <a:solidFill>
            <a:srgbClr val="E3DCD3"/>
          </a:solidFill>
          <a:ln>
            <a:noFill/>
          </a:ln>
          <a:effectLst/>
        </p:spPr>
        <p:txBody>
          <a:bodyPr rtlCol="0" anchor="ctr"/>
          <a:lstStyle/>
          <a:p>
            <a:pPr algn="ctr"/>
            <a:endParaRPr/>
          </a:p>
        </p:txBody>
      </p:sp>
      <p:sp>
        <p:nvSpPr>
          <p:cNvPr id="91" name="Rectangle 90"/>
          <p:cNvSpPr/>
          <p:nvPr/>
        </p:nvSpPr>
        <p:spPr>
          <a:xfrm>
            <a:off x="2490788" y="4181475"/>
            <a:ext cx="9525" cy="228600"/>
          </a:xfrm>
          <a:prstGeom prst="rect">
            <a:avLst/>
          </a:prstGeom>
          <a:solidFill>
            <a:srgbClr val="E3DCD3"/>
          </a:solidFill>
          <a:ln>
            <a:noFill/>
          </a:ln>
          <a:effectLst/>
        </p:spPr>
        <p:txBody>
          <a:bodyPr rtlCol="0" anchor="ctr"/>
          <a:lstStyle/>
          <a:p>
            <a:pPr algn="ctr"/>
            <a:endParaRPr/>
          </a:p>
        </p:txBody>
      </p:sp>
      <p:sp>
        <p:nvSpPr>
          <p:cNvPr id="92" name="Rectangle 91"/>
          <p:cNvSpPr/>
          <p:nvPr/>
        </p:nvSpPr>
        <p:spPr>
          <a:xfrm>
            <a:off x="542925" y="4400550"/>
            <a:ext cx="1957388" cy="9525"/>
          </a:xfrm>
          <a:prstGeom prst="rect">
            <a:avLst/>
          </a:prstGeom>
          <a:solidFill>
            <a:srgbClr val="E3DCD3"/>
          </a:solidFill>
          <a:ln>
            <a:noFill/>
          </a:ln>
          <a:effectLst/>
        </p:spPr>
        <p:txBody>
          <a:bodyPr rtlCol="0" anchor="ctr"/>
          <a:lstStyle/>
          <a:p>
            <a:pPr algn="ctr"/>
            <a:endParaRPr/>
          </a:p>
        </p:txBody>
      </p:sp>
      <p:sp>
        <p:nvSpPr>
          <p:cNvPr id="93" name="Rectangle 92"/>
          <p:cNvSpPr/>
          <p:nvPr/>
        </p:nvSpPr>
        <p:spPr>
          <a:xfrm>
            <a:off x="542925" y="4181475"/>
            <a:ext cx="9525" cy="228600"/>
          </a:xfrm>
          <a:prstGeom prst="rect">
            <a:avLst/>
          </a:prstGeom>
          <a:solidFill>
            <a:srgbClr val="E3DCD3"/>
          </a:solidFill>
          <a:ln>
            <a:noFill/>
          </a:ln>
          <a:effectLst/>
        </p:spPr>
        <p:txBody>
          <a:bodyPr rtlCol="0" anchor="ctr"/>
          <a:lstStyle/>
          <a:p>
            <a:pPr algn="ctr"/>
            <a:endParaRPr/>
          </a:p>
        </p:txBody>
      </p:sp>
      <p:sp>
        <p:nvSpPr>
          <p:cNvPr id="94" name="Rounded Rectangle 93"/>
          <p:cNvSpPr/>
          <p:nvPr/>
        </p:nvSpPr>
        <p:spPr>
          <a:xfrm>
            <a:off x="561975" y="420052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95" name="Text: CON">
            <a:hlinkClick r:id="rId12"/>
          </p:cNvPr>
          <p:cNvSpPr txBox="1"/>
          <p:nvPr/>
        </p:nvSpPr>
        <p:spPr>
          <a:xfrm>
            <a:off x="561975" y="420052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CON</a:t>
            </a:r>
          </a:p>
        </p:txBody>
      </p:sp>
      <p:sp>
        <p:nvSpPr>
          <p:cNvPr id="96" name="Text: Concentra">
            <a:hlinkClick r:id="rId12"/>
          </p:cNvPr>
          <p:cNvSpPr txBox="1"/>
          <p:nvPr/>
        </p:nvSpPr>
        <p:spPr>
          <a:xfrm>
            <a:off x="990600" y="4231481"/>
            <a:ext cx="434132"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Concentra</a:t>
            </a:r>
          </a:p>
        </p:txBody>
      </p:sp>
      <p:sp>
        <p:nvSpPr>
          <p:cNvPr id="97" name="Rectangle 96"/>
          <p:cNvSpPr/>
          <p:nvPr/>
        </p:nvSpPr>
        <p:spPr>
          <a:xfrm>
            <a:off x="542925" y="4429125"/>
            <a:ext cx="1957388" cy="228600"/>
          </a:xfrm>
          <a:prstGeom prst="rect">
            <a:avLst/>
          </a:prstGeom>
          <a:solidFill>
            <a:srgbClr val="FFFFFF"/>
          </a:solidFill>
          <a:ln>
            <a:noFill/>
          </a:ln>
          <a:effectLst/>
        </p:spPr>
        <p:txBody>
          <a:bodyPr rtlCol="0" anchor="ctr"/>
          <a:lstStyle/>
          <a:p>
            <a:pPr algn="ctr"/>
            <a:endParaRPr/>
          </a:p>
        </p:txBody>
      </p:sp>
      <p:sp>
        <p:nvSpPr>
          <p:cNvPr id="98" name="Rectangle 97"/>
          <p:cNvSpPr/>
          <p:nvPr/>
        </p:nvSpPr>
        <p:spPr>
          <a:xfrm>
            <a:off x="542925" y="4429125"/>
            <a:ext cx="1957388" cy="9525"/>
          </a:xfrm>
          <a:prstGeom prst="rect">
            <a:avLst/>
          </a:prstGeom>
          <a:solidFill>
            <a:srgbClr val="E3DCD3"/>
          </a:solidFill>
          <a:ln>
            <a:noFill/>
          </a:ln>
          <a:effectLst/>
        </p:spPr>
        <p:txBody>
          <a:bodyPr rtlCol="0" anchor="ctr"/>
          <a:lstStyle/>
          <a:p>
            <a:pPr algn="ctr"/>
            <a:endParaRPr/>
          </a:p>
        </p:txBody>
      </p:sp>
      <p:sp>
        <p:nvSpPr>
          <p:cNvPr id="99" name="Rectangle 98"/>
          <p:cNvSpPr/>
          <p:nvPr/>
        </p:nvSpPr>
        <p:spPr>
          <a:xfrm>
            <a:off x="2490788" y="4429125"/>
            <a:ext cx="9525" cy="228600"/>
          </a:xfrm>
          <a:prstGeom prst="rect">
            <a:avLst/>
          </a:prstGeom>
          <a:solidFill>
            <a:srgbClr val="E3DCD3"/>
          </a:solidFill>
          <a:ln>
            <a:noFill/>
          </a:ln>
          <a:effectLst/>
        </p:spPr>
        <p:txBody>
          <a:bodyPr rtlCol="0" anchor="ctr"/>
          <a:lstStyle/>
          <a:p>
            <a:pPr algn="ctr"/>
            <a:endParaRPr/>
          </a:p>
        </p:txBody>
      </p:sp>
      <p:sp>
        <p:nvSpPr>
          <p:cNvPr id="100" name="Rectangle 99"/>
          <p:cNvSpPr/>
          <p:nvPr/>
        </p:nvSpPr>
        <p:spPr>
          <a:xfrm>
            <a:off x="542925" y="4648200"/>
            <a:ext cx="1957388" cy="9525"/>
          </a:xfrm>
          <a:prstGeom prst="rect">
            <a:avLst/>
          </a:prstGeom>
          <a:solidFill>
            <a:srgbClr val="E3DCD3"/>
          </a:solidFill>
          <a:ln>
            <a:noFill/>
          </a:ln>
          <a:effectLst/>
        </p:spPr>
        <p:txBody>
          <a:bodyPr rtlCol="0" anchor="ctr"/>
          <a:lstStyle/>
          <a:p>
            <a:pPr algn="ctr"/>
            <a:endParaRPr/>
          </a:p>
        </p:txBody>
      </p:sp>
      <p:sp>
        <p:nvSpPr>
          <p:cNvPr id="101" name="Rectangle 100"/>
          <p:cNvSpPr/>
          <p:nvPr/>
        </p:nvSpPr>
        <p:spPr>
          <a:xfrm>
            <a:off x="542925" y="4429125"/>
            <a:ext cx="9525" cy="228600"/>
          </a:xfrm>
          <a:prstGeom prst="rect">
            <a:avLst/>
          </a:prstGeom>
          <a:solidFill>
            <a:srgbClr val="E3DCD3"/>
          </a:solidFill>
          <a:ln>
            <a:noFill/>
          </a:ln>
          <a:effectLst/>
        </p:spPr>
        <p:txBody>
          <a:bodyPr rtlCol="0" anchor="ctr"/>
          <a:lstStyle/>
          <a:p>
            <a:pPr algn="ctr"/>
            <a:endParaRPr/>
          </a:p>
        </p:txBody>
      </p:sp>
      <p:sp>
        <p:nvSpPr>
          <p:cNvPr id="102" name="Rounded Rectangle 101"/>
          <p:cNvSpPr/>
          <p:nvPr/>
        </p:nvSpPr>
        <p:spPr>
          <a:xfrm>
            <a:off x="561975" y="444817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103" name="Text: ENSG">
            <a:hlinkClick r:id="rId13"/>
          </p:cNvPr>
          <p:cNvSpPr txBox="1"/>
          <p:nvPr/>
        </p:nvSpPr>
        <p:spPr>
          <a:xfrm>
            <a:off x="561975" y="444817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ENSG</a:t>
            </a:r>
          </a:p>
        </p:txBody>
      </p:sp>
      <p:sp>
        <p:nvSpPr>
          <p:cNvPr id="104" name="Text: Ensign Group">
            <a:hlinkClick r:id="rId13"/>
          </p:cNvPr>
          <p:cNvSpPr txBox="1"/>
          <p:nvPr/>
        </p:nvSpPr>
        <p:spPr>
          <a:xfrm>
            <a:off x="990600" y="4479131"/>
            <a:ext cx="560784"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Ensign Group</a:t>
            </a:r>
          </a:p>
        </p:txBody>
      </p:sp>
      <p:sp>
        <p:nvSpPr>
          <p:cNvPr id="105" name="Text: PLATFORMS, SPONSORS AND HEALTH SYS"/>
          <p:cNvSpPr txBox="1"/>
          <p:nvPr/>
        </p:nvSpPr>
        <p:spPr>
          <a:xfrm>
            <a:off x="542925" y="5010150"/>
            <a:ext cx="1971675" cy="247650"/>
          </a:xfrm>
          <a:prstGeom prst="rect">
            <a:avLst/>
          </a:prstGeom>
          <a:noFill/>
        </p:spPr>
        <p:txBody>
          <a:bodyPr wrap="square" lIns="0" tIns="0" rIns="0" bIns="0" anchor="t">
            <a:spAutoFit/>
          </a:bodyPr>
          <a:lstStyle/>
          <a:p>
            <a:pPr algn="l">
              <a:lnSpc>
                <a:spcPts val="975"/>
              </a:lnSpc>
            </a:pPr>
            <a:r>
              <a:rPr sz="638" b="1" i="0" spc="150">
                <a:solidFill>
                  <a:srgbClr val="8C6239"/>
                </a:solidFill>
                <a:latin typeface="Calibri"/>
              </a:rPr>
              <a:t>PLATFORMS, SPONSORS AND HEALTH SYSTEMS</a:t>
            </a:r>
          </a:p>
        </p:txBody>
      </p:sp>
      <p:sp>
        <p:nvSpPr>
          <p:cNvPr id="106" name="Rectangle 105"/>
          <p:cNvSpPr/>
          <p:nvPr/>
        </p:nvSpPr>
        <p:spPr>
          <a:xfrm>
            <a:off x="542925" y="5314950"/>
            <a:ext cx="1217265" cy="180975"/>
          </a:xfrm>
          <a:prstGeom prst="rect">
            <a:avLst/>
          </a:prstGeom>
          <a:solidFill>
            <a:srgbClr val="FFFFFF"/>
          </a:solidFill>
          <a:ln>
            <a:noFill/>
          </a:ln>
          <a:effectLst/>
        </p:spPr>
        <p:txBody>
          <a:bodyPr rtlCol="0" anchor="ctr"/>
          <a:lstStyle/>
          <a:p>
            <a:pPr algn="ctr"/>
            <a:endParaRPr/>
          </a:p>
        </p:txBody>
      </p:sp>
      <p:sp>
        <p:nvSpPr>
          <p:cNvPr id="107" name="Rectangle 106"/>
          <p:cNvSpPr/>
          <p:nvPr/>
        </p:nvSpPr>
        <p:spPr>
          <a:xfrm>
            <a:off x="542925" y="5314950"/>
            <a:ext cx="1217265" cy="9525"/>
          </a:xfrm>
          <a:prstGeom prst="rect">
            <a:avLst/>
          </a:prstGeom>
          <a:solidFill>
            <a:srgbClr val="E3DCD3"/>
          </a:solidFill>
          <a:ln>
            <a:noFill/>
          </a:ln>
          <a:effectLst/>
        </p:spPr>
        <p:txBody>
          <a:bodyPr rtlCol="0" anchor="ctr"/>
          <a:lstStyle/>
          <a:p>
            <a:pPr algn="ctr"/>
            <a:endParaRPr/>
          </a:p>
        </p:txBody>
      </p:sp>
      <p:sp>
        <p:nvSpPr>
          <p:cNvPr id="108" name="Rectangle 107"/>
          <p:cNvSpPr/>
          <p:nvPr/>
        </p:nvSpPr>
        <p:spPr>
          <a:xfrm>
            <a:off x="1750665" y="5314950"/>
            <a:ext cx="9525" cy="180975"/>
          </a:xfrm>
          <a:prstGeom prst="rect">
            <a:avLst/>
          </a:prstGeom>
          <a:solidFill>
            <a:srgbClr val="E3DCD3"/>
          </a:solidFill>
          <a:ln>
            <a:noFill/>
          </a:ln>
          <a:effectLst/>
        </p:spPr>
        <p:txBody>
          <a:bodyPr rtlCol="0" anchor="ctr"/>
          <a:lstStyle/>
          <a:p>
            <a:pPr algn="ctr"/>
            <a:endParaRPr/>
          </a:p>
        </p:txBody>
      </p:sp>
      <p:sp>
        <p:nvSpPr>
          <p:cNvPr id="109" name="Rectangle 108"/>
          <p:cNvSpPr/>
          <p:nvPr/>
        </p:nvSpPr>
        <p:spPr>
          <a:xfrm>
            <a:off x="542925" y="5486400"/>
            <a:ext cx="1217265" cy="9525"/>
          </a:xfrm>
          <a:prstGeom prst="rect">
            <a:avLst/>
          </a:prstGeom>
          <a:solidFill>
            <a:srgbClr val="E3DCD3"/>
          </a:solidFill>
          <a:ln>
            <a:noFill/>
          </a:ln>
          <a:effectLst/>
        </p:spPr>
        <p:txBody>
          <a:bodyPr rtlCol="0" anchor="ctr"/>
          <a:lstStyle/>
          <a:p>
            <a:pPr algn="ctr"/>
            <a:endParaRPr/>
          </a:p>
        </p:txBody>
      </p:sp>
      <p:sp>
        <p:nvSpPr>
          <p:cNvPr id="110" name="Rectangle 109"/>
          <p:cNvSpPr/>
          <p:nvPr/>
        </p:nvSpPr>
        <p:spPr>
          <a:xfrm>
            <a:off x="542925" y="5314950"/>
            <a:ext cx="9525" cy="180975"/>
          </a:xfrm>
          <a:prstGeom prst="rect">
            <a:avLst/>
          </a:prstGeom>
          <a:solidFill>
            <a:srgbClr val="E3DCD3"/>
          </a:solidFill>
          <a:ln>
            <a:noFill/>
          </a:ln>
          <a:effectLst/>
        </p:spPr>
        <p:txBody>
          <a:bodyPr rtlCol="0" anchor="ctr"/>
          <a:lstStyle/>
          <a:p>
            <a:pPr algn="ctr"/>
            <a:endParaRPr/>
          </a:p>
        </p:txBody>
      </p:sp>
      <p:sp>
        <p:nvSpPr>
          <p:cNvPr id="111" name="Text: HCA Healthcare urgent care"/>
          <p:cNvSpPr txBox="1"/>
          <p:nvPr/>
        </p:nvSpPr>
        <p:spPr>
          <a:xfrm>
            <a:off x="609600" y="5343525"/>
            <a:ext cx="1098203"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HCA Healthcare urgent care</a:t>
            </a:r>
          </a:p>
        </p:txBody>
      </p:sp>
      <p:sp>
        <p:nvSpPr>
          <p:cNvPr id="112" name="Rectangle 111"/>
          <p:cNvSpPr/>
          <p:nvPr/>
        </p:nvSpPr>
        <p:spPr>
          <a:xfrm>
            <a:off x="1798290" y="5314950"/>
            <a:ext cx="505271" cy="180975"/>
          </a:xfrm>
          <a:prstGeom prst="rect">
            <a:avLst/>
          </a:prstGeom>
          <a:solidFill>
            <a:srgbClr val="FFFFFF"/>
          </a:solidFill>
          <a:ln>
            <a:noFill/>
          </a:ln>
          <a:effectLst/>
        </p:spPr>
        <p:txBody>
          <a:bodyPr rtlCol="0" anchor="ctr"/>
          <a:lstStyle/>
          <a:p>
            <a:pPr algn="ctr"/>
            <a:endParaRPr/>
          </a:p>
        </p:txBody>
      </p:sp>
      <p:sp>
        <p:nvSpPr>
          <p:cNvPr id="113" name="Rectangle 112"/>
          <p:cNvSpPr/>
          <p:nvPr/>
        </p:nvSpPr>
        <p:spPr>
          <a:xfrm>
            <a:off x="1798290" y="5314950"/>
            <a:ext cx="505271" cy="9525"/>
          </a:xfrm>
          <a:prstGeom prst="rect">
            <a:avLst/>
          </a:prstGeom>
          <a:solidFill>
            <a:srgbClr val="E3DCD3"/>
          </a:solidFill>
          <a:ln>
            <a:noFill/>
          </a:ln>
          <a:effectLst/>
        </p:spPr>
        <p:txBody>
          <a:bodyPr rtlCol="0" anchor="ctr"/>
          <a:lstStyle/>
          <a:p>
            <a:pPr algn="ctr"/>
            <a:endParaRPr/>
          </a:p>
        </p:txBody>
      </p:sp>
      <p:sp>
        <p:nvSpPr>
          <p:cNvPr id="114" name="Rectangle 113"/>
          <p:cNvSpPr/>
          <p:nvPr/>
        </p:nvSpPr>
        <p:spPr>
          <a:xfrm>
            <a:off x="2294037" y="5314950"/>
            <a:ext cx="9525" cy="180975"/>
          </a:xfrm>
          <a:prstGeom prst="rect">
            <a:avLst/>
          </a:prstGeom>
          <a:solidFill>
            <a:srgbClr val="E3DCD3"/>
          </a:solidFill>
          <a:ln>
            <a:noFill/>
          </a:ln>
          <a:effectLst/>
        </p:spPr>
        <p:txBody>
          <a:bodyPr rtlCol="0" anchor="ctr"/>
          <a:lstStyle/>
          <a:p>
            <a:pPr algn="ctr"/>
            <a:endParaRPr/>
          </a:p>
        </p:txBody>
      </p:sp>
      <p:sp>
        <p:nvSpPr>
          <p:cNvPr id="115" name="Rectangle 114"/>
          <p:cNvSpPr/>
          <p:nvPr/>
        </p:nvSpPr>
        <p:spPr>
          <a:xfrm>
            <a:off x="1798290" y="5486400"/>
            <a:ext cx="505271" cy="9525"/>
          </a:xfrm>
          <a:prstGeom prst="rect">
            <a:avLst/>
          </a:prstGeom>
          <a:solidFill>
            <a:srgbClr val="E3DCD3"/>
          </a:solidFill>
          <a:ln>
            <a:noFill/>
          </a:ln>
          <a:effectLst/>
        </p:spPr>
        <p:txBody>
          <a:bodyPr rtlCol="0" anchor="ctr"/>
          <a:lstStyle/>
          <a:p>
            <a:pPr algn="ctr"/>
            <a:endParaRPr/>
          </a:p>
        </p:txBody>
      </p:sp>
      <p:sp>
        <p:nvSpPr>
          <p:cNvPr id="116" name="Rectangle 115"/>
          <p:cNvSpPr/>
          <p:nvPr/>
        </p:nvSpPr>
        <p:spPr>
          <a:xfrm>
            <a:off x="1798290" y="5314950"/>
            <a:ext cx="9525" cy="180975"/>
          </a:xfrm>
          <a:prstGeom prst="rect">
            <a:avLst/>
          </a:prstGeom>
          <a:solidFill>
            <a:srgbClr val="E3DCD3"/>
          </a:solidFill>
          <a:ln>
            <a:noFill/>
          </a:ln>
          <a:effectLst/>
        </p:spPr>
        <p:txBody>
          <a:bodyPr rtlCol="0" anchor="ctr"/>
          <a:lstStyle/>
          <a:p>
            <a:pPr algn="ctr"/>
            <a:endParaRPr/>
          </a:p>
        </p:txBody>
      </p:sp>
      <p:sp>
        <p:nvSpPr>
          <p:cNvPr id="117" name="Text: MyEyeDr."/>
          <p:cNvSpPr txBox="1"/>
          <p:nvPr/>
        </p:nvSpPr>
        <p:spPr>
          <a:xfrm>
            <a:off x="1864965" y="5343525"/>
            <a:ext cx="386209"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MyEyeDr.</a:t>
            </a:r>
          </a:p>
        </p:txBody>
      </p:sp>
      <p:sp>
        <p:nvSpPr>
          <p:cNvPr id="118" name="Rectangle 117"/>
          <p:cNvSpPr/>
          <p:nvPr/>
        </p:nvSpPr>
        <p:spPr>
          <a:xfrm>
            <a:off x="542925" y="5534025"/>
            <a:ext cx="798612" cy="180975"/>
          </a:xfrm>
          <a:prstGeom prst="rect">
            <a:avLst/>
          </a:prstGeom>
          <a:solidFill>
            <a:srgbClr val="FFFFFF"/>
          </a:solidFill>
          <a:ln>
            <a:noFill/>
          </a:ln>
          <a:effectLst/>
        </p:spPr>
        <p:txBody>
          <a:bodyPr rtlCol="0" anchor="ctr"/>
          <a:lstStyle/>
          <a:p>
            <a:pPr algn="ctr"/>
            <a:endParaRPr/>
          </a:p>
        </p:txBody>
      </p:sp>
      <p:sp>
        <p:nvSpPr>
          <p:cNvPr id="119" name="Rectangle 118"/>
          <p:cNvSpPr/>
          <p:nvPr/>
        </p:nvSpPr>
        <p:spPr>
          <a:xfrm>
            <a:off x="542925" y="5534025"/>
            <a:ext cx="798612" cy="9525"/>
          </a:xfrm>
          <a:prstGeom prst="rect">
            <a:avLst/>
          </a:prstGeom>
          <a:solidFill>
            <a:srgbClr val="E3DCD3"/>
          </a:solidFill>
          <a:ln>
            <a:noFill/>
          </a:ln>
          <a:effectLst/>
        </p:spPr>
        <p:txBody>
          <a:bodyPr rtlCol="0" anchor="ctr"/>
          <a:lstStyle/>
          <a:p>
            <a:pPr algn="ctr"/>
            <a:endParaRPr/>
          </a:p>
        </p:txBody>
      </p:sp>
      <p:sp>
        <p:nvSpPr>
          <p:cNvPr id="120" name="Rectangle 119"/>
          <p:cNvSpPr/>
          <p:nvPr/>
        </p:nvSpPr>
        <p:spPr>
          <a:xfrm>
            <a:off x="1332012" y="5534025"/>
            <a:ext cx="9525" cy="180975"/>
          </a:xfrm>
          <a:prstGeom prst="rect">
            <a:avLst/>
          </a:prstGeom>
          <a:solidFill>
            <a:srgbClr val="E3DCD3"/>
          </a:solidFill>
          <a:ln>
            <a:noFill/>
          </a:ln>
          <a:effectLst/>
        </p:spPr>
        <p:txBody>
          <a:bodyPr rtlCol="0" anchor="ctr"/>
          <a:lstStyle/>
          <a:p>
            <a:pPr algn="ctr"/>
            <a:endParaRPr/>
          </a:p>
        </p:txBody>
      </p:sp>
      <p:sp>
        <p:nvSpPr>
          <p:cNvPr id="121" name="Rectangle 120"/>
          <p:cNvSpPr/>
          <p:nvPr/>
        </p:nvSpPr>
        <p:spPr>
          <a:xfrm>
            <a:off x="542925" y="5705475"/>
            <a:ext cx="798612" cy="9525"/>
          </a:xfrm>
          <a:prstGeom prst="rect">
            <a:avLst/>
          </a:prstGeom>
          <a:solidFill>
            <a:srgbClr val="E3DCD3"/>
          </a:solidFill>
          <a:ln>
            <a:noFill/>
          </a:ln>
          <a:effectLst/>
        </p:spPr>
        <p:txBody>
          <a:bodyPr rtlCol="0" anchor="ctr"/>
          <a:lstStyle/>
          <a:p>
            <a:pPr algn="ctr"/>
            <a:endParaRPr/>
          </a:p>
        </p:txBody>
      </p:sp>
      <p:sp>
        <p:nvSpPr>
          <p:cNvPr id="122" name="Rectangle 121"/>
          <p:cNvSpPr/>
          <p:nvPr/>
        </p:nvSpPr>
        <p:spPr>
          <a:xfrm>
            <a:off x="542925" y="5534025"/>
            <a:ext cx="9525" cy="180975"/>
          </a:xfrm>
          <a:prstGeom prst="rect">
            <a:avLst/>
          </a:prstGeom>
          <a:solidFill>
            <a:srgbClr val="E3DCD3"/>
          </a:solidFill>
          <a:ln>
            <a:noFill/>
          </a:ln>
          <a:effectLst/>
        </p:spPr>
        <p:txBody>
          <a:bodyPr rtlCol="0" anchor="ctr"/>
          <a:lstStyle/>
          <a:p>
            <a:pPr algn="ctr"/>
            <a:endParaRPr/>
          </a:p>
        </p:txBody>
      </p:sp>
      <p:sp>
        <p:nvSpPr>
          <p:cNvPr id="123" name="Text: EyeCare Partners"/>
          <p:cNvSpPr txBox="1"/>
          <p:nvPr/>
        </p:nvSpPr>
        <p:spPr>
          <a:xfrm>
            <a:off x="609600" y="5562600"/>
            <a:ext cx="679549"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EyeCare Partners</a:t>
            </a:r>
          </a:p>
        </p:txBody>
      </p:sp>
      <p:sp>
        <p:nvSpPr>
          <p:cNvPr id="124" name="Rectangle 123"/>
          <p:cNvSpPr/>
          <p:nvPr/>
        </p:nvSpPr>
        <p:spPr>
          <a:xfrm>
            <a:off x="1379637" y="5534025"/>
            <a:ext cx="972294" cy="180975"/>
          </a:xfrm>
          <a:prstGeom prst="rect">
            <a:avLst/>
          </a:prstGeom>
          <a:solidFill>
            <a:srgbClr val="FFFFFF"/>
          </a:solidFill>
          <a:ln>
            <a:noFill/>
          </a:ln>
          <a:effectLst/>
        </p:spPr>
        <p:txBody>
          <a:bodyPr rtlCol="0" anchor="ctr"/>
          <a:lstStyle/>
          <a:p>
            <a:pPr algn="ctr"/>
            <a:endParaRPr/>
          </a:p>
        </p:txBody>
      </p:sp>
      <p:sp>
        <p:nvSpPr>
          <p:cNvPr id="125" name="Rectangle 124"/>
          <p:cNvSpPr/>
          <p:nvPr/>
        </p:nvSpPr>
        <p:spPr>
          <a:xfrm>
            <a:off x="1379637" y="5534025"/>
            <a:ext cx="972294" cy="9525"/>
          </a:xfrm>
          <a:prstGeom prst="rect">
            <a:avLst/>
          </a:prstGeom>
          <a:solidFill>
            <a:srgbClr val="E3DCD3"/>
          </a:solidFill>
          <a:ln>
            <a:noFill/>
          </a:ln>
          <a:effectLst/>
        </p:spPr>
        <p:txBody>
          <a:bodyPr rtlCol="0" anchor="ctr"/>
          <a:lstStyle/>
          <a:p>
            <a:pPr algn="ctr"/>
            <a:endParaRPr/>
          </a:p>
        </p:txBody>
      </p:sp>
      <p:sp>
        <p:nvSpPr>
          <p:cNvPr id="126" name="Rectangle 125"/>
          <p:cNvSpPr/>
          <p:nvPr/>
        </p:nvSpPr>
        <p:spPr>
          <a:xfrm>
            <a:off x="2342406" y="5534025"/>
            <a:ext cx="9525" cy="180975"/>
          </a:xfrm>
          <a:prstGeom prst="rect">
            <a:avLst/>
          </a:prstGeom>
          <a:solidFill>
            <a:srgbClr val="E3DCD3"/>
          </a:solidFill>
          <a:ln>
            <a:noFill/>
          </a:ln>
          <a:effectLst/>
        </p:spPr>
        <p:txBody>
          <a:bodyPr rtlCol="0" anchor="ctr"/>
          <a:lstStyle/>
          <a:p>
            <a:pPr algn="ctr"/>
            <a:endParaRPr/>
          </a:p>
        </p:txBody>
      </p:sp>
      <p:sp>
        <p:nvSpPr>
          <p:cNvPr id="127" name="Rectangle 126"/>
          <p:cNvSpPr/>
          <p:nvPr/>
        </p:nvSpPr>
        <p:spPr>
          <a:xfrm>
            <a:off x="1379637" y="5705475"/>
            <a:ext cx="972294" cy="9525"/>
          </a:xfrm>
          <a:prstGeom prst="rect">
            <a:avLst/>
          </a:prstGeom>
          <a:solidFill>
            <a:srgbClr val="E3DCD3"/>
          </a:solidFill>
          <a:ln>
            <a:noFill/>
          </a:ln>
          <a:effectLst/>
        </p:spPr>
        <p:txBody>
          <a:bodyPr rtlCol="0" anchor="ctr"/>
          <a:lstStyle/>
          <a:p>
            <a:pPr algn="ctr"/>
            <a:endParaRPr/>
          </a:p>
        </p:txBody>
      </p:sp>
      <p:sp>
        <p:nvSpPr>
          <p:cNvPr id="128" name="Rectangle 127"/>
          <p:cNvSpPr/>
          <p:nvPr/>
        </p:nvSpPr>
        <p:spPr>
          <a:xfrm>
            <a:off x="1379637" y="5534025"/>
            <a:ext cx="9525" cy="180975"/>
          </a:xfrm>
          <a:prstGeom prst="rect">
            <a:avLst/>
          </a:prstGeom>
          <a:solidFill>
            <a:srgbClr val="E3DCD3"/>
          </a:solidFill>
          <a:ln>
            <a:noFill/>
          </a:ln>
          <a:effectLst/>
        </p:spPr>
        <p:txBody>
          <a:bodyPr rtlCol="0" anchor="ctr"/>
          <a:lstStyle/>
          <a:p>
            <a:pPr algn="ctr"/>
            <a:endParaRPr/>
          </a:p>
        </p:txBody>
      </p:sp>
      <p:sp>
        <p:nvSpPr>
          <p:cNvPr id="129" name="Text: Kinderhook (Enhabit)"/>
          <p:cNvSpPr txBox="1"/>
          <p:nvPr/>
        </p:nvSpPr>
        <p:spPr>
          <a:xfrm>
            <a:off x="1446312" y="5562600"/>
            <a:ext cx="853232"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Kinderhook (Enhabit)</a:t>
            </a:r>
          </a:p>
        </p:txBody>
      </p:sp>
      <p:sp>
        <p:nvSpPr>
          <p:cNvPr id="130" name="Rectangle 129"/>
          <p:cNvSpPr/>
          <p:nvPr/>
        </p:nvSpPr>
        <p:spPr>
          <a:xfrm>
            <a:off x="542925" y="5753100"/>
            <a:ext cx="1128712" cy="180975"/>
          </a:xfrm>
          <a:prstGeom prst="rect">
            <a:avLst/>
          </a:prstGeom>
          <a:solidFill>
            <a:srgbClr val="FFFFFF"/>
          </a:solidFill>
          <a:ln>
            <a:noFill/>
          </a:ln>
          <a:effectLst/>
        </p:spPr>
        <p:txBody>
          <a:bodyPr rtlCol="0" anchor="ctr"/>
          <a:lstStyle/>
          <a:p>
            <a:pPr algn="ctr"/>
            <a:endParaRPr/>
          </a:p>
        </p:txBody>
      </p:sp>
      <p:sp>
        <p:nvSpPr>
          <p:cNvPr id="131" name="Rectangle 130"/>
          <p:cNvSpPr/>
          <p:nvPr/>
        </p:nvSpPr>
        <p:spPr>
          <a:xfrm>
            <a:off x="542925" y="5753100"/>
            <a:ext cx="1128712" cy="9525"/>
          </a:xfrm>
          <a:prstGeom prst="rect">
            <a:avLst/>
          </a:prstGeom>
          <a:solidFill>
            <a:srgbClr val="E3DCD3"/>
          </a:solidFill>
          <a:ln>
            <a:noFill/>
          </a:ln>
          <a:effectLst/>
        </p:spPr>
        <p:txBody>
          <a:bodyPr rtlCol="0" anchor="ctr"/>
          <a:lstStyle/>
          <a:p>
            <a:pPr algn="ctr"/>
            <a:endParaRPr/>
          </a:p>
        </p:txBody>
      </p:sp>
      <p:sp>
        <p:nvSpPr>
          <p:cNvPr id="132" name="Rectangle 131"/>
          <p:cNvSpPr/>
          <p:nvPr/>
        </p:nvSpPr>
        <p:spPr>
          <a:xfrm>
            <a:off x="1662112" y="5753100"/>
            <a:ext cx="9525" cy="180975"/>
          </a:xfrm>
          <a:prstGeom prst="rect">
            <a:avLst/>
          </a:prstGeom>
          <a:solidFill>
            <a:srgbClr val="E3DCD3"/>
          </a:solidFill>
          <a:ln>
            <a:noFill/>
          </a:ln>
          <a:effectLst/>
        </p:spPr>
        <p:txBody>
          <a:bodyPr rtlCol="0" anchor="ctr"/>
          <a:lstStyle/>
          <a:p>
            <a:pPr algn="ctr"/>
            <a:endParaRPr/>
          </a:p>
        </p:txBody>
      </p:sp>
      <p:sp>
        <p:nvSpPr>
          <p:cNvPr id="133" name="Rectangle 132"/>
          <p:cNvSpPr/>
          <p:nvPr/>
        </p:nvSpPr>
        <p:spPr>
          <a:xfrm>
            <a:off x="542925" y="5924550"/>
            <a:ext cx="1128712" cy="9525"/>
          </a:xfrm>
          <a:prstGeom prst="rect">
            <a:avLst/>
          </a:prstGeom>
          <a:solidFill>
            <a:srgbClr val="E3DCD3"/>
          </a:solidFill>
          <a:ln>
            <a:noFill/>
          </a:ln>
          <a:effectLst/>
        </p:spPr>
        <p:txBody>
          <a:bodyPr rtlCol="0" anchor="ctr"/>
          <a:lstStyle/>
          <a:p>
            <a:pPr algn="ctr"/>
            <a:endParaRPr/>
          </a:p>
        </p:txBody>
      </p:sp>
      <p:sp>
        <p:nvSpPr>
          <p:cNvPr id="134" name="Rectangle 133"/>
          <p:cNvSpPr/>
          <p:nvPr/>
        </p:nvSpPr>
        <p:spPr>
          <a:xfrm>
            <a:off x="542925" y="5753100"/>
            <a:ext cx="9525" cy="180975"/>
          </a:xfrm>
          <a:prstGeom prst="rect">
            <a:avLst/>
          </a:prstGeom>
          <a:solidFill>
            <a:srgbClr val="E3DCD3"/>
          </a:solidFill>
          <a:ln>
            <a:noFill/>
          </a:ln>
          <a:effectLst/>
        </p:spPr>
        <p:txBody>
          <a:bodyPr rtlCol="0" anchor="ctr"/>
          <a:lstStyle/>
          <a:p>
            <a:pPr algn="ctr"/>
            <a:endParaRPr/>
          </a:p>
        </p:txBody>
      </p:sp>
      <p:sp>
        <p:nvSpPr>
          <p:cNvPr id="135" name="Text: Universal Health Services"/>
          <p:cNvSpPr txBox="1"/>
          <p:nvPr/>
        </p:nvSpPr>
        <p:spPr>
          <a:xfrm>
            <a:off x="609600" y="5781675"/>
            <a:ext cx="1009650"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Universal Health Services</a:t>
            </a:r>
          </a:p>
        </p:txBody>
      </p:sp>
      <p:sp>
        <p:nvSpPr>
          <p:cNvPr id="136" name="Rectangle 135"/>
          <p:cNvSpPr/>
          <p:nvPr/>
        </p:nvSpPr>
        <p:spPr>
          <a:xfrm>
            <a:off x="542925" y="5972175"/>
            <a:ext cx="1046113" cy="180975"/>
          </a:xfrm>
          <a:prstGeom prst="rect">
            <a:avLst/>
          </a:prstGeom>
          <a:solidFill>
            <a:srgbClr val="FFFFFF"/>
          </a:solidFill>
          <a:ln>
            <a:noFill/>
          </a:ln>
          <a:effectLst/>
        </p:spPr>
        <p:txBody>
          <a:bodyPr rtlCol="0" anchor="ctr"/>
          <a:lstStyle/>
          <a:p>
            <a:pPr algn="ctr"/>
            <a:endParaRPr/>
          </a:p>
        </p:txBody>
      </p:sp>
      <p:sp>
        <p:nvSpPr>
          <p:cNvPr id="137" name="Rectangle 136"/>
          <p:cNvSpPr/>
          <p:nvPr/>
        </p:nvSpPr>
        <p:spPr>
          <a:xfrm>
            <a:off x="542925" y="5972175"/>
            <a:ext cx="1046113" cy="9525"/>
          </a:xfrm>
          <a:prstGeom prst="rect">
            <a:avLst/>
          </a:prstGeom>
          <a:solidFill>
            <a:srgbClr val="E3DCD3"/>
          </a:solidFill>
          <a:ln>
            <a:noFill/>
          </a:ln>
          <a:effectLst/>
        </p:spPr>
        <p:txBody>
          <a:bodyPr rtlCol="0" anchor="ctr"/>
          <a:lstStyle/>
          <a:p>
            <a:pPr algn="ctr"/>
            <a:endParaRPr/>
          </a:p>
        </p:txBody>
      </p:sp>
      <p:sp>
        <p:nvSpPr>
          <p:cNvPr id="138" name="Rectangle 137"/>
          <p:cNvSpPr/>
          <p:nvPr/>
        </p:nvSpPr>
        <p:spPr>
          <a:xfrm>
            <a:off x="1579513" y="5972175"/>
            <a:ext cx="9525" cy="180975"/>
          </a:xfrm>
          <a:prstGeom prst="rect">
            <a:avLst/>
          </a:prstGeom>
          <a:solidFill>
            <a:srgbClr val="E3DCD3"/>
          </a:solidFill>
          <a:ln>
            <a:noFill/>
          </a:ln>
          <a:effectLst/>
        </p:spPr>
        <p:txBody>
          <a:bodyPr rtlCol="0" anchor="ctr"/>
          <a:lstStyle/>
          <a:p>
            <a:pPr algn="ctr"/>
            <a:endParaRPr/>
          </a:p>
        </p:txBody>
      </p:sp>
      <p:sp>
        <p:nvSpPr>
          <p:cNvPr id="139" name="Rectangle 138"/>
          <p:cNvSpPr/>
          <p:nvPr/>
        </p:nvSpPr>
        <p:spPr>
          <a:xfrm>
            <a:off x="542925" y="6143625"/>
            <a:ext cx="1046113" cy="9525"/>
          </a:xfrm>
          <a:prstGeom prst="rect">
            <a:avLst/>
          </a:prstGeom>
          <a:solidFill>
            <a:srgbClr val="E3DCD3"/>
          </a:solidFill>
          <a:ln>
            <a:noFill/>
          </a:ln>
          <a:effectLst/>
        </p:spPr>
        <p:txBody>
          <a:bodyPr rtlCol="0" anchor="ctr"/>
          <a:lstStyle/>
          <a:p>
            <a:pPr algn="ctr"/>
            <a:endParaRPr/>
          </a:p>
        </p:txBody>
      </p:sp>
      <p:sp>
        <p:nvSpPr>
          <p:cNvPr id="140" name="Rectangle 139"/>
          <p:cNvSpPr/>
          <p:nvPr/>
        </p:nvSpPr>
        <p:spPr>
          <a:xfrm>
            <a:off x="542925" y="5972175"/>
            <a:ext cx="9525" cy="180975"/>
          </a:xfrm>
          <a:prstGeom prst="rect">
            <a:avLst/>
          </a:prstGeom>
          <a:solidFill>
            <a:srgbClr val="E3DCD3"/>
          </a:solidFill>
          <a:ln>
            <a:noFill/>
          </a:ln>
          <a:effectLst/>
        </p:spPr>
        <p:txBody>
          <a:bodyPr rtlCol="0" anchor="ctr"/>
          <a:lstStyle/>
          <a:p>
            <a:pPr algn="ctr"/>
            <a:endParaRPr/>
          </a:p>
        </p:txBody>
      </p:sp>
      <p:sp>
        <p:nvSpPr>
          <p:cNvPr id="141" name="Text: ACES (General Atlantic)"/>
          <p:cNvSpPr txBox="1"/>
          <p:nvPr/>
        </p:nvSpPr>
        <p:spPr>
          <a:xfrm>
            <a:off x="609600" y="6000750"/>
            <a:ext cx="927050"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ACES (General Atlantic)</a:t>
            </a:r>
          </a:p>
        </p:txBody>
      </p:sp>
      <p:sp>
        <p:nvSpPr>
          <p:cNvPr id="142" name="Rectangle 141"/>
          <p:cNvSpPr/>
          <p:nvPr/>
        </p:nvSpPr>
        <p:spPr>
          <a:xfrm>
            <a:off x="542925" y="6191250"/>
            <a:ext cx="974675" cy="180975"/>
          </a:xfrm>
          <a:prstGeom prst="rect">
            <a:avLst/>
          </a:prstGeom>
          <a:solidFill>
            <a:srgbClr val="FFFFFF"/>
          </a:solidFill>
          <a:ln>
            <a:noFill/>
          </a:ln>
          <a:effectLst/>
        </p:spPr>
        <p:txBody>
          <a:bodyPr rtlCol="0" anchor="ctr"/>
          <a:lstStyle/>
          <a:p>
            <a:pPr algn="ctr"/>
            <a:endParaRPr/>
          </a:p>
        </p:txBody>
      </p:sp>
      <p:sp>
        <p:nvSpPr>
          <p:cNvPr id="143" name="Rectangle 142"/>
          <p:cNvSpPr/>
          <p:nvPr/>
        </p:nvSpPr>
        <p:spPr>
          <a:xfrm>
            <a:off x="542925" y="6191250"/>
            <a:ext cx="974675" cy="9525"/>
          </a:xfrm>
          <a:prstGeom prst="rect">
            <a:avLst/>
          </a:prstGeom>
          <a:solidFill>
            <a:srgbClr val="E3DCD3"/>
          </a:solidFill>
          <a:ln>
            <a:noFill/>
          </a:ln>
          <a:effectLst/>
        </p:spPr>
        <p:txBody>
          <a:bodyPr rtlCol="0" anchor="ctr"/>
          <a:lstStyle/>
          <a:p>
            <a:pPr algn="ctr"/>
            <a:endParaRPr/>
          </a:p>
        </p:txBody>
      </p:sp>
      <p:sp>
        <p:nvSpPr>
          <p:cNvPr id="144" name="Rectangle 143"/>
          <p:cNvSpPr/>
          <p:nvPr/>
        </p:nvSpPr>
        <p:spPr>
          <a:xfrm>
            <a:off x="1508075" y="6191250"/>
            <a:ext cx="9525" cy="180975"/>
          </a:xfrm>
          <a:prstGeom prst="rect">
            <a:avLst/>
          </a:prstGeom>
          <a:solidFill>
            <a:srgbClr val="E3DCD3"/>
          </a:solidFill>
          <a:ln>
            <a:noFill/>
          </a:ln>
          <a:effectLst/>
        </p:spPr>
        <p:txBody>
          <a:bodyPr rtlCol="0" anchor="ctr"/>
          <a:lstStyle/>
          <a:p>
            <a:pPr algn="ctr"/>
            <a:endParaRPr/>
          </a:p>
        </p:txBody>
      </p:sp>
      <p:sp>
        <p:nvSpPr>
          <p:cNvPr id="145" name="Rectangle 144"/>
          <p:cNvSpPr/>
          <p:nvPr/>
        </p:nvSpPr>
        <p:spPr>
          <a:xfrm>
            <a:off x="542925" y="6362700"/>
            <a:ext cx="974675" cy="9525"/>
          </a:xfrm>
          <a:prstGeom prst="rect">
            <a:avLst/>
          </a:prstGeom>
          <a:solidFill>
            <a:srgbClr val="E3DCD3"/>
          </a:solidFill>
          <a:ln>
            <a:noFill/>
          </a:ln>
          <a:effectLst/>
        </p:spPr>
        <p:txBody>
          <a:bodyPr rtlCol="0" anchor="ctr"/>
          <a:lstStyle/>
          <a:p>
            <a:pPr algn="ctr"/>
            <a:endParaRPr/>
          </a:p>
        </p:txBody>
      </p:sp>
      <p:sp>
        <p:nvSpPr>
          <p:cNvPr id="146" name="Rectangle 145"/>
          <p:cNvSpPr/>
          <p:nvPr/>
        </p:nvSpPr>
        <p:spPr>
          <a:xfrm>
            <a:off x="542925" y="6191250"/>
            <a:ext cx="9525" cy="180975"/>
          </a:xfrm>
          <a:prstGeom prst="rect">
            <a:avLst/>
          </a:prstGeom>
          <a:solidFill>
            <a:srgbClr val="E3DCD3"/>
          </a:solidFill>
          <a:ln>
            <a:noFill/>
          </a:ln>
          <a:effectLst/>
        </p:spPr>
        <p:txBody>
          <a:bodyPr rtlCol="0" anchor="ctr"/>
          <a:lstStyle/>
          <a:p>
            <a:pPr algn="ctr"/>
            <a:endParaRPr/>
          </a:p>
        </p:txBody>
      </p:sp>
      <p:sp>
        <p:nvSpPr>
          <p:cNvPr id="147" name="Text: MKH Capital Partners"/>
          <p:cNvSpPr txBox="1"/>
          <p:nvPr/>
        </p:nvSpPr>
        <p:spPr>
          <a:xfrm>
            <a:off x="609600" y="6219825"/>
            <a:ext cx="855613"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MKH Capital Partners</a:t>
            </a:r>
          </a:p>
        </p:txBody>
      </p:sp>
      <p:sp>
        <p:nvSpPr>
          <p:cNvPr id="148" name="Rectangle 147"/>
          <p:cNvSpPr/>
          <p:nvPr/>
        </p:nvSpPr>
        <p:spPr>
          <a:xfrm>
            <a:off x="542925" y="6410325"/>
            <a:ext cx="967532" cy="180975"/>
          </a:xfrm>
          <a:prstGeom prst="rect">
            <a:avLst/>
          </a:prstGeom>
          <a:solidFill>
            <a:srgbClr val="FFFFFF"/>
          </a:solidFill>
          <a:ln>
            <a:noFill/>
          </a:ln>
          <a:effectLst/>
        </p:spPr>
        <p:txBody>
          <a:bodyPr rtlCol="0" anchor="ctr"/>
          <a:lstStyle/>
          <a:p>
            <a:pPr algn="ctr"/>
            <a:endParaRPr/>
          </a:p>
        </p:txBody>
      </p:sp>
      <p:sp>
        <p:nvSpPr>
          <p:cNvPr id="149" name="Rectangle 148"/>
          <p:cNvSpPr/>
          <p:nvPr/>
        </p:nvSpPr>
        <p:spPr>
          <a:xfrm>
            <a:off x="542925" y="6410325"/>
            <a:ext cx="967532" cy="9525"/>
          </a:xfrm>
          <a:prstGeom prst="rect">
            <a:avLst/>
          </a:prstGeom>
          <a:solidFill>
            <a:srgbClr val="E3DCD3"/>
          </a:solidFill>
          <a:ln>
            <a:noFill/>
          </a:ln>
          <a:effectLst/>
        </p:spPr>
        <p:txBody>
          <a:bodyPr rtlCol="0" anchor="ctr"/>
          <a:lstStyle/>
          <a:p>
            <a:pPr algn="ctr"/>
            <a:endParaRPr/>
          </a:p>
        </p:txBody>
      </p:sp>
      <p:sp>
        <p:nvSpPr>
          <p:cNvPr id="150" name="Rectangle 149"/>
          <p:cNvSpPr/>
          <p:nvPr/>
        </p:nvSpPr>
        <p:spPr>
          <a:xfrm>
            <a:off x="1500932" y="6410325"/>
            <a:ext cx="9525" cy="180975"/>
          </a:xfrm>
          <a:prstGeom prst="rect">
            <a:avLst/>
          </a:prstGeom>
          <a:solidFill>
            <a:srgbClr val="E3DCD3"/>
          </a:solidFill>
          <a:ln>
            <a:noFill/>
          </a:ln>
          <a:effectLst/>
        </p:spPr>
        <p:txBody>
          <a:bodyPr rtlCol="0" anchor="ctr"/>
          <a:lstStyle/>
          <a:p>
            <a:pPr algn="ctr"/>
            <a:endParaRPr/>
          </a:p>
        </p:txBody>
      </p:sp>
      <p:sp>
        <p:nvSpPr>
          <p:cNvPr id="151" name="Rectangle 150"/>
          <p:cNvSpPr/>
          <p:nvPr/>
        </p:nvSpPr>
        <p:spPr>
          <a:xfrm>
            <a:off x="542925" y="6581775"/>
            <a:ext cx="967532" cy="9525"/>
          </a:xfrm>
          <a:prstGeom prst="rect">
            <a:avLst/>
          </a:prstGeom>
          <a:solidFill>
            <a:srgbClr val="E3DCD3"/>
          </a:solidFill>
          <a:ln>
            <a:noFill/>
          </a:ln>
          <a:effectLst/>
        </p:spPr>
        <p:txBody>
          <a:bodyPr rtlCol="0" anchor="ctr"/>
          <a:lstStyle/>
          <a:p>
            <a:pPr algn="ctr"/>
            <a:endParaRPr/>
          </a:p>
        </p:txBody>
      </p:sp>
      <p:sp>
        <p:nvSpPr>
          <p:cNvPr id="152" name="Rectangle 151"/>
          <p:cNvSpPr/>
          <p:nvPr/>
        </p:nvSpPr>
        <p:spPr>
          <a:xfrm>
            <a:off x="542925" y="6410325"/>
            <a:ext cx="9525" cy="180975"/>
          </a:xfrm>
          <a:prstGeom prst="rect">
            <a:avLst/>
          </a:prstGeom>
          <a:solidFill>
            <a:srgbClr val="E3DCD3"/>
          </a:solidFill>
          <a:ln>
            <a:noFill/>
          </a:ln>
          <a:effectLst/>
        </p:spPr>
        <p:txBody>
          <a:bodyPr rtlCol="0" anchor="ctr"/>
          <a:lstStyle/>
          <a:p>
            <a:pPr algn="ctr"/>
            <a:endParaRPr/>
          </a:p>
        </p:txBody>
      </p:sp>
      <p:sp>
        <p:nvSpPr>
          <p:cNvPr id="153" name="Text: Grant Avenue Capital"/>
          <p:cNvSpPr txBox="1"/>
          <p:nvPr/>
        </p:nvSpPr>
        <p:spPr>
          <a:xfrm>
            <a:off x="609600" y="6438900"/>
            <a:ext cx="848469"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Grant Avenue Capital</a:t>
            </a:r>
          </a:p>
        </p:txBody>
      </p:sp>
      <p:sp>
        <p:nvSpPr>
          <p:cNvPr id="154" name="Rectangle 153"/>
          <p:cNvSpPr/>
          <p:nvPr/>
        </p:nvSpPr>
        <p:spPr>
          <a:xfrm>
            <a:off x="542925" y="6629400"/>
            <a:ext cx="1120527" cy="180975"/>
          </a:xfrm>
          <a:prstGeom prst="rect">
            <a:avLst/>
          </a:prstGeom>
          <a:solidFill>
            <a:srgbClr val="FFFFFF"/>
          </a:solidFill>
          <a:ln>
            <a:noFill/>
          </a:ln>
          <a:effectLst/>
        </p:spPr>
        <p:txBody>
          <a:bodyPr rtlCol="0" anchor="ctr"/>
          <a:lstStyle/>
          <a:p>
            <a:pPr algn="ctr"/>
            <a:endParaRPr/>
          </a:p>
        </p:txBody>
      </p:sp>
      <p:sp>
        <p:nvSpPr>
          <p:cNvPr id="155" name="Rectangle 154"/>
          <p:cNvSpPr/>
          <p:nvPr/>
        </p:nvSpPr>
        <p:spPr>
          <a:xfrm>
            <a:off x="542925" y="6629400"/>
            <a:ext cx="1120527" cy="9525"/>
          </a:xfrm>
          <a:prstGeom prst="rect">
            <a:avLst/>
          </a:prstGeom>
          <a:solidFill>
            <a:srgbClr val="E3DCD3"/>
          </a:solidFill>
          <a:ln>
            <a:noFill/>
          </a:ln>
          <a:effectLst/>
        </p:spPr>
        <p:txBody>
          <a:bodyPr rtlCol="0" anchor="ctr"/>
          <a:lstStyle/>
          <a:p>
            <a:pPr algn="ctr"/>
            <a:endParaRPr/>
          </a:p>
        </p:txBody>
      </p:sp>
      <p:sp>
        <p:nvSpPr>
          <p:cNvPr id="156" name="Rectangle 155"/>
          <p:cNvSpPr/>
          <p:nvPr/>
        </p:nvSpPr>
        <p:spPr>
          <a:xfrm>
            <a:off x="1653927" y="6629400"/>
            <a:ext cx="9525" cy="180975"/>
          </a:xfrm>
          <a:prstGeom prst="rect">
            <a:avLst/>
          </a:prstGeom>
          <a:solidFill>
            <a:srgbClr val="E3DCD3"/>
          </a:solidFill>
          <a:ln>
            <a:noFill/>
          </a:ln>
          <a:effectLst/>
        </p:spPr>
        <p:txBody>
          <a:bodyPr rtlCol="0" anchor="ctr"/>
          <a:lstStyle/>
          <a:p>
            <a:pPr algn="ctr"/>
            <a:endParaRPr/>
          </a:p>
        </p:txBody>
      </p:sp>
      <p:sp>
        <p:nvSpPr>
          <p:cNvPr id="157" name="Rectangle 156"/>
          <p:cNvSpPr/>
          <p:nvPr/>
        </p:nvSpPr>
        <p:spPr>
          <a:xfrm>
            <a:off x="542925" y="6800850"/>
            <a:ext cx="1120527" cy="9525"/>
          </a:xfrm>
          <a:prstGeom prst="rect">
            <a:avLst/>
          </a:prstGeom>
          <a:solidFill>
            <a:srgbClr val="E3DCD3"/>
          </a:solidFill>
          <a:ln>
            <a:noFill/>
          </a:ln>
          <a:effectLst/>
        </p:spPr>
        <p:txBody>
          <a:bodyPr rtlCol="0" anchor="ctr"/>
          <a:lstStyle/>
          <a:p>
            <a:pPr algn="ctr"/>
            <a:endParaRPr/>
          </a:p>
        </p:txBody>
      </p:sp>
      <p:sp>
        <p:nvSpPr>
          <p:cNvPr id="158" name="Rectangle 157"/>
          <p:cNvSpPr/>
          <p:nvPr/>
        </p:nvSpPr>
        <p:spPr>
          <a:xfrm>
            <a:off x="542925" y="6629400"/>
            <a:ext cx="9525" cy="180975"/>
          </a:xfrm>
          <a:prstGeom prst="rect">
            <a:avLst/>
          </a:prstGeom>
          <a:solidFill>
            <a:srgbClr val="E3DCD3"/>
          </a:solidFill>
          <a:ln>
            <a:noFill/>
          </a:ln>
          <a:effectLst/>
        </p:spPr>
        <p:txBody>
          <a:bodyPr rtlCol="0" anchor="ctr"/>
          <a:lstStyle/>
          <a:p>
            <a:pPr algn="ctr"/>
            <a:endParaRPr/>
          </a:p>
        </p:txBody>
      </p:sp>
      <p:sp>
        <p:nvSpPr>
          <p:cNvPr id="159" name="Text: Global Medical Response"/>
          <p:cNvSpPr txBox="1"/>
          <p:nvPr/>
        </p:nvSpPr>
        <p:spPr>
          <a:xfrm>
            <a:off x="609600" y="6657975"/>
            <a:ext cx="1001464"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Global Medical Response</a:t>
            </a:r>
          </a:p>
        </p:txBody>
      </p:sp>
      <p:sp>
        <p:nvSpPr>
          <p:cNvPr id="160" name="Rectangle 159"/>
          <p:cNvSpPr/>
          <p:nvPr/>
        </p:nvSpPr>
        <p:spPr>
          <a:xfrm>
            <a:off x="2757488" y="1238250"/>
            <a:ext cx="2205038" cy="5695950"/>
          </a:xfrm>
          <a:prstGeom prst="rect">
            <a:avLst/>
          </a:prstGeom>
          <a:solidFill>
            <a:srgbClr val="FAF7F3"/>
          </a:solidFill>
          <a:ln>
            <a:noFill/>
          </a:ln>
          <a:effectLst/>
        </p:spPr>
        <p:txBody>
          <a:bodyPr rtlCol="0" anchor="ctr"/>
          <a:lstStyle/>
          <a:p>
            <a:pPr algn="ctr"/>
            <a:endParaRPr/>
          </a:p>
        </p:txBody>
      </p:sp>
      <p:sp>
        <p:nvSpPr>
          <p:cNvPr id="161" name="Rectangle 160"/>
          <p:cNvSpPr/>
          <p:nvPr/>
        </p:nvSpPr>
        <p:spPr>
          <a:xfrm>
            <a:off x="2757488" y="1238250"/>
            <a:ext cx="2205038" cy="9525"/>
          </a:xfrm>
          <a:prstGeom prst="rect">
            <a:avLst/>
          </a:prstGeom>
          <a:solidFill>
            <a:srgbClr val="E3DCD3"/>
          </a:solidFill>
          <a:ln>
            <a:noFill/>
          </a:ln>
          <a:effectLst/>
        </p:spPr>
        <p:txBody>
          <a:bodyPr rtlCol="0" anchor="ctr"/>
          <a:lstStyle/>
          <a:p>
            <a:pPr algn="ctr"/>
            <a:endParaRPr/>
          </a:p>
        </p:txBody>
      </p:sp>
      <p:sp>
        <p:nvSpPr>
          <p:cNvPr id="162" name="Rectangle 161"/>
          <p:cNvSpPr/>
          <p:nvPr/>
        </p:nvSpPr>
        <p:spPr>
          <a:xfrm>
            <a:off x="4953000" y="1238250"/>
            <a:ext cx="9525" cy="5695950"/>
          </a:xfrm>
          <a:prstGeom prst="rect">
            <a:avLst/>
          </a:prstGeom>
          <a:solidFill>
            <a:srgbClr val="E3DCD3"/>
          </a:solidFill>
          <a:ln>
            <a:noFill/>
          </a:ln>
          <a:effectLst/>
        </p:spPr>
        <p:txBody>
          <a:bodyPr rtlCol="0" anchor="ctr"/>
          <a:lstStyle/>
          <a:p>
            <a:pPr algn="ctr"/>
            <a:endParaRPr/>
          </a:p>
        </p:txBody>
      </p:sp>
      <p:sp>
        <p:nvSpPr>
          <p:cNvPr id="163" name="Rectangle 162"/>
          <p:cNvSpPr/>
          <p:nvPr/>
        </p:nvSpPr>
        <p:spPr>
          <a:xfrm>
            <a:off x="2757488" y="6924675"/>
            <a:ext cx="2205038" cy="9525"/>
          </a:xfrm>
          <a:prstGeom prst="rect">
            <a:avLst/>
          </a:prstGeom>
          <a:solidFill>
            <a:srgbClr val="E3DCD3"/>
          </a:solidFill>
          <a:ln>
            <a:noFill/>
          </a:ln>
          <a:effectLst/>
        </p:spPr>
        <p:txBody>
          <a:bodyPr rtlCol="0" anchor="ctr"/>
          <a:lstStyle/>
          <a:p>
            <a:pPr algn="ctr"/>
            <a:endParaRPr/>
          </a:p>
        </p:txBody>
      </p:sp>
      <p:sp>
        <p:nvSpPr>
          <p:cNvPr id="164" name="Rectangle 163"/>
          <p:cNvSpPr/>
          <p:nvPr/>
        </p:nvSpPr>
        <p:spPr>
          <a:xfrm>
            <a:off x="2757488" y="1238250"/>
            <a:ext cx="9525" cy="5695950"/>
          </a:xfrm>
          <a:prstGeom prst="rect">
            <a:avLst/>
          </a:prstGeom>
          <a:solidFill>
            <a:srgbClr val="E3DCD3"/>
          </a:solidFill>
          <a:ln>
            <a:noFill/>
          </a:ln>
          <a:effectLst/>
        </p:spPr>
        <p:txBody>
          <a:bodyPr rtlCol="0" anchor="ctr"/>
          <a:lstStyle/>
          <a:p>
            <a:pPr algn="ctr"/>
            <a:endParaRPr/>
          </a:p>
        </p:txBody>
      </p:sp>
      <p:sp>
        <p:nvSpPr>
          <p:cNvPr id="165" name="Rectangle 164"/>
          <p:cNvSpPr/>
          <p:nvPr/>
        </p:nvSpPr>
        <p:spPr>
          <a:xfrm>
            <a:off x="2767012" y="1247775"/>
            <a:ext cx="2185988" cy="419100"/>
          </a:xfrm>
          <a:prstGeom prst="rect">
            <a:avLst/>
          </a:prstGeom>
          <a:solidFill>
            <a:srgbClr val="1B1A1A"/>
          </a:solidFill>
          <a:ln>
            <a:noFill/>
          </a:ln>
          <a:effectLst/>
        </p:spPr>
        <p:txBody>
          <a:bodyPr rtlCol="0" anchor="ctr"/>
          <a:lstStyle/>
          <a:p>
            <a:pPr algn="ctr"/>
            <a:endParaRPr/>
          </a:p>
        </p:txBody>
      </p:sp>
      <p:pic>
        <p:nvPicPr>
          <p:cNvPr id="166" name="Picture 165" descr="vebe03e2a600d.png"/>
          <p:cNvPicPr>
            <a:picLocks noChangeAspect="1"/>
          </p:cNvPicPr>
          <p:nvPr/>
        </p:nvPicPr>
        <p:blipFill>
          <a:blip r:embed="rId14"/>
          <a:stretch>
            <a:fillRect/>
          </a:stretch>
        </p:blipFill>
        <p:spPr>
          <a:xfrm>
            <a:off x="2881312" y="1333500"/>
            <a:ext cx="247650" cy="247650"/>
          </a:xfrm>
          <a:prstGeom prst="rect">
            <a:avLst/>
          </a:prstGeom>
        </p:spPr>
      </p:pic>
      <p:sp>
        <p:nvSpPr>
          <p:cNvPr id="167" name="Text: LIFE SCIENCES &amp; DIAGNOSTICS"/>
          <p:cNvSpPr txBox="1"/>
          <p:nvPr/>
        </p:nvSpPr>
        <p:spPr>
          <a:xfrm>
            <a:off x="3224212" y="1395412"/>
            <a:ext cx="1540520" cy="123825"/>
          </a:xfrm>
          <a:prstGeom prst="rect">
            <a:avLst/>
          </a:prstGeom>
          <a:noFill/>
        </p:spPr>
        <p:txBody>
          <a:bodyPr wrap="square" lIns="0" tIns="0" rIns="0" bIns="0" anchor="t">
            <a:spAutoFit/>
          </a:bodyPr>
          <a:lstStyle/>
          <a:p>
            <a:pPr algn="l">
              <a:lnSpc>
                <a:spcPts val="975"/>
              </a:lnSpc>
            </a:pPr>
            <a:r>
              <a:rPr sz="712" b="1" i="0" spc="112">
                <a:solidFill>
                  <a:srgbClr val="FFFFFF"/>
                </a:solidFill>
                <a:latin typeface="Calibri"/>
              </a:rPr>
              <a:t>LIFE SCIENCES &amp; DIAGNOSTICS</a:t>
            </a:r>
          </a:p>
        </p:txBody>
      </p:sp>
      <p:sp>
        <p:nvSpPr>
          <p:cNvPr id="168" name="Text: LISTED COMPANIES"/>
          <p:cNvSpPr txBox="1"/>
          <p:nvPr/>
        </p:nvSpPr>
        <p:spPr>
          <a:xfrm>
            <a:off x="2881312" y="1771650"/>
            <a:ext cx="1971675" cy="123825"/>
          </a:xfrm>
          <a:prstGeom prst="rect">
            <a:avLst/>
          </a:prstGeom>
          <a:noFill/>
        </p:spPr>
        <p:txBody>
          <a:bodyPr wrap="square" lIns="0" tIns="0" rIns="0" bIns="0" anchor="t">
            <a:spAutoFit/>
          </a:bodyPr>
          <a:lstStyle/>
          <a:p>
            <a:pPr algn="l">
              <a:lnSpc>
                <a:spcPts val="975"/>
              </a:lnSpc>
            </a:pPr>
            <a:r>
              <a:rPr sz="638" b="1" i="0" spc="150">
                <a:solidFill>
                  <a:srgbClr val="8C6239"/>
                </a:solidFill>
                <a:latin typeface="Calibri"/>
              </a:rPr>
              <a:t>LISTED COMPANIES</a:t>
            </a:r>
          </a:p>
        </p:txBody>
      </p:sp>
      <p:sp>
        <p:nvSpPr>
          <p:cNvPr id="169" name="Rectangle 168"/>
          <p:cNvSpPr/>
          <p:nvPr/>
        </p:nvSpPr>
        <p:spPr>
          <a:xfrm>
            <a:off x="2881312" y="1952625"/>
            <a:ext cx="1957388" cy="228600"/>
          </a:xfrm>
          <a:prstGeom prst="rect">
            <a:avLst/>
          </a:prstGeom>
          <a:solidFill>
            <a:srgbClr val="FFFFFF"/>
          </a:solidFill>
          <a:ln>
            <a:noFill/>
          </a:ln>
          <a:effectLst/>
        </p:spPr>
        <p:txBody>
          <a:bodyPr rtlCol="0" anchor="ctr"/>
          <a:lstStyle/>
          <a:p>
            <a:pPr algn="ctr"/>
            <a:endParaRPr/>
          </a:p>
        </p:txBody>
      </p:sp>
      <p:sp>
        <p:nvSpPr>
          <p:cNvPr id="170" name="Rectangle 169"/>
          <p:cNvSpPr/>
          <p:nvPr/>
        </p:nvSpPr>
        <p:spPr>
          <a:xfrm>
            <a:off x="2881312" y="1952625"/>
            <a:ext cx="1957388" cy="9525"/>
          </a:xfrm>
          <a:prstGeom prst="rect">
            <a:avLst/>
          </a:prstGeom>
          <a:solidFill>
            <a:srgbClr val="E3DCD3"/>
          </a:solidFill>
          <a:ln>
            <a:noFill/>
          </a:ln>
          <a:effectLst/>
        </p:spPr>
        <p:txBody>
          <a:bodyPr rtlCol="0" anchor="ctr"/>
          <a:lstStyle/>
          <a:p>
            <a:pPr algn="ctr"/>
            <a:endParaRPr/>
          </a:p>
        </p:txBody>
      </p:sp>
      <p:sp>
        <p:nvSpPr>
          <p:cNvPr id="171" name="Rectangle 170"/>
          <p:cNvSpPr/>
          <p:nvPr/>
        </p:nvSpPr>
        <p:spPr>
          <a:xfrm>
            <a:off x="4829175" y="1952625"/>
            <a:ext cx="9525" cy="228600"/>
          </a:xfrm>
          <a:prstGeom prst="rect">
            <a:avLst/>
          </a:prstGeom>
          <a:solidFill>
            <a:srgbClr val="E3DCD3"/>
          </a:solidFill>
          <a:ln>
            <a:noFill/>
          </a:ln>
          <a:effectLst/>
        </p:spPr>
        <p:txBody>
          <a:bodyPr rtlCol="0" anchor="ctr"/>
          <a:lstStyle/>
          <a:p>
            <a:pPr algn="ctr"/>
            <a:endParaRPr/>
          </a:p>
        </p:txBody>
      </p:sp>
      <p:sp>
        <p:nvSpPr>
          <p:cNvPr id="172" name="Rectangle 171"/>
          <p:cNvSpPr/>
          <p:nvPr/>
        </p:nvSpPr>
        <p:spPr>
          <a:xfrm>
            <a:off x="2881312" y="2171700"/>
            <a:ext cx="1957388" cy="9525"/>
          </a:xfrm>
          <a:prstGeom prst="rect">
            <a:avLst/>
          </a:prstGeom>
          <a:solidFill>
            <a:srgbClr val="E3DCD3"/>
          </a:solidFill>
          <a:ln>
            <a:noFill/>
          </a:ln>
          <a:effectLst/>
        </p:spPr>
        <p:txBody>
          <a:bodyPr rtlCol="0" anchor="ctr"/>
          <a:lstStyle/>
          <a:p>
            <a:pPr algn="ctr"/>
            <a:endParaRPr/>
          </a:p>
        </p:txBody>
      </p:sp>
      <p:sp>
        <p:nvSpPr>
          <p:cNvPr id="173" name="Rectangle 172"/>
          <p:cNvSpPr/>
          <p:nvPr/>
        </p:nvSpPr>
        <p:spPr>
          <a:xfrm>
            <a:off x="2881312" y="1952625"/>
            <a:ext cx="9525" cy="228600"/>
          </a:xfrm>
          <a:prstGeom prst="rect">
            <a:avLst/>
          </a:prstGeom>
          <a:solidFill>
            <a:srgbClr val="E3DCD3"/>
          </a:solidFill>
          <a:ln>
            <a:noFill/>
          </a:ln>
          <a:effectLst/>
        </p:spPr>
        <p:txBody>
          <a:bodyPr rtlCol="0" anchor="ctr"/>
          <a:lstStyle/>
          <a:p>
            <a:pPr algn="ctr"/>
            <a:endParaRPr/>
          </a:p>
        </p:txBody>
      </p:sp>
      <p:sp>
        <p:nvSpPr>
          <p:cNvPr id="174" name="Rounded Rectangle 173"/>
          <p:cNvSpPr/>
          <p:nvPr/>
        </p:nvSpPr>
        <p:spPr>
          <a:xfrm>
            <a:off x="2900362" y="197167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175" name="Text: LH">
            <a:hlinkClick r:id="rId15"/>
          </p:cNvPr>
          <p:cNvSpPr txBox="1"/>
          <p:nvPr/>
        </p:nvSpPr>
        <p:spPr>
          <a:xfrm>
            <a:off x="2900362" y="197167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LH</a:t>
            </a:r>
          </a:p>
        </p:txBody>
      </p:sp>
      <p:sp>
        <p:nvSpPr>
          <p:cNvPr id="176" name="Text: Labcorp">
            <a:hlinkClick r:id="rId15"/>
          </p:cNvPr>
          <p:cNvSpPr txBox="1"/>
          <p:nvPr/>
        </p:nvSpPr>
        <p:spPr>
          <a:xfrm>
            <a:off x="3328988" y="2002631"/>
            <a:ext cx="341709"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Labcorp</a:t>
            </a:r>
          </a:p>
        </p:txBody>
      </p:sp>
      <p:sp>
        <p:nvSpPr>
          <p:cNvPr id="177" name="Rectangle 176"/>
          <p:cNvSpPr/>
          <p:nvPr/>
        </p:nvSpPr>
        <p:spPr>
          <a:xfrm>
            <a:off x="2881312" y="2200275"/>
            <a:ext cx="1957388" cy="228600"/>
          </a:xfrm>
          <a:prstGeom prst="rect">
            <a:avLst/>
          </a:prstGeom>
          <a:solidFill>
            <a:srgbClr val="FFFFFF"/>
          </a:solidFill>
          <a:ln>
            <a:noFill/>
          </a:ln>
          <a:effectLst/>
        </p:spPr>
        <p:txBody>
          <a:bodyPr rtlCol="0" anchor="ctr"/>
          <a:lstStyle/>
          <a:p>
            <a:pPr algn="ctr"/>
            <a:endParaRPr/>
          </a:p>
        </p:txBody>
      </p:sp>
      <p:sp>
        <p:nvSpPr>
          <p:cNvPr id="178" name="Rectangle 177"/>
          <p:cNvSpPr/>
          <p:nvPr/>
        </p:nvSpPr>
        <p:spPr>
          <a:xfrm>
            <a:off x="2881312" y="2200275"/>
            <a:ext cx="1957388" cy="9525"/>
          </a:xfrm>
          <a:prstGeom prst="rect">
            <a:avLst/>
          </a:prstGeom>
          <a:solidFill>
            <a:srgbClr val="E3DCD3"/>
          </a:solidFill>
          <a:ln>
            <a:noFill/>
          </a:ln>
          <a:effectLst/>
        </p:spPr>
        <p:txBody>
          <a:bodyPr rtlCol="0" anchor="ctr"/>
          <a:lstStyle/>
          <a:p>
            <a:pPr algn="ctr"/>
            <a:endParaRPr/>
          </a:p>
        </p:txBody>
      </p:sp>
      <p:sp>
        <p:nvSpPr>
          <p:cNvPr id="179" name="Rectangle 178"/>
          <p:cNvSpPr/>
          <p:nvPr/>
        </p:nvSpPr>
        <p:spPr>
          <a:xfrm>
            <a:off x="4829175" y="2200275"/>
            <a:ext cx="9525" cy="228600"/>
          </a:xfrm>
          <a:prstGeom prst="rect">
            <a:avLst/>
          </a:prstGeom>
          <a:solidFill>
            <a:srgbClr val="E3DCD3"/>
          </a:solidFill>
          <a:ln>
            <a:noFill/>
          </a:ln>
          <a:effectLst/>
        </p:spPr>
        <p:txBody>
          <a:bodyPr rtlCol="0" anchor="ctr"/>
          <a:lstStyle/>
          <a:p>
            <a:pPr algn="ctr"/>
            <a:endParaRPr/>
          </a:p>
        </p:txBody>
      </p:sp>
      <p:sp>
        <p:nvSpPr>
          <p:cNvPr id="180" name="Rectangle 179"/>
          <p:cNvSpPr/>
          <p:nvPr/>
        </p:nvSpPr>
        <p:spPr>
          <a:xfrm>
            <a:off x="2881312" y="2419350"/>
            <a:ext cx="1957388" cy="9525"/>
          </a:xfrm>
          <a:prstGeom prst="rect">
            <a:avLst/>
          </a:prstGeom>
          <a:solidFill>
            <a:srgbClr val="E3DCD3"/>
          </a:solidFill>
          <a:ln>
            <a:noFill/>
          </a:ln>
          <a:effectLst/>
        </p:spPr>
        <p:txBody>
          <a:bodyPr rtlCol="0" anchor="ctr"/>
          <a:lstStyle/>
          <a:p>
            <a:pPr algn="ctr"/>
            <a:endParaRPr/>
          </a:p>
        </p:txBody>
      </p:sp>
      <p:sp>
        <p:nvSpPr>
          <p:cNvPr id="181" name="Rectangle 180"/>
          <p:cNvSpPr/>
          <p:nvPr/>
        </p:nvSpPr>
        <p:spPr>
          <a:xfrm>
            <a:off x="2881312" y="2200275"/>
            <a:ext cx="9525" cy="228600"/>
          </a:xfrm>
          <a:prstGeom prst="rect">
            <a:avLst/>
          </a:prstGeom>
          <a:solidFill>
            <a:srgbClr val="E3DCD3"/>
          </a:solidFill>
          <a:ln>
            <a:noFill/>
          </a:ln>
          <a:effectLst/>
        </p:spPr>
        <p:txBody>
          <a:bodyPr rtlCol="0" anchor="ctr"/>
          <a:lstStyle/>
          <a:p>
            <a:pPr algn="ctr"/>
            <a:endParaRPr/>
          </a:p>
        </p:txBody>
      </p:sp>
      <p:sp>
        <p:nvSpPr>
          <p:cNvPr id="182" name="Rounded Rectangle 181"/>
          <p:cNvSpPr/>
          <p:nvPr/>
        </p:nvSpPr>
        <p:spPr>
          <a:xfrm>
            <a:off x="2900362" y="221932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183" name="Text: DGX">
            <a:hlinkClick r:id="rId16"/>
          </p:cNvPr>
          <p:cNvSpPr txBox="1"/>
          <p:nvPr/>
        </p:nvSpPr>
        <p:spPr>
          <a:xfrm>
            <a:off x="2900362" y="221932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DGX</a:t>
            </a:r>
          </a:p>
        </p:txBody>
      </p:sp>
      <p:sp>
        <p:nvSpPr>
          <p:cNvPr id="184" name="Text: Quest Diagnostics">
            <a:hlinkClick r:id="rId16"/>
          </p:cNvPr>
          <p:cNvSpPr txBox="1"/>
          <p:nvPr/>
        </p:nvSpPr>
        <p:spPr>
          <a:xfrm>
            <a:off x="3328988" y="2250281"/>
            <a:ext cx="751731"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Quest Diagnostics</a:t>
            </a:r>
          </a:p>
        </p:txBody>
      </p:sp>
      <p:sp>
        <p:nvSpPr>
          <p:cNvPr id="185" name="Rectangle 184"/>
          <p:cNvSpPr/>
          <p:nvPr/>
        </p:nvSpPr>
        <p:spPr>
          <a:xfrm>
            <a:off x="2881312" y="2447925"/>
            <a:ext cx="1957388" cy="228600"/>
          </a:xfrm>
          <a:prstGeom prst="rect">
            <a:avLst/>
          </a:prstGeom>
          <a:solidFill>
            <a:srgbClr val="FFFFFF"/>
          </a:solidFill>
          <a:ln>
            <a:noFill/>
          </a:ln>
          <a:effectLst/>
        </p:spPr>
        <p:txBody>
          <a:bodyPr rtlCol="0" anchor="ctr"/>
          <a:lstStyle/>
          <a:p>
            <a:pPr algn="ctr"/>
            <a:endParaRPr/>
          </a:p>
        </p:txBody>
      </p:sp>
      <p:sp>
        <p:nvSpPr>
          <p:cNvPr id="186" name="Rectangle 185"/>
          <p:cNvSpPr/>
          <p:nvPr/>
        </p:nvSpPr>
        <p:spPr>
          <a:xfrm>
            <a:off x="2881312" y="2447925"/>
            <a:ext cx="1957388" cy="9525"/>
          </a:xfrm>
          <a:prstGeom prst="rect">
            <a:avLst/>
          </a:prstGeom>
          <a:solidFill>
            <a:srgbClr val="E3DCD3"/>
          </a:solidFill>
          <a:ln>
            <a:noFill/>
          </a:ln>
          <a:effectLst/>
        </p:spPr>
        <p:txBody>
          <a:bodyPr rtlCol="0" anchor="ctr"/>
          <a:lstStyle/>
          <a:p>
            <a:pPr algn="ctr"/>
            <a:endParaRPr/>
          </a:p>
        </p:txBody>
      </p:sp>
      <p:sp>
        <p:nvSpPr>
          <p:cNvPr id="187" name="Rectangle 186"/>
          <p:cNvSpPr/>
          <p:nvPr/>
        </p:nvSpPr>
        <p:spPr>
          <a:xfrm>
            <a:off x="4829175" y="2447925"/>
            <a:ext cx="9525" cy="228600"/>
          </a:xfrm>
          <a:prstGeom prst="rect">
            <a:avLst/>
          </a:prstGeom>
          <a:solidFill>
            <a:srgbClr val="E3DCD3"/>
          </a:solidFill>
          <a:ln>
            <a:noFill/>
          </a:ln>
          <a:effectLst/>
        </p:spPr>
        <p:txBody>
          <a:bodyPr rtlCol="0" anchor="ctr"/>
          <a:lstStyle/>
          <a:p>
            <a:pPr algn="ctr"/>
            <a:endParaRPr/>
          </a:p>
        </p:txBody>
      </p:sp>
      <p:sp>
        <p:nvSpPr>
          <p:cNvPr id="188" name="Rectangle 187"/>
          <p:cNvSpPr/>
          <p:nvPr/>
        </p:nvSpPr>
        <p:spPr>
          <a:xfrm>
            <a:off x="2881312" y="2667000"/>
            <a:ext cx="1957388" cy="9525"/>
          </a:xfrm>
          <a:prstGeom prst="rect">
            <a:avLst/>
          </a:prstGeom>
          <a:solidFill>
            <a:srgbClr val="E3DCD3"/>
          </a:solidFill>
          <a:ln>
            <a:noFill/>
          </a:ln>
          <a:effectLst/>
        </p:spPr>
        <p:txBody>
          <a:bodyPr rtlCol="0" anchor="ctr"/>
          <a:lstStyle/>
          <a:p>
            <a:pPr algn="ctr"/>
            <a:endParaRPr/>
          </a:p>
        </p:txBody>
      </p:sp>
      <p:sp>
        <p:nvSpPr>
          <p:cNvPr id="189" name="Rectangle 188"/>
          <p:cNvSpPr/>
          <p:nvPr/>
        </p:nvSpPr>
        <p:spPr>
          <a:xfrm>
            <a:off x="2881312" y="2447925"/>
            <a:ext cx="9525" cy="228600"/>
          </a:xfrm>
          <a:prstGeom prst="rect">
            <a:avLst/>
          </a:prstGeom>
          <a:solidFill>
            <a:srgbClr val="E3DCD3"/>
          </a:solidFill>
          <a:ln>
            <a:noFill/>
          </a:ln>
          <a:effectLst/>
        </p:spPr>
        <p:txBody>
          <a:bodyPr rtlCol="0" anchor="ctr"/>
          <a:lstStyle/>
          <a:p>
            <a:pPr algn="ctr"/>
            <a:endParaRPr/>
          </a:p>
        </p:txBody>
      </p:sp>
      <p:sp>
        <p:nvSpPr>
          <p:cNvPr id="190" name="Rounded Rectangle 189"/>
          <p:cNvSpPr/>
          <p:nvPr/>
        </p:nvSpPr>
        <p:spPr>
          <a:xfrm>
            <a:off x="2900362" y="246697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191" name="Text: TMO">
            <a:hlinkClick r:id="rId17"/>
          </p:cNvPr>
          <p:cNvSpPr txBox="1"/>
          <p:nvPr/>
        </p:nvSpPr>
        <p:spPr>
          <a:xfrm>
            <a:off x="2900362" y="246697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TMO</a:t>
            </a:r>
          </a:p>
        </p:txBody>
      </p:sp>
      <p:sp>
        <p:nvSpPr>
          <p:cNvPr id="192" name="Text: Thermo Fisher Scientific">
            <a:hlinkClick r:id="rId17"/>
          </p:cNvPr>
          <p:cNvSpPr txBox="1"/>
          <p:nvPr/>
        </p:nvSpPr>
        <p:spPr>
          <a:xfrm>
            <a:off x="3328988" y="2497931"/>
            <a:ext cx="1006227"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Thermo Fisher Scientific</a:t>
            </a:r>
          </a:p>
        </p:txBody>
      </p:sp>
      <p:sp>
        <p:nvSpPr>
          <p:cNvPr id="193" name="Rectangle 192"/>
          <p:cNvSpPr/>
          <p:nvPr/>
        </p:nvSpPr>
        <p:spPr>
          <a:xfrm>
            <a:off x="2881312" y="2695575"/>
            <a:ext cx="1957388" cy="228600"/>
          </a:xfrm>
          <a:prstGeom prst="rect">
            <a:avLst/>
          </a:prstGeom>
          <a:solidFill>
            <a:srgbClr val="FFFFFF"/>
          </a:solidFill>
          <a:ln>
            <a:noFill/>
          </a:ln>
          <a:effectLst/>
        </p:spPr>
        <p:txBody>
          <a:bodyPr rtlCol="0" anchor="ctr"/>
          <a:lstStyle/>
          <a:p>
            <a:pPr algn="ctr"/>
            <a:endParaRPr/>
          </a:p>
        </p:txBody>
      </p:sp>
      <p:sp>
        <p:nvSpPr>
          <p:cNvPr id="194" name="Rectangle 193"/>
          <p:cNvSpPr/>
          <p:nvPr/>
        </p:nvSpPr>
        <p:spPr>
          <a:xfrm>
            <a:off x="2881312" y="2695575"/>
            <a:ext cx="1957388" cy="9525"/>
          </a:xfrm>
          <a:prstGeom prst="rect">
            <a:avLst/>
          </a:prstGeom>
          <a:solidFill>
            <a:srgbClr val="E3DCD3"/>
          </a:solidFill>
          <a:ln>
            <a:noFill/>
          </a:ln>
          <a:effectLst/>
        </p:spPr>
        <p:txBody>
          <a:bodyPr rtlCol="0" anchor="ctr"/>
          <a:lstStyle/>
          <a:p>
            <a:pPr algn="ctr"/>
            <a:endParaRPr/>
          </a:p>
        </p:txBody>
      </p:sp>
      <p:sp>
        <p:nvSpPr>
          <p:cNvPr id="195" name="Rectangle 194"/>
          <p:cNvSpPr/>
          <p:nvPr/>
        </p:nvSpPr>
        <p:spPr>
          <a:xfrm>
            <a:off x="4829175" y="2695575"/>
            <a:ext cx="9525" cy="228600"/>
          </a:xfrm>
          <a:prstGeom prst="rect">
            <a:avLst/>
          </a:prstGeom>
          <a:solidFill>
            <a:srgbClr val="E3DCD3"/>
          </a:solidFill>
          <a:ln>
            <a:noFill/>
          </a:ln>
          <a:effectLst/>
        </p:spPr>
        <p:txBody>
          <a:bodyPr rtlCol="0" anchor="ctr"/>
          <a:lstStyle/>
          <a:p>
            <a:pPr algn="ctr"/>
            <a:endParaRPr/>
          </a:p>
        </p:txBody>
      </p:sp>
      <p:sp>
        <p:nvSpPr>
          <p:cNvPr id="196" name="Rectangle 195"/>
          <p:cNvSpPr/>
          <p:nvPr/>
        </p:nvSpPr>
        <p:spPr>
          <a:xfrm>
            <a:off x="2881312" y="2914650"/>
            <a:ext cx="1957388" cy="9525"/>
          </a:xfrm>
          <a:prstGeom prst="rect">
            <a:avLst/>
          </a:prstGeom>
          <a:solidFill>
            <a:srgbClr val="E3DCD3"/>
          </a:solidFill>
          <a:ln>
            <a:noFill/>
          </a:ln>
          <a:effectLst/>
        </p:spPr>
        <p:txBody>
          <a:bodyPr rtlCol="0" anchor="ctr"/>
          <a:lstStyle/>
          <a:p>
            <a:pPr algn="ctr"/>
            <a:endParaRPr/>
          </a:p>
        </p:txBody>
      </p:sp>
      <p:sp>
        <p:nvSpPr>
          <p:cNvPr id="197" name="Rectangle 196"/>
          <p:cNvSpPr/>
          <p:nvPr/>
        </p:nvSpPr>
        <p:spPr>
          <a:xfrm>
            <a:off x="2881312" y="2695575"/>
            <a:ext cx="9525" cy="228600"/>
          </a:xfrm>
          <a:prstGeom prst="rect">
            <a:avLst/>
          </a:prstGeom>
          <a:solidFill>
            <a:srgbClr val="E3DCD3"/>
          </a:solidFill>
          <a:ln>
            <a:noFill/>
          </a:ln>
          <a:effectLst/>
        </p:spPr>
        <p:txBody>
          <a:bodyPr rtlCol="0" anchor="ctr"/>
          <a:lstStyle/>
          <a:p>
            <a:pPr algn="ctr"/>
            <a:endParaRPr/>
          </a:p>
        </p:txBody>
      </p:sp>
      <p:sp>
        <p:nvSpPr>
          <p:cNvPr id="198" name="Rounded Rectangle 197"/>
          <p:cNvSpPr/>
          <p:nvPr/>
        </p:nvSpPr>
        <p:spPr>
          <a:xfrm>
            <a:off x="2900362" y="271462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199" name="Text: DHR">
            <a:hlinkClick r:id="rId18"/>
          </p:cNvPr>
          <p:cNvSpPr txBox="1"/>
          <p:nvPr/>
        </p:nvSpPr>
        <p:spPr>
          <a:xfrm>
            <a:off x="2900362" y="271462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DHR</a:t>
            </a:r>
          </a:p>
        </p:txBody>
      </p:sp>
      <p:sp>
        <p:nvSpPr>
          <p:cNvPr id="200" name="Text: Danaher">
            <a:hlinkClick r:id="rId18"/>
          </p:cNvPr>
          <p:cNvSpPr txBox="1"/>
          <p:nvPr/>
        </p:nvSpPr>
        <p:spPr>
          <a:xfrm>
            <a:off x="3328988" y="2745581"/>
            <a:ext cx="365820"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Danaher</a:t>
            </a:r>
          </a:p>
        </p:txBody>
      </p:sp>
      <p:sp>
        <p:nvSpPr>
          <p:cNvPr id="201" name="Rectangle 200"/>
          <p:cNvSpPr/>
          <p:nvPr/>
        </p:nvSpPr>
        <p:spPr>
          <a:xfrm>
            <a:off x="2881312" y="2943225"/>
            <a:ext cx="1957388" cy="228600"/>
          </a:xfrm>
          <a:prstGeom prst="rect">
            <a:avLst/>
          </a:prstGeom>
          <a:solidFill>
            <a:srgbClr val="FFFFFF"/>
          </a:solidFill>
          <a:ln>
            <a:noFill/>
          </a:ln>
          <a:effectLst/>
        </p:spPr>
        <p:txBody>
          <a:bodyPr rtlCol="0" anchor="ctr"/>
          <a:lstStyle/>
          <a:p>
            <a:pPr algn="ctr"/>
            <a:endParaRPr/>
          </a:p>
        </p:txBody>
      </p:sp>
      <p:sp>
        <p:nvSpPr>
          <p:cNvPr id="202" name="Rectangle 201"/>
          <p:cNvSpPr/>
          <p:nvPr/>
        </p:nvSpPr>
        <p:spPr>
          <a:xfrm>
            <a:off x="2881312" y="2943225"/>
            <a:ext cx="1957388" cy="9525"/>
          </a:xfrm>
          <a:prstGeom prst="rect">
            <a:avLst/>
          </a:prstGeom>
          <a:solidFill>
            <a:srgbClr val="E3DCD3"/>
          </a:solidFill>
          <a:ln>
            <a:noFill/>
          </a:ln>
          <a:effectLst/>
        </p:spPr>
        <p:txBody>
          <a:bodyPr rtlCol="0" anchor="ctr"/>
          <a:lstStyle/>
          <a:p>
            <a:pPr algn="ctr"/>
            <a:endParaRPr/>
          </a:p>
        </p:txBody>
      </p:sp>
      <p:sp>
        <p:nvSpPr>
          <p:cNvPr id="203" name="Rectangle 202"/>
          <p:cNvSpPr/>
          <p:nvPr/>
        </p:nvSpPr>
        <p:spPr>
          <a:xfrm>
            <a:off x="4829175" y="2943225"/>
            <a:ext cx="9525" cy="228600"/>
          </a:xfrm>
          <a:prstGeom prst="rect">
            <a:avLst/>
          </a:prstGeom>
          <a:solidFill>
            <a:srgbClr val="E3DCD3"/>
          </a:solidFill>
          <a:ln>
            <a:noFill/>
          </a:ln>
          <a:effectLst/>
        </p:spPr>
        <p:txBody>
          <a:bodyPr rtlCol="0" anchor="ctr"/>
          <a:lstStyle/>
          <a:p>
            <a:pPr algn="ctr"/>
            <a:endParaRPr/>
          </a:p>
        </p:txBody>
      </p:sp>
      <p:sp>
        <p:nvSpPr>
          <p:cNvPr id="204" name="Rectangle 203"/>
          <p:cNvSpPr/>
          <p:nvPr/>
        </p:nvSpPr>
        <p:spPr>
          <a:xfrm>
            <a:off x="2881312" y="3162300"/>
            <a:ext cx="1957388" cy="9525"/>
          </a:xfrm>
          <a:prstGeom prst="rect">
            <a:avLst/>
          </a:prstGeom>
          <a:solidFill>
            <a:srgbClr val="E3DCD3"/>
          </a:solidFill>
          <a:ln>
            <a:noFill/>
          </a:ln>
          <a:effectLst/>
        </p:spPr>
        <p:txBody>
          <a:bodyPr rtlCol="0" anchor="ctr"/>
          <a:lstStyle/>
          <a:p>
            <a:pPr algn="ctr"/>
            <a:endParaRPr/>
          </a:p>
        </p:txBody>
      </p:sp>
      <p:sp>
        <p:nvSpPr>
          <p:cNvPr id="205" name="Rectangle 204"/>
          <p:cNvSpPr/>
          <p:nvPr/>
        </p:nvSpPr>
        <p:spPr>
          <a:xfrm>
            <a:off x="2881312" y="2943225"/>
            <a:ext cx="9525" cy="228600"/>
          </a:xfrm>
          <a:prstGeom prst="rect">
            <a:avLst/>
          </a:prstGeom>
          <a:solidFill>
            <a:srgbClr val="E3DCD3"/>
          </a:solidFill>
          <a:ln>
            <a:noFill/>
          </a:ln>
          <a:effectLst/>
        </p:spPr>
        <p:txBody>
          <a:bodyPr rtlCol="0" anchor="ctr"/>
          <a:lstStyle/>
          <a:p>
            <a:pPr algn="ctr"/>
            <a:endParaRPr/>
          </a:p>
        </p:txBody>
      </p:sp>
      <p:sp>
        <p:nvSpPr>
          <p:cNvPr id="206" name="Rounded Rectangle 205"/>
          <p:cNvSpPr/>
          <p:nvPr/>
        </p:nvSpPr>
        <p:spPr>
          <a:xfrm>
            <a:off x="2900362" y="296227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207" name="Text: TECH">
            <a:hlinkClick r:id="rId19"/>
          </p:cNvPr>
          <p:cNvSpPr txBox="1"/>
          <p:nvPr/>
        </p:nvSpPr>
        <p:spPr>
          <a:xfrm>
            <a:off x="2900362" y="296227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TECH</a:t>
            </a:r>
          </a:p>
        </p:txBody>
      </p:sp>
      <p:sp>
        <p:nvSpPr>
          <p:cNvPr id="208" name="Text: Bio-Techne">
            <a:hlinkClick r:id="rId19"/>
          </p:cNvPr>
          <p:cNvSpPr txBox="1"/>
          <p:nvPr/>
        </p:nvSpPr>
        <p:spPr>
          <a:xfrm>
            <a:off x="3328988" y="2993231"/>
            <a:ext cx="460772"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Bio-Techne</a:t>
            </a:r>
          </a:p>
        </p:txBody>
      </p:sp>
      <p:sp>
        <p:nvSpPr>
          <p:cNvPr id="209" name="Rectangle 208"/>
          <p:cNvSpPr/>
          <p:nvPr/>
        </p:nvSpPr>
        <p:spPr>
          <a:xfrm>
            <a:off x="2881312" y="3190875"/>
            <a:ext cx="1957388" cy="228600"/>
          </a:xfrm>
          <a:prstGeom prst="rect">
            <a:avLst/>
          </a:prstGeom>
          <a:solidFill>
            <a:srgbClr val="FFFFFF"/>
          </a:solidFill>
          <a:ln>
            <a:noFill/>
          </a:ln>
          <a:effectLst/>
        </p:spPr>
        <p:txBody>
          <a:bodyPr rtlCol="0" anchor="ctr"/>
          <a:lstStyle/>
          <a:p>
            <a:pPr algn="ctr"/>
            <a:endParaRPr/>
          </a:p>
        </p:txBody>
      </p:sp>
      <p:sp>
        <p:nvSpPr>
          <p:cNvPr id="210" name="Rectangle 209"/>
          <p:cNvSpPr/>
          <p:nvPr/>
        </p:nvSpPr>
        <p:spPr>
          <a:xfrm>
            <a:off x="2881312" y="3190875"/>
            <a:ext cx="1957388" cy="9525"/>
          </a:xfrm>
          <a:prstGeom prst="rect">
            <a:avLst/>
          </a:prstGeom>
          <a:solidFill>
            <a:srgbClr val="E3DCD3"/>
          </a:solidFill>
          <a:ln>
            <a:noFill/>
          </a:ln>
          <a:effectLst/>
        </p:spPr>
        <p:txBody>
          <a:bodyPr rtlCol="0" anchor="ctr"/>
          <a:lstStyle/>
          <a:p>
            <a:pPr algn="ctr"/>
            <a:endParaRPr/>
          </a:p>
        </p:txBody>
      </p:sp>
      <p:sp>
        <p:nvSpPr>
          <p:cNvPr id="211" name="Rectangle 210"/>
          <p:cNvSpPr/>
          <p:nvPr/>
        </p:nvSpPr>
        <p:spPr>
          <a:xfrm>
            <a:off x="4829175" y="3190875"/>
            <a:ext cx="9525" cy="228600"/>
          </a:xfrm>
          <a:prstGeom prst="rect">
            <a:avLst/>
          </a:prstGeom>
          <a:solidFill>
            <a:srgbClr val="E3DCD3"/>
          </a:solidFill>
          <a:ln>
            <a:noFill/>
          </a:ln>
          <a:effectLst/>
        </p:spPr>
        <p:txBody>
          <a:bodyPr rtlCol="0" anchor="ctr"/>
          <a:lstStyle/>
          <a:p>
            <a:pPr algn="ctr"/>
            <a:endParaRPr/>
          </a:p>
        </p:txBody>
      </p:sp>
      <p:sp>
        <p:nvSpPr>
          <p:cNvPr id="212" name="Rectangle 211"/>
          <p:cNvSpPr/>
          <p:nvPr/>
        </p:nvSpPr>
        <p:spPr>
          <a:xfrm>
            <a:off x="2881312" y="3409950"/>
            <a:ext cx="1957388" cy="9525"/>
          </a:xfrm>
          <a:prstGeom prst="rect">
            <a:avLst/>
          </a:prstGeom>
          <a:solidFill>
            <a:srgbClr val="E3DCD3"/>
          </a:solidFill>
          <a:ln>
            <a:noFill/>
          </a:ln>
          <a:effectLst/>
        </p:spPr>
        <p:txBody>
          <a:bodyPr rtlCol="0" anchor="ctr"/>
          <a:lstStyle/>
          <a:p>
            <a:pPr algn="ctr"/>
            <a:endParaRPr/>
          </a:p>
        </p:txBody>
      </p:sp>
      <p:sp>
        <p:nvSpPr>
          <p:cNvPr id="213" name="Rectangle 212"/>
          <p:cNvSpPr/>
          <p:nvPr/>
        </p:nvSpPr>
        <p:spPr>
          <a:xfrm>
            <a:off x="2881312" y="3190875"/>
            <a:ext cx="9525" cy="228600"/>
          </a:xfrm>
          <a:prstGeom prst="rect">
            <a:avLst/>
          </a:prstGeom>
          <a:solidFill>
            <a:srgbClr val="E3DCD3"/>
          </a:solidFill>
          <a:ln>
            <a:noFill/>
          </a:ln>
          <a:effectLst/>
        </p:spPr>
        <p:txBody>
          <a:bodyPr rtlCol="0" anchor="ctr"/>
          <a:lstStyle/>
          <a:p>
            <a:pPr algn="ctr"/>
            <a:endParaRPr/>
          </a:p>
        </p:txBody>
      </p:sp>
      <p:sp>
        <p:nvSpPr>
          <p:cNvPr id="214" name="Rounded Rectangle 213"/>
          <p:cNvSpPr/>
          <p:nvPr/>
        </p:nvSpPr>
        <p:spPr>
          <a:xfrm>
            <a:off x="2900362" y="320992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215" name="Text: IQV">
            <a:hlinkClick r:id="rId20"/>
          </p:cNvPr>
          <p:cNvSpPr txBox="1"/>
          <p:nvPr/>
        </p:nvSpPr>
        <p:spPr>
          <a:xfrm>
            <a:off x="2900362" y="320992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IQV</a:t>
            </a:r>
          </a:p>
        </p:txBody>
      </p:sp>
      <p:sp>
        <p:nvSpPr>
          <p:cNvPr id="216" name="Text: IQVIA">
            <a:hlinkClick r:id="rId20"/>
          </p:cNvPr>
          <p:cNvSpPr txBox="1"/>
          <p:nvPr/>
        </p:nvSpPr>
        <p:spPr>
          <a:xfrm>
            <a:off x="3328988" y="3240881"/>
            <a:ext cx="252412"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IQVIA</a:t>
            </a:r>
          </a:p>
        </p:txBody>
      </p:sp>
      <p:sp>
        <p:nvSpPr>
          <p:cNvPr id="217" name="Rectangle 216"/>
          <p:cNvSpPr/>
          <p:nvPr/>
        </p:nvSpPr>
        <p:spPr>
          <a:xfrm>
            <a:off x="2881312" y="3438525"/>
            <a:ext cx="1957388" cy="228600"/>
          </a:xfrm>
          <a:prstGeom prst="rect">
            <a:avLst/>
          </a:prstGeom>
          <a:solidFill>
            <a:srgbClr val="FFFFFF"/>
          </a:solidFill>
          <a:ln>
            <a:noFill/>
          </a:ln>
          <a:effectLst/>
        </p:spPr>
        <p:txBody>
          <a:bodyPr rtlCol="0" anchor="ctr"/>
          <a:lstStyle/>
          <a:p>
            <a:pPr algn="ctr"/>
            <a:endParaRPr/>
          </a:p>
        </p:txBody>
      </p:sp>
      <p:sp>
        <p:nvSpPr>
          <p:cNvPr id="218" name="Rectangle 217"/>
          <p:cNvSpPr/>
          <p:nvPr/>
        </p:nvSpPr>
        <p:spPr>
          <a:xfrm>
            <a:off x="2881312" y="3438525"/>
            <a:ext cx="1957388" cy="9525"/>
          </a:xfrm>
          <a:prstGeom prst="rect">
            <a:avLst/>
          </a:prstGeom>
          <a:solidFill>
            <a:srgbClr val="E3DCD3"/>
          </a:solidFill>
          <a:ln>
            <a:noFill/>
          </a:ln>
          <a:effectLst/>
        </p:spPr>
        <p:txBody>
          <a:bodyPr rtlCol="0" anchor="ctr"/>
          <a:lstStyle/>
          <a:p>
            <a:pPr algn="ctr"/>
            <a:endParaRPr/>
          </a:p>
        </p:txBody>
      </p:sp>
      <p:sp>
        <p:nvSpPr>
          <p:cNvPr id="219" name="Rectangle 218"/>
          <p:cNvSpPr/>
          <p:nvPr/>
        </p:nvSpPr>
        <p:spPr>
          <a:xfrm>
            <a:off x="4829175" y="3438525"/>
            <a:ext cx="9525" cy="228600"/>
          </a:xfrm>
          <a:prstGeom prst="rect">
            <a:avLst/>
          </a:prstGeom>
          <a:solidFill>
            <a:srgbClr val="E3DCD3"/>
          </a:solidFill>
          <a:ln>
            <a:noFill/>
          </a:ln>
          <a:effectLst/>
        </p:spPr>
        <p:txBody>
          <a:bodyPr rtlCol="0" anchor="ctr"/>
          <a:lstStyle/>
          <a:p>
            <a:pPr algn="ctr"/>
            <a:endParaRPr/>
          </a:p>
        </p:txBody>
      </p:sp>
      <p:sp>
        <p:nvSpPr>
          <p:cNvPr id="220" name="Rectangle 219"/>
          <p:cNvSpPr/>
          <p:nvPr/>
        </p:nvSpPr>
        <p:spPr>
          <a:xfrm>
            <a:off x="2881312" y="3657600"/>
            <a:ext cx="1957388" cy="9525"/>
          </a:xfrm>
          <a:prstGeom prst="rect">
            <a:avLst/>
          </a:prstGeom>
          <a:solidFill>
            <a:srgbClr val="E3DCD3"/>
          </a:solidFill>
          <a:ln>
            <a:noFill/>
          </a:ln>
          <a:effectLst/>
        </p:spPr>
        <p:txBody>
          <a:bodyPr rtlCol="0" anchor="ctr"/>
          <a:lstStyle/>
          <a:p>
            <a:pPr algn="ctr"/>
            <a:endParaRPr/>
          </a:p>
        </p:txBody>
      </p:sp>
      <p:sp>
        <p:nvSpPr>
          <p:cNvPr id="221" name="Rectangle 220"/>
          <p:cNvSpPr/>
          <p:nvPr/>
        </p:nvSpPr>
        <p:spPr>
          <a:xfrm>
            <a:off x="2881312" y="3438525"/>
            <a:ext cx="9525" cy="228600"/>
          </a:xfrm>
          <a:prstGeom prst="rect">
            <a:avLst/>
          </a:prstGeom>
          <a:solidFill>
            <a:srgbClr val="E3DCD3"/>
          </a:solidFill>
          <a:ln>
            <a:noFill/>
          </a:ln>
          <a:effectLst/>
        </p:spPr>
        <p:txBody>
          <a:bodyPr rtlCol="0" anchor="ctr"/>
          <a:lstStyle/>
          <a:p>
            <a:pPr algn="ctr"/>
            <a:endParaRPr/>
          </a:p>
        </p:txBody>
      </p:sp>
      <p:sp>
        <p:nvSpPr>
          <p:cNvPr id="222" name="Rounded Rectangle 221"/>
          <p:cNvSpPr/>
          <p:nvPr/>
        </p:nvSpPr>
        <p:spPr>
          <a:xfrm>
            <a:off x="2900362" y="345757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223" name="Text: MEDP">
            <a:hlinkClick r:id="rId21"/>
          </p:cNvPr>
          <p:cNvSpPr txBox="1"/>
          <p:nvPr/>
        </p:nvSpPr>
        <p:spPr>
          <a:xfrm>
            <a:off x="2900362" y="345757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MEDP</a:t>
            </a:r>
          </a:p>
        </p:txBody>
      </p:sp>
      <p:sp>
        <p:nvSpPr>
          <p:cNvPr id="224" name="Text: Medpace">
            <a:hlinkClick r:id="rId21"/>
          </p:cNvPr>
          <p:cNvSpPr txBox="1"/>
          <p:nvPr/>
        </p:nvSpPr>
        <p:spPr>
          <a:xfrm>
            <a:off x="3328988" y="3488531"/>
            <a:ext cx="395883"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Medpace</a:t>
            </a:r>
          </a:p>
        </p:txBody>
      </p:sp>
      <p:sp>
        <p:nvSpPr>
          <p:cNvPr id="225" name="Rectangle 224"/>
          <p:cNvSpPr/>
          <p:nvPr/>
        </p:nvSpPr>
        <p:spPr>
          <a:xfrm>
            <a:off x="2881312" y="3686175"/>
            <a:ext cx="1957388" cy="228600"/>
          </a:xfrm>
          <a:prstGeom prst="rect">
            <a:avLst/>
          </a:prstGeom>
          <a:solidFill>
            <a:srgbClr val="FFFFFF"/>
          </a:solidFill>
          <a:ln>
            <a:noFill/>
          </a:ln>
          <a:effectLst/>
        </p:spPr>
        <p:txBody>
          <a:bodyPr rtlCol="0" anchor="ctr"/>
          <a:lstStyle/>
          <a:p>
            <a:pPr algn="ctr"/>
            <a:endParaRPr/>
          </a:p>
        </p:txBody>
      </p:sp>
      <p:sp>
        <p:nvSpPr>
          <p:cNvPr id="226" name="Rectangle 225"/>
          <p:cNvSpPr/>
          <p:nvPr/>
        </p:nvSpPr>
        <p:spPr>
          <a:xfrm>
            <a:off x="2881312" y="3686175"/>
            <a:ext cx="1957388" cy="9525"/>
          </a:xfrm>
          <a:prstGeom prst="rect">
            <a:avLst/>
          </a:prstGeom>
          <a:solidFill>
            <a:srgbClr val="E3DCD3"/>
          </a:solidFill>
          <a:ln>
            <a:noFill/>
          </a:ln>
          <a:effectLst/>
        </p:spPr>
        <p:txBody>
          <a:bodyPr rtlCol="0" anchor="ctr"/>
          <a:lstStyle/>
          <a:p>
            <a:pPr algn="ctr"/>
            <a:endParaRPr/>
          </a:p>
        </p:txBody>
      </p:sp>
      <p:sp>
        <p:nvSpPr>
          <p:cNvPr id="227" name="Rectangle 226"/>
          <p:cNvSpPr/>
          <p:nvPr/>
        </p:nvSpPr>
        <p:spPr>
          <a:xfrm>
            <a:off x="4829175" y="3686175"/>
            <a:ext cx="9525" cy="228600"/>
          </a:xfrm>
          <a:prstGeom prst="rect">
            <a:avLst/>
          </a:prstGeom>
          <a:solidFill>
            <a:srgbClr val="E3DCD3"/>
          </a:solidFill>
          <a:ln>
            <a:noFill/>
          </a:ln>
          <a:effectLst/>
        </p:spPr>
        <p:txBody>
          <a:bodyPr rtlCol="0" anchor="ctr"/>
          <a:lstStyle/>
          <a:p>
            <a:pPr algn="ctr"/>
            <a:endParaRPr/>
          </a:p>
        </p:txBody>
      </p:sp>
      <p:sp>
        <p:nvSpPr>
          <p:cNvPr id="228" name="Rectangle 227"/>
          <p:cNvSpPr/>
          <p:nvPr/>
        </p:nvSpPr>
        <p:spPr>
          <a:xfrm>
            <a:off x="2881312" y="3905250"/>
            <a:ext cx="1957388" cy="9525"/>
          </a:xfrm>
          <a:prstGeom prst="rect">
            <a:avLst/>
          </a:prstGeom>
          <a:solidFill>
            <a:srgbClr val="E3DCD3"/>
          </a:solidFill>
          <a:ln>
            <a:noFill/>
          </a:ln>
          <a:effectLst/>
        </p:spPr>
        <p:txBody>
          <a:bodyPr rtlCol="0" anchor="ctr"/>
          <a:lstStyle/>
          <a:p>
            <a:pPr algn="ctr"/>
            <a:endParaRPr/>
          </a:p>
        </p:txBody>
      </p:sp>
      <p:sp>
        <p:nvSpPr>
          <p:cNvPr id="229" name="Rectangle 228"/>
          <p:cNvSpPr/>
          <p:nvPr/>
        </p:nvSpPr>
        <p:spPr>
          <a:xfrm>
            <a:off x="2881312" y="3686175"/>
            <a:ext cx="9525" cy="228600"/>
          </a:xfrm>
          <a:prstGeom prst="rect">
            <a:avLst/>
          </a:prstGeom>
          <a:solidFill>
            <a:srgbClr val="E3DCD3"/>
          </a:solidFill>
          <a:ln>
            <a:noFill/>
          </a:ln>
          <a:effectLst/>
        </p:spPr>
        <p:txBody>
          <a:bodyPr rtlCol="0" anchor="ctr"/>
          <a:lstStyle/>
          <a:p>
            <a:pPr algn="ctr"/>
            <a:endParaRPr/>
          </a:p>
        </p:txBody>
      </p:sp>
      <p:sp>
        <p:nvSpPr>
          <p:cNvPr id="230" name="Rounded Rectangle 229"/>
          <p:cNvSpPr/>
          <p:nvPr/>
        </p:nvSpPr>
        <p:spPr>
          <a:xfrm>
            <a:off x="2900362" y="370522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231" name="Text: ICLR">
            <a:hlinkClick r:id="rId22"/>
          </p:cNvPr>
          <p:cNvSpPr txBox="1"/>
          <p:nvPr/>
        </p:nvSpPr>
        <p:spPr>
          <a:xfrm>
            <a:off x="2900362" y="370522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ICLR</a:t>
            </a:r>
          </a:p>
        </p:txBody>
      </p:sp>
      <p:sp>
        <p:nvSpPr>
          <p:cNvPr id="232" name="Text: ICON">
            <a:hlinkClick r:id="rId22"/>
          </p:cNvPr>
          <p:cNvSpPr txBox="1"/>
          <p:nvPr/>
        </p:nvSpPr>
        <p:spPr>
          <a:xfrm>
            <a:off x="3328988" y="3736181"/>
            <a:ext cx="224284"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ICON</a:t>
            </a:r>
          </a:p>
        </p:txBody>
      </p:sp>
      <p:sp>
        <p:nvSpPr>
          <p:cNvPr id="233" name="Rectangle 232"/>
          <p:cNvSpPr/>
          <p:nvPr/>
        </p:nvSpPr>
        <p:spPr>
          <a:xfrm>
            <a:off x="2881312" y="3933825"/>
            <a:ext cx="1957388" cy="228600"/>
          </a:xfrm>
          <a:prstGeom prst="rect">
            <a:avLst/>
          </a:prstGeom>
          <a:solidFill>
            <a:srgbClr val="FFFFFF"/>
          </a:solidFill>
          <a:ln>
            <a:noFill/>
          </a:ln>
          <a:effectLst/>
        </p:spPr>
        <p:txBody>
          <a:bodyPr rtlCol="0" anchor="ctr"/>
          <a:lstStyle/>
          <a:p>
            <a:pPr algn="ctr"/>
            <a:endParaRPr/>
          </a:p>
        </p:txBody>
      </p:sp>
      <p:sp>
        <p:nvSpPr>
          <p:cNvPr id="234" name="Rectangle 233"/>
          <p:cNvSpPr/>
          <p:nvPr/>
        </p:nvSpPr>
        <p:spPr>
          <a:xfrm>
            <a:off x="2881312" y="3933825"/>
            <a:ext cx="1957388" cy="9525"/>
          </a:xfrm>
          <a:prstGeom prst="rect">
            <a:avLst/>
          </a:prstGeom>
          <a:solidFill>
            <a:srgbClr val="E3DCD3"/>
          </a:solidFill>
          <a:ln>
            <a:noFill/>
          </a:ln>
          <a:effectLst/>
        </p:spPr>
        <p:txBody>
          <a:bodyPr rtlCol="0" anchor="ctr"/>
          <a:lstStyle/>
          <a:p>
            <a:pPr algn="ctr"/>
            <a:endParaRPr/>
          </a:p>
        </p:txBody>
      </p:sp>
      <p:sp>
        <p:nvSpPr>
          <p:cNvPr id="235" name="Rectangle 234"/>
          <p:cNvSpPr/>
          <p:nvPr/>
        </p:nvSpPr>
        <p:spPr>
          <a:xfrm>
            <a:off x="4829175" y="3933825"/>
            <a:ext cx="9525" cy="228600"/>
          </a:xfrm>
          <a:prstGeom prst="rect">
            <a:avLst/>
          </a:prstGeom>
          <a:solidFill>
            <a:srgbClr val="E3DCD3"/>
          </a:solidFill>
          <a:ln>
            <a:noFill/>
          </a:ln>
          <a:effectLst/>
        </p:spPr>
        <p:txBody>
          <a:bodyPr rtlCol="0" anchor="ctr"/>
          <a:lstStyle/>
          <a:p>
            <a:pPr algn="ctr"/>
            <a:endParaRPr/>
          </a:p>
        </p:txBody>
      </p:sp>
      <p:sp>
        <p:nvSpPr>
          <p:cNvPr id="236" name="Rectangle 235"/>
          <p:cNvSpPr/>
          <p:nvPr/>
        </p:nvSpPr>
        <p:spPr>
          <a:xfrm>
            <a:off x="2881312" y="4152900"/>
            <a:ext cx="1957388" cy="9525"/>
          </a:xfrm>
          <a:prstGeom prst="rect">
            <a:avLst/>
          </a:prstGeom>
          <a:solidFill>
            <a:srgbClr val="E3DCD3"/>
          </a:solidFill>
          <a:ln>
            <a:noFill/>
          </a:ln>
          <a:effectLst/>
        </p:spPr>
        <p:txBody>
          <a:bodyPr rtlCol="0" anchor="ctr"/>
          <a:lstStyle/>
          <a:p>
            <a:pPr algn="ctr"/>
            <a:endParaRPr/>
          </a:p>
        </p:txBody>
      </p:sp>
      <p:sp>
        <p:nvSpPr>
          <p:cNvPr id="237" name="Rectangle 236"/>
          <p:cNvSpPr/>
          <p:nvPr/>
        </p:nvSpPr>
        <p:spPr>
          <a:xfrm>
            <a:off x="2881312" y="3933825"/>
            <a:ext cx="9525" cy="228600"/>
          </a:xfrm>
          <a:prstGeom prst="rect">
            <a:avLst/>
          </a:prstGeom>
          <a:solidFill>
            <a:srgbClr val="E3DCD3"/>
          </a:solidFill>
          <a:ln>
            <a:noFill/>
          </a:ln>
          <a:effectLst/>
        </p:spPr>
        <p:txBody>
          <a:bodyPr rtlCol="0" anchor="ctr"/>
          <a:lstStyle/>
          <a:p>
            <a:pPr algn="ctr"/>
            <a:endParaRPr/>
          </a:p>
        </p:txBody>
      </p:sp>
      <p:sp>
        <p:nvSpPr>
          <p:cNvPr id="238" name="Rounded Rectangle 237"/>
          <p:cNvSpPr/>
          <p:nvPr/>
        </p:nvSpPr>
        <p:spPr>
          <a:xfrm>
            <a:off x="2900362" y="395287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239" name="Text: CRL">
            <a:hlinkClick r:id="rId23"/>
          </p:cNvPr>
          <p:cNvSpPr txBox="1"/>
          <p:nvPr/>
        </p:nvSpPr>
        <p:spPr>
          <a:xfrm>
            <a:off x="2900362" y="395287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CRL</a:t>
            </a:r>
          </a:p>
        </p:txBody>
      </p:sp>
      <p:sp>
        <p:nvSpPr>
          <p:cNvPr id="240" name="Text: Charles River Laboratories">
            <a:hlinkClick r:id="rId23"/>
          </p:cNvPr>
          <p:cNvSpPr txBox="1"/>
          <p:nvPr/>
        </p:nvSpPr>
        <p:spPr>
          <a:xfrm>
            <a:off x="3328988" y="3983831"/>
            <a:ext cx="1095673"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Charles River Laboratories</a:t>
            </a:r>
          </a:p>
        </p:txBody>
      </p:sp>
      <p:sp>
        <p:nvSpPr>
          <p:cNvPr id="241" name="Text: RESEARCH NETWORKS AND STRATEGIC BU"/>
          <p:cNvSpPr txBox="1"/>
          <p:nvPr/>
        </p:nvSpPr>
        <p:spPr>
          <a:xfrm>
            <a:off x="2881312" y="5448300"/>
            <a:ext cx="1971675" cy="247650"/>
          </a:xfrm>
          <a:prstGeom prst="rect">
            <a:avLst/>
          </a:prstGeom>
          <a:noFill/>
        </p:spPr>
        <p:txBody>
          <a:bodyPr wrap="square" lIns="0" tIns="0" rIns="0" bIns="0" anchor="t">
            <a:spAutoFit/>
          </a:bodyPr>
          <a:lstStyle/>
          <a:p>
            <a:pPr algn="l">
              <a:lnSpc>
                <a:spcPts val="975"/>
              </a:lnSpc>
            </a:pPr>
            <a:r>
              <a:rPr sz="638" b="1" i="0" spc="150">
                <a:solidFill>
                  <a:srgbClr val="8C6239"/>
                </a:solidFill>
                <a:latin typeface="Calibri"/>
              </a:rPr>
              <a:t>RESEARCH NETWORKS AND STRATEGIC BUYERS</a:t>
            </a:r>
          </a:p>
        </p:txBody>
      </p:sp>
      <p:sp>
        <p:nvSpPr>
          <p:cNvPr id="242" name="Rectangle 241"/>
          <p:cNvSpPr/>
          <p:nvPr/>
        </p:nvSpPr>
        <p:spPr>
          <a:xfrm>
            <a:off x="2881312" y="5753100"/>
            <a:ext cx="1151334" cy="180975"/>
          </a:xfrm>
          <a:prstGeom prst="rect">
            <a:avLst/>
          </a:prstGeom>
          <a:solidFill>
            <a:srgbClr val="FFFFFF"/>
          </a:solidFill>
          <a:ln>
            <a:noFill/>
          </a:ln>
          <a:effectLst/>
        </p:spPr>
        <p:txBody>
          <a:bodyPr rtlCol="0" anchor="ctr"/>
          <a:lstStyle/>
          <a:p>
            <a:pPr algn="ctr"/>
            <a:endParaRPr/>
          </a:p>
        </p:txBody>
      </p:sp>
      <p:sp>
        <p:nvSpPr>
          <p:cNvPr id="243" name="Rectangle 242"/>
          <p:cNvSpPr/>
          <p:nvPr/>
        </p:nvSpPr>
        <p:spPr>
          <a:xfrm>
            <a:off x="2881312" y="5753100"/>
            <a:ext cx="1151334" cy="9525"/>
          </a:xfrm>
          <a:prstGeom prst="rect">
            <a:avLst/>
          </a:prstGeom>
          <a:solidFill>
            <a:srgbClr val="E3DCD3"/>
          </a:solidFill>
          <a:ln>
            <a:noFill/>
          </a:ln>
          <a:effectLst/>
        </p:spPr>
        <p:txBody>
          <a:bodyPr rtlCol="0" anchor="ctr"/>
          <a:lstStyle/>
          <a:p>
            <a:pPr algn="ctr"/>
            <a:endParaRPr/>
          </a:p>
        </p:txBody>
      </p:sp>
      <p:sp>
        <p:nvSpPr>
          <p:cNvPr id="244" name="Rectangle 243"/>
          <p:cNvSpPr/>
          <p:nvPr/>
        </p:nvSpPr>
        <p:spPr>
          <a:xfrm>
            <a:off x="4023122" y="5753100"/>
            <a:ext cx="9525" cy="180975"/>
          </a:xfrm>
          <a:prstGeom prst="rect">
            <a:avLst/>
          </a:prstGeom>
          <a:solidFill>
            <a:srgbClr val="E3DCD3"/>
          </a:solidFill>
          <a:ln>
            <a:noFill/>
          </a:ln>
          <a:effectLst/>
        </p:spPr>
        <p:txBody>
          <a:bodyPr rtlCol="0" anchor="ctr"/>
          <a:lstStyle/>
          <a:p>
            <a:pPr algn="ctr"/>
            <a:endParaRPr/>
          </a:p>
        </p:txBody>
      </p:sp>
      <p:sp>
        <p:nvSpPr>
          <p:cNvPr id="245" name="Rectangle 244"/>
          <p:cNvSpPr/>
          <p:nvPr/>
        </p:nvSpPr>
        <p:spPr>
          <a:xfrm>
            <a:off x="2881312" y="5924550"/>
            <a:ext cx="1151334" cy="9525"/>
          </a:xfrm>
          <a:prstGeom prst="rect">
            <a:avLst/>
          </a:prstGeom>
          <a:solidFill>
            <a:srgbClr val="E3DCD3"/>
          </a:solidFill>
          <a:ln>
            <a:noFill/>
          </a:ln>
          <a:effectLst/>
        </p:spPr>
        <p:txBody>
          <a:bodyPr rtlCol="0" anchor="ctr"/>
          <a:lstStyle/>
          <a:p>
            <a:pPr algn="ctr"/>
            <a:endParaRPr/>
          </a:p>
        </p:txBody>
      </p:sp>
      <p:sp>
        <p:nvSpPr>
          <p:cNvPr id="246" name="Rectangle 245"/>
          <p:cNvSpPr/>
          <p:nvPr/>
        </p:nvSpPr>
        <p:spPr>
          <a:xfrm>
            <a:off x="2881312" y="5753100"/>
            <a:ext cx="9525" cy="180975"/>
          </a:xfrm>
          <a:prstGeom prst="rect">
            <a:avLst/>
          </a:prstGeom>
          <a:solidFill>
            <a:srgbClr val="E3DCD3"/>
          </a:solidFill>
          <a:ln>
            <a:noFill/>
          </a:ln>
          <a:effectLst/>
        </p:spPr>
        <p:txBody>
          <a:bodyPr rtlCol="0" anchor="ctr"/>
          <a:lstStyle/>
          <a:p>
            <a:pPr algn="ctr"/>
            <a:endParaRPr/>
          </a:p>
        </p:txBody>
      </p:sp>
      <p:sp>
        <p:nvSpPr>
          <p:cNvPr id="247" name="Text: Headlands Research (THL)"/>
          <p:cNvSpPr txBox="1"/>
          <p:nvPr/>
        </p:nvSpPr>
        <p:spPr>
          <a:xfrm>
            <a:off x="2947988" y="5781675"/>
            <a:ext cx="1032272"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Headlands Research (THL)</a:t>
            </a:r>
          </a:p>
        </p:txBody>
      </p:sp>
      <p:sp>
        <p:nvSpPr>
          <p:cNvPr id="248" name="Rectangle 247"/>
          <p:cNvSpPr/>
          <p:nvPr/>
        </p:nvSpPr>
        <p:spPr>
          <a:xfrm>
            <a:off x="2881312" y="5972175"/>
            <a:ext cx="1118295" cy="180975"/>
          </a:xfrm>
          <a:prstGeom prst="rect">
            <a:avLst/>
          </a:prstGeom>
          <a:solidFill>
            <a:srgbClr val="FFFFFF"/>
          </a:solidFill>
          <a:ln>
            <a:noFill/>
          </a:ln>
          <a:effectLst/>
        </p:spPr>
        <p:txBody>
          <a:bodyPr rtlCol="0" anchor="ctr"/>
          <a:lstStyle/>
          <a:p>
            <a:pPr algn="ctr"/>
            <a:endParaRPr/>
          </a:p>
        </p:txBody>
      </p:sp>
      <p:sp>
        <p:nvSpPr>
          <p:cNvPr id="249" name="Rectangle 248"/>
          <p:cNvSpPr/>
          <p:nvPr/>
        </p:nvSpPr>
        <p:spPr>
          <a:xfrm>
            <a:off x="2881312" y="5972175"/>
            <a:ext cx="1118295" cy="9525"/>
          </a:xfrm>
          <a:prstGeom prst="rect">
            <a:avLst/>
          </a:prstGeom>
          <a:solidFill>
            <a:srgbClr val="E3DCD3"/>
          </a:solidFill>
          <a:ln>
            <a:noFill/>
          </a:ln>
          <a:effectLst/>
        </p:spPr>
        <p:txBody>
          <a:bodyPr rtlCol="0" anchor="ctr"/>
          <a:lstStyle/>
          <a:p>
            <a:pPr algn="ctr"/>
            <a:endParaRPr/>
          </a:p>
        </p:txBody>
      </p:sp>
      <p:sp>
        <p:nvSpPr>
          <p:cNvPr id="250" name="Rectangle 249"/>
          <p:cNvSpPr/>
          <p:nvPr/>
        </p:nvSpPr>
        <p:spPr>
          <a:xfrm>
            <a:off x="3990082" y="5972175"/>
            <a:ext cx="9525" cy="180975"/>
          </a:xfrm>
          <a:prstGeom prst="rect">
            <a:avLst/>
          </a:prstGeom>
          <a:solidFill>
            <a:srgbClr val="E3DCD3"/>
          </a:solidFill>
          <a:ln>
            <a:noFill/>
          </a:ln>
          <a:effectLst/>
        </p:spPr>
        <p:txBody>
          <a:bodyPr rtlCol="0" anchor="ctr"/>
          <a:lstStyle/>
          <a:p>
            <a:pPr algn="ctr"/>
            <a:endParaRPr/>
          </a:p>
        </p:txBody>
      </p:sp>
      <p:sp>
        <p:nvSpPr>
          <p:cNvPr id="251" name="Rectangle 250"/>
          <p:cNvSpPr/>
          <p:nvPr/>
        </p:nvSpPr>
        <p:spPr>
          <a:xfrm>
            <a:off x="2881312" y="6143625"/>
            <a:ext cx="1118295" cy="9525"/>
          </a:xfrm>
          <a:prstGeom prst="rect">
            <a:avLst/>
          </a:prstGeom>
          <a:solidFill>
            <a:srgbClr val="E3DCD3"/>
          </a:solidFill>
          <a:ln>
            <a:noFill/>
          </a:ln>
          <a:effectLst/>
        </p:spPr>
        <p:txBody>
          <a:bodyPr rtlCol="0" anchor="ctr"/>
          <a:lstStyle/>
          <a:p>
            <a:pPr algn="ctr"/>
            <a:endParaRPr/>
          </a:p>
        </p:txBody>
      </p:sp>
      <p:sp>
        <p:nvSpPr>
          <p:cNvPr id="252" name="Rectangle 251"/>
          <p:cNvSpPr/>
          <p:nvPr/>
        </p:nvSpPr>
        <p:spPr>
          <a:xfrm>
            <a:off x="2881312" y="5972175"/>
            <a:ext cx="9525" cy="180975"/>
          </a:xfrm>
          <a:prstGeom prst="rect">
            <a:avLst/>
          </a:prstGeom>
          <a:solidFill>
            <a:srgbClr val="E3DCD3"/>
          </a:solidFill>
          <a:ln>
            <a:noFill/>
          </a:ln>
          <a:effectLst/>
        </p:spPr>
        <p:txBody>
          <a:bodyPr rtlCol="0" anchor="ctr"/>
          <a:lstStyle/>
          <a:p>
            <a:pPr algn="ctr"/>
            <a:endParaRPr/>
          </a:p>
        </p:txBody>
      </p:sp>
      <p:sp>
        <p:nvSpPr>
          <p:cNvPr id="253" name="Text: Summit Clinical Research"/>
          <p:cNvSpPr txBox="1"/>
          <p:nvPr/>
        </p:nvSpPr>
        <p:spPr>
          <a:xfrm>
            <a:off x="2947988" y="6000750"/>
            <a:ext cx="999232"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Summit Clinical Research</a:t>
            </a:r>
          </a:p>
        </p:txBody>
      </p:sp>
      <p:sp>
        <p:nvSpPr>
          <p:cNvPr id="254" name="Rectangle 253"/>
          <p:cNvSpPr/>
          <p:nvPr/>
        </p:nvSpPr>
        <p:spPr>
          <a:xfrm>
            <a:off x="2881312" y="6191250"/>
            <a:ext cx="1100733" cy="180975"/>
          </a:xfrm>
          <a:prstGeom prst="rect">
            <a:avLst/>
          </a:prstGeom>
          <a:solidFill>
            <a:srgbClr val="FFFFFF"/>
          </a:solidFill>
          <a:ln>
            <a:noFill/>
          </a:ln>
          <a:effectLst/>
        </p:spPr>
        <p:txBody>
          <a:bodyPr rtlCol="0" anchor="ctr"/>
          <a:lstStyle/>
          <a:p>
            <a:pPr algn="ctr"/>
            <a:endParaRPr/>
          </a:p>
        </p:txBody>
      </p:sp>
      <p:sp>
        <p:nvSpPr>
          <p:cNvPr id="255" name="Rectangle 254"/>
          <p:cNvSpPr/>
          <p:nvPr/>
        </p:nvSpPr>
        <p:spPr>
          <a:xfrm>
            <a:off x="2881312" y="6191250"/>
            <a:ext cx="1100733" cy="9525"/>
          </a:xfrm>
          <a:prstGeom prst="rect">
            <a:avLst/>
          </a:prstGeom>
          <a:solidFill>
            <a:srgbClr val="E3DCD3"/>
          </a:solidFill>
          <a:ln>
            <a:noFill/>
          </a:ln>
          <a:effectLst/>
        </p:spPr>
        <p:txBody>
          <a:bodyPr rtlCol="0" anchor="ctr"/>
          <a:lstStyle/>
          <a:p>
            <a:pPr algn="ctr"/>
            <a:endParaRPr/>
          </a:p>
        </p:txBody>
      </p:sp>
      <p:sp>
        <p:nvSpPr>
          <p:cNvPr id="256" name="Rectangle 255"/>
          <p:cNvSpPr/>
          <p:nvPr/>
        </p:nvSpPr>
        <p:spPr>
          <a:xfrm>
            <a:off x="3972520" y="6191250"/>
            <a:ext cx="9525" cy="180975"/>
          </a:xfrm>
          <a:prstGeom prst="rect">
            <a:avLst/>
          </a:prstGeom>
          <a:solidFill>
            <a:srgbClr val="E3DCD3"/>
          </a:solidFill>
          <a:ln>
            <a:noFill/>
          </a:ln>
          <a:effectLst/>
        </p:spPr>
        <p:txBody>
          <a:bodyPr rtlCol="0" anchor="ctr"/>
          <a:lstStyle/>
          <a:p>
            <a:pPr algn="ctr"/>
            <a:endParaRPr/>
          </a:p>
        </p:txBody>
      </p:sp>
      <p:sp>
        <p:nvSpPr>
          <p:cNvPr id="257" name="Rectangle 256"/>
          <p:cNvSpPr/>
          <p:nvPr/>
        </p:nvSpPr>
        <p:spPr>
          <a:xfrm>
            <a:off x="2881312" y="6362700"/>
            <a:ext cx="1100733" cy="9525"/>
          </a:xfrm>
          <a:prstGeom prst="rect">
            <a:avLst/>
          </a:prstGeom>
          <a:solidFill>
            <a:srgbClr val="E3DCD3"/>
          </a:solidFill>
          <a:ln>
            <a:noFill/>
          </a:ln>
          <a:effectLst/>
        </p:spPr>
        <p:txBody>
          <a:bodyPr rtlCol="0" anchor="ctr"/>
          <a:lstStyle/>
          <a:p>
            <a:pPr algn="ctr"/>
            <a:endParaRPr/>
          </a:p>
        </p:txBody>
      </p:sp>
      <p:sp>
        <p:nvSpPr>
          <p:cNvPr id="258" name="Rectangle 257"/>
          <p:cNvSpPr/>
          <p:nvPr/>
        </p:nvSpPr>
        <p:spPr>
          <a:xfrm>
            <a:off x="2881312" y="6191250"/>
            <a:ext cx="9525" cy="180975"/>
          </a:xfrm>
          <a:prstGeom prst="rect">
            <a:avLst/>
          </a:prstGeom>
          <a:solidFill>
            <a:srgbClr val="E3DCD3"/>
          </a:solidFill>
          <a:ln>
            <a:noFill/>
          </a:ln>
          <a:effectLst/>
        </p:spPr>
        <p:txBody>
          <a:bodyPr rtlCol="0" anchor="ctr"/>
          <a:lstStyle/>
          <a:p>
            <a:pPr algn="ctr"/>
            <a:endParaRPr/>
          </a:p>
        </p:txBody>
      </p:sp>
      <p:sp>
        <p:nvSpPr>
          <p:cNvPr id="259" name="Text: Worldwide Clinical Trials"/>
          <p:cNvSpPr txBox="1"/>
          <p:nvPr/>
        </p:nvSpPr>
        <p:spPr>
          <a:xfrm>
            <a:off x="2947988" y="6219825"/>
            <a:ext cx="981670"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Worldwide Clinical Trials</a:t>
            </a:r>
          </a:p>
        </p:txBody>
      </p:sp>
      <p:sp>
        <p:nvSpPr>
          <p:cNvPr id="260" name="Rectangle 259"/>
          <p:cNvSpPr/>
          <p:nvPr/>
        </p:nvSpPr>
        <p:spPr>
          <a:xfrm>
            <a:off x="4020145" y="6191250"/>
            <a:ext cx="420737" cy="180975"/>
          </a:xfrm>
          <a:prstGeom prst="rect">
            <a:avLst/>
          </a:prstGeom>
          <a:solidFill>
            <a:srgbClr val="FFFFFF"/>
          </a:solidFill>
          <a:ln>
            <a:noFill/>
          </a:ln>
          <a:effectLst/>
        </p:spPr>
        <p:txBody>
          <a:bodyPr rtlCol="0" anchor="ctr"/>
          <a:lstStyle/>
          <a:p>
            <a:pPr algn="ctr"/>
            <a:endParaRPr/>
          </a:p>
        </p:txBody>
      </p:sp>
      <p:sp>
        <p:nvSpPr>
          <p:cNvPr id="261" name="Rectangle 260"/>
          <p:cNvSpPr/>
          <p:nvPr/>
        </p:nvSpPr>
        <p:spPr>
          <a:xfrm>
            <a:off x="4020145" y="6191250"/>
            <a:ext cx="420737" cy="9525"/>
          </a:xfrm>
          <a:prstGeom prst="rect">
            <a:avLst/>
          </a:prstGeom>
          <a:solidFill>
            <a:srgbClr val="E3DCD3"/>
          </a:solidFill>
          <a:ln>
            <a:noFill/>
          </a:ln>
          <a:effectLst/>
        </p:spPr>
        <p:txBody>
          <a:bodyPr rtlCol="0" anchor="ctr"/>
          <a:lstStyle/>
          <a:p>
            <a:pPr algn="ctr"/>
            <a:endParaRPr/>
          </a:p>
        </p:txBody>
      </p:sp>
      <p:sp>
        <p:nvSpPr>
          <p:cNvPr id="262" name="Rectangle 261"/>
          <p:cNvSpPr/>
          <p:nvPr/>
        </p:nvSpPr>
        <p:spPr>
          <a:xfrm>
            <a:off x="4431357" y="6191250"/>
            <a:ext cx="9525" cy="180975"/>
          </a:xfrm>
          <a:prstGeom prst="rect">
            <a:avLst/>
          </a:prstGeom>
          <a:solidFill>
            <a:srgbClr val="E3DCD3"/>
          </a:solidFill>
          <a:ln>
            <a:noFill/>
          </a:ln>
          <a:effectLst/>
        </p:spPr>
        <p:txBody>
          <a:bodyPr rtlCol="0" anchor="ctr"/>
          <a:lstStyle/>
          <a:p>
            <a:pPr algn="ctr"/>
            <a:endParaRPr/>
          </a:p>
        </p:txBody>
      </p:sp>
      <p:sp>
        <p:nvSpPr>
          <p:cNvPr id="263" name="Rectangle 262"/>
          <p:cNvSpPr/>
          <p:nvPr/>
        </p:nvSpPr>
        <p:spPr>
          <a:xfrm>
            <a:off x="4020145" y="6362700"/>
            <a:ext cx="420737" cy="9525"/>
          </a:xfrm>
          <a:prstGeom prst="rect">
            <a:avLst/>
          </a:prstGeom>
          <a:solidFill>
            <a:srgbClr val="E3DCD3"/>
          </a:solidFill>
          <a:ln>
            <a:noFill/>
          </a:ln>
          <a:effectLst/>
        </p:spPr>
        <p:txBody>
          <a:bodyPr rtlCol="0" anchor="ctr"/>
          <a:lstStyle/>
          <a:p>
            <a:pPr algn="ctr"/>
            <a:endParaRPr/>
          </a:p>
        </p:txBody>
      </p:sp>
      <p:sp>
        <p:nvSpPr>
          <p:cNvPr id="264" name="Rectangle 263"/>
          <p:cNvSpPr/>
          <p:nvPr/>
        </p:nvSpPr>
        <p:spPr>
          <a:xfrm>
            <a:off x="4020145" y="6191250"/>
            <a:ext cx="9525" cy="180975"/>
          </a:xfrm>
          <a:prstGeom prst="rect">
            <a:avLst/>
          </a:prstGeom>
          <a:solidFill>
            <a:srgbClr val="E3DCD3"/>
          </a:solidFill>
          <a:ln>
            <a:noFill/>
          </a:ln>
          <a:effectLst/>
        </p:spPr>
        <p:txBody>
          <a:bodyPr rtlCol="0" anchor="ctr"/>
          <a:lstStyle/>
          <a:p>
            <a:pPr algn="ctr"/>
            <a:endParaRPr/>
          </a:p>
        </p:txBody>
      </p:sp>
      <p:sp>
        <p:nvSpPr>
          <p:cNvPr id="265" name="Text: Fortrea"/>
          <p:cNvSpPr txBox="1"/>
          <p:nvPr/>
        </p:nvSpPr>
        <p:spPr>
          <a:xfrm>
            <a:off x="4086820" y="6219825"/>
            <a:ext cx="301675"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Fortrea</a:t>
            </a:r>
          </a:p>
        </p:txBody>
      </p:sp>
      <p:sp>
        <p:nvSpPr>
          <p:cNvPr id="266" name="Rectangle 265"/>
          <p:cNvSpPr/>
          <p:nvPr/>
        </p:nvSpPr>
        <p:spPr>
          <a:xfrm>
            <a:off x="2881312" y="6410325"/>
            <a:ext cx="553492" cy="180975"/>
          </a:xfrm>
          <a:prstGeom prst="rect">
            <a:avLst/>
          </a:prstGeom>
          <a:solidFill>
            <a:srgbClr val="FFFFFF"/>
          </a:solidFill>
          <a:ln>
            <a:noFill/>
          </a:ln>
          <a:effectLst/>
        </p:spPr>
        <p:txBody>
          <a:bodyPr rtlCol="0" anchor="ctr"/>
          <a:lstStyle/>
          <a:p>
            <a:pPr algn="ctr"/>
            <a:endParaRPr/>
          </a:p>
        </p:txBody>
      </p:sp>
      <p:sp>
        <p:nvSpPr>
          <p:cNvPr id="267" name="Rectangle 266"/>
          <p:cNvSpPr/>
          <p:nvPr/>
        </p:nvSpPr>
        <p:spPr>
          <a:xfrm>
            <a:off x="2881312" y="6410325"/>
            <a:ext cx="553492" cy="9525"/>
          </a:xfrm>
          <a:prstGeom prst="rect">
            <a:avLst/>
          </a:prstGeom>
          <a:solidFill>
            <a:srgbClr val="E3DCD3"/>
          </a:solidFill>
          <a:ln>
            <a:noFill/>
          </a:ln>
          <a:effectLst/>
        </p:spPr>
        <p:txBody>
          <a:bodyPr rtlCol="0" anchor="ctr"/>
          <a:lstStyle/>
          <a:p>
            <a:pPr algn="ctr"/>
            <a:endParaRPr/>
          </a:p>
        </p:txBody>
      </p:sp>
      <p:sp>
        <p:nvSpPr>
          <p:cNvPr id="268" name="Rectangle 267"/>
          <p:cNvSpPr/>
          <p:nvPr/>
        </p:nvSpPr>
        <p:spPr>
          <a:xfrm>
            <a:off x="3425279" y="6410325"/>
            <a:ext cx="9525" cy="180975"/>
          </a:xfrm>
          <a:prstGeom prst="rect">
            <a:avLst/>
          </a:prstGeom>
          <a:solidFill>
            <a:srgbClr val="E3DCD3"/>
          </a:solidFill>
          <a:ln>
            <a:noFill/>
          </a:ln>
          <a:effectLst/>
        </p:spPr>
        <p:txBody>
          <a:bodyPr rtlCol="0" anchor="ctr"/>
          <a:lstStyle/>
          <a:p>
            <a:pPr algn="ctr"/>
            <a:endParaRPr/>
          </a:p>
        </p:txBody>
      </p:sp>
      <p:sp>
        <p:nvSpPr>
          <p:cNvPr id="269" name="Rectangle 268"/>
          <p:cNvSpPr/>
          <p:nvPr/>
        </p:nvSpPr>
        <p:spPr>
          <a:xfrm>
            <a:off x="2881312" y="6581775"/>
            <a:ext cx="553492" cy="9525"/>
          </a:xfrm>
          <a:prstGeom prst="rect">
            <a:avLst/>
          </a:prstGeom>
          <a:solidFill>
            <a:srgbClr val="E3DCD3"/>
          </a:solidFill>
          <a:ln>
            <a:noFill/>
          </a:ln>
          <a:effectLst/>
        </p:spPr>
        <p:txBody>
          <a:bodyPr rtlCol="0" anchor="ctr"/>
          <a:lstStyle/>
          <a:p>
            <a:pPr algn="ctr"/>
            <a:endParaRPr/>
          </a:p>
        </p:txBody>
      </p:sp>
      <p:sp>
        <p:nvSpPr>
          <p:cNvPr id="270" name="Rectangle 269"/>
          <p:cNvSpPr/>
          <p:nvPr/>
        </p:nvSpPr>
        <p:spPr>
          <a:xfrm>
            <a:off x="2881312" y="6410325"/>
            <a:ext cx="9525" cy="180975"/>
          </a:xfrm>
          <a:prstGeom prst="rect">
            <a:avLst/>
          </a:prstGeom>
          <a:solidFill>
            <a:srgbClr val="E3DCD3"/>
          </a:solidFill>
          <a:ln>
            <a:noFill/>
          </a:ln>
          <a:effectLst/>
        </p:spPr>
        <p:txBody>
          <a:bodyPr rtlCol="0" anchor="ctr"/>
          <a:lstStyle/>
          <a:p>
            <a:pPr algn="ctr"/>
            <a:endParaRPr/>
          </a:p>
        </p:txBody>
      </p:sp>
      <p:sp>
        <p:nvSpPr>
          <p:cNvPr id="271" name="Text: Resonetics"/>
          <p:cNvSpPr txBox="1"/>
          <p:nvPr/>
        </p:nvSpPr>
        <p:spPr>
          <a:xfrm>
            <a:off x="2947988" y="6438900"/>
            <a:ext cx="434429"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Resonetics</a:t>
            </a:r>
          </a:p>
        </p:txBody>
      </p:sp>
      <p:sp>
        <p:nvSpPr>
          <p:cNvPr id="272" name="Rectangle 271"/>
          <p:cNvSpPr/>
          <p:nvPr/>
        </p:nvSpPr>
        <p:spPr>
          <a:xfrm>
            <a:off x="3472904" y="6410325"/>
            <a:ext cx="413593" cy="180975"/>
          </a:xfrm>
          <a:prstGeom prst="rect">
            <a:avLst/>
          </a:prstGeom>
          <a:solidFill>
            <a:srgbClr val="FFFFFF"/>
          </a:solidFill>
          <a:ln>
            <a:noFill/>
          </a:ln>
          <a:effectLst/>
        </p:spPr>
        <p:txBody>
          <a:bodyPr rtlCol="0" anchor="ctr"/>
          <a:lstStyle/>
          <a:p>
            <a:pPr algn="ctr"/>
            <a:endParaRPr/>
          </a:p>
        </p:txBody>
      </p:sp>
      <p:sp>
        <p:nvSpPr>
          <p:cNvPr id="273" name="Rectangle 272"/>
          <p:cNvSpPr/>
          <p:nvPr/>
        </p:nvSpPr>
        <p:spPr>
          <a:xfrm>
            <a:off x="3472904" y="6410325"/>
            <a:ext cx="413593" cy="9525"/>
          </a:xfrm>
          <a:prstGeom prst="rect">
            <a:avLst/>
          </a:prstGeom>
          <a:solidFill>
            <a:srgbClr val="E3DCD3"/>
          </a:solidFill>
          <a:ln>
            <a:noFill/>
          </a:ln>
          <a:effectLst/>
        </p:spPr>
        <p:txBody>
          <a:bodyPr rtlCol="0" anchor="ctr"/>
          <a:lstStyle/>
          <a:p>
            <a:pPr algn="ctr"/>
            <a:endParaRPr/>
          </a:p>
        </p:txBody>
      </p:sp>
      <p:sp>
        <p:nvSpPr>
          <p:cNvPr id="274" name="Rectangle 273"/>
          <p:cNvSpPr/>
          <p:nvPr/>
        </p:nvSpPr>
        <p:spPr>
          <a:xfrm>
            <a:off x="3876973" y="6410325"/>
            <a:ext cx="9525" cy="180975"/>
          </a:xfrm>
          <a:prstGeom prst="rect">
            <a:avLst/>
          </a:prstGeom>
          <a:solidFill>
            <a:srgbClr val="E3DCD3"/>
          </a:solidFill>
          <a:ln>
            <a:noFill/>
          </a:ln>
          <a:effectLst/>
        </p:spPr>
        <p:txBody>
          <a:bodyPr rtlCol="0" anchor="ctr"/>
          <a:lstStyle/>
          <a:p>
            <a:pPr algn="ctr"/>
            <a:endParaRPr/>
          </a:p>
        </p:txBody>
      </p:sp>
      <p:sp>
        <p:nvSpPr>
          <p:cNvPr id="275" name="Rectangle 274"/>
          <p:cNvSpPr/>
          <p:nvPr/>
        </p:nvSpPr>
        <p:spPr>
          <a:xfrm>
            <a:off x="3472904" y="6581775"/>
            <a:ext cx="413593" cy="9525"/>
          </a:xfrm>
          <a:prstGeom prst="rect">
            <a:avLst/>
          </a:prstGeom>
          <a:solidFill>
            <a:srgbClr val="E3DCD3"/>
          </a:solidFill>
          <a:ln>
            <a:noFill/>
          </a:ln>
          <a:effectLst/>
        </p:spPr>
        <p:txBody>
          <a:bodyPr rtlCol="0" anchor="ctr"/>
          <a:lstStyle/>
          <a:p>
            <a:pPr algn="ctr"/>
            <a:endParaRPr/>
          </a:p>
        </p:txBody>
      </p:sp>
      <p:sp>
        <p:nvSpPr>
          <p:cNvPr id="276" name="Rectangle 275"/>
          <p:cNvSpPr/>
          <p:nvPr/>
        </p:nvSpPr>
        <p:spPr>
          <a:xfrm>
            <a:off x="3472904" y="6410325"/>
            <a:ext cx="9525" cy="180975"/>
          </a:xfrm>
          <a:prstGeom prst="rect">
            <a:avLst/>
          </a:prstGeom>
          <a:solidFill>
            <a:srgbClr val="E3DCD3"/>
          </a:solidFill>
          <a:ln>
            <a:noFill/>
          </a:ln>
          <a:effectLst/>
        </p:spPr>
        <p:txBody>
          <a:bodyPr rtlCol="0" anchor="ctr"/>
          <a:lstStyle/>
          <a:p>
            <a:pPr algn="ctr"/>
            <a:endParaRPr/>
          </a:p>
        </p:txBody>
      </p:sp>
      <p:sp>
        <p:nvSpPr>
          <p:cNvPr id="277" name="Text: Agilent"/>
          <p:cNvSpPr txBox="1"/>
          <p:nvPr/>
        </p:nvSpPr>
        <p:spPr>
          <a:xfrm>
            <a:off x="3539579" y="6438900"/>
            <a:ext cx="294531"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Agilent</a:t>
            </a:r>
          </a:p>
        </p:txBody>
      </p:sp>
      <p:sp>
        <p:nvSpPr>
          <p:cNvPr id="278" name="Rectangle 277"/>
          <p:cNvSpPr/>
          <p:nvPr/>
        </p:nvSpPr>
        <p:spPr>
          <a:xfrm>
            <a:off x="3924598" y="6410325"/>
            <a:ext cx="612874" cy="180975"/>
          </a:xfrm>
          <a:prstGeom prst="rect">
            <a:avLst/>
          </a:prstGeom>
          <a:solidFill>
            <a:srgbClr val="FFFFFF"/>
          </a:solidFill>
          <a:ln>
            <a:noFill/>
          </a:ln>
          <a:effectLst/>
        </p:spPr>
        <p:txBody>
          <a:bodyPr rtlCol="0" anchor="ctr"/>
          <a:lstStyle/>
          <a:p>
            <a:pPr algn="ctr"/>
            <a:endParaRPr/>
          </a:p>
        </p:txBody>
      </p:sp>
      <p:sp>
        <p:nvSpPr>
          <p:cNvPr id="279" name="Rectangle 278"/>
          <p:cNvSpPr/>
          <p:nvPr/>
        </p:nvSpPr>
        <p:spPr>
          <a:xfrm>
            <a:off x="3924598" y="6410325"/>
            <a:ext cx="612874" cy="9525"/>
          </a:xfrm>
          <a:prstGeom prst="rect">
            <a:avLst/>
          </a:prstGeom>
          <a:solidFill>
            <a:srgbClr val="E3DCD3"/>
          </a:solidFill>
          <a:ln>
            <a:noFill/>
          </a:ln>
          <a:effectLst/>
        </p:spPr>
        <p:txBody>
          <a:bodyPr rtlCol="0" anchor="ctr"/>
          <a:lstStyle/>
          <a:p>
            <a:pPr algn="ctr"/>
            <a:endParaRPr/>
          </a:p>
        </p:txBody>
      </p:sp>
      <p:sp>
        <p:nvSpPr>
          <p:cNvPr id="280" name="Rectangle 279"/>
          <p:cNvSpPr/>
          <p:nvPr/>
        </p:nvSpPr>
        <p:spPr>
          <a:xfrm>
            <a:off x="4527947" y="6410325"/>
            <a:ext cx="9525" cy="180975"/>
          </a:xfrm>
          <a:prstGeom prst="rect">
            <a:avLst/>
          </a:prstGeom>
          <a:solidFill>
            <a:srgbClr val="E3DCD3"/>
          </a:solidFill>
          <a:ln>
            <a:noFill/>
          </a:ln>
          <a:effectLst/>
        </p:spPr>
        <p:txBody>
          <a:bodyPr rtlCol="0" anchor="ctr"/>
          <a:lstStyle/>
          <a:p>
            <a:pPr algn="ctr"/>
            <a:endParaRPr/>
          </a:p>
        </p:txBody>
      </p:sp>
      <p:sp>
        <p:nvSpPr>
          <p:cNvPr id="281" name="Rectangle 280"/>
          <p:cNvSpPr/>
          <p:nvPr/>
        </p:nvSpPr>
        <p:spPr>
          <a:xfrm>
            <a:off x="3924598" y="6581775"/>
            <a:ext cx="612874" cy="9525"/>
          </a:xfrm>
          <a:prstGeom prst="rect">
            <a:avLst/>
          </a:prstGeom>
          <a:solidFill>
            <a:srgbClr val="E3DCD3"/>
          </a:solidFill>
          <a:ln>
            <a:noFill/>
          </a:ln>
          <a:effectLst/>
        </p:spPr>
        <p:txBody>
          <a:bodyPr rtlCol="0" anchor="ctr"/>
          <a:lstStyle/>
          <a:p>
            <a:pPr algn="ctr"/>
            <a:endParaRPr/>
          </a:p>
        </p:txBody>
      </p:sp>
      <p:sp>
        <p:nvSpPr>
          <p:cNvPr id="282" name="Rectangle 281"/>
          <p:cNvSpPr/>
          <p:nvPr/>
        </p:nvSpPr>
        <p:spPr>
          <a:xfrm>
            <a:off x="3924598" y="6410325"/>
            <a:ext cx="9525" cy="180975"/>
          </a:xfrm>
          <a:prstGeom prst="rect">
            <a:avLst/>
          </a:prstGeom>
          <a:solidFill>
            <a:srgbClr val="E3DCD3"/>
          </a:solidFill>
          <a:ln>
            <a:noFill/>
          </a:ln>
          <a:effectLst/>
        </p:spPr>
        <p:txBody>
          <a:bodyPr rtlCol="0" anchor="ctr"/>
          <a:lstStyle/>
          <a:p>
            <a:pPr algn="ctr"/>
            <a:endParaRPr/>
          </a:p>
        </p:txBody>
      </p:sp>
      <p:sp>
        <p:nvSpPr>
          <p:cNvPr id="283" name="Text: Merck KGaA"/>
          <p:cNvSpPr txBox="1"/>
          <p:nvPr/>
        </p:nvSpPr>
        <p:spPr>
          <a:xfrm>
            <a:off x="3991273" y="6438900"/>
            <a:ext cx="493812"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Merck KGaA</a:t>
            </a:r>
          </a:p>
        </p:txBody>
      </p:sp>
      <p:sp>
        <p:nvSpPr>
          <p:cNvPr id="284" name="Rectangle 283"/>
          <p:cNvSpPr/>
          <p:nvPr/>
        </p:nvSpPr>
        <p:spPr>
          <a:xfrm>
            <a:off x="2881312" y="6629400"/>
            <a:ext cx="1208782" cy="180975"/>
          </a:xfrm>
          <a:prstGeom prst="rect">
            <a:avLst/>
          </a:prstGeom>
          <a:solidFill>
            <a:srgbClr val="FFFFFF"/>
          </a:solidFill>
          <a:ln>
            <a:noFill/>
          </a:ln>
          <a:effectLst/>
        </p:spPr>
        <p:txBody>
          <a:bodyPr rtlCol="0" anchor="ctr"/>
          <a:lstStyle/>
          <a:p>
            <a:pPr algn="ctr"/>
            <a:endParaRPr/>
          </a:p>
        </p:txBody>
      </p:sp>
      <p:sp>
        <p:nvSpPr>
          <p:cNvPr id="285" name="Rectangle 284"/>
          <p:cNvSpPr/>
          <p:nvPr/>
        </p:nvSpPr>
        <p:spPr>
          <a:xfrm>
            <a:off x="2881312" y="6629400"/>
            <a:ext cx="1208782" cy="9525"/>
          </a:xfrm>
          <a:prstGeom prst="rect">
            <a:avLst/>
          </a:prstGeom>
          <a:solidFill>
            <a:srgbClr val="E3DCD3"/>
          </a:solidFill>
          <a:ln>
            <a:noFill/>
          </a:ln>
          <a:effectLst/>
        </p:spPr>
        <p:txBody>
          <a:bodyPr rtlCol="0" anchor="ctr"/>
          <a:lstStyle/>
          <a:p>
            <a:pPr algn="ctr"/>
            <a:endParaRPr/>
          </a:p>
        </p:txBody>
      </p:sp>
      <p:sp>
        <p:nvSpPr>
          <p:cNvPr id="286" name="Rectangle 285"/>
          <p:cNvSpPr/>
          <p:nvPr/>
        </p:nvSpPr>
        <p:spPr>
          <a:xfrm>
            <a:off x="4080570" y="6629400"/>
            <a:ext cx="9525" cy="180975"/>
          </a:xfrm>
          <a:prstGeom prst="rect">
            <a:avLst/>
          </a:prstGeom>
          <a:solidFill>
            <a:srgbClr val="E3DCD3"/>
          </a:solidFill>
          <a:ln>
            <a:noFill/>
          </a:ln>
          <a:effectLst/>
        </p:spPr>
        <p:txBody>
          <a:bodyPr rtlCol="0" anchor="ctr"/>
          <a:lstStyle/>
          <a:p>
            <a:pPr algn="ctr"/>
            <a:endParaRPr/>
          </a:p>
        </p:txBody>
      </p:sp>
      <p:sp>
        <p:nvSpPr>
          <p:cNvPr id="287" name="Rectangle 286"/>
          <p:cNvSpPr/>
          <p:nvPr/>
        </p:nvSpPr>
        <p:spPr>
          <a:xfrm>
            <a:off x="2881312" y="6800850"/>
            <a:ext cx="1208782" cy="9525"/>
          </a:xfrm>
          <a:prstGeom prst="rect">
            <a:avLst/>
          </a:prstGeom>
          <a:solidFill>
            <a:srgbClr val="E3DCD3"/>
          </a:solidFill>
          <a:ln>
            <a:noFill/>
          </a:ln>
          <a:effectLst/>
        </p:spPr>
        <p:txBody>
          <a:bodyPr rtlCol="0" anchor="ctr"/>
          <a:lstStyle/>
          <a:p>
            <a:pPr algn="ctr"/>
            <a:endParaRPr/>
          </a:p>
        </p:txBody>
      </p:sp>
      <p:sp>
        <p:nvSpPr>
          <p:cNvPr id="288" name="Rectangle 287"/>
          <p:cNvSpPr/>
          <p:nvPr/>
        </p:nvSpPr>
        <p:spPr>
          <a:xfrm>
            <a:off x="2881312" y="6629400"/>
            <a:ext cx="9525" cy="180975"/>
          </a:xfrm>
          <a:prstGeom prst="rect">
            <a:avLst/>
          </a:prstGeom>
          <a:solidFill>
            <a:srgbClr val="E3DCD3"/>
          </a:solidFill>
          <a:ln>
            <a:noFill/>
          </a:ln>
          <a:effectLst/>
        </p:spPr>
        <p:txBody>
          <a:bodyPr rtlCol="0" anchor="ctr"/>
          <a:lstStyle/>
          <a:p>
            <a:pPr algn="ctr"/>
            <a:endParaRPr/>
          </a:p>
        </p:txBody>
      </p:sp>
      <p:sp>
        <p:nvSpPr>
          <p:cNvPr id="289" name="Text: Leica Biosystems (Danaher)"/>
          <p:cNvSpPr txBox="1"/>
          <p:nvPr/>
        </p:nvSpPr>
        <p:spPr>
          <a:xfrm>
            <a:off x="2947988" y="6657975"/>
            <a:ext cx="1089720"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Leica Biosystems (Danaher)</a:t>
            </a:r>
          </a:p>
        </p:txBody>
      </p:sp>
      <p:sp>
        <p:nvSpPr>
          <p:cNvPr id="290" name="Rectangle 289"/>
          <p:cNvSpPr/>
          <p:nvPr/>
        </p:nvSpPr>
        <p:spPr>
          <a:xfrm>
            <a:off x="5095875" y="1238250"/>
            <a:ext cx="2205038" cy="5695950"/>
          </a:xfrm>
          <a:prstGeom prst="rect">
            <a:avLst/>
          </a:prstGeom>
          <a:solidFill>
            <a:srgbClr val="FAF7F3"/>
          </a:solidFill>
          <a:ln>
            <a:noFill/>
          </a:ln>
          <a:effectLst/>
        </p:spPr>
        <p:txBody>
          <a:bodyPr rtlCol="0" anchor="ctr"/>
          <a:lstStyle/>
          <a:p>
            <a:pPr algn="ctr"/>
            <a:endParaRPr/>
          </a:p>
        </p:txBody>
      </p:sp>
      <p:sp>
        <p:nvSpPr>
          <p:cNvPr id="291" name="Rectangle 290"/>
          <p:cNvSpPr/>
          <p:nvPr/>
        </p:nvSpPr>
        <p:spPr>
          <a:xfrm>
            <a:off x="5095875" y="1238250"/>
            <a:ext cx="2205038" cy="9525"/>
          </a:xfrm>
          <a:prstGeom prst="rect">
            <a:avLst/>
          </a:prstGeom>
          <a:solidFill>
            <a:srgbClr val="E3DCD3"/>
          </a:solidFill>
          <a:ln>
            <a:noFill/>
          </a:ln>
          <a:effectLst/>
        </p:spPr>
        <p:txBody>
          <a:bodyPr rtlCol="0" anchor="ctr"/>
          <a:lstStyle/>
          <a:p>
            <a:pPr algn="ctr"/>
            <a:endParaRPr/>
          </a:p>
        </p:txBody>
      </p:sp>
      <p:sp>
        <p:nvSpPr>
          <p:cNvPr id="292" name="Rectangle 291"/>
          <p:cNvSpPr/>
          <p:nvPr/>
        </p:nvSpPr>
        <p:spPr>
          <a:xfrm>
            <a:off x="7291388" y="1238250"/>
            <a:ext cx="9525" cy="5695950"/>
          </a:xfrm>
          <a:prstGeom prst="rect">
            <a:avLst/>
          </a:prstGeom>
          <a:solidFill>
            <a:srgbClr val="E3DCD3"/>
          </a:solidFill>
          <a:ln>
            <a:noFill/>
          </a:ln>
          <a:effectLst/>
        </p:spPr>
        <p:txBody>
          <a:bodyPr rtlCol="0" anchor="ctr"/>
          <a:lstStyle/>
          <a:p>
            <a:pPr algn="ctr"/>
            <a:endParaRPr/>
          </a:p>
        </p:txBody>
      </p:sp>
      <p:sp>
        <p:nvSpPr>
          <p:cNvPr id="293" name="Rectangle 292"/>
          <p:cNvSpPr/>
          <p:nvPr/>
        </p:nvSpPr>
        <p:spPr>
          <a:xfrm>
            <a:off x="5095875" y="6924675"/>
            <a:ext cx="2205038" cy="9525"/>
          </a:xfrm>
          <a:prstGeom prst="rect">
            <a:avLst/>
          </a:prstGeom>
          <a:solidFill>
            <a:srgbClr val="E3DCD3"/>
          </a:solidFill>
          <a:ln>
            <a:noFill/>
          </a:ln>
          <a:effectLst/>
        </p:spPr>
        <p:txBody>
          <a:bodyPr rtlCol="0" anchor="ctr"/>
          <a:lstStyle/>
          <a:p>
            <a:pPr algn="ctr"/>
            <a:endParaRPr/>
          </a:p>
        </p:txBody>
      </p:sp>
      <p:sp>
        <p:nvSpPr>
          <p:cNvPr id="294" name="Rectangle 293"/>
          <p:cNvSpPr/>
          <p:nvPr/>
        </p:nvSpPr>
        <p:spPr>
          <a:xfrm>
            <a:off x="5095875" y="1238250"/>
            <a:ext cx="9525" cy="5695950"/>
          </a:xfrm>
          <a:prstGeom prst="rect">
            <a:avLst/>
          </a:prstGeom>
          <a:solidFill>
            <a:srgbClr val="E3DCD3"/>
          </a:solidFill>
          <a:ln>
            <a:noFill/>
          </a:ln>
          <a:effectLst/>
        </p:spPr>
        <p:txBody>
          <a:bodyPr rtlCol="0" anchor="ctr"/>
          <a:lstStyle/>
          <a:p>
            <a:pPr algn="ctr"/>
            <a:endParaRPr/>
          </a:p>
        </p:txBody>
      </p:sp>
      <p:sp>
        <p:nvSpPr>
          <p:cNvPr id="295" name="Rectangle 294"/>
          <p:cNvSpPr/>
          <p:nvPr/>
        </p:nvSpPr>
        <p:spPr>
          <a:xfrm>
            <a:off x="5105400" y="1247775"/>
            <a:ext cx="2185988" cy="419100"/>
          </a:xfrm>
          <a:prstGeom prst="rect">
            <a:avLst/>
          </a:prstGeom>
          <a:solidFill>
            <a:srgbClr val="1B1A1A"/>
          </a:solidFill>
          <a:ln>
            <a:noFill/>
          </a:ln>
          <a:effectLst/>
        </p:spPr>
        <p:txBody>
          <a:bodyPr rtlCol="0" anchor="ctr"/>
          <a:lstStyle/>
          <a:p>
            <a:pPr algn="ctr"/>
            <a:endParaRPr/>
          </a:p>
        </p:txBody>
      </p:sp>
      <p:pic>
        <p:nvPicPr>
          <p:cNvPr id="296" name="Picture 295" descr="v06399256ca04.png"/>
          <p:cNvPicPr>
            <a:picLocks noChangeAspect="1"/>
          </p:cNvPicPr>
          <p:nvPr/>
        </p:nvPicPr>
        <p:blipFill>
          <a:blip r:embed="rId24"/>
          <a:stretch>
            <a:fillRect/>
          </a:stretch>
        </p:blipFill>
        <p:spPr>
          <a:xfrm>
            <a:off x="5219700" y="1333500"/>
            <a:ext cx="247650" cy="247650"/>
          </a:xfrm>
          <a:prstGeom prst="rect">
            <a:avLst/>
          </a:prstGeom>
        </p:spPr>
      </p:pic>
      <p:sp>
        <p:nvSpPr>
          <p:cNvPr id="297" name="Text: MEDICAL PRODUCTS &amp; DISTRIBUTION"/>
          <p:cNvSpPr txBox="1"/>
          <p:nvPr/>
        </p:nvSpPr>
        <p:spPr>
          <a:xfrm>
            <a:off x="5562600" y="1333500"/>
            <a:ext cx="1628775" cy="247650"/>
          </a:xfrm>
          <a:prstGeom prst="rect">
            <a:avLst/>
          </a:prstGeom>
          <a:noFill/>
        </p:spPr>
        <p:txBody>
          <a:bodyPr wrap="square" lIns="0" tIns="0" rIns="0" bIns="0" anchor="t">
            <a:spAutoFit/>
          </a:bodyPr>
          <a:lstStyle/>
          <a:p>
            <a:pPr algn="l">
              <a:lnSpc>
                <a:spcPts val="975"/>
              </a:lnSpc>
            </a:pPr>
            <a:r>
              <a:rPr sz="712" b="1" i="0" spc="112">
                <a:solidFill>
                  <a:srgbClr val="FFFFFF"/>
                </a:solidFill>
                <a:latin typeface="Calibri"/>
              </a:rPr>
              <a:t>MEDICAL PRODUCTS &amp; DISTRIBUTION</a:t>
            </a:r>
          </a:p>
        </p:txBody>
      </p:sp>
      <p:sp>
        <p:nvSpPr>
          <p:cNvPr id="298" name="Text: LISTED COMPANIES"/>
          <p:cNvSpPr txBox="1"/>
          <p:nvPr/>
        </p:nvSpPr>
        <p:spPr>
          <a:xfrm>
            <a:off x="5219700" y="1771650"/>
            <a:ext cx="1971675" cy="123825"/>
          </a:xfrm>
          <a:prstGeom prst="rect">
            <a:avLst/>
          </a:prstGeom>
          <a:noFill/>
        </p:spPr>
        <p:txBody>
          <a:bodyPr wrap="square" lIns="0" tIns="0" rIns="0" bIns="0" anchor="t">
            <a:spAutoFit/>
          </a:bodyPr>
          <a:lstStyle/>
          <a:p>
            <a:pPr algn="l">
              <a:lnSpc>
                <a:spcPts val="975"/>
              </a:lnSpc>
            </a:pPr>
            <a:r>
              <a:rPr sz="638" b="1" i="0" spc="150">
                <a:solidFill>
                  <a:srgbClr val="8C6239"/>
                </a:solidFill>
                <a:latin typeface="Calibri"/>
              </a:rPr>
              <a:t>LISTED COMPANIES</a:t>
            </a:r>
          </a:p>
        </p:txBody>
      </p:sp>
      <p:sp>
        <p:nvSpPr>
          <p:cNvPr id="299" name="Rectangle 298"/>
          <p:cNvSpPr/>
          <p:nvPr/>
        </p:nvSpPr>
        <p:spPr>
          <a:xfrm>
            <a:off x="5219700" y="1952625"/>
            <a:ext cx="1957388" cy="228600"/>
          </a:xfrm>
          <a:prstGeom prst="rect">
            <a:avLst/>
          </a:prstGeom>
          <a:solidFill>
            <a:srgbClr val="FFFFFF"/>
          </a:solidFill>
          <a:ln>
            <a:noFill/>
          </a:ln>
          <a:effectLst/>
        </p:spPr>
        <p:txBody>
          <a:bodyPr rtlCol="0" anchor="ctr"/>
          <a:lstStyle/>
          <a:p>
            <a:pPr algn="ctr"/>
            <a:endParaRPr/>
          </a:p>
        </p:txBody>
      </p:sp>
      <p:sp>
        <p:nvSpPr>
          <p:cNvPr id="300" name="Rectangle 299"/>
          <p:cNvSpPr/>
          <p:nvPr/>
        </p:nvSpPr>
        <p:spPr>
          <a:xfrm>
            <a:off x="5219700" y="1952625"/>
            <a:ext cx="1957388" cy="9525"/>
          </a:xfrm>
          <a:prstGeom prst="rect">
            <a:avLst/>
          </a:prstGeom>
          <a:solidFill>
            <a:srgbClr val="E3DCD3"/>
          </a:solidFill>
          <a:ln>
            <a:noFill/>
          </a:ln>
          <a:effectLst/>
        </p:spPr>
        <p:txBody>
          <a:bodyPr rtlCol="0" anchor="ctr"/>
          <a:lstStyle/>
          <a:p>
            <a:pPr algn="ctr"/>
            <a:endParaRPr/>
          </a:p>
        </p:txBody>
      </p:sp>
      <p:sp>
        <p:nvSpPr>
          <p:cNvPr id="301" name="Rectangle 300"/>
          <p:cNvSpPr/>
          <p:nvPr/>
        </p:nvSpPr>
        <p:spPr>
          <a:xfrm>
            <a:off x="7167562" y="1952625"/>
            <a:ext cx="9525" cy="228600"/>
          </a:xfrm>
          <a:prstGeom prst="rect">
            <a:avLst/>
          </a:prstGeom>
          <a:solidFill>
            <a:srgbClr val="E3DCD3"/>
          </a:solidFill>
          <a:ln>
            <a:noFill/>
          </a:ln>
          <a:effectLst/>
        </p:spPr>
        <p:txBody>
          <a:bodyPr rtlCol="0" anchor="ctr"/>
          <a:lstStyle/>
          <a:p>
            <a:pPr algn="ctr"/>
            <a:endParaRPr/>
          </a:p>
        </p:txBody>
      </p:sp>
      <p:sp>
        <p:nvSpPr>
          <p:cNvPr id="302" name="Rectangle 301"/>
          <p:cNvSpPr/>
          <p:nvPr/>
        </p:nvSpPr>
        <p:spPr>
          <a:xfrm>
            <a:off x="5219700" y="2171700"/>
            <a:ext cx="1957388" cy="9525"/>
          </a:xfrm>
          <a:prstGeom prst="rect">
            <a:avLst/>
          </a:prstGeom>
          <a:solidFill>
            <a:srgbClr val="E3DCD3"/>
          </a:solidFill>
          <a:ln>
            <a:noFill/>
          </a:ln>
          <a:effectLst/>
        </p:spPr>
        <p:txBody>
          <a:bodyPr rtlCol="0" anchor="ctr"/>
          <a:lstStyle/>
          <a:p>
            <a:pPr algn="ctr"/>
            <a:endParaRPr/>
          </a:p>
        </p:txBody>
      </p:sp>
      <p:sp>
        <p:nvSpPr>
          <p:cNvPr id="303" name="Rectangle 302"/>
          <p:cNvSpPr/>
          <p:nvPr/>
        </p:nvSpPr>
        <p:spPr>
          <a:xfrm>
            <a:off x="5219700" y="1952625"/>
            <a:ext cx="9525" cy="228600"/>
          </a:xfrm>
          <a:prstGeom prst="rect">
            <a:avLst/>
          </a:prstGeom>
          <a:solidFill>
            <a:srgbClr val="E3DCD3"/>
          </a:solidFill>
          <a:ln>
            <a:noFill/>
          </a:ln>
          <a:effectLst/>
        </p:spPr>
        <p:txBody>
          <a:bodyPr rtlCol="0" anchor="ctr"/>
          <a:lstStyle/>
          <a:p>
            <a:pPr algn="ctr"/>
            <a:endParaRPr/>
          </a:p>
        </p:txBody>
      </p:sp>
      <p:sp>
        <p:nvSpPr>
          <p:cNvPr id="304" name="Rounded Rectangle 303"/>
          <p:cNvSpPr/>
          <p:nvPr/>
        </p:nvSpPr>
        <p:spPr>
          <a:xfrm>
            <a:off x="5238750" y="197167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305" name="Text: SYK">
            <a:hlinkClick r:id="rId25"/>
          </p:cNvPr>
          <p:cNvSpPr txBox="1"/>
          <p:nvPr/>
        </p:nvSpPr>
        <p:spPr>
          <a:xfrm>
            <a:off x="5238750" y="197167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SYK</a:t>
            </a:r>
          </a:p>
        </p:txBody>
      </p:sp>
      <p:sp>
        <p:nvSpPr>
          <p:cNvPr id="306" name="Text: Stryker">
            <a:hlinkClick r:id="rId25"/>
          </p:cNvPr>
          <p:cNvSpPr txBox="1"/>
          <p:nvPr/>
        </p:nvSpPr>
        <p:spPr>
          <a:xfrm>
            <a:off x="5667375" y="2002631"/>
            <a:ext cx="310009"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Stryker</a:t>
            </a:r>
          </a:p>
        </p:txBody>
      </p:sp>
      <p:sp>
        <p:nvSpPr>
          <p:cNvPr id="307" name="Rectangle 306"/>
          <p:cNvSpPr/>
          <p:nvPr/>
        </p:nvSpPr>
        <p:spPr>
          <a:xfrm>
            <a:off x="5219700" y="2200275"/>
            <a:ext cx="1957388" cy="228600"/>
          </a:xfrm>
          <a:prstGeom prst="rect">
            <a:avLst/>
          </a:prstGeom>
          <a:solidFill>
            <a:srgbClr val="FFFFFF"/>
          </a:solidFill>
          <a:ln>
            <a:noFill/>
          </a:ln>
          <a:effectLst/>
        </p:spPr>
        <p:txBody>
          <a:bodyPr rtlCol="0" anchor="ctr"/>
          <a:lstStyle/>
          <a:p>
            <a:pPr algn="ctr"/>
            <a:endParaRPr/>
          </a:p>
        </p:txBody>
      </p:sp>
      <p:sp>
        <p:nvSpPr>
          <p:cNvPr id="308" name="Rectangle 307"/>
          <p:cNvSpPr/>
          <p:nvPr/>
        </p:nvSpPr>
        <p:spPr>
          <a:xfrm>
            <a:off x="5219700" y="2200275"/>
            <a:ext cx="1957388" cy="9525"/>
          </a:xfrm>
          <a:prstGeom prst="rect">
            <a:avLst/>
          </a:prstGeom>
          <a:solidFill>
            <a:srgbClr val="E3DCD3"/>
          </a:solidFill>
          <a:ln>
            <a:noFill/>
          </a:ln>
          <a:effectLst/>
        </p:spPr>
        <p:txBody>
          <a:bodyPr rtlCol="0" anchor="ctr"/>
          <a:lstStyle/>
          <a:p>
            <a:pPr algn="ctr"/>
            <a:endParaRPr/>
          </a:p>
        </p:txBody>
      </p:sp>
      <p:sp>
        <p:nvSpPr>
          <p:cNvPr id="309" name="Rectangle 308"/>
          <p:cNvSpPr/>
          <p:nvPr/>
        </p:nvSpPr>
        <p:spPr>
          <a:xfrm>
            <a:off x="7167562" y="2200275"/>
            <a:ext cx="9525" cy="228600"/>
          </a:xfrm>
          <a:prstGeom prst="rect">
            <a:avLst/>
          </a:prstGeom>
          <a:solidFill>
            <a:srgbClr val="E3DCD3"/>
          </a:solidFill>
          <a:ln>
            <a:noFill/>
          </a:ln>
          <a:effectLst/>
        </p:spPr>
        <p:txBody>
          <a:bodyPr rtlCol="0" anchor="ctr"/>
          <a:lstStyle/>
          <a:p>
            <a:pPr algn="ctr"/>
            <a:endParaRPr/>
          </a:p>
        </p:txBody>
      </p:sp>
      <p:sp>
        <p:nvSpPr>
          <p:cNvPr id="310" name="Rectangle 309"/>
          <p:cNvSpPr/>
          <p:nvPr/>
        </p:nvSpPr>
        <p:spPr>
          <a:xfrm>
            <a:off x="5219700" y="2419350"/>
            <a:ext cx="1957388" cy="9525"/>
          </a:xfrm>
          <a:prstGeom prst="rect">
            <a:avLst/>
          </a:prstGeom>
          <a:solidFill>
            <a:srgbClr val="E3DCD3"/>
          </a:solidFill>
          <a:ln>
            <a:noFill/>
          </a:ln>
          <a:effectLst/>
        </p:spPr>
        <p:txBody>
          <a:bodyPr rtlCol="0" anchor="ctr"/>
          <a:lstStyle/>
          <a:p>
            <a:pPr algn="ctr"/>
            <a:endParaRPr/>
          </a:p>
        </p:txBody>
      </p:sp>
      <p:sp>
        <p:nvSpPr>
          <p:cNvPr id="311" name="Rectangle 310"/>
          <p:cNvSpPr/>
          <p:nvPr/>
        </p:nvSpPr>
        <p:spPr>
          <a:xfrm>
            <a:off x="5219700" y="2200275"/>
            <a:ext cx="9525" cy="228600"/>
          </a:xfrm>
          <a:prstGeom prst="rect">
            <a:avLst/>
          </a:prstGeom>
          <a:solidFill>
            <a:srgbClr val="E3DCD3"/>
          </a:solidFill>
          <a:ln>
            <a:noFill/>
          </a:ln>
          <a:effectLst/>
        </p:spPr>
        <p:txBody>
          <a:bodyPr rtlCol="0" anchor="ctr"/>
          <a:lstStyle/>
          <a:p>
            <a:pPr algn="ctr"/>
            <a:endParaRPr/>
          </a:p>
        </p:txBody>
      </p:sp>
      <p:sp>
        <p:nvSpPr>
          <p:cNvPr id="312" name="Rounded Rectangle 311"/>
          <p:cNvSpPr/>
          <p:nvPr/>
        </p:nvSpPr>
        <p:spPr>
          <a:xfrm>
            <a:off x="5238750" y="221932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313" name="Text: STE">
            <a:hlinkClick r:id="rId26"/>
          </p:cNvPr>
          <p:cNvSpPr txBox="1"/>
          <p:nvPr/>
        </p:nvSpPr>
        <p:spPr>
          <a:xfrm>
            <a:off x="5238750" y="221932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STE</a:t>
            </a:r>
          </a:p>
        </p:txBody>
      </p:sp>
      <p:sp>
        <p:nvSpPr>
          <p:cNvPr id="314" name="Text: Steris">
            <a:hlinkClick r:id="rId26"/>
          </p:cNvPr>
          <p:cNvSpPr txBox="1"/>
          <p:nvPr/>
        </p:nvSpPr>
        <p:spPr>
          <a:xfrm>
            <a:off x="5667375" y="2250281"/>
            <a:ext cx="245864"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Steris</a:t>
            </a:r>
          </a:p>
        </p:txBody>
      </p:sp>
      <p:sp>
        <p:nvSpPr>
          <p:cNvPr id="315" name="Rectangle 314"/>
          <p:cNvSpPr/>
          <p:nvPr/>
        </p:nvSpPr>
        <p:spPr>
          <a:xfrm>
            <a:off x="5219700" y="2447925"/>
            <a:ext cx="1957388" cy="228600"/>
          </a:xfrm>
          <a:prstGeom prst="rect">
            <a:avLst/>
          </a:prstGeom>
          <a:solidFill>
            <a:srgbClr val="FFFFFF"/>
          </a:solidFill>
          <a:ln>
            <a:noFill/>
          </a:ln>
          <a:effectLst/>
        </p:spPr>
        <p:txBody>
          <a:bodyPr rtlCol="0" anchor="ctr"/>
          <a:lstStyle/>
          <a:p>
            <a:pPr algn="ctr"/>
            <a:endParaRPr/>
          </a:p>
        </p:txBody>
      </p:sp>
      <p:sp>
        <p:nvSpPr>
          <p:cNvPr id="316" name="Rectangle 315"/>
          <p:cNvSpPr/>
          <p:nvPr/>
        </p:nvSpPr>
        <p:spPr>
          <a:xfrm>
            <a:off x="5219700" y="2447925"/>
            <a:ext cx="1957388" cy="9525"/>
          </a:xfrm>
          <a:prstGeom prst="rect">
            <a:avLst/>
          </a:prstGeom>
          <a:solidFill>
            <a:srgbClr val="E3DCD3"/>
          </a:solidFill>
          <a:ln>
            <a:noFill/>
          </a:ln>
          <a:effectLst/>
        </p:spPr>
        <p:txBody>
          <a:bodyPr rtlCol="0" anchor="ctr"/>
          <a:lstStyle/>
          <a:p>
            <a:pPr algn="ctr"/>
            <a:endParaRPr/>
          </a:p>
        </p:txBody>
      </p:sp>
      <p:sp>
        <p:nvSpPr>
          <p:cNvPr id="317" name="Rectangle 316"/>
          <p:cNvSpPr/>
          <p:nvPr/>
        </p:nvSpPr>
        <p:spPr>
          <a:xfrm>
            <a:off x="7167562" y="2447925"/>
            <a:ext cx="9525" cy="228600"/>
          </a:xfrm>
          <a:prstGeom prst="rect">
            <a:avLst/>
          </a:prstGeom>
          <a:solidFill>
            <a:srgbClr val="E3DCD3"/>
          </a:solidFill>
          <a:ln>
            <a:noFill/>
          </a:ln>
          <a:effectLst/>
        </p:spPr>
        <p:txBody>
          <a:bodyPr rtlCol="0" anchor="ctr"/>
          <a:lstStyle/>
          <a:p>
            <a:pPr algn="ctr"/>
            <a:endParaRPr/>
          </a:p>
        </p:txBody>
      </p:sp>
      <p:sp>
        <p:nvSpPr>
          <p:cNvPr id="318" name="Rectangle 317"/>
          <p:cNvSpPr/>
          <p:nvPr/>
        </p:nvSpPr>
        <p:spPr>
          <a:xfrm>
            <a:off x="5219700" y="2667000"/>
            <a:ext cx="1957388" cy="9525"/>
          </a:xfrm>
          <a:prstGeom prst="rect">
            <a:avLst/>
          </a:prstGeom>
          <a:solidFill>
            <a:srgbClr val="E3DCD3"/>
          </a:solidFill>
          <a:ln>
            <a:noFill/>
          </a:ln>
          <a:effectLst/>
        </p:spPr>
        <p:txBody>
          <a:bodyPr rtlCol="0" anchor="ctr"/>
          <a:lstStyle/>
          <a:p>
            <a:pPr algn="ctr"/>
            <a:endParaRPr/>
          </a:p>
        </p:txBody>
      </p:sp>
      <p:sp>
        <p:nvSpPr>
          <p:cNvPr id="319" name="Rectangle 318"/>
          <p:cNvSpPr/>
          <p:nvPr/>
        </p:nvSpPr>
        <p:spPr>
          <a:xfrm>
            <a:off x="5219700" y="2447925"/>
            <a:ext cx="9525" cy="228600"/>
          </a:xfrm>
          <a:prstGeom prst="rect">
            <a:avLst/>
          </a:prstGeom>
          <a:solidFill>
            <a:srgbClr val="E3DCD3"/>
          </a:solidFill>
          <a:ln>
            <a:noFill/>
          </a:ln>
          <a:effectLst/>
        </p:spPr>
        <p:txBody>
          <a:bodyPr rtlCol="0" anchor="ctr"/>
          <a:lstStyle/>
          <a:p>
            <a:pPr algn="ctr"/>
            <a:endParaRPr/>
          </a:p>
        </p:txBody>
      </p:sp>
      <p:sp>
        <p:nvSpPr>
          <p:cNvPr id="320" name="Rounded Rectangle 319"/>
          <p:cNvSpPr/>
          <p:nvPr/>
        </p:nvSpPr>
        <p:spPr>
          <a:xfrm>
            <a:off x="5238750" y="246697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321" name="Text: TFX">
            <a:hlinkClick r:id="rId27"/>
          </p:cNvPr>
          <p:cNvSpPr txBox="1"/>
          <p:nvPr/>
        </p:nvSpPr>
        <p:spPr>
          <a:xfrm>
            <a:off x="5238750" y="246697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TFX</a:t>
            </a:r>
          </a:p>
        </p:txBody>
      </p:sp>
      <p:sp>
        <p:nvSpPr>
          <p:cNvPr id="322" name="Text: Teleflex">
            <a:hlinkClick r:id="rId27"/>
          </p:cNvPr>
          <p:cNvSpPr txBox="1"/>
          <p:nvPr/>
        </p:nvSpPr>
        <p:spPr>
          <a:xfrm>
            <a:off x="5667375" y="2497931"/>
            <a:ext cx="330845"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Teleflex</a:t>
            </a:r>
          </a:p>
        </p:txBody>
      </p:sp>
      <p:sp>
        <p:nvSpPr>
          <p:cNvPr id="323" name="Rectangle 322"/>
          <p:cNvSpPr/>
          <p:nvPr/>
        </p:nvSpPr>
        <p:spPr>
          <a:xfrm>
            <a:off x="5219700" y="2695575"/>
            <a:ext cx="1957388" cy="228600"/>
          </a:xfrm>
          <a:prstGeom prst="rect">
            <a:avLst/>
          </a:prstGeom>
          <a:solidFill>
            <a:srgbClr val="FFFFFF"/>
          </a:solidFill>
          <a:ln>
            <a:noFill/>
          </a:ln>
          <a:effectLst/>
        </p:spPr>
        <p:txBody>
          <a:bodyPr rtlCol="0" anchor="ctr"/>
          <a:lstStyle/>
          <a:p>
            <a:pPr algn="ctr"/>
            <a:endParaRPr/>
          </a:p>
        </p:txBody>
      </p:sp>
      <p:sp>
        <p:nvSpPr>
          <p:cNvPr id="324" name="Rectangle 323"/>
          <p:cNvSpPr/>
          <p:nvPr/>
        </p:nvSpPr>
        <p:spPr>
          <a:xfrm>
            <a:off x="5219700" y="2695575"/>
            <a:ext cx="1957388" cy="9525"/>
          </a:xfrm>
          <a:prstGeom prst="rect">
            <a:avLst/>
          </a:prstGeom>
          <a:solidFill>
            <a:srgbClr val="E3DCD3"/>
          </a:solidFill>
          <a:ln>
            <a:noFill/>
          </a:ln>
          <a:effectLst/>
        </p:spPr>
        <p:txBody>
          <a:bodyPr rtlCol="0" anchor="ctr"/>
          <a:lstStyle/>
          <a:p>
            <a:pPr algn="ctr"/>
            <a:endParaRPr/>
          </a:p>
        </p:txBody>
      </p:sp>
      <p:sp>
        <p:nvSpPr>
          <p:cNvPr id="325" name="Rectangle 324"/>
          <p:cNvSpPr/>
          <p:nvPr/>
        </p:nvSpPr>
        <p:spPr>
          <a:xfrm>
            <a:off x="7167562" y="2695575"/>
            <a:ext cx="9525" cy="228600"/>
          </a:xfrm>
          <a:prstGeom prst="rect">
            <a:avLst/>
          </a:prstGeom>
          <a:solidFill>
            <a:srgbClr val="E3DCD3"/>
          </a:solidFill>
          <a:ln>
            <a:noFill/>
          </a:ln>
          <a:effectLst/>
        </p:spPr>
        <p:txBody>
          <a:bodyPr rtlCol="0" anchor="ctr"/>
          <a:lstStyle/>
          <a:p>
            <a:pPr algn="ctr"/>
            <a:endParaRPr/>
          </a:p>
        </p:txBody>
      </p:sp>
      <p:sp>
        <p:nvSpPr>
          <p:cNvPr id="326" name="Rectangle 325"/>
          <p:cNvSpPr/>
          <p:nvPr/>
        </p:nvSpPr>
        <p:spPr>
          <a:xfrm>
            <a:off x="5219700" y="2914650"/>
            <a:ext cx="1957388" cy="9525"/>
          </a:xfrm>
          <a:prstGeom prst="rect">
            <a:avLst/>
          </a:prstGeom>
          <a:solidFill>
            <a:srgbClr val="E3DCD3"/>
          </a:solidFill>
          <a:ln>
            <a:noFill/>
          </a:ln>
          <a:effectLst/>
        </p:spPr>
        <p:txBody>
          <a:bodyPr rtlCol="0" anchor="ctr"/>
          <a:lstStyle/>
          <a:p>
            <a:pPr algn="ctr"/>
            <a:endParaRPr/>
          </a:p>
        </p:txBody>
      </p:sp>
      <p:sp>
        <p:nvSpPr>
          <p:cNvPr id="327" name="Rectangle 326"/>
          <p:cNvSpPr/>
          <p:nvPr/>
        </p:nvSpPr>
        <p:spPr>
          <a:xfrm>
            <a:off x="5219700" y="2695575"/>
            <a:ext cx="9525" cy="228600"/>
          </a:xfrm>
          <a:prstGeom prst="rect">
            <a:avLst/>
          </a:prstGeom>
          <a:solidFill>
            <a:srgbClr val="E3DCD3"/>
          </a:solidFill>
          <a:ln>
            <a:noFill/>
          </a:ln>
          <a:effectLst/>
        </p:spPr>
        <p:txBody>
          <a:bodyPr rtlCol="0" anchor="ctr"/>
          <a:lstStyle/>
          <a:p>
            <a:pPr algn="ctr"/>
            <a:endParaRPr/>
          </a:p>
        </p:txBody>
      </p:sp>
      <p:sp>
        <p:nvSpPr>
          <p:cNvPr id="328" name="Rounded Rectangle 327"/>
          <p:cNvSpPr/>
          <p:nvPr/>
        </p:nvSpPr>
        <p:spPr>
          <a:xfrm>
            <a:off x="5238750" y="271462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329" name="Text: HSIC">
            <a:hlinkClick r:id="rId28"/>
          </p:cNvPr>
          <p:cNvSpPr txBox="1"/>
          <p:nvPr/>
        </p:nvSpPr>
        <p:spPr>
          <a:xfrm>
            <a:off x="5238750" y="271462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HSIC</a:t>
            </a:r>
          </a:p>
        </p:txBody>
      </p:sp>
      <p:sp>
        <p:nvSpPr>
          <p:cNvPr id="330" name="Text: Henry Schein">
            <a:hlinkClick r:id="rId28"/>
          </p:cNvPr>
          <p:cNvSpPr txBox="1"/>
          <p:nvPr/>
        </p:nvSpPr>
        <p:spPr>
          <a:xfrm>
            <a:off x="5667375" y="2745581"/>
            <a:ext cx="555724"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Henry Schein</a:t>
            </a:r>
          </a:p>
        </p:txBody>
      </p:sp>
      <p:sp>
        <p:nvSpPr>
          <p:cNvPr id="331" name="Rectangle 330"/>
          <p:cNvSpPr/>
          <p:nvPr/>
        </p:nvSpPr>
        <p:spPr>
          <a:xfrm>
            <a:off x="5219700" y="2943225"/>
            <a:ext cx="1957388" cy="228600"/>
          </a:xfrm>
          <a:prstGeom prst="rect">
            <a:avLst/>
          </a:prstGeom>
          <a:solidFill>
            <a:srgbClr val="FFFFFF"/>
          </a:solidFill>
          <a:ln>
            <a:noFill/>
          </a:ln>
          <a:effectLst/>
        </p:spPr>
        <p:txBody>
          <a:bodyPr rtlCol="0" anchor="ctr"/>
          <a:lstStyle/>
          <a:p>
            <a:pPr algn="ctr"/>
            <a:endParaRPr/>
          </a:p>
        </p:txBody>
      </p:sp>
      <p:sp>
        <p:nvSpPr>
          <p:cNvPr id="332" name="Rectangle 331"/>
          <p:cNvSpPr/>
          <p:nvPr/>
        </p:nvSpPr>
        <p:spPr>
          <a:xfrm>
            <a:off x="5219700" y="2943225"/>
            <a:ext cx="1957388" cy="9525"/>
          </a:xfrm>
          <a:prstGeom prst="rect">
            <a:avLst/>
          </a:prstGeom>
          <a:solidFill>
            <a:srgbClr val="E3DCD3"/>
          </a:solidFill>
          <a:ln>
            <a:noFill/>
          </a:ln>
          <a:effectLst/>
        </p:spPr>
        <p:txBody>
          <a:bodyPr rtlCol="0" anchor="ctr"/>
          <a:lstStyle/>
          <a:p>
            <a:pPr algn="ctr"/>
            <a:endParaRPr/>
          </a:p>
        </p:txBody>
      </p:sp>
      <p:sp>
        <p:nvSpPr>
          <p:cNvPr id="333" name="Rectangle 332"/>
          <p:cNvSpPr/>
          <p:nvPr/>
        </p:nvSpPr>
        <p:spPr>
          <a:xfrm>
            <a:off x="7167562" y="2943225"/>
            <a:ext cx="9525" cy="228600"/>
          </a:xfrm>
          <a:prstGeom prst="rect">
            <a:avLst/>
          </a:prstGeom>
          <a:solidFill>
            <a:srgbClr val="E3DCD3"/>
          </a:solidFill>
          <a:ln>
            <a:noFill/>
          </a:ln>
          <a:effectLst/>
        </p:spPr>
        <p:txBody>
          <a:bodyPr rtlCol="0" anchor="ctr"/>
          <a:lstStyle/>
          <a:p>
            <a:pPr algn="ctr"/>
            <a:endParaRPr/>
          </a:p>
        </p:txBody>
      </p:sp>
      <p:sp>
        <p:nvSpPr>
          <p:cNvPr id="334" name="Rectangle 333"/>
          <p:cNvSpPr/>
          <p:nvPr/>
        </p:nvSpPr>
        <p:spPr>
          <a:xfrm>
            <a:off x="5219700" y="3162300"/>
            <a:ext cx="1957388" cy="9525"/>
          </a:xfrm>
          <a:prstGeom prst="rect">
            <a:avLst/>
          </a:prstGeom>
          <a:solidFill>
            <a:srgbClr val="E3DCD3"/>
          </a:solidFill>
          <a:ln>
            <a:noFill/>
          </a:ln>
          <a:effectLst/>
        </p:spPr>
        <p:txBody>
          <a:bodyPr rtlCol="0" anchor="ctr"/>
          <a:lstStyle/>
          <a:p>
            <a:pPr algn="ctr"/>
            <a:endParaRPr/>
          </a:p>
        </p:txBody>
      </p:sp>
      <p:sp>
        <p:nvSpPr>
          <p:cNvPr id="335" name="Rectangle 334"/>
          <p:cNvSpPr/>
          <p:nvPr/>
        </p:nvSpPr>
        <p:spPr>
          <a:xfrm>
            <a:off x="5219700" y="2943225"/>
            <a:ext cx="9525" cy="228600"/>
          </a:xfrm>
          <a:prstGeom prst="rect">
            <a:avLst/>
          </a:prstGeom>
          <a:solidFill>
            <a:srgbClr val="E3DCD3"/>
          </a:solidFill>
          <a:ln>
            <a:noFill/>
          </a:ln>
          <a:effectLst/>
        </p:spPr>
        <p:txBody>
          <a:bodyPr rtlCol="0" anchor="ctr"/>
          <a:lstStyle/>
          <a:p>
            <a:pPr algn="ctr"/>
            <a:endParaRPr/>
          </a:p>
        </p:txBody>
      </p:sp>
      <p:sp>
        <p:nvSpPr>
          <p:cNvPr id="336" name="Rounded Rectangle 335"/>
          <p:cNvSpPr/>
          <p:nvPr/>
        </p:nvSpPr>
        <p:spPr>
          <a:xfrm>
            <a:off x="5238750" y="296227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337" name="Text: XRAY">
            <a:hlinkClick r:id="rId29"/>
          </p:cNvPr>
          <p:cNvSpPr txBox="1"/>
          <p:nvPr/>
        </p:nvSpPr>
        <p:spPr>
          <a:xfrm>
            <a:off x="5238750" y="296227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XRAY</a:t>
            </a:r>
          </a:p>
        </p:txBody>
      </p:sp>
      <p:sp>
        <p:nvSpPr>
          <p:cNvPr id="338" name="Text: Dentsply Sirona">
            <a:hlinkClick r:id="rId29"/>
          </p:cNvPr>
          <p:cNvSpPr txBox="1"/>
          <p:nvPr/>
        </p:nvSpPr>
        <p:spPr>
          <a:xfrm>
            <a:off x="5667375" y="2993231"/>
            <a:ext cx="663773"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Dentsply Sirona</a:t>
            </a:r>
          </a:p>
        </p:txBody>
      </p:sp>
      <p:sp>
        <p:nvSpPr>
          <p:cNvPr id="339" name="Rectangle 338"/>
          <p:cNvSpPr/>
          <p:nvPr/>
        </p:nvSpPr>
        <p:spPr>
          <a:xfrm>
            <a:off x="5219700" y="3190875"/>
            <a:ext cx="1957388" cy="228600"/>
          </a:xfrm>
          <a:prstGeom prst="rect">
            <a:avLst/>
          </a:prstGeom>
          <a:solidFill>
            <a:srgbClr val="FFFFFF"/>
          </a:solidFill>
          <a:ln>
            <a:noFill/>
          </a:ln>
          <a:effectLst/>
        </p:spPr>
        <p:txBody>
          <a:bodyPr rtlCol="0" anchor="ctr"/>
          <a:lstStyle/>
          <a:p>
            <a:pPr algn="ctr"/>
            <a:endParaRPr/>
          </a:p>
        </p:txBody>
      </p:sp>
      <p:sp>
        <p:nvSpPr>
          <p:cNvPr id="340" name="Rectangle 339"/>
          <p:cNvSpPr/>
          <p:nvPr/>
        </p:nvSpPr>
        <p:spPr>
          <a:xfrm>
            <a:off x="5219700" y="3190875"/>
            <a:ext cx="1957388" cy="9525"/>
          </a:xfrm>
          <a:prstGeom prst="rect">
            <a:avLst/>
          </a:prstGeom>
          <a:solidFill>
            <a:srgbClr val="E3DCD3"/>
          </a:solidFill>
          <a:ln>
            <a:noFill/>
          </a:ln>
          <a:effectLst/>
        </p:spPr>
        <p:txBody>
          <a:bodyPr rtlCol="0" anchor="ctr"/>
          <a:lstStyle/>
          <a:p>
            <a:pPr algn="ctr"/>
            <a:endParaRPr/>
          </a:p>
        </p:txBody>
      </p:sp>
      <p:sp>
        <p:nvSpPr>
          <p:cNvPr id="341" name="Rectangle 340"/>
          <p:cNvSpPr/>
          <p:nvPr/>
        </p:nvSpPr>
        <p:spPr>
          <a:xfrm>
            <a:off x="7167562" y="3190875"/>
            <a:ext cx="9525" cy="228600"/>
          </a:xfrm>
          <a:prstGeom prst="rect">
            <a:avLst/>
          </a:prstGeom>
          <a:solidFill>
            <a:srgbClr val="E3DCD3"/>
          </a:solidFill>
          <a:ln>
            <a:noFill/>
          </a:ln>
          <a:effectLst/>
        </p:spPr>
        <p:txBody>
          <a:bodyPr rtlCol="0" anchor="ctr"/>
          <a:lstStyle/>
          <a:p>
            <a:pPr algn="ctr"/>
            <a:endParaRPr/>
          </a:p>
        </p:txBody>
      </p:sp>
      <p:sp>
        <p:nvSpPr>
          <p:cNvPr id="342" name="Rectangle 341"/>
          <p:cNvSpPr/>
          <p:nvPr/>
        </p:nvSpPr>
        <p:spPr>
          <a:xfrm>
            <a:off x="5219700" y="3409950"/>
            <a:ext cx="1957388" cy="9525"/>
          </a:xfrm>
          <a:prstGeom prst="rect">
            <a:avLst/>
          </a:prstGeom>
          <a:solidFill>
            <a:srgbClr val="E3DCD3"/>
          </a:solidFill>
          <a:ln>
            <a:noFill/>
          </a:ln>
          <a:effectLst/>
        </p:spPr>
        <p:txBody>
          <a:bodyPr rtlCol="0" anchor="ctr"/>
          <a:lstStyle/>
          <a:p>
            <a:pPr algn="ctr"/>
            <a:endParaRPr/>
          </a:p>
        </p:txBody>
      </p:sp>
      <p:sp>
        <p:nvSpPr>
          <p:cNvPr id="343" name="Rectangle 342"/>
          <p:cNvSpPr/>
          <p:nvPr/>
        </p:nvSpPr>
        <p:spPr>
          <a:xfrm>
            <a:off x="5219700" y="3190875"/>
            <a:ext cx="9525" cy="228600"/>
          </a:xfrm>
          <a:prstGeom prst="rect">
            <a:avLst/>
          </a:prstGeom>
          <a:solidFill>
            <a:srgbClr val="E3DCD3"/>
          </a:solidFill>
          <a:ln>
            <a:noFill/>
          </a:ln>
          <a:effectLst/>
        </p:spPr>
        <p:txBody>
          <a:bodyPr rtlCol="0" anchor="ctr"/>
          <a:lstStyle/>
          <a:p>
            <a:pPr algn="ctr"/>
            <a:endParaRPr/>
          </a:p>
        </p:txBody>
      </p:sp>
      <p:sp>
        <p:nvSpPr>
          <p:cNvPr id="344" name="Rounded Rectangle 343"/>
          <p:cNvSpPr/>
          <p:nvPr/>
        </p:nvSpPr>
        <p:spPr>
          <a:xfrm>
            <a:off x="5238750" y="320992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345" name="Text: NVST">
            <a:hlinkClick r:id="rId30"/>
          </p:cNvPr>
          <p:cNvSpPr txBox="1"/>
          <p:nvPr/>
        </p:nvSpPr>
        <p:spPr>
          <a:xfrm>
            <a:off x="5238750" y="320992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NVST</a:t>
            </a:r>
          </a:p>
        </p:txBody>
      </p:sp>
      <p:sp>
        <p:nvSpPr>
          <p:cNvPr id="346" name="Text: Envista">
            <a:hlinkClick r:id="rId30"/>
          </p:cNvPr>
          <p:cNvSpPr txBox="1"/>
          <p:nvPr/>
        </p:nvSpPr>
        <p:spPr>
          <a:xfrm>
            <a:off x="5667375" y="3240881"/>
            <a:ext cx="308372"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Envista</a:t>
            </a:r>
          </a:p>
        </p:txBody>
      </p:sp>
      <p:sp>
        <p:nvSpPr>
          <p:cNvPr id="347" name="Rectangle 346"/>
          <p:cNvSpPr/>
          <p:nvPr/>
        </p:nvSpPr>
        <p:spPr>
          <a:xfrm>
            <a:off x="5219700" y="3438525"/>
            <a:ext cx="1957388" cy="228600"/>
          </a:xfrm>
          <a:prstGeom prst="rect">
            <a:avLst/>
          </a:prstGeom>
          <a:solidFill>
            <a:srgbClr val="FFFFFF"/>
          </a:solidFill>
          <a:ln>
            <a:noFill/>
          </a:ln>
          <a:effectLst/>
        </p:spPr>
        <p:txBody>
          <a:bodyPr rtlCol="0" anchor="ctr"/>
          <a:lstStyle/>
          <a:p>
            <a:pPr algn="ctr"/>
            <a:endParaRPr/>
          </a:p>
        </p:txBody>
      </p:sp>
      <p:sp>
        <p:nvSpPr>
          <p:cNvPr id="348" name="Rectangle 347"/>
          <p:cNvSpPr/>
          <p:nvPr/>
        </p:nvSpPr>
        <p:spPr>
          <a:xfrm>
            <a:off x="5219700" y="3438525"/>
            <a:ext cx="1957388" cy="9525"/>
          </a:xfrm>
          <a:prstGeom prst="rect">
            <a:avLst/>
          </a:prstGeom>
          <a:solidFill>
            <a:srgbClr val="E3DCD3"/>
          </a:solidFill>
          <a:ln>
            <a:noFill/>
          </a:ln>
          <a:effectLst/>
        </p:spPr>
        <p:txBody>
          <a:bodyPr rtlCol="0" anchor="ctr"/>
          <a:lstStyle/>
          <a:p>
            <a:pPr algn="ctr"/>
            <a:endParaRPr/>
          </a:p>
        </p:txBody>
      </p:sp>
      <p:sp>
        <p:nvSpPr>
          <p:cNvPr id="349" name="Rectangle 348"/>
          <p:cNvSpPr/>
          <p:nvPr/>
        </p:nvSpPr>
        <p:spPr>
          <a:xfrm>
            <a:off x="7167562" y="3438525"/>
            <a:ext cx="9525" cy="228600"/>
          </a:xfrm>
          <a:prstGeom prst="rect">
            <a:avLst/>
          </a:prstGeom>
          <a:solidFill>
            <a:srgbClr val="E3DCD3"/>
          </a:solidFill>
          <a:ln>
            <a:noFill/>
          </a:ln>
          <a:effectLst/>
        </p:spPr>
        <p:txBody>
          <a:bodyPr rtlCol="0" anchor="ctr"/>
          <a:lstStyle/>
          <a:p>
            <a:pPr algn="ctr"/>
            <a:endParaRPr/>
          </a:p>
        </p:txBody>
      </p:sp>
      <p:sp>
        <p:nvSpPr>
          <p:cNvPr id="350" name="Rectangle 349"/>
          <p:cNvSpPr/>
          <p:nvPr/>
        </p:nvSpPr>
        <p:spPr>
          <a:xfrm>
            <a:off x="5219700" y="3657600"/>
            <a:ext cx="1957388" cy="9525"/>
          </a:xfrm>
          <a:prstGeom prst="rect">
            <a:avLst/>
          </a:prstGeom>
          <a:solidFill>
            <a:srgbClr val="E3DCD3"/>
          </a:solidFill>
          <a:ln>
            <a:noFill/>
          </a:ln>
          <a:effectLst/>
        </p:spPr>
        <p:txBody>
          <a:bodyPr rtlCol="0" anchor="ctr"/>
          <a:lstStyle/>
          <a:p>
            <a:pPr algn="ctr"/>
            <a:endParaRPr/>
          </a:p>
        </p:txBody>
      </p:sp>
      <p:sp>
        <p:nvSpPr>
          <p:cNvPr id="351" name="Rectangle 350"/>
          <p:cNvSpPr/>
          <p:nvPr/>
        </p:nvSpPr>
        <p:spPr>
          <a:xfrm>
            <a:off x="5219700" y="3438525"/>
            <a:ext cx="9525" cy="228600"/>
          </a:xfrm>
          <a:prstGeom prst="rect">
            <a:avLst/>
          </a:prstGeom>
          <a:solidFill>
            <a:srgbClr val="E3DCD3"/>
          </a:solidFill>
          <a:ln>
            <a:noFill/>
          </a:ln>
          <a:effectLst/>
        </p:spPr>
        <p:txBody>
          <a:bodyPr rtlCol="0" anchor="ctr"/>
          <a:lstStyle/>
          <a:p>
            <a:pPr algn="ctr"/>
            <a:endParaRPr/>
          </a:p>
        </p:txBody>
      </p:sp>
      <p:sp>
        <p:nvSpPr>
          <p:cNvPr id="352" name="Rounded Rectangle 351"/>
          <p:cNvSpPr/>
          <p:nvPr/>
        </p:nvSpPr>
        <p:spPr>
          <a:xfrm>
            <a:off x="5238750" y="345757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353" name="Text: ZBH">
            <a:hlinkClick r:id="rId31"/>
          </p:cNvPr>
          <p:cNvSpPr txBox="1"/>
          <p:nvPr/>
        </p:nvSpPr>
        <p:spPr>
          <a:xfrm>
            <a:off x="5238750" y="345757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ZBH</a:t>
            </a:r>
          </a:p>
        </p:txBody>
      </p:sp>
      <p:sp>
        <p:nvSpPr>
          <p:cNvPr id="354" name="Text: Zimmer Biomet">
            <a:hlinkClick r:id="rId31"/>
          </p:cNvPr>
          <p:cNvSpPr txBox="1"/>
          <p:nvPr/>
        </p:nvSpPr>
        <p:spPr>
          <a:xfrm>
            <a:off x="5667375" y="3488531"/>
            <a:ext cx="652165"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Zimmer Biomet</a:t>
            </a:r>
          </a:p>
        </p:txBody>
      </p:sp>
      <p:sp>
        <p:nvSpPr>
          <p:cNvPr id="355" name="Rectangle 354"/>
          <p:cNvSpPr/>
          <p:nvPr/>
        </p:nvSpPr>
        <p:spPr>
          <a:xfrm>
            <a:off x="5219700" y="3686175"/>
            <a:ext cx="1957388" cy="228600"/>
          </a:xfrm>
          <a:prstGeom prst="rect">
            <a:avLst/>
          </a:prstGeom>
          <a:solidFill>
            <a:srgbClr val="FFFFFF"/>
          </a:solidFill>
          <a:ln>
            <a:noFill/>
          </a:ln>
          <a:effectLst/>
        </p:spPr>
        <p:txBody>
          <a:bodyPr rtlCol="0" anchor="ctr"/>
          <a:lstStyle/>
          <a:p>
            <a:pPr algn="ctr"/>
            <a:endParaRPr/>
          </a:p>
        </p:txBody>
      </p:sp>
      <p:sp>
        <p:nvSpPr>
          <p:cNvPr id="356" name="Rectangle 355"/>
          <p:cNvSpPr/>
          <p:nvPr/>
        </p:nvSpPr>
        <p:spPr>
          <a:xfrm>
            <a:off x="5219700" y="3686175"/>
            <a:ext cx="1957388" cy="9525"/>
          </a:xfrm>
          <a:prstGeom prst="rect">
            <a:avLst/>
          </a:prstGeom>
          <a:solidFill>
            <a:srgbClr val="E3DCD3"/>
          </a:solidFill>
          <a:ln>
            <a:noFill/>
          </a:ln>
          <a:effectLst/>
        </p:spPr>
        <p:txBody>
          <a:bodyPr rtlCol="0" anchor="ctr"/>
          <a:lstStyle/>
          <a:p>
            <a:pPr algn="ctr"/>
            <a:endParaRPr/>
          </a:p>
        </p:txBody>
      </p:sp>
      <p:sp>
        <p:nvSpPr>
          <p:cNvPr id="357" name="Rectangle 356"/>
          <p:cNvSpPr/>
          <p:nvPr/>
        </p:nvSpPr>
        <p:spPr>
          <a:xfrm>
            <a:off x="7167562" y="3686175"/>
            <a:ext cx="9525" cy="228600"/>
          </a:xfrm>
          <a:prstGeom prst="rect">
            <a:avLst/>
          </a:prstGeom>
          <a:solidFill>
            <a:srgbClr val="E3DCD3"/>
          </a:solidFill>
          <a:ln>
            <a:noFill/>
          </a:ln>
          <a:effectLst/>
        </p:spPr>
        <p:txBody>
          <a:bodyPr rtlCol="0" anchor="ctr"/>
          <a:lstStyle/>
          <a:p>
            <a:pPr algn="ctr"/>
            <a:endParaRPr/>
          </a:p>
        </p:txBody>
      </p:sp>
      <p:sp>
        <p:nvSpPr>
          <p:cNvPr id="358" name="Rectangle 357"/>
          <p:cNvSpPr/>
          <p:nvPr/>
        </p:nvSpPr>
        <p:spPr>
          <a:xfrm>
            <a:off x="5219700" y="3905250"/>
            <a:ext cx="1957388" cy="9525"/>
          </a:xfrm>
          <a:prstGeom prst="rect">
            <a:avLst/>
          </a:prstGeom>
          <a:solidFill>
            <a:srgbClr val="E3DCD3"/>
          </a:solidFill>
          <a:ln>
            <a:noFill/>
          </a:ln>
          <a:effectLst/>
        </p:spPr>
        <p:txBody>
          <a:bodyPr rtlCol="0" anchor="ctr"/>
          <a:lstStyle/>
          <a:p>
            <a:pPr algn="ctr"/>
            <a:endParaRPr/>
          </a:p>
        </p:txBody>
      </p:sp>
      <p:sp>
        <p:nvSpPr>
          <p:cNvPr id="359" name="Rectangle 358"/>
          <p:cNvSpPr/>
          <p:nvPr/>
        </p:nvSpPr>
        <p:spPr>
          <a:xfrm>
            <a:off x="5219700" y="3686175"/>
            <a:ext cx="9525" cy="228600"/>
          </a:xfrm>
          <a:prstGeom prst="rect">
            <a:avLst/>
          </a:prstGeom>
          <a:solidFill>
            <a:srgbClr val="E3DCD3"/>
          </a:solidFill>
          <a:ln>
            <a:noFill/>
          </a:ln>
          <a:effectLst/>
        </p:spPr>
        <p:txBody>
          <a:bodyPr rtlCol="0" anchor="ctr"/>
          <a:lstStyle/>
          <a:p>
            <a:pPr algn="ctr"/>
            <a:endParaRPr/>
          </a:p>
        </p:txBody>
      </p:sp>
      <p:sp>
        <p:nvSpPr>
          <p:cNvPr id="360" name="Rounded Rectangle 359"/>
          <p:cNvSpPr/>
          <p:nvPr/>
        </p:nvSpPr>
        <p:spPr>
          <a:xfrm>
            <a:off x="5238750" y="370522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361" name="Text: ITGR">
            <a:hlinkClick r:id="rId32"/>
          </p:cNvPr>
          <p:cNvSpPr txBox="1"/>
          <p:nvPr/>
        </p:nvSpPr>
        <p:spPr>
          <a:xfrm>
            <a:off x="5238750" y="370522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ITGR</a:t>
            </a:r>
          </a:p>
        </p:txBody>
      </p:sp>
      <p:sp>
        <p:nvSpPr>
          <p:cNvPr id="362" name="Text: Integer Holdings">
            <a:hlinkClick r:id="rId32"/>
          </p:cNvPr>
          <p:cNvSpPr txBox="1"/>
          <p:nvPr/>
        </p:nvSpPr>
        <p:spPr>
          <a:xfrm>
            <a:off x="5667375" y="3736181"/>
            <a:ext cx="691158"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Integer Holdings</a:t>
            </a:r>
          </a:p>
        </p:txBody>
      </p:sp>
      <p:sp>
        <p:nvSpPr>
          <p:cNvPr id="363" name="Rectangle 362"/>
          <p:cNvSpPr/>
          <p:nvPr/>
        </p:nvSpPr>
        <p:spPr>
          <a:xfrm>
            <a:off x="5219700" y="3933825"/>
            <a:ext cx="1957388" cy="228600"/>
          </a:xfrm>
          <a:prstGeom prst="rect">
            <a:avLst/>
          </a:prstGeom>
          <a:solidFill>
            <a:srgbClr val="FFFFFF"/>
          </a:solidFill>
          <a:ln>
            <a:noFill/>
          </a:ln>
          <a:effectLst/>
        </p:spPr>
        <p:txBody>
          <a:bodyPr rtlCol="0" anchor="ctr"/>
          <a:lstStyle/>
          <a:p>
            <a:pPr algn="ctr"/>
            <a:endParaRPr/>
          </a:p>
        </p:txBody>
      </p:sp>
      <p:sp>
        <p:nvSpPr>
          <p:cNvPr id="364" name="Rectangle 363"/>
          <p:cNvSpPr/>
          <p:nvPr/>
        </p:nvSpPr>
        <p:spPr>
          <a:xfrm>
            <a:off x="5219700" y="3933825"/>
            <a:ext cx="1957388" cy="9525"/>
          </a:xfrm>
          <a:prstGeom prst="rect">
            <a:avLst/>
          </a:prstGeom>
          <a:solidFill>
            <a:srgbClr val="E3DCD3"/>
          </a:solidFill>
          <a:ln>
            <a:noFill/>
          </a:ln>
          <a:effectLst/>
        </p:spPr>
        <p:txBody>
          <a:bodyPr rtlCol="0" anchor="ctr"/>
          <a:lstStyle/>
          <a:p>
            <a:pPr algn="ctr"/>
            <a:endParaRPr/>
          </a:p>
        </p:txBody>
      </p:sp>
      <p:sp>
        <p:nvSpPr>
          <p:cNvPr id="365" name="Rectangle 364"/>
          <p:cNvSpPr/>
          <p:nvPr/>
        </p:nvSpPr>
        <p:spPr>
          <a:xfrm>
            <a:off x="7167562" y="3933825"/>
            <a:ext cx="9525" cy="228600"/>
          </a:xfrm>
          <a:prstGeom prst="rect">
            <a:avLst/>
          </a:prstGeom>
          <a:solidFill>
            <a:srgbClr val="E3DCD3"/>
          </a:solidFill>
          <a:ln>
            <a:noFill/>
          </a:ln>
          <a:effectLst/>
        </p:spPr>
        <p:txBody>
          <a:bodyPr rtlCol="0" anchor="ctr"/>
          <a:lstStyle/>
          <a:p>
            <a:pPr algn="ctr"/>
            <a:endParaRPr/>
          </a:p>
        </p:txBody>
      </p:sp>
      <p:sp>
        <p:nvSpPr>
          <p:cNvPr id="366" name="Rectangle 365"/>
          <p:cNvSpPr/>
          <p:nvPr/>
        </p:nvSpPr>
        <p:spPr>
          <a:xfrm>
            <a:off x="5219700" y="4152900"/>
            <a:ext cx="1957388" cy="9525"/>
          </a:xfrm>
          <a:prstGeom prst="rect">
            <a:avLst/>
          </a:prstGeom>
          <a:solidFill>
            <a:srgbClr val="E3DCD3"/>
          </a:solidFill>
          <a:ln>
            <a:noFill/>
          </a:ln>
          <a:effectLst/>
        </p:spPr>
        <p:txBody>
          <a:bodyPr rtlCol="0" anchor="ctr"/>
          <a:lstStyle/>
          <a:p>
            <a:pPr algn="ctr"/>
            <a:endParaRPr/>
          </a:p>
        </p:txBody>
      </p:sp>
      <p:sp>
        <p:nvSpPr>
          <p:cNvPr id="367" name="Rectangle 366"/>
          <p:cNvSpPr/>
          <p:nvPr/>
        </p:nvSpPr>
        <p:spPr>
          <a:xfrm>
            <a:off x="5219700" y="3933825"/>
            <a:ext cx="9525" cy="228600"/>
          </a:xfrm>
          <a:prstGeom prst="rect">
            <a:avLst/>
          </a:prstGeom>
          <a:solidFill>
            <a:srgbClr val="E3DCD3"/>
          </a:solidFill>
          <a:ln>
            <a:noFill/>
          </a:ln>
          <a:effectLst/>
        </p:spPr>
        <p:txBody>
          <a:bodyPr rtlCol="0" anchor="ctr"/>
          <a:lstStyle/>
          <a:p>
            <a:pPr algn="ctr"/>
            <a:endParaRPr/>
          </a:p>
        </p:txBody>
      </p:sp>
      <p:sp>
        <p:nvSpPr>
          <p:cNvPr id="368" name="Rounded Rectangle 367"/>
          <p:cNvSpPr/>
          <p:nvPr/>
        </p:nvSpPr>
        <p:spPr>
          <a:xfrm>
            <a:off x="5238750" y="395287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369" name="Text: SOLV">
            <a:hlinkClick r:id="rId33"/>
          </p:cNvPr>
          <p:cNvSpPr txBox="1"/>
          <p:nvPr/>
        </p:nvSpPr>
        <p:spPr>
          <a:xfrm>
            <a:off x="5238750" y="395287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SOLV</a:t>
            </a:r>
          </a:p>
        </p:txBody>
      </p:sp>
      <p:sp>
        <p:nvSpPr>
          <p:cNvPr id="370" name="Text: Solventum">
            <a:hlinkClick r:id="rId33"/>
          </p:cNvPr>
          <p:cNvSpPr txBox="1"/>
          <p:nvPr/>
        </p:nvSpPr>
        <p:spPr>
          <a:xfrm>
            <a:off x="5667375" y="3983831"/>
            <a:ext cx="455116"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Solventum</a:t>
            </a:r>
          </a:p>
        </p:txBody>
      </p:sp>
      <p:sp>
        <p:nvSpPr>
          <p:cNvPr id="371" name="Rectangle 370"/>
          <p:cNvSpPr/>
          <p:nvPr/>
        </p:nvSpPr>
        <p:spPr>
          <a:xfrm>
            <a:off x="5219700" y="4181475"/>
            <a:ext cx="1957388" cy="228600"/>
          </a:xfrm>
          <a:prstGeom prst="rect">
            <a:avLst/>
          </a:prstGeom>
          <a:solidFill>
            <a:srgbClr val="FFFFFF"/>
          </a:solidFill>
          <a:ln>
            <a:noFill/>
          </a:ln>
          <a:effectLst/>
        </p:spPr>
        <p:txBody>
          <a:bodyPr rtlCol="0" anchor="ctr"/>
          <a:lstStyle/>
          <a:p>
            <a:pPr algn="ctr"/>
            <a:endParaRPr/>
          </a:p>
        </p:txBody>
      </p:sp>
      <p:sp>
        <p:nvSpPr>
          <p:cNvPr id="372" name="Rectangle 371"/>
          <p:cNvSpPr/>
          <p:nvPr/>
        </p:nvSpPr>
        <p:spPr>
          <a:xfrm>
            <a:off x="5219700" y="4181475"/>
            <a:ext cx="1957388" cy="9525"/>
          </a:xfrm>
          <a:prstGeom prst="rect">
            <a:avLst/>
          </a:prstGeom>
          <a:solidFill>
            <a:srgbClr val="E3DCD3"/>
          </a:solidFill>
          <a:ln>
            <a:noFill/>
          </a:ln>
          <a:effectLst/>
        </p:spPr>
        <p:txBody>
          <a:bodyPr rtlCol="0" anchor="ctr"/>
          <a:lstStyle/>
          <a:p>
            <a:pPr algn="ctr"/>
            <a:endParaRPr/>
          </a:p>
        </p:txBody>
      </p:sp>
      <p:sp>
        <p:nvSpPr>
          <p:cNvPr id="373" name="Rectangle 372"/>
          <p:cNvSpPr/>
          <p:nvPr/>
        </p:nvSpPr>
        <p:spPr>
          <a:xfrm>
            <a:off x="7167562" y="4181475"/>
            <a:ext cx="9525" cy="228600"/>
          </a:xfrm>
          <a:prstGeom prst="rect">
            <a:avLst/>
          </a:prstGeom>
          <a:solidFill>
            <a:srgbClr val="E3DCD3"/>
          </a:solidFill>
          <a:ln>
            <a:noFill/>
          </a:ln>
          <a:effectLst/>
        </p:spPr>
        <p:txBody>
          <a:bodyPr rtlCol="0" anchor="ctr"/>
          <a:lstStyle/>
          <a:p>
            <a:pPr algn="ctr"/>
            <a:endParaRPr/>
          </a:p>
        </p:txBody>
      </p:sp>
      <p:sp>
        <p:nvSpPr>
          <p:cNvPr id="374" name="Rectangle 373"/>
          <p:cNvSpPr/>
          <p:nvPr/>
        </p:nvSpPr>
        <p:spPr>
          <a:xfrm>
            <a:off x="5219700" y="4400550"/>
            <a:ext cx="1957388" cy="9525"/>
          </a:xfrm>
          <a:prstGeom prst="rect">
            <a:avLst/>
          </a:prstGeom>
          <a:solidFill>
            <a:srgbClr val="E3DCD3"/>
          </a:solidFill>
          <a:ln>
            <a:noFill/>
          </a:ln>
          <a:effectLst/>
        </p:spPr>
        <p:txBody>
          <a:bodyPr rtlCol="0" anchor="ctr"/>
          <a:lstStyle/>
          <a:p>
            <a:pPr algn="ctr"/>
            <a:endParaRPr/>
          </a:p>
        </p:txBody>
      </p:sp>
      <p:sp>
        <p:nvSpPr>
          <p:cNvPr id="375" name="Rectangle 374"/>
          <p:cNvSpPr/>
          <p:nvPr/>
        </p:nvSpPr>
        <p:spPr>
          <a:xfrm>
            <a:off x="5219700" y="4181475"/>
            <a:ext cx="9525" cy="228600"/>
          </a:xfrm>
          <a:prstGeom prst="rect">
            <a:avLst/>
          </a:prstGeom>
          <a:solidFill>
            <a:srgbClr val="E3DCD3"/>
          </a:solidFill>
          <a:ln>
            <a:noFill/>
          </a:ln>
          <a:effectLst/>
        </p:spPr>
        <p:txBody>
          <a:bodyPr rtlCol="0" anchor="ctr"/>
          <a:lstStyle/>
          <a:p>
            <a:pPr algn="ctr"/>
            <a:endParaRPr/>
          </a:p>
        </p:txBody>
      </p:sp>
      <p:sp>
        <p:nvSpPr>
          <p:cNvPr id="376" name="Rounded Rectangle 375"/>
          <p:cNvSpPr/>
          <p:nvPr/>
        </p:nvSpPr>
        <p:spPr>
          <a:xfrm>
            <a:off x="5238750" y="420052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377" name="Text: VMD">
            <a:hlinkClick r:id="rId34"/>
          </p:cNvPr>
          <p:cNvSpPr txBox="1"/>
          <p:nvPr/>
        </p:nvSpPr>
        <p:spPr>
          <a:xfrm>
            <a:off x="5238750" y="420052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VMD</a:t>
            </a:r>
          </a:p>
        </p:txBody>
      </p:sp>
      <p:sp>
        <p:nvSpPr>
          <p:cNvPr id="378" name="Text: Viemed Healthcare">
            <a:hlinkClick r:id="rId34"/>
          </p:cNvPr>
          <p:cNvSpPr txBox="1"/>
          <p:nvPr/>
        </p:nvSpPr>
        <p:spPr>
          <a:xfrm>
            <a:off x="5667375" y="4231481"/>
            <a:ext cx="802184"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Viemed Healthcare</a:t>
            </a:r>
          </a:p>
        </p:txBody>
      </p:sp>
      <p:sp>
        <p:nvSpPr>
          <p:cNvPr id="379" name="Text: SPONSORS AND PRODUCT STRATEGICS"/>
          <p:cNvSpPr txBox="1"/>
          <p:nvPr/>
        </p:nvSpPr>
        <p:spPr>
          <a:xfrm>
            <a:off x="5219700" y="5572125"/>
            <a:ext cx="1971675" cy="123825"/>
          </a:xfrm>
          <a:prstGeom prst="rect">
            <a:avLst/>
          </a:prstGeom>
          <a:noFill/>
        </p:spPr>
        <p:txBody>
          <a:bodyPr wrap="square" lIns="0" tIns="0" rIns="0" bIns="0" anchor="t">
            <a:spAutoFit/>
          </a:bodyPr>
          <a:lstStyle/>
          <a:p>
            <a:pPr algn="l">
              <a:lnSpc>
                <a:spcPts val="975"/>
              </a:lnSpc>
            </a:pPr>
            <a:r>
              <a:rPr sz="638" b="1" i="0" spc="150">
                <a:solidFill>
                  <a:srgbClr val="8C6239"/>
                </a:solidFill>
                <a:latin typeface="Calibri"/>
              </a:rPr>
              <a:t>SPONSORS AND PRODUCT STRATEGICS</a:t>
            </a:r>
          </a:p>
        </p:txBody>
      </p:sp>
      <p:sp>
        <p:nvSpPr>
          <p:cNvPr id="380" name="Rectangle 379"/>
          <p:cNvSpPr/>
          <p:nvPr/>
        </p:nvSpPr>
        <p:spPr>
          <a:xfrm>
            <a:off x="5219700" y="5753100"/>
            <a:ext cx="289024" cy="180975"/>
          </a:xfrm>
          <a:prstGeom prst="rect">
            <a:avLst/>
          </a:prstGeom>
          <a:solidFill>
            <a:srgbClr val="FFFFFF"/>
          </a:solidFill>
          <a:ln>
            <a:noFill/>
          </a:ln>
          <a:effectLst/>
        </p:spPr>
        <p:txBody>
          <a:bodyPr rtlCol="0" anchor="ctr"/>
          <a:lstStyle/>
          <a:p>
            <a:pPr algn="ctr"/>
            <a:endParaRPr/>
          </a:p>
        </p:txBody>
      </p:sp>
      <p:sp>
        <p:nvSpPr>
          <p:cNvPr id="381" name="Rectangle 380"/>
          <p:cNvSpPr/>
          <p:nvPr/>
        </p:nvSpPr>
        <p:spPr>
          <a:xfrm>
            <a:off x="5219700" y="5753100"/>
            <a:ext cx="289024" cy="9525"/>
          </a:xfrm>
          <a:prstGeom prst="rect">
            <a:avLst/>
          </a:prstGeom>
          <a:solidFill>
            <a:srgbClr val="E3DCD3"/>
          </a:solidFill>
          <a:ln>
            <a:noFill/>
          </a:ln>
          <a:effectLst/>
        </p:spPr>
        <p:txBody>
          <a:bodyPr rtlCol="0" anchor="ctr"/>
          <a:lstStyle/>
          <a:p>
            <a:pPr algn="ctr"/>
            <a:endParaRPr/>
          </a:p>
        </p:txBody>
      </p:sp>
      <p:sp>
        <p:nvSpPr>
          <p:cNvPr id="382" name="Rectangle 381"/>
          <p:cNvSpPr/>
          <p:nvPr/>
        </p:nvSpPr>
        <p:spPr>
          <a:xfrm>
            <a:off x="5499199" y="5753100"/>
            <a:ext cx="9525" cy="180975"/>
          </a:xfrm>
          <a:prstGeom prst="rect">
            <a:avLst/>
          </a:prstGeom>
          <a:solidFill>
            <a:srgbClr val="E3DCD3"/>
          </a:solidFill>
          <a:ln>
            <a:noFill/>
          </a:ln>
          <a:effectLst/>
        </p:spPr>
        <p:txBody>
          <a:bodyPr rtlCol="0" anchor="ctr"/>
          <a:lstStyle/>
          <a:p>
            <a:pPr algn="ctr"/>
            <a:endParaRPr/>
          </a:p>
        </p:txBody>
      </p:sp>
      <p:sp>
        <p:nvSpPr>
          <p:cNvPr id="383" name="Rectangle 382"/>
          <p:cNvSpPr/>
          <p:nvPr/>
        </p:nvSpPr>
        <p:spPr>
          <a:xfrm>
            <a:off x="5219700" y="5924550"/>
            <a:ext cx="289024" cy="9525"/>
          </a:xfrm>
          <a:prstGeom prst="rect">
            <a:avLst/>
          </a:prstGeom>
          <a:solidFill>
            <a:srgbClr val="E3DCD3"/>
          </a:solidFill>
          <a:ln>
            <a:noFill/>
          </a:ln>
          <a:effectLst/>
        </p:spPr>
        <p:txBody>
          <a:bodyPr rtlCol="0" anchor="ctr"/>
          <a:lstStyle/>
          <a:p>
            <a:pPr algn="ctr"/>
            <a:endParaRPr/>
          </a:p>
        </p:txBody>
      </p:sp>
      <p:sp>
        <p:nvSpPr>
          <p:cNvPr id="384" name="Rectangle 383"/>
          <p:cNvSpPr/>
          <p:nvPr/>
        </p:nvSpPr>
        <p:spPr>
          <a:xfrm>
            <a:off x="5219700" y="5753100"/>
            <a:ext cx="9525" cy="180975"/>
          </a:xfrm>
          <a:prstGeom prst="rect">
            <a:avLst/>
          </a:prstGeom>
          <a:solidFill>
            <a:srgbClr val="E3DCD3"/>
          </a:solidFill>
          <a:ln>
            <a:noFill/>
          </a:ln>
          <a:effectLst/>
        </p:spPr>
        <p:txBody>
          <a:bodyPr rtlCol="0" anchor="ctr"/>
          <a:lstStyle/>
          <a:p>
            <a:pPr algn="ctr"/>
            <a:endParaRPr/>
          </a:p>
        </p:txBody>
      </p:sp>
      <p:sp>
        <p:nvSpPr>
          <p:cNvPr id="385" name="Text: KKR"/>
          <p:cNvSpPr txBox="1"/>
          <p:nvPr/>
        </p:nvSpPr>
        <p:spPr>
          <a:xfrm>
            <a:off x="5286375" y="5781675"/>
            <a:ext cx="169962"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KKR</a:t>
            </a:r>
          </a:p>
        </p:txBody>
      </p:sp>
      <p:sp>
        <p:nvSpPr>
          <p:cNvPr id="386" name="Rectangle 385"/>
          <p:cNvSpPr/>
          <p:nvPr/>
        </p:nvSpPr>
        <p:spPr>
          <a:xfrm>
            <a:off x="5546824" y="5753100"/>
            <a:ext cx="802035" cy="180975"/>
          </a:xfrm>
          <a:prstGeom prst="rect">
            <a:avLst/>
          </a:prstGeom>
          <a:solidFill>
            <a:srgbClr val="FFFFFF"/>
          </a:solidFill>
          <a:ln>
            <a:noFill/>
          </a:ln>
          <a:effectLst/>
        </p:spPr>
        <p:txBody>
          <a:bodyPr rtlCol="0" anchor="ctr"/>
          <a:lstStyle/>
          <a:p>
            <a:pPr algn="ctr"/>
            <a:endParaRPr/>
          </a:p>
        </p:txBody>
      </p:sp>
      <p:sp>
        <p:nvSpPr>
          <p:cNvPr id="387" name="Rectangle 386"/>
          <p:cNvSpPr/>
          <p:nvPr/>
        </p:nvSpPr>
        <p:spPr>
          <a:xfrm>
            <a:off x="5546824" y="5753100"/>
            <a:ext cx="802035" cy="9525"/>
          </a:xfrm>
          <a:prstGeom prst="rect">
            <a:avLst/>
          </a:prstGeom>
          <a:solidFill>
            <a:srgbClr val="E3DCD3"/>
          </a:solidFill>
          <a:ln>
            <a:noFill/>
          </a:ln>
          <a:effectLst/>
        </p:spPr>
        <p:txBody>
          <a:bodyPr rtlCol="0" anchor="ctr"/>
          <a:lstStyle/>
          <a:p>
            <a:pPr algn="ctr"/>
            <a:endParaRPr/>
          </a:p>
        </p:txBody>
      </p:sp>
      <p:sp>
        <p:nvSpPr>
          <p:cNvPr id="388" name="Rectangle 387"/>
          <p:cNvSpPr/>
          <p:nvPr/>
        </p:nvSpPr>
        <p:spPr>
          <a:xfrm>
            <a:off x="6339334" y="5753100"/>
            <a:ext cx="9525" cy="180975"/>
          </a:xfrm>
          <a:prstGeom prst="rect">
            <a:avLst/>
          </a:prstGeom>
          <a:solidFill>
            <a:srgbClr val="E3DCD3"/>
          </a:solidFill>
          <a:ln>
            <a:noFill/>
          </a:ln>
          <a:effectLst/>
        </p:spPr>
        <p:txBody>
          <a:bodyPr rtlCol="0" anchor="ctr"/>
          <a:lstStyle/>
          <a:p>
            <a:pPr algn="ctr"/>
            <a:endParaRPr/>
          </a:p>
        </p:txBody>
      </p:sp>
      <p:sp>
        <p:nvSpPr>
          <p:cNvPr id="389" name="Rectangle 388"/>
          <p:cNvSpPr/>
          <p:nvPr/>
        </p:nvSpPr>
        <p:spPr>
          <a:xfrm>
            <a:off x="5546824" y="5924550"/>
            <a:ext cx="802035" cy="9525"/>
          </a:xfrm>
          <a:prstGeom prst="rect">
            <a:avLst/>
          </a:prstGeom>
          <a:solidFill>
            <a:srgbClr val="E3DCD3"/>
          </a:solidFill>
          <a:ln>
            <a:noFill/>
          </a:ln>
          <a:effectLst/>
        </p:spPr>
        <p:txBody>
          <a:bodyPr rtlCol="0" anchor="ctr"/>
          <a:lstStyle/>
          <a:p>
            <a:pPr algn="ctr"/>
            <a:endParaRPr/>
          </a:p>
        </p:txBody>
      </p:sp>
      <p:sp>
        <p:nvSpPr>
          <p:cNvPr id="390" name="Rectangle 389"/>
          <p:cNvSpPr/>
          <p:nvPr/>
        </p:nvSpPr>
        <p:spPr>
          <a:xfrm>
            <a:off x="5546824" y="5753100"/>
            <a:ext cx="9525" cy="180975"/>
          </a:xfrm>
          <a:prstGeom prst="rect">
            <a:avLst/>
          </a:prstGeom>
          <a:solidFill>
            <a:srgbClr val="E3DCD3"/>
          </a:solidFill>
          <a:ln>
            <a:noFill/>
          </a:ln>
          <a:effectLst/>
        </p:spPr>
        <p:txBody>
          <a:bodyPr rtlCol="0" anchor="ctr"/>
          <a:lstStyle/>
          <a:p>
            <a:pPr algn="ctr"/>
            <a:endParaRPr/>
          </a:p>
        </p:txBody>
      </p:sp>
      <p:sp>
        <p:nvSpPr>
          <p:cNvPr id="391" name="Text: Mitsui Chemicals"/>
          <p:cNvSpPr txBox="1"/>
          <p:nvPr/>
        </p:nvSpPr>
        <p:spPr>
          <a:xfrm>
            <a:off x="5613499" y="5781675"/>
            <a:ext cx="682972"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Mitsui Chemicals</a:t>
            </a:r>
          </a:p>
        </p:txBody>
      </p:sp>
      <p:sp>
        <p:nvSpPr>
          <p:cNvPr id="392" name="Rectangle 391"/>
          <p:cNvSpPr/>
          <p:nvPr/>
        </p:nvSpPr>
        <p:spPr>
          <a:xfrm>
            <a:off x="6386959" y="5753100"/>
            <a:ext cx="705892" cy="180975"/>
          </a:xfrm>
          <a:prstGeom prst="rect">
            <a:avLst/>
          </a:prstGeom>
          <a:solidFill>
            <a:srgbClr val="FFFFFF"/>
          </a:solidFill>
          <a:ln>
            <a:noFill/>
          </a:ln>
          <a:effectLst/>
        </p:spPr>
        <p:txBody>
          <a:bodyPr rtlCol="0" anchor="ctr"/>
          <a:lstStyle/>
          <a:p>
            <a:pPr algn="ctr"/>
            <a:endParaRPr/>
          </a:p>
        </p:txBody>
      </p:sp>
      <p:sp>
        <p:nvSpPr>
          <p:cNvPr id="393" name="Rectangle 392"/>
          <p:cNvSpPr/>
          <p:nvPr/>
        </p:nvSpPr>
        <p:spPr>
          <a:xfrm>
            <a:off x="6386959" y="5753100"/>
            <a:ext cx="705892" cy="9525"/>
          </a:xfrm>
          <a:prstGeom prst="rect">
            <a:avLst/>
          </a:prstGeom>
          <a:solidFill>
            <a:srgbClr val="E3DCD3"/>
          </a:solidFill>
          <a:ln>
            <a:noFill/>
          </a:ln>
          <a:effectLst/>
        </p:spPr>
        <p:txBody>
          <a:bodyPr rtlCol="0" anchor="ctr"/>
          <a:lstStyle/>
          <a:p>
            <a:pPr algn="ctr"/>
            <a:endParaRPr/>
          </a:p>
        </p:txBody>
      </p:sp>
      <p:sp>
        <p:nvSpPr>
          <p:cNvPr id="394" name="Rectangle 393"/>
          <p:cNvSpPr/>
          <p:nvPr/>
        </p:nvSpPr>
        <p:spPr>
          <a:xfrm>
            <a:off x="7083326" y="5753100"/>
            <a:ext cx="9525" cy="180975"/>
          </a:xfrm>
          <a:prstGeom prst="rect">
            <a:avLst/>
          </a:prstGeom>
          <a:solidFill>
            <a:srgbClr val="E3DCD3"/>
          </a:solidFill>
          <a:ln>
            <a:noFill/>
          </a:ln>
          <a:effectLst/>
        </p:spPr>
        <p:txBody>
          <a:bodyPr rtlCol="0" anchor="ctr"/>
          <a:lstStyle/>
          <a:p>
            <a:pPr algn="ctr"/>
            <a:endParaRPr/>
          </a:p>
        </p:txBody>
      </p:sp>
      <p:sp>
        <p:nvSpPr>
          <p:cNvPr id="395" name="Rectangle 394"/>
          <p:cNvSpPr/>
          <p:nvPr/>
        </p:nvSpPr>
        <p:spPr>
          <a:xfrm>
            <a:off x="6386959" y="5924550"/>
            <a:ext cx="705892" cy="9525"/>
          </a:xfrm>
          <a:prstGeom prst="rect">
            <a:avLst/>
          </a:prstGeom>
          <a:solidFill>
            <a:srgbClr val="E3DCD3"/>
          </a:solidFill>
          <a:ln>
            <a:noFill/>
          </a:ln>
          <a:effectLst/>
        </p:spPr>
        <p:txBody>
          <a:bodyPr rtlCol="0" anchor="ctr"/>
          <a:lstStyle/>
          <a:p>
            <a:pPr algn="ctr"/>
            <a:endParaRPr/>
          </a:p>
        </p:txBody>
      </p:sp>
      <p:sp>
        <p:nvSpPr>
          <p:cNvPr id="396" name="Rectangle 395"/>
          <p:cNvSpPr/>
          <p:nvPr/>
        </p:nvSpPr>
        <p:spPr>
          <a:xfrm>
            <a:off x="6386959" y="5753100"/>
            <a:ext cx="9525" cy="180975"/>
          </a:xfrm>
          <a:prstGeom prst="rect">
            <a:avLst/>
          </a:prstGeom>
          <a:solidFill>
            <a:srgbClr val="E3DCD3"/>
          </a:solidFill>
          <a:ln>
            <a:noFill/>
          </a:ln>
          <a:effectLst/>
        </p:spPr>
        <p:txBody>
          <a:bodyPr rtlCol="0" anchor="ctr"/>
          <a:lstStyle/>
          <a:p>
            <a:pPr algn="ctr"/>
            <a:endParaRPr/>
          </a:p>
        </p:txBody>
      </p:sp>
      <p:sp>
        <p:nvSpPr>
          <p:cNvPr id="397" name="Text: Aspen Surgical"/>
          <p:cNvSpPr txBox="1"/>
          <p:nvPr/>
        </p:nvSpPr>
        <p:spPr>
          <a:xfrm>
            <a:off x="6453634" y="5781675"/>
            <a:ext cx="586829"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Aspen Surgical</a:t>
            </a:r>
          </a:p>
        </p:txBody>
      </p:sp>
      <p:sp>
        <p:nvSpPr>
          <p:cNvPr id="398" name="Rectangle 397"/>
          <p:cNvSpPr/>
          <p:nvPr/>
        </p:nvSpPr>
        <p:spPr>
          <a:xfrm>
            <a:off x="5219700" y="5972175"/>
            <a:ext cx="757386" cy="180975"/>
          </a:xfrm>
          <a:prstGeom prst="rect">
            <a:avLst/>
          </a:prstGeom>
          <a:solidFill>
            <a:srgbClr val="FFFFFF"/>
          </a:solidFill>
          <a:ln>
            <a:noFill/>
          </a:ln>
          <a:effectLst/>
        </p:spPr>
        <p:txBody>
          <a:bodyPr rtlCol="0" anchor="ctr"/>
          <a:lstStyle/>
          <a:p>
            <a:pPr algn="ctr"/>
            <a:endParaRPr/>
          </a:p>
        </p:txBody>
      </p:sp>
      <p:sp>
        <p:nvSpPr>
          <p:cNvPr id="399" name="Rectangle 398"/>
          <p:cNvSpPr/>
          <p:nvPr/>
        </p:nvSpPr>
        <p:spPr>
          <a:xfrm>
            <a:off x="5219700" y="5972175"/>
            <a:ext cx="757386" cy="9525"/>
          </a:xfrm>
          <a:prstGeom prst="rect">
            <a:avLst/>
          </a:prstGeom>
          <a:solidFill>
            <a:srgbClr val="E3DCD3"/>
          </a:solidFill>
          <a:ln>
            <a:noFill/>
          </a:ln>
          <a:effectLst/>
        </p:spPr>
        <p:txBody>
          <a:bodyPr rtlCol="0" anchor="ctr"/>
          <a:lstStyle/>
          <a:p>
            <a:pPr algn="ctr"/>
            <a:endParaRPr/>
          </a:p>
        </p:txBody>
      </p:sp>
      <p:sp>
        <p:nvSpPr>
          <p:cNvPr id="400" name="Rectangle 399"/>
          <p:cNvSpPr/>
          <p:nvPr/>
        </p:nvSpPr>
        <p:spPr>
          <a:xfrm>
            <a:off x="5967561" y="5972175"/>
            <a:ext cx="9525" cy="180975"/>
          </a:xfrm>
          <a:prstGeom prst="rect">
            <a:avLst/>
          </a:prstGeom>
          <a:solidFill>
            <a:srgbClr val="E3DCD3"/>
          </a:solidFill>
          <a:ln>
            <a:noFill/>
          </a:ln>
          <a:effectLst/>
        </p:spPr>
        <p:txBody>
          <a:bodyPr rtlCol="0" anchor="ctr"/>
          <a:lstStyle/>
          <a:p>
            <a:pPr algn="ctr"/>
            <a:endParaRPr/>
          </a:p>
        </p:txBody>
      </p:sp>
      <p:sp>
        <p:nvSpPr>
          <p:cNvPr id="401" name="Rectangle 400"/>
          <p:cNvSpPr/>
          <p:nvPr/>
        </p:nvSpPr>
        <p:spPr>
          <a:xfrm>
            <a:off x="5219700" y="6143625"/>
            <a:ext cx="757386" cy="9525"/>
          </a:xfrm>
          <a:prstGeom prst="rect">
            <a:avLst/>
          </a:prstGeom>
          <a:solidFill>
            <a:srgbClr val="E3DCD3"/>
          </a:solidFill>
          <a:ln>
            <a:noFill/>
          </a:ln>
          <a:effectLst/>
        </p:spPr>
        <p:txBody>
          <a:bodyPr rtlCol="0" anchor="ctr"/>
          <a:lstStyle/>
          <a:p>
            <a:pPr algn="ctr"/>
            <a:endParaRPr/>
          </a:p>
        </p:txBody>
      </p:sp>
      <p:sp>
        <p:nvSpPr>
          <p:cNvPr id="402" name="Rectangle 401"/>
          <p:cNvSpPr/>
          <p:nvPr/>
        </p:nvSpPr>
        <p:spPr>
          <a:xfrm>
            <a:off x="5219700" y="5972175"/>
            <a:ext cx="9525" cy="180975"/>
          </a:xfrm>
          <a:prstGeom prst="rect">
            <a:avLst/>
          </a:prstGeom>
          <a:solidFill>
            <a:srgbClr val="E3DCD3"/>
          </a:solidFill>
          <a:ln>
            <a:noFill/>
          </a:ln>
          <a:effectLst/>
        </p:spPr>
        <p:txBody>
          <a:bodyPr rtlCol="0" anchor="ctr"/>
          <a:lstStyle/>
          <a:p>
            <a:pPr algn="ctr"/>
            <a:endParaRPr/>
          </a:p>
        </p:txBody>
      </p:sp>
      <p:sp>
        <p:nvSpPr>
          <p:cNvPr id="403" name="Text: Platinum Equity"/>
          <p:cNvSpPr txBox="1"/>
          <p:nvPr/>
        </p:nvSpPr>
        <p:spPr>
          <a:xfrm>
            <a:off x="5286375" y="6000750"/>
            <a:ext cx="638324"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Platinum Equity</a:t>
            </a:r>
          </a:p>
        </p:txBody>
      </p:sp>
      <p:sp>
        <p:nvSpPr>
          <p:cNvPr id="404" name="Rectangle 403"/>
          <p:cNvSpPr/>
          <p:nvPr/>
        </p:nvSpPr>
        <p:spPr>
          <a:xfrm>
            <a:off x="5219700" y="6191250"/>
            <a:ext cx="1370558" cy="180975"/>
          </a:xfrm>
          <a:prstGeom prst="rect">
            <a:avLst/>
          </a:prstGeom>
          <a:solidFill>
            <a:srgbClr val="FFFFFF"/>
          </a:solidFill>
          <a:ln>
            <a:noFill/>
          </a:ln>
          <a:effectLst/>
        </p:spPr>
        <p:txBody>
          <a:bodyPr rtlCol="0" anchor="ctr"/>
          <a:lstStyle/>
          <a:p>
            <a:pPr algn="ctr"/>
            <a:endParaRPr/>
          </a:p>
        </p:txBody>
      </p:sp>
      <p:sp>
        <p:nvSpPr>
          <p:cNvPr id="405" name="Rectangle 404"/>
          <p:cNvSpPr/>
          <p:nvPr/>
        </p:nvSpPr>
        <p:spPr>
          <a:xfrm>
            <a:off x="5219700" y="6191250"/>
            <a:ext cx="1370558" cy="9525"/>
          </a:xfrm>
          <a:prstGeom prst="rect">
            <a:avLst/>
          </a:prstGeom>
          <a:solidFill>
            <a:srgbClr val="E3DCD3"/>
          </a:solidFill>
          <a:ln>
            <a:noFill/>
          </a:ln>
          <a:effectLst/>
        </p:spPr>
        <p:txBody>
          <a:bodyPr rtlCol="0" anchor="ctr"/>
          <a:lstStyle/>
          <a:p>
            <a:pPr algn="ctr"/>
            <a:endParaRPr/>
          </a:p>
        </p:txBody>
      </p:sp>
      <p:sp>
        <p:nvSpPr>
          <p:cNvPr id="406" name="Rectangle 405"/>
          <p:cNvSpPr/>
          <p:nvPr/>
        </p:nvSpPr>
        <p:spPr>
          <a:xfrm>
            <a:off x="6580733" y="6191250"/>
            <a:ext cx="9525" cy="180975"/>
          </a:xfrm>
          <a:prstGeom prst="rect">
            <a:avLst/>
          </a:prstGeom>
          <a:solidFill>
            <a:srgbClr val="E3DCD3"/>
          </a:solidFill>
          <a:ln>
            <a:noFill/>
          </a:ln>
          <a:effectLst/>
        </p:spPr>
        <p:txBody>
          <a:bodyPr rtlCol="0" anchor="ctr"/>
          <a:lstStyle/>
          <a:p>
            <a:pPr algn="ctr"/>
            <a:endParaRPr/>
          </a:p>
        </p:txBody>
      </p:sp>
      <p:sp>
        <p:nvSpPr>
          <p:cNvPr id="407" name="Rectangle 406"/>
          <p:cNvSpPr/>
          <p:nvPr/>
        </p:nvSpPr>
        <p:spPr>
          <a:xfrm>
            <a:off x="5219700" y="6362700"/>
            <a:ext cx="1370558" cy="9525"/>
          </a:xfrm>
          <a:prstGeom prst="rect">
            <a:avLst/>
          </a:prstGeom>
          <a:solidFill>
            <a:srgbClr val="E3DCD3"/>
          </a:solidFill>
          <a:ln>
            <a:noFill/>
          </a:ln>
          <a:effectLst/>
        </p:spPr>
        <p:txBody>
          <a:bodyPr rtlCol="0" anchor="ctr"/>
          <a:lstStyle/>
          <a:p>
            <a:pPr algn="ctr"/>
            <a:endParaRPr/>
          </a:p>
        </p:txBody>
      </p:sp>
      <p:sp>
        <p:nvSpPr>
          <p:cNvPr id="408" name="Rectangle 407"/>
          <p:cNvSpPr/>
          <p:nvPr/>
        </p:nvSpPr>
        <p:spPr>
          <a:xfrm>
            <a:off x="5219700" y="6191250"/>
            <a:ext cx="9525" cy="180975"/>
          </a:xfrm>
          <a:prstGeom prst="rect">
            <a:avLst/>
          </a:prstGeom>
          <a:solidFill>
            <a:srgbClr val="E3DCD3"/>
          </a:solidFill>
          <a:ln>
            <a:noFill/>
          </a:ln>
          <a:effectLst/>
        </p:spPr>
        <p:txBody>
          <a:bodyPr rtlCol="0" anchor="ctr"/>
          <a:lstStyle/>
          <a:p>
            <a:pPr algn="ctr"/>
            <a:endParaRPr/>
          </a:p>
        </p:txBody>
      </p:sp>
      <p:sp>
        <p:nvSpPr>
          <p:cNvPr id="409" name="Text: Hanger (Patient Square Capital)"/>
          <p:cNvSpPr txBox="1"/>
          <p:nvPr/>
        </p:nvSpPr>
        <p:spPr>
          <a:xfrm>
            <a:off x="5286375" y="6219825"/>
            <a:ext cx="1251496"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Hanger (Patient Square Capital)</a:t>
            </a:r>
          </a:p>
        </p:txBody>
      </p:sp>
      <p:sp>
        <p:nvSpPr>
          <p:cNvPr id="410" name="Rectangle 409"/>
          <p:cNvSpPr/>
          <p:nvPr/>
        </p:nvSpPr>
        <p:spPr>
          <a:xfrm>
            <a:off x="6628358" y="6191250"/>
            <a:ext cx="389930" cy="180975"/>
          </a:xfrm>
          <a:prstGeom prst="rect">
            <a:avLst/>
          </a:prstGeom>
          <a:solidFill>
            <a:srgbClr val="FFFFFF"/>
          </a:solidFill>
          <a:ln>
            <a:noFill/>
          </a:ln>
          <a:effectLst/>
        </p:spPr>
        <p:txBody>
          <a:bodyPr rtlCol="0" anchor="ctr"/>
          <a:lstStyle/>
          <a:p>
            <a:pPr algn="ctr"/>
            <a:endParaRPr/>
          </a:p>
        </p:txBody>
      </p:sp>
      <p:sp>
        <p:nvSpPr>
          <p:cNvPr id="411" name="Rectangle 410"/>
          <p:cNvSpPr/>
          <p:nvPr/>
        </p:nvSpPr>
        <p:spPr>
          <a:xfrm>
            <a:off x="6628358" y="6191250"/>
            <a:ext cx="389930" cy="9525"/>
          </a:xfrm>
          <a:prstGeom prst="rect">
            <a:avLst/>
          </a:prstGeom>
          <a:solidFill>
            <a:srgbClr val="E3DCD3"/>
          </a:solidFill>
          <a:ln>
            <a:noFill/>
          </a:ln>
          <a:effectLst/>
        </p:spPr>
        <p:txBody>
          <a:bodyPr rtlCol="0" anchor="ctr"/>
          <a:lstStyle/>
          <a:p>
            <a:pPr algn="ctr"/>
            <a:endParaRPr/>
          </a:p>
        </p:txBody>
      </p:sp>
      <p:sp>
        <p:nvSpPr>
          <p:cNvPr id="412" name="Rectangle 411"/>
          <p:cNvSpPr/>
          <p:nvPr/>
        </p:nvSpPr>
        <p:spPr>
          <a:xfrm>
            <a:off x="7008763" y="6191250"/>
            <a:ext cx="9525" cy="180975"/>
          </a:xfrm>
          <a:prstGeom prst="rect">
            <a:avLst/>
          </a:prstGeom>
          <a:solidFill>
            <a:srgbClr val="E3DCD3"/>
          </a:solidFill>
          <a:ln>
            <a:noFill/>
          </a:ln>
          <a:effectLst/>
        </p:spPr>
        <p:txBody>
          <a:bodyPr rtlCol="0" anchor="ctr"/>
          <a:lstStyle/>
          <a:p>
            <a:pPr algn="ctr"/>
            <a:endParaRPr/>
          </a:p>
        </p:txBody>
      </p:sp>
      <p:sp>
        <p:nvSpPr>
          <p:cNvPr id="413" name="Rectangle 412"/>
          <p:cNvSpPr/>
          <p:nvPr/>
        </p:nvSpPr>
        <p:spPr>
          <a:xfrm>
            <a:off x="6628358" y="6362700"/>
            <a:ext cx="389930" cy="9525"/>
          </a:xfrm>
          <a:prstGeom prst="rect">
            <a:avLst/>
          </a:prstGeom>
          <a:solidFill>
            <a:srgbClr val="E3DCD3"/>
          </a:solidFill>
          <a:ln>
            <a:noFill/>
          </a:ln>
          <a:effectLst/>
        </p:spPr>
        <p:txBody>
          <a:bodyPr rtlCol="0" anchor="ctr"/>
          <a:lstStyle/>
          <a:p>
            <a:pPr algn="ctr"/>
            <a:endParaRPr/>
          </a:p>
        </p:txBody>
      </p:sp>
      <p:sp>
        <p:nvSpPr>
          <p:cNvPr id="414" name="Rectangle 413"/>
          <p:cNvSpPr/>
          <p:nvPr/>
        </p:nvSpPr>
        <p:spPr>
          <a:xfrm>
            <a:off x="6628358" y="6191250"/>
            <a:ext cx="9525" cy="180975"/>
          </a:xfrm>
          <a:prstGeom prst="rect">
            <a:avLst/>
          </a:prstGeom>
          <a:solidFill>
            <a:srgbClr val="E3DCD3"/>
          </a:solidFill>
          <a:ln>
            <a:noFill/>
          </a:ln>
          <a:effectLst/>
        </p:spPr>
        <p:txBody>
          <a:bodyPr rtlCol="0" anchor="ctr"/>
          <a:lstStyle/>
          <a:p>
            <a:pPr algn="ctr"/>
            <a:endParaRPr/>
          </a:p>
        </p:txBody>
      </p:sp>
      <p:sp>
        <p:nvSpPr>
          <p:cNvPr id="415" name="Text: Apollo"/>
          <p:cNvSpPr txBox="1"/>
          <p:nvPr/>
        </p:nvSpPr>
        <p:spPr>
          <a:xfrm>
            <a:off x="6695033" y="6219825"/>
            <a:ext cx="270867"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Apollo</a:t>
            </a:r>
          </a:p>
        </p:txBody>
      </p:sp>
      <p:sp>
        <p:nvSpPr>
          <p:cNvPr id="416" name="Rectangle 415"/>
          <p:cNvSpPr/>
          <p:nvPr/>
        </p:nvSpPr>
        <p:spPr>
          <a:xfrm>
            <a:off x="5219700" y="6410325"/>
            <a:ext cx="458539" cy="180975"/>
          </a:xfrm>
          <a:prstGeom prst="rect">
            <a:avLst/>
          </a:prstGeom>
          <a:solidFill>
            <a:srgbClr val="FFFFFF"/>
          </a:solidFill>
          <a:ln>
            <a:noFill/>
          </a:ln>
          <a:effectLst/>
        </p:spPr>
        <p:txBody>
          <a:bodyPr rtlCol="0" anchor="ctr"/>
          <a:lstStyle/>
          <a:p>
            <a:pPr algn="ctr"/>
            <a:endParaRPr/>
          </a:p>
        </p:txBody>
      </p:sp>
      <p:sp>
        <p:nvSpPr>
          <p:cNvPr id="417" name="Rectangle 416"/>
          <p:cNvSpPr/>
          <p:nvPr/>
        </p:nvSpPr>
        <p:spPr>
          <a:xfrm>
            <a:off x="5219700" y="6410325"/>
            <a:ext cx="458539" cy="9525"/>
          </a:xfrm>
          <a:prstGeom prst="rect">
            <a:avLst/>
          </a:prstGeom>
          <a:solidFill>
            <a:srgbClr val="E3DCD3"/>
          </a:solidFill>
          <a:ln>
            <a:noFill/>
          </a:ln>
          <a:effectLst/>
        </p:spPr>
        <p:txBody>
          <a:bodyPr rtlCol="0" anchor="ctr"/>
          <a:lstStyle/>
          <a:p>
            <a:pPr algn="ctr"/>
            <a:endParaRPr/>
          </a:p>
        </p:txBody>
      </p:sp>
      <p:sp>
        <p:nvSpPr>
          <p:cNvPr id="418" name="Rectangle 417"/>
          <p:cNvSpPr/>
          <p:nvPr/>
        </p:nvSpPr>
        <p:spPr>
          <a:xfrm>
            <a:off x="5668714" y="6410325"/>
            <a:ext cx="9525" cy="180975"/>
          </a:xfrm>
          <a:prstGeom prst="rect">
            <a:avLst/>
          </a:prstGeom>
          <a:solidFill>
            <a:srgbClr val="E3DCD3"/>
          </a:solidFill>
          <a:ln>
            <a:noFill/>
          </a:ln>
          <a:effectLst/>
        </p:spPr>
        <p:txBody>
          <a:bodyPr rtlCol="0" anchor="ctr"/>
          <a:lstStyle/>
          <a:p>
            <a:pPr algn="ctr"/>
            <a:endParaRPr/>
          </a:p>
        </p:txBody>
      </p:sp>
      <p:sp>
        <p:nvSpPr>
          <p:cNvPr id="419" name="Rectangle 418"/>
          <p:cNvSpPr/>
          <p:nvPr/>
        </p:nvSpPr>
        <p:spPr>
          <a:xfrm>
            <a:off x="5219700" y="6581775"/>
            <a:ext cx="458539" cy="9525"/>
          </a:xfrm>
          <a:prstGeom prst="rect">
            <a:avLst/>
          </a:prstGeom>
          <a:solidFill>
            <a:srgbClr val="E3DCD3"/>
          </a:solidFill>
          <a:ln>
            <a:noFill/>
          </a:ln>
          <a:effectLst/>
        </p:spPr>
        <p:txBody>
          <a:bodyPr rtlCol="0" anchor="ctr"/>
          <a:lstStyle/>
          <a:p>
            <a:pPr algn="ctr"/>
            <a:endParaRPr/>
          </a:p>
        </p:txBody>
      </p:sp>
      <p:sp>
        <p:nvSpPr>
          <p:cNvPr id="420" name="Rectangle 419"/>
          <p:cNvSpPr/>
          <p:nvPr/>
        </p:nvSpPr>
        <p:spPr>
          <a:xfrm>
            <a:off x="5219700" y="6410325"/>
            <a:ext cx="9525" cy="180975"/>
          </a:xfrm>
          <a:prstGeom prst="rect">
            <a:avLst/>
          </a:prstGeom>
          <a:solidFill>
            <a:srgbClr val="E3DCD3"/>
          </a:solidFill>
          <a:ln>
            <a:noFill/>
          </a:ln>
          <a:effectLst/>
        </p:spPr>
        <p:txBody>
          <a:bodyPr rtlCol="0" anchor="ctr"/>
          <a:lstStyle/>
          <a:p>
            <a:pPr algn="ctr"/>
            <a:endParaRPr/>
          </a:p>
        </p:txBody>
      </p:sp>
      <p:sp>
        <p:nvSpPr>
          <p:cNvPr id="421" name="Text: Medline"/>
          <p:cNvSpPr txBox="1"/>
          <p:nvPr/>
        </p:nvSpPr>
        <p:spPr>
          <a:xfrm>
            <a:off x="5286375" y="6438900"/>
            <a:ext cx="339477"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Medline</a:t>
            </a:r>
          </a:p>
        </p:txBody>
      </p:sp>
      <p:sp>
        <p:nvSpPr>
          <p:cNvPr id="422" name="Rectangle 421"/>
          <p:cNvSpPr/>
          <p:nvPr/>
        </p:nvSpPr>
        <p:spPr>
          <a:xfrm>
            <a:off x="5716339" y="6410325"/>
            <a:ext cx="621953" cy="180975"/>
          </a:xfrm>
          <a:prstGeom prst="rect">
            <a:avLst/>
          </a:prstGeom>
          <a:solidFill>
            <a:srgbClr val="FFFFFF"/>
          </a:solidFill>
          <a:ln>
            <a:noFill/>
          </a:ln>
          <a:effectLst/>
        </p:spPr>
        <p:txBody>
          <a:bodyPr rtlCol="0" anchor="ctr"/>
          <a:lstStyle/>
          <a:p>
            <a:pPr algn="ctr"/>
            <a:endParaRPr/>
          </a:p>
        </p:txBody>
      </p:sp>
      <p:sp>
        <p:nvSpPr>
          <p:cNvPr id="423" name="Rectangle 422"/>
          <p:cNvSpPr/>
          <p:nvPr/>
        </p:nvSpPr>
        <p:spPr>
          <a:xfrm>
            <a:off x="5716339" y="6410325"/>
            <a:ext cx="621953" cy="9525"/>
          </a:xfrm>
          <a:prstGeom prst="rect">
            <a:avLst/>
          </a:prstGeom>
          <a:solidFill>
            <a:srgbClr val="E3DCD3"/>
          </a:solidFill>
          <a:ln>
            <a:noFill/>
          </a:ln>
          <a:effectLst/>
        </p:spPr>
        <p:txBody>
          <a:bodyPr rtlCol="0" anchor="ctr"/>
          <a:lstStyle/>
          <a:p>
            <a:pPr algn="ctr"/>
            <a:endParaRPr/>
          </a:p>
        </p:txBody>
      </p:sp>
      <p:sp>
        <p:nvSpPr>
          <p:cNvPr id="424" name="Rectangle 423"/>
          <p:cNvSpPr/>
          <p:nvPr/>
        </p:nvSpPr>
        <p:spPr>
          <a:xfrm>
            <a:off x="6328767" y="6410325"/>
            <a:ext cx="9525" cy="180975"/>
          </a:xfrm>
          <a:prstGeom prst="rect">
            <a:avLst/>
          </a:prstGeom>
          <a:solidFill>
            <a:srgbClr val="E3DCD3"/>
          </a:solidFill>
          <a:ln>
            <a:noFill/>
          </a:ln>
          <a:effectLst/>
        </p:spPr>
        <p:txBody>
          <a:bodyPr rtlCol="0" anchor="ctr"/>
          <a:lstStyle/>
          <a:p>
            <a:pPr algn="ctr"/>
            <a:endParaRPr/>
          </a:p>
        </p:txBody>
      </p:sp>
      <p:sp>
        <p:nvSpPr>
          <p:cNvPr id="425" name="Rectangle 424"/>
          <p:cNvSpPr/>
          <p:nvPr/>
        </p:nvSpPr>
        <p:spPr>
          <a:xfrm>
            <a:off x="5716339" y="6581775"/>
            <a:ext cx="621953" cy="9525"/>
          </a:xfrm>
          <a:prstGeom prst="rect">
            <a:avLst/>
          </a:prstGeom>
          <a:solidFill>
            <a:srgbClr val="E3DCD3"/>
          </a:solidFill>
          <a:ln>
            <a:noFill/>
          </a:ln>
          <a:effectLst/>
        </p:spPr>
        <p:txBody>
          <a:bodyPr rtlCol="0" anchor="ctr"/>
          <a:lstStyle/>
          <a:p>
            <a:pPr algn="ctr"/>
            <a:endParaRPr/>
          </a:p>
        </p:txBody>
      </p:sp>
      <p:sp>
        <p:nvSpPr>
          <p:cNvPr id="426" name="Rectangle 425"/>
          <p:cNvSpPr/>
          <p:nvPr/>
        </p:nvSpPr>
        <p:spPr>
          <a:xfrm>
            <a:off x="5716339" y="6410325"/>
            <a:ext cx="9525" cy="180975"/>
          </a:xfrm>
          <a:prstGeom prst="rect">
            <a:avLst/>
          </a:prstGeom>
          <a:solidFill>
            <a:srgbClr val="E3DCD3"/>
          </a:solidFill>
          <a:ln>
            <a:noFill/>
          </a:ln>
          <a:effectLst/>
        </p:spPr>
        <p:txBody>
          <a:bodyPr rtlCol="0" anchor="ctr"/>
          <a:lstStyle/>
          <a:p>
            <a:pPr algn="ctr"/>
            <a:endParaRPr/>
          </a:p>
        </p:txBody>
      </p:sp>
      <p:sp>
        <p:nvSpPr>
          <p:cNvPr id="427" name="Text: Intersurgical"/>
          <p:cNvSpPr txBox="1"/>
          <p:nvPr/>
        </p:nvSpPr>
        <p:spPr>
          <a:xfrm>
            <a:off x="5783014" y="6438900"/>
            <a:ext cx="502890"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Intersurgical</a:t>
            </a:r>
          </a:p>
        </p:txBody>
      </p:sp>
      <p:sp>
        <p:nvSpPr>
          <p:cNvPr id="428" name="Rectangle 427"/>
          <p:cNvSpPr/>
          <p:nvPr/>
        </p:nvSpPr>
        <p:spPr>
          <a:xfrm>
            <a:off x="5219700" y="6629400"/>
            <a:ext cx="1031825" cy="180975"/>
          </a:xfrm>
          <a:prstGeom prst="rect">
            <a:avLst/>
          </a:prstGeom>
          <a:solidFill>
            <a:srgbClr val="FFFFFF"/>
          </a:solidFill>
          <a:ln>
            <a:noFill/>
          </a:ln>
          <a:effectLst/>
        </p:spPr>
        <p:txBody>
          <a:bodyPr rtlCol="0" anchor="ctr"/>
          <a:lstStyle/>
          <a:p>
            <a:pPr algn="ctr"/>
            <a:endParaRPr/>
          </a:p>
        </p:txBody>
      </p:sp>
      <p:sp>
        <p:nvSpPr>
          <p:cNvPr id="429" name="Rectangle 428"/>
          <p:cNvSpPr/>
          <p:nvPr/>
        </p:nvSpPr>
        <p:spPr>
          <a:xfrm>
            <a:off x="5219700" y="6629400"/>
            <a:ext cx="1031825" cy="9525"/>
          </a:xfrm>
          <a:prstGeom prst="rect">
            <a:avLst/>
          </a:prstGeom>
          <a:solidFill>
            <a:srgbClr val="E3DCD3"/>
          </a:solidFill>
          <a:ln>
            <a:noFill/>
          </a:ln>
          <a:effectLst/>
        </p:spPr>
        <p:txBody>
          <a:bodyPr rtlCol="0" anchor="ctr"/>
          <a:lstStyle/>
          <a:p>
            <a:pPr algn="ctr"/>
            <a:endParaRPr/>
          </a:p>
        </p:txBody>
      </p:sp>
      <p:sp>
        <p:nvSpPr>
          <p:cNvPr id="430" name="Rectangle 429"/>
          <p:cNvSpPr/>
          <p:nvPr/>
        </p:nvSpPr>
        <p:spPr>
          <a:xfrm>
            <a:off x="6242000" y="6629400"/>
            <a:ext cx="9525" cy="180975"/>
          </a:xfrm>
          <a:prstGeom prst="rect">
            <a:avLst/>
          </a:prstGeom>
          <a:solidFill>
            <a:srgbClr val="E3DCD3"/>
          </a:solidFill>
          <a:ln>
            <a:noFill/>
          </a:ln>
          <a:effectLst/>
        </p:spPr>
        <p:txBody>
          <a:bodyPr rtlCol="0" anchor="ctr"/>
          <a:lstStyle/>
          <a:p>
            <a:pPr algn="ctr"/>
            <a:endParaRPr/>
          </a:p>
        </p:txBody>
      </p:sp>
      <p:sp>
        <p:nvSpPr>
          <p:cNvPr id="431" name="Rectangle 430"/>
          <p:cNvSpPr/>
          <p:nvPr/>
        </p:nvSpPr>
        <p:spPr>
          <a:xfrm>
            <a:off x="5219700" y="6800850"/>
            <a:ext cx="1031825" cy="9525"/>
          </a:xfrm>
          <a:prstGeom prst="rect">
            <a:avLst/>
          </a:prstGeom>
          <a:solidFill>
            <a:srgbClr val="E3DCD3"/>
          </a:solidFill>
          <a:ln>
            <a:noFill/>
          </a:ln>
          <a:effectLst/>
        </p:spPr>
        <p:txBody>
          <a:bodyPr rtlCol="0" anchor="ctr"/>
          <a:lstStyle/>
          <a:p>
            <a:pPr algn="ctr"/>
            <a:endParaRPr/>
          </a:p>
        </p:txBody>
      </p:sp>
      <p:sp>
        <p:nvSpPr>
          <p:cNvPr id="432" name="Rectangle 431"/>
          <p:cNvSpPr/>
          <p:nvPr/>
        </p:nvSpPr>
        <p:spPr>
          <a:xfrm>
            <a:off x="5219700" y="6629400"/>
            <a:ext cx="9525" cy="180975"/>
          </a:xfrm>
          <a:prstGeom prst="rect">
            <a:avLst/>
          </a:prstGeom>
          <a:solidFill>
            <a:srgbClr val="E3DCD3"/>
          </a:solidFill>
          <a:ln>
            <a:noFill/>
          </a:ln>
          <a:effectLst/>
        </p:spPr>
        <p:txBody>
          <a:bodyPr rtlCol="0" anchor="ctr"/>
          <a:lstStyle/>
          <a:p>
            <a:pPr algn="ctr"/>
            <a:endParaRPr/>
          </a:p>
        </p:txBody>
      </p:sp>
      <p:sp>
        <p:nvSpPr>
          <p:cNvPr id="433" name="Text: Montagu and Kohlberg"/>
          <p:cNvSpPr txBox="1"/>
          <p:nvPr/>
        </p:nvSpPr>
        <p:spPr>
          <a:xfrm>
            <a:off x="5286375" y="6657975"/>
            <a:ext cx="912763"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Montagu and Kohlberg</a:t>
            </a:r>
          </a:p>
        </p:txBody>
      </p:sp>
      <p:sp>
        <p:nvSpPr>
          <p:cNvPr id="434" name="Rectangle 433"/>
          <p:cNvSpPr/>
          <p:nvPr/>
        </p:nvSpPr>
        <p:spPr>
          <a:xfrm>
            <a:off x="7434262" y="1238250"/>
            <a:ext cx="2205038" cy="5695950"/>
          </a:xfrm>
          <a:prstGeom prst="rect">
            <a:avLst/>
          </a:prstGeom>
          <a:solidFill>
            <a:srgbClr val="FAF7F3"/>
          </a:solidFill>
          <a:ln>
            <a:noFill/>
          </a:ln>
          <a:effectLst/>
        </p:spPr>
        <p:txBody>
          <a:bodyPr rtlCol="0" anchor="ctr"/>
          <a:lstStyle/>
          <a:p>
            <a:pPr algn="ctr"/>
            <a:endParaRPr/>
          </a:p>
        </p:txBody>
      </p:sp>
      <p:sp>
        <p:nvSpPr>
          <p:cNvPr id="435" name="Rectangle 434"/>
          <p:cNvSpPr/>
          <p:nvPr/>
        </p:nvSpPr>
        <p:spPr>
          <a:xfrm>
            <a:off x="7434262" y="1238250"/>
            <a:ext cx="2205038" cy="9525"/>
          </a:xfrm>
          <a:prstGeom prst="rect">
            <a:avLst/>
          </a:prstGeom>
          <a:solidFill>
            <a:srgbClr val="E3DCD3"/>
          </a:solidFill>
          <a:ln>
            <a:noFill/>
          </a:ln>
          <a:effectLst/>
        </p:spPr>
        <p:txBody>
          <a:bodyPr rtlCol="0" anchor="ctr"/>
          <a:lstStyle/>
          <a:p>
            <a:pPr algn="ctr"/>
            <a:endParaRPr/>
          </a:p>
        </p:txBody>
      </p:sp>
      <p:sp>
        <p:nvSpPr>
          <p:cNvPr id="436" name="Rectangle 435"/>
          <p:cNvSpPr/>
          <p:nvPr/>
        </p:nvSpPr>
        <p:spPr>
          <a:xfrm>
            <a:off x="9629775" y="1238250"/>
            <a:ext cx="9525" cy="5695950"/>
          </a:xfrm>
          <a:prstGeom prst="rect">
            <a:avLst/>
          </a:prstGeom>
          <a:solidFill>
            <a:srgbClr val="E3DCD3"/>
          </a:solidFill>
          <a:ln>
            <a:noFill/>
          </a:ln>
          <a:effectLst/>
        </p:spPr>
        <p:txBody>
          <a:bodyPr rtlCol="0" anchor="ctr"/>
          <a:lstStyle/>
          <a:p>
            <a:pPr algn="ctr"/>
            <a:endParaRPr/>
          </a:p>
        </p:txBody>
      </p:sp>
      <p:sp>
        <p:nvSpPr>
          <p:cNvPr id="437" name="Rectangle 436"/>
          <p:cNvSpPr/>
          <p:nvPr/>
        </p:nvSpPr>
        <p:spPr>
          <a:xfrm>
            <a:off x="7434262" y="6924675"/>
            <a:ext cx="2205038" cy="9525"/>
          </a:xfrm>
          <a:prstGeom prst="rect">
            <a:avLst/>
          </a:prstGeom>
          <a:solidFill>
            <a:srgbClr val="E3DCD3"/>
          </a:solidFill>
          <a:ln>
            <a:noFill/>
          </a:ln>
          <a:effectLst/>
        </p:spPr>
        <p:txBody>
          <a:bodyPr rtlCol="0" anchor="ctr"/>
          <a:lstStyle/>
          <a:p>
            <a:pPr algn="ctr"/>
            <a:endParaRPr/>
          </a:p>
        </p:txBody>
      </p:sp>
      <p:sp>
        <p:nvSpPr>
          <p:cNvPr id="438" name="Rectangle 437"/>
          <p:cNvSpPr/>
          <p:nvPr/>
        </p:nvSpPr>
        <p:spPr>
          <a:xfrm>
            <a:off x="7434262" y="1238250"/>
            <a:ext cx="9525" cy="5695950"/>
          </a:xfrm>
          <a:prstGeom prst="rect">
            <a:avLst/>
          </a:prstGeom>
          <a:solidFill>
            <a:srgbClr val="E3DCD3"/>
          </a:solidFill>
          <a:ln>
            <a:noFill/>
          </a:ln>
          <a:effectLst/>
        </p:spPr>
        <p:txBody>
          <a:bodyPr rtlCol="0" anchor="ctr"/>
          <a:lstStyle/>
          <a:p>
            <a:pPr algn="ctr"/>
            <a:endParaRPr/>
          </a:p>
        </p:txBody>
      </p:sp>
      <p:sp>
        <p:nvSpPr>
          <p:cNvPr id="439" name="Rectangle 438"/>
          <p:cNvSpPr/>
          <p:nvPr/>
        </p:nvSpPr>
        <p:spPr>
          <a:xfrm>
            <a:off x="7443788" y="1247775"/>
            <a:ext cx="2185988" cy="419100"/>
          </a:xfrm>
          <a:prstGeom prst="rect">
            <a:avLst/>
          </a:prstGeom>
          <a:solidFill>
            <a:srgbClr val="1B1A1A"/>
          </a:solidFill>
          <a:ln>
            <a:noFill/>
          </a:ln>
          <a:effectLst/>
        </p:spPr>
        <p:txBody>
          <a:bodyPr rtlCol="0" anchor="ctr"/>
          <a:lstStyle/>
          <a:p>
            <a:pPr algn="ctr"/>
            <a:endParaRPr/>
          </a:p>
        </p:txBody>
      </p:sp>
      <p:pic>
        <p:nvPicPr>
          <p:cNvPr id="440" name="Picture 439" descr="v2eb07db01aa2.png"/>
          <p:cNvPicPr>
            <a:picLocks noChangeAspect="1"/>
          </p:cNvPicPr>
          <p:nvPr/>
        </p:nvPicPr>
        <p:blipFill>
          <a:blip r:embed="rId35"/>
          <a:stretch>
            <a:fillRect/>
          </a:stretch>
        </p:blipFill>
        <p:spPr>
          <a:xfrm>
            <a:off x="7558088" y="1333500"/>
            <a:ext cx="247650" cy="247650"/>
          </a:xfrm>
          <a:prstGeom prst="rect">
            <a:avLst/>
          </a:prstGeom>
        </p:spPr>
      </p:pic>
      <p:sp>
        <p:nvSpPr>
          <p:cNvPr id="441" name="Text: PHARMACY &amp; HEALTHCARE SERVICES"/>
          <p:cNvSpPr txBox="1"/>
          <p:nvPr/>
        </p:nvSpPr>
        <p:spPr>
          <a:xfrm>
            <a:off x="7900988" y="1333500"/>
            <a:ext cx="1628775" cy="247650"/>
          </a:xfrm>
          <a:prstGeom prst="rect">
            <a:avLst/>
          </a:prstGeom>
          <a:noFill/>
        </p:spPr>
        <p:txBody>
          <a:bodyPr wrap="square" lIns="0" tIns="0" rIns="0" bIns="0" anchor="t">
            <a:spAutoFit/>
          </a:bodyPr>
          <a:lstStyle/>
          <a:p>
            <a:pPr algn="l">
              <a:lnSpc>
                <a:spcPts val="975"/>
              </a:lnSpc>
            </a:pPr>
            <a:r>
              <a:rPr sz="712" b="1" i="0" spc="112">
                <a:solidFill>
                  <a:srgbClr val="FFFFFF"/>
                </a:solidFill>
                <a:latin typeface="Calibri"/>
              </a:rPr>
              <a:t>PHARMACY &amp; HEALTHCARE SERVICES</a:t>
            </a:r>
          </a:p>
        </p:txBody>
      </p:sp>
      <p:sp>
        <p:nvSpPr>
          <p:cNvPr id="442" name="Text: LISTED COMPANIES"/>
          <p:cNvSpPr txBox="1"/>
          <p:nvPr/>
        </p:nvSpPr>
        <p:spPr>
          <a:xfrm>
            <a:off x="7558088" y="1771650"/>
            <a:ext cx="1971675" cy="123825"/>
          </a:xfrm>
          <a:prstGeom prst="rect">
            <a:avLst/>
          </a:prstGeom>
          <a:noFill/>
        </p:spPr>
        <p:txBody>
          <a:bodyPr wrap="square" lIns="0" tIns="0" rIns="0" bIns="0" anchor="t">
            <a:spAutoFit/>
          </a:bodyPr>
          <a:lstStyle/>
          <a:p>
            <a:pPr algn="l">
              <a:lnSpc>
                <a:spcPts val="975"/>
              </a:lnSpc>
            </a:pPr>
            <a:r>
              <a:rPr sz="638" b="1" i="0" spc="150">
                <a:solidFill>
                  <a:srgbClr val="8C6239"/>
                </a:solidFill>
                <a:latin typeface="Calibri"/>
              </a:rPr>
              <a:t>LISTED COMPANIES</a:t>
            </a:r>
          </a:p>
        </p:txBody>
      </p:sp>
      <p:sp>
        <p:nvSpPr>
          <p:cNvPr id="443" name="Rectangle 442"/>
          <p:cNvSpPr/>
          <p:nvPr/>
        </p:nvSpPr>
        <p:spPr>
          <a:xfrm>
            <a:off x="7558088" y="1952625"/>
            <a:ext cx="1957388" cy="228600"/>
          </a:xfrm>
          <a:prstGeom prst="rect">
            <a:avLst/>
          </a:prstGeom>
          <a:solidFill>
            <a:srgbClr val="FFFFFF"/>
          </a:solidFill>
          <a:ln>
            <a:noFill/>
          </a:ln>
          <a:effectLst/>
        </p:spPr>
        <p:txBody>
          <a:bodyPr rtlCol="0" anchor="ctr"/>
          <a:lstStyle/>
          <a:p>
            <a:pPr algn="ctr"/>
            <a:endParaRPr/>
          </a:p>
        </p:txBody>
      </p:sp>
      <p:sp>
        <p:nvSpPr>
          <p:cNvPr id="444" name="Rectangle 443"/>
          <p:cNvSpPr/>
          <p:nvPr/>
        </p:nvSpPr>
        <p:spPr>
          <a:xfrm>
            <a:off x="7558088" y="1952625"/>
            <a:ext cx="1957388" cy="9525"/>
          </a:xfrm>
          <a:prstGeom prst="rect">
            <a:avLst/>
          </a:prstGeom>
          <a:solidFill>
            <a:srgbClr val="E3DCD3"/>
          </a:solidFill>
          <a:ln>
            <a:noFill/>
          </a:ln>
          <a:effectLst/>
        </p:spPr>
        <p:txBody>
          <a:bodyPr rtlCol="0" anchor="ctr"/>
          <a:lstStyle/>
          <a:p>
            <a:pPr algn="ctr"/>
            <a:endParaRPr/>
          </a:p>
        </p:txBody>
      </p:sp>
      <p:sp>
        <p:nvSpPr>
          <p:cNvPr id="445" name="Rectangle 444"/>
          <p:cNvSpPr/>
          <p:nvPr/>
        </p:nvSpPr>
        <p:spPr>
          <a:xfrm>
            <a:off x="9505950" y="1952625"/>
            <a:ext cx="9525" cy="228600"/>
          </a:xfrm>
          <a:prstGeom prst="rect">
            <a:avLst/>
          </a:prstGeom>
          <a:solidFill>
            <a:srgbClr val="E3DCD3"/>
          </a:solidFill>
          <a:ln>
            <a:noFill/>
          </a:ln>
          <a:effectLst/>
        </p:spPr>
        <p:txBody>
          <a:bodyPr rtlCol="0" anchor="ctr"/>
          <a:lstStyle/>
          <a:p>
            <a:pPr algn="ctr"/>
            <a:endParaRPr/>
          </a:p>
        </p:txBody>
      </p:sp>
      <p:sp>
        <p:nvSpPr>
          <p:cNvPr id="446" name="Rectangle 445"/>
          <p:cNvSpPr/>
          <p:nvPr/>
        </p:nvSpPr>
        <p:spPr>
          <a:xfrm>
            <a:off x="7558088" y="2171700"/>
            <a:ext cx="1957388" cy="9525"/>
          </a:xfrm>
          <a:prstGeom prst="rect">
            <a:avLst/>
          </a:prstGeom>
          <a:solidFill>
            <a:srgbClr val="E3DCD3"/>
          </a:solidFill>
          <a:ln>
            <a:noFill/>
          </a:ln>
          <a:effectLst/>
        </p:spPr>
        <p:txBody>
          <a:bodyPr rtlCol="0" anchor="ctr"/>
          <a:lstStyle/>
          <a:p>
            <a:pPr algn="ctr"/>
            <a:endParaRPr/>
          </a:p>
        </p:txBody>
      </p:sp>
      <p:sp>
        <p:nvSpPr>
          <p:cNvPr id="447" name="Rectangle 446"/>
          <p:cNvSpPr/>
          <p:nvPr/>
        </p:nvSpPr>
        <p:spPr>
          <a:xfrm>
            <a:off x="7558088" y="1952625"/>
            <a:ext cx="9525" cy="228600"/>
          </a:xfrm>
          <a:prstGeom prst="rect">
            <a:avLst/>
          </a:prstGeom>
          <a:solidFill>
            <a:srgbClr val="E3DCD3"/>
          </a:solidFill>
          <a:ln>
            <a:noFill/>
          </a:ln>
          <a:effectLst/>
        </p:spPr>
        <p:txBody>
          <a:bodyPr rtlCol="0" anchor="ctr"/>
          <a:lstStyle/>
          <a:p>
            <a:pPr algn="ctr"/>
            <a:endParaRPr/>
          </a:p>
        </p:txBody>
      </p:sp>
      <p:sp>
        <p:nvSpPr>
          <p:cNvPr id="448" name="Rounded Rectangle 447"/>
          <p:cNvSpPr/>
          <p:nvPr/>
        </p:nvSpPr>
        <p:spPr>
          <a:xfrm>
            <a:off x="7577138" y="197167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449" name="Text: OPCH">
            <a:hlinkClick r:id="rId36"/>
          </p:cNvPr>
          <p:cNvSpPr txBox="1"/>
          <p:nvPr/>
        </p:nvSpPr>
        <p:spPr>
          <a:xfrm>
            <a:off x="7577138" y="197167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OPCH</a:t>
            </a:r>
          </a:p>
        </p:txBody>
      </p:sp>
      <p:sp>
        <p:nvSpPr>
          <p:cNvPr id="450" name="Text: Option Care Health">
            <a:hlinkClick r:id="rId36"/>
          </p:cNvPr>
          <p:cNvSpPr txBox="1"/>
          <p:nvPr/>
        </p:nvSpPr>
        <p:spPr>
          <a:xfrm>
            <a:off x="8005762" y="2002631"/>
            <a:ext cx="806351"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Option Care Health</a:t>
            </a:r>
          </a:p>
        </p:txBody>
      </p:sp>
      <p:sp>
        <p:nvSpPr>
          <p:cNvPr id="451" name="Rectangle 450"/>
          <p:cNvSpPr/>
          <p:nvPr/>
        </p:nvSpPr>
        <p:spPr>
          <a:xfrm>
            <a:off x="7558088" y="2200275"/>
            <a:ext cx="1957388" cy="228600"/>
          </a:xfrm>
          <a:prstGeom prst="rect">
            <a:avLst/>
          </a:prstGeom>
          <a:solidFill>
            <a:srgbClr val="FFFFFF"/>
          </a:solidFill>
          <a:ln>
            <a:noFill/>
          </a:ln>
          <a:effectLst/>
        </p:spPr>
        <p:txBody>
          <a:bodyPr rtlCol="0" anchor="ctr"/>
          <a:lstStyle/>
          <a:p>
            <a:pPr algn="ctr"/>
            <a:endParaRPr/>
          </a:p>
        </p:txBody>
      </p:sp>
      <p:sp>
        <p:nvSpPr>
          <p:cNvPr id="452" name="Rectangle 451"/>
          <p:cNvSpPr/>
          <p:nvPr/>
        </p:nvSpPr>
        <p:spPr>
          <a:xfrm>
            <a:off x="7558088" y="2200275"/>
            <a:ext cx="1957388" cy="9525"/>
          </a:xfrm>
          <a:prstGeom prst="rect">
            <a:avLst/>
          </a:prstGeom>
          <a:solidFill>
            <a:srgbClr val="E3DCD3"/>
          </a:solidFill>
          <a:ln>
            <a:noFill/>
          </a:ln>
          <a:effectLst/>
        </p:spPr>
        <p:txBody>
          <a:bodyPr rtlCol="0" anchor="ctr"/>
          <a:lstStyle/>
          <a:p>
            <a:pPr algn="ctr"/>
            <a:endParaRPr/>
          </a:p>
        </p:txBody>
      </p:sp>
      <p:sp>
        <p:nvSpPr>
          <p:cNvPr id="453" name="Rectangle 452"/>
          <p:cNvSpPr/>
          <p:nvPr/>
        </p:nvSpPr>
        <p:spPr>
          <a:xfrm>
            <a:off x="9505950" y="2200275"/>
            <a:ext cx="9525" cy="228600"/>
          </a:xfrm>
          <a:prstGeom prst="rect">
            <a:avLst/>
          </a:prstGeom>
          <a:solidFill>
            <a:srgbClr val="E3DCD3"/>
          </a:solidFill>
          <a:ln>
            <a:noFill/>
          </a:ln>
          <a:effectLst/>
        </p:spPr>
        <p:txBody>
          <a:bodyPr rtlCol="0" anchor="ctr"/>
          <a:lstStyle/>
          <a:p>
            <a:pPr algn="ctr"/>
            <a:endParaRPr/>
          </a:p>
        </p:txBody>
      </p:sp>
      <p:sp>
        <p:nvSpPr>
          <p:cNvPr id="454" name="Rectangle 453"/>
          <p:cNvSpPr/>
          <p:nvPr/>
        </p:nvSpPr>
        <p:spPr>
          <a:xfrm>
            <a:off x="7558088" y="2419350"/>
            <a:ext cx="1957388" cy="9525"/>
          </a:xfrm>
          <a:prstGeom prst="rect">
            <a:avLst/>
          </a:prstGeom>
          <a:solidFill>
            <a:srgbClr val="E3DCD3"/>
          </a:solidFill>
          <a:ln>
            <a:noFill/>
          </a:ln>
          <a:effectLst/>
        </p:spPr>
        <p:txBody>
          <a:bodyPr rtlCol="0" anchor="ctr"/>
          <a:lstStyle/>
          <a:p>
            <a:pPr algn="ctr"/>
            <a:endParaRPr/>
          </a:p>
        </p:txBody>
      </p:sp>
      <p:sp>
        <p:nvSpPr>
          <p:cNvPr id="455" name="Rectangle 454"/>
          <p:cNvSpPr/>
          <p:nvPr/>
        </p:nvSpPr>
        <p:spPr>
          <a:xfrm>
            <a:off x="7558088" y="2200275"/>
            <a:ext cx="9525" cy="228600"/>
          </a:xfrm>
          <a:prstGeom prst="rect">
            <a:avLst/>
          </a:prstGeom>
          <a:solidFill>
            <a:srgbClr val="E3DCD3"/>
          </a:solidFill>
          <a:ln>
            <a:noFill/>
          </a:ln>
          <a:effectLst/>
        </p:spPr>
        <p:txBody>
          <a:bodyPr rtlCol="0" anchor="ctr"/>
          <a:lstStyle/>
          <a:p>
            <a:pPr algn="ctr"/>
            <a:endParaRPr/>
          </a:p>
        </p:txBody>
      </p:sp>
      <p:sp>
        <p:nvSpPr>
          <p:cNvPr id="456" name="Rounded Rectangle 455"/>
          <p:cNvSpPr/>
          <p:nvPr/>
        </p:nvSpPr>
        <p:spPr>
          <a:xfrm>
            <a:off x="7577138" y="221932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457" name="Text: BTSG">
            <a:hlinkClick r:id="rId37"/>
          </p:cNvPr>
          <p:cNvSpPr txBox="1"/>
          <p:nvPr/>
        </p:nvSpPr>
        <p:spPr>
          <a:xfrm>
            <a:off x="7577138" y="221932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BTSG</a:t>
            </a:r>
          </a:p>
        </p:txBody>
      </p:sp>
      <p:sp>
        <p:nvSpPr>
          <p:cNvPr id="458" name="Text: BrightSpring">
            <a:hlinkClick r:id="rId37"/>
          </p:cNvPr>
          <p:cNvSpPr txBox="1"/>
          <p:nvPr/>
        </p:nvSpPr>
        <p:spPr>
          <a:xfrm>
            <a:off x="8005762" y="2250281"/>
            <a:ext cx="525959"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BrightSpring</a:t>
            </a:r>
          </a:p>
        </p:txBody>
      </p:sp>
      <p:sp>
        <p:nvSpPr>
          <p:cNvPr id="459" name="Rectangle 458"/>
          <p:cNvSpPr/>
          <p:nvPr/>
        </p:nvSpPr>
        <p:spPr>
          <a:xfrm>
            <a:off x="7558088" y="2447925"/>
            <a:ext cx="1957388" cy="228600"/>
          </a:xfrm>
          <a:prstGeom prst="rect">
            <a:avLst/>
          </a:prstGeom>
          <a:solidFill>
            <a:srgbClr val="FFFFFF"/>
          </a:solidFill>
          <a:ln>
            <a:noFill/>
          </a:ln>
          <a:effectLst/>
        </p:spPr>
        <p:txBody>
          <a:bodyPr rtlCol="0" anchor="ctr"/>
          <a:lstStyle/>
          <a:p>
            <a:pPr algn="ctr"/>
            <a:endParaRPr/>
          </a:p>
        </p:txBody>
      </p:sp>
      <p:sp>
        <p:nvSpPr>
          <p:cNvPr id="460" name="Rectangle 459"/>
          <p:cNvSpPr/>
          <p:nvPr/>
        </p:nvSpPr>
        <p:spPr>
          <a:xfrm>
            <a:off x="7558088" y="2447925"/>
            <a:ext cx="1957388" cy="9525"/>
          </a:xfrm>
          <a:prstGeom prst="rect">
            <a:avLst/>
          </a:prstGeom>
          <a:solidFill>
            <a:srgbClr val="E3DCD3"/>
          </a:solidFill>
          <a:ln>
            <a:noFill/>
          </a:ln>
          <a:effectLst/>
        </p:spPr>
        <p:txBody>
          <a:bodyPr rtlCol="0" anchor="ctr"/>
          <a:lstStyle/>
          <a:p>
            <a:pPr algn="ctr"/>
            <a:endParaRPr/>
          </a:p>
        </p:txBody>
      </p:sp>
      <p:sp>
        <p:nvSpPr>
          <p:cNvPr id="461" name="Rectangle 460"/>
          <p:cNvSpPr/>
          <p:nvPr/>
        </p:nvSpPr>
        <p:spPr>
          <a:xfrm>
            <a:off x="9505950" y="2447925"/>
            <a:ext cx="9525" cy="228600"/>
          </a:xfrm>
          <a:prstGeom prst="rect">
            <a:avLst/>
          </a:prstGeom>
          <a:solidFill>
            <a:srgbClr val="E3DCD3"/>
          </a:solidFill>
          <a:ln>
            <a:noFill/>
          </a:ln>
          <a:effectLst/>
        </p:spPr>
        <p:txBody>
          <a:bodyPr rtlCol="0" anchor="ctr"/>
          <a:lstStyle/>
          <a:p>
            <a:pPr algn="ctr"/>
            <a:endParaRPr/>
          </a:p>
        </p:txBody>
      </p:sp>
      <p:sp>
        <p:nvSpPr>
          <p:cNvPr id="462" name="Rectangle 461"/>
          <p:cNvSpPr/>
          <p:nvPr/>
        </p:nvSpPr>
        <p:spPr>
          <a:xfrm>
            <a:off x="7558088" y="2667000"/>
            <a:ext cx="1957388" cy="9525"/>
          </a:xfrm>
          <a:prstGeom prst="rect">
            <a:avLst/>
          </a:prstGeom>
          <a:solidFill>
            <a:srgbClr val="E3DCD3"/>
          </a:solidFill>
          <a:ln>
            <a:noFill/>
          </a:ln>
          <a:effectLst/>
        </p:spPr>
        <p:txBody>
          <a:bodyPr rtlCol="0" anchor="ctr"/>
          <a:lstStyle/>
          <a:p>
            <a:pPr algn="ctr"/>
            <a:endParaRPr/>
          </a:p>
        </p:txBody>
      </p:sp>
      <p:sp>
        <p:nvSpPr>
          <p:cNvPr id="463" name="Rectangle 462"/>
          <p:cNvSpPr/>
          <p:nvPr/>
        </p:nvSpPr>
        <p:spPr>
          <a:xfrm>
            <a:off x="7558088" y="2447925"/>
            <a:ext cx="9525" cy="228600"/>
          </a:xfrm>
          <a:prstGeom prst="rect">
            <a:avLst/>
          </a:prstGeom>
          <a:solidFill>
            <a:srgbClr val="E3DCD3"/>
          </a:solidFill>
          <a:ln>
            <a:noFill/>
          </a:ln>
          <a:effectLst/>
        </p:spPr>
        <p:txBody>
          <a:bodyPr rtlCol="0" anchor="ctr"/>
          <a:lstStyle/>
          <a:p>
            <a:pPr algn="ctr"/>
            <a:endParaRPr/>
          </a:p>
        </p:txBody>
      </p:sp>
      <p:sp>
        <p:nvSpPr>
          <p:cNvPr id="464" name="Rounded Rectangle 463"/>
          <p:cNvSpPr/>
          <p:nvPr/>
        </p:nvSpPr>
        <p:spPr>
          <a:xfrm>
            <a:off x="7577138" y="246697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465" name="Text: GRDN">
            <a:hlinkClick r:id="rId38"/>
          </p:cNvPr>
          <p:cNvSpPr txBox="1"/>
          <p:nvPr/>
        </p:nvSpPr>
        <p:spPr>
          <a:xfrm>
            <a:off x="7577138" y="246697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GRDN</a:t>
            </a:r>
          </a:p>
        </p:txBody>
      </p:sp>
      <p:sp>
        <p:nvSpPr>
          <p:cNvPr id="466" name="Text: Guardian Pharmacy Services">
            <a:hlinkClick r:id="rId38"/>
          </p:cNvPr>
          <p:cNvSpPr txBox="1"/>
          <p:nvPr/>
        </p:nvSpPr>
        <p:spPr>
          <a:xfrm>
            <a:off x="8005762" y="2497931"/>
            <a:ext cx="1185267"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Guardian Pharmacy Services</a:t>
            </a:r>
          </a:p>
        </p:txBody>
      </p:sp>
      <p:sp>
        <p:nvSpPr>
          <p:cNvPr id="467" name="Rectangle 466"/>
          <p:cNvSpPr/>
          <p:nvPr/>
        </p:nvSpPr>
        <p:spPr>
          <a:xfrm>
            <a:off x="7558088" y="2695575"/>
            <a:ext cx="1957388" cy="228600"/>
          </a:xfrm>
          <a:prstGeom prst="rect">
            <a:avLst/>
          </a:prstGeom>
          <a:solidFill>
            <a:srgbClr val="FFFFFF"/>
          </a:solidFill>
          <a:ln>
            <a:noFill/>
          </a:ln>
          <a:effectLst/>
        </p:spPr>
        <p:txBody>
          <a:bodyPr rtlCol="0" anchor="ctr"/>
          <a:lstStyle/>
          <a:p>
            <a:pPr algn="ctr"/>
            <a:endParaRPr/>
          </a:p>
        </p:txBody>
      </p:sp>
      <p:sp>
        <p:nvSpPr>
          <p:cNvPr id="468" name="Rectangle 467"/>
          <p:cNvSpPr/>
          <p:nvPr/>
        </p:nvSpPr>
        <p:spPr>
          <a:xfrm>
            <a:off x="7558088" y="2695575"/>
            <a:ext cx="1957388" cy="9525"/>
          </a:xfrm>
          <a:prstGeom prst="rect">
            <a:avLst/>
          </a:prstGeom>
          <a:solidFill>
            <a:srgbClr val="E3DCD3"/>
          </a:solidFill>
          <a:ln>
            <a:noFill/>
          </a:ln>
          <a:effectLst/>
        </p:spPr>
        <p:txBody>
          <a:bodyPr rtlCol="0" anchor="ctr"/>
          <a:lstStyle/>
          <a:p>
            <a:pPr algn="ctr"/>
            <a:endParaRPr/>
          </a:p>
        </p:txBody>
      </p:sp>
      <p:sp>
        <p:nvSpPr>
          <p:cNvPr id="469" name="Rectangle 468"/>
          <p:cNvSpPr/>
          <p:nvPr/>
        </p:nvSpPr>
        <p:spPr>
          <a:xfrm>
            <a:off x="9505950" y="2695575"/>
            <a:ext cx="9525" cy="228600"/>
          </a:xfrm>
          <a:prstGeom prst="rect">
            <a:avLst/>
          </a:prstGeom>
          <a:solidFill>
            <a:srgbClr val="E3DCD3"/>
          </a:solidFill>
          <a:ln>
            <a:noFill/>
          </a:ln>
          <a:effectLst/>
        </p:spPr>
        <p:txBody>
          <a:bodyPr rtlCol="0" anchor="ctr"/>
          <a:lstStyle/>
          <a:p>
            <a:pPr algn="ctr"/>
            <a:endParaRPr/>
          </a:p>
        </p:txBody>
      </p:sp>
      <p:sp>
        <p:nvSpPr>
          <p:cNvPr id="470" name="Rectangle 469"/>
          <p:cNvSpPr/>
          <p:nvPr/>
        </p:nvSpPr>
        <p:spPr>
          <a:xfrm>
            <a:off x="7558088" y="2914650"/>
            <a:ext cx="1957388" cy="9525"/>
          </a:xfrm>
          <a:prstGeom prst="rect">
            <a:avLst/>
          </a:prstGeom>
          <a:solidFill>
            <a:srgbClr val="E3DCD3"/>
          </a:solidFill>
          <a:ln>
            <a:noFill/>
          </a:ln>
          <a:effectLst/>
        </p:spPr>
        <p:txBody>
          <a:bodyPr rtlCol="0" anchor="ctr"/>
          <a:lstStyle/>
          <a:p>
            <a:pPr algn="ctr"/>
            <a:endParaRPr/>
          </a:p>
        </p:txBody>
      </p:sp>
      <p:sp>
        <p:nvSpPr>
          <p:cNvPr id="471" name="Rectangle 470"/>
          <p:cNvSpPr/>
          <p:nvPr/>
        </p:nvSpPr>
        <p:spPr>
          <a:xfrm>
            <a:off x="7558088" y="2695575"/>
            <a:ext cx="9525" cy="228600"/>
          </a:xfrm>
          <a:prstGeom prst="rect">
            <a:avLst/>
          </a:prstGeom>
          <a:solidFill>
            <a:srgbClr val="E3DCD3"/>
          </a:solidFill>
          <a:ln>
            <a:noFill/>
          </a:ln>
          <a:effectLst/>
        </p:spPr>
        <p:txBody>
          <a:bodyPr rtlCol="0" anchor="ctr"/>
          <a:lstStyle/>
          <a:p>
            <a:pPr algn="ctr"/>
            <a:endParaRPr/>
          </a:p>
        </p:txBody>
      </p:sp>
      <p:sp>
        <p:nvSpPr>
          <p:cNvPr id="472" name="Rounded Rectangle 471"/>
          <p:cNvSpPr/>
          <p:nvPr/>
        </p:nvSpPr>
        <p:spPr>
          <a:xfrm>
            <a:off x="7577138" y="271462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473" name="Text: MCK">
            <a:hlinkClick r:id="rId39"/>
          </p:cNvPr>
          <p:cNvSpPr txBox="1"/>
          <p:nvPr/>
        </p:nvSpPr>
        <p:spPr>
          <a:xfrm>
            <a:off x="7577138" y="271462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MCK</a:t>
            </a:r>
          </a:p>
        </p:txBody>
      </p:sp>
      <p:sp>
        <p:nvSpPr>
          <p:cNvPr id="474" name="Text: McKesson">
            <a:hlinkClick r:id="rId39"/>
          </p:cNvPr>
          <p:cNvSpPr txBox="1"/>
          <p:nvPr/>
        </p:nvSpPr>
        <p:spPr>
          <a:xfrm>
            <a:off x="8005762" y="2745581"/>
            <a:ext cx="429369"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McKesson</a:t>
            </a:r>
          </a:p>
        </p:txBody>
      </p:sp>
      <p:sp>
        <p:nvSpPr>
          <p:cNvPr id="475" name="Rectangle 474"/>
          <p:cNvSpPr/>
          <p:nvPr/>
        </p:nvSpPr>
        <p:spPr>
          <a:xfrm>
            <a:off x="7558088" y="2943225"/>
            <a:ext cx="1957388" cy="228600"/>
          </a:xfrm>
          <a:prstGeom prst="rect">
            <a:avLst/>
          </a:prstGeom>
          <a:solidFill>
            <a:srgbClr val="FFFFFF"/>
          </a:solidFill>
          <a:ln>
            <a:noFill/>
          </a:ln>
          <a:effectLst/>
        </p:spPr>
        <p:txBody>
          <a:bodyPr rtlCol="0" anchor="ctr"/>
          <a:lstStyle/>
          <a:p>
            <a:pPr algn="ctr"/>
            <a:endParaRPr/>
          </a:p>
        </p:txBody>
      </p:sp>
      <p:sp>
        <p:nvSpPr>
          <p:cNvPr id="476" name="Rectangle 475"/>
          <p:cNvSpPr/>
          <p:nvPr/>
        </p:nvSpPr>
        <p:spPr>
          <a:xfrm>
            <a:off x="7558088" y="2943225"/>
            <a:ext cx="1957388" cy="9525"/>
          </a:xfrm>
          <a:prstGeom prst="rect">
            <a:avLst/>
          </a:prstGeom>
          <a:solidFill>
            <a:srgbClr val="E3DCD3"/>
          </a:solidFill>
          <a:ln>
            <a:noFill/>
          </a:ln>
          <a:effectLst/>
        </p:spPr>
        <p:txBody>
          <a:bodyPr rtlCol="0" anchor="ctr"/>
          <a:lstStyle/>
          <a:p>
            <a:pPr algn="ctr"/>
            <a:endParaRPr/>
          </a:p>
        </p:txBody>
      </p:sp>
      <p:sp>
        <p:nvSpPr>
          <p:cNvPr id="477" name="Rectangle 476"/>
          <p:cNvSpPr/>
          <p:nvPr/>
        </p:nvSpPr>
        <p:spPr>
          <a:xfrm>
            <a:off x="9505950" y="2943225"/>
            <a:ext cx="9525" cy="228600"/>
          </a:xfrm>
          <a:prstGeom prst="rect">
            <a:avLst/>
          </a:prstGeom>
          <a:solidFill>
            <a:srgbClr val="E3DCD3"/>
          </a:solidFill>
          <a:ln>
            <a:noFill/>
          </a:ln>
          <a:effectLst/>
        </p:spPr>
        <p:txBody>
          <a:bodyPr rtlCol="0" anchor="ctr"/>
          <a:lstStyle/>
          <a:p>
            <a:pPr algn="ctr"/>
            <a:endParaRPr/>
          </a:p>
        </p:txBody>
      </p:sp>
      <p:sp>
        <p:nvSpPr>
          <p:cNvPr id="478" name="Rectangle 477"/>
          <p:cNvSpPr/>
          <p:nvPr/>
        </p:nvSpPr>
        <p:spPr>
          <a:xfrm>
            <a:off x="7558088" y="3162300"/>
            <a:ext cx="1957388" cy="9525"/>
          </a:xfrm>
          <a:prstGeom prst="rect">
            <a:avLst/>
          </a:prstGeom>
          <a:solidFill>
            <a:srgbClr val="E3DCD3"/>
          </a:solidFill>
          <a:ln>
            <a:noFill/>
          </a:ln>
          <a:effectLst/>
        </p:spPr>
        <p:txBody>
          <a:bodyPr rtlCol="0" anchor="ctr"/>
          <a:lstStyle/>
          <a:p>
            <a:pPr algn="ctr"/>
            <a:endParaRPr/>
          </a:p>
        </p:txBody>
      </p:sp>
      <p:sp>
        <p:nvSpPr>
          <p:cNvPr id="479" name="Rectangle 478"/>
          <p:cNvSpPr/>
          <p:nvPr/>
        </p:nvSpPr>
        <p:spPr>
          <a:xfrm>
            <a:off x="7558088" y="2943225"/>
            <a:ext cx="9525" cy="228600"/>
          </a:xfrm>
          <a:prstGeom prst="rect">
            <a:avLst/>
          </a:prstGeom>
          <a:solidFill>
            <a:srgbClr val="E3DCD3"/>
          </a:solidFill>
          <a:ln>
            <a:noFill/>
          </a:ln>
          <a:effectLst/>
        </p:spPr>
        <p:txBody>
          <a:bodyPr rtlCol="0" anchor="ctr"/>
          <a:lstStyle/>
          <a:p>
            <a:pPr algn="ctr"/>
            <a:endParaRPr/>
          </a:p>
        </p:txBody>
      </p:sp>
      <p:sp>
        <p:nvSpPr>
          <p:cNvPr id="480" name="Rounded Rectangle 479"/>
          <p:cNvSpPr/>
          <p:nvPr/>
        </p:nvSpPr>
        <p:spPr>
          <a:xfrm>
            <a:off x="7577138" y="296227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481" name="Text: COR">
            <a:hlinkClick r:id="rId40"/>
          </p:cNvPr>
          <p:cNvSpPr txBox="1"/>
          <p:nvPr/>
        </p:nvSpPr>
        <p:spPr>
          <a:xfrm>
            <a:off x="7577138" y="296227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COR</a:t>
            </a:r>
          </a:p>
        </p:txBody>
      </p:sp>
      <p:sp>
        <p:nvSpPr>
          <p:cNvPr id="482" name="Text: Cencora">
            <a:hlinkClick r:id="rId40"/>
          </p:cNvPr>
          <p:cNvSpPr txBox="1"/>
          <p:nvPr/>
        </p:nvSpPr>
        <p:spPr>
          <a:xfrm>
            <a:off x="8005762" y="2993231"/>
            <a:ext cx="346621"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Cencora</a:t>
            </a:r>
          </a:p>
        </p:txBody>
      </p:sp>
      <p:sp>
        <p:nvSpPr>
          <p:cNvPr id="483" name="Rectangle 482"/>
          <p:cNvSpPr/>
          <p:nvPr/>
        </p:nvSpPr>
        <p:spPr>
          <a:xfrm>
            <a:off x="7558088" y="3190875"/>
            <a:ext cx="1957388" cy="228600"/>
          </a:xfrm>
          <a:prstGeom prst="rect">
            <a:avLst/>
          </a:prstGeom>
          <a:solidFill>
            <a:srgbClr val="FFFFFF"/>
          </a:solidFill>
          <a:ln>
            <a:noFill/>
          </a:ln>
          <a:effectLst/>
        </p:spPr>
        <p:txBody>
          <a:bodyPr rtlCol="0" anchor="ctr"/>
          <a:lstStyle/>
          <a:p>
            <a:pPr algn="ctr"/>
            <a:endParaRPr/>
          </a:p>
        </p:txBody>
      </p:sp>
      <p:sp>
        <p:nvSpPr>
          <p:cNvPr id="484" name="Rectangle 483"/>
          <p:cNvSpPr/>
          <p:nvPr/>
        </p:nvSpPr>
        <p:spPr>
          <a:xfrm>
            <a:off x="7558088" y="3190875"/>
            <a:ext cx="1957388" cy="9525"/>
          </a:xfrm>
          <a:prstGeom prst="rect">
            <a:avLst/>
          </a:prstGeom>
          <a:solidFill>
            <a:srgbClr val="E3DCD3"/>
          </a:solidFill>
          <a:ln>
            <a:noFill/>
          </a:ln>
          <a:effectLst/>
        </p:spPr>
        <p:txBody>
          <a:bodyPr rtlCol="0" anchor="ctr"/>
          <a:lstStyle/>
          <a:p>
            <a:pPr algn="ctr"/>
            <a:endParaRPr/>
          </a:p>
        </p:txBody>
      </p:sp>
      <p:sp>
        <p:nvSpPr>
          <p:cNvPr id="485" name="Rectangle 484"/>
          <p:cNvSpPr/>
          <p:nvPr/>
        </p:nvSpPr>
        <p:spPr>
          <a:xfrm>
            <a:off x="9505950" y="3190875"/>
            <a:ext cx="9525" cy="228600"/>
          </a:xfrm>
          <a:prstGeom prst="rect">
            <a:avLst/>
          </a:prstGeom>
          <a:solidFill>
            <a:srgbClr val="E3DCD3"/>
          </a:solidFill>
          <a:ln>
            <a:noFill/>
          </a:ln>
          <a:effectLst/>
        </p:spPr>
        <p:txBody>
          <a:bodyPr rtlCol="0" anchor="ctr"/>
          <a:lstStyle/>
          <a:p>
            <a:pPr algn="ctr"/>
            <a:endParaRPr/>
          </a:p>
        </p:txBody>
      </p:sp>
      <p:sp>
        <p:nvSpPr>
          <p:cNvPr id="486" name="Rectangle 485"/>
          <p:cNvSpPr/>
          <p:nvPr/>
        </p:nvSpPr>
        <p:spPr>
          <a:xfrm>
            <a:off x="7558088" y="3409950"/>
            <a:ext cx="1957388" cy="9525"/>
          </a:xfrm>
          <a:prstGeom prst="rect">
            <a:avLst/>
          </a:prstGeom>
          <a:solidFill>
            <a:srgbClr val="E3DCD3"/>
          </a:solidFill>
          <a:ln>
            <a:noFill/>
          </a:ln>
          <a:effectLst/>
        </p:spPr>
        <p:txBody>
          <a:bodyPr rtlCol="0" anchor="ctr"/>
          <a:lstStyle/>
          <a:p>
            <a:pPr algn="ctr"/>
            <a:endParaRPr/>
          </a:p>
        </p:txBody>
      </p:sp>
      <p:sp>
        <p:nvSpPr>
          <p:cNvPr id="487" name="Rectangle 486"/>
          <p:cNvSpPr/>
          <p:nvPr/>
        </p:nvSpPr>
        <p:spPr>
          <a:xfrm>
            <a:off x="7558088" y="3190875"/>
            <a:ext cx="9525" cy="228600"/>
          </a:xfrm>
          <a:prstGeom prst="rect">
            <a:avLst/>
          </a:prstGeom>
          <a:solidFill>
            <a:srgbClr val="E3DCD3"/>
          </a:solidFill>
          <a:ln>
            <a:noFill/>
          </a:ln>
          <a:effectLst/>
        </p:spPr>
        <p:txBody>
          <a:bodyPr rtlCol="0" anchor="ctr"/>
          <a:lstStyle/>
          <a:p>
            <a:pPr algn="ctr"/>
            <a:endParaRPr/>
          </a:p>
        </p:txBody>
      </p:sp>
      <p:sp>
        <p:nvSpPr>
          <p:cNvPr id="488" name="Rounded Rectangle 487"/>
          <p:cNvSpPr/>
          <p:nvPr/>
        </p:nvSpPr>
        <p:spPr>
          <a:xfrm>
            <a:off x="7577138" y="320992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489" name="Text: CAH">
            <a:hlinkClick r:id="rId41"/>
          </p:cNvPr>
          <p:cNvSpPr txBox="1"/>
          <p:nvPr/>
        </p:nvSpPr>
        <p:spPr>
          <a:xfrm>
            <a:off x="7577138" y="320992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CAH</a:t>
            </a:r>
          </a:p>
        </p:txBody>
      </p:sp>
      <p:sp>
        <p:nvSpPr>
          <p:cNvPr id="490" name="Text: Cardinal Health">
            <a:hlinkClick r:id="rId41"/>
          </p:cNvPr>
          <p:cNvSpPr txBox="1"/>
          <p:nvPr/>
        </p:nvSpPr>
        <p:spPr>
          <a:xfrm>
            <a:off x="8005762" y="3240881"/>
            <a:ext cx="653207"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Cardinal Health</a:t>
            </a:r>
          </a:p>
        </p:txBody>
      </p:sp>
      <p:sp>
        <p:nvSpPr>
          <p:cNvPr id="491" name="Rectangle 490"/>
          <p:cNvSpPr/>
          <p:nvPr/>
        </p:nvSpPr>
        <p:spPr>
          <a:xfrm>
            <a:off x="7558088" y="3438525"/>
            <a:ext cx="1957388" cy="228600"/>
          </a:xfrm>
          <a:prstGeom prst="rect">
            <a:avLst/>
          </a:prstGeom>
          <a:solidFill>
            <a:srgbClr val="FFFFFF"/>
          </a:solidFill>
          <a:ln>
            <a:noFill/>
          </a:ln>
          <a:effectLst/>
        </p:spPr>
        <p:txBody>
          <a:bodyPr rtlCol="0" anchor="ctr"/>
          <a:lstStyle/>
          <a:p>
            <a:pPr algn="ctr"/>
            <a:endParaRPr/>
          </a:p>
        </p:txBody>
      </p:sp>
      <p:sp>
        <p:nvSpPr>
          <p:cNvPr id="492" name="Rectangle 491"/>
          <p:cNvSpPr/>
          <p:nvPr/>
        </p:nvSpPr>
        <p:spPr>
          <a:xfrm>
            <a:off x="7558088" y="3438525"/>
            <a:ext cx="1957388" cy="9525"/>
          </a:xfrm>
          <a:prstGeom prst="rect">
            <a:avLst/>
          </a:prstGeom>
          <a:solidFill>
            <a:srgbClr val="E3DCD3"/>
          </a:solidFill>
          <a:ln>
            <a:noFill/>
          </a:ln>
          <a:effectLst/>
        </p:spPr>
        <p:txBody>
          <a:bodyPr rtlCol="0" anchor="ctr"/>
          <a:lstStyle/>
          <a:p>
            <a:pPr algn="ctr"/>
            <a:endParaRPr/>
          </a:p>
        </p:txBody>
      </p:sp>
      <p:sp>
        <p:nvSpPr>
          <p:cNvPr id="493" name="Rectangle 492"/>
          <p:cNvSpPr/>
          <p:nvPr/>
        </p:nvSpPr>
        <p:spPr>
          <a:xfrm>
            <a:off x="9505950" y="3438525"/>
            <a:ext cx="9525" cy="228600"/>
          </a:xfrm>
          <a:prstGeom prst="rect">
            <a:avLst/>
          </a:prstGeom>
          <a:solidFill>
            <a:srgbClr val="E3DCD3"/>
          </a:solidFill>
          <a:ln>
            <a:noFill/>
          </a:ln>
          <a:effectLst/>
        </p:spPr>
        <p:txBody>
          <a:bodyPr rtlCol="0" anchor="ctr"/>
          <a:lstStyle/>
          <a:p>
            <a:pPr algn="ctr"/>
            <a:endParaRPr/>
          </a:p>
        </p:txBody>
      </p:sp>
      <p:sp>
        <p:nvSpPr>
          <p:cNvPr id="494" name="Rectangle 493"/>
          <p:cNvSpPr/>
          <p:nvPr/>
        </p:nvSpPr>
        <p:spPr>
          <a:xfrm>
            <a:off x="7558088" y="3657600"/>
            <a:ext cx="1957388" cy="9525"/>
          </a:xfrm>
          <a:prstGeom prst="rect">
            <a:avLst/>
          </a:prstGeom>
          <a:solidFill>
            <a:srgbClr val="E3DCD3"/>
          </a:solidFill>
          <a:ln>
            <a:noFill/>
          </a:ln>
          <a:effectLst/>
        </p:spPr>
        <p:txBody>
          <a:bodyPr rtlCol="0" anchor="ctr"/>
          <a:lstStyle/>
          <a:p>
            <a:pPr algn="ctr"/>
            <a:endParaRPr/>
          </a:p>
        </p:txBody>
      </p:sp>
      <p:sp>
        <p:nvSpPr>
          <p:cNvPr id="495" name="Rectangle 494"/>
          <p:cNvSpPr/>
          <p:nvPr/>
        </p:nvSpPr>
        <p:spPr>
          <a:xfrm>
            <a:off x="7558088" y="3438525"/>
            <a:ext cx="9525" cy="228600"/>
          </a:xfrm>
          <a:prstGeom prst="rect">
            <a:avLst/>
          </a:prstGeom>
          <a:solidFill>
            <a:srgbClr val="E3DCD3"/>
          </a:solidFill>
          <a:ln>
            <a:noFill/>
          </a:ln>
          <a:effectLst/>
        </p:spPr>
        <p:txBody>
          <a:bodyPr rtlCol="0" anchor="ctr"/>
          <a:lstStyle/>
          <a:p>
            <a:pPr algn="ctr"/>
            <a:endParaRPr/>
          </a:p>
        </p:txBody>
      </p:sp>
      <p:sp>
        <p:nvSpPr>
          <p:cNvPr id="496" name="Rounded Rectangle 495"/>
          <p:cNvSpPr/>
          <p:nvPr/>
        </p:nvSpPr>
        <p:spPr>
          <a:xfrm>
            <a:off x="7577138" y="345757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497" name="Text: CVS">
            <a:hlinkClick r:id="rId42"/>
          </p:cNvPr>
          <p:cNvSpPr txBox="1"/>
          <p:nvPr/>
        </p:nvSpPr>
        <p:spPr>
          <a:xfrm>
            <a:off x="7577138" y="345757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CVS</a:t>
            </a:r>
          </a:p>
        </p:txBody>
      </p:sp>
      <p:sp>
        <p:nvSpPr>
          <p:cNvPr id="498" name="Text: CVS Health">
            <a:hlinkClick r:id="rId42"/>
          </p:cNvPr>
          <p:cNvSpPr txBox="1"/>
          <p:nvPr/>
        </p:nvSpPr>
        <p:spPr>
          <a:xfrm>
            <a:off x="8005762" y="3488531"/>
            <a:ext cx="468511"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CVS Health</a:t>
            </a:r>
          </a:p>
        </p:txBody>
      </p:sp>
      <p:sp>
        <p:nvSpPr>
          <p:cNvPr id="499" name="Rectangle 498"/>
          <p:cNvSpPr/>
          <p:nvPr/>
        </p:nvSpPr>
        <p:spPr>
          <a:xfrm>
            <a:off x="7558088" y="3686175"/>
            <a:ext cx="1957388" cy="228600"/>
          </a:xfrm>
          <a:prstGeom prst="rect">
            <a:avLst/>
          </a:prstGeom>
          <a:solidFill>
            <a:srgbClr val="FFFFFF"/>
          </a:solidFill>
          <a:ln>
            <a:noFill/>
          </a:ln>
          <a:effectLst/>
        </p:spPr>
        <p:txBody>
          <a:bodyPr rtlCol="0" anchor="ctr"/>
          <a:lstStyle/>
          <a:p>
            <a:pPr algn="ctr"/>
            <a:endParaRPr/>
          </a:p>
        </p:txBody>
      </p:sp>
      <p:sp>
        <p:nvSpPr>
          <p:cNvPr id="500" name="Rectangle 499"/>
          <p:cNvSpPr/>
          <p:nvPr/>
        </p:nvSpPr>
        <p:spPr>
          <a:xfrm>
            <a:off x="7558088" y="3686175"/>
            <a:ext cx="1957388" cy="9525"/>
          </a:xfrm>
          <a:prstGeom prst="rect">
            <a:avLst/>
          </a:prstGeom>
          <a:solidFill>
            <a:srgbClr val="E3DCD3"/>
          </a:solidFill>
          <a:ln>
            <a:noFill/>
          </a:ln>
          <a:effectLst/>
        </p:spPr>
        <p:txBody>
          <a:bodyPr rtlCol="0" anchor="ctr"/>
          <a:lstStyle/>
          <a:p>
            <a:pPr algn="ctr"/>
            <a:endParaRPr/>
          </a:p>
        </p:txBody>
      </p:sp>
      <p:sp>
        <p:nvSpPr>
          <p:cNvPr id="501" name="Rectangle 500"/>
          <p:cNvSpPr/>
          <p:nvPr/>
        </p:nvSpPr>
        <p:spPr>
          <a:xfrm>
            <a:off x="9505950" y="3686175"/>
            <a:ext cx="9525" cy="228600"/>
          </a:xfrm>
          <a:prstGeom prst="rect">
            <a:avLst/>
          </a:prstGeom>
          <a:solidFill>
            <a:srgbClr val="E3DCD3"/>
          </a:solidFill>
          <a:ln>
            <a:noFill/>
          </a:ln>
          <a:effectLst/>
        </p:spPr>
        <p:txBody>
          <a:bodyPr rtlCol="0" anchor="ctr"/>
          <a:lstStyle/>
          <a:p>
            <a:pPr algn="ctr"/>
            <a:endParaRPr/>
          </a:p>
        </p:txBody>
      </p:sp>
      <p:sp>
        <p:nvSpPr>
          <p:cNvPr id="502" name="Rectangle 501"/>
          <p:cNvSpPr/>
          <p:nvPr/>
        </p:nvSpPr>
        <p:spPr>
          <a:xfrm>
            <a:off x="7558088" y="3905250"/>
            <a:ext cx="1957388" cy="9525"/>
          </a:xfrm>
          <a:prstGeom prst="rect">
            <a:avLst/>
          </a:prstGeom>
          <a:solidFill>
            <a:srgbClr val="E3DCD3"/>
          </a:solidFill>
          <a:ln>
            <a:noFill/>
          </a:ln>
          <a:effectLst/>
        </p:spPr>
        <p:txBody>
          <a:bodyPr rtlCol="0" anchor="ctr"/>
          <a:lstStyle/>
          <a:p>
            <a:pPr algn="ctr"/>
            <a:endParaRPr/>
          </a:p>
        </p:txBody>
      </p:sp>
      <p:sp>
        <p:nvSpPr>
          <p:cNvPr id="503" name="Rectangle 502"/>
          <p:cNvSpPr/>
          <p:nvPr/>
        </p:nvSpPr>
        <p:spPr>
          <a:xfrm>
            <a:off x="7558088" y="3686175"/>
            <a:ext cx="9525" cy="228600"/>
          </a:xfrm>
          <a:prstGeom prst="rect">
            <a:avLst/>
          </a:prstGeom>
          <a:solidFill>
            <a:srgbClr val="E3DCD3"/>
          </a:solidFill>
          <a:ln>
            <a:noFill/>
          </a:ln>
          <a:effectLst/>
        </p:spPr>
        <p:txBody>
          <a:bodyPr rtlCol="0" anchor="ctr"/>
          <a:lstStyle/>
          <a:p>
            <a:pPr algn="ctr"/>
            <a:endParaRPr/>
          </a:p>
        </p:txBody>
      </p:sp>
      <p:sp>
        <p:nvSpPr>
          <p:cNvPr id="504" name="Rounded Rectangle 503"/>
          <p:cNvSpPr/>
          <p:nvPr/>
        </p:nvSpPr>
        <p:spPr>
          <a:xfrm>
            <a:off x="7577138" y="370522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505" name="Text: AMN">
            <a:hlinkClick r:id="rId43"/>
          </p:cNvPr>
          <p:cNvSpPr txBox="1"/>
          <p:nvPr/>
        </p:nvSpPr>
        <p:spPr>
          <a:xfrm>
            <a:off x="7577138" y="370522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AMN</a:t>
            </a:r>
          </a:p>
        </p:txBody>
      </p:sp>
      <p:sp>
        <p:nvSpPr>
          <p:cNvPr id="506" name="Text: AMN Healthcare">
            <a:hlinkClick r:id="rId43"/>
          </p:cNvPr>
          <p:cNvSpPr txBox="1"/>
          <p:nvPr/>
        </p:nvSpPr>
        <p:spPr>
          <a:xfrm>
            <a:off x="8005762" y="3736181"/>
            <a:ext cx="695920" cy="128588"/>
          </a:xfrm>
          <a:prstGeom prst="rect">
            <a:avLst/>
          </a:prstGeom>
          <a:noFill/>
        </p:spPr>
        <p:txBody>
          <a:bodyPr wrap="square" lIns="0" tIns="0" rIns="0" bIns="0" anchor="t">
            <a:spAutoFit/>
          </a:bodyPr>
          <a:lstStyle/>
          <a:p>
            <a:pPr algn="l">
              <a:lnSpc>
                <a:spcPts val="1011"/>
              </a:lnSpc>
            </a:pPr>
            <a:r>
              <a:rPr sz="750" b="1" i="0" spc="15">
                <a:solidFill>
                  <a:srgbClr val="333231"/>
                </a:solidFill>
                <a:latin typeface="Calibri"/>
              </a:rPr>
              <a:t>AMN Healthcare</a:t>
            </a:r>
          </a:p>
        </p:txBody>
      </p:sp>
      <p:sp>
        <p:nvSpPr>
          <p:cNvPr id="507" name="Text: PHARMACY, STAFFING AND LOGISTICS B"/>
          <p:cNvSpPr txBox="1"/>
          <p:nvPr/>
        </p:nvSpPr>
        <p:spPr>
          <a:xfrm>
            <a:off x="7558088" y="5667375"/>
            <a:ext cx="1971675" cy="247650"/>
          </a:xfrm>
          <a:prstGeom prst="rect">
            <a:avLst/>
          </a:prstGeom>
          <a:noFill/>
        </p:spPr>
        <p:txBody>
          <a:bodyPr wrap="square" lIns="0" tIns="0" rIns="0" bIns="0" anchor="t">
            <a:spAutoFit/>
          </a:bodyPr>
          <a:lstStyle/>
          <a:p>
            <a:pPr algn="l">
              <a:lnSpc>
                <a:spcPts val="975"/>
              </a:lnSpc>
            </a:pPr>
            <a:r>
              <a:rPr sz="638" b="1" i="0" spc="150">
                <a:solidFill>
                  <a:srgbClr val="8C6239"/>
                </a:solidFill>
                <a:latin typeface="Calibri"/>
              </a:rPr>
              <a:t>PHARMACY, STAFFING AND LOGISTICS BUYERS</a:t>
            </a:r>
          </a:p>
        </p:txBody>
      </p:sp>
      <p:sp>
        <p:nvSpPr>
          <p:cNvPr id="508" name="Rectangle 507"/>
          <p:cNvSpPr/>
          <p:nvPr/>
        </p:nvSpPr>
        <p:spPr>
          <a:xfrm>
            <a:off x="7558088" y="5972175"/>
            <a:ext cx="533549" cy="180975"/>
          </a:xfrm>
          <a:prstGeom prst="rect">
            <a:avLst/>
          </a:prstGeom>
          <a:solidFill>
            <a:srgbClr val="FFFFFF"/>
          </a:solidFill>
          <a:ln>
            <a:noFill/>
          </a:ln>
          <a:effectLst/>
        </p:spPr>
        <p:txBody>
          <a:bodyPr rtlCol="0" anchor="ctr"/>
          <a:lstStyle/>
          <a:p>
            <a:pPr algn="ctr"/>
            <a:endParaRPr/>
          </a:p>
        </p:txBody>
      </p:sp>
      <p:sp>
        <p:nvSpPr>
          <p:cNvPr id="509" name="Rectangle 508"/>
          <p:cNvSpPr/>
          <p:nvPr/>
        </p:nvSpPr>
        <p:spPr>
          <a:xfrm>
            <a:off x="7558088" y="5972175"/>
            <a:ext cx="533549" cy="9525"/>
          </a:xfrm>
          <a:prstGeom prst="rect">
            <a:avLst/>
          </a:prstGeom>
          <a:solidFill>
            <a:srgbClr val="E3DCD3"/>
          </a:solidFill>
          <a:ln>
            <a:noFill/>
          </a:ln>
          <a:effectLst/>
        </p:spPr>
        <p:txBody>
          <a:bodyPr rtlCol="0" anchor="ctr"/>
          <a:lstStyle/>
          <a:p>
            <a:pPr algn="ctr"/>
            <a:endParaRPr/>
          </a:p>
        </p:txBody>
      </p:sp>
      <p:sp>
        <p:nvSpPr>
          <p:cNvPr id="510" name="Rectangle 509"/>
          <p:cNvSpPr/>
          <p:nvPr/>
        </p:nvSpPr>
        <p:spPr>
          <a:xfrm>
            <a:off x="8082111" y="5972175"/>
            <a:ext cx="9525" cy="180975"/>
          </a:xfrm>
          <a:prstGeom prst="rect">
            <a:avLst/>
          </a:prstGeom>
          <a:solidFill>
            <a:srgbClr val="E3DCD3"/>
          </a:solidFill>
          <a:ln>
            <a:noFill/>
          </a:ln>
          <a:effectLst/>
        </p:spPr>
        <p:txBody>
          <a:bodyPr rtlCol="0" anchor="ctr"/>
          <a:lstStyle/>
          <a:p>
            <a:pPr algn="ctr"/>
            <a:endParaRPr/>
          </a:p>
        </p:txBody>
      </p:sp>
      <p:sp>
        <p:nvSpPr>
          <p:cNvPr id="511" name="Rectangle 510"/>
          <p:cNvSpPr/>
          <p:nvPr/>
        </p:nvSpPr>
        <p:spPr>
          <a:xfrm>
            <a:off x="7558088" y="6143625"/>
            <a:ext cx="533549" cy="9525"/>
          </a:xfrm>
          <a:prstGeom prst="rect">
            <a:avLst/>
          </a:prstGeom>
          <a:solidFill>
            <a:srgbClr val="E3DCD3"/>
          </a:solidFill>
          <a:ln>
            <a:noFill/>
          </a:ln>
          <a:effectLst/>
        </p:spPr>
        <p:txBody>
          <a:bodyPr rtlCol="0" anchor="ctr"/>
          <a:lstStyle/>
          <a:p>
            <a:pPr algn="ctr"/>
            <a:endParaRPr/>
          </a:p>
        </p:txBody>
      </p:sp>
      <p:sp>
        <p:nvSpPr>
          <p:cNvPr id="512" name="Rectangle 511"/>
          <p:cNvSpPr/>
          <p:nvPr/>
        </p:nvSpPr>
        <p:spPr>
          <a:xfrm>
            <a:off x="7558088" y="5972175"/>
            <a:ext cx="9525" cy="180975"/>
          </a:xfrm>
          <a:prstGeom prst="rect">
            <a:avLst/>
          </a:prstGeom>
          <a:solidFill>
            <a:srgbClr val="E3DCD3"/>
          </a:solidFill>
          <a:ln>
            <a:noFill/>
          </a:ln>
          <a:effectLst/>
        </p:spPr>
        <p:txBody>
          <a:bodyPr rtlCol="0" anchor="ctr"/>
          <a:lstStyle/>
          <a:p>
            <a:pPr algn="ctr"/>
            <a:endParaRPr/>
          </a:p>
        </p:txBody>
      </p:sp>
      <p:sp>
        <p:nvSpPr>
          <p:cNvPr id="513" name="Text: Knox Lane"/>
          <p:cNvSpPr txBox="1"/>
          <p:nvPr/>
        </p:nvSpPr>
        <p:spPr>
          <a:xfrm>
            <a:off x="7624762" y="6000750"/>
            <a:ext cx="414486"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Knox Lane</a:t>
            </a:r>
          </a:p>
        </p:txBody>
      </p:sp>
      <p:sp>
        <p:nvSpPr>
          <p:cNvPr id="514" name="Rectangle 513"/>
          <p:cNvSpPr/>
          <p:nvPr/>
        </p:nvSpPr>
        <p:spPr>
          <a:xfrm>
            <a:off x="8129736" y="5972175"/>
            <a:ext cx="599033" cy="180975"/>
          </a:xfrm>
          <a:prstGeom prst="rect">
            <a:avLst/>
          </a:prstGeom>
          <a:solidFill>
            <a:srgbClr val="FFFFFF"/>
          </a:solidFill>
          <a:ln>
            <a:noFill/>
          </a:ln>
          <a:effectLst/>
        </p:spPr>
        <p:txBody>
          <a:bodyPr rtlCol="0" anchor="ctr"/>
          <a:lstStyle/>
          <a:p>
            <a:pPr algn="ctr"/>
            <a:endParaRPr/>
          </a:p>
        </p:txBody>
      </p:sp>
      <p:sp>
        <p:nvSpPr>
          <p:cNvPr id="515" name="Rectangle 514"/>
          <p:cNvSpPr/>
          <p:nvPr/>
        </p:nvSpPr>
        <p:spPr>
          <a:xfrm>
            <a:off x="8129736" y="5972175"/>
            <a:ext cx="599033" cy="9525"/>
          </a:xfrm>
          <a:prstGeom prst="rect">
            <a:avLst/>
          </a:prstGeom>
          <a:solidFill>
            <a:srgbClr val="E3DCD3"/>
          </a:solidFill>
          <a:ln>
            <a:noFill/>
          </a:ln>
          <a:effectLst/>
        </p:spPr>
        <p:txBody>
          <a:bodyPr rtlCol="0" anchor="ctr"/>
          <a:lstStyle/>
          <a:p>
            <a:pPr algn="ctr"/>
            <a:endParaRPr/>
          </a:p>
        </p:txBody>
      </p:sp>
      <p:sp>
        <p:nvSpPr>
          <p:cNvPr id="516" name="Rectangle 515"/>
          <p:cNvSpPr/>
          <p:nvPr/>
        </p:nvSpPr>
        <p:spPr>
          <a:xfrm>
            <a:off x="8719245" y="5972175"/>
            <a:ext cx="9525" cy="180975"/>
          </a:xfrm>
          <a:prstGeom prst="rect">
            <a:avLst/>
          </a:prstGeom>
          <a:solidFill>
            <a:srgbClr val="E3DCD3"/>
          </a:solidFill>
          <a:ln>
            <a:noFill/>
          </a:ln>
          <a:effectLst/>
        </p:spPr>
        <p:txBody>
          <a:bodyPr rtlCol="0" anchor="ctr"/>
          <a:lstStyle/>
          <a:p>
            <a:pPr algn="ctr"/>
            <a:endParaRPr/>
          </a:p>
        </p:txBody>
      </p:sp>
      <p:sp>
        <p:nvSpPr>
          <p:cNvPr id="517" name="Rectangle 516"/>
          <p:cNvSpPr/>
          <p:nvPr/>
        </p:nvSpPr>
        <p:spPr>
          <a:xfrm>
            <a:off x="8129736" y="6143625"/>
            <a:ext cx="599033" cy="9525"/>
          </a:xfrm>
          <a:prstGeom prst="rect">
            <a:avLst/>
          </a:prstGeom>
          <a:solidFill>
            <a:srgbClr val="E3DCD3"/>
          </a:solidFill>
          <a:ln>
            <a:noFill/>
          </a:ln>
          <a:effectLst/>
        </p:spPr>
        <p:txBody>
          <a:bodyPr rtlCol="0" anchor="ctr"/>
          <a:lstStyle/>
          <a:p>
            <a:pPr algn="ctr"/>
            <a:endParaRPr/>
          </a:p>
        </p:txBody>
      </p:sp>
      <p:sp>
        <p:nvSpPr>
          <p:cNvPr id="518" name="Rectangle 517"/>
          <p:cNvSpPr/>
          <p:nvPr/>
        </p:nvSpPr>
        <p:spPr>
          <a:xfrm>
            <a:off x="8129736" y="5972175"/>
            <a:ext cx="9525" cy="180975"/>
          </a:xfrm>
          <a:prstGeom prst="rect">
            <a:avLst/>
          </a:prstGeom>
          <a:solidFill>
            <a:srgbClr val="E3DCD3"/>
          </a:solidFill>
          <a:ln>
            <a:noFill/>
          </a:ln>
          <a:effectLst/>
        </p:spPr>
        <p:txBody>
          <a:bodyPr rtlCol="0" anchor="ctr"/>
          <a:lstStyle/>
          <a:p>
            <a:pPr algn="ctr"/>
            <a:endParaRPr/>
          </a:p>
        </p:txBody>
      </p:sp>
      <p:sp>
        <p:nvSpPr>
          <p:cNvPr id="519" name="Text: JLL Partners"/>
          <p:cNvSpPr txBox="1"/>
          <p:nvPr/>
        </p:nvSpPr>
        <p:spPr>
          <a:xfrm>
            <a:off x="8196411" y="6000750"/>
            <a:ext cx="479971"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JLL Partners</a:t>
            </a:r>
          </a:p>
        </p:txBody>
      </p:sp>
      <p:sp>
        <p:nvSpPr>
          <p:cNvPr id="520" name="Rectangle 519"/>
          <p:cNvSpPr/>
          <p:nvPr/>
        </p:nvSpPr>
        <p:spPr>
          <a:xfrm>
            <a:off x="8766870" y="5972175"/>
            <a:ext cx="634008" cy="180975"/>
          </a:xfrm>
          <a:prstGeom prst="rect">
            <a:avLst/>
          </a:prstGeom>
          <a:solidFill>
            <a:srgbClr val="FFFFFF"/>
          </a:solidFill>
          <a:ln>
            <a:noFill/>
          </a:ln>
          <a:effectLst/>
        </p:spPr>
        <p:txBody>
          <a:bodyPr rtlCol="0" anchor="ctr"/>
          <a:lstStyle/>
          <a:p>
            <a:pPr algn="ctr"/>
            <a:endParaRPr/>
          </a:p>
        </p:txBody>
      </p:sp>
      <p:sp>
        <p:nvSpPr>
          <p:cNvPr id="521" name="Rectangle 520"/>
          <p:cNvSpPr/>
          <p:nvPr/>
        </p:nvSpPr>
        <p:spPr>
          <a:xfrm>
            <a:off x="8766870" y="5972175"/>
            <a:ext cx="634008" cy="9525"/>
          </a:xfrm>
          <a:prstGeom prst="rect">
            <a:avLst/>
          </a:prstGeom>
          <a:solidFill>
            <a:srgbClr val="E3DCD3"/>
          </a:solidFill>
          <a:ln>
            <a:noFill/>
          </a:ln>
          <a:effectLst/>
        </p:spPr>
        <p:txBody>
          <a:bodyPr rtlCol="0" anchor="ctr"/>
          <a:lstStyle/>
          <a:p>
            <a:pPr algn="ctr"/>
            <a:endParaRPr/>
          </a:p>
        </p:txBody>
      </p:sp>
      <p:sp>
        <p:nvSpPr>
          <p:cNvPr id="522" name="Rectangle 521"/>
          <p:cNvSpPr/>
          <p:nvPr/>
        </p:nvSpPr>
        <p:spPr>
          <a:xfrm>
            <a:off x="9391352" y="5972175"/>
            <a:ext cx="9525" cy="180975"/>
          </a:xfrm>
          <a:prstGeom prst="rect">
            <a:avLst/>
          </a:prstGeom>
          <a:solidFill>
            <a:srgbClr val="E3DCD3"/>
          </a:solidFill>
          <a:ln>
            <a:noFill/>
          </a:ln>
          <a:effectLst/>
        </p:spPr>
        <p:txBody>
          <a:bodyPr rtlCol="0" anchor="ctr"/>
          <a:lstStyle/>
          <a:p>
            <a:pPr algn="ctr"/>
            <a:endParaRPr/>
          </a:p>
        </p:txBody>
      </p:sp>
      <p:sp>
        <p:nvSpPr>
          <p:cNvPr id="523" name="Rectangle 522"/>
          <p:cNvSpPr/>
          <p:nvPr/>
        </p:nvSpPr>
        <p:spPr>
          <a:xfrm>
            <a:off x="8766870" y="6143625"/>
            <a:ext cx="634008" cy="9525"/>
          </a:xfrm>
          <a:prstGeom prst="rect">
            <a:avLst/>
          </a:prstGeom>
          <a:solidFill>
            <a:srgbClr val="E3DCD3"/>
          </a:solidFill>
          <a:ln>
            <a:noFill/>
          </a:ln>
          <a:effectLst/>
        </p:spPr>
        <p:txBody>
          <a:bodyPr rtlCol="0" anchor="ctr"/>
          <a:lstStyle/>
          <a:p>
            <a:pPr algn="ctr"/>
            <a:endParaRPr/>
          </a:p>
        </p:txBody>
      </p:sp>
      <p:sp>
        <p:nvSpPr>
          <p:cNvPr id="524" name="Rectangle 523"/>
          <p:cNvSpPr/>
          <p:nvPr/>
        </p:nvSpPr>
        <p:spPr>
          <a:xfrm>
            <a:off x="8766870" y="5972175"/>
            <a:ext cx="9525" cy="180975"/>
          </a:xfrm>
          <a:prstGeom prst="rect">
            <a:avLst/>
          </a:prstGeom>
          <a:solidFill>
            <a:srgbClr val="E3DCD3"/>
          </a:solidFill>
          <a:ln>
            <a:noFill/>
          </a:ln>
          <a:effectLst/>
        </p:spPr>
        <p:txBody>
          <a:bodyPr rtlCol="0" anchor="ctr"/>
          <a:lstStyle/>
          <a:p>
            <a:pPr algn="ctr"/>
            <a:endParaRPr/>
          </a:p>
        </p:txBody>
      </p:sp>
      <p:sp>
        <p:nvSpPr>
          <p:cNvPr id="525" name="Text: Soleo Health"/>
          <p:cNvSpPr txBox="1"/>
          <p:nvPr/>
        </p:nvSpPr>
        <p:spPr>
          <a:xfrm>
            <a:off x="8833545" y="6000750"/>
            <a:ext cx="514945"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Soleo Health</a:t>
            </a:r>
          </a:p>
        </p:txBody>
      </p:sp>
      <p:sp>
        <p:nvSpPr>
          <p:cNvPr id="526" name="Rectangle 525"/>
          <p:cNvSpPr/>
          <p:nvPr/>
        </p:nvSpPr>
        <p:spPr>
          <a:xfrm>
            <a:off x="7558088" y="6191250"/>
            <a:ext cx="822722" cy="180975"/>
          </a:xfrm>
          <a:prstGeom prst="rect">
            <a:avLst/>
          </a:prstGeom>
          <a:solidFill>
            <a:srgbClr val="FFFFFF"/>
          </a:solidFill>
          <a:ln>
            <a:noFill/>
          </a:ln>
          <a:effectLst/>
        </p:spPr>
        <p:txBody>
          <a:bodyPr rtlCol="0" anchor="ctr"/>
          <a:lstStyle/>
          <a:p>
            <a:pPr algn="ctr"/>
            <a:endParaRPr/>
          </a:p>
        </p:txBody>
      </p:sp>
      <p:sp>
        <p:nvSpPr>
          <p:cNvPr id="527" name="Rectangle 526"/>
          <p:cNvSpPr/>
          <p:nvPr/>
        </p:nvSpPr>
        <p:spPr>
          <a:xfrm>
            <a:off x="7558088" y="6191250"/>
            <a:ext cx="822722" cy="9525"/>
          </a:xfrm>
          <a:prstGeom prst="rect">
            <a:avLst/>
          </a:prstGeom>
          <a:solidFill>
            <a:srgbClr val="E3DCD3"/>
          </a:solidFill>
          <a:ln>
            <a:noFill/>
          </a:ln>
          <a:effectLst/>
        </p:spPr>
        <p:txBody>
          <a:bodyPr rtlCol="0" anchor="ctr"/>
          <a:lstStyle/>
          <a:p>
            <a:pPr algn="ctr"/>
            <a:endParaRPr/>
          </a:p>
        </p:txBody>
      </p:sp>
      <p:sp>
        <p:nvSpPr>
          <p:cNvPr id="528" name="Rectangle 527"/>
          <p:cNvSpPr/>
          <p:nvPr/>
        </p:nvSpPr>
        <p:spPr>
          <a:xfrm>
            <a:off x="8371284" y="6191250"/>
            <a:ext cx="9525" cy="180975"/>
          </a:xfrm>
          <a:prstGeom prst="rect">
            <a:avLst/>
          </a:prstGeom>
          <a:solidFill>
            <a:srgbClr val="E3DCD3"/>
          </a:solidFill>
          <a:ln>
            <a:noFill/>
          </a:ln>
          <a:effectLst/>
        </p:spPr>
        <p:txBody>
          <a:bodyPr rtlCol="0" anchor="ctr"/>
          <a:lstStyle/>
          <a:p>
            <a:pPr algn="ctr"/>
            <a:endParaRPr/>
          </a:p>
        </p:txBody>
      </p:sp>
      <p:sp>
        <p:nvSpPr>
          <p:cNvPr id="529" name="Rectangle 528"/>
          <p:cNvSpPr/>
          <p:nvPr/>
        </p:nvSpPr>
        <p:spPr>
          <a:xfrm>
            <a:off x="7558088" y="6362700"/>
            <a:ext cx="822722" cy="9525"/>
          </a:xfrm>
          <a:prstGeom prst="rect">
            <a:avLst/>
          </a:prstGeom>
          <a:solidFill>
            <a:srgbClr val="E3DCD3"/>
          </a:solidFill>
          <a:ln>
            <a:noFill/>
          </a:ln>
          <a:effectLst/>
        </p:spPr>
        <p:txBody>
          <a:bodyPr rtlCol="0" anchor="ctr"/>
          <a:lstStyle/>
          <a:p>
            <a:pPr algn="ctr"/>
            <a:endParaRPr/>
          </a:p>
        </p:txBody>
      </p:sp>
      <p:sp>
        <p:nvSpPr>
          <p:cNvPr id="530" name="Rectangle 529"/>
          <p:cNvSpPr/>
          <p:nvPr/>
        </p:nvSpPr>
        <p:spPr>
          <a:xfrm>
            <a:off x="7558088" y="6191250"/>
            <a:ext cx="9525" cy="180975"/>
          </a:xfrm>
          <a:prstGeom prst="rect">
            <a:avLst/>
          </a:prstGeom>
          <a:solidFill>
            <a:srgbClr val="E3DCD3"/>
          </a:solidFill>
          <a:ln>
            <a:noFill/>
          </a:ln>
          <a:effectLst/>
        </p:spPr>
        <p:txBody>
          <a:bodyPr rtlCol="0" anchor="ctr"/>
          <a:lstStyle/>
          <a:p>
            <a:pPr algn="ctr"/>
            <a:endParaRPr/>
          </a:p>
        </p:txBody>
      </p:sp>
      <p:sp>
        <p:nvSpPr>
          <p:cNvPr id="531" name="Text: GenieRx Holdings"/>
          <p:cNvSpPr txBox="1"/>
          <p:nvPr/>
        </p:nvSpPr>
        <p:spPr>
          <a:xfrm>
            <a:off x="7624762" y="6219825"/>
            <a:ext cx="703659"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GenieRx Holdings</a:t>
            </a:r>
          </a:p>
        </p:txBody>
      </p:sp>
      <p:sp>
        <p:nvSpPr>
          <p:cNvPr id="532" name="Rectangle 531"/>
          <p:cNvSpPr/>
          <p:nvPr/>
        </p:nvSpPr>
        <p:spPr>
          <a:xfrm>
            <a:off x="8418909" y="6191250"/>
            <a:ext cx="1001167" cy="180975"/>
          </a:xfrm>
          <a:prstGeom prst="rect">
            <a:avLst/>
          </a:prstGeom>
          <a:solidFill>
            <a:srgbClr val="FFFFFF"/>
          </a:solidFill>
          <a:ln>
            <a:noFill/>
          </a:ln>
          <a:effectLst/>
        </p:spPr>
        <p:txBody>
          <a:bodyPr rtlCol="0" anchor="ctr"/>
          <a:lstStyle/>
          <a:p>
            <a:pPr algn="ctr"/>
            <a:endParaRPr/>
          </a:p>
        </p:txBody>
      </p:sp>
      <p:sp>
        <p:nvSpPr>
          <p:cNvPr id="533" name="Rectangle 532"/>
          <p:cNvSpPr/>
          <p:nvPr/>
        </p:nvSpPr>
        <p:spPr>
          <a:xfrm>
            <a:off x="8418909" y="6191250"/>
            <a:ext cx="1001167" cy="9525"/>
          </a:xfrm>
          <a:prstGeom prst="rect">
            <a:avLst/>
          </a:prstGeom>
          <a:solidFill>
            <a:srgbClr val="E3DCD3"/>
          </a:solidFill>
          <a:ln>
            <a:noFill/>
          </a:ln>
          <a:effectLst/>
        </p:spPr>
        <p:txBody>
          <a:bodyPr rtlCol="0" anchor="ctr"/>
          <a:lstStyle/>
          <a:p>
            <a:pPr algn="ctr"/>
            <a:endParaRPr/>
          </a:p>
        </p:txBody>
      </p:sp>
      <p:sp>
        <p:nvSpPr>
          <p:cNvPr id="534" name="Rectangle 533"/>
          <p:cNvSpPr/>
          <p:nvPr/>
        </p:nvSpPr>
        <p:spPr>
          <a:xfrm>
            <a:off x="9410551" y="6191250"/>
            <a:ext cx="9525" cy="180975"/>
          </a:xfrm>
          <a:prstGeom prst="rect">
            <a:avLst/>
          </a:prstGeom>
          <a:solidFill>
            <a:srgbClr val="E3DCD3"/>
          </a:solidFill>
          <a:ln>
            <a:noFill/>
          </a:ln>
          <a:effectLst/>
        </p:spPr>
        <p:txBody>
          <a:bodyPr rtlCol="0" anchor="ctr"/>
          <a:lstStyle/>
          <a:p>
            <a:pPr algn="ctr"/>
            <a:endParaRPr/>
          </a:p>
        </p:txBody>
      </p:sp>
      <p:sp>
        <p:nvSpPr>
          <p:cNvPr id="535" name="Rectangle 534"/>
          <p:cNvSpPr/>
          <p:nvPr/>
        </p:nvSpPr>
        <p:spPr>
          <a:xfrm>
            <a:off x="8418909" y="6362700"/>
            <a:ext cx="1001167" cy="9525"/>
          </a:xfrm>
          <a:prstGeom prst="rect">
            <a:avLst/>
          </a:prstGeom>
          <a:solidFill>
            <a:srgbClr val="E3DCD3"/>
          </a:solidFill>
          <a:ln>
            <a:noFill/>
          </a:ln>
          <a:effectLst/>
        </p:spPr>
        <p:txBody>
          <a:bodyPr rtlCol="0" anchor="ctr"/>
          <a:lstStyle/>
          <a:p>
            <a:pPr algn="ctr"/>
            <a:endParaRPr/>
          </a:p>
        </p:txBody>
      </p:sp>
      <p:sp>
        <p:nvSpPr>
          <p:cNvPr id="536" name="Rectangle 535"/>
          <p:cNvSpPr/>
          <p:nvPr/>
        </p:nvSpPr>
        <p:spPr>
          <a:xfrm>
            <a:off x="8418909" y="6191250"/>
            <a:ext cx="9525" cy="180975"/>
          </a:xfrm>
          <a:prstGeom prst="rect">
            <a:avLst/>
          </a:prstGeom>
          <a:solidFill>
            <a:srgbClr val="E3DCD3"/>
          </a:solidFill>
          <a:ln>
            <a:noFill/>
          </a:ln>
          <a:effectLst/>
        </p:spPr>
        <p:txBody>
          <a:bodyPr rtlCol="0" anchor="ctr"/>
          <a:lstStyle/>
          <a:p>
            <a:pPr algn="ctr"/>
            <a:endParaRPr/>
          </a:p>
        </p:txBody>
      </p:sp>
      <p:sp>
        <p:nvSpPr>
          <p:cNvPr id="537" name="Text: Strata Critical Medical"/>
          <p:cNvSpPr txBox="1"/>
          <p:nvPr/>
        </p:nvSpPr>
        <p:spPr>
          <a:xfrm>
            <a:off x="8485584" y="6219825"/>
            <a:ext cx="882104"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Strata Critical Medical</a:t>
            </a:r>
          </a:p>
        </p:txBody>
      </p:sp>
      <p:sp>
        <p:nvSpPr>
          <p:cNvPr id="538" name="Rectangle 537"/>
          <p:cNvSpPr/>
          <p:nvPr/>
        </p:nvSpPr>
        <p:spPr>
          <a:xfrm>
            <a:off x="7558088" y="6410325"/>
            <a:ext cx="1273969" cy="180975"/>
          </a:xfrm>
          <a:prstGeom prst="rect">
            <a:avLst/>
          </a:prstGeom>
          <a:solidFill>
            <a:srgbClr val="FFFFFF"/>
          </a:solidFill>
          <a:ln>
            <a:noFill/>
          </a:ln>
          <a:effectLst/>
        </p:spPr>
        <p:txBody>
          <a:bodyPr rtlCol="0" anchor="ctr"/>
          <a:lstStyle/>
          <a:p>
            <a:pPr algn="ctr"/>
            <a:endParaRPr/>
          </a:p>
        </p:txBody>
      </p:sp>
      <p:sp>
        <p:nvSpPr>
          <p:cNvPr id="539" name="Rectangle 538"/>
          <p:cNvSpPr/>
          <p:nvPr/>
        </p:nvSpPr>
        <p:spPr>
          <a:xfrm>
            <a:off x="7558088" y="6410325"/>
            <a:ext cx="1273969" cy="9525"/>
          </a:xfrm>
          <a:prstGeom prst="rect">
            <a:avLst/>
          </a:prstGeom>
          <a:solidFill>
            <a:srgbClr val="E3DCD3"/>
          </a:solidFill>
          <a:ln>
            <a:noFill/>
          </a:ln>
          <a:effectLst/>
        </p:spPr>
        <p:txBody>
          <a:bodyPr rtlCol="0" anchor="ctr"/>
          <a:lstStyle/>
          <a:p>
            <a:pPr algn="ctr"/>
            <a:endParaRPr/>
          </a:p>
        </p:txBody>
      </p:sp>
      <p:sp>
        <p:nvSpPr>
          <p:cNvPr id="540" name="Rectangle 539"/>
          <p:cNvSpPr/>
          <p:nvPr/>
        </p:nvSpPr>
        <p:spPr>
          <a:xfrm>
            <a:off x="8822531" y="6410325"/>
            <a:ext cx="9525" cy="180975"/>
          </a:xfrm>
          <a:prstGeom prst="rect">
            <a:avLst/>
          </a:prstGeom>
          <a:solidFill>
            <a:srgbClr val="E3DCD3"/>
          </a:solidFill>
          <a:ln>
            <a:noFill/>
          </a:ln>
          <a:effectLst/>
        </p:spPr>
        <p:txBody>
          <a:bodyPr rtlCol="0" anchor="ctr"/>
          <a:lstStyle/>
          <a:p>
            <a:pPr algn="ctr"/>
            <a:endParaRPr/>
          </a:p>
        </p:txBody>
      </p:sp>
      <p:sp>
        <p:nvSpPr>
          <p:cNvPr id="541" name="Rectangle 540"/>
          <p:cNvSpPr/>
          <p:nvPr/>
        </p:nvSpPr>
        <p:spPr>
          <a:xfrm>
            <a:off x="7558088" y="6581775"/>
            <a:ext cx="1273969" cy="9525"/>
          </a:xfrm>
          <a:prstGeom prst="rect">
            <a:avLst/>
          </a:prstGeom>
          <a:solidFill>
            <a:srgbClr val="E3DCD3"/>
          </a:solidFill>
          <a:ln>
            <a:noFill/>
          </a:ln>
          <a:effectLst/>
        </p:spPr>
        <p:txBody>
          <a:bodyPr rtlCol="0" anchor="ctr"/>
          <a:lstStyle/>
          <a:p>
            <a:pPr algn="ctr"/>
            <a:endParaRPr/>
          </a:p>
        </p:txBody>
      </p:sp>
      <p:sp>
        <p:nvSpPr>
          <p:cNvPr id="542" name="Rectangle 541"/>
          <p:cNvSpPr/>
          <p:nvPr/>
        </p:nvSpPr>
        <p:spPr>
          <a:xfrm>
            <a:off x="7558088" y="6410325"/>
            <a:ext cx="9525" cy="180975"/>
          </a:xfrm>
          <a:prstGeom prst="rect">
            <a:avLst/>
          </a:prstGeom>
          <a:solidFill>
            <a:srgbClr val="E3DCD3"/>
          </a:solidFill>
          <a:ln>
            <a:noFill/>
          </a:ln>
          <a:effectLst/>
        </p:spPr>
        <p:txBody>
          <a:bodyPr rtlCol="0" anchor="ctr"/>
          <a:lstStyle/>
          <a:p>
            <a:pPr algn="ctr"/>
            <a:endParaRPr/>
          </a:p>
        </p:txBody>
      </p:sp>
      <p:sp>
        <p:nvSpPr>
          <p:cNvPr id="543" name="Text: VeloSource (Interlock Equity)"/>
          <p:cNvSpPr txBox="1"/>
          <p:nvPr/>
        </p:nvSpPr>
        <p:spPr>
          <a:xfrm>
            <a:off x="7624762" y="6438900"/>
            <a:ext cx="1154906"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VeloSource (Interlock Equity)</a:t>
            </a:r>
          </a:p>
        </p:txBody>
      </p:sp>
      <p:sp>
        <p:nvSpPr>
          <p:cNvPr id="544" name="Rectangle 543"/>
          <p:cNvSpPr/>
          <p:nvPr/>
        </p:nvSpPr>
        <p:spPr>
          <a:xfrm>
            <a:off x="8870156" y="6410325"/>
            <a:ext cx="591145" cy="180975"/>
          </a:xfrm>
          <a:prstGeom prst="rect">
            <a:avLst/>
          </a:prstGeom>
          <a:solidFill>
            <a:srgbClr val="FFFFFF"/>
          </a:solidFill>
          <a:ln>
            <a:noFill/>
          </a:ln>
          <a:effectLst/>
        </p:spPr>
        <p:txBody>
          <a:bodyPr rtlCol="0" anchor="ctr"/>
          <a:lstStyle/>
          <a:p>
            <a:pPr algn="ctr"/>
            <a:endParaRPr/>
          </a:p>
        </p:txBody>
      </p:sp>
      <p:sp>
        <p:nvSpPr>
          <p:cNvPr id="545" name="Rectangle 544"/>
          <p:cNvSpPr/>
          <p:nvPr/>
        </p:nvSpPr>
        <p:spPr>
          <a:xfrm>
            <a:off x="8870156" y="6410325"/>
            <a:ext cx="591145" cy="9525"/>
          </a:xfrm>
          <a:prstGeom prst="rect">
            <a:avLst/>
          </a:prstGeom>
          <a:solidFill>
            <a:srgbClr val="E3DCD3"/>
          </a:solidFill>
          <a:ln>
            <a:noFill/>
          </a:ln>
          <a:effectLst/>
        </p:spPr>
        <p:txBody>
          <a:bodyPr rtlCol="0" anchor="ctr"/>
          <a:lstStyle/>
          <a:p>
            <a:pPr algn="ctr"/>
            <a:endParaRPr/>
          </a:p>
        </p:txBody>
      </p:sp>
      <p:sp>
        <p:nvSpPr>
          <p:cNvPr id="546" name="Rectangle 545"/>
          <p:cNvSpPr/>
          <p:nvPr/>
        </p:nvSpPr>
        <p:spPr>
          <a:xfrm>
            <a:off x="9451777" y="6410325"/>
            <a:ext cx="9525" cy="180975"/>
          </a:xfrm>
          <a:prstGeom prst="rect">
            <a:avLst/>
          </a:prstGeom>
          <a:solidFill>
            <a:srgbClr val="E3DCD3"/>
          </a:solidFill>
          <a:ln>
            <a:noFill/>
          </a:ln>
          <a:effectLst/>
        </p:spPr>
        <p:txBody>
          <a:bodyPr rtlCol="0" anchor="ctr"/>
          <a:lstStyle/>
          <a:p>
            <a:pPr algn="ctr"/>
            <a:endParaRPr/>
          </a:p>
        </p:txBody>
      </p:sp>
      <p:sp>
        <p:nvSpPr>
          <p:cNvPr id="547" name="Rectangle 546"/>
          <p:cNvSpPr/>
          <p:nvPr/>
        </p:nvSpPr>
        <p:spPr>
          <a:xfrm>
            <a:off x="8870156" y="6581775"/>
            <a:ext cx="591145" cy="9525"/>
          </a:xfrm>
          <a:prstGeom prst="rect">
            <a:avLst/>
          </a:prstGeom>
          <a:solidFill>
            <a:srgbClr val="E3DCD3"/>
          </a:solidFill>
          <a:ln>
            <a:noFill/>
          </a:ln>
          <a:effectLst/>
        </p:spPr>
        <p:txBody>
          <a:bodyPr rtlCol="0" anchor="ctr"/>
          <a:lstStyle/>
          <a:p>
            <a:pPr algn="ctr"/>
            <a:endParaRPr/>
          </a:p>
        </p:txBody>
      </p:sp>
      <p:sp>
        <p:nvSpPr>
          <p:cNvPr id="548" name="Rectangle 547"/>
          <p:cNvSpPr/>
          <p:nvPr/>
        </p:nvSpPr>
        <p:spPr>
          <a:xfrm>
            <a:off x="8870156" y="6410325"/>
            <a:ext cx="9525" cy="180975"/>
          </a:xfrm>
          <a:prstGeom prst="rect">
            <a:avLst/>
          </a:prstGeom>
          <a:solidFill>
            <a:srgbClr val="E3DCD3"/>
          </a:solidFill>
          <a:ln>
            <a:noFill/>
          </a:ln>
          <a:effectLst/>
        </p:spPr>
        <p:txBody>
          <a:bodyPr rtlCol="0" anchor="ctr"/>
          <a:lstStyle/>
          <a:p>
            <a:pPr algn="ctr"/>
            <a:endParaRPr/>
          </a:p>
        </p:txBody>
      </p:sp>
      <p:sp>
        <p:nvSpPr>
          <p:cNvPr id="549" name="Text: Care Career"/>
          <p:cNvSpPr txBox="1"/>
          <p:nvPr/>
        </p:nvSpPr>
        <p:spPr>
          <a:xfrm>
            <a:off x="8936831" y="6438900"/>
            <a:ext cx="472083"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Care Career</a:t>
            </a:r>
          </a:p>
        </p:txBody>
      </p:sp>
      <p:sp>
        <p:nvSpPr>
          <p:cNvPr id="550" name="Rectangle 549"/>
          <p:cNvSpPr/>
          <p:nvPr/>
        </p:nvSpPr>
        <p:spPr>
          <a:xfrm>
            <a:off x="7558088" y="6629400"/>
            <a:ext cx="450652" cy="180975"/>
          </a:xfrm>
          <a:prstGeom prst="rect">
            <a:avLst/>
          </a:prstGeom>
          <a:solidFill>
            <a:srgbClr val="FFFFFF"/>
          </a:solidFill>
          <a:ln>
            <a:noFill/>
          </a:ln>
          <a:effectLst/>
        </p:spPr>
        <p:txBody>
          <a:bodyPr rtlCol="0" anchor="ctr"/>
          <a:lstStyle/>
          <a:p>
            <a:pPr algn="ctr"/>
            <a:endParaRPr/>
          </a:p>
        </p:txBody>
      </p:sp>
      <p:sp>
        <p:nvSpPr>
          <p:cNvPr id="551" name="Rectangle 550"/>
          <p:cNvSpPr/>
          <p:nvPr/>
        </p:nvSpPr>
        <p:spPr>
          <a:xfrm>
            <a:off x="7558088" y="6629400"/>
            <a:ext cx="450652" cy="9525"/>
          </a:xfrm>
          <a:prstGeom prst="rect">
            <a:avLst/>
          </a:prstGeom>
          <a:solidFill>
            <a:srgbClr val="E3DCD3"/>
          </a:solidFill>
          <a:ln>
            <a:noFill/>
          </a:ln>
          <a:effectLst/>
        </p:spPr>
        <p:txBody>
          <a:bodyPr rtlCol="0" anchor="ctr"/>
          <a:lstStyle/>
          <a:p>
            <a:pPr algn="ctr"/>
            <a:endParaRPr/>
          </a:p>
        </p:txBody>
      </p:sp>
      <p:sp>
        <p:nvSpPr>
          <p:cNvPr id="552" name="Rectangle 551"/>
          <p:cNvSpPr/>
          <p:nvPr/>
        </p:nvSpPr>
        <p:spPr>
          <a:xfrm>
            <a:off x="7999214" y="6629400"/>
            <a:ext cx="9525" cy="180975"/>
          </a:xfrm>
          <a:prstGeom prst="rect">
            <a:avLst/>
          </a:prstGeom>
          <a:solidFill>
            <a:srgbClr val="E3DCD3"/>
          </a:solidFill>
          <a:ln>
            <a:noFill/>
          </a:ln>
          <a:effectLst/>
        </p:spPr>
        <p:txBody>
          <a:bodyPr rtlCol="0" anchor="ctr"/>
          <a:lstStyle/>
          <a:p>
            <a:pPr algn="ctr"/>
            <a:endParaRPr/>
          </a:p>
        </p:txBody>
      </p:sp>
      <p:sp>
        <p:nvSpPr>
          <p:cNvPr id="553" name="Rectangle 552"/>
          <p:cNvSpPr/>
          <p:nvPr/>
        </p:nvSpPr>
        <p:spPr>
          <a:xfrm>
            <a:off x="7558088" y="6800850"/>
            <a:ext cx="450652" cy="9525"/>
          </a:xfrm>
          <a:prstGeom prst="rect">
            <a:avLst/>
          </a:prstGeom>
          <a:solidFill>
            <a:srgbClr val="E3DCD3"/>
          </a:solidFill>
          <a:ln>
            <a:noFill/>
          </a:ln>
          <a:effectLst/>
        </p:spPr>
        <p:txBody>
          <a:bodyPr rtlCol="0" anchor="ctr"/>
          <a:lstStyle/>
          <a:p>
            <a:pPr algn="ctr"/>
            <a:endParaRPr/>
          </a:p>
        </p:txBody>
      </p:sp>
      <p:sp>
        <p:nvSpPr>
          <p:cNvPr id="554" name="Rectangle 553"/>
          <p:cNvSpPr/>
          <p:nvPr/>
        </p:nvSpPr>
        <p:spPr>
          <a:xfrm>
            <a:off x="7558088" y="6629400"/>
            <a:ext cx="9525" cy="180975"/>
          </a:xfrm>
          <a:prstGeom prst="rect">
            <a:avLst/>
          </a:prstGeom>
          <a:solidFill>
            <a:srgbClr val="E3DCD3"/>
          </a:solidFill>
          <a:ln>
            <a:noFill/>
          </a:ln>
          <a:effectLst/>
        </p:spPr>
        <p:txBody>
          <a:bodyPr rtlCol="0" anchor="ctr"/>
          <a:lstStyle/>
          <a:p>
            <a:pPr algn="ctr"/>
            <a:endParaRPr/>
          </a:p>
        </p:txBody>
      </p:sp>
      <p:sp>
        <p:nvSpPr>
          <p:cNvPr id="555" name="Text: Elite365"/>
          <p:cNvSpPr txBox="1"/>
          <p:nvPr/>
        </p:nvSpPr>
        <p:spPr>
          <a:xfrm>
            <a:off x="7624762" y="6657975"/>
            <a:ext cx="331589" cy="123825"/>
          </a:xfrm>
          <a:prstGeom prst="rect">
            <a:avLst/>
          </a:prstGeom>
          <a:noFill/>
        </p:spPr>
        <p:txBody>
          <a:bodyPr wrap="square" lIns="0" tIns="0" rIns="0" bIns="0" anchor="t">
            <a:spAutoFit/>
          </a:bodyPr>
          <a:lstStyle/>
          <a:p>
            <a:pPr algn="l">
              <a:lnSpc>
                <a:spcPts val="975"/>
              </a:lnSpc>
            </a:pPr>
            <a:r>
              <a:rPr sz="712" b="1" i="0" spc="15">
                <a:solidFill>
                  <a:srgbClr val="333231"/>
                </a:solidFill>
                <a:latin typeface="Calibri"/>
              </a:rPr>
              <a:t>Elite365</a:t>
            </a:r>
          </a:p>
        </p:txBody>
      </p:sp>
      <p:sp>
        <p:nvSpPr>
          <p:cNvPr id="556" name="Rectangle 555"/>
          <p:cNvSpPr/>
          <p:nvPr/>
        </p:nvSpPr>
        <p:spPr>
          <a:xfrm>
            <a:off x="419100" y="7029450"/>
            <a:ext cx="9220200" cy="9525"/>
          </a:xfrm>
          <a:prstGeom prst="rect">
            <a:avLst/>
          </a:prstGeom>
          <a:solidFill>
            <a:srgbClr val="E3DCD3"/>
          </a:solidFill>
          <a:ln>
            <a:noFill/>
          </a:ln>
          <a:effectLst/>
        </p:spPr>
        <p:txBody>
          <a:bodyPr rtlCol="0" anchor="ctr"/>
          <a:lstStyle/>
          <a:p>
            <a:pPr algn="ctr"/>
            <a:endParaRPr/>
          </a:p>
        </p:txBody>
      </p:sp>
      <p:pic>
        <p:nvPicPr>
          <p:cNvPr id="557" name="Picture 556" descr="Benchmark International"/>
          <p:cNvPicPr>
            <a:picLocks noChangeAspect="1"/>
          </p:cNvPicPr>
          <p:nvPr/>
        </p:nvPicPr>
        <p:blipFill>
          <a:blip r:embed="rId44"/>
          <a:srcRect/>
          <a:stretch>
            <a:fillRect/>
          </a:stretch>
        </p:blipFill>
        <p:spPr>
          <a:xfrm>
            <a:off x="419100" y="7143750"/>
            <a:ext cx="914400" cy="171450"/>
          </a:xfrm>
          <a:prstGeom prst="rect">
            <a:avLst/>
          </a:prstGeom>
        </p:spPr>
      </p:pic>
      <p:sp>
        <p:nvSpPr>
          <p:cNvPr id="558" name="Text: Listed companies are the reference"/>
          <p:cNvSpPr txBox="1"/>
          <p:nvPr/>
        </p:nvSpPr>
        <p:spPr>
          <a:xfrm>
            <a:off x="1543050" y="7105650"/>
            <a:ext cx="7748588" cy="238125"/>
          </a:xfrm>
          <a:prstGeom prst="rect">
            <a:avLst/>
          </a:prstGeom>
          <a:noFill/>
        </p:spPr>
        <p:txBody>
          <a:bodyPr wrap="square" lIns="0" tIns="0" rIns="0" bIns="0" anchor="t">
            <a:spAutoFit/>
          </a:bodyPr>
          <a:lstStyle/>
          <a:p>
            <a:pPr algn="l">
              <a:lnSpc>
                <a:spcPts val="938"/>
              </a:lnSpc>
            </a:pPr>
            <a:r>
              <a:rPr sz="675" b="0" i="0" spc="8">
                <a:solidFill>
                  <a:srgbClr val="6F6A66"/>
                </a:solidFill>
                <a:latin typeface="Calibri"/>
              </a:rPr>
              <a:t>Listed companies are the reference set for the valuation pages and each links to its data page. Private participants are buyers named in 2026 transactions. The list is a selection.</a:t>
            </a:r>
          </a:p>
        </p:txBody>
      </p:sp>
      <p:sp>
        <p:nvSpPr>
          <p:cNvPr id="559" name="Text: 11"/>
          <p:cNvSpPr txBox="1"/>
          <p:nvPr/>
        </p:nvSpPr>
        <p:spPr>
          <a:xfrm>
            <a:off x="9509373" y="7162800"/>
            <a:ext cx="144214" cy="133350"/>
          </a:xfrm>
          <a:prstGeom prst="rect">
            <a:avLst/>
          </a:prstGeom>
          <a:noFill/>
        </p:spPr>
        <p:txBody>
          <a:bodyPr wrap="square" lIns="0" tIns="0" rIns="0" bIns="0" anchor="t">
            <a:spAutoFit/>
          </a:bodyPr>
          <a:lstStyle/>
          <a:p>
            <a:pPr algn="l">
              <a:lnSpc>
                <a:spcPts val="1050"/>
              </a:lnSpc>
            </a:pPr>
            <a:r>
              <a:rPr sz="712" b="1" i="0" spc="150">
                <a:solidFill>
                  <a:srgbClr val="1B1A1A"/>
                </a:solidFill>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57150" cy="7772400"/>
          </a:xfrm>
          <a:prstGeom prst="rect">
            <a:avLst/>
          </a:prstGeom>
          <a:solidFill>
            <a:srgbClr val="B68757"/>
          </a:solidFill>
          <a:ln>
            <a:noFill/>
          </a:ln>
          <a:effectLst/>
        </p:spPr>
        <p:txBody>
          <a:bodyPr rtlCol="0" anchor="ctr"/>
          <a:lstStyle/>
          <a:p>
            <a:pPr algn="ctr"/>
            <a:endParaRPr/>
          </a:p>
        </p:txBody>
      </p:sp>
      <p:sp>
        <p:nvSpPr>
          <p:cNvPr id="3" name="Text: HEALTHCARE | QUARTERLY SECTOR BRIE"/>
          <p:cNvSpPr txBox="1"/>
          <p:nvPr/>
        </p:nvSpPr>
        <p:spPr>
          <a:xfrm>
            <a:off x="419100" y="381000"/>
            <a:ext cx="2439591" cy="133350"/>
          </a:xfrm>
          <a:prstGeom prst="rect">
            <a:avLst/>
          </a:prstGeom>
          <a:noFill/>
        </p:spPr>
        <p:txBody>
          <a:bodyPr wrap="none" lIns="0" tIns="0" rIns="0" bIns="0" anchor="t">
            <a:spAutoFit/>
          </a:bodyPr>
          <a:lstStyle/>
          <a:p>
            <a:pPr algn="l">
              <a:lnSpc>
                <a:spcPts val="1050"/>
              </a:lnSpc>
            </a:pPr>
            <a:r>
              <a:rPr sz="675" b="1" i="0" spc="195">
                <a:solidFill>
                  <a:srgbClr val="8C6239"/>
                </a:solidFill>
                <a:latin typeface="Calibri"/>
              </a:rPr>
              <a:t>HEALTHCARE | QUARTERLY INDUSTRY REPORT</a:t>
            </a:r>
          </a:p>
        </p:txBody>
      </p:sp>
      <p:sp>
        <p:nvSpPr>
          <p:cNvPr id="4" name="Text: Q4 2026"/>
          <p:cNvSpPr txBox="1"/>
          <p:nvPr/>
        </p:nvSpPr>
        <p:spPr>
          <a:xfrm>
            <a:off x="9188648" y="361950"/>
            <a:ext cx="464939" cy="171450"/>
          </a:xfrm>
          <a:prstGeom prst="rect">
            <a:avLst/>
          </a:prstGeom>
          <a:noFill/>
        </p:spPr>
        <p:txBody>
          <a:bodyPr wrap="square" lIns="0" tIns="0" rIns="0" bIns="0" anchor="t">
            <a:spAutoFit/>
          </a:bodyPr>
          <a:lstStyle/>
          <a:p>
            <a:pPr algn="l">
              <a:lnSpc>
                <a:spcPts val="1350"/>
              </a:lnSpc>
            </a:pPr>
            <a:r>
              <a:rPr sz="900" b="0" i="0" spc="90">
                <a:solidFill>
                  <a:srgbClr val="6F6A66"/>
                </a:solidFill>
                <a:latin typeface="Cambria"/>
              </a:rPr>
              <a:t>Q4 2026</a:t>
            </a:r>
          </a:p>
        </p:txBody>
      </p:sp>
      <p:sp>
        <p:nvSpPr>
          <p:cNvPr id="5" name="Text: Select Recent Healthcare M&amp;A Trans"/>
          <p:cNvSpPr txBox="1"/>
          <p:nvPr/>
        </p:nvSpPr>
        <p:spPr>
          <a:xfrm>
            <a:off x="419100" y="523875"/>
            <a:ext cx="9234488" cy="323850"/>
          </a:xfrm>
          <a:prstGeom prst="rect">
            <a:avLst/>
          </a:prstGeom>
          <a:noFill/>
        </p:spPr>
        <p:txBody>
          <a:bodyPr wrap="square" lIns="0" tIns="0" rIns="0" bIns="0" anchor="t">
            <a:spAutoFit/>
          </a:bodyPr>
          <a:lstStyle/>
          <a:p>
            <a:pPr algn="l">
              <a:lnSpc>
                <a:spcPts val="2550"/>
              </a:lnSpc>
            </a:pPr>
            <a:r>
              <a:rPr sz="2025" b="1" i="0">
                <a:solidFill>
                  <a:srgbClr val="1B1A1A"/>
                </a:solidFill>
                <a:latin typeface="Cambria"/>
              </a:rPr>
              <a:t>Select Recent Healthcare M&amp;A Transactions</a:t>
            </a:r>
          </a:p>
        </p:txBody>
      </p:sp>
      <p:sp>
        <p:nvSpPr>
          <p:cNvPr id="6" name="Text: Six transactions announced or comp"/>
          <p:cNvSpPr txBox="1"/>
          <p:nvPr/>
        </p:nvSpPr>
        <p:spPr>
          <a:xfrm>
            <a:off x="419100" y="885825"/>
            <a:ext cx="10215086" cy="180975"/>
          </a:xfrm>
          <a:prstGeom prst="rect">
            <a:avLst/>
          </a:prstGeom>
          <a:noFill/>
        </p:spPr>
        <p:txBody>
          <a:bodyPr wrap="square" lIns="0" tIns="0" rIns="0" bIns="0" anchor="t">
            <a:spAutoFit/>
          </a:bodyPr>
          <a:lstStyle/>
          <a:p>
            <a:pPr algn="l">
              <a:lnSpc>
                <a:spcPts val="1388"/>
              </a:lnSpc>
            </a:pPr>
            <a:r>
              <a:rPr sz="938" b="0" i="0" spc="15">
                <a:solidFill>
                  <a:srgbClr val="6F6A66"/>
                </a:solidFill>
                <a:latin typeface="Calibri"/>
              </a:rPr>
              <a:t>Six transactions announced or completed between June and September 2026, with at least one from each sector.</a:t>
            </a:r>
          </a:p>
        </p:txBody>
      </p:sp>
      <p:sp>
        <p:nvSpPr>
          <p:cNvPr id="7" name="Rectangle 6"/>
          <p:cNvSpPr/>
          <p:nvPr/>
        </p:nvSpPr>
        <p:spPr>
          <a:xfrm>
            <a:off x="419100" y="1143000"/>
            <a:ext cx="9220200" cy="9525"/>
          </a:xfrm>
          <a:prstGeom prst="rect">
            <a:avLst/>
          </a:prstGeom>
          <a:solidFill>
            <a:srgbClr val="E3DCD3"/>
          </a:solidFill>
          <a:ln>
            <a:noFill/>
          </a:ln>
          <a:effectLst/>
        </p:spPr>
        <p:txBody>
          <a:bodyPr rtlCol="0" anchor="ctr"/>
          <a:lstStyle/>
          <a:p>
            <a:pPr algn="ctr"/>
            <a:endParaRPr/>
          </a:p>
        </p:txBody>
      </p:sp>
      <p:sp>
        <p:nvSpPr>
          <p:cNvPr id="8" name="Rectangle 7"/>
          <p:cNvSpPr/>
          <p:nvPr/>
        </p:nvSpPr>
        <p:spPr>
          <a:xfrm>
            <a:off x="419100" y="1238250"/>
            <a:ext cx="2971800" cy="2771775"/>
          </a:xfrm>
          <a:prstGeom prst="rect">
            <a:avLst/>
          </a:prstGeom>
          <a:solidFill>
            <a:srgbClr val="FAF7F3"/>
          </a:solidFill>
          <a:ln>
            <a:noFill/>
          </a:ln>
          <a:effectLst/>
        </p:spPr>
        <p:txBody>
          <a:bodyPr rtlCol="0" anchor="ctr"/>
          <a:lstStyle/>
          <a:p>
            <a:pPr algn="ctr"/>
            <a:endParaRPr/>
          </a:p>
        </p:txBody>
      </p:sp>
      <p:sp>
        <p:nvSpPr>
          <p:cNvPr id="9" name="Rectangle 8"/>
          <p:cNvSpPr/>
          <p:nvPr/>
        </p:nvSpPr>
        <p:spPr>
          <a:xfrm>
            <a:off x="419100" y="1238250"/>
            <a:ext cx="2971800" cy="28575"/>
          </a:xfrm>
          <a:prstGeom prst="rect">
            <a:avLst/>
          </a:prstGeom>
          <a:solidFill>
            <a:srgbClr val="B68757"/>
          </a:solidFill>
          <a:ln>
            <a:noFill/>
          </a:ln>
          <a:effectLst/>
        </p:spPr>
        <p:txBody>
          <a:bodyPr rtlCol="0" anchor="ctr"/>
          <a:lstStyle/>
          <a:p>
            <a:pPr algn="ctr"/>
            <a:endParaRPr/>
          </a:p>
        </p:txBody>
      </p:sp>
      <p:sp>
        <p:nvSpPr>
          <p:cNvPr id="10" name="Rectangle 9"/>
          <p:cNvSpPr/>
          <p:nvPr/>
        </p:nvSpPr>
        <p:spPr>
          <a:xfrm>
            <a:off x="419100" y="1323975"/>
            <a:ext cx="995362" cy="209550"/>
          </a:xfrm>
          <a:prstGeom prst="rect">
            <a:avLst/>
          </a:prstGeom>
          <a:solidFill>
            <a:srgbClr val="1B1A1A"/>
          </a:solidFill>
          <a:ln>
            <a:noFill/>
          </a:ln>
          <a:effectLst/>
        </p:spPr>
        <p:txBody>
          <a:bodyPr rtlCol="0" anchor="ctr"/>
          <a:lstStyle/>
          <a:p>
            <a:pPr algn="ctr"/>
            <a:endParaRPr/>
          </a:p>
        </p:txBody>
      </p:sp>
      <p:sp>
        <p:nvSpPr>
          <p:cNvPr id="11" name="Text: SEPTEMBER 2026"/>
          <p:cNvSpPr txBox="1"/>
          <p:nvPr/>
        </p:nvSpPr>
        <p:spPr>
          <a:xfrm>
            <a:off x="504825" y="1371600"/>
            <a:ext cx="979170" cy="114300"/>
          </a:xfrm>
          <a:prstGeom prst="rect">
            <a:avLst/>
          </a:prstGeom>
          <a:noFill/>
        </p:spPr>
        <p:txBody>
          <a:bodyPr wrap="square" lIns="0" tIns="0" rIns="0" bIns="0" anchor="t">
            <a:spAutoFit/>
          </a:bodyPr>
          <a:lstStyle/>
          <a:p>
            <a:pPr algn="l">
              <a:lnSpc>
                <a:spcPts val="900"/>
              </a:lnSpc>
            </a:pPr>
            <a:r>
              <a:rPr sz="638" b="1" i="0" spc="135">
                <a:solidFill>
                  <a:srgbClr val="D3AE84"/>
                </a:solidFill>
                <a:latin typeface="Calibri"/>
              </a:rPr>
              <a:t>SEPTEMBER 2026</a:t>
            </a:r>
          </a:p>
        </p:txBody>
      </p:sp>
      <p:sp>
        <p:nvSpPr>
          <p:cNvPr id="12" name="Text: PROVIDER SERVICES"/>
          <p:cNvSpPr txBox="1"/>
          <p:nvPr/>
        </p:nvSpPr>
        <p:spPr>
          <a:xfrm>
            <a:off x="2344489" y="1371600"/>
            <a:ext cx="917823" cy="114300"/>
          </a:xfrm>
          <a:prstGeom prst="rect">
            <a:avLst/>
          </a:prstGeom>
          <a:noFill/>
        </p:spPr>
        <p:txBody>
          <a:bodyPr wrap="square" lIns="0" tIns="0" rIns="0" bIns="0" anchor="t">
            <a:spAutoFit/>
          </a:bodyPr>
          <a:lstStyle/>
          <a:p>
            <a:pPr algn="r">
              <a:lnSpc>
                <a:spcPts val="900"/>
              </a:lnSpc>
            </a:pPr>
            <a:r>
              <a:rPr sz="638" b="1" i="0" spc="105">
                <a:solidFill>
                  <a:srgbClr val="8C6239"/>
                </a:solidFill>
                <a:latin typeface="Calibri"/>
              </a:rPr>
              <a:t>PROVIDER SERVICES</a:t>
            </a:r>
          </a:p>
        </p:txBody>
      </p:sp>
      <p:sp>
        <p:nvSpPr>
          <p:cNvPr id="13" name="Rectangle 12"/>
          <p:cNvSpPr/>
          <p:nvPr/>
        </p:nvSpPr>
        <p:spPr>
          <a:xfrm>
            <a:off x="561975" y="1628775"/>
            <a:ext cx="1057275" cy="438150"/>
          </a:xfrm>
          <a:prstGeom prst="rect">
            <a:avLst/>
          </a:prstGeom>
          <a:solidFill>
            <a:srgbClr val="FFFFFF"/>
          </a:solidFill>
          <a:ln>
            <a:noFill/>
          </a:ln>
          <a:effectLst/>
        </p:spPr>
        <p:txBody>
          <a:bodyPr rtlCol="0" anchor="ctr"/>
          <a:lstStyle/>
          <a:p>
            <a:pPr algn="ctr"/>
            <a:endParaRPr/>
          </a:p>
        </p:txBody>
      </p:sp>
      <p:sp>
        <p:nvSpPr>
          <p:cNvPr id="14" name="Rectangle 13"/>
          <p:cNvSpPr/>
          <p:nvPr/>
        </p:nvSpPr>
        <p:spPr>
          <a:xfrm>
            <a:off x="561975" y="1628775"/>
            <a:ext cx="1057275" cy="9525"/>
          </a:xfrm>
          <a:prstGeom prst="rect">
            <a:avLst/>
          </a:prstGeom>
          <a:solidFill>
            <a:srgbClr val="E3DCD3"/>
          </a:solidFill>
          <a:ln>
            <a:noFill/>
          </a:ln>
          <a:effectLst/>
        </p:spPr>
        <p:txBody>
          <a:bodyPr rtlCol="0" anchor="ctr"/>
          <a:lstStyle/>
          <a:p>
            <a:pPr algn="ctr"/>
            <a:endParaRPr/>
          </a:p>
        </p:txBody>
      </p:sp>
      <p:sp>
        <p:nvSpPr>
          <p:cNvPr id="15" name="Rectangle 14"/>
          <p:cNvSpPr/>
          <p:nvPr/>
        </p:nvSpPr>
        <p:spPr>
          <a:xfrm>
            <a:off x="1609725" y="1628775"/>
            <a:ext cx="9525" cy="438150"/>
          </a:xfrm>
          <a:prstGeom prst="rect">
            <a:avLst/>
          </a:prstGeom>
          <a:solidFill>
            <a:srgbClr val="E3DCD3"/>
          </a:solidFill>
          <a:ln>
            <a:noFill/>
          </a:ln>
          <a:effectLst/>
        </p:spPr>
        <p:txBody>
          <a:bodyPr rtlCol="0" anchor="ctr"/>
          <a:lstStyle/>
          <a:p>
            <a:pPr algn="ctr"/>
            <a:endParaRPr/>
          </a:p>
        </p:txBody>
      </p:sp>
      <p:sp>
        <p:nvSpPr>
          <p:cNvPr id="16" name="Rectangle 15"/>
          <p:cNvSpPr/>
          <p:nvPr/>
        </p:nvSpPr>
        <p:spPr>
          <a:xfrm>
            <a:off x="561975" y="2057400"/>
            <a:ext cx="1057275" cy="9525"/>
          </a:xfrm>
          <a:prstGeom prst="rect">
            <a:avLst/>
          </a:prstGeom>
          <a:solidFill>
            <a:srgbClr val="E3DCD3"/>
          </a:solidFill>
          <a:ln>
            <a:noFill/>
          </a:ln>
          <a:effectLst/>
        </p:spPr>
        <p:txBody>
          <a:bodyPr rtlCol="0" anchor="ctr"/>
          <a:lstStyle/>
          <a:p>
            <a:pPr algn="ctr"/>
            <a:endParaRPr/>
          </a:p>
        </p:txBody>
      </p:sp>
      <p:sp>
        <p:nvSpPr>
          <p:cNvPr id="17" name="Rectangle 16"/>
          <p:cNvSpPr/>
          <p:nvPr/>
        </p:nvSpPr>
        <p:spPr>
          <a:xfrm>
            <a:off x="561975" y="1628775"/>
            <a:ext cx="9525" cy="438150"/>
          </a:xfrm>
          <a:prstGeom prst="rect">
            <a:avLst/>
          </a:prstGeom>
          <a:solidFill>
            <a:srgbClr val="E3DCD3"/>
          </a:solidFill>
          <a:ln>
            <a:noFill/>
          </a:ln>
          <a:effectLst/>
        </p:spPr>
        <p:txBody>
          <a:bodyPr rtlCol="0" anchor="ctr"/>
          <a:lstStyle/>
          <a:p>
            <a:pPr algn="ctr"/>
            <a:endParaRPr/>
          </a:p>
        </p:txBody>
      </p:sp>
      <p:sp>
        <p:nvSpPr>
          <p:cNvPr id="18" name="Text: EYECARE PARTNERS OPTOMETRY"/>
          <p:cNvSpPr txBox="1"/>
          <p:nvPr/>
        </p:nvSpPr>
        <p:spPr>
          <a:xfrm>
            <a:off x="647700" y="1728788"/>
            <a:ext cx="900112" cy="238125"/>
          </a:xfrm>
          <a:prstGeom prst="rect">
            <a:avLst/>
          </a:prstGeom>
          <a:noFill/>
        </p:spPr>
        <p:txBody>
          <a:bodyPr wrap="square" lIns="0" tIns="0" rIns="0" bIns="0" anchor="t">
            <a:spAutoFit/>
          </a:bodyPr>
          <a:lstStyle/>
          <a:p>
            <a:pPr algn="ctr">
              <a:lnSpc>
                <a:spcPts val="938"/>
              </a:lnSpc>
            </a:pPr>
            <a:r>
              <a:rPr sz="712" b="1" i="0" spc="38">
                <a:solidFill>
                  <a:srgbClr val="1B1A1A"/>
                </a:solidFill>
                <a:latin typeface="Calibri"/>
              </a:rPr>
              <a:t>EYECARE PARTNERS OPTOMETRY</a:t>
            </a:r>
          </a:p>
        </p:txBody>
      </p:sp>
      <p:sp>
        <p:nvSpPr>
          <p:cNvPr id="19" name="Text: ACQUIRED BY"/>
          <p:cNvSpPr txBox="1"/>
          <p:nvPr/>
        </p:nvSpPr>
        <p:spPr>
          <a:xfrm>
            <a:off x="1676400" y="1747838"/>
            <a:ext cx="471488" cy="200025"/>
          </a:xfrm>
          <a:prstGeom prst="rect">
            <a:avLst/>
          </a:prstGeom>
          <a:noFill/>
        </p:spPr>
        <p:txBody>
          <a:bodyPr wrap="square" lIns="0" tIns="0" rIns="0" bIns="0" anchor="t">
            <a:spAutoFit/>
          </a:bodyPr>
          <a:lstStyle/>
          <a:p>
            <a:pPr algn="ctr">
              <a:lnSpc>
                <a:spcPts val="788"/>
              </a:lnSpc>
            </a:pPr>
            <a:r>
              <a:rPr sz="600" b="0" i="0" spc="60">
                <a:solidFill>
                  <a:srgbClr val="6F6A66"/>
                </a:solidFill>
                <a:latin typeface="Calibri"/>
              </a:rPr>
              <a:t>ACQUIRED BY</a:t>
            </a:r>
          </a:p>
        </p:txBody>
      </p:sp>
      <p:sp>
        <p:nvSpPr>
          <p:cNvPr id="20" name="Rectangle 19"/>
          <p:cNvSpPr/>
          <p:nvPr/>
        </p:nvSpPr>
        <p:spPr>
          <a:xfrm>
            <a:off x="2190750" y="1628775"/>
            <a:ext cx="1057275" cy="438150"/>
          </a:xfrm>
          <a:prstGeom prst="rect">
            <a:avLst/>
          </a:prstGeom>
          <a:solidFill>
            <a:srgbClr val="FFFFFF"/>
          </a:solidFill>
          <a:ln>
            <a:noFill/>
          </a:ln>
          <a:effectLst/>
        </p:spPr>
        <p:txBody>
          <a:bodyPr rtlCol="0" anchor="ctr"/>
          <a:lstStyle/>
          <a:p>
            <a:pPr algn="ctr"/>
            <a:endParaRPr/>
          </a:p>
        </p:txBody>
      </p:sp>
      <p:sp>
        <p:nvSpPr>
          <p:cNvPr id="21" name="Rectangle 20"/>
          <p:cNvSpPr/>
          <p:nvPr/>
        </p:nvSpPr>
        <p:spPr>
          <a:xfrm>
            <a:off x="2190750" y="1628775"/>
            <a:ext cx="1057275" cy="9525"/>
          </a:xfrm>
          <a:prstGeom prst="rect">
            <a:avLst/>
          </a:prstGeom>
          <a:solidFill>
            <a:srgbClr val="E3DCD3"/>
          </a:solidFill>
          <a:ln>
            <a:noFill/>
          </a:ln>
          <a:effectLst/>
        </p:spPr>
        <p:txBody>
          <a:bodyPr rtlCol="0" anchor="ctr"/>
          <a:lstStyle/>
          <a:p>
            <a:pPr algn="ctr"/>
            <a:endParaRPr/>
          </a:p>
        </p:txBody>
      </p:sp>
      <p:sp>
        <p:nvSpPr>
          <p:cNvPr id="22" name="Rectangle 21"/>
          <p:cNvSpPr/>
          <p:nvPr/>
        </p:nvSpPr>
        <p:spPr>
          <a:xfrm>
            <a:off x="3238500" y="1628775"/>
            <a:ext cx="9525" cy="438150"/>
          </a:xfrm>
          <a:prstGeom prst="rect">
            <a:avLst/>
          </a:prstGeom>
          <a:solidFill>
            <a:srgbClr val="E3DCD3"/>
          </a:solidFill>
          <a:ln>
            <a:noFill/>
          </a:ln>
          <a:effectLst/>
        </p:spPr>
        <p:txBody>
          <a:bodyPr rtlCol="0" anchor="ctr"/>
          <a:lstStyle/>
          <a:p>
            <a:pPr algn="ctr"/>
            <a:endParaRPr/>
          </a:p>
        </p:txBody>
      </p:sp>
      <p:sp>
        <p:nvSpPr>
          <p:cNvPr id="23" name="Rectangle 22"/>
          <p:cNvSpPr/>
          <p:nvPr/>
        </p:nvSpPr>
        <p:spPr>
          <a:xfrm>
            <a:off x="2190750" y="2057400"/>
            <a:ext cx="1057275" cy="9525"/>
          </a:xfrm>
          <a:prstGeom prst="rect">
            <a:avLst/>
          </a:prstGeom>
          <a:solidFill>
            <a:srgbClr val="E3DCD3"/>
          </a:solidFill>
          <a:ln>
            <a:noFill/>
          </a:ln>
          <a:effectLst/>
        </p:spPr>
        <p:txBody>
          <a:bodyPr rtlCol="0" anchor="ctr"/>
          <a:lstStyle/>
          <a:p>
            <a:pPr algn="ctr"/>
            <a:endParaRPr/>
          </a:p>
        </p:txBody>
      </p:sp>
      <p:sp>
        <p:nvSpPr>
          <p:cNvPr id="24" name="Rectangle 23"/>
          <p:cNvSpPr/>
          <p:nvPr/>
        </p:nvSpPr>
        <p:spPr>
          <a:xfrm>
            <a:off x="2190750" y="1628775"/>
            <a:ext cx="9525" cy="438150"/>
          </a:xfrm>
          <a:prstGeom prst="rect">
            <a:avLst/>
          </a:prstGeom>
          <a:solidFill>
            <a:srgbClr val="E3DCD3"/>
          </a:solidFill>
          <a:ln>
            <a:noFill/>
          </a:ln>
          <a:effectLst/>
        </p:spPr>
        <p:txBody>
          <a:bodyPr rtlCol="0" anchor="ctr"/>
          <a:lstStyle/>
          <a:p>
            <a:pPr algn="ctr"/>
            <a:endParaRPr/>
          </a:p>
        </p:txBody>
      </p:sp>
      <p:sp>
        <p:nvSpPr>
          <p:cNvPr id="25" name="Text: MYEYEDR."/>
          <p:cNvSpPr txBox="1"/>
          <p:nvPr/>
        </p:nvSpPr>
        <p:spPr>
          <a:xfrm>
            <a:off x="2503289" y="1788319"/>
            <a:ext cx="446484" cy="119062"/>
          </a:xfrm>
          <a:prstGeom prst="rect">
            <a:avLst/>
          </a:prstGeom>
          <a:noFill/>
        </p:spPr>
        <p:txBody>
          <a:bodyPr wrap="square" lIns="0" tIns="0" rIns="0" bIns="0" anchor="t">
            <a:spAutoFit/>
          </a:bodyPr>
          <a:lstStyle/>
          <a:p>
            <a:pPr algn="ctr">
              <a:lnSpc>
                <a:spcPts val="938"/>
              </a:lnSpc>
            </a:pPr>
            <a:r>
              <a:rPr sz="712" b="1" i="0" spc="38">
                <a:solidFill>
                  <a:srgbClr val="1B1A1A"/>
                </a:solidFill>
                <a:latin typeface="Calibri"/>
              </a:rPr>
              <a:t>MYEYEDR.</a:t>
            </a:r>
          </a:p>
        </p:txBody>
      </p:sp>
      <p:sp>
        <p:nvSpPr>
          <p:cNvPr id="26" name="Text: MyEyeDr. agrees to buy the optomet"/>
          <p:cNvSpPr txBox="1"/>
          <p:nvPr/>
        </p:nvSpPr>
        <p:spPr>
          <a:xfrm>
            <a:off x="561975" y="2171700"/>
            <a:ext cx="2700338" cy="333375"/>
          </a:xfrm>
          <a:prstGeom prst="rect">
            <a:avLst/>
          </a:prstGeom>
          <a:noFill/>
        </p:spPr>
        <p:txBody>
          <a:bodyPr wrap="square" lIns="0" tIns="0" rIns="0" bIns="0" anchor="t">
            <a:spAutoFit/>
          </a:bodyPr>
          <a:lstStyle/>
          <a:p>
            <a:pPr algn="l">
              <a:lnSpc>
                <a:spcPts val="1312"/>
              </a:lnSpc>
            </a:pPr>
            <a:r>
              <a:rPr sz="975" b="1" i="0" spc="15">
                <a:solidFill>
                  <a:srgbClr val="1B1A1A"/>
                </a:solidFill>
                <a:latin typeface="Calibri"/>
              </a:rPr>
              <a:t>MyEyeDr. agrees to buy the optometry business of EyeCare Partners</a:t>
            </a:r>
          </a:p>
        </p:txBody>
      </p:sp>
      <p:sp>
        <p:nvSpPr>
          <p:cNvPr id="27" name="Text: The business has more than 300 off"/>
          <p:cNvSpPr txBox="1"/>
          <p:nvPr/>
        </p:nvSpPr>
        <p:spPr>
          <a:xfrm>
            <a:off x="561975" y="2552700"/>
            <a:ext cx="2700338" cy="628650"/>
          </a:xfrm>
          <a:prstGeom prst="rect">
            <a:avLst/>
          </a:prstGeom>
          <a:noFill/>
        </p:spPr>
        <p:txBody>
          <a:bodyPr wrap="square" lIns="0" tIns="0" rIns="0" bIns="0" anchor="t">
            <a:spAutoFit/>
          </a:bodyPr>
          <a:lstStyle/>
          <a:p>
            <a:pPr algn="l">
              <a:lnSpc>
                <a:spcPts val="1238"/>
              </a:lnSpc>
            </a:pPr>
            <a:r>
              <a:rPr sz="861" b="0" i="0" spc="15">
                <a:solidFill>
                  <a:srgbClr val="333231"/>
                </a:solidFill>
                <a:latin typeface="Calibri"/>
              </a:rPr>
              <a:t>The business has more than 300 offices, and EyeCare Partners will apply the proceeds to debt reduction. Closing is expected in the fourth quarter (</a:t>
            </a:r>
            <a:r>
              <a:rPr sz="861" b="0" i="0" spc="15">
                <a:solidFill>
                  <a:srgbClr val="8C6239"/>
                </a:solidFill>
                <a:latin typeface="Calibri"/>
                <a:hlinkClick r:id="rId2">
                  <a:extLst>
                    <a:ext uri="{A12FA001-AC4F-418D-AE19-62706E023703}">
                      <ahyp:hlinkClr xmlns:ahyp="http://schemas.microsoft.com/office/drawing/2018/hyperlinkcolor" val="tx"/>
                    </a:ext>
                  </a:extLst>
                </a:hlinkClick>
              </a:rPr>
              <a:t>EyeCare Partners</a:t>
            </a:r>
            <a:r>
              <a:rPr sz="861" b="0" i="0" spc="15">
                <a:solidFill>
                  <a:srgbClr val="333231"/>
                </a:solidFill>
                <a:latin typeface="Calibri"/>
              </a:rPr>
              <a:t>).</a:t>
            </a:r>
          </a:p>
        </p:txBody>
      </p:sp>
      <p:sp>
        <p:nvSpPr>
          <p:cNvPr id="28" name="Rectangle 27"/>
          <p:cNvSpPr/>
          <p:nvPr/>
        </p:nvSpPr>
        <p:spPr>
          <a:xfrm>
            <a:off x="561975" y="3505200"/>
            <a:ext cx="2686050" cy="9525"/>
          </a:xfrm>
          <a:prstGeom prst="rect">
            <a:avLst/>
          </a:prstGeom>
          <a:solidFill>
            <a:srgbClr val="E3DCD3"/>
          </a:solidFill>
          <a:ln>
            <a:noFill/>
          </a:ln>
          <a:effectLst/>
        </p:spPr>
        <p:txBody>
          <a:bodyPr rtlCol="0" anchor="ctr"/>
          <a:lstStyle/>
          <a:p>
            <a:pPr algn="ctr"/>
            <a:endParaRPr/>
          </a:p>
        </p:txBody>
      </p:sp>
      <p:sp>
        <p:nvSpPr>
          <p:cNvPr id="29" name="Text: WHAT IT SHOWS "/>
          <p:cNvSpPr txBox="1"/>
          <p:nvPr/>
        </p:nvSpPr>
        <p:spPr>
          <a:xfrm>
            <a:off x="561975" y="3590925"/>
            <a:ext cx="2700338" cy="304800"/>
          </a:xfrm>
          <a:prstGeom prst="rect">
            <a:avLst/>
          </a:prstGeom>
          <a:noFill/>
        </p:spPr>
        <p:txBody>
          <a:bodyPr wrap="square" lIns="0" tIns="0" rIns="0" bIns="0" anchor="t">
            <a:spAutoFit/>
          </a:bodyPr>
          <a:lstStyle/>
          <a:p>
            <a:pPr algn="l">
              <a:lnSpc>
                <a:spcPts val="1125"/>
              </a:lnSpc>
            </a:pPr>
            <a:r>
              <a:rPr sz="638" b="1" i="0" spc="120">
                <a:solidFill>
                  <a:srgbClr val="8C6239"/>
                </a:solidFill>
                <a:latin typeface="Calibri"/>
              </a:rPr>
              <a:t>WHAT IT SHOWS </a:t>
            </a:r>
            <a:r>
              <a:rPr sz="788" b="0" i="0" spc="15">
                <a:solidFill>
                  <a:srgbClr val="333231"/>
                </a:solidFill>
                <a:latin typeface="Calibri"/>
              </a:rPr>
              <a:t>Scaled eye care platforms are combining, and sellers are using proceeds to reduce debt.</a:t>
            </a:r>
          </a:p>
        </p:txBody>
      </p:sp>
      <p:sp>
        <p:nvSpPr>
          <p:cNvPr id="30" name="Rectangle 29"/>
          <p:cNvSpPr/>
          <p:nvPr/>
        </p:nvSpPr>
        <p:spPr>
          <a:xfrm>
            <a:off x="3543300" y="1238250"/>
            <a:ext cx="2971800" cy="2771775"/>
          </a:xfrm>
          <a:prstGeom prst="rect">
            <a:avLst/>
          </a:prstGeom>
          <a:solidFill>
            <a:srgbClr val="FAF7F3"/>
          </a:solidFill>
          <a:ln>
            <a:noFill/>
          </a:ln>
          <a:effectLst/>
        </p:spPr>
        <p:txBody>
          <a:bodyPr rtlCol="0" anchor="ctr"/>
          <a:lstStyle/>
          <a:p>
            <a:pPr algn="ctr"/>
            <a:endParaRPr/>
          </a:p>
        </p:txBody>
      </p:sp>
      <p:sp>
        <p:nvSpPr>
          <p:cNvPr id="31" name="Rectangle 30"/>
          <p:cNvSpPr/>
          <p:nvPr/>
        </p:nvSpPr>
        <p:spPr>
          <a:xfrm>
            <a:off x="3543300" y="1238250"/>
            <a:ext cx="2971800" cy="28575"/>
          </a:xfrm>
          <a:prstGeom prst="rect">
            <a:avLst/>
          </a:prstGeom>
          <a:solidFill>
            <a:srgbClr val="B68757"/>
          </a:solidFill>
          <a:ln>
            <a:noFill/>
          </a:ln>
          <a:effectLst/>
        </p:spPr>
        <p:txBody>
          <a:bodyPr rtlCol="0" anchor="ctr"/>
          <a:lstStyle/>
          <a:p>
            <a:pPr algn="ctr"/>
            <a:endParaRPr/>
          </a:p>
        </p:txBody>
      </p:sp>
      <p:sp>
        <p:nvSpPr>
          <p:cNvPr id="32" name="Rectangle 31"/>
          <p:cNvSpPr/>
          <p:nvPr/>
        </p:nvSpPr>
        <p:spPr>
          <a:xfrm>
            <a:off x="3543300" y="1323975"/>
            <a:ext cx="995362" cy="209550"/>
          </a:xfrm>
          <a:prstGeom prst="rect">
            <a:avLst/>
          </a:prstGeom>
          <a:solidFill>
            <a:srgbClr val="1B1A1A"/>
          </a:solidFill>
          <a:ln>
            <a:noFill/>
          </a:ln>
          <a:effectLst/>
        </p:spPr>
        <p:txBody>
          <a:bodyPr rtlCol="0" anchor="ctr"/>
          <a:lstStyle/>
          <a:p>
            <a:pPr algn="ctr"/>
            <a:endParaRPr/>
          </a:p>
        </p:txBody>
      </p:sp>
      <p:sp>
        <p:nvSpPr>
          <p:cNvPr id="33" name="Text: SEPTEMBER 2026"/>
          <p:cNvSpPr txBox="1"/>
          <p:nvPr/>
        </p:nvSpPr>
        <p:spPr>
          <a:xfrm>
            <a:off x="3629025" y="1371600"/>
            <a:ext cx="979170" cy="114300"/>
          </a:xfrm>
          <a:prstGeom prst="rect">
            <a:avLst/>
          </a:prstGeom>
          <a:noFill/>
        </p:spPr>
        <p:txBody>
          <a:bodyPr wrap="square" lIns="0" tIns="0" rIns="0" bIns="0" anchor="t">
            <a:spAutoFit/>
          </a:bodyPr>
          <a:lstStyle/>
          <a:p>
            <a:pPr algn="l">
              <a:lnSpc>
                <a:spcPts val="900"/>
              </a:lnSpc>
            </a:pPr>
            <a:r>
              <a:rPr sz="638" b="1" i="0" spc="135">
                <a:solidFill>
                  <a:srgbClr val="D3AE84"/>
                </a:solidFill>
                <a:latin typeface="Calibri"/>
              </a:rPr>
              <a:t>SEPTEMBER 2026</a:t>
            </a:r>
          </a:p>
        </p:txBody>
      </p:sp>
      <p:sp>
        <p:nvSpPr>
          <p:cNvPr id="34" name="Text: PROVIDER SERVICES"/>
          <p:cNvSpPr txBox="1"/>
          <p:nvPr/>
        </p:nvSpPr>
        <p:spPr>
          <a:xfrm>
            <a:off x="5468689" y="1371600"/>
            <a:ext cx="917823" cy="114300"/>
          </a:xfrm>
          <a:prstGeom prst="rect">
            <a:avLst/>
          </a:prstGeom>
          <a:noFill/>
        </p:spPr>
        <p:txBody>
          <a:bodyPr wrap="square" lIns="0" tIns="0" rIns="0" bIns="0" anchor="t">
            <a:spAutoFit/>
          </a:bodyPr>
          <a:lstStyle/>
          <a:p>
            <a:pPr algn="r">
              <a:lnSpc>
                <a:spcPts val="900"/>
              </a:lnSpc>
            </a:pPr>
            <a:r>
              <a:rPr sz="638" b="1" i="0" spc="105">
                <a:solidFill>
                  <a:srgbClr val="8C6239"/>
                </a:solidFill>
                <a:latin typeface="Calibri"/>
              </a:rPr>
              <a:t>PROVIDER SERVICES</a:t>
            </a:r>
          </a:p>
        </p:txBody>
      </p:sp>
      <p:sp>
        <p:nvSpPr>
          <p:cNvPr id="35" name="Rectangle 34"/>
          <p:cNvSpPr/>
          <p:nvPr/>
        </p:nvSpPr>
        <p:spPr>
          <a:xfrm>
            <a:off x="3686175" y="1628775"/>
            <a:ext cx="1057275" cy="438150"/>
          </a:xfrm>
          <a:prstGeom prst="rect">
            <a:avLst/>
          </a:prstGeom>
          <a:solidFill>
            <a:srgbClr val="FFFFFF"/>
          </a:solidFill>
          <a:ln>
            <a:noFill/>
          </a:ln>
          <a:effectLst/>
        </p:spPr>
        <p:txBody>
          <a:bodyPr rtlCol="0" anchor="ctr"/>
          <a:lstStyle/>
          <a:p>
            <a:pPr algn="ctr"/>
            <a:endParaRPr/>
          </a:p>
        </p:txBody>
      </p:sp>
      <p:sp>
        <p:nvSpPr>
          <p:cNvPr id="36" name="Rectangle 35"/>
          <p:cNvSpPr/>
          <p:nvPr/>
        </p:nvSpPr>
        <p:spPr>
          <a:xfrm>
            <a:off x="3686175" y="1628775"/>
            <a:ext cx="1057275" cy="9525"/>
          </a:xfrm>
          <a:prstGeom prst="rect">
            <a:avLst/>
          </a:prstGeom>
          <a:solidFill>
            <a:srgbClr val="E3DCD3"/>
          </a:solidFill>
          <a:ln>
            <a:noFill/>
          </a:ln>
          <a:effectLst/>
        </p:spPr>
        <p:txBody>
          <a:bodyPr rtlCol="0" anchor="ctr"/>
          <a:lstStyle/>
          <a:p>
            <a:pPr algn="ctr"/>
            <a:endParaRPr/>
          </a:p>
        </p:txBody>
      </p:sp>
      <p:sp>
        <p:nvSpPr>
          <p:cNvPr id="37" name="Rectangle 36"/>
          <p:cNvSpPr/>
          <p:nvPr/>
        </p:nvSpPr>
        <p:spPr>
          <a:xfrm>
            <a:off x="4733925" y="1628775"/>
            <a:ext cx="9525" cy="438150"/>
          </a:xfrm>
          <a:prstGeom prst="rect">
            <a:avLst/>
          </a:prstGeom>
          <a:solidFill>
            <a:srgbClr val="E3DCD3"/>
          </a:solidFill>
          <a:ln>
            <a:noFill/>
          </a:ln>
          <a:effectLst/>
        </p:spPr>
        <p:txBody>
          <a:bodyPr rtlCol="0" anchor="ctr"/>
          <a:lstStyle/>
          <a:p>
            <a:pPr algn="ctr"/>
            <a:endParaRPr/>
          </a:p>
        </p:txBody>
      </p:sp>
      <p:sp>
        <p:nvSpPr>
          <p:cNvPr id="38" name="Rectangle 37"/>
          <p:cNvSpPr/>
          <p:nvPr/>
        </p:nvSpPr>
        <p:spPr>
          <a:xfrm>
            <a:off x="3686175" y="2057400"/>
            <a:ext cx="1057275" cy="9525"/>
          </a:xfrm>
          <a:prstGeom prst="rect">
            <a:avLst/>
          </a:prstGeom>
          <a:solidFill>
            <a:srgbClr val="E3DCD3"/>
          </a:solidFill>
          <a:ln>
            <a:noFill/>
          </a:ln>
          <a:effectLst/>
        </p:spPr>
        <p:txBody>
          <a:bodyPr rtlCol="0" anchor="ctr"/>
          <a:lstStyle/>
          <a:p>
            <a:pPr algn="ctr"/>
            <a:endParaRPr/>
          </a:p>
        </p:txBody>
      </p:sp>
      <p:sp>
        <p:nvSpPr>
          <p:cNvPr id="39" name="Rectangle 38"/>
          <p:cNvSpPr/>
          <p:nvPr/>
        </p:nvSpPr>
        <p:spPr>
          <a:xfrm>
            <a:off x="3686175" y="1628775"/>
            <a:ext cx="9525" cy="438150"/>
          </a:xfrm>
          <a:prstGeom prst="rect">
            <a:avLst/>
          </a:prstGeom>
          <a:solidFill>
            <a:srgbClr val="E3DCD3"/>
          </a:solidFill>
          <a:ln>
            <a:noFill/>
          </a:ln>
          <a:effectLst/>
        </p:spPr>
        <p:txBody>
          <a:bodyPr rtlCol="0" anchor="ctr"/>
          <a:lstStyle/>
          <a:p>
            <a:pPr algn="ctr"/>
            <a:endParaRPr/>
          </a:p>
        </p:txBody>
      </p:sp>
      <p:sp>
        <p:nvSpPr>
          <p:cNvPr id="40" name="Text: ACCENTCARE PERSONAL CARE"/>
          <p:cNvSpPr txBox="1"/>
          <p:nvPr/>
        </p:nvSpPr>
        <p:spPr>
          <a:xfrm>
            <a:off x="3771900" y="1728788"/>
            <a:ext cx="900112" cy="238125"/>
          </a:xfrm>
          <a:prstGeom prst="rect">
            <a:avLst/>
          </a:prstGeom>
          <a:noFill/>
        </p:spPr>
        <p:txBody>
          <a:bodyPr wrap="square" lIns="0" tIns="0" rIns="0" bIns="0" anchor="t">
            <a:spAutoFit/>
          </a:bodyPr>
          <a:lstStyle/>
          <a:p>
            <a:pPr algn="ctr">
              <a:lnSpc>
                <a:spcPts val="938"/>
              </a:lnSpc>
            </a:pPr>
            <a:r>
              <a:rPr sz="712" b="1" i="0" spc="38">
                <a:solidFill>
                  <a:srgbClr val="1B1A1A"/>
                </a:solidFill>
                <a:latin typeface="Calibri"/>
              </a:rPr>
              <a:t>ACCENTCARE PERSONAL CARE</a:t>
            </a:r>
          </a:p>
        </p:txBody>
      </p:sp>
      <p:sp>
        <p:nvSpPr>
          <p:cNvPr id="41" name="Text: ACQUIRED BY"/>
          <p:cNvSpPr txBox="1"/>
          <p:nvPr/>
        </p:nvSpPr>
        <p:spPr>
          <a:xfrm>
            <a:off x="4800600" y="1747838"/>
            <a:ext cx="471488" cy="200025"/>
          </a:xfrm>
          <a:prstGeom prst="rect">
            <a:avLst/>
          </a:prstGeom>
          <a:noFill/>
        </p:spPr>
        <p:txBody>
          <a:bodyPr wrap="square" lIns="0" tIns="0" rIns="0" bIns="0" anchor="t">
            <a:spAutoFit/>
          </a:bodyPr>
          <a:lstStyle/>
          <a:p>
            <a:pPr algn="ctr">
              <a:lnSpc>
                <a:spcPts val="788"/>
              </a:lnSpc>
            </a:pPr>
            <a:r>
              <a:rPr sz="600" b="0" i="0" spc="60">
                <a:solidFill>
                  <a:srgbClr val="6F6A66"/>
                </a:solidFill>
                <a:latin typeface="Calibri"/>
              </a:rPr>
              <a:t>ACQUIRED BY</a:t>
            </a:r>
          </a:p>
        </p:txBody>
      </p:sp>
      <p:sp>
        <p:nvSpPr>
          <p:cNvPr id="42" name="Rectangle 41"/>
          <p:cNvSpPr/>
          <p:nvPr/>
        </p:nvSpPr>
        <p:spPr>
          <a:xfrm>
            <a:off x="5314950" y="1628775"/>
            <a:ext cx="1057275" cy="438150"/>
          </a:xfrm>
          <a:prstGeom prst="rect">
            <a:avLst/>
          </a:prstGeom>
          <a:solidFill>
            <a:srgbClr val="FFFFFF"/>
          </a:solidFill>
          <a:ln>
            <a:noFill/>
          </a:ln>
          <a:effectLst/>
        </p:spPr>
        <p:txBody>
          <a:bodyPr rtlCol="0" anchor="ctr"/>
          <a:lstStyle/>
          <a:p>
            <a:pPr algn="ctr"/>
            <a:endParaRPr/>
          </a:p>
        </p:txBody>
      </p:sp>
      <p:sp>
        <p:nvSpPr>
          <p:cNvPr id="43" name="Rectangle 42"/>
          <p:cNvSpPr/>
          <p:nvPr/>
        </p:nvSpPr>
        <p:spPr>
          <a:xfrm>
            <a:off x="5314950" y="1628775"/>
            <a:ext cx="1057275" cy="9525"/>
          </a:xfrm>
          <a:prstGeom prst="rect">
            <a:avLst/>
          </a:prstGeom>
          <a:solidFill>
            <a:srgbClr val="E3DCD3"/>
          </a:solidFill>
          <a:ln>
            <a:noFill/>
          </a:ln>
          <a:effectLst/>
        </p:spPr>
        <p:txBody>
          <a:bodyPr rtlCol="0" anchor="ctr"/>
          <a:lstStyle/>
          <a:p>
            <a:pPr algn="ctr"/>
            <a:endParaRPr/>
          </a:p>
        </p:txBody>
      </p:sp>
      <p:sp>
        <p:nvSpPr>
          <p:cNvPr id="44" name="Rectangle 43"/>
          <p:cNvSpPr/>
          <p:nvPr/>
        </p:nvSpPr>
        <p:spPr>
          <a:xfrm>
            <a:off x="6362700" y="1628775"/>
            <a:ext cx="9525" cy="438150"/>
          </a:xfrm>
          <a:prstGeom prst="rect">
            <a:avLst/>
          </a:prstGeom>
          <a:solidFill>
            <a:srgbClr val="E3DCD3"/>
          </a:solidFill>
          <a:ln>
            <a:noFill/>
          </a:ln>
          <a:effectLst/>
        </p:spPr>
        <p:txBody>
          <a:bodyPr rtlCol="0" anchor="ctr"/>
          <a:lstStyle/>
          <a:p>
            <a:pPr algn="ctr"/>
            <a:endParaRPr/>
          </a:p>
        </p:txBody>
      </p:sp>
      <p:sp>
        <p:nvSpPr>
          <p:cNvPr id="45" name="Rectangle 44"/>
          <p:cNvSpPr/>
          <p:nvPr/>
        </p:nvSpPr>
        <p:spPr>
          <a:xfrm>
            <a:off x="5314950" y="2057400"/>
            <a:ext cx="1057275" cy="9525"/>
          </a:xfrm>
          <a:prstGeom prst="rect">
            <a:avLst/>
          </a:prstGeom>
          <a:solidFill>
            <a:srgbClr val="E3DCD3"/>
          </a:solidFill>
          <a:ln>
            <a:noFill/>
          </a:ln>
          <a:effectLst/>
        </p:spPr>
        <p:txBody>
          <a:bodyPr rtlCol="0" anchor="ctr"/>
          <a:lstStyle/>
          <a:p>
            <a:pPr algn="ctr"/>
            <a:endParaRPr/>
          </a:p>
        </p:txBody>
      </p:sp>
      <p:sp>
        <p:nvSpPr>
          <p:cNvPr id="46" name="Rectangle 45"/>
          <p:cNvSpPr/>
          <p:nvPr/>
        </p:nvSpPr>
        <p:spPr>
          <a:xfrm>
            <a:off x="5314950" y="1628775"/>
            <a:ext cx="9525" cy="438150"/>
          </a:xfrm>
          <a:prstGeom prst="rect">
            <a:avLst/>
          </a:prstGeom>
          <a:solidFill>
            <a:srgbClr val="E3DCD3"/>
          </a:solidFill>
          <a:ln>
            <a:noFill/>
          </a:ln>
          <a:effectLst/>
        </p:spPr>
        <p:txBody>
          <a:bodyPr rtlCol="0" anchor="ctr"/>
          <a:lstStyle/>
          <a:p>
            <a:pPr algn="ctr"/>
            <a:endParaRPr/>
          </a:p>
        </p:txBody>
      </p:sp>
      <p:sp>
        <p:nvSpPr>
          <p:cNvPr id="47" name="Text: ADDUS HOMECARE"/>
          <p:cNvSpPr txBox="1"/>
          <p:nvPr/>
        </p:nvSpPr>
        <p:spPr>
          <a:xfrm>
            <a:off x="5445621" y="1788319"/>
            <a:ext cx="810220" cy="119062"/>
          </a:xfrm>
          <a:prstGeom prst="rect">
            <a:avLst/>
          </a:prstGeom>
          <a:noFill/>
        </p:spPr>
        <p:txBody>
          <a:bodyPr wrap="square" lIns="0" tIns="0" rIns="0" bIns="0" anchor="t">
            <a:spAutoFit/>
          </a:bodyPr>
          <a:lstStyle/>
          <a:p>
            <a:pPr algn="ctr">
              <a:lnSpc>
                <a:spcPts val="938"/>
              </a:lnSpc>
            </a:pPr>
            <a:r>
              <a:rPr sz="712" b="1" i="0" spc="38">
                <a:solidFill>
                  <a:srgbClr val="1B1A1A"/>
                </a:solidFill>
                <a:latin typeface="Calibri"/>
              </a:rPr>
              <a:t>ADDUS HOMECARE</a:t>
            </a:r>
          </a:p>
        </p:txBody>
      </p:sp>
      <p:sp>
        <p:nvSpPr>
          <p:cNvPr id="48" name="Text: Addus HomeCare agrees to buy Accen"/>
          <p:cNvSpPr txBox="1"/>
          <p:nvPr/>
        </p:nvSpPr>
        <p:spPr>
          <a:xfrm>
            <a:off x="3686175" y="2171700"/>
            <a:ext cx="2700338" cy="333375"/>
          </a:xfrm>
          <a:prstGeom prst="rect">
            <a:avLst/>
          </a:prstGeom>
          <a:noFill/>
        </p:spPr>
        <p:txBody>
          <a:bodyPr wrap="square" lIns="0" tIns="0" rIns="0" bIns="0" anchor="t">
            <a:spAutoFit/>
          </a:bodyPr>
          <a:lstStyle/>
          <a:p>
            <a:pPr algn="l">
              <a:lnSpc>
                <a:spcPts val="1312"/>
              </a:lnSpc>
            </a:pPr>
            <a:r>
              <a:rPr sz="975" b="1" i="0" spc="15">
                <a:solidFill>
                  <a:srgbClr val="1B1A1A"/>
                </a:solidFill>
                <a:latin typeface="Calibri"/>
              </a:rPr>
              <a:t>Addus HomeCare agrees to buy AccentCare's personal care division</a:t>
            </a:r>
          </a:p>
        </p:txBody>
      </p:sp>
      <p:sp>
        <p:nvSpPr>
          <p:cNvPr id="49" name="Text: Addus will pay about $275 million "/>
          <p:cNvSpPr txBox="1"/>
          <p:nvPr/>
        </p:nvSpPr>
        <p:spPr>
          <a:xfrm>
            <a:off x="3686175" y="2552700"/>
            <a:ext cx="2700338" cy="471488"/>
          </a:xfrm>
          <a:prstGeom prst="rect">
            <a:avLst/>
          </a:prstGeom>
          <a:noFill/>
        </p:spPr>
        <p:txBody>
          <a:bodyPr wrap="square" lIns="0" tIns="0" rIns="0" bIns="0" anchor="t">
            <a:spAutoFit/>
          </a:bodyPr>
          <a:lstStyle/>
          <a:p>
            <a:pPr algn="l">
              <a:lnSpc>
                <a:spcPts val="1238"/>
              </a:lnSpc>
            </a:pPr>
            <a:r>
              <a:rPr sz="861" b="0" i="0" spc="15">
                <a:solidFill>
                  <a:srgbClr val="333231"/>
                </a:solidFill>
                <a:latin typeface="Calibri"/>
              </a:rPr>
              <a:t>Addus will pay about $275 million for a division with about $280 million of annual revenue in ten states (</a:t>
            </a:r>
            <a:r>
              <a:rPr sz="861" b="0" i="0" spc="15">
                <a:solidFill>
                  <a:srgbClr val="8C6239"/>
                </a:solidFill>
                <a:latin typeface="Calibri"/>
                <a:hlinkClick r:id="rId3">
                  <a:extLst>
                    <a:ext uri="{A12FA001-AC4F-418D-AE19-62706E023703}">
                      <ahyp:hlinkClr xmlns:ahyp="http://schemas.microsoft.com/office/drawing/2018/hyperlinkcolor" val="tx"/>
                    </a:ext>
                  </a:extLst>
                </a:hlinkClick>
              </a:rPr>
              <a:t>Addus HomeCare</a:t>
            </a:r>
            <a:r>
              <a:rPr sz="861" b="0" i="0" spc="15">
                <a:solidFill>
                  <a:srgbClr val="333231"/>
                </a:solidFill>
                <a:latin typeface="Calibri"/>
              </a:rPr>
              <a:t>).</a:t>
            </a:r>
          </a:p>
        </p:txBody>
      </p:sp>
      <p:sp>
        <p:nvSpPr>
          <p:cNvPr id="50" name="Rectangle 49"/>
          <p:cNvSpPr/>
          <p:nvPr/>
        </p:nvSpPr>
        <p:spPr>
          <a:xfrm>
            <a:off x="3686175" y="3505200"/>
            <a:ext cx="2686050" cy="9525"/>
          </a:xfrm>
          <a:prstGeom prst="rect">
            <a:avLst/>
          </a:prstGeom>
          <a:solidFill>
            <a:srgbClr val="E3DCD3"/>
          </a:solidFill>
          <a:ln>
            <a:noFill/>
          </a:ln>
          <a:effectLst/>
        </p:spPr>
        <p:txBody>
          <a:bodyPr rtlCol="0" anchor="ctr"/>
          <a:lstStyle/>
          <a:p>
            <a:pPr algn="ctr"/>
            <a:endParaRPr/>
          </a:p>
        </p:txBody>
      </p:sp>
      <p:sp>
        <p:nvSpPr>
          <p:cNvPr id="51" name="Text: WHAT IT SHOWS "/>
          <p:cNvSpPr txBox="1"/>
          <p:nvPr/>
        </p:nvSpPr>
        <p:spPr>
          <a:xfrm>
            <a:off x="3686175" y="3590925"/>
            <a:ext cx="2700338" cy="304800"/>
          </a:xfrm>
          <a:prstGeom prst="rect">
            <a:avLst/>
          </a:prstGeom>
          <a:noFill/>
        </p:spPr>
        <p:txBody>
          <a:bodyPr wrap="square" lIns="0" tIns="0" rIns="0" bIns="0" anchor="t">
            <a:spAutoFit/>
          </a:bodyPr>
          <a:lstStyle/>
          <a:p>
            <a:pPr algn="l">
              <a:lnSpc>
                <a:spcPts val="1125"/>
              </a:lnSpc>
            </a:pPr>
            <a:r>
              <a:rPr sz="638" b="1" i="0" spc="120">
                <a:solidFill>
                  <a:srgbClr val="8C6239"/>
                </a:solidFill>
                <a:latin typeface="Calibri"/>
              </a:rPr>
              <a:t>WHAT IT SHOWS </a:t>
            </a:r>
            <a:r>
              <a:rPr sz="788" b="0" i="0" spc="15">
                <a:solidFill>
                  <a:srgbClr val="333231"/>
                </a:solidFill>
                <a:latin typeface="Calibri"/>
              </a:rPr>
              <a:t>Listed home care operators are paying about one times revenue for personal care scale.</a:t>
            </a:r>
          </a:p>
        </p:txBody>
      </p:sp>
      <p:sp>
        <p:nvSpPr>
          <p:cNvPr id="52" name="Rectangle 51"/>
          <p:cNvSpPr/>
          <p:nvPr/>
        </p:nvSpPr>
        <p:spPr>
          <a:xfrm>
            <a:off x="6667500" y="1238250"/>
            <a:ext cx="2971800" cy="2771775"/>
          </a:xfrm>
          <a:prstGeom prst="rect">
            <a:avLst/>
          </a:prstGeom>
          <a:solidFill>
            <a:srgbClr val="FAF7F3"/>
          </a:solidFill>
          <a:ln>
            <a:noFill/>
          </a:ln>
          <a:effectLst/>
        </p:spPr>
        <p:txBody>
          <a:bodyPr rtlCol="0" anchor="ctr"/>
          <a:lstStyle/>
          <a:p>
            <a:pPr algn="ctr"/>
            <a:endParaRPr/>
          </a:p>
        </p:txBody>
      </p:sp>
      <p:sp>
        <p:nvSpPr>
          <p:cNvPr id="53" name="Rectangle 52"/>
          <p:cNvSpPr/>
          <p:nvPr/>
        </p:nvSpPr>
        <p:spPr>
          <a:xfrm>
            <a:off x="6667500" y="1238250"/>
            <a:ext cx="2971800" cy="28575"/>
          </a:xfrm>
          <a:prstGeom prst="rect">
            <a:avLst/>
          </a:prstGeom>
          <a:solidFill>
            <a:srgbClr val="B68757"/>
          </a:solidFill>
          <a:ln>
            <a:noFill/>
          </a:ln>
          <a:effectLst/>
        </p:spPr>
        <p:txBody>
          <a:bodyPr rtlCol="0" anchor="ctr"/>
          <a:lstStyle/>
          <a:p>
            <a:pPr algn="ctr"/>
            <a:endParaRPr/>
          </a:p>
        </p:txBody>
      </p:sp>
      <p:sp>
        <p:nvSpPr>
          <p:cNvPr id="54" name="Rectangle 53"/>
          <p:cNvSpPr/>
          <p:nvPr/>
        </p:nvSpPr>
        <p:spPr>
          <a:xfrm>
            <a:off x="6667500" y="1323975"/>
            <a:ext cx="680740" cy="209550"/>
          </a:xfrm>
          <a:prstGeom prst="rect">
            <a:avLst/>
          </a:prstGeom>
          <a:solidFill>
            <a:srgbClr val="1B1A1A"/>
          </a:solidFill>
          <a:ln>
            <a:noFill/>
          </a:ln>
          <a:effectLst/>
        </p:spPr>
        <p:txBody>
          <a:bodyPr rtlCol="0" anchor="ctr"/>
          <a:lstStyle/>
          <a:p>
            <a:pPr algn="ctr"/>
            <a:endParaRPr/>
          </a:p>
        </p:txBody>
      </p:sp>
      <p:sp>
        <p:nvSpPr>
          <p:cNvPr id="55" name="Text: JUNE 2026"/>
          <p:cNvSpPr txBox="1"/>
          <p:nvPr/>
        </p:nvSpPr>
        <p:spPr>
          <a:xfrm>
            <a:off x="6753225" y="1371600"/>
            <a:ext cx="633085" cy="114300"/>
          </a:xfrm>
          <a:prstGeom prst="rect">
            <a:avLst/>
          </a:prstGeom>
          <a:noFill/>
        </p:spPr>
        <p:txBody>
          <a:bodyPr wrap="square" lIns="0" tIns="0" rIns="0" bIns="0" anchor="t">
            <a:spAutoFit/>
          </a:bodyPr>
          <a:lstStyle/>
          <a:p>
            <a:pPr algn="l">
              <a:lnSpc>
                <a:spcPts val="900"/>
              </a:lnSpc>
            </a:pPr>
            <a:r>
              <a:rPr sz="638" b="1" i="0" spc="135">
                <a:solidFill>
                  <a:srgbClr val="D3AE84"/>
                </a:solidFill>
                <a:latin typeface="Calibri"/>
              </a:rPr>
              <a:t>JUNE 2026</a:t>
            </a:r>
          </a:p>
        </p:txBody>
      </p:sp>
      <p:sp>
        <p:nvSpPr>
          <p:cNvPr id="56" name="Text: LIFE SCIENCES &amp; DIAGNOSTICS"/>
          <p:cNvSpPr txBox="1"/>
          <p:nvPr/>
        </p:nvSpPr>
        <p:spPr>
          <a:xfrm>
            <a:off x="8115895" y="1371600"/>
            <a:ext cx="1394817" cy="114300"/>
          </a:xfrm>
          <a:prstGeom prst="rect">
            <a:avLst/>
          </a:prstGeom>
          <a:noFill/>
        </p:spPr>
        <p:txBody>
          <a:bodyPr wrap="square" lIns="0" tIns="0" rIns="0" bIns="0" anchor="t">
            <a:spAutoFit/>
          </a:bodyPr>
          <a:lstStyle/>
          <a:p>
            <a:pPr algn="r">
              <a:lnSpc>
                <a:spcPts val="900"/>
              </a:lnSpc>
            </a:pPr>
            <a:r>
              <a:rPr sz="638" b="1" i="0" spc="105">
                <a:solidFill>
                  <a:srgbClr val="8C6239"/>
                </a:solidFill>
                <a:latin typeface="Calibri"/>
              </a:rPr>
              <a:t>LIFE SCIENCES &amp; DIAGNOSTICS</a:t>
            </a:r>
          </a:p>
        </p:txBody>
      </p:sp>
      <p:sp>
        <p:nvSpPr>
          <p:cNvPr id="57" name="Rectangle 56"/>
          <p:cNvSpPr/>
          <p:nvPr/>
        </p:nvSpPr>
        <p:spPr>
          <a:xfrm>
            <a:off x="6810375" y="1628775"/>
            <a:ext cx="1057275" cy="438150"/>
          </a:xfrm>
          <a:prstGeom prst="rect">
            <a:avLst/>
          </a:prstGeom>
          <a:solidFill>
            <a:srgbClr val="FFFFFF"/>
          </a:solidFill>
          <a:ln>
            <a:noFill/>
          </a:ln>
          <a:effectLst/>
        </p:spPr>
        <p:txBody>
          <a:bodyPr rtlCol="0" anchor="ctr"/>
          <a:lstStyle/>
          <a:p>
            <a:pPr algn="ctr"/>
            <a:endParaRPr/>
          </a:p>
        </p:txBody>
      </p:sp>
      <p:sp>
        <p:nvSpPr>
          <p:cNvPr id="58" name="Rectangle 57"/>
          <p:cNvSpPr/>
          <p:nvPr/>
        </p:nvSpPr>
        <p:spPr>
          <a:xfrm>
            <a:off x="6810375" y="1628775"/>
            <a:ext cx="1057275" cy="9525"/>
          </a:xfrm>
          <a:prstGeom prst="rect">
            <a:avLst/>
          </a:prstGeom>
          <a:solidFill>
            <a:srgbClr val="E3DCD3"/>
          </a:solidFill>
          <a:ln>
            <a:noFill/>
          </a:ln>
          <a:effectLst/>
        </p:spPr>
        <p:txBody>
          <a:bodyPr rtlCol="0" anchor="ctr"/>
          <a:lstStyle/>
          <a:p>
            <a:pPr algn="ctr"/>
            <a:endParaRPr/>
          </a:p>
        </p:txBody>
      </p:sp>
      <p:sp>
        <p:nvSpPr>
          <p:cNvPr id="59" name="Rectangle 58"/>
          <p:cNvSpPr/>
          <p:nvPr/>
        </p:nvSpPr>
        <p:spPr>
          <a:xfrm>
            <a:off x="7858125" y="1628775"/>
            <a:ext cx="9525" cy="438150"/>
          </a:xfrm>
          <a:prstGeom prst="rect">
            <a:avLst/>
          </a:prstGeom>
          <a:solidFill>
            <a:srgbClr val="E3DCD3"/>
          </a:solidFill>
          <a:ln>
            <a:noFill/>
          </a:ln>
          <a:effectLst/>
        </p:spPr>
        <p:txBody>
          <a:bodyPr rtlCol="0" anchor="ctr"/>
          <a:lstStyle/>
          <a:p>
            <a:pPr algn="ctr"/>
            <a:endParaRPr/>
          </a:p>
        </p:txBody>
      </p:sp>
      <p:sp>
        <p:nvSpPr>
          <p:cNvPr id="60" name="Rectangle 59"/>
          <p:cNvSpPr/>
          <p:nvPr/>
        </p:nvSpPr>
        <p:spPr>
          <a:xfrm>
            <a:off x="6810375" y="2057400"/>
            <a:ext cx="1057275" cy="9525"/>
          </a:xfrm>
          <a:prstGeom prst="rect">
            <a:avLst/>
          </a:prstGeom>
          <a:solidFill>
            <a:srgbClr val="E3DCD3"/>
          </a:solidFill>
          <a:ln>
            <a:noFill/>
          </a:ln>
          <a:effectLst/>
        </p:spPr>
        <p:txBody>
          <a:bodyPr rtlCol="0" anchor="ctr"/>
          <a:lstStyle/>
          <a:p>
            <a:pPr algn="ctr"/>
            <a:endParaRPr/>
          </a:p>
        </p:txBody>
      </p:sp>
      <p:sp>
        <p:nvSpPr>
          <p:cNvPr id="61" name="Rectangle 60"/>
          <p:cNvSpPr/>
          <p:nvPr/>
        </p:nvSpPr>
        <p:spPr>
          <a:xfrm>
            <a:off x="6810375" y="1628775"/>
            <a:ext cx="9525" cy="438150"/>
          </a:xfrm>
          <a:prstGeom prst="rect">
            <a:avLst/>
          </a:prstGeom>
          <a:solidFill>
            <a:srgbClr val="E3DCD3"/>
          </a:solidFill>
          <a:ln>
            <a:noFill/>
          </a:ln>
          <a:effectLst/>
        </p:spPr>
        <p:txBody>
          <a:bodyPr rtlCol="0" anchor="ctr"/>
          <a:lstStyle/>
          <a:p>
            <a:pPr algn="ctr"/>
            <a:endParaRPr/>
          </a:p>
        </p:txBody>
      </p:sp>
      <p:sp>
        <p:nvSpPr>
          <p:cNvPr id="62" name="Text: BIO-TECHNE"/>
          <p:cNvSpPr txBox="1"/>
          <p:nvPr/>
        </p:nvSpPr>
        <p:spPr>
          <a:xfrm>
            <a:off x="7088237" y="1788319"/>
            <a:ext cx="515689" cy="119062"/>
          </a:xfrm>
          <a:prstGeom prst="rect">
            <a:avLst/>
          </a:prstGeom>
          <a:noFill/>
        </p:spPr>
        <p:txBody>
          <a:bodyPr wrap="square" lIns="0" tIns="0" rIns="0" bIns="0" anchor="t">
            <a:spAutoFit/>
          </a:bodyPr>
          <a:lstStyle/>
          <a:p>
            <a:pPr algn="ctr">
              <a:lnSpc>
                <a:spcPts val="938"/>
              </a:lnSpc>
            </a:pPr>
            <a:r>
              <a:rPr sz="712" b="1" i="0" spc="38">
                <a:solidFill>
                  <a:srgbClr val="1B1A1A"/>
                </a:solidFill>
                <a:latin typeface="Calibri"/>
              </a:rPr>
              <a:t>BIO-TECHNE</a:t>
            </a:r>
          </a:p>
        </p:txBody>
      </p:sp>
      <p:sp>
        <p:nvSpPr>
          <p:cNvPr id="63" name="Text: ACQUIRED BY"/>
          <p:cNvSpPr txBox="1"/>
          <p:nvPr/>
        </p:nvSpPr>
        <p:spPr>
          <a:xfrm>
            <a:off x="7924800" y="1747838"/>
            <a:ext cx="471488" cy="200025"/>
          </a:xfrm>
          <a:prstGeom prst="rect">
            <a:avLst/>
          </a:prstGeom>
          <a:noFill/>
        </p:spPr>
        <p:txBody>
          <a:bodyPr wrap="square" lIns="0" tIns="0" rIns="0" bIns="0" anchor="t">
            <a:spAutoFit/>
          </a:bodyPr>
          <a:lstStyle/>
          <a:p>
            <a:pPr algn="ctr">
              <a:lnSpc>
                <a:spcPts val="788"/>
              </a:lnSpc>
            </a:pPr>
            <a:r>
              <a:rPr sz="600" b="0" i="0" spc="60">
                <a:solidFill>
                  <a:srgbClr val="6F6A66"/>
                </a:solidFill>
                <a:latin typeface="Calibri"/>
              </a:rPr>
              <a:t>ACQUIRED BY</a:t>
            </a:r>
          </a:p>
        </p:txBody>
      </p:sp>
      <p:sp>
        <p:nvSpPr>
          <p:cNvPr id="64" name="Rectangle 63"/>
          <p:cNvSpPr/>
          <p:nvPr/>
        </p:nvSpPr>
        <p:spPr>
          <a:xfrm>
            <a:off x="8439150" y="1628775"/>
            <a:ext cx="1057275" cy="438150"/>
          </a:xfrm>
          <a:prstGeom prst="rect">
            <a:avLst/>
          </a:prstGeom>
          <a:solidFill>
            <a:srgbClr val="FFFFFF"/>
          </a:solidFill>
          <a:ln>
            <a:noFill/>
          </a:ln>
          <a:effectLst/>
        </p:spPr>
        <p:txBody>
          <a:bodyPr rtlCol="0" anchor="ctr"/>
          <a:lstStyle/>
          <a:p>
            <a:pPr algn="ctr"/>
            <a:endParaRPr/>
          </a:p>
        </p:txBody>
      </p:sp>
      <p:sp>
        <p:nvSpPr>
          <p:cNvPr id="65" name="Rectangle 64"/>
          <p:cNvSpPr/>
          <p:nvPr/>
        </p:nvSpPr>
        <p:spPr>
          <a:xfrm>
            <a:off x="8439150" y="1628775"/>
            <a:ext cx="1057275" cy="9525"/>
          </a:xfrm>
          <a:prstGeom prst="rect">
            <a:avLst/>
          </a:prstGeom>
          <a:solidFill>
            <a:srgbClr val="E3DCD3"/>
          </a:solidFill>
          <a:ln>
            <a:noFill/>
          </a:ln>
          <a:effectLst/>
        </p:spPr>
        <p:txBody>
          <a:bodyPr rtlCol="0" anchor="ctr"/>
          <a:lstStyle/>
          <a:p>
            <a:pPr algn="ctr"/>
            <a:endParaRPr/>
          </a:p>
        </p:txBody>
      </p:sp>
      <p:sp>
        <p:nvSpPr>
          <p:cNvPr id="66" name="Rectangle 65"/>
          <p:cNvSpPr/>
          <p:nvPr/>
        </p:nvSpPr>
        <p:spPr>
          <a:xfrm>
            <a:off x="9486900" y="1628775"/>
            <a:ext cx="9525" cy="438150"/>
          </a:xfrm>
          <a:prstGeom prst="rect">
            <a:avLst/>
          </a:prstGeom>
          <a:solidFill>
            <a:srgbClr val="E3DCD3"/>
          </a:solidFill>
          <a:ln>
            <a:noFill/>
          </a:ln>
          <a:effectLst/>
        </p:spPr>
        <p:txBody>
          <a:bodyPr rtlCol="0" anchor="ctr"/>
          <a:lstStyle/>
          <a:p>
            <a:pPr algn="ctr"/>
            <a:endParaRPr/>
          </a:p>
        </p:txBody>
      </p:sp>
      <p:sp>
        <p:nvSpPr>
          <p:cNvPr id="67" name="Rectangle 66"/>
          <p:cNvSpPr/>
          <p:nvPr/>
        </p:nvSpPr>
        <p:spPr>
          <a:xfrm>
            <a:off x="8439150" y="2057400"/>
            <a:ext cx="1057275" cy="9525"/>
          </a:xfrm>
          <a:prstGeom prst="rect">
            <a:avLst/>
          </a:prstGeom>
          <a:solidFill>
            <a:srgbClr val="E3DCD3"/>
          </a:solidFill>
          <a:ln>
            <a:noFill/>
          </a:ln>
          <a:effectLst/>
        </p:spPr>
        <p:txBody>
          <a:bodyPr rtlCol="0" anchor="ctr"/>
          <a:lstStyle/>
          <a:p>
            <a:pPr algn="ctr"/>
            <a:endParaRPr/>
          </a:p>
        </p:txBody>
      </p:sp>
      <p:sp>
        <p:nvSpPr>
          <p:cNvPr id="68" name="Rectangle 67"/>
          <p:cNvSpPr/>
          <p:nvPr/>
        </p:nvSpPr>
        <p:spPr>
          <a:xfrm>
            <a:off x="8439150" y="1628775"/>
            <a:ext cx="9525" cy="438150"/>
          </a:xfrm>
          <a:prstGeom prst="rect">
            <a:avLst/>
          </a:prstGeom>
          <a:solidFill>
            <a:srgbClr val="E3DCD3"/>
          </a:solidFill>
          <a:ln>
            <a:noFill/>
          </a:ln>
          <a:effectLst/>
        </p:spPr>
        <p:txBody>
          <a:bodyPr rtlCol="0" anchor="ctr"/>
          <a:lstStyle/>
          <a:p>
            <a:pPr algn="ctr"/>
            <a:endParaRPr/>
          </a:p>
        </p:txBody>
      </p:sp>
      <p:sp>
        <p:nvSpPr>
          <p:cNvPr id="69" name="Text: MERCK KGAA"/>
          <p:cNvSpPr txBox="1"/>
          <p:nvPr/>
        </p:nvSpPr>
        <p:spPr>
          <a:xfrm>
            <a:off x="8691562" y="1788319"/>
            <a:ext cx="566589" cy="119062"/>
          </a:xfrm>
          <a:prstGeom prst="rect">
            <a:avLst/>
          </a:prstGeom>
          <a:noFill/>
        </p:spPr>
        <p:txBody>
          <a:bodyPr wrap="square" lIns="0" tIns="0" rIns="0" bIns="0" anchor="t">
            <a:spAutoFit/>
          </a:bodyPr>
          <a:lstStyle/>
          <a:p>
            <a:pPr algn="ctr">
              <a:lnSpc>
                <a:spcPts val="938"/>
              </a:lnSpc>
            </a:pPr>
            <a:r>
              <a:rPr sz="712" b="1" i="0" spc="38">
                <a:solidFill>
                  <a:srgbClr val="1B1A1A"/>
                </a:solidFill>
                <a:latin typeface="Calibri"/>
              </a:rPr>
              <a:t>MERCK KGAA</a:t>
            </a:r>
          </a:p>
        </p:txBody>
      </p:sp>
      <p:sp>
        <p:nvSpPr>
          <p:cNvPr id="70" name="Text: Merck KGaA agrees to acquire Bio-T"/>
          <p:cNvSpPr txBox="1"/>
          <p:nvPr/>
        </p:nvSpPr>
        <p:spPr>
          <a:xfrm>
            <a:off x="6810375" y="2171700"/>
            <a:ext cx="2700338" cy="166688"/>
          </a:xfrm>
          <a:prstGeom prst="rect">
            <a:avLst/>
          </a:prstGeom>
          <a:noFill/>
        </p:spPr>
        <p:txBody>
          <a:bodyPr wrap="square" lIns="0" tIns="0" rIns="0" bIns="0" anchor="t">
            <a:spAutoFit/>
          </a:bodyPr>
          <a:lstStyle/>
          <a:p>
            <a:pPr algn="l">
              <a:lnSpc>
                <a:spcPts val="1312"/>
              </a:lnSpc>
            </a:pPr>
            <a:r>
              <a:rPr sz="975" b="1" i="0" spc="15">
                <a:solidFill>
                  <a:srgbClr val="1B1A1A"/>
                </a:solidFill>
                <a:latin typeface="Calibri"/>
              </a:rPr>
              <a:t>Merck KGaA agrees to acquire Bio-Techne</a:t>
            </a:r>
          </a:p>
        </p:txBody>
      </p:sp>
      <p:sp>
        <p:nvSpPr>
          <p:cNvPr id="71" name="Text: The agreement values the reagent a"/>
          <p:cNvSpPr txBox="1"/>
          <p:nvPr/>
        </p:nvSpPr>
        <p:spPr>
          <a:xfrm>
            <a:off x="6810375" y="2386012"/>
            <a:ext cx="2700338" cy="471488"/>
          </a:xfrm>
          <a:prstGeom prst="rect">
            <a:avLst/>
          </a:prstGeom>
          <a:noFill/>
        </p:spPr>
        <p:txBody>
          <a:bodyPr wrap="square" lIns="0" tIns="0" rIns="0" bIns="0" anchor="t">
            <a:spAutoFit/>
          </a:bodyPr>
          <a:lstStyle/>
          <a:p>
            <a:pPr algn="l">
              <a:lnSpc>
                <a:spcPts val="1238"/>
              </a:lnSpc>
            </a:pPr>
            <a:r>
              <a:rPr sz="861" b="0" i="0" spc="15">
                <a:solidFill>
                  <a:srgbClr val="333231"/>
                </a:solidFill>
                <a:latin typeface="Calibri"/>
              </a:rPr>
              <a:t>The agreement values the reagent and instrument maker at an enterprise value of $11.3 billion, with closing expected by early 2027 (</a:t>
            </a:r>
            <a:r>
              <a:rPr sz="861" b="0" i="0" spc="15">
                <a:solidFill>
                  <a:srgbClr val="8C6239"/>
                </a:solidFill>
                <a:latin typeface="Calibri"/>
                <a:hlinkClick r:id="rId4">
                  <a:extLst>
                    <a:ext uri="{A12FA001-AC4F-418D-AE19-62706E023703}">
                      <ahyp:hlinkClr xmlns:ahyp="http://schemas.microsoft.com/office/drawing/2018/hyperlinkcolor" val="tx"/>
                    </a:ext>
                  </a:extLst>
                </a:hlinkClick>
              </a:rPr>
              <a:t>Bio-Techne</a:t>
            </a:r>
            <a:r>
              <a:rPr sz="861" b="0" i="0" spc="15">
                <a:solidFill>
                  <a:srgbClr val="333231"/>
                </a:solidFill>
                <a:latin typeface="Calibri"/>
              </a:rPr>
              <a:t>).</a:t>
            </a:r>
          </a:p>
        </p:txBody>
      </p:sp>
      <p:sp>
        <p:nvSpPr>
          <p:cNvPr id="72" name="Rectangle 71"/>
          <p:cNvSpPr/>
          <p:nvPr/>
        </p:nvSpPr>
        <p:spPr>
          <a:xfrm>
            <a:off x="6810375" y="3505200"/>
            <a:ext cx="2686050" cy="9525"/>
          </a:xfrm>
          <a:prstGeom prst="rect">
            <a:avLst/>
          </a:prstGeom>
          <a:solidFill>
            <a:srgbClr val="E3DCD3"/>
          </a:solidFill>
          <a:ln>
            <a:noFill/>
          </a:ln>
          <a:effectLst/>
        </p:spPr>
        <p:txBody>
          <a:bodyPr rtlCol="0" anchor="ctr"/>
          <a:lstStyle/>
          <a:p>
            <a:pPr algn="ctr"/>
            <a:endParaRPr/>
          </a:p>
        </p:txBody>
      </p:sp>
      <p:sp>
        <p:nvSpPr>
          <p:cNvPr id="73" name="Text: WHAT IT SHOWS "/>
          <p:cNvSpPr txBox="1"/>
          <p:nvPr/>
        </p:nvSpPr>
        <p:spPr>
          <a:xfrm>
            <a:off x="6810375" y="3590925"/>
            <a:ext cx="2700338" cy="304800"/>
          </a:xfrm>
          <a:prstGeom prst="rect">
            <a:avLst/>
          </a:prstGeom>
          <a:noFill/>
        </p:spPr>
        <p:txBody>
          <a:bodyPr wrap="square" lIns="0" tIns="0" rIns="0" bIns="0" anchor="t">
            <a:spAutoFit/>
          </a:bodyPr>
          <a:lstStyle/>
          <a:p>
            <a:pPr algn="l">
              <a:lnSpc>
                <a:spcPts val="1125"/>
              </a:lnSpc>
            </a:pPr>
            <a:r>
              <a:rPr sz="638" b="1" i="0" spc="120">
                <a:solidFill>
                  <a:srgbClr val="8C6239"/>
                </a:solidFill>
                <a:latin typeface="Calibri"/>
              </a:rPr>
              <a:t>WHAT IT SHOWS </a:t>
            </a:r>
            <a:r>
              <a:rPr sz="788" b="0" i="0" spc="15">
                <a:solidFill>
                  <a:srgbClr val="333231"/>
                </a:solidFill>
                <a:latin typeface="Calibri"/>
              </a:rPr>
              <a:t>Strategic buyers are paying for recurring consumables and reagents.</a:t>
            </a:r>
          </a:p>
        </p:txBody>
      </p:sp>
      <p:sp>
        <p:nvSpPr>
          <p:cNvPr id="74" name="Rectangle 73"/>
          <p:cNvSpPr/>
          <p:nvPr/>
        </p:nvSpPr>
        <p:spPr>
          <a:xfrm>
            <a:off x="419100" y="4162425"/>
            <a:ext cx="2971800" cy="2771775"/>
          </a:xfrm>
          <a:prstGeom prst="rect">
            <a:avLst/>
          </a:prstGeom>
          <a:solidFill>
            <a:srgbClr val="FAF7F3"/>
          </a:solidFill>
          <a:ln>
            <a:noFill/>
          </a:ln>
          <a:effectLst/>
        </p:spPr>
        <p:txBody>
          <a:bodyPr rtlCol="0" anchor="ctr"/>
          <a:lstStyle/>
          <a:p>
            <a:pPr algn="ctr"/>
            <a:endParaRPr/>
          </a:p>
        </p:txBody>
      </p:sp>
      <p:sp>
        <p:nvSpPr>
          <p:cNvPr id="75" name="Rectangle 74"/>
          <p:cNvSpPr/>
          <p:nvPr/>
        </p:nvSpPr>
        <p:spPr>
          <a:xfrm>
            <a:off x="419100" y="4162425"/>
            <a:ext cx="2971800" cy="28575"/>
          </a:xfrm>
          <a:prstGeom prst="rect">
            <a:avLst/>
          </a:prstGeom>
          <a:solidFill>
            <a:srgbClr val="B68757"/>
          </a:solidFill>
          <a:ln>
            <a:noFill/>
          </a:ln>
          <a:effectLst/>
        </p:spPr>
        <p:txBody>
          <a:bodyPr rtlCol="0" anchor="ctr"/>
          <a:lstStyle/>
          <a:p>
            <a:pPr algn="ctr"/>
            <a:endParaRPr/>
          </a:p>
        </p:txBody>
      </p:sp>
      <p:sp>
        <p:nvSpPr>
          <p:cNvPr id="76" name="Rectangle 75"/>
          <p:cNvSpPr/>
          <p:nvPr/>
        </p:nvSpPr>
        <p:spPr>
          <a:xfrm>
            <a:off x="419100" y="4248150"/>
            <a:ext cx="995362" cy="209550"/>
          </a:xfrm>
          <a:prstGeom prst="rect">
            <a:avLst/>
          </a:prstGeom>
          <a:solidFill>
            <a:srgbClr val="1B1A1A"/>
          </a:solidFill>
          <a:ln>
            <a:noFill/>
          </a:ln>
          <a:effectLst/>
        </p:spPr>
        <p:txBody>
          <a:bodyPr rtlCol="0" anchor="ctr"/>
          <a:lstStyle/>
          <a:p>
            <a:pPr algn="ctr"/>
            <a:endParaRPr/>
          </a:p>
        </p:txBody>
      </p:sp>
      <p:sp>
        <p:nvSpPr>
          <p:cNvPr id="77" name="Text: SEPTEMBER 2026"/>
          <p:cNvSpPr txBox="1"/>
          <p:nvPr/>
        </p:nvSpPr>
        <p:spPr>
          <a:xfrm>
            <a:off x="504825" y="4295775"/>
            <a:ext cx="979170" cy="114300"/>
          </a:xfrm>
          <a:prstGeom prst="rect">
            <a:avLst/>
          </a:prstGeom>
          <a:noFill/>
        </p:spPr>
        <p:txBody>
          <a:bodyPr wrap="square" lIns="0" tIns="0" rIns="0" bIns="0" anchor="t">
            <a:spAutoFit/>
          </a:bodyPr>
          <a:lstStyle/>
          <a:p>
            <a:pPr algn="l">
              <a:lnSpc>
                <a:spcPts val="900"/>
              </a:lnSpc>
            </a:pPr>
            <a:r>
              <a:rPr sz="638" b="1" i="0" spc="135">
                <a:solidFill>
                  <a:srgbClr val="D3AE84"/>
                </a:solidFill>
                <a:latin typeface="Calibri"/>
              </a:rPr>
              <a:t>SEPTEMBER 2026</a:t>
            </a:r>
          </a:p>
        </p:txBody>
      </p:sp>
      <p:sp>
        <p:nvSpPr>
          <p:cNvPr id="78" name="Text: LIFE SCIENCES &amp; DIAGNOSTICS"/>
          <p:cNvSpPr txBox="1"/>
          <p:nvPr/>
        </p:nvSpPr>
        <p:spPr>
          <a:xfrm>
            <a:off x="1867495" y="4295775"/>
            <a:ext cx="1394817" cy="114300"/>
          </a:xfrm>
          <a:prstGeom prst="rect">
            <a:avLst/>
          </a:prstGeom>
          <a:noFill/>
        </p:spPr>
        <p:txBody>
          <a:bodyPr wrap="square" lIns="0" tIns="0" rIns="0" bIns="0" anchor="t">
            <a:spAutoFit/>
          </a:bodyPr>
          <a:lstStyle/>
          <a:p>
            <a:pPr algn="r">
              <a:lnSpc>
                <a:spcPts val="900"/>
              </a:lnSpc>
            </a:pPr>
            <a:r>
              <a:rPr sz="638" b="1" i="0" spc="105">
                <a:solidFill>
                  <a:srgbClr val="8C6239"/>
                </a:solidFill>
                <a:latin typeface="Calibri"/>
              </a:rPr>
              <a:t>LIFE SCIENCES &amp; DIAGNOSTICS</a:t>
            </a:r>
          </a:p>
        </p:txBody>
      </p:sp>
      <p:sp>
        <p:nvSpPr>
          <p:cNvPr id="79" name="Rectangle 78"/>
          <p:cNvSpPr/>
          <p:nvPr/>
        </p:nvSpPr>
        <p:spPr>
          <a:xfrm>
            <a:off x="561975" y="4552950"/>
            <a:ext cx="1057275" cy="438150"/>
          </a:xfrm>
          <a:prstGeom prst="rect">
            <a:avLst/>
          </a:prstGeom>
          <a:solidFill>
            <a:srgbClr val="FFFFFF"/>
          </a:solidFill>
          <a:ln>
            <a:noFill/>
          </a:ln>
          <a:effectLst/>
        </p:spPr>
        <p:txBody>
          <a:bodyPr rtlCol="0" anchor="ctr"/>
          <a:lstStyle/>
          <a:p>
            <a:pPr algn="ctr"/>
            <a:endParaRPr/>
          </a:p>
        </p:txBody>
      </p:sp>
      <p:sp>
        <p:nvSpPr>
          <p:cNvPr id="80" name="Rectangle 79"/>
          <p:cNvSpPr/>
          <p:nvPr/>
        </p:nvSpPr>
        <p:spPr>
          <a:xfrm>
            <a:off x="561975" y="4552950"/>
            <a:ext cx="1057275" cy="9525"/>
          </a:xfrm>
          <a:prstGeom prst="rect">
            <a:avLst/>
          </a:prstGeom>
          <a:solidFill>
            <a:srgbClr val="E3DCD3"/>
          </a:solidFill>
          <a:ln>
            <a:noFill/>
          </a:ln>
          <a:effectLst/>
        </p:spPr>
        <p:txBody>
          <a:bodyPr rtlCol="0" anchor="ctr"/>
          <a:lstStyle/>
          <a:p>
            <a:pPr algn="ctr"/>
            <a:endParaRPr/>
          </a:p>
        </p:txBody>
      </p:sp>
      <p:sp>
        <p:nvSpPr>
          <p:cNvPr id="81" name="Rectangle 80"/>
          <p:cNvSpPr/>
          <p:nvPr/>
        </p:nvSpPr>
        <p:spPr>
          <a:xfrm>
            <a:off x="1609725" y="4552950"/>
            <a:ext cx="9525" cy="438150"/>
          </a:xfrm>
          <a:prstGeom prst="rect">
            <a:avLst/>
          </a:prstGeom>
          <a:solidFill>
            <a:srgbClr val="E3DCD3"/>
          </a:solidFill>
          <a:ln>
            <a:noFill/>
          </a:ln>
          <a:effectLst/>
        </p:spPr>
        <p:txBody>
          <a:bodyPr rtlCol="0" anchor="ctr"/>
          <a:lstStyle/>
          <a:p>
            <a:pPr algn="ctr"/>
            <a:endParaRPr/>
          </a:p>
        </p:txBody>
      </p:sp>
      <p:sp>
        <p:nvSpPr>
          <p:cNvPr id="82" name="Rectangle 81"/>
          <p:cNvSpPr/>
          <p:nvPr/>
        </p:nvSpPr>
        <p:spPr>
          <a:xfrm>
            <a:off x="561975" y="4981575"/>
            <a:ext cx="1057275" cy="9525"/>
          </a:xfrm>
          <a:prstGeom prst="rect">
            <a:avLst/>
          </a:prstGeom>
          <a:solidFill>
            <a:srgbClr val="E3DCD3"/>
          </a:solidFill>
          <a:ln>
            <a:noFill/>
          </a:ln>
          <a:effectLst/>
        </p:spPr>
        <p:txBody>
          <a:bodyPr rtlCol="0" anchor="ctr"/>
          <a:lstStyle/>
          <a:p>
            <a:pPr algn="ctr"/>
            <a:endParaRPr/>
          </a:p>
        </p:txBody>
      </p:sp>
      <p:sp>
        <p:nvSpPr>
          <p:cNvPr id="83" name="Rectangle 82"/>
          <p:cNvSpPr/>
          <p:nvPr/>
        </p:nvSpPr>
        <p:spPr>
          <a:xfrm>
            <a:off x="561975" y="4552950"/>
            <a:ext cx="9525" cy="438150"/>
          </a:xfrm>
          <a:prstGeom prst="rect">
            <a:avLst/>
          </a:prstGeom>
          <a:solidFill>
            <a:srgbClr val="E3DCD3"/>
          </a:solidFill>
          <a:ln>
            <a:noFill/>
          </a:ln>
          <a:effectLst/>
        </p:spPr>
        <p:txBody>
          <a:bodyPr rtlCol="0" anchor="ctr"/>
          <a:lstStyle/>
          <a:p>
            <a:pPr algn="ctr"/>
            <a:endParaRPr/>
          </a:p>
        </p:txBody>
      </p:sp>
      <p:sp>
        <p:nvSpPr>
          <p:cNvPr id="84" name="Text: STATLAB"/>
          <p:cNvSpPr txBox="1"/>
          <p:nvPr/>
        </p:nvSpPr>
        <p:spPr>
          <a:xfrm>
            <a:off x="915888" y="4712494"/>
            <a:ext cx="363587" cy="119062"/>
          </a:xfrm>
          <a:prstGeom prst="rect">
            <a:avLst/>
          </a:prstGeom>
          <a:noFill/>
        </p:spPr>
        <p:txBody>
          <a:bodyPr wrap="square" lIns="0" tIns="0" rIns="0" bIns="0" anchor="t">
            <a:spAutoFit/>
          </a:bodyPr>
          <a:lstStyle/>
          <a:p>
            <a:pPr algn="ctr">
              <a:lnSpc>
                <a:spcPts val="938"/>
              </a:lnSpc>
            </a:pPr>
            <a:r>
              <a:rPr sz="712" b="1" i="0" spc="38">
                <a:solidFill>
                  <a:srgbClr val="1B1A1A"/>
                </a:solidFill>
                <a:latin typeface="Calibri"/>
              </a:rPr>
              <a:t>STATLAB</a:t>
            </a:r>
          </a:p>
        </p:txBody>
      </p:sp>
      <p:sp>
        <p:nvSpPr>
          <p:cNvPr id="85" name="Text: ACQUIRED BY"/>
          <p:cNvSpPr txBox="1"/>
          <p:nvPr/>
        </p:nvSpPr>
        <p:spPr>
          <a:xfrm>
            <a:off x="1676400" y="4672012"/>
            <a:ext cx="471488" cy="200025"/>
          </a:xfrm>
          <a:prstGeom prst="rect">
            <a:avLst/>
          </a:prstGeom>
          <a:noFill/>
        </p:spPr>
        <p:txBody>
          <a:bodyPr wrap="square" lIns="0" tIns="0" rIns="0" bIns="0" anchor="t">
            <a:spAutoFit/>
          </a:bodyPr>
          <a:lstStyle/>
          <a:p>
            <a:pPr algn="ctr">
              <a:lnSpc>
                <a:spcPts val="788"/>
              </a:lnSpc>
            </a:pPr>
            <a:r>
              <a:rPr sz="600" b="0" i="0" spc="60">
                <a:solidFill>
                  <a:srgbClr val="6F6A66"/>
                </a:solidFill>
                <a:latin typeface="Calibri"/>
              </a:rPr>
              <a:t>ACQUIRED BY</a:t>
            </a:r>
          </a:p>
        </p:txBody>
      </p:sp>
      <p:sp>
        <p:nvSpPr>
          <p:cNvPr id="86" name="Rectangle 85"/>
          <p:cNvSpPr/>
          <p:nvPr/>
        </p:nvSpPr>
        <p:spPr>
          <a:xfrm>
            <a:off x="2190750" y="4552950"/>
            <a:ext cx="1057275" cy="438150"/>
          </a:xfrm>
          <a:prstGeom prst="rect">
            <a:avLst/>
          </a:prstGeom>
          <a:solidFill>
            <a:srgbClr val="FFFFFF"/>
          </a:solidFill>
          <a:ln>
            <a:noFill/>
          </a:ln>
          <a:effectLst/>
        </p:spPr>
        <p:txBody>
          <a:bodyPr rtlCol="0" anchor="ctr"/>
          <a:lstStyle/>
          <a:p>
            <a:pPr algn="ctr"/>
            <a:endParaRPr/>
          </a:p>
        </p:txBody>
      </p:sp>
      <p:sp>
        <p:nvSpPr>
          <p:cNvPr id="87" name="Rectangle 86"/>
          <p:cNvSpPr/>
          <p:nvPr/>
        </p:nvSpPr>
        <p:spPr>
          <a:xfrm>
            <a:off x="2190750" y="4552950"/>
            <a:ext cx="1057275" cy="9525"/>
          </a:xfrm>
          <a:prstGeom prst="rect">
            <a:avLst/>
          </a:prstGeom>
          <a:solidFill>
            <a:srgbClr val="E3DCD3"/>
          </a:solidFill>
          <a:ln>
            <a:noFill/>
          </a:ln>
          <a:effectLst/>
        </p:spPr>
        <p:txBody>
          <a:bodyPr rtlCol="0" anchor="ctr"/>
          <a:lstStyle/>
          <a:p>
            <a:pPr algn="ctr"/>
            <a:endParaRPr/>
          </a:p>
        </p:txBody>
      </p:sp>
      <p:sp>
        <p:nvSpPr>
          <p:cNvPr id="88" name="Rectangle 87"/>
          <p:cNvSpPr/>
          <p:nvPr/>
        </p:nvSpPr>
        <p:spPr>
          <a:xfrm>
            <a:off x="3238500" y="4552950"/>
            <a:ext cx="9525" cy="438150"/>
          </a:xfrm>
          <a:prstGeom prst="rect">
            <a:avLst/>
          </a:prstGeom>
          <a:solidFill>
            <a:srgbClr val="E3DCD3"/>
          </a:solidFill>
          <a:ln>
            <a:noFill/>
          </a:ln>
          <a:effectLst/>
        </p:spPr>
        <p:txBody>
          <a:bodyPr rtlCol="0" anchor="ctr"/>
          <a:lstStyle/>
          <a:p>
            <a:pPr algn="ctr"/>
            <a:endParaRPr/>
          </a:p>
        </p:txBody>
      </p:sp>
      <p:sp>
        <p:nvSpPr>
          <p:cNvPr id="89" name="Rectangle 88"/>
          <p:cNvSpPr/>
          <p:nvPr/>
        </p:nvSpPr>
        <p:spPr>
          <a:xfrm>
            <a:off x="2190750" y="4981575"/>
            <a:ext cx="1057275" cy="9525"/>
          </a:xfrm>
          <a:prstGeom prst="rect">
            <a:avLst/>
          </a:prstGeom>
          <a:solidFill>
            <a:srgbClr val="E3DCD3"/>
          </a:solidFill>
          <a:ln>
            <a:noFill/>
          </a:ln>
          <a:effectLst/>
        </p:spPr>
        <p:txBody>
          <a:bodyPr rtlCol="0" anchor="ctr"/>
          <a:lstStyle/>
          <a:p>
            <a:pPr algn="ctr"/>
            <a:endParaRPr/>
          </a:p>
        </p:txBody>
      </p:sp>
      <p:sp>
        <p:nvSpPr>
          <p:cNvPr id="90" name="Rectangle 89"/>
          <p:cNvSpPr/>
          <p:nvPr/>
        </p:nvSpPr>
        <p:spPr>
          <a:xfrm>
            <a:off x="2190750" y="4552950"/>
            <a:ext cx="9525" cy="438150"/>
          </a:xfrm>
          <a:prstGeom prst="rect">
            <a:avLst/>
          </a:prstGeom>
          <a:solidFill>
            <a:srgbClr val="E3DCD3"/>
          </a:solidFill>
          <a:ln>
            <a:noFill/>
          </a:ln>
          <a:effectLst/>
        </p:spPr>
        <p:txBody>
          <a:bodyPr rtlCol="0" anchor="ctr"/>
          <a:lstStyle/>
          <a:p>
            <a:pPr algn="ctr"/>
            <a:endParaRPr/>
          </a:p>
        </p:txBody>
      </p:sp>
      <p:sp>
        <p:nvSpPr>
          <p:cNvPr id="91" name="Text: DANAHER (LEICA BIOSYSTEMS)"/>
          <p:cNvSpPr txBox="1"/>
          <p:nvPr/>
        </p:nvSpPr>
        <p:spPr>
          <a:xfrm>
            <a:off x="2276475" y="4652962"/>
            <a:ext cx="900112" cy="238125"/>
          </a:xfrm>
          <a:prstGeom prst="rect">
            <a:avLst/>
          </a:prstGeom>
          <a:noFill/>
        </p:spPr>
        <p:txBody>
          <a:bodyPr wrap="square" lIns="0" tIns="0" rIns="0" bIns="0" anchor="t">
            <a:spAutoFit/>
          </a:bodyPr>
          <a:lstStyle/>
          <a:p>
            <a:pPr algn="ctr">
              <a:lnSpc>
                <a:spcPts val="938"/>
              </a:lnSpc>
            </a:pPr>
            <a:r>
              <a:rPr sz="712" b="1" i="0" spc="38">
                <a:solidFill>
                  <a:srgbClr val="1B1A1A"/>
                </a:solidFill>
                <a:latin typeface="Calibri"/>
              </a:rPr>
              <a:t>DANAHER (LEICA BIOSYSTEMS)</a:t>
            </a:r>
          </a:p>
        </p:txBody>
      </p:sp>
      <p:sp>
        <p:nvSpPr>
          <p:cNvPr id="92" name="Text: Leica Biosystems buys StatLab from"/>
          <p:cNvSpPr txBox="1"/>
          <p:nvPr/>
        </p:nvSpPr>
        <p:spPr>
          <a:xfrm>
            <a:off x="561975" y="5095875"/>
            <a:ext cx="2700338" cy="333375"/>
          </a:xfrm>
          <a:prstGeom prst="rect">
            <a:avLst/>
          </a:prstGeom>
          <a:noFill/>
        </p:spPr>
        <p:txBody>
          <a:bodyPr wrap="square" lIns="0" tIns="0" rIns="0" bIns="0" anchor="t">
            <a:spAutoFit/>
          </a:bodyPr>
          <a:lstStyle/>
          <a:p>
            <a:pPr algn="l">
              <a:lnSpc>
                <a:spcPts val="1312"/>
              </a:lnSpc>
            </a:pPr>
            <a:r>
              <a:rPr sz="975" b="1" i="0" spc="15">
                <a:solidFill>
                  <a:srgbClr val="1B1A1A"/>
                </a:solidFill>
                <a:latin typeface="Calibri"/>
              </a:rPr>
              <a:t>Leica Biosystems buys StatLab from Audax and Linden</a:t>
            </a:r>
          </a:p>
        </p:txBody>
      </p:sp>
      <p:sp>
        <p:nvSpPr>
          <p:cNvPr id="93" name="Text: StatLab makes anatomic pathology c"/>
          <p:cNvSpPr txBox="1"/>
          <p:nvPr/>
        </p:nvSpPr>
        <p:spPr>
          <a:xfrm>
            <a:off x="561975" y="5476875"/>
            <a:ext cx="2700338" cy="628650"/>
          </a:xfrm>
          <a:prstGeom prst="rect">
            <a:avLst/>
          </a:prstGeom>
          <a:noFill/>
        </p:spPr>
        <p:txBody>
          <a:bodyPr wrap="square" lIns="0" tIns="0" rIns="0" bIns="0" anchor="t">
            <a:spAutoFit/>
          </a:bodyPr>
          <a:lstStyle/>
          <a:p>
            <a:pPr algn="l">
              <a:lnSpc>
                <a:spcPts val="1238"/>
              </a:lnSpc>
            </a:pPr>
            <a:r>
              <a:rPr sz="861" b="0" i="0" spc="15">
                <a:solidFill>
                  <a:srgbClr val="333231"/>
                </a:solidFill>
                <a:latin typeface="Calibri"/>
              </a:rPr>
              <a:t>StatLab makes anatomic pathology consumables and had about $250 million of 2025 revenue. Its sponsors built it through nine add-on acquisitions in five years (</a:t>
            </a:r>
            <a:r>
              <a:rPr sz="861" b="0" i="0" spc="15">
                <a:solidFill>
                  <a:srgbClr val="8C6239"/>
                </a:solidFill>
                <a:latin typeface="Calibri"/>
                <a:hlinkClick r:id="rId5">
                  <a:extLst>
                    <a:ext uri="{A12FA001-AC4F-418D-AE19-62706E023703}">
                      <ahyp:hlinkClr xmlns:ahyp="http://schemas.microsoft.com/office/drawing/2018/hyperlinkcolor" val="tx"/>
                    </a:ext>
                  </a:extLst>
                </a:hlinkClick>
              </a:rPr>
              <a:t>PE Professional</a:t>
            </a:r>
            <a:r>
              <a:rPr sz="861" b="0" i="0" spc="15">
                <a:solidFill>
                  <a:srgbClr val="333231"/>
                </a:solidFill>
                <a:latin typeface="Calibri"/>
              </a:rPr>
              <a:t>).</a:t>
            </a:r>
          </a:p>
        </p:txBody>
      </p:sp>
      <p:sp>
        <p:nvSpPr>
          <p:cNvPr id="94" name="Rectangle 93"/>
          <p:cNvSpPr/>
          <p:nvPr/>
        </p:nvSpPr>
        <p:spPr>
          <a:xfrm>
            <a:off x="561975" y="6429375"/>
            <a:ext cx="2686050" cy="9525"/>
          </a:xfrm>
          <a:prstGeom prst="rect">
            <a:avLst/>
          </a:prstGeom>
          <a:solidFill>
            <a:srgbClr val="E3DCD3"/>
          </a:solidFill>
          <a:ln>
            <a:noFill/>
          </a:ln>
          <a:effectLst/>
        </p:spPr>
        <p:txBody>
          <a:bodyPr rtlCol="0" anchor="ctr"/>
          <a:lstStyle/>
          <a:p>
            <a:pPr algn="ctr"/>
            <a:endParaRPr/>
          </a:p>
        </p:txBody>
      </p:sp>
      <p:sp>
        <p:nvSpPr>
          <p:cNvPr id="95" name="Text: WHAT IT SHOWS "/>
          <p:cNvSpPr txBox="1"/>
          <p:nvPr/>
        </p:nvSpPr>
        <p:spPr>
          <a:xfrm>
            <a:off x="561975" y="6515100"/>
            <a:ext cx="2700338" cy="304800"/>
          </a:xfrm>
          <a:prstGeom prst="rect">
            <a:avLst/>
          </a:prstGeom>
          <a:noFill/>
        </p:spPr>
        <p:txBody>
          <a:bodyPr wrap="square" lIns="0" tIns="0" rIns="0" bIns="0" anchor="t">
            <a:spAutoFit/>
          </a:bodyPr>
          <a:lstStyle/>
          <a:p>
            <a:pPr algn="l">
              <a:lnSpc>
                <a:spcPts val="1125"/>
              </a:lnSpc>
            </a:pPr>
            <a:r>
              <a:rPr sz="638" b="1" i="0" spc="120">
                <a:solidFill>
                  <a:srgbClr val="8C6239"/>
                </a:solidFill>
                <a:latin typeface="Calibri"/>
              </a:rPr>
              <a:t>WHAT IT SHOWS </a:t>
            </a:r>
            <a:r>
              <a:rPr sz="788" b="0" i="0" spc="15">
                <a:solidFill>
                  <a:srgbClr val="333231"/>
                </a:solidFill>
                <a:latin typeface="Calibri"/>
              </a:rPr>
              <a:t>A platform assembled from founder-owned businesses became a strategic acquisition.</a:t>
            </a:r>
          </a:p>
        </p:txBody>
      </p:sp>
      <p:sp>
        <p:nvSpPr>
          <p:cNvPr id="96" name="Rectangle 95"/>
          <p:cNvSpPr/>
          <p:nvPr/>
        </p:nvSpPr>
        <p:spPr>
          <a:xfrm>
            <a:off x="3543300" y="4162425"/>
            <a:ext cx="2971800" cy="2771775"/>
          </a:xfrm>
          <a:prstGeom prst="rect">
            <a:avLst/>
          </a:prstGeom>
          <a:solidFill>
            <a:srgbClr val="FAF7F3"/>
          </a:solidFill>
          <a:ln>
            <a:noFill/>
          </a:ln>
          <a:effectLst/>
        </p:spPr>
        <p:txBody>
          <a:bodyPr rtlCol="0" anchor="ctr"/>
          <a:lstStyle/>
          <a:p>
            <a:pPr algn="ctr"/>
            <a:endParaRPr/>
          </a:p>
        </p:txBody>
      </p:sp>
      <p:sp>
        <p:nvSpPr>
          <p:cNvPr id="97" name="Rectangle 96"/>
          <p:cNvSpPr/>
          <p:nvPr/>
        </p:nvSpPr>
        <p:spPr>
          <a:xfrm>
            <a:off x="3543300" y="4162425"/>
            <a:ext cx="2971800" cy="28575"/>
          </a:xfrm>
          <a:prstGeom prst="rect">
            <a:avLst/>
          </a:prstGeom>
          <a:solidFill>
            <a:srgbClr val="B68757"/>
          </a:solidFill>
          <a:ln>
            <a:noFill/>
          </a:ln>
          <a:effectLst/>
        </p:spPr>
        <p:txBody>
          <a:bodyPr rtlCol="0" anchor="ctr"/>
          <a:lstStyle/>
          <a:p>
            <a:pPr algn="ctr"/>
            <a:endParaRPr/>
          </a:p>
        </p:txBody>
      </p:sp>
      <p:sp>
        <p:nvSpPr>
          <p:cNvPr id="98" name="Rectangle 97"/>
          <p:cNvSpPr/>
          <p:nvPr/>
        </p:nvSpPr>
        <p:spPr>
          <a:xfrm>
            <a:off x="3543300" y="4248150"/>
            <a:ext cx="825103" cy="209550"/>
          </a:xfrm>
          <a:prstGeom prst="rect">
            <a:avLst/>
          </a:prstGeom>
          <a:solidFill>
            <a:srgbClr val="1B1A1A"/>
          </a:solidFill>
          <a:ln>
            <a:noFill/>
          </a:ln>
          <a:effectLst/>
        </p:spPr>
        <p:txBody>
          <a:bodyPr rtlCol="0" anchor="ctr"/>
          <a:lstStyle/>
          <a:p>
            <a:pPr algn="ctr"/>
            <a:endParaRPr/>
          </a:p>
        </p:txBody>
      </p:sp>
      <p:sp>
        <p:nvSpPr>
          <p:cNvPr id="99" name="Text: AUGUST 2026"/>
          <p:cNvSpPr txBox="1"/>
          <p:nvPr/>
        </p:nvSpPr>
        <p:spPr>
          <a:xfrm>
            <a:off x="3629025" y="4295775"/>
            <a:ext cx="791885" cy="114300"/>
          </a:xfrm>
          <a:prstGeom prst="rect">
            <a:avLst/>
          </a:prstGeom>
          <a:noFill/>
        </p:spPr>
        <p:txBody>
          <a:bodyPr wrap="square" lIns="0" tIns="0" rIns="0" bIns="0" anchor="t">
            <a:spAutoFit/>
          </a:bodyPr>
          <a:lstStyle/>
          <a:p>
            <a:pPr algn="l">
              <a:lnSpc>
                <a:spcPts val="900"/>
              </a:lnSpc>
            </a:pPr>
            <a:r>
              <a:rPr sz="638" b="1" i="0" spc="135">
                <a:solidFill>
                  <a:srgbClr val="D3AE84"/>
                </a:solidFill>
                <a:latin typeface="Calibri"/>
              </a:rPr>
              <a:t>AUGUST 2026</a:t>
            </a:r>
          </a:p>
        </p:txBody>
      </p:sp>
      <p:sp>
        <p:nvSpPr>
          <p:cNvPr id="100" name="Text: MEDICAL PRODUCTS &amp; DISTRIBUTION"/>
          <p:cNvSpPr txBox="1"/>
          <p:nvPr/>
        </p:nvSpPr>
        <p:spPr>
          <a:xfrm>
            <a:off x="4684663" y="4295775"/>
            <a:ext cx="1701850" cy="114300"/>
          </a:xfrm>
          <a:prstGeom prst="rect">
            <a:avLst/>
          </a:prstGeom>
          <a:noFill/>
        </p:spPr>
        <p:txBody>
          <a:bodyPr wrap="square" lIns="0" tIns="0" rIns="0" bIns="0" anchor="t">
            <a:spAutoFit/>
          </a:bodyPr>
          <a:lstStyle/>
          <a:p>
            <a:pPr algn="r">
              <a:lnSpc>
                <a:spcPts val="900"/>
              </a:lnSpc>
            </a:pPr>
            <a:r>
              <a:rPr sz="638" b="1" i="0" spc="105">
                <a:solidFill>
                  <a:srgbClr val="8C6239"/>
                </a:solidFill>
                <a:latin typeface="Calibri"/>
              </a:rPr>
              <a:t>MEDICAL PRODUCTS &amp; DISTRIBUTION</a:t>
            </a:r>
          </a:p>
        </p:txBody>
      </p:sp>
      <p:sp>
        <p:nvSpPr>
          <p:cNvPr id="101" name="Rectangle 100"/>
          <p:cNvSpPr/>
          <p:nvPr/>
        </p:nvSpPr>
        <p:spPr>
          <a:xfrm>
            <a:off x="3686175" y="4552950"/>
            <a:ext cx="1057275" cy="438150"/>
          </a:xfrm>
          <a:prstGeom prst="rect">
            <a:avLst/>
          </a:prstGeom>
          <a:solidFill>
            <a:srgbClr val="FFFFFF"/>
          </a:solidFill>
          <a:ln>
            <a:noFill/>
          </a:ln>
          <a:effectLst/>
        </p:spPr>
        <p:txBody>
          <a:bodyPr rtlCol="0" anchor="ctr"/>
          <a:lstStyle/>
          <a:p>
            <a:pPr algn="ctr"/>
            <a:endParaRPr/>
          </a:p>
        </p:txBody>
      </p:sp>
      <p:sp>
        <p:nvSpPr>
          <p:cNvPr id="102" name="Rectangle 101"/>
          <p:cNvSpPr/>
          <p:nvPr/>
        </p:nvSpPr>
        <p:spPr>
          <a:xfrm>
            <a:off x="3686175" y="4552950"/>
            <a:ext cx="1057275" cy="9525"/>
          </a:xfrm>
          <a:prstGeom prst="rect">
            <a:avLst/>
          </a:prstGeom>
          <a:solidFill>
            <a:srgbClr val="E3DCD3"/>
          </a:solidFill>
          <a:ln>
            <a:noFill/>
          </a:ln>
          <a:effectLst/>
        </p:spPr>
        <p:txBody>
          <a:bodyPr rtlCol="0" anchor="ctr"/>
          <a:lstStyle/>
          <a:p>
            <a:pPr algn="ctr"/>
            <a:endParaRPr/>
          </a:p>
        </p:txBody>
      </p:sp>
      <p:sp>
        <p:nvSpPr>
          <p:cNvPr id="103" name="Rectangle 102"/>
          <p:cNvSpPr/>
          <p:nvPr/>
        </p:nvSpPr>
        <p:spPr>
          <a:xfrm>
            <a:off x="4733925" y="4552950"/>
            <a:ext cx="9525" cy="438150"/>
          </a:xfrm>
          <a:prstGeom prst="rect">
            <a:avLst/>
          </a:prstGeom>
          <a:solidFill>
            <a:srgbClr val="E3DCD3"/>
          </a:solidFill>
          <a:ln>
            <a:noFill/>
          </a:ln>
          <a:effectLst/>
        </p:spPr>
        <p:txBody>
          <a:bodyPr rtlCol="0" anchor="ctr"/>
          <a:lstStyle/>
          <a:p>
            <a:pPr algn="ctr"/>
            <a:endParaRPr/>
          </a:p>
        </p:txBody>
      </p:sp>
      <p:sp>
        <p:nvSpPr>
          <p:cNvPr id="104" name="Rectangle 103"/>
          <p:cNvSpPr/>
          <p:nvPr/>
        </p:nvSpPr>
        <p:spPr>
          <a:xfrm>
            <a:off x="3686175" y="4981575"/>
            <a:ext cx="1057275" cy="9525"/>
          </a:xfrm>
          <a:prstGeom prst="rect">
            <a:avLst/>
          </a:prstGeom>
          <a:solidFill>
            <a:srgbClr val="E3DCD3"/>
          </a:solidFill>
          <a:ln>
            <a:noFill/>
          </a:ln>
          <a:effectLst/>
        </p:spPr>
        <p:txBody>
          <a:bodyPr rtlCol="0" anchor="ctr"/>
          <a:lstStyle/>
          <a:p>
            <a:pPr algn="ctr"/>
            <a:endParaRPr/>
          </a:p>
        </p:txBody>
      </p:sp>
      <p:sp>
        <p:nvSpPr>
          <p:cNvPr id="105" name="Rectangle 104"/>
          <p:cNvSpPr/>
          <p:nvPr/>
        </p:nvSpPr>
        <p:spPr>
          <a:xfrm>
            <a:off x="3686175" y="4552950"/>
            <a:ext cx="9525" cy="438150"/>
          </a:xfrm>
          <a:prstGeom prst="rect">
            <a:avLst/>
          </a:prstGeom>
          <a:solidFill>
            <a:srgbClr val="E3DCD3"/>
          </a:solidFill>
          <a:ln>
            <a:noFill/>
          </a:ln>
          <a:effectLst/>
        </p:spPr>
        <p:txBody>
          <a:bodyPr rtlCol="0" anchor="ctr"/>
          <a:lstStyle/>
          <a:p>
            <a:pPr algn="ctr"/>
            <a:endParaRPr/>
          </a:p>
        </p:txBody>
      </p:sp>
      <p:sp>
        <p:nvSpPr>
          <p:cNvPr id="106" name="Text: INTEGER HOLDINGS"/>
          <p:cNvSpPr txBox="1"/>
          <p:nvPr/>
        </p:nvSpPr>
        <p:spPr>
          <a:xfrm>
            <a:off x="3805535" y="4712494"/>
            <a:ext cx="832842" cy="119062"/>
          </a:xfrm>
          <a:prstGeom prst="rect">
            <a:avLst/>
          </a:prstGeom>
          <a:noFill/>
        </p:spPr>
        <p:txBody>
          <a:bodyPr wrap="square" lIns="0" tIns="0" rIns="0" bIns="0" anchor="t">
            <a:spAutoFit/>
          </a:bodyPr>
          <a:lstStyle/>
          <a:p>
            <a:pPr algn="ctr">
              <a:lnSpc>
                <a:spcPts val="938"/>
              </a:lnSpc>
            </a:pPr>
            <a:r>
              <a:rPr sz="712" b="1" i="0" spc="38">
                <a:solidFill>
                  <a:srgbClr val="1B1A1A"/>
                </a:solidFill>
                <a:latin typeface="Calibri"/>
              </a:rPr>
              <a:t>INTEGER HOLDINGS</a:t>
            </a:r>
          </a:p>
        </p:txBody>
      </p:sp>
      <p:sp>
        <p:nvSpPr>
          <p:cNvPr id="107" name="Text: ACQUIRED BY"/>
          <p:cNvSpPr txBox="1"/>
          <p:nvPr/>
        </p:nvSpPr>
        <p:spPr>
          <a:xfrm>
            <a:off x="4800600" y="4672012"/>
            <a:ext cx="471488" cy="200025"/>
          </a:xfrm>
          <a:prstGeom prst="rect">
            <a:avLst/>
          </a:prstGeom>
          <a:noFill/>
        </p:spPr>
        <p:txBody>
          <a:bodyPr wrap="square" lIns="0" tIns="0" rIns="0" bIns="0" anchor="t">
            <a:spAutoFit/>
          </a:bodyPr>
          <a:lstStyle/>
          <a:p>
            <a:pPr algn="ctr">
              <a:lnSpc>
                <a:spcPts val="788"/>
              </a:lnSpc>
            </a:pPr>
            <a:r>
              <a:rPr sz="600" b="0" i="0" spc="60">
                <a:solidFill>
                  <a:srgbClr val="6F6A66"/>
                </a:solidFill>
                <a:latin typeface="Calibri"/>
              </a:rPr>
              <a:t>ACQUIRED BY</a:t>
            </a:r>
          </a:p>
        </p:txBody>
      </p:sp>
      <p:sp>
        <p:nvSpPr>
          <p:cNvPr id="108" name="Rectangle 107"/>
          <p:cNvSpPr/>
          <p:nvPr/>
        </p:nvSpPr>
        <p:spPr>
          <a:xfrm>
            <a:off x="5314950" y="4552950"/>
            <a:ext cx="1057275" cy="438150"/>
          </a:xfrm>
          <a:prstGeom prst="rect">
            <a:avLst/>
          </a:prstGeom>
          <a:solidFill>
            <a:srgbClr val="FFFFFF"/>
          </a:solidFill>
          <a:ln>
            <a:noFill/>
          </a:ln>
          <a:effectLst/>
        </p:spPr>
        <p:txBody>
          <a:bodyPr rtlCol="0" anchor="ctr"/>
          <a:lstStyle/>
          <a:p>
            <a:pPr algn="ctr"/>
            <a:endParaRPr/>
          </a:p>
        </p:txBody>
      </p:sp>
      <p:sp>
        <p:nvSpPr>
          <p:cNvPr id="109" name="Rectangle 108"/>
          <p:cNvSpPr/>
          <p:nvPr/>
        </p:nvSpPr>
        <p:spPr>
          <a:xfrm>
            <a:off x="5314950" y="4552950"/>
            <a:ext cx="1057275" cy="9525"/>
          </a:xfrm>
          <a:prstGeom prst="rect">
            <a:avLst/>
          </a:prstGeom>
          <a:solidFill>
            <a:srgbClr val="E3DCD3"/>
          </a:solidFill>
          <a:ln>
            <a:noFill/>
          </a:ln>
          <a:effectLst/>
        </p:spPr>
        <p:txBody>
          <a:bodyPr rtlCol="0" anchor="ctr"/>
          <a:lstStyle/>
          <a:p>
            <a:pPr algn="ctr"/>
            <a:endParaRPr/>
          </a:p>
        </p:txBody>
      </p:sp>
      <p:sp>
        <p:nvSpPr>
          <p:cNvPr id="110" name="Rectangle 109"/>
          <p:cNvSpPr/>
          <p:nvPr/>
        </p:nvSpPr>
        <p:spPr>
          <a:xfrm>
            <a:off x="6362700" y="4552950"/>
            <a:ext cx="9525" cy="438150"/>
          </a:xfrm>
          <a:prstGeom prst="rect">
            <a:avLst/>
          </a:prstGeom>
          <a:solidFill>
            <a:srgbClr val="E3DCD3"/>
          </a:solidFill>
          <a:ln>
            <a:noFill/>
          </a:ln>
          <a:effectLst/>
        </p:spPr>
        <p:txBody>
          <a:bodyPr rtlCol="0" anchor="ctr"/>
          <a:lstStyle/>
          <a:p>
            <a:pPr algn="ctr"/>
            <a:endParaRPr/>
          </a:p>
        </p:txBody>
      </p:sp>
      <p:sp>
        <p:nvSpPr>
          <p:cNvPr id="111" name="Rectangle 110"/>
          <p:cNvSpPr/>
          <p:nvPr/>
        </p:nvSpPr>
        <p:spPr>
          <a:xfrm>
            <a:off x="5314950" y="4981575"/>
            <a:ext cx="1057275" cy="9525"/>
          </a:xfrm>
          <a:prstGeom prst="rect">
            <a:avLst/>
          </a:prstGeom>
          <a:solidFill>
            <a:srgbClr val="E3DCD3"/>
          </a:solidFill>
          <a:ln>
            <a:noFill/>
          </a:ln>
          <a:effectLst/>
        </p:spPr>
        <p:txBody>
          <a:bodyPr rtlCol="0" anchor="ctr"/>
          <a:lstStyle/>
          <a:p>
            <a:pPr algn="ctr"/>
            <a:endParaRPr/>
          </a:p>
        </p:txBody>
      </p:sp>
      <p:sp>
        <p:nvSpPr>
          <p:cNvPr id="112" name="Rectangle 111"/>
          <p:cNvSpPr/>
          <p:nvPr/>
        </p:nvSpPr>
        <p:spPr>
          <a:xfrm>
            <a:off x="5314950" y="4552950"/>
            <a:ext cx="9525" cy="438150"/>
          </a:xfrm>
          <a:prstGeom prst="rect">
            <a:avLst/>
          </a:prstGeom>
          <a:solidFill>
            <a:srgbClr val="E3DCD3"/>
          </a:solidFill>
          <a:ln>
            <a:noFill/>
          </a:ln>
          <a:effectLst/>
        </p:spPr>
        <p:txBody>
          <a:bodyPr rtlCol="0" anchor="ctr"/>
          <a:lstStyle/>
          <a:p>
            <a:pPr algn="ctr"/>
            <a:endParaRPr/>
          </a:p>
        </p:txBody>
      </p:sp>
      <p:sp>
        <p:nvSpPr>
          <p:cNvPr id="113" name="Text: KKR"/>
          <p:cNvSpPr txBox="1"/>
          <p:nvPr/>
        </p:nvSpPr>
        <p:spPr>
          <a:xfrm>
            <a:off x="5761434" y="4712494"/>
            <a:ext cx="178594" cy="119062"/>
          </a:xfrm>
          <a:prstGeom prst="rect">
            <a:avLst/>
          </a:prstGeom>
          <a:noFill/>
        </p:spPr>
        <p:txBody>
          <a:bodyPr wrap="square" lIns="0" tIns="0" rIns="0" bIns="0" anchor="t">
            <a:spAutoFit/>
          </a:bodyPr>
          <a:lstStyle/>
          <a:p>
            <a:pPr algn="ctr">
              <a:lnSpc>
                <a:spcPts val="938"/>
              </a:lnSpc>
            </a:pPr>
            <a:r>
              <a:rPr sz="712" b="1" i="0" spc="38">
                <a:solidFill>
                  <a:srgbClr val="1B1A1A"/>
                </a:solidFill>
                <a:latin typeface="Calibri"/>
              </a:rPr>
              <a:t>KKR</a:t>
            </a:r>
          </a:p>
        </p:txBody>
      </p:sp>
      <p:sp>
        <p:nvSpPr>
          <p:cNvPr id="114" name="Text: KKR agrees to take Integer Holding"/>
          <p:cNvSpPr txBox="1"/>
          <p:nvPr/>
        </p:nvSpPr>
        <p:spPr>
          <a:xfrm>
            <a:off x="3686175" y="5095875"/>
            <a:ext cx="2700338" cy="166688"/>
          </a:xfrm>
          <a:prstGeom prst="rect">
            <a:avLst/>
          </a:prstGeom>
          <a:noFill/>
        </p:spPr>
        <p:txBody>
          <a:bodyPr wrap="square" lIns="0" tIns="0" rIns="0" bIns="0" anchor="t">
            <a:spAutoFit/>
          </a:bodyPr>
          <a:lstStyle/>
          <a:p>
            <a:pPr algn="l">
              <a:lnSpc>
                <a:spcPts val="1312"/>
              </a:lnSpc>
            </a:pPr>
            <a:r>
              <a:rPr sz="975" b="1" i="0" spc="15">
                <a:solidFill>
                  <a:srgbClr val="1B1A1A"/>
                </a:solidFill>
                <a:latin typeface="Calibri"/>
              </a:rPr>
              <a:t>KKR agrees to take Integer Holdings private</a:t>
            </a:r>
          </a:p>
        </p:txBody>
      </p:sp>
      <p:sp>
        <p:nvSpPr>
          <p:cNvPr id="115" name="Text: The offer of $127 a share values t"/>
          <p:cNvSpPr txBox="1"/>
          <p:nvPr/>
        </p:nvSpPr>
        <p:spPr>
          <a:xfrm>
            <a:off x="3686175" y="5310188"/>
            <a:ext cx="2700338" cy="471488"/>
          </a:xfrm>
          <a:prstGeom prst="rect">
            <a:avLst/>
          </a:prstGeom>
          <a:noFill/>
        </p:spPr>
        <p:txBody>
          <a:bodyPr wrap="square" lIns="0" tIns="0" rIns="0" bIns="0" anchor="t">
            <a:spAutoFit/>
          </a:bodyPr>
          <a:lstStyle/>
          <a:p>
            <a:pPr algn="l">
              <a:lnSpc>
                <a:spcPts val="1238"/>
              </a:lnSpc>
            </a:pPr>
            <a:r>
              <a:rPr sz="861" b="0" i="0" spc="15">
                <a:solidFill>
                  <a:srgbClr val="333231"/>
                </a:solidFill>
                <a:latin typeface="Calibri"/>
              </a:rPr>
              <a:t>The offer of $127 a share values the contract manufacturer at $5.7 billion, a 51.8% premium (</a:t>
            </a:r>
            <a:r>
              <a:rPr sz="861" b="0" i="0" spc="15">
                <a:solidFill>
                  <a:srgbClr val="8C6239"/>
                </a:solidFill>
                <a:latin typeface="Calibri"/>
                <a:hlinkClick r:id="rId6">
                  <a:extLst>
                    <a:ext uri="{A12FA001-AC4F-418D-AE19-62706E023703}">
                      <ahyp:hlinkClr xmlns:ahyp="http://schemas.microsoft.com/office/drawing/2018/hyperlinkcolor" val="tx"/>
                    </a:ext>
                  </a:extLst>
                </a:hlinkClick>
              </a:rPr>
              <a:t>Medical Design &amp; Outsourcing</a:t>
            </a:r>
            <a:r>
              <a:rPr sz="861" b="0" i="0" spc="15">
                <a:solidFill>
                  <a:srgbClr val="333231"/>
                </a:solidFill>
                <a:latin typeface="Calibri"/>
              </a:rPr>
              <a:t>).</a:t>
            </a:r>
          </a:p>
        </p:txBody>
      </p:sp>
      <p:sp>
        <p:nvSpPr>
          <p:cNvPr id="116" name="Rectangle 115"/>
          <p:cNvSpPr/>
          <p:nvPr/>
        </p:nvSpPr>
        <p:spPr>
          <a:xfrm>
            <a:off x="3686175" y="6429375"/>
            <a:ext cx="2686050" cy="9525"/>
          </a:xfrm>
          <a:prstGeom prst="rect">
            <a:avLst/>
          </a:prstGeom>
          <a:solidFill>
            <a:srgbClr val="E3DCD3"/>
          </a:solidFill>
          <a:ln>
            <a:noFill/>
          </a:ln>
          <a:effectLst/>
        </p:spPr>
        <p:txBody>
          <a:bodyPr rtlCol="0" anchor="ctr"/>
          <a:lstStyle/>
          <a:p>
            <a:pPr algn="ctr"/>
            <a:endParaRPr/>
          </a:p>
        </p:txBody>
      </p:sp>
      <p:sp>
        <p:nvSpPr>
          <p:cNvPr id="117" name="Text: WHAT IT SHOWS "/>
          <p:cNvSpPr txBox="1"/>
          <p:nvPr/>
        </p:nvSpPr>
        <p:spPr>
          <a:xfrm>
            <a:off x="3686175" y="6515100"/>
            <a:ext cx="2700338" cy="304800"/>
          </a:xfrm>
          <a:prstGeom prst="rect">
            <a:avLst/>
          </a:prstGeom>
          <a:noFill/>
        </p:spPr>
        <p:txBody>
          <a:bodyPr wrap="square" lIns="0" tIns="0" rIns="0" bIns="0" anchor="t">
            <a:spAutoFit/>
          </a:bodyPr>
          <a:lstStyle/>
          <a:p>
            <a:pPr algn="l">
              <a:lnSpc>
                <a:spcPts val="1125"/>
              </a:lnSpc>
            </a:pPr>
            <a:r>
              <a:rPr sz="638" b="1" i="0" spc="120">
                <a:solidFill>
                  <a:srgbClr val="8C6239"/>
                </a:solidFill>
                <a:latin typeface="Calibri"/>
              </a:rPr>
              <a:t>WHAT IT SHOWS </a:t>
            </a:r>
            <a:r>
              <a:rPr sz="788" b="0" i="0" spc="15">
                <a:solidFill>
                  <a:srgbClr val="333231"/>
                </a:solidFill>
                <a:latin typeface="Calibri"/>
              </a:rPr>
              <a:t>Sponsors are buying medical device manufacturing platforms at scale.</a:t>
            </a:r>
          </a:p>
        </p:txBody>
      </p:sp>
      <p:sp>
        <p:nvSpPr>
          <p:cNvPr id="118" name="Rectangle 117"/>
          <p:cNvSpPr/>
          <p:nvPr/>
        </p:nvSpPr>
        <p:spPr>
          <a:xfrm>
            <a:off x="6667500" y="4162425"/>
            <a:ext cx="2971800" cy="2771775"/>
          </a:xfrm>
          <a:prstGeom prst="rect">
            <a:avLst/>
          </a:prstGeom>
          <a:solidFill>
            <a:srgbClr val="FAF7F3"/>
          </a:solidFill>
          <a:ln>
            <a:noFill/>
          </a:ln>
          <a:effectLst/>
        </p:spPr>
        <p:txBody>
          <a:bodyPr rtlCol="0" anchor="ctr"/>
          <a:lstStyle/>
          <a:p>
            <a:pPr algn="ctr"/>
            <a:endParaRPr/>
          </a:p>
        </p:txBody>
      </p:sp>
      <p:sp>
        <p:nvSpPr>
          <p:cNvPr id="119" name="Rectangle 118"/>
          <p:cNvSpPr/>
          <p:nvPr/>
        </p:nvSpPr>
        <p:spPr>
          <a:xfrm>
            <a:off x="6667500" y="4162425"/>
            <a:ext cx="2971800" cy="28575"/>
          </a:xfrm>
          <a:prstGeom prst="rect">
            <a:avLst/>
          </a:prstGeom>
          <a:solidFill>
            <a:srgbClr val="B68757"/>
          </a:solidFill>
          <a:ln>
            <a:noFill/>
          </a:ln>
          <a:effectLst/>
        </p:spPr>
        <p:txBody>
          <a:bodyPr rtlCol="0" anchor="ctr"/>
          <a:lstStyle/>
          <a:p>
            <a:pPr algn="ctr"/>
            <a:endParaRPr/>
          </a:p>
        </p:txBody>
      </p:sp>
      <p:sp>
        <p:nvSpPr>
          <p:cNvPr id="120" name="Rectangle 119"/>
          <p:cNvSpPr/>
          <p:nvPr/>
        </p:nvSpPr>
        <p:spPr>
          <a:xfrm>
            <a:off x="6667500" y="4248150"/>
            <a:ext cx="657076" cy="209550"/>
          </a:xfrm>
          <a:prstGeom prst="rect">
            <a:avLst/>
          </a:prstGeom>
          <a:solidFill>
            <a:srgbClr val="1B1A1A"/>
          </a:solidFill>
          <a:ln>
            <a:noFill/>
          </a:ln>
          <a:effectLst/>
        </p:spPr>
        <p:txBody>
          <a:bodyPr rtlCol="0" anchor="ctr"/>
          <a:lstStyle/>
          <a:p>
            <a:pPr algn="ctr"/>
            <a:endParaRPr/>
          </a:p>
        </p:txBody>
      </p:sp>
      <p:sp>
        <p:nvSpPr>
          <p:cNvPr id="121" name="Text: JULY 2026"/>
          <p:cNvSpPr txBox="1"/>
          <p:nvPr/>
        </p:nvSpPr>
        <p:spPr>
          <a:xfrm>
            <a:off x="6753225" y="4295775"/>
            <a:ext cx="607055" cy="114300"/>
          </a:xfrm>
          <a:prstGeom prst="rect">
            <a:avLst/>
          </a:prstGeom>
          <a:noFill/>
        </p:spPr>
        <p:txBody>
          <a:bodyPr wrap="square" lIns="0" tIns="0" rIns="0" bIns="0" anchor="t">
            <a:spAutoFit/>
          </a:bodyPr>
          <a:lstStyle/>
          <a:p>
            <a:pPr algn="l">
              <a:lnSpc>
                <a:spcPts val="900"/>
              </a:lnSpc>
            </a:pPr>
            <a:r>
              <a:rPr sz="638" b="1" i="0" spc="135">
                <a:solidFill>
                  <a:srgbClr val="D3AE84"/>
                </a:solidFill>
                <a:latin typeface="Calibri"/>
              </a:rPr>
              <a:t>JULY 2026</a:t>
            </a:r>
          </a:p>
        </p:txBody>
      </p:sp>
      <p:sp>
        <p:nvSpPr>
          <p:cNvPr id="122" name="Text: PHARMACY &amp; HEALTHCARE SERVICES"/>
          <p:cNvSpPr txBox="1"/>
          <p:nvPr/>
        </p:nvSpPr>
        <p:spPr>
          <a:xfrm>
            <a:off x="7845028" y="4295775"/>
            <a:ext cx="1665684" cy="114300"/>
          </a:xfrm>
          <a:prstGeom prst="rect">
            <a:avLst/>
          </a:prstGeom>
          <a:noFill/>
        </p:spPr>
        <p:txBody>
          <a:bodyPr wrap="square" lIns="0" tIns="0" rIns="0" bIns="0" anchor="t">
            <a:spAutoFit/>
          </a:bodyPr>
          <a:lstStyle/>
          <a:p>
            <a:pPr algn="r">
              <a:lnSpc>
                <a:spcPts val="900"/>
              </a:lnSpc>
            </a:pPr>
            <a:r>
              <a:rPr sz="638" b="1" i="0" spc="105">
                <a:solidFill>
                  <a:srgbClr val="8C6239"/>
                </a:solidFill>
                <a:latin typeface="Calibri"/>
              </a:rPr>
              <a:t>PHARMACY &amp; HEALTHCARE SERVICES</a:t>
            </a:r>
          </a:p>
        </p:txBody>
      </p:sp>
      <p:sp>
        <p:nvSpPr>
          <p:cNvPr id="123" name="Rectangle 122"/>
          <p:cNvSpPr/>
          <p:nvPr/>
        </p:nvSpPr>
        <p:spPr>
          <a:xfrm>
            <a:off x="6810375" y="4552950"/>
            <a:ext cx="1057275" cy="438150"/>
          </a:xfrm>
          <a:prstGeom prst="rect">
            <a:avLst/>
          </a:prstGeom>
          <a:solidFill>
            <a:srgbClr val="FFFFFF"/>
          </a:solidFill>
          <a:ln>
            <a:noFill/>
          </a:ln>
          <a:effectLst/>
        </p:spPr>
        <p:txBody>
          <a:bodyPr rtlCol="0" anchor="ctr"/>
          <a:lstStyle/>
          <a:p>
            <a:pPr algn="ctr"/>
            <a:endParaRPr/>
          </a:p>
        </p:txBody>
      </p:sp>
      <p:sp>
        <p:nvSpPr>
          <p:cNvPr id="124" name="Rectangle 123"/>
          <p:cNvSpPr/>
          <p:nvPr/>
        </p:nvSpPr>
        <p:spPr>
          <a:xfrm>
            <a:off x="6810375" y="4552950"/>
            <a:ext cx="1057275" cy="9525"/>
          </a:xfrm>
          <a:prstGeom prst="rect">
            <a:avLst/>
          </a:prstGeom>
          <a:solidFill>
            <a:srgbClr val="E3DCD3"/>
          </a:solidFill>
          <a:ln>
            <a:noFill/>
          </a:ln>
          <a:effectLst/>
        </p:spPr>
        <p:txBody>
          <a:bodyPr rtlCol="0" anchor="ctr"/>
          <a:lstStyle/>
          <a:p>
            <a:pPr algn="ctr"/>
            <a:endParaRPr/>
          </a:p>
        </p:txBody>
      </p:sp>
      <p:sp>
        <p:nvSpPr>
          <p:cNvPr id="125" name="Rectangle 124"/>
          <p:cNvSpPr/>
          <p:nvPr/>
        </p:nvSpPr>
        <p:spPr>
          <a:xfrm>
            <a:off x="7858125" y="4552950"/>
            <a:ext cx="9525" cy="438150"/>
          </a:xfrm>
          <a:prstGeom prst="rect">
            <a:avLst/>
          </a:prstGeom>
          <a:solidFill>
            <a:srgbClr val="E3DCD3"/>
          </a:solidFill>
          <a:ln>
            <a:noFill/>
          </a:ln>
          <a:effectLst/>
        </p:spPr>
        <p:txBody>
          <a:bodyPr rtlCol="0" anchor="ctr"/>
          <a:lstStyle/>
          <a:p>
            <a:pPr algn="ctr"/>
            <a:endParaRPr/>
          </a:p>
        </p:txBody>
      </p:sp>
      <p:sp>
        <p:nvSpPr>
          <p:cNvPr id="126" name="Rectangle 125"/>
          <p:cNvSpPr/>
          <p:nvPr/>
        </p:nvSpPr>
        <p:spPr>
          <a:xfrm>
            <a:off x="6810375" y="4981575"/>
            <a:ext cx="1057275" cy="9525"/>
          </a:xfrm>
          <a:prstGeom prst="rect">
            <a:avLst/>
          </a:prstGeom>
          <a:solidFill>
            <a:srgbClr val="E3DCD3"/>
          </a:solidFill>
          <a:ln>
            <a:noFill/>
          </a:ln>
          <a:effectLst/>
        </p:spPr>
        <p:txBody>
          <a:bodyPr rtlCol="0" anchor="ctr"/>
          <a:lstStyle/>
          <a:p>
            <a:pPr algn="ctr"/>
            <a:endParaRPr/>
          </a:p>
        </p:txBody>
      </p:sp>
      <p:sp>
        <p:nvSpPr>
          <p:cNvPr id="127" name="Rectangle 126"/>
          <p:cNvSpPr/>
          <p:nvPr/>
        </p:nvSpPr>
        <p:spPr>
          <a:xfrm>
            <a:off x="6810375" y="4552950"/>
            <a:ext cx="9525" cy="438150"/>
          </a:xfrm>
          <a:prstGeom prst="rect">
            <a:avLst/>
          </a:prstGeom>
          <a:solidFill>
            <a:srgbClr val="E3DCD3"/>
          </a:solidFill>
          <a:ln>
            <a:noFill/>
          </a:ln>
          <a:effectLst/>
        </p:spPr>
        <p:txBody>
          <a:bodyPr rtlCol="0" anchor="ctr"/>
          <a:lstStyle/>
          <a:p>
            <a:pPr algn="ctr"/>
            <a:endParaRPr/>
          </a:p>
        </p:txBody>
      </p:sp>
      <p:sp>
        <p:nvSpPr>
          <p:cNvPr id="128" name="Text: CROSS COUNTRY HEALTHCARE"/>
          <p:cNvSpPr txBox="1"/>
          <p:nvPr/>
        </p:nvSpPr>
        <p:spPr>
          <a:xfrm>
            <a:off x="6896100" y="4652962"/>
            <a:ext cx="900112" cy="238125"/>
          </a:xfrm>
          <a:prstGeom prst="rect">
            <a:avLst/>
          </a:prstGeom>
          <a:noFill/>
        </p:spPr>
        <p:txBody>
          <a:bodyPr wrap="square" lIns="0" tIns="0" rIns="0" bIns="0" anchor="t">
            <a:spAutoFit/>
          </a:bodyPr>
          <a:lstStyle/>
          <a:p>
            <a:pPr algn="ctr">
              <a:lnSpc>
                <a:spcPts val="938"/>
              </a:lnSpc>
            </a:pPr>
            <a:r>
              <a:rPr sz="712" b="1" i="0" spc="38">
                <a:solidFill>
                  <a:srgbClr val="1B1A1A"/>
                </a:solidFill>
                <a:latin typeface="Calibri"/>
              </a:rPr>
              <a:t>CROSS COUNTRY HEALTHCARE</a:t>
            </a:r>
          </a:p>
        </p:txBody>
      </p:sp>
      <p:sp>
        <p:nvSpPr>
          <p:cNvPr id="129" name="Text: ACQUIRED BY"/>
          <p:cNvSpPr txBox="1"/>
          <p:nvPr/>
        </p:nvSpPr>
        <p:spPr>
          <a:xfrm>
            <a:off x="7924800" y="4672012"/>
            <a:ext cx="471488" cy="200025"/>
          </a:xfrm>
          <a:prstGeom prst="rect">
            <a:avLst/>
          </a:prstGeom>
          <a:noFill/>
        </p:spPr>
        <p:txBody>
          <a:bodyPr wrap="square" lIns="0" tIns="0" rIns="0" bIns="0" anchor="t">
            <a:spAutoFit/>
          </a:bodyPr>
          <a:lstStyle/>
          <a:p>
            <a:pPr algn="ctr">
              <a:lnSpc>
                <a:spcPts val="788"/>
              </a:lnSpc>
            </a:pPr>
            <a:r>
              <a:rPr sz="600" b="0" i="0" spc="60">
                <a:solidFill>
                  <a:srgbClr val="6F6A66"/>
                </a:solidFill>
                <a:latin typeface="Calibri"/>
              </a:rPr>
              <a:t>ACQUIRED BY</a:t>
            </a:r>
          </a:p>
        </p:txBody>
      </p:sp>
      <p:sp>
        <p:nvSpPr>
          <p:cNvPr id="130" name="Rectangle 129"/>
          <p:cNvSpPr/>
          <p:nvPr/>
        </p:nvSpPr>
        <p:spPr>
          <a:xfrm>
            <a:off x="8439150" y="4552950"/>
            <a:ext cx="1057275" cy="438150"/>
          </a:xfrm>
          <a:prstGeom prst="rect">
            <a:avLst/>
          </a:prstGeom>
          <a:solidFill>
            <a:srgbClr val="FFFFFF"/>
          </a:solidFill>
          <a:ln>
            <a:noFill/>
          </a:ln>
          <a:effectLst/>
        </p:spPr>
        <p:txBody>
          <a:bodyPr rtlCol="0" anchor="ctr"/>
          <a:lstStyle/>
          <a:p>
            <a:pPr algn="ctr"/>
            <a:endParaRPr/>
          </a:p>
        </p:txBody>
      </p:sp>
      <p:sp>
        <p:nvSpPr>
          <p:cNvPr id="131" name="Rectangle 130"/>
          <p:cNvSpPr/>
          <p:nvPr/>
        </p:nvSpPr>
        <p:spPr>
          <a:xfrm>
            <a:off x="8439150" y="4552950"/>
            <a:ext cx="1057275" cy="9525"/>
          </a:xfrm>
          <a:prstGeom prst="rect">
            <a:avLst/>
          </a:prstGeom>
          <a:solidFill>
            <a:srgbClr val="E3DCD3"/>
          </a:solidFill>
          <a:ln>
            <a:noFill/>
          </a:ln>
          <a:effectLst/>
        </p:spPr>
        <p:txBody>
          <a:bodyPr rtlCol="0" anchor="ctr"/>
          <a:lstStyle/>
          <a:p>
            <a:pPr algn="ctr"/>
            <a:endParaRPr/>
          </a:p>
        </p:txBody>
      </p:sp>
      <p:sp>
        <p:nvSpPr>
          <p:cNvPr id="132" name="Rectangle 131"/>
          <p:cNvSpPr/>
          <p:nvPr/>
        </p:nvSpPr>
        <p:spPr>
          <a:xfrm>
            <a:off x="9486900" y="4552950"/>
            <a:ext cx="9525" cy="438150"/>
          </a:xfrm>
          <a:prstGeom prst="rect">
            <a:avLst/>
          </a:prstGeom>
          <a:solidFill>
            <a:srgbClr val="E3DCD3"/>
          </a:solidFill>
          <a:ln>
            <a:noFill/>
          </a:ln>
          <a:effectLst/>
        </p:spPr>
        <p:txBody>
          <a:bodyPr rtlCol="0" anchor="ctr"/>
          <a:lstStyle/>
          <a:p>
            <a:pPr algn="ctr"/>
            <a:endParaRPr/>
          </a:p>
        </p:txBody>
      </p:sp>
      <p:sp>
        <p:nvSpPr>
          <p:cNvPr id="133" name="Rectangle 132"/>
          <p:cNvSpPr/>
          <p:nvPr/>
        </p:nvSpPr>
        <p:spPr>
          <a:xfrm>
            <a:off x="8439150" y="4981575"/>
            <a:ext cx="1057275" cy="9525"/>
          </a:xfrm>
          <a:prstGeom prst="rect">
            <a:avLst/>
          </a:prstGeom>
          <a:solidFill>
            <a:srgbClr val="E3DCD3"/>
          </a:solidFill>
          <a:ln>
            <a:noFill/>
          </a:ln>
          <a:effectLst/>
        </p:spPr>
        <p:txBody>
          <a:bodyPr rtlCol="0" anchor="ctr"/>
          <a:lstStyle/>
          <a:p>
            <a:pPr algn="ctr"/>
            <a:endParaRPr/>
          </a:p>
        </p:txBody>
      </p:sp>
      <p:sp>
        <p:nvSpPr>
          <p:cNvPr id="134" name="Rectangle 133"/>
          <p:cNvSpPr/>
          <p:nvPr/>
        </p:nvSpPr>
        <p:spPr>
          <a:xfrm>
            <a:off x="8439150" y="4552950"/>
            <a:ext cx="9525" cy="438150"/>
          </a:xfrm>
          <a:prstGeom prst="rect">
            <a:avLst/>
          </a:prstGeom>
          <a:solidFill>
            <a:srgbClr val="E3DCD3"/>
          </a:solidFill>
          <a:ln>
            <a:noFill/>
          </a:ln>
          <a:effectLst/>
        </p:spPr>
        <p:txBody>
          <a:bodyPr rtlCol="0" anchor="ctr"/>
          <a:lstStyle/>
          <a:p>
            <a:pPr algn="ctr"/>
            <a:endParaRPr/>
          </a:p>
        </p:txBody>
      </p:sp>
      <p:sp>
        <p:nvSpPr>
          <p:cNvPr id="135" name="Text: KNOX LANE"/>
          <p:cNvSpPr txBox="1"/>
          <p:nvPr/>
        </p:nvSpPr>
        <p:spPr>
          <a:xfrm>
            <a:off x="8729067" y="4712494"/>
            <a:ext cx="491579" cy="119062"/>
          </a:xfrm>
          <a:prstGeom prst="rect">
            <a:avLst/>
          </a:prstGeom>
          <a:noFill/>
        </p:spPr>
        <p:txBody>
          <a:bodyPr wrap="square" lIns="0" tIns="0" rIns="0" bIns="0" anchor="t">
            <a:spAutoFit/>
          </a:bodyPr>
          <a:lstStyle/>
          <a:p>
            <a:pPr algn="ctr">
              <a:lnSpc>
                <a:spcPts val="938"/>
              </a:lnSpc>
            </a:pPr>
            <a:r>
              <a:rPr sz="712" b="1" i="0" spc="38">
                <a:solidFill>
                  <a:srgbClr val="1B1A1A"/>
                </a:solidFill>
                <a:latin typeface="Calibri"/>
              </a:rPr>
              <a:t>KNOX LANE</a:t>
            </a:r>
          </a:p>
        </p:txBody>
      </p:sp>
      <p:sp>
        <p:nvSpPr>
          <p:cNvPr id="136" name="Text: Knox Lane completes its purchase o"/>
          <p:cNvSpPr txBox="1"/>
          <p:nvPr/>
        </p:nvSpPr>
        <p:spPr>
          <a:xfrm>
            <a:off x="6810375" y="5095875"/>
            <a:ext cx="2700338" cy="333375"/>
          </a:xfrm>
          <a:prstGeom prst="rect">
            <a:avLst/>
          </a:prstGeom>
          <a:noFill/>
        </p:spPr>
        <p:txBody>
          <a:bodyPr wrap="square" lIns="0" tIns="0" rIns="0" bIns="0" anchor="t">
            <a:spAutoFit/>
          </a:bodyPr>
          <a:lstStyle/>
          <a:p>
            <a:pPr algn="l">
              <a:lnSpc>
                <a:spcPts val="1312"/>
              </a:lnSpc>
            </a:pPr>
            <a:r>
              <a:rPr sz="975" b="1" i="0" spc="15">
                <a:solidFill>
                  <a:srgbClr val="1B1A1A"/>
                </a:solidFill>
                <a:latin typeface="Calibri"/>
              </a:rPr>
              <a:t>Knox Lane completes its purchase of Cross Country Healthcare</a:t>
            </a:r>
          </a:p>
        </p:txBody>
      </p:sp>
      <p:sp>
        <p:nvSpPr>
          <p:cNvPr id="137" name="Text: Knox Lane paid $437 million, or $1"/>
          <p:cNvSpPr txBox="1"/>
          <p:nvPr/>
        </p:nvSpPr>
        <p:spPr>
          <a:xfrm>
            <a:off x="6810375" y="5476875"/>
            <a:ext cx="2700338" cy="628650"/>
          </a:xfrm>
          <a:prstGeom prst="rect">
            <a:avLst/>
          </a:prstGeom>
          <a:noFill/>
        </p:spPr>
        <p:txBody>
          <a:bodyPr wrap="square" lIns="0" tIns="0" rIns="0" bIns="0" anchor="t">
            <a:spAutoFit/>
          </a:bodyPr>
          <a:lstStyle/>
          <a:p>
            <a:pPr algn="l">
              <a:lnSpc>
                <a:spcPts val="1238"/>
              </a:lnSpc>
            </a:pPr>
            <a:r>
              <a:rPr sz="861" b="0" i="0" spc="15">
                <a:solidFill>
                  <a:srgbClr val="333231"/>
                </a:solidFill>
                <a:latin typeface="Calibri"/>
              </a:rPr>
              <a:t>Knox Lane paid $437 million, or $13.25 a share, after Aya Healthcare ended an agreement at $18.61 following an extended FTC review (</a:t>
            </a:r>
            <a:r>
              <a:rPr sz="861" b="0" i="0" spc="15">
                <a:solidFill>
                  <a:srgbClr val="8C6239"/>
                </a:solidFill>
                <a:latin typeface="Calibri"/>
                <a:hlinkClick r:id="rId7">
                  <a:extLst>
                    <a:ext uri="{A12FA001-AC4F-418D-AE19-62706E023703}">
                      <ahyp:hlinkClr xmlns:ahyp="http://schemas.microsoft.com/office/drawing/2018/hyperlinkcolor" val="tx"/>
                    </a:ext>
                  </a:extLst>
                </a:hlinkClick>
              </a:rPr>
              <a:t>Staffing Industry Analysts</a:t>
            </a:r>
            <a:r>
              <a:rPr sz="861" b="0" i="0" spc="15">
                <a:solidFill>
                  <a:srgbClr val="333231"/>
                </a:solidFill>
                <a:latin typeface="Calibri"/>
              </a:rPr>
              <a:t>; </a:t>
            </a:r>
            <a:r>
              <a:rPr sz="861" b="0" i="0" spc="15">
                <a:solidFill>
                  <a:srgbClr val="8C6239"/>
                </a:solidFill>
                <a:latin typeface="Calibri"/>
                <a:hlinkClick r:id="rId8">
                  <a:extLst>
                    <a:ext uri="{A12FA001-AC4F-418D-AE19-62706E023703}">
                      <ahyp:hlinkClr xmlns:ahyp="http://schemas.microsoft.com/office/drawing/2018/hyperlinkcolor" val="tx"/>
                    </a:ext>
                  </a:extLst>
                </a:hlinkClick>
              </a:rPr>
              <a:t>Fierce Healthcare</a:t>
            </a:r>
            <a:r>
              <a:rPr sz="861" b="0" i="0" spc="15">
                <a:solidFill>
                  <a:srgbClr val="333231"/>
                </a:solidFill>
                <a:latin typeface="Calibri"/>
              </a:rPr>
              <a:t>).</a:t>
            </a:r>
          </a:p>
        </p:txBody>
      </p:sp>
      <p:sp>
        <p:nvSpPr>
          <p:cNvPr id="138" name="Rectangle 137"/>
          <p:cNvSpPr/>
          <p:nvPr/>
        </p:nvSpPr>
        <p:spPr>
          <a:xfrm>
            <a:off x="6810375" y="6429375"/>
            <a:ext cx="2686050" cy="9525"/>
          </a:xfrm>
          <a:prstGeom prst="rect">
            <a:avLst/>
          </a:prstGeom>
          <a:solidFill>
            <a:srgbClr val="E3DCD3"/>
          </a:solidFill>
          <a:ln>
            <a:noFill/>
          </a:ln>
          <a:effectLst/>
        </p:spPr>
        <p:txBody>
          <a:bodyPr rtlCol="0" anchor="ctr"/>
          <a:lstStyle/>
          <a:p>
            <a:pPr algn="ctr"/>
            <a:endParaRPr/>
          </a:p>
        </p:txBody>
      </p:sp>
      <p:sp>
        <p:nvSpPr>
          <p:cNvPr id="139" name="Text: WHAT IT SHOWS "/>
          <p:cNvSpPr txBox="1"/>
          <p:nvPr/>
        </p:nvSpPr>
        <p:spPr>
          <a:xfrm>
            <a:off x="6810375" y="6515100"/>
            <a:ext cx="2700338" cy="304800"/>
          </a:xfrm>
          <a:prstGeom prst="rect">
            <a:avLst/>
          </a:prstGeom>
          <a:noFill/>
        </p:spPr>
        <p:txBody>
          <a:bodyPr wrap="square" lIns="0" tIns="0" rIns="0" bIns="0" anchor="t">
            <a:spAutoFit/>
          </a:bodyPr>
          <a:lstStyle/>
          <a:p>
            <a:pPr algn="l">
              <a:lnSpc>
                <a:spcPts val="1125"/>
              </a:lnSpc>
            </a:pPr>
            <a:r>
              <a:rPr sz="638" b="1" i="0" spc="120">
                <a:solidFill>
                  <a:srgbClr val="8C6239"/>
                </a:solidFill>
                <a:latin typeface="Calibri"/>
              </a:rPr>
              <a:t>WHAT IT SHOWS </a:t>
            </a:r>
            <a:r>
              <a:rPr sz="788" b="0" i="0" spc="15">
                <a:solidFill>
                  <a:srgbClr val="333231"/>
                </a:solidFill>
                <a:latin typeface="Calibri"/>
              </a:rPr>
              <a:t>Regulatory review can change the buyer and the price of a scale merger.</a:t>
            </a:r>
          </a:p>
        </p:txBody>
      </p:sp>
      <p:sp>
        <p:nvSpPr>
          <p:cNvPr id="140" name="Rectangle 139"/>
          <p:cNvSpPr/>
          <p:nvPr/>
        </p:nvSpPr>
        <p:spPr>
          <a:xfrm>
            <a:off x="419100" y="7029450"/>
            <a:ext cx="9220200" cy="9525"/>
          </a:xfrm>
          <a:prstGeom prst="rect">
            <a:avLst/>
          </a:prstGeom>
          <a:solidFill>
            <a:srgbClr val="E3DCD3"/>
          </a:solidFill>
          <a:ln>
            <a:noFill/>
          </a:ln>
          <a:effectLst/>
        </p:spPr>
        <p:txBody>
          <a:bodyPr rtlCol="0" anchor="ctr"/>
          <a:lstStyle/>
          <a:p>
            <a:pPr algn="ctr"/>
            <a:endParaRPr/>
          </a:p>
        </p:txBody>
      </p:sp>
      <p:pic>
        <p:nvPicPr>
          <p:cNvPr id="141" name="Picture 140" descr="Benchmark International"/>
          <p:cNvPicPr>
            <a:picLocks noChangeAspect="1"/>
          </p:cNvPicPr>
          <p:nvPr/>
        </p:nvPicPr>
        <p:blipFill>
          <a:blip r:embed="rId9"/>
          <a:srcRect/>
          <a:stretch>
            <a:fillRect/>
          </a:stretch>
        </p:blipFill>
        <p:spPr>
          <a:xfrm>
            <a:off x="419100" y="7143750"/>
            <a:ext cx="914400" cy="171450"/>
          </a:xfrm>
          <a:prstGeom prst="rect">
            <a:avLst/>
          </a:prstGeom>
        </p:spPr>
      </p:pic>
      <p:sp>
        <p:nvSpPr>
          <p:cNvPr id="142" name="Text: Terms are as disclosed by the part"/>
          <p:cNvSpPr txBox="1"/>
          <p:nvPr/>
        </p:nvSpPr>
        <p:spPr>
          <a:xfrm>
            <a:off x="1543050" y="7105650"/>
            <a:ext cx="7748588" cy="238125"/>
          </a:xfrm>
          <a:prstGeom prst="rect">
            <a:avLst/>
          </a:prstGeom>
          <a:noFill/>
        </p:spPr>
        <p:txBody>
          <a:bodyPr wrap="square" lIns="0" tIns="0" rIns="0" bIns="0" anchor="t">
            <a:spAutoFit/>
          </a:bodyPr>
          <a:lstStyle/>
          <a:p>
            <a:pPr algn="l">
              <a:lnSpc>
                <a:spcPts val="938"/>
              </a:lnSpc>
            </a:pPr>
            <a:r>
              <a:rPr sz="675" b="0" i="0" spc="8">
                <a:solidFill>
                  <a:srgbClr val="6F6A66"/>
                </a:solidFill>
                <a:latin typeface="Calibri"/>
              </a:rPr>
              <a:t>Terms are as disclosed by the parties or reported by the linked source. Benchmark International did not advise on these transactions.</a:t>
            </a:r>
          </a:p>
        </p:txBody>
      </p:sp>
      <p:sp>
        <p:nvSpPr>
          <p:cNvPr id="143" name="Text: 12"/>
          <p:cNvSpPr txBox="1"/>
          <p:nvPr/>
        </p:nvSpPr>
        <p:spPr>
          <a:xfrm>
            <a:off x="9509373" y="7162800"/>
            <a:ext cx="144214" cy="133350"/>
          </a:xfrm>
          <a:prstGeom prst="rect">
            <a:avLst/>
          </a:prstGeom>
          <a:noFill/>
        </p:spPr>
        <p:txBody>
          <a:bodyPr wrap="square" lIns="0" tIns="0" rIns="0" bIns="0" anchor="t">
            <a:spAutoFit/>
          </a:bodyPr>
          <a:lstStyle/>
          <a:p>
            <a:pPr algn="l">
              <a:lnSpc>
                <a:spcPts val="1050"/>
              </a:lnSpc>
            </a:pPr>
            <a:r>
              <a:rPr sz="712" b="1" i="0" spc="150">
                <a:solidFill>
                  <a:srgbClr val="1B1A1A"/>
                </a:solidFill>
                <a:latin typeface="Calibr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57150" cy="7772400"/>
          </a:xfrm>
          <a:prstGeom prst="rect">
            <a:avLst/>
          </a:prstGeom>
          <a:solidFill>
            <a:srgbClr val="B68757"/>
          </a:solidFill>
          <a:ln>
            <a:noFill/>
          </a:ln>
          <a:effectLst/>
        </p:spPr>
        <p:txBody>
          <a:bodyPr rtlCol="0" anchor="ctr"/>
          <a:lstStyle/>
          <a:p>
            <a:pPr algn="ctr"/>
            <a:endParaRPr/>
          </a:p>
        </p:txBody>
      </p:sp>
      <p:sp>
        <p:nvSpPr>
          <p:cNvPr id="3" name="Text: HEALTHCARE | QUARTERLY SECTOR BRIE"/>
          <p:cNvSpPr txBox="1"/>
          <p:nvPr/>
        </p:nvSpPr>
        <p:spPr>
          <a:xfrm>
            <a:off x="419100" y="381000"/>
            <a:ext cx="2439591" cy="133350"/>
          </a:xfrm>
          <a:prstGeom prst="rect">
            <a:avLst/>
          </a:prstGeom>
          <a:noFill/>
        </p:spPr>
        <p:txBody>
          <a:bodyPr wrap="none" lIns="0" tIns="0" rIns="0" bIns="0" anchor="t">
            <a:spAutoFit/>
          </a:bodyPr>
          <a:lstStyle/>
          <a:p>
            <a:pPr algn="l">
              <a:lnSpc>
                <a:spcPts val="1050"/>
              </a:lnSpc>
            </a:pPr>
            <a:r>
              <a:rPr sz="675" b="1" i="0" spc="195">
                <a:solidFill>
                  <a:srgbClr val="8C6239"/>
                </a:solidFill>
                <a:latin typeface="Calibri"/>
              </a:rPr>
              <a:t>HEALTHCARE | QUARTERLY INDUSTRY REPORT</a:t>
            </a:r>
          </a:p>
        </p:txBody>
      </p:sp>
      <p:sp>
        <p:nvSpPr>
          <p:cNvPr id="4" name="Text: Q4 2026"/>
          <p:cNvSpPr txBox="1"/>
          <p:nvPr/>
        </p:nvSpPr>
        <p:spPr>
          <a:xfrm>
            <a:off x="9188648" y="361950"/>
            <a:ext cx="464939" cy="171450"/>
          </a:xfrm>
          <a:prstGeom prst="rect">
            <a:avLst/>
          </a:prstGeom>
          <a:noFill/>
        </p:spPr>
        <p:txBody>
          <a:bodyPr wrap="square" lIns="0" tIns="0" rIns="0" bIns="0" anchor="t">
            <a:spAutoFit/>
          </a:bodyPr>
          <a:lstStyle/>
          <a:p>
            <a:pPr algn="l">
              <a:lnSpc>
                <a:spcPts val="1350"/>
              </a:lnSpc>
            </a:pPr>
            <a:r>
              <a:rPr sz="900" b="0" i="0" spc="90">
                <a:solidFill>
                  <a:srgbClr val="6F6A66"/>
                </a:solidFill>
                <a:latin typeface="Cambria"/>
              </a:rPr>
              <a:t>Q4 2026</a:t>
            </a:r>
          </a:p>
        </p:txBody>
      </p:sp>
      <p:sp>
        <p:nvSpPr>
          <p:cNvPr id="5" name="Text: Benchmark International's Healthca"/>
          <p:cNvSpPr txBox="1"/>
          <p:nvPr/>
        </p:nvSpPr>
        <p:spPr>
          <a:xfrm>
            <a:off x="419100" y="523875"/>
            <a:ext cx="9234488" cy="323850"/>
          </a:xfrm>
          <a:prstGeom prst="rect">
            <a:avLst/>
          </a:prstGeom>
          <a:noFill/>
        </p:spPr>
        <p:txBody>
          <a:bodyPr wrap="square" lIns="0" tIns="0" rIns="0" bIns="0" anchor="t">
            <a:spAutoFit/>
          </a:bodyPr>
          <a:lstStyle/>
          <a:p>
            <a:pPr algn="l">
              <a:lnSpc>
                <a:spcPts val="2550"/>
              </a:lnSpc>
            </a:pPr>
            <a:r>
              <a:rPr sz="2025" b="1" i="0">
                <a:solidFill>
                  <a:srgbClr val="1B1A1A"/>
                </a:solidFill>
                <a:latin typeface="Cambria"/>
              </a:rPr>
              <a:t>Benchmark International's Healthcare Transactions</a:t>
            </a:r>
          </a:p>
        </p:txBody>
      </p:sp>
      <p:sp>
        <p:nvSpPr>
          <p:cNvPr id="6" name="Text: Pharmacy and healthcare services l"/>
          <p:cNvSpPr txBox="1"/>
          <p:nvPr/>
        </p:nvSpPr>
        <p:spPr>
          <a:xfrm>
            <a:off x="419100" y="885825"/>
            <a:ext cx="10215086" cy="180975"/>
          </a:xfrm>
          <a:prstGeom prst="rect">
            <a:avLst/>
          </a:prstGeom>
          <a:noFill/>
        </p:spPr>
        <p:txBody>
          <a:bodyPr wrap="square" lIns="0" tIns="0" rIns="0" bIns="0" anchor="t">
            <a:spAutoFit/>
          </a:bodyPr>
          <a:lstStyle/>
          <a:p>
            <a:pPr algn="l">
              <a:lnSpc>
                <a:spcPts val="1388"/>
              </a:lnSpc>
            </a:pPr>
            <a:r>
              <a:rPr sz="938" b="0" i="0" spc="15">
                <a:solidFill>
                  <a:srgbClr val="6F6A66"/>
                </a:solidFill>
                <a:latin typeface="Calibri"/>
              </a:rPr>
              <a:t>Pharmacy and healthcare services leads with five closed transactions, life sciences and diagnostics follows with four, and most buyers were operating companies.</a:t>
            </a:r>
          </a:p>
        </p:txBody>
      </p:sp>
      <p:sp>
        <p:nvSpPr>
          <p:cNvPr id="7" name="Rectangle 6"/>
          <p:cNvSpPr/>
          <p:nvPr/>
        </p:nvSpPr>
        <p:spPr>
          <a:xfrm>
            <a:off x="419100" y="1143000"/>
            <a:ext cx="9220200" cy="9525"/>
          </a:xfrm>
          <a:prstGeom prst="rect">
            <a:avLst/>
          </a:prstGeom>
          <a:solidFill>
            <a:srgbClr val="E3DCD3"/>
          </a:solidFill>
          <a:ln>
            <a:noFill/>
          </a:ln>
          <a:effectLst/>
        </p:spPr>
        <p:txBody>
          <a:bodyPr rtlCol="0" anchor="ctr"/>
          <a:lstStyle/>
          <a:p>
            <a:pPr algn="ctr"/>
            <a:endParaRPr/>
          </a:p>
        </p:txBody>
      </p:sp>
      <p:sp>
        <p:nvSpPr>
          <p:cNvPr id="8" name="Rectangle 7"/>
          <p:cNvSpPr/>
          <p:nvPr/>
        </p:nvSpPr>
        <p:spPr>
          <a:xfrm>
            <a:off x="419100" y="1238250"/>
            <a:ext cx="1943100" cy="5695950"/>
          </a:xfrm>
          <a:prstGeom prst="rect">
            <a:avLst/>
          </a:prstGeom>
          <a:solidFill>
            <a:srgbClr val="1B1A1A"/>
          </a:solidFill>
          <a:ln>
            <a:noFill/>
          </a:ln>
          <a:effectLst/>
        </p:spPr>
        <p:txBody>
          <a:bodyPr rtlCol="0" anchor="ctr"/>
          <a:lstStyle/>
          <a:p>
            <a:pPr algn="ctr"/>
            <a:endParaRPr/>
          </a:p>
        </p:txBody>
      </p:sp>
      <p:pic>
        <p:nvPicPr>
          <p:cNvPr id="9" name="Picture 8" descr="knot-dark.jpg"/>
          <p:cNvPicPr>
            <a:picLocks noChangeAspect="1"/>
          </p:cNvPicPr>
          <p:nvPr/>
        </p:nvPicPr>
        <p:blipFill>
          <a:blip r:embed="rId2">
            <a:alphaModFix amt="50000"/>
          </a:blip>
          <a:srcRect l="30109" t="1500" r="51277" b="1500"/>
          <a:stretch>
            <a:fillRect/>
          </a:stretch>
        </p:blipFill>
        <p:spPr>
          <a:xfrm>
            <a:off x="419100" y="1238250"/>
            <a:ext cx="1943100" cy="5695950"/>
          </a:xfrm>
          <a:prstGeom prst="rect">
            <a:avLst/>
          </a:prstGeom>
        </p:spPr>
      </p:pic>
      <p:sp>
        <p:nvSpPr>
          <p:cNvPr id="10" name="Text: TRAILING 24 MONTHS"/>
          <p:cNvSpPr txBox="1"/>
          <p:nvPr/>
        </p:nvSpPr>
        <p:spPr>
          <a:xfrm>
            <a:off x="609600" y="1466850"/>
            <a:ext cx="1576388" cy="123825"/>
          </a:xfrm>
          <a:prstGeom prst="rect">
            <a:avLst/>
          </a:prstGeom>
          <a:noFill/>
        </p:spPr>
        <p:txBody>
          <a:bodyPr wrap="square" lIns="0" tIns="0" rIns="0" bIns="0" anchor="t">
            <a:spAutoFit/>
          </a:bodyPr>
          <a:lstStyle/>
          <a:p>
            <a:pPr algn="l">
              <a:lnSpc>
                <a:spcPts val="975"/>
              </a:lnSpc>
            </a:pPr>
            <a:r>
              <a:rPr sz="675" b="1" i="0" spc="150">
                <a:solidFill>
                  <a:srgbClr val="D3AE84"/>
                </a:solidFill>
                <a:latin typeface="Calibri"/>
              </a:rPr>
              <a:t>TRAILING 24 MONTHS</a:t>
            </a:r>
          </a:p>
        </p:txBody>
      </p:sp>
      <p:sp>
        <p:nvSpPr>
          <p:cNvPr id="11" name="Rectangle 10"/>
          <p:cNvSpPr/>
          <p:nvPr/>
        </p:nvSpPr>
        <p:spPr>
          <a:xfrm>
            <a:off x="609600" y="1685925"/>
            <a:ext cx="1562100" cy="9525"/>
          </a:xfrm>
          <a:prstGeom prst="rect">
            <a:avLst/>
          </a:prstGeom>
          <a:solidFill>
            <a:srgbClr val="FFFFFF">
              <a:alpha val="16000"/>
            </a:srgbClr>
          </a:solidFill>
          <a:ln>
            <a:noFill/>
          </a:ln>
          <a:effectLst/>
        </p:spPr>
        <p:txBody>
          <a:bodyPr rtlCol="0" anchor="ctr"/>
          <a:lstStyle/>
          <a:p>
            <a:pPr algn="ctr"/>
            <a:endParaRPr/>
          </a:p>
        </p:txBody>
      </p:sp>
      <p:sp>
        <p:nvSpPr>
          <p:cNvPr id="12" name="Text: 12"/>
          <p:cNvSpPr txBox="1"/>
          <p:nvPr/>
        </p:nvSpPr>
        <p:spPr>
          <a:xfrm>
            <a:off x="609600" y="1828800"/>
            <a:ext cx="1576388" cy="342900"/>
          </a:xfrm>
          <a:prstGeom prst="rect">
            <a:avLst/>
          </a:prstGeom>
          <a:noFill/>
        </p:spPr>
        <p:txBody>
          <a:bodyPr wrap="square" lIns="0" tIns="0" rIns="0" bIns="0" anchor="t">
            <a:spAutoFit/>
          </a:bodyPr>
          <a:lstStyle/>
          <a:p>
            <a:pPr algn="l">
              <a:lnSpc>
                <a:spcPts val="2700"/>
              </a:lnSpc>
            </a:pPr>
            <a:r>
              <a:rPr sz="2550" b="1" i="0">
                <a:solidFill>
                  <a:srgbClr val="D3AE84"/>
                </a:solidFill>
                <a:latin typeface="Cambria"/>
              </a:rPr>
              <a:t>12</a:t>
            </a:r>
          </a:p>
        </p:txBody>
      </p:sp>
      <p:sp>
        <p:nvSpPr>
          <p:cNvPr id="13" name="Text: transactions closed in these four "/>
          <p:cNvSpPr txBox="1"/>
          <p:nvPr/>
        </p:nvSpPr>
        <p:spPr>
          <a:xfrm>
            <a:off x="609600" y="2209800"/>
            <a:ext cx="1576388" cy="323850"/>
          </a:xfrm>
          <a:prstGeom prst="rect">
            <a:avLst/>
          </a:prstGeom>
          <a:noFill/>
        </p:spPr>
        <p:txBody>
          <a:bodyPr wrap="square" lIns="0" tIns="0" rIns="0" bIns="0" anchor="t">
            <a:spAutoFit/>
          </a:bodyPr>
          <a:lstStyle/>
          <a:p>
            <a:pPr algn="l">
              <a:lnSpc>
                <a:spcPts val="1275"/>
              </a:lnSpc>
            </a:pPr>
            <a:r>
              <a:rPr sz="861" b="0" i="0" spc="15">
                <a:solidFill>
                  <a:srgbClr val="E8E2DA"/>
                </a:solidFill>
                <a:latin typeface="Calibri"/>
              </a:rPr>
              <a:t>transactions closed in these four sectors</a:t>
            </a:r>
          </a:p>
        </p:txBody>
      </p:sp>
      <p:sp>
        <p:nvSpPr>
          <p:cNvPr id="14" name="Rectangle 13"/>
          <p:cNvSpPr/>
          <p:nvPr/>
        </p:nvSpPr>
        <p:spPr>
          <a:xfrm>
            <a:off x="609600" y="2667000"/>
            <a:ext cx="1562100" cy="9525"/>
          </a:xfrm>
          <a:prstGeom prst="rect">
            <a:avLst/>
          </a:prstGeom>
          <a:solidFill>
            <a:srgbClr val="FFFFFF">
              <a:alpha val="16000"/>
            </a:srgbClr>
          </a:solidFill>
          <a:ln>
            <a:noFill/>
          </a:ln>
          <a:effectLst/>
        </p:spPr>
        <p:txBody>
          <a:bodyPr rtlCol="0" anchor="ctr"/>
          <a:lstStyle/>
          <a:p>
            <a:pPr algn="ctr"/>
            <a:endParaRPr/>
          </a:p>
        </p:txBody>
      </p:sp>
      <p:sp>
        <p:nvSpPr>
          <p:cNvPr id="15" name="Text: 39"/>
          <p:cNvSpPr txBox="1"/>
          <p:nvPr/>
        </p:nvSpPr>
        <p:spPr>
          <a:xfrm>
            <a:off x="609600" y="2809875"/>
            <a:ext cx="1576388" cy="342900"/>
          </a:xfrm>
          <a:prstGeom prst="rect">
            <a:avLst/>
          </a:prstGeom>
          <a:noFill/>
        </p:spPr>
        <p:txBody>
          <a:bodyPr wrap="square" lIns="0" tIns="0" rIns="0" bIns="0" anchor="t">
            <a:spAutoFit/>
          </a:bodyPr>
          <a:lstStyle/>
          <a:p>
            <a:pPr algn="l">
              <a:lnSpc>
                <a:spcPts val="2700"/>
              </a:lnSpc>
            </a:pPr>
            <a:r>
              <a:rPr sz="2550" b="1" i="0">
                <a:solidFill>
                  <a:srgbClr val="D3AE84"/>
                </a:solidFill>
                <a:latin typeface="Cambria"/>
              </a:rPr>
              <a:t>39</a:t>
            </a:r>
          </a:p>
        </p:txBody>
      </p:sp>
      <p:sp>
        <p:nvSpPr>
          <p:cNvPr id="16" name="Text: further engagements in progress as"/>
          <p:cNvSpPr txBox="1"/>
          <p:nvPr/>
        </p:nvSpPr>
        <p:spPr>
          <a:xfrm>
            <a:off x="609600" y="3190875"/>
            <a:ext cx="1576388" cy="485775"/>
          </a:xfrm>
          <a:prstGeom prst="rect">
            <a:avLst/>
          </a:prstGeom>
          <a:noFill/>
        </p:spPr>
        <p:txBody>
          <a:bodyPr wrap="square" lIns="0" tIns="0" rIns="0" bIns="0" anchor="t">
            <a:spAutoFit/>
          </a:bodyPr>
          <a:lstStyle/>
          <a:p>
            <a:pPr algn="l">
              <a:lnSpc>
                <a:spcPts val="1275"/>
              </a:lnSpc>
            </a:pPr>
            <a:r>
              <a:rPr sz="861" b="0" i="0" spc="15">
                <a:solidFill>
                  <a:srgbClr val="E8E2DA"/>
                </a:solidFill>
                <a:latin typeface="Calibri"/>
              </a:rPr>
              <a:t>further engagements in progress as of October 1, 2026, of which 20 are on the market</a:t>
            </a:r>
          </a:p>
        </p:txBody>
      </p:sp>
      <p:sp>
        <p:nvSpPr>
          <p:cNvPr id="17" name="Rectangle 16"/>
          <p:cNvSpPr/>
          <p:nvPr/>
        </p:nvSpPr>
        <p:spPr>
          <a:xfrm>
            <a:off x="609600" y="3810000"/>
            <a:ext cx="1562100" cy="9525"/>
          </a:xfrm>
          <a:prstGeom prst="rect">
            <a:avLst/>
          </a:prstGeom>
          <a:solidFill>
            <a:srgbClr val="FFFFFF">
              <a:alpha val="16000"/>
            </a:srgbClr>
          </a:solidFill>
          <a:ln>
            <a:noFill/>
          </a:ln>
          <a:effectLst/>
        </p:spPr>
        <p:txBody>
          <a:bodyPr rtlCol="0" anchor="ctr"/>
          <a:lstStyle/>
          <a:p>
            <a:pPr algn="ctr"/>
            <a:endParaRPr/>
          </a:p>
        </p:txBody>
      </p:sp>
      <p:sp>
        <p:nvSpPr>
          <p:cNvPr id="18" name="Text: 6 of 9"/>
          <p:cNvSpPr txBox="1"/>
          <p:nvPr/>
        </p:nvSpPr>
        <p:spPr>
          <a:xfrm>
            <a:off x="609600" y="3952875"/>
            <a:ext cx="1576388" cy="342900"/>
          </a:xfrm>
          <a:prstGeom prst="rect">
            <a:avLst/>
          </a:prstGeom>
          <a:noFill/>
        </p:spPr>
        <p:txBody>
          <a:bodyPr wrap="square" lIns="0" tIns="0" rIns="0" bIns="0" anchor="t">
            <a:spAutoFit/>
          </a:bodyPr>
          <a:lstStyle/>
          <a:p>
            <a:pPr algn="l">
              <a:lnSpc>
                <a:spcPts val="2700"/>
              </a:lnSpc>
            </a:pPr>
            <a:r>
              <a:rPr sz="2550" b="1" i="0">
                <a:solidFill>
                  <a:srgbClr val="D3AE84"/>
                </a:solidFill>
                <a:latin typeface="Cambria"/>
              </a:rPr>
              <a:t>6 of 9</a:t>
            </a:r>
          </a:p>
        </p:txBody>
      </p:sp>
      <p:sp>
        <p:nvSpPr>
          <p:cNvPr id="19" name="Text: named sellers were bought by an op"/>
          <p:cNvSpPr txBox="1"/>
          <p:nvPr/>
        </p:nvSpPr>
        <p:spPr>
          <a:xfrm>
            <a:off x="609600" y="4333875"/>
            <a:ext cx="1576388" cy="323850"/>
          </a:xfrm>
          <a:prstGeom prst="rect">
            <a:avLst/>
          </a:prstGeom>
          <a:noFill/>
        </p:spPr>
        <p:txBody>
          <a:bodyPr wrap="square" lIns="0" tIns="0" rIns="0" bIns="0" anchor="t">
            <a:spAutoFit/>
          </a:bodyPr>
          <a:lstStyle/>
          <a:p>
            <a:pPr algn="l">
              <a:lnSpc>
                <a:spcPts val="1275"/>
              </a:lnSpc>
            </a:pPr>
            <a:r>
              <a:rPr sz="861" b="0" i="0" spc="15">
                <a:solidFill>
                  <a:srgbClr val="E8E2DA"/>
                </a:solidFill>
                <a:latin typeface="Calibri"/>
              </a:rPr>
              <a:t>named sellers were bought by an operating company</a:t>
            </a:r>
          </a:p>
        </p:txBody>
      </p:sp>
      <p:sp>
        <p:nvSpPr>
          <p:cNvPr id="20" name="Rectangle 19"/>
          <p:cNvSpPr/>
          <p:nvPr/>
        </p:nvSpPr>
        <p:spPr>
          <a:xfrm>
            <a:off x="609600" y="5776912"/>
            <a:ext cx="1562100" cy="9525"/>
          </a:xfrm>
          <a:prstGeom prst="rect">
            <a:avLst/>
          </a:prstGeom>
          <a:solidFill>
            <a:srgbClr val="FFFFFF">
              <a:alpha val="16000"/>
            </a:srgbClr>
          </a:solidFill>
          <a:ln>
            <a:noFill/>
          </a:ln>
          <a:effectLst/>
        </p:spPr>
        <p:txBody>
          <a:bodyPr rtlCol="0" anchor="ctr"/>
          <a:lstStyle/>
          <a:p>
            <a:pPr algn="ctr"/>
            <a:endParaRPr/>
          </a:p>
        </p:txBody>
      </p:sp>
      <p:sp>
        <p:nvSpPr>
          <p:cNvPr id="21" name="Text: Ranked the leading privately owned"/>
          <p:cNvSpPr txBox="1"/>
          <p:nvPr/>
        </p:nvSpPr>
        <p:spPr>
          <a:xfrm>
            <a:off x="609600" y="5919788"/>
            <a:ext cx="1576388" cy="785812"/>
          </a:xfrm>
          <a:prstGeom prst="rect">
            <a:avLst/>
          </a:prstGeom>
          <a:noFill/>
        </p:spPr>
        <p:txBody>
          <a:bodyPr wrap="square" lIns="0" tIns="0" rIns="0" bIns="0" anchor="t">
            <a:spAutoFit/>
          </a:bodyPr>
          <a:lstStyle/>
          <a:p>
            <a:pPr algn="l">
              <a:lnSpc>
                <a:spcPts val="1238"/>
              </a:lnSpc>
            </a:pPr>
            <a:r>
              <a:rPr sz="825" b="0" i="0" spc="15">
                <a:solidFill>
                  <a:srgbClr val="E8E2DA"/>
                </a:solidFill>
                <a:latin typeface="Calibri"/>
              </a:rPr>
              <a:t>Ranked the leading privately owned sell-side M&amp;A advisor in the world in PitchBook's Q2 2026 Global League Tables (</a:t>
            </a:r>
            <a:r>
              <a:rPr sz="825" b="0" i="0" spc="15">
                <a:solidFill>
                  <a:srgbClr val="D3AE84"/>
                </a:solidFill>
                <a:latin typeface="Calibri"/>
                <a:hlinkClick r:id="rId3">
                  <a:extLst>
                    <a:ext uri="{A12FA001-AC4F-418D-AE19-62706E023703}">
                      <ahyp:hlinkClr xmlns:ahyp="http://schemas.microsoft.com/office/drawing/2018/hyperlinkcolor" val="tx"/>
                    </a:ext>
                  </a:extLst>
                </a:hlinkClick>
              </a:rPr>
              <a:t>Benchmark International</a:t>
            </a:r>
            <a:r>
              <a:rPr sz="825" b="0" i="0" spc="15">
                <a:solidFill>
                  <a:srgbClr val="E8E2DA"/>
                </a:solidFill>
                <a:latin typeface="Calibri"/>
              </a:rPr>
              <a:t>).</a:t>
            </a:r>
          </a:p>
        </p:txBody>
      </p:sp>
      <p:sp>
        <p:nvSpPr>
          <p:cNvPr id="22" name="Rectangle 21"/>
          <p:cNvSpPr/>
          <p:nvPr/>
        </p:nvSpPr>
        <p:spPr>
          <a:xfrm>
            <a:off x="2514600" y="1238250"/>
            <a:ext cx="2298650" cy="1822400"/>
          </a:xfrm>
          <a:prstGeom prst="rect">
            <a:avLst/>
          </a:prstGeom>
          <a:solidFill>
            <a:srgbClr val="FFFFFF"/>
          </a:solidFill>
          <a:ln>
            <a:noFill/>
          </a:ln>
          <a:effectLst/>
        </p:spPr>
        <p:txBody>
          <a:bodyPr rtlCol="0" anchor="ctr"/>
          <a:lstStyle/>
          <a:p>
            <a:pPr algn="ctr"/>
            <a:endParaRPr/>
          </a:p>
        </p:txBody>
      </p:sp>
      <p:sp>
        <p:nvSpPr>
          <p:cNvPr id="23" name="Rectangle 22"/>
          <p:cNvSpPr/>
          <p:nvPr/>
        </p:nvSpPr>
        <p:spPr>
          <a:xfrm>
            <a:off x="2514600" y="1238250"/>
            <a:ext cx="2298650" cy="28575"/>
          </a:xfrm>
          <a:prstGeom prst="rect">
            <a:avLst/>
          </a:prstGeom>
          <a:solidFill>
            <a:srgbClr val="B68757"/>
          </a:solidFill>
          <a:ln>
            <a:noFill/>
          </a:ln>
          <a:effectLst/>
        </p:spPr>
        <p:txBody>
          <a:bodyPr rtlCol="0" anchor="ctr"/>
          <a:lstStyle/>
          <a:p>
            <a:pPr algn="ctr"/>
            <a:endParaRPr/>
          </a:p>
        </p:txBody>
      </p:sp>
      <p:sp>
        <p:nvSpPr>
          <p:cNvPr id="24" name="Rectangle 23"/>
          <p:cNvSpPr/>
          <p:nvPr/>
        </p:nvSpPr>
        <p:spPr>
          <a:xfrm>
            <a:off x="4803725" y="1238250"/>
            <a:ext cx="9525" cy="1822400"/>
          </a:xfrm>
          <a:prstGeom prst="rect">
            <a:avLst/>
          </a:prstGeom>
          <a:solidFill>
            <a:srgbClr val="E3DCD3"/>
          </a:solidFill>
          <a:ln>
            <a:noFill/>
          </a:ln>
          <a:effectLst/>
        </p:spPr>
        <p:txBody>
          <a:bodyPr rtlCol="0" anchor="ctr"/>
          <a:lstStyle/>
          <a:p>
            <a:pPr algn="ctr"/>
            <a:endParaRPr/>
          </a:p>
        </p:txBody>
      </p:sp>
      <p:sp>
        <p:nvSpPr>
          <p:cNvPr id="25" name="Rectangle 24"/>
          <p:cNvSpPr/>
          <p:nvPr/>
        </p:nvSpPr>
        <p:spPr>
          <a:xfrm>
            <a:off x="2514600" y="3051125"/>
            <a:ext cx="2298650" cy="9525"/>
          </a:xfrm>
          <a:prstGeom prst="rect">
            <a:avLst/>
          </a:prstGeom>
          <a:solidFill>
            <a:srgbClr val="E3DCD3"/>
          </a:solidFill>
          <a:ln>
            <a:noFill/>
          </a:ln>
          <a:effectLst/>
        </p:spPr>
        <p:txBody>
          <a:bodyPr rtlCol="0" anchor="ctr"/>
          <a:lstStyle/>
          <a:p>
            <a:pPr algn="ctr"/>
            <a:endParaRPr/>
          </a:p>
        </p:txBody>
      </p:sp>
      <p:sp>
        <p:nvSpPr>
          <p:cNvPr id="26" name="Rectangle 25"/>
          <p:cNvSpPr/>
          <p:nvPr/>
        </p:nvSpPr>
        <p:spPr>
          <a:xfrm>
            <a:off x="2514600" y="1238250"/>
            <a:ext cx="9525" cy="1822400"/>
          </a:xfrm>
          <a:prstGeom prst="rect">
            <a:avLst/>
          </a:prstGeom>
          <a:solidFill>
            <a:srgbClr val="E3DCD3"/>
          </a:solidFill>
          <a:ln>
            <a:noFill/>
          </a:ln>
          <a:effectLst/>
        </p:spPr>
        <p:txBody>
          <a:bodyPr rtlCol="0" anchor="ctr"/>
          <a:lstStyle/>
          <a:p>
            <a:pPr algn="ctr"/>
            <a:endParaRPr/>
          </a:p>
        </p:txBody>
      </p:sp>
      <p:sp>
        <p:nvSpPr>
          <p:cNvPr id="27" name="Rectangle 26"/>
          <p:cNvSpPr/>
          <p:nvPr/>
        </p:nvSpPr>
        <p:spPr>
          <a:xfrm>
            <a:off x="2638425" y="1362075"/>
            <a:ext cx="2051000" cy="419100"/>
          </a:xfrm>
          <a:prstGeom prst="rect">
            <a:avLst/>
          </a:prstGeom>
          <a:solidFill>
            <a:srgbClr val="FFFFFF"/>
          </a:solidFill>
          <a:ln>
            <a:noFill/>
          </a:ln>
          <a:effectLst/>
        </p:spPr>
        <p:txBody>
          <a:bodyPr rtlCol="0" anchor="ctr"/>
          <a:lstStyle/>
          <a:p>
            <a:pPr algn="ctr"/>
            <a:endParaRPr/>
          </a:p>
        </p:txBody>
      </p:sp>
      <p:sp>
        <p:nvSpPr>
          <p:cNvPr id="28" name="Rectangle 27"/>
          <p:cNvSpPr/>
          <p:nvPr/>
        </p:nvSpPr>
        <p:spPr>
          <a:xfrm>
            <a:off x="2638425" y="1362075"/>
            <a:ext cx="2051000" cy="9525"/>
          </a:xfrm>
          <a:prstGeom prst="rect">
            <a:avLst/>
          </a:prstGeom>
          <a:solidFill>
            <a:srgbClr val="E3DCD3"/>
          </a:solidFill>
          <a:ln>
            <a:noFill/>
          </a:ln>
          <a:effectLst/>
        </p:spPr>
        <p:txBody>
          <a:bodyPr rtlCol="0" anchor="ctr"/>
          <a:lstStyle/>
          <a:p>
            <a:pPr algn="ctr"/>
            <a:endParaRPr/>
          </a:p>
        </p:txBody>
      </p:sp>
      <p:sp>
        <p:nvSpPr>
          <p:cNvPr id="29" name="Rectangle 28"/>
          <p:cNvSpPr/>
          <p:nvPr/>
        </p:nvSpPr>
        <p:spPr>
          <a:xfrm>
            <a:off x="4679900" y="1362075"/>
            <a:ext cx="9525" cy="419100"/>
          </a:xfrm>
          <a:prstGeom prst="rect">
            <a:avLst/>
          </a:prstGeom>
          <a:solidFill>
            <a:srgbClr val="E3DCD3"/>
          </a:solidFill>
          <a:ln>
            <a:noFill/>
          </a:ln>
          <a:effectLst/>
        </p:spPr>
        <p:txBody>
          <a:bodyPr rtlCol="0" anchor="ctr"/>
          <a:lstStyle/>
          <a:p>
            <a:pPr algn="ctr"/>
            <a:endParaRPr/>
          </a:p>
        </p:txBody>
      </p:sp>
      <p:sp>
        <p:nvSpPr>
          <p:cNvPr id="30" name="Rectangle 29"/>
          <p:cNvSpPr/>
          <p:nvPr/>
        </p:nvSpPr>
        <p:spPr>
          <a:xfrm>
            <a:off x="2638425" y="1771650"/>
            <a:ext cx="2051000" cy="9525"/>
          </a:xfrm>
          <a:prstGeom prst="rect">
            <a:avLst/>
          </a:prstGeom>
          <a:solidFill>
            <a:srgbClr val="E3DCD3"/>
          </a:solidFill>
          <a:ln>
            <a:noFill/>
          </a:ln>
          <a:effectLst/>
        </p:spPr>
        <p:txBody>
          <a:bodyPr rtlCol="0" anchor="ctr"/>
          <a:lstStyle/>
          <a:p>
            <a:pPr algn="ctr"/>
            <a:endParaRPr/>
          </a:p>
        </p:txBody>
      </p:sp>
      <p:sp>
        <p:nvSpPr>
          <p:cNvPr id="31" name="Rectangle 30"/>
          <p:cNvSpPr/>
          <p:nvPr/>
        </p:nvSpPr>
        <p:spPr>
          <a:xfrm>
            <a:off x="2638425" y="1362075"/>
            <a:ext cx="9525" cy="419100"/>
          </a:xfrm>
          <a:prstGeom prst="rect">
            <a:avLst/>
          </a:prstGeom>
          <a:solidFill>
            <a:srgbClr val="E3DCD3"/>
          </a:solidFill>
          <a:ln>
            <a:noFill/>
          </a:ln>
          <a:effectLst/>
        </p:spPr>
        <p:txBody>
          <a:bodyPr rtlCol="0" anchor="ctr"/>
          <a:lstStyle/>
          <a:p>
            <a:pPr algn="ctr"/>
            <a:endParaRPr/>
          </a:p>
        </p:txBody>
      </p:sp>
      <p:sp>
        <p:nvSpPr>
          <p:cNvPr id="32" name="Text: PRECISE BIOSCIENCE">
            <a:hlinkClick r:id="rId4"/>
          </p:cNvPr>
          <p:cNvSpPr txBox="1"/>
          <p:nvPr/>
        </p:nvSpPr>
        <p:spPr>
          <a:xfrm>
            <a:off x="3228529" y="1509712"/>
            <a:ext cx="885081" cy="123825"/>
          </a:xfrm>
          <a:prstGeom prst="rect">
            <a:avLst/>
          </a:prstGeom>
          <a:noFill/>
        </p:spPr>
        <p:txBody>
          <a:bodyPr wrap="square" lIns="0" tIns="0" rIns="0" bIns="0" anchor="t">
            <a:spAutoFit/>
          </a:bodyPr>
          <a:lstStyle/>
          <a:p>
            <a:pPr algn="ctr">
              <a:lnSpc>
                <a:spcPts val="975"/>
              </a:lnSpc>
            </a:pPr>
            <a:r>
              <a:rPr sz="712" b="1" i="0" spc="45">
                <a:solidFill>
                  <a:srgbClr val="1B1A1A"/>
                </a:solidFill>
                <a:latin typeface="Calibri"/>
              </a:rPr>
              <a:t>PRECISE BIOSCIENCE</a:t>
            </a:r>
          </a:p>
        </p:txBody>
      </p:sp>
      <p:sp>
        <p:nvSpPr>
          <p:cNvPr id="33" name="Text: HAS BEEN ACQUIRED BY">
            <a:hlinkClick r:id="rId4"/>
          </p:cNvPr>
          <p:cNvSpPr txBox="1"/>
          <p:nvPr/>
        </p:nvSpPr>
        <p:spPr>
          <a:xfrm>
            <a:off x="2638425" y="1781175"/>
            <a:ext cx="2065288" cy="161925"/>
          </a:xfrm>
          <a:prstGeom prst="rect">
            <a:avLst/>
          </a:prstGeom>
          <a:noFill/>
        </p:spPr>
        <p:txBody>
          <a:bodyPr wrap="square" lIns="0" tIns="0" rIns="0" bIns="0" anchor="t">
            <a:spAutoFit/>
          </a:bodyPr>
          <a:lstStyle/>
          <a:p>
            <a:pPr algn="ctr">
              <a:lnSpc>
                <a:spcPts val="1275"/>
              </a:lnSpc>
            </a:pPr>
            <a:r>
              <a:rPr sz="600" b="0" i="0" spc="112">
                <a:solidFill>
                  <a:srgbClr val="6F6A66"/>
                </a:solidFill>
                <a:latin typeface="Calibri"/>
              </a:rPr>
              <a:t>HAS BEEN ACQUIRED BY</a:t>
            </a:r>
          </a:p>
        </p:txBody>
      </p:sp>
      <p:sp>
        <p:nvSpPr>
          <p:cNvPr id="34" name="Rectangle 33"/>
          <p:cNvSpPr/>
          <p:nvPr/>
        </p:nvSpPr>
        <p:spPr>
          <a:xfrm>
            <a:off x="2638425" y="1943100"/>
            <a:ext cx="2051000" cy="419100"/>
          </a:xfrm>
          <a:prstGeom prst="rect">
            <a:avLst/>
          </a:prstGeom>
          <a:solidFill>
            <a:srgbClr val="FFFFFF"/>
          </a:solidFill>
          <a:ln>
            <a:noFill/>
          </a:ln>
          <a:effectLst/>
        </p:spPr>
        <p:txBody>
          <a:bodyPr rtlCol="0" anchor="ctr"/>
          <a:lstStyle/>
          <a:p>
            <a:pPr algn="ctr"/>
            <a:endParaRPr/>
          </a:p>
        </p:txBody>
      </p:sp>
      <p:sp>
        <p:nvSpPr>
          <p:cNvPr id="35" name="Rectangle 34"/>
          <p:cNvSpPr/>
          <p:nvPr/>
        </p:nvSpPr>
        <p:spPr>
          <a:xfrm>
            <a:off x="2638425" y="1943100"/>
            <a:ext cx="2051000" cy="9525"/>
          </a:xfrm>
          <a:prstGeom prst="rect">
            <a:avLst/>
          </a:prstGeom>
          <a:solidFill>
            <a:srgbClr val="E3DCD3"/>
          </a:solidFill>
          <a:ln>
            <a:noFill/>
          </a:ln>
          <a:effectLst/>
        </p:spPr>
        <p:txBody>
          <a:bodyPr rtlCol="0" anchor="ctr"/>
          <a:lstStyle/>
          <a:p>
            <a:pPr algn="ctr"/>
            <a:endParaRPr/>
          </a:p>
        </p:txBody>
      </p:sp>
      <p:sp>
        <p:nvSpPr>
          <p:cNvPr id="36" name="Rectangle 35"/>
          <p:cNvSpPr/>
          <p:nvPr/>
        </p:nvSpPr>
        <p:spPr>
          <a:xfrm>
            <a:off x="4679900" y="1943100"/>
            <a:ext cx="9525" cy="419100"/>
          </a:xfrm>
          <a:prstGeom prst="rect">
            <a:avLst/>
          </a:prstGeom>
          <a:solidFill>
            <a:srgbClr val="E3DCD3"/>
          </a:solidFill>
          <a:ln>
            <a:noFill/>
          </a:ln>
          <a:effectLst/>
        </p:spPr>
        <p:txBody>
          <a:bodyPr rtlCol="0" anchor="ctr"/>
          <a:lstStyle/>
          <a:p>
            <a:pPr algn="ctr"/>
            <a:endParaRPr/>
          </a:p>
        </p:txBody>
      </p:sp>
      <p:sp>
        <p:nvSpPr>
          <p:cNvPr id="37" name="Rectangle 36"/>
          <p:cNvSpPr/>
          <p:nvPr/>
        </p:nvSpPr>
        <p:spPr>
          <a:xfrm>
            <a:off x="2638425" y="2352675"/>
            <a:ext cx="2051000" cy="9525"/>
          </a:xfrm>
          <a:prstGeom prst="rect">
            <a:avLst/>
          </a:prstGeom>
          <a:solidFill>
            <a:srgbClr val="E3DCD3"/>
          </a:solidFill>
          <a:ln>
            <a:noFill/>
          </a:ln>
          <a:effectLst/>
        </p:spPr>
        <p:txBody>
          <a:bodyPr rtlCol="0" anchor="ctr"/>
          <a:lstStyle/>
          <a:p>
            <a:pPr algn="ctr"/>
            <a:endParaRPr/>
          </a:p>
        </p:txBody>
      </p:sp>
      <p:sp>
        <p:nvSpPr>
          <p:cNvPr id="38" name="Rectangle 37"/>
          <p:cNvSpPr/>
          <p:nvPr/>
        </p:nvSpPr>
        <p:spPr>
          <a:xfrm>
            <a:off x="2638425" y="1943100"/>
            <a:ext cx="9525" cy="419100"/>
          </a:xfrm>
          <a:prstGeom prst="rect">
            <a:avLst/>
          </a:prstGeom>
          <a:solidFill>
            <a:srgbClr val="E3DCD3"/>
          </a:solidFill>
          <a:ln>
            <a:noFill/>
          </a:ln>
          <a:effectLst/>
        </p:spPr>
        <p:txBody>
          <a:bodyPr rtlCol="0" anchor="ctr"/>
          <a:lstStyle/>
          <a:p>
            <a:pPr algn="ctr"/>
            <a:endParaRPr/>
          </a:p>
        </p:txBody>
      </p:sp>
      <p:sp>
        <p:nvSpPr>
          <p:cNvPr id="39" name="Text: NEW HORIZON MEDICAL SOLUTIONS">
            <a:hlinkClick r:id="rId4"/>
          </p:cNvPr>
          <p:cNvSpPr txBox="1"/>
          <p:nvPr/>
        </p:nvSpPr>
        <p:spPr>
          <a:xfrm>
            <a:off x="2890838" y="2090738"/>
            <a:ext cx="1560314" cy="123825"/>
          </a:xfrm>
          <a:prstGeom prst="rect">
            <a:avLst/>
          </a:prstGeom>
          <a:noFill/>
        </p:spPr>
        <p:txBody>
          <a:bodyPr wrap="square" lIns="0" tIns="0" rIns="0" bIns="0" anchor="t">
            <a:spAutoFit/>
          </a:bodyPr>
          <a:lstStyle/>
          <a:p>
            <a:pPr algn="ctr">
              <a:lnSpc>
                <a:spcPts val="975"/>
              </a:lnSpc>
            </a:pPr>
            <a:r>
              <a:rPr sz="712" b="1" i="0" spc="45">
                <a:solidFill>
                  <a:srgbClr val="1B1A1A"/>
                </a:solidFill>
                <a:latin typeface="Calibri"/>
              </a:rPr>
              <a:t>NEW HORIZON MEDICAL SOLUTIONS</a:t>
            </a:r>
          </a:p>
        </p:txBody>
      </p:sp>
      <p:sp>
        <p:nvSpPr>
          <p:cNvPr id="40" name="Text: Amniotic membrane allografts for w">
            <a:hlinkClick r:id="rId4"/>
          </p:cNvPr>
          <p:cNvSpPr txBox="1"/>
          <p:nvPr/>
        </p:nvSpPr>
        <p:spPr>
          <a:xfrm>
            <a:off x="2638425" y="2447925"/>
            <a:ext cx="2065288" cy="276225"/>
          </a:xfrm>
          <a:prstGeom prst="rect">
            <a:avLst/>
          </a:prstGeom>
          <a:noFill/>
        </p:spPr>
        <p:txBody>
          <a:bodyPr wrap="square" lIns="0" tIns="0" rIns="0" bIns="0" anchor="t">
            <a:spAutoFit/>
          </a:bodyPr>
          <a:lstStyle/>
          <a:p>
            <a:pPr algn="ctr">
              <a:lnSpc>
                <a:spcPts val="1088"/>
              </a:lnSpc>
            </a:pPr>
            <a:r>
              <a:rPr sz="788" b="0" i="0" spc="15">
                <a:solidFill>
                  <a:srgbClr val="333231"/>
                </a:solidFill>
                <a:latin typeface="Calibri"/>
              </a:rPr>
              <a:t>Amniotic membrane allografts for wound care and sports medicine</a:t>
            </a:r>
          </a:p>
        </p:txBody>
      </p:sp>
      <p:sp>
        <p:nvSpPr>
          <p:cNvPr id="41" name="Text: LIFE SCIENCES &amp; DIAGNOSTICS">
            <a:hlinkClick r:id="rId4"/>
          </p:cNvPr>
          <p:cNvSpPr txBox="1"/>
          <p:nvPr/>
        </p:nvSpPr>
        <p:spPr>
          <a:xfrm>
            <a:off x="2638425" y="2860625"/>
            <a:ext cx="2065288" cy="104775"/>
          </a:xfrm>
          <a:prstGeom prst="rect">
            <a:avLst/>
          </a:prstGeom>
          <a:noFill/>
        </p:spPr>
        <p:txBody>
          <a:bodyPr wrap="square" lIns="0" tIns="0" rIns="0" bIns="0" anchor="t">
            <a:spAutoFit/>
          </a:bodyPr>
          <a:lstStyle/>
          <a:p>
            <a:pPr algn="ctr">
              <a:lnSpc>
                <a:spcPts val="825"/>
              </a:lnSpc>
            </a:pPr>
            <a:r>
              <a:rPr sz="600" b="1" i="0" spc="105">
                <a:solidFill>
                  <a:srgbClr val="8C6239"/>
                </a:solidFill>
                <a:latin typeface="Calibri"/>
              </a:rPr>
              <a:t>LIFE SCIENCES &amp; DIAGNOSTICS</a:t>
            </a:r>
          </a:p>
        </p:txBody>
      </p:sp>
      <p:sp>
        <p:nvSpPr>
          <p:cNvPr id="42" name="Rectangle 41"/>
          <p:cNvSpPr/>
          <p:nvPr/>
        </p:nvSpPr>
        <p:spPr>
          <a:xfrm>
            <a:off x="4927550" y="1238250"/>
            <a:ext cx="2298650" cy="1822400"/>
          </a:xfrm>
          <a:prstGeom prst="rect">
            <a:avLst/>
          </a:prstGeom>
          <a:solidFill>
            <a:srgbClr val="FFFFFF"/>
          </a:solidFill>
          <a:ln>
            <a:noFill/>
          </a:ln>
          <a:effectLst/>
        </p:spPr>
        <p:txBody>
          <a:bodyPr rtlCol="0" anchor="ctr"/>
          <a:lstStyle/>
          <a:p>
            <a:pPr algn="ctr"/>
            <a:endParaRPr/>
          </a:p>
        </p:txBody>
      </p:sp>
      <p:sp>
        <p:nvSpPr>
          <p:cNvPr id="43" name="Rectangle 42"/>
          <p:cNvSpPr/>
          <p:nvPr/>
        </p:nvSpPr>
        <p:spPr>
          <a:xfrm>
            <a:off x="4927550" y="1238250"/>
            <a:ext cx="2298650" cy="28575"/>
          </a:xfrm>
          <a:prstGeom prst="rect">
            <a:avLst/>
          </a:prstGeom>
          <a:solidFill>
            <a:srgbClr val="B68757"/>
          </a:solidFill>
          <a:ln>
            <a:noFill/>
          </a:ln>
          <a:effectLst/>
        </p:spPr>
        <p:txBody>
          <a:bodyPr rtlCol="0" anchor="ctr"/>
          <a:lstStyle/>
          <a:p>
            <a:pPr algn="ctr"/>
            <a:endParaRPr/>
          </a:p>
        </p:txBody>
      </p:sp>
      <p:sp>
        <p:nvSpPr>
          <p:cNvPr id="44" name="Rectangle 43"/>
          <p:cNvSpPr/>
          <p:nvPr/>
        </p:nvSpPr>
        <p:spPr>
          <a:xfrm>
            <a:off x="7216676" y="1238250"/>
            <a:ext cx="9525" cy="1822400"/>
          </a:xfrm>
          <a:prstGeom prst="rect">
            <a:avLst/>
          </a:prstGeom>
          <a:solidFill>
            <a:srgbClr val="E3DCD3"/>
          </a:solidFill>
          <a:ln>
            <a:noFill/>
          </a:ln>
          <a:effectLst/>
        </p:spPr>
        <p:txBody>
          <a:bodyPr rtlCol="0" anchor="ctr"/>
          <a:lstStyle/>
          <a:p>
            <a:pPr algn="ctr"/>
            <a:endParaRPr/>
          </a:p>
        </p:txBody>
      </p:sp>
      <p:sp>
        <p:nvSpPr>
          <p:cNvPr id="45" name="Rectangle 44"/>
          <p:cNvSpPr/>
          <p:nvPr/>
        </p:nvSpPr>
        <p:spPr>
          <a:xfrm>
            <a:off x="4927550" y="3051125"/>
            <a:ext cx="2298650" cy="9525"/>
          </a:xfrm>
          <a:prstGeom prst="rect">
            <a:avLst/>
          </a:prstGeom>
          <a:solidFill>
            <a:srgbClr val="E3DCD3"/>
          </a:solidFill>
          <a:ln>
            <a:noFill/>
          </a:ln>
          <a:effectLst/>
        </p:spPr>
        <p:txBody>
          <a:bodyPr rtlCol="0" anchor="ctr"/>
          <a:lstStyle/>
          <a:p>
            <a:pPr algn="ctr"/>
            <a:endParaRPr/>
          </a:p>
        </p:txBody>
      </p:sp>
      <p:sp>
        <p:nvSpPr>
          <p:cNvPr id="46" name="Rectangle 45"/>
          <p:cNvSpPr/>
          <p:nvPr/>
        </p:nvSpPr>
        <p:spPr>
          <a:xfrm>
            <a:off x="4927550" y="1238250"/>
            <a:ext cx="9525" cy="1822400"/>
          </a:xfrm>
          <a:prstGeom prst="rect">
            <a:avLst/>
          </a:prstGeom>
          <a:solidFill>
            <a:srgbClr val="E3DCD3"/>
          </a:solidFill>
          <a:ln>
            <a:noFill/>
          </a:ln>
          <a:effectLst/>
        </p:spPr>
        <p:txBody>
          <a:bodyPr rtlCol="0" anchor="ctr"/>
          <a:lstStyle/>
          <a:p>
            <a:pPr algn="ctr"/>
            <a:endParaRPr/>
          </a:p>
        </p:txBody>
      </p:sp>
      <p:sp>
        <p:nvSpPr>
          <p:cNvPr id="47" name="Rectangle 46"/>
          <p:cNvSpPr/>
          <p:nvPr/>
        </p:nvSpPr>
        <p:spPr>
          <a:xfrm>
            <a:off x="5051375" y="1362075"/>
            <a:ext cx="2051000" cy="419100"/>
          </a:xfrm>
          <a:prstGeom prst="rect">
            <a:avLst/>
          </a:prstGeom>
          <a:solidFill>
            <a:srgbClr val="FFFFFF"/>
          </a:solidFill>
          <a:ln>
            <a:noFill/>
          </a:ln>
          <a:effectLst/>
        </p:spPr>
        <p:txBody>
          <a:bodyPr rtlCol="0" anchor="ctr"/>
          <a:lstStyle/>
          <a:p>
            <a:pPr algn="ctr"/>
            <a:endParaRPr/>
          </a:p>
        </p:txBody>
      </p:sp>
      <p:sp>
        <p:nvSpPr>
          <p:cNvPr id="48" name="Rectangle 47"/>
          <p:cNvSpPr/>
          <p:nvPr/>
        </p:nvSpPr>
        <p:spPr>
          <a:xfrm>
            <a:off x="5051375" y="1362075"/>
            <a:ext cx="2051000" cy="9525"/>
          </a:xfrm>
          <a:prstGeom prst="rect">
            <a:avLst/>
          </a:prstGeom>
          <a:solidFill>
            <a:srgbClr val="E3DCD3"/>
          </a:solidFill>
          <a:ln>
            <a:noFill/>
          </a:ln>
          <a:effectLst/>
        </p:spPr>
        <p:txBody>
          <a:bodyPr rtlCol="0" anchor="ctr"/>
          <a:lstStyle/>
          <a:p>
            <a:pPr algn="ctr"/>
            <a:endParaRPr/>
          </a:p>
        </p:txBody>
      </p:sp>
      <p:sp>
        <p:nvSpPr>
          <p:cNvPr id="49" name="Rectangle 48"/>
          <p:cNvSpPr/>
          <p:nvPr/>
        </p:nvSpPr>
        <p:spPr>
          <a:xfrm>
            <a:off x="7092851" y="1362075"/>
            <a:ext cx="9525" cy="419100"/>
          </a:xfrm>
          <a:prstGeom prst="rect">
            <a:avLst/>
          </a:prstGeom>
          <a:solidFill>
            <a:srgbClr val="E3DCD3"/>
          </a:solidFill>
          <a:ln>
            <a:noFill/>
          </a:ln>
          <a:effectLst/>
        </p:spPr>
        <p:txBody>
          <a:bodyPr rtlCol="0" anchor="ctr"/>
          <a:lstStyle/>
          <a:p>
            <a:pPr algn="ctr"/>
            <a:endParaRPr/>
          </a:p>
        </p:txBody>
      </p:sp>
      <p:sp>
        <p:nvSpPr>
          <p:cNvPr id="50" name="Rectangle 49"/>
          <p:cNvSpPr/>
          <p:nvPr/>
        </p:nvSpPr>
        <p:spPr>
          <a:xfrm>
            <a:off x="5051375" y="1771650"/>
            <a:ext cx="2051000" cy="9525"/>
          </a:xfrm>
          <a:prstGeom prst="rect">
            <a:avLst/>
          </a:prstGeom>
          <a:solidFill>
            <a:srgbClr val="E3DCD3"/>
          </a:solidFill>
          <a:ln>
            <a:noFill/>
          </a:ln>
          <a:effectLst/>
        </p:spPr>
        <p:txBody>
          <a:bodyPr rtlCol="0" anchor="ctr"/>
          <a:lstStyle/>
          <a:p>
            <a:pPr algn="ctr"/>
            <a:endParaRPr/>
          </a:p>
        </p:txBody>
      </p:sp>
      <p:sp>
        <p:nvSpPr>
          <p:cNvPr id="51" name="Rectangle 50"/>
          <p:cNvSpPr/>
          <p:nvPr/>
        </p:nvSpPr>
        <p:spPr>
          <a:xfrm>
            <a:off x="5051375" y="1362075"/>
            <a:ext cx="9525" cy="419100"/>
          </a:xfrm>
          <a:prstGeom prst="rect">
            <a:avLst/>
          </a:prstGeom>
          <a:solidFill>
            <a:srgbClr val="E3DCD3"/>
          </a:solidFill>
          <a:ln>
            <a:noFill/>
          </a:ln>
          <a:effectLst/>
        </p:spPr>
        <p:txBody>
          <a:bodyPr rtlCol="0" anchor="ctr"/>
          <a:lstStyle/>
          <a:p>
            <a:pPr algn="ctr"/>
            <a:endParaRPr/>
          </a:p>
        </p:txBody>
      </p:sp>
      <p:sp>
        <p:nvSpPr>
          <p:cNvPr id="52" name="Text: FORMULATION TECHNOLOGY">
            <a:hlinkClick r:id="rId5"/>
          </p:cNvPr>
          <p:cNvSpPr txBox="1"/>
          <p:nvPr/>
        </p:nvSpPr>
        <p:spPr>
          <a:xfrm>
            <a:off x="5462885" y="1509712"/>
            <a:ext cx="1242120" cy="123825"/>
          </a:xfrm>
          <a:prstGeom prst="rect">
            <a:avLst/>
          </a:prstGeom>
          <a:noFill/>
        </p:spPr>
        <p:txBody>
          <a:bodyPr wrap="square" lIns="0" tIns="0" rIns="0" bIns="0" anchor="t">
            <a:spAutoFit/>
          </a:bodyPr>
          <a:lstStyle/>
          <a:p>
            <a:pPr algn="ctr">
              <a:lnSpc>
                <a:spcPts val="975"/>
              </a:lnSpc>
            </a:pPr>
            <a:r>
              <a:rPr sz="712" b="1" i="0" spc="45">
                <a:solidFill>
                  <a:srgbClr val="1B1A1A"/>
                </a:solidFill>
                <a:latin typeface="Calibri"/>
              </a:rPr>
              <a:t>FORMULATION TECHNOLOGY</a:t>
            </a:r>
          </a:p>
        </p:txBody>
      </p:sp>
      <p:sp>
        <p:nvSpPr>
          <p:cNvPr id="53" name="Text: HAS BEEN ACQUIRED BY">
            <a:hlinkClick r:id="rId5"/>
          </p:cNvPr>
          <p:cNvSpPr txBox="1"/>
          <p:nvPr/>
        </p:nvSpPr>
        <p:spPr>
          <a:xfrm>
            <a:off x="5051375" y="1781175"/>
            <a:ext cx="2065288" cy="161925"/>
          </a:xfrm>
          <a:prstGeom prst="rect">
            <a:avLst/>
          </a:prstGeom>
          <a:noFill/>
        </p:spPr>
        <p:txBody>
          <a:bodyPr wrap="square" lIns="0" tIns="0" rIns="0" bIns="0" anchor="t">
            <a:spAutoFit/>
          </a:bodyPr>
          <a:lstStyle/>
          <a:p>
            <a:pPr algn="ctr">
              <a:lnSpc>
                <a:spcPts val="1275"/>
              </a:lnSpc>
            </a:pPr>
            <a:r>
              <a:rPr sz="600" b="0" i="0" spc="112">
                <a:solidFill>
                  <a:srgbClr val="6F6A66"/>
                </a:solidFill>
                <a:latin typeface="Calibri"/>
              </a:rPr>
              <a:t>HAS BEEN ACQUIRED BY</a:t>
            </a:r>
          </a:p>
        </p:txBody>
      </p:sp>
      <p:sp>
        <p:nvSpPr>
          <p:cNvPr id="54" name="Rectangle 53"/>
          <p:cNvSpPr/>
          <p:nvPr/>
        </p:nvSpPr>
        <p:spPr>
          <a:xfrm>
            <a:off x="5051375" y="1943100"/>
            <a:ext cx="2051000" cy="419100"/>
          </a:xfrm>
          <a:prstGeom prst="rect">
            <a:avLst/>
          </a:prstGeom>
          <a:solidFill>
            <a:srgbClr val="FFFFFF"/>
          </a:solidFill>
          <a:ln>
            <a:noFill/>
          </a:ln>
          <a:effectLst/>
        </p:spPr>
        <p:txBody>
          <a:bodyPr rtlCol="0" anchor="ctr"/>
          <a:lstStyle/>
          <a:p>
            <a:pPr algn="ctr"/>
            <a:endParaRPr/>
          </a:p>
        </p:txBody>
      </p:sp>
      <p:sp>
        <p:nvSpPr>
          <p:cNvPr id="55" name="Rectangle 54"/>
          <p:cNvSpPr/>
          <p:nvPr/>
        </p:nvSpPr>
        <p:spPr>
          <a:xfrm>
            <a:off x="5051375" y="1943100"/>
            <a:ext cx="2051000" cy="9525"/>
          </a:xfrm>
          <a:prstGeom prst="rect">
            <a:avLst/>
          </a:prstGeom>
          <a:solidFill>
            <a:srgbClr val="E3DCD3"/>
          </a:solidFill>
          <a:ln>
            <a:noFill/>
          </a:ln>
          <a:effectLst/>
        </p:spPr>
        <p:txBody>
          <a:bodyPr rtlCol="0" anchor="ctr"/>
          <a:lstStyle/>
          <a:p>
            <a:pPr algn="ctr"/>
            <a:endParaRPr/>
          </a:p>
        </p:txBody>
      </p:sp>
      <p:sp>
        <p:nvSpPr>
          <p:cNvPr id="56" name="Rectangle 55"/>
          <p:cNvSpPr/>
          <p:nvPr/>
        </p:nvSpPr>
        <p:spPr>
          <a:xfrm>
            <a:off x="7092851" y="1943100"/>
            <a:ext cx="9525" cy="419100"/>
          </a:xfrm>
          <a:prstGeom prst="rect">
            <a:avLst/>
          </a:prstGeom>
          <a:solidFill>
            <a:srgbClr val="E3DCD3"/>
          </a:solidFill>
          <a:ln>
            <a:noFill/>
          </a:ln>
          <a:effectLst/>
        </p:spPr>
        <p:txBody>
          <a:bodyPr rtlCol="0" anchor="ctr"/>
          <a:lstStyle/>
          <a:p>
            <a:pPr algn="ctr"/>
            <a:endParaRPr/>
          </a:p>
        </p:txBody>
      </p:sp>
      <p:sp>
        <p:nvSpPr>
          <p:cNvPr id="57" name="Rectangle 56"/>
          <p:cNvSpPr/>
          <p:nvPr/>
        </p:nvSpPr>
        <p:spPr>
          <a:xfrm>
            <a:off x="5051375" y="2352675"/>
            <a:ext cx="2051000" cy="9525"/>
          </a:xfrm>
          <a:prstGeom prst="rect">
            <a:avLst/>
          </a:prstGeom>
          <a:solidFill>
            <a:srgbClr val="E3DCD3"/>
          </a:solidFill>
          <a:ln>
            <a:noFill/>
          </a:ln>
          <a:effectLst/>
        </p:spPr>
        <p:txBody>
          <a:bodyPr rtlCol="0" anchor="ctr"/>
          <a:lstStyle/>
          <a:p>
            <a:pPr algn="ctr"/>
            <a:endParaRPr/>
          </a:p>
        </p:txBody>
      </p:sp>
      <p:sp>
        <p:nvSpPr>
          <p:cNvPr id="58" name="Rectangle 57"/>
          <p:cNvSpPr/>
          <p:nvPr/>
        </p:nvSpPr>
        <p:spPr>
          <a:xfrm>
            <a:off x="5051375" y="1943100"/>
            <a:ext cx="9525" cy="419100"/>
          </a:xfrm>
          <a:prstGeom prst="rect">
            <a:avLst/>
          </a:prstGeom>
          <a:solidFill>
            <a:srgbClr val="E3DCD3"/>
          </a:solidFill>
          <a:ln>
            <a:noFill/>
          </a:ln>
          <a:effectLst/>
        </p:spPr>
        <p:txBody>
          <a:bodyPr rtlCol="0" anchor="ctr"/>
          <a:lstStyle/>
          <a:p>
            <a:pPr algn="ctr"/>
            <a:endParaRPr/>
          </a:p>
        </p:txBody>
      </p:sp>
      <p:sp>
        <p:nvSpPr>
          <p:cNvPr id="59" name="Text: AAVIN PRIVATE EQUITY">
            <a:hlinkClick r:id="rId5"/>
          </p:cNvPr>
          <p:cNvSpPr txBox="1"/>
          <p:nvPr/>
        </p:nvSpPr>
        <p:spPr>
          <a:xfrm>
            <a:off x="5583882" y="2090738"/>
            <a:ext cx="1000125" cy="123825"/>
          </a:xfrm>
          <a:prstGeom prst="rect">
            <a:avLst/>
          </a:prstGeom>
          <a:noFill/>
        </p:spPr>
        <p:txBody>
          <a:bodyPr wrap="square" lIns="0" tIns="0" rIns="0" bIns="0" anchor="t">
            <a:spAutoFit/>
          </a:bodyPr>
          <a:lstStyle/>
          <a:p>
            <a:pPr algn="ctr">
              <a:lnSpc>
                <a:spcPts val="975"/>
              </a:lnSpc>
            </a:pPr>
            <a:r>
              <a:rPr sz="712" b="1" i="0" spc="45">
                <a:solidFill>
                  <a:srgbClr val="1B1A1A"/>
                </a:solidFill>
                <a:latin typeface="Calibri"/>
              </a:rPr>
              <a:t>AAVIN PRIVATE EQUITY</a:t>
            </a:r>
          </a:p>
        </p:txBody>
      </p:sp>
      <p:sp>
        <p:nvSpPr>
          <p:cNvPr id="60" name="Text: Contract manufacturer of nutrition">
            <a:hlinkClick r:id="rId5"/>
          </p:cNvPr>
          <p:cNvSpPr txBox="1"/>
          <p:nvPr/>
        </p:nvSpPr>
        <p:spPr>
          <a:xfrm>
            <a:off x="5051375" y="2447925"/>
            <a:ext cx="2065288" cy="276225"/>
          </a:xfrm>
          <a:prstGeom prst="rect">
            <a:avLst/>
          </a:prstGeom>
          <a:noFill/>
        </p:spPr>
        <p:txBody>
          <a:bodyPr wrap="square" lIns="0" tIns="0" rIns="0" bIns="0" anchor="t">
            <a:spAutoFit/>
          </a:bodyPr>
          <a:lstStyle/>
          <a:p>
            <a:pPr algn="ctr">
              <a:lnSpc>
                <a:spcPts val="1088"/>
              </a:lnSpc>
            </a:pPr>
            <a:r>
              <a:rPr sz="788" b="0" i="0" spc="15">
                <a:solidFill>
                  <a:srgbClr val="333231"/>
                </a:solidFill>
                <a:latin typeface="Calibri"/>
              </a:rPr>
              <a:t>Contract manufacturer of nutritional supplements</a:t>
            </a:r>
          </a:p>
        </p:txBody>
      </p:sp>
      <p:sp>
        <p:nvSpPr>
          <p:cNvPr id="61" name="Text: LIFE SCIENCES &amp; DIAGNOSTICS">
            <a:hlinkClick r:id="rId5"/>
          </p:cNvPr>
          <p:cNvSpPr txBox="1"/>
          <p:nvPr/>
        </p:nvSpPr>
        <p:spPr>
          <a:xfrm>
            <a:off x="5051375" y="2860625"/>
            <a:ext cx="2065288" cy="104775"/>
          </a:xfrm>
          <a:prstGeom prst="rect">
            <a:avLst/>
          </a:prstGeom>
          <a:noFill/>
        </p:spPr>
        <p:txBody>
          <a:bodyPr wrap="square" lIns="0" tIns="0" rIns="0" bIns="0" anchor="t">
            <a:spAutoFit/>
          </a:bodyPr>
          <a:lstStyle/>
          <a:p>
            <a:pPr algn="ctr">
              <a:lnSpc>
                <a:spcPts val="825"/>
              </a:lnSpc>
            </a:pPr>
            <a:r>
              <a:rPr sz="600" b="1" i="0" spc="105">
                <a:solidFill>
                  <a:srgbClr val="8C6239"/>
                </a:solidFill>
                <a:latin typeface="Calibri"/>
              </a:rPr>
              <a:t>LIFE SCIENCES &amp; DIAGNOSTICS</a:t>
            </a:r>
          </a:p>
        </p:txBody>
      </p:sp>
      <p:sp>
        <p:nvSpPr>
          <p:cNvPr id="62" name="Rectangle 61"/>
          <p:cNvSpPr/>
          <p:nvPr/>
        </p:nvSpPr>
        <p:spPr>
          <a:xfrm>
            <a:off x="7340501" y="1238250"/>
            <a:ext cx="2298650" cy="1822400"/>
          </a:xfrm>
          <a:prstGeom prst="rect">
            <a:avLst/>
          </a:prstGeom>
          <a:solidFill>
            <a:srgbClr val="FFFFFF"/>
          </a:solidFill>
          <a:ln>
            <a:noFill/>
          </a:ln>
          <a:effectLst/>
        </p:spPr>
        <p:txBody>
          <a:bodyPr rtlCol="0" anchor="ctr"/>
          <a:lstStyle/>
          <a:p>
            <a:pPr algn="ctr"/>
            <a:endParaRPr/>
          </a:p>
        </p:txBody>
      </p:sp>
      <p:sp>
        <p:nvSpPr>
          <p:cNvPr id="63" name="Rectangle 62"/>
          <p:cNvSpPr/>
          <p:nvPr/>
        </p:nvSpPr>
        <p:spPr>
          <a:xfrm>
            <a:off x="7340501" y="1238250"/>
            <a:ext cx="2298650" cy="28575"/>
          </a:xfrm>
          <a:prstGeom prst="rect">
            <a:avLst/>
          </a:prstGeom>
          <a:solidFill>
            <a:srgbClr val="B68757"/>
          </a:solidFill>
          <a:ln>
            <a:noFill/>
          </a:ln>
          <a:effectLst/>
        </p:spPr>
        <p:txBody>
          <a:bodyPr rtlCol="0" anchor="ctr"/>
          <a:lstStyle/>
          <a:p>
            <a:pPr algn="ctr"/>
            <a:endParaRPr/>
          </a:p>
        </p:txBody>
      </p:sp>
      <p:sp>
        <p:nvSpPr>
          <p:cNvPr id="64" name="Rectangle 63"/>
          <p:cNvSpPr/>
          <p:nvPr/>
        </p:nvSpPr>
        <p:spPr>
          <a:xfrm>
            <a:off x="9629626" y="1238250"/>
            <a:ext cx="9525" cy="1822400"/>
          </a:xfrm>
          <a:prstGeom prst="rect">
            <a:avLst/>
          </a:prstGeom>
          <a:solidFill>
            <a:srgbClr val="E3DCD3"/>
          </a:solidFill>
          <a:ln>
            <a:noFill/>
          </a:ln>
          <a:effectLst/>
        </p:spPr>
        <p:txBody>
          <a:bodyPr rtlCol="0" anchor="ctr"/>
          <a:lstStyle/>
          <a:p>
            <a:pPr algn="ctr"/>
            <a:endParaRPr/>
          </a:p>
        </p:txBody>
      </p:sp>
      <p:sp>
        <p:nvSpPr>
          <p:cNvPr id="65" name="Rectangle 64"/>
          <p:cNvSpPr/>
          <p:nvPr/>
        </p:nvSpPr>
        <p:spPr>
          <a:xfrm>
            <a:off x="7340501" y="3051125"/>
            <a:ext cx="2298650" cy="9525"/>
          </a:xfrm>
          <a:prstGeom prst="rect">
            <a:avLst/>
          </a:prstGeom>
          <a:solidFill>
            <a:srgbClr val="E3DCD3"/>
          </a:solidFill>
          <a:ln>
            <a:noFill/>
          </a:ln>
          <a:effectLst/>
        </p:spPr>
        <p:txBody>
          <a:bodyPr rtlCol="0" anchor="ctr"/>
          <a:lstStyle/>
          <a:p>
            <a:pPr algn="ctr"/>
            <a:endParaRPr/>
          </a:p>
        </p:txBody>
      </p:sp>
      <p:sp>
        <p:nvSpPr>
          <p:cNvPr id="66" name="Rectangle 65"/>
          <p:cNvSpPr/>
          <p:nvPr/>
        </p:nvSpPr>
        <p:spPr>
          <a:xfrm>
            <a:off x="7340501" y="1238250"/>
            <a:ext cx="9525" cy="1822400"/>
          </a:xfrm>
          <a:prstGeom prst="rect">
            <a:avLst/>
          </a:prstGeom>
          <a:solidFill>
            <a:srgbClr val="E3DCD3"/>
          </a:solidFill>
          <a:ln>
            <a:noFill/>
          </a:ln>
          <a:effectLst/>
        </p:spPr>
        <p:txBody>
          <a:bodyPr rtlCol="0" anchor="ctr"/>
          <a:lstStyle/>
          <a:p>
            <a:pPr algn="ctr"/>
            <a:endParaRPr/>
          </a:p>
        </p:txBody>
      </p:sp>
      <p:sp>
        <p:nvSpPr>
          <p:cNvPr id="67" name="Rectangle 66"/>
          <p:cNvSpPr/>
          <p:nvPr/>
        </p:nvSpPr>
        <p:spPr>
          <a:xfrm>
            <a:off x="7464326" y="1362075"/>
            <a:ext cx="2051000" cy="419100"/>
          </a:xfrm>
          <a:prstGeom prst="rect">
            <a:avLst/>
          </a:prstGeom>
          <a:solidFill>
            <a:srgbClr val="FFFFFF"/>
          </a:solidFill>
          <a:ln>
            <a:noFill/>
          </a:ln>
          <a:effectLst/>
        </p:spPr>
        <p:txBody>
          <a:bodyPr rtlCol="0" anchor="ctr"/>
          <a:lstStyle/>
          <a:p>
            <a:pPr algn="ctr"/>
            <a:endParaRPr/>
          </a:p>
        </p:txBody>
      </p:sp>
      <p:sp>
        <p:nvSpPr>
          <p:cNvPr id="68" name="Rectangle 67"/>
          <p:cNvSpPr/>
          <p:nvPr/>
        </p:nvSpPr>
        <p:spPr>
          <a:xfrm>
            <a:off x="7464326" y="1362075"/>
            <a:ext cx="2051000" cy="9525"/>
          </a:xfrm>
          <a:prstGeom prst="rect">
            <a:avLst/>
          </a:prstGeom>
          <a:solidFill>
            <a:srgbClr val="E3DCD3"/>
          </a:solidFill>
          <a:ln>
            <a:noFill/>
          </a:ln>
          <a:effectLst/>
        </p:spPr>
        <p:txBody>
          <a:bodyPr rtlCol="0" anchor="ctr"/>
          <a:lstStyle/>
          <a:p>
            <a:pPr algn="ctr"/>
            <a:endParaRPr/>
          </a:p>
        </p:txBody>
      </p:sp>
      <p:sp>
        <p:nvSpPr>
          <p:cNvPr id="69" name="Rectangle 68"/>
          <p:cNvSpPr/>
          <p:nvPr/>
        </p:nvSpPr>
        <p:spPr>
          <a:xfrm>
            <a:off x="9505801" y="1362075"/>
            <a:ext cx="9525" cy="419100"/>
          </a:xfrm>
          <a:prstGeom prst="rect">
            <a:avLst/>
          </a:prstGeom>
          <a:solidFill>
            <a:srgbClr val="E3DCD3"/>
          </a:solidFill>
          <a:ln>
            <a:noFill/>
          </a:ln>
          <a:effectLst/>
        </p:spPr>
        <p:txBody>
          <a:bodyPr rtlCol="0" anchor="ctr"/>
          <a:lstStyle/>
          <a:p>
            <a:pPr algn="ctr"/>
            <a:endParaRPr/>
          </a:p>
        </p:txBody>
      </p:sp>
      <p:sp>
        <p:nvSpPr>
          <p:cNvPr id="70" name="Rectangle 69"/>
          <p:cNvSpPr/>
          <p:nvPr/>
        </p:nvSpPr>
        <p:spPr>
          <a:xfrm>
            <a:off x="7464326" y="1771650"/>
            <a:ext cx="2051000" cy="9525"/>
          </a:xfrm>
          <a:prstGeom prst="rect">
            <a:avLst/>
          </a:prstGeom>
          <a:solidFill>
            <a:srgbClr val="E3DCD3"/>
          </a:solidFill>
          <a:ln>
            <a:noFill/>
          </a:ln>
          <a:effectLst/>
        </p:spPr>
        <p:txBody>
          <a:bodyPr rtlCol="0" anchor="ctr"/>
          <a:lstStyle/>
          <a:p>
            <a:pPr algn="ctr"/>
            <a:endParaRPr/>
          </a:p>
        </p:txBody>
      </p:sp>
      <p:sp>
        <p:nvSpPr>
          <p:cNvPr id="71" name="Rectangle 70"/>
          <p:cNvSpPr/>
          <p:nvPr/>
        </p:nvSpPr>
        <p:spPr>
          <a:xfrm>
            <a:off x="7464326" y="1362075"/>
            <a:ext cx="9525" cy="419100"/>
          </a:xfrm>
          <a:prstGeom prst="rect">
            <a:avLst/>
          </a:prstGeom>
          <a:solidFill>
            <a:srgbClr val="E3DCD3"/>
          </a:solidFill>
          <a:ln>
            <a:noFill/>
          </a:ln>
          <a:effectLst/>
        </p:spPr>
        <p:txBody>
          <a:bodyPr rtlCol="0" anchor="ctr"/>
          <a:lstStyle/>
          <a:p>
            <a:pPr algn="ctr"/>
            <a:endParaRPr/>
          </a:p>
        </p:txBody>
      </p:sp>
      <p:sp>
        <p:nvSpPr>
          <p:cNvPr id="72" name="Text: FAST RESPONSE ON-SITE TESTING">
            <a:hlinkClick r:id="rId6"/>
          </p:cNvPr>
          <p:cNvSpPr txBox="1"/>
          <p:nvPr/>
        </p:nvSpPr>
        <p:spPr>
          <a:xfrm>
            <a:off x="7780586" y="1509712"/>
            <a:ext cx="1432620" cy="123825"/>
          </a:xfrm>
          <a:prstGeom prst="rect">
            <a:avLst/>
          </a:prstGeom>
          <a:noFill/>
        </p:spPr>
        <p:txBody>
          <a:bodyPr wrap="square" lIns="0" tIns="0" rIns="0" bIns="0" anchor="t">
            <a:spAutoFit/>
          </a:bodyPr>
          <a:lstStyle/>
          <a:p>
            <a:pPr algn="ctr">
              <a:lnSpc>
                <a:spcPts val="975"/>
              </a:lnSpc>
            </a:pPr>
            <a:r>
              <a:rPr sz="712" b="1" i="0" spc="45">
                <a:solidFill>
                  <a:srgbClr val="1B1A1A"/>
                </a:solidFill>
                <a:latin typeface="Calibri"/>
              </a:rPr>
              <a:t>FAST RESPONSE ON-SITE TESTING</a:t>
            </a:r>
          </a:p>
        </p:txBody>
      </p:sp>
      <p:sp>
        <p:nvSpPr>
          <p:cNvPr id="73" name="Text: HAS BEEN ACQUIRED BY">
            <a:hlinkClick r:id="rId6"/>
          </p:cNvPr>
          <p:cNvSpPr txBox="1"/>
          <p:nvPr/>
        </p:nvSpPr>
        <p:spPr>
          <a:xfrm>
            <a:off x="7464326" y="1781175"/>
            <a:ext cx="2065288" cy="161925"/>
          </a:xfrm>
          <a:prstGeom prst="rect">
            <a:avLst/>
          </a:prstGeom>
          <a:noFill/>
        </p:spPr>
        <p:txBody>
          <a:bodyPr wrap="square" lIns="0" tIns="0" rIns="0" bIns="0" anchor="t">
            <a:spAutoFit/>
          </a:bodyPr>
          <a:lstStyle/>
          <a:p>
            <a:pPr algn="ctr">
              <a:lnSpc>
                <a:spcPts val="1275"/>
              </a:lnSpc>
            </a:pPr>
            <a:r>
              <a:rPr sz="600" b="0" i="0" spc="112">
                <a:solidFill>
                  <a:srgbClr val="6F6A66"/>
                </a:solidFill>
                <a:latin typeface="Calibri"/>
              </a:rPr>
              <a:t>HAS BEEN ACQUIRED BY</a:t>
            </a:r>
          </a:p>
        </p:txBody>
      </p:sp>
      <p:sp>
        <p:nvSpPr>
          <p:cNvPr id="74" name="Rectangle 73"/>
          <p:cNvSpPr/>
          <p:nvPr/>
        </p:nvSpPr>
        <p:spPr>
          <a:xfrm>
            <a:off x="7464326" y="1943100"/>
            <a:ext cx="2051000" cy="419100"/>
          </a:xfrm>
          <a:prstGeom prst="rect">
            <a:avLst/>
          </a:prstGeom>
          <a:solidFill>
            <a:srgbClr val="FFFFFF"/>
          </a:solidFill>
          <a:ln>
            <a:noFill/>
          </a:ln>
          <a:effectLst/>
        </p:spPr>
        <p:txBody>
          <a:bodyPr rtlCol="0" anchor="ctr"/>
          <a:lstStyle/>
          <a:p>
            <a:pPr algn="ctr"/>
            <a:endParaRPr/>
          </a:p>
        </p:txBody>
      </p:sp>
      <p:sp>
        <p:nvSpPr>
          <p:cNvPr id="75" name="Rectangle 74"/>
          <p:cNvSpPr/>
          <p:nvPr/>
        </p:nvSpPr>
        <p:spPr>
          <a:xfrm>
            <a:off x="7464326" y="1943100"/>
            <a:ext cx="2051000" cy="9525"/>
          </a:xfrm>
          <a:prstGeom prst="rect">
            <a:avLst/>
          </a:prstGeom>
          <a:solidFill>
            <a:srgbClr val="E3DCD3"/>
          </a:solidFill>
          <a:ln>
            <a:noFill/>
          </a:ln>
          <a:effectLst/>
        </p:spPr>
        <p:txBody>
          <a:bodyPr rtlCol="0" anchor="ctr"/>
          <a:lstStyle/>
          <a:p>
            <a:pPr algn="ctr"/>
            <a:endParaRPr/>
          </a:p>
        </p:txBody>
      </p:sp>
      <p:sp>
        <p:nvSpPr>
          <p:cNvPr id="76" name="Rectangle 75"/>
          <p:cNvSpPr/>
          <p:nvPr/>
        </p:nvSpPr>
        <p:spPr>
          <a:xfrm>
            <a:off x="9505801" y="1943100"/>
            <a:ext cx="9525" cy="419100"/>
          </a:xfrm>
          <a:prstGeom prst="rect">
            <a:avLst/>
          </a:prstGeom>
          <a:solidFill>
            <a:srgbClr val="E3DCD3"/>
          </a:solidFill>
          <a:ln>
            <a:noFill/>
          </a:ln>
          <a:effectLst/>
        </p:spPr>
        <p:txBody>
          <a:bodyPr rtlCol="0" anchor="ctr"/>
          <a:lstStyle/>
          <a:p>
            <a:pPr algn="ctr"/>
            <a:endParaRPr/>
          </a:p>
        </p:txBody>
      </p:sp>
      <p:sp>
        <p:nvSpPr>
          <p:cNvPr id="77" name="Rectangle 76"/>
          <p:cNvSpPr/>
          <p:nvPr/>
        </p:nvSpPr>
        <p:spPr>
          <a:xfrm>
            <a:off x="7464326" y="2352675"/>
            <a:ext cx="2051000" cy="9525"/>
          </a:xfrm>
          <a:prstGeom prst="rect">
            <a:avLst/>
          </a:prstGeom>
          <a:solidFill>
            <a:srgbClr val="E3DCD3"/>
          </a:solidFill>
          <a:ln>
            <a:noFill/>
          </a:ln>
          <a:effectLst/>
        </p:spPr>
        <p:txBody>
          <a:bodyPr rtlCol="0" anchor="ctr"/>
          <a:lstStyle/>
          <a:p>
            <a:pPr algn="ctr"/>
            <a:endParaRPr/>
          </a:p>
        </p:txBody>
      </p:sp>
      <p:sp>
        <p:nvSpPr>
          <p:cNvPr id="78" name="Rectangle 77"/>
          <p:cNvSpPr/>
          <p:nvPr/>
        </p:nvSpPr>
        <p:spPr>
          <a:xfrm>
            <a:off x="7464326" y="1943100"/>
            <a:ext cx="9525" cy="419100"/>
          </a:xfrm>
          <a:prstGeom prst="rect">
            <a:avLst/>
          </a:prstGeom>
          <a:solidFill>
            <a:srgbClr val="E3DCD3"/>
          </a:solidFill>
          <a:ln>
            <a:noFill/>
          </a:ln>
          <a:effectLst/>
        </p:spPr>
        <p:txBody>
          <a:bodyPr rtlCol="0" anchor="ctr"/>
          <a:lstStyle/>
          <a:p>
            <a:pPr algn="ctr"/>
            <a:endParaRPr/>
          </a:p>
        </p:txBody>
      </p:sp>
      <p:sp>
        <p:nvSpPr>
          <p:cNvPr id="79" name="Text: RELENTLESS HEALTH">
            <a:hlinkClick r:id="rId6"/>
          </p:cNvPr>
          <p:cNvSpPr txBox="1"/>
          <p:nvPr/>
        </p:nvSpPr>
        <p:spPr>
          <a:xfrm>
            <a:off x="8062168" y="2090738"/>
            <a:ext cx="869454" cy="123825"/>
          </a:xfrm>
          <a:prstGeom prst="rect">
            <a:avLst/>
          </a:prstGeom>
          <a:noFill/>
        </p:spPr>
        <p:txBody>
          <a:bodyPr wrap="square" lIns="0" tIns="0" rIns="0" bIns="0" anchor="t">
            <a:spAutoFit/>
          </a:bodyPr>
          <a:lstStyle/>
          <a:p>
            <a:pPr algn="ctr">
              <a:lnSpc>
                <a:spcPts val="975"/>
              </a:lnSpc>
            </a:pPr>
            <a:r>
              <a:rPr sz="712" b="1" i="0" spc="45">
                <a:solidFill>
                  <a:srgbClr val="1B1A1A"/>
                </a:solidFill>
                <a:latin typeface="Calibri"/>
              </a:rPr>
              <a:t>RELENTLESS HEALTH</a:t>
            </a:r>
          </a:p>
        </p:txBody>
      </p:sp>
      <p:sp>
        <p:nvSpPr>
          <p:cNvPr id="80" name="Text: Mobile occupational health testing">
            <a:hlinkClick r:id="rId6"/>
          </p:cNvPr>
          <p:cNvSpPr txBox="1"/>
          <p:nvPr/>
        </p:nvSpPr>
        <p:spPr>
          <a:xfrm>
            <a:off x="7464326" y="2447925"/>
            <a:ext cx="2065288" cy="138112"/>
          </a:xfrm>
          <a:prstGeom prst="rect">
            <a:avLst/>
          </a:prstGeom>
          <a:noFill/>
        </p:spPr>
        <p:txBody>
          <a:bodyPr wrap="square" lIns="0" tIns="0" rIns="0" bIns="0" anchor="t">
            <a:spAutoFit/>
          </a:bodyPr>
          <a:lstStyle/>
          <a:p>
            <a:pPr algn="ctr">
              <a:lnSpc>
                <a:spcPts val="1088"/>
              </a:lnSpc>
            </a:pPr>
            <a:r>
              <a:rPr sz="788" b="0" i="0" spc="15">
                <a:solidFill>
                  <a:srgbClr val="333231"/>
                </a:solidFill>
                <a:latin typeface="Calibri"/>
              </a:rPr>
              <a:t>Mobile occupational health testing</a:t>
            </a:r>
          </a:p>
        </p:txBody>
      </p:sp>
      <p:sp>
        <p:nvSpPr>
          <p:cNvPr id="81" name="Text: LIFE SCIENCES &amp; DIAGNOSTICS">
            <a:hlinkClick r:id="rId6"/>
          </p:cNvPr>
          <p:cNvSpPr txBox="1"/>
          <p:nvPr/>
        </p:nvSpPr>
        <p:spPr>
          <a:xfrm>
            <a:off x="7464326" y="2860625"/>
            <a:ext cx="2065288" cy="104775"/>
          </a:xfrm>
          <a:prstGeom prst="rect">
            <a:avLst/>
          </a:prstGeom>
          <a:noFill/>
        </p:spPr>
        <p:txBody>
          <a:bodyPr wrap="square" lIns="0" tIns="0" rIns="0" bIns="0" anchor="t">
            <a:spAutoFit/>
          </a:bodyPr>
          <a:lstStyle/>
          <a:p>
            <a:pPr algn="ctr">
              <a:lnSpc>
                <a:spcPts val="825"/>
              </a:lnSpc>
            </a:pPr>
            <a:r>
              <a:rPr sz="600" b="1" i="0" spc="105">
                <a:solidFill>
                  <a:srgbClr val="8C6239"/>
                </a:solidFill>
                <a:latin typeface="Calibri"/>
              </a:rPr>
              <a:t>LIFE SCIENCES &amp; DIAGNOSTICS</a:t>
            </a:r>
          </a:p>
        </p:txBody>
      </p:sp>
      <p:sp>
        <p:nvSpPr>
          <p:cNvPr id="82" name="Rectangle 81"/>
          <p:cNvSpPr/>
          <p:nvPr/>
        </p:nvSpPr>
        <p:spPr>
          <a:xfrm>
            <a:off x="2514600" y="3174950"/>
            <a:ext cx="2298650" cy="1822400"/>
          </a:xfrm>
          <a:prstGeom prst="rect">
            <a:avLst/>
          </a:prstGeom>
          <a:solidFill>
            <a:srgbClr val="FFFFFF"/>
          </a:solidFill>
          <a:ln>
            <a:noFill/>
          </a:ln>
          <a:effectLst/>
        </p:spPr>
        <p:txBody>
          <a:bodyPr rtlCol="0" anchor="ctr"/>
          <a:lstStyle/>
          <a:p>
            <a:pPr algn="ctr"/>
            <a:endParaRPr/>
          </a:p>
        </p:txBody>
      </p:sp>
      <p:sp>
        <p:nvSpPr>
          <p:cNvPr id="83" name="Rectangle 82"/>
          <p:cNvSpPr/>
          <p:nvPr/>
        </p:nvSpPr>
        <p:spPr>
          <a:xfrm>
            <a:off x="2514600" y="3174950"/>
            <a:ext cx="2298650" cy="28575"/>
          </a:xfrm>
          <a:prstGeom prst="rect">
            <a:avLst/>
          </a:prstGeom>
          <a:solidFill>
            <a:srgbClr val="B68757"/>
          </a:solidFill>
          <a:ln>
            <a:noFill/>
          </a:ln>
          <a:effectLst/>
        </p:spPr>
        <p:txBody>
          <a:bodyPr rtlCol="0" anchor="ctr"/>
          <a:lstStyle/>
          <a:p>
            <a:pPr algn="ctr"/>
            <a:endParaRPr/>
          </a:p>
        </p:txBody>
      </p:sp>
      <p:sp>
        <p:nvSpPr>
          <p:cNvPr id="84" name="Rectangle 83"/>
          <p:cNvSpPr/>
          <p:nvPr/>
        </p:nvSpPr>
        <p:spPr>
          <a:xfrm>
            <a:off x="4803725" y="3174950"/>
            <a:ext cx="9525" cy="1822400"/>
          </a:xfrm>
          <a:prstGeom prst="rect">
            <a:avLst/>
          </a:prstGeom>
          <a:solidFill>
            <a:srgbClr val="E3DCD3"/>
          </a:solidFill>
          <a:ln>
            <a:noFill/>
          </a:ln>
          <a:effectLst/>
        </p:spPr>
        <p:txBody>
          <a:bodyPr rtlCol="0" anchor="ctr"/>
          <a:lstStyle/>
          <a:p>
            <a:pPr algn="ctr"/>
            <a:endParaRPr/>
          </a:p>
        </p:txBody>
      </p:sp>
      <p:sp>
        <p:nvSpPr>
          <p:cNvPr id="85" name="Rectangle 84"/>
          <p:cNvSpPr/>
          <p:nvPr/>
        </p:nvSpPr>
        <p:spPr>
          <a:xfrm>
            <a:off x="2514600" y="4987826"/>
            <a:ext cx="2298650" cy="9525"/>
          </a:xfrm>
          <a:prstGeom prst="rect">
            <a:avLst/>
          </a:prstGeom>
          <a:solidFill>
            <a:srgbClr val="E3DCD3"/>
          </a:solidFill>
          <a:ln>
            <a:noFill/>
          </a:ln>
          <a:effectLst/>
        </p:spPr>
        <p:txBody>
          <a:bodyPr rtlCol="0" anchor="ctr"/>
          <a:lstStyle/>
          <a:p>
            <a:pPr algn="ctr"/>
            <a:endParaRPr/>
          </a:p>
        </p:txBody>
      </p:sp>
      <p:sp>
        <p:nvSpPr>
          <p:cNvPr id="86" name="Rectangle 85"/>
          <p:cNvSpPr/>
          <p:nvPr/>
        </p:nvSpPr>
        <p:spPr>
          <a:xfrm>
            <a:off x="2514600" y="3174950"/>
            <a:ext cx="9525" cy="1822400"/>
          </a:xfrm>
          <a:prstGeom prst="rect">
            <a:avLst/>
          </a:prstGeom>
          <a:solidFill>
            <a:srgbClr val="E3DCD3"/>
          </a:solidFill>
          <a:ln>
            <a:noFill/>
          </a:ln>
          <a:effectLst/>
        </p:spPr>
        <p:txBody>
          <a:bodyPr rtlCol="0" anchor="ctr"/>
          <a:lstStyle/>
          <a:p>
            <a:pPr algn="ctr"/>
            <a:endParaRPr/>
          </a:p>
        </p:txBody>
      </p:sp>
      <p:sp>
        <p:nvSpPr>
          <p:cNvPr id="87" name="Rectangle 86"/>
          <p:cNvSpPr/>
          <p:nvPr/>
        </p:nvSpPr>
        <p:spPr>
          <a:xfrm>
            <a:off x="2638425" y="3298775"/>
            <a:ext cx="2051000" cy="418207"/>
          </a:xfrm>
          <a:prstGeom prst="rect">
            <a:avLst/>
          </a:prstGeom>
          <a:solidFill>
            <a:srgbClr val="FFFFFF"/>
          </a:solidFill>
          <a:ln>
            <a:noFill/>
          </a:ln>
          <a:effectLst/>
        </p:spPr>
        <p:txBody>
          <a:bodyPr rtlCol="0" anchor="ctr"/>
          <a:lstStyle/>
          <a:p>
            <a:pPr algn="ctr"/>
            <a:endParaRPr/>
          </a:p>
        </p:txBody>
      </p:sp>
      <p:sp>
        <p:nvSpPr>
          <p:cNvPr id="88" name="Rectangle 87"/>
          <p:cNvSpPr/>
          <p:nvPr/>
        </p:nvSpPr>
        <p:spPr>
          <a:xfrm>
            <a:off x="2638425" y="3298775"/>
            <a:ext cx="2051000" cy="9525"/>
          </a:xfrm>
          <a:prstGeom prst="rect">
            <a:avLst/>
          </a:prstGeom>
          <a:solidFill>
            <a:srgbClr val="E3DCD3"/>
          </a:solidFill>
          <a:ln>
            <a:noFill/>
          </a:ln>
          <a:effectLst/>
        </p:spPr>
        <p:txBody>
          <a:bodyPr rtlCol="0" anchor="ctr"/>
          <a:lstStyle/>
          <a:p>
            <a:pPr algn="ctr"/>
            <a:endParaRPr/>
          </a:p>
        </p:txBody>
      </p:sp>
      <p:sp>
        <p:nvSpPr>
          <p:cNvPr id="89" name="Rectangle 88"/>
          <p:cNvSpPr/>
          <p:nvPr/>
        </p:nvSpPr>
        <p:spPr>
          <a:xfrm>
            <a:off x="4679900" y="3298775"/>
            <a:ext cx="9525" cy="418207"/>
          </a:xfrm>
          <a:prstGeom prst="rect">
            <a:avLst/>
          </a:prstGeom>
          <a:solidFill>
            <a:srgbClr val="E3DCD3"/>
          </a:solidFill>
          <a:ln>
            <a:noFill/>
          </a:ln>
          <a:effectLst/>
        </p:spPr>
        <p:txBody>
          <a:bodyPr rtlCol="0" anchor="ctr"/>
          <a:lstStyle/>
          <a:p>
            <a:pPr algn="ctr"/>
            <a:endParaRPr/>
          </a:p>
        </p:txBody>
      </p:sp>
      <p:sp>
        <p:nvSpPr>
          <p:cNvPr id="90" name="Rectangle 89"/>
          <p:cNvSpPr/>
          <p:nvPr/>
        </p:nvSpPr>
        <p:spPr>
          <a:xfrm>
            <a:off x="2638425" y="3707457"/>
            <a:ext cx="2051000" cy="9525"/>
          </a:xfrm>
          <a:prstGeom prst="rect">
            <a:avLst/>
          </a:prstGeom>
          <a:solidFill>
            <a:srgbClr val="E3DCD3"/>
          </a:solidFill>
          <a:ln>
            <a:noFill/>
          </a:ln>
          <a:effectLst/>
        </p:spPr>
        <p:txBody>
          <a:bodyPr rtlCol="0" anchor="ctr"/>
          <a:lstStyle/>
          <a:p>
            <a:pPr algn="ctr"/>
            <a:endParaRPr/>
          </a:p>
        </p:txBody>
      </p:sp>
      <p:sp>
        <p:nvSpPr>
          <p:cNvPr id="91" name="Rectangle 90"/>
          <p:cNvSpPr/>
          <p:nvPr/>
        </p:nvSpPr>
        <p:spPr>
          <a:xfrm>
            <a:off x="2638425" y="3298775"/>
            <a:ext cx="9525" cy="418207"/>
          </a:xfrm>
          <a:prstGeom prst="rect">
            <a:avLst/>
          </a:prstGeom>
          <a:solidFill>
            <a:srgbClr val="E3DCD3"/>
          </a:solidFill>
          <a:ln>
            <a:noFill/>
          </a:ln>
          <a:effectLst/>
        </p:spPr>
        <p:txBody>
          <a:bodyPr rtlCol="0" anchor="ctr"/>
          <a:lstStyle/>
          <a:p>
            <a:pPr algn="ctr"/>
            <a:endParaRPr/>
          </a:p>
        </p:txBody>
      </p:sp>
      <p:sp>
        <p:nvSpPr>
          <p:cNvPr id="92" name="Text: CRITICAL ENVIRONMENTS PROFESSIONAL">
            <a:hlinkClick r:id="rId7"/>
          </p:cNvPr>
          <p:cNvSpPr txBox="1"/>
          <p:nvPr/>
        </p:nvSpPr>
        <p:spPr>
          <a:xfrm>
            <a:off x="2743200" y="3384054"/>
            <a:ext cx="1855738" cy="247650"/>
          </a:xfrm>
          <a:prstGeom prst="rect">
            <a:avLst/>
          </a:prstGeom>
          <a:noFill/>
        </p:spPr>
        <p:txBody>
          <a:bodyPr wrap="square" lIns="0" tIns="0" rIns="0" bIns="0" anchor="t">
            <a:spAutoFit/>
          </a:bodyPr>
          <a:lstStyle/>
          <a:p>
            <a:pPr algn="ctr">
              <a:lnSpc>
                <a:spcPts val="975"/>
              </a:lnSpc>
            </a:pPr>
            <a:r>
              <a:rPr sz="712" b="1" i="0" spc="45">
                <a:solidFill>
                  <a:srgbClr val="1B1A1A"/>
                </a:solidFill>
                <a:latin typeface="Calibri"/>
              </a:rPr>
              <a:t>CRITICAL ENVIRONMENTS PROFESSIONALS, CERTIFICATION DIVISION</a:t>
            </a:r>
          </a:p>
        </p:txBody>
      </p:sp>
      <p:sp>
        <p:nvSpPr>
          <p:cNvPr id="93" name="Text: HAS BEEN ACQUIRED BY">
            <a:hlinkClick r:id="rId7"/>
          </p:cNvPr>
          <p:cNvSpPr txBox="1"/>
          <p:nvPr/>
        </p:nvSpPr>
        <p:spPr>
          <a:xfrm>
            <a:off x="2638425" y="3716982"/>
            <a:ext cx="2065288" cy="161925"/>
          </a:xfrm>
          <a:prstGeom prst="rect">
            <a:avLst/>
          </a:prstGeom>
          <a:noFill/>
        </p:spPr>
        <p:txBody>
          <a:bodyPr wrap="square" lIns="0" tIns="0" rIns="0" bIns="0" anchor="t">
            <a:spAutoFit/>
          </a:bodyPr>
          <a:lstStyle/>
          <a:p>
            <a:pPr algn="ctr">
              <a:lnSpc>
                <a:spcPts val="1275"/>
              </a:lnSpc>
            </a:pPr>
            <a:r>
              <a:rPr sz="600" b="0" i="0" spc="112">
                <a:solidFill>
                  <a:srgbClr val="6F6A66"/>
                </a:solidFill>
                <a:latin typeface="Calibri"/>
              </a:rPr>
              <a:t>HAS BEEN ACQUIRED BY</a:t>
            </a:r>
          </a:p>
        </p:txBody>
      </p:sp>
      <p:sp>
        <p:nvSpPr>
          <p:cNvPr id="94" name="Rectangle 93"/>
          <p:cNvSpPr/>
          <p:nvPr/>
        </p:nvSpPr>
        <p:spPr>
          <a:xfrm>
            <a:off x="2638425" y="3878907"/>
            <a:ext cx="2051000" cy="418207"/>
          </a:xfrm>
          <a:prstGeom prst="rect">
            <a:avLst/>
          </a:prstGeom>
          <a:solidFill>
            <a:srgbClr val="FFFFFF"/>
          </a:solidFill>
          <a:ln>
            <a:noFill/>
          </a:ln>
          <a:effectLst/>
        </p:spPr>
        <p:txBody>
          <a:bodyPr rtlCol="0" anchor="ctr"/>
          <a:lstStyle/>
          <a:p>
            <a:pPr algn="ctr"/>
            <a:endParaRPr/>
          </a:p>
        </p:txBody>
      </p:sp>
      <p:sp>
        <p:nvSpPr>
          <p:cNvPr id="95" name="Rectangle 94"/>
          <p:cNvSpPr/>
          <p:nvPr/>
        </p:nvSpPr>
        <p:spPr>
          <a:xfrm>
            <a:off x="2638425" y="3878907"/>
            <a:ext cx="2051000" cy="9525"/>
          </a:xfrm>
          <a:prstGeom prst="rect">
            <a:avLst/>
          </a:prstGeom>
          <a:solidFill>
            <a:srgbClr val="E3DCD3"/>
          </a:solidFill>
          <a:ln>
            <a:noFill/>
          </a:ln>
          <a:effectLst/>
        </p:spPr>
        <p:txBody>
          <a:bodyPr rtlCol="0" anchor="ctr"/>
          <a:lstStyle/>
          <a:p>
            <a:pPr algn="ctr"/>
            <a:endParaRPr/>
          </a:p>
        </p:txBody>
      </p:sp>
      <p:sp>
        <p:nvSpPr>
          <p:cNvPr id="96" name="Rectangle 95"/>
          <p:cNvSpPr/>
          <p:nvPr/>
        </p:nvSpPr>
        <p:spPr>
          <a:xfrm>
            <a:off x="4679900" y="3878907"/>
            <a:ext cx="9525" cy="418207"/>
          </a:xfrm>
          <a:prstGeom prst="rect">
            <a:avLst/>
          </a:prstGeom>
          <a:solidFill>
            <a:srgbClr val="E3DCD3"/>
          </a:solidFill>
          <a:ln>
            <a:noFill/>
          </a:ln>
          <a:effectLst/>
        </p:spPr>
        <p:txBody>
          <a:bodyPr rtlCol="0" anchor="ctr"/>
          <a:lstStyle/>
          <a:p>
            <a:pPr algn="ctr"/>
            <a:endParaRPr/>
          </a:p>
        </p:txBody>
      </p:sp>
      <p:sp>
        <p:nvSpPr>
          <p:cNvPr id="97" name="Rectangle 96"/>
          <p:cNvSpPr/>
          <p:nvPr/>
        </p:nvSpPr>
        <p:spPr>
          <a:xfrm>
            <a:off x="2638425" y="4287589"/>
            <a:ext cx="2051000" cy="9525"/>
          </a:xfrm>
          <a:prstGeom prst="rect">
            <a:avLst/>
          </a:prstGeom>
          <a:solidFill>
            <a:srgbClr val="E3DCD3"/>
          </a:solidFill>
          <a:ln>
            <a:noFill/>
          </a:ln>
          <a:effectLst/>
        </p:spPr>
        <p:txBody>
          <a:bodyPr rtlCol="0" anchor="ctr"/>
          <a:lstStyle/>
          <a:p>
            <a:pPr algn="ctr"/>
            <a:endParaRPr/>
          </a:p>
        </p:txBody>
      </p:sp>
      <p:sp>
        <p:nvSpPr>
          <p:cNvPr id="98" name="Rectangle 97"/>
          <p:cNvSpPr/>
          <p:nvPr/>
        </p:nvSpPr>
        <p:spPr>
          <a:xfrm>
            <a:off x="2638425" y="3878907"/>
            <a:ext cx="9525" cy="418207"/>
          </a:xfrm>
          <a:prstGeom prst="rect">
            <a:avLst/>
          </a:prstGeom>
          <a:solidFill>
            <a:srgbClr val="E3DCD3"/>
          </a:solidFill>
          <a:ln>
            <a:noFill/>
          </a:ln>
          <a:effectLst/>
        </p:spPr>
        <p:txBody>
          <a:bodyPr rtlCol="0" anchor="ctr"/>
          <a:lstStyle/>
          <a:p>
            <a:pPr algn="ctr"/>
            <a:endParaRPr/>
          </a:p>
        </p:txBody>
      </p:sp>
      <p:sp>
        <p:nvSpPr>
          <p:cNvPr id="99" name="Text: SCIENTIFIC SAFETY ALLIANCE">
            <a:hlinkClick r:id="rId7"/>
          </p:cNvPr>
          <p:cNvSpPr txBox="1"/>
          <p:nvPr/>
        </p:nvSpPr>
        <p:spPr>
          <a:xfrm>
            <a:off x="3050679" y="4026098"/>
            <a:ext cx="1240780" cy="123825"/>
          </a:xfrm>
          <a:prstGeom prst="rect">
            <a:avLst/>
          </a:prstGeom>
          <a:noFill/>
        </p:spPr>
        <p:txBody>
          <a:bodyPr wrap="square" lIns="0" tIns="0" rIns="0" bIns="0" anchor="t">
            <a:spAutoFit/>
          </a:bodyPr>
          <a:lstStyle/>
          <a:p>
            <a:pPr algn="ctr">
              <a:lnSpc>
                <a:spcPts val="975"/>
              </a:lnSpc>
            </a:pPr>
            <a:r>
              <a:rPr sz="712" b="1" i="0" spc="45">
                <a:solidFill>
                  <a:srgbClr val="1B1A1A"/>
                </a:solidFill>
                <a:latin typeface="Calibri"/>
              </a:rPr>
              <a:t>SCIENTIFIC SAFETY ALLIANCE</a:t>
            </a:r>
          </a:p>
        </p:txBody>
      </p:sp>
      <p:sp>
        <p:nvSpPr>
          <p:cNvPr id="100" name="Text: Certification testing for pharmacy">
            <a:hlinkClick r:id="rId7"/>
          </p:cNvPr>
          <p:cNvSpPr txBox="1"/>
          <p:nvPr/>
        </p:nvSpPr>
        <p:spPr>
          <a:xfrm>
            <a:off x="2638425" y="4382839"/>
            <a:ext cx="2065288" cy="414338"/>
          </a:xfrm>
          <a:prstGeom prst="rect">
            <a:avLst/>
          </a:prstGeom>
          <a:noFill/>
        </p:spPr>
        <p:txBody>
          <a:bodyPr wrap="square" lIns="0" tIns="0" rIns="0" bIns="0" anchor="t">
            <a:spAutoFit/>
          </a:bodyPr>
          <a:lstStyle/>
          <a:p>
            <a:pPr algn="ctr">
              <a:lnSpc>
                <a:spcPts val="1088"/>
              </a:lnSpc>
            </a:pPr>
            <a:r>
              <a:rPr sz="788" b="0" i="0" spc="15">
                <a:solidFill>
                  <a:srgbClr val="333231"/>
                </a:solidFill>
                <a:latin typeface="Calibri"/>
              </a:rPr>
              <a:t>Certification testing for pharmacy compounding spaces, laboratories, and bio-containment facilities</a:t>
            </a:r>
          </a:p>
        </p:txBody>
      </p:sp>
      <p:sp>
        <p:nvSpPr>
          <p:cNvPr id="101" name="Text: LIFE SCIENCES &amp; DIAGNOSTICS">
            <a:hlinkClick r:id="rId7"/>
          </p:cNvPr>
          <p:cNvSpPr txBox="1"/>
          <p:nvPr/>
        </p:nvSpPr>
        <p:spPr>
          <a:xfrm>
            <a:off x="2638425" y="4797326"/>
            <a:ext cx="2065288" cy="104775"/>
          </a:xfrm>
          <a:prstGeom prst="rect">
            <a:avLst/>
          </a:prstGeom>
          <a:noFill/>
        </p:spPr>
        <p:txBody>
          <a:bodyPr wrap="square" lIns="0" tIns="0" rIns="0" bIns="0" anchor="t">
            <a:spAutoFit/>
          </a:bodyPr>
          <a:lstStyle/>
          <a:p>
            <a:pPr algn="ctr">
              <a:lnSpc>
                <a:spcPts val="825"/>
              </a:lnSpc>
            </a:pPr>
            <a:r>
              <a:rPr sz="600" b="1" i="0" spc="105">
                <a:solidFill>
                  <a:srgbClr val="8C6239"/>
                </a:solidFill>
                <a:latin typeface="Calibri"/>
              </a:rPr>
              <a:t>LIFE SCIENCES &amp; DIAGNOSTICS</a:t>
            </a:r>
          </a:p>
        </p:txBody>
      </p:sp>
      <p:sp>
        <p:nvSpPr>
          <p:cNvPr id="102" name="Rectangle 101"/>
          <p:cNvSpPr/>
          <p:nvPr/>
        </p:nvSpPr>
        <p:spPr>
          <a:xfrm>
            <a:off x="4927550" y="3174950"/>
            <a:ext cx="2298650" cy="1822400"/>
          </a:xfrm>
          <a:prstGeom prst="rect">
            <a:avLst/>
          </a:prstGeom>
          <a:solidFill>
            <a:srgbClr val="FFFFFF"/>
          </a:solidFill>
          <a:ln>
            <a:noFill/>
          </a:ln>
          <a:effectLst/>
        </p:spPr>
        <p:txBody>
          <a:bodyPr rtlCol="0" anchor="ctr"/>
          <a:lstStyle/>
          <a:p>
            <a:pPr algn="ctr"/>
            <a:endParaRPr/>
          </a:p>
        </p:txBody>
      </p:sp>
      <p:sp>
        <p:nvSpPr>
          <p:cNvPr id="103" name="Rectangle 102"/>
          <p:cNvSpPr/>
          <p:nvPr/>
        </p:nvSpPr>
        <p:spPr>
          <a:xfrm>
            <a:off x="4927550" y="3174950"/>
            <a:ext cx="2298650" cy="28575"/>
          </a:xfrm>
          <a:prstGeom prst="rect">
            <a:avLst/>
          </a:prstGeom>
          <a:solidFill>
            <a:srgbClr val="B68757"/>
          </a:solidFill>
          <a:ln>
            <a:noFill/>
          </a:ln>
          <a:effectLst/>
        </p:spPr>
        <p:txBody>
          <a:bodyPr rtlCol="0" anchor="ctr"/>
          <a:lstStyle/>
          <a:p>
            <a:pPr algn="ctr"/>
            <a:endParaRPr/>
          </a:p>
        </p:txBody>
      </p:sp>
      <p:sp>
        <p:nvSpPr>
          <p:cNvPr id="104" name="Rectangle 103"/>
          <p:cNvSpPr/>
          <p:nvPr/>
        </p:nvSpPr>
        <p:spPr>
          <a:xfrm>
            <a:off x="7216676" y="3174950"/>
            <a:ext cx="9525" cy="1822400"/>
          </a:xfrm>
          <a:prstGeom prst="rect">
            <a:avLst/>
          </a:prstGeom>
          <a:solidFill>
            <a:srgbClr val="E3DCD3"/>
          </a:solidFill>
          <a:ln>
            <a:noFill/>
          </a:ln>
          <a:effectLst/>
        </p:spPr>
        <p:txBody>
          <a:bodyPr rtlCol="0" anchor="ctr"/>
          <a:lstStyle/>
          <a:p>
            <a:pPr algn="ctr"/>
            <a:endParaRPr/>
          </a:p>
        </p:txBody>
      </p:sp>
      <p:sp>
        <p:nvSpPr>
          <p:cNvPr id="105" name="Rectangle 104"/>
          <p:cNvSpPr/>
          <p:nvPr/>
        </p:nvSpPr>
        <p:spPr>
          <a:xfrm>
            <a:off x="4927550" y="4987826"/>
            <a:ext cx="2298650" cy="9525"/>
          </a:xfrm>
          <a:prstGeom prst="rect">
            <a:avLst/>
          </a:prstGeom>
          <a:solidFill>
            <a:srgbClr val="E3DCD3"/>
          </a:solidFill>
          <a:ln>
            <a:noFill/>
          </a:ln>
          <a:effectLst/>
        </p:spPr>
        <p:txBody>
          <a:bodyPr rtlCol="0" anchor="ctr"/>
          <a:lstStyle/>
          <a:p>
            <a:pPr algn="ctr"/>
            <a:endParaRPr/>
          </a:p>
        </p:txBody>
      </p:sp>
      <p:sp>
        <p:nvSpPr>
          <p:cNvPr id="106" name="Rectangle 105"/>
          <p:cNvSpPr/>
          <p:nvPr/>
        </p:nvSpPr>
        <p:spPr>
          <a:xfrm>
            <a:off x="4927550" y="3174950"/>
            <a:ext cx="9525" cy="1822400"/>
          </a:xfrm>
          <a:prstGeom prst="rect">
            <a:avLst/>
          </a:prstGeom>
          <a:solidFill>
            <a:srgbClr val="E3DCD3"/>
          </a:solidFill>
          <a:ln>
            <a:noFill/>
          </a:ln>
          <a:effectLst/>
        </p:spPr>
        <p:txBody>
          <a:bodyPr rtlCol="0" anchor="ctr"/>
          <a:lstStyle/>
          <a:p>
            <a:pPr algn="ctr"/>
            <a:endParaRPr/>
          </a:p>
        </p:txBody>
      </p:sp>
      <p:sp>
        <p:nvSpPr>
          <p:cNvPr id="107" name="Rectangle 106"/>
          <p:cNvSpPr/>
          <p:nvPr/>
        </p:nvSpPr>
        <p:spPr>
          <a:xfrm>
            <a:off x="5051375" y="3298775"/>
            <a:ext cx="2051000" cy="419100"/>
          </a:xfrm>
          <a:prstGeom prst="rect">
            <a:avLst/>
          </a:prstGeom>
          <a:solidFill>
            <a:srgbClr val="FFFFFF"/>
          </a:solidFill>
          <a:ln>
            <a:noFill/>
          </a:ln>
          <a:effectLst/>
        </p:spPr>
        <p:txBody>
          <a:bodyPr rtlCol="0" anchor="ctr"/>
          <a:lstStyle/>
          <a:p>
            <a:pPr algn="ctr"/>
            <a:endParaRPr/>
          </a:p>
        </p:txBody>
      </p:sp>
      <p:sp>
        <p:nvSpPr>
          <p:cNvPr id="108" name="Rectangle 107"/>
          <p:cNvSpPr/>
          <p:nvPr/>
        </p:nvSpPr>
        <p:spPr>
          <a:xfrm>
            <a:off x="5051375" y="3298775"/>
            <a:ext cx="2051000" cy="9525"/>
          </a:xfrm>
          <a:prstGeom prst="rect">
            <a:avLst/>
          </a:prstGeom>
          <a:solidFill>
            <a:srgbClr val="E3DCD3"/>
          </a:solidFill>
          <a:ln>
            <a:noFill/>
          </a:ln>
          <a:effectLst/>
        </p:spPr>
        <p:txBody>
          <a:bodyPr rtlCol="0" anchor="ctr"/>
          <a:lstStyle/>
          <a:p>
            <a:pPr algn="ctr"/>
            <a:endParaRPr/>
          </a:p>
        </p:txBody>
      </p:sp>
      <p:sp>
        <p:nvSpPr>
          <p:cNvPr id="109" name="Rectangle 108"/>
          <p:cNvSpPr/>
          <p:nvPr/>
        </p:nvSpPr>
        <p:spPr>
          <a:xfrm>
            <a:off x="7092851" y="3298775"/>
            <a:ext cx="9525" cy="419100"/>
          </a:xfrm>
          <a:prstGeom prst="rect">
            <a:avLst/>
          </a:prstGeom>
          <a:solidFill>
            <a:srgbClr val="E3DCD3"/>
          </a:solidFill>
          <a:ln>
            <a:noFill/>
          </a:ln>
          <a:effectLst/>
        </p:spPr>
        <p:txBody>
          <a:bodyPr rtlCol="0" anchor="ctr"/>
          <a:lstStyle/>
          <a:p>
            <a:pPr algn="ctr"/>
            <a:endParaRPr/>
          </a:p>
        </p:txBody>
      </p:sp>
      <p:sp>
        <p:nvSpPr>
          <p:cNvPr id="110" name="Rectangle 109"/>
          <p:cNvSpPr/>
          <p:nvPr/>
        </p:nvSpPr>
        <p:spPr>
          <a:xfrm>
            <a:off x="5051375" y="3708350"/>
            <a:ext cx="2051000" cy="9525"/>
          </a:xfrm>
          <a:prstGeom prst="rect">
            <a:avLst/>
          </a:prstGeom>
          <a:solidFill>
            <a:srgbClr val="E3DCD3"/>
          </a:solidFill>
          <a:ln>
            <a:noFill/>
          </a:ln>
          <a:effectLst/>
        </p:spPr>
        <p:txBody>
          <a:bodyPr rtlCol="0" anchor="ctr"/>
          <a:lstStyle/>
          <a:p>
            <a:pPr algn="ctr"/>
            <a:endParaRPr/>
          </a:p>
        </p:txBody>
      </p:sp>
      <p:sp>
        <p:nvSpPr>
          <p:cNvPr id="111" name="Rectangle 110"/>
          <p:cNvSpPr/>
          <p:nvPr/>
        </p:nvSpPr>
        <p:spPr>
          <a:xfrm>
            <a:off x="5051375" y="3298775"/>
            <a:ext cx="9525" cy="419100"/>
          </a:xfrm>
          <a:prstGeom prst="rect">
            <a:avLst/>
          </a:prstGeom>
          <a:solidFill>
            <a:srgbClr val="E3DCD3"/>
          </a:solidFill>
          <a:ln>
            <a:noFill/>
          </a:ln>
          <a:effectLst/>
        </p:spPr>
        <p:txBody>
          <a:bodyPr rtlCol="0" anchor="ctr"/>
          <a:lstStyle/>
          <a:p>
            <a:pPr algn="ctr"/>
            <a:endParaRPr/>
          </a:p>
        </p:txBody>
      </p:sp>
      <p:pic>
        <p:nvPicPr>
          <p:cNvPr id="112" name="Picture 111" descr="Dental Holdings"/>
          <p:cNvPicPr>
            <a:picLocks noChangeAspect="1"/>
          </p:cNvPicPr>
          <p:nvPr/>
        </p:nvPicPr>
        <p:blipFill>
          <a:blip r:embed="rId8"/>
          <a:srcRect/>
          <a:stretch>
            <a:fillRect/>
          </a:stretch>
        </p:blipFill>
        <p:spPr>
          <a:xfrm>
            <a:off x="5156618" y="3432572"/>
            <a:ext cx="1840516" cy="151358"/>
          </a:xfrm>
          <a:prstGeom prst="rect">
            <a:avLst/>
          </a:prstGeom>
        </p:spPr>
      </p:pic>
      <p:sp>
        <p:nvSpPr>
          <p:cNvPr id="113" name="Text: HAS BEEN ACQUIRED BY">
            <a:hlinkClick r:id="rId9"/>
          </p:cNvPr>
          <p:cNvSpPr txBox="1"/>
          <p:nvPr/>
        </p:nvSpPr>
        <p:spPr>
          <a:xfrm>
            <a:off x="5051375" y="3717875"/>
            <a:ext cx="2065288" cy="161925"/>
          </a:xfrm>
          <a:prstGeom prst="rect">
            <a:avLst/>
          </a:prstGeom>
          <a:noFill/>
        </p:spPr>
        <p:txBody>
          <a:bodyPr wrap="square" lIns="0" tIns="0" rIns="0" bIns="0" anchor="t">
            <a:spAutoFit/>
          </a:bodyPr>
          <a:lstStyle/>
          <a:p>
            <a:pPr algn="ctr">
              <a:lnSpc>
                <a:spcPts val="1275"/>
              </a:lnSpc>
            </a:pPr>
            <a:r>
              <a:rPr sz="600" b="0" i="0" spc="112">
                <a:solidFill>
                  <a:srgbClr val="6F6A66"/>
                </a:solidFill>
                <a:latin typeface="Calibri"/>
              </a:rPr>
              <a:t>HAS BEEN ACQUIRED BY</a:t>
            </a:r>
          </a:p>
        </p:txBody>
      </p:sp>
      <p:sp>
        <p:nvSpPr>
          <p:cNvPr id="114" name="Rectangle 113"/>
          <p:cNvSpPr/>
          <p:nvPr/>
        </p:nvSpPr>
        <p:spPr>
          <a:xfrm>
            <a:off x="5051375" y="3879800"/>
            <a:ext cx="2051000" cy="419100"/>
          </a:xfrm>
          <a:prstGeom prst="rect">
            <a:avLst/>
          </a:prstGeom>
          <a:solidFill>
            <a:srgbClr val="FFFFFF"/>
          </a:solidFill>
          <a:ln>
            <a:noFill/>
          </a:ln>
          <a:effectLst/>
        </p:spPr>
        <p:txBody>
          <a:bodyPr rtlCol="0" anchor="ctr"/>
          <a:lstStyle/>
          <a:p>
            <a:pPr algn="ctr"/>
            <a:endParaRPr/>
          </a:p>
        </p:txBody>
      </p:sp>
      <p:sp>
        <p:nvSpPr>
          <p:cNvPr id="115" name="Rectangle 114"/>
          <p:cNvSpPr/>
          <p:nvPr/>
        </p:nvSpPr>
        <p:spPr>
          <a:xfrm>
            <a:off x="5051375" y="3879800"/>
            <a:ext cx="2051000" cy="9525"/>
          </a:xfrm>
          <a:prstGeom prst="rect">
            <a:avLst/>
          </a:prstGeom>
          <a:solidFill>
            <a:srgbClr val="E3DCD3"/>
          </a:solidFill>
          <a:ln>
            <a:noFill/>
          </a:ln>
          <a:effectLst/>
        </p:spPr>
        <p:txBody>
          <a:bodyPr rtlCol="0" anchor="ctr"/>
          <a:lstStyle/>
          <a:p>
            <a:pPr algn="ctr"/>
            <a:endParaRPr/>
          </a:p>
        </p:txBody>
      </p:sp>
      <p:sp>
        <p:nvSpPr>
          <p:cNvPr id="116" name="Rectangle 115"/>
          <p:cNvSpPr/>
          <p:nvPr/>
        </p:nvSpPr>
        <p:spPr>
          <a:xfrm>
            <a:off x="7092851" y="3879800"/>
            <a:ext cx="9525" cy="419100"/>
          </a:xfrm>
          <a:prstGeom prst="rect">
            <a:avLst/>
          </a:prstGeom>
          <a:solidFill>
            <a:srgbClr val="E3DCD3"/>
          </a:solidFill>
          <a:ln>
            <a:noFill/>
          </a:ln>
          <a:effectLst/>
        </p:spPr>
        <p:txBody>
          <a:bodyPr rtlCol="0" anchor="ctr"/>
          <a:lstStyle/>
          <a:p>
            <a:pPr algn="ctr"/>
            <a:endParaRPr/>
          </a:p>
        </p:txBody>
      </p:sp>
      <p:sp>
        <p:nvSpPr>
          <p:cNvPr id="117" name="Rectangle 116"/>
          <p:cNvSpPr/>
          <p:nvPr/>
        </p:nvSpPr>
        <p:spPr>
          <a:xfrm>
            <a:off x="5051375" y="4289375"/>
            <a:ext cx="2051000" cy="9525"/>
          </a:xfrm>
          <a:prstGeom prst="rect">
            <a:avLst/>
          </a:prstGeom>
          <a:solidFill>
            <a:srgbClr val="E3DCD3"/>
          </a:solidFill>
          <a:ln>
            <a:noFill/>
          </a:ln>
          <a:effectLst/>
        </p:spPr>
        <p:txBody>
          <a:bodyPr rtlCol="0" anchor="ctr"/>
          <a:lstStyle/>
          <a:p>
            <a:pPr algn="ctr"/>
            <a:endParaRPr/>
          </a:p>
        </p:txBody>
      </p:sp>
      <p:sp>
        <p:nvSpPr>
          <p:cNvPr id="118" name="Rectangle 117"/>
          <p:cNvSpPr/>
          <p:nvPr/>
        </p:nvSpPr>
        <p:spPr>
          <a:xfrm>
            <a:off x="5051375" y="3879800"/>
            <a:ext cx="9525" cy="419100"/>
          </a:xfrm>
          <a:prstGeom prst="rect">
            <a:avLst/>
          </a:prstGeom>
          <a:solidFill>
            <a:srgbClr val="E3DCD3"/>
          </a:solidFill>
          <a:ln>
            <a:noFill/>
          </a:ln>
          <a:effectLst/>
        </p:spPr>
        <p:txBody>
          <a:bodyPr rtlCol="0" anchor="ctr"/>
          <a:lstStyle/>
          <a:p>
            <a:pPr algn="ctr"/>
            <a:endParaRPr/>
          </a:p>
        </p:txBody>
      </p:sp>
      <p:pic>
        <p:nvPicPr>
          <p:cNvPr id="119" name="Picture 118" descr="Solmetex"/>
          <p:cNvPicPr>
            <a:picLocks noChangeAspect="1"/>
          </p:cNvPicPr>
          <p:nvPr/>
        </p:nvPicPr>
        <p:blipFill>
          <a:blip r:embed="rId10"/>
          <a:srcRect/>
          <a:stretch>
            <a:fillRect/>
          </a:stretch>
        </p:blipFill>
        <p:spPr>
          <a:xfrm>
            <a:off x="5612626" y="3927574"/>
            <a:ext cx="928351" cy="323701"/>
          </a:xfrm>
          <a:prstGeom prst="rect">
            <a:avLst/>
          </a:prstGeom>
        </p:spPr>
      </p:pic>
      <p:sp>
        <p:nvSpPr>
          <p:cNvPr id="120" name="Text: Patent holder and brand owner of R">
            <a:hlinkClick r:id="rId9"/>
          </p:cNvPr>
          <p:cNvSpPr txBox="1"/>
          <p:nvPr/>
        </p:nvSpPr>
        <p:spPr>
          <a:xfrm>
            <a:off x="5051375" y="4384625"/>
            <a:ext cx="2065288" cy="276225"/>
          </a:xfrm>
          <a:prstGeom prst="rect">
            <a:avLst/>
          </a:prstGeom>
          <a:noFill/>
        </p:spPr>
        <p:txBody>
          <a:bodyPr wrap="square" lIns="0" tIns="0" rIns="0" bIns="0" anchor="t">
            <a:spAutoFit/>
          </a:bodyPr>
          <a:lstStyle/>
          <a:p>
            <a:pPr algn="ctr">
              <a:lnSpc>
                <a:spcPts val="1088"/>
              </a:lnSpc>
            </a:pPr>
            <a:r>
              <a:rPr sz="788" b="0" i="0" spc="15">
                <a:solidFill>
                  <a:srgbClr val="333231"/>
                </a:solidFill>
                <a:latin typeface="Calibri"/>
              </a:rPr>
              <a:t>Patent holder and brand owner of ReLeaf hands-free dental suction devices</a:t>
            </a:r>
          </a:p>
        </p:txBody>
      </p:sp>
      <p:sp>
        <p:nvSpPr>
          <p:cNvPr id="121" name="Text: MEDICAL PRODUCTS &amp; DISTRIBUTION">
            <a:hlinkClick r:id="rId9"/>
          </p:cNvPr>
          <p:cNvSpPr txBox="1"/>
          <p:nvPr/>
        </p:nvSpPr>
        <p:spPr>
          <a:xfrm>
            <a:off x="5051375" y="4797326"/>
            <a:ext cx="2065288" cy="104775"/>
          </a:xfrm>
          <a:prstGeom prst="rect">
            <a:avLst/>
          </a:prstGeom>
          <a:noFill/>
        </p:spPr>
        <p:txBody>
          <a:bodyPr wrap="square" lIns="0" tIns="0" rIns="0" bIns="0" anchor="t">
            <a:spAutoFit/>
          </a:bodyPr>
          <a:lstStyle/>
          <a:p>
            <a:pPr algn="ctr">
              <a:lnSpc>
                <a:spcPts val="825"/>
              </a:lnSpc>
            </a:pPr>
            <a:r>
              <a:rPr sz="600" b="1" i="0" spc="105">
                <a:solidFill>
                  <a:srgbClr val="8C6239"/>
                </a:solidFill>
                <a:latin typeface="Calibri"/>
              </a:rPr>
              <a:t>MEDICAL PRODUCTS &amp; DISTRIBUTION</a:t>
            </a:r>
          </a:p>
        </p:txBody>
      </p:sp>
      <p:sp>
        <p:nvSpPr>
          <p:cNvPr id="122" name="Rectangle 121"/>
          <p:cNvSpPr/>
          <p:nvPr/>
        </p:nvSpPr>
        <p:spPr>
          <a:xfrm>
            <a:off x="7340501" y="3174950"/>
            <a:ext cx="2298650" cy="1822400"/>
          </a:xfrm>
          <a:prstGeom prst="rect">
            <a:avLst/>
          </a:prstGeom>
          <a:solidFill>
            <a:srgbClr val="FFFFFF"/>
          </a:solidFill>
          <a:ln>
            <a:noFill/>
          </a:ln>
          <a:effectLst/>
        </p:spPr>
        <p:txBody>
          <a:bodyPr rtlCol="0" anchor="ctr"/>
          <a:lstStyle/>
          <a:p>
            <a:pPr algn="ctr"/>
            <a:endParaRPr/>
          </a:p>
        </p:txBody>
      </p:sp>
      <p:sp>
        <p:nvSpPr>
          <p:cNvPr id="123" name="Rectangle 122"/>
          <p:cNvSpPr/>
          <p:nvPr/>
        </p:nvSpPr>
        <p:spPr>
          <a:xfrm>
            <a:off x="7340501" y="3174950"/>
            <a:ext cx="2298650" cy="28575"/>
          </a:xfrm>
          <a:prstGeom prst="rect">
            <a:avLst/>
          </a:prstGeom>
          <a:solidFill>
            <a:srgbClr val="B68757"/>
          </a:solidFill>
          <a:ln>
            <a:noFill/>
          </a:ln>
          <a:effectLst/>
        </p:spPr>
        <p:txBody>
          <a:bodyPr rtlCol="0" anchor="ctr"/>
          <a:lstStyle/>
          <a:p>
            <a:pPr algn="ctr"/>
            <a:endParaRPr/>
          </a:p>
        </p:txBody>
      </p:sp>
      <p:sp>
        <p:nvSpPr>
          <p:cNvPr id="124" name="Rectangle 123"/>
          <p:cNvSpPr/>
          <p:nvPr/>
        </p:nvSpPr>
        <p:spPr>
          <a:xfrm>
            <a:off x="9629626" y="3174950"/>
            <a:ext cx="9525" cy="1822400"/>
          </a:xfrm>
          <a:prstGeom prst="rect">
            <a:avLst/>
          </a:prstGeom>
          <a:solidFill>
            <a:srgbClr val="E3DCD3"/>
          </a:solidFill>
          <a:ln>
            <a:noFill/>
          </a:ln>
          <a:effectLst/>
        </p:spPr>
        <p:txBody>
          <a:bodyPr rtlCol="0" anchor="ctr"/>
          <a:lstStyle/>
          <a:p>
            <a:pPr algn="ctr"/>
            <a:endParaRPr/>
          </a:p>
        </p:txBody>
      </p:sp>
      <p:sp>
        <p:nvSpPr>
          <p:cNvPr id="125" name="Rectangle 124"/>
          <p:cNvSpPr/>
          <p:nvPr/>
        </p:nvSpPr>
        <p:spPr>
          <a:xfrm>
            <a:off x="7340501" y="4987826"/>
            <a:ext cx="2298650" cy="9525"/>
          </a:xfrm>
          <a:prstGeom prst="rect">
            <a:avLst/>
          </a:prstGeom>
          <a:solidFill>
            <a:srgbClr val="E3DCD3"/>
          </a:solidFill>
          <a:ln>
            <a:noFill/>
          </a:ln>
          <a:effectLst/>
        </p:spPr>
        <p:txBody>
          <a:bodyPr rtlCol="0" anchor="ctr"/>
          <a:lstStyle/>
          <a:p>
            <a:pPr algn="ctr"/>
            <a:endParaRPr/>
          </a:p>
        </p:txBody>
      </p:sp>
      <p:sp>
        <p:nvSpPr>
          <p:cNvPr id="126" name="Rectangle 125"/>
          <p:cNvSpPr/>
          <p:nvPr/>
        </p:nvSpPr>
        <p:spPr>
          <a:xfrm>
            <a:off x="7340501" y="3174950"/>
            <a:ext cx="9525" cy="1822400"/>
          </a:xfrm>
          <a:prstGeom prst="rect">
            <a:avLst/>
          </a:prstGeom>
          <a:solidFill>
            <a:srgbClr val="E3DCD3"/>
          </a:solidFill>
          <a:ln>
            <a:noFill/>
          </a:ln>
          <a:effectLst/>
        </p:spPr>
        <p:txBody>
          <a:bodyPr rtlCol="0" anchor="ctr"/>
          <a:lstStyle/>
          <a:p>
            <a:pPr algn="ctr"/>
            <a:endParaRPr/>
          </a:p>
        </p:txBody>
      </p:sp>
      <p:sp>
        <p:nvSpPr>
          <p:cNvPr id="127" name="Rectangle 126"/>
          <p:cNvSpPr/>
          <p:nvPr/>
        </p:nvSpPr>
        <p:spPr>
          <a:xfrm>
            <a:off x="7464326" y="3298775"/>
            <a:ext cx="2051000" cy="419100"/>
          </a:xfrm>
          <a:prstGeom prst="rect">
            <a:avLst/>
          </a:prstGeom>
          <a:solidFill>
            <a:srgbClr val="FFFFFF"/>
          </a:solidFill>
          <a:ln>
            <a:noFill/>
          </a:ln>
          <a:effectLst/>
        </p:spPr>
        <p:txBody>
          <a:bodyPr rtlCol="0" anchor="ctr"/>
          <a:lstStyle/>
          <a:p>
            <a:pPr algn="ctr"/>
            <a:endParaRPr/>
          </a:p>
        </p:txBody>
      </p:sp>
      <p:sp>
        <p:nvSpPr>
          <p:cNvPr id="128" name="Rectangle 127"/>
          <p:cNvSpPr/>
          <p:nvPr/>
        </p:nvSpPr>
        <p:spPr>
          <a:xfrm>
            <a:off x="7464326" y="3298775"/>
            <a:ext cx="2051000" cy="9525"/>
          </a:xfrm>
          <a:prstGeom prst="rect">
            <a:avLst/>
          </a:prstGeom>
          <a:solidFill>
            <a:srgbClr val="E3DCD3"/>
          </a:solidFill>
          <a:ln>
            <a:noFill/>
          </a:ln>
          <a:effectLst/>
        </p:spPr>
        <p:txBody>
          <a:bodyPr rtlCol="0" anchor="ctr"/>
          <a:lstStyle/>
          <a:p>
            <a:pPr algn="ctr"/>
            <a:endParaRPr/>
          </a:p>
        </p:txBody>
      </p:sp>
      <p:sp>
        <p:nvSpPr>
          <p:cNvPr id="129" name="Rectangle 128"/>
          <p:cNvSpPr/>
          <p:nvPr/>
        </p:nvSpPr>
        <p:spPr>
          <a:xfrm>
            <a:off x="9505801" y="3298775"/>
            <a:ext cx="9525" cy="419100"/>
          </a:xfrm>
          <a:prstGeom prst="rect">
            <a:avLst/>
          </a:prstGeom>
          <a:solidFill>
            <a:srgbClr val="E3DCD3"/>
          </a:solidFill>
          <a:ln>
            <a:noFill/>
          </a:ln>
          <a:effectLst/>
        </p:spPr>
        <p:txBody>
          <a:bodyPr rtlCol="0" anchor="ctr"/>
          <a:lstStyle/>
          <a:p>
            <a:pPr algn="ctr"/>
            <a:endParaRPr/>
          </a:p>
        </p:txBody>
      </p:sp>
      <p:sp>
        <p:nvSpPr>
          <p:cNvPr id="130" name="Rectangle 129"/>
          <p:cNvSpPr/>
          <p:nvPr/>
        </p:nvSpPr>
        <p:spPr>
          <a:xfrm>
            <a:off x="7464326" y="3708350"/>
            <a:ext cx="2051000" cy="9525"/>
          </a:xfrm>
          <a:prstGeom prst="rect">
            <a:avLst/>
          </a:prstGeom>
          <a:solidFill>
            <a:srgbClr val="E3DCD3"/>
          </a:solidFill>
          <a:ln>
            <a:noFill/>
          </a:ln>
          <a:effectLst/>
        </p:spPr>
        <p:txBody>
          <a:bodyPr rtlCol="0" anchor="ctr"/>
          <a:lstStyle/>
          <a:p>
            <a:pPr algn="ctr"/>
            <a:endParaRPr/>
          </a:p>
        </p:txBody>
      </p:sp>
      <p:sp>
        <p:nvSpPr>
          <p:cNvPr id="131" name="Rectangle 130"/>
          <p:cNvSpPr/>
          <p:nvPr/>
        </p:nvSpPr>
        <p:spPr>
          <a:xfrm>
            <a:off x="7464326" y="3298775"/>
            <a:ext cx="9525" cy="419100"/>
          </a:xfrm>
          <a:prstGeom prst="rect">
            <a:avLst/>
          </a:prstGeom>
          <a:solidFill>
            <a:srgbClr val="E3DCD3"/>
          </a:solidFill>
          <a:ln>
            <a:noFill/>
          </a:ln>
          <a:effectLst/>
        </p:spPr>
        <p:txBody>
          <a:bodyPr rtlCol="0" anchor="ctr"/>
          <a:lstStyle/>
          <a:p>
            <a:pPr algn="ctr"/>
            <a:endParaRPr/>
          </a:p>
        </p:txBody>
      </p:sp>
      <p:sp>
        <p:nvSpPr>
          <p:cNvPr id="132" name="Text: FOSTERBRIDGE">
            <a:hlinkClick r:id="rId11"/>
          </p:cNvPr>
          <p:cNvSpPr txBox="1"/>
          <p:nvPr/>
        </p:nvSpPr>
        <p:spPr>
          <a:xfrm>
            <a:off x="8171259" y="3446413"/>
            <a:ext cx="651421" cy="123825"/>
          </a:xfrm>
          <a:prstGeom prst="rect">
            <a:avLst/>
          </a:prstGeom>
          <a:noFill/>
        </p:spPr>
        <p:txBody>
          <a:bodyPr wrap="square" lIns="0" tIns="0" rIns="0" bIns="0" anchor="t">
            <a:spAutoFit/>
          </a:bodyPr>
          <a:lstStyle/>
          <a:p>
            <a:pPr algn="ctr">
              <a:lnSpc>
                <a:spcPts val="975"/>
              </a:lnSpc>
            </a:pPr>
            <a:r>
              <a:rPr sz="712" b="1" i="0" spc="45">
                <a:solidFill>
                  <a:srgbClr val="1B1A1A"/>
                </a:solidFill>
                <a:latin typeface="Calibri"/>
              </a:rPr>
              <a:t>FOSTERBRIDGE</a:t>
            </a:r>
          </a:p>
        </p:txBody>
      </p:sp>
      <p:sp>
        <p:nvSpPr>
          <p:cNvPr id="133" name="Text: HAS BEEN ACQUIRED BY">
            <a:hlinkClick r:id="rId11"/>
          </p:cNvPr>
          <p:cNvSpPr txBox="1"/>
          <p:nvPr/>
        </p:nvSpPr>
        <p:spPr>
          <a:xfrm>
            <a:off x="7464326" y="3717875"/>
            <a:ext cx="2065288" cy="161925"/>
          </a:xfrm>
          <a:prstGeom prst="rect">
            <a:avLst/>
          </a:prstGeom>
          <a:noFill/>
        </p:spPr>
        <p:txBody>
          <a:bodyPr wrap="square" lIns="0" tIns="0" rIns="0" bIns="0" anchor="t">
            <a:spAutoFit/>
          </a:bodyPr>
          <a:lstStyle/>
          <a:p>
            <a:pPr algn="ctr">
              <a:lnSpc>
                <a:spcPts val="1275"/>
              </a:lnSpc>
            </a:pPr>
            <a:r>
              <a:rPr sz="600" b="0" i="0" spc="112">
                <a:solidFill>
                  <a:srgbClr val="6F6A66"/>
                </a:solidFill>
                <a:latin typeface="Calibri"/>
              </a:rPr>
              <a:t>HAS BEEN ACQUIRED BY</a:t>
            </a:r>
          </a:p>
        </p:txBody>
      </p:sp>
      <p:sp>
        <p:nvSpPr>
          <p:cNvPr id="134" name="Rectangle 133"/>
          <p:cNvSpPr/>
          <p:nvPr/>
        </p:nvSpPr>
        <p:spPr>
          <a:xfrm>
            <a:off x="7464326" y="3879800"/>
            <a:ext cx="2051000" cy="419100"/>
          </a:xfrm>
          <a:prstGeom prst="rect">
            <a:avLst/>
          </a:prstGeom>
          <a:solidFill>
            <a:srgbClr val="FFFFFF"/>
          </a:solidFill>
          <a:ln>
            <a:noFill/>
          </a:ln>
          <a:effectLst/>
        </p:spPr>
        <p:txBody>
          <a:bodyPr rtlCol="0" anchor="ctr"/>
          <a:lstStyle/>
          <a:p>
            <a:pPr algn="ctr"/>
            <a:endParaRPr/>
          </a:p>
        </p:txBody>
      </p:sp>
      <p:sp>
        <p:nvSpPr>
          <p:cNvPr id="135" name="Rectangle 134"/>
          <p:cNvSpPr/>
          <p:nvPr/>
        </p:nvSpPr>
        <p:spPr>
          <a:xfrm>
            <a:off x="7464326" y="3879800"/>
            <a:ext cx="2051000" cy="9525"/>
          </a:xfrm>
          <a:prstGeom prst="rect">
            <a:avLst/>
          </a:prstGeom>
          <a:solidFill>
            <a:srgbClr val="E3DCD3"/>
          </a:solidFill>
          <a:ln>
            <a:noFill/>
          </a:ln>
          <a:effectLst/>
        </p:spPr>
        <p:txBody>
          <a:bodyPr rtlCol="0" anchor="ctr"/>
          <a:lstStyle/>
          <a:p>
            <a:pPr algn="ctr"/>
            <a:endParaRPr/>
          </a:p>
        </p:txBody>
      </p:sp>
      <p:sp>
        <p:nvSpPr>
          <p:cNvPr id="136" name="Rectangle 135"/>
          <p:cNvSpPr/>
          <p:nvPr/>
        </p:nvSpPr>
        <p:spPr>
          <a:xfrm>
            <a:off x="9505801" y="3879800"/>
            <a:ext cx="9525" cy="419100"/>
          </a:xfrm>
          <a:prstGeom prst="rect">
            <a:avLst/>
          </a:prstGeom>
          <a:solidFill>
            <a:srgbClr val="E3DCD3"/>
          </a:solidFill>
          <a:ln>
            <a:noFill/>
          </a:ln>
          <a:effectLst/>
        </p:spPr>
        <p:txBody>
          <a:bodyPr rtlCol="0" anchor="ctr"/>
          <a:lstStyle/>
          <a:p>
            <a:pPr algn="ctr"/>
            <a:endParaRPr/>
          </a:p>
        </p:txBody>
      </p:sp>
      <p:sp>
        <p:nvSpPr>
          <p:cNvPr id="137" name="Rectangle 136"/>
          <p:cNvSpPr/>
          <p:nvPr/>
        </p:nvSpPr>
        <p:spPr>
          <a:xfrm>
            <a:off x="7464326" y="4289375"/>
            <a:ext cx="2051000" cy="9525"/>
          </a:xfrm>
          <a:prstGeom prst="rect">
            <a:avLst/>
          </a:prstGeom>
          <a:solidFill>
            <a:srgbClr val="E3DCD3"/>
          </a:solidFill>
          <a:ln>
            <a:noFill/>
          </a:ln>
          <a:effectLst/>
        </p:spPr>
        <p:txBody>
          <a:bodyPr rtlCol="0" anchor="ctr"/>
          <a:lstStyle/>
          <a:p>
            <a:pPr algn="ctr"/>
            <a:endParaRPr/>
          </a:p>
        </p:txBody>
      </p:sp>
      <p:sp>
        <p:nvSpPr>
          <p:cNvPr id="138" name="Rectangle 137"/>
          <p:cNvSpPr/>
          <p:nvPr/>
        </p:nvSpPr>
        <p:spPr>
          <a:xfrm>
            <a:off x="7464326" y="3879800"/>
            <a:ext cx="9525" cy="419100"/>
          </a:xfrm>
          <a:prstGeom prst="rect">
            <a:avLst/>
          </a:prstGeom>
          <a:solidFill>
            <a:srgbClr val="E3DCD3"/>
          </a:solidFill>
          <a:ln>
            <a:noFill/>
          </a:ln>
          <a:effectLst/>
        </p:spPr>
        <p:txBody>
          <a:bodyPr rtlCol="0" anchor="ctr"/>
          <a:lstStyle/>
          <a:p>
            <a:pPr algn="ctr"/>
            <a:endParaRPr/>
          </a:p>
        </p:txBody>
      </p:sp>
      <p:sp>
        <p:nvSpPr>
          <p:cNvPr id="139" name="Text: AMIVIE">
            <a:hlinkClick r:id="rId11"/>
          </p:cNvPr>
          <p:cNvSpPr txBox="1"/>
          <p:nvPr/>
        </p:nvSpPr>
        <p:spPr>
          <a:xfrm>
            <a:off x="8332738" y="4027438"/>
            <a:ext cx="328464" cy="123825"/>
          </a:xfrm>
          <a:prstGeom prst="rect">
            <a:avLst/>
          </a:prstGeom>
          <a:noFill/>
        </p:spPr>
        <p:txBody>
          <a:bodyPr wrap="square" lIns="0" tIns="0" rIns="0" bIns="0" anchor="t">
            <a:spAutoFit/>
          </a:bodyPr>
          <a:lstStyle/>
          <a:p>
            <a:pPr algn="ctr">
              <a:lnSpc>
                <a:spcPts val="975"/>
              </a:lnSpc>
            </a:pPr>
            <a:r>
              <a:rPr sz="712" b="1" i="0" spc="45">
                <a:solidFill>
                  <a:srgbClr val="1B1A1A"/>
                </a:solidFill>
                <a:latin typeface="Calibri"/>
              </a:rPr>
              <a:t>AMIVIE</a:t>
            </a:r>
          </a:p>
        </p:txBody>
      </p:sp>
      <p:sp>
        <p:nvSpPr>
          <p:cNvPr id="140" name="Text: In-home care for Ohio Medicaid wai">
            <a:hlinkClick r:id="rId11"/>
          </p:cNvPr>
          <p:cNvSpPr txBox="1"/>
          <p:nvPr/>
        </p:nvSpPr>
        <p:spPr>
          <a:xfrm>
            <a:off x="7464326" y="4384625"/>
            <a:ext cx="2065288" cy="276225"/>
          </a:xfrm>
          <a:prstGeom prst="rect">
            <a:avLst/>
          </a:prstGeom>
          <a:noFill/>
        </p:spPr>
        <p:txBody>
          <a:bodyPr wrap="square" lIns="0" tIns="0" rIns="0" bIns="0" anchor="t">
            <a:spAutoFit/>
          </a:bodyPr>
          <a:lstStyle/>
          <a:p>
            <a:pPr algn="ctr">
              <a:lnSpc>
                <a:spcPts val="1088"/>
              </a:lnSpc>
            </a:pPr>
            <a:r>
              <a:rPr sz="788" b="0" i="0" spc="15">
                <a:solidFill>
                  <a:srgbClr val="333231"/>
                </a:solidFill>
                <a:latin typeface="Calibri"/>
              </a:rPr>
              <a:t>In-home care for Ohio Medicaid waiver participants</a:t>
            </a:r>
          </a:p>
        </p:txBody>
      </p:sp>
      <p:sp>
        <p:nvSpPr>
          <p:cNvPr id="141" name="Text: PROVIDER SERVICES">
            <a:hlinkClick r:id="rId11"/>
          </p:cNvPr>
          <p:cNvSpPr txBox="1"/>
          <p:nvPr/>
        </p:nvSpPr>
        <p:spPr>
          <a:xfrm>
            <a:off x="7464326" y="4797326"/>
            <a:ext cx="2065288" cy="104775"/>
          </a:xfrm>
          <a:prstGeom prst="rect">
            <a:avLst/>
          </a:prstGeom>
          <a:noFill/>
        </p:spPr>
        <p:txBody>
          <a:bodyPr wrap="square" lIns="0" tIns="0" rIns="0" bIns="0" anchor="t">
            <a:spAutoFit/>
          </a:bodyPr>
          <a:lstStyle/>
          <a:p>
            <a:pPr algn="ctr">
              <a:lnSpc>
                <a:spcPts val="825"/>
              </a:lnSpc>
            </a:pPr>
            <a:r>
              <a:rPr sz="600" b="1" i="0" spc="105">
                <a:solidFill>
                  <a:srgbClr val="8C6239"/>
                </a:solidFill>
                <a:latin typeface="Calibri"/>
              </a:rPr>
              <a:t>PROVIDER SERVICES</a:t>
            </a:r>
          </a:p>
        </p:txBody>
      </p:sp>
      <p:sp>
        <p:nvSpPr>
          <p:cNvPr id="142" name="Rectangle 141"/>
          <p:cNvSpPr/>
          <p:nvPr/>
        </p:nvSpPr>
        <p:spPr>
          <a:xfrm>
            <a:off x="2514600" y="5111651"/>
            <a:ext cx="2298650" cy="1822400"/>
          </a:xfrm>
          <a:prstGeom prst="rect">
            <a:avLst/>
          </a:prstGeom>
          <a:solidFill>
            <a:srgbClr val="FFFFFF"/>
          </a:solidFill>
          <a:ln>
            <a:noFill/>
          </a:ln>
          <a:effectLst/>
        </p:spPr>
        <p:txBody>
          <a:bodyPr rtlCol="0" anchor="ctr"/>
          <a:lstStyle/>
          <a:p>
            <a:pPr algn="ctr"/>
            <a:endParaRPr/>
          </a:p>
        </p:txBody>
      </p:sp>
      <p:sp>
        <p:nvSpPr>
          <p:cNvPr id="143" name="Rectangle 142"/>
          <p:cNvSpPr/>
          <p:nvPr/>
        </p:nvSpPr>
        <p:spPr>
          <a:xfrm>
            <a:off x="2514600" y="5111651"/>
            <a:ext cx="2298650" cy="28575"/>
          </a:xfrm>
          <a:prstGeom prst="rect">
            <a:avLst/>
          </a:prstGeom>
          <a:solidFill>
            <a:srgbClr val="B68757"/>
          </a:solidFill>
          <a:ln>
            <a:noFill/>
          </a:ln>
          <a:effectLst/>
        </p:spPr>
        <p:txBody>
          <a:bodyPr rtlCol="0" anchor="ctr"/>
          <a:lstStyle/>
          <a:p>
            <a:pPr algn="ctr"/>
            <a:endParaRPr/>
          </a:p>
        </p:txBody>
      </p:sp>
      <p:sp>
        <p:nvSpPr>
          <p:cNvPr id="144" name="Rectangle 143"/>
          <p:cNvSpPr/>
          <p:nvPr/>
        </p:nvSpPr>
        <p:spPr>
          <a:xfrm>
            <a:off x="4803725" y="5111651"/>
            <a:ext cx="9525" cy="1822400"/>
          </a:xfrm>
          <a:prstGeom prst="rect">
            <a:avLst/>
          </a:prstGeom>
          <a:solidFill>
            <a:srgbClr val="E3DCD3"/>
          </a:solidFill>
          <a:ln>
            <a:noFill/>
          </a:ln>
          <a:effectLst/>
        </p:spPr>
        <p:txBody>
          <a:bodyPr rtlCol="0" anchor="ctr"/>
          <a:lstStyle/>
          <a:p>
            <a:pPr algn="ctr"/>
            <a:endParaRPr/>
          </a:p>
        </p:txBody>
      </p:sp>
      <p:sp>
        <p:nvSpPr>
          <p:cNvPr id="145" name="Rectangle 144"/>
          <p:cNvSpPr/>
          <p:nvPr/>
        </p:nvSpPr>
        <p:spPr>
          <a:xfrm>
            <a:off x="2514600" y="6924526"/>
            <a:ext cx="2298650" cy="9525"/>
          </a:xfrm>
          <a:prstGeom prst="rect">
            <a:avLst/>
          </a:prstGeom>
          <a:solidFill>
            <a:srgbClr val="E3DCD3"/>
          </a:solidFill>
          <a:ln>
            <a:noFill/>
          </a:ln>
          <a:effectLst/>
        </p:spPr>
        <p:txBody>
          <a:bodyPr rtlCol="0" anchor="ctr"/>
          <a:lstStyle/>
          <a:p>
            <a:pPr algn="ctr"/>
            <a:endParaRPr/>
          </a:p>
        </p:txBody>
      </p:sp>
      <p:sp>
        <p:nvSpPr>
          <p:cNvPr id="146" name="Rectangle 145"/>
          <p:cNvSpPr/>
          <p:nvPr/>
        </p:nvSpPr>
        <p:spPr>
          <a:xfrm>
            <a:off x="2514600" y="5111651"/>
            <a:ext cx="9525" cy="1822400"/>
          </a:xfrm>
          <a:prstGeom prst="rect">
            <a:avLst/>
          </a:prstGeom>
          <a:solidFill>
            <a:srgbClr val="E3DCD3"/>
          </a:solidFill>
          <a:ln>
            <a:noFill/>
          </a:ln>
          <a:effectLst/>
        </p:spPr>
        <p:txBody>
          <a:bodyPr rtlCol="0" anchor="ctr"/>
          <a:lstStyle/>
          <a:p>
            <a:pPr algn="ctr"/>
            <a:endParaRPr/>
          </a:p>
        </p:txBody>
      </p:sp>
      <p:sp>
        <p:nvSpPr>
          <p:cNvPr id="147" name="Rectangle 146"/>
          <p:cNvSpPr/>
          <p:nvPr/>
        </p:nvSpPr>
        <p:spPr>
          <a:xfrm>
            <a:off x="2638425" y="5235476"/>
            <a:ext cx="2051000" cy="419100"/>
          </a:xfrm>
          <a:prstGeom prst="rect">
            <a:avLst/>
          </a:prstGeom>
          <a:solidFill>
            <a:srgbClr val="FFFFFF"/>
          </a:solidFill>
          <a:ln>
            <a:noFill/>
          </a:ln>
          <a:effectLst/>
        </p:spPr>
        <p:txBody>
          <a:bodyPr rtlCol="0" anchor="ctr"/>
          <a:lstStyle/>
          <a:p>
            <a:pPr algn="ctr"/>
            <a:endParaRPr/>
          </a:p>
        </p:txBody>
      </p:sp>
      <p:sp>
        <p:nvSpPr>
          <p:cNvPr id="148" name="Rectangle 147"/>
          <p:cNvSpPr/>
          <p:nvPr/>
        </p:nvSpPr>
        <p:spPr>
          <a:xfrm>
            <a:off x="2638425" y="5235476"/>
            <a:ext cx="2051000" cy="9525"/>
          </a:xfrm>
          <a:prstGeom prst="rect">
            <a:avLst/>
          </a:prstGeom>
          <a:solidFill>
            <a:srgbClr val="E3DCD3"/>
          </a:solidFill>
          <a:ln>
            <a:noFill/>
          </a:ln>
          <a:effectLst/>
        </p:spPr>
        <p:txBody>
          <a:bodyPr rtlCol="0" anchor="ctr"/>
          <a:lstStyle/>
          <a:p>
            <a:pPr algn="ctr"/>
            <a:endParaRPr/>
          </a:p>
        </p:txBody>
      </p:sp>
      <p:sp>
        <p:nvSpPr>
          <p:cNvPr id="149" name="Rectangle 148"/>
          <p:cNvSpPr/>
          <p:nvPr/>
        </p:nvSpPr>
        <p:spPr>
          <a:xfrm>
            <a:off x="4679900" y="5235476"/>
            <a:ext cx="9525" cy="419100"/>
          </a:xfrm>
          <a:prstGeom prst="rect">
            <a:avLst/>
          </a:prstGeom>
          <a:solidFill>
            <a:srgbClr val="E3DCD3"/>
          </a:solidFill>
          <a:ln>
            <a:noFill/>
          </a:ln>
          <a:effectLst/>
        </p:spPr>
        <p:txBody>
          <a:bodyPr rtlCol="0" anchor="ctr"/>
          <a:lstStyle/>
          <a:p>
            <a:pPr algn="ctr"/>
            <a:endParaRPr/>
          </a:p>
        </p:txBody>
      </p:sp>
      <p:sp>
        <p:nvSpPr>
          <p:cNvPr id="150" name="Rectangle 149"/>
          <p:cNvSpPr/>
          <p:nvPr/>
        </p:nvSpPr>
        <p:spPr>
          <a:xfrm>
            <a:off x="2638425" y="5645051"/>
            <a:ext cx="2051000" cy="9525"/>
          </a:xfrm>
          <a:prstGeom prst="rect">
            <a:avLst/>
          </a:prstGeom>
          <a:solidFill>
            <a:srgbClr val="E3DCD3"/>
          </a:solidFill>
          <a:ln>
            <a:noFill/>
          </a:ln>
          <a:effectLst/>
        </p:spPr>
        <p:txBody>
          <a:bodyPr rtlCol="0" anchor="ctr"/>
          <a:lstStyle/>
          <a:p>
            <a:pPr algn="ctr"/>
            <a:endParaRPr/>
          </a:p>
        </p:txBody>
      </p:sp>
      <p:sp>
        <p:nvSpPr>
          <p:cNvPr id="151" name="Rectangle 150"/>
          <p:cNvSpPr/>
          <p:nvPr/>
        </p:nvSpPr>
        <p:spPr>
          <a:xfrm>
            <a:off x="2638425" y="5235476"/>
            <a:ext cx="9525" cy="419100"/>
          </a:xfrm>
          <a:prstGeom prst="rect">
            <a:avLst/>
          </a:prstGeom>
          <a:solidFill>
            <a:srgbClr val="E3DCD3"/>
          </a:solidFill>
          <a:ln>
            <a:noFill/>
          </a:ln>
          <a:effectLst/>
        </p:spPr>
        <p:txBody>
          <a:bodyPr rtlCol="0" anchor="ctr"/>
          <a:lstStyle/>
          <a:p>
            <a:pPr algn="ctr"/>
            <a:endParaRPr/>
          </a:p>
        </p:txBody>
      </p:sp>
      <p:sp>
        <p:nvSpPr>
          <p:cNvPr id="152" name="Text: MEDICAL TEMPS">
            <a:hlinkClick r:id="rId12"/>
          </p:cNvPr>
          <p:cNvSpPr txBox="1"/>
          <p:nvPr/>
        </p:nvSpPr>
        <p:spPr>
          <a:xfrm>
            <a:off x="3314254" y="5383113"/>
            <a:ext cx="713482" cy="123825"/>
          </a:xfrm>
          <a:prstGeom prst="rect">
            <a:avLst/>
          </a:prstGeom>
          <a:noFill/>
        </p:spPr>
        <p:txBody>
          <a:bodyPr wrap="square" lIns="0" tIns="0" rIns="0" bIns="0" anchor="t">
            <a:spAutoFit/>
          </a:bodyPr>
          <a:lstStyle/>
          <a:p>
            <a:pPr algn="ctr">
              <a:lnSpc>
                <a:spcPts val="975"/>
              </a:lnSpc>
            </a:pPr>
            <a:r>
              <a:rPr sz="712" b="1" i="0" spc="45">
                <a:solidFill>
                  <a:srgbClr val="1B1A1A"/>
                </a:solidFill>
                <a:latin typeface="Calibri"/>
              </a:rPr>
              <a:t>MEDICAL TEMPS</a:t>
            </a:r>
          </a:p>
        </p:txBody>
      </p:sp>
      <p:sp>
        <p:nvSpPr>
          <p:cNvPr id="153" name="Text: HAS BEEN ACQUIRED BY">
            <a:hlinkClick r:id="rId12"/>
          </p:cNvPr>
          <p:cNvSpPr txBox="1"/>
          <p:nvPr/>
        </p:nvSpPr>
        <p:spPr>
          <a:xfrm>
            <a:off x="2638425" y="5654576"/>
            <a:ext cx="2065288" cy="161925"/>
          </a:xfrm>
          <a:prstGeom prst="rect">
            <a:avLst/>
          </a:prstGeom>
          <a:noFill/>
        </p:spPr>
        <p:txBody>
          <a:bodyPr wrap="square" lIns="0" tIns="0" rIns="0" bIns="0" anchor="t">
            <a:spAutoFit/>
          </a:bodyPr>
          <a:lstStyle/>
          <a:p>
            <a:pPr algn="ctr">
              <a:lnSpc>
                <a:spcPts val="1275"/>
              </a:lnSpc>
            </a:pPr>
            <a:r>
              <a:rPr sz="600" b="0" i="0" spc="112">
                <a:solidFill>
                  <a:srgbClr val="6F6A66"/>
                </a:solidFill>
                <a:latin typeface="Calibri"/>
              </a:rPr>
              <a:t>HAS BEEN ACQUIRED BY</a:t>
            </a:r>
          </a:p>
        </p:txBody>
      </p:sp>
      <p:sp>
        <p:nvSpPr>
          <p:cNvPr id="154" name="Rectangle 153"/>
          <p:cNvSpPr/>
          <p:nvPr/>
        </p:nvSpPr>
        <p:spPr>
          <a:xfrm>
            <a:off x="2638425" y="5816501"/>
            <a:ext cx="2051000" cy="419100"/>
          </a:xfrm>
          <a:prstGeom prst="rect">
            <a:avLst/>
          </a:prstGeom>
          <a:solidFill>
            <a:srgbClr val="FFFFFF"/>
          </a:solidFill>
          <a:ln>
            <a:noFill/>
          </a:ln>
          <a:effectLst/>
        </p:spPr>
        <p:txBody>
          <a:bodyPr rtlCol="0" anchor="ctr"/>
          <a:lstStyle/>
          <a:p>
            <a:pPr algn="ctr"/>
            <a:endParaRPr/>
          </a:p>
        </p:txBody>
      </p:sp>
      <p:sp>
        <p:nvSpPr>
          <p:cNvPr id="155" name="Rectangle 154"/>
          <p:cNvSpPr/>
          <p:nvPr/>
        </p:nvSpPr>
        <p:spPr>
          <a:xfrm>
            <a:off x="2638425" y="5816501"/>
            <a:ext cx="2051000" cy="9525"/>
          </a:xfrm>
          <a:prstGeom prst="rect">
            <a:avLst/>
          </a:prstGeom>
          <a:solidFill>
            <a:srgbClr val="E3DCD3"/>
          </a:solidFill>
          <a:ln>
            <a:noFill/>
          </a:ln>
          <a:effectLst/>
        </p:spPr>
        <p:txBody>
          <a:bodyPr rtlCol="0" anchor="ctr"/>
          <a:lstStyle/>
          <a:p>
            <a:pPr algn="ctr"/>
            <a:endParaRPr/>
          </a:p>
        </p:txBody>
      </p:sp>
      <p:sp>
        <p:nvSpPr>
          <p:cNvPr id="156" name="Rectangle 155"/>
          <p:cNvSpPr/>
          <p:nvPr/>
        </p:nvSpPr>
        <p:spPr>
          <a:xfrm>
            <a:off x="4679900" y="5816501"/>
            <a:ext cx="9525" cy="419100"/>
          </a:xfrm>
          <a:prstGeom prst="rect">
            <a:avLst/>
          </a:prstGeom>
          <a:solidFill>
            <a:srgbClr val="E3DCD3"/>
          </a:solidFill>
          <a:ln>
            <a:noFill/>
          </a:ln>
          <a:effectLst/>
        </p:spPr>
        <p:txBody>
          <a:bodyPr rtlCol="0" anchor="ctr"/>
          <a:lstStyle/>
          <a:p>
            <a:pPr algn="ctr"/>
            <a:endParaRPr/>
          </a:p>
        </p:txBody>
      </p:sp>
      <p:sp>
        <p:nvSpPr>
          <p:cNvPr id="157" name="Rectangle 156"/>
          <p:cNvSpPr/>
          <p:nvPr/>
        </p:nvSpPr>
        <p:spPr>
          <a:xfrm>
            <a:off x="2638425" y="6226076"/>
            <a:ext cx="2051000" cy="9525"/>
          </a:xfrm>
          <a:prstGeom prst="rect">
            <a:avLst/>
          </a:prstGeom>
          <a:solidFill>
            <a:srgbClr val="E3DCD3"/>
          </a:solidFill>
          <a:ln>
            <a:noFill/>
          </a:ln>
          <a:effectLst/>
        </p:spPr>
        <p:txBody>
          <a:bodyPr rtlCol="0" anchor="ctr"/>
          <a:lstStyle/>
          <a:p>
            <a:pPr algn="ctr"/>
            <a:endParaRPr/>
          </a:p>
        </p:txBody>
      </p:sp>
      <p:sp>
        <p:nvSpPr>
          <p:cNvPr id="158" name="Rectangle 157"/>
          <p:cNvSpPr/>
          <p:nvPr/>
        </p:nvSpPr>
        <p:spPr>
          <a:xfrm>
            <a:off x="2638425" y="5816501"/>
            <a:ext cx="9525" cy="419100"/>
          </a:xfrm>
          <a:prstGeom prst="rect">
            <a:avLst/>
          </a:prstGeom>
          <a:solidFill>
            <a:srgbClr val="E3DCD3"/>
          </a:solidFill>
          <a:ln>
            <a:noFill/>
          </a:ln>
          <a:effectLst/>
        </p:spPr>
        <p:txBody>
          <a:bodyPr rtlCol="0" anchor="ctr"/>
          <a:lstStyle/>
          <a:p>
            <a:pPr algn="ctr"/>
            <a:endParaRPr/>
          </a:p>
        </p:txBody>
      </p:sp>
      <p:sp>
        <p:nvSpPr>
          <p:cNvPr id="159" name="Text: HEALTH ADVOCATES NETWORK">
            <a:hlinkClick r:id="rId12"/>
          </p:cNvPr>
          <p:cNvSpPr txBox="1"/>
          <p:nvPr/>
        </p:nvSpPr>
        <p:spPr>
          <a:xfrm>
            <a:off x="3010049" y="5964138"/>
            <a:ext cx="1321891" cy="123825"/>
          </a:xfrm>
          <a:prstGeom prst="rect">
            <a:avLst/>
          </a:prstGeom>
          <a:noFill/>
        </p:spPr>
        <p:txBody>
          <a:bodyPr wrap="square" lIns="0" tIns="0" rIns="0" bIns="0" anchor="t">
            <a:spAutoFit/>
          </a:bodyPr>
          <a:lstStyle/>
          <a:p>
            <a:pPr algn="ctr">
              <a:lnSpc>
                <a:spcPts val="975"/>
              </a:lnSpc>
            </a:pPr>
            <a:r>
              <a:rPr sz="712" b="1" i="0" spc="45">
                <a:solidFill>
                  <a:srgbClr val="1B1A1A"/>
                </a:solidFill>
                <a:latin typeface="Calibri"/>
              </a:rPr>
              <a:t>HEALTH ADVOCATES NETWORK</a:t>
            </a:r>
          </a:p>
        </p:txBody>
      </p:sp>
      <p:sp>
        <p:nvSpPr>
          <p:cNvPr id="160" name="Text: Nurse staffing for healthcare faci">
            <a:hlinkClick r:id="rId12"/>
          </p:cNvPr>
          <p:cNvSpPr txBox="1"/>
          <p:nvPr/>
        </p:nvSpPr>
        <p:spPr>
          <a:xfrm>
            <a:off x="2638425" y="6321326"/>
            <a:ext cx="2065288" cy="276225"/>
          </a:xfrm>
          <a:prstGeom prst="rect">
            <a:avLst/>
          </a:prstGeom>
          <a:noFill/>
        </p:spPr>
        <p:txBody>
          <a:bodyPr wrap="square" lIns="0" tIns="0" rIns="0" bIns="0" anchor="t">
            <a:spAutoFit/>
          </a:bodyPr>
          <a:lstStyle/>
          <a:p>
            <a:pPr algn="ctr">
              <a:lnSpc>
                <a:spcPts val="1088"/>
              </a:lnSpc>
            </a:pPr>
            <a:r>
              <a:rPr sz="788" b="0" i="0" spc="15">
                <a:solidFill>
                  <a:srgbClr val="333231"/>
                </a:solidFill>
                <a:latin typeface="Calibri"/>
              </a:rPr>
              <a:t>Nurse staffing for healthcare facilities in northern Louisiana</a:t>
            </a:r>
          </a:p>
        </p:txBody>
      </p:sp>
      <p:sp>
        <p:nvSpPr>
          <p:cNvPr id="161" name="Text: PHARMACY &amp; HEALTHCARE SERVICES">
            <a:hlinkClick r:id="rId12"/>
          </p:cNvPr>
          <p:cNvSpPr txBox="1"/>
          <p:nvPr/>
        </p:nvSpPr>
        <p:spPr>
          <a:xfrm>
            <a:off x="2638425" y="6734026"/>
            <a:ext cx="2065288" cy="104775"/>
          </a:xfrm>
          <a:prstGeom prst="rect">
            <a:avLst/>
          </a:prstGeom>
          <a:noFill/>
        </p:spPr>
        <p:txBody>
          <a:bodyPr wrap="square" lIns="0" tIns="0" rIns="0" bIns="0" anchor="t">
            <a:spAutoFit/>
          </a:bodyPr>
          <a:lstStyle/>
          <a:p>
            <a:pPr algn="ctr">
              <a:lnSpc>
                <a:spcPts val="825"/>
              </a:lnSpc>
            </a:pPr>
            <a:r>
              <a:rPr sz="600" b="1" i="0" spc="105">
                <a:solidFill>
                  <a:srgbClr val="8C6239"/>
                </a:solidFill>
                <a:latin typeface="Calibri"/>
              </a:rPr>
              <a:t>PHARMACY &amp; HEALTHCARE SERVICES</a:t>
            </a:r>
          </a:p>
        </p:txBody>
      </p:sp>
      <p:sp>
        <p:nvSpPr>
          <p:cNvPr id="162" name="Rectangle 161"/>
          <p:cNvSpPr/>
          <p:nvPr/>
        </p:nvSpPr>
        <p:spPr>
          <a:xfrm>
            <a:off x="4927550" y="5111651"/>
            <a:ext cx="2298650" cy="1822400"/>
          </a:xfrm>
          <a:prstGeom prst="rect">
            <a:avLst/>
          </a:prstGeom>
          <a:solidFill>
            <a:srgbClr val="FFFFFF"/>
          </a:solidFill>
          <a:ln>
            <a:noFill/>
          </a:ln>
          <a:effectLst/>
        </p:spPr>
        <p:txBody>
          <a:bodyPr rtlCol="0" anchor="ctr"/>
          <a:lstStyle/>
          <a:p>
            <a:pPr algn="ctr"/>
            <a:endParaRPr/>
          </a:p>
        </p:txBody>
      </p:sp>
      <p:sp>
        <p:nvSpPr>
          <p:cNvPr id="163" name="Rectangle 162"/>
          <p:cNvSpPr/>
          <p:nvPr/>
        </p:nvSpPr>
        <p:spPr>
          <a:xfrm>
            <a:off x="4927550" y="5111651"/>
            <a:ext cx="2298650" cy="28575"/>
          </a:xfrm>
          <a:prstGeom prst="rect">
            <a:avLst/>
          </a:prstGeom>
          <a:solidFill>
            <a:srgbClr val="B68757"/>
          </a:solidFill>
          <a:ln>
            <a:noFill/>
          </a:ln>
          <a:effectLst/>
        </p:spPr>
        <p:txBody>
          <a:bodyPr rtlCol="0" anchor="ctr"/>
          <a:lstStyle/>
          <a:p>
            <a:pPr algn="ctr"/>
            <a:endParaRPr/>
          </a:p>
        </p:txBody>
      </p:sp>
      <p:sp>
        <p:nvSpPr>
          <p:cNvPr id="164" name="Rectangle 163"/>
          <p:cNvSpPr/>
          <p:nvPr/>
        </p:nvSpPr>
        <p:spPr>
          <a:xfrm>
            <a:off x="7216676" y="5111651"/>
            <a:ext cx="9525" cy="1822400"/>
          </a:xfrm>
          <a:prstGeom prst="rect">
            <a:avLst/>
          </a:prstGeom>
          <a:solidFill>
            <a:srgbClr val="E3DCD3"/>
          </a:solidFill>
          <a:ln>
            <a:noFill/>
          </a:ln>
          <a:effectLst/>
        </p:spPr>
        <p:txBody>
          <a:bodyPr rtlCol="0" anchor="ctr"/>
          <a:lstStyle/>
          <a:p>
            <a:pPr algn="ctr"/>
            <a:endParaRPr/>
          </a:p>
        </p:txBody>
      </p:sp>
      <p:sp>
        <p:nvSpPr>
          <p:cNvPr id="165" name="Rectangle 164"/>
          <p:cNvSpPr/>
          <p:nvPr/>
        </p:nvSpPr>
        <p:spPr>
          <a:xfrm>
            <a:off x="4927550" y="6924526"/>
            <a:ext cx="2298650" cy="9525"/>
          </a:xfrm>
          <a:prstGeom prst="rect">
            <a:avLst/>
          </a:prstGeom>
          <a:solidFill>
            <a:srgbClr val="E3DCD3"/>
          </a:solidFill>
          <a:ln>
            <a:noFill/>
          </a:ln>
          <a:effectLst/>
        </p:spPr>
        <p:txBody>
          <a:bodyPr rtlCol="0" anchor="ctr"/>
          <a:lstStyle/>
          <a:p>
            <a:pPr algn="ctr"/>
            <a:endParaRPr/>
          </a:p>
        </p:txBody>
      </p:sp>
      <p:sp>
        <p:nvSpPr>
          <p:cNvPr id="166" name="Rectangle 165"/>
          <p:cNvSpPr/>
          <p:nvPr/>
        </p:nvSpPr>
        <p:spPr>
          <a:xfrm>
            <a:off x="4927550" y="5111651"/>
            <a:ext cx="9525" cy="1822400"/>
          </a:xfrm>
          <a:prstGeom prst="rect">
            <a:avLst/>
          </a:prstGeom>
          <a:solidFill>
            <a:srgbClr val="E3DCD3"/>
          </a:solidFill>
          <a:ln>
            <a:noFill/>
          </a:ln>
          <a:effectLst/>
        </p:spPr>
        <p:txBody>
          <a:bodyPr rtlCol="0" anchor="ctr"/>
          <a:lstStyle/>
          <a:p>
            <a:pPr algn="ctr"/>
            <a:endParaRPr/>
          </a:p>
        </p:txBody>
      </p:sp>
      <p:sp>
        <p:nvSpPr>
          <p:cNvPr id="167" name="Rectangle 166"/>
          <p:cNvSpPr/>
          <p:nvPr/>
        </p:nvSpPr>
        <p:spPr>
          <a:xfrm>
            <a:off x="5051375" y="5235476"/>
            <a:ext cx="2051000" cy="419100"/>
          </a:xfrm>
          <a:prstGeom prst="rect">
            <a:avLst/>
          </a:prstGeom>
          <a:solidFill>
            <a:srgbClr val="FFFFFF"/>
          </a:solidFill>
          <a:ln>
            <a:noFill/>
          </a:ln>
          <a:effectLst/>
        </p:spPr>
        <p:txBody>
          <a:bodyPr rtlCol="0" anchor="ctr"/>
          <a:lstStyle/>
          <a:p>
            <a:pPr algn="ctr"/>
            <a:endParaRPr/>
          </a:p>
        </p:txBody>
      </p:sp>
      <p:sp>
        <p:nvSpPr>
          <p:cNvPr id="168" name="Rectangle 167"/>
          <p:cNvSpPr/>
          <p:nvPr/>
        </p:nvSpPr>
        <p:spPr>
          <a:xfrm>
            <a:off x="5051375" y="5235476"/>
            <a:ext cx="2051000" cy="9525"/>
          </a:xfrm>
          <a:prstGeom prst="rect">
            <a:avLst/>
          </a:prstGeom>
          <a:solidFill>
            <a:srgbClr val="E3DCD3"/>
          </a:solidFill>
          <a:ln>
            <a:noFill/>
          </a:ln>
          <a:effectLst/>
        </p:spPr>
        <p:txBody>
          <a:bodyPr rtlCol="0" anchor="ctr"/>
          <a:lstStyle/>
          <a:p>
            <a:pPr algn="ctr"/>
            <a:endParaRPr/>
          </a:p>
        </p:txBody>
      </p:sp>
      <p:sp>
        <p:nvSpPr>
          <p:cNvPr id="169" name="Rectangle 168"/>
          <p:cNvSpPr/>
          <p:nvPr/>
        </p:nvSpPr>
        <p:spPr>
          <a:xfrm>
            <a:off x="7092851" y="5235476"/>
            <a:ext cx="9525" cy="419100"/>
          </a:xfrm>
          <a:prstGeom prst="rect">
            <a:avLst/>
          </a:prstGeom>
          <a:solidFill>
            <a:srgbClr val="E3DCD3"/>
          </a:solidFill>
          <a:ln>
            <a:noFill/>
          </a:ln>
          <a:effectLst/>
        </p:spPr>
        <p:txBody>
          <a:bodyPr rtlCol="0" anchor="ctr"/>
          <a:lstStyle/>
          <a:p>
            <a:pPr algn="ctr"/>
            <a:endParaRPr/>
          </a:p>
        </p:txBody>
      </p:sp>
      <p:sp>
        <p:nvSpPr>
          <p:cNvPr id="170" name="Rectangle 169"/>
          <p:cNvSpPr/>
          <p:nvPr/>
        </p:nvSpPr>
        <p:spPr>
          <a:xfrm>
            <a:off x="5051375" y="5645051"/>
            <a:ext cx="2051000" cy="9525"/>
          </a:xfrm>
          <a:prstGeom prst="rect">
            <a:avLst/>
          </a:prstGeom>
          <a:solidFill>
            <a:srgbClr val="E3DCD3"/>
          </a:solidFill>
          <a:ln>
            <a:noFill/>
          </a:ln>
          <a:effectLst/>
        </p:spPr>
        <p:txBody>
          <a:bodyPr rtlCol="0" anchor="ctr"/>
          <a:lstStyle/>
          <a:p>
            <a:pPr algn="ctr"/>
            <a:endParaRPr/>
          </a:p>
        </p:txBody>
      </p:sp>
      <p:sp>
        <p:nvSpPr>
          <p:cNvPr id="171" name="Rectangle 170"/>
          <p:cNvSpPr/>
          <p:nvPr/>
        </p:nvSpPr>
        <p:spPr>
          <a:xfrm>
            <a:off x="5051375" y="5235476"/>
            <a:ext cx="9525" cy="419100"/>
          </a:xfrm>
          <a:prstGeom prst="rect">
            <a:avLst/>
          </a:prstGeom>
          <a:solidFill>
            <a:srgbClr val="E3DCD3"/>
          </a:solidFill>
          <a:ln>
            <a:noFill/>
          </a:ln>
          <a:effectLst/>
        </p:spPr>
        <p:txBody>
          <a:bodyPr rtlCol="0" anchor="ctr"/>
          <a:lstStyle/>
          <a:p>
            <a:pPr algn="ctr"/>
            <a:endParaRPr/>
          </a:p>
        </p:txBody>
      </p:sp>
      <p:sp>
        <p:nvSpPr>
          <p:cNvPr id="172" name="Text: THE BROOKS GROUP AND ASSOCIATES">
            <a:hlinkClick r:id="rId13"/>
          </p:cNvPr>
          <p:cNvSpPr txBox="1"/>
          <p:nvPr/>
        </p:nvSpPr>
        <p:spPr>
          <a:xfrm>
            <a:off x="5267027" y="5383113"/>
            <a:ext cx="1633984" cy="123825"/>
          </a:xfrm>
          <a:prstGeom prst="rect">
            <a:avLst/>
          </a:prstGeom>
          <a:noFill/>
        </p:spPr>
        <p:txBody>
          <a:bodyPr wrap="square" lIns="0" tIns="0" rIns="0" bIns="0" anchor="t">
            <a:spAutoFit/>
          </a:bodyPr>
          <a:lstStyle/>
          <a:p>
            <a:pPr algn="ctr">
              <a:lnSpc>
                <a:spcPts val="975"/>
              </a:lnSpc>
            </a:pPr>
            <a:r>
              <a:rPr sz="712" b="1" i="0" spc="45">
                <a:solidFill>
                  <a:srgbClr val="1B1A1A"/>
                </a:solidFill>
                <a:latin typeface="Calibri"/>
              </a:rPr>
              <a:t>THE BROOKS GROUP AND ASSOCIATES</a:t>
            </a:r>
          </a:p>
        </p:txBody>
      </p:sp>
      <p:sp>
        <p:nvSpPr>
          <p:cNvPr id="173" name="Text: HAS BEEN ACQUIRED BY">
            <a:hlinkClick r:id="rId13"/>
          </p:cNvPr>
          <p:cNvSpPr txBox="1"/>
          <p:nvPr/>
        </p:nvSpPr>
        <p:spPr>
          <a:xfrm>
            <a:off x="5051375" y="5654576"/>
            <a:ext cx="2065288" cy="161925"/>
          </a:xfrm>
          <a:prstGeom prst="rect">
            <a:avLst/>
          </a:prstGeom>
          <a:noFill/>
        </p:spPr>
        <p:txBody>
          <a:bodyPr wrap="square" lIns="0" tIns="0" rIns="0" bIns="0" anchor="t">
            <a:spAutoFit/>
          </a:bodyPr>
          <a:lstStyle/>
          <a:p>
            <a:pPr algn="ctr">
              <a:lnSpc>
                <a:spcPts val="1275"/>
              </a:lnSpc>
            </a:pPr>
            <a:r>
              <a:rPr sz="600" b="0" i="0" spc="112">
                <a:solidFill>
                  <a:srgbClr val="6F6A66"/>
                </a:solidFill>
                <a:latin typeface="Calibri"/>
              </a:rPr>
              <a:t>HAS BEEN ACQUIRED BY</a:t>
            </a:r>
          </a:p>
        </p:txBody>
      </p:sp>
      <p:sp>
        <p:nvSpPr>
          <p:cNvPr id="174" name="Rectangle 173"/>
          <p:cNvSpPr/>
          <p:nvPr/>
        </p:nvSpPr>
        <p:spPr>
          <a:xfrm>
            <a:off x="5051375" y="5816501"/>
            <a:ext cx="2051000" cy="419100"/>
          </a:xfrm>
          <a:prstGeom prst="rect">
            <a:avLst/>
          </a:prstGeom>
          <a:solidFill>
            <a:srgbClr val="FFFFFF"/>
          </a:solidFill>
          <a:ln>
            <a:noFill/>
          </a:ln>
          <a:effectLst/>
        </p:spPr>
        <p:txBody>
          <a:bodyPr rtlCol="0" anchor="ctr"/>
          <a:lstStyle/>
          <a:p>
            <a:pPr algn="ctr"/>
            <a:endParaRPr/>
          </a:p>
        </p:txBody>
      </p:sp>
      <p:sp>
        <p:nvSpPr>
          <p:cNvPr id="175" name="Rectangle 174"/>
          <p:cNvSpPr/>
          <p:nvPr/>
        </p:nvSpPr>
        <p:spPr>
          <a:xfrm>
            <a:off x="5051375" y="5816501"/>
            <a:ext cx="2051000" cy="9525"/>
          </a:xfrm>
          <a:prstGeom prst="rect">
            <a:avLst/>
          </a:prstGeom>
          <a:solidFill>
            <a:srgbClr val="E3DCD3"/>
          </a:solidFill>
          <a:ln>
            <a:noFill/>
          </a:ln>
          <a:effectLst/>
        </p:spPr>
        <p:txBody>
          <a:bodyPr rtlCol="0" anchor="ctr"/>
          <a:lstStyle/>
          <a:p>
            <a:pPr algn="ctr"/>
            <a:endParaRPr/>
          </a:p>
        </p:txBody>
      </p:sp>
      <p:sp>
        <p:nvSpPr>
          <p:cNvPr id="176" name="Rectangle 175"/>
          <p:cNvSpPr/>
          <p:nvPr/>
        </p:nvSpPr>
        <p:spPr>
          <a:xfrm>
            <a:off x="7092851" y="5816501"/>
            <a:ext cx="9525" cy="419100"/>
          </a:xfrm>
          <a:prstGeom prst="rect">
            <a:avLst/>
          </a:prstGeom>
          <a:solidFill>
            <a:srgbClr val="E3DCD3"/>
          </a:solidFill>
          <a:ln>
            <a:noFill/>
          </a:ln>
          <a:effectLst/>
        </p:spPr>
        <p:txBody>
          <a:bodyPr rtlCol="0" anchor="ctr"/>
          <a:lstStyle/>
          <a:p>
            <a:pPr algn="ctr"/>
            <a:endParaRPr/>
          </a:p>
        </p:txBody>
      </p:sp>
      <p:sp>
        <p:nvSpPr>
          <p:cNvPr id="177" name="Rectangle 176"/>
          <p:cNvSpPr/>
          <p:nvPr/>
        </p:nvSpPr>
        <p:spPr>
          <a:xfrm>
            <a:off x="5051375" y="6226076"/>
            <a:ext cx="2051000" cy="9525"/>
          </a:xfrm>
          <a:prstGeom prst="rect">
            <a:avLst/>
          </a:prstGeom>
          <a:solidFill>
            <a:srgbClr val="E3DCD3"/>
          </a:solidFill>
          <a:ln>
            <a:noFill/>
          </a:ln>
          <a:effectLst/>
        </p:spPr>
        <p:txBody>
          <a:bodyPr rtlCol="0" anchor="ctr"/>
          <a:lstStyle/>
          <a:p>
            <a:pPr algn="ctr"/>
            <a:endParaRPr/>
          </a:p>
        </p:txBody>
      </p:sp>
      <p:sp>
        <p:nvSpPr>
          <p:cNvPr id="178" name="Rectangle 177"/>
          <p:cNvSpPr/>
          <p:nvPr/>
        </p:nvSpPr>
        <p:spPr>
          <a:xfrm>
            <a:off x="5051375" y="5816501"/>
            <a:ext cx="9525" cy="419100"/>
          </a:xfrm>
          <a:prstGeom prst="rect">
            <a:avLst/>
          </a:prstGeom>
          <a:solidFill>
            <a:srgbClr val="E3DCD3"/>
          </a:solidFill>
          <a:ln>
            <a:noFill/>
          </a:ln>
          <a:effectLst/>
        </p:spPr>
        <p:txBody>
          <a:bodyPr rtlCol="0" anchor="ctr"/>
          <a:lstStyle/>
          <a:p>
            <a:pPr algn="ctr"/>
            <a:endParaRPr/>
          </a:p>
        </p:txBody>
      </p:sp>
      <p:sp>
        <p:nvSpPr>
          <p:cNvPr id="179" name="Text: A GROUP OF PRIVATE INVESTORS">
            <a:hlinkClick r:id="rId13"/>
          </p:cNvPr>
          <p:cNvSpPr txBox="1"/>
          <p:nvPr/>
        </p:nvSpPr>
        <p:spPr>
          <a:xfrm>
            <a:off x="5375374" y="5964138"/>
            <a:ext cx="1417290" cy="123825"/>
          </a:xfrm>
          <a:prstGeom prst="rect">
            <a:avLst/>
          </a:prstGeom>
          <a:noFill/>
        </p:spPr>
        <p:txBody>
          <a:bodyPr wrap="square" lIns="0" tIns="0" rIns="0" bIns="0" anchor="t">
            <a:spAutoFit/>
          </a:bodyPr>
          <a:lstStyle/>
          <a:p>
            <a:pPr algn="ctr">
              <a:lnSpc>
                <a:spcPts val="975"/>
              </a:lnSpc>
            </a:pPr>
            <a:r>
              <a:rPr sz="712" b="1" i="0" spc="45">
                <a:solidFill>
                  <a:srgbClr val="1B1A1A"/>
                </a:solidFill>
                <a:latin typeface="Calibri"/>
              </a:rPr>
              <a:t>A GROUP OF PRIVATE INVESTORS</a:t>
            </a:r>
          </a:p>
        </p:txBody>
      </p:sp>
      <p:sp>
        <p:nvSpPr>
          <p:cNvPr id="180" name="Text: Training, research and instruction">
            <a:hlinkClick r:id="rId13"/>
          </p:cNvPr>
          <p:cNvSpPr txBox="1"/>
          <p:nvPr/>
        </p:nvSpPr>
        <p:spPr>
          <a:xfrm>
            <a:off x="5051375" y="6321326"/>
            <a:ext cx="2065288" cy="276225"/>
          </a:xfrm>
          <a:prstGeom prst="rect">
            <a:avLst/>
          </a:prstGeom>
          <a:noFill/>
        </p:spPr>
        <p:txBody>
          <a:bodyPr wrap="square" lIns="0" tIns="0" rIns="0" bIns="0" anchor="t">
            <a:spAutoFit/>
          </a:bodyPr>
          <a:lstStyle/>
          <a:p>
            <a:pPr algn="ctr">
              <a:lnSpc>
                <a:spcPts val="1088"/>
              </a:lnSpc>
            </a:pPr>
            <a:r>
              <a:rPr sz="788" b="0" i="0" spc="15">
                <a:solidFill>
                  <a:srgbClr val="333231"/>
                </a:solidFill>
                <a:latin typeface="Calibri"/>
              </a:rPr>
              <a:t>Training, research, and instructional design for pharmaceutical, biotech, and device companies</a:t>
            </a:r>
          </a:p>
        </p:txBody>
      </p:sp>
      <p:sp>
        <p:nvSpPr>
          <p:cNvPr id="181" name="Text: PHARMACY &amp; HEALTHCARE SERVICES">
            <a:hlinkClick r:id="rId13"/>
          </p:cNvPr>
          <p:cNvSpPr txBox="1"/>
          <p:nvPr/>
        </p:nvSpPr>
        <p:spPr>
          <a:xfrm>
            <a:off x="5051375" y="6734026"/>
            <a:ext cx="2065288" cy="104775"/>
          </a:xfrm>
          <a:prstGeom prst="rect">
            <a:avLst/>
          </a:prstGeom>
          <a:noFill/>
        </p:spPr>
        <p:txBody>
          <a:bodyPr wrap="square" lIns="0" tIns="0" rIns="0" bIns="0" anchor="t">
            <a:spAutoFit/>
          </a:bodyPr>
          <a:lstStyle/>
          <a:p>
            <a:pPr algn="ctr">
              <a:lnSpc>
                <a:spcPts val="825"/>
              </a:lnSpc>
            </a:pPr>
            <a:r>
              <a:rPr sz="600" b="1" i="0" spc="105">
                <a:solidFill>
                  <a:srgbClr val="8C6239"/>
                </a:solidFill>
                <a:latin typeface="Calibri"/>
              </a:rPr>
              <a:t>PHARMACY &amp; HEALTHCARE SERVICES</a:t>
            </a:r>
          </a:p>
        </p:txBody>
      </p:sp>
      <p:sp>
        <p:nvSpPr>
          <p:cNvPr id="182" name="Rectangle 181"/>
          <p:cNvSpPr/>
          <p:nvPr/>
        </p:nvSpPr>
        <p:spPr>
          <a:xfrm>
            <a:off x="7340501" y="5111651"/>
            <a:ext cx="2298650" cy="1822400"/>
          </a:xfrm>
          <a:prstGeom prst="rect">
            <a:avLst/>
          </a:prstGeom>
          <a:solidFill>
            <a:srgbClr val="FFFFFF"/>
          </a:solidFill>
          <a:ln>
            <a:noFill/>
          </a:ln>
          <a:effectLst/>
        </p:spPr>
        <p:txBody>
          <a:bodyPr rtlCol="0" anchor="ctr"/>
          <a:lstStyle/>
          <a:p>
            <a:pPr algn="ctr"/>
            <a:endParaRPr/>
          </a:p>
        </p:txBody>
      </p:sp>
      <p:sp>
        <p:nvSpPr>
          <p:cNvPr id="183" name="Rectangle 182"/>
          <p:cNvSpPr/>
          <p:nvPr/>
        </p:nvSpPr>
        <p:spPr>
          <a:xfrm>
            <a:off x="7340501" y="5111651"/>
            <a:ext cx="2298650" cy="28575"/>
          </a:xfrm>
          <a:prstGeom prst="rect">
            <a:avLst/>
          </a:prstGeom>
          <a:solidFill>
            <a:srgbClr val="B68757"/>
          </a:solidFill>
          <a:ln>
            <a:noFill/>
          </a:ln>
          <a:effectLst/>
        </p:spPr>
        <p:txBody>
          <a:bodyPr rtlCol="0" anchor="ctr"/>
          <a:lstStyle/>
          <a:p>
            <a:pPr algn="ctr"/>
            <a:endParaRPr/>
          </a:p>
        </p:txBody>
      </p:sp>
      <p:sp>
        <p:nvSpPr>
          <p:cNvPr id="184" name="Rectangle 183"/>
          <p:cNvSpPr/>
          <p:nvPr/>
        </p:nvSpPr>
        <p:spPr>
          <a:xfrm>
            <a:off x="9629626" y="5111651"/>
            <a:ext cx="9525" cy="1822400"/>
          </a:xfrm>
          <a:prstGeom prst="rect">
            <a:avLst/>
          </a:prstGeom>
          <a:solidFill>
            <a:srgbClr val="E3DCD3"/>
          </a:solidFill>
          <a:ln>
            <a:noFill/>
          </a:ln>
          <a:effectLst/>
        </p:spPr>
        <p:txBody>
          <a:bodyPr rtlCol="0" anchor="ctr"/>
          <a:lstStyle/>
          <a:p>
            <a:pPr algn="ctr"/>
            <a:endParaRPr/>
          </a:p>
        </p:txBody>
      </p:sp>
      <p:sp>
        <p:nvSpPr>
          <p:cNvPr id="185" name="Rectangle 184"/>
          <p:cNvSpPr/>
          <p:nvPr/>
        </p:nvSpPr>
        <p:spPr>
          <a:xfrm>
            <a:off x="7340501" y="6924526"/>
            <a:ext cx="2298650" cy="9525"/>
          </a:xfrm>
          <a:prstGeom prst="rect">
            <a:avLst/>
          </a:prstGeom>
          <a:solidFill>
            <a:srgbClr val="E3DCD3"/>
          </a:solidFill>
          <a:ln>
            <a:noFill/>
          </a:ln>
          <a:effectLst/>
        </p:spPr>
        <p:txBody>
          <a:bodyPr rtlCol="0" anchor="ctr"/>
          <a:lstStyle/>
          <a:p>
            <a:pPr algn="ctr"/>
            <a:endParaRPr/>
          </a:p>
        </p:txBody>
      </p:sp>
      <p:sp>
        <p:nvSpPr>
          <p:cNvPr id="186" name="Rectangle 185"/>
          <p:cNvSpPr/>
          <p:nvPr/>
        </p:nvSpPr>
        <p:spPr>
          <a:xfrm>
            <a:off x="7340501" y="5111651"/>
            <a:ext cx="9525" cy="1822400"/>
          </a:xfrm>
          <a:prstGeom prst="rect">
            <a:avLst/>
          </a:prstGeom>
          <a:solidFill>
            <a:srgbClr val="E3DCD3"/>
          </a:solidFill>
          <a:ln>
            <a:noFill/>
          </a:ln>
          <a:effectLst/>
        </p:spPr>
        <p:txBody>
          <a:bodyPr rtlCol="0" anchor="ctr"/>
          <a:lstStyle/>
          <a:p>
            <a:pPr algn="ctr"/>
            <a:endParaRPr/>
          </a:p>
        </p:txBody>
      </p:sp>
      <p:sp>
        <p:nvSpPr>
          <p:cNvPr id="187" name="Rectangle 186"/>
          <p:cNvSpPr/>
          <p:nvPr/>
        </p:nvSpPr>
        <p:spPr>
          <a:xfrm>
            <a:off x="7464326" y="5235476"/>
            <a:ext cx="2051000" cy="419100"/>
          </a:xfrm>
          <a:prstGeom prst="rect">
            <a:avLst/>
          </a:prstGeom>
          <a:solidFill>
            <a:srgbClr val="FFFFFF"/>
          </a:solidFill>
          <a:ln>
            <a:noFill/>
          </a:ln>
          <a:effectLst/>
        </p:spPr>
        <p:txBody>
          <a:bodyPr rtlCol="0" anchor="ctr"/>
          <a:lstStyle/>
          <a:p>
            <a:pPr algn="ctr"/>
            <a:endParaRPr/>
          </a:p>
        </p:txBody>
      </p:sp>
      <p:sp>
        <p:nvSpPr>
          <p:cNvPr id="188" name="Rectangle 187"/>
          <p:cNvSpPr/>
          <p:nvPr/>
        </p:nvSpPr>
        <p:spPr>
          <a:xfrm>
            <a:off x="7464326" y="5235476"/>
            <a:ext cx="2051000" cy="9525"/>
          </a:xfrm>
          <a:prstGeom prst="rect">
            <a:avLst/>
          </a:prstGeom>
          <a:solidFill>
            <a:srgbClr val="E3DCD3"/>
          </a:solidFill>
          <a:ln>
            <a:noFill/>
          </a:ln>
          <a:effectLst/>
        </p:spPr>
        <p:txBody>
          <a:bodyPr rtlCol="0" anchor="ctr"/>
          <a:lstStyle/>
          <a:p>
            <a:pPr algn="ctr"/>
            <a:endParaRPr/>
          </a:p>
        </p:txBody>
      </p:sp>
      <p:sp>
        <p:nvSpPr>
          <p:cNvPr id="189" name="Rectangle 188"/>
          <p:cNvSpPr/>
          <p:nvPr/>
        </p:nvSpPr>
        <p:spPr>
          <a:xfrm>
            <a:off x="9505801" y="5235476"/>
            <a:ext cx="9525" cy="419100"/>
          </a:xfrm>
          <a:prstGeom prst="rect">
            <a:avLst/>
          </a:prstGeom>
          <a:solidFill>
            <a:srgbClr val="E3DCD3"/>
          </a:solidFill>
          <a:ln>
            <a:noFill/>
          </a:ln>
          <a:effectLst/>
        </p:spPr>
        <p:txBody>
          <a:bodyPr rtlCol="0" anchor="ctr"/>
          <a:lstStyle/>
          <a:p>
            <a:pPr algn="ctr"/>
            <a:endParaRPr/>
          </a:p>
        </p:txBody>
      </p:sp>
      <p:sp>
        <p:nvSpPr>
          <p:cNvPr id="190" name="Rectangle 189"/>
          <p:cNvSpPr/>
          <p:nvPr/>
        </p:nvSpPr>
        <p:spPr>
          <a:xfrm>
            <a:off x="7464326" y="5645051"/>
            <a:ext cx="2051000" cy="9525"/>
          </a:xfrm>
          <a:prstGeom prst="rect">
            <a:avLst/>
          </a:prstGeom>
          <a:solidFill>
            <a:srgbClr val="E3DCD3"/>
          </a:solidFill>
          <a:ln>
            <a:noFill/>
          </a:ln>
          <a:effectLst/>
        </p:spPr>
        <p:txBody>
          <a:bodyPr rtlCol="0" anchor="ctr"/>
          <a:lstStyle/>
          <a:p>
            <a:pPr algn="ctr"/>
            <a:endParaRPr/>
          </a:p>
        </p:txBody>
      </p:sp>
      <p:sp>
        <p:nvSpPr>
          <p:cNvPr id="191" name="Rectangle 190"/>
          <p:cNvSpPr/>
          <p:nvPr/>
        </p:nvSpPr>
        <p:spPr>
          <a:xfrm>
            <a:off x="7464326" y="5235476"/>
            <a:ext cx="9525" cy="419100"/>
          </a:xfrm>
          <a:prstGeom prst="rect">
            <a:avLst/>
          </a:prstGeom>
          <a:solidFill>
            <a:srgbClr val="E3DCD3"/>
          </a:solidFill>
          <a:ln>
            <a:noFill/>
          </a:ln>
          <a:effectLst/>
        </p:spPr>
        <p:txBody>
          <a:bodyPr rtlCol="0" anchor="ctr"/>
          <a:lstStyle/>
          <a:p>
            <a:pPr algn="ctr"/>
            <a:endParaRPr/>
          </a:p>
        </p:txBody>
      </p:sp>
      <p:sp>
        <p:nvSpPr>
          <p:cNvPr id="192" name="Text: FITZGERALD ENTERPRISES"/>
          <p:cNvSpPr txBox="1"/>
          <p:nvPr/>
        </p:nvSpPr>
        <p:spPr>
          <a:xfrm>
            <a:off x="7941171" y="5383113"/>
            <a:ext cx="1111448" cy="123825"/>
          </a:xfrm>
          <a:prstGeom prst="rect">
            <a:avLst/>
          </a:prstGeom>
          <a:noFill/>
        </p:spPr>
        <p:txBody>
          <a:bodyPr wrap="square" lIns="0" tIns="0" rIns="0" bIns="0" anchor="t">
            <a:spAutoFit/>
          </a:bodyPr>
          <a:lstStyle/>
          <a:p>
            <a:pPr algn="ctr">
              <a:lnSpc>
                <a:spcPts val="975"/>
              </a:lnSpc>
            </a:pPr>
            <a:r>
              <a:rPr sz="712" b="1" i="0" spc="45">
                <a:solidFill>
                  <a:srgbClr val="1B1A1A"/>
                </a:solidFill>
                <a:latin typeface="Calibri"/>
              </a:rPr>
              <a:t>FITZGERALD ENTERPRISES</a:t>
            </a:r>
          </a:p>
        </p:txBody>
      </p:sp>
      <p:sp>
        <p:nvSpPr>
          <p:cNvPr id="193" name="Text: HAS BEEN ACQUIRED BY"/>
          <p:cNvSpPr txBox="1"/>
          <p:nvPr/>
        </p:nvSpPr>
        <p:spPr>
          <a:xfrm>
            <a:off x="7464326" y="5654576"/>
            <a:ext cx="2065288" cy="161925"/>
          </a:xfrm>
          <a:prstGeom prst="rect">
            <a:avLst/>
          </a:prstGeom>
          <a:noFill/>
        </p:spPr>
        <p:txBody>
          <a:bodyPr wrap="square" lIns="0" tIns="0" rIns="0" bIns="0" anchor="t">
            <a:spAutoFit/>
          </a:bodyPr>
          <a:lstStyle/>
          <a:p>
            <a:pPr algn="ctr">
              <a:lnSpc>
                <a:spcPts val="1275"/>
              </a:lnSpc>
            </a:pPr>
            <a:r>
              <a:rPr sz="600" b="0" i="0" spc="112">
                <a:solidFill>
                  <a:srgbClr val="6F6A66"/>
                </a:solidFill>
                <a:latin typeface="Calibri"/>
              </a:rPr>
              <a:t>HAS BEEN ACQUIRED BY</a:t>
            </a:r>
          </a:p>
        </p:txBody>
      </p:sp>
      <p:sp>
        <p:nvSpPr>
          <p:cNvPr id="194" name="Rectangle 193"/>
          <p:cNvSpPr/>
          <p:nvPr/>
        </p:nvSpPr>
        <p:spPr>
          <a:xfrm>
            <a:off x="7464326" y="5816501"/>
            <a:ext cx="2051000" cy="419100"/>
          </a:xfrm>
          <a:prstGeom prst="rect">
            <a:avLst/>
          </a:prstGeom>
          <a:solidFill>
            <a:srgbClr val="FFFFFF"/>
          </a:solidFill>
          <a:ln>
            <a:noFill/>
          </a:ln>
          <a:effectLst/>
        </p:spPr>
        <p:txBody>
          <a:bodyPr rtlCol="0" anchor="ctr"/>
          <a:lstStyle/>
          <a:p>
            <a:pPr algn="ctr"/>
            <a:endParaRPr/>
          </a:p>
        </p:txBody>
      </p:sp>
      <p:sp>
        <p:nvSpPr>
          <p:cNvPr id="195" name="Rectangle 194"/>
          <p:cNvSpPr/>
          <p:nvPr/>
        </p:nvSpPr>
        <p:spPr>
          <a:xfrm>
            <a:off x="7464326" y="5816501"/>
            <a:ext cx="2051000" cy="9525"/>
          </a:xfrm>
          <a:prstGeom prst="rect">
            <a:avLst/>
          </a:prstGeom>
          <a:solidFill>
            <a:srgbClr val="E3DCD3"/>
          </a:solidFill>
          <a:ln>
            <a:noFill/>
          </a:ln>
          <a:effectLst/>
        </p:spPr>
        <p:txBody>
          <a:bodyPr rtlCol="0" anchor="ctr"/>
          <a:lstStyle/>
          <a:p>
            <a:pPr algn="ctr"/>
            <a:endParaRPr/>
          </a:p>
        </p:txBody>
      </p:sp>
      <p:sp>
        <p:nvSpPr>
          <p:cNvPr id="196" name="Rectangle 195"/>
          <p:cNvSpPr/>
          <p:nvPr/>
        </p:nvSpPr>
        <p:spPr>
          <a:xfrm>
            <a:off x="9505801" y="5816501"/>
            <a:ext cx="9525" cy="419100"/>
          </a:xfrm>
          <a:prstGeom prst="rect">
            <a:avLst/>
          </a:prstGeom>
          <a:solidFill>
            <a:srgbClr val="E3DCD3"/>
          </a:solidFill>
          <a:ln>
            <a:noFill/>
          </a:ln>
          <a:effectLst/>
        </p:spPr>
        <p:txBody>
          <a:bodyPr rtlCol="0" anchor="ctr"/>
          <a:lstStyle/>
          <a:p>
            <a:pPr algn="ctr"/>
            <a:endParaRPr/>
          </a:p>
        </p:txBody>
      </p:sp>
      <p:sp>
        <p:nvSpPr>
          <p:cNvPr id="197" name="Rectangle 196"/>
          <p:cNvSpPr/>
          <p:nvPr/>
        </p:nvSpPr>
        <p:spPr>
          <a:xfrm>
            <a:off x="7464326" y="6226076"/>
            <a:ext cx="2051000" cy="9525"/>
          </a:xfrm>
          <a:prstGeom prst="rect">
            <a:avLst/>
          </a:prstGeom>
          <a:solidFill>
            <a:srgbClr val="E3DCD3"/>
          </a:solidFill>
          <a:ln>
            <a:noFill/>
          </a:ln>
          <a:effectLst/>
        </p:spPr>
        <p:txBody>
          <a:bodyPr rtlCol="0" anchor="ctr"/>
          <a:lstStyle/>
          <a:p>
            <a:pPr algn="ctr"/>
            <a:endParaRPr/>
          </a:p>
        </p:txBody>
      </p:sp>
      <p:sp>
        <p:nvSpPr>
          <p:cNvPr id="198" name="Rectangle 197"/>
          <p:cNvSpPr/>
          <p:nvPr/>
        </p:nvSpPr>
        <p:spPr>
          <a:xfrm>
            <a:off x="7464326" y="5816501"/>
            <a:ext cx="9525" cy="419100"/>
          </a:xfrm>
          <a:prstGeom prst="rect">
            <a:avLst/>
          </a:prstGeom>
          <a:solidFill>
            <a:srgbClr val="E3DCD3"/>
          </a:solidFill>
          <a:ln>
            <a:noFill/>
          </a:ln>
          <a:effectLst/>
        </p:spPr>
        <p:txBody>
          <a:bodyPr rtlCol="0" anchor="ctr"/>
          <a:lstStyle/>
          <a:p>
            <a:pPr algn="ctr"/>
            <a:endParaRPr/>
          </a:p>
        </p:txBody>
      </p:sp>
      <p:sp>
        <p:nvSpPr>
          <p:cNvPr id="199" name="Text: AN UNDISCLOSED BUYER"/>
          <p:cNvSpPr txBox="1"/>
          <p:nvPr/>
        </p:nvSpPr>
        <p:spPr>
          <a:xfrm>
            <a:off x="7962751" y="5964138"/>
            <a:ext cx="1068288" cy="123825"/>
          </a:xfrm>
          <a:prstGeom prst="rect">
            <a:avLst/>
          </a:prstGeom>
          <a:noFill/>
        </p:spPr>
        <p:txBody>
          <a:bodyPr wrap="square" lIns="0" tIns="0" rIns="0" bIns="0" anchor="t">
            <a:spAutoFit/>
          </a:bodyPr>
          <a:lstStyle/>
          <a:p>
            <a:pPr algn="ctr">
              <a:lnSpc>
                <a:spcPts val="975"/>
              </a:lnSpc>
            </a:pPr>
            <a:r>
              <a:rPr sz="712" b="1" i="0" spc="45">
                <a:solidFill>
                  <a:srgbClr val="1B1A1A"/>
                </a:solidFill>
                <a:latin typeface="Calibri"/>
              </a:rPr>
              <a:t>AN UNDISCLOSED BUYER</a:t>
            </a:r>
          </a:p>
        </p:txBody>
      </p:sp>
      <p:sp>
        <p:nvSpPr>
          <p:cNvPr id="200" name="Text: Healthcare executive and clinical "/>
          <p:cNvSpPr txBox="1"/>
          <p:nvPr/>
        </p:nvSpPr>
        <p:spPr>
          <a:xfrm>
            <a:off x="7464326" y="6321326"/>
            <a:ext cx="2065288" cy="138112"/>
          </a:xfrm>
          <a:prstGeom prst="rect">
            <a:avLst/>
          </a:prstGeom>
          <a:noFill/>
        </p:spPr>
        <p:txBody>
          <a:bodyPr wrap="square" lIns="0" tIns="0" rIns="0" bIns="0" anchor="t">
            <a:spAutoFit/>
          </a:bodyPr>
          <a:lstStyle/>
          <a:p>
            <a:pPr algn="ctr">
              <a:lnSpc>
                <a:spcPts val="1088"/>
              </a:lnSpc>
            </a:pPr>
            <a:r>
              <a:rPr sz="788" b="0" i="0" spc="15">
                <a:solidFill>
                  <a:srgbClr val="333231"/>
                </a:solidFill>
                <a:latin typeface="Calibri"/>
              </a:rPr>
              <a:t>Healthcare executive and clinical placement</a:t>
            </a:r>
          </a:p>
        </p:txBody>
      </p:sp>
      <p:sp>
        <p:nvSpPr>
          <p:cNvPr id="201" name="Text: PHARMACY &amp; HEALTHCARE SERVICES"/>
          <p:cNvSpPr txBox="1"/>
          <p:nvPr/>
        </p:nvSpPr>
        <p:spPr>
          <a:xfrm>
            <a:off x="7464326" y="6734026"/>
            <a:ext cx="2065288" cy="104775"/>
          </a:xfrm>
          <a:prstGeom prst="rect">
            <a:avLst/>
          </a:prstGeom>
          <a:noFill/>
        </p:spPr>
        <p:txBody>
          <a:bodyPr wrap="square" lIns="0" tIns="0" rIns="0" bIns="0" anchor="t">
            <a:spAutoFit/>
          </a:bodyPr>
          <a:lstStyle/>
          <a:p>
            <a:pPr algn="ctr">
              <a:lnSpc>
                <a:spcPts val="825"/>
              </a:lnSpc>
            </a:pPr>
            <a:r>
              <a:rPr sz="600" b="1" i="0" spc="105">
                <a:solidFill>
                  <a:srgbClr val="8C6239"/>
                </a:solidFill>
                <a:latin typeface="Calibri"/>
              </a:rPr>
              <a:t>PHARMACY &amp; HEALTHCARE SERVICES</a:t>
            </a:r>
          </a:p>
        </p:txBody>
      </p:sp>
      <p:sp>
        <p:nvSpPr>
          <p:cNvPr id="202" name="Rectangle 201"/>
          <p:cNvSpPr/>
          <p:nvPr/>
        </p:nvSpPr>
        <p:spPr>
          <a:xfrm>
            <a:off x="419100" y="7029450"/>
            <a:ext cx="9220200" cy="9525"/>
          </a:xfrm>
          <a:prstGeom prst="rect">
            <a:avLst/>
          </a:prstGeom>
          <a:solidFill>
            <a:srgbClr val="E3DCD3"/>
          </a:solidFill>
          <a:ln>
            <a:noFill/>
          </a:ln>
          <a:effectLst/>
        </p:spPr>
        <p:txBody>
          <a:bodyPr rtlCol="0" anchor="ctr"/>
          <a:lstStyle/>
          <a:p>
            <a:pPr algn="ctr"/>
            <a:endParaRPr/>
          </a:p>
        </p:txBody>
      </p:sp>
      <p:pic>
        <p:nvPicPr>
          <p:cNvPr id="203" name="Picture 202" descr="Benchmark International"/>
          <p:cNvPicPr>
            <a:picLocks noChangeAspect="1"/>
          </p:cNvPicPr>
          <p:nvPr/>
        </p:nvPicPr>
        <p:blipFill>
          <a:blip r:embed="rId14"/>
          <a:srcRect/>
          <a:stretch>
            <a:fillRect/>
          </a:stretch>
        </p:blipFill>
        <p:spPr>
          <a:xfrm>
            <a:off x="419100" y="7143750"/>
            <a:ext cx="914400" cy="171450"/>
          </a:xfrm>
          <a:prstGeom prst="rect">
            <a:avLst/>
          </a:prstGeom>
        </p:spPr>
      </p:pic>
      <p:sp>
        <p:nvSpPr>
          <p:cNvPr id="204" name="Text: Transactions closed in the trailin"/>
          <p:cNvSpPr txBox="1"/>
          <p:nvPr/>
        </p:nvSpPr>
        <p:spPr>
          <a:xfrm>
            <a:off x="1543050" y="7105650"/>
            <a:ext cx="7748588" cy="238125"/>
          </a:xfrm>
          <a:prstGeom prst="rect">
            <a:avLst/>
          </a:prstGeom>
          <a:noFill/>
        </p:spPr>
        <p:txBody>
          <a:bodyPr wrap="square" lIns="0" tIns="0" rIns="0" bIns="0" anchor="t">
            <a:spAutoFit/>
          </a:bodyPr>
          <a:lstStyle/>
          <a:p>
            <a:pPr algn="l">
              <a:lnSpc>
                <a:spcPts val="938"/>
              </a:lnSpc>
            </a:pPr>
            <a:r>
              <a:rPr sz="675" b="0" i="0" spc="8">
                <a:solidFill>
                  <a:srgbClr val="6F6A66"/>
                </a:solidFill>
                <a:latin typeface="Calibri"/>
              </a:rPr>
              <a:t>Transactions closed in the trailing 24 months on which Benchmark International advised the seller, as announced at benchmarkintl.com. Nine of the twelve are shown; buyers appear as announced. Engagements in progress are counted in aggregate.</a:t>
            </a:r>
          </a:p>
        </p:txBody>
      </p:sp>
      <p:sp>
        <p:nvSpPr>
          <p:cNvPr id="205" name="Text: 13"/>
          <p:cNvSpPr txBox="1"/>
          <p:nvPr/>
        </p:nvSpPr>
        <p:spPr>
          <a:xfrm>
            <a:off x="9509373" y="7162800"/>
            <a:ext cx="144214" cy="133350"/>
          </a:xfrm>
          <a:prstGeom prst="rect">
            <a:avLst/>
          </a:prstGeom>
          <a:noFill/>
        </p:spPr>
        <p:txBody>
          <a:bodyPr wrap="square" lIns="0" tIns="0" rIns="0" bIns="0" anchor="t">
            <a:spAutoFit/>
          </a:bodyPr>
          <a:lstStyle/>
          <a:p>
            <a:pPr algn="l">
              <a:lnSpc>
                <a:spcPts val="1050"/>
              </a:lnSpc>
            </a:pPr>
            <a:r>
              <a:rPr sz="712" b="1" i="0" spc="150">
                <a:solidFill>
                  <a:srgbClr val="1B1A1A"/>
                </a:solidFill>
                <a:latin typeface="Calibr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57150" cy="7772400"/>
          </a:xfrm>
          <a:prstGeom prst="rect">
            <a:avLst/>
          </a:prstGeom>
          <a:solidFill>
            <a:srgbClr val="B68757"/>
          </a:solidFill>
          <a:ln>
            <a:noFill/>
          </a:ln>
          <a:effectLst/>
        </p:spPr>
        <p:txBody>
          <a:bodyPr rtlCol="0" anchor="ctr"/>
          <a:lstStyle/>
          <a:p>
            <a:pPr algn="ctr"/>
            <a:endParaRPr/>
          </a:p>
        </p:txBody>
      </p:sp>
      <p:sp>
        <p:nvSpPr>
          <p:cNvPr id="3" name="Text: HEALTHCARE | QUARTERLY SECTOR BRIE"/>
          <p:cNvSpPr txBox="1"/>
          <p:nvPr/>
        </p:nvSpPr>
        <p:spPr>
          <a:xfrm>
            <a:off x="419100" y="381000"/>
            <a:ext cx="2439591" cy="133350"/>
          </a:xfrm>
          <a:prstGeom prst="rect">
            <a:avLst/>
          </a:prstGeom>
          <a:noFill/>
        </p:spPr>
        <p:txBody>
          <a:bodyPr wrap="none" lIns="0" tIns="0" rIns="0" bIns="0" anchor="t">
            <a:spAutoFit/>
          </a:bodyPr>
          <a:lstStyle/>
          <a:p>
            <a:pPr algn="l">
              <a:lnSpc>
                <a:spcPts val="1050"/>
              </a:lnSpc>
            </a:pPr>
            <a:r>
              <a:rPr sz="675" b="1" i="0" spc="195">
                <a:solidFill>
                  <a:srgbClr val="8C6239"/>
                </a:solidFill>
                <a:latin typeface="Calibri"/>
              </a:rPr>
              <a:t>HEALTHCARE | QUARTERLY INDUSTRY REPORT</a:t>
            </a:r>
          </a:p>
        </p:txBody>
      </p:sp>
      <p:sp>
        <p:nvSpPr>
          <p:cNvPr id="4" name="Text: Q4 2026"/>
          <p:cNvSpPr txBox="1"/>
          <p:nvPr/>
        </p:nvSpPr>
        <p:spPr>
          <a:xfrm>
            <a:off x="9188648" y="361950"/>
            <a:ext cx="464939" cy="171450"/>
          </a:xfrm>
          <a:prstGeom prst="rect">
            <a:avLst/>
          </a:prstGeom>
          <a:noFill/>
        </p:spPr>
        <p:txBody>
          <a:bodyPr wrap="square" lIns="0" tIns="0" rIns="0" bIns="0" anchor="t">
            <a:spAutoFit/>
          </a:bodyPr>
          <a:lstStyle/>
          <a:p>
            <a:pPr algn="l">
              <a:lnSpc>
                <a:spcPts val="1350"/>
              </a:lnSpc>
            </a:pPr>
            <a:r>
              <a:rPr sz="900" b="0" i="0" spc="90">
                <a:solidFill>
                  <a:srgbClr val="6F6A66"/>
                </a:solidFill>
                <a:latin typeface="Cambria"/>
              </a:rPr>
              <a:t>Q4 2026</a:t>
            </a:r>
          </a:p>
        </p:txBody>
      </p:sp>
      <p:sp>
        <p:nvSpPr>
          <p:cNvPr id="5" name="Text: Valuation Multiples Have Shifted b"/>
          <p:cNvSpPr txBox="1"/>
          <p:nvPr/>
        </p:nvSpPr>
        <p:spPr>
          <a:xfrm>
            <a:off x="419100" y="523875"/>
            <a:ext cx="9234488" cy="323850"/>
          </a:xfrm>
          <a:prstGeom prst="rect">
            <a:avLst/>
          </a:prstGeom>
          <a:noFill/>
        </p:spPr>
        <p:txBody>
          <a:bodyPr wrap="square" lIns="0" tIns="0" rIns="0" bIns="0" anchor="t">
            <a:spAutoFit/>
          </a:bodyPr>
          <a:lstStyle/>
          <a:p>
            <a:pPr algn="l">
              <a:lnSpc>
                <a:spcPts val="2550"/>
              </a:lnSpc>
            </a:pPr>
            <a:r>
              <a:rPr sz="2025" b="1" i="0">
                <a:solidFill>
                  <a:srgbClr val="1B1A1A"/>
                </a:solidFill>
                <a:latin typeface="Cambria"/>
              </a:rPr>
              <a:t>Valuation Multiples Have Shifted by Sector</a:t>
            </a:r>
          </a:p>
        </p:txBody>
      </p:sp>
      <p:sp>
        <p:nvSpPr>
          <p:cNvPr id="6" name="Text: Life sciences and diagnostics comp"/>
          <p:cNvSpPr txBox="1"/>
          <p:nvPr/>
        </p:nvSpPr>
        <p:spPr>
          <a:xfrm>
            <a:off x="419100" y="885825"/>
            <a:ext cx="10215086" cy="180975"/>
          </a:xfrm>
          <a:prstGeom prst="rect">
            <a:avLst/>
          </a:prstGeom>
          <a:noFill/>
        </p:spPr>
        <p:txBody>
          <a:bodyPr wrap="square" lIns="0" tIns="0" rIns="0" bIns="0" anchor="t">
            <a:spAutoFit/>
          </a:bodyPr>
          <a:lstStyle/>
          <a:p>
            <a:pPr algn="l">
              <a:lnSpc>
                <a:spcPts val="1388"/>
              </a:lnSpc>
            </a:pPr>
            <a:r>
              <a:rPr sz="938" b="0" i="0" spc="15">
                <a:solidFill>
                  <a:srgbClr val="6F6A66"/>
                </a:solidFill>
                <a:latin typeface="Calibri"/>
              </a:rPr>
              <a:t>Life sciences and diagnostics companies re-rated from 14.5x to 21.8x EBITDA in a year, while the other three sectors trade within about one turn of a year ago.</a:t>
            </a:r>
          </a:p>
        </p:txBody>
      </p:sp>
      <p:sp>
        <p:nvSpPr>
          <p:cNvPr id="7" name="Rectangle 6"/>
          <p:cNvSpPr/>
          <p:nvPr/>
        </p:nvSpPr>
        <p:spPr>
          <a:xfrm>
            <a:off x="419100" y="1143000"/>
            <a:ext cx="9220200" cy="9525"/>
          </a:xfrm>
          <a:prstGeom prst="rect">
            <a:avLst/>
          </a:prstGeom>
          <a:solidFill>
            <a:srgbClr val="E3DCD3"/>
          </a:solidFill>
          <a:ln>
            <a:noFill/>
          </a:ln>
          <a:effectLst/>
        </p:spPr>
        <p:txBody>
          <a:bodyPr rtlCol="0" anchor="ctr"/>
          <a:lstStyle/>
          <a:p>
            <a:pPr algn="ctr"/>
            <a:endParaRPr/>
          </a:p>
        </p:txBody>
      </p:sp>
      <p:sp>
        <p:nvSpPr>
          <p:cNvPr id="8" name="Text: Enterprise value to trailing EBITD"/>
          <p:cNvSpPr txBox="1"/>
          <p:nvPr/>
        </p:nvSpPr>
        <p:spPr>
          <a:xfrm>
            <a:off x="419100" y="1238250"/>
            <a:ext cx="6491288" cy="161925"/>
          </a:xfrm>
          <a:prstGeom prst="rect">
            <a:avLst/>
          </a:prstGeom>
          <a:noFill/>
        </p:spPr>
        <p:txBody>
          <a:bodyPr wrap="square" lIns="0" tIns="0" rIns="0" bIns="0" anchor="t">
            <a:spAutoFit/>
          </a:bodyPr>
          <a:lstStyle/>
          <a:p>
            <a:pPr algn="l">
              <a:lnSpc>
                <a:spcPts val="1275"/>
              </a:lnSpc>
            </a:pPr>
            <a:r>
              <a:rPr sz="938" b="1" i="0" spc="15">
                <a:solidFill>
                  <a:srgbClr val="1B1A1A"/>
                </a:solidFill>
                <a:latin typeface="Calibri"/>
              </a:rPr>
              <a:t>Enterprise value to trailing EBITDA, median by sector</a:t>
            </a:r>
          </a:p>
        </p:txBody>
      </p:sp>
      <p:sp>
        <p:nvSpPr>
          <p:cNvPr id="9" name="Text: Quarter-end values from September "/>
          <p:cNvSpPr txBox="1"/>
          <p:nvPr/>
        </p:nvSpPr>
        <p:spPr>
          <a:xfrm>
            <a:off x="419100" y="1400175"/>
            <a:ext cx="6491288" cy="133350"/>
          </a:xfrm>
          <a:prstGeom prst="rect">
            <a:avLst/>
          </a:prstGeom>
          <a:noFill/>
        </p:spPr>
        <p:txBody>
          <a:bodyPr wrap="square" lIns="0" tIns="0" rIns="0" bIns="0" anchor="t">
            <a:spAutoFit/>
          </a:bodyPr>
          <a:lstStyle/>
          <a:p>
            <a:pPr algn="l">
              <a:lnSpc>
                <a:spcPts val="1050"/>
              </a:lnSpc>
            </a:pPr>
            <a:r>
              <a:rPr sz="750" b="0" i="0" spc="15">
                <a:solidFill>
                  <a:srgbClr val="6F6A66"/>
                </a:solidFill>
                <a:latin typeface="Calibri"/>
              </a:rPr>
              <a:t>Quarter-end values from September 2023 and the latest value in October 2026; the same companies at each point, where a multiple was available</a:t>
            </a:r>
          </a:p>
        </p:txBody>
      </p:sp>
      <p:graphicFrame>
        <p:nvGraphicFramePr>
          <p:cNvPr id="10" name="Chart (edit data to update)"/>
          <p:cNvGraphicFramePr>
            <a:graphicFrameLocks noGrp="1"/>
          </p:cNvGraphicFramePr>
          <p:nvPr/>
        </p:nvGraphicFramePr>
        <p:xfrm>
          <a:off x="419100" y="1609725"/>
          <a:ext cx="6096000" cy="3028950"/>
        </p:xfrm>
        <a:graphic>
          <a:graphicData uri="http://schemas.openxmlformats.org/drawingml/2006/chart">
            <c:chart xmlns:c="http://schemas.openxmlformats.org/drawingml/2006/chart" xmlns:r="http://schemas.openxmlformats.org/officeDocument/2006/relationships" r:id="rId2"/>
          </a:graphicData>
        </a:graphic>
      </p:graphicFrame>
      <p:sp>
        <p:nvSpPr>
          <p:cNvPr id="11" name="Rectangle 10"/>
          <p:cNvSpPr/>
          <p:nvPr/>
        </p:nvSpPr>
        <p:spPr>
          <a:xfrm>
            <a:off x="419100" y="4767262"/>
            <a:ext cx="133350" cy="28575"/>
          </a:xfrm>
          <a:prstGeom prst="rect">
            <a:avLst/>
          </a:prstGeom>
          <a:solidFill>
            <a:srgbClr val="1B1A1A"/>
          </a:solidFill>
          <a:ln>
            <a:noFill/>
          </a:ln>
          <a:effectLst/>
        </p:spPr>
        <p:txBody>
          <a:bodyPr rtlCol="0" anchor="ctr"/>
          <a:lstStyle/>
          <a:p>
            <a:pPr algn="ctr"/>
            <a:endParaRPr/>
          </a:p>
        </p:txBody>
      </p:sp>
      <p:sp>
        <p:nvSpPr>
          <p:cNvPr id="12" name="Text: Provider Services"/>
          <p:cNvSpPr txBox="1"/>
          <p:nvPr/>
        </p:nvSpPr>
        <p:spPr>
          <a:xfrm>
            <a:off x="609600" y="4714875"/>
            <a:ext cx="837724" cy="123825"/>
          </a:xfrm>
          <a:prstGeom prst="rect">
            <a:avLst/>
          </a:prstGeom>
          <a:noFill/>
        </p:spPr>
        <p:txBody>
          <a:bodyPr wrap="square" lIns="0" tIns="0" rIns="0" bIns="0" anchor="t">
            <a:spAutoFit/>
          </a:bodyPr>
          <a:lstStyle/>
          <a:p>
            <a:pPr algn="l">
              <a:lnSpc>
                <a:spcPts val="975"/>
              </a:lnSpc>
            </a:pPr>
            <a:r>
              <a:rPr sz="750" b="0" i="0" spc="15">
                <a:solidFill>
                  <a:srgbClr val="333231"/>
                </a:solidFill>
                <a:latin typeface="Calibri"/>
              </a:rPr>
              <a:t>Provider Services</a:t>
            </a:r>
          </a:p>
        </p:txBody>
      </p:sp>
      <p:sp>
        <p:nvSpPr>
          <p:cNvPr id="13" name="Rectangle 12"/>
          <p:cNvSpPr/>
          <p:nvPr/>
        </p:nvSpPr>
        <p:spPr>
          <a:xfrm>
            <a:off x="1457325" y="4767262"/>
            <a:ext cx="133350" cy="28575"/>
          </a:xfrm>
          <a:prstGeom prst="rect">
            <a:avLst/>
          </a:prstGeom>
          <a:solidFill>
            <a:srgbClr val="B68757"/>
          </a:solidFill>
          <a:ln>
            <a:noFill/>
          </a:ln>
          <a:effectLst/>
        </p:spPr>
        <p:txBody>
          <a:bodyPr rtlCol="0" anchor="ctr"/>
          <a:lstStyle/>
          <a:p>
            <a:pPr algn="ctr"/>
            <a:endParaRPr/>
          </a:p>
        </p:txBody>
      </p:sp>
      <p:sp>
        <p:nvSpPr>
          <p:cNvPr id="14" name="Text: Life Sciences &amp; Diagnostics"/>
          <p:cNvSpPr txBox="1"/>
          <p:nvPr/>
        </p:nvSpPr>
        <p:spPr>
          <a:xfrm>
            <a:off x="1647825" y="4714875"/>
            <a:ext cx="1265337" cy="123825"/>
          </a:xfrm>
          <a:prstGeom prst="rect">
            <a:avLst/>
          </a:prstGeom>
          <a:noFill/>
        </p:spPr>
        <p:txBody>
          <a:bodyPr wrap="square" lIns="0" tIns="0" rIns="0" bIns="0" anchor="t">
            <a:spAutoFit/>
          </a:bodyPr>
          <a:lstStyle/>
          <a:p>
            <a:pPr algn="l">
              <a:lnSpc>
                <a:spcPts val="975"/>
              </a:lnSpc>
            </a:pPr>
            <a:r>
              <a:rPr sz="750" b="0" i="0" spc="15">
                <a:solidFill>
                  <a:srgbClr val="333231"/>
                </a:solidFill>
                <a:latin typeface="Calibri"/>
              </a:rPr>
              <a:t>Life Sciences &amp; Diagnostics</a:t>
            </a:r>
          </a:p>
        </p:txBody>
      </p:sp>
      <p:sp>
        <p:nvSpPr>
          <p:cNvPr id="15" name="Rectangle 14"/>
          <p:cNvSpPr/>
          <p:nvPr/>
        </p:nvSpPr>
        <p:spPr>
          <a:xfrm>
            <a:off x="2884289" y="4767262"/>
            <a:ext cx="133350" cy="28575"/>
          </a:xfrm>
          <a:prstGeom prst="rect">
            <a:avLst/>
          </a:prstGeom>
          <a:solidFill>
            <a:srgbClr val="6D7681"/>
          </a:solidFill>
          <a:ln>
            <a:noFill/>
          </a:ln>
          <a:effectLst/>
        </p:spPr>
        <p:txBody>
          <a:bodyPr rtlCol="0" anchor="ctr"/>
          <a:lstStyle/>
          <a:p>
            <a:pPr algn="ctr"/>
            <a:endParaRPr/>
          </a:p>
        </p:txBody>
      </p:sp>
      <p:sp>
        <p:nvSpPr>
          <p:cNvPr id="16" name="Text: Medical Products &amp; Distribution"/>
          <p:cNvSpPr txBox="1"/>
          <p:nvPr/>
        </p:nvSpPr>
        <p:spPr>
          <a:xfrm>
            <a:off x="3074789" y="4714875"/>
            <a:ext cx="1497151" cy="123825"/>
          </a:xfrm>
          <a:prstGeom prst="rect">
            <a:avLst/>
          </a:prstGeom>
          <a:noFill/>
        </p:spPr>
        <p:txBody>
          <a:bodyPr wrap="square" lIns="0" tIns="0" rIns="0" bIns="0" anchor="t">
            <a:spAutoFit/>
          </a:bodyPr>
          <a:lstStyle/>
          <a:p>
            <a:pPr algn="l">
              <a:lnSpc>
                <a:spcPts val="975"/>
              </a:lnSpc>
            </a:pPr>
            <a:r>
              <a:rPr sz="750" b="0" i="0" spc="15">
                <a:solidFill>
                  <a:srgbClr val="333231"/>
                </a:solidFill>
                <a:latin typeface="Calibri"/>
              </a:rPr>
              <a:t>Medical Products &amp; Distribution</a:t>
            </a:r>
          </a:p>
        </p:txBody>
      </p:sp>
      <p:sp>
        <p:nvSpPr>
          <p:cNvPr id="17" name="Rectangle 16"/>
          <p:cNvSpPr/>
          <p:nvPr/>
        </p:nvSpPr>
        <p:spPr>
          <a:xfrm>
            <a:off x="4521994" y="4767262"/>
            <a:ext cx="133350" cy="28575"/>
          </a:xfrm>
          <a:prstGeom prst="rect">
            <a:avLst/>
          </a:prstGeom>
          <a:solidFill>
            <a:srgbClr val="A39486"/>
          </a:solidFill>
          <a:ln>
            <a:noFill/>
          </a:ln>
          <a:effectLst/>
        </p:spPr>
        <p:txBody>
          <a:bodyPr rtlCol="0" anchor="ctr"/>
          <a:lstStyle/>
          <a:p>
            <a:pPr algn="ctr"/>
            <a:endParaRPr/>
          </a:p>
        </p:txBody>
      </p:sp>
      <p:sp>
        <p:nvSpPr>
          <p:cNvPr id="18" name="Text: Pharmacy &amp; Healthcare Services"/>
          <p:cNvSpPr txBox="1"/>
          <p:nvPr/>
        </p:nvSpPr>
        <p:spPr>
          <a:xfrm>
            <a:off x="4712494" y="4714875"/>
            <a:ext cx="1509102" cy="123825"/>
          </a:xfrm>
          <a:prstGeom prst="rect">
            <a:avLst/>
          </a:prstGeom>
          <a:noFill/>
        </p:spPr>
        <p:txBody>
          <a:bodyPr wrap="square" lIns="0" tIns="0" rIns="0" bIns="0" anchor="t">
            <a:spAutoFit/>
          </a:bodyPr>
          <a:lstStyle/>
          <a:p>
            <a:pPr algn="l">
              <a:lnSpc>
                <a:spcPts val="975"/>
              </a:lnSpc>
            </a:pPr>
            <a:r>
              <a:rPr sz="750" b="0" i="0" spc="15">
                <a:solidFill>
                  <a:srgbClr val="333231"/>
                </a:solidFill>
                <a:latin typeface="Calibri"/>
              </a:rPr>
              <a:t>Pharmacy &amp; Healthcare Services</a:t>
            </a:r>
          </a:p>
        </p:txBody>
      </p:sp>
      <p:sp>
        <p:nvSpPr>
          <p:cNvPr id="19" name="Rectangle 18"/>
          <p:cNvSpPr/>
          <p:nvPr/>
        </p:nvSpPr>
        <p:spPr>
          <a:xfrm>
            <a:off x="419100" y="5848350"/>
            <a:ext cx="6477000" cy="19050"/>
          </a:xfrm>
          <a:prstGeom prst="rect">
            <a:avLst/>
          </a:prstGeom>
          <a:solidFill>
            <a:srgbClr val="B68757"/>
          </a:solidFill>
          <a:ln>
            <a:noFill/>
          </a:ln>
          <a:effectLst/>
        </p:spPr>
        <p:txBody>
          <a:bodyPr rtlCol="0" anchor="ctr"/>
          <a:lstStyle/>
          <a:p>
            <a:pPr algn="ctr"/>
            <a:endParaRPr/>
          </a:p>
        </p:txBody>
      </p:sp>
      <p:sp>
        <p:nvSpPr>
          <p:cNvPr id="20" name="Text: MEDIAN EV TO TRAILING EBITDA"/>
          <p:cNvSpPr txBox="1"/>
          <p:nvPr/>
        </p:nvSpPr>
        <p:spPr>
          <a:xfrm>
            <a:off x="419100" y="5686425"/>
            <a:ext cx="3119438" cy="114300"/>
          </a:xfrm>
          <a:prstGeom prst="rect">
            <a:avLst/>
          </a:prstGeom>
          <a:noFill/>
        </p:spPr>
        <p:txBody>
          <a:bodyPr wrap="square" lIns="0" tIns="0" rIns="0" bIns="0" anchor="t">
            <a:spAutoFit/>
          </a:bodyPr>
          <a:lstStyle/>
          <a:p>
            <a:pPr algn="l">
              <a:lnSpc>
                <a:spcPts val="900"/>
              </a:lnSpc>
            </a:pPr>
            <a:r>
              <a:rPr sz="638" b="1" i="0" spc="105">
                <a:solidFill>
                  <a:srgbClr val="333231"/>
                </a:solidFill>
                <a:latin typeface="Calibri"/>
              </a:rPr>
              <a:t>MEDIAN EV TO TRAILING EBITDA</a:t>
            </a:r>
          </a:p>
        </p:txBody>
      </p:sp>
      <p:sp>
        <p:nvSpPr>
          <p:cNvPr id="21" name="Text: A YEAR AGO"/>
          <p:cNvSpPr txBox="1"/>
          <p:nvPr/>
        </p:nvSpPr>
        <p:spPr>
          <a:xfrm>
            <a:off x="3619500" y="5686425"/>
            <a:ext cx="719138" cy="114300"/>
          </a:xfrm>
          <a:prstGeom prst="rect">
            <a:avLst/>
          </a:prstGeom>
          <a:noFill/>
        </p:spPr>
        <p:txBody>
          <a:bodyPr wrap="square" lIns="0" tIns="0" rIns="0" bIns="0" anchor="t">
            <a:spAutoFit/>
          </a:bodyPr>
          <a:lstStyle/>
          <a:p>
            <a:pPr algn="r">
              <a:lnSpc>
                <a:spcPts val="900"/>
              </a:lnSpc>
            </a:pPr>
            <a:r>
              <a:rPr sz="638" b="1" i="0" spc="105">
                <a:solidFill>
                  <a:srgbClr val="333231"/>
                </a:solidFill>
                <a:latin typeface="Calibri"/>
              </a:rPr>
              <a:t>A YEAR AGO</a:t>
            </a:r>
          </a:p>
        </p:txBody>
      </p:sp>
      <p:sp>
        <p:nvSpPr>
          <p:cNvPr id="22" name="Text: TODAY"/>
          <p:cNvSpPr txBox="1"/>
          <p:nvPr/>
        </p:nvSpPr>
        <p:spPr>
          <a:xfrm>
            <a:off x="4419600" y="5686425"/>
            <a:ext cx="719138" cy="114300"/>
          </a:xfrm>
          <a:prstGeom prst="rect">
            <a:avLst/>
          </a:prstGeom>
          <a:noFill/>
        </p:spPr>
        <p:txBody>
          <a:bodyPr wrap="square" lIns="0" tIns="0" rIns="0" bIns="0" anchor="t">
            <a:spAutoFit/>
          </a:bodyPr>
          <a:lstStyle/>
          <a:p>
            <a:pPr algn="r">
              <a:lnSpc>
                <a:spcPts val="900"/>
              </a:lnSpc>
            </a:pPr>
            <a:r>
              <a:rPr sz="638" b="1" i="0" spc="105">
                <a:solidFill>
                  <a:srgbClr val="333231"/>
                </a:solidFill>
                <a:latin typeface="Calibri"/>
              </a:rPr>
              <a:t>TODAY</a:t>
            </a:r>
          </a:p>
        </p:txBody>
      </p:sp>
      <p:sp>
        <p:nvSpPr>
          <p:cNvPr id="23" name="Text: THREE-YEAR MEDIAN"/>
          <p:cNvSpPr txBox="1"/>
          <p:nvPr/>
        </p:nvSpPr>
        <p:spPr>
          <a:xfrm>
            <a:off x="5219700" y="5572125"/>
            <a:ext cx="928688" cy="228600"/>
          </a:xfrm>
          <a:prstGeom prst="rect">
            <a:avLst/>
          </a:prstGeom>
          <a:noFill/>
        </p:spPr>
        <p:txBody>
          <a:bodyPr wrap="square" lIns="0" tIns="0" rIns="0" bIns="0" anchor="t">
            <a:spAutoFit/>
          </a:bodyPr>
          <a:lstStyle/>
          <a:p>
            <a:pPr algn="r">
              <a:lnSpc>
                <a:spcPts val="900"/>
              </a:lnSpc>
            </a:pPr>
            <a:r>
              <a:rPr sz="638" b="1" i="0" spc="105">
                <a:solidFill>
                  <a:srgbClr val="333231"/>
                </a:solidFill>
                <a:latin typeface="Calibri"/>
              </a:rPr>
              <a:t>THREE-YEAR MEDIAN</a:t>
            </a:r>
          </a:p>
        </p:txBody>
      </p:sp>
      <p:sp>
        <p:nvSpPr>
          <p:cNvPr id="24" name="Text: COMPANIES"/>
          <p:cNvSpPr txBox="1"/>
          <p:nvPr/>
        </p:nvSpPr>
        <p:spPr>
          <a:xfrm>
            <a:off x="6229350" y="5686425"/>
            <a:ext cx="681038" cy="114300"/>
          </a:xfrm>
          <a:prstGeom prst="rect">
            <a:avLst/>
          </a:prstGeom>
          <a:noFill/>
        </p:spPr>
        <p:txBody>
          <a:bodyPr wrap="square" lIns="0" tIns="0" rIns="0" bIns="0" anchor="t">
            <a:spAutoFit/>
          </a:bodyPr>
          <a:lstStyle/>
          <a:p>
            <a:pPr algn="r">
              <a:lnSpc>
                <a:spcPts val="900"/>
              </a:lnSpc>
            </a:pPr>
            <a:r>
              <a:rPr sz="638" b="1" i="0" spc="105">
                <a:solidFill>
                  <a:srgbClr val="333231"/>
                </a:solidFill>
                <a:latin typeface="Calibri"/>
              </a:rPr>
              <a:t>COMPANIES</a:t>
            </a:r>
          </a:p>
        </p:txBody>
      </p:sp>
      <p:sp>
        <p:nvSpPr>
          <p:cNvPr id="25" name="Rectangle 24"/>
          <p:cNvSpPr/>
          <p:nvPr/>
        </p:nvSpPr>
        <p:spPr>
          <a:xfrm>
            <a:off x="419100" y="6124575"/>
            <a:ext cx="6477000" cy="9525"/>
          </a:xfrm>
          <a:prstGeom prst="rect">
            <a:avLst/>
          </a:prstGeom>
          <a:solidFill>
            <a:srgbClr val="E3DCD3"/>
          </a:solidFill>
          <a:ln>
            <a:noFill/>
          </a:ln>
          <a:effectLst/>
        </p:spPr>
        <p:txBody>
          <a:bodyPr rtlCol="0" anchor="ctr"/>
          <a:lstStyle/>
          <a:p>
            <a:pPr algn="ctr"/>
            <a:endParaRPr/>
          </a:p>
        </p:txBody>
      </p:sp>
      <p:sp>
        <p:nvSpPr>
          <p:cNvPr id="26" name="Rectangle 25"/>
          <p:cNvSpPr/>
          <p:nvPr/>
        </p:nvSpPr>
        <p:spPr>
          <a:xfrm>
            <a:off x="419100" y="5981700"/>
            <a:ext cx="133350" cy="28575"/>
          </a:xfrm>
          <a:prstGeom prst="rect">
            <a:avLst/>
          </a:prstGeom>
          <a:solidFill>
            <a:srgbClr val="1B1A1A"/>
          </a:solidFill>
          <a:ln>
            <a:noFill/>
          </a:ln>
          <a:effectLst/>
        </p:spPr>
        <p:txBody>
          <a:bodyPr rtlCol="0" anchor="ctr"/>
          <a:lstStyle/>
          <a:p>
            <a:pPr algn="ctr"/>
            <a:endParaRPr/>
          </a:p>
        </p:txBody>
      </p:sp>
      <p:sp>
        <p:nvSpPr>
          <p:cNvPr id="27" name="Text: Provider Services"/>
          <p:cNvSpPr txBox="1"/>
          <p:nvPr/>
        </p:nvSpPr>
        <p:spPr>
          <a:xfrm>
            <a:off x="628650" y="5934075"/>
            <a:ext cx="930384" cy="123825"/>
          </a:xfrm>
          <a:prstGeom prst="rect">
            <a:avLst/>
          </a:prstGeom>
          <a:noFill/>
        </p:spPr>
        <p:txBody>
          <a:bodyPr wrap="square" lIns="0" tIns="0" rIns="0" bIns="0" anchor="t">
            <a:spAutoFit/>
          </a:bodyPr>
          <a:lstStyle/>
          <a:p>
            <a:pPr algn="l">
              <a:lnSpc>
                <a:spcPts val="975"/>
              </a:lnSpc>
            </a:pPr>
            <a:r>
              <a:rPr sz="825" b="1" i="0" spc="15">
                <a:solidFill>
                  <a:srgbClr val="333231"/>
                </a:solidFill>
                <a:latin typeface="Calibri"/>
              </a:rPr>
              <a:t>Provider Services</a:t>
            </a:r>
          </a:p>
        </p:txBody>
      </p:sp>
      <p:sp>
        <p:nvSpPr>
          <p:cNvPr id="28" name="Text: 11.2x"/>
          <p:cNvSpPr txBox="1"/>
          <p:nvPr/>
        </p:nvSpPr>
        <p:spPr>
          <a:xfrm>
            <a:off x="3619500" y="5924550"/>
            <a:ext cx="719138" cy="142875"/>
          </a:xfrm>
          <a:prstGeom prst="rect">
            <a:avLst/>
          </a:prstGeom>
          <a:noFill/>
        </p:spPr>
        <p:txBody>
          <a:bodyPr wrap="square" lIns="0" tIns="0" rIns="0" bIns="0" anchor="t">
            <a:spAutoFit/>
          </a:bodyPr>
          <a:lstStyle/>
          <a:p>
            <a:pPr algn="r">
              <a:lnSpc>
                <a:spcPts val="1125"/>
              </a:lnSpc>
            </a:pPr>
            <a:r>
              <a:rPr sz="825" b="0" i="0" spc="15">
                <a:solidFill>
                  <a:srgbClr val="333231"/>
                </a:solidFill>
                <a:latin typeface="Calibri"/>
              </a:rPr>
              <a:t>11.2x</a:t>
            </a:r>
          </a:p>
        </p:txBody>
      </p:sp>
      <p:sp>
        <p:nvSpPr>
          <p:cNvPr id="29" name="Text: 11.3x"/>
          <p:cNvSpPr txBox="1"/>
          <p:nvPr/>
        </p:nvSpPr>
        <p:spPr>
          <a:xfrm>
            <a:off x="4419600" y="5924550"/>
            <a:ext cx="719138" cy="142875"/>
          </a:xfrm>
          <a:prstGeom prst="rect">
            <a:avLst/>
          </a:prstGeom>
          <a:noFill/>
        </p:spPr>
        <p:txBody>
          <a:bodyPr wrap="square" lIns="0" tIns="0" rIns="0" bIns="0" anchor="t">
            <a:spAutoFit/>
          </a:bodyPr>
          <a:lstStyle/>
          <a:p>
            <a:pPr algn="r">
              <a:lnSpc>
                <a:spcPts val="1125"/>
              </a:lnSpc>
            </a:pPr>
            <a:r>
              <a:rPr sz="825" b="1" i="0" spc="15">
                <a:solidFill>
                  <a:srgbClr val="1B1A1A"/>
                </a:solidFill>
                <a:latin typeface="Calibri"/>
              </a:rPr>
              <a:t>11.3x</a:t>
            </a:r>
          </a:p>
        </p:txBody>
      </p:sp>
      <p:sp>
        <p:nvSpPr>
          <p:cNvPr id="30" name="Text: 12.9x"/>
          <p:cNvSpPr txBox="1"/>
          <p:nvPr/>
        </p:nvSpPr>
        <p:spPr>
          <a:xfrm>
            <a:off x="5219700" y="5924550"/>
            <a:ext cx="928688" cy="142875"/>
          </a:xfrm>
          <a:prstGeom prst="rect">
            <a:avLst/>
          </a:prstGeom>
          <a:noFill/>
        </p:spPr>
        <p:txBody>
          <a:bodyPr wrap="square" lIns="0" tIns="0" rIns="0" bIns="0" anchor="t">
            <a:spAutoFit/>
          </a:bodyPr>
          <a:lstStyle/>
          <a:p>
            <a:pPr algn="r">
              <a:lnSpc>
                <a:spcPts val="1125"/>
              </a:lnSpc>
            </a:pPr>
            <a:r>
              <a:rPr sz="825" b="0" i="0" spc="15">
                <a:solidFill>
                  <a:srgbClr val="333231"/>
                </a:solidFill>
                <a:latin typeface="Calibri"/>
              </a:rPr>
              <a:t>12.9x</a:t>
            </a:r>
          </a:p>
        </p:txBody>
      </p:sp>
      <p:sp>
        <p:nvSpPr>
          <p:cNvPr id="31" name="Text: 8 of 11"/>
          <p:cNvSpPr txBox="1"/>
          <p:nvPr/>
        </p:nvSpPr>
        <p:spPr>
          <a:xfrm>
            <a:off x="6229350" y="5924550"/>
            <a:ext cx="681038" cy="142875"/>
          </a:xfrm>
          <a:prstGeom prst="rect">
            <a:avLst/>
          </a:prstGeom>
          <a:noFill/>
        </p:spPr>
        <p:txBody>
          <a:bodyPr wrap="square" lIns="0" tIns="0" rIns="0" bIns="0" anchor="t">
            <a:spAutoFit/>
          </a:bodyPr>
          <a:lstStyle/>
          <a:p>
            <a:pPr algn="r">
              <a:lnSpc>
                <a:spcPts val="1125"/>
              </a:lnSpc>
            </a:pPr>
            <a:r>
              <a:rPr sz="825" b="0" i="0" spc="15">
                <a:solidFill>
                  <a:srgbClr val="6F6A66"/>
                </a:solidFill>
                <a:latin typeface="Calibri"/>
              </a:rPr>
              <a:t>8 of 11</a:t>
            </a:r>
          </a:p>
        </p:txBody>
      </p:sp>
      <p:sp>
        <p:nvSpPr>
          <p:cNvPr id="32" name="Rectangle 31"/>
          <p:cNvSpPr/>
          <p:nvPr/>
        </p:nvSpPr>
        <p:spPr>
          <a:xfrm>
            <a:off x="419100" y="6391275"/>
            <a:ext cx="6477000" cy="9525"/>
          </a:xfrm>
          <a:prstGeom prst="rect">
            <a:avLst/>
          </a:prstGeom>
          <a:solidFill>
            <a:srgbClr val="E3DCD3"/>
          </a:solidFill>
          <a:ln>
            <a:noFill/>
          </a:ln>
          <a:effectLst/>
        </p:spPr>
        <p:txBody>
          <a:bodyPr rtlCol="0" anchor="ctr"/>
          <a:lstStyle/>
          <a:p>
            <a:pPr algn="ctr"/>
            <a:endParaRPr/>
          </a:p>
        </p:txBody>
      </p:sp>
      <p:sp>
        <p:nvSpPr>
          <p:cNvPr id="33" name="Rectangle 32"/>
          <p:cNvSpPr/>
          <p:nvPr/>
        </p:nvSpPr>
        <p:spPr>
          <a:xfrm>
            <a:off x="419100" y="6248400"/>
            <a:ext cx="133350" cy="28575"/>
          </a:xfrm>
          <a:prstGeom prst="rect">
            <a:avLst/>
          </a:prstGeom>
          <a:solidFill>
            <a:srgbClr val="B68757"/>
          </a:solidFill>
          <a:ln>
            <a:noFill/>
          </a:ln>
          <a:effectLst/>
        </p:spPr>
        <p:txBody>
          <a:bodyPr rtlCol="0" anchor="ctr"/>
          <a:lstStyle/>
          <a:p>
            <a:pPr algn="ctr"/>
            <a:endParaRPr/>
          </a:p>
        </p:txBody>
      </p:sp>
      <p:sp>
        <p:nvSpPr>
          <p:cNvPr id="34" name="Text: Life Sciences &amp; Diagnostics"/>
          <p:cNvSpPr txBox="1"/>
          <p:nvPr/>
        </p:nvSpPr>
        <p:spPr>
          <a:xfrm>
            <a:off x="628650" y="6200775"/>
            <a:ext cx="1404982" cy="123825"/>
          </a:xfrm>
          <a:prstGeom prst="rect">
            <a:avLst/>
          </a:prstGeom>
          <a:noFill/>
        </p:spPr>
        <p:txBody>
          <a:bodyPr wrap="square" lIns="0" tIns="0" rIns="0" bIns="0" anchor="t">
            <a:spAutoFit/>
          </a:bodyPr>
          <a:lstStyle/>
          <a:p>
            <a:pPr algn="l">
              <a:lnSpc>
                <a:spcPts val="975"/>
              </a:lnSpc>
            </a:pPr>
            <a:r>
              <a:rPr sz="825" b="1" i="0" spc="15">
                <a:solidFill>
                  <a:srgbClr val="333231"/>
                </a:solidFill>
                <a:latin typeface="Calibri"/>
              </a:rPr>
              <a:t>Life Sciences &amp; Diagnostics</a:t>
            </a:r>
          </a:p>
        </p:txBody>
      </p:sp>
      <p:sp>
        <p:nvSpPr>
          <p:cNvPr id="35" name="Text: 14.5x"/>
          <p:cNvSpPr txBox="1"/>
          <p:nvPr/>
        </p:nvSpPr>
        <p:spPr>
          <a:xfrm>
            <a:off x="3619500" y="6191250"/>
            <a:ext cx="719138" cy="142875"/>
          </a:xfrm>
          <a:prstGeom prst="rect">
            <a:avLst/>
          </a:prstGeom>
          <a:noFill/>
        </p:spPr>
        <p:txBody>
          <a:bodyPr wrap="square" lIns="0" tIns="0" rIns="0" bIns="0" anchor="t">
            <a:spAutoFit/>
          </a:bodyPr>
          <a:lstStyle/>
          <a:p>
            <a:pPr algn="r">
              <a:lnSpc>
                <a:spcPts val="1125"/>
              </a:lnSpc>
            </a:pPr>
            <a:r>
              <a:rPr sz="825" b="0" i="0" spc="15">
                <a:solidFill>
                  <a:srgbClr val="333231"/>
                </a:solidFill>
                <a:latin typeface="Calibri"/>
              </a:rPr>
              <a:t>14.5x</a:t>
            </a:r>
          </a:p>
        </p:txBody>
      </p:sp>
      <p:sp>
        <p:nvSpPr>
          <p:cNvPr id="36" name="Text: 21.8x"/>
          <p:cNvSpPr txBox="1"/>
          <p:nvPr/>
        </p:nvSpPr>
        <p:spPr>
          <a:xfrm>
            <a:off x="4419600" y="6191250"/>
            <a:ext cx="719138" cy="142875"/>
          </a:xfrm>
          <a:prstGeom prst="rect">
            <a:avLst/>
          </a:prstGeom>
          <a:noFill/>
        </p:spPr>
        <p:txBody>
          <a:bodyPr wrap="square" lIns="0" tIns="0" rIns="0" bIns="0" anchor="t">
            <a:spAutoFit/>
          </a:bodyPr>
          <a:lstStyle/>
          <a:p>
            <a:pPr algn="r">
              <a:lnSpc>
                <a:spcPts val="1125"/>
              </a:lnSpc>
            </a:pPr>
            <a:r>
              <a:rPr sz="825" b="1" i="0" spc="15">
                <a:solidFill>
                  <a:srgbClr val="1B1A1A"/>
                </a:solidFill>
                <a:latin typeface="Calibri"/>
              </a:rPr>
              <a:t>21.8x</a:t>
            </a:r>
          </a:p>
        </p:txBody>
      </p:sp>
      <p:sp>
        <p:nvSpPr>
          <p:cNvPr id="37" name="Text: 15.7x"/>
          <p:cNvSpPr txBox="1"/>
          <p:nvPr/>
        </p:nvSpPr>
        <p:spPr>
          <a:xfrm>
            <a:off x="5219700" y="6191250"/>
            <a:ext cx="928688" cy="142875"/>
          </a:xfrm>
          <a:prstGeom prst="rect">
            <a:avLst/>
          </a:prstGeom>
          <a:noFill/>
        </p:spPr>
        <p:txBody>
          <a:bodyPr wrap="square" lIns="0" tIns="0" rIns="0" bIns="0" anchor="t">
            <a:spAutoFit/>
          </a:bodyPr>
          <a:lstStyle/>
          <a:p>
            <a:pPr algn="r">
              <a:lnSpc>
                <a:spcPts val="1125"/>
              </a:lnSpc>
            </a:pPr>
            <a:r>
              <a:rPr sz="825" b="0" i="0" spc="15">
                <a:solidFill>
                  <a:srgbClr val="333231"/>
                </a:solidFill>
                <a:latin typeface="Calibri"/>
              </a:rPr>
              <a:t>15.7x</a:t>
            </a:r>
          </a:p>
        </p:txBody>
      </p:sp>
      <p:sp>
        <p:nvSpPr>
          <p:cNvPr id="38" name="Text: 9 of 9"/>
          <p:cNvSpPr txBox="1"/>
          <p:nvPr/>
        </p:nvSpPr>
        <p:spPr>
          <a:xfrm>
            <a:off x="6229350" y="6191250"/>
            <a:ext cx="681038" cy="142875"/>
          </a:xfrm>
          <a:prstGeom prst="rect">
            <a:avLst/>
          </a:prstGeom>
          <a:noFill/>
        </p:spPr>
        <p:txBody>
          <a:bodyPr wrap="square" lIns="0" tIns="0" rIns="0" bIns="0" anchor="t">
            <a:spAutoFit/>
          </a:bodyPr>
          <a:lstStyle/>
          <a:p>
            <a:pPr algn="r">
              <a:lnSpc>
                <a:spcPts val="1125"/>
              </a:lnSpc>
            </a:pPr>
            <a:r>
              <a:rPr sz="825" b="0" i="0" spc="15">
                <a:solidFill>
                  <a:srgbClr val="6F6A66"/>
                </a:solidFill>
                <a:latin typeface="Calibri"/>
              </a:rPr>
              <a:t>9 of 9</a:t>
            </a:r>
          </a:p>
        </p:txBody>
      </p:sp>
      <p:sp>
        <p:nvSpPr>
          <p:cNvPr id="39" name="Rectangle 38"/>
          <p:cNvSpPr/>
          <p:nvPr/>
        </p:nvSpPr>
        <p:spPr>
          <a:xfrm>
            <a:off x="419100" y="6657975"/>
            <a:ext cx="6477000" cy="9525"/>
          </a:xfrm>
          <a:prstGeom prst="rect">
            <a:avLst/>
          </a:prstGeom>
          <a:solidFill>
            <a:srgbClr val="E3DCD3"/>
          </a:solidFill>
          <a:ln>
            <a:noFill/>
          </a:ln>
          <a:effectLst/>
        </p:spPr>
        <p:txBody>
          <a:bodyPr rtlCol="0" anchor="ctr"/>
          <a:lstStyle/>
          <a:p>
            <a:pPr algn="ctr"/>
            <a:endParaRPr/>
          </a:p>
        </p:txBody>
      </p:sp>
      <p:sp>
        <p:nvSpPr>
          <p:cNvPr id="40" name="Rectangle 39"/>
          <p:cNvSpPr/>
          <p:nvPr/>
        </p:nvSpPr>
        <p:spPr>
          <a:xfrm>
            <a:off x="419100" y="6515100"/>
            <a:ext cx="133350" cy="28575"/>
          </a:xfrm>
          <a:prstGeom prst="rect">
            <a:avLst/>
          </a:prstGeom>
          <a:solidFill>
            <a:srgbClr val="6D7681"/>
          </a:solidFill>
          <a:ln>
            <a:noFill/>
          </a:ln>
          <a:effectLst/>
        </p:spPr>
        <p:txBody>
          <a:bodyPr rtlCol="0" anchor="ctr"/>
          <a:lstStyle/>
          <a:p>
            <a:pPr algn="ctr"/>
            <a:endParaRPr/>
          </a:p>
        </p:txBody>
      </p:sp>
      <p:sp>
        <p:nvSpPr>
          <p:cNvPr id="41" name="Text: Medical Products &amp; Distribution"/>
          <p:cNvSpPr txBox="1"/>
          <p:nvPr/>
        </p:nvSpPr>
        <p:spPr>
          <a:xfrm>
            <a:off x="628650" y="6467475"/>
            <a:ext cx="1670358" cy="123825"/>
          </a:xfrm>
          <a:prstGeom prst="rect">
            <a:avLst/>
          </a:prstGeom>
          <a:noFill/>
        </p:spPr>
        <p:txBody>
          <a:bodyPr wrap="square" lIns="0" tIns="0" rIns="0" bIns="0" anchor="t">
            <a:spAutoFit/>
          </a:bodyPr>
          <a:lstStyle/>
          <a:p>
            <a:pPr algn="l">
              <a:lnSpc>
                <a:spcPts val="975"/>
              </a:lnSpc>
            </a:pPr>
            <a:r>
              <a:rPr sz="825" b="1" i="0" spc="15">
                <a:solidFill>
                  <a:srgbClr val="333231"/>
                </a:solidFill>
                <a:latin typeface="Calibri"/>
              </a:rPr>
              <a:t>Medical Products &amp; Distribution</a:t>
            </a:r>
          </a:p>
        </p:txBody>
      </p:sp>
      <p:sp>
        <p:nvSpPr>
          <p:cNvPr id="42" name="Text: 13.2x"/>
          <p:cNvSpPr txBox="1"/>
          <p:nvPr/>
        </p:nvSpPr>
        <p:spPr>
          <a:xfrm>
            <a:off x="3619500" y="6457950"/>
            <a:ext cx="719138" cy="142875"/>
          </a:xfrm>
          <a:prstGeom prst="rect">
            <a:avLst/>
          </a:prstGeom>
          <a:noFill/>
        </p:spPr>
        <p:txBody>
          <a:bodyPr wrap="square" lIns="0" tIns="0" rIns="0" bIns="0" anchor="t">
            <a:spAutoFit/>
          </a:bodyPr>
          <a:lstStyle/>
          <a:p>
            <a:pPr algn="r">
              <a:lnSpc>
                <a:spcPts val="1125"/>
              </a:lnSpc>
            </a:pPr>
            <a:r>
              <a:rPr sz="825" b="0" i="0" spc="15">
                <a:solidFill>
                  <a:srgbClr val="333231"/>
                </a:solidFill>
                <a:latin typeface="Calibri"/>
              </a:rPr>
              <a:t>13.2x</a:t>
            </a:r>
          </a:p>
        </p:txBody>
      </p:sp>
      <p:sp>
        <p:nvSpPr>
          <p:cNvPr id="43" name="Text: 12.7x"/>
          <p:cNvSpPr txBox="1"/>
          <p:nvPr/>
        </p:nvSpPr>
        <p:spPr>
          <a:xfrm>
            <a:off x="4419600" y="6457950"/>
            <a:ext cx="719138" cy="142875"/>
          </a:xfrm>
          <a:prstGeom prst="rect">
            <a:avLst/>
          </a:prstGeom>
          <a:noFill/>
        </p:spPr>
        <p:txBody>
          <a:bodyPr wrap="square" lIns="0" tIns="0" rIns="0" bIns="0" anchor="t">
            <a:spAutoFit/>
          </a:bodyPr>
          <a:lstStyle/>
          <a:p>
            <a:pPr algn="r">
              <a:lnSpc>
                <a:spcPts val="1125"/>
              </a:lnSpc>
            </a:pPr>
            <a:r>
              <a:rPr sz="825" b="1" i="0" spc="15">
                <a:solidFill>
                  <a:srgbClr val="1B1A1A"/>
                </a:solidFill>
                <a:latin typeface="Calibri"/>
              </a:rPr>
              <a:t>12.7x</a:t>
            </a:r>
          </a:p>
        </p:txBody>
      </p:sp>
      <p:sp>
        <p:nvSpPr>
          <p:cNvPr id="44" name="Text: 13.8x"/>
          <p:cNvSpPr txBox="1"/>
          <p:nvPr/>
        </p:nvSpPr>
        <p:spPr>
          <a:xfrm>
            <a:off x="5219700" y="6457950"/>
            <a:ext cx="928688" cy="142875"/>
          </a:xfrm>
          <a:prstGeom prst="rect">
            <a:avLst/>
          </a:prstGeom>
          <a:noFill/>
        </p:spPr>
        <p:txBody>
          <a:bodyPr wrap="square" lIns="0" tIns="0" rIns="0" bIns="0" anchor="t">
            <a:spAutoFit/>
          </a:bodyPr>
          <a:lstStyle/>
          <a:p>
            <a:pPr algn="r">
              <a:lnSpc>
                <a:spcPts val="1125"/>
              </a:lnSpc>
            </a:pPr>
            <a:r>
              <a:rPr sz="825" b="0" i="0" spc="15">
                <a:solidFill>
                  <a:srgbClr val="333231"/>
                </a:solidFill>
                <a:latin typeface="Calibri"/>
              </a:rPr>
              <a:t>13.8x</a:t>
            </a:r>
          </a:p>
        </p:txBody>
      </p:sp>
      <p:sp>
        <p:nvSpPr>
          <p:cNvPr id="45" name="Text: 10 of 10"/>
          <p:cNvSpPr txBox="1"/>
          <p:nvPr/>
        </p:nvSpPr>
        <p:spPr>
          <a:xfrm>
            <a:off x="6229350" y="6457950"/>
            <a:ext cx="681038" cy="142875"/>
          </a:xfrm>
          <a:prstGeom prst="rect">
            <a:avLst/>
          </a:prstGeom>
          <a:noFill/>
        </p:spPr>
        <p:txBody>
          <a:bodyPr wrap="square" lIns="0" tIns="0" rIns="0" bIns="0" anchor="t">
            <a:spAutoFit/>
          </a:bodyPr>
          <a:lstStyle/>
          <a:p>
            <a:pPr algn="r">
              <a:lnSpc>
                <a:spcPts val="1125"/>
              </a:lnSpc>
            </a:pPr>
            <a:r>
              <a:rPr sz="825" b="0" i="0" spc="15">
                <a:solidFill>
                  <a:srgbClr val="6F6A66"/>
                </a:solidFill>
                <a:latin typeface="Calibri"/>
              </a:rPr>
              <a:t>10 of 10</a:t>
            </a:r>
          </a:p>
        </p:txBody>
      </p:sp>
      <p:sp>
        <p:nvSpPr>
          <p:cNvPr id="46" name="Rectangle 45"/>
          <p:cNvSpPr/>
          <p:nvPr/>
        </p:nvSpPr>
        <p:spPr>
          <a:xfrm>
            <a:off x="419100" y="6924675"/>
            <a:ext cx="6477000" cy="9525"/>
          </a:xfrm>
          <a:prstGeom prst="rect">
            <a:avLst/>
          </a:prstGeom>
          <a:solidFill>
            <a:srgbClr val="E3DCD3"/>
          </a:solidFill>
          <a:ln>
            <a:noFill/>
          </a:ln>
          <a:effectLst/>
        </p:spPr>
        <p:txBody>
          <a:bodyPr rtlCol="0" anchor="ctr"/>
          <a:lstStyle/>
          <a:p>
            <a:pPr algn="ctr"/>
            <a:endParaRPr/>
          </a:p>
        </p:txBody>
      </p:sp>
      <p:sp>
        <p:nvSpPr>
          <p:cNvPr id="47" name="Rectangle 46"/>
          <p:cNvSpPr/>
          <p:nvPr/>
        </p:nvSpPr>
        <p:spPr>
          <a:xfrm>
            <a:off x="419100" y="6781800"/>
            <a:ext cx="133350" cy="28575"/>
          </a:xfrm>
          <a:prstGeom prst="rect">
            <a:avLst/>
          </a:prstGeom>
          <a:solidFill>
            <a:srgbClr val="A39486"/>
          </a:solidFill>
          <a:ln>
            <a:noFill/>
          </a:ln>
          <a:effectLst/>
        </p:spPr>
        <p:txBody>
          <a:bodyPr rtlCol="0" anchor="ctr"/>
          <a:lstStyle/>
          <a:p>
            <a:pPr algn="ctr"/>
            <a:endParaRPr/>
          </a:p>
        </p:txBody>
      </p:sp>
      <p:sp>
        <p:nvSpPr>
          <p:cNvPr id="48" name="Text: Pharmacy &amp; Healthcare Services"/>
          <p:cNvSpPr txBox="1"/>
          <p:nvPr/>
        </p:nvSpPr>
        <p:spPr>
          <a:xfrm>
            <a:off x="628650" y="6734175"/>
            <a:ext cx="1679034" cy="123825"/>
          </a:xfrm>
          <a:prstGeom prst="rect">
            <a:avLst/>
          </a:prstGeom>
          <a:noFill/>
        </p:spPr>
        <p:txBody>
          <a:bodyPr wrap="square" lIns="0" tIns="0" rIns="0" bIns="0" anchor="t">
            <a:spAutoFit/>
          </a:bodyPr>
          <a:lstStyle/>
          <a:p>
            <a:pPr algn="l">
              <a:lnSpc>
                <a:spcPts val="975"/>
              </a:lnSpc>
            </a:pPr>
            <a:r>
              <a:rPr sz="825" b="1" i="0" spc="15">
                <a:solidFill>
                  <a:srgbClr val="333231"/>
                </a:solidFill>
                <a:latin typeface="Calibri"/>
              </a:rPr>
              <a:t>Pharmacy &amp; Healthcare Services</a:t>
            </a:r>
          </a:p>
        </p:txBody>
      </p:sp>
      <p:sp>
        <p:nvSpPr>
          <p:cNvPr id="49" name="Text: 13.8x"/>
          <p:cNvSpPr txBox="1"/>
          <p:nvPr/>
        </p:nvSpPr>
        <p:spPr>
          <a:xfrm>
            <a:off x="3619500" y="6724650"/>
            <a:ext cx="719138" cy="142875"/>
          </a:xfrm>
          <a:prstGeom prst="rect">
            <a:avLst/>
          </a:prstGeom>
          <a:noFill/>
        </p:spPr>
        <p:txBody>
          <a:bodyPr wrap="square" lIns="0" tIns="0" rIns="0" bIns="0" anchor="t">
            <a:spAutoFit/>
          </a:bodyPr>
          <a:lstStyle/>
          <a:p>
            <a:pPr algn="r">
              <a:lnSpc>
                <a:spcPts val="1125"/>
              </a:lnSpc>
            </a:pPr>
            <a:r>
              <a:rPr sz="825" b="0" i="0" spc="15">
                <a:solidFill>
                  <a:srgbClr val="333231"/>
                </a:solidFill>
                <a:latin typeface="Calibri"/>
              </a:rPr>
              <a:t>13.8x</a:t>
            </a:r>
          </a:p>
        </p:txBody>
      </p:sp>
      <p:sp>
        <p:nvSpPr>
          <p:cNvPr id="50" name="Text: 14.0x"/>
          <p:cNvSpPr txBox="1"/>
          <p:nvPr/>
        </p:nvSpPr>
        <p:spPr>
          <a:xfrm>
            <a:off x="4419600" y="6724650"/>
            <a:ext cx="719138" cy="142875"/>
          </a:xfrm>
          <a:prstGeom prst="rect">
            <a:avLst/>
          </a:prstGeom>
          <a:noFill/>
        </p:spPr>
        <p:txBody>
          <a:bodyPr wrap="square" lIns="0" tIns="0" rIns="0" bIns="0" anchor="t">
            <a:spAutoFit/>
          </a:bodyPr>
          <a:lstStyle/>
          <a:p>
            <a:pPr algn="r">
              <a:lnSpc>
                <a:spcPts val="1125"/>
              </a:lnSpc>
            </a:pPr>
            <a:r>
              <a:rPr sz="825" b="1" i="0" spc="15">
                <a:solidFill>
                  <a:srgbClr val="1B1A1A"/>
                </a:solidFill>
                <a:latin typeface="Calibri"/>
              </a:rPr>
              <a:t>14.0x</a:t>
            </a:r>
          </a:p>
        </p:txBody>
      </p:sp>
      <p:sp>
        <p:nvSpPr>
          <p:cNvPr id="51" name="Text: 12.7x"/>
          <p:cNvSpPr txBox="1"/>
          <p:nvPr/>
        </p:nvSpPr>
        <p:spPr>
          <a:xfrm>
            <a:off x="5219700" y="6724650"/>
            <a:ext cx="928688" cy="142875"/>
          </a:xfrm>
          <a:prstGeom prst="rect">
            <a:avLst/>
          </a:prstGeom>
          <a:noFill/>
        </p:spPr>
        <p:txBody>
          <a:bodyPr wrap="square" lIns="0" tIns="0" rIns="0" bIns="0" anchor="t">
            <a:spAutoFit/>
          </a:bodyPr>
          <a:lstStyle/>
          <a:p>
            <a:pPr algn="r">
              <a:lnSpc>
                <a:spcPts val="1125"/>
              </a:lnSpc>
            </a:pPr>
            <a:r>
              <a:rPr sz="825" b="0" i="0" spc="15">
                <a:solidFill>
                  <a:srgbClr val="333231"/>
                </a:solidFill>
                <a:latin typeface="Calibri"/>
              </a:rPr>
              <a:t>12.7x</a:t>
            </a:r>
          </a:p>
        </p:txBody>
      </p:sp>
      <p:sp>
        <p:nvSpPr>
          <p:cNvPr id="52" name="Text: 7 of 8"/>
          <p:cNvSpPr txBox="1"/>
          <p:nvPr/>
        </p:nvSpPr>
        <p:spPr>
          <a:xfrm>
            <a:off x="6229350" y="6724650"/>
            <a:ext cx="681038" cy="142875"/>
          </a:xfrm>
          <a:prstGeom prst="rect">
            <a:avLst/>
          </a:prstGeom>
          <a:noFill/>
        </p:spPr>
        <p:txBody>
          <a:bodyPr wrap="square" lIns="0" tIns="0" rIns="0" bIns="0" anchor="t">
            <a:spAutoFit/>
          </a:bodyPr>
          <a:lstStyle/>
          <a:p>
            <a:pPr algn="r">
              <a:lnSpc>
                <a:spcPts val="1125"/>
              </a:lnSpc>
            </a:pPr>
            <a:r>
              <a:rPr sz="825" b="0" i="0" spc="15">
                <a:solidFill>
                  <a:srgbClr val="6F6A66"/>
                </a:solidFill>
                <a:latin typeface="Calibri"/>
              </a:rPr>
              <a:t>7 of 8</a:t>
            </a:r>
          </a:p>
        </p:txBody>
      </p:sp>
      <p:sp>
        <p:nvSpPr>
          <p:cNvPr id="53" name="Rectangle 52"/>
          <p:cNvSpPr/>
          <p:nvPr/>
        </p:nvSpPr>
        <p:spPr>
          <a:xfrm>
            <a:off x="7086600" y="1238250"/>
            <a:ext cx="2552700" cy="5695950"/>
          </a:xfrm>
          <a:prstGeom prst="rect">
            <a:avLst/>
          </a:prstGeom>
          <a:solidFill>
            <a:srgbClr val="1B1A1A"/>
          </a:solidFill>
          <a:ln>
            <a:noFill/>
          </a:ln>
          <a:effectLst/>
        </p:spPr>
        <p:txBody>
          <a:bodyPr rtlCol="0" anchor="ctr"/>
          <a:lstStyle/>
          <a:p>
            <a:pPr algn="ctr"/>
            <a:endParaRPr/>
          </a:p>
        </p:txBody>
      </p:sp>
      <p:pic>
        <p:nvPicPr>
          <p:cNvPr id="54" name="Picture 53" descr="knot-dark.jpg"/>
          <p:cNvPicPr>
            <a:picLocks noChangeAspect="1"/>
          </p:cNvPicPr>
          <p:nvPr/>
        </p:nvPicPr>
        <p:blipFill>
          <a:blip r:embed="rId3">
            <a:alphaModFix amt="50000"/>
          </a:blip>
          <a:srcRect l="30109" t="1500" r="45438" b="1500"/>
          <a:stretch>
            <a:fillRect/>
          </a:stretch>
        </p:blipFill>
        <p:spPr>
          <a:xfrm>
            <a:off x="7086600" y="1238250"/>
            <a:ext cx="2552700" cy="5695950"/>
          </a:xfrm>
          <a:prstGeom prst="rect">
            <a:avLst/>
          </a:prstGeom>
        </p:spPr>
      </p:pic>
      <p:sp>
        <p:nvSpPr>
          <p:cNvPr id="55" name="Text: PRIVATE-MARKET REFERENCE POINTS"/>
          <p:cNvSpPr txBox="1"/>
          <p:nvPr/>
        </p:nvSpPr>
        <p:spPr>
          <a:xfrm>
            <a:off x="7277100" y="1447800"/>
            <a:ext cx="2185988" cy="123825"/>
          </a:xfrm>
          <a:prstGeom prst="rect">
            <a:avLst/>
          </a:prstGeom>
          <a:noFill/>
        </p:spPr>
        <p:txBody>
          <a:bodyPr wrap="square" lIns="0" tIns="0" rIns="0" bIns="0" anchor="t">
            <a:spAutoFit/>
          </a:bodyPr>
          <a:lstStyle/>
          <a:p>
            <a:pPr algn="l">
              <a:lnSpc>
                <a:spcPts val="975"/>
              </a:lnSpc>
            </a:pPr>
            <a:r>
              <a:rPr sz="675" b="1" i="0" spc="150">
                <a:solidFill>
                  <a:srgbClr val="D3AE84"/>
                </a:solidFill>
                <a:latin typeface="Calibri"/>
              </a:rPr>
              <a:t>PRIVATE-MARKET REFERENCE POINTS</a:t>
            </a:r>
          </a:p>
        </p:txBody>
      </p:sp>
      <p:sp>
        <p:nvSpPr>
          <p:cNvPr id="56" name="Rectangle 55"/>
          <p:cNvSpPr/>
          <p:nvPr/>
        </p:nvSpPr>
        <p:spPr>
          <a:xfrm>
            <a:off x="7277100" y="1666875"/>
            <a:ext cx="2171700" cy="9525"/>
          </a:xfrm>
          <a:prstGeom prst="rect">
            <a:avLst/>
          </a:prstGeom>
          <a:solidFill>
            <a:srgbClr val="FFFFFF">
              <a:alpha val="16000"/>
            </a:srgbClr>
          </a:solidFill>
          <a:ln>
            <a:noFill/>
          </a:ln>
          <a:effectLst/>
        </p:spPr>
        <p:txBody>
          <a:bodyPr rtlCol="0" anchor="ctr"/>
          <a:lstStyle/>
          <a:p>
            <a:pPr algn="ctr"/>
            <a:endParaRPr/>
          </a:p>
        </p:txBody>
      </p:sp>
      <p:sp>
        <p:nvSpPr>
          <p:cNvPr id="57" name="Text: 13.6x"/>
          <p:cNvSpPr txBox="1"/>
          <p:nvPr/>
        </p:nvSpPr>
        <p:spPr>
          <a:xfrm>
            <a:off x="7277100" y="1790700"/>
            <a:ext cx="2185988" cy="323850"/>
          </a:xfrm>
          <a:prstGeom prst="rect">
            <a:avLst/>
          </a:prstGeom>
          <a:noFill/>
        </p:spPr>
        <p:txBody>
          <a:bodyPr wrap="square" lIns="0" tIns="0" rIns="0" bIns="0" anchor="t">
            <a:spAutoFit/>
          </a:bodyPr>
          <a:lstStyle/>
          <a:p>
            <a:pPr algn="l">
              <a:lnSpc>
                <a:spcPts val="2550"/>
              </a:lnSpc>
            </a:pPr>
            <a:r>
              <a:rPr sz="2250" b="1" i="0" spc="15">
                <a:solidFill>
                  <a:srgbClr val="D3AE84"/>
                </a:solidFill>
                <a:latin typeface="Cambria"/>
              </a:rPr>
              <a:t>13.6x</a:t>
            </a:r>
          </a:p>
        </p:txBody>
      </p:sp>
      <p:sp>
        <p:nvSpPr>
          <p:cNvPr id="58" name="Text: Median EBITDA multiple private equ"/>
          <p:cNvSpPr txBox="1"/>
          <p:nvPr/>
        </p:nvSpPr>
        <p:spPr>
          <a:xfrm>
            <a:off x="7277100" y="2143125"/>
            <a:ext cx="2185988" cy="609600"/>
          </a:xfrm>
          <a:prstGeom prst="rect">
            <a:avLst/>
          </a:prstGeom>
          <a:noFill/>
        </p:spPr>
        <p:txBody>
          <a:bodyPr wrap="square" lIns="0" tIns="0" rIns="0" bIns="0" anchor="t">
            <a:spAutoFit/>
          </a:bodyPr>
          <a:lstStyle/>
          <a:p>
            <a:pPr algn="l">
              <a:lnSpc>
                <a:spcPts val="1200"/>
              </a:lnSpc>
            </a:pPr>
            <a:r>
              <a:rPr sz="825" b="0" i="0" spc="15">
                <a:solidFill>
                  <a:srgbClr val="E8E2DA"/>
                </a:solidFill>
                <a:latin typeface="Calibri"/>
              </a:rPr>
              <a:t>Median EBITDA multiple private equity paid for healthcare services companies in 2025, weighted toward larger platforms (</a:t>
            </a:r>
            <a:r>
              <a:rPr sz="825" b="0" i="0" spc="15">
                <a:solidFill>
                  <a:srgbClr val="D3AE84"/>
                </a:solidFill>
                <a:latin typeface="Calibri"/>
                <a:hlinkClick r:id="rId4">
                  <a:extLst>
                    <a:ext uri="{A12FA001-AC4F-418D-AE19-62706E023703}">
                      <ahyp:hlinkClr xmlns:ahyp="http://schemas.microsoft.com/office/drawing/2018/hyperlinkcolor" val="tx"/>
                    </a:ext>
                  </a:extLst>
                </a:hlinkClick>
              </a:rPr>
              <a:t>PitchBook via Becker's ASC Review</a:t>
            </a:r>
            <a:r>
              <a:rPr sz="825" b="0" i="0" spc="15">
                <a:solidFill>
                  <a:srgbClr val="E8E2DA"/>
                </a:solidFill>
                <a:latin typeface="Calibri"/>
              </a:rPr>
              <a:t>)</a:t>
            </a:r>
          </a:p>
        </p:txBody>
      </p:sp>
      <p:sp>
        <p:nvSpPr>
          <p:cNvPr id="59" name="Rectangle 58"/>
          <p:cNvSpPr/>
          <p:nvPr/>
        </p:nvSpPr>
        <p:spPr>
          <a:xfrm>
            <a:off x="7277100" y="2867025"/>
            <a:ext cx="2171700" cy="9525"/>
          </a:xfrm>
          <a:prstGeom prst="rect">
            <a:avLst/>
          </a:prstGeom>
          <a:solidFill>
            <a:srgbClr val="FFFFFF">
              <a:alpha val="16000"/>
            </a:srgbClr>
          </a:solidFill>
          <a:ln>
            <a:noFill/>
          </a:ln>
          <a:effectLst/>
        </p:spPr>
        <p:txBody>
          <a:bodyPr rtlCol="0" anchor="ctr"/>
          <a:lstStyle/>
          <a:p>
            <a:pPr algn="ctr"/>
            <a:endParaRPr/>
          </a:p>
        </p:txBody>
      </p:sp>
      <p:sp>
        <p:nvSpPr>
          <p:cNvPr id="60" name="Text: 7.0x"/>
          <p:cNvSpPr txBox="1"/>
          <p:nvPr/>
        </p:nvSpPr>
        <p:spPr>
          <a:xfrm>
            <a:off x="7277100" y="2990850"/>
            <a:ext cx="2185988" cy="323850"/>
          </a:xfrm>
          <a:prstGeom prst="rect">
            <a:avLst/>
          </a:prstGeom>
          <a:noFill/>
        </p:spPr>
        <p:txBody>
          <a:bodyPr wrap="square" lIns="0" tIns="0" rIns="0" bIns="0" anchor="t">
            <a:spAutoFit/>
          </a:bodyPr>
          <a:lstStyle/>
          <a:p>
            <a:pPr algn="l">
              <a:lnSpc>
                <a:spcPts val="2550"/>
              </a:lnSpc>
            </a:pPr>
            <a:r>
              <a:rPr sz="2250" b="1" i="0" spc="15">
                <a:solidFill>
                  <a:srgbClr val="D3AE84"/>
                </a:solidFill>
                <a:latin typeface="Cambria"/>
              </a:rPr>
              <a:t>7.0x</a:t>
            </a:r>
          </a:p>
        </p:txBody>
      </p:sp>
      <p:sp>
        <p:nvSpPr>
          <p:cNvPr id="61" name="Text: Average for completed middle-marke"/>
          <p:cNvSpPr txBox="1"/>
          <p:nvPr/>
        </p:nvSpPr>
        <p:spPr>
          <a:xfrm>
            <a:off x="7277100" y="3343275"/>
            <a:ext cx="2185988" cy="457200"/>
          </a:xfrm>
          <a:prstGeom prst="rect">
            <a:avLst/>
          </a:prstGeom>
          <a:noFill/>
        </p:spPr>
        <p:txBody>
          <a:bodyPr wrap="square" lIns="0" tIns="0" rIns="0" bIns="0" anchor="t">
            <a:spAutoFit/>
          </a:bodyPr>
          <a:lstStyle/>
          <a:p>
            <a:pPr algn="l">
              <a:lnSpc>
                <a:spcPts val="1200"/>
              </a:lnSpc>
            </a:pPr>
            <a:r>
              <a:rPr sz="825" b="0" i="0" spc="15">
                <a:solidFill>
                  <a:srgbClr val="E8E2DA"/>
                </a:solidFill>
                <a:latin typeface="Calibri"/>
              </a:rPr>
              <a:t>Average for completed middle-market transactions in all industries, second quarter of 2026 (</a:t>
            </a:r>
            <a:r>
              <a:rPr sz="825" b="0" i="0" spc="15">
                <a:solidFill>
                  <a:srgbClr val="D3AE84"/>
                </a:solidFill>
                <a:latin typeface="Calibri"/>
                <a:hlinkClick r:id="rId5">
                  <a:extLst>
                    <a:ext uri="{A12FA001-AC4F-418D-AE19-62706E023703}">
                      <ahyp:hlinkClr xmlns:ahyp="http://schemas.microsoft.com/office/drawing/2018/hyperlinkcolor" val="tx"/>
                    </a:ext>
                  </a:extLst>
                </a:hlinkClick>
              </a:rPr>
              <a:t>GF Data via ACG</a:t>
            </a:r>
            <a:r>
              <a:rPr sz="825" b="0" i="0" spc="15">
                <a:solidFill>
                  <a:srgbClr val="E8E2DA"/>
                </a:solidFill>
                <a:latin typeface="Calibri"/>
              </a:rPr>
              <a:t>)</a:t>
            </a:r>
          </a:p>
        </p:txBody>
      </p:sp>
      <p:sp>
        <p:nvSpPr>
          <p:cNvPr id="62" name="Rectangle 61"/>
          <p:cNvSpPr/>
          <p:nvPr/>
        </p:nvSpPr>
        <p:spPr>
          <a:xfrm>
            <a:off x="7277100" y="3914775"/>
            <a:ext cx="2171700" cy="9525"/>
          </a:xfrm>
          <a:prstGeom prst="rect">
            <a:avLst/>
          </a:prstGeom>
          <a:solidFill>
            <a:srgbClr val="FFFFFF">
              <a:alpha val="16000"/>
            </a:srgbClr>
          </a:solidFill>
          <a:ln>
            <a:noFill/>
          </a:ln>
          <a:effectLst/>
        </p:spPr>
        <p:txBody>
          <a:bodyPr rtlCol="0" anchor="ctr"/>
          <a:lstStyle/>
          <a:p>
            <a:pPr algn="ctr"/>
            <a:endParaRPr/>
          </a:p>
        </p:txBody>
      </p:sp>
      <p:sp>
        <p:nvSpPr>
          <p:cNvPr id="63" name="Text: 5.8x"/>
          <p:cNvSpPr txBox="1"/>
          <p:nvPr/>
        </p:nvSpPr>
        <p:spPr>
          <a:xfrm>
            <a:off x="7277100" y="4038600"/>
            <a:ext cx="2185988" cy="323850"/>
          </a:xfrm>
          <a:prstGeom prst="rect">
            <a:avLst/>
          </a:prstGeom>
          <a:noFill/>
        </p:spPr>
        <p:txBody>
          <a:bodyPr wrap="square" lIns="0" tIns="0" rIns="0" bIns="0" anchor="t">
            <a:spAutoFit/>
          </a:bodyPr>
          <a:lstStyle/>
          <a:p>
            <a:pPr algn="l">
              <a:lnSpc>
                <a:spcPts val="2550"/>
              </a:lnSpc>
            </a:pPr>
            <a:r>
              <a:rPr sz="2250" b="1" i="0" spc="15">
                <a:solidFill>
                  <a:srgbClr val="D3AE84"/>
                </a:solidFill>
                <a:latin typeface="Cambria"/>
              </a:rPr>
              <a:t>5.8x</a:t>
            </a:r>
          </a:p>
        </p:txBody>
      </p:sp>
      <p:sp>
        <p:nvSpPr>
          <p:cNvPr id="64" name="Text: Median for transactions of $5 mill"/>
          <p:cNvSpPr txBox="1"/>
          <p:nvPr/>
        </p:nvSpPr>
        <p:spPr>
          <a:xfrm>
            <a:off x="7277100" y="4391025"/>
            <a:ext cx="2185988" cy="457200"/>
          </a:xfrm>
          <a:prstGeom prst="rect">
            <a:avLst/>
          </a:prstGeom>
          <a:noFill/>
        </p:spPr>
        <p:txBody>
          <a:bodyPr wrap="square" lIns="0" tIns="0" rIns="0" bIns="0" anchor="t">
            <a:spAutoFit/>
          </a:bodyPr>
          <a:lstStyle/>
          <a:p>
            <a:pPr algn="l">
              <a:lnSpc>
                <a:spcPts val="1200"/>
              </a:lnSpc>
            </a:pPr>
            <a:r>
              <a:rPr sz="825" b="0" i="0" spc="15">
                <a:solidFill>
                  <a:srgbClr val="E8E2DA"/>
                </a:solidFill>
                <a:latin typeface="Calibri"/>
              </a:rPr>
              <a:t>Median for transactions of $5 million to $50 million in all industries, second quarter of 2026 (</a:t>
            </a:r>
            <a:r>
              <a:rPr sz="825" b="0" i="0" spc="15">
                <a:solidFill>
                  <a:srgbClr val="D3AE84"/>
                </a:solidFill>
                <a:latin typeface="Calibri"/>
                <a:hlinkClick r:id="rId6">
                  <a:extLst>
                    <a:ext uri="{A12FA001-AC4F-418D-AE19-62706E023703}">
                      <ahyp:hlinkClr xmlns:ahyp="http://schemas.microsoft.com/office/drawing/2018/hyperlinkcolor" val="tx"/>
                    </a:ext>
                  </a:extLst>
                </a:hlinkClick>
              </a:rPr>
              <a:t>IBBA and M&amp;A Source</a:t>
            </a:r>
            <a:r>
              <a:rPr sz="825" b="0" i="0" spc="15">
                <a:solidFill>
                  <a:srgbClr val="E8E2DA"/>
                </a:solidFill>
                <a:latin typeface="Calibri"/>
              </a:rPr>
              <a:t>)</a:t>
            </a:r>
          </a:p>
        </p:txBody>
      </p:sp>
      <p:sp>
        <p:nvSpPr>
          <p:cNvPr id="65" name="Rectangle 64"/>
          <p:cNvSpPr/>
          <p:nvPr/>
        </p:nvSpPr>
        <p:spPr>
          <a:xfrm>
            <a:off x="7277100" y="5467350"/>
            <a:ext cx="2171700" cy="9525"/>
          </a:xfrm>
          <a:prstGeom prst="rect">
            <a:avLst/>
          </a:prstGeom>
          <a:solidFill>
            <a:srgbClr val="FFFFFF">
              <a:alpha val="16000"/>
            </a:srgbClr>
          </a:solidFill>
          <a:ln>
            <a:noFill/>
          </a:ln>
          <a:effectLst/>
        </p:spPr>
        <p:txBody>
          <a:bodyPr rtlCol="0" anchor="ctr"/>
          <a:lstStyle/>
          <a:p>
            <a:pPr algn="ctr"/>
            <a:endParaRPr/>
          </a:p>
        </p:txBody>
      </p:sp>
      <p:sp>
        <p:nvSpPr>
          <p:cNvPr id="66" name="Text: Listed multiples describe companie"/>
          <p:cNvSpPr txBox="1"/>
          <p:nvPr/>
        </p:nvSpPr>
        <p:spPr>
          <a:xfrm>
            <a:off x="7277100" y="5610225"/>
            <a:ext cx="2185988" cy="1114425"/>
          </a:xfrm>
          <a:prstGeom prst="rect">
            <a:avLst/>
          </a:prstGeom>
          <a:noFill/>
        </p:spPr>
        <p:txBody>
          <a:bodyPr wrap="square" lIns="0" tIns="0" rIns="0" bIns="0" anchor="t">
            <a:spAutoFit/>
          </a:bodyPr>
          <a:lstStyle/>
          <a:p>
            <a:pPr algn="l">
              <a:lnSpc>
                <a:spcPts val="1462"/>
              </a:lnSpc>
            </a:pPr>
            <a:r>
              <a:rPr sz="1011" b="0" i="1" spc="15">
                <a:solidFill>
                  <a:srgbClr val="FFFFFF"/>
                </a:solidFill>
                <a:latin typeface="Cambria"/>
              </a:rPr>
              <a:t>Listed multiples describe companies many times larger than a founder-owned business. They show relative standing among the sectors, and a private company's price is set by its own earnings, growth, and risk.</a:t>
            </a:r>
          </a:p>
        </p:txBody>
      </p:sp>
      <p:sp>
        <p:nvSpPr>
          <p:cNvPr id="67" name="Rectangle 66"/>
          <p:cNvSpPr/>
          <p:nvPr/>
        </p:nvSpPr>
        <p:spPr>
          <a:xfrm>
            <a:off x="419100" y="7029450"/>
            <a:ext cx="9220200" cy="9525"/>
          </a:xfrm>
          <a:prstGeom prst="rect">
            <a:avLst/>
          </a:prstGeom>
          <a:solidFill>
            <a:srgbClr val="E3DCD3"/>
          </a:solidFill>
          <a:ln>
            <a:noFill/>
          </a:ln>
          <a:effectLst/>
        </p:spPr>
        <p:txBody>
          <a:bodyPr rtlCol="0" anchor="ctr"/>
          <a:lstStyle/>
          <a:p>
            <a:pPr algn="ctr"/>
            <a:endParaRPr/>
          </a:p>
        </p:txBody>
      </p:sp>
      <p:pic>
        <p:nvPicPr>
          <p:cNvPr id="68" name="Picture 67" descr="Benchmark International"/>
          <p:cNvPicPr>
            <a:picLocks noChangeAspect="1"/>
          </p:cNvPicPr>
          <p:nvPr/>
        </p:nvPicPr>
        <p:blipFill>
          <a:blip r:embed="rId7"/>
          <a:srcRect/>
          <a:stretch>
            <a:fillRect/>
          </a:stretch>
        </p:blipFill>
        <p:spPr>
          <a:xfrm>
            <a:off x="419100" y="7143750"/>
            <a:ext cx="914400" cy="171450"/>
          </a:xfrm>
          <a:prstGeom prst="rect">
            <a:avLst/>
          </a:prstGeom>
        </p:spPr>
      </p:pic>
      <p:sp>
        <p:nvSpPr>
          <p:cNvPr id="69" name="Text: Source: "/>
          <p:cNvSpPr txBox="1"/>
          <p:nvPr/>
        </p:nvSpPr>
        <p:spPr>
          <a:xfrm>
            <a:off x="1543050" y="7105650"/>
            <a:ext cx="7748588" cy="238125"/>
          </a:xfrm>
          <a:prstGeom prst="rect">
            <a:avLst/>
          </a:prstGeom>
          <a:noFill/>
        </p:spPr>
        <p:txBody>
          <a:bodyPr wrap="square" lIns="0" tIns="0" rIns="0" bIns="0" anchor="t">
            <a:spAutoFit/>
          </a:bodyPr>
          <a:lstStyle/>
          <a:p>
            <a:pPr algn="l">
              <a:lnSpc>
                <a:spcPts val="938"/>
              </a:lnSpc>
            </a:pPr>
            <a:r>
              <a:rPr sz="675" b="0" i="0" spc="8">
                <a:solidFill>
                  <a:srgbClr val="6F6A66"/>
                </a:solidFill>
                <a:latin typeface="Calibri"/>
              </a:rPr>
              <a:t>Source: </a:t>
            </a:r>
            <a:r>
              <a:rPr sz="675" b="0" i="0" spc="8">
                <a:solidFill>
                  <a:srgbClr val="8C6239"/>
                </a:solidFill>
                <a:latin typeface="Calibri"/>
                <a:hlinkClick r:id="rId8">
                  <a:extLst>
                    <a:ext uri="{A12FA001-AC4F-418D-AE19-62706E023703}">
                      <ahyp:hlinkClr xmlns:ahyp="http://schemas.microsoft.com/office/drawing/2018/hyperlinkcolor" val="tx"/>
                    </a:ext>
                  </a:extLst>
                </a:hlinkClick>
              </a:rPr>
              <a:t>StockAnalysis</a:t>
            </a:r>
            <a:r>
              <a:rPr sz="675" b="0" i="0" spc="8">
                <a:solidFill>
                  <a:srgbClr val="6F6A66"/>
                </a:solidFill>
                <a:latin typeface="Calibri"/>
              </a:rPr>
              <a:t>, retrieved October 7, 2026. Multiples use reported EBITDA. Medians cover companies with a multiple between zero and 60x today, a year ago, and in at least eight of the past twelve quarters. Bio-Techne and Integer Holdings trade at agreed acquisition prices.</a:t>
            </a:r>
          </a:p>
        </p:txBody>
      </p:sp>
      <p:sp>
        <p:nvSpPr>
          <p:cNvPr id="70" name="Text: 14"/>
          <p:cNvSpPr txBox="1"/>
          <p:nvPr/>
        </p:nvSpPr>
        <p:spPr>
          <a:xfrm>
            <a:off x="9509373" y="7162800"/>
            <a:ext cx="144214" cy="133350"/>
          </a:xfrm>
          <a:prstGeom prst="rect">
            <a:avLst/>
          </a:prstGeom>
          <a:noFill/>
        </p:spPr>
        <p:txBody>
          <a:bodyPr wrap="square" lIns="0" tIns="0" rIns="0" bIns="0" anchor="t">
            <a:spAutoFit/>
          </a:bodyPr>
          <a:lstStyle/>
          <a:p>
            <a:pPr algn="l">
              <a:lnSpc>
                <a:spcPts val="1050"/>
              </a:lnSpc>
            </a:pPr>
            <a:r>
              <a:rPr sz="712" b="1" i="0" spc="150">
                <a:solidFill>
                  <a:srgbClr val="1B1A1A"/>
                </a:solidFill>
                <a:latin typeface="Calibr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57150" cy="7772400"/>
          </a:xfrm>
          <a:prstGeom prst="rect">
            <a:avLst/>
          </a:prstGeom>
          <a:solidFill>
            <a:srgbClr val="B68757"/>
          </a:solidFill>
          <a:ln>
            <a:noFill/>
          </a:ln>
          <a:effectLst/>
        </p:spPr>
        <p:txBody>
          <a:bodyPr rtlCol="0" anchor="ctr"/>
          <a:lstStyle/>
          <a:p>
            <a:pPr algn="ctr"/>
            <a:endParaRPr/>
          </a:p>
        </p:txBody>
      </p:sp>
      <p:sp>
        <p:nvSpPr>
          <p:cNvPr id="3" name="Text: HEALTHCARE | QUARTERLY SECTOR BRIE"/>
          <p:cNvSpPr txBox="1"/>
          <p:nvPr/>
        </p:nvSpPr>
        <p:spPr>
          <a:xfrm>
            <a:off x="419100" y="381000"/>
            <a:ext cx="2439591" cy="133350"/>
          </a:xfrm>
          <a:prstGeom prst="rect">
            <a:avLst/>
          </a:prstGeom>
          <a:noFill/>
        </p:spPr>
        <p:txBody>
          <a:bodyPr wrap="none" lIns="0" tIns="0" rIns="0" bIns="0" anchor="t">
            <a:spAutoFit/>
          </a:bodyPr>
          <a:lstStyle/>
          <a:p>
            <a:pPr algn="l">
              <a:lnSpc>
                <a:spcPts val="1050"/>
              </a:lnSpc>
            </a:pPr>
            <a:r>
              <a:rPr sz="675" b="1" i="0" spc="195">
                <a:solidFill>
                  <a:srgbClr val="8C6239"/>
                </a:solidFill>
                <a:latin typeface="Calibri"/>
              </a:rPr>
              <a:t>HEALTHCARE | QUARTERLY INDUSTRY REPORT</a:t>
            </a:r>
          </a:p>
        </p:txBody>
      </p:sp>
      <p:sp>
        <p:nvSpPr>
          <p:cNvPr id="4" name="Text: Q4 2026"/>
          <p:cNvSpPr txBox="1"/>
          <p:nvPr/>
        </p:nvSpPr>
        <p:spPr>
          <a:xfrm>
            <a:off x="9188648" y="361950"/>
            <a:ext cx="464939" cy="171450"/>
          </a:xfrm>
          <a:prstGeom prst="rect">
            <a:avLst/>
          </a:prstGeom>
          <a:noFill/>
        </p:spPr>
        <p:txBody>
          <a:bodyPr wrap="square" lIns="0" tIns="0" rIns="0" bIns="0" anchor="t">
            <a:spAutoFit/>
          </a:bodyPr>
          <a:lstStyle/>
          <a:p>
            <a:pPr algn="l">
              <a:lnSpc>
                <a:spcPts val="1350"/>
              </a:lnSpc>
            </a:pPr>
            <a:r>
              <a:rPr sz="900" b="0" i="0" spc="90">
                <a:solidFill>
                  <a:srgbClr val="6F6A66"/>
                </a:solidFill>
                <a:latin typeface="Cambria"/>
              </a:rPr>
              <a:t>Q4 2026</a:t>
            </a:r>
          </a:p>
        </p:txBody>
      </p:sp>
      <p:sp>
        <p:nvSpPr>
          <p:cNvPr id="5" name="Text: Public Company Stock Performance: "/>
          <p:cNvSpPr txBox="1"/>
          <p:nvPr/>
        </p:nvSpPr>
        <p:spPr>
          <a:xfrm>
            <a:off x="419100" y="523875"/>
            <a:ext cx="9234488" cy="323850"/>
          </a:xfrm>
          <a:prstGeom prst="rect">
            <a:avLst/>
          </a:prstGeom>
          <a:noFill/>
        </p:spPr>
        <p:txBody>
          <a:bodyPr wrap="square" lIns="0" tIns="0" rIns="0" bIns="0" anchor="t">
            <a:spAutoFit/>
          </a:bodyPr>
          <a:lstStyle/>
          <a:p>
            <a:pPr algn="l">
              <a:lnSpc>
                <a:spcPts val="2550"/>
              </a:lnSpc>
            </a:pPr>
            <a:r>
              <a:rPr sz="2025" b="1" i="0">
                <a:solidFill>
                  <a:srgbClr val="1B1A1A"/>
                </a:solidFill>
                <a:latin typeface="Cambria"/>
              </a:rPr>
              <a:t>Public Company Stock Performance: Past 12 Months</a:t>
            </a:r>
          </a:p>
        </p:txBody>
      </p:sp>
      <p:sp>
        <p:nvSpPr>
          <p:cNvPr id="6" name="Text: Pharmacy and healthcare services s"/>
          <p:cNvSpPr txBox="1"/>
          <p:nvPr/>
        </p:nvSpPr>
        <p:spPr>
          <a:xfrm>
            <a:off x="419100" y="885825"/>
            <a:ext cx="10215086" cy="180975"/>
          </a:xfrm>
          <a:prstGeom prst="rect">
            <a:avLst/>
          </a:prstGeom>
          <a:noFill/>
        </p:spPr>
        <p:txBody>
          <a:bodyPr wrap="square" lIns="0" tIns="0" rIns="0" bIns="0" anchor="t">
            <a:spAutoFit/>
          </a:bodyPr>
          <a:lstStyle/>
          <a:p>
            <a:pPr algn="l">
              <a:lnSpc>
                <a:spcPts val="1388"/>
              </a:lnSpc>
            </a:pPr>
            <a:r>
              <a:rPr sz="938" b="0" i="0" spc="15">
                <a:solidFill>
                  <a:srgbClr val="6F6A66"/>
                </a:solidFill>
                <a:latin typeface="Calibri"/>
              </a:rPr>
              <a:t>Pharmacy and healthcare services shares rose 38% at the median and life sciences shares rose 21%, while provider and medical products shares rose about 6%.</a:t>
            </a:r>
          </a:p>
        </p:txBody>
      </p:sp>
      <p:sp>
        <p:nvSpPr>
          <p:cNvPr id="7" name="Rectangle 6"/>
          <p:cNvSpPr/>
          <p:nvPr/>
        </p:nvSpPr>
        <p:spPr>
          <a:xfrm>
            <a:off x="419100" y="1143000"/>
            <a:ext cx="9220200" cy="9525"/>
          </a:xfrm>
          <a:prstGeom prst="rect">
            <a:avLst/>
          </a:prstGeom>
          <a:solidFill>
            <a:srgbClr val="E3DCD3"/>
          </a:solidFill>
          <a:ln>
            <a:noFill/>
          </a:ln>
          <a:effectLst/>
        </p:spPr>
        <p:txBody>
          <a:bodyPr rtlCol="0" anchor="ctr"/>
          <a:lstStyle/>
          <a:p>
            <a:pPr algn="ctr"/>
            <a:endParaRPr/>
          </a:p>
        </p:txBody>
      </p:sp>
      <p:sp>
        <p:nvSpPr>
          <p:cNvPr id="8" name="Rectangle 7"/>
          <p:cNvSpPr/>
          <p:nvPr/>
        </p:nvSpPr>
        <p:spPr>
          <a:xfrm>
            <a:off x="419100" y="1238250"/>
            <a:ext cx="4305300" cy="9525"/>
          </a:xfrm>
          <a:prstGeom prst="rect">
            <a:avLst/>
          </a:prstGeom>
          <a:solidFill>
            <a:srgbClr val="E3DCD3"/>
          </a:solidFill>
          <a:ln>
            <a:noFill/>
          </a:ln>
          <a:effectLst/>
        </p:spPr>
        <p:txBody>
          <a:bodyPr rtlCol="0" anchor="ctr"/>
          <a:lstStyle/>
          <a:p>
            <a:pPr algn="ctr"/>
            <a:endParaRPr/>
          </a:p>
        </p:txBody>
      </p:sp>
      <p:sp>
        <p:nvSpPr>
          <p:cNvPr id="9" name="Rectangle 8"/>
          <p:cNvSpPr/>
          <p:nvPr/>
        </p:nvSpPr>
        <p:spPr>
          <a:xfrm>
            <a:off x="4714875" y="1238250"/>
            <a:ext cx="9525" cy="2276475"/>
          </a:xfrm>
          <a:prstGeom prst="rect">
            <a:avLst/>
          </a:prstGeom>
          <a:solidFill>
            <a:srgbClr val="E3DCD3"/>
          </a:solidFill>
          <a:ln>
            <a:noFill/>
          </a:ln>
          <a:effectLst/>
        </p:spPr>
        <p:txBody>
          <a:bodyPr rtlCol="0" anchor="ctr"/>
          <a:lstStyle/>
          <a:p>
            <a:pPr algn="ctr"/>
            <a:endParaRPr/>
          </a:p>
        </p:txBody>
      </p:sp>
      <p:sp>
        <p:nvSpPr>
          <p:cNvPr id="10" name="Rectangle 9"/>
          <p:cNvSpPr/>
          <p:nvPr/>
        </p:nvSpPr>
        <p:spPr>
          <a:xfrm>
            <a:off x="419100" y="3505200"/>
            <a:ext cx="4305300" cy="9525"/>
          </a:xfrm>
          <a:prstGeom prst="rect">
            <a:avLst/>
          </a:prstGeom>
          <a:solidFill>
            <a:srgbClr val="E3DCD3"/>
          </a:solidFill>
          <a:ln>
            <a:noFill/>
          </a:ln>
          <a:effectLst/>
        </p:spPr>
        <p:txBody>
          <a:bodyPr rtlCol="0" anchor="ctr"/>
          <a:lstStyle/>
          <a:p>
            <a:pPr algn="ctr"/>
            <a:endParaRPr/>
          </a:p>
        </p:txBody>
      </p:sp>
      <p:sp>
        <p:nvSpPr>
          <p:cNvPr id="11" name="Rectangle 10"/>
          <p:cNvSpPr/>
          <p:nvPr/>
        </p:nvSpPr>
        <p:spPr>
          <a:xfrm>
            <a:off x="419100" y="1238250"/>
            <a:ext cx="9525" cy="2276475"/>
          </a:xfrm>
          <a:prstGeom prst="rect">
            <a:avLst/>
          </a:prstGeom>
          <a:solidFill>
            <a:srgbClr val="E3DCD3"/>
          </a:solidFill>
          <a:ln>
            <a:noFill/>
          </a:ln>
          <a:effectLst/>
        </p:spPr>
        <p:txBody>
          <a:bodyPr rtlCol="0" anchor="ctr"/>
          <a:lstStyle/>
          <a:p>
            <a:pPr algn="ctr"/>
            <a:endParaRPr/>
          </a:p>
        </p:txBody>
      </p:sp>
      <p:sp>
        <p:nvSpPr>
          <p:cNvPr id="12" name="Text: Share price change, past 52 weeks"/>
          <p:cNvSpPr txBox="1"/>
          <p:nvPr/>
        </p:nvSpPr>
        <p:spPr>
          <a:xfrm>
            <a:off x="581025" y="1381125"/>
            <a:ext cx="3995738" cy="161925"/>
          </a:xfrm>
          <a:prstGeom prst="rect">
            <a:avLst/>
          </a:prstGeom>
          <a:noFill/>
        </p:spPr>
        <p:txBody>
          <a:bodyPr wrap="square" lIns="0" tIns="0" rIns="0" bIns="0" anchor="t">
            <a:spAutoFit/>
          </a:bodyPr>
          <a:lstStyle/>
          <a:p>
            <a:pPr algn="l">
              <a:lnSpc>
                <a:spcPts val="1275"/>
              </a:lnSpc>
            </a:pPr>
            <a:r>
              <a:rPr sz="938" b="1" i="0" spc="15">
                <a:solidFill>
                  <a:srgbClr val="1B1A1A"/>
                </a:solidFill>
                <a:latin typeface="Calibri"/>
              </a:rPr>
              <a:t>Share price change, past 52 weeks</a:t>
            </a:r>
          </a:p>
        </p:txBody>
      </p:sp>
      <p:sp>
        <p:nvSpPr>
          <p:cNvPr id="13" name="Text: Median of the listed companies in "/>
          <p:cNvSpPr txBox="1"/>
          <p:nvPr/>
        </p:nvSpPr>
        <p:spPr>
          <a:xfrm>
            <a:off x="581025" y="1543050"/>
            <a:ext cx="3995738" cy="133350"/>
          </a:xfrm>
          <a:prstGeom prst="rect">
            <a:avLst/>
          </a:prstGeom>
          <a:noFill/>
        </p:spPr>
        <p:txBody>
          <a:bodyPr wrap="square" lIns="0" tIns="0" rIns="0" bIns="0" anchor="t">
            <a:spAutoFit/>
          </a:bodyPr>
          <a:lstStyle/>
          <a:p>
            <a:pPr algn="l">
              <a:lnSpc>
                <a:spcPts val="1050"/>
              </a:lnSpc>
            </a:pPr>
            <a:r>
              <a:rPr sz="750" b="0" i="0" spc="15">
                <a:solidFill>
                  <a:srgbClr val="6F6A66"/>
                </a:solidFill>
                <a:latin typeface="Calibri"/>
              </a:rPr>
              <a:t>Median of the listed companies in each sector</a:t>
            </a:r>
          </a:p>
        </p:txBody>
      </p:sp>
      <p:graphicFrame>
        <p:nvGraphicFramePr>
          <p:cNvPr id="14" name="Chart (edit data to update)"/>
          <p:cNvGraphicFramePr>
            <a:graphicFrameLocks noGrp="1"/>
          </p:cNvGraphicFramePr>
          <p:nvPr/>
        </p:nvGraphicFramePr>
        <p:xfrm>
          <a:off x="581025" y="1752600"/>
          <a:ext cx="4000500" cy="1638300"/>
        </p:xfrm>
        <a:graphic>
          <a:graphicData uri="http://schemas.openxmlformats.org/drawingml/2006/chart">
            <c:chart xmlns:c="http://schemas.openxmlformats.org/drawingml/2006/chart" xmlns:r="http://schemas.openxmlformats.org/officeDocument/2006/relationships" r:id="rId2"/>
          </a:graphicData>
        </a:graphic>
      </p:graphicFrame>
      <p:sp>
        <p:nvSpPr>
          <p:cNvPr id="15" name="Rectangle 14"/>
          <p:cNvSpPr/>
          <p:nvPr/>
        </p:nvSpPr>
        <p:spPr>
          <a:xfrm>
            <a:off x="419100" y="3648075"/>
            <a:ext cx="4305300" cy="9525"/>
          </a:xfrm>
          <a:prstGeom prst="rect">
            <a:avLst/>
          </a:prstGeom>
          <a:solidFill>
            <a:srgbClr val="E3DCD3"/>
          </a:solidFill>
          <a:ln>
            <a:noFill/>
          </a:ln>
          <a:effectLst/>
        </p:spPr>
        <p:txBody>
          <a:bodyPr rtlCol="0" anchor="ctr"/>
          <a:lstStyle/>
          <a:p>
            <a:pPr algn="ctr"/>
            <a:endParaRPr/>
          </a:p>
        </p:txBody>
      </p:sp>
      <p:sp>
        <p:nvSpPr>
          <p:cNvPr id="16" name="Rectangle 15"/>
          <p:cNvSpPr/>
          <p:nvPr/>
        </p:nvSpPr>
        <p:spPr>
          <a:xfrm>
            <a:off x="4714875" y="3648075"/>
            <a:ext cx="9525" cy="2276475"/>
          </a:xfrm>
          <a:prstGeom prst="rect">
            <a:avLst/>
          </a:prstGeom>
          <a:solidFill>
            <a:srgbClr val="E3DCD3"/>
          </a:solidFill>
          <a:ln>
            <a:noFill/>
          </a:ln>
          <a:effectLst/>
        </p:spPr>
        <p:txBody>
          <a:bodyPr rtlCol="0" anchor="ctr"/>
          <a:lstStyle/>
          <a:p>
            <a:pPr algn="ctr"/>
            <a:endParaRPr/>
          </a:p>
        </p:txBody>
      </p:sp>
      <p:sp>
        <p:nvSpPr>
          <p:cNvPr id="17" name="Rectangle 16"/>
          <p:cNvSpPr/>
          <p:nvPr/>
        </p:nvSpPr>
        <p:spPr>
          <a:xfrm>
            <a:off x="419100" y="5915025"/>
            <a:ext cx="4305300" cy="9525"/>
          </a:xfrm>
          <a:prstGeom prst="rect">
            <a:avLst/>
          </a:prstGeom>
          <a:solidFill>
            <a:srgbClr val="E3DCD3"/>
          </a:solidFill>
          <a:ln>
            <a:noFill/>
          </a:ln>
          <a:effectLst/>
        </p:spPr>
        <p:txBody>
          <a:bodyPr rtlCol="0" anchor="ctr"/>
          <a:lstStyle/>
          <a:p>
            <a:pPr algn="ctr"/>
            <a:endParaRPr/>
          </a:p>
        </p:txBody>
      </p:sp>
      <p:sp>
        <p:nvSpPr>
          <p:cNvPr id="18" name="Rectangle 17"/>
          <p:cNvSpPr/>
          <p:nvPr/>
        </p:nvSpPr>
        <p:spPr>
          <a:xfrm>
            <a:off x="419100" y="3648075"/>
            <a:ext cx="9525" cy="2276475"/>
          </a:xfrm>
          <a:prstGeom prst="rect">
            <a:avLst/>
          </a:prstGeom>
          <a:solidFill>
            <a:srgbClr val="E3DCD3"/>
          </a:solidFill>
          <a:ln>
            <a:noFill/>
          </a:ln>
          <a:effectLst/>
        </p:spPr>
        <p:txBody>
          <a:bodyPr rtlCol="0" anchor="ctr"/>
          <a:lstStyle/>
          <a:p>
            <a:pPr algn="ctr"/>
            <a:endParaRPr/>
          </a:p>
        </p:txBody>
      </p:sp>
      <p:sp>
        <p:nvSpPr>
          <p:cNvPr id="19" name="Text: Share price relative to the 52-wee"/>
          <p:cNvSpPr txBox="1"/>
          <p:nvPr/>
        </p:nvSpPr>
        <p:spPr>
          <a:xfrm>
            <a:off x="581025" y="3790950"/>
            <a:ext cx="3995738" cy="161925"/>
          </a:xfrm>
          <a:prstGeom prst="rect">
            <a:avLst/>
          </a:prstGeom>
          <a:noFill/>
        </p:spPr>
        <p:txBody>
          <a:bodyPr wrap="square" lIns="0" tIns="0" rIns="0" bIns="0" anchor="t">
            <a:spAutoFit/>
          </a:bodyPr>
          <a:lstStyle/>
          <a:p>
            <a:pPr algn="l">
              <a:lnSpc>
                <a:spcPts val="1275"/>
              </a:lnSpc>
            </a:pPr>
            <a:r>
              <a:rPr sz="938" b="1" i="0" spc="15">
                <a:solidFill>
                  <a:srgbClr val="1B1A1A"/>
                </a:solidFill>
                <a:latin typeface="Calibri"/>
              </a:rPr>
              <a:t>Share price relative to the 52-week high</a:t>
            </a:r>
          </a:p>
        </p:txBody>
      </p:sp>
      <p:sp>
        <p:nvSpPr>
          <p:cNvPr id="20" name="Text: Median of the listed companies in "/>
          <p:cNvSpPr txBox="1"/>
          <p:nvPr/>
        </p:nvSpPr>
        <p:spPr>
          <a:xfrm>
            <a:off x="581025" y="3952875"/>
            <a:ext cx="3995738" cy="133350"/>
          </a:xfrm>
          <a:prstGeom prst="rect">
            <a:avLst/>
          </a:prstGeom>
          <a:noFill/>
        </p:spPr>
        <p:txBody>
          <a:bodyPr wrap="square" lIns="0" tIns="0" rIns="0" bIns="0" anchor="t">
            <a:spAutoFit/>
          </a:bodyPr>
          <a:lstStyle/>
          <a:p>
            <a:pPr algn="l">
              <a:lnSpc>
                <a:spcPts val="1050"/>
              </a:lnSpc>
            </a:pPr>
            <a:r>
              <a:rPr sz="750" b="0" i="0" spc="15">
                <a:solidFill>
                  <a:srgbClr val="6F6A66"/>
                </a:solidFill>
                <a:latin typeface="Calibri"/>
              </a:rPr>
              <a:t>Median of the listed companies in each sector</a:t>
            </a:r>
          </a:p>
        </p:txBody>
      </p:sp>
      <p:graphicFrame>
        <p:nvGraphicFramePr>
          <p:cNvPr id="21" name="Chart (edit data to update)"/>
          <p:cNvGraphicFramePr>
            <a:graphicFrameLocks noGrp="1"/>
          </p:cNvGraphicFramePr>
          <p:nvPr/>
        </p:nvGraphicFramePr>
        <p:xfrm>
          <a:off x="581025" y="4162425"/>
          <a:ext cx="4000500" cy="1638300"/>
        </p:xfrm>
        <a:graphic>
          <a:graphicData uri="http://schemas.openxmlformats.org/drawingml/2006/chart">
            <c:chart xmlns:c="http://schemas.openxmlformats.org/drawingml/2006/chart" xmlns:r="http://schemas.openxmlformats.org/officeDocument/2006/relationships" r:id="rId3"/>
          </a:graphicData>
        </a:graphic>
      </p:graphicFrame>
      <p:sp>
        <p:nvSpPr>
          <p:cNvPr id="22" name="Rectangle 21"/>
          <p:cNvSpPr/>
          <p:nvPr/>
        </p:nvSpPr>
        <p:spPr>
          <a:xfrm>
            <a:off x="419100" y="6205538"/>
            <a:ext cx="4305300" cy="728662"/>
          </a:xfrm>
          <a:prstGeom prst="rect">
            <a:avLst/>
          </a:prstGeom>
          <a:solidFill>
            <a:srgbClr val="FAF7F3"/>
          </a:solidFill>
          <a:ln>
            <a:noFill/>
          </a:ln>
          <a:effectLst/>
        </p:spPr>
        <p:txBody>
          <a:bodyPr rtlCol="0" anchor="ctr"/>
          <a:lstStyle/>
          <a:p>
            <a:pPr algn="ctr"/>
            <a:endParaRPr/>
          </a:p>
        </p:txBody>
      </p:sp>
      <p:sp>
        <p:nvSpPr>
          <p:cNvPr id="23" name="Rectangle 22"/>
          <p:cNvSpPr/>
          <p:nvPr/>
        </p:nvSpPr>
        <p:spPr>
          <a:xfrm>
            <a:off x="419100" y="6205538"/>
            <a:ext cx="4305300" cy="28575"/>
          </a:xfrm>
          <a:prstGeom prst="rect">
            <a:avLst/>
          </a:prstGeom>
          <a:solidFill>
            <a:srgbClr val="B68757"/>
          </a:solidFill>
          <a:ln>
            <a:noFill/>
          </a:ln>
          <a:effectLst/>
        </p:spPr>
        <p:txBody>
          <a:bodyPr rtlCol="0" anchor="ctr"/>
          <a:lstStyle/>
          <a:p>
            <a:pPr algn="ctr"/>
            <a:endParaRPr/>
          </a:p>
        </p:txBody>
      </p:sp>
      <p:sp>
        <p:nvSpPr>
          <p:cNvPr id="24" name="Text: Shares rose over the year at 29 of"/>
          <p:cNvSpPr txBox="1"/>
          <p:nvPr/>
        </p:nvSpPr>
        <p:spPr>
          <a:xfrm>
            <a:off x="571500" y="6348412"/>
            <a:ext cx="4014788" cy="471488"/>
          </a:xfrm>
          <a:prstGeom prst="rect">
            <a:avLst/>
          </a:prstGeom>
          <a:noFill/>
        </p:spPr>
        <p:txBody>
          <a:bodyPr wrap="square" lIns="0" tIns="0" rIns="0" bIns="0" anchor="t">
            <a:spAutoFit/>
          </a:bodyPr>
          <a:lstStyle/>
          <a:p>
            <a:pPr algn="l">
              <a:lnSpc>
                <a:spcPts val="1238"/>
              </a:lnSpc>
            </a:pPr>
            <a:r>
              <a:rPr sz="825" b="0" i="0" spc="15">
                <a:solidFill>
                  <a:srgbClr val="333231"/>
                </a:solidFill>
                <a:latin typeface="Calibri"/>
              </a:rPr>
              <a:t>Shares rose over the year at 29 of the 38 companies: 7 of 11 provider companies, 8 of 9 life sciences and diagnostics companies, 6 of 10 medical products companies, and 8 of 8 pharmacy and healthcare services companies.</a:t>
            </a:r>
          </a:p>
        </p:txBody>
      </p:sp>
      <p:sp>
        <p:nvSpPr>
          <p:cNvPr id="25" name="Text: LARGEST GAINS, 52 WEEKS"/>
          <p:cNvSpPr txBox="1"/>
          <p:nvPr/>
        </p:nvSpPr>
        <p:spPr>
          <a:xfrm>
            <a:off x="4933950" y="1238250"/>
            <a:ext cx="2271712" cy="123825"/>
          </a:xfrm>
          <a:prstGeom prst="rect">
            <a:avLst/>
          </a:prstGeom>
          <a:noFill/>
        </p:spPr>
        <p:txBody>
          <a:bodyPr wrap="square" lIns="0" tIns="0" rIns="0" bIns="0" anchor="t">
            <a:spAutoFit/>
          </a:bodyPr>
          <a:lstStyle/>
          <a:p>
            <a:pPr algn="l">
              <a:lnSpc>
                <a:spcPts val="975"/>
              </a:lnSpc>
            </a:pPr>
            <a:r>
              <a:rPr sz="675" b="1" i="0" spc="150">
                <a:solidFill>
                  <a:srgbClr val="8C6239"/>
                </a:solidFill>
                <a:latin typeface="Calibri"/>
              </a:rPr>
              <a:t>LARGEST GAINS, 52 WEEKS</a:t>
            </a:r>
          </a:p>
        </p:txBody>
      </p:sp>
      <p:sp>
        <p:nvSpPr>
          <p:cNvPr id="26" name="Rectangle 25"/>
          <p:cNvSpPr/>
          <p:nvPr/>
        </p:nvSpPr>
        <p:spPr>
          <a:xfrm>
            <a:off x="4933950" y="1685925"/>
            <a:ext cx="2257425" cy="9525"/>
          </a:xfrm>
          <a:prstGeom prst="rect">
            <a:avLst/>
          </a:prstGeom>
          <a:solidFill>
            <a:srgbClr val="E3DCD3"/>
          </a:solidFill>
          <a:ln>
            <a:noFill/>
          </a:ln>
          <a:effectLst/>
        </p:spPr>
        <p:txBody>
          <a:bodyPr rtlCol="0" anchor="ctr"/>
          <a:lstStyle/>
          <a:p>
            <a:pPr algn="ctr"/>
            <a:endParaRPr/>
          </a:p>
        </p:txBody>
      </p:sp>
      <p:sp>
        <p:nvSpPr>
          <p:cNvPr id="27" name="Rounded Rectangle 26"/>
          <p:cNvSpPr/>
          <p:nvPr/>
        </p:nvSpPr>
        <p:spPr>
          <a:xfrm>
            <a:off x="4933950" y="145732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28" name="Text: BTSG"/>
          <p:cNvSpPr txBox="1"/>
          <p:nvPr/>
        </p:nvSpPr>
        <p:spPr>
          <a:xfrm>
            <a:off x="4933950" y="145732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BTSG</a:t>
            </a:r>
          </a:p>
        </p:txBody>
      </p:sp>
      <p:sp>
        <p:nvSpPr>
          <p:cNvPr id="29" name="Text: BrightSpring"/>
          <p:cNvSpPr txBox="1"/>
          <p:nvPr/>
        </p:nvSpPr>
        <p:spPr>
          <a:xfrm>
            <a:off x="5372100" y="1485900"/>
            <a:ext cx="1204912" cy="133350"/>
          </a:xfrm>
          <a:prstGeom prst="rect">
            <a:avLst/>
          </a:prstGeom>
          <a:noFill/>
        </p:spPr>
        <p:txBody>
          <a:bodyPr wrap="square" lIns="0" tIns="0" rIns="0" bIns="0" anchor="t">
            <a:spAutoFit/>
          </a:bodyPr>
          <a:lstStyle/>
          <a:p>
            <a:pPr algn="l">
              <a:lnSpc>
                <a:spcPts val="1050"/>
              </a:lnSpc>
            </a:pPr>
            <a:r>
              <a:rPr sz="788" b="1" i="0" spc="15">
                <a:solidFill>
                  <a:srgbClr val="333231"/>
                </a:solidFill>
                <a:latin typeface="Calibri"/>
              </a:rPr>
              <a:t>BrightSpring</a:t>
            </a:r>
          </a:p>
        </p:txBody>
      </p:sp>
      <p:sp>
        <p:nvSpPr>
          <p:cNvPr id="30" name="Text: +124.8%"/>
          <p:cNvSpPr txBox="1"/>
          <p:nvPr/>
        </p:nvSpPr>
        <p:spPr>
          <a:xfrm>
            <a:off x="6638925" y="1471612"/>
            <a:ext cx="566738" cy="161925"/>
          </a:xfrm>
          <a:prstGeom prst="rect">
            <a:avLst/>
          </a:prstGeom>
          <a:noFill/>
        </p:spPr>
        <p:txBody>
          <a:bodyPr wrap="square" lIns="0" tIns="0" rIns="0" bIns="0" anchor="t">
            <a:spAutoFit/>
          </a:bodyPr>
          <a:lstStyle/>
          <a:p>
            <a:pPr algn="r">
              <a:lnSpc>
                <a:spcPts val="1275"/>
              </a:lnSpc>
            </a:pPr>
            <a:r>
              <a:rPr sz="825" b="1" i="0" spc="15">
                <a:solidFill>
                  <a:srgbClr val="1B1A1A"/>
                </a:solidFill>
                <a:latin typeface="Calibri"/>
              </a:rPr>
              <a:t>+124.8%</a:t>
            </a:r>
          </a:p>
        </p:txBody>
      </p:sp>
      <p:sp>
        <p:nvSpPr>
          <p:cNvPr id="31" name="Rectangle 30"/>
          <p:cNvSpPr/>
          <p:nvPr/>
        </p:nvSpPr>
        <p:spPr>
          <a:xfrm>
            <a:off x="4933950" y="1962150"/>
            <a:ext cx="2257425" cy="9525"/>
          </a:xfrm>
          <a:prstGeom prst="rect">
            <a:avLst/>
          </a:prstGeom>
          <a:solidFill>
            <a:srgbClr val="E3DCD3"/>
          </a:solidFill>
          <a:ln>
            <a:noFill/>
          </a:ln>
          <a:effectLst/>
        </p:spPr>
        <p:txBody>
          <a:bodyPr rtlCol="0" anchor="ctr"/>
          <a:lstStyle/>
          <a:p>
            <a:pPr algn="ctr"/>
            <a:endParaRPr/>
          </a:p>
        </p:txBody>
      </p:sp>
      <p:sp>
        <p:nvSpPr>
          <p:cNvPr id="32" name="Rounded Rectangle 31"/>
          <p:cNvSpPr/>
          <p:nvPr/>
        </p:nvSpPr>
        <p:spPr>
          <a:xfrm>
            <a:off x="4933950" y="1733550"/>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33" name="Text: LFST"/>
          <p:cNvSpPr txBox="1"/>
          <p:nvPr/>
        </p:nvSpPr>
        <p:spPr>
          <a:xfrm>
            <a:off x="4933950" y="1733550"/>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LFST</a:t>
            </a:r>
          </a:p>
        </p:txBody>
      </p:sp>
      <p:sp>
        <p:nvSpPr>
          <p:cNvPr id="34" name="Text: LifeStance Health"/>
          <p:cNvSpPr txBox="1"/>
          <p:nvPr/>
        </p:nvSpPr>
        <p:spPr>
          <a:xfrm>
            <a:off x="5372100" y="1762125"/>
            <a:ext cx="1204912" cy="133350"/>
          </a:xfrm>
          <a:prstGeom prst="rect">
            <a:avLst/>
          </a:prstGeom>
          <a:noFill/>
        </p:spPr>
        <p:txBody>
          <a:bodyPr wrap="square" lIns="0" tIns="0" rIns="0" bIns="0" anchor="t">
            <a:spAutoFit/>
          </a:bodyPr>
          <a:lstStyle/>
          <a:p>
            <a:pPr algn="l">
              <a:lnSpc>
                <a:spcPts val="1050"/>
              </a:lnSpc>
            </a:pPr>
            <a:r>
              <a:rPr sz="788" b="1" i="0" spc="15">
                <a:solidFill>
                  <a:srgbClr val="333231"/>
                </a:solidFill>
                <a:latin typeface="Calibri"/>
              </a:rPr>
              <a:t>LifeStance Health</a:t>
            </a:r>
          </a:p>
        </p:txBody>
      </p:sp>
      <p:sp>
        <p:nvSpPr>
          <p:cNvPr id="35" name="Text: +123.4%"/>
          <p:cNvSpPr txBox="1"/>
          <p:nvPr/>
        </p:nvSpPr>
        <p:spPr>
          <a:xfrm>
            <a:off x="6638925" y="1747838"/>
            <a:ext cx="566738" cy="161925"/>
          </a:xfrm>
          <a:prstGeom prst="rect">
            <a:avLst/>
          </a:prstGeom>
          <a:noFill/>
        </p:spPr>
        <p:txBody>
          <a:bodyPr wrap="square" lIns="0" tIns="0" rIns="0" bIns="0" anchor="t">
            <a:spAutoFit/>
          </a:bodyPr>
          <a:lstStyle/>
          <a:p>
            <a:pPr algn="r">
              <a:lnSpc>
                <a:spcPts val="1275"/>
              </a:lnSpc>
            </a:pPr>
            <a:r>
              <a:rPr sz="825" b="1" i="0" spc="15">
                <a:solidFill>
                  <a:srgbClr val="1B1A1A"/>
                </a:solidFill>
                <a:latin typeface="Calibri"/>
              </a:rPr>
              <a:t>+123.4%</a:t>
            </a:r>
          </a:p>
        </p:txBody>
      </p:sp>
      <p:sp>
        <p:nvSpPr>
          <p:cNvPr id="36" name="Rectangle 35"/>
          <p:cNvSpPr/>
          <p:nvPr/>
        </p:nvSpPr>
        <p:spPr>
          <a:xfrm>
            <a:off x="4933950" y="2238375"/>
            <a:ext cx="2257425" cy="9525"/>
          </a:xfrm>
          <a:prstGeom prst="rect">
            <a:avLst/>
          </a:prstGeom>
          <a:solidFill>
            <a:srgbClr val="E3DCD3"/>
          </a:solidFill>
          <a:ln>
            <a:noFill/>
          </a:ln>
          <a:effectLst/>
        </p:spPr>
        <p:txBody>
          <a:bodyPr rtlCol="0" anchor="ctr"/>
          <a:lstStyle/>
          <a:p>
            <a:pPr algn="ctr"/>
            <a:endParaRPr/>
          </a:p>
        </p:txBody>
      </p:sp>
      <p:sp>
        <p:nvSpPr>
          <p:cNvPr id="37" name="Rounded Rectangle 36"/>
          <p:cNvSpPr/>
          <p:nvPr/>
        </p:nvSpPr>
        <p:spPr>
          <a:xfrm>
            <a:off x="4933950" y="200977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38" name="Text: AMN"/>
          <p:cNvSpPr txBox="1"/>
          <p:nvPr/>
        </p:nvSpPr>
        <p:spPr>
          <a:xfrm>
            <a:off x="4933950" y="200977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AMN</a:t>
            </a:r>
          </a:p>
        </p:txBody>
      </p:sp>
      <p:sp>
        <p:nvSpPr>
          <p:cNvPr id="39" name="Text: AMN Healthcare"/>
          <p:cNvSpPr txBox="1"/>
          <p:nvPr/>
        </p:nvSpPr>
        <p:spPr>
          <a:xfrm>
            <a:off x="5372100" y="2038350"/>
            <a:ext cx="1204912" cy="133350"/>
          </a:xfrm>
          <a:prstGeom prst="rect">
            <a:avLst/>
          </a:prstGeom>
          <a:noFill/>
        </p:spPr>
        <p:txBody>
          <a:bodyPr wrap="square" lIns="0" tIns="0" rIns="0" bIns="0" anchor="t">
            <a:spAutoFit/>
          </a:bodyPr>
          <a:lstStyle/>
          <a:p>
            <a:pPr algn="l">
              <a:lnSpc>
                <a:spcPts val="1050"/>
              </a:lnSpc>
            </a:pPr>
            <a:r>
              <a:rPr sz="788" b="1" i="0" spc="15">
                <a:solidFill>
                  <a:srgbClr val="333231"/>
                </a:solidFill>
                <a:latin typeface="Calibri"/>
              </a:rPr>
              <a:t>AMN Healthcare</a:t>
            </a:r>
          </a:p>
        </p:txBody>
      </p:sp>
      <p:sp>
        <p:nvSpPr>
          <p:cNvPr id="40" name="Text: +85.2%"/>
          <p:cNvSpPr txBox="1"/>
          <p:nvPr/>
        </p:nvSpPr>
        <p:spPr>
          <a:xfrm>
            <a:off x="6638925" y="2024062"/>
            <a:ext cx="566738" cy="161925"/>
          </a:xfrm>
          <a:prstGeom prst="rect">
            <a:avLst/>
          </a:prstGeom>
          <a:noFill/>
        </p:spPr>
        <p:txBody>
          <a:bodyPr wrap="square" lIns="0" tIns="0" rIns="0" bIns="0" anchor="t">
            <a:spAutoFit/>
          </a:bodyPr>
          <a:lstStyle/>
          <a:p>
            <a:pPr algn="r">
              <a:lnSpc>
                <a:spcPts val="1275"/>
              </a:lnSpc>
            </a:pPr>
            <a:r>
              <a:rPr sz="825" b="1" i="0" spc="15">
                <a:solidFill>
                  <a:srgbClr val="1B1A1A"/>
                </a:solidFill>
                <a:latin typeface="Calibri"/>
              </a:rPr>
              <a:t>+85.2%</a:t>
            </a:r>
          </a:p>
        </p:txBody>
      </p:sp>
      <p:sp>
        <p:nvSpPr>
          <p:cNvPr id="41" name="Rectangle 40"/>
          <p:cNvSpPr/>
          <p:nvPr/>
        </p:nvSpPr>
        <p:spPr>
          <a:xfrm>
            <a:off x="4933950" y="2590800"/>
            <a:ext cx="2257425" cy="9525"/>
          </a:xfrm>
          <a:prstGeom prst="rect">
            <a:avLst/>
          </a:prstGeom>
          <a:solidFill>
            <a:srgbClr val="E3DCD3"/>
          </a:solidFill>
          <a:ln>
            <a:noFill/>
          </a:ln>
          <a:effectLst/>
        </p:spPr>
        <p:txBody>
          <a:bodyPr rtlCol="0" anchor="ctr"/>
          <a:lstStyle/>
          <a:p>
            <a:pPr algn="ctr"/>
            <a:endParaRPr/>
          </a:p>
        </p:txBody>
      </p:sp>
      <p:sp>
        <p:nvSpPr>
          <p:cNvPr id="42" name="Rounded Rectangle 41"/>
          <p:cNvSpPr/>
          <p:nvPr/>
        </p:nvSpPr>
        <p:spPr>
          <a:xfrm>
            <a:off x="4933950" y="2324100"/>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43" name="Text: GRDN"/>
          <p:cNvSpPr txBox="1"/>
          <p:nvPr/>
        </p:nvSpPr>
        <p:spPr>
          <a:xfrm>
            <a:off x="4933950" y="2324100"/>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GRDN</a:t>
            </a:r>
          </a:p>
        </p:txBody>
      </p:sp>
      <p:sp>
        <p:nvSpPr>
          <p:cNvPr id="44" name="Text: Guardian Pharmacy Services"/>
          <p:cNvSpPr txBox="1"/>
          <p:nvPr/>
        </p:nvSpPr>
        <p:spPr>
          <a:xfrm>
            <a:off x="5372100" y="2286000"/>
            <a:ext cx="1204912" cy="266700"/>
          </a:xfrm>
          <a:prstGeom prst="rect">
            <a:avLst/>
          </a:prstGeom>
          <a:noFill/>
        </p:spPr>
        <p:txBody>
          <a:bodyPr wrap="square" lIns="0" tIns="0" rIns="0" bIns="0" anchor="t">
            <a:spAutoFit/>
          </a:bodyPr>
          <a:lstStyle/>
          <a:p>
            <a:pPr algn="l">
              <a:lnSpc>
                <a:spcPts val="1050"/>
              </a:lnSpc>
            </a:pPr>
            <a:r>
              <a:rPr sz="788" b="1" i="0" spc="15">
                <a:solidFill>
                  <a:srgbClr val="333231"/>
                </a:solidFill>
                <a:latin typeface="Calibri"/>
              </a:rPr>
              <a:t>Guardian Pharmacy Services</a:t>
            </a:r>
          </a:p>
        </p:txBody>
      </p:sp>
      <p:sp>
        <p:nvSpPr>
          <p:cNvPr id="45" name="Text: +76.2%"/>
          <p:cNvSpPr txBox="1"/>
          <p:nvPr/>
        </p:nvSpPr>
        <p:spPr>
          <a:xfrm>
            <a:off x="6638925" y="2338388"/>
            <a:ext cx="566738" cy="161925"/>
          </a:xfrm>
          <a:prstGeom prst="rect">
            <a:avLst/>
          </a:prstGeom>
          <a:noFill/>
        </p:spPr>
        <p:txBody>
          <a:bodyPr wrap="square" lIns="0" tIns="0" rIns="0" bIns="0" anchor="t">
            <a:spAutoFit/>
          </a:bodyPr>
          <a:lstStyle/>
          <a:p>
            <a:pPr algn="r">
              <a:lnSpc>
                <a:spcPts val="1275"/>
              </a:lnSpc>
            </a:pPr>
            <a:r>
              <a:rPr sz="825" b="1" i="0" spc="15">
                <a:solidFill>
                  <a:srgbClr val="1B1A1A"/>
                </a:solidFill>
                <a:latin typeface="Calibri"/>
              </a:rPr>
              <a:t>+76.2%</a:t>
            </a:r>
          </a:p>
        </p:txBody>
      </p:sp>
      <p:sp>
        <p:nvSpPr>
          <p:cNvPr id="46" name="Rectangle 45"/>
          <p:cNvSpPr/>
          <p:nvPr/>
        </p:nvSpPr>
        <p:spPr>
          <a:xfrm>
            <a:off x="4933950" y="2867025"/>
            <a:ext cx="2257425" cy="9525"/>
          </a:xfrm>
          <a:prstGeom prst="rect">
            <a:avLst/>
          </a:prstGeom>
          <a:solidFill>
            <a:srgbClr val="E3DCD3"/>
          </a:solidFill>
          <a:ln>
            <a:noFill/>
          </a:ln>
          <a:effectLst/>
        </p:spPr>
        <p:txBody>
          <a:bodyPr rtlCol="0" anchor="ctr"/>
          <a:lstStyle/>
          <a:p>
            <a:pPr algn="ctr"/>
            <a:endParaRPr/>
          </a:p>
        </p:txBody>
      </p:sp>
      <p:sp>
        <p:nvSpPr>
          <p:cNvPr id="47" name="Rounded Rectangle 46"/>
          <p:cNvSpPr/>
          <p:nvPr/>
        </p:nvSpPr>
        <p:spPr>
          <a:xfrm>
            <a:off x="4933950" y="263842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48" name="Text: CON"/>
          <p:cNvSpPr txBox="1"/>
          <p:nvPr/>
        </p:nvSpPr>
        <p:spPr>
          <a:xfrm>
            <a:off x="4933950" y="263842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CON</a:t>
            </a:r>
          </a:p>
        </p:txBody>
      </p:sp>
      <p:sp>
        <p:nvSpPr>
          <p:cNvPr id="49" name="Text: Concentra"/>
          <p:cNvSpPr txBox="1"/>
          <p:nvPr/>
        </p:nvSpPr>
        <p:spPr>
          <a:xfrm>
            <a:off x="5372100" y="2667000"/>
            <a:ext cx="1204912" cy="133350"/>
          </a:xfrm>
          <a:prstGeom prst="rect">
            <a:avLst/>
          </a:prstGeom>
          <a:noFill/>
        </p:spPr>
        <p:txBody>
          <a:bodyPr wrap="square" lIns="0" tIns="0" rIns="0" bIns="0" anchor="t">
            <a:spAutoFit/>
          </a:bodyPr>
          <a:lstStyle/>
          <a:p>
            <a:pPr algn="l">
              <a:lnSpc>
                <a:spcPts val="1050"/>
              </a:lnSpc>
            </a:pPr>
            <a:r>
              <a:rPr sz="788" b="1" i="0" spc="15">
                <a:solidFill>
                  <a:srgbClr val="333231"/>
                </a:solidFill>
                <a:latin typeface="Calibri"/>
              </a:rPr>
              <a:t>Concentra</a:t>
            </a:r>
          </a:p>
        </p:txBody>
      </p:sp>
      <p:sp>
        <p:nvSpPr>
          <p:cNvPr id="50" name="Text: +74.5%"/>
          <p:cNvSpPr txBox="1"/>
          <p:nvPr/>
        </p:nvSpPr>
        <p:spPr>
          <a:xfrm>
            <a:off x="6638925" y="2652712"/>
            <a:ext cx="566738" cy="161925"/>
          </a:xfrm>
          <a:prstGeom prst="rect">
            <a:avLst/>
          </a:prstGeom>
          <a:noFill/>
        </p:spPr>
        <p:txBody>
          <a:bodyPr wrap="square" lIns="0" tIns="0" rIns="0" bIns="0" anchor="t">
            <a:spAutoFit/>
          </a:bodyPr>
          <a:lstStyle/>
          <a:p>
            <a:pPr algn="r">
              <a:lnSpc>
                <a:spcPts val="1275"/>
              </a:lnSpc>
            </a:pPr>
            <a:r>
              <a:rPr sz="825" b="1" i="0" spc="15">
                <a:solidFill>
                  <a:srgbClr val="1B1A1A"/>
                </a:solidFill>
                <a:latin typeface="Calibri"/>
              </a:rPr>
              <a:t>+74.5%</a:t>
            </a:r>
          </a:p>
        </p:txBody>
      </p:sp>
      <p:sp>
        <p:nvSpPr>
          <p:cNvPr id="51" name="Rectangle 50"/>
          <p:cNvSpPr/>
          <p:nvPr/>
        </p:nvSpPr>
        <p:spPr>
          <a:xfrm>
            <a:off x="4933950" y="3143250"/>
            <a:ext cx="2257425" cy="9525"/>
          </a:xfrm>
          <a:prstGeom prst="rect">
            <a:avLst/>
          </a:prstGeom>
          <a:solidFill>
            <a:srgbClr val="E3DCD3"/>
          </a:solidFill>
          <a:ln>
            <a:noFill/>
          </a:ln>
          <a:effectLst/>
        </p:spPr>
        <p:txBody>
          <a:bodyPr rtlCol="0" anchor="ctr"/>
          <a:lstStyle/>
          <a:p>
            <a:pPr algn="ctr"/>
            <a:endParaRPr/>
          </a:p>
        </p:txBody>
      </p:sp>
      <p:sp>
        <p:nvSpPr>
          <p:cNvPr id="52" name="Rounded Rectangle 51"/>
          <p:cNvSpPr/>
          <p:nvPr/>
        </p:nvSpPr>
        <p:spPr>
          <a:xfrm>
            <a:off x="4933950" y="2914650"/>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53" name="Text: CRL"/>
          <p:cNvSpPr txBox="1"/>
          <p:nvPr/>
        </p:nvSpPr>
        <p:spPr>
          <a:xfrm>
            <a:off x="4933950" y="2914650"/>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CRL</a:t>
            </a:r>
          </a:p>
        </p:txBody>
      </p:sp>
      <p:sp>
        <p:nvSpPr>
          <p:cNvPr id="54" name="Text: Charles River Laboratories"/>
          <p:cNvSpPr txBox="1"/>
          <p:nvPr/>
        </p:nvSpPr>
        <p:spPr>
          <a:xfrm>
            <a:off x="5372100" y="2943225"/>
            <a:ext cx="1204912" cy="133350"/>
          </a:xfrm>
          <a:prstGeom prst="rect">
            <a:avLst/>
          </a:prstGeom>
          <a:noFill/>
        </p:spPr>
        <p:txBody>
          <a:bodyPr wrap="square" lIns="0" tIns="0" rIns="0" bIns="0" anchor="t">
            <a:spAutoFit/>
          </a:bodyPr>
          <a:lstStyle/>
          <a:p>
            <a:pPr algn="l">
              <a:lnSpc>
                <a:spcPts val="1050"/>
              </a:lnSpc>
            </a:pPr>
            <a:r>
              <a:rPr sz="788" b="1" i="0" spc="15">
                <a:solidFill>
                  <a:srgbClr val="333231"/>
                </a:solidFill>
                <a:latin typeface="Calibri"/>
              </a:rPr>
              <a:t>Charles River Laboratories</a:t>
            </a:r>
          </a:p>
        </p:txBody>
      </p:sp>
      <p:sp>
        <p:nvSpPr>
          <p:cNvPr id="55" name="Text: +72.0%"/>
          <p:cNvSpPr txBox="1"/>
          <p:nvPr/>
        </p:nvSpPr>
        <p:spPr>
          <a:xfrm>
            <a:off x="6638925" y="2928938"/>
            <a:ext cx="566738" cy="161925"/>
          </a:xfrm>
          <a:prstGeom prst="rect">
            <a:avLst/>
          </a:prstGeom>
          <a:noFill/>
        </p:spPr>
        <p:txBody>
          <a:bodyPr wrap="square" lIns="0" tIns="0" rIns="0" bIns="0" anchor="t">
            <a:spAutoFit/>
          </a:bodyPr>
          <a:lstStyle/>
          <a:p>
            <a:pPr algn="r">
              <a:lnSpc>
                <a:spcPts val="1275"/>
              </a:lnSpc>
            </a:pPr>
            <a:r>
              <a:rPr sz="825" b="1" i="0" spc="15">
                <a:solidFill>
                  <a:srgbClr val="1B1A1A"/>
                </a:solidFill>
                <a:latin typeface="Calibri"/>
              </a:rPr>
              <a:t>+72.0%</a:t>
            </a:r>
          </a:p>
        </p:txBody>
      </p:sp>
      <p:sp>
        <p:nvSpPr>
          <p:cNvPr id="56" name="Rectangle 55"/>
          <p:cNvSpPr/>
          <p:nvPr/>
        </p:nvSpPr>
        <p:spPr>
          <a:xfrm>
            <a:off x="4933950" y="3419475"/>
            <a:ext cx="2257425" cy="9525"/>
          </a:xfrm>
          <a:prstGeom prst="rect">
            <a:avLst/>
          </a:prstGeom>
          <a:solidFill>
            <a:srgbClr val="E3DCD3"/>
          </a:solidFill>
          <a:ln>
            <a:noFill/>
          </a:ln>
          <a:effectLst/>
        </p:spPr>
        <p:txBody>
          <a:bodyPr rtlCol="0" anchor="ctr"/>
          <a:lstStyle/>
          <a:p>
            <a:pPr algn="ctr"/>
            <a:endParaRPr/>
          </a:p>
        </p:txBody>
      </p:sp>
      <p:sp>
        <p:nvSpPr>
          <p:cNvPr id="57" name="Rounded Rectangle 56"/>
          <p:cNvSpPr/>
          <p:nvPr/>
        </p:nvSpPr>
        <p:spPr>
          <a:xfrm>
            <a:off x="4933950" y="319087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58" name="Text: PNTG"/>
          <p:cNvSpPr txBox="1"/>
          <p:nvPr/>
        </p:nvSpPr>
        <p:spPr>
          <a:xfrm>
            <a:off x="4933950" y="319087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PNTG</a:t>
            </a:r>
          </a:p>
        </p:txBody>
      </p:sp>
      <p:sp>
        <p:nvSpPr>
          <p:cNvPr id="59" name="Text: Pennant Group"/>
          <p:cNvSpPr txBox="1"/>
          <p:nvPr/>
        </p:nvSpPr>
        <p:spPr>
          <a:xfrm>
            <a:off x="5372100" y="3219450"/>
            <a:ext cx="1204912" cy="133350"/>
          </a:xfrm>
          <a:prstGeom prst="rect">
            <a:avLst/>
          </a:prstGeom>
          <a:noFill/>
        </p:spPr>
        <p:txBody>
          <a:bodyPr wrap="square" lIns="0" tIns="0" rIns="0" bIns="0" anchor="t">
            <a:spAutoFit/>
          </a:bodyPr>
          <a:lstStyle/>
          <a:p>
            <a:pPr algn="l">
              <a:lnSpc>
                <a:spcPts val="1050"/>
              </a:lnSpc>
            </a:pPr>
            <a:r>
              <a:rPr sz="788" b="1" i="0" spc="15">
                <a:solidFill>
                  <a:srgbClr val="333231"/>
                </a:solidFill>
                <a:latin typeface="Calibri"/>
              </a:rPr>
              <a:t>Pennant Group</a:t>
            </a:r>
          </a:p>
        </p:txBody>
      </p:sp>
      <p:sp>
        <p:nvSpPr>
          <p:cNvPr id="60" name="Text: +56.1%"/>
          <p:cNvSpPr txBox="1"/>
          <p:nvPr/>
        </p:nvSpPr>
        <p:spPr>
          <a:xfrm>
            <a:off x="6638925" y="3205162"/>
            <a:ext cx="566738" cy="161925"/>
          </a:xfrm>
          <a:prstGeom prst="rect">
            <a:avLst/>
          </a:prstGeom>
          <a:noFill/>
        </p:spPr>
        <p:txBody>
          <a:bodyPr wrap="square" lIns="0" tIns="0" rIns="0" bIns="0" anchor="t">
            <a:spAutoFit/>
          </a:bodyPr>
          <a:lstStyle/>
          <a:p>
            <a:pPr algn="r">
              <a:lnSpc>
                <a:spcPts val="1275"/>
              </a:lnSpc>
            </a:pPr>
            <a:r>
              <a:rPr sz="825" b="1" i="0" spc="15">
                <a:solidFill>
                  <a:srgbClr val="1B1A1A"/>
                </a:solidFill>
                <a:latin typeface="Calibri"/>
              </a:rPr>
              <a:t>+56.1%</a:t>
            </a:r>
          </a:p>
        </p:txBody>
      </p:sp>
      <p:sp>
        <p:nvSpPr>
          <p:cNvPr id="61" name="Rectangle 60"/>
          <p:cNvSpPr/>
          <p:nvPr/>
        </p:nvSpPr>
        <p:spPr>
          <a:xfrm>
            <a:off x="4933950" y="3695700"/>
            <a:ext cx="2257425" cy="9525"/>
          </a:xfrm>
          <a:prstGeom prst="rect">
            <a:avLst/>
          </a:prstGeom>
          <a:solidFill>
            <a:srgbClr val="E3DCD3"/>
          </a:solidFill>
          <a:ln>
            <a:noFill/>
          </a:ln>
          <a:effectLst/>
        </p:spPr>
        <p:txBody>
          <a:bodyPr rtlCol="0" anchor="ctr"/>
          <a:lstStyle/>
          <a:p>
            <a:pPr algn="ctr"/>
            <a:endParaRPr/>
          </a:p>
        </p:txBody>
      </p:sp>
      <p:sp>
        <p:nvSpPr>
          <p:cNvPr id="62" name="Rounded Rectangle 61"/>
          <p:cNvSpPr/>
          <p:nvPr/>
        </p:nvSpPr>
        <p:spPr>
          <a:xfrm>
            <a:off x="4933950" y="3467100"/>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63" name="Text: CAH"/>
          <p:cNvSpPr txBox="1"/>
          <p:nvPr/>
        </p:nvSpPr>
        <p:spPr>
          <a:xfrm>
            <a:off x="4933950" y="3467100"/>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CAH</a:t>
            </a:r>
          </a:p>
        </p:txBody>
      </p:sp>
      <p:sp>
        <p:nvSpPr>
          <p:cNvPr id="64" name="Text: Cardinal Health"/>
          <p:cNvSpPr txBox="1"/>
          <p:nvPr/>
        </p:nvSpPr>
        <p:spPr>
          <a:xfrm>
            <a:off x="5372100" y="3495675"/>
            <a:ext cx="1204912" cy="133350"/>
          </a:xfrm>
          <a:prstGeom prst="rect">
            <a:avLst/>
          </a:prstGeom>
          <a:noFill/>
        </p:spPr>
        <p:txBody>
          <a:bodyPr wrap="square" lIns="0" tIns="0" rIns="0" bIns="0" anchor="t">
            <a:spAutoFit/>
          </a:bodyPr>
          <a:lstStyle/>
          <a:p>
            <a:pPr algn="l">
              <a:lnSpc>
                <a:spcPts val="1050"/>
              </a:lnSpc>
            </a:pPr>
            <a:r>
              <a:rPr sz="788" b="1" i="0" spc="15">
                <a:solidFill>
                  <a:srgbClr val="333231"/>
                </a:solidFill>
                <a:latin typeface="Calibri"/>
              </a:rPr>
              <a:t>Cardinal Health</a:t>
            </a:r>
          </a:p>
        </p:txBody>
      </p:sp>
      <p:sp>
        <p:nvSpPr>
          <p:cNvPr id="65" name="Text: +51.7%"/>
          <p:cNvSpPr txBox="1"/>
          <p:nvPr/>
        </p:nvSpPr>
        <p:spPr>
          <a:xfrm>
            <a:off x="6638925" y="3481388"/>
            <a:ext cx="566738" cy="161925"/>
          </a:xfrm>
          <a:prstGeom prst="rect">
            <a:avLst/>
          </a:prstGeom>
          <a:noFill/>
        </p:spPr>
        <p:txBody>
          <a:bodyPr wrap="square" lIns="0" tIns="0" rIns="0" bIns="0" anchor="t">
            <a:spAutoFit/>
          </a:bodyPr>
          <a:lstStyle/>
          <a:p>
            <a:pPr algn="r">
              <a:lnSpc>
                <a:spcPts val="1275"/>
              </a:lnSpc>
            </a:pPr>
            <a:r>
              <a:rPr sz="825" b="1" i="0" spc="15">
                <a:solidFill>
                  <a:srgbClr val="1B1A1A"/>
                </a:solidFill>
                <a:latin typeface="Calibri"/>
              </a:rPr>
              <a:t>+51.7%</a:t>
            </a:r>
          </a:p>
        </p:txBody>
      </p:sp>
      <p:sp>
        <p:nvSpPr>
          <p:cNvPr id="66" name="Rectangle 65"/>
          <p:cNvSpPr/>
          <p:nvPr/>
        </p:nvSpPr>
        <p:spPr>
          <a:xfrm>
            <a:off x="4933950" y="3971925"/>
            <a:ext cx="2257425" cy="9525"/>
          </a:xfrm>
          <a:prstGeom prst="rect">
            <a:avLst/>
          </a:prstGeom>
          <a:solidFill>
            <a:srgbClr val="E3DCD3"/>
          </a:solidFill>
          <a:ln>
            <a:noFill/>
          </a:ln>
          <a:effectLst/>
        </p:spPr>
        <p:txBody>
          <a:bodyPr rtlCol="0" anchor="ctr"/>
          <a:lstStyle/>
          <a:p>
            <a:pPr algn="ctr"/>
            <a:endParaRPr/>
          </a:p>
        </p:txBody>
      </p:sp>
      <p:sp>
        <p:nvSpPr>
          <p:cNvPr id="67" name="Rounded Rectangle 66"/>
          <p:cNvSpPr/>
          <p:nvPr/>
        </p:nvSpPr>
        <p:spPr>
          <a:xfrm>
            <a:off x="4933950" y="374332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68" name="Text: DVA"/>
          <p:cNvSpPr txBox="1"/>
          <p:nvPr/>
        </p:nvSpPr>
        <p:spPr>
          <a:xfrm>
            <a:off x="4933950" y="374332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DVA</a:t>
            </a:r>
          </a:p>
        </p:txBody>
      </p:sp>
      <p:sp>
        <p:nvSpPr>
          <p:cNvPr id="69" name="Text: DaVita"/>
          <p:cNvSpPr txBox="1"/>
          <p:nvPr/>
        </p:nvSpPr>
        <p:spPr>
          <a:xfrm>
            <a:off x="5372100" y="3771900"/>
            <a:ext cx="1204912" cy="133350"/>
          </a:xfrm>
          <a:prstGeom prst="rect">
            <a:avLst/>
          </a:prstGeom>
          <a:noFill/>
        </p:spPr>
        <p:txBody>
          <a:bodyPr wrap="square" lIns="0" tIns="0" rIns="0" bIns="0" anchor="t">
            <a:spAutoFit/>
          </a:bodyPr>
          <a:lstStyle/>
          <a:p>
            <a:pPr algn="l">
              <a:lnSpc>
                <a:spcPts val="1050"/>
              </a:lnSpc>
            </a:pPr>
            <a:r>
              <a:rPr sz="788" b="1" i="0" spc="15">
                <a:solidFill>
                  <a:srgbClr val="333231"/>
                </a:solidFill>
                <a:latin typeface="Calibri"/>
              </a:rPr>
              <a:t>DaVita</a:t>
            </a:r>
          </a:p>
        </p:txBody>
      </p:sp>
      <p:sp>
        <p:nvSpPr>
          <p:cNvPr id="70" name="Text: +37.4%"/>
          <p:cNvSpPr txBox="1"/>
          <p:nvPr/>
        </p:nvSpPr>
        <p:spPr>
          <a:xfrm>
            <a:off x="6638925" y="3757612"/>
            <a:ext cx="566738" cy="161925"/>
          </a:xfrm>
          <a:prstGeom prst="rect">
            <a:avLst/>
          </a:prstGeom>
          <a:noFill/>
        </p:spPr>
        <p:txBody>
          <a:bodyPr wrap="square" lIns="0" tIns="0" rIns="0" bIns="0" anchor="t">
            <a:spAutoFit/>
          </a:bodyPr>
          <a:lstStyle/>
          <a:p>
            <a:pPr algn="r">
              <a:lnSpc>
                <a:spcPts val="1275"/>
              </a:lnSpc>
            </a:pPr>
            <a:r>
              <a:rPr sz="825" b="1" i="0" spc="15">
                <a:solidFill>
                  <a:srgbClr val="1B1A1A"/>
                </a:solidFill>
                <a:latin typeface="Calibri"/>
              </a:rPr>
              <a:t>+37.4%</a:t>
            </a:r>
          </a:p>
        </p:txBody>
      </p:sp>
      <p:sp>
        <p:nvSpPr>
          <p:cNvPr id="71" name="Rectangle 70"/>
          <p:cNvSpPr/>
          <p:nvPr/>
        </p:nvSpPr>
        <p:spPr>
          <a:xfrm>
            <a:off x="4933950" y="4248150"/>
            <a:ext cx="2257425" cy="9525"/>
          </a:xfrm>
          <a:prstGeom prst="rect">
            <a:avLst/>
          </a:prstGeom>
          <a:solidFill>
            <a:srgbClr val="E3DCD3"/>
          </a:solidFill>
          <a:ln>
            <a:noFill/>
          </a:ln>
          <a:effectLst/>
        </p:spPr>
        <p:txBody>
          <a:bodyPr rtlCol="0" anchor="ctr"/>
          <a:lstStyle/>
          <a:p>
            <a:pPr algn="ctr"/>
            <a:endParaRPr/>
          </a:p>
        </p:txBody>
      </p:sp>
      <p:sp>
        <p:nvSpPr>
          <p:cNvPr id="72" name="Rounded Rectangle 71"/>
          <p:cNvSpPr/>
          <p:nvPr/>
        </p:nvSpPr>
        <p:spPr>
          <a:xfrm>
            <a:off x="4933950" y="4019550"/>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73" name="Text: VMD"/>
          <p:cNvSpPr txBox="1"/>
          <p:nvPr/>
        </p:nvSpPr>
        <p:spPr>
          <a:xfrm>
            <a:off x="4933950" y="4019550"/>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VMD</a:t>
            </a:r>
          </a:p>
        </p:txBody>
      </p:sp>
      <p:sp>
        <p:nvSpPr>
          <p:cNvPr id="74" name="Text: Viemed Healthcare"/>
          <p:cNvSpPr txBox="1"/>
          <p:nvPr/>
        </p:nvSpPr>
        <p:spPr>
          <a:xfrm>
            <a:off x="5372100" y="4048125"/>
            <a:ext cx="1204912" cy="133350"/>
          </a:xfrm>
          <a:prstGeom prst="rect">
            <a:avLst/>
          </a:prstGeom>
          <a:noFill/>
        </p:spPr>
        <p:txBody>
          <a:bodyPr wrap="square" lIns="0" tIns="0" rIns="0" bIns="0" anchor="t">
            <a:spAutoFit/>
          </a:bodyPr>
          <a:lstStyle/>
          <a:p>
            <a:pPr algn="l">
              <a:lnSpc>
                <a:spcPts val="1050"/>
              </a:lnSpc>
            </a:pPr>
            <a:r>
              <a:rPr sz="788" b="1" i="0" spc="15">
                <a:solidFill>
                  <a:srgbClr val="333231"/>
                </a:solidFill>
                <a:latin typeface="Calibri"/>
              </a:rPr>
              <a:t>Viemed Healthcare</a:t>
            </a:r>
          </a:p>
        </p:txBody>
      </p:sp>
      <p:sp>
        <p:nvSpPr>
          <p:cNvPr id="75" name="Text: +31.8%"/>
          <p:cNvSpPr txBox="1"/>
          <p:nvPr/>
        </p:nvSpPr>
        <p:spPr>
          <a:xfrm>
            <a:off x="6638925" y="4033838"/>
            <a:ext cx="566738" cy="161925"/>
          </a:xfrm>
          <a:prstGeom prst="rect">
            <a:avLst/>
          </a:prstGeom>
          <a:noFill/>
        </p:spPr>
        <p:txBody>
          <a:bodyPr wrap="square" lIns="0" tIns="0" rIns="0" bIns="0" anchor="t">
            <a:spAutoFit/>
          </a:bodyPr>
          <a:lstStyle/>
          <a:p>
            <a:pPr algn="r">
              <a:lnSpc>
                <a:spcPts val="1275"/>
              </a:lnSpc>
            </a:pPr>
            <a:r>
              <a:rPr sz="825" b="1" i="0" spc="15">
                <a:solidFill>
                  <a:srgbClr val="1B1A1A"/>
                </a:solidFill>
                <a:latin typeface="Calibri"/>
              </a:rPr>
              <a:t>+31.8%</a:t>
            </a:r>
          </a:p>
        </p:txBody>
      </p:sp>
      <p:sp>
        <p:nvSpPr>
          <p:cNvPr id="76" name="Rectangle 75"/>
          <p:cNvSpPr/>
          <p:nvPr/>
        </p:nvSpPr>
        <p:spPr>
          <a:xfrm>
            <a:off x="4933950" y="4524375"/>
            <a:ext cx="2257425" cy="9525"/>
          </a:xfrm>
          <a:prstGeom prst="rect">
            <a:avLst/>
          </a:prstGeom>
          <a:solidFill>
            <a:srgbClr val="E3DCD3"/>
          </a:solidFill>
          <a:ln>
            <a:noFill/>
          </a:ln>
          <a:effectLst/>
        </p:spPr>
        <p:txBody>
          <a:bodyPr rtlCol="0" anchor="ctr"/>
          <a:lstStyle/>
          <a:p>
            <a:pPr algn="ctr"/>
            <a:endParaRPr/>
          </a:p>
        </p:txBody>
      </p:sp>
      <p:sp>
        <p:nvSpPr>
          <p:cNvPr id="77" name="Rounded Rectangle 76"/>
          <p:cNvSpPr/>
          <p:nvPr/>
        </p:nvSpPr>
        <p:spPr>
          <a:xfrm>
            <a:off x="4933950" y="429577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78" name="Text: THC"/>
          <p:cNvSpPr txBox="1"/>
          <p:nvPr/>
        </p:nvSpPr>
        <p:spPr>
          <a:xfrm>
            <a:off x="4933950" y="429577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THC</a:t>
            </a:r>
          </a:p>
        </p:txBody>
      </p:sp>
      <p:sp>
        <p:nvSpPr>
          <p:cNvPr id="79" name="Text: Tenet Healthcare"/>
          <p:cNvSpPr txBox="1"/>
          <p:nvPr/>
        </p:nvSpPr>
        <p:spPr>
          <a:xfrm>
            <a:off x="5372100" y="4324350"/>
            <a:ext cx="1204912" cy="133350"/>
          </a:xfrm>
          <a:prstGeom prst="rect">
            <a:avLst/>
          </a:prstGeom>
          <a:noFill/>
        </p:spPr>
        <p:txBody>
          <a:bodyPr wrap="square" lIns="0" tIns="0" rIns="0" bIns="0" anchor="t">
            <a:spAutoFit/>
          </a:bodyPr>
          <a:lstStyle/>
          <a:p>
            <a:pPr algn="l">
              <a:lnSpc>
                <a:spcPts val="1050"/>
              </a:lnSpc>
            </a:pPr>
            <a:r>
              <a:rPr sz="788" b="1" i="0" spc="15">
                <a:solidFill>
                  <a:srgbClr val="333231"/>
                </a:solidFill>
                <a:latin typeface="Calibri"/>
              </a:rPr>
              <a:t>Tenet Healthcare</a:t>
            </a:r>
          </a:p>
        </p:txBody>
      </p:sp>
      <p:sp>
        <p:nvSpPr>
          <p:cNvPr id="80" name="Text: +27.3%"/>
          <p:cNvSpPr txBox="1"/>
          <p:nvPr/>
        </p:nvSpPr>
        <p:spPr>
          <a:xfrm>
            <a:off x="6638925" y="4310062"/>
            <a:ext cx="566738" cy="161925"/>
          </a:xfrm>
          <a:prstGeom prst="rect">
            <a:avLst/>
          </a:prstGeom>
          <a:noFill/>
        </p:spPr>
        <p:txBody>
          <a:bodyPr wrap="square" lIns="0" tIns="0" rIns="0" bIns="0" anchor="t">
            <a:spAutoFit/>
          </a:bodyPr>
          <a:lstStyle/>
          <a:p>
            <a:pPr algn="r">
              <a:lnSpc>
                <a:spcPts val="1275"/>
              </a:lnSpc>
            </a:pPr>
            <a:r>
              <a:rPr sz="825" b="1" i="0" spc="15">
                <a:solidFill>
                  <a:srgbClr val="1B1A1A"/>
                </a:solidFill>
                <a:latin typeface="Calibri"/>
              </a:rPr>
              <a:t>+27.3%</a:t>
            </a:r>
          </a:p>
        </p:txBody>
      </p:sp>
      <p:sp>
        <p:nvSpPr>
          <p:cNvPr id="81" name="Rectangle 80"/>
          <p:cNvSpPr/>
          <p:nvPr/>
        </p:nvSpPr>
        <p:spPr>
          <a:xfrm>
            <a:off x="4933950" y="4800600"/>
            <a:ext cx="2257425" cy="9525"/>
          </a:xfrm>
          <a:prstGeom prst="rect">
            <a:avLst/>
          </a:prstGeom>
          <a:solidFill>
            <a:srgbClr val="E3DCD3"/>
          </a:solidFill>
          <a:ln>
            <a:noFill/>
          </a:ln>
          <a:effectLst/>
        </p:spPr>
        <p:txBody>
          <a:bodyPr rtlCol="0" anchor="ctr"/>
          <a:lstStyle/>
          <a:p>
            <a:pPr algn="ctr"/>
            <a:endParaRPr/>
          </a:p>
        </p:txBody>
      </p:sp>
      <p:sp>
        <p:nvSpPr>
          <p:cNvPr id="82" name="Rounded Rectangle 81"/>
          <p:cNvSpPr/>
          <p:nvPr/>
        </p:nvSpPr>
        <p:spPr>
          <a:xfrm>
            <a:off x="4933950" y="4572000"/>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83" name="Text: DGX"/>
          <p:cNvSpPr txBox="1"/>
          <p:nvPr/>
        </p:nvSpPr>
        <p:spPr>
          <a:xfrm>
            <a:off x="4933950" y="4572000"/>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DGX</a:t>
            </a:r>
          </a:p>
        </p:txBody>
      </p:sp>
      <p:sp>
        <p:nvSpPr>
          <p:cNvPr id="84" name="Text: Quest Diagnostics"/>
          <p:cNvSpPr txBox="1"/>
          <p:nvPr/>
        </p:nvSpPr>
        <p:spPr>
          <a:xfrm>
            <a:off x="5372100" y="4600575"/>
            <a:ext cx="1204912" cy="133350"/>
          </a:xfrm>
          <a:prstGeom prst="rect">
            <a:avLst/>
          </a:prstGeom>
          <a:noFill/>
        </p:spPr>
        <p:txBody>
          <a:bodyPr wrap="square" lIns="0" tIns="0" rIns="0" bIns="0" anchor="t">
            <a:spAutoFit/>
          </a:bodyPr>
          <a:lstStyle/>
          <a:p>
            <a:pPr algn="l">
              <a:lnSpc>
                <a:spcPts val="1050"/>
              </a:lnSpc>
            </a:pPr>
            <a:r>
              <a:rPr sz="788" b="1" i="0" spc="15">
                <a:solidFill>
                  <a:srgbClr val="333231"/>
                </a:solidFill>
                <a:latin typeface="Calibri"/>
              </a:rPr>
              <a:t>Quest Diagnostics</a:t>
            </a:r>
          </a:p>
        </p:txBody>
      </p:sp>
      <p:sp>
        <p:nvSpPr>
          <p:cNvPr id="85" name="Text: +26.6%"/>
          <p:cNvSpPr txBox="1"/>
          <p:nvPr/>
        </p:nvSpPr>
        <p:spPr>
          <a:xfrm>
            <a:off x="6638925" y="4586288"/>
            <a:ext cx="566738" cy="161925"/>
          </a:xfrm>
          <a:prstGeom prst="rect">
            <a:avLst/>
          </a:prstGeom>
          <a:noFill/>
        </p:spPr>
        <p:txBody>
          <a:bodyPr wrap="square" lIns="0" tIns="0" rIns="0" bIns="0" anchor="t">
            <a:spAutoFit/>
          </a:bodyPr>
          <a:lstStyle/>
          <a:p>
            <a:pPr algn="r">
              <a:lnSpc>
                <a:spcPts val="1275"/>
              </a:lnSpc>
            </a:pPr>
            <a:r>
              <a:rPr sz="825" b="1" i="0" spc="15">
                <a:solidFill>
                  <a:srgbClr val="1B1A1A"/>
                </a:solidFill>
                <a:latin typeface="Calibri"/>
              </a:rPr>
              <a:t>+26.6%</a:t>
            </a:r>
          </a:p>
        </p:txBody>
      </p:sp>
      <p:sp>
        <p:nvSpPr>
          <p:cNvPr id="86" name="Rectangle 85"/>
          <p:cNvSpPr/>
          <p:nvPr/>
        </p:nvSpPr>
        <p:spPr>
          <a:xfrm>
            <a:off x="4933950" y="5076825"/>
            <a:ext cx="2257425" cy="9525"/>
          </a:xfrm>
          <a:prstGeom prst="rect">
            <a:avLst/>
          </a:prstGeom>
          <a:solidFill>
            <a:srgbClr val="E3DCD3"/>
          </a:solidFill>
          <a:ln>
            <a:noFill/>
          </a:ln>
          <a:effectLst/>
        </p:spPr>
        <p:txBody>
          <a:bodyPr rtlCol="0" anchor="ctr"/>
          <a:lstStyle/>
          <a:p>
            <a:pPr algn="ctr"/>
            <a:endParaRPr/>
          </a:p>
        </p:txBody>
      </p:sp>
      <p:sp>
        <p:nvSpPr>
          <p:cNvPr id="87" name="Rounded Rectangle 86"/>
          <p:cNvSpPr/>
          <p:nvPr/>
        </p:nvSpPr>
        <p:spPr>
          <a:xfrm>
            <a:off x="4933950" y="484822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88" name="Text: HSIC"/>
          <p:cNvSpPr txBox="1"/>
          <p:nvPr/>
        </p:nvSpPr>
        <p:spPr>
          <a:xfrm>
            <a:off x="4933950" y="484822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HSIC</a:t>
            </a:r>
          </a:p>
        </p:txBody>
      </p:sp>
      <p:sp>
        <p:nvSpPr>
          <p:cNvPr id="89" name="Text: Henry Schein"/>
          <p:cNvSpPr txBox="1"/>
          <p:nvPr/>
        </p:nvSpPr>
        <p:spPr>
          <a:xfrm>
            <a:off x="5372100" y="4876800"/>
            <a:ext cx="1204912" cy="133350"/>
          </a:xfrm>
          <a:prstGeom prst="rect">
            <a:avLst/>
          </a:prstGeom>
          <a:noFill/>
        </p:spPr>
        <p:txBody>
          <a:bodyPr wrap="square" lIns="0" tIns="0" rIns="0" bIns="0" anchor="t">
            <a:spAutoFit/>
          </a:bodyPr>
          <a:lstStyle/>
          <a:p>
            <a:pPr algn="l">
              <a:lnSpc>
                <a:spcPts val="1050"/>
              </a:lnSpc>
            </a:pPr>
            <a:r>
              <a:rPr sz="788" b="1" i="0" spc="15">
                <a:solidFill>
                  <a:srgbClr val="333231"/>
                </a:solidFill>
                <a:latin typeface="Calibri"/>
              </a:rPr>
              <a:t>Henry Schein</a:t>
            </a:r>
          </a:p>
        </p:txBody>
      </p:sp>
      <p:sp>
        <p:nvSpPr>
          <p:cNvPr id="90" name="Text: +26.4%"/>
          <p:cNvSpPr txBox="1"/>
          <p:nvPr/>
        </p:nvSpPr>
        <p:spPr>
          <a:xfrm>
            <a:off x="6638925" y="4862512"/>
            <a:ext cx="566738" cy="161925"/>
          </a:xfrm>
          <a:prstGeom prst="rect">
            <a:avLst/>
          </a:prstGeom>
          <a:noFill/>
        </p:spPr>
        <p:txBody>
          <a:bodyPr wrap="square" lIns="0" tIns="0" rIns="0" bIns="0" anchor="t">
            <a:spAutoFit/>
          </a:bodyPr>
          <a:lstStyle/>
          <a:p>
            <a:pPr algn="r">
              <a:lnSpc>
                <a:spcPts val="1275"/>
              </a:lnSpc>
            </a:pPr>
            <a:r>
              <a:rPr sz="825" b="1" i="0" spc="15">
                <a:solidFill>
                  <a:srgbClr val="1B1A1A"/>
                </a:solidFill>
                <a:latin typeface="Calibri"/>
              </a:rPr>
              <a:t>+26.4%</a:t>
            </a:r>
          </a:p>
        </p:txBody>
      </p:sp>
      <p:sp>
        <p:nvSpPr>
          <p:cNvPr id="91" name="Rectangle 90"/>
          <p:cNvSpPr/>
          <p:nvPr/>
        </p:nvSpPr>
        <p:spPr>
          <a:xfrm>
            <a:off x="4933950" y="5353050"/>
            <a:ext cx="2257425" cy="9525"/>
          </a:xfrm>
          <a:prstGeom prst="rect">
            <a:avLst/>
          </a:prstGeom>
          <a:solidFill>
            <a:srgbClr val="E3DCD3"/>
          </a:solidFill>
          <a:ln>
            <a:noFill/>
          </a:ln>
          <a:effectLst/>
        </p:spPr>
        <p:txBody>
          <a:bodyPr rtlCol="0" anchor="ctr"/>
          <a:lstStyle/>
          <a:p>
            <a:pPr algn="ctr"/>
            <a:endParaRPr/>
          </a:p>
        </p:txBody>
      </p:sp>
      <p:sp>
        <p:nvSpPr>
          <p:cNvPr id="92" name="Rounded Rectangle 91"/>
          <p:cNvSpPr/>
          <p:nvPr/>
        </p:nvSpPr>
        <p:spPr>
          <a:xfrm>
            <a:off x="4933950" y="5124450"/>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93" name="Text: IQV"/>
          <p:cNvSpPr txBox="1"/>
          <p:nvPr/>
        </p:nvSpPr>
        <p:spPr>
          <a:xfrm>
            <a:off x="4933950" y="5124450"/>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IQV</a:t>
            </a:r>
          </a:p>
        </p:txBody>
      </p:sp>
      <p:sp>
        <p:nvSpPr>
          <p:cNvPr id="94" name="Text: IQVIA"/>
          <p:cNvSpPr txBox="1"/>
          <p:nvPr/>
        </p:nvSpPr>
        <p:spPr>
          <a:xfrm>
            <a:off x="5372100" y="5153025"/>
            <a:ext cx="1204912" cy="133350"/>
          </a:xfrm>
          <a:prstGeom prst="rect">
            <a:avLst/>
          </a:prstGeom>
          <a:noFill/>
        </p:spPr>
        <p:txBody>
          <a:bodyPr wrap="square" lIns="0" tIns="0" rIns="0" bIns="0" anchor="t">
            <a:spAutoFit/>
          </a:bodyPr>
          <a:lstStyle/>
          <a:p>
            <a:pPr algn="l">
              <a:lnSpc>
                <a:spcPts val="1050"/>
              </a:lnSpc>
            </a:pPr>
            <a:r>
              <a:rPr sz="788" b="1" i="0" spc="15">
                <a:solidFill>
                  <a:srgbClr val="333231"/>
                </a:solidFill>
                <a:latin typeface="Calibri"/>
              </a:rPr>
              <a:t>IQVIA</a:t>
            </a:r>
          </a:p>
        </p:txBody>
      </p:sp>
      <p:sp>
        <p:nvSpPr>
          <p:cNvPr id="95" name="Text: +25.8%"/>
          <p:cNvSpPr txBox="1"/>
          <p:nvPr/>
        </p:nvSpPr>
        <p:spPr>
          <a:xfrm>
            <a:off x="6638925" y="5138738"/>
            <a:ext cx="566738" cy="161925"/>
          </a:xfrm>
          <a:prstGeom prst="rect">
            <a:avLst/>
          </a:prstGeom>
          <a:noFill/>
        </p:spPr>
        <p:txBody>
          <a:bodyPr wrap="square" lIns="0" tIns="0" rIns="0" bIns="0" anchor="t">
            <a:spAutoFit/>
          </a:bodyPr>
          <a:lstStyle/>
          <a:p>
            <a:pPr algn="r">
              <a:lnSpc>
                <a:spcPts val="1275"/>
              </a:lnSpc>
            </a:pPr>
            <a:r>
              <a:rPr sz="825" b="1" i="0" spc="15">
                <a:solidFill>
                  <a:srgbClr val="1B1A1A"/>
                </a:solidFill>
                <a:latin typeface="Calibri"/>
              </a:rPr>
              <a:t>+25.8%</a:t>
            </a:r>
          </a:p>
        </p:txBody>
      </p:sp>
      <p:sp>
        <p:nvSpPr>
          <p:cNvPr id="96" name="Rectangle 95"/>
          <p:cNvSpPr/>
          <p:nvPr/>
        </p:nvSpPr>
        <p:spPr>
          <a:xfrm>
            <a:off x="4933950" y="5629275"/>
            <a:ext cx="2257425" cy="9525"/>
          </a:xfrm>
          <a:prstGeom prst="rect">
            <a:avLst/>
          </a:prstGeom>
          <a:solidFill>
            <a:srgbClr val="E3DCD3"/>
          </a:solidFill>
          <a:ln>
            <a:noFill/>
          </a:ln>
          <a:effectLst/>
        </p:spPr>
        <p:txBody>
          <a:bodyPr rtlCol="0" anchor="ctr"/>
          <a:lstStyle/>
          <a:p>
            <a:pPr algn="ctr"/>
            <a:endParaRPr/>
          </a:p>
        </p:txBody>
      </p:sp>
      <p:sp>
        <p:nvSpPr>
          <p:cNvPr id="97" name="Rounded Rectangle 96"/>
          <p:cNvSpPr/>
          <p:nvPr/>
        </p:nvSpPr>
        <p:spPr>
          <a:xfrm>
            <a:off x="4933950" y="540067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98" name="Text: MCK"/>
          <p:cNvSpPr txBox="1"/>
          <p:nvPr/>
        </p:nvSpPr>
        <p:spPr>
          <a:xfrm>
            <a:off x="4933950" y="540067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MCK</a:t>
            </a:r>
          </a:p>
        </p:txBody>
      </p:sp>
      <p:sp>
        <p:nvSpPr>
          <p:cNvPr id="99" name="Text: McKesson"/>
          <p:cNvSpPr txBox="1"/>
          <p:nvPr/>
        </p:nvSpPr>
        <p:spPr>
          <a:xfrm>
            <a:off x="5372100" y="5429250"/>
            <a:ext cx="1204912" cy="133350"/>
          </a:xfrm>
          <a:prstGeom prst="rect">
            <a:avLst/>
          </a:prstGeom>
          <a:noFill/>
        </p:spPr>
        <p:txBody>
          <a:bodyPr wrap="square" lIns="0" tIns="0" rIns="0" bIns="0" anchor="t">
            <a:spAutoFit/>
          </a:bodyPr>
          <a:lstStyle/>
          <a:p>
            <a:pPr algn="l">
              <a:lnSpc>
                <a:spcPts val="1050"/>
              </a:lnSpc>
            </a:pPr>
            <a:r>
              <a:rPr sz="788" b="1" i="0" spc="15">
                <a:solidFill>
                  <a:srgbClr val="333231"/>
                </a:solidFill>
                <a:latin typeface="Calibri"/>
              </a:rPr>
              <a:t>McKesson</a:t>
            </a:r>
          </a:p>
        </p:txBody>
      </p:sp>
      <p:sp>
        <p:nvSpPr>
          <p:cNvPr id="100" name="Text: +25.1%"/>
          <p:cNvSpPr txBox="1"/>
          <p:nvPr/>
        </p:nvSpPr>
        <p:spPr>
          <a:xfrm>
            <a:off x="6638925" y="5414962"/>
            <a:ext cx="566738" cy="161925"/>
          </a:xfrm>
          <a:prstGeom prst="rect">
            <a:avLst/>
          </a:prstGeom>
          <a:noFill/>
        </p:spPr>
        <p:txBody>
          <a:bodyPr wrap="square" lIns="0" tIns="0" rIns="0" bIns="0" anchor="t">
            <a:spAutoFit/>
          </a:bodyPr>
          <a:lstStyle/>
          <a:p>
            <a:pPr algn="r">
              <a:lnSpc>
                <a:spcPts val="1275"/>
              </a:lnSpc>
            </a:pPr>
            <a:r>
              <a:rPr sz="825" b="1" i="0" spc="15">
                <a:solidFill>
                  <a:srgbClr val="1B1A1A"/>
                </a:solidFill>
                <a:latin typeface="Calibri"/>
              </a:rPr>
              <a:t>+25.1%</a:t>
            </a:r>
          </a:p>
        </p:txBody>
      </p:sp>
      <p:sp>
        <p:nvSpPr>
          <p:cNvPr id="101" name="Rectangle 100"/>
          <p:cNvSpPr/>
          <p:nvPr/>
        </p:nvSpPr>
        <p:spPr>
          <a:xfrm>
            <a:off x="4933950" y="5905500"/>
            <a:ext cx="2257425" cy="9525"/>
          </a:xfrm>
          <a:prstGeom prst="rect">
            <a:avLst/>
          </a:prstGeom>
          <a:solidFill>
            <a:srgbClr val="E3DCD3"/>
          </a:solidFill>
          <a:ln>
            <a:noFill/>
          </a:ln>
          <a:effectLst/>
        </p:spPr>
        <p:txBody>
          <a:bodyPr rtlCol="0" anchor="ctr"/>
          <a:lstStyle/>
          <a:p>
            <a:pPr algn="ctr"/>
            <a:endParaRPr/>
          </a:p>
        </p:txBody>
      </p:sp>
      <p:sp>
        <p:nvSpPr>
          <p:cNvPr id="102" name="Rounded Rectangle 101"/>
          <p:cNvSpPr/>
          <p:nvPr/>
        </p:nvSpPr>
        <p:spPr>
          <a:xfrm>
            <a:off x="4933950" y="5676900"/>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103" name="Text: ITGR"/>
          <p:cNvSpPr txBox="1"/>
          <p:nvPr/>
        </p:nvSpPr>
        <p:spPr>
          <a:xfrm>
            <a:off x="4933950" y="5676900"/>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ITGR</a:t>
            </a:r>
          </a:p>
        </p:txBody>
      </p:sp>
      <p:sp>
        <p:nvSpPr>
          <p:cNvPr id="104" name="Text: Integer Holdings"/>
          <p:cNvSpPr txBox="1"/>
          <p:nvPr/>
        </p:nvSpPr>
        <p:spPr>
          <a:xfrm>
            <a:off x="5372100" y="5705475"/>
            <a:ext cx="1204912" cy="133350"/>
          </a:xfrm>
          <a:prstGeom prst="rect">
            <a:avLst/>
          </a:prstGeom>
          <a:noFill/>
        </p:spPr>
        <p:txBody>
          <a:bodyPr wrap="square" lIns="0" tIns="0" rIns="0" bIns="0" anchor="t">
            <a:spAutoFit/>
          </a:bodyPr>
          <a:lstStyle/>
          <a:p>
            <a:pPr algn="l">
              <a:lnSpc>
                <a:spcPts val="1050"/>
              </a:lnSpc>
            </a:pPr>
            <a:r>
              <a:rPr sz="788" b="1" i="0" spc="15">
                <a:solidFill>
                  <a:srgbClr val="333231"/>
                </a:solidFill>
                <a:latin typeface="Calibri"/>
              </a:rPr>
              <a:t>Integer Holdings</a:t>
            </a:r>
          </a:p>
        </p:txBody>
      </p:sp>
      <p:sp>
        <p:nvSpPr>
          <p:cNvPr id="105" name="Text: +22.9%"/>
          <p:cNvSpPr txBox="1"/>
          <p:nvPr/>
        </p:nvSpPr>
        <p:spPr>
          <a:xfrm>
            <a:off x="6638925" y="5691188"/>
            <a:ext cx="566738" cy="161925"/>
          </a:xfrm>
          <a:prstGeom prst="rect">
            <a:avLst/>
          </a:prstGeom>
          <a:noFill/>
        </p:spPr>
        <p:txBody>
          <a:bodyPr wrap="square" lIns="0" tIns="0" rIns="0" bIns="0" anchor="t">
            <a:spAutoFit/>
          </a:bodyPr>
          <a:lstStyle/>
          <a:p>
            <a:pPr algn="r">
              <a:lnSpc>
                <a:spcPts val="1275"/>
              </a:lnSpc>
            </a:pPr>
            <a:r>
              <a:rPr sz="825" b="1" i="0" spc="15">
                <a:solidFill>
                  <a:srgbClr val="1B1A1A"/>
                </a:solidFill>
                <a:latin typeface="Calibri"/>
              </a:rPr>
              <a:t>+22.9%</a:t>
            </a:r>
          </a:p>
        </p:txBody>
      </p:sp>
      <p:sp>
        <p:nvSpPr>
          <p:cNvPr id="106" name="Text: DECLINES, 52 WEEKS"/>
          <p:cNvSpPr txBox="1"/>
          <p:nvPr/>
        </p:nvSpPr>
        <p:spPr>
          <a:xfrm>
            <a:off x="7381875" y="1238250"/>
            <a:ext cx="2271712" cy="123825"/>
          </a:xfrm>
          <a:prstGeom prst="rect">
            <a:avLst/>
          </a:prstGeom>
          <a:noFill/>
        </p:spPr>
        <p:txBody>
          <a:bodyPr wrap="square" lIns="0" tIns="0" rIns="0" bIns="0" anchor="t">
            <a:spAutoFit/>
          </a:bodyPr>
          <a:lstStyle/>
          <a:p>
            <a:pPr algn="l">
              <a:lnSpc>
                <a:spcPts val="975"/>
              </a:lnSpc>
            </a:pPr>
            <a:r>
              <a:rPr sz="675" b="1" i="0" spc="150">
                <a:solidFill>
                  <a:srgbClr val="8C6239"/>
                </a:solidFill>
                <a:latin typeface="Calibri"/>
              </a:rPr>
              <a:t>DECLINES, 52 WEEKS</a:t>
            </a:r>
          </a:p>
        </p:txBody>
      </p:sp>
      <p:sp>
        <p:nvSpPr>
          <p:cNvPr id="107" name="Rectangle 106"/>
          <p:cNvSpPr/>
          <p:nvPr/>
        </p:nvSpPr>
        <p:spPr>
          <a:xfrm>
            <a:off x="7381875" y="1685925"/>
            <a:ext cx="2257425" cy="9525"/>
          </a:xfrm>
          <a:prstGeom prst="rect">
            <a:avLst/>
          </a:prstGeom>
          <a:solidFill>
            <a:srgbClr val="E3DCD3"/>
          </a:solidFill>
          <a:ln>
            <a:noFill/>
          </a:ln>
          <a:effectLst/>
        </p:spPr>
        <p:txBody>
          <a:bodyPr rtlCol="0" anchor="ctr"/>
          <a:lstStyle/>
          <a:p>
            <a:pPr algn="ctr"/>
            <a:endParaRPr/>
          </a:p>
        </p:txBody>
      </p:sp>
      <p:sp>
        <p:nvSpPr>
          <p:cNvPr id="108" name="Rounded Rectangle 107"/>
          <p:cNvSpPr/>
          <p:nvPr/>
        </p:nvSpPr>
        <p:spPr>
          <a:xfrm>
            <a:off x="7381875" y="145732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109" name="Text: XRAY"/>
          <p:cNvSpPr txBox="1"/>
          <p:nvPr/>
        </p:nvSpPr>
        <p:spPr>
          <a:xfrm>
            <a:off x="7381875" y="145732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XRAY</a:t>
            </a:r>
          </a:p>
        </p:txBody>
      </p:sp>
      <p:sp>
        <p:nvSpPr>
          <p:cNvPr id="110" name="Text: Dentsply Sirona"/>
          <p:cNvSpPr txBox="1"/>
          <p:nvPr/>
        </p:nvSpPr>
        <p:spPr>
          <a:xfrm>
            <a:off x="7820025" y="1485900"/>
            <a:ext cx="1204912" cy="133350"/>
          </a:xfrm>
          <a:prstGeom prst="rect">
            <a:avLst/>
          </a:prstGeom>
          <a:noFill/>
        </p:spPr>
        <p:txBody>
          <a:bodyPr wrap="square" lIns="0" tIns="0" rIns="0" bIns="0" anchor="t">
            <a:spAutoFit/>
          </a:bodyPr>
          <a:lstStyle/>
          <a:p>
            <a:pPr algn="l">
              <a:lnSpc>
                <a:spcPts val="1050"/>
              </a:lnSpc>
            </a:pPr>
            <a:r>
              <a:rPr sz="788" b="1" i="0" spc="15">
                <a:solidFill>
                  <a:srgbClr val="333231"/>
                </a:solidFill>
                <a:latin typeface="Calibri"/>
              </a:rPr>
              <a:t>Dentsply Sirona</a:t>
            </a:r>
          </a:p>
        </p:txBody>
      </p:sp>
      <p:sp>
        <p:nvSpPr>
          <p:cNvPr id="111" name="Text: −27.0%"/>
          <p:cNvSpPr txBox="1"/>
          <p:nvPr/>
        </p:nvSpPr>
        <p:spPr>
          <a:xfrm>
            <a:off x="9086850" y="1471612"/>
            <a:ext cx="566738" cy="161925"/>
          </a:xfrm>
          <a:prstGeom prst="rect">
            <a:avLst/>
          </a:prstGeom>
          <a:noFill/>
        </p:spPr>
        <p:txBody>
          <a:bodyPr wrap="square" lIns="0" tIns="0" rIns="0" bIns="0" anchor="t">
            <a:spAutoFit/>
          </a:bodyPr>
          <a:lstStyle/>
          <a:p>
            <a:pPr algn="r">
              <a:lnSpc>
                <a:spcPts val="1275"/>
              </a:lnSpc>
            </a:pPr>
            <a:r>
              <a:rPr sz="825" b="1" i="0" spc="15">
                <a:solidFill>
                  <a:srgbClr val="8C6239"/>
                </a:solidFill>
                <a:latin typeface="Calibri"/>
              </a:rPr>
              <a:t>−27.0%</a:t>
            </a:r>
          </a:p>
        </p:txBody>
      </p:sp>
      <p:sp>
        <p:nvSpPr>
          <p:cNvPr id="112" name="Rectangle 111"/>
          <p:cNvSpPr/>
          <p:nvPr/>
        </p:nvSpPr>
        <p:spPr>
          <a:xfrm>
            <a:off x="7381875" y="1962150"/>
            <a:ext cx="2257425" cy="9525"/>
          </a:xfrm>
          <a:prstGeom prst="rect">
            <a:avLst/>
          </a:prstGeom>
          <a:solidFill>
            <a:srgbClr val="E3DCD3"/>
          </a:solidFill>
          <a:ln>
            <a:noFill/>
          </a:ln>
          <a:effectLst/>
        </p:spPr>
        <p:txBody>
          <a:bodyPr rtlCol="0" anchor="ctr"/>
          <a:lstStyle/>
          <a:p>
            <a:pPr algn="ctr"/>
            <a:endParaRPr/>
          </a:p>
        </p:txBody>
      </p:sp>
      <p:sp>
        <p:nvSpPr>
          <p:cNvPr id="113" name="Rounded Rectangle 112"/>
          <p:cNvSpPr/>
          <p:nvPr/>
        </p:nvSpPr>
        <p:spPr>
          <a:xfrm>
            <a:off x="7381875" y="1733550"/>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114" name="Text: SYK"/>
          <p:cNvSpPr txBox="1"/>
          <p:nvPr/>
        </p:nvSpPr>
        <p:spPr>
          <a:xfrm>
            <a:off x="7381875" y="1733550"/>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SYK</a:t>
            </a:r>
          </a:p>
        </p:txBody>
      </p:sp>
      <p:sp>
        <p:nvSpPr>
          <p:cNvPr id="115" name="Text: Stryker"/>
          <p:cNvSpPr txBox="1"/>
          <p:nvPr/>
        </p:nvSpPr>
        <p:spPr>
          <a:xfrm>
            <a:off x="7820025" y="1762125"/>
            <a:ext cx="1204912" cy="133350"/>
          </a:xfrm>
          <a:prstGeom prst="rect">
            <a:avLst/>
          </a:prstGeom>
          <a:noFill/>
        </p:spPr>
        <p:txBody>
          <a:bodyPr wrap="square" lIns="0" tIns="0" rIns="0" bIns="0" anchor="t">
            <a:spAutoFit/>
          </a:bodyPr>
          <a:lstStyle/>
          <a:p>
            <a:pPr algn="l">
              <a:lnSpc>
                <a:spcPts val="1050"/>
              </a:lnSpc>
            </a:pPr>
            <a:r>
              <a:rPr sz="788" b="1" i="0" spc="15">
                <a:solidFill>
                  <a:srgbClr val="333231"/>
                </a:solidFill>
                <a:latin typeface="Calibri"/>
              </a:rPr>
              <a:t>Stryker</a:t>
            </a:r>
          </a:p>
        </p:txBody>
      </p:sp>
      <p:sp>
        <p:nvSpPr>
          <p:cNvPr id="116" name="Text: −23.5%"/>
          <p:cNvSpPr txBox="1"/>
          <p:nvPr/>
        </p:nvSpPr>
        <p:spPr>
          <a:xfrm>
            <a:off x="9086850" y="1747838"/>
            <a:ext cx="566738" cy="161925"/>
          </a:xfrm>
          <a:prstGeom prst="rect">
            <a:avLst/>
          </a:prstGeom>
          <a:noFill/>
        </p:spPr>
        <p:txBody>
          <a:bodyPr wrap="square" lIns="0" tIns="0" rIns="0" bIns="0" anchor="t">
            <a:spAutoFit/>
          </a:bodyPr>
          <a:lstStyle/>
          <a:p>
            <a:pPr algn="r">
              <a:lnSpc>
                <a:spcPts val="1275"/>
              </a:lnSpc>
            </a:pPr>
            <a:r>
              <a:rPr sz="825" b="1" i="0" spc="15">
                <a:solidFill>
                  <a:srgbClr val="8C6239"/>
                </a:solidFill>
                <a:latin typeface="Calibri"/>
              </a:rPr>
              <a:t>−23.5%</a:t>
            </a:r>
          </a:p>
        </p:txBody>
      </p:sp>
      <p:sp>
        <p:nvSpPr>
          <p:cNvPr id="117" name="Rectangle 116"/>
          <p:cNvSpPr/>
          <p:nvPr/>
        </p:nvSpPr>
        <p:spPr>
          <a:xfrm>
            <a:off x="7381875" y="2238375"/>
            <a:ext cx="2257425" cy="9525"/>
          </a:xfrm>
          <a:prstGeom prst="rect">
            <a:avLst/>
          </a:prstGeom>
          <a:solidFill>
            <a:srgbClr val="E3DCD3"/>
          </a:solidFill>
          <a:ln>
            <a:noFill/>
          </a:ln>
          <a:effectLst/>
        </p:spPr>
        <p:txBody>
          <a:bodyPr rtlCol="0" anchor="ctr"/>
          <a:lstStyle/>
          <a:p>
            <a:pPr algn="ctr"/>
            <a:endParaRPr/>
          </a:p>
        </p:txBody>
      </p:sp>
      <p:sp>
        <p:nvSpPr>
          <p:cNvPr id="118" name="Rounded Rectangle 117"/>
          <p:cNvSpPr/>
          <p:nvPr/>
        </p:nvSpPr>
        <p:spPr>
          <a:xfrm>
            <a:off x="7381875" y="200977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119" name="Text: ICLR"/>
          <p:cNvSpPr txBox="1"/>
          <p:nvPr/>
        </p:nvSpPr>
        <p:spPr>
          <a:xfrm>
            <a:off x="7381875" y="200977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ICLR</a:t>
            </a:r>
          </a:p>
        </p:txBody>
      </p:sp>
      <p:sp>
        <p:nvSpPr>
          <p:cNvPr id="120" name="Text: ICON"/>
          <p:cNvSpPr txBox="1"/>
          <p:nvPr/>
        </p:nvSpPr>
        <p:spPr>
          <a:xfrm>
            <a:off x="7820025" y="2038350"/>
            <a:ext cx="1204912" cy="133350"/>
          </a:xfrm>
          <a:prstGeom prst="rect">
            <a:avLst/>
          </a:prstGeom>
          <a:noFill/>
        </p:spPr>
        <p:txBody>
          <a:bodyPr wrap="square" lIns="0" tIns="0" rIns="0" bIns="0" anchor="t">
            <a:spAutoFit/>
          </a:bodyPr>
          <a:lstStyle/>
          <a:p>
            <a:pPr algn="l">
              <a:lnSpc>
                <a:spcPts val="1050"/>
              </a:lnSpc>
            </a:pPr>
            <a:r>
              <a:rPr sz="788" b="1" i="0" spc="15">
                <a:solidFill>
                  <a:srgbClr val="333231"/>
                </a:solidFill>
                <a:latin typeface="Calibri"/>
              </a:rPr>
              <a:t>ICON</a:t>
            </a:r>
          </a:p>
        </p:txBody>
      </p:sp>
      <p:sp>
        <p:nvSpPr>
          <p:cNvPr id="121" name="Text: −16.6%"/>
          <p:cNvSpPr txBox="1"/>
          <p:nvPr/>
        </p:nvSpPr>
        <p:spPr>
          <a:xfrm>
            <a:off x="9086850" y="2024062"/>
            <a:ext cx="566738" cy="161925"/>
          </a:xfrm>
          <a:prstGeom prst="rect">
            <a:avLst/>
          </a:prstGeom>
          <a:noFill/>
        </p:spPr>
        <p:txBody>
          <a:bodyPr wrap="square" lIns="0" tIns="0" rIns="0" bIns="0" anchor="t">
            <a:spAutoFit/>
          </a:bodyPr>
          <a:lstStyle/>
          <a:p>
            <a:pPr algn="r">
              <a:lnSpc>
                <a:spcPts val="1275"/>
              </a:lnSpc>
            </a:pPr>
            <a:r>
              <a:rPr sz="825" b="1" i="0" spc="15">
                <a:solidFill>
                  <a:srgbClr val="8C6239"/>
                </a:solidFill>
                <a:latin typeface="Calibri"/>
              </a:rPr>
              <a:t>−16.6%</a:t>
            </a:r>
          </a:p>
        </p:txBody>
      </p:sp>
      <p:sp>
        <p:nvSpPr>
          <p:cNvPr id="122" name="Rectangle 121"/>
          <p:cNvSpPr/>
          <p:nvPr/>
        </p:nvSpPr>
        <p:spPr>
          <a:xfrm>
            <a:off x="7381875" y="2514600"/>
            <a:ext cx="2257425" cy="9525"/>
          </a:xfrm>
          <a:prstGeom prst="rect">
            <a:avLst/>
          </a:prstGeom>
          <a:solidFill>
            <a:srgbClr val="E3DCD3"/>
          </a:solidFill>
          <a:ln>
            <a:noFill/>
          </a:ln>
          <a:effectLst/>
        </p:spPr>
        <p:txBody>
          <a:bodyPr rtlCol="0" anchor="ctr"/>
          <a:lstStyle/>
          <a:p>
            <a:pPr algn="ctr"/>
            <a:endParaRPr/>
          </a:p>
        </p:txBody>
      </p:sp>
      <p:sp>
        <p:nvSpPr>
          <p:cNvPr id="123" name="Rounded Rectangle 122"/>
          <p:cNvSpPr/>
          <p:nvPr/>
        </p:nvSpPr>
        <p:spPr>
          <a:xfrm>
            <a:off x="7381875" y="2286000"/>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124" name="Text: PRVA"/>
          <p:cNvSpPr txBox="1"/>
          <p:nvPr/>
        </p:nvSpPr>
        <p:spPr>
          <a:xfrm>
            <a:off x="7381875" y="2286000"/>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PRVA</a:t>
            </a:r>
          </a:p>
        </p:txBody>
      </p:sp>
      <p:sp>
        <p:nvSpPr>
          <p:cNvPr id="125" name="Text: Privia Health"/>
          <p:cNvSpPr txBox="1"/>
          <p:nvPr/>
        </p:nvSpPr>
        <p:spPr>
          <a:xfrm>
            <a:off x="7820025" y="2314575"/>
            <a:ext cx="1204912" cy="133350"/>
          </a:xfrm>
          <a:prstGeom prst="rect">
            <a:avLst/>
          </a:prstGeom>
          <a:noFill/>
        </p:spPr>
        <p:txBody>
          <a:bodyPr wrap="square" lIns="0" tIns="0" rIns="0" bIns="0" anchor="t">
            <a:spAutoFit/>
          </a:bodyPr>
          <a:lstStyle/>
          <a:p>
            <a:pPr algn="l">
              <a:lnSpc>
                <a:spcPts val="1050"/>
              </a:lnSpc>
            </a:pPr>
            <a:r>
              <a:rPr sz="788" b="1" i="0" spc="15">
                <a:solidFill>
                  <a:srgbClr val="333231"/>
                </a:solidFill>
                <a:latin typeface="Calibri"/>
              </a:rPr>
              <a:t>Privia Health</a:t>
            </a:r>
          </a:p>
        </p:txBody>
      </p:sp>
      <p:sp>
        <p:nvSpPr>
          <p:cNvPr id="126" name="Text: −15.5%"/>
          <p:cNvSpPr txBox="1"/>
          <p:nvPr/>
        </p:nvSpPr>
        <p:spPr>
          <a:xfrm>
            <a:off x="9086850" y="2300288"/>
            <a:ext cx="566738" cy="161925"/>
          </a:xfrm>
          <a:prstGeom prst="rect">
            <a:avLst/>
          </a:prstGeom>
          <a:noFill/>
        </p:spPr>
        <p:txBody>
          <a:bodyPr wrap="square" lIns="0" tIns="0" rIns="0" bIns="0" anchor="t">
            <a:spAutoFit/>
          </a:bodyPr>
          <a:lstStyle/>
          <a:p>
            <a:pPr algn="r">
              <a:lnSpc>
                <a:spcPts val="1275"/>
              </a:lnSpc>
            </a:pPr>
            <a:r>
              <a:rPr sz="825" b="1" i="0" spc="15">
                <a:solidFill>
                  <a:srgbClr val="8C6239"/>
                </a:solidFill>
                <a:latin typeface="Calibri"/>
              </a:rPr>
              <a:t>−15.5%</a:t>
            </a:r>
          </a:p>
        </p:txBody>
      </p:sp>
      <p:sp>
        <p:nvSpPr>
          <p:cNvPr id="127" name="Rectangle 126"/>
          <p:cNvSpPr/>
          <p:nvPr/>
        </p:nvSpPr>
        <p:spPr>
          <a:xfrm>
            <a:off x="7381875" y="2790825"/>
            <a:ext cx="2257425" cy="9525"/>
          </a:xfrm>
          <a:prstGeom prst="rect">
            <a:avLst/>
          </a:prstGeom>
          <a:solidFill>
            <a:srgbClr val="E3DCD3"/>
          </a:solidFill>
          <a:ln>
            <a:noFill/>
          </a:ln>
          <a:effectLst/>
        </p:spPr>
        <p:txBody>
          <a:bodyPr rtlCol="0" anchor="ctr"/>
          <a:lstStyle/>
          <a:p>
            <a:pPr algn="ctr"/>
            <a:endParaRPr/>
          </a:p>
        </p:txBody>
      </p:sp>
      <p:sp>
        <p:nvSpPr>
          <p:cNvPr id="128" name="Rounded Rectangle 127"/>
          <p:cNvSpPr/>
          <p:nvPr/>
        </p:nvSpPr>
        <p:spPr>
          <a:xfrm>
            <a:off x="7381875" y="256222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129" name="Text: STE"/>
          <p:cNvSpPr txBox="1"/>
          <p:nvPr/>
        </p:nvSpPr>
        <p:spPr>
          <a:xfrm>
            <a:off x="7381875" y="256222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STE</a:t>
            </a:r>
          </a:p>
        </p:txBody>
      </p:sp>
      <p:sp>
        <p:nvSpPr>
          <p:cNvPr id="130" name="Text: Steris"/>
          <p:cNvSpPr txBox="1"/>
          <p:nvPr/>
        </p:nvSpPr>
        <p:spPr>
          <a:xfrm>
            <a:off x="7820025" y="2590800"/>
            <a:ext cx="1204912" cy="133350"/>
          </a:xfrm>
          <a:prstGeom prst="rect">
            <a:avLst/>
          </a:prstGeom>
          <a:noFill/>
        </p:spPr>
        <p:txBody>
          <a:bodyPr wrap="square" lIns="0" tIns="0" rIns="0" bIns="0" anchor="t">
            <a:spAutoFit/>
          </a:bodyPr>
          <a:lstStyle/>
          <a:p>
            <a:pPr algn="l">
              <a:lnSpc>
                <a:spcPts val="1050"/>
              </a:lnSpc>
            </a:pPr>
            <a:r>
              <a:rPr sz="788" b="1" i="0" spc="15">
                <a:solidFill>
                  <a:srgbClr val="333231"/>
                </a:solidFill>
                <a:latin typeface="Calibri"/>
              </a:rPr>
              <a:t>Steris</a:t>
            </a:r>
          </a:p>
        </p:txBody>
      </p:sp>
      <p:sp>
        <p:nvSpPr>
          <p:cNvPr id="131" name="Text: −13.6%"/>
          <p:cNvSpPr txBox="1"/>
          <p:nvPr/>
        </p:nvSpPr>
        <p:spPr>
          <a:xfrm>
            <a:off x="9086850" y="2576512"/>
            <a:ext cx="566738" cy="161925"/>
          </a:xfrm>
          <a:prstGeom prst="rect">
            <a:avLst/>
          </a:prstGeom>
          <a:noFill/>
        </p:spPr>
        <p:txBody>
          <a:bodyPr wrap="square" lIns="0" tIns="0" rIns="0" bIns="0" anchor="t">
            <a:spAutoFit/>
          </a:bodyPr>
          <a:lstStyle/>
          <a:p>
            <a:pPr algn="r">
              <a:lnSpc>
                <a:spcPts val="1275"/>
              </a:lnSpc>
            </a:pPr>
            <a:r>
              <a:rPr sz="825" b="1" i="0" spc="15">
                <a:solidFill>
                  <a:srgbClr val="8C6239"/>
                </a:solidFill>
                <a:latin typeface="Calibri"/>
              </a:rPr>
              <a:t>−13.6%</a:t>
            </a:r>
          </a:p>
        </p:txBody>
      </p:sp>
      <p:sp>
        <p:nvSpPr>
          <p:cNvPr id="132" name="Rectangle 131"/>
          <p:cNvSpPr/>
          <p:nvPr/>
        </p:nvSpPr>
        <p:spPr>
          <a:xfrm>
            <a:off x="7381875" y="3067050"/>
            <a:ext cx="2257425" cy="9525"/>
          </a:xfrm>
          <a:prstGeom prst="rect">
            <a:avLst/>
          </a:prstGeom>
          <a:solidFill>
            <a:srgbClr val="E3DCD3"/>
          </a:solidFill>
          <a:ln>
            <a:noFill/>
          </a:ln>
          <a:effectLst/>
        </p:spPr>
        <p:txBody>
          <a:bodyPr rtlCol="0" anchor="ctr"/>
          <a:lstStyle/>
          <a:p>
            <a:pPr algn="ctr"/>
            <a:endParaRPr/>
          </a:p>
        </p:txBody>
      </p:sp>
      <p:sp>
        <p:nvSpPr>
          <p:cNvPr id="133" name="Rounded Rectangle 132"/>
          <p:cNvSpPr/>
          <p:nvPr/>
        </p:nvSpPr>
        <p:spPr>
          <a:xfrm>
            <a:off x="7381875" y="2838450"/>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134" name="Text: ZBH"/>
          <p:cNvSpPr txBox="1"/>
          <p:nvPr/>
        </p:nvSpPr>
        <p:spPr>
          <a:xfrm>
            <a:off x="7381875" y="2838450"/>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ZBH</a:t>
            </a:r>
          </a:p>
        </p:txBody>
      </p:sp>
      <p:sp>
        <p:nvSpPr>
          <p:cNvPr id="135" name="Text: Zimmer Biomet"/>
          <p:cNvSpPr txBox="1"/>
          <p:nvPr/>
        </p:nvSpPr>
        <p:spPr>
          <a:xfrm>
            <a:off x="7820025" y="2867025"/>
            <a:ext cx="1204912" cy="133350"/>
          </a:xfrm>
          <a:prstGeom prst="rect">
            <a:avLst/>
          </a:prstGeom>
          <a:noFill/>
        </p:spPr>
        <p:txBody>
          <a:bodyPr wrap="square" lIns="0" tIns="0" rIns="0" bIns="0" anchor="t">
            <a:spAutoFit/>
          </a:bodyPr>
          <a:lstStyle/>
          <a:p>
            <a:pPr algn="l">
              <a:lnSpc>
                <a:spcPts val="1050"/>
              </a:lnSpc>
            </a:pPr>
            <a:r>
              <a:rPr sz="788" b="1" i="0" spc="15">
                <a:solidFill>
                  <a:srgbClr val="333231"/>
                </a:solidFill>
                <a:latin typeface="Calibri"/>
              </a:rPr>
              <a:t>Zimmer Biomet</a:t>
            </a:r>
          </a:p>
        </p:txBody>
      </p:sp>
      <p:sp>
        <p:nvSpPr>
          <p:cNvPr id="136" name="Text: −11.0%"/>
          <p:cNvSpPr txBox="1"/>
          <p:nvPr/>
        </p:nvSpPr>
        <p:spPr>
          <a:xfrm>
            <a:off x="9086850" y="2852738"/>
            <a:ext cx="566738" cy="161925"/>
          </a:xfrm>
          <a:prstGeom prst="rect">
            <a:avLst/>
          </a:prstGeom>
          <a:noFill/>
        </p:spPr>
        <p:txBody>
          <a:bodyPr wrap="square" lIns="0" tIns="0" rIns="0" bIns="0" anchor="t">
            <a:spAutoFit/>
          </a:bodyPr>
          <a:lstStyle/>
          <a:p>
            <a:pPr algn="r">
              <a:lnSpc>
                <a:spcPts val="1275"/>
              </a:lnSpc>
            </a:pPr>
            <a:r>
              <a:rPr sz="825" b="1" i="0" spc="15">
                <a:solidFill>
                  <a:srgbClr val="8C6239"/>
                </a:solidFill>
                <a:latin typeface="Calibri"/>
              </a:rPr>
              <a:t>−11.0%</a:t>
            </a:r>
          </a:p>
        </p:txBody>
      </p:sp>
      <p:sp>
        <p:nvSpPr>
          <p:cNvPr id="137" name="Rectangle 136"/>
          <p:cNvSpPr/>
          <p:nvPr/>
        </p:nvSpPr>
        <p:spPr>
          <a:xfrm>
            <a:off x="7381875" y="3343275"/>
            <a:ext cx="2257425" cy="9525"/>
          </a:xfrm>
          <a:prstGeom prst="rect">
            <a:avLst/>
          </a:prstGeom>
          <a:solidFill>
            <a:srgbClr val="E3DCD3"/>
          </a:solidFill>
          <a:ln>
            <a:noFill/>
          </a:ln>
          <a:effectLst/>
        </p:spPr>
        <p:txBody>
          <a:bodyPr rtlCol="0" anchor="ctr"/>
          <a:lstStyle/>
          <a:p>
            <a:pPr algn="ctr"/>
            <a:endParaRPr/>
          </a:p>
        </p:txBody>
      </p:sp>
      <p:sp>
        <p:nvSpPr>
          <p:cNvPr id="138" name="Rounded Rectangle 137"/>
          <p:cNvSpPr/>
          <p:nvPr/>
        </p:nvSpPr>
        <p:spPr>
          <a:xfrm>
            <a:off x="7381875" y="311467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139" name="Text: USPH"/>
          <p:cNvSpPr txBox="1"/>
          <p:nvPr/>
        </p:nvSpPr>
        <p:spPr>
          <a:xfrm>
            <a:off x="7381875" y="311467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USPH</a:t>
            </a:r>
          </a:p>
        </p:txBody>
      </p:sp>
      <p:sp>
        <p:nvSpPr>
          <p:cNvPr id="140" name="Text: U.S. Physical Therapy"/>
          <p:cNvSpPr txBox="1"/>
          <p:nvPr/>
        </p:nvSpPr>
        <p:spPr>
          <a:xfrm>
            <a:off x="7820025" y="3143250"/>
            <a:ext cx="1204912" cy="133350"/>
          </a:xfrm>
          <a:prstGeom prst="rect">
            <a:avLst/>
          </a:prstGeom>
          <a:noFill/>
        </p:spPr>
        <p:txBody>
          <a:bodyPr wrap="square" lIns="0" tIns="0" rIns="0" bIns="0" anchor="t">
            <a:spAutoFit/>
          </a:bodyPr>
          <a:lstStyle/>
          <a:p>
            <a:pPr algn="l">
              <a:lnSpc>
                <a:spcPts val="1050"/>
              </a:lnSpc>
            </a:pPr>
            <a:r>
              <a:rPr sz="788" b="1" i="0" spc="15">
                <a:solidFill>
                  <a:srgbClr val="333231"/>
                </a:solidFill>
                <a:latin typeface="Calibri"/>
              </a:rPr>
              <a:t>U.S. Physical Therapy</a:t>
            </a:r>
          </a:p>
        </p:txBody>
      </p:sp>
      <p:sp>
        <p:nvSpPr>
          <p:cNvPr id="141" name="Text: −5.1%"/>
          <p:cNvSpPr txBox="1"/>
          <p:nvPr/>
        </p:nvSpPr>
        <p:spPr>
          <a:xfrm>
            <a:off x="9086850" y="3128962"/>
            <a:ext cx="566738" cy="161925"/>
          </a:xfrm>
          <a:prstGeom prst="rect">
            <a:avLst/>
          </a:prstGeom>
          <a:noFill/>
        </p:spPr>
        <p:txBody>
          <a:bodyPr wrap="square" lIns="0" tIns="0" rIns="0" bIns="0" anchor="t">
            <a:spAutoFit/>
          </a:bodyPr>
          <a:lstStyle/>
          <a:p>
            <a:pPr algn="r">
              <a:lnSpc>
                <a:spcPts val="1275"/>
              </a:lnSpc>
            </a:pPr>
            <a:r>
              <a:rPr sz="825" b="1" i="0" spc="15">
                <a:solidFill>
                  <a:srgbClr val="8C6239"/>
                </a:solidFill>
                <a:latin typeface="Calibri"/>
              </a:rPr>
              <a:t>−5.1%</a:t>
            </a:r>
          </a:p>
        </p:txBody>
      </p:sp>
      <p:sp>
        <p:nvSpPr>
          <p:cNvPr id="142" name="Rectangle 141"/>
          <p:cNvSpPr/>
          <p:nvPr/>
        </p:nvSpPr>
        <p:spPr>
          <a:xfrm>
            <a:off x="7381875" y="3619500"/>
            <a:ext cx="2257425" cy="9525"/>
          </a:xfrm>
          <a:prstGeom prst="rect">
            <a:avLst/>
          </a:prstGeom>
          <a:solidFill>
            <a:srgbClr val="E3DCD3"/>
          </a:solidFill>
          <a:ln>
            <a:noFill/>
          </a:ln>
          <a:effectLst/>
        </p:spPr>
        <p:txBody>
          <a:bodyPr rtlCol="0" anchor="ctr"/>
          <a:lstStyle/>
          <a:p>
            <a:pPr algn="ctr"/>
            <a:endParaRPr/>
          </a:p>
        </p:txBody>
      </p:sp>
      <p:sp>
        <p:nvSpPr>
          <p:cNvPr id="143" name="Rounded Rectangle 142"/>
          <p:cNvSpPr/>
          <p:nvPr/>
        </p:nvSpPr>
        <p:spPr>
          <a:xfrm>
            <a:off x="7381875" y="3390900"/>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144" name="Text: ADUS"/>
          <p:cNvSpPr txBox="1"/>
          <p:nvPr/>
        </p:nvSpPr>
        <p:spPr>
          <a:xfrm>
            <a:off x="7381875" y="3390900"/>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ADUS</a:t>
            </a:r>
          </a:p>
        </p:txBody>
      </p:sp>
      <p:sp>
        <p:nvSpPr>
          <p:cNvPr id="145" name="Text: Addus HomeCare"/>
          <p:cNvSpPr txBox="1"/>
          <p:nvPr/>
        </p:nvSpPr>
        <p:spPr>
          <a:xfrm>
            <a:off x="7820025" y="3419475"/>
            <a:ext cx="1204912" cy="133350"/>
          </a:xfrm>
          <a:prstGeom prst="rect">
            <a:avLst/>
          </a:prstGeom>
          <a:noFill/>
        </p:spPr>
        <p:txBody>
          <a:bodyPr wrap="square" lIns="0" tIns="0" rIns="0" bIns="0" anchor="t">
            <a:spAutoFit/>
          </a:bodyPr>
          <a:lstStyle/>
          <a:p>
            <a:pPr algn="l">
              <a:lnSpc>
                <a:spcPts val="1050"/>
              </a:lnSpc>
            </a:pPr>
            <a:r>
              <a:rPr sz="788" b="1" i="0" spc="15">
                <a:solidFill>
                  <a:srgbClr val="333231"/>
                </a:solidFill>
                <a:latin typeface="Calibri"/>
              </a:rPr>
              <a:t>Addus HomeCare</a:t>
            </a:r>
          </a:p>
        </p:txBody>
      </p:sp>
      <p:sp>
        <p:nvSpPr>
          <p:cNvPr id="146" name="Text: −1.6%"/>
          <p:cNvSpPr txBox="1"/>
          <p:nvPr/>
        </p:nvSpPr>
        <p:spPr>
          <a:xfrm>
            <a:off x="9086850" y="3405188"/>
            <a:ext cx="566738" cy="161925"/>
          </a:xfrm>
          <a:prstGeom prst="rect">
            <a:avLst/>
          </a:prstGeom>
          <a:noFill/>
        </p:spPr>
        <p:txBody>
          <a:bodyPr wrap="square" lIns="0" tIns="0" rIns="0" bIns="0" anchor="t">
            <a:spAutoFit/>
          </a:bodyPr>
          <a:lstStyle/>
          <a:p>
            <a:pPr algn="r">
              <a:lnSpc>
                <a:spcPts val="1275"/>
              </a:lnSpc>
            </a:pPr>
            <a:r>
              <a:rPr sz="825" b="1" i="0" spc="15">
                <a:solidFill>
                  <a:srgbClr val="8C6239"/>
                </a:solidFill>
                <a:latin typeface="Calibri"/>
              </a:rPr>
              <a:t>−1.6%</a:t>
            </a:r>
          </a:p>
        </p:txBody>
      </p:sp>
      <p:sp>
        <p:nvSpPr>
          <p:cNvPr id="147" name="Rectangle 146"/>
          <p:cNvSpPr/>
          <p:nvPr/>
        </p:nvSpPr>
        <p:spPr>
          <a:xfrm>
            <a:off x="7381875" y="3895725"/>
            <a:ext cx="2257425" cy="9525"/>
          </a:xfrm>
          <a:prstGeom prst="rect">
            <a:avLst/>
          </a:prstGeom>
          <a:solidFill>
            <a:srgbClr val="E3DCD3"/>
          </a:solidFill>
          <a:ln>
            <a:noFill/>
          </a:ln>
          <a:effectLst/>
        </p:spPr>
        <p:txBody>
          <a:bodyPr rtlCol="0" anchor="ctr"/>
          <a:lstStyle/>
          <a:p>
            <a:pPr algn="ctr"/>
            <a:endParaRPr/>
          </a:p>
        </p:txBody>
      </p:sp>
      <p:sp>
        <p:nvSpPr>
          <p:cNvPr id="148" name="Rounded Rectangle 147"/>
          <p:cNvSpPr/>
          <p:nvPr/>
        </p:nvSpPr>
        <p:spPr>
          <a:xfrm>
            <a:off x="7381875" y="3667125"/>
            <a:ext cx="361950" cy="190500"/>
          </a:xfrm>
          <a:prstGeom prst="roundRect">
            <a:avLst>
              <a:gd name="adj" fmla="val 15000"/>
            </a:avLst>
          </a:prstGeom>
          <a:solidFill>
            <a:srgbClr val="2A2928"/>
          </a:solidFill>
          <a:ln>
            <a:noFill/>
          </a:ln>
          <a:effectLst/>
        </p:spPr>
        <p:txBody>
          <a:bodyPr rtlCol="0" anchor="ctr"/>
          <a:lstStyle/>
          <a:p>
            <a:pPr algn="ctr"/>
            <a:endParaRPr/>
          </a:p>
        </p:txBody>
      </p:sp>
      <p:sp>
        <p:nvSpPr>
          <p:cNvPr id="149" name="Text: ENSG"/>
          <p:cNvSpPr txBox="1"/>
          <p:nvPr/>
        </p:nvSpPr>
        <p:spPr>
          <a:xfrm>
            <a:off x="7381875" y="3667125"/>
            <a:ext cx="376238" cy="190500"/>
          </a:xfrm>
          <a:prstGeom prst="rect">
            <a:avLst/>
          </a:prstGeom>
          <a:noFill/>
        </p:spPr>
        <p:txBody>
          <a:bodyPr wrap="square" lIns="0" tIns="0" rIns="0" bIns="0" anchor="ctr">
            <a:spAutoFit/>
          </a:bodyPr>
          <a:lstStyle/>
          <a:p>
            <a:pPr algn="ctr">
              <a:lnSpc>
                <a:spcPts val="600"/>
              </a:lnSpc>
            </a:pPr>
            <a:r>
              <a:rPr sz="600" b="1" i="0" spc="22">
                <a:solidFill>
                  <a:srgbClr val="FFFFFF"/>
                </a:solidFill>
                <a:latin typeface="Calibri"/>
              </a:rPr>
              <a:t>ENSG</a:t>
            </a:r>
          </a:p>
        </p:txBody>
      </p:sp>
      <p:sp>
        <p:nvSpPr>
          <p:cNvPr id="150" name="Text: Ensign Group"/>
          <p:cNvSpPr txBox="1"/>
          <p:nvPr/>
        </p:nvSpPr>
        <p:spPr>
          <a:xfrm>
            <a:off x="7820025" y="3695700"/>
            <a:ext cx="1204912" cy="133350"/>
          </a:xfrm>
          <a:prstGeom prst="rect">
            <a:avLst/>
          </a:prstGeom>
          <a:noFill/>
        </p:spPr>
        <p:txBody>
          <a:bodyPr wrap="square" lIns="0" tIns="0" rIns="0" bIns="0" anchor="t">
            <a:spAutoFit/>
          </a:bodyPr>
          <a:lstStyle/>
          <a:p>
            <a:pPr algn="l">
              <a:lnSpc>
                <a:spcPts val="1050"/>
              </a:lnSpc>
            </a:pPr>
            <a:r>
              <a:rPr sz="788" b="1" i="0" spc="15">
                <a:solidFill>
                  <a:srgbClr val="333231"/>
                </a:solidFill>
                <a:latin typeface="Calibri"/>
              </a:rPr>
              <a:t>Ensign Group</a:t>
            </a:r>
          </a:p>
        </p:txBody>
      </p:sp>
      <p:sp>
        <p:nvSpPr>
          <p:cNvPr id="151" name="Text: −1.4%"/>
          <p:cNvSpPr txBox="1"/>
          <p:nvPr/>
        </p:nvSpPr>
        <p:spPr>
          <a:xfrm>
            <a:off x="9086850" y="3681412"/>
            <a:ext cx="566738" cy="161925"/>
          </a:xfrm>
          <a:prstGeom prst="rect">
            <a:avLst/>
          </a:prstGeom>
          <a:noFill/>
        </p:spPr>
        <p:txBody>
          <a:bodyPr wrap="square" lIns="0" tIns="0" rIns="0" bIns="0" anchor="t">
            <a:spAutoFit/>
          </a:bodyPr>
          <a:lstStyle/>
          <a:p>
            <a:pPr algn="r">
              <a:lnSpc>
                <a:spcPts val="1275"/>
              </a:lnSpc>
            </a:pPr>
            <a:r>
              <a:rPr sz="825" b="1" i="0" spc="15">
                <a:solidFill>
                  <a:srgbClr val="8C6239"/>
                </a:solidFill>
                <a:latin typeface="Calibri"/>
              </a:rPr>
              <a:t>−1.4%</a:t>
            </a:r>
          </a:p>
        </p:txBody>
      </p:sp>
      <p:sp>
        <p:nvSpPr>
          <p:cNvPr id="152" name="Rectangle 151"/>
          <p:cNvSpPr/>
          <p:nvPr/>
        </p:nvSpPr>
        <p:spPr>
          <a:xfrm>
            <a:off x="419100" y="7029450"/>
            <a:ext cx="9220200" cy="9525"/>
          </a:xfrm>
          <a:prstGeom prst="rect">
            <a:avLst/>
          </a:prstGeom>
          <a:solidFill>
            <a:srgbClr val="E3DCD3"/>
          </a:solidFill>
          <a:ln>
            <a:noFill/>
          </a:ln>
          <a:effectLst/>
        </p:spPr>
        <p:txBody>
          <a:bodyPr rtlCol="0" anchor="ctr"/>
          <a:lstStyle/>
          <a:p>
            <a:pPr algn="ctr"/>
            <a:endParaRPr/>
          </a:p>
        </p:txBody>
      </p:sp>
      <p:pic>
        <p:nvPicPr>
          <p:cNvPr id="153" name="Picture 152" descr="Benchmark International"/>
          <p:cNvPicPr>
            <a:picLocks noChangeAspect="1"/>
          </p:cNvPicPr>
          <p:nvPr/>
        </p:nvPicPr>
        <p:blipFill>
          <a:blip r:embed="rId4"/>
          <a:srcRect/>
          <a:stretch>
            <a:fillRect/>
          </a:stretch>
        </p:blipFill>
        <p:spPr>
          <a:xfrm>
            <a:off x="419100" y="7143750"/>
            <a:ext cx="914400" cy="171450"/>
          </a:xfrm>
          <a:prstGeom prst="rect">
            <a:avLst/>
          </a:prstGeom>
        </p:spPr>
      </p:pic>
      <p:sp>
        <p:nvSpPr>
          <p:cNvPr id="154" name="Text: Source: "/>
          <p:cNvSpPr txBox="1"/>
          <p:nvPr/>
        </p:nvSpPr>
        <p:spPr>
          <a:xfrm>
            <a:off x="1543050" y="7105650"/>
            <a:ext cx="7748588" cy="238125"/>
          </a:xfrm>
          <a:prstGeom prst="rect">
            <a:avLst/>
          </a:prstGeom>
          <a:noFill/>
        </p:spPr>
        <p:txBody>
          <a:bodyPr wrap="square" lIns="0" tIns="0" rIns="0" bIns="0" anchor="t">
            <a:spAutoFit/>
          </a:bodyPr>
          <a:lstStyle/>
          <a:p>
            <a:pPr algn="l">
              <a:lnSpc>
                <a:spcPts val="938"/>
              </a:lnSpc>
            </a:pPr>
            <a:r>
              <a:rPr sz="675" b="0" i="0" spc="8">
                <a:solidFill>
                  <a:srgbClr val="6F6A66"/>
                </a:solidFill>
                <a:latin typeface="Calibri"/>
              </a:rPr>
              <a:t>Source: </a:t>
            </a:r>
            <a:r>
              <a:rPr sz="675" b="0" i="0" spc="8">
                <a:solidFill>
                  <a:srgbClr val="8C6239"/>
                </a:solidFill>
                <a:latin typeface="Calibri"/>
                <a:hlinkClick r:id="rId5">
                  <a:extLst>
                    <a:ext uri="{A12FA001-AC4F-418D-AE19-62706E023703}">
                      <ahyp:hlinkClr xmlns:ahyp="http://schemas.microsoft.com/office/drawing/2018/hyperlinkcolor" val="tx"/>
                    </a:ext>
                  </a:extLst>
                </a:hlinkClick>
              </a:rPr>
              <a:t>StockAnalysis</a:t>
            </a:r>
            <a:r>
              <a:rPr sz="675" b="0" i="0" spc="8">
                <a:solidFill>
                  <a:srgbClr val="6F6A66"/>
                </a:solidFill>
                <a:latin typeface="Calibri"/>
              </a:rPr>
              <a:t>, retrieved October 7, 2026; prices are from October 2 to October 7. Price change excludes dividends. Bio-Techne and Integer Holdings trade near agreed acquisition prices.</a:t>
            </a:r>
          </a:p>
        </p:txBody>
      </p:sp>
      <p:sp>
        <p:nvSpPr>
          <p:cNvPr id="155" name="Text: 15"/>
          <p:cNvSpPr txBox="1"/>
          <p:nvPr/>
        </p:nvSpPr>
        <p:spPr>
          <a:xfrm>
            <a:off x="9509373" y="7162800"/>
            <a:ext cx="144214" cy="133350"/>
          </a:xfrm>
          <a:prstGeom prst="rect">
            <a:avLst/>
          </a:prstGeom>
          <a:noFill/>
        </p:spPr>
        <p:txBody>
          <a:bodyPr wrap="square" lIns="0" tIns="0" rIns="0" bIns="0" anchor="t">
            <a:spAutoFit/>
          </a:bodyPr>
          <a:lstStyle/>
          <a:p>
            <a:pPr algn="l">
              <a:lnSpc>
                <a:spcPts val="1050"/>
              </a:lnSpc>
            </a:pPr>
            <a:r>
              <a:rPr sz="712" b="1" i="0" spc="150">
                <a:solidFill>
                  <a:srgbClr val="1B1A1A"/>
                </a:solidFill>
                <a:latin typeface="Calibr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57150" cy="7772400"/>
          </a:xfrm>
          <a:prstGeom prst="rect">
            <a:avLst/>
          </a:prstGeom>
          <a:solidFill>
            <a:srgbClr val="B68757"/>
          </a:solidFill>
          <a:ln>
            <a:noFill/>
          </a:ln>
          <a:effectLst/>
        </p:spPr>
        <p:txBody>
          <a:bodyPr rtlCol="0" anchor="ctr"/>
          <a:lstStyle/>
          <a:p>
            <a:pPr algn="ctr"/>
            <a:endParaRPr/>
          </a:p>
        </p:txBody>
      </p:sp>
      <p:sp>
        <p:nvSpPr>
          <p:cNvPr id="3" name="Text: HEALTHCARE | QUARTERLY SECTOR BRIE"/>
          <p:cNvSpPr txBox="1"/>
          <p:nvPr/>
        </p:nvSpPr>
        <p:spPr>
          <a:xfrm>
            <a:off x="419100" y="381000"/>
            <a:ext cx="2439591" cy="133350"/>
          </a:xfrm>
          <a:prstGeom prst="rect">
            <a:avLst/>
          </a:prstGeom>
          <a:noFill/>
        </p:spPr>
        <p:txBody>
          <a:bodyPr wrap="none" lIns="0" tIns="0" rIns="0" bIns="0" anchor="t">
            <a:spAutoFit/>
          </a:bodyPr>
          <a:lstStyle/>
          <a:p>
            <a:pPr algn="l">
              <a:lnSpc>
                <a:spcPts val="1050"/>
              </a:lnSpc>
            </a:pPr>
            <a:r>
              <a:rPr sz="675" b="1" i="0" spc="195">
                <a:solidFill>
                  <a:srgbClr val="8C6239"/>
                </a:solidFill>
                <a:latin typeface="Calibri"/>
              </a:rPr>
              <a:t>HEALTHCARE | QUARTERLY INDUSTRY REPORT</a:t>
            </a:r>
          </a:p>
        </p:txBody>
      </p:sp>
      <p:sp>
        <p:nvSpPr>
          <p:cNvPr id="4" name="Text: Q4 2026"/>
          <p:cNvSpPr txBox="1"/>
          <p:nvPr/>
        </p:nvSpPr>
        <p:spPr>
          <a:xfrm>
            <a:off x="9188648" y="361950"/>
            <a:ext cx="464939" cy="171450"/>
          </a:xfrm>
          <a:prstGeom prst="rect">
            <a:avLst/>
          </a:prstGeom>
          <a:noFill/>
        </p:spPr>
        <p:txBody>
          <a:bodyPr wrap="square" lIns="0" tIns="0" rIns="0" bIns="0" anchor="t">
            <a:spAutoFit/>
          </a:bodyPr>
          <a:lstStyle/>
          <a:p>
            <a:pPr algn="l">
              <a:lnSpc>
                <a:spcPts val="1350"/>
              </a:lnSpc>
            </a:pPr>
            <a:r>
              <a:rPr sz="900" b="0" i="0" spc="90">
                <a:solidFill>
                  <a:srgbClr val="6F6A66"/>
                </a:solidFill>
                <a:latin typeface="Cambria"/>
              </a:rPr>
              <a:t>Q4 2026</a:t>
            </a:r>
          </a:p>
        </p:txBody>
      </p:sp>
      <p:sp>
        <p:nvSpPr>
          <p:cNvPr id="5" name="Text: Public Company Operating and Valua"/>
          <p:cNvSpPr txBox="1"/>
          <p:nvPr/>
        </p:nvSpPr>
        <p:spPr>
          <a:xfrm>
            <a:off x="419100" y="523875"/>
            <a:ext cx="9234488" cy="323850"/>
          </a:xfrm>
          <a:prstGeom prst="rect">
            <a:avLst/>
          </a:prstGeom>
          <a:noFill/>
        </p:spPr>
        <p:txBody>
          <a:bodyPr wrap="square" lIns="0" tIns="0" rIns="0" bIns="0" anchor="t">
            <a:spAutoFit/>
          </a:bodyPr>
          <a:lstStyle/>
          <a:p>
            <a:pPr algn="l">
              <a:lnSpc>
                <a:spcPts val="2550"/>
              </a:lnSpc>
            </a:pPr>
            <a:r>
              <a:rPr sz="2025" b="1" i="0">
                <a:solidFill>
                  <a:srgbClr val="1B1A1A"/>
                </a:solidFill>
                <a:latin typeface="Cambria"/>
              </a:rPr>
              <a:t>Public Company Operating and Valuation Metrics</a:t>
            </a:r>
          </a:p>
        </p:txBody>
      </p:sp>
      <p:sp>
        <p:nvSpPr>
          <p:cNvPr id="6" name="Text: Provider companies are growing fas"/>
          <p:cNvSpPr txBox="1"/>
          <p:nvPr/>
        </p:nvSpPr>
        <p:spPr>
          <a:xfrm>
            <a:off x="419100" y="885825"/>
            <a:ext cx="10215086" cy="180975"/>
          </a:xfrm>
          <a:prstGeom prst="rect">
            <a:avLst/>
          </a:prstGeom>
          <a:noFill/>
        </p:spPr>
        <p:txBody>
          <a:bodyPr wrap="square" lIns="0" tIns="0" rIns="0" bIns="0" anchor="t">
            <a:spAutoFit/>
          </a:bodyPr>
          <a:lstStyle/>
          <a:p>
            <a:pPr algn="l">
              <a:lnSpc>
                <a:spcPts val="1388"/>
              </a:lnSpc>
            </a:pPr>
            <a:r>
              <a:rPr sz="938" b="0" i="0" spc="15">
                <a:solidFill>
                  <a:srgbClr val="6F6A66"/>
                </a:solidFill>
                <a:latin typeface="Calibri"/>
              </a:rPr>
              <a:t>Provider companies are growing fastest, life sciences and diagnostics earns the highest margins and multiples, and pharmacy trades on thin margins.</a:t>
            </a:r>
          </a:p>
        </p:txBody>
      </p:sp>
      <p:sp>
        <p:nvSpPr>
          <p:cNvPr id="7" name="Rectangle 6"/>
          <p:cNvSpPr/>
          <p:nvPr/>
        </p:nvSpPr>
        <p:spPr>
          <a:xfrm>
            <a:off x="419100" y="1143000"/>
            <a:ext cx="9220200" cy="9525"/>
          </a:xfrm>
          <a:prstGeom prst="rect">
            <a:avLst/>
          </a:prstGeom>
          <a:solidFill>
            <a:srgbClr val="E3DCD3"/>
          </a:solidFill>
          <a:ln>
            <a:noFill/>
          </a:ln>
          <a:effectLst/>
        </p:spPr>
        <p:txBody>
          <a:bodyPr rtlCol="0" anchor="ctr"/>
          <a:lstStyle/>
          <a:p>
            <a:pPr algn="ctr"/>
            <a:endParaRPr/>
          </a:p>
        </p:txBody>
      </p:sp>
      <p:sp>
        <p:nvSpPr>
          <p:cNvPr id="8" name="Rectangle 7"/>
          <p:cNvSpPr/>
          <p:nvPr/>
        </p:nvSpPr>
        <p:spPr>
          <a:xfrm>
            <a:off x="419100" y="1257300"/>
            <a:ext cx="95250" cy="95250"/>
          </a:xfrm>
          <a:prstGeom prst="rect">
            <a:avLst/>
          </a:prstGeom>
          <a:solidFill>
            <a:srgbClr val="1B1A1A"/>
          </a:solidFill>
          <a:ln>
            <a:noFill/>
          </a:ln>
          <a:effectLst/>
        </p:spPr>
        <p:txBody>
          <a:bodyPr rtlCol="0" anchor="ctr"/>
          <a:lstStyle/>
          <a:p>
            <a:pPr algn="ctr"/>
            <a:endParaRPr/>
          </a:p>
        </p:txBody>
      </p:sp>
      <p:sp>
        <p:nvSpPr>
          <p:cNvPr id="9" name="Text: Provider Services"/>
          <p:cNvSpPr txBox="1"/>
          <p:nvPr/>
        </p:nvSpPr>
        <p:spPr>
          <a:xfrm>
            <a:off x="571500" y="1238250"/>
            <a:ext cx="837724" cy="123825"/>
          </a:xfrm>
          <a:prstGeom prst="rect">
            <a:avLst/>
          </a:prstGeom>
          <a:noFill/>
        </p:spPr>
        <p:txBody>
          <a:bodyPr wrap="square" lIns="0" tIns="0" rIns="0" bIns="0" anchor="t">
            <a:spAutoFit/>
          </a:bodyPr>
          <a:lstStyle/>
          <a:p>
            <a:pPr algn="l">
              <a:lnSpc>
                <a:spcPts val="975"/>
              </a:lnSpc>
            </a:pPr>
            <a:r>
              <a:rPr sz="750" b="0" i="0" spc="15">
                <a:solidFill>
                  <a:srgbClr val="333231"/>
                </a:solidFill>
                <a:latin typeface="Calibri"/>
              </a:rPr>
              <a:t>Provider Services</a:t>
            </a:r>
          </a:p>
        </p:txBody>
      </p:sp>
      <p:sp>
        <p:nvSpPr>
          <p:cNvPr id="10" name="Rectangle 9"/>
          <p:cNvSpPr/>
          <p:nvPr/>
        </p:nvSpPr>
        <p:spPr>
          <a:xfrm>
            <a:off x="1438275" y="1257300"/>
            <a:ext cx="95250" cy="95250"/>
          </a:xfrm>
          <a:prstGeom prst="rect">
            <a:avLst/>
          </a:prstGeom>
          <a:solidFill>
            <a:srgbClr val="B68757"/>
          </a:solidFill>
          <a:ln>
            <a:noFill/>
          </a:ln>
          <a:effectLst/>
        </p:spPr>
        <p:txBody>
          <a:bodyPr rtlCol="0" anchor="ctr"/>
          <a:lstStyle/>
          <a:p>
            <a:pPr algn="ctr"/>
            <a:endParaRPr/>
          </a:p>
        </p:txBody>
      </p:sp>
      <p:sp>
        <p:nvSpPr>
          <p:cNvPr id="11" name="Text: Life Sciences &amp; Diagnostics"/>
          <p:cNvSpPr txBox="1"/>
          <p:nvPr/>
        </p:nvSpPr>
        <p:spPr>
          <a:xfrm>
            <a:off x="1590675" y="1238250"/>
            <a:ext cx="1265337" cy="123825"/>
          </a:xfrm>
          <a:prstGeom prst="rect">
            <a:avLst/>
          </a:prstGeom>
          <a:noFill/>
        </p:spPr>
        <p:txBody>
          <a:bodyPr wrap="square" lIns="0" tIns="0" rIns="0" bIns="0" anchor="t">
            <a:spAutoFit/>
          </a:bodyPr>
          <a:lstStyle/>
          <a:p>
            <a:pPr algn="l">
              <a:lnSpc>
                <a:spcPts val="975"/>
              </a:lnSpc>
            </a:pPr>
            <a:r>
              <a:rPr sz="750" b="0" i="0" spc="15">
                <a:solidFill>
                  <a:srgbClr val="333231"/>
                </a:solidFill>
                <a:latin typeface="Calibri"/>
              </a:rPr>
              <a:t>Life Sciences &amp; Diagnostics</a:t>
            </a:r>
          </a:p>
        </p:txBody>
      </p:sp>
      <p:sp>
        <p:nvSpPr>
          <p:cNvPr id="12" name="Rectangle 11"/>
          <p:cNvSpPr/>
          <p:nvPr/>
        </p:nvSpPr>
        <p:spPr>
          <a:xfrm>
            <a:off x="2846189" y="1257300"/>
            <a:ext cx="95250" cy="95250"/>
          </a:xfrm>
          <a:prstGeom prst="rect">
            <a:avLst/>
          </a:prstGeom>
          <a:solidFill>
            <a:srgbClr val="6D7681"/>
          </a:solidFill>
          <a:ln>
            <a:noFill/>
          </a:ln>
          <a:effectLst/>
        </p:spPr>
        <p:txBody>
          <a:bodyPr rtlCol="0" anchor="ctr"/>
          <a:lstStyle/>
          <a:p>
            <a:pPr algn="ctr"/>
            <a:endParaRPr/>
          </a:p>
        </p:txBody>
      </p:sp>
      <p:sp>
        <p:nvSpPr>
          <p:cNvPr id="13" name="Text: Medical Products &amp; Distribution"/>
          <p:cNvSpPr txBox="1"/>
          <p:nvPr/>
        </p:nvSpPr>
        <p:spPr>
          <a:xfrm>
            <a:off x="2998589" y="1238250"/>
            <a:ext cx="1497151" cy="123825"/>
          </a:xfrm>
          <a:prstGeom prst="rect">
            <a:avLst/>
          </a:prstGeom>
          <a:noFill/>
        </p:spPr>
        <p:txBody>
          <a:bodyPr wrap="square" lIns="0" tIns="0" rIns="0" bIns="0" anchor="t">
            <a:spAutoFit/>
          </a:bodyPr>
          <a:lstStyle/>
          <a:p>
            <a:pPr algn="l">
              <a:lnSpc>
                <a:spcPts val="975"/>
              </a:lnSpc>
            </a:pPr>
            <a:r>
              <a:rPr sz="750" b="0" i="0" spc="15">
                <a:solidFill>
                  <a:srgbClr val="333231"/>
                </a:solidFill>
                <a:latin typeface="Calibri"/>
              </a:rPr>
              <a:t>Medical Products &amp; Distribution</a:t>
            </a:r>
          </a:p>
        </p:txBody>
      </p:sp>
      <p:sp>
        <p:nvSpPr>
          <p:cNvPr id="14" name="Rectangle 13"/>
          <p:cNvSpPr/>
          <p:nvPr/>
        </p:nvSpPr>
        <p:spPr>
          <a:xfrm>
            <a:off x="4464844" y="1257300"/>
            <a:ext cx="95250" cy="95250"/>
          </a:xfrm>
          <a:prstGeom prst="rect">
            <a:avLst/>
          </a:prstGeom>
          <a:solidFill>
            <a:srgbClr val="A39486"/>
          </a:solidFill>
          <a:ln>
            <a:noFill/>
          </a:ln>
          <a:effectLst/>
        </p:spPr>
        <p:txBody>
          <a:bodyPr rtlCol="0" anchor="ctr"/>
          <a:lstStyle/>
          <a:p>
            <a:pPr algn="ctr"/>
            <a:endParaRPr/>
          </a:p>
        </p:txBody>
      </p:sp>
      <p:sp>
        <p:nvSpPr>
          <p:cNvPr id="15" name="Text: Pharmacy &amp; Healthcare Services"/>
          <p:cNvSpPr txBox="1"/>
          <p:nvPr/>
        </p:nvSpPr>
        <p:spPr>
          <a:xfrm>
            <a:off x="4617244" y="1238250"/>
            <a:ext cx="1509102" cy="123825"/>
          </a:xfrm>
          <a:prstGeom prst="rect">
            <a:avLst/>
          </a:prstGeom>
          <a:noFill/>
        </p:spPr>
        <p:txBody>
          <a:bodyPr wrap="square" lIns="0" tIns="0" rIns="0" bIns="0" anchor="t">
            <a:spAutoFit/>
          </a:bodyPr>
          <a:lstStyle/>
          <a:p>
            <a:pPr algn="l">
              <a:lnSpc>
                <a:spcPts val="975"/>
              </a:lnSpc>
            </a:pPr>
            <a:r>
              <a:rPr sz="750" b="0" i="0" spc="15">
                <a:solidFill>
                  <a:srgbClr val="333231"/>
                </a:solidFill>
                <a:latin typeface="Calibri"/>
              </a:rPr>
              <a:t>Pharmacy &amp; Healthcare Services</a:t>
            </a:r>
          </a:p>
        </p:txBody>
      </p:sp>
      <p:sp>
        <p:nvSpPr>
          <p:cNvPr id="16" name="Rectangle 15"/>
          <p:cNvSpPr/>
          <p:nvPr/>
        </p:nvSpPr>
        <p:spPr>
          <a:xfrm>
            <a:off x="419100" y="1466850"/>
            <a:ext cx="1345109" cy="219075"/>
          </a:xfrm>
          <a:prstGeom prst="rect">
            <a:avLst/>
          </a:prstGeom>
          <a:solidFill>
            <a:srgbClr val="1B1A1A"/>
          </a:solidFill>
          <a:ln>
            <a:noFill/>
          </a:ln>
          <a:effectLst/>
        </p:spPr>
        <p:txBody>
          <a:bodyPr rtlCol="0" anchor="ctr"/>
          <a:lstStyle/>
          <a:p>
            <a:pPr algn="ctr"/>
            <a:endParaRPr/>
          </a:p>
        </p:txBody>
      </p:sp>
      <p:sp>
        <p:nvSpPr>
          <p:cNvPr id="17" name="Text: OPERATING METRICS"/>
          <p:cNvSpPr txBox="1"/>
          <p:nvPr/>
        </p:nvSpPr>
        <p:spPr>
          <a:xfrm>
            <a:off x="533400" y="1514475"/>
            <a:ext cx="1130796" cy="123825"/>
          </a:xfrm>
          <a:prstGeom prst="rect">
            <a:avLst/>
          </a:prstGeom>
          <a:noFill/>
        </p:spPr>
        <p:txBody>
          <a:bodyPr wrap="square" lIns="0" tIns="0" rIns="0" bIns="0" anchor="t">
            <a:spAutoFit/>
          </a:bodyPr>
          <a:lstStyle/>
          <a:p>
            <a:pPr algn="l">
              <a:lnSpc>
                <a:spcPts val="975"/>
              </a:lnSpc>
            </a:pPr>
            <a:r>
              <a:rPr sz="712" b="1" i="0" spc="150">
                <a:solidFill>
                  <a:srgbClr val="FFFFFF"/>
                </a:solidFill>
                <a:latin typeface="Calibri"/>
              </a:rPr>
              <a:t>OPERATING METRICS</a:t>
            </a:r>
          </a:p>
        </p:txBody>
      </p:sp>
      <p:sp>
        <p:nvSpPr>
          <p:cNvPr id="18" name="Rectangle 17"/>
          <p:cNvSpPr/>
          <p:nvPr/>
        </p:nvSpPr>
        <p:spPr>
          <a:xfrm>
            <a:off x="1878509" y="1571625"/>
            <a:ext cx="7760791" cy="9525"/>
          </a:xfrm>
          <a:prstGeom prst="rect">
            <a:avLst/>
          </a:prstGeom>
          <a:solidFill>
            <a:srgbClr val="E3DCD3"/>
          </a:solidFill>
          <a:ln>
            <a:noFill/>
          </a:ln>
          <a:effectLst/>
        </p:spPr>
        <p:txBody>
          <a:bodyPr rtlCol="0" anchor="ctr"/>
          <a:lstStyle/>
          <a:p>
            <a:pPr algn="ctr"/>
            <a:endParaRPr/>
          </a:p>
        </p:txBody>
      </p:sp>
      <p:sp>
        <p:nvSpPr>
          <p:cNvPr id="19" name="Rectangle 18"/>
          <p:cNvSpPr/>
          <p:nvPr/>
        </p:nvSpPr>
        <p:spPr>
          <a:xfrm>
            <a:off x="419100" y="1762125"/>
            <a:ext cx="2219325" cy="9525"/>
          </a:xfrm>
          <a:prstGeom prst="rect">
            <a:avLst/>
          </a:prstGeom>
          <a:solidFill>
            <a:srgbClr val="E3DCD3"/>
          </a:solidFill>
          <a:ln>
            <a:noFill/>
          </a:ln>
          <a:effectLst/>
        </p:spPr>
        <p:txBody>
          <a:bodyPr rtlCol="0" anchor="ctr"/>
          <a:lstStyle/>
          <a:p>
            <a:pPr algn="ctr"/>
            <a:endParaRPr/>
          </a:p>
        </p:txBody>
      </p:sp>
      <p:sp>
        <p:nvSpPr>
          <p:cNvPr id="20" name="Rectangle 19"/>
          <p:cNvSpPr/>
          <p:nvPr/>
        </p:nvSpPr>
        <p:spPr>
          <a:xfrm>
            <a:off x="2628900" y="1762125"/>
            <a:ext cx="9525" cy="2038350"/>
          </a:xfrm>
          <a:prstGeom prst="rect">
            <a:avLst/>
          </a:prstGeom>
          <a:solidFill>
            <a:srgbClr val="E3DCD3"/>
          </a:solidFill>
          <a:ln>
            <a:noFill/>
          </a:ln>
          <a:effectLst/>
        </p:spPr>
        <p:txBody>
          <a:bodyPr rtlCol="0" anchor="ctr"/>
          <a:lstStyle/>
          <a:p>
            <a:pPr algn="ctr"/>
            <a:endParaRPr/>
          </a:p>
        </p:txBody>
      </p:sp>
      <p:sp>
        <p:nvSpPr>
          <p:cNvPr id="21" name="Rectangle 20"/>
          <p:cNvSpPr/>
          <p:nvPr/>
        </p:nvSpPr>
        <p:spPr>
          <a:xfrm>
            <a:off x="419100" y="3790950"/>
            <a:ext cx="2219325" cy="9525"/>
          </a:xfrm>
          <a:prstGeom prst="rect">
            <a:avLst/>
          </a:prstGeom>
          <a:solidFill>
            <a:srgbClr val="E3DCD3"/>
          </a:solidFill>
          <a:ln>
            <a:noFill/>
          </a:ln>
          <a:effectLst/>
        </p:spPr>
        <p:txBody>
          <a:bodyPr rtlCol="0" anchor="ctr"/>
          <a:lstStyle/>
          <a:p>
            <a:pPr algn="ctr"/>
            <a:endParaRPr/>
          </a:p>
        </p:txBody>
      </p:sp>
      <p:sp>
        <p:nvSpPr>
          <p:cNvPr id="22" name="Rectangle 21"/>
          <p:cNvSpPr/>
          <p:nvPr/>
        </p:nvSpPr>
        <p:spPr>
          <a:xfrm>
            <a:off x="419100" y="1762125"/>
            <a:ext cx="9525" cy="2038350"/>
          </a:xfrm>
          <a:prstGeom prst="rect">
            <a:avLst/>
          </a:prstGeom>
          <a:solidFill>
            <a:srgbClr val="E3DCD3"/>
          </a:solidFill>
          <a:ln>
            <a:noFill/>
          </a:ln>
          <a:effectLst/>
        </p:spPr>
        <p:txBody>
          <a:bodyPr rtlCol="0" anchor="ctr"/>
          <a:lstStyle/>
          <a:p>
            <a:pPr algn="ctr"/>
            <a:endParaRPr/>
          </a:p>
        </p:txBody>
      </p:sp>
      <p:sp>
        <p:nvSpPr>
          <p:cNvPr id="23" name="Text: Revenue growth, trailing twelve mo"/>
          <p:cNvSpPr txBox="1"/>
          <p:nvPr/>
        </p:nvSpPr>
        <p:spPr>
          <a:xfrm>
            <a:off x="542925" y="1876425"/>
            <a:ext cx="1985962" cy="142875"/>
          </a:xfrm>
          <a:prstGeom prst="rect">
            <a:avLst/>
          </a:prstGeom>
          <a:noFill/>
        </p:spPr>
        <p:txBody>
          <a:bodyPr wrap="square" lIns="0" tIns="0" rIns="0" bIns="0" anchor="t">
            <a:spAutoFit/>
          </a:bodyPr>
          <a:lstStyle/>
          <a:p>
            <a:pPr algn="l">
              <a:lnSpc>
                <a:spcPts val="1125"/>
              </a:lnSpc>
            </a:pPr>
            <a:r>
              <a:rPr sz="861" b="1" i="0" spc="15">
                <a:solidFill>
                  <a:srgbClr val="1B1A1A"/>
                </a:solidFill>
                <a:latin typeface="Calibri"/>
              </a:rPr>
              <a:t>Revenue growth, trailing twelve months</a:t>
            </a:r>
          </a:p>
        </p:txBody>
      </p:sp>
      <p:sp>
        <p:nvSpPr>
          <p:cNvPr id="24" name="Text: Median, year over year, including "/>
          <p:cNvSpPr txBox="1"/>
          <p:nvPr/>
        </p:nvSpPr>
        <p:spPr>
          <a:xfrm>
            <a:off x="542925" y="2019300"/>
            <a:ext cx="1985962" cy="247650"/>
          </a:xfrm>
          <a:prstGeom prst="rect">
            <a:avLst/>
          </a:prstGeom>
          <a:noFill/>
        </p:spPr>
        <p:txBody>
          <a:bodyPr wrap="square" lIns="0" tIns="0" rIns="0" bIns="0" anchor="t">
            <a:spAutoFit/>
          </a:bodyPr>
          <a:lstStyle/>
          <a:p>
            <a:pPr algn="l">
              <a:lnSpc>
                <a:spcPts val="975"/>
              </a:lnSpc>
            </a:pPr>
            <a:r>
              <a:rPr sz="712" b="0" i="0" spc="15">
                <a:solidFill>
                  <a:srgbClr val="6F6A66"/>
                </a:solidFill>
                <a:latin typeface="Calibri"/>
              </a:rPr>
              <a:t>Median, year over year, including acquisitions</a:t>
            </a:r>
          </a:p>
        </p:txBody>
      </p:sp>
      <p:graphicFrame>
        <p:nvGraphicFramePr>
          <p:cNvPr id="25" name="Chart (edit data to update)"/>
          <p:cNvGraphicFramePr>
            <a:graphicFrameLocks noGrp="1"/>
          </p:cNvGraphicFramePr>
          <p:nvPr/>
        </p:nvGraphicFramePr>
        <p:xfrm>
          <a:off x="542925" y="2305050"/>
          <a:ext cx="1962150" cy="1409700"/>
        </p:xfrm>
        <a:graphic>
          <a:graphicData uri="http://schemas.openxmlformats.org/drawingml/2006/chart">
            <c:chart xmlns:c="http://schemas.openxmlformats.org/drawingml/2006/chart" xmlns:r="http://schemas.openxmlformats.org/officeDocument/2006/relationships" r:id="rId2"/>
          </a:graphicData>
        </a:graphic>
      </p:graphicFrame>
      <p:sp>
        <p:nvSpPr>
          <p:cNvPr id="26" name="Rectangle 25"/>
          <p:cNvSpPr/>
          <p:nvPr/>
        </p:nvSpPr>
        <p:spPr>
          <a:xfrm>
            <a:off x="2752725" y="1762125"/>
            <a:ext cx="2219325" cy="9525"/>
          </a:xfrm>
          <a:prstGeom prst="rect">
            <a:avLst/>
          </a:prstGeom>
          <a:solidFill>
            <a:srgbClr val="E3DCD3"/>
          </a:solidFill>
          <a:ln>
            <a:noFill/>
          </a:ln>
          <a:effectLst/>
        </p:spPr>
        <p:txBody>
          <a:bodyPr rtlCol="0" anchor="ctr"/>
          <a:lstStyle/>
          <a:p>
            <a:pPr algn="ctr"/>
            <a:endParaRPr/>
          </a:p>
        </p:txBody>
      </p:sp>
      <p:sp>
        <p:nvSpPr>
          <p:cNvPr id="27" name="Rectangle 26"/>
          <p:cNvSpPr/>
          <p:nvPr/>
        </p:nvSpPr>
        <p:spPr>
          <a:xfrm>
            <a:off x="4962525" y="1762125"/>
            <a:ext cx="9525" cy="2038350"/>
          </a:xfrm>
          <a:prstGeom prst="rect">
            <a:avLst/>
          </a:prstGeom>
          <a:solidFill>
            <a:srgbClr val="E3DCD3"/>
          </a:solidFill>
          <a:ln>
            <a:noFill/>
          </a:ln>
          <a:effectLst/>
        </p:spPr>
        <p:txBody>
          <a:bodyPr rtlCol="0" anchor="ctr"/>
          <a:lstStyle/>
          <a:p>
            <a:pPr algn="ctr"/>
            <a:endParaRPr/>
          </a:p>
        </p:txBody>
      </p:sp>
      <p:sp>
        <p:nvSpPr>
          <p:cNvPr id="28" name="Rectangle 27"/>
          <p:cNvSpPr/>
          <p:nvPr/>
        </p:nvSpPr>
        <p:spPr>
          <a:xfrm>
            <a:off x="2752725" y="3790950"/>
            <a:ext cx="2219325" cy="9525"/>
          </a:xfrm>
          <a:prstGeom prst="rect">
            <a:avLst/>
          </a:prstGeom>
          <a:solidFill>
            <a:srgbClr val="E3DCD3"/>
          </a:solidFill>
          <a:ln>
            <a:noFill/>
          </a:ln>
          <a:effectLst/>
        </p:spPr>
        <p:txBody>
          <a:bodyPr rtlCol="0" anchor="ctr"/>
          <a:lstStyle/>
          <a:p>
            <a:pPr algn="ctr"/>
            <a:endParaRPr/>
          </a:p>
        </p:txBody>
      </p:sp>
      <p:sp>
        <p:nvSpPr>
          <p:cNvPr id="29" name="Rectangle 28"/>
          <p:cNvSpPr/>
          <p:nvPr/>
        </p:nvSpPr>
        <p:spPr>
          <a:xfrm>
            <a:off x="2752725" y="1762125"/>
            <a:ext cx="9525" cy="2038350"/>
          </a:xfrm>
          <a:prstGeom prst="rect">
            <a:avLst/>
          </a:prstGeom>
          <a:solidFill>
            <a:srgbClr val="E3DCD3"/>
          </a:solidFill>
          <a:ln>
            <a:noFill/>
          </a:ln>
          <a:effectLst/>
        </p:spPr>
        <p:txBody>
          <a:bodyPr rtlCol="0" anchor="ctr"/>
          <a:lstStyle/>
          <a:p>
            <a:pPr algn="ctr"/>
            <a:endParaRPr/>
          </a:p>
        </p:txBody>
      </p:sp>
      <p:sp>
        <p:nvSpPr>
          <p:cNvPr id="30" name="Text: Revenue growth, analyst consensus"/>
          <p:cNvSpPr txBox="1"/>
          <p:nvPr/>
        </p:nvSpPr>
        <p:spPr>
          <a:xfrm>
            <a:off x="2876550" y="1876425"/>
            <a:ext cx="1985962" cy="142875"/>
          </a:xfrm>
          <a:prstGeom prst="rect">
            <a:avLst/>
          </a:prstGeom>
          <a:noFill/>
        </p:spPr>
        <p:txBody>
          <a:bodyPr wrap="square" lIns="0" tIns="0" rIns="0" bIns="0" anchor="t">
            <a:spAutoFit/>
          </a:bodyPr>
          <a:lstStyle/>
          <a:p>
            <a:pPr algn="l">
              <a:lnSpc>
                <a:spcPts val="1125"/>
              </a:lnSpc>
            </a:pPr>
            <a:r>
              <a:rPr sz="861" b="1" i="0" spc="15">
                <a:solidFill>
                  <a:srgbClr val="1B1A1A"/>
                </a:solidFill>
                <a:latin typeface="Calibri"/>
              </a:rPr>
              <a:t>Revenue growth, analyst consensus</a:t>
            </a:r>
          </a:p>
        </p:txBody>
      </p:sp>
      <p:sp>
        <p:nvSpPr>
          <p:cNvPr id="31" name="Text: Median estimate for the current fi"/>
          <p:cNvSpPr txBox="1"/>
          <p:nvPr/>
        </p:nvSpPr>
        <p:spPr>
          <a:xfrm>
            <a:off x="2876550" y="2019300"/>
            <a:ext cx="1985962" cy="247650"/>
          </a:xfrm>
          <a:prstGeom prst="rect">
            <a:avLst/>
          </a:prstGeom>
          <a:noFill/>
        </p:spPr>
        <p:txBody>
          <a:bodyPr wrap="square" lIns="0" tIns="0" rIns="0" bIns="0" anchor="t">
            <a:spAutoFit/>
          </a:bodyPr>
          <a:lstStyle/>
          <a:p>
            <a:pPr algn="l">
              <a:lnSpc>
                <a:spcPts val="975"/>
              </a:lnSpc>
            </a:pPr>
            <a:r>
              <a:rPr sz="712" b="0" i="0" spc="15">
                <a:solidFill>
                  <a:srgbClr val="6F6A66"/>
                </a:solidFill>
                <a:latin typeface="Calibri"/>
              </a:rPr>
              <a:t>Median estimate for the current fiscal year</a:t>
            </a:r>
          </a:p>
        </p:txBody>
      </p:sp>
      <p:graphicFrame>
        <p:nvGraphicFramePr>
          <p:cNvPr id="32" name="Chart (edit data to update)"/>
          <p:cNvGraphicFramePr>
            <a:graphicFrameLocks noGrp="1"/>
          </p:cNvGraphicFramePr>
          <p:nvPr/>
        </p:nvGraphicFramePr>
        <p:xfrm>
          <a:off x="2876550" y="2305050"/>
          <a:ext cx="1962150" cy="1409700"/>
        </p:xfrm>
        <a:graphic>
          <a:graphicData uri="http://schemas.openxmlformats.org/drawingml/2006/chart">
            <c:chart xmlns:c="http://schemas.openxmlformats.org/drawingml/2006/chart" xmlns:r="http://schemas.openxmlformats.org/officeDocument/2006/relationships" r:id="rId3"/>
          </a:graphicData>
        </a:graphic>
      </p:graphicFrame>
      <p:sp>
        <p:nvSpPr>
          <p:cNvPr id="33" name="Rectangle 32"/>
          <p:cNvSpPr/>
          <p:nvPr/>
        </p:nvSpPr>
        <p:spPr>
          <a:xfrm>
            <a:off x="5086350" y="1762125"/>
            <a:ext cx="2219325" cy="9525"/>
          </a:xfrm>
          <a:prstGeom prst="rect">
            <a:avLst/>
          </a:prstGeom>
          <a:solidFill>
            <a:srgbClr val="E3DCD3"/>
          </a:solidFill>
          <a:ln>
            <a:noFill/>
          </a:ln>
          <a:effectLst/>
        </p:spPr>
        <p:txBody>
          <a:bodyPr rtlCol="0" anchor="ctr"/>
          <a:lstStyle/>
          <a:p>
            <a:pPr algn="ctr"/>
            <a:endParaRPr/>
          </a:p>
        </p:txBody>
      </p:sp>
      <p:sp>
        <p:nvSpPr>
          <p:cNvPr id="34" name="Rectangle 33"/>
          <p:cNvSpPr/>
          <p:nvPr/>
        </p:nvSpPr>
        <p:spPr>
          <a:xfrm>
            <a:off x="7296150" y="1762125"/>
            <a:ext cx="9525" cy="2038350"/>
          </a:xfrm>
          <a:prstGeom prst="rect">
            <a:avLst/>
          </a:prstGeom>
          <a:solidFill>
            <a:srgbClr val="E3DCD3"/>
          </a:solidFill>
          <a:ln>
            <a:noFill/>
          </a:ln>
          <a:effectLst/>
        </p:spPr>
        <p:txBody>
          <a:bodyPr rtlCol="0" anchor="ctr"/>
          <a:lstStyle/>
          <a:p>
            <a:pPr algn="ctr"/>
            <a:endParaRPr/>
          </a:p>
        </p:txBody>
      </p:sp>
      <p:sp>
        <p:nvSpPr>
          <p:cNvPr id="35" name="Rectangle 34"/>
          <p:cNvSpPr/>
          <p:nvPr/>
        </p:nvSpPr>
        <p:spPr>
          <a:xfrm>
            <a:off x="5086350" y="3790950"/>
            <a:ext cx="2219325" cy="9525"/>
          </a:xfrm>
          <a:prstGeom prst="rect">
            <a:avLst/>
          </a:prstGeom>
          <a:solidFill>
            <a:srgbClr val="E3DCD3"/>
          </a:solidFill>
          <a:ln>
            <a:noFill/>
          </a:ln>
          <a:effectLst/>
        </p:spPr>
        <p:txBody>
          <a:bodyPr rtlCol="0" anchor="ctr"/>
          <a:lstStyle/>
          <a:p>
            <a:pPr algn="ctr"/>
            <a:endParaRPr/>
          </a:p>
        </p:txBody>
      </p:sp>
      <p:sp>
        <p:nvSpPr>
          <p:cNvPr id="36" name="Rectangle 35"/>
          <p:cNvSpPr/>
          <p:nvPr/>
        </p:nvSpPr>
        <p:spPr>
          <a:xfrm>
            <a:off x="5086350" y="1762125"/>
            <a:ext cx="9525" cy="2038350"/>
          </a:xfrm>
          <a:prstGeom prst="rect">
            <a:avLst/>
          </a:prstGeom>
          <a:solidFill>
            <a:srgbClr val="E3DCD3"/>
          </a:solidFill>
          <a:ln>
            <a:noFill/>
          </a:ln>
          <a:effectLst/>
        </p:spPr>
        <p:txBody>
          <a:bodyPr rtlCol="0" anchor="ctr"/>
          <a:lstStyle/>
          <a:p>
            <a:pPr algn="ctr"/>
            <a:endParaRPr/>
          </a:p>
        </p:txBody>
      </p:sp>
      <p:sp>
        <p:nvSpPr>
          <p:cNvPr id="37" name="Text: EBITDA margin, trailing twelve mon"/>
          <p:cNvSpPr txBox="1"/>
          <p:nvPr/>
        </p:nvSpPr>
        <p:spPr>
          <a:xfrm>
            <a:off x="5210175" y="1876425"/>
            <a:ext cx="1985962" cy="142875"/>
          </a:xfrm>
          <a:prstGeom prst="rect">
            <a:avLst/>
          </a:prstGeom>
          <a:noFill/>
        </p:spPr>
        <p:txBody>
          <a:bodyPr wrap="square" lIns="0" tIns="0" rIns="0" bIns="0" anchor="t">
            <a:spAutoFit/>
          </a:bodyPr>
          <a:lstStyle/>
          <a:p>
            <a:pPr algn="l">
              <a:lnSpc>
                <a:spcPts val="1125"/>
              </a:lnSpc>
            </a:pPr>
            <a:r>
              <a:rPr sz="861" b="1" i="0" spc="15">
                <a:solidFill>
                  <a:srgbClr val="1B1A1A"/>
                </a:solidFill>
                <a:latin typeface="Calibri"/>
              </a:rPr>
              <a:t>EBITDA margin, trailing twelve months</a:t>
            </a:r>
          </a:p>
        </p:txBody>
      </p:sp>
      <p:sp>
        <p:nvSpPr>
          <p:cNvPr id="38" name="Text: Median, on reported EBITDA"/>
          <p:cNvSpPr txBox="1"/>
          <p:nvPr/>
        </p:nvSpPr>
        <p:spPr>
          <a:xfrm>
            <a:off x="5210175" y="2019300"/>
            <a:ext cx="1985962" cy="247650"/>
          </a:xfrm>
          <a:prstGeom prst="rect">
            <a:avLst/>
          </a:prstGeom>
          <a:noFill/>
        </p:spPr>
        <p:txBody>
          <a:bodyPr wrap="square" lIns="0" tIns="0" rIns="0" bIns="0" anchor="t">
            <a:spAutoFit/>
          </a:bodyPr>
          <a:lstStyle/>
          <a:p>
            <a:pPr algn="l">
              <a:lnSpc>
                <a:spcPts val="975"/>
              </a:lnSpc>
            </a:pPr>
            <a:r>
              <a:rPr sz="712" b="0" i="0" spc="15">
                <a:solidFill>
                  <a:srgbClr val="6F6A66"/>
                </a:solidFill>
                <a:latin typeface="Calibri"/>
              </a:rPr>
              <a:t>Median, on reported EBITDA</a:t>
            </a:r>
          </a:p>
        </p:txBody>
      </p:sp>
      <p:graphicFrame>
        <p:nvGraphicFramePr>
          <p:cNvPr id="39" name="Chart (edit data to update)"/>
          <p:cNvGraphicFramePr>
            <a:graphicFrameLocks noGrp="1"/>
          </p:cNvGraphicFramePr>
          <p:nvPr/>
        </p:nvGraphicFramePr>
        <p:xfrm>
          <a:off x="5210175" y="2305050"/>
          <a:ext cx="1962150" cy="1409700"/>
        </p:xfrm>
        <a:graphic>
          <a:graphicData uri="http://schemas.openxmlformats.org/drawingml/2006/chart">
            <c:chart xmlns:c="http://schemas.openxmlformats.org/drawingml/2006/chart" xmlns:r="http://schemas.openxmlformats.org/officeDocument/2006/relationships" r:id="rId4"/>
          </a:graphicData>
        </a:graphic>
      </p:graphicFrame>
      <p:sp>
        <p:nvSpPr>
          <p:cNvPr id="40" name="Rectangle 39"/>
          <p:cNvSpPr/>
          <p:nvPr/>
        </p:nvSpPr>
        <p:spPr>
          <a:xfrm>
            <a:off x="7419975" y="1762125"/>
            <a:ext cx="2219325" cy="9525"/>
          </a:xfrm>
          <a:prstGeom prst="rect">
            <a:avLst/>
          </a:prstGeom>
          <a:solidFill>
            <a:srgbClr val="E3DCD3"/>
          </a:solidFill>
          <a:ln>
            <a:noFill/>
          </a:ln>
          <a:effectLst/>
        </p:spPr>
        <p:txBody>
          <a:bodyPr rtlCol="0" anchor="ctr"/>
          <a:lstStyle/>
          <a:p>
            <a:pPr algn="ctr"/>
            <a:endParaRPr/>
          </a:p>
        </p:txBody>
      </p:sp>
      <p:sp>
        <p:nvSpPr>
          <p:cNvPr id="41" name="Rectangle 40"/>
          <p:cNvSpPr/>
          <p:nvPr/>
        </p:nvSpPr>
        <p:spPr>
          <a:xfrm>
            <a:off x="9629775" y="1762125"/>
            <a:ext cx="9525" cy="2038350"/>
          </a:xfrm>
          <a:prstGeom prst="rect">
            <a:avLst/>
          </a:prstGeom>
          <a:solidFill>
            <a:srgbClr val="E3DCD3"/>
          </a:solidFill>
          <a:ln>
            <a:noFill/>
          </a:ln>
          <a:effectLst/>
        </p:spPr>
        <p:txBody>
          <a:bodyPr rtlCol="0" anchor="ctr"/>
          <a:lstStyle/>
          <a:p>
            <a:pPr algn="ctr"/>
            <a:endParaRPr/>
          </a:p>
        </p:txBody>
      </p:sp>
      <p:sp>
        <p:nvSpPr>
          <p:cNvPr id="42" name="Rectangle 41"/>
          <p:cNvSpPr/>
          <p:nvPr/>
        </p:nvSpPr>
        <p:spPr>
          <a:xfrm>
            <a:off x="7419975" y="3790950"/>
            <a:ext cx="2219325" cy="9525"/>
          </a:xfrm>
          <a:prstGeom prst="rect">
            <a:avLst/>
          </a:prstGeom>
          <a:solidFill>
            <a:srgbClr val="E3DCD3"/>
          </a:solidFill>
          <a:ln>
            <a:noFill/>
          </a:ln>
          <a:effectLst/>
        </p:spPr>
        <p:txBody>
          <a:bodyPr rtlCol="0" anchor="ctr"/>
          <a:lstStyle/>
          <a:p>
            <a:pPr algn="ctr"/>
            <a:endParaRPr/>
          </a:p>
        </p:txBody>
      </p:sp>
      <p:sp>
        <p:nvSpPr>
          <p:cNvPr id="43" name="Rectangle 42"/>
          <p:cNvSpPr/>
          <p:nvPr/>
        </p:nvSpPr>
        <p:spPr>
          <a:xfrm>
            <a:off x="7419975" y="1762125"/>
            <a:ext cx="9525" cy="2038350"/>
          </a:xfrm>
          <a:prstGeom prst="rect">
            <a:avLst/>
          </a:prstGeom>
          <a:solidFill>
            <a:srgbClr val="E3DCD3"/>
          </a:solidFill>
          <a:ln>
            <a:noFill/>
          </a:ln>
          <a:effectLst/>
        </p:spPr>
        <p:txBody>
          <a:bodyPr rtlCol="0" anchor="ctr"/>
          <a:lstStyle/>
          <a:p>
            <a:pPr algn="ctr"/>
            <a:endParaRPr/>
          </a:p>
        </p:txBody>
      </p:sp>
      <p:sp>
        <p:nvSpPr>
          <p:cNvPr id="44" name="Text: Free cash flow margin"/>
          <p:cNvSpPr txBox="1"/>
          <p:nvPr/>
        </p:nvSpPr>
        <p:spPr>
          <a:xfrm>
            <a:off x="7543800" y="1876425"/>
            <a:ext cx="1985962" cy="142875"/>
          </a:xfrm>
          <a:prstGeom prst="rect">
            <a:avLst/>
          </a:prstGeom>
          <a:noFill/>
        </p:spPr>
        <p:txBody>
          <a:bodyPr wrap="square" lIns="0" tIns="0" rIns="0" bIns="0" anchor="t">
            <a:spAutoFit/>
          </a:bodyPr>
          <a:lstStyle/>
          <a:p>
            <a:pPr algn="l">
              <a:lnSpc>
                <a:spcPts val="1125"/>
              </a:lnSpc>
            </a:pPr>
            <a:r>
              <a:rPr sz="861" b="1" i="0" spc="15">
                <a:solidFill>
                  <a:srgbClr val="1B1A1A"/>
                </a:solidFill>
                <a:latin typeface="Calibri"/>
              </a:rPr>
              <a:t>Free cash flow margin</a:t>
            </a:r>
          </a:p>
        </p:txBody>
      </p:sp>
      <p:sp>
        <p:nvSpPr>
          <p:cNvPr id="45" name="Text: Median, trailing twelve months"/>
          <p:cNvSpPr txBox="1"/>
          <p:nvPr/>
        </p:nvSpPr>
        <p:spPr>
          <a:xfrm>
            <a:off x="7543800" y="2019300"/>
            <a:ext cx="1985962" cy="247650"/>
          </a:xfrm>
          <a:prstGeom prst="rect">
            <a:avLst/>
          </a:prstGeom>
          <a:noFill/>
        </p:spPr>
        <p:txBody>
          <a:bodyPr wrap="square" lIns="0" tIns="0" rIns="0" bIns="0" anchor="t">
            <a:spAutoFit/>
          </a:bodyPr>
          <a:lstStyle/>
          <a:p>
            <a:pPr algn="l">
              <a:lnSpc>
                <a:spcPts val="975"/>
              </a:lnSpc>
            </a:pPr>
            <a:r>
              <a:rPr sz="712" b="0" i="0" spc="15">
                <a:solidFill>
                  <a:srgbClr val="6F6A66"/>
                </a:solidFill>
                <a:latin typeface="Calibri"/>
              </a:rPr>
              <a:t>Median, trailing twelve months</a:t>
            </a:r>
          </a:p>
        </p:txBody>
      </p:sp>
      <p:graphicFrame>
        <p:nvGraphicFramePr>
          <p:cNvPr id="46" name="Chart (edit data to update)"/>
          <p:cNvGraphicFramePr>
            <a:graphicFrameLocks noGrp="1"/>
          </p:cNvGraphicFramePr>
          <p:nvPr/>
        </p:nvGraphicFramePr>
        <p:xfrm>
          <a:off x="7543800" y="2305050"/>
          <a:ext cx="1962150" cy="1409700"/>
        </p:xfrm>
        <a:graphic>
          <a:graphicData uri="http://schemas.openxmlformats.org/drawingml/2006/chart">
            <c:chart xmlns:c="http://schemas.openxmlformats.org/drawingml/2006/chart" xmlns:r="http://schemas.openxmlformats.org/officeDocument/2006/relationships" r:id="rId5"/>
          </a:graphicData>
        </a:graphic>
      </p:graphicFrame>
      <p:sp>
        <p:nvSpPr>
          <p:cNvPr id="47" name="Rectangle 46"/>
          <p:cNvSpPr/>
          <p:nvPr/>
        </p:nvSpPr>
        <p:spPr>
          <a:xfrm>
            <a:off x="419100" y="3933825"/>
            <a:ext cx="1340495" cy="219075"/>
          </a:xfrm>
          <a:prstGeom prst="rect">
            <a:avLst/>
          </a:prstGeom>
          <a:solidFill>
            <a:srgbClr val="1B1A1A"/>
          </a:solidFill>
          <a:ln>
            <a:noFill/>
          </a:ln>
          <a:effectLst/>
        </p:spPr>
        <p:txBody>
          <a:bodyPr rtlCol="0" anchor="ctr"/>
          <a:lstStyle/>
          <a:p>
            <a:pPr algn="ctr"/>
            <a:endParaRPr/>
          </a:p>
        </p:txBody>
      </p:sp>
      <p:sp>
        <p:nvSpPr>
          <p:cNvPr id="48" name="Text: VALUATION METRICS"/>
          <p:cNvSpPr txBox="1"/>
          <p:nvPr/>
        </p:nvSpPr>
        <p:spPr>
          <a:xfrm>
            <a:off x="533400" y="3981450"/>
            <a:ext cx="1126182" cy="123825"/>
          </a:xfrm>
          <a:prstGeom prst="rect">
            <a:avLst/>
          </a:prstGeom>
          <a:noFill/>
        </p:spPr>
        <p:txBody>
          <a:bodyPr wrap="square" lIns="0" tIns="0" rIns="0" bIns="0" anchor="t">
            <a:spAutoFit/>
          </a:bodyPr>
          <a:lstStyle/>
          <a:p>
            <a:pPr algn="l">
              <a:lnSpc>
                <a:spcPts val="975"/>
              </a:lnSpc>
            </a:pPr>
            <a:r>
              <a:rPr sz="712" b="1" i="0" spc="150">
                <a:solidFill>
                  <a:srgbClr val="FFFFFF"/>
                </a:solidFill>
                <a:latin typeface="Calibri"/>
              </a:rPr>
              <a:t>VALUATION METRICS</a:t>
            </a:r>
          </a:p>
        </p:txBody>
      </p:sp>
      <p:sp>
        <p:nvSpPr>
          <p:cNvPr id="49" name="Rectangle 48"/>
          <p:cNvSpPr/>
          <p:nvPr/>
        </p:nvSpPr>
        <p:spPr>
          <a:xfrm>
            <a:off x="1873895" y="4038600"/>
            <a:ext cx="7765405" cy="9525"/>
          </a:xfrm>
          <a:prstGeom prst="rect">
            <a:avLst/>
          </a:prstGeom>
          <a:solidFill>
            <a:srgbClr val="E3DCD3"/>
          </a:solidFill>
          <a:ln>
            <a:noFill/>
          </a:ln>
          <a:effectLst/>
        </p:spPr>
        <p:txBody>
          <a:bodyPr rtlCol="0" anchor="ctr"/>
          <a:lstStyle/>
          <a:p>
            <a:pPr algn="ctr"/>
            <a:endParaRPr/>
          </a:p>
        </p:txBody>
      </p:sp>
      <p:sp>
        <p:nvSpPr>
          <p:cNvPr id="50" name="Rectangle 49"/>
          <p:cNvSpPr/>
          <p:nvPr/>
        </p:nvSpPr>
        <p:spPr>
          <a:xfrm>
            <a:off x="419100" y="4229100"/>
            <a:ext cx="2219325" cy="9525"/>
          </a:xfrm>
          <a:prstGeom prst="rect">
            <a:avLst/>
          </a:prstGeom>
          <a:solidFill>
            <a:srgbClr val="E3DCD3"/>
          </a:solidFill>
          <a:ln>
            <a:noFill/>
          </a:ln>
          <a:effectLst/>
        </p:spPr>
        <p:txBody>
          <a:bodyPr rtlCol="0" anchor="ctr"/>
          <a:lstStyle/>
          <a:p>
            <a:pPr algn="ctr"/>
            <a:endParaRPr/>
          </a:p>
        </p:txBody>
      </p:sp>
      <p:sp>
        <p:nvSpPr>
          <p:cNvPr id="51" name="Rectangle 50"/>
          <p:cNvSpPr/>
          <p:nvPr/>
        </p:nvSpPr>
        <p:spPr>
          <a:xfrm>
            <a:off x="2628900" y="4229100"/>
            <a:ext cx="9525" cy="2038350"/>
          </a:xfrm>
          <a:prstGeom prst="rect">
            <a:avLst/>
          </a:prstGeom>
          <a:solidFill>
            <a:srgbClr val="E3DCD3"/>
          </a:solidFill>
          <a:ln>
            <a:noFill/>
          </a:ln>
          <a:effectLst/>
        </p:spPr>
        <p:txBody>
          <a:bodyPr rtlCol="0" anchor="ctr"/>
          <a:lstStyle/>
          <a:p>
            <a:pPr algn="ctr"/>
            <a:endParaRPr/>
          </a:p>
        </p:txBody>
      </p:sp>
      <p:sp>
        <p:nvSpPr>
          <p:cNvPr id="52" name="Rectangle 51"/>
          <p:cNvSpPr/>
          <p:nvPr/>
        </p:nvSpPr>
        <p:spPr>
          <a:xfrm>
            <a:off x="419100" y="6257925"/>
            <a:ext cx="2219325" cy="9525"/>
          </a:xfrm>
          <a:prstGeom prst="rect">
            <a:avLst/>
          </a:prstGeom>
          <a:solidFill>
            <a:srgbClr val="E3DCD3"/>
          </a:solidFill>
          <a:ln>
            <a:noFill/>
          </a:ln>
          <a:effectLst/>
        </p:spPr>
        <p:txBody>
          <a:bodyPr rtlCol="0" anchor="ctr"/>
          <a:lstStyle/>
          <a:p>
            <a:pPr algn="ctr"/>
            <a:endParaRPr/>
          </a:p>
        </p:txBody>
      </p:sp>
      <p:sp>
        <p:nvSpPr>
          <p:cNvPr id="53" name="Rectangle 52"/>
          <p:cNvSpPr/>
          <p:nvPr/>
        </p:nvSpPr>
        <p:spPr>
          <a:xfrm>
            <a:off x="419100" y="4229100"/>
            <a:ext cx="9525" cy="2038350"/>
          </a:xfrm>
          <a:prstGeom prst="rect">
            <a:avLst/>
          </a:prstGeom>
          <a:solidFill>
            <a:srgbClr val="E3DCD3"/>
          </a:solidFill>
          <a:ln>
            <a:noFill/>
          </a:ln>
          <a:effectLst/>
        </p:spPr>
        <p:txBody>
          <a:bodyPr rtlCol="0" anchor="ctr"/>
          <a:lstStyle/>
          <a:p>
            <a:pPr algn="ctr"/>
            <a:endParaRPr/>
          </a:p>
        </p:txBody>
      </p:sp>
      <p:sp>
        <p:nvSpPr>
          <p:cNvPr id="54" name="Text: EV to trailing revenue"/>
          <p:cNvSpPr txBox="1"/>
          <p:nvPr/>
        </p:nvSpPr>
        <p:spPr>
          <a:xfrm>
            <a:off x="542925" y="4343400"/>
            <a:ext cx="1985962" cy="142875"/>
          </a:xfrm>
          <a:prstGeom prst="rect">
            <a:avLst/>
          </a:prstGeom>
          <a:noFill/>
        </p:spPr>
        <p:txBody>
          <a:bodyPr wrap="square" lIns="0" tIns="0" rIns="0" bIns="0" anchor="t">
            <a:spAutoFit/>
          </a:bodyPr>
          <a:lstStyle/>
          <a:p>
            <a:pPr algn="l">
              <a:lnSpc>
                <a:spcPts val="1125"/>
              </a:lnSpc>
            </a:pPr>
            <a:r>
              <a:rPr sz="861" b="1" i="0" spc="15">
                <a:solidFill>
                  <a:srgbClr val="1B1A1A"/>
                </a:solidFill>
                <a:latin typeface="Calibri"/>
              </a:rPr>
              <a:t>EV to trailing revenue</a:t>
            </a:r>
          </a:p>
        </p:txBody>
      </p:sp>
      <p:sp>
        <p:nvSpPr>
          <p:cNvPr id="55" name="Text: Median"/>
          <p:cNvSpPr txBox="1"/>
          <p:nvPr/>
        </p:nvSpPr>
        <p:spPr>
          <a:xfrm>
            <a:off x="542925" y="4486275"/>
            <a:ext cx="1985962" cy="247650"/>
          </a:xfrm>
          <a:prstGeom prst="rect">
            <a:avLst/>
          </a:prstGeom>
          <a:noFill/>
        </p:spPr>
        <p:txBody>
          <a:bodyPr wrap="square" lIns="0" tIns="0" rIns="0" bIns="0" anchor="t">
            <a:spAutoFit/>
          </a:bodyPr>
          <a:lstStyle/>
          <a:p>
            <a:pPr algn="l">
              <a:lnSpc>
                <a:spcPts val="975"/>
              </a:lnSpc>
            </a:pPr>
            <a:r>
              <a:rPr sz="712" b="0" i="0" spc="15">
                <a:solidFill>
                  <a:srgbClr val="6F6A66"/>
                </a:solidFill>
                <a:latin typeface="Calibri"/>
              </a:rPr>
              <a:t>Median</a:t>
            </a:r>
          </a:p>
        </p:txBody>
      </p:sp>
      <p:graphicFrame>
        <p:nvGraphicFramePr>
          <p:cNvPr id="56" name="Chart (edit data to update)"/>
          <p:cNvGraphicFramePr>
            <a:graphicFrameLocks noGrp="1"/>
          </p:cNvGraphicFramePr>
          <p:nvPr/>
        </p:nvGraphicFramePr>
        <p:xfrm>
          <a:off x="542925" y="4772025"/>
          <a:ext cx="1962150" cy="1409700"/>
        </p:xfrm>
        <a:graphic>
          <a:graphicData uri="http://schemas.openxmlformats.org/drawingml/2006/chart">
            <c:chart xmlns:c="http://schemas.openxmlformats.org/drawingml/2006/chart" xmlns:r="http://schemas.openxmlformats.org/officeDocument/2006/relationships" r:id="rId6"/>
          </a:graphicData>
        </a:graphic>
      </p:graphicFrame>
      <p:sp>
        <p:nvSpPr>
          <p:cNvPr id="57" name="Rectangle 56"/>
          <p:cNvSpPr/>
          <p:nvPr/>
        </p:nvSpPr>
        <p:spPr>
          <a:xfrm>
            <a:off x="2752725" y="4229100"/>
            <a:ext cx="2219325" cy="9525"/>
          </a:xfrm>
          <a:prstGeom prst="rect">
            <a:avLst/>
          </a:prstGeom>
          <a:solidFill>
            <a:srgbClr val="E3DCD3"/>
          </a:solidFill>
          <a:ln>
            <a:noFill/>
          </a:ln>
          <a:effectLst/>
        </p:spPr>
        <p:txBody>
          <a:bodyPr rtlCol="0" anchor="ctr"/>
          <a:lstStyle/>
          <a:p>
            <a:pPr algn="ctr"/>
            <a:endParaRPr/>
          </a:p>
        </p:txBody>
      </p:sp>
      <p:sp>
        <p:nvSpPr>
          <p:cNvPr id="58" name="Rectangle 57"/>
          <p:cNvSpPr/>
          <p:nvPr/>
        </p:nvSpPr>
        <p:spPr>
          <a:xfrm>
            <a:off x="4962525" y="4229100"/>
            <a:ext cx="9525" cy="2038350"/>
          </a:xfrm>
          <a:prstGeom prst="rect">
            <a:avLst/>
          </a:prstGeom>
          <a:solidFill>
            <a:srgbClr val="E3DCD3"/>
          </a:solidFill>
          <a:ln>
            <a:noFill/>
          </a:ln>
          <a:effectLst/>
        </p:spPr>
        <p:txBody>
          <a:bodyPr rtlCol="0" anchor="ctr"/>
          <a:lstStyle/>
          <a:p>
            <a:pPr algn="ctr"/>
            <a:endParaRPr/>
          </a:p>
        </p:txBody>
      </p:sp>
      <p:sp>
        <p:nvSpPr>
          <p:cNvPr id="59" name="Rectangle 58"/>
          <p:cNvSpPr/>
          <p:nvPr/>
        </p:nvSpPr>
        <p:spPr>
          <a:xfrm>
            <a:off x="2752725" y="6257925"/>
            <a:ext cx="2219325" cy="9525"/>
          </a:xfrm>
          <a:prstGeom prst="rect">
            <a:avLst/>
          </a:prstGeom>
          <a:solidFill>
            <a:srgbClr val="E3DCD3"/>
          </a:solidFill>
          <a:ln>
            <a:noFill/>
          </a:ln>
          <a:effectLst/>
        </p:spPr>
        <p:txBody>
          <a:bodyPr rtlCol="0" anchor="ctr"/>
          <a:lstStyle/>
          <a:p>
            <a:pPr algn="ctr"/>
            <a:endParaRPr/>
          </a:p>
        </p:txBody>
      </p:sp>
      <p:sp>
        <p:nvSpPr>
          <p:cNvPr id="60" name="Rectangle 59"/>
          <p:cNvSpPr/>
          <p:nvPr/>
        </p:nvSpPr>
        <p:spPr>
          <a:xfrm>
            <a:off x="2752725" y="4229100"/>
            <a:ext cx="9525" cy="2038350"/>
          </a:xfrm>
          <a:prstGeom prst="rect">
            <a:avLst/>
          </a:prstGeom>
          <a:solidFill>
            <a:srgbClr val="E3DCD3"/>
          </a:solidFill>
          <a:ln>
            <a:noFill/>
          </a:ln>
          <a:effectLst/>
        </p:spPr>
        <p:txBody>
          <a:bodyPr rtlCol="0" anchor="ctr"/>
          <a:lstStyle/>
          <a:p>
            <a:pPr algn="ctr"/>
            <a:endParaRPr/>
          </a:p>
        </p:txBody>
      </p:sp>
      <p:sp>
        <p:nvSpPr>
          <p:cNvPr id="61" name="Text: EV to trailing EBITDA"/>
          <p:cNvSpPr txBox="1"/>
          <p:nvPr/>
        </p:nvSpPr>
        <p:spPr>
          <a:xfrm>
            <a:off x="2876550" y="4343400"/>
            <a:ext cx="1985962" cy="142875"/>
          </a:xfrm>
          <a:prstGeom prst="rect">
            <a:avLst/>
          </a:prstGeom>
          <a:noFill/>
        </p:spPr>
        <p:txBody>
          <a:bodyPr wrap="square" lIns="0" tIns="0" rIns="0" bIns="0" anchor="t">
            <a:spAutoFit/>
          </a:bodyPr>
          <a:lstStyle/>
          <a:p>
            <a:pPr algn="l">
              <a:lnSpc>
                <a:spcPts val="1125"/>
              </a:lnSpc>
            </a:pPr>
            <a:r>
              <a:rPr sz="861" b="1" i="0" spc="15">
                <a:solidFill>
                  <a:srgbClr val="1B1A1A"/>
                </a:solidFill>
                <a:latin typeface="Calibri"/>
              </a:rPr>
              <a:t>EV to trailing EBITDA</a:t>
            </a:r>
          </a:p>
        </p:txBody>
      </p:sp>
      <p:sp>
        <p:nvSpPr>
          <p:cNvPr id="62" name="Text: Median, companies with comparable "/>
          <p:cNvSpPr txBox="1"/>
          <p:nvPr/>
        </p:nvSpPr>
        <p:spPr>
          <a:xfrm>
            <a:off x="2876550" y="4486275"/>
            <a:ext cx="1985962" cy="247650"/>
          </a:xfrm>
          <a:prstGeom prst="rect">
            <a:avLst/>
          </a:prstGeom>
          <a:noFill/>
        </p:spPr>
        <p:txBody>
          <a:bodyPr wrap="square" lIns="0" tIns="0" rIns="0" bIns="0" anchor="t">
            <a:spAutoFit/>
          </a:bodyPr>
          <a:lstStyle/>
          <a:p>
            <a:pPr algn="l">
              <a:lnSpc>
                <a:spcPts val="975"/>
              </a:lnSpc>
            </a:pPr>
            <a:r>
              <a:rPr sz="712" b="0" i="0" spc="15">
                <a:solidFill>
                  <a:srgbClr val="6F6A66"/>
                </a:solidFill>
                <a:latin typeface="Calibri"/>
              </a:rPr>
              <a:t>Median, companies with comparable history</a:t>
            </a:r>
          </a:p>
        </p:txBody>
      </p:sp>
      <p:graphicFrame>
        <p:nvGraphicFramePr>
          <p:cNvPr id="63" name="Chart (edit data to update)"/>
          <p:cNvGraphicFramePr>
            <a:graphicFrameLocks noGrp="1"/>
          </p:cNvGraphicFramePr>
          <p:nvPr/>
        </p:nvGraphicFramePr>
        <p:xfrm>
          <a:off x="2876550" y="4772025"/>
          <a:ext cx="1962150" cy="1409700"/>
        </p:xfrm>
        <a:graphic>
          <a:graphicData uri="http://schemas.openxmlformats.org/drawingml/2006/chart">
            <c:chart xmlns:c="http://schemas.openxmlformats.org/drawingml/2006/chart" xmlns:r="http://schemas.openxmlformats.org/officeDocument/2006/relationships" r:id="rId7"/>
          </a:graphicData>
        </a:graphic>
      </p:graphicFrame>
      <p:sp>
        <p:nvSpPr>
          <p:cNvPr id="64" name="Rectangle 63"/>
          <p:cNvSpPr/>
          <p:nvPr/>
        </p:nvSpPr>
        <p:spPr>
          <a:xfrm>
            <a:off x="5086350" y="4229100"/>
            <a:ext cx="2219325" cy="9525"/>
          </a:xfrm>
          <a:prstGeom prst="rect">
            <a:avLst/>
          </a:prstGeom>
          <a:solidFill>
            <a:srgbClr val="E3DCD3"/>
          </a:solidFill>
          <a:ln>
            <a:noFill/>
          </a:ln>
          <a:effectLst/>
        </p:spPr>
        <p:txBody>
          <a:bodyPr rtlCol="0" anchor="ctr"/>
          <a:lstStyle/>
          <a:p>
            <a:pPr algn="ctr"/>
            <a:endParaRPr/>
          </a:p>
        </p:txBody>
      </p:sp>
      <p:sp>
        <p:nvSpPr>
          <p:cNvPr id="65" name="Rectangle 64"/>
          <p:cNvSpPr/>
          <p:nvPr/>
        </p:nvSpPr>
        <p:spPr>
          <a:xfrm>
            <a:off x="7296150" y="4229100"/>
            <a:ext cx="9525" cy="2038350"/>
          </a:xfrm>
          <a:prstGeom prst="rect">
            <a:avLst/>
          </a:prstGeom>
          <a:solidFill>
            <a:srgbClr val="E3DCD3"/>
          </a:solidFill>
          <a:ln>
            <a:noFill/>
          </a:ln>
          <a:effectLst/>
        </p:spPr>
        <p:txBody>
          <a:bodyPr rtlCol="0" anchor="ctr"/>
          <a:lstStyle/>
          <a:p>
            <a:pPr algn="ctr"/>
            <a:endParaRPr/>
          </a:p>
        </p:txBody>
      </p:sp>
      <p:sp>
        <p:nvSpPr>
          <p:cNvPr id="66" name="Rectangle 65"/>
          <p:cNvSpPr/>
          <p:nvPr/>
        </p:nvSpPr>
        <p:spPr>
          <a:xfrm>
            <a:off x="5086350" y="6257925"/>
            <a:ext cx="2219325" cy="9525"/>
          </a:xfrm>
          <a:prstGeom prst="rect">
            <a:avLst/>
          </a:prstGeom>
          <a:solidFill>
            <a:srgbClr val="E3DCD3"/>
          </a:solidFill>
          <a:ln>
            <a:noFill/>
          </a:ln>
          <a:effectLst/>
        </p:spPr>
        <p:txBody>
          <a:bodyPr rtlCol="0" anchor="ctr"/>
          <a:lstStyle/>
          <a:p>
            <a:pPr algn="ctr"/>
            <a:endParaRPr/>
          </a:p>
        </p:txBody>
      </p:sp>
      <p:sp>
        <p:nvSpPr>
          <p:cNvPr id="67" name="Rectangle 66"/>
          <p:cNvSpPr/>
          <p:nvPr/>
        </p:nvSpPr>
        <p:spPr>
          <a:xfrm>
            <a:off x="5086350" y="4229100"/>
            <a:ext cx="9525" cy="2038350"/>
          </a:xfrm>
          <a:prstGeom prst="rect">
            <a:avLst/>
          </a:prstGeom>
          <a:solidFill>
            <a:srgbClr val="E3DCD3"/>
          </a:solidFill>
          <a:ln>
            <a:noFill/>
          </a:ln>
          <a:effectLst/>
        </p:spPr>
        <p:txBody>
          <a:bodyPr rtlCol="0" anchor="ctr"/>
          <a:lstStyle/>
          <a:p>
            <a:pPr algn="ctr"/>
            <a:endParaRPr/>
          </a:p>
        </p:txBody>
      </p:sp>
      <p:sp>
        <p:nvSpPr>
          <p:cNvPr id="68" name="Text: EV to trailing EBITDA, a year ago"/>
          <p:cNvSpPr txBox="1"/>
          <p:nvPr/>
        </p:nvSpPr>
        <p:spPr>
          <a:xfrm>
            <a:off x="5210175" y="4343400"/>
            <a:ext cx="1985962" cy="142875"/>
          </a:xfrm>
          <a:prstGeom prst="rect">
            <a:avLst/>
          </a:prstGeom>
          <a:noFill/>
        </p:spPr>
        <p:txBody>
          <a:bodyPr wrap="square" lIns="0" tIns="0" rIns="0" bIns="0" anchor="t">
            <a:spAutoFit/>
          </a:bodyPr>
          <a:lstStyle/>
          <a:p>
            <a:pPr algn="l">
              <a:lnSpc>
                <a:spcPts val="1125"/>
              </a:lnSpc>
            </a:pPr>
            <a:r>
              <a:rPr sz="861" b="1" i="0" spc="15">
                <a:solidFill>
                  <a:srgbClr val="1B1A1A"/>
                </a:solidFill>
                <a:latin typeface="Calibri"/>
              </a:rPr>
              <a:t>EV to trailing EBITDA, a year ago</a:t>
            </a:r>
          </a:p>
        </p:txBody>
      </p:sp>
      <p:sp>
        <p:nvSpPr>
          <p:cNvPr id="69" name="Text: Median, same companies"/>
          <p:cNvSpPr txBox="1"/>
          <p:nvPr/>
        </p:nvSpPr>
        <p:spPr>
          <a:xfrm>
            <a:off x="5210175" y="4486275"/>
            <a:ext cx="1985962" cy="247650"/>
          </a:xfrm>
          <a:prstGeom prst="rect">
            <a:avLst/>
          </a:prstGeom>
          <a:noFill/>
        </p:spPr>
        <p:txBody>
          <a:bodyPr wrap="square" lIns="0" tIns="0" rIns="0" bIns="0" anchor="t">
            <a:spAutoFit/>
          </a:bodyPr>
          <a:lstStyle/>
          <a:p>
            <a:pPr algn="l">
              <a:lnSpc>
                <a:spcPts val="975"/>
              </a:lnSpc>
            </a:pPr>
            <a:r>
              <a:rPr sz="712" b="0" i="0" spc="15">
                <a:solidFill>
                  <a:srgbClr val="6F6A66"/>
                </a:solidFill>
                <a:latin typeface="Calibri"/>
              </a:rPr>
              <a:t>Median, same companies</a:t>
            </a:r>
          </a:p>
        </p:txBody>
      </p:sp>
      <p:graphicFrame>
        <p:nvGraphicFramePr>
          <p:cNvPr id="70" name="Chart (edit data to update)"/>
          <p:cNvGraphicFramePr>
            <a:graphicFrameLocks noGrp="1"/>
          </p:cNvGraphicFramePr>
          <p:nvPr/>
        </p:nvGraphicFramePr>
        <p:xfrm>
          <a:off x="5210175" y="4772025"/>
          <a:ext cx="1962150" cy="1409700"/>
        </p:xfrm>
        <a:graphic>
          <a:graphicData uri="http://schemas.openxmlformats.org/drawingml/2006/chart">
            <c:chart xmlns:c="http://schemas.openxmlformats.org/drawingml/2006/chart" xmlns:r="http://schemas.openxmlformats.org/officeDocument/2006/relationships" r:id="rId8"/>
          </a:graphicData>
        </a:graphic>
      </p:graphicFrame>
      <p:sp>
        <p:nvSpPr>
          <p:cNvPr id="71" name="Rectangle 70"/>
          <p:cNvSpPr/>
          <p:nvPr/>
        </p:nvSpPr>
        <p:spPr>
          <a:xfrm>
            <a:off x="7419975" y="4229100"/>
            <a:ext cx="2219325" cy="9525"/>
          </a:xfrm>
          <a:prstGeom prst="rect">
            <a:avLst/>
          </a:prstGeom>
          <a:solidFill>
            <a:srgbClr val="E3DCD3"/>
          </a:solidFill>
          <a:ln>
            <a:noFill/>
          </a:ln>
          <a:effectLst/>
        </p:spPr>
        <p:txBody>
          <a:bodyPr rtlCol="0" anchor="ctr"/>
          <a:lstStyle/>
          <a:p>
            <a:pPr algn="ctr"/>
            <a:endParaRPr/>
          </a:p>
        </p:txBody>
      </p:sp>
      <p:sp>
        <p:nvSpPr>
          <p:cNvPr id="72" name="Rectangle 71"/>
          <p:cNvSpPr/>
          <p:nvPr/>
        </p:nvSpPr>
        <p:spPr>
          <a:xfrm>
            <a:off x="9629775" y="4229100"/>
            <a:ext cx="9525" cy="2038350"/>
          </a:xfrm>
          <a:prstGeom prst="rect">
            <a:avLst/>
          </a:prstGeom>
          <a:solidFill>
            <a:srgbClr val="E3DCD3"/>
          </a:solidFill>
          <a:ln>
            <a:noFill/>
          </a:ln>
          <a:effectLst/>
        </p:spPr>
        <p:txBody>
          <a:bodyPr rtlCol="0" anchor="ctr"/>
          <a:lstStyle/>
          <a:p>
            <a:pPr algn="ctr"/>
            <a:endParaRPr/>
          </a:p>
        </p:txBody>
      </p:sp>
      <p:sp>
        <p:nvSpPr>
          <p:cNvPr id="73" name="Rectangle 72"/>
          <p:cNvSpPr/>
          <p:nvPr/>
        </p:nvSpPr>
        <p:spPr>
          <a:xfrm>
            <a:off x="7419975" y="6257925"/>
            <a:ext cx="2219325" cy="9525"/>
          </a:xfrm>
          <a:prstGeom prst="rect">
            <a:avLst/>
          </a:prstGeom>
          <a:solidFill>
            <a:srgbClr val="E3DCD3"/>
          </a:solidFill>
          <a:ln>
            <a:noFill/>
          </a:ln>
          <a:effectLst/>
        </p:spPr>
        <p:txBody>
          <a:bodyPr rtlCol="0" anchor="ctr"/>
          <a:lstStyle/>
          <a:p>
            <a:pPr algn="ctr"/>
            <a:endParaRPr/>
          </a:p>
        </p:txBody>
      </p:sp>
      <p:sp>
        <p:nvSpPr>
          <p:cNvPr id="74" name="Rectangle 73"/>
          <p:cNvSpPr/>
          <p:nvPr/>
        </p:nvSpPr>
        <p:spPr>
          <a:xfrm>
            <a:off x="7419975" y="4229100"/>
            <a:ext cx="9525" cy="2038350"/>
          </a:xfrm>
          <a:prstGeom prst="rect">
            <a:avLst/>
          </a:prstGeom>
          <a:solidFill>
            <a:srgbClr val="E3DCD3"/>
          </a:solidFill>
          <a:ln>
            <a:noFill/>
          </a:ln>
          <a:effectLst/>
        </p:spPr>
        <p:txBody>
          <a:bodyPr rtlCol="0" anchor="ctr"/>
          <a:lstStyle/>
          <a:p>
            <a:pPr algn="ctr"/>
            <a:endParaRPr/>
          </a:p>
        </p:txBody>
      </p:sp>
      <p:sp>
        <p:nvSpPr>
          <p:cNvPr id="75" name="Text: Share price relative to 52-week hi"/>
          <p:cNvSpPr txBox="1"/>
          <p:nvPr/>
        </p:nvSpPr>
        <p:spPr>
          <a:xfrm>
            <a:off x="7543800" y="4343400"/>
            <a:ext cx="1985962" cy="142875"/>
          </a:xfrm>
          <a:prstGeom prst="rect">
            <a:avLst/>
          </a:prstGeom>
          <a:noFill/>
        </p:spPr>
        <p:txBody>
          <a:bodyPr wrap="square" lIns="0" tIns="0" rIns="0" bIns="0" anchor="t">
            <a:spAutoFit/>
          </a:bodyPr>
          <a:lstStyle/>
          <a:p>
            <a:pPr algn="l">
              <a:lnSpc>
                <a:spcPts val="1125"/>
              </a:lnSpc>
            </a:pPr>
            <a:r>
              <a:rPr sz="861" b="1" i="0" spc="15">
                <a:solidFill>
                  <a:srgbClr val="1B1A1A"/>
                </a:solidFill>
                <a:latin typeface="Calibri"/>
              </a:rPr>
              <a:t>Share price relative to 52-week high</a:t>
            </a:r>
          </a:p>
        </p:txBody>
      </p:sp>
      <p:sp>
        <p:nvSpPr>
          <p:cNvPr id="76" name="Text: Median"/>
          <p:cNvSpPr txBox="1"/>
          <p:nvPr/>
        </p:nvSpPr>
        <p:spPr>
          <a:xfrm>
            <a:off x="7543800" y="4486275"/>
            <a:ext cx="1985962" cy="247650"/>
          </a:xfrm>
          <a:prstGeom prst="rect">
            <a:avLst/>
          </a:prstGeom>
          <a:noFill/>
        </p:spPr>
        <p:txBody>
          <a:bodyPr wrap="square" lIns="0" tIns="0" rIns="0" bIns="0" anchor="t">
            <a:spAutoFit/>
          </a:bodyPr>
          <a:lstStyle/>
          <a:p>
            <a:pPr algn="l">
              <a:lnSpc>
                <a:spcPts val="975"/>
              </a:lnSpc>
            </a:pPr>
            <a:r>
              <a:rPr sz="712" b="0" i="0" spc="15">
                <a:solidFill>
                  <a:srgbClr val="6F6A66"/>
                </a:solidFill>
                <a:latin typeface="Calibri"/>
              </a:rPr>
              <a:t>Median</a:t>
            </a:r>
          </a:p>
        </p:txBody>
      </p:sp>
      <p:graphicFrame>
        <p:nvGraphicFramePr>
          <p:cNvPr id="77" name="Chart (edit data to update)"/>
          <p:cNvGraphicFramePr>
            <a:graphicFrameLocks noGrp="1"/>
          </p:cNvGraphicFramePr>
          <p:nvPr/>
        </p:nvGraphicFramePr>
        <p:xfrm>
          <a:off x="7543800" y="4772025"/>
          <a:ext cx="1962150" cy="1409700"/>
        </p:xfrm>
        <a:graphic>
          <a:graphicData uri="http://schemas.openxmlformats.org/drawingml/2006/chart">
            <c:chart xmlns:c="http://schemas.openxmlformats.org/drawingml/2006/chart" xmlns:r="http://schemas.openxmlformats.org/officeDocument/2006/relationships" r:id="rId9"/>
          </a:graphicData>
        </a:graphic>
      </p:graphicFrame>
      <p:sp>
        <p:nvSpPr>
          <p:cNvPr id="78" name="Rectangle 77"/>
          <p:cNvSpPr/>
          <p:nvPr/>
        </p:nvSpPr>
        <p:spPr>
          <a:xfrm>
            <a:off x="419100" y="7029450"/>
            <a:ext cx="9220200" cy="9525"/>
          </a:xfrm>
          <a:prstGeom prst="rect">
            <a:avLst/>
          </a:prstGeom>
          <a:solidFill>
            <a:srgbClr val="E3DCD3"/>
          </a:solidFill>
          <a:ln>
            <a:noFill/>
          </a:ln>
          <a:effectLst/>
        </p:spPr>
        <p:txBody>
          <a:bodyPr rtlCol="0" anchor="ctr"/>
          <a:lstStyle/>
          <a:p>
            <a:pPr algn="ctr"/>
            <a:endParaRPr/>
          </a:p>
        </p:txBody>
      </p:sp>
      <p:pic>
        <p:nvPicPr>
          <p:cNvPr id="79" name="Picture 78" descr="Benchmark International"/>
          <p:cNvPicPr>
            <a:picLocks noChangeAspect="1"/>
          </p:cNvPicPr>
          <p:nvPr/>
        </p:nvPicPr>
        <p:blipFill>
          <a:blip r:embed="rId10"/>
          <a:srcRect/>
          <a:stretch>
            <a:fillRect/>
          </a:stretch>
        </p:blipFill>
        <p:spPr>
          <a:xfrm>
            <a:off x="419100" y="7143750"/>
            <a:ext cx="914400" cy="171450"/>
          </a:xfrm>
          <a:prstGeom prst="rect">
            <a:avLst/>
          </a:prstGeom>
        </p:spPr>
      </p:pic>
      <p:sp>
        <p:nvSpPr>
          <p:cNvPr id="80" name="Text: Source: "/>
          <p:cNvSpPr txBox="1"/>
          <p:nvPr/>
        </p:nvSpPr>
        <p:spPr>
          <a:xfrm>
            <a:off x="1543050" y="7105650"/>
            <a:ext cx="7748588" cy="238125"/>
          </a:xfrm>
          <a:prstGeom prst="rect">
            <a:avLst/>
          </a:prstGeom>
          <a:noFill/>
        </p:spPr>
        <p:txBody>
          <a:bodyPr wrap="square" lIns="0" tIns="0" rIns="0" bIns="0" anchor="t">
            <a:spAutoFit/>
          </a:bodyPr>
          <a:lstStyle/>
          <a:p>
            <a:pPr algn="l">
              <a:lnSpc>
                <a:spcPts val="938"/>
              </a:lnSpc>
            </a:pPr>
            <a:r>
              <a:rPr sz="675" b="0" i="0" spc="8">
                <a:solidFill>
                  <a:srgbClr val="6F6A66"/>
                </a:solidFill>
                <a:latin typeface="Calibri"/>
              </a:rPr>
              <a:t>Source: </a:t>
            </a:r>
            <a:r>
              <a:rPr sz="675" b="0" i="0" spc="8">
                <a:solidFill>
                  <a:srgbClr val="8C6239"/>
                </a:solidFill>
                <a:latin typeface="Calibri"/>
                <a:hlinkClick r:id="rId11">
                  <a:extLst>
                    <a:ext uri="{A12FA001-AC4F-418D-AE19-62706E023703}">
                      <ahyp:hlinkClr xmlns:ahyp="http://schemas.microsoft.com/office/drawing/2018/hyperlinkcolor" val="tx"/>
                    </a:ext>
                  </a:extLst>
                </a:hlinkClick>
              </a:rPr>
              <a:t>StockAnalysis</a:t>
            </a:r>
            <a:r>
              <a:rPr sz="675" b="0" i="0" spc="8">
                <a:solidFill>
                  <a:srgbClr val="6F6A66"/>
                </a:solidFill>
                <a:latin typeface="Calibri"/>
              </a:rPr>
              <a:t>, retrieved October 7, 2026. Bars in each panel run in the order of the key. Consensus growth is the analyst estimate for each company's current fiscal year, and fiscal years differ. Forward multiples require a licensed data source and are not shown. Company detail is in the appendix.</a:t>
            </a:r>
          </a:p>
        </p:txBody>
      </p:sp>
      <p:sp>
        <p:nvSpPr>
          <p:cNvPr id="81" name="Text: 16"/>
          <p:cNvSpPr txBox="1"/>
          <p:nvPr/>
        </p:nvSpPr>
        <p:spPr>
          <a:xfrm>
            <a:off x="9509373" y="7162800"/>
            <a:ext cx="144214" cy="133350"/>
          </a:xfrm>
          <a:prstGeom prst="rect">
            <a:avLst/>
          </a:prstGeom>
          <a:noFill/>
        </p:spPr>
        <p:txBody>
          <a:bodyPr wrap="square" lIns="0" tIns="0" rIns="0" bIns="0" anchor="t">
            <a:spAutoFit/>
          </a:bodyPr>
          <a:lstStyle/>
          <a:p>
            <a:pPr algn="l">
              <a:lnSpc>
                <a:spcPts val="1050"/>
              </a:lnSpc>
            </a:pPr>
            <a:r>
              <a:rPr sz="712" b="1" i="0" spc="150">
                <a:solidFill>
                  <a:srgbClr val="1B1A1A"/>
                </a:solidFill>
                <a:latin typeface="Calibr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57150" cy="7772400"/>
          </a:xfrm>
          <a:prstGeom prst="rect">
            <a:avLst/>
          </a:prstGeom>
          <a:solidFill>
            <a:srgbClr val="B68757"/>
          </a:solidFill>
          <a:ln>
            <a:noFill/>
          </a:ln>
          <a:effectLst/>
        </p:spPr>
        <p:txBody>
          <a:bodyPr rtlCol="0" anchor="ctr"/>
          <a:lstStyle/>
          <a:p>
            <a:pPr algn="ctr"/>
            <a:endParaRPr/>
          </a:p>
        </p:txBody>
      </p:sp>
      <p:sp>
        <p:nvSpPr>
          <p:cNvPr id="3" name="Text: HEALTHCARE | QUARTERLY SECTOR BRIE"/>
          <p:cNvSpPr txBox="1"/>
          <p:nvPr/>
        </p:nvSpPr>
        <p:spPr>
          <a:xfrm>
            <a:off x="419100" y="381000"/>
            <a:ext cx="2439591" cy="133350"/>
          </a:xfrm>
          <a:prstGeom prst="rect">
            <a:avLst/>
          </a:prstGeom>
          <a:noFill/>
        </p:spPr>
        <p:txBody>
          <a:bodyPr wrap="none" lIns="0" tIns="0" rIns="0" bIns="0" anchor="t">
            <a:spAutoFit/>
          </a:bodyPr>
          <a:lstStyle/>
          <a:p>
            <a:pPr algn="l">
              <a:lnSpc>
                <a:spcPts val="1050"/>
              </a:lnSpc>
            </a:pPr>
            <a:r>
              <a:rPr sz="675" b="1" i="0" spc="195">
                <a:solidFill>
                  <a:srgbClr val="8C6239"/>
                </a:solidFill>
                <a:latin typeface="Calibri"/>
              </a:rPr>
              <a:t>HEALTHCARE | QUARTERLY INDUSTRY REPORT</a:t>
            </a:r>
          </a:p>
        </p:txBody>
      </p:sp>
      <p:sp>
        <p:nvSpPr>
          <p:cNvPr id="4" name="Text: Q4 2026"/>
          <p:cNvSpPr txBox="1"/>
          <p:nvPr/>
        </p:nvSpPr>
        <p:spPr>
          <a:xfrm>
            <a:off x="9188648" y="361950"/>
            <a:ext cx="464939" cy="171450"/>
          </a:xfrm>
          <a:prstGeom prst="rect">
            <a:avLst/>
          </a:prstGeom>
          <a:noFill/>
        </p:spPr>
        <p:txBody>
          <a:bodyPr wrap="square" lIns="0" tIns="0" rIns="0" bIns="0" anchor="t">
            <a:spAutoFit/>
          </a:bodyPr>
          <a:lstStyle/>
          <a:p>
            <a:pPr algn="l">
              <a:lnSpc>
                <a:spcPts val="1350"/>
              </a:lnSpc>
            </a:pPr>
            <a:r>
              <a:rPr sz="900" b="0" i="0" spc="90">
                <a:solidFill>
                  <a:srgbClr val="6F6A66"/>
                </a:solidFill>
                <a:latin typeface="Cambria"/>
              </a:rPr>
              <a:t>Q4 2026</a:t>
            </a:r>
          </a:p>
        </p:txBody>
      </p:sp>
      <p:sp>
        <p:nvSpPr>
          <p:cNvPr id="5" name="Text: Earnings and Commentary"/>
          <p:cNvSpPr txBox="1"/>
          <p:nvPr/>
        </p:nvSpPr>
        <p:spPr>
          <a:xfrm>
            <a:off x="419100" y="523875"/>
            <a:ext cx="9234488" cy="323850"/>
          </a:xfrm>
          <a:prstGeom prst="rect">
            <a:avLst/>
          </a:prstGeom>
          <a:noFill/>
        </p:spPr>
        <p:txBody>
          <a:bodyPr wrap="square" lIns="0" tIns="0" rIns="0" bIns="0" anchor="t">
            <a:spAutoFit/>
          </a:bodyPr>
          <a:lstStyle/>
          <a:p>
            <a:pPr algn="l">
              <a:lnSpc>
                <a:spcPts val="2550"/>
              </a:lnSpc>
            </a:pPr>
            <a:r>
              <a:rPr sz="2025" b="1" i="0">
                <a:solidFill>
                  <a:srgbClr val="1B1A1A"/>
                </a:solidFill>
                <a:latin typeface="Cambria"/>
              </a:rPr>
              <a:t>Earnings and Commentary</a:t>
            </a:r>
          </a:p>
        </p:txBody>
      </p:sp>
      <p:sp>
        <p:nvSpPr>
          <p:cNvPr id="6" name="Text: Skilled nursing and research servi"/>
          <p:cNvSpPr txBox="1"/>
          <p:nvPr/>
        </p:nvSpPr>
        <p:spPr>
          <a:xfrm>
            <a:off x="419100" y="885825"/>
            <a:ext cx="10215086" cy="180975"/>
          </a:xfrm>
          <a:prstGeom prst="rect">
            <a:avLst/>
          </a:prstGeom>
          <a:noFill/>
        </p:spPr>
        <p:txBody>
          <a:bodyPr wrap="square" lIns="0" tIns="0" rIns="0" bIns="0" anchor="t">
            <a:spAutoFit/>
          </a:bodyPr>
          <a:lstStyle/>
          <a:p>
            <a:pPr algn="l">
              <a:lnSpc>
                <a:spcPts val="1388"/>
              </a:lnSpc>
            </a:pPr>
            <a:r>
              <a:rPr sz="938" b="0" i="0" spc="15">
                <a:solidFill>
                  <a:srgbClr val="6F6A66"/>
                </a:solidFill>
                <a:latin typeface="Calibri"/>
              </a:rPr>
              <a:t>Skilled nursing and research services grew fastest in the latest quarter, laboratories and device makers grew 6% to 10%, and pharmacy and staffing grew 2%.</a:t>
            </a:r>
          </a:p>
        </p:txBody>
      </p:sp>
      <p:sp>
        <p:nvSpPr>
          <p:cNvPr id="7" name="Rectangle 6"/>
          <p:cNvSpPr/>
          <p:nvPr/>
        </p:nvSpPr>
        <p:spPr>
          <a:xfrm>
            <a:off x="419100" y="1143000"/>
            <a:ext cx="9220200" cy="9525"/>
          </a:xfrm>
          <a:prstGeom prst="rect">
            <a:avLst/>
          </a:prstGeom>
          <a:solidFill>
            <a:srgbClr val="E3DCD3"/>
          </a:solidFill>
          <a:ln>
            <a:noFill/>
          </a:ln>
          <a:effectLst/>
        </p:spPr>
        <p:txBody>
          <a:bodyPr rtlCol="0" anchor="ctr"/>
          <a:lstStyle/>
          <a:p>
            <a:pPr algn="ctr"/>
            <a:endParaRPr/>
          </a:p>
        </p:txBody>
      </p:sp>
      <p:sp>
        <p:nvSpPr>
          <p:cNvPr id="8" name="Text: Revenue growth, latest reported qu"/>
          <p:cNvSpPr txBox="1"/>
          <p:nvPr/>
        </p:nvSpPr>
        <p:spPr>
          <a:xfrm>
            <a:off x="419100" y="1238250"/>
            <a:ext cx="3557588" cy="161925"/>
          </a:xfrm>
          <a:prstGeom prst="rect">
            <a:avLst/>
          </a:prstGeom>
          <a:noFill/>
        </p:spPr>
        <p:txBody>
          <a:bodyPr wrap="square" lIns="0" tIns="0" rIns="0" bIns="0" anchor="t">
            <a:spAutoFit/>
          </a:bodyPr>
          <a:lstStyle/>
          <a:p>
            <a:pPr algn="l">
              <a:lnSpc>
                <a:spcPts val="1275"/>
              </a:lnSpc>
            </a:pPr>
            <a:r>
              <a:rPr sz="938" b="1" i="0" spc="15">
                <a:solidFill>
                  <a:srgbClr val="1B1A1A"/>
                </a:solidFill>
                <a:latin typeface="Calibri"/>
              </a:rPr>
              <a:t>Revenue growth, latest reported quarter</a:t>
            </a:r>
          </a:p>
        </p:txBody>
      </p:sp>
      <p:sp>
        <p:nvSpPr>
          <p:cNvPr id="9" name="Text: Year over year, as stated in each "/>
          <p:cNvSpPr txBox="1"/>
          <p:nvPr/>
        </p:nvSpPr>
        <p:spPr>
          <a:xfrm>
            <a:off x="419100" y="1400175"/>
            <a:ext cx="3557588" cy="133350"/>
          </a:xfrm>
          <a:prstGeom prst="rect">
            <a:avLst/>
          </a:prstGeom>
          <a:noFill/>
        </p:spPr>
        <p:txBody>
          <a:bodyPr wrap="square" lIns="0" tIns="0" rIns="0" bIns="0" anchor="t">
            <a:spAutoFit/>
          </a:bodyPr>
          <a:lstStyle/>
          <a:p>
            <a:pPr algn="l">
              <a:lnSpc>
                <a:spcPts val="1050"/>
              </a:lnSpc>
            </a:pPr>
            <a:r>
              <a:rPr sz="750" b="0" i="0" spc="15">
                <a:solidFill>
                  <a:srgbClr val="6F6A66"/>
                </a:solidFill>
                <a:latin typeface="Calibri"/>
              </a:rPr>
              <a:t>Year over year, as stated in each earnings release; quarters ended June 2026</a:t>
            </a:r>
          </a:p>
        </p:txBody>
      </p:sp>
      <p:sp>
        <p:nvSpPr>
          <p:cNvPr id="10" name="Text: Ensign Group">
            <a:hlinkClick r:id="rId2"/>
          </p:cNvPr>
          <p:cNvSpPr txBox="1"/>
          <p:nvPr/>
        </p:nvSpPr>
        <p:spPr>
          <a:xfrm>
            <a:off x="419100" y="1666875"/>
            <a:ext cx="1443038" cy="133350"/>
          </a:xfrm>
          <a:prstGeom prst="rect">
            <a:avLst/>
          </a:prstGeom>
          <a:noFill/>
        </p:spPr>
        <p:txBody>
          <a:bodyPr wrap="square" lIns="0" tIns="0" rIns="0" bIns="0" anchor="t">
            <a:spAutoFit/>
          </a:bodyPr>
          <a:lstStyle/>
          <a:p>
            <a:pPr algn="r">
              <a:lnSpc>
                <a:spcPts val="1050"/>
              </a:lnSpc>
            </a:pPr>
            <a:r>
              <a:rPr sz="788" b="1" i="0" spc="15">
                <a:solidFill>
                  <a:srgbClr val="333231"/>
                </a:solidFill>
                <a:latin typeface="Calibri"/>
              </a:rPr>
              <a:t>Ensign Group</a:t>
            </a:r>
          </a:p>
        </p:txBody>
      </p:sp>
      <p:sp>
        <p:nvSpPr>
          <p:cNvPr id="11" name="Rectangle 10"/>
          <p:cNvSpPr/>
          <p:nvPr/>
        </p:nvSpPr>
        <p:spPr>
          <a:xfrm>
            <a:off x="1924050" y="1666875"/>
            <a:ext cx="1371600" cy="133350"/>
          </a:xfrm>
          <a:prstGeom prst="rect">
            <a:avLst/>
          </a:prstGeom>
          <a:solidFill>
            <a:srgbClr val="1B1A1A"/>
          </a:solidFill>
          <a:ln>
            <a:noFill/>
          </a:ln>
          <a:effectLst/>
        </p:spPr>
        <p:txBody>
          <a:bodyPr rtlCol="0" anchor="ctr"/>
          <a:lstStyle/>
          <a:p>
            <a:pPr algn="ctr"/>
            <a:endParaRPr/>
          </a:p>
        </p:txBody>
      </p:sp>
      <p:sp>
        <p:nvSpPr>
          <p:cNvPr id="12" name="Text: +17.3%"/>
          <p:cNvSpPr txBox="1"/>
          <p:nvPr/>
        </p:nvSpPr>
        <p:spPr>
          <a:xfrm>
            <a:off x="3352800" y="1652588"/>
            <a:ext cx="327273" cy="161925"/>
          </a:xfrm>
          <a:prstGeom prst="rect">
            <a:avLst/>
          </a:prstGeom>
          <a:noFill/>
        </p:spPr>
        <p:txBody>
          <a:bodyPr wrap="square" lIns="0" tIns="0" rIns="0" bIns="0" anchor="t">
            <a:spAutoFit/>
          </a:bodyPr>
          <a:lstStyle/>
          <a:p>
            <a:pPr algn="l">
              <a:lnSpc>
                <a:spcPts val="1275"/>
              </a:lnSpc>
            </a:pPr>
            <a:r>
              <a:rPr sz="788" b="1" i="0" spc="15">
                <a:solidFill>
                  <a:srgbClr val="1B1A1A"/>
                </a:solidFill>
                <a:latin typeface="Calibri"/>
              </a:rPr>
              <a:t>+17.3%</a:t>
            </a:r>
          </a:p>
        </p:txBody>
      </p:sp>
      <p:sp>
        <p:nvSpPr>
          <p:cNvPr id="13" name="Text: Medpace">
            <a:hlinkClick r:id="rId3"/>
          </p:cNvPr>
          <p:cNvSpPr txBox="1"/>
          <p:nvPr/>
        </p:nvSpPr>
        <p:spPr>
          <a:xfrm>
            <a:off x="419100" y="1914525"/>
            <a:ext cx="1443038" cy="133350"/>
          </a:xfrm>
          <a:prstGeom prst="rect">
            <a:avLst/>
          </a:prstGeom>
          <a:noFill/>
        </p:spPr>
        <p:txBody>
          <a:bodyPr wrap="square" lIns="0" tIns="0" rIns="0" bIns="0" anchor="t">
            <a:spAutoFit/>
          </a:bodyPr>
          <a:lstStyle/>
          <a:p>
            <a:pPr algn="r">
              <a:lnSpc>
                <a:spcPts val="1050"/>
              </a:lnSpc>
            </a:pPr>
            <a:r>
              <a:rPr sz="788" b="1" i="0" spc="15">
                <a:solidFill>
                  <a:srgbClr val="333231"/>
                </a:solidFill>
                <a:latin typeface="Calibri"/>
              </a:rPr>
              <a:t>Medpace</a:t>
            </a:r>
          </a:p>
        </p:txBody>
      </p:sp>
      <p:sp>
        <p:nvSpPr>
          <p:cNvPr id="14" name="Rectangle 13"/>
          <p:cNvSpPr/>
          <p:nvPr/>
        </p:nvSpPr>
        <p:spPr>
          <a:xfrm>
            <a:off x="1924050" y="1914525"/>
            <a:ext cx="1362075" cy="133350"/>
          </a:xfrm>
          <a:prstGeom prst="rect">
            <a:avLst/>
          </a:prstGeom>
          <a:solidFill>
            <a:srgbClr val="B68757"/>
          </a:solidFill>
          <a:ln>
            <a:noFill/>
          </a:ln>
          <a:effectLst/>
        </p:spPr>
        <p:txBody>
          <a:bodyPr rtlCol="0" anchor="ctr"/>
          <a:lstStyle/>
          <a:p>
            <a:pPr algn="ctr"/>
            <a:endParaRPr/>
          </a:p>
        </p:txBody>
      </p:sp>
      <p:sp>
        <p:nvSpPr>
          <p:cNvPr id="15" name="Text: +17.2%"/>
          <p:cNvSpPr txBox="1"/>
          <p:nvPr/>
        </p:nvSpPr>
        <p:spPr>
          <a:xfrm>
            <a:off x="3343275" y="1900238"/>
            <a:ext cx="327273" cy="161925"/>
          </a:xfrm>
          <a:prstGeom prst="rect">
            <a:avLst/>
          </a:prstGeom>
          <a:noFill/>
        </p:spPr>
        <p:txBody>
          <a:bodyPr wrap="square" lIns="0" tIns="0" rIns="0" bIns="0" anchor="t">
            <a:spAutoFit/>
          </a:bodyPr>
          <a:lstStyle/>
          <a:p>
            <a:pPr algn="l">
              <a:lnSpc>
                <a:spcPts val="1275"/>
              </a:lnSpc>
            </a:pPr>
            <a:r>
              <a:rPr sz="788" b="1" i="0" spc="15">
                <a:solidFill>
                  <a:srgbClr val="1B1A1A"/>
                </a:solidFill>
                <a:latin typeface="Calibri"/>
              </a:rPr>
              <a:t>+17.2%</a:t>
            </a:r>
          </a:p>
        </p:txBody>
      </p:sp>
      <p:sp>
        <p:nvSpPr>
          <p:cNvPr id="16" name="Text: Quest Diagnostics">
            <a:hlinkClick r:id="rId4"/>
          </p:cNvPr>
          <p:cNvSpPr txBox="1"/>
          <p:nvPr/>
        </p:nvSpPr>
        <p:spPr>
          <a:xfrm>
            <a:off x="419100" y="2162175"/>
            <a:ext cx="1443038" cy="133350"/>
          </a:xfrm>
          <a:prstGeom prst="rect">
            <a:avLst/>
          </a:prstGeom>
          <a:noFill/>
        </p:spPr>
        <p:txBody>
          <a:bodyPr wrap="square" lIns="0" tIns="0" rIns="0" bIns="0" anchor="t">
            <a:spAutoFit/>
          </a:bodyPr>
          <a:lstStyle/>
          <a:p>
            <a:pPr algn="r">
              <a:lnSpc>
                <a:spcPts val="1050"/>
              </a:lnSpc>
            </a:pPr>
            <a:r>
              <a:rPr sz="788" b="1" i="0" spc="15">
                <a:solidFill>
                  <a:srgbClr val="333231"/>
                </a:solidFill>
                <a:latin typeface="Calibri"/>
              </a:rPr>
              <a:t>Quest Diagnostics</a:t>
            </a:r>
          </a:p>
        </p:txBody>
      </p:sp>
      <p:sp>
        <p:nvSpPr>
          <p:cNvPr id="17" name="Rectangle 16"/>
          <p:cNvSpPr/>
          <p:nvPr/>
        </p:nvSpPr>
        <p:spPr>
          <a:xfrm>
            <a:off x="1924050" y="2162175"/>
            <a:ext cx="809625" cy="133350"/>
          </a:xfrm>
          <a:prstGeom prst="rect">
            <a:avLst/>
          </a:prstGeom>
          <a:solidFill>
            <a:srgbClr val="B68757"/>
          </a:solidFill>
          <a:ln>
            <a:noFill/>
          </a:ln>
          <a:effectLst/>
        </p:spPr>
        <p:txBody>
          <a:bodyPr rtlCol="0" anchor="ctr"/>
          <a:lstStyle/>
          <a:p>
            <a:pPr algn="ctr"/>
            <a:endParaRPr/>
          </a:p>
        </p:txBody>
      </p:sp>
      <p:sp>
        <p:nvSpPr>
          <p:cNvPr id="18" name="Text: +10.2%"/>
          <p:cNvSpPr txBox="1"/>
          <p:nvPr/>
        </p:nvSpPr>
        <p:spPr>
          <a:xfrm>
            <a:off x="2790825" y="2147888"/>
            <a:ext cx="327273" cy="161925"/>
          </a:xfrm>
          <a:prstGeom prst="rect">
            <a:avLst/>
          </a:prstGeom>
          <a:noFill/>
        </p:spPr>
        <p:txBody>
          <a:bodyPr wrap="square" lIns="0" tIns="0" rIns="0" bIns="0" anchor="t">
            <a:spAutoFit/>
          </a:bodyPr>
          <a:lstStyle/>
          <a:p>
            <a:pPr algn="l">
              <a:lnSpc>
                <a:spcPts val="1275"/>
              </a:lnSpc>
            </a:pPr>
            <a:r>
              <a:rPr sz="788" b="1" i="0" spc="15">
                <a:solidFill>
                  <a:srgbClr val="1B1A1A"/>
                </a:solidFill>
                <a:latin typeface="Calibri"/>
              </a:rPr>
              <a:t>+10.2%</a:t>
            </a:r>
          </a:p>
        </p:txBody>
      </p:sp>
      <p:sp>
        <p:nvSpPr>
          <p:cNvPr id="19" name="Text: Thermo Fisher Scientific">
            <a:hlinkClick r:id="rId5"/>
          </p:cNvPr>
          <p:cNvSpPr txBox="1"/>
          <p:nvPr/>
        </p:nvSpPr>
        <p:spPr>
          <a:xfrm>
            <a:off x="419100" y="2409825"/>
            <a:ext cx="1443038" cy="133350"/>
          </a:xfrm>
          <a:prstGeom prst="rect">
            <a:avLst/>
          </a:prstGeom>
          <a:noFill/>
        </p:spPr>
        <p:txBody>
          <a:bodyPr wrap="square" lIns="0" tIns="0" rIns="0" bIns="0" anchor="t">
            <a:spAutoFit/>
          </a:bodyPr>
          <a:lstStyle/>
          <a:p>
            <a:pPr algn="r">
              <a:lnSpc>
                <a:spcPts val="1050"/>
              </a:lnSpc>
            </a:pPr>
            <a:r>
              <a:rPr sz="788" b="1" i="0" spc="15">
                <a:solidFill>
                  <a:srgbClr val="333231"/>
                </a:solidFill>
                <a:latin typeface="Calibri"/>
              </a:rPr>
              <a:t>Thermo Fisher Scientific</a:t>
            </a:r>
          </a:p>
        </p:txBody>
      </p:sp>
      <p:sp>
        <p:nvSpPr>
          <p:cNvPr id="20" name="Rectangle 19"/>
          <p:cNvSpPr/>
          <p:nvPr/>
        </p:nvSpPr>
        <p:spPr>
          <a:xfrm>
            <a:off x="1924050" y="2409825"/>
            <a:ext cx="790575" cy="133350"/>
          </a:xfrm>
          <a:prstGeom prst="rect">
            <a:avLst/>
          </a:prstGeom>
          <a:solidFill>
            <a:srgbClr val="B68757"/>
          </a:solidFill>
          <a:ln>
            <a:noFill/>
          </a:ln>
          <a:effectLst/>
        </p:spPr>
        <p:txBody>
          <a:bodyPr rtlCol="0" anchor="ctr"/>
          <a:lstStyle/>
          <a:p>
            <a:pPr algn="ctr"/>
            <a:endParaRPr/>
          </a:p>
        </p:txBody>
      </p:sp>
      <p:sp>
        <p:nvSpPr>
          <p:cNvPr id="21" name="Text: +10.0%"/>
          <p:cNvSpPr txBox="1"/>
          <p:nvPr/>
        </p:nvSpPr>
        <p:spPr>
          <a:xfrm>
            <a:off x="2771775" y="2395538"/>
            <a:ext cx="327273" cy="161925"/>
          </a:xfrm>
          <a:prstGeom prst="rect">
            <a:avLst/>
          </a:prstGeom>
          <a:noFill/>
        </p:spPr>
        <p:txBody>
          <a:bodyPr wrap="square" lIns="0" tIns="0" rIns="0" bIns="0" anchor="t">
            <a:spAutoFit/>
          </a:bodyPr>
          <a:lstStyle/>
          <a:p>
            <a:pPr algn="l">
              <a:lnSpc>
                <a:spcPts val="1275"/>
              </a:lnSpc>
            </a:pPr>
            <a:r>
              <a:rPr sz="788" b="1" i="0" spc="15">
                <a:solidFill>
                  <a:srgbClr val="1B1A1A"/>
                </a:solidFill>
                <a:latin typeface="Calibri"/>
              </a:rPr>
              <a:t>+10.0%</a:t>
            </a:r>
          </a:p>
        </p:txBody>
      </p:sp>
      <p:sp>
        <p:nvSpPr>
          <p:cNvPr id="22" name="Text: Stryker">
            <a:hlinkClick r:id="rId6"/>
          </p:cNvPr>
          <p:cNvSpPr txBox="1"/>
          <p:nvPr/>
        </p:nvSpPr>
        <p:spPr>
          <a:xfrm>
            <a:off x="419100" y="2657475"/>
            <a:ext cx="1443038" cy="133350"/>
          </a:xfrm>
          <a:prstGeom prst="rect">
            <a:avLst/>
          </a:prstGeom>
          <a:noFill/>
        </p:spPr>
        <p:txBody>
          <a:bodyPr wrap="square" lIns="0" tIns="0" rIns="0" bIns="0" anchor="t">
            <a:spAutoFit/>
          </a:bodyPr>
          <a:lstStyle/>
          <a:p>
            <a:pPr algn="r">
              <a:lnSpc>
                <a:spcPts val="1050"/>
              </a:lnSpc>
            </a:pPr>
            <a:r>
              <a:rPr sz="788" b="1" i="0" spc="15">
                <a:solidFill>
                  <a:srgbClr val="333231"/>
                </a:solidFill>
                <a:latin typeface="Calibri"/>
              </a:rPr>
              <a:t>Stryker</a:t>
            </a:r>
          </a:p>
        </p:txBody>
      </p:sp>
      <p:sp>
        <p:nvSpPr>
          <p:cNvPr id="23" name="Rectangle 22"/>
          <p:cNvSpPr/>
          <p:nvPr/>
        </p:nvSpPr>
        <p:spPr>
          <a:xfrm>
            <a:off x="1924050" y="2657475"/>
            <a:ext cx="742950" cy="133350"/>
          </a:xfrm>
          <a:prstGeom prst="rect">
            <a:avLst/>
          </a:prstGeom>
          <a:solidFill>
            <a:srgbClr val="6D7681"/>
          </a:solidFill>
          <a:ln>
            <a:noFill/>
          </a:ln>
          <a:effectLst/>
        </p:spPr>
        <p:txBody>
          <a:bodyPr rtlCol="0" anchor="ctr"/>
          <a:lstStyle/>
          <a:p>
            <a:pPr algn="ctr"/>
            <a:endParaRPr/>
          </a:p>
        </p:txBody>
      </p:sp>
      <p:sp>
        <p:nvSpPr>
          <p:cNvPr id="24" name="Text: +9.4%"/>
          <p:cNvSpPr txBox="1"/>
          <p:nvPr/>
        </p:nvSpPr>
        <p:spPr>
          <a:xfrm>
            <a:off x="2724150" y="2643188"/>
            <a:ext cx="274737" cy="161925"/>
          </a:xfrm>
          <a:prstGeom prst="rect">
            <a:avLst/>
          </a:prstGeom>
          <a:noFill/>
        </p:spPr>
        <p:txBody>
          <a:bodyPr wrap="square" lIns="0" tIns="0" rIns="0" bIns="0" anchor="t">
            <a:spAutoFit/>
          </a:bodyPr>
          <a:lstStyle/>
          <a:p>
            <a:pPr algn="l">
              <a:lnSpc>
                <a:spcPts val="1275"/>
              </a:lnSpc>
            </a:pPr>
            <a:r>
              <a:rPr sz="788" b="1" i="0" spc="15">
                <a:solidFill>
                  <a:srgbClr val="1B1A1A"/>
                </a:solidFill>
                <a:latin typeface="Calibri"/>
              </a:rPr>
              <a:t>+9.4%</a:t>
            </a:r>
          </a:p>
        </p:txBody>
      </p:sp>
      <p:sp>
        <p:nvSpPr>
          <p:cNvPr id="25" name="Text: HCA Healthcare">
            <a:hlinkClick r:id="rId7"/>
          </p:cNvPr>
          <p:cNvSpPr txBox="1"/>
          <p:nvPr/>
        </p:nvSpPr>
        <p:spPr>
          <a:xfrm>
            <a:off x="419100" y="2905125"/>
            <a:ext cx="1443038" cy="133350"/>
          </a:xfrm>
          <a:prstGeom prst="rect">
            <a:avLst/>
          </a:prstGeom>
          <a:noFill/>
        </p:spPr>
        <p:txBody>
          <a:bodyPr wrap="square" lIns="0" tIns="0" rIns="0" bIns="0" anchor="t">
            <a:spAutoFit/>
          </a:bodyPr>
          <a:lstStyle/>
          <a:p>
            <a:pPr algn="r">
              <a:lnSpc>
                <a:spcPts val="1050"/>
              </a:lnSpc>
            </a:pPr>
            <a:r>
              <a:rPr sz="788" b="1" i="0" spc="15">
                <a:solidFill>
                  <a:srgbClr val="333231"/>
                </a:solidFill>
                <a:latin typeface="Calibri"/>
              </a:rPr>
              <a:t>HCA Healthcare</a:t>
            </a:r>
          </a:p>
        </p:txBody>
      </p:sp>
      <p:sp>
        <p:nvSpPr>
          <p:cNvPr id="26" name="Rectangle 25"/>
          <p:cNvSpPr/>
          <p:nvPr/>
        </p:nvSpPr>
        <p:spPr>
          <a:xfrm>
            <a:off x="1924050" y="2905125"/>
            <a:ext cx="685800" cy="133350"/>
          </a:xfrm>
          <a:prstGeom prst="rect">
            <a:avLst/>
          </a:prstGeom>
          <a:solidFill>
            <a:srgbClr val="1B1A1A"/>
          </a:solidFill>
          <a:ln>
            <a:noFill/>
          </a:ln>
          <a:effectLst/>
        </p:spPr>
        <p:txBody>
          <a:bodyPr rtlCol="0" anchor="ctr"/>
          <a:lstStyle/>
          <a:p>
            <a:pPr algn="ctr"/>
            <a:endParaRPr/>
          </a:p>
        </p:txBody>
      </p:sp>
      <p:sp>
        <p:nvSpPr>
          <p:cNvPr id="27" name="Text: +8.7%"/>
          <p:cNvSpPr txBox="1"/>
          <p:nvPr/>
        </p:nvSpPr>
        <p:spPr>
          <a:xfrm>
            <a:off x="2667000" y="2890838"/>
            <a:ext cx="274737" cy="161925"/>
          </a:xfrm>
          <a:prstGeom prst="rect">
            <a:avLst/>
          </a:prstGeom>
          <a:noFill/>
        </p:spPr>
        <p:txBody>
          <a:bodyPr wrap="square" lIns="0" tIns="0" rIns="0" bIns="0" anchor="t">
            <a:spAutoFit/>
          </a:bodyPr>
          <a:lstStyle/>
          <a:p>
            <a:pPr algn="l">
              <a:lnSpc>
                <a:spcPts val="1275"/>
              </a:lnSpc>
            </a:pPr>
            <a:r>
              <a:rPr sz="788" b="1" i="0" spc="15">
                <a:solidFill>
                  <a:srgbClr val="1B1A1A"/>
                </a:solidFill>
                <a:latin typeface="Calibri"/>
              </a:rPr>
              <a:t>+8.7%</a:t>
            </a:r>
          </a:p>
        </p:txBody>
      </p:sp>
      <p:sp>
        <p:nvSpPr>
          <p:cNvPr id="28" name="Text: IQVIA">
            <a:hlinkClick r:id="rId8"/>
          </p:cNvPr>
          <p:cNvSpPr txBox="1"/>
          <p:nvPr/>
        </p:nvSpPr>
        <p:spPr>
          <a:xfrm>
            <a:off x="419100" y="3152775"/>
            <a:ext cx="1443038" cy="133350"/>
          </a:xfrm>
          <a:prstGeom prst="rect">
            <a:avLst/>
          </a:prstGeom>
          <a:noFill/>
        </p:spPr>
        <p:txBody>
          <a:bodyPr wrap="square" lIns="0" tIns="0" rIns="0" bIns="0" anchor="t">
            <a:spAutoFit/>
          </a:bodyPr>
          <a:lstStyle/>
          <a:p>
            <a:pPr algn="r">
              <a:lnSpc>
                <a:spcPts val="1050"/>
              </a:lnSpc>
            </a:pPr>
            <a:r>
              <a:rPr sz="788" b="1" i="0" spc="15">
                <a:solidFill>
                  <a:srgbClr val="333231"/>
                </a:solidFill>
                <a:latin typeface="Calibri"/>
              </a:rPr>
              <a:t>IQVIA</a:t>
            </a:r>
          </a:p>
        </p:txBody>
      </p:sp>
      <p:sp>
        <p:nvSpPr>
          <p:cNvPr id="29" name="Rectangle 28"/>
          <p:cNvSpPr/>
          <p:nvPr/>
        </p:nvSpPr>
        <p:spPr>
          <a:xfrm>
            <a:off x="1924050" y="3152775"/>
            <a:ext cx="685800" cy="133350"/>
          </a:xfrm>
          <a:prstGeom prst="rect">
            <a:avLst/>
          </a:prstGeom>
          <a:solidFill>
            <a:srgbClr val="B68757"/>
          </a:solidFill>
          <a:ln>
            <a:noFill/>
          </a:ln>
          <a:effectLst/>
        </p:spPr>
        <p:txBody>
          <a:bodyPr rtlCol="0" anchor="ctr"/>
          <a:lstStyle/>
          <a:p>
            <a:pPr algn="ctr"/>
            <a:endParaRPr/>
          </a:p>
        </p:txBody>
      </p:sp>
      <p:sp>
        <p:nvSpPr>
          <p:cNvPr id="30" name="Text: +8.7%"/>
          <p:cNvSpPr txBox="1"/>
          <p:nvPr/>
        </p:nvSpPr>
        <p:spPr>
          <a:xfrm>
            <a:off x="2667000" y="3138488"/>
            <a:ext cx="274737" cy="161925"/>
          </a:xfrm>
          <a:prstGeom prst="rect">
            <a:avLst/>
          </a:prstGeom>
          <a:noFill/>
        </p:spPr>
        <p:txBody>
          <a:bodyPr wrap="square" lIns="0" tIns="0" rIns="0" bIns="0" anchor="t">
            <a:spAutoFit/>
          </a:bodyPr>
          <a:lstStyle/>
          <a:p>
            <a:pPr algn="l">
              <a:lnSpc>
                <a:spcPts val="1275"/>
              </a:lnSpc>
            </a:pPr>
            <a:r>
              <a:rPr sz="788" b="1" i="0" spc="15">
                <a:solidFill>
                  <a:srgbClr val="1B1A1A"/>
                </a:solidFill>
                <a:latin typeface="Calibri"/>
              </a:rPr>
              <a:t>+8.7%</a:t>
            </a:r>
          </a:p>
        </p:txBody>
      </p:sp>
      <p:sp>
        <p:nvSpPr>
          <p:cNvPr id="31" name="Text: U.S. Physical Therapy">
            <a:hlinkClick r:id="rId9"/>
          </p:cNvPr>
          <p:cNvSpPr txBox="1"/>
          <p:nvPr/>
        </p:nvSpPr>
        <p:spPr>
          <a:xfrm>
            <a:off x="419100" y="3400425"/>
            <a:ext cx="1443038" cy="133350"/>
          </a:xfrm>
          <a:prstGeom prst="rect">
            <a:avLst/>
          </a:prstGeom>
          <a:noFill/>
        </p:spPr>
        <p:txBody>
          <a:bodyPr wrap="square" lIns="0" tIns="0" rIns="0" bIns="0" anchor="t">
            <a:spAutoFit/>
          </a:bodyPr>
          <a:lstStyle/>
          <a:p>
            <a:pPr algn="r">
              <a:lnSpc>
                <a:spcPts val="1050"/>
              </a:lnSpc>
            </a:pPr>
            <a:r>
              <a:rPr sz="788" b="1" i="0" spc="15">
                <a:solidFill>
                  <a:srgbClr val="333231"/>
                </a:solidFill>
                <a:latin typeface="Calibri"/>
              </a:rPr>
              <a:t>U.S. Physical Therapy</a:t>
            </a:r>
          </a:p>
        </p:txBody>
      </p:sp>
      <p:sp>
        <p:nvSpPr>
          <p:cNvPr id="32" name="Rectangle 31"/>
          <p:cNvSpPr/>
          <p:nvPr/>
        </p:nvSpPr>
        <p:spPr>
          <a:xfrm>
            <a:off x="1924050" y="3400425"/>
            <a:ext cx="676275" cy="133350"/>
          </a:xfrm>
          <a:prstGeom prst="rect">
            <a:avLst/>
          </a:prstGeom>
          <a:solidFill>
            <a:srgbClr val="1B1A1A"/>
          </a:solidFill>
          <a:ln>
            <a:noFill/>
          </a:ln>
          <a:effectLst/>
        </p:spPr>
        <p:txBody>
          <a:bodyPr rtlCol="0" anchor="ctr"/>
          <a:lstStyle/>
          <a:p>
            <a:pPr algn="ctr"/>
            <a:endParaRPr/>
          </a:p>
        </p:txBody>
      </p:sp>
      <p:sp>
        <p:nvSpPr>
          <p:cNvPr id="33" name="Text: +8.5%"/>
          <p:cNvSpPr txBox="1"/>
          <p:nvPr/>
        </p:nvSpPr>
        <p:spPr>
          <a:xfrm>
            <a:off x="2657475" y="3386138"/>
            <a:ext cx="274737" cy="161925"/>
          </a:xfrm>
          <a:prstGeom prst="rect">
            <a:avLst/>
          </a:prstGeom>
          <a:noFill/>
        </p:spPr>
        <p:txBody>
          <a:bodyPr wrap="square" lIns="0" tIns="0" rIns="0" bIns="0" anchor="t">
            <a:spAutoFit/>
          </a:bodyPr>
          <a:lstStyle/>
          <a:p>
            <a:pPr algn="l">
              <a:lnSpc>
                <a:spcPts val="1275"/>
              </a:lnSpc>
            </a:pPr>
            <a:r>
              <a:rPr sz="788" b="1" i="0" spc="15">
                <a:solidFill>
                  <a:srgbClr val="1B1A1A"/>
                </a:solidFill>
                <a:latin typeface="Calibri"/>
              </a:rPr>
              <a:t>+8.5%</a:t>
            </a:r>
          </a:p>
        </p:txBody>
      </p:sp>
      <p:sp>
        <p:nvSpPr>
          <p:cNvPr id="34" name="Text: Addus HomeCare">
            <a:hlinkClick r:id="rId10"/>
          </p:cNvPr>
          <p:cNvSpPr txBox="1"/>
          <p:nvPr/>
        </p:nvSpPr>
        <p:spPr>
          <a:xfrm>
            <a:off x="419100" y="3648075"/>
            <a:ext cx="1443038" cy="133350"/>
          </a:xfrm>
          <a:prstGeom prst="rect">
            <a:avLst/>
          </a:prstGeom>
          <a:noFill/>
        </p:spPr>
        <p:txBody>
          <a:bodyPr wrap="square" lIns="0" tIns="0" rIns="0" bIns="0" anchor="t">
            <a:spAutoFit/>
          </a:bodyPr>
          <a:lstStyle/>
          <a:p>
            <a:pPr algn="r">
              <a:lnSpc>
                <a:spcPts val="1050"/>
              </a:lnSpc>
            </a:pPr>
            <a:r>
              <a:rPr sz="788" b="1" i="0" spc="15">
                <a:solidFill>
                  <a:srgbClr val="333231"/>
                </a:solidFill>
                <a:latin typeface="Calibri"/>
              </a:rPr>
              <a:t>Addus HomeCare</a:t>
            </a:r>
          </a:p>
        </p:txBody>
      </p:sp>
      <p:sp>
        <p:nvSpPr>
          <p:cNvPr id="35" name="Rectangle 34"/>
          <p:cNvSpPr/>
          <p:nvPr/>
        </p:nvSpPr>
        <p:spPr>
          <a:xfrm>
            <a:off x="1924050" y="3648075"/>
            <a:ext cx="638175" cy="133350"/>
          </a:xfrm>
          <a:prstGeom prst="rect">
            <a:avLst/>
          </a:prstGeom>
          <a:solidFill>
            <a:srgbClr val="1B1A1A"/>
          </a:solidFill>
          <a:ln>
            <a:noFill/>
          </a:ln>
          <a:effectLst/>
        </p:spPr>
        <p:txBody>
          <a:bodyPr rtlCol="0" anchor="ctr"/>
          <a:lstStyle/>
          <a:p>
            <a:pPr algn="ctr"/>
            <a:endParaRPr/>
          </a:p>
        </p:txBody>
      </p:sp>
      <p:sp>
        <p:nvSpPr>
          <p:cNvPr id="36" name="Text: +8.0%"/>
          <p:cNvSpPr txBox="1"/>
          <p:nvPr/>
        </p:nvSpPr>
        <p:spPr>
          <a:xfrm>
            <a:off x="2619375" y="3633788"/>
            <a:ext cx="274737" cy="161925"/>
          </a:xfrm>
          <a:prstGeom prst="rect">
            <a:avLst/>
          </a:prstGeom>
          <a:noFill/>
        </p:spPr>
        <p:txBody>
          <a:bodyPr wrap="square" lIns="0" tIns="0" rIns="0" bIns="0" anchor="t">
            <a:spAutoFit/>
          </a:bodyPr>
          <a:lstStyle/>
          <a:p>
            <a:pPr algn="l">
              <a:lnSpc>
                <a:spcPts val="1275"/>
              </a:lnSpc>
            </a:pPr>
            <a:r>
              <a:rPr sz="788" b="1" i="0" spc="15">
                <a:solidFill>
                  <a:srgbClr val="1B1A1A"/>
                </a:solidFill>
                <a:latin typeface="Calibri"/>
              </a:rPr>
              <a:t>+8.0%</a:t>
            </a:r>
          </a:p>
        </p:txBody>
      </p:sp>
      <p:sp>
        <p:nvSpPr>
          <p:cNvPr id="37" name="Text: McKesson">
            <a:hlinkClick r:id="rId11"/>
          </p:cNvPr>
          <p:cNvSpPr txBox="1"/>
          <p:nvPr/>
        </p:nvSpPr>
        <p:spPr>
          <a:xfrm>
            <a:off x="419100" y="3895725"/>
            <a:ext cx="1443038" cy="133350"/>
          </a:xfrm>
          <a:prstGeom prst="rect">
            <a:avLst/>
          </a:prstGeom>
          <a:noFill/>
        </p:spPr>
        <p:txBody>
          <a:bodyPr wrap="square" lIns="0" tIns="0" rIns="0" bIns="0" anchor="t">
            <a:spAutoFit/>
          </a:bodyPr>
          <a:lstStyle/>
          <a:p>
            <a:pPr algn="r">
              <a:lnSpc>
                <a:spcPts val="1050"/>
              </a:lnSpc>
            </a:pPr>
            <a:r>
              <a:rPr sz="788" b="1" i="0" spc="15">
                <a:solidFill>
                  <a:srgbClr val="333231"/>
                </a:solidFill>
                <a:latin typeface="Calibri"/>
              </a:rPr>
              <a:t>McKesson</a:t>
            </a:r>
          </a:p>
        </p:txBody>
      </p:sp>
      <p:sp>
        <p:nvSpPr>
          <p:cNvPr id="38" name="Rectangle 37"/>
          <p:cNvSpPr/>
          <p:nvPr/>
        </p:nvSpPr>
        <p:spPr>
          <a:xfrm>
            <a:off x="1924050" y="3895725"/>
            <a:ext cx="638175" cy="133350"/>
          </a:xfrm>
          <a:prstGeom prst="rect">
            <a:avLst/>
          </a:prstGeom>
          <a:solidFill>
            <a:srgbClr val="A39486"/>
          </a:solidFill>
          <a:ln>
            <a:noFill/>
          </a:ln>
          <a:effectLst/>
        </p:spPr>
        <p:txBody>
          <a:bodyPr rtlCol="0" anchor="ctr"/>
          <a:lstStyle/>
          <a:p>
            <a:pPr algn="ctr"/>
            <a:endParaRPr/>
          </a:p>
        </p:txBody>
      </p:sp>
      <p:sp>
        <p:nvSpPr>
          <p:cNvPr id="39" name="Text: +8.0%"/>
          <p:cNvSpPr txBox="1"/>
          <p:nvPr/>
        </p:nvSpPr>
        <p:spPr>
          <a:xfrm>
            <a:off x="2619375" y="3881438"/>
            <a:ext cx="274737" cy="161925"/>
          </a:xfrm>
          <a:prstGeom prst="rect">
            <a:avLst/>
          </a:prstGeom>
          <a:noFill/>
        </p:spPr>
        <p:txBody>
          <a:bodyPr wrap="square" lIns="0" tIns="0" rIns="0" bIns="0" anchor="t">
            <a:spAutoFit/>
          </a:bodyPr>
          <a:lstStyle/>
          <a:p>
            <a:pPr algn="l">
              <a:lnSpc>
                <a:spcPts val="1275"/>
              </a:lnSpc>
            </a:pPr>
            <a:r>
              <a:rPr sz="788" b="1" i="0" spc="15">
                <a:solidFill>
                  <a:srgbClr val="1B1A1A"/>
                </a:solidFill>
                <a:latin typeface="Calibri"/>
              </a:rPr>
              <a:t>+8.0%</a:t>
            </a:r>
          </a:p>
        </p:txBody>
      </p:sp>
      <p:sp>
        <p:nvSpPr>
          <p:cNvPr id="40" name="Text: Steris">
            <a:hlinkClick r:id="rId12"/>
          </p:cNvPr>
          <p:cNvSpPr txBox="1"/>
          <p:nvPr/>
        </p:nvSpPr>
        <p:spPr>
          <a:xfrm>
            <a:off x="419100" y="4143375"/>
            <a:ext cx="1443038" cy="133350"/>
          </a:xfrm>
          <a:prstGeom prst="rect">
            <a:avLst/>
          </a:prstGeom>
          <a:noFill/>
        </p:spPr>
        <p:txBody>
          <a:bodyPr wrap="square" lIns="0" tIns="0" rIns="0" bIns="0" anchor="t">
            <a:spAutoFit/>
          </a:bodyPr>
          <a:lstStyle/>
          <a:p>
            <a:pPr algn="r">
              <a:lnSpc>
                <a:spcPts val="1050"/>
              </a:lnSpc>
            </a:pPr>
            <a:r>
              <a:rPr sz="788" b="1" i="0" spc="15">
                <a:solidFill>
                  <a:srgbClr val="333231"/>
                </a:solidFill>
                <a:latin typeface="Calibri"/>
              </a:rPr>
              <a:t>Steris</a:t>
            </a:r>
          </a:p>
        </p:txBody>
      </p:sp>
      <p:sp>
        <p:nvSpPr>
          <p:cNvPr id="41" name="Rectangle 40"/>
          <p:cNvSpPr/>
          <p:nvPr/>
        </p:nvSpPr>
        <p:spPr>
          <a:xfrm>
            <a:off x="1924050" y="4143375"/>
            <a:ext cx="552450" cy="133350"/>
          </a:xfrm>
          <a:prstGeom prst="rect">
            <a:avLst/>
          </a:prstGeom>
          <a:solidFill>
            <a:srgbClr val="6D7681"/>
          </a:solidFill>
          <a:ln>
            <a:noFill/>
          </a:ln>
          <a:effectLst/>
        </p:spPr>
        <p:txBody>
          <a:bodyPr rtlCol="0" anchor="ctr"/>
          <a:lstStyle/>
          <a:p>
            <a:pPr algn="ctr"/>
            <a:endParaRPr/>
          </a:p>
        </p:txBody>
      </p:sp>
      <p:sp>
        <p:nvSpPr>
          <p:cNvPr id="42" name="Text: +7.0%"/>
          <p:cNvSpPr txBox="1"/>
          <p:nvPr/>
        </p:nvSpPr>
        <p:spPr>
          <a:xfrm>
            <a:off x="2533650" y="4129088"/>
            <a:ext cx="274737" cy="161925"/>
          </a:xfrm>
          <a:prstGeom prst="rect">
            <a:avLst/>
          </a:prstGeom>
          <a:noFill/>
        </p:spPr>
        <p:txBody>
          <a:bodyPr wrap="square" lIns="0" tIns="0" rIns="0" bIns="0" anchor="t">
            <a:spAutoFit/>
          </a:bodyPr>
          <a:lstStyle/>
          <a:p>
            <a:pPr algn="l">
              <a:lnSpc>
                <a:spcPts val="1275"/>
              </a:lnSpc>
            </a:pPr>
            <a:r>
              <a:rPr sz="788" b="1" i="0" spc="15">
                <a:solidFill>
                  <a:srgbClr val="1B1A1A"/>
                </a:solidFill>
                <a:latin typeface="Calibri"/>
              </a:rPr>
              <a:t>+7.0%</a:t>
            </a:r>
          </a:p>
        </p:txBody>
      </p:sp>
      <p:sp>
        <p:nvSpPr>
          <p:cNvPr id="43" name="Text: Tenet Healthcare">
            <a:hlinkClick r:id="rId13"/>
          </p:cNvPr>
          <p:cNvSpPr txBox="1"/>
          <p:nvPr/>
        </p:nvSpPr>
        <p:spPr>
          <a:xfrm>
            <a:off x="419100" y="4391025"/>
            <a:ext cx="1443038" cy="133350"/>
          </a:xfrm>
          <a:prstGeom prst="rect">
            <a:avLst/>
          </a:prstGeom>
          <a:noFill/>
        </p:spPr>
        <p:txBody>
          <a:bodyPr wrap="square" lIns="0" tIns="0" rIns="0" bIns="0" anchor="t">
            <a:spAutoFit/>
          </a:bodyPr>
          <a:lstStyle/>
          <a:p>
            <a:pPr algn="r">
              <a:lnSpc>
                <a:spcPts val="1050"/>
              </a:lnSpc>
            </a:pPr>
            <a:r>
              <a:rPr sz="788" b="1" i="0" spc="15">
                <a:solidFill>
                  <a:srgbClr val="333231"/>
                </a:solidFill>
                <a:latin typeface="Calibri"/>
              </a:rPr>
              <a:t>Tenet Healthcare</a:t>
            </a:r>
          </a:p>
        </p:txBody>
      </p:sp>
      <p:sp>
        <p:nvSpPr>
          <p:cNvPr id="44" name="Rectangle 43"/>
          <p:cNvSpPr/>
          <p:nvPr/>
        </p:nvSpPr>
        <p:spPr>
          <a:xfrm>
            <a:off x="1924050" y="4391025"/>
            <a:ext cx="542925" cy="133350"/>
          </a:xfrm>
          <a:prstGeom prst="rect">
            <a:avLst/>
          </a:prstGeom>
          <a:solidFill>
            <a:srgbClr val="1B1A1A"/>
          </a:solidFill>
          <a:ln>
            <a:noFill/>
          </a:ln>
          <a:effectLst/>
        </p:spPr>
        <p:txBody>
          <a:bodyPr rtlCol="0" anchor="ctr"/>
          <a:lstStyle/>
          <a:p>
            <a:pPr algn="ctr"/>
            <a:endParaRPr/>
          </a:p>
        </p:txBody>
      </p:sp>
      <p:sp>
        <p:nvSpPr>
          <p:cNvPr id="45" name="Text: +6.8%"/>
          <p:cNvSpPr txBox="1"/>
          <p:nvPr/>
        </p:nvSpPr>
        <p:spPr>
          <a:xfrm>
            <a:off x="2524125" y="4376738"/>
            <a:ext cx="274737" cy="161925"/>
          </a:xfrm>
          <a:prstGeom prst="rect">
            <a:avLst/>
          </a:prstGeom>
          <a:noFill/>
        </p:spPr>
        <p:txBody>
          <a:bodyPr wrap="square" lIns="0" tIns="0" rIns="0" bIns="0" anchor="t">
            <a:spAutoFit/>
          </a:bodyPr>
          <a:lstStyle/>
          <a:p>
            <a:pPr algn="l">
              <a:lnSpc>
                <a:spcPts val="1275"/>
              </a:lnSpc>
            </a:pPr>
            <a:r>
              <a:rPr sz="788" b="1" i="0" spc="15">
                <a:solidFill>
                  <a:srgbClr val="1B1A1A"/>
                </a:solidFill>
                <a:latin typeface="Calibri"/>
              </a:rPr>
              <a:t>+6.8%</a:t>
            </a:r>
          </a:p>
        </p:txBody>
      </p:sp>
      <p:sp>
        <p:nvSpPr>
          <p:cNvPr id="46" name="Text: Henry Schein">
            <a:hlinkClick r:id="rId14"/>
          </p:cNvPr>
          <p:cNvSpPr txBox="1"/>
          <p:nvPr/>
        </p:nvSpPr>
        <p:spPr>
          <a:xfrm>
            <a:off x="419100" y="4638675"/>
            <a:ext cx="1443038" cy="133350"/>
          </a:xfrm>
          <a:prstGeom prst="rect">
            <a:avLst/>
          </a:prstGeom>
          <a:noFill/>
        </p:spPr>
        <p:txBody>
          <a:bodyPr wrap="square" lIns="0" tIns="0" rIns="0" bIns="0" anchor="t">
            <a:spAutoFit/>
          </a:bodyPr>
          <a:lstStyle/>
          <a:p>
            <a:pPr algn="r">
              <a:lnSpc>
                <a:spcPts val="1050"/>
              </a:lnSpc>
            </a:pPr>
            <a:r>
              <a:rPr sz="788" b="1" i="0" spc="15">
                <a:solidFill>
                  <a:srgbClr val="333231"/>
                </a:solidFill>
                <a:latin typeface="Calibri"/>
              </a:rPr>
              <a:t>Henry Schein</a:t>
            </a:r>
          </a:p>
        </p:txBody>
      </p:sp>
      <p:sp>
        <p:nvSpPr>
          <p:cNvPr id="47" name="Rectangle 46"/>
          <p:cNvSpPr/>
          <p:nvPr/>
        </p:nvSpPr>
        <p:spPr>
          <a:xfrm>
            <a:off x="1924050" y="4638675"/>
            <a:ext cx="533400" cy="133350"/>
          </a:xfrm>
          <a:prstGeom prst="rect">
            <a:avLst/>
          </a:prstGeom>
          <a:solidFill>
            <a:srgbClr val="6D7681"/>
          </a:solidFill>
          <a:ln>
            <a:noFill/>
          </a:ln>
          <a:effectLst/>
        </p:spPr>
        <p:txBody>
          <a:bodyPr rtlCol="0" anchor="ctr"/>
          <a:lstStyle/>
          <a:p>
            <a:pPr algn="ctr"/>
            <a:endParaRPr/>
          </a:p>
        </p:txBody>
      </p:sp>
      <p:sp>
        <p:nvSpPr>
          <p:cNvPr id="48" name="Text: +6.7%"/>
          <p:cNvSpPr txBox="1"/>
          <p:nvPr/>
        </p:nvSpPr>
        <p:spPr>
          <a:xfrm>
            <a:off x="2514600" y="4624388"/>
            <a:ext cx="274737" cy="161925"/>
          </a:xfrm>
          <a:prstGeom prst="rect">
            <a:avLst/>
          </a:prstGeom>
          <a:noFill/>
        </p:spPr>
        <p:txBody>
          <a:bodyPr wrap="square" lIns="0" tIns="0" rIns="0" bIns="0" anchor="t">
            <a:spAutoFit/>
          </a:bodyPr>
          <a:lstStyle/>
          <a:p>
            <a:pPr algn="l">
              <a:lnSpc>
                <a:spcPts val="1275"/>
              </a:lnSpc>
            </a:pPr>
            <a:r>
              <a:rPr sz="788" b="1" i="0" spc="15">
                <a:solidFill>
                  <a:srgbClr val="1B1A1A"/>
                </a:solidFill>
                <a:latin typeface="Calibri"/>
              </a:rPr>
              <a:t>+6.7%</a:t>
            </a:r>
          </a:p>
        </p:txBody>
      </p:sp>
      <p:sp>
        <p:nvSpPr>
          <p:cNvPr id="49" name="Text: Cardinal Health">
            <a:hlinkClick r:id="rId15"/>
          </p:cNvPr>
          <p:cNvSpPr txBox="1"/>
          <p:nvPr/>
        </p:nvSpPr>
        <p:spPr>
          <a:xfrm>
            <a:off x="419100" y="4886325"/>
            <a:ext cx="1443038" cy="133350"/>
          </a:xfrm>
          <a:prstGeom prst="rect">
            <a:avLst/>
          </a:prstGeom>
          <a:noFill/>
        </p:spPr>
        <p:txBody>
          <a:bodyPr wrap="square" lIns="0" tIns="0" rIns="0" bIns="0" anchor="t">
            <a:spAutoFit/>
          </a:bodyPr>
          <a:lstStyle/>
          <a:p>
            <a:pPr algn="r">
              <a:lnSpc>
                <a:spcPts val="1050"/>
              </a:lnSpc>
            </a:pPr>
            <a:r>
              <a:rPr sz="788" b="1" i="0" spc="15">
                <a:solidFill>
                  <a:srgbClr val="333231"/>
                </a:solidFill>
                <a:latin typeface="Calibri"/>
              </a:rPr>
              <a:t>Cardinal Health</a:t>
            </a:r>
          </a:p>
        </p:txBody>
      </p:sp>
      <p:sp>
        <p:nvSpPr>
          <p:cNvPr id="50" name="Rectangle 49"/>
          <p:cNvSpPr/>
          <p:nvPr/>
        </p:nvSpPr>
        <p:spPr>
          <a:xfrm>
            <a:off x="1924050" y="4886325"/>
            <a:ext cx="476250" cy="133350"/>
          </a:xfrm>
          <a:prstGeom prst="rect">
            <a:avLst/>
          </a:prstGeom>
          <a:solidFill>
            <a:srgbClr val="A39486"/>
          </a:solidFill>
          <a:ln>
            <a:noFill/>
          </a:ln>
          <a:effectLst/>
        </p:spPr>
        <p:txBody>
          <a:bodyPr rtlCol="0" anchor="ctr"/>
          <a:lstStyle/>
          <a:p>
            <a:pPr algn="ctr"/>
            <a:endParaRPr/>
          </a:p>
        </p:txBody>
      </p:sp>
      <p:sp>
        <p:nvSpPr>
          <p:cNvPr id="51" name="Text: +6.0%"/>
          <p:cNvSpPr txBox="1"/>
          <p:nvPr/>
        </p:nvSpPr>
        <p:spPr>
          <a:xfrm>
            <a:off x="2457450" y="4872038"/>
            <a:ext cx="274737" cy="161925"/>
          </a:xfrm>
          <a:prstGeom prst="rect">
            <a:avLst/>
          </a:prstGeom>
          <a:noFill/>
        </p:spPr>
        <p:txBody>
          <a:bodyPr wrap="square" lIns="0" tIns="0" rIns="0" bIns="0" anchor="t">
            <a:spAutoFit/>
          </a:bodyPr>
          <a:lstStyle/>
          <a:p>
            <a:pPr algn="l">
              <a:lnSpc>
                <a:spcPts val="1275"/>
              </a:lnSpc>
            </a:pPr>
            <a:r>
              <a:rPr sz="788" b="1" i="0" spc="15">
                <a:solidFill>
                  <a:srgbClr val="1B1A1A"/>
                </a:solidFill>
                <a:latin typeface="Calibri"/>
              </a:rPr>
              <a:t>+6.0%</a:t>
            </a:r>
          </a:p>
        </p:txBody>
      </p:sp>
      <p:sp>
        <p:nvSpPr>
          <p:cNvPr id="52" name="Text: Labcorp">
            <a:hlinkClick r:id="rId16"/>
          </p:cNvPr>
          <p:cNvSpPr txBox="1"/>
          <p:nvPr/>
        </p:nvSpPr>
        <p:spPr>
          <a:xfrm>
            <a:off x="419100" y="5133975"/>
            <a:ext cx="1443038" cy="133350"/>
          </a:xfrm>
          <a:prstGeom prst="rect">
            <a:avLst/>
          </a:prstGeom>
          <a:noFill/>
        </p:spPr>
        <p:txBody>
          <a:bodyPr wrap="square" lIns="0" tIns="0" rIns="0" bIns="0" anchor="t">
            <a:spAutoFit/>
          </a:bodyPr>
          <a:lstStyle/>
          <a:p>
            <a:pPr algn="r">
              <a:lnSpc>
                <a:spcPts val="1050"/>
              </a:lnSpc>
            </a:pPr>
            <a:r>
              <a:rPr sz="788" b="1" i="0" spc="15">
                <a:solidFill>
                  <a:srgbClr val="333231"/>
                </a:solidFill>
                <a:latin typeface="Calibri"/>
              </a:rPr>
              <a:t>Labcorp</a:t>
            </a:r>
          </a:p>
        </p:txBody>
      </p:sp>
      <p:sp>
        <p:nvSpPr>
          <p:cNvPr id="53" name="Rectangle 52"/>
          <p:cNvSpPr/>
          <p:nvPr/>
        </p:nvSpPr>
        <p:spPr>
          <a:xfrm>
            <a:off x="1924050" y="5133975"/>
            <a:ext cx="457200" cy="133350"/>
          </a:xfrm>
          <a:prstGeom prst="rect">
            <a:avLst/>
          </a:prstGeom>
          <a:solidFill>
            <a:srgbClr val="B68757"/>
          </a:solidFill>
          <a:ln>
            <a:noFill/>
          </a:ln>
          <a:effectLst/>
        </p:spPr>
        <p:txBody>
          <a:bodyPr rtlCol="0" anchor="ctr"/>
          <a:lstStyle/>
          <a:p>
            <a:pPr algn="ctr"/>
            <a:endParaRPr/>
          </a:p>
        </p:txBody>
      </p:sp>
      <p:sp>
        <p:nvSpPr>
          <p:cNvPr id="54" name="Text: +5.8%"/>
          <p:cNvSpPr txBox="1"/>
          <p:nvPr/>
        </p:nvSpPr>
        <p:spPr>
          <a:xfrm>
            <a:off x="2438400" y="5119688"/>
            <a:ext cx="274737" cy="161925"/>
          </a:xfrm>
          <a:prstGeom prst="rect">
            <a:avLst/>
          </a:prstGeom>
          <a:noFill/>
        </p:spPr>
        <p:txBody>
          <a:bodyPr wrap="square" lIns="0" tIns="0" rIns="0" bIns="0" anchor="t">
            <a:spAutoFit/>
          </a:bodyPr>
          <a:lstStyle/>
          <a:p>
            <a:pPr algn="l">
              <a:lnSpc>
                <a:spcPts val="1275"/>
              </a:lnSpc>
            </a:pPr>
            <a:r>
              <a:rPr sz="788" b="1" i="0" spc="15">
                <a:solidFill>
                  <a:srgbClr val="1B1A1A"/>
                </a:solidFill>
                <a:latin typeface="Calibri"/>
              </a:rPr>
              <a:t>+5.8%</a:t>
            </a:r>
          </a:p>
        </p:txBody>
      </p:sp>
      <p:sp>
        <p:nvSpPr>
          <p:cNvPr id="55" name="Text: Guardian Pharmacy Services">
            <a:hlinkClick r:id="rId17"/>
          </p:cNvPr>
          <p:cNvSpPr txBox="1"/>
          <p:nvPr/>
        </p:nvSpPr>
        <p:spPr>
          <a:xfrm>
            <a:off x="419100" y="5381625"/>
            <a:ext cx="1443038" cy="133350"/>
          </a:xfrm>
          <a:prstGeom prst="rect">
            <a:avLst/>
          </a:prstGeom>
          <a:noFill/>
        </p:spPr>
        <p:txBody>
          <a:bodyPr wrap="square" lIns="0" tIns="0" rIns="0" bIns="0" anchor="t">
            <a:spAutoFit/>
          </a:bodyPr>
          <a:lstStyle/>
          <a:p>
            <a:pPr algn="r">
              <a:lnSpc>
                <a:spcPts val="1050"/>
              </a:lnSpc>
            </a:pPr>
            <a:r>
              <a:rPr sz="788" b="1" i="0" spc="15">
                <a:solidFill>
                  <a:srgbClr val="333231"/>
                </a:solidFill>
                <a:latin typeface="Calibri"/>
              </a:rPr>
              <a:t>Guardian Pharmacy Services</a:t>
            </a:r>
          </a:p>
        </p:txBody>
      </p:sp>
      <p:sp>
        <p:nvSpPr>
          <p:cNvPr id="56" name="Rectangle 55"/>
          <p:cNvSpPr/>
          <p:nvPr/>
        </p:nvSpPr>
        <p:spPr>
          <a:xfrm>
            <a:off x="1924050" y="5381625"/>
            <a:ext cx="161925" cy="133350"/>
          </a:xfrm>
          <a:prstGeom prst="rect">
            <a:avLst/>
          </a:prstGeom>
          <a:solidFill>
            <a:srgbClr val="A39486"/>
          </a:solidFill>
          <a:ln>
            <a:noFill/>
          </a:ln>
          <a:effectLst/>
        </p:spPr>
        <p:txBody>
          <a:bodyPr rtlCol="0" anchor="ctr"/>
          <a:lstStyle/>
          <a:p>
            <a:pPr algn="ctr"/>
            <a:endParaRPr/>
          </a:p>
        </p:txBody>
      </p:sp>
      <p:sp>
        <p:nvSpPr>
          <p:cNvPr id="57" name="Text: +2.0%"/>
          <p:cNvSpPr txBox="1"/>
          <p:nvPr/>
        </p:nvSpPr>
        <p:spPr>
          <a:xfrm>
            <a:off x="2143125" y="5367338"/>
            <a:ext cx="274737" cy="161925"/>
          </a:xfrm>
          <a:prstGeom prst="rect">
            <a:avLst/>
          </a:prstGeom>
          <a:noFill/>
        </p:spPr>
        <p:txBody>
          <a:bodyPr wrap="square" lIns="0" tIns="0" rIns="0" bIns="0" anchor="t">
            <a:spAutoFit/>
          </a:bodyPr>
          <a:lstStyle/>
          <a:p>
            <a:pPr algn="l">
              <a:lnSpc>
                <a:spcPts val="1275"/>
              </a:lnSpc>
            </a:pPr>
            <a:r>
              <a:rPr sz="788" b="1" i="0" spc="15">
                <a:solidFill>
                  <a:srgbClr val="1B1A1A"/>
                </a:solidFill>
                <a:latin typeface="Calibri"/>
              </a:rPr>
              <a:t>+2.0%</a:t>
            </a:r>
          </a:p>
        </p:txBody>
      </p:sp>
      <p:sp>
        <p:nvSpPr>
          <p:cNvPr id="58" name="Text: AMN Healthcare">
            <a:hlinkClick r:id="rId18"/>
          </p:cNvPr>
          <p:cNvSpPr txBox="1"/>
          <p:nvPr/>
        </p:nvSpPr>
        <p:spPr>
          <a:xfrm>
            <a:off x="419100" y="5629275"/>
            <a:ext cx="1443038" cy="133350"/>
          </a:xfrm>
          <a:prstGeom prst="rect">
            <a:avLst/>
          </a:prstGeom>
          <a:noFill/>
        </p:spPr>
        <p:txBody>
          <a:bodyPr wrap="square" lIns="0" tIns="0" rIns="0" bIns="0" anchor="t">
            <a:spAutoFit/>
          </a:bodyPr>
          <a:lstStyle/>
          <a:p>
            <a:pPr algn="r">
              <a:lnSpc>
                <a:spcPts val="1050"/>
              </a:lnSpc>
            </a:pPr>
            <a:r>
              <a:rPr sz="788" b="1" i="0" spc="15">
                <a:solidFill>
                  <a:srgbClr val="333231"/>
                </a:solidFill>
                <a:latin typeface="Calibri"/>
              </a:rPr>
              <a:t>AMN Healthcare</a:t>
            </a:r>
          </a:p>
        </p:txBody>
      </p:sp>
      <p:sp>
        <p:nvSpPr>
          <p:cNvPr id="59" name="Rectangle 58"/>
          <p:cNvSpPr/>
          <p:nvPr/>
        </p:nvSpPr>
        <p:spPr>
          <a:xfrm>
            <a:off x="1924050" y="5629275"/>
            <a:ext cx="161925" cy="133350"/>
          </a:xfrm>
          <a:prstGeom prst="rect">
            <a:avLst/>
          </a:prstGeom>
          <a:solidFill>
            <a:srgbClr val="A39486"/>
          </a:solidFill>
          <a:ln>
            <a:noFill/>
          </a:ln>
          <a:effectLst/>
        </p:spPr>
        <p:txBody>
          <a:bodyPr rtlCol="0" anchor="ctr"/>
          <a:lstStyle/>
          <a:p>
            <a:pPr algn="ctr"/>
            <a:endParaRPr/>
          </a:p>
        </p:txBody>
      </p:sp>
      <p:sp>
        <p:nvSpPr>
          <p:cNvPr id="60" name="Text: +2.0%"/>
          <p:cNvSpPr txBox="1"/>
          <p:nvPr/>
        </p:nvSpPr>
        <p:spPr>
          <a:xfrm>
            <a:off x="2143125" y="5614988"/>
            <a:ext cx="274737" cy="161925"/>
          </a:xfrm>
          <a:prstGeom prst="rect">
            <a:avLst/>
          </a:prstGeom>
          <a:noFill/>
        </p:spPr>
        <p:txBody>
          <a:bodyPr wrap="square" lIns="0" tIns="0" rIns="0" bIns="0" anchor="t">
            <a:spAutoFit/>
          </a:bodyPr>
          <a:lstStyle/>
          <a:p>
            <a:pPr algn="l">
              <a:lnSpc>
                <a:spcPts val="1275"/>
              </a:lnSpc>
            </a:pPr>
            <a:r>
              <a:rPr sz="788" b="1" i="0" spc="15">
                <a:solidFill>
                  <a:srgbClr val="1B1A1A"/>
                </a:solidFill>
                <a:latin typeface="Calibri"/>
              </a:rPr>
              <a:t>+2.0%</a:t>
            </a:r>
          </a:p>
        </p:txBody>
      </p:sp>
      <p:sp>
        <p:nvSpPr>
          <p:cNvPr id="61" name="Text: Option Care Health">
            <a:hlinkClick r:id="rId19"/>
          </p:cNvPr>
          <p:cNvSpPr txBox="1"/>
          <p:nvPr/>
        </p:nvSpPr>
        <p:spPr>
          <a:xfrm>
            <a:off x="419100" y="5876925"/>
            <a:ext cx="1443038" cy="133350"/>
          </a:xfrm>
          <a:prstGeom prst="rect">
            <a:avLst/>
          </a:prstGeom>
          <a:noFill/>
        </p:spPr>
        <p:txBody>
          <a:bodyPr wrap="square" lIns="0" tIns="0" rIns="0" bIns="0" anchor="t">
            <a:spAutoFit/>
          </a:bodyPr>
          <a:lstStyle/>
          <a:p>
            <a:pPr algn="r">
              <a:lnSpc>
                <a:spcPts val="1050"/>
              </a:lnSpc>
            </a:pPr>
            <a:r>
              <a:rPr sz="788" b="1" i="0" spc="15">
                <a:solidFill>
                  <a:srgbClr val="333231"/>
                </a:solidFill>
                <a:latin typeface="Calibri"/>
              </a:rPr>
              <a:t>Option Care Health</a:t>
            </a:r>
          </a:p>
        </p:txBody>
      </p:sp>
      <p:sp>
        <p:nvSpPr>
          <p:cNvPr id="62" name="Rectangle 61"/>
          <p:cNvSpPr/>
          <p:nvPr/>
        </p:nvSpPr>
        <p:spPr>
          <a:xfrm>
            <a:off x="1924050" y="5876925"/>
            <a:ext cx="152400" cy="133350"/>
          </a:xfrm>
          <a:prstGeom prst="rect">
            <a:avLst/>
          </a:prstGeom>
          <a:solidFill>
            <a:srgbClr val="A39486"/>
          </a:solidFill>
          <a:ln>
            <a:noFill/>
          </a:ln>
          <a:effectLst/>
        </p:spPr>
        <p:txBody>
          <a:bodyPr rtlCol="0" anchor="ctr"/>
          <a:lstStyle/>
          <a:p>
            <a:pPr algn="ctr"/>
            <a:endParaRPr/>
          </a:p>
        </p:txBody>
      </p:sp>
      <p:sp>
        <p:nvSpPr>
          <p:cNvPr id="63" name="Text: +1.9%"/>
          <p:cNvSpPr txBox="1"/>
          <p:nvPr/>
        </p:nvSpPr>
        <p:spPr>
          <a:xfrm>
            <a:off x="2133600" y="5862638"/>
            <a:ext cx="274737" cy="161925"/>
          </a:xfrm>
          <a:prstGeom prst="rect">
            <a:avLst/>
          </a:prstGeom>
          <a:noFill/>
        </p:spPr>
        <p:txBody>
          <a:bodyPr wrap="square" lIns="0" tIns="0" rIns="0" bIns="0" anchor="t">
            <a:spAutoFit/>
          </a:bodyPr>
          <a:lstStyle/>
          <a:p>
            <a:pPr algn="l">
              <a:lnSpc>
                <a:spcPts val="1275"/>
              </a:lnSpc>
            </a:pPr>
            <a:r>
              <a:rPr sz="788" b="1" i="0" spc="15">
                <a:solidFill>
                  <a:srgbClr val="1B1A1A"/>
                </a:solidFill>
                <a:latin typeface="Calibri"/>
              </a:rPr>
              <a:t>+1.9%</a:t>
            </a:r>
          </a:p>
        </p:txBody>
      </p:sp>
      <p:sp>
        <p:nvSpPr>
          <p:cNvPr id="64" name="Rectangle 63"/>
          <p:cNvSpPr/>
          <p:nvPr/>
        </p:nvSpPr>
        <p:spPr>
          <a:xfrm>
            <a:off x="419100" y="6681788"/>
            <a:ext cx="133350" cy="28575"/>
          </a:xfrm>
          <a:prstGeom prst="rect">
            <a:avLst/>
          </a:prstGeom>
          <a:solidFill>
            <a:srgbClr val="1B1A1A"/>
          </a:solidFill>
          <a:ln>
            <a:noFill/>
          </a:ln>
          <a:effectLst/>
        </p:spPr>
        <p:txBody>
          <a:bodyPr rtlCol="0" anchor="ctr"/>
          <a:lstStyle/>
          <a:p>
            <a:pPr algn="ctr"/>
            <a:endParaRPr/>
          </a:p>
        </p:txBody>
      </p:sp>
      <p:sp>
        <p:nvSpPr>
          <p:cNvPr id="65" name="Text: Provider Services"/>
          <p:cNvSpPr txBox="1"/>
          <p:nvPr/>
        </p:nvSpPr>
        <p:spPr>
          <a:xfrm>
            <a:off x="609600" y="6629400"/>
            <a:ext cx="837724" cy="123825"/>
          </a:xfrm>
          <a:prstGeom prst="rect">
            <a:avLst/>
          </a:prstGeom>
          <a:noFill/>
        </p:spPr>
        <p:txBody>
          <a:bodyPr wrap="square" lIns="0" tIns="0" rIns="0" bIns="0" anchor="t">
            <a:spAutoFit/>
          </a:bodyPr>
          <a:lstStyle/>
          <a:p>
            <a:pPr algn="l">
              <a:lnSpc>
                <a:spcPts val="975"/>
              </a:lnSpc>
            </a:pPr>
            <a:r>
              <a:rPr sz="750" b="0" i="0" spc="15">
                <a:solidFill>
                  <a:srgbClr val="333231"/>
                </a:solidFill>
                <a:latin typeface="Calibri"/>
              </a:rPr>
              <a:t>Provider Services</a:t>
            </a:r>
          </a:p>
        </p:txBody>
      </p:sp>
      <p:sp>
        <p:nvSpPr>
          <p:cNvPr id="66" name="Rectangle 65"/>
          <p:cNvSpPr/>
          <p:nvPr/>
        </p:nvSpPr>
        <p:spPr>
          <a:xfrm>
            <a:off x="1457325" y="6681788"/>
            <a:ext cx="133350" cy="28575"/>
          </a:xfrm>
          <a:prstGeom prst="rect">
            <a:avLst/>
          </a:prstGeom>
          <a:solidFill>
            <a:srgbClr val="B68757"/>
          </a:solidFill>
          <a:ln>
            <a:noFill/>
          </a:ln>
          <a:effectLst/>
        </p:spPr>
        <p:txBody>
          <a:bodyPr rtlCol="0" anchor="ctr"/>
          <a:lstStyle/>
          <a:p>
            <a:pPr algn="ctr"/>
            <a:endParaRPr/>
          </a:p>
        </p:txBody>
      </p:sp>
      <p:sp>
        <p:nvSpPr>
          <p:cNvPr id="67" name="Text: Life Sciences &amp; Diagnostics"/>
          <p:cNvSpPr txBox="1"/>
          <p:nvPr/>
        </p:nvSpPr>
        <p:spPr>
          <a:xfrm>
            <a:off x="1647825" y="6629400"/>
            <a:ext cx="1265337" cy="123825"/>
          </a:xfrm>
          <a:prstGeom prst="rect">
            <a:avLst/>
          </a:prstGeom>
          <a:noFill/>
        </p:spPr>
        <p:txBody>
          <a:bodyPr wrap="square" lIns="0" tIns="0" rIns="0" bIns="0" anchor="t">
            <a:spAutoFit/>
          </a:bodyPr>
          <a:lstStyle/>
          <a:p>
            <a:pPr algn="l">
              <a:lnSpc>
                <a:spcPts val="975"/>
              </a:lnSpc>
            </a:pPr>
            <a:r>
              <a:rPr sz="750" b="0" i="0" spc="15">
                <a:solidFill>
                  <a:srgbClr val="333231"/>
                </a:solidFill>
                <a:latin typeface="Calibri"/>
              </a:rPr>
              <a:t>Life Sciences &amp; Diagnostics</a:t>
            </a:r>
          </a:p>
        </p:txBody>
      </p:sp>
      <p:sp>
        <p:nvSpPr>
          <p:cNvPr id="68" name="Rectangle 67"/>
          <p:cNvSpPr/>
          <p:nvPr/>
        </p:nvSpPr>
        <p:spPr>
          <a:xfrm>
            <a:off x="419100" y="6853238"/>
            <a:ext cx="133350" cy="28575"/>
          </a:xfrm>
          <a:prstGeom prst="rect">
            <a:avLst/>
          </a:prstGeom>
          <a:solidFill>
            <a:srgbClr val="6D7681"/>
          </a:solidFill>
          <a:ln>
            <a:noFill/>
          </a:ln>
          <a:effectLst/>
        </p:spPr>
        <p:txBody>
          <a:bodyPr rtlCol="0" anchor="ctr"/>
          <a:lstStyle/>
          <a:p>
            <a:pPr algn="ctr"/>
            <a:endParaRPr/>
          </a:p>
        </p:txBody>
      </p:sp>
      <p:sp>
        <p:nvSpPr>
          <p:cNvPr id="69" name="Text: Medical Products &amp; Distribution"/>
          <p:cNvSpPr txBox="1"/>
          <p:nvPr/>
        </p:nvSpPr>
        <p:spPr>
          <a:xfrm>
            <a:off x="609600" y="6800850"/>
            <a:ext cx="1497151" cy="123825"/>
          </a:xfrm>
          <a:prstGeom prst="rect">
            <a:avLst/>
          </a:prstGeom>
          <a:noFill/>
        </p:spPr>
        <p:txBody>
          <a:bodyPr wrap="square" lIns="0" tIns="0" rIns="0" bIns="0" anchor="t">
            <a:spAutoFit/>
          </a:bodyPr>
          <a:lstStyle/>
          <a:p>
            <a:pPr algn="l">
              <a:lnSpc>
                <a:spcPts val="975"/>
              </a:lnSpc>
            </a:pPr>
            <a:r>
              <a:rPr sz="750" b="0" i="0" spc="15">
                <a:solidFill>
                  <a:srgbClr val="333231"/>
                </a:solidFill>
                <a:latin typeface="Calibri"/>
              </a:rPr>
              <a:t>Medical Products &amp; Distribution</a:t>
            </a:r>
          </a:p>
        </p:txBody>
      </p:sp>
      <p:sp>
        <p:nvSpPr>
          <p:cNvPr id="70" name="Rectangle 69"/>
          <p:cNvSpPr/>
          <p:nvPr/>
        </p:nvSpPr>
        <p:spPr>
          <a:xfrm>
            <a:off x="2056805" y="6853238"/>
            <a:ext cx="133350" cy="28575"/>
          </a:xfrm>
          <a:prstGeom prst="rect">
            <a:avLst/>
          </a:prstGeom>
          <a:solidFill>
            <a:srgbClr val="A39486"/>
          </a:solidFill>
          <a:ln>
            <a:noFill/>
          </a:ln>
          <a:effectLst/>
        </p:spPr>
        <p:txBody>
          <a:bodyPr rtlCol="0" anchor="ctr"/>
          <a:lstStyle/>
          <a:p>
            <a:pPr algn="ctr"/>
            <a:endParaRPr/>
          </a:p>
        </p:txBody>
      </p:sp>
      <p:sp>
        <p:nvSpPr>
          <p:cNvPr id="71" name="Text: Pharmacy &amp; Healthcare Services"/>
          <p:cNvSpPr txBox="1"/>
          <p:nvPr/>
        </p:nvSpPr>
        <p:spPr>
          <a:xfrm>
            <a:off x="2247305" y="6800850"/>
            <a:ext cx="1509102" cy="123825"/>
          </a:xfrm>
          <a:prstGeom prst="rect">
            <a:avLst/>
          </a:prstGeom>
          <a:noFill/>
        </p:spPr>
        <p:txBody>
          <a:bodyPr wrap="square" lIns="0" tIns="0" rIns="0" bIns="0" anchor="t">
            <a:spAutoFit/>
          </a:bodyPr>
          <a:lstStyle/>
          <a:p>
            <a:pPr algn="l">
              <a:lnSpc>
                <a:spcPts val="975"/>
              </a:lnSpc>
            </a:pPr>
            <a:r>
              <a:rPr sz="750" b="0" i="0" spc="15">
                <a:solidFill>
                  <a:srgbClr val="333231"/>
                </a:solidFill>
                <a:latin typeface="Calibri"/>
              </a:rPr>
              <a:t>Pharmacy &amp; Healthcare Services</a:t>
            </a:r>
          </a:p>
        </p:txBody>
      </p:sp>
      <p:sp>
        <p:nvSpPr>
          <p:cNvPr id="72" name="Rectangle 71"/>
          <p:cNvSpPr/>
          <p:nvPr/>
        </p:nvSpPr>
        <p:spPr>
          <a:xfrm>
            <a:off x="4171950" y="1238250"/>
            <a:ext cx="2676525" cy="1352550"/>
          </a:xfrm>
          <a:prstGeom prst="rect">
            <a:avLst/>
          </a:prstGeom>
          <a:solidFill>
            <a:srgbClr val="FAF7F3"/>
          </a:solidFill>
          <a:ln>
            <a:noFill/>
          </a:ln>
          <a:effectLst/>
        </p:spPr>
        <p:txBody>
          <a:bodyPr rtlCol="0" anchor="ctr"/>
          <a:lstStyle/>
          <a:p>
            <a:pPr algn="ctr"/>
            <a:endParaRPr/>
          </a:p>
        </p:txBody>
      </p:sp>
      <p:sp>
        <p:nvSpPr>
          <p:cNvPr id="73" name="Rectangle 72"/>
          <p:cNvSpPr/>
          <p:nvPr/>
        </p:nvSpPr>
        <p:spPr>
          <a:xfrm>
            <a:off x="4171950" y="1238250"/>
            <a:ext cx="28575" cy="1352550"/>
          </a:xfrm>
          <a:prstGeom prst="rect">
            <a:avLst/>
          </a:prstGeom>
          <a:solidFill>
            <a:srgbClr val="1B1A1A"/>
          </a:solidFill>
          <a:ln>
            <a:noFill/>
          </a:ln>
          <a:effectLst/>
        </p:spPr>
        <p:txBody>
          <a:bodyPr rtlCol="0" anchor="ctr"/>
          <a:lstStyle/>
          <a:p>
            <a:pPr algn="ctr"/>
            <a:endParaRPr/>
          </a:p>
        </p:txBody>
      </p:sp>
      <p:sp>
        <p:nvSpPr>
          <p:cNvPr id="74" name="Text: PROVIDER SERVICES"/>
          <p:cNvSpPr txBox="1"/>
          <p:nvPr/>
        </p:nvSpPr>
        <p:spPr>
          <a:xfrm>
            <a:off x="4333875" y="1333500"/>
            <a:ext cx="2395538" cy="114300"/>
          </a:xfrm>
          <a:prstGeom prst="rect">
            <a:avLst/>
          </a:prstGeom>
          <a:noFill/>
        </p:spPr>
        <p:txBody>
          <a:bodyPr wrap="square" lIns="0" tIns="0" rIns="0" bIns="0" anchor="t">
            <a:spAutoFit/>
          </a:bodyPr>
          <a:lstStyle/>
          <a:p>
            <a:pPr algn="l">
              <a:lnSpc>
                <a:spcPts val="900"/>
              </a:lnSpc>
            </a:pPr>
            <a:r>
              <a:rPr sz="600" b="1" i="0" spc="120">
                <a:solidFill>
                  <a:srgbClr val="8C6239"/>
                </a:solidFill>
                <a:latin typeface="Calibri"/>
              </a:rPr>
              <a:t>PROVIDER SERVICES</a:t>
            </a:r>
          </a:p>
        </p:txBody>
      </p:sp>
      <p:sp>
        <p:nvSpPr>
          <p:cNvPr id="75" name="Text: “We continue to see strong demand "/>
          <p:cNvSpPr txBox="1"/>
          <p:nvPr/>
        </p:nvSpPr>
        <p:spPr>
          <a:xfrm>
            <a:off x="4325243" y="1525533"/>
            <a:ext cx="2395538" cy="630942"/>
          </a:xfrm>
          <a:prstGeom prst="rect">
            <a:avLst/>
          </a:prstGeom>
          <a:noFill/>
        </p:spPr>
        <p:txBody>
          <a:bodyPr wrap="square" lIns="0" tIns="0" rIns="0" bIns="0" anchor="t">
            <a:spAutoFit/>
          </a:bodyPr>
          <a:lstStyle/>
          <a:p>
            <a:r>
              <a:rPr sz="900" b="0" i="1" spc="15" dirty="0">
                <a:solidFill>
                  <a:srgbClr val="2A2928"/>
                </a:solidFill>
                <a:latin typeface="Cambria"/>
              </a:rPr>
              <a:t>“</a:t>
            </a:r>
            <a:r>
              <a:rPr lang="en-US" sz="800" i="1" spc="15" dirty="0">
                <a:solidFill>
                  <a:srgbClr val="2A2928"/>
                </a:solidFill>
                <a:latin typeface="Cambria"/>
              </a:rPr>
              <a:t>We continue to see opportunities that include everything from larger portfolios, landlords looking to replace current tenants</a:t>
            </a:r>
            <a:r>
              <a:rPr lang="en-US" sz="800" dirty="0"/>
              <a:t>, </a:t>
            </a:r>
            <a:r>
              <a:rPr lang="en-US" sz="800" i="1" spc="15" dirty="0">
                <a:solidFill>
                  <a:srgbClr val="2A2928"/>
                </a:solidFill>
                <a:latin typeface="Cambria"/>
              </a:rPr>
              <a:t>non-profits looking to divest of their post-acute assets and a steady flow of traditional one-</a:t>
            </a:r>
            <a:r>
              <a:rPr lang="en-US" sz="800" i="1" spc="15" dirty="0" err="1">
                <a:solidFill>
                  <a:srgbClr val="2A2928"/>
                </a:solidFill>
                <a:latin typeface="Cambria"/>
              </a:rPr>
              <a:t>sie</a:t>
            </a:r>
            <a:r>
              <a:rPr lang="en-US" sz="800" i="1" spc="15" dirty="0">
                <a:solidFill>
                  <a:srgbClr val="2A2928"/>
                </a:solidFill>
                <a:latin typeface="Cambria"/>
              </a:rPr>
              <a:t> two-sies.”</a:t>
            </a:r>
            <a:endParaRPr sz="800" b="0" i="1" spc="15" dirty="0">
              <a:solidFill>
                <a:srgbClr val="2A2928"/>
              </a:solidFill>
              <a:latin typeface="Cambria"/>
            </a:endParaRPr>
          </a:p>
        </p:txBody>
      </p:sp>
      <p:sp>
        <p:nvSpPr>
          <p:cNvPr id="76" name="Text: Barry Port, Chief Executive Office"/>
          <p:cNvSpPr txBox="1"/>
          <p:nvPr/>
        </p:nvSpPr>
        <p:spPr>
          <a:xfrm>
            <a:off x="4333875" y="2366962"/>
            <a:ext cx="2395538" cy="128588"/>
          </a:xfrm>
          <a:prstGeom prst="rect">
            <a:avLst/>
          </a:prstGeom>
          <a:noFill/>
        </p:spPr>
        <p:txBody>
          <a:bodyPr wrap="square" lIns="0" tIns="0" rIns="0" bIns="0" anchor="t">
            <a:spAutoFit/>
          </a:bodyPr>
          <a:lstStyle/>
          <a:p>
            <a:pPr algn="l">
              <a:lnSpc>
                <a:spcPts val="1011"/>
              </a:lnSpc>
            </a:pPr>
            <a:r>
              <a:rPr sz="712" b="0" i="0" spc="15" dirty="0">
                <a:solidFill>
                  <a:srgbClr val="8C6239"/>
                </a:solidFill>
                <a:latin typeface="Calibri"/>
                <a:hlinkClick r:id="rId2">
                  <a:extLst>
                    <a:ext uri="{A12FA001-AC4F-418D-AE19-62706E023703}">
                      <ahyp:hlinkClr xmlns:ahyp="http://schemas.microsoft.com/office/drawing/2018/hyperlinkcolor" val="tx"/>
                    </a:ext>
                  </a:extLst>
                </a:hlinkClick>
              </a:rPr>
              <a:t>Barry Port, Chief Executive Officer, The Ensign Group</a:t>
            </a:r>
          </a:p>
        </p:txBody>
      </p:sp>
      <p:sp>
        <p:nvSpPr>
          <p:cNvPr id="77" name="Rectangle 76"/>
          <p:cNvSpPr/>
          <p:nvPr/>
        </p:nvSpPr>
        <p:spPr>
          <a:xfrm>
            <a:off x="6962775" y="1238250"/>
            <a:ext cx="2676525" cy="1352550"/>
          </a:xfrm>
          <a:prstGeom prst="rect">
            <a:avLst/>
          </a:prstGeom>
          <a:solidFill>
            <a:srgbClr val="FAF7F3"/>
          </a:solidFill>
          <a:ln>
            <a:noFill/>
          </a:ln>
          <a:effectLst/>
        </p:spPr>
        <p:txBody>
          <a:bodyPr rtlCol="0" anchor="ctr"/>
          <a:lstStyle/>
          <a:p>
            <a:pPr algn="ctr"/>
            <a:endParaRPr/>
          </a:p>
        </p:txBody>
      </p:sp>
      <p:sp>
        <p:nvSpPr>
          <p:cNvPr id="78" name="Rectangle 77"/>
          <p:cNvSpPr/>
          <p:nvPr/>
        </p:nvSpPr>
        <p:spPr>
          <a:xfrm>
            <a:off x="6962775" y="1238250"/>
            <a:ext cx="28575" cy="1352550"/>
          </a:xfrm>
          <a:prstGeom prst="rect">
            <a:avLst/>
          </a:prstGeom>
          <a:solidFill>
            <a:srgbClr val="1B1A1A"/>
          </a:solidFill>
          <a:ln>
            <a:noFill/>
          </a:ln>
          <a:effectLst/>
        </p:spPr>
        <p:txBody>
          <a:bodyPr rtlCol="0" anchor="ctr"/>
          <a:lstStyle/>
          <a:p>
            <a:pPr algn="ctr"/>
            <a:endParaRPr/>
          </a:p>
        </p:txBody>
      </p:sp>
      <p:sp>
        <p:nvSpPr>
          <p:cNvPr id="79" name="Text: PROVIDER SERVICES"/>
          <p:cNvSpPr txBox="1"/>
          <p:nvPr/>
        </p:nvSpPr>
        <p:spPr>
          <a:xfrm>
            <a:off x="7124700" y="1333500"/>
            <a:ext cx="2395538" cy="114300"/>
          </a:xfrm>
          <a:prstGeom prst="rect">
            <a:avLst/>
          </a:prstGeom>
          <a:noFill/>
        </p:spPr>
        <p:txBody>
          <a:bodyPr wrap="square" lIns="0" tIns="0" rIns="0" bIns="0" anchor="t">
            <a:spAutoFit/>
          </a:bodyPr>
          <a:lstStyle/>
          <a:p>
            <a:pPr algn="l">
              <a:lnSpc>
                <a:spcPts val="900"/>
              </a:lnSpc>
            </a:pPr>
            <a:r>
              <a:rPr sz="600" b="1" i="0" spc="120">
                <a:solidFill>
                  <a:srgbClr val="8C6239"/>
                </a:solidFill>
                <a:latin typeface="Calibri"/>
              </a:rPr>
              <a:t>PROVIDER SERVICES</a:t>
            </a:r>
          </a:p>
        </p:txBody>
      </p:sp>
      <p:sp>
        <p:nvSpPr>
          <p:cNvPr id="80" name="Text: “We are pleased with the trends in"/>
          <p:cNvSpPr txBox="1"/>
          <p:nvPr/>
        </p:nvSpPr>
        <p:spPr>
          <a:xfrm>
            <a:off x="7124700" y="1495425"/>
            <a:ext cx="2395538" cy="738664"/>
          </a:xfrm>
          <a:prstGeom prst="rect">
            <a:avLst/>
          </a:prstGeom>
          <a:noFill/>
        </p:spPr>
        <p:txBody>
          <a:bodyPr wrap="square" lIns="0" tIns="0" rIns="0" bIns="0" anchor="t">
            <a:spAutoFit/>
          </a:bodyPr>
          <a:lstStyle/>
          <a:p>
            <a:r>
              <a:rPr lang="en-US" sz="800" i="1" spc="15" dirty="0">
                <a:solidFill>
                  <a:srgbClr val="2A2928"/>
                </a:solidFill>
                <a:latin typeface="Cambria"/>
              </a:rPr>
              <a:t>“Recently, we have begun to see an increasing number of personal care opportunities, which we will be actively pursuing. Since the announcement of the 2027 proposed home health rule rate, there is more optimism around potential deals in skilled home health care.”</a:t>
            </a:r>
            <a:endParaRPr sz="800" i="1" spc="15" dirty="0">
              <a:solidFill>
                <a:srgbClr val="2A2928"/>
              </a:solidFill>
              <a:latin typeface="Cambria"/>
            </a:endParaRPr>
          </a:p>
        </p:txBody>
      </p:sp>
      <p:sp>
        <p:nvSpPr>
          <p:cNvPr id="81" name="Text: Dirk Allison, Chairman and Chief E"/>
          <p:cNvSpPr txBox="1"/>
          <p:nvPr/>
        </p:nvSpPr>
        <p:spPr>
          <a:xfrm>
            <a:off x="7137771" y="2361490"/>
            <a:ext cx="2395538" cy="257175"/>
          </a:xfrm>
          <a:prstGeom prst="rect">
            <a:avLst/>
          </a:prstGeom>
          <a:noFill/>
        </p:spPr>
        <p:txBody>
          <a:bodyPr wrap="square" lIns="0" tIns="0" rIns="0" bIns="0" anchor="t">
            <a:spAutoFit/>
          </a:bodyPr>
          <a:lstStyle/>
          <a:p>
            <a:pPr algn="l">
              <a:lnSpc>
                <a:spcPts val="1011"/>
              </a:lnSpc>
            </a:pPr>
            <a:r>
              <a:rPr sz="712" b="0" i="0" spc="15" dirty="0">
                <a:solidFill>
                  <a:srgbClr val="8C6239"/>
                </a:solidFill>
                <a:latin typeface="Calibri"/>
                <a:hlinkClick r:id="rId20">
                  <a:extLst>
                    <a:ext uri="{A12FA001-AC4F-418D-AE19-62706E023703}">
                      <ahyp:hlinkClr xmlns:ahyp="http://schemas.microsoft.com/office/drawing/2018/hyperlinkcolor" val="tx"/>
                    </a:ext>
                  </a:extLst>
                </a:hlinkClick>
              </a:rPr>
              <a:t>Dirk Allison, Chairman and Chief Executive Officer, </a:t>
            </a:r>
            <a:r>
              <a:rPr sz="712" b="0" i="0" spc="15" dirty="0" err="1">
                <a:solidFill>
                  <a:srgbClr val="8C6239"/>
                </a:solidFill>
                <a:latin typeface="Calibri"/>
                <a:hlinkClick r:id="rId20">
                  <a:extLst>
                    <a:ext uri="{A12FA001-AC4F-418D-AE19-62706E023703}">
                      <ahyp:hlinkClr xmlns:ahyp="http://schemas.microsoft.com/office/drawing/2018/hyperlinkcolor" val="tx"/>
                    </a:ext>
                  </a:extLst>
                </a:hlinkClick>
              </a:rPr>
              <a:t>Addus</a:t>
            </a:r>
            <a:r>
              <a:rPr sz="712" b="0" i="0" spc="15" dirty="0">
                <a:solidFill>
                  <a:srgbClr val="8C6239"/>
                </a:solidFill>
                <a:latin typeface="Calibri"/>
                <a:hlinkClick r:id="rId20">
                  <a:extLst>
                    <a:ext uri="{A12FA001-AC4F-418D-AE19-62706E023703}">
                      <ahyp:hlinkClr xmlns:ahyp="http://schemas.microsoft.com/office/drawing/2018/hyperlinkcolor" val="tx"/>
                    </a:ext>
                  </a:extLst>
                </a:hlinkClick>
              </a:rPr>
              <a:t> </a:t>
            </a:r>
            <a:r>
              <a:rPr sz="712" b="0" i="0" spc="15" dirty="0" err="1">
                <a:solidFill>
                  <a:srgbClr val="8C6239"/>
                </a:solidFill>
                <a:latin typeface="Calibri"/>
                <a:hlinkClick r:id="rId20">
                  <a:extLst>
                    <a:ext uri="{A12FA001-AC4F-418D-AE19-62706E023703}">
                      <ahyp:hlinkClr xmlns:ahyp="http://schemas.microsoft.com/office/drawing/2018/hyperlinkcolor" val="tx"/>
                    </a:ext>
                  </a:extLst>
                </a:hlinkClick>
              </a:rPr>
              <a:t>HomeCare</a:t>
            </a:r>
            <a:endParaRPr sz="712" b="0" i="0" spc="15" dirty="0">
              <a:solidFill>
                <a:srgbClr val="8C6239"/>
              </a:solidFill>
              <a:latin typeface="Calibri"/>
              <a:hlinkClick r:id="rId10">
                <a:extLst>
                  <a:ext uri="{A12FA001-AC4F-418D-AE19-62706E023703}">
                    <ahyp:hlinkClr xmlns:ahyp="http://schemas.microsoft.com/office/drawing/2018/hyperlinkcolor" val="tx"/>
                  </a:ext>
                </a:extLst>
              </a:hlinkClick>
            </a:endParaRPr>
          </a:p>
        </p:txBody>
      </p:sp>
      <p:sp>
        <p:nvSpPr>
          <p:cNvPr id="82" name="Rectangle 81"/>
          <p:cNvSpPr/>
          <p:nvPr/>
        </p:nvSpPr>
        <p:spPr>
          <a:xfrm>
            <a:off x="4171950" y="2686050"/>
            <a:ext cx="2676525" cy="1352550"/>
          </a:xfrm>
          <a:prstGeom prst="rect">
            <a:avLst/>
          </a:prstGeom>
          <a:solidFill>
            <a:srgbClr val="FAF7F3"/>
          </a:solidFill>
          <a:ln>
            <a:noFill/>
          </a:ln>
          <a:effectLst/>
        </p:spPr>
        <p:txBody>
          <a:bodyPr rtlCol="0" anchor="ctr"/>
          <a:lstStyle/>
          <a:p>
            <a:pPr algn="ctr"/>
            <a:endParaRPr/>
          </a:p>
        </p:txBody>
      </p:sp>
      <p:sp>
        <p:nvSpPr>
          <p:cNvPr id="83" name="Rectangle 82"/>
          <p:cNvSpPr/>
          <p:nvPr/>
        </p:nvSpPr>
        <p:spPr>
          <a:xfrm>
            <a:off x="4171950" y="2686050"/>
            <a:ext cx="28575" cy="1352550"/>
          </a:xfrm>
          <a:prstGeom prst="rect">
            <a:avLst/>
          </a:prstGeom>
          <a:solidFill>
            <a:srgbClr val="B68757"/>
          </a:solidFill>
          <a:ln>
            <a:noFill/>
          </a:ln>
          <a:effectLst/>
        </p:spPr>
        <p:txBody>
          <a:bodyPr rtlCol="0" anchor="ctr"/>
          <a:lstStyle/>
          <a:p>
            <a:pPr algn="ctr"/>
            <a:endParaRPr/>
          </a:p>
        </p:txBody>
      </p:sp>
      <p:sp>
        <p:nvSpPr>
          <p:cNvPr id="84" name="Text: LIFE SCIENCES &amp; DIAGNOSTICS"/>
          <p:cNvSpPr txBox="1"/>
          <p:nvPr/>
        </p:nvSpPr>
        <p:spPr>
          <a:xfrm>
            <a:off x="4333875" y="2781300"/>
            <a:ext cx="2395538" cy="114300"/>
          </a:xfrm>
          <a:prstGeom prst="rect">
            <a:avLst/>
          </a:prstGeom>
          <a:noFill/>
        </p:spPr>
        <p:txBody>
          <a:bodyPr wrap="square" lIns="0" tIns="0" rIns="0" bIns="0" anchor="t">
            <a:spAutoFit/>
          </a:bodyPr>
          <a:lstStyle/>
          <a:p>
            <a:pPr algn="l">
              <a:lnSpc>
                <a:spcPts val="900"/>
              </a:lnSpc>
            </a:pPr>
            <a:r>
              <a:rPr sz="600" b="1" i="0" spc="120">
                <a:solidFill>
                  <a:srgbClr val="8C6239"/>
                </a:solidFill>
                <a:latin typeface="Calibri"/>
              </a:rPr>
              <a:t>LIFE SCIENCES &amp; DIAGNOSTICS</a:t>
            </a:r>
          </a:p>
        </p:txBody>
      </p:sp>
      <p:sp>
        <p:nvSpPr>
          <p:cNvPr id="85" name="Text: “Revenues increased by over 10%, a"/>
          <p:cNvSpPr txBox="1"/>
          <p:nvPr/>
        </p:nvSpPr>
        <p:spPr>
          <a:xfrm>
            <a:off x="4333875" y="2943225"/>
            <a:ext cx="2395538" cy="630942"/>
          </a:xfrm>
          <a:prstGeom prst="rect">
            <a:avLst/>
          </a:prstGeom>
          <a:noFill/>
        </p:spPr>
        <p:txBody>
          <a:bodyPr wrap="square" lIns="0" tIns="0" rIns="0" bIns="0" anchor="t">
            <a:spAutoFit/>
          </a:bodyPr>
          <a:lstStyle/>
          <a:p>
            <a:r>
              <a:rPr sz="900" b="0" i="1" spc="15" dirty="0">
                <a:solidFill>
                  <a:srgbClr val="2A2928"/>
                </a:solidFill>
                <a:latin typeface="Cambria"/>
              </a:rPr>
              <a:t>“</a:t>
            </a:r>
            <a:r>
              <a:rPr lang="en-US" sz="800" i="1" spc="15" dirty="0">
                <a:solidFill>
                  <a:srgbClr val="2A2928"/>
                </a:solidFill>
                <a:latin typeface="Cambria"/>
              </a:rPr>
              <a:t>Hospitals continue to contend with workforce, financial and other pressures. As a preferred strategic partner, we empower hospitals to improve quality, expand access to new test innovations, and maximize cost efficiencies and capital allocation.” </a:t>
            </a:r>
            <a:endParaRPr sz="800" i="1" spc="15" dirty="0">
              <a:solidFill>
                <a:srgbClr val="2A2928"/>
              </a:solidFill>
              <a:latin typeface="Cambria"/>
            </a:endParaRPr>
          </a:p>
        </p:txBody>
      </p:sp>
      <p:sp>
        <p:nvSpPr>
          <p:cNvPr id="86" name="Text: Jim Davis, Chairman, CEO and Presi"/>
          <p:cNvSpPr txBox="1"/>
          <p:nvPr/>
        </p:nvSpPr>
        <p:spPr>
          <a:xfrm>
            <a:off x="4333875" y="3814762"/>
            <a:ext cx="2395538" cy="120289"/>
          </a:xfrm>
          <a:prstGeom prst="rect">
            <a:avLst/>
          </a:prstGeom>
          <a:noFill/>
        </p:spPr>
        <p:txBody>
          <a:bodyPr wrap="square" lIns="0" tIns="0" rIns="0" bIns="0" anchor="t">
            <a:spAutoFit/>
          </a:bodyPr>
          <a:lstStyle/>
          <a:p>
            <a:pPr algn="l">
              <a:lnSpc>
                <a:spcPts val="1011"/>
              </a:lnSpc>
            </a:pPr>
            <a:r>
              <a:rPr sz="712" b="0" i="0" spc="15" dirty="0">
                <a:solidFill>
                  <a:srgbClr val="8C6239"/>
                </a:solidFill>
                <a:latin typeface="Calibri"/>
                <a:hlinkClick r:id="rId21">
                  <a:extLst>
                    <a:ext uri="{A12FA001-AC4F-418D-AE19-62706E023703}">
                      <ahyp:hlinkClr xmlns:ahyp="http://schemas.microsoft.com/office/drawing/2018/hyperlinkcolor" val="tx"/>
                    </a:ext>
                  </a:extLst>
                </a:hlinkClick>
              </a:rPr>
              <a:t>Jim Davis, Chairman, CEO, and President, Quest Diagnostics</a:t>
            </a:r>
            <a:endParaRPr sz="712" b="0" i="0" spc="15" dirty="0">
              <a:solidFill>
                <a:srgbClr val="8C6239"/>
              </a:solidFill>
              <a:latin typeface="Calibri"/>
              <a:hlinkClick r:id="rId4">
                <a:extLst>
                  <a:ext uri="{A12FA001-AC4F-418D-AE19-62706E023703}">
                    <ahyp:hlinkClr xmlns:ahyp="http://schemas.microsoft.com/office/drawing/2018/hyperlinkcolor" val="tx"/>
                  </a:ext>
                </a:extLst>
              </a:hlinkClick>
            </a:endParaRPr>
          </a:p>
        </p:txBody>
      </p:sp>
      <p:sp>
        <p:nvSpPr>
          <p:cNvPr id="87" name="Rectangle 86"/>
          <p:cNvSpPr/>
          <p:nvPr/>
        </p:nvSpPr>
        <p:spPr>
          <a:xfrm>
            <a:off x="6962775" y="2686050"/>
            <a:ext cx="2676525" cy="1352550"/>
          </a:xfrm>
          <a:prstGeom prst="rect">
            <a:avLst/>
          </a:prstGeom>
          <a:solidFill>
            <a:srgbClr val="FAF7F3"/>
          </a:solidFill>
          <a:ln>
            <a:noFill/>
          </a:ln>
          <a:effectLst/>
        </p:spPr>
        <p:txBody>
          <a:bodyPr rtlCol="0" anchor="ctr"/>
          <a:lstStyle/>
          <a:p>
            <a:pPr algn="ctr"/>
            <a:endParaRPr/>
          </a:p>
        </p:txBody>
      </p:sp>
      <p:sp>
        <p:nvSpPr>
          <p:cNvPr id="88" name="Rectangle 87"/>
          <p:cNvSpPr/>
          <p:nvPr/>
        </p:nvSpPr>
        <p:spPr>
          <a:xfrm>
            <a:off x="6962775" y="2686050"/>
            <a:ext cx="28575" cy="1352550"/>
          </a:xfrm>
          <a:prstGeom prst="rect">
            <a:avLst/>
          </a:prstGeom>
          <a:solidFill>
            <a:srgbClr val="B68757"/>
          </a:solidFill>
          <a:ln>
            <a:noFill/>
          </a:ln>
          <a:effectLst/>
        </p:spPr>
        <p:txBody>
          <a:bodyPr rtlCol="0" anchor="ctr"/>
          <a:lstStyle/>
          <a:p>
            <a:pPr algn="ctr"/>
            <a:endParaRPr/>
          </a:p>
        </p:txBody>
      </p:sp>
      <p:sp>
        <p:nvSpPr>
          <p:cNvPr id="89" name="Text: LIFE SCIENCES &amp; DIAGNOSTICS"/>
          <p:cNvSpPr txBox="1"/>
          <p:nvPr/>
        </p:nvSpPr>
        <p:spPr>
          <a:xfrm>
            <a:off x="7124700" y="2781300"/>
            <a:ext cx="2395538" cy="114300"/>
          </a:xfrm>
          <a:prstGeom prst="rect">
            <a:avLst/>
          </a:prstGeom>
          <a:noFill/>
        </p:spPr>
        <p:txBody>
          <a:bodyPr wrap="square" lIns="0" tIns="0" rIns="0" bIns="0" anchor="t">
            <a:spAutoFit/>
          </a:bodyPr>
          <a:lstStyle/>
          <a:p>
            <a:pPr algn="l">
              <a:lnSpc>
                <a:spcPts val="900"/>
              </a:lnSpc>
            </a:pPr>
            <a:r>
              <a:rPr sz="600" b="1" i="0" spc="120">
                <a:solidFill>
                  <a:srgbClr val="8C6239"/>
                </a:solidFill>
                <a:latin typeface="Calibri"/>
              </a:rPr>
              <a:t>LIFE SCIENCES &amp; DIAGNOSTICS</a:t>
            </a:r>
          </a:p>
        </p:txBody>
      </p:sp>
      <p:sp>
        <p:nvSpPr>
          <p:cNvPr id="90" name="Text: “Our end markets continue to stren"/>
          <p:cNvSpPr txBox="1"/>
          <p:nvPr/>
        </p:nvSpPr>
        <p:spPr>
          <a:xfrm>
            <a:off x="7103268" y="2978348"/>
            <a:ext cx="2395538" cy="615553"/>
          </a:xfrm>
          <a:prstGeom prst="rect">
            <a:avLst/>
          </a:prstGeom>
          <a:noFill/>
        </p:spPr>
        <p:txBody>
          <a:bodyPr wrap="square" lIns="0" tIns="0" rIns="0" bIns="0" anchor="t">
            <a:spAutoFit/>
          </a:bodyPr>
          <a:lstStyle/>
          <a:p>
            <a:r>
              <a:rPr lang="en-US" sz="800" i="1" spc="15" dirty="0">
                <a:solidFill>
                  <a:srgbClr val="2A2928"/>
                </a:solidFill>
                <a:latin typeface="Cambria"/>
              </a:rPr>
              <a:t> “As you know, our capital deployment strategy continues to prioritize strategic M&amp;A, complemented by return of capital to our shareholders. We continue to have an active pipeline of M&amp;A opportunities in our highly fragmented industry.”</a:t>
            </a:r>
            <a:endParaRPr sz="800" i="1" spc="15" dirty="0">
              <a:solidFill>
                <a:srgbClr val="2A2928"/>
              </a:solidFill>
              <a:latin typeface="Cambria"/>
            </a:endParaRPr>
          </a:p>
        </p:txBody>
      </p:sp>
      <p:sp>
        <p:nvSpPr>
          <p:cNvPr id="91" name="Text: Marc N. Casper, chairman and chief"/>
          <p:cNvSpPr txBox="1"/>
          <p:nvPr/>
        </p:nvSpPr>
        <p:spPr>
          <a:xfrm>
            <a:off x="7103268" y="3842213"/>
            <a:ext cx="2395538" cy="120289"/>
          </a:xfrm>
          <a:prstGeom prst="rect">
            <a:avLst/>
          </a:prstGeom>
          <a:noFill/>
        </p:spPr>
        <p:txBody>
          <a:bodyPr wrap="square" lIns="0" tIns="0" rIns="0" bIns="0" anchor="t">
            <a:spAutoFit/>
          </a:bodyPr>
          <a:lstStyle/>
          <a:p>
            <a:pPr algn="l">
              <a:lnSpc>
                <a:spcPts val="1011"/>
              </a:lnSpc>
            </a:pPr>
            <a:r>
              <a:rPr lang="en-US" sz="712" b="0" i="0" spc="15" dirty="0">
                <a:solidFill>
                  <a:srgbClr val="8C6239"/>
                </a:solidFill>
                <a:latin typeface="Calibri"/>
                <a:hlinkClick r:id="rId22"/>
              </a:rPr>
              <a:t>Marc Casper, CEO</a:t>
            </a:r>
            <a:r>
              <a:rPr lang="en-US" sz="712" b="0" i="0" spc="15" dirty="0" err="1">
                <a:solidFill>
                  <a:srgbClr val="8C6239"/>
                </a:solidFill>
                <a:latin typeface="Calibri"/>
                <a:hlinkClick r:id="rId22"/>
              </a:rPr>
              <a:t/>
            </a:r>
            <a:r>
              <a:rPr lang="en-US" sz="712" b="0" i="0" spc="15" dirty="0">
                <a:solidFill>
                  <a:srgbClr val="8C6239"/>
                </a:solidFill>
                <a:latin typeface="Calibri"/>
                <a:hlinkClick r:id="rId22"/>
              </a:rPr>
              <a:t>, </a:t>
            </a:r>
            <a:r>
              <a:rPr lang="en-US" sz="712" b="0" i="0" spc="15" dirty="0" err="1">
                <a:solidFill>
                  <a:srgbClr val="8C6239"/>
                </a:solidFill>
                <a:latin typeface="Calibri"/>
                <a:hlinkClick r:id="rId22"/>
              </a:rPr>
              <a:t>Thermo</a:t>
            </a:r>
            <a:r>
              <a:rPr lang="en-US" sz="712" b="0" i="0" spc="15" dirty="0">
                <a:solidFill>
                  <a:srgbClr val="8C6239"/>
                </a:solidFill>
                <a:latin typeface="Calibri"/>
                <a:hlinkClick r:id="rId22"/>
              </a:rPr>
              <a:t> Fisher Scientific</a:t>
            </a:r>
            <a:endParaRPr sz="712" b="0" i="0" spc="15" dirty="0">
              <a:solidFill>
                <a:srgbClr val="8C6239"/>
              </a:solidFill>
              <a:latin typeface="Calibri"/>
              <a:hlinkClick r:id="rId5">
                <a:extLst>
                  <a:ext uri="{A12FA001-AC4F-418D-AE19-62706E023703}">
                    <ahyp:hlinkClr xmlns:ahyp="http://schemas.microsoft.com/office/drawing/2018/hyperlinkcolor" val="tx"/>
                  </a:ext>
                </a:extLst>
              </a:hlinkClick>
            </a:endParaRPr>
          </a:p>
        </p:txBody>
      </p:sp>
      <p:sp>
        <p:nvSpPr>
          <p:cNvPr id="92" name="Rectangle 91"/>
          <p:cNvSpPr/>
          <p:nvPr/>
        </p:nvSpPr>
        <p:spPr>
          <a:xfrm>
            <a:off x="4171950" y="4133850"/>
            <a:ext cx="2676525" cy="1352550"/>
          </a:xfrm>
          <a:prstGeom prst="rect">
            <a:avLst/>
          </a:prstGeom>
          <a:solidFill>
            <a:srgbClr val="FAF7F3"/>
          </a:solidFill>
          <a:ln>
            <a:noFill/>
          </a:ln>
          <a:effectLst/>
        </p:spPr>
        <p:txBody>
          <a:bodyPr rtlCol="0" anchor="ctr"/>
          <a:lstStyle/>
          <a:p>
            <a:pPr algn="ctr"/>
            <a:endParaRPr/>
          </a:p>
        </p:txBody>
      </p:sp>
      <p:sp>
        <p:nvSpPr>
          <p:cNvPr id="93" name="Rectangle 92"/>
          <p:cNvSpPr/>
          <p:nvPr/>
        </p:nvSpPr>
        <p:spPr>
          <a:xfrm>
            <a:off x="4171950" y="4133850"/>
            <a:ext cx="28575" cy="1352550"/>
          </a:xfrm>
          <a:prstGeom prst="rect">
            <a:avLst/>
          </a:prstGeom>
          <a:solidFill>
            <a:srgbClr val="6D7681"/>
          </a:solidFill>
          <a:ln>
            <a:noFill/>
          </a:ln>
          <a:effectLst/>
        </p:spPr>
        <p:txBody>
          <a:bodyPr rtlCol="0" anchor="ctr"/>
          <a:lstStyle/>
          <a:p>
            <a:pPr algn="ctr"/>
            <a:endParaRPr/>
          </a:p>
        </p:txBody>
      </p:sp>
      <p:sp>
        <p:nvSpPr>
          <p:cNvPr id="94" name="Text: MEDICAL PRODUCTS &amp; DISTRIBUTION"/>
          <p:cNvSpPr txBox="1"/>
          <p:nvPr/>
        </p:nvSpPr>
        <p:spPr>
          <a:xfrm>
            <a:off x="4333875" y="4229100"/>
            <a:ext cx="2395538" cy="114300"/>
          </a:xfrm>
          <a:prstGeom prst="rect">
            <a:avLst/>
          </a:prstGeom>
          <a:noFill/>
        </p:spPr>
        <p:txBody>
          <a:bodyPr wrap="square" lIns="0" tIns="0" rIns="0" bIns="0" anchor="t">
            <a:spAutoFit/>
          </a:bodyPr>
          <a:lstStyle/>
          <a:p>
            <a:pPr algn="l">
              <a:lnSpc>
                <a:spcPts val="900"/>
              </a:lnSpc>
            </a:pPr>
            <a:r>
              <a:rPr sz="600" b="1" i="0" spc="120">
                <a:solidFill>
                  <a:srgbClr val="8C6239"/>
                </a:solidFill>
                <a:latin typeface="Calibri"/>
              </a:rPr>
              <a:t>MEDICAL PRODUCTS &amp; DISTRIBUTION</a:t>
            </a:r>
          </a:p>
        </p:txBody>
      </p:sp>
      <p:sp>
        <p:nvSpPr>
          <p:cNvPr id="95" name="Text: “Our first quarter results reflect"/>
          <p:cNvSpPr txBox="1"/>
          <p:nvPr/>
        </p:nvSpPr>
        <p:spPr>
          <a:xfrm>
            <a:off x="4333875" y="4391025"/>
            <a:ext cx="2395538" cy="738664"/>
          </a:xfrm>
          <a:prstGeom prst="rect">
            <a:avLst/>
          </a:prstGeom>
          <a:noFill/>
        </p:spPr>
        <p:txBody>
          <a:bodyPr wrap="square" lIns="0" tIns="0" rIns="0" bIns="0" anchor="t">
            <a:spAutoFit/>
          </a:bodyPr>
          <a:lstStyle/>
          <a:p>
            <a:r>
              <a:rPr lang="en-US" sz="800" i="1" dirty="0"/>
              <a:t>“When you talk about onshoring, it's not just a move to the U.S. There's localization going on globally as tariffs become more of a play in Europe and in the U.S. You'll see some duplication of manufacturing sites, whereas maybe in the past, you might have one site globally that is focusing on one pharmaceutical product.”</a:t>
            </a:r>
            <a:endParaRPr sz="800" b="0" i="1" spc="15" dirty="0">
              <a:solidFill>
                <a:srgbClr val="2A2928"/>
              </a:solidFill>
              <a:latin typeface="Cambria"/>
            </a:endParaRPr>
          </a:p>
        </p:txBody>
      </p:sp>
      <p:sp>
        <p:nvSpPr>
          <p:cNvPr id="96" name="Text: Dan Carestio, President and CEO, S"/>
          <p:cNvSpPr txBox="1"/>
          <p:nvPr/>
        </p:nvSpPr>
        <p:spPr>
          <a:xfrm>
            <a:off x="4333875" y="5262562"/>
            <a:ext cx="2395538" cy="120289"/>
          </a:xfrm>
          <a:prstGeom prst="rect">
            <a:avLst/>
          </a:prstGeom>
          <a:noFill/>
        </p:spPr>
        <p:txBody>
          <a:bodyPr wrap="square" lIns="0" tIns="0" rIns="0" bIns="0" anchor="t">
            <a:spAutoFit/>
          </a:bodyPr>
          <a:lstStyle/>
          <a:p>
            <a:pPr algn="l">
              <a:lnSpc>
                <a:spcPts val="1011"/>
              </a:lnSpc>
            </a:pPr>
            <a:r>
              <a:rPr sz="712" b="0" i="0" spc="15" dirty="0">
                <a:solidFill>
                  <a:srgbClr val="8C6239"/>
                </a:solidFill>
                <a:latin typeface="Calibri"/>
                <a:hlinkClick r:id="rId23">
                  <a:extLst>
                    <a:ext uri="{A12FA001-AC4F-418D-AE19-62706E023703}">
                      <ahyp:hlinkClr xmlns:ahyp="http://schemas.microsoft.com/office/drawing/2018/hyperlinkcolor" val="tx"/>
                    </a:ext>
                  </a:extLst>
                </a:hlinkClick>
              </a:rPr>
              <a:t>Dan </a:t>
            </a:r>
            <a:r>
              <a:rPr sz="712" b="0" i="0" spc="15" dirty="0" err="1">
                <a:solidFill>
                  <a:srgbClr val="8C6239"/>
                </a:solidFill>
                <a:latin typeface="Calibri"/>
                <a:hlinkClick r:id="rId23">
                  <a:extLst>
                    <a:ext uri="{A12FA001-AC4F-418D-AE19-62706E023703}">
                      <ahyp:hlinkClr xmlns:ahyp="http://schemas.microsoft.com/office/drawing/2018/hyperlinkcolor" val="tx"/>
                    </a:ext>
                  </a:extLst>
                </a:hlinkClick>
              </a:rPr>
              <a:t>Carestio</a:t>
            </a:r>
            <a:r>
              <a:rPr sz="712" b="0" i="0" spc="15" dirty="0">
                <a:solidFill>
                  <a:srgbClr val="8C6239"/>
                </a:solidFill>
                <a:latin typeface="Calibri"/>
                <a:hlinkClick r:id="rId23">
                  <a:extLst>
                    <a:ext uri="{A12FA001-AC4F-418D-AE19-62706E023703}">
                      <ahyp:hlinkClr xmlns:ahyp="http://schemas.microsoft.com/office/drawing/2018/hyperlinkcolor" val="tx"/>
                    </a:ext>
                  </a:extLst>
                </a:hlinkClick>
              </a:rPr>
              <a:t>, President and CEO, STERIS</a:t>
            </a:r>
            <a:endParaRPr sz="712" b="0" i="0" spc="15" dirty="0">
              <a:solidFill>
                <a:srgbClr val="8C6239"/>
              </a:solidFill>
              <a:latin typeface="Calibri"/>
              <a:hlinkClick r:id="rId12">
                <a:extLst>
                  <a:ext uri="{A12FA001-AC4F-418D-AE19-62706E023703}">
                    <ahyp:hlinkClr xmlns:ahyp="http://schemas.microsoft.com/office/drawing/2018/hyperlinkcolor" val="tx"/>
                  </a:ext>
                </a:extLst>
              </a:hlinkClick>
            </a:endParaRPr>
          </a:p>
        </p:txBody>
      </p:sp>
      <p:sp>
        <p:nvSpPr>
          <p:cNvPr id="97" name="Rectangle 96"/>
          <p:cNvSpPr/>
          <p:nvPr/>
        </p:nvSpPr>
        <p:spPr>
          <a:xfrm>
            <a:off x="6962775" y="4133850"/>
            <a:ext cx="2676525" cy="1352550"/>
          </a:xfrm>
          <a:prstGeom prst="rect">
            <a:avLst/>
          </a:prstGeom>
          <a:solidFill>
            <a:srgbClr val="FAF7F3"/>
          </a:solidFill>
          <a:ln>
            <a:noFill/>
          </a:ln>
          <a:effectLst/>
        </p:spPr>
        <p:txBody>
          <a:bodyPr rtlCol="0" anchor="ctr"/>
          <a:lstStyle/>
          <a:p>
            <a:pPr algn="ctr"/>
            <a:endParaRPr/>
          </a:p>
        </p:txBody>
      </p:sp>
      <p:sp>
        <p:nvSpPr>
          <p:cNvPr id="98" name="Rectangle 97"/>
          <p:cNvSpPr/>
          <p:nvPr/>
        </p:nvSpPr>
        <p:spPr>
          <a:xfrm>
            <a:off x="6962775" y="4133850"/>
            <a:ext cx="28575" cy="1352550"/>
          </a:xfrm>
          <a:prstGeom prst="rect">
            <a:avLst/>
          </a:prstGeom>
          <a:solidFill>
            <a:srgbClr val="6D7681"/>
          </a:solidFill>
          <a:ln>
            <a:noFill/>
          </a:ln>
          <a:effectLst/>
        </p:spPr>
        <p:txBody>
          <a:bodyPr rtlCol="0" anchor="ctr"/>
          <a:lstStyle/>
          <a:p>
            <a:pPr algn="ctr"/>
            <a:endParaRPr/>
          </a:p>
        </p:txBody>
      </p:sp>
      <p:sp>
        <p:nvSpPr>
          <p:cNvPr id="99" name="Text: MEDICAL PRODUCTS &amp; DISTRIBUTION"/>
          <p:cNvSpPr txBox="1"/>
          <p:nvPr/>
        </p:nvSpPr>
        <p:spPr>
          <a:xfrm>
            <a:off x="7124700" y="4229100"/>
            <a:ext cx="2395538" cy="114300"/>
          </a:xfrm>
          <a:prstGeom prst="rect">
            <a:avLst/>
          </a:prstGeom>
          <a:noFill/>
        </p:spPr>
        <p:txBody>
          <a:bodyPr wrap="square" lIns="0" tIns="0" rIns="0" bIns="0" anchor="t">
            <a:spAutoFit/>
          </a:bodyPr>
          <a:lstStyle/>
          <a:p>
            <a:pPr algn="l">
              <a:lnSpc>
                <a:spcPts val="900"/>
              </a:lnSpc>
            </a:pPr>
            <a:r>
              <a:rPr sz="600" b="1" i="0" spc="120" dirty="0">
                <a:solidFill>
                  <a:srgbClr val="8C6239"/>
                </a:solidFill>
                <a:latin typeface="Calibri"/>
              </a:rPr>
              <a:t>MEDICAL PRODUCTS &amp; DISTRIBUTION</a:t>
            </a:r>
          </a:p>
        </p:txBody>
      </p:sp>
      <p:sp>
        <p:nvSpPr>
          <p:cNvPr id="100" name="Text: “Our first-half performance and th"/>
          <p:cNvSpPr txBox="1"/>
          <p:nvPr/>
        </p:nvSpPr>
        <p:spPr>
          <a:xfrm>
            <a:off x="7124700" y="4391025"/>
            <a:ext cx="2395538" cy="754053"/>
          </a:xfrm>
          <a:prstGeom prst="rect">
            <a:avLst/>
          </a:prstGeom>
          <a:noFill/>
        </p:spPr>
        <p:txBody>
          <a:bodyPr wrap="square" lIns="0" tIns="0" rIns="0" bIns="0" anchor="t">
            <a:spAutoFit/>
          </a:bodyPr>
          <a:lstStyle/>
          <a:p>
            <a:r>
              <a:rPr sz="900" b="0" i="1" spc="15" dirty="0">
                <a:solidFill>
                  <a:srgbClr val="2A2928"/>
                </a:solidFill>
                <a:latin typeface="Cambria"/>
              </a:rPr>
              <a:t>“We also</a:t>
            </a:r>
            <a:r>
              <a:rPr lang="en-US" sz="800" b="0" i="1" spc="15" dirty="0">
                <a:solidFill>
                  <a:srgbClr val="2A2928"/>
                </a:solidFill>
                <a:latin typeface="Cambria"/>
              </a:rPr>
              <a:t/>
            </a:r>
            <a:r>
              <a:rPr lang="en-US" sz="800" i="1" spc="15" dirty="0">
                <a:solidFill>
                  <a:srgbClr val="2A2928"/>
                </a:solidFill>
                <a:latin typeface="Cambria"/>
              </a:rPr>
              <a:t> have a leading position in the fast-growing DSO segment of the market, which is driven especially by the middle market segment. As these DSOs continue to consolidate the dental market, this structural advantage should allow us to outgrow the broader dental market.”</a:t>
            </a:r>
            <a:endParaRPr sz="800" i="1" spc="15" dirty="0">
              <a:solidFill>
                <a:srgbClr val="2A2928"/>
              </a:solidFill>
              <a:latin typeface="Cambria"/>
            </a:endParaRPr>
          </a:p>
        </p:txBody>
      </p:sp>
      <p:sp>
        <p:nvSpPr>
          <p:cNvPr id="101" name="Text: Fred Lowery, Chief Executive Offic"/>
          <p:cNvSpPr txBox="1"/>
          <p:nvPr/>
        </p:nvSpPr>
        <p:spPr>
          <a:xfrm>
            <a:off x="7124700" y="5262562"/>
            <a:ext cx="2395538" cy="120289"/>
          </a:xfrm>
          <a:prstGeom prst="rect">
            <a:avLst/>
          </a:prstGeom>
          <a:noFill/>
        </p:spPr>
        <p:txBody>
          <a:bodyPr wrap="square" lIns="0" tIns="0" rIns="0" bIns="0" anchor="t">
            <a:spAutoFit/>
          </a:bodyPr>
          <a:lstStyle/>
          <a:p>
            <a:pPr algn="l">
              <a:lnSpc>
                <a:spcPts val="1011"/>
              </a:lnSpc>
            </a:pPr>
            <a:r>
              <a:rPr sz="712" b="0" i="0" spc="15" dirty="0">
                <a:solidFill>
                  <a:srgbClr val="8C6239"/>
                </a:solidFill>
                <a:latin typeface="Calibri"/>
                <a:hlinkClick r:id="rId24">
                  <a:extLst>
                    <a:ext uri="{A12FA001-AC4F-418D-AE19-62706E023703}">
                      <ahyp:hlinkClr xmlns:ahyp="http://schemas.microsoft.com/office/drawing/2018/hyperlinkcolor" val="tx"/>
                    </a:ext>
                  </a:extLst>
                </a:hlinkClick>
              </a:rPr>
              <a:t>Fred Lowery, Chief Executive Officer, Henry Schein</a:t>
            </a:r>
            <a:endParaRPr sz="712" b="0" i="0" spc="15" dirty="0">
              <a:solidFill>
                <a:srgbClr val="8C6239"/>
              </a:solidFill>
              <a:latin typeface="Calibri"/>
              <a:hlinkClick r:id="rId14">
                <a:extLst>
                  <a:ext uri="{A12FA001-AC4F-418D-AE19-62706E023703}">
                    <ahyp:hlinkClr xmlns:ahyp="http://schemas.microsoft.com/office/drawing/2018/hyperlinkcolor" val="tx"/>
                  </a:ext>
                </a:extLst>
              </a:hlinkClick>
            </a:endParaRPr>
          </a:p>
        </p:txBody>
      </p:sp>
      <p:sp>
        <p:nvSpPr>
          <p:cNvPr id="102" name="Rectangle 101"/>
          <p:cNvSpPr/>
          <p:nvPr/>
        </p:nvSpPr>
        <p:spPr>
          <a:xfrm>
            <a:off x="4171950" y="5581650"/>
            <a:ext cx="2676525" cy="1352550"/>
          </a:xfrm>
          <a:prstGeom prst="rect">
            <a:avLst/>
          </a:prstGeom>
          <a:solidFill>
            <a:srgbClr val="FAF7F3"/>
          </a:solidFill>
          <a:ln>
            <a:noFill/>
          </a:ln>
          <a:effectLst/>
        </p:spPr>
        <p:txBody>
          <a:bodyPr rtlCol="0" anchor="ctr"/>
          <a:lstStyle/>
          <a:p>
            <a:pPr algn="ctr"/>
            <a:endParaRPr/>
          </a:p>
        </p:txBody>
      </p:sp>
      <p:sp>
        <p:nvSpPr>
          <p:cNvPr id="103" name="Rectangle 102"/>
          <p:cNvSpPr/>
          <p:nvPr/>
        </p:nvSpPr>
        <p:spPr>
          <a:xfrm>
            <a:off x="4171950" y="5581650"/>
            <a:ext cx="28575" cy="1352550"/>
          </a:xfrm>
          <a:prstGeom prst="rect">
            <a:avLst/>
          </a:prstGeom>
          <a:solidFill>
            <a:srgbClr val="A39486"/>
          </a:solidFill>
          <a:ln>
            <a:noFill/>
          </a:ln>
          <a:effectLst/>
        </p:spPr>
        <p:txBody>
          <a:bodyPr rtlCol="0" anchor="ctr"/>
          <a:lstStyle/>
          <a:p>
            <a:pPr algn="ctr"/>
            <a:endParaRPr/>
          </a:p>
        </p:txBody>
      </p:sp>
      <p:sp>
        <p:nvSpPr>
          <p:cNvPr id="104" name="Text: PHARMACY &amp; HEALTHCARE SERVICES"/>
          <p:cNvSpPr txBox="1"/>
          <p:nvPr/>
        </p:nvSpPr>
        <p:spPr>
          <a:xfrm>
            <a:off x="4333875" y="5676900"/>
            <a:ext cx="2395538" cy="114300"/>
          </a:xfrm>
          <a:prstGeom prst="rect">
            <a:avLst/>
          </a:prstGeom>
          <a:noFill/>
        </p:spPr>
        <p:txBody>
          <a:bodyPr wrap="square" lIns="0" tIns="0" rIns="0" bIns="0" anchor="t">
            <a:spAutoFit/>
          </a:bodyPr>
          <a:lstStyle/>
          <a:p>
            <a:pPr algn="l">
              <a:lnSpc>
                <a:spcPts val="900"/>
              </a:lnSpc>
            </a:pPr>
            <a:r>
              <a:rPr sz="600" b="1" i="0" spc="120">
                <a:solidFill>
                  <a:srgbClr val="8C6239"/>
                </a:solidFill>
                <a:latin typeface="Calibri"/>
              </a:rPr>
              <a:t>PHARMACY &amp; HEALTHCARE SERVICES</a:t>
            </a:r>
          </a:p>
        </p:txBody>
      </p:sp>
      <p:sp>
        <p:nvSpPr>
          <p:cNvPr id="105" name="Text: “Fiscal 2026 was a standout year f"/>
          <p:cNvSpPr txBox="1"/>
          <p:nvPr/>
        </p:nvSpPr>
        <p:spPr>
          <a:xfrm>
            <a:off x="4333875" y="5838825"/>
            <a:ext cx="2395538" cy="507831"/>
          </a:xfrm>
          <a:prstGeom prst="rect">
            <a:avLst/>
          </a:prstGeom>
          <a:noFill/>
        </p:spPr>
        <p:txBody>
          <a:bodyPr wrap="square" lIns="0" tIns="0" rIns="0" bIns="0" anchor="t">
            <a:spAutoFit/>
          </a:bodyPr>
          <a:lstStyle/>
          <a:p>
            <a:r>
              <a:rPr sz="900" b="0" i="1" spc="15" dirty="0">
                <a:solidFill>
                  <a:srgbClr val="2A2928"/>
                </a:solidFill>
                <a:latin typeface="Cambria"/>
              </a:rPr>
              <a:t>“We are uniquely</a:t>
            </a:r>
            <a:r>
              <a:rPr lang="en-US" sz="800" i="1" spc="15" dirty="0">
                <a:solidFill>
                  <a:srgbClr val="2A2928"/>
                </a:solidFill>
                <a:latin typeface="Cambria"/>
              </a:rPr>
              <a:t> positioned to capitalize on the continued growth from these fast-growing categories, especially in the areas of urology, oncology, and neurology”</a:t>
            </a:r>
            <a:endParaRPr sz="800" i="1" spc="15" dirty="0">
              <a:solidFill>
                <a:srgbClr val="2A2928"/>
              </a:solidFill>
              <a:latin typeface="Cambria"/>
            </a:endParaRPr>
          </a:p>
        </p:txBody>
      </p:sp>
      <p:sp>
        <p:nvSpPr>
          <p:cNvPr id="106" name="Text: Jason Hollar, CEO, Cardinal Health"/>
          <p:cNvSpPr txBox="1"/>
          <p:nvPr/>
        </p:nvSpPr>
        <p:spPr>
          <a:xfrm>
            <a:off x="4333875" y="6710362"/>
            <a:ext cx="2395538" cy="120289"/>
          </a:xfrm>
          <a:prstGeom prst="rect">
            <a:avLst/>
          </a:prstGeom>
          <a:noFill/>
        </p:spPr>
        <p:txBody>
          <a:bodyPr wrap="square" lIns="0" tIns="0" rIns="0" bIns="0" anchor="t">
            <a:spAutoFit/>
          </a:bodyPr>
          <a:lstStyle/>
          <a:p>
            <a:pPr algn="l">
              <a:lnSpc>
                <a:spcPts val="1011"/>
              </a:lnSpc>
            </a:pPr>
            <a:r>
              <a:rPr sz="712" b="0" i="0" spc="15" dirty="0">
                <a:solidFill>
                  <a:srgbClr val="8C6239"/>
                </a:solidFill>
                <a:latin typeface="Calibri"/>
                <a:hlinkClick r:id="rId25">
                  <a:extLst>
                    <a:ext uri="{A12FA001-AC4F-418D-AE19-62706E023703}">
                      <ahyp:hlinkClr xmlns:ahyp="http://schemas.microsoft.com/office/drawing/2018/hyperlinkcolor" val="tx"/>
                    </a:ext>
                  </a:extLst>
                </a:hlinkClick>
              </a:rPr>
              <a:t>Jason Hollar, CEO, Cardinal Health</a:t>
            </a:r>
            <a:endParaRPr sz="712" b="0" i="0" spc="15" dirty="0">
              <a:solidFill>
                <a:srgbClr val="8C6239"/>
              </a:solidFill>
              <a:latin typeface="Calibri"/>
              <a:hlinkClick r:id="rId15">
                <a:extLst>
                  <a:ext uri="{A12FA001-AC4F-418D-AE19-62706E023703}">
                    <ahyp:hlinkClr xmlns:ahyp="http://schemas.microsoft.com/office/drawing/2018/hyperlinkcolor" val="tx"/>
                  </a:ext>
                </a:extLst>
              </a:hlinkClick>
            </a:endParaRPr>
          </a:p>
        </p:txBody>
      </p:sp>
      <p:sp>
        <p:nvSpPr>
          <p:cNvPr id="107" name="Rectangle 106"/>
          <p:cNvSpPr/>
          <p:nvPr/>
        </p:nvSpPr>
        <p:spPr>
          <a:xfrm>
            <a:off x="6962775" y="5581650"/>
            <a:ext cx="2676525" cy="1352550"/>
          </a:xfrm>
          <a:prstGeom prst="rect">
            <a:avLst/>
          </a:prstGeom>
          <a:solidFill>
            <a:srgbClr val="FAF7F3"/>
          </a:solidFill>
          <a:ln>
            <a:noFill/>
          </a:ln>
          <a:effectLst/>
        </p:spPr>
        <p:txBody>
          <a:bodyPr rtlCol="0" anchor="ctr"/>
          <a:lstStyle/>
          <a:p>
            <a:pPr algn="ctr"/>
            <a:endParaRPr/>
          </a:p>
        </p:txBody>
      </p:sp>
      <p:sp>
        <p:nvSpPr>
          <p:cNvPr id="108" name="Rectangle 107"/>
          <p:cNvSpPr/>
          <p:nvPr/>
        </p:nvSpPr>
        <p:spPr>
          <a:xfrm>
            <a:off x="6962775" y="5581650"/>
            <a:ext cx="28575" cy="1352550"/>
          </a:xfrm>
          <a:prstGeom prst="rect">
            <a:avLst/>
          </a:prstGeom>
          <a:solidFill>
            <a:srgbClr val="A39486"/>
          </a:solidFill>
          <a:ln>
            <a:noFill/>
          </a:ln>
          <a:effectLst/>
        </p:spPr>
        <p:txBody>
          <a:bodyPr rtlCol="0" anchor="ctr"/>
          <a:lstStyle/>
          <a:p>
            <a:pPr algn="ctr"/>
            <a:endParaRPr/>
          </a:p>
        </p:txBody>
      </p:sp>
      <p:sp>
        <p:nvSpPr>
          <p:cNvPr id="109" name="Text: PHARMACY &amp; HEALTHCARE SERVICES"/>
          <p:cNvSpPr txBox="1"/>
          <p:nvPr/>
        </p:nvSpPr>
        <p:spPr>
          <a:xfrm>
            <a:off x="7124700" y="5676900"/>
            <a:ext cx="2395538" cy="114300"/>
          </a:xfrm>
          <a:prstGeom prst="rect">
            <a:avLst/>
          </a:prstGeom>
          <a:noFill/>
        </p:spPr>
        <p:txBody>
          <a:bodyPr wrap="square" lIns="0" tIns="0" rIns="0" bIns="0" anchor="t">
            <a:spAutoFit/>
          </a:bodyPr>
          <a:lstStyle/>
          <a:p>
            <a:pPr algn="l">
              <a:lnSpc>
                <a:spcPts val="900"/>
              </a:lnSpc>
            </a:pPr>
            <a:r>
              <a:rPr sz="600" b="1" i="0" spc="120">
                <a:solidFill>
                  <a:srgbClr val="8C6239"/>
                </a:solidFill>
                <a:latin typeface="Calibri"/>
              </a:rPr>
              <a:t>PHARMACY &amp; HEALTHCARE SERVICES</a:t>
            </a:r>
          </a:p>
        </p:txBody>
      </p:sp>
      <p:sp>
        <p:nvSpPr>
          <p:cNvPr id="110" name="Text: “Overall demand growth improved th"/>
          <p:cNvSpPr txBox="1"/>
          <p:nvPr/>
        </p:nvSpPr>
        <p:spPr>
          <a:xfrm>
            <a:off x="7128043" y="5833454"/>
            <a:ext cx="2395538" cy="861774"/>
          </a:xfrm>
          <a:prstGeom prst="rect">
            <a:avLst/>
          </a:prstGeom>
          <a:noFill/>
        </p:spPr>
        <p:txBody>
          <a:bodyPr wrap="square" lIns="0" tIns="0" rIns="0" bIns="0" anchor="t">
            <a:spAutoFit/>
          </a:bodyPr>
          <a:lstStyle/>
          <a:p>
            <a:r>
              <a:rPr lang="en-US" sz="800" i="1" dirty="0"/>
              <a:t>“I think the market, as we've talked about over the last year, there's been an expectation there'd be more consolidation that would occur. Quite honestly, most of last year it was relatively quiet. There were a few transactions in certain categories, not as many as we expected. That's changed over the last couple of quarters. We're starting to see more assets come to market.”</a:t>
            </a:r>
          </a:p>
        </p:txBody>
      </p:sp>
      <p:sp>
        <p:nvSpPr>
          <p:cNvPr id="111" name="Text: Cary Grace, President and Chief Ex"/>
          <p:cNvSpPr txBox="1"/>
          <p:nvPr/>
        </p:nvSpPr>
        <p:spPr>
          <a:xfrm>
            <a:off x="7124700" y="6740705"/>
            <a:ext cx="2395538" cy="120289"/>
          </a:xfrm>
          <a:prstGeom prst="rect">
            <a:avLst/>
          </a:prstGeom>
          <a:noFill/>
        </p:spPr>
        <p:txBody>
          <a:bodyPr wrap="square" lIns="0" tIns="0" rIns="0" bIns="0" anchor="t">
            <a:spAutoFit/>
          </a:bodyPr>
          <a:lstStyle/>
          <a:p>
            <a:pPr algn="l">
              <a:lnSpc>
                <a:spcPts val="1011"/>
              </a:lnSpc>
            </a:pPr>
            <a:r>
              <a:rPr lang="en-US" sz="712" b="0" i="0" spc="15" dirty="0">
                <a:solidFill>
                  <a:srgbClr val="8C6239"/>
                </a:solidFill>
                <a:latin typeface="Calibri"/>
                <a:hlinkClick r:id="rId26"/>
              </a:rPr>
              <a:t>Brian Scott, CFO</a:t>
            </a:r>
            <a:r>
              <a:rPr lang="en-US" sz="712" b="0" i="0" spc="15" dirty="0" err="1">
                <a:solidFill>
                  <a:srgbClr val="8C6239"/>
                </a:solidFill>
                <a:latin typeface="Calibri"/>
                <a:hlinkClick r:id="rId26"/>
              </a:rPr>
              <a:t/>
            </a:r>
            <a:r>
              <a:rPr lang="en-US" sz="712" b="0" i="0" spc="15" dirty="0">
                <a:solidFill>
                  <a:srgbClr val="8C6239"/>
                </a:solidFill>
                <a:latin typeface="Calibri"/>
                <a:hlinkClick r:id="rId26"/>
              </a:rPr>
              <a:t> &amp; COO, AMN Healthcare</a:t>
            </a:r>
            <a:endParaRPr sz="712" b="0" i="0" spc="15" dirty="0">
              <a:solidFill>
                <a:srgbClr val="8C6239"/>
              </a:solidFill>
              <a:latin typeface="Calibri"/>
              <a:hlinkClick r:id="rId18">
                <a:extLst>
                  <a:ext uri="{A12FA001-AC4F-418D-AE19-62706E023703}">
                    <ahyp:hlinkClr xmlns:ahyp="http://schemas.microsoft.com/office/drawing/2018/hyperlinkcolor" val="tx"/>
                  </a:ext>
                </a:extLst>
              </a:hlinkClick>
            </a:endParaRPr>
          </a:p>
        </p:txBody>
      </p:sp>
      <p:sp>
        <p:nvSpPr>
          <p:cNvPr id="112" name="Rectangle 111"/>
          <p:cNvSpPr/>
          <p:nvPr/>
        </p:nvSpPr>
        <p:spPr>
          <a:xfrm>
            <a:off x="419100" y="7029450"/>
            <a:ext cx="9220200" cy="9525"/>
          </a:xfrm>
          <a:prstGeom prst="rect">
            <a:avLst/>
          </a:prstGeom>
          <a:solidFill>
            <a:srgbClr val="E3DCD3"/>
          </a:solidFill>
          <a:ln>
            <a:noFill/>
          </a:ln>
          <a:effectLst/>
        </p:spPr>
        <p:txBody>
          <a:bodyPr rtlCol="0" anchor="ctr"/>
          <a:lstStyle/>
          <a:p>
            <a:pPr algn="ctr"/>
            <a:endParaRPr/>
          </a:p>
        </p:txBody>
      </p:sp>
      <p:pic>
        <p:nvPicPr>
          <p:cNvPr id="113" name="Picture 112" descr="Benchmark International"/>
          <p:cNvPicPr>
            <a:picLocks noChangeAspect="1"/>
          </p:cNvPicPr>
          <p:nvPr/>
        </p:nvPicPr>
        <p:blipFill>
          <a:blip r:embed="rId27"/>
          <a:srcRect/>
          <a:stretch>
            <a:fillRect/>
          </a:stretch>
        </p:blipFill>
        <p:spPr>
          <a:xfrm>
            <a:off x="419100" y="7143750"/>
            <a:ext cx="914400" cy="171450"/>
          </a:xfrm>
          <a:prstGeom prst="rect">
            <a:avLst/>
          </a:prstGeom>
        </p:spPr>
      </p:pic>
      <p:sp>
        <p:nvSpPr>
          <p:cNvPr id="114" name="Text: Growth is total revenue as reporte"/>
          <p:cNvSpPr txBox="1"/>
          <p:nvPr/>
        </p:nvSpPr>
        <p:spPr>
          <a:xfrm>
            <a:off x="1543050" y="7105650"/>
            <a:ext cx="7748588" cy="238125"/>
          </a:xfrm>
          <a:prstGeom prst="rect">
            <a:avLst/>
          </a:prstGeom>
          <a:noFill/>
        </p:spPr>
        <p:txBody>
          <a:bodyPr wrap="square" lIns="0" tIns="0" rIns="0" bIns="0" anchor="t">
            <a:spAutoFit/>
          </a:bodyPr>
          <a:lstStyle/>
          <a:p>
            <a:pPr algn="l">
              <a:lnSpc>
                <a:spcPts val="938"/>
              </a:lnSpc>
            </a:pPr>
            <a:r>
              <a:rPr sz="675" b="0" i="0" spc="8">
                <a:solidFill>
                  <a:srgbClr val="6F6A66"/>
                </a:solidFill>
                <a:latin typeface="Calibri"/>
              </a:rPr>
              <a:t>Growth is total revenue as reported, including acquisitions; company names link to the releases. Steris and McKesson figures are for fiscal first quarters and Cardinal Health for its fiscal fourth quarter, all ended June 30, 2026. Quotations are from the earnings releases.</a:t>
            </a:r>
          </a:p>
        </p:txBody>
      </p:sp>
      <p:sp>
        <p:nvSpPr>
          <p:cNvPr id="115" name="Text: 17"/>
          <p:cNvSpPr txBox="1"/>
          <p:nvPr/>
        </p:nvSpPr>
        <p:spPr>
          <a:xfrm>
            <a:off x="9509373" y="7162800"/>
            <a:ext cx="144214" cy="133350"/>
          </a:xfrm>
          <a:prstGeom prst="rect">
            <a:avLst/>
          </a:prstGeom>
          <a:noFill/>
        </p:spPr>
        <p:txBody>
          <a:bodyPr wrap="square" lIns="0" tIns="0" rIns="0" bIns="0" anchor="t">
            <a:spAutoFit/>
          </a:bodyPr>
          <a:lstStyle/>
          <a:p>
            <a:pPr algn="l">
              <a:lnSpc>
                <a:spcPts val="1050"/>
              </a:lnSpc>
            </a:pPr>
            <a:r>
              <a:rPr sz="712" b="1" i="0" spc="150">
                <a:solidFill>
                  <a:srgbClr val="1B1A1A"/>
                </a:solidFill>
                <a:latin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B1A1A"/>
        </a:solidFill>
        <a:effectLst/>
      </p:bgPr>
    </p:bg>
    <p:spTree>
      <p:nvGrpSpPr>
        <p:cNvPr id="1" name=""/>
        <p:cNvGrpSpPr/>
        <p:nvPr/>
      </p:nvGrpSpPr>
      <p:grpSpPr>
        <a:xfrm>
          <a:off x="0" y="0"/>
          <a:ext cx="0" cy="0"/>
          <a:chOff x="0" y="0"/>
          <a:chExt cx="0" cy="0"/>
        </a:xfrm>
      </p:grpSpPr>
      <p:pic>
        <p:nvPicPr>
          <p:cNvPr id="2" name="Picture 1" descr="knot-dark.jpg"/>
          <p:cNvPicPr>
            <a:picLocks noChangeAspect="1"/>
          </p:cNvPicPr>
          <p:nvPr/>
        </p:nvPicPr>
        <p:blipFill>
          <a:blip r:embed="rId2">
            <a:alphaModFix amt="60000"/>
          </a:blip>
          <a:srcRect l="13603" r="13603"/>
          <a:stretch>
            <a:fillRect/>
          </a:stretch>
        </p:blipFill>
        <p:spPr>
          <a:xfrm>
            <a:off x="0" y="0"/>
            <a:ext cx="10058400" cy="7772400"/>
          </a:xfrm>
          <a:prstGeom prst="rect">
            <a:avLst/>
          </a:prstGeom>
        </p:spPr>
      </p:pic>
      <p:pic>
        <p:nvPicPr>
          <p:cNvPr id="3" name="Picture 2" descr="Hands at a laptop during a working session"/>
          <p:cNvPicPr>
            <a:picLocks noChangeAspect="1"/>
          </p:cNvPicPr>
          <p:nvPr/>
        </p:nvPicPr>
        <p:blipFill>
          <a:blip r:embed="rId3"/>
          <a:srcRect l="26471" r="26471"/>
          <a:stretch>
            <a:fillRect/>
          </a:stretch>
        </p:blipFill>
        <p:spPr>
          <a:xfrm>
            <a:off x="4572000" y="0"/>
            <a:ext cx="5486400" cy="7772400"/>
          </a:xfrm>
          <a:prstGeom prst="rect">
            <a:avLst/>
          </a:prstGeom>
        </p:spPr>
      </p:pic>
      <p:sp>
        <p:nvSpPr>
          <p:cNvPr id="4" name="Rectangle 3"/>
          <p:cNvSpPr/>
          <p:nvPr/>
        </p:nvSpPr>
        <p:spPr>
          <a:xfrm>
            <a:off x="4572000" y="0"/>
            <a:ext cx="5486400" cy="7772400"/>
          </a:xfrm>
          <a:prstGeom prst="rect">
            <a:avLst/>
          </a:prstGeom>
          <a:gradFill rotWithShape="1">
            <a:gsLst>
              <a:gs pos="0">
                <a:srgbClr val="1B1A1A">
                  <a:alpha val="50000"/>
                </a:srgbClr>
              </a:gs>
              <a:gs pos="60000">
                <a:srgbClr val="1B1A1A">
                  <a:alpha val="5000"/>
                </a:srgbClr>
              </a:gs>
            </a:gsLst>
            <a:lin ang="0" scaled="0"/>
          </a:gradFill>
          <a:ln>
            <a:noFill/>
          </a:ln>
        </p:spPr>
        <p:txBody>
          <a:bodyPr rtlCol="0" anchor="ctr"/>
          <a:lstStyle/>
          <a:p>
            <a:pPr algn="ctr"/>
            <a:endParaRPr/>
          </a:p>
        </p:txBody>
      </p:sp>
      <p:sp>
        <p:nvSpPr>
          <p:cNvPr id="5" name="Freeform 4"/>
          <p:cNvSpPr/>
          <p:nvPr/>
        </p:nvSpPr>
        <p:spPr>
          <a:xfrm>
            <a:off x="4572000" y="0"/>
            <a:ext cx="1316736" cy="7772400"/>
          </a:xfrm>
          <a:custGeom>
            <a:avLst/>
            <a:gdLst/>
            <a:ahLst/>
            <a:cxnLst/>
            <a:rect l="l" t="t" r="r" b="b"/>
            <a:pathLst>
              <a:path w="1316736" h="7772400">
                <a:moveTo>
                  <a:pt x="0" y="0"/>
                </a:moveTo>
                <a:lnTo>
                  <a:pt x="1316736" y="0"/>
                </a:lnTo>
                <a:lnTo>
                  <a:pt x="0" y="7772400"/>
                </a:lnTo>
                <a:close/>
              </a:path>
            </a:pathLst>
          </a:custGeom>
          <a:solidFill>
            <a:srgbClr val="1B1A1A"/>
          </a:solidFill>
          <a:ln>
            <a:noFill/>
          </a:ln>
        </p:spPr>
        <p:txBody>
          <a:bodyPr rtlCol="0" anchor="ctr"/>
          <a:lstStyle/>
          <a:p>
            <a:pPr algn="ctr"/>
            <a:endParaRPr/>
          </a:p>
        </p:txBody>
      </p:sp>
      <p:cxnSp>
        <p:nvCxnSpPr>
          <p:cNvPr id="6" name="Connector 5"/>
          <p:cNvCxnSpPr/>
          <p:nvPr/>
        </p:nvCxnSpPr>
        <p:spPr>
          <a:xfrm flipH="1">
            <a:off x="4562475" y="0"/>
            <a:ext cx="1314450" cy="7772400"/>
          </a:xfrm>
          <a:prstGeom prst="line">
            <a:avLst/>
          </a:prstGeom>
          <a:ln w="38100">
            <a:solidFill>
              <a:srgbClr val="B68757"/>
            </a:solidFill>
          </a:ln>
        </p:spPr>
      </p:cxnSp>
      <p:sp>
        <p:nvSpPr>
          <p:cNvPr id="7" name="Text: 03"/>
          <p:cNvSpPr txBox="1"/>
          <p:nvPr/>
        </p:nvSpPr>
        <p:spPr>
          <a:xfrm>
            <a:off x="609600" y="1676400"/>
            <a:ext cx="4014788" cy="1143000"/>
          </a:xfrm>
          <a:prstGeom prst="rect">
            <a:avLst/>
          </a:prstGeom>
          <a:noFill/>
        </p:spPr>
        <p:txBody>
          <a:bodyPr wrap="square" lIns="0" tIns="0" rIns="0" bIns="0" anchor="t">
            <a:spAutoFit/>
          </a:bodyPr>
          <a:lstStyle/>
          <a:p>
            <a:pPr algn="l">
              <a:lnSpc>
                <a:spcPts val="9000"/>
              </a:lnSpc>
            </a:pPr>
            <a:r>
              <a:rPr sz="9000" b="0" i="0" spc="300">
                <a:solidFill>
                  <a:srgbClr val="D3AE84"/>
                </a:solidFill>
                <a:latin typeface="Cambria"/>
              </a:rPr>
              <a:t>03</a:t>
            </a:r>
          </a:p>
        </p:txBody>
      </p:sp>
      <p:sp>
        <p:nvSpPr>
          <p:cNvPr id="8" name="Text: Connect With Us"/>
          <p:cNvSpPr txBox="1"/>
          <p:nvPr/>
        </p:nvSpPr>
        <p:spPr>
          <a:xfrm>
            <a:off x="609600" y="2895600"/>
            <a:ext cx="4473416" cy="590550"/>
          </a:xfrm>
          <a:prstGeom prst="rect">
            <a:avLst/>
          </a:prstGeom>
          <a:noFill/>
        </p:spPr>
        <p:txBody>
          <a:bodyPr wrap="square" lIns="0" tIns="0" rIns="0" bIns="0" anchor="t">
            <a:spAutoFit/>
          </a:bodyPr>
          <a:lstStyle/>
          <a:p>
            <a:pPr algn="l">
              <a:lnSpc>
                <a:spcPts val="4650"/>
              </a:lnSpc>
            </a:pPr>
            <a:r>
              <a:rPr sz="4050" b="1" i="0">
                <a:solidFill>
                  <a:srgbClr val="FFFFFF"/>
                </a:solidFill>
                <a:latin typeface="Cambria"/>
              </a:rPr>
              <a:t>Connect With Us</a:t>
            </a:r>
          </a:p>
        </p:txBody>
      </p:sp>
      <p:sp>
        <p:nvSpPr>
          <p:cNvPr id="9" name="Rectangle 8"/>
          <p:cNvSpPr/>
          <p:nvPr/>
        </p:nvSpPr>
        <p:spPr>
          <a:xfrm>
            <a:off x="609600" y="3714750"/>
            <a:ext cx="914400" cy="19050"/>
          </a:xfrm>
          <a:prstGeom prst="rect">
            <a:avLst/>
          </a:prstGeom>
          <a:solidFill>
            <a:srgbClr val="B68757"/>
          </a:solidFill>
          <a:ln>
            <a:noFill/>
          </a:ln>
          <a:effectLst/>
        </p:spPr>
        <p:txBody>
          <a:bodyPr rtlCol="0" anchor="ctr"/>
          <a:lstStyle/>
          <a:p>
            <a:pPr algn="ctr"/>
            <a:endParaRPr/>
          </a:p>
        </p:txBody>
      </p:sp>
      <p:sp>
        <p:nvSpPr>
          <p:cNvPr id="10" name="Rectangle 9"/>
          <p:cNvSpPr/>
          <p:nvPr/>
        </p:nvSpPr>
        <p:spPr>
          <a:xfrm>
            <a:off x="609600" y="3924300"/>
            <a:ext cx="3333750" cy="9525"/>
          </a:xfrm>
          <a:prstGeom prst="rect">
            <a:avLst/>
          </a:prstGeom>
          <a:solidFill>
            <a:srgbClr val="FFFFFF">
              <a:alpha val="16000"/>
            </a:srgbClr>
          </a:solidFill>
          <a:ln>
            <a:noFill/>
          </a:ln>
          <a:effectLst/>
        </p:spPr>
        <p:txBody>
          <a:bodyPr rtlCol="0" anchor="ctr"/>
          <a:lstStyle/>
          <a:p>
            <a:pPr algn="ctr"/>
            <a:endParaRPr/>
          </a:p>
        </p:txBody>
      </p:sp>
      <p:sp>
        <p:nvSpPr>
          <p:cNvPr id="11" name="Rectangle 10"/>
          <p:cNvSpPr/>
          <p:nvPr/>
        </p:nvSpPr>
        <p:spPr>
          <a:xfrm>
            <a:off x="609600" y="4057650"/>
            <a:ext cx="57150" cy="57150"/>
          </a:xfrm>
          <a:prstGeom prst="rect">
            <a:avLst/>
          </a:prstGeom>
          <a:solidFill>
            <a:srgbClr val="B68757"/>
          </a:solidFill>
          <a:ln>
            <a:noFill/>
          </a:ln>
          <a:effectLst/>
        </p:spPr>
        <p:txBody>
          <a:bodyPr rtlCol="0" anchor="ctr"/>
          <a:lstStyle/>
          <a:p>
            <a:pPr algn="ctr"/>
            <a:endParaRPr/>
          </a:p>
        </p:txBody>
      </p:sp>
      <p:sp>
        <p:nvSpPr>
          <p:cNvPr id="12" name="Text: Connect with Jared Hardin"/>
          <p:cNvSpPr txBox="1"/>
          <p:nvPr/>
        </p:nvSpPr>
        <p:spPr>
          <a:xfrm>
            <a:off x="781050" y="4010025"/>
            <a:ext cx="1338709" cy="180975"/>
          </a:xfrm>
          <a:prstGeom prst="rect">
            <a:avLst/>
          </a:prstGeom>
          <a:noFill/>
        </p:spPr>
        <p:txBody>
          <a:bodyPr wrap="square" lIns="0" tIns="0" rIns="0" bIns="0" anchor="t">
            <a:spAutoFit/>
          </a:bodyPr>
          <a:lstStyle/>
          <a:p>
            <a:pPr algn="l">
              <a:lnSpc>
                <a:spcPts val="1425"/>
              </a:lnSpc>
            </a:pPr>
            <a:r>
              <a:rPr sz="938" b="0" i="0" spc="15">
                <a:solidFill>
                  <a:srgbClr val="C3BDB6"/>
                </a:solidFill>
                <a:latin typeface="Calibri"/>
              </a:rPr>
              <a:t>Connect with Jared Hardin</a:t>
            </a:r>
          </a:p>
        </p:txBody>
      </p:sp>
      <p:sp>
        <p:nvSpPr>
          <p:cNvPr id="13" name="Rectangle 12"/>
          <p:cNvSpPr/>
          <p:nvPr/>
        </p:nvSpPr>
        <p:spPr>
          <a:xfrm>
            <a:off x="609600" y="4267200"/>
            <a:ext cx="3333750" cy="9525"/>
          </a:xfrm>
          <a:prstGeom prst="rect">
            <a:avLst/>
          </a:prstGeom>
          <a:solidFill>
            <a:srgbClr val="FFFFFF">
              <a:alpha val="16000"/>
            </a:srgbClr>
          </a:solidFill>
          <a:ln>
            <a:noFill/>
          </a:ln>
          <a:effectLst/>
        </p:spPr>
        <p:txBody>
          <a:bodyPr rtlCol="0" anchor="ctr"/>
          <a:lstStyle/>
          <a:p>
            <a:pPr algn="ctr"/>
            <a:endParaRPr/>
          </a:p>
        </p:txBody>
      </p:sp>
      <p:sp>
        <p:nvSpPr>
          <p:cNvPr id="14" name="Rectangle 13"/>
          <p:cNvSpPr/>
          <p:nvPr/>
        </p:nvSpPr>
        <p:spPr>
          <a:xfrm>
            <a:off x="609600" y="4400550"/>
            <a:ext cx="57150" cy="57150"/>
          </a:xfrm>
          <a:prstGeom prst="rect">
            <a:avLst/>
          </a:prstGeom>
          <a:solidFill>
            <a:srgbClr val="B68757"/>
          </a:solidFill>
          <a:ln>
            <a:noFill/>
          </a:ln>
          <a:effectLst/>
        </p:spPr>
        <p:txBody>
          <a:bodyPr rtlCol="0" anchor="ctr"/>
          <a:lstStyle/>
          <a:p>
            <a:pPr algn="ctr"/>
            <a:endParaRPr/>
          </a:p>
        </p:txBody>
      </p:sp>
      <p:sp>
        <p:nvSpPr>
          <p:cNvPr id="15" name="TextBox"/>
          <p:cNvSpPr txBox="1"/>
          <p:nvPr/>
        </p:nvSpPr>
        <p:spPr>
          <a:xfrm>
            <a:off x="781050" y="4352925"/>
            <a:ext cx="1892647" cy="180975"/>
          </a:xfrm>
          <a:prstGeom prst="rect">
            <a:avLst/>
          </a:prstGeom>
          <a:noFill/>
        </p:spPr>
        <p:txBody>
          <a:bodyPr wrap="square" lIns="0" tIns="0" rIns="0" bIns="0" anchor="t">
            <a:spAutoFit/>
          </a:bodyPr>
          <a:lstStyle/>
          <a:p>
            <a:pPr algn="l">
              <a:lnSpc>
                <a:spcPts val="1425"/>
              </a:lnSpc>
            </a:pPr>
            <a:r>
              <a:rPr sz="938" b="0" i="0" spc="15">
                <a:solidFill>
                  <a:srgbClr val="C3BDB6"/>
                </a:solidFill>
                <a:latin typeface="Calibri"/>
              </a:rPr>
              <a:t>The Middle Market team</a:t>
            </a:r>
          </a:p>
        </p:txBody>
      </p:sp>
      <p:sp>
        <p:nvSpPr>
          <p:cNvPr id="16" name="Rectangle 15"/>
          <p:cNvSpPr/>
          <p:nvPr/>
        </p:nvSpPr>
        <p:spPr>
          <a:xfrm>
            <a:off x="609600" y="4610100"/>
            <a:ext cx="3333750" cy="9525"/>
          </a:xfrm>
          <a:prstGeom prst="rect">
            <a:avLst/>
          </a:prstGeom>
          <a:solidFill>
            <a:srgbClr val="FFFFFF">
              <a:alpha val="16000"/>
            </a:srgbClr>
          </a:solidFill>
          <a:ln>
            <a:noFill/>
          </a:ln>
          <a:effectLst/>
        </p:spPr>
        <p:txBody>
          <a:bodyPr rtlCol="0" anchor="ctr"/>
          <a:lstStyle/>
          <a:p>
            <a:pPr algn="ctr"/>
            <a:endParaRPr/>
          </a:p>
        </p:txBody>
      </p:sp>
      <p:sp>
        <p:nvSpPr>
          <p:cNvPr id="17" name="Rectangle 16"/>
          <p:cNvSpPr/>
          <p:nvPr/>
        </p:nvSpPr>
        <p:spPr>
          <a:xfrm>
            <a:off x="609600" y="4743450"/>
            <a:ext cx="57150" cy="57150"/>
          </a:xfrm>
          <a:prstGeom prst="rect">
            <a:avLst/>
          </a:prstGeom>
          <a:solidFill>
            <a:srgbClr val="B68757"/>
          </a:solidFill>
          <a:ln>
            <a:noFill/>
          </a:ln>
          <a:effectLst/>
        </p:spPr>
        <p:txBody>
          <a:bodyPr rtlCol="0" anchor="ctr"/>
          <a:lstStyle/>
          <a:p>
            <a:pPr algn="ctr"/>
            <a:endParaRPr/>
          </a:p>
        </p:txBody>
      </p:sp>
      <p:sp>
        <p:nvSpPr>
          <p:cNvPr id="18" name="Text: Benchmark International"/>
          <p:cNvSpPr txBox="1"/>
          <p:nvPr/>
        </p:nvSpPr>
        <p:spPr>
          <a:xfrm>
            <a:off x="781050" y="4695825"/>
            <a:ext cx="1258491" cy="180975"/>
          </a:xfrm>
          <a:prstGeom prst="rect">
            <a:avLst/>
          </a:prstGeom>
          <a:noFill/>
        </p:spPr>
        <p:txBody>
          <a:bodyPr wrap="square" lIns="0" tIns="0" rIns="0" bIns="0" anchor="t">
            <a:spAutoFit/>
          </a:bodyPr>
          <a:lstStyle/>
          <a:p>
            <a:pPr algn="l">
              <a:lnSpc>
                <a:spcPts val="1425"/>
              </a:lnSpc>
            </a:pPr>
            <a:r>
              <a:rPr sz="938" b="0" i="0" spc="15">
                <a:solidFill>
                  <a:srgbClr val="C3BDB6"/>
                </a:solidFill>
                <a:latin typeface="Calibri"/>
              </a:rPr>
              <a:t>Benchmark International</a:t>
            </a:r>
          </a:p>
        </p:txBody>
      </p:sp>
      <p:sp>
        <p:nvSpPr>
          <p:cNvPr id="19" name="Rectangle 18"/>
          <p:cNvSpPr/>
          <p:nvPr/>
        </p:nvSpPr>
        <p:spPr>
          <a:xfrm>
            <a:off x="609600" y="4953000"/>
            <a:ext cx="3333750" cy="9525"/>
          </a:xfrm>
          <a:prstGeom prst="rect">
            <a:avLst/>
          </a:prstGeom>
          <a:solidFill>
            <a:srgbClr val="FFFFFF">
              <a:alpha val="16000"/>
            </a:srgbClr>
          </a:solidFill>
          <a:ln>
            <a:noFill/>
          </a:ln>
          <a:effectLst/>
        </p:spPr>
        <p:txBody>
          <a:bodyPr rtlCol="0" anchor="ctr"/>
          <a:lstStyle/>
          <a:p>
            <a:pPr algn="ctr"/>
            <a:endParaRPr/>
          </a:p>
        </p:txBody>
      </p:sp>
      <p:sp>
        <p:nvSpPr>
          <p:cNvPr id="20" name="Rectangle 19"/>
          <p:cNvSpPr/>
          <p:nvPr/>
        </p:nvSpPr>
        <p:spPr>
          <a:xfrm>
            <a:off x="609600" y="5086350"/>
            <a:ext cx="57150" cy="57150"/>
          </a:xfrm>
          <a:prstGeom prst="rect">
            <a:avLst/>
          </a:prstGeom>
          <a:solidFill>
            <a:srgbClr val="B68757"/>
          </a:solidFill>
          <a:ln>
            <a:noFill/>
          </a:ln>
          <a:effectLst/>
        </p:spPr>
        <p:txBody>
          <a:bodyPr rtlCol="0" anchor="ctr"/>
          <a:lstStyle/>
          <a:p>
            <a:pPr algn="ctr"/>
            <a:endParaRPr/>
          </a:p>
        </p:txBody>
      </p:sp>
      <p:sp>
        <p:nvSpPr>
          <p:cNvPr id="21" name="Text: Important disclosures, appendix an"/>
          <p:cNvSpPr txBox="1"/>
          <p:nvPr/>
        </p:nvSpPr>
        <p:spPr>
          <a:xfrm>
            <a:off x="781050" y="5038725"/>
            <a:ext cx="2249537" cy="180975"/>
          </a:xfrm>
          <a:prstGeom prst="rect">
            <a:avLst/>
          </a:prstGeom>
          <a:noFill/>
        </p:spPr>
        <p:txBody>
          <a:bodyPr wrap="square" lIns="0" tIns="0" rIns="0" bIns="0" anchor="t">
            <a:spAutoFit/>
          </a:bodyPr>
          <a:lstStyle/>
          <a:p>
            <a:pPr algn="l">
              <a:lnSpc>
                <a:spcPts val="1425"/>
              </a:lnSpc>
            </a:pPr>
            <a:r>
              <a:rPr sz="938" b="0" i="0" spc="15">
                <a:solidFill>
                  <a:srgbClr val="C3BDB6"/>
                </a:solidFill>
                <a:latin typeface="Calibri"/>
              </a:rPr>
              <a:t>Important disclosures, appendix, and sources</a:t>
            </a:r>
          </a:p>
        </p:txBody>
      </p:sp>
      <p:sp>
        <p:nvSpPr>
          <p:cNvPr id="22" name="Rectangle 21"/>
          <p:cNvSpPr/>
          <p:nvPr/>
        </p:nvSpPr>
        <p:spPr>
          <a:xfrm>
            <a:off x="609600" y="5295900"/>
            <a:ext cx="3333750" cy="9525"/>
          </a:xfrm>
          <a:prstGeom prst="rect">
            <a:avLst/>
          </a:prstGeom>
          <a:solidFill>
            <a:srgbClr val="FFFFFF">
              <a:alpha val="16000"/>
            </a:srgbClr>
          </a:solidFill>
          <a:ln>
            <a:noFill/>
          </a:ln>
          <a:effectLst/>
        </p:spPr>
        <p:txBody>
          <a:bodyPr rtlCol="0" anchor="ctr"/>
          <a:lstStyle/>
          <a:p>
            <a:pPr algn="ctr"/>
            <a:endParaRPr/>
          </a:p>
        </p:txBody>
      </p:sp>
      <p:pic>
        <p:nvPicPr>
          <p:cNvPr id="23" name="Picture 22" descr="Benchmark International"/>
          <p:cNvPicPr>
            <a:picLocks noChangeAspect="1"/>
          </p:cNvPicPr>
          <p:nvPr/>
        </p:nvPicPr>
        <p:blipFill>
          <a:blip r:embed="rId4"/>
          <a:srcRect/>
          <a:stretch>
            <a:fillRect/>
          </a:stretch>
        </p:blipFill>
        <p:spPr>
          <a:xfrm>
            <a:off x="609600" y="7086600"/>
            <a:ext cx="1428750" cy="266700"/>
          </a:xfrm>
          <a:prstGeom prst="rect">
            <a:avLst/>
          </a:prstGeom>
        </p:spPr>
      </p:pic>
      <p:sp>
        <p:nvSpPr>
          <p:cNvPr id="24" name="Text: HEALTHCARE | Q4 2026"/>
          <p:cNvSpPr txBox="1"/>
          <p:nvPr/>
        </p:nvSpPr>
        <p:spPr>
          <a:xfrm>
            <a:off x="2209800" y="7181850"/>
            <a:ext cx="1482179" cy="133350"/>
          </a:xfrm>
          <a:prstGeom prst="rect">
            <a:avLst/>
          </a:prstGeom>
          <a:noFill/>
        </p:spPr>
        <p:txBody>
          <a:bodyPr wrap="square" lIns="0" tIns="0" rIns="0" bIns="0" anchor="t">
            <a:spAutoFit/>
          </a:bodyPr>
          <a:lstStyle/>
          <a:p>
            <a:pPr algn="l">
              <a:lnSpc>
                <a:spcPts val="1050"/>
              </a:lnSpc>
            </a:pPr>
            <a:r>
              <a:rPr sz="712" b="1" i="0" spc="195">
                <a:solidFill>
                  <a:srgbClr val="C3BDB6"/>
                </a:solidFill>
                <a:latin typeface="Calibri"/>
              </a:rPr>
              <a:t>HEALTHCARE | Q4 2026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57150" cy="7772400"/>
          </a:xfrm>
          <a:prstGeom prst="rect">
            <a:avLst/>
          </a:prstGeom>
          <a:solidFill>
            <a:srgbClr val="B68757"/>
          </a:solidFill>
          <a:ln>
            <a:noFill/>
          </a:ln>
          <a:effectLst/>
        </p:spPr>
        <p:txBody>
          <a:bodyPr rtlCol="0" anchor="ctr"/>
          <a:lstStyle/>
          <a:p>
            <a:pPr algn="ctr"/>
            <a:endParaRPr/>
          </a:p>
        </p:txBody>
      </p:sp>
      <p:sp>
        <p:nvSpPr>
          <p:cNvPr id="3" name="Text: HEALTHCARE | QUARTERLY SECTOR BRIE"/>
          <p:cNvSpPr txBox="1"/>
          <p:nvPr/>
        </p:nvSpPr>
        <p:spPr>
          <a:xfrm>
            <a:off x="419100" y="381000"/>
            <a:ext cx="2439591" cy="133350"/>
          </a:xfrm>
          <a:prstGeom prst="rect">
            <a:avLst/>
          </a:prstGeom>
          <a:noFill/>
        </p:spPr>
        <p:txBody>
          <a:bodyPr wrap="none" lIns="0" tIns="0" rIns="0" bIns="0" anchor="t">
            <a:spAutoFit/>
          </a:bodyPr>
          <a:lstStyle/>
          <a:p>
            <a:pPr algn="l">
              <a:lnSpc>
                <a:spcPts val="1050"/>
              </a:lnSpc>
            </a:pPr>
            <a:r>
              <a:rPr sz="675" b="1" i="0" spc="195">
                <a:solidFill>
                  <a:srgbClr val="8C6239"/>
                </a:solidFill>
                <a:latin typeface="Calibri"/>
              </a:rPr>
              <a:t>HEALTHCARE | QUARTERLY INDUSTRY REPORT</a:t>
            </a:r>
          </a:p>
        </p:txBody>
      </p:sp>
      <p:sp>
        <p:nvSpPr>
          <p:cNvPr id="4" name="Text: Q4 2026"/>
          <p:cNvSpPr txBox="1"/>
          <p:nvPr/>
        </p:nvSpPr>
        <p:spPr>
          <a:xfrm>
            <a:off x="9188648" y="361950"/>
            <a:ext cx="464939" cy="171450"/>
          </a:xfrm>
          <a:prstGeom prst="rect">
            <a:avLst/>
          </a:prstGeom>
          <a:noFill/>
        </p:spPr>
        <p:txBody>
          <a:bodyPr wrap="square" lIns="0" tIns="0" rIns="0" bIns="0" anchor="t">
            <a:spAutoFit/>
          </a:bodyPr>
          <a:lstStyle/>
          <a:p>
            <a:pPr algn="l">
              <a:lnSpc>
                <a:spcPts val="1350"/>
              </a:lnSpc>
            </a:pPr>
            <a:r>
              <a:rPr sz="900" b="0" i="0" spc="90">
                <a:solidFill>
                  <a:srgbClr val="6F6A66"/>
                </a:solidFill>
                <a:latin typeface="Cambria"/>
              </a:rPr>
              <a:t>Q4 2026</a:t>
            </a:r>
          </a:p>
        </p:txBody>
      </p:sp>
      <p:sp>
        <p:nvSpPr>
          <p:cNvPr id="5" name="Text: Connect With Us"/>
          <p:cNvSpPr txBox="1"/>
          <p:nvPr/>
        </p:nvSpPr>
        <p:spPr>
          <a:xfrm>
            <a:off x="419100" y="523875"/>
            <a:ext cx="9234488" cy="323850"/>
          </a:xfrm>
          <a:prstGeom prst="rect">
            <a:avLst/>
          </a:prstGeom>
          <a:noFill/>
        </p:spPr>
        <p:txBody>
          <a:bodyPr wrap="square" lIns="0" tIns="0" rIns="0" bIns="0" anchor="t">
            <a:spAutoFit/>
          </a:bodyPr>
          <a:lstStyle/>
          <a:p>
            <a:pPr algn="l">
              <a:lnSpc>
                <a:spcPts val="2550"/>
              </a:lnSpc>
            </a:pPr>
            <a:r>
              <a:rPr sz="2025" b="1" i="0">
                <a:solidFill>
                  <a:srgbClr val="1B1A1A"/>
                </a:solidFill>
                <a:latin typeface="Cambria"/>
              </a:rPr>
              <a:t>Connect With Us</a:t>
            </a:r>
          </a:p>
        </p:txBody>
      </p:sp>
      <p:sp>
        <p:nvSpPr>
          <p:cNvPr id="6" name="Text: A first conversation is confidenti"/>
          <p:cNvSpPr txBox="1"/>
          <p:nvPr/>
        </p:nvSpPr>
        <p:spPr>
          <a:xfrm>
            <a:off x="419100" y="885825"/>
            <a:ext cx="10215086" cy="180975"/>
          </a:xfrm>
          <a:prstGeom prst="rect">
            <a:avLst/>
          </a:prstGeom>
          <a:noFill/>
        </p:spPr>
        <p:txBody>
          <a:bodyPr wrap="square" lIns="0" tIns="0" rIns="0" bIns="0" anchor="t">
            <a:spAutoFit/>
          </a:bodyPr>
          <a:lstStyle/>
          <a:p>
            <a:pPr algn="l">
              <a:lnSpc>
                <a:spcPts val="1388"/>
              </a:lnSpc>
            </a:pPr>
            <a:r>
              <a:rPr sz="938" b="0" i="0" spc="15">
                <a:solidFill>
                  <a:srgbClr val="6F6A66"/>
                </a:solidFill>
                <a:latin typeface="Calibri"/>
              </a:rPr>
              <a:t>A first conversation is confidential and carries no obligation.</a:t>
            </a:r>
          </a:p>
        </p:txBody>
      </p:sp>
      <p:sp>
        <p:nvSpPr>
          <p:cNvPr id="7" name="Rectangle 6"/>
          <p:cNvSpPr/>
          <p:nvPr/>
        </p:nvSpPr>
        <p:spPr>
          <a:xfrm>
            <a:off x="419100" y="1143000"/>
            <a:ext cx="9220200" cy="9525"/>
          </a:xfrm>
          <a:prstGeom prst="rect">
            <a:avLst/>
          </a:prstGeom>
          <a:solidFill>
            <a:srgbClr val="E3DCD3"/>
          </a:solidFill>
          <a:ln>
            <a:noFill/>
          </a:ln>
          <a:effectLst/>
        </p:spPr>
        <p:txBody>
          <a:bodyPr rtlCol="0" anchor="ctr"/>
          <a:lstStyle/>
          <a:p>
            <a:pPr algn="ctr"/>
            <a:endParaRPr/>
          </a:p>
        </p:txBody>
      </p:sp>
      <p:sp>
        <p:nvSpPr>
          <p:cNvPr id="8" name="Text: CONFIDENTIAL. NO PRESSURE. NO COMM"/>
          <p:cNvSpPr txBox="1"/>
          <p:nvPr/>
        </p:nvSpPr>
        <p:spPr>
          <a:xfrm>
            <a:off x="419100" y="1485900"/>
            <a:ext cx="5157788" cy="123825"/>
          </a:xfrm>
          <a:prstGeom prst="rect">
            <a:avLst/>
          </a:prstGeom>
          <a:noFill/>
        </p:spPr>
        <p:txBody>
          <a:bodyPr wrap="square" lIns="0" tIns="0" rIns="0" bIns="0" anchor="t">
            <a:spAutoFit/>
          </a:bodyPr>
          <a:lstStyle/>
          <a:p>
            <a:pPr algn="l">
              <a:lnSpc>
                <a:spcPts val="975"/>
              </a:lnSpc>
            </a:pPr>
            <a:r>
              <a:rPr sz="675" b="1" i="0" spc="150">
                <a:solidFill>
                  <a:srgbClr val="8C6239"/>
                </a:solidFill>
                <a:latin typeface="Calibri"/>
              </a:rPr>
              <a:t>CONFIDENTIAL. NO PRESSURE. NO COMMITMENTS.</a:t>
            </a:r>
          </a:p>
        </p:txBody>
      </p:sp>
      <p:sp>
        <p:nvSpPr>
          <p:cNvPr id="9" name="Text: It all starts with a conversation."/>
          <p:cNvSpPr txBox="1"/>
          <p:nvPr/>
        </p:nvSpPr>
        <p:spPr>
          <a:xfrm>
            <a:off x="419100" y="1724025"/>
            <a:ext cx="5157788" cy="990600"/>
          </a:xfrm>
          <a:prstGeom prst="rect">
            <a:avLst/>
          </a:prstGeom>
          <a:noFill/>
        </p:spPr>
        <p:txBody>
          <a:bodyPr wrap="square" lIns="0" tIns="0" rIns="0" bIns="0" anchor="t">
            <a:spAutoFit/>
          </a:bodyPr>
          <a:lstStyle/>
          <a:p>
            <a:pPr algn="l">
              <a:lnSpc>
                <a:spcPts val="3900"/>
              </a:lnSpc>
            </a:pPr>
            <a:r>
              <a:rPr sz="3300" b="1" i="0">
                <a:solidFill>
                  <a:srgbClr val="1B1A1A"/>
                </a:solidFill>
                <a:latin typeface="Cambria"/>
              </a:rPr>
              <a:t>It all starts with a conversation.</a:t>
            </a:r>
          </a:p>
        </p:txBody>
      </p:sp>
      <p:sp>
        <p:nvSpPr>
          <p:cNvPr id="10" name="Rectangle 9"/>
          <p:cNvSpPr/>
          <p:nvPr/>
        </p:nvSpPr>
        <p:spPr>
          <a:xfrm>
            <a:off x="419100" y="2924175"/>
            <a:ext cx="685800" cy="19050"/>
          </a:xfrm>
          <a:prstGeom prst="rect">
            <a:avLst/>
          </a:prstGeom>
          <a:solidFill>
            <a:srgbClr val="B68757"/>
          </a:solidFill>
          <a:ln>
            <a:noFill/>
          </a:ln>
          <a:effectLst/>
        </p:spPr>
        <p:txBody>
          <a:bodyPr rtlCol="0" anchor="ctr"/>
          <a:lstStyle/>
          <a:p>
            <a:pPr algn="ctr"/>
            <a:endParaRPr/>
          </a:p>
        </p:txBody>
      </p:sp>
      <p:sp>
        <p:nvSpPr>
          <p:cNvPr id="11" name="Text: Our first step is always a confide"/>
          <p:cNvSpPr txBox="1"/>
          <p:nvPr/>
        </p:nvSpPr>
        <p:spPr>
          <a:xfrm>
            <a:off x="419100" y="3152775"/>
            <a:ext cx="4776788" cy="876300"/>
          </a:xfrm>
          <a:prstGeom prst="rect">
            <a:avLst/>
          </a:prstGeom>
          <a:noFill/>
        </p:spPr>
        <p:txBody>
          <a:bodyPr wrap="square" lIns="0" tIns="0" rIns="0" bIns="0" anchor="t">
            <a:spAutoFit/>
          </a:bodyPr>
          <a:lstStyle/>
          <a:p>
            <a:pPr algn="l">
              <a:lnSpc>
                <a:spcPts val="1725"/>
              </a:lnSpc>
            </a:pPr>
            <a:r>
              <a:rPr sz="1050" b="0" i="0" spc="15">
                <a:solidFill>
                  <a:srgbClr val="333231"/>
                </a:solidFill>
                <a:latin typeface="Calibri"/>
              </a:rPr>
              <a:t>Our first step is always a confidential conversation exploring your goals, your company, and your options. We welcome calls from owners considering a strategic sale, merger, or change-of-control transaction in any of our five industries, and from the advisors who work with them.</a:t>
            </a:r>
          </a:p>
        </p:txBody>
      </p:sp>
      <p:sp>
        <p:nvSpPr>
          <p:cNvPr id="12" name="Rectangle 11"/>
          <p:cNvSpPr/>
          <p:nvPr/>
        </p:nvSpPr>
        <p:spPr>
          <a:xfrm>
            <a:off x="419100" y="4314825"/>
            <a:ext cx="4762500" cy="1323975"/>
          </a:xfrm>
          <a:prstGeom prst="rect">
            <a:avLst/>
          </a:prstGeom>
          <a:solidFill>
            <a:srgbClr val="FAF7F3"/>
          </a:solidFill>
          <a:ln>
            <a:noFill/>
          </a:ln>
          <a:effectLst/>
        </p:spPr>
        <p:txBody>
          <a:bodyPr rtlCol="0" anchor="ctr"/>
          <a:lstStyle/>
          <a:p>
            <a:pPr algn="ctr"/>
            <a:endParaRPr/>
          </a:p>
        </p:txBody>
      </p:sp>
      <p:sp>
        <p:nvSpPr>
          <p:cNvPr id="13" name="Rectangle 12"/>
          <p:cNvSpPr/>
          <p:nvPr/>
        </p:nvSpPr>
        <p:spPr>
          <a:xfrm>
            <a:off x="419100" y="4314825"/>
            <a:ext cx="4762500" cy="28575"/>
          </a:xfrm>
          <a:prstGeom prst="rect">
            <a:avLst/>
          </a:prstGeom>
          <a:solidFill>
            <a:srgbClr val="B68757"/>
          </a:solidFill>
          <a:ln>
            <a:noFill/>
          </a:ln>
          <a:effectLst/>
        </p:spPr>
        <p:txBody>
          <a:bodyPr rtlCol="0" anchor="ctr"/>
          <a:lstStyle/>
          <a:p>
            <a:pPr algn="ctr"/>
            <a:endParaRPr/>
          </a:p>
        </p:txBody>
      </p:sp>
      <p:pic>
        <p:nvPicPr>
          <p:cNvPr id="14" name="Picture 13" descr="Jared Hardin"/>
          <p:cNvPicPr>
            <a:picLocks noChangeAspect="1"/>
          </p:cNvPicPr>
          <p:nvPr/>
        </p:nvPicPr>
        <p:blipFill>
          <a:blip r:embed="rId2"/>
          <a:srcRect/>
          <a:stretch>
            <a:fillRect/>
          </a:stretch>
        </p:blipFill>
        <p:spPr>
          <a:xfrm>
            <a:off x="628650" y="4533900"/>
            <a:ext cx="914400" cy="914400"/>
          </a:xfrm>
          <a:prstGeom prst="ellipse">
            <a:avLst/>
          </a:prstGeom>
        </p:spPr>
      </p:pic>
      <p:sp>
        <p:nvSpPr>
          <p:cNvPr id="15" name="Text: Jared Hardin"/>
          <p:cNvSpPr txBox="1"/>
          <p:nvPr/>
        </p:nvSpPr>
        <p:spPr>
          <a:xfrm>
            <a:off x="1733550" y="4543425"/>
            <a:ext cx="2920603" cy="276225"/>
          </a:xfrm>
          <a:prstGeom prst="rect">
            <a:avLst/>
          </a:prstGeom>
          <a:noFill/>
        </p:spPr>
        <p:txBody>
          <a:bodyPr wrap="square" lIns="0" tIns="0" rIns="0" bIns="0" anchor="t">
            <a:spAutoFit/>
          </a:bodyPr>
          <a:lstStyle/>
          <a:p>
            <a:pPr algn="l">
              <a:lnSpc>
                <a:spcPts val="2175"/>
              </a:lnSpc>
            </a:pPr>
            <a:r>
              <a:rPr sz="1725" b="1" i="0">
                <a:solidFill>
                  <a:srgbClr val="1B1A1A"/>
                </a:solidFill>
                <a:latin typeface="Cambria"/>
              </a:rPr>
              <a:t>Jared Hardin</a:t>
            </a:r>
          </a:p>
        </p:txBody>
      </p:sp>
      <p:sp>
        <p:nvSpPr>
          <p:cNvPr id="16" name="Text: MANAGING DIRECTOR, BENCHMARK CAPIT"/>
          <p:cNvSpPr txBox="1"/>
          <p:nvPr/>
        </p:nvSpPr>
        <p:spPr>
          <a:xfrm>
            <a:off x="1733550" y="4819650"/>
            <a:ext cx="2920603" cy="133350"/>
          </a:xfrm>
          <a:prstGeom prst="rect">
            <a:avLst/>
          </a:prstGeom>
          <a:noFill/>
        </p:spPr>
        <p:txBody>
          <a:bodyPr wrap="square" lIns="0" tIns="0" rIns="0" bIns="0" anchor="t">
            <a:spAutoFit/>
          </a:bodyPr>
          <a:lstStyle/>
          <a:p>
            <a:pPr algn="l">
              <a:lnSpc>
                <a:spcPts val="1050"/>
              </a:lnSpc>
            </a:pPr>
            <a:r>
              <a:rPr sz="675" b="1" i="0" spc="165">
                <a:solidFill>
                  <a:srgbClr val="8C6239"/>
                </a:solidFill>
                <a:latin typeface="Calibri"/>
              </a:rPr>
              <a:t>MANAGING DIRECTOR</a:t>
            </a:r>
          </a:p>
        </p:txBody>
      </p:sp>
      <p:sp>
        <p:nvSpPr>
          <p:cNvPr id="17" name="Text: 813-771-6675"/>
          <p:cNvSpPr txBox="1"/>
          <p:nvPr/>
        </p:nvSpPr>
        <p:spPr>
          <a:xfrm>
            <a:off x="1733550" y="5038725"/>
            <a:ext cx="2920603" cy="400050"/>
          </a:xfrm>
          <a:prstGeom prst="rect">
            <a:avLst/>
          </a:prstGeom>
          <a:noFill/>
        </p:spPr>
        <p:txBody>
          <a:bodyPr wrap="square" lIns="0" tIns="0" rIns="0" bIns="0" anchor="t">
            <a:spAutoFit/>
          </a:bodyPr>
          <a:lstStyle/>
          <a:p>
            <a:pPr algn="l">
              <a:lnSpc>
                <a:spcPts val="1575"/>
              </a:lnSpc>
            </a:pPr>
            <a:r>
              <a:rPr sz="975" b="0" i="0" spc="15">
                <a:solidFill>
                  <a:srgbClr val="8C6239"/>
                </a:solidFill>
                <a:latin typeface="Calibri"/>
                <a:hlinkClick r:id="rId3">
                  <a:extLst>
                    <a:ext uri="{A12FA001-AC4F-418D-AE19-62706E023703}">
                      <ahyp:hlinkClr xmlns:ahyp="http://schemas.microsoft.com/office/drawing/2018/hyperlinkcolor" val="tx"/>
                    </a:ext>
                  </a:extLst>
                </a:hlinkClick>
              </a:rPr>
              <a:t>813-771-6675</a:t>
            </a:r>
            <a:br/>
            <a:r>
              <a:rPr sz="975" b="0" i="0" spc="15">
                <a:solidFill>
                  <a:srgbClr val="8C6239"/>
                </a:solidFill>
                <a:latin typeface="Calibri"/>
                <a:hlinkClick r:id="rId4">
                  <a:extLst>
                    <a:ext uri="{A12FA001-AC4F-418D-AE19-62706E023703}">
                      <ahyp:hlinkClr xmlns:ahyp="http://schemas.microsoft.com/office/drawing/2018/hyperlinkcolor" val="tx"/>
                    </a:ext>
                  </a:extLst>
                </a:hlinkClick>
              </a:rPr>
              <a:t>j.hardin@benchmarkintl.com</a:t>
            </a:r>
          </a:p>
        </p:txBody>
      </p:sp>
      <p:sp>
        <p:nvSpPr>
          <p:cNvPr id="18" name="Rectangle 17"/>
          <p:cNvSpPr/>
          <p:nvPr/>
        </p:nvSpPr>
        <p:spPr>
          <a:xfrm>
            <a:off x="419100" y="6581775"/>
            <a:ext cx="1881188" cy="352425"/>
          </a:xfrm>
          <a:prstGeom prst="rect">
            <a:avLst/>
          </a:prstGeom>
          <a:solidFill>
            <a:srgbClr val="A0754A"/>
          </a:solidFill>
          <a:ln>
            <a:noFill/>
          </a:ln>
          <a:effectLst/>
        </p:spPr>
        <p:txBody>
          <a:bodyPr rtlCol="0" anchor="ctr"/>
          <a:lstStyle/>
          <a:p>
            <a:pPr algn="ctr"/>
            <a:endParaRPr/>
          </a:p>
        </p:txBody>
      </p:sp>
      <p:sp>
        <p:nvSpPr>
          <p:cNvPr id="19" name="Rectangle 18"/>
          <p:cNvSpPr/>
          <p:nvPr/>
        </p:nvSpPr>
        <p:spPr>
          <a:xfrm>
            <a:off x="419100" y="6581775"/>
            <a:ext cx="1881188" cy="9525"/>
          </a:xfrm>
          <a:prstGeom prst="rect">
            <a:avLst/>
          </a:prstGeom>
          <a:solidFill>
            <a:srgbClr val="A0754A"/>
          </a:solidFill>
          <a:ln>
            <a:noFill/>
          </a:ln>
          <a:effectLst/>
        </p:spPr>
        <p:txBody>
          <a:bodyPr rtlCol="0" anchor="ctr"/>
          <a:lstStyle/>
          <a:p>
            <a:pPr algn="ctr"/>
            <a:endParaRPr/>
          </a:p>
        </p:txBody>
      </p:sp>
      <p:sp>
        <p:nvSpPr>
          <p:cNvPr id="20" name="Rectangle 19"/>
          <p:cNvSpPr/>
          <p:nvPr/>
        </p:nvSpPr>
        <p:spPr>
          <a:xfrm>
            <a:off x="2290762" y="6581775"/>
            <a:ext cx="9525" cy="352425"/>
          </a:xfrm>
          <a:prstGeom prst="rect">
            <a:avLst/>
          </a:prstGeom>
          <a:solidFill>
            <a:srgbClr val="A0754A"/>
          </a:solidFill>
          <a:ln>
            <a:noFill/>
          </a:ln>
          <a:effectLst/>
        </p:spPr>
        <p:txBody>
          <a:bodyPr rtlCol="0" anchor="ctr"/>
          <a:lstStyle/>
          <a:p>
            <a:pPr algn="ctr"/>
            <a:endParaRPr/>
          </a:p>
        </p:txBody>
      </p:sp>
      <p:sp>
        <p:nvSpPr>
          <p:cNvPr id="21" name="Rectangle 20"/>
          <p:cNvSpPr/>
          <p:nvPr/>
        </p:nvSpPr>
        <p:spPr>
          <a:xfrm>
            <a:off x="419100" y="6924675"/>
            <a:ext cx="1881188" cy="9525"/>
          </a:xfrm>
          <a:prstGeom prst="rect">
            <a:avLst/>
          </a:prstGeom>
          <a:solidFill>
            <a:srgbClr val="A0754A"/>
          </a:solidFill>
          <a:ln>
            <a:noFill/>
          </a:ln>
          <a:effectLst/>
        </p:spPr>
        <p:txBody>
          <a:bodyPr rtlCol="0" anchor="ctr"/>
          <a:lstStyle/>
          <a:p>
            <a:pPr algn="ctr"/>
            <a:endParaRPr/>
          </a:p>
        </p:txBody>
      </p:sp>
      <p:sp>
        <p:nvSpPr>
          <p:cNvPr id="22" name="Rectangle 21"/>
          <p:cNvSpPr/>
          <p:nvPr/>
        </p:nvSpPr>
        <p:spPr>
          <a:xfrm>
            <a:off x="419100" y="6581775"/>
            <a:ext cx="9525" cy="352425"/>
          </a:xfrm>
          <a:prstGeom prst="rect">
            <a:avLst/>
          </a:prstGeom>
          <a:solidFill>
            <a:srgbClr val="A0754A"/>
          </a:solidFill>
          <a:ln>
            <a:noFill/>
          </a:ln>
          <a:effectLst/>
        </p:spPr>
        <p:txBody>
          <a:bodyPr rtlCol="0" anchor="ctr"/>
          <a:lstStyle/>
          <a:p>
            <a:pPr algn="ctr"/>
            <a:endParaRPr/>
          </a:p>
        </p:txBody>
      </p:sp>
      <p:sp>
        <p:nvSpPr>
          <p:cNvPr id="23" name="Text: SCHEDULE A CONVERSATION">
            <a:hlinkClick r:id="rId5"/>
          </p:cNvPr>
          <p:cNvSpPr txBox="1"/>
          <p:nvPr/>
        </p:nvSpPr>
        <p:spPr>
          <a:xfrm>
            <a:off x="600075" y="6696075"/>
            <a:ext cx="1533525" cy="123825"/>
          </a:xfrm>
          <a:prstGeom prst="rect">
            <a:avLst/>
          </a:prstGeom>
          <a:noFill/>
        </p:spPr>
        <p:txBody>
          <a:bodyPr wrap="square" lIns="0" tIns="0" rIns="0" bIns="0" anchor="t">
            <a:spAutoFit/>
          </a:bodyPr>
          <a:lstStyle/>
          <a:p>
            <a:pPr algn="l">
              <a:lnSpc>
                <a:spcPts val="975"/>
              </a:lnSpc>
            </a:pPr>
            <a:r>
              <a:rPr sz="712" b="1" i="0" spc="150">
                <a:solidFill>
                  <a:srgbClr val="FFFFFF"/>
                </a:solidFill>
                <a:latin typeface="Calibri"/>
              </a:rPr>
              <a:t>SCHEDULE A CONVERSATION</a:t>
            </a:r>
          </a:p>
        </p:txBody>
      </p:sp>
      <p:sp>
        <p:nvSpPr>
          <p:cNvPr id="24" name="Rectangle 23"/>
          <p:cNvSpPr/>
          <p:nvPr/>
        </p:nvSpPr>
        <p:spPr>
          <a:xfrm>
            <a:off x="2414588" y="6581775"/>
            <a:ext cx="2117378" cy="9525"/>
          </a:xfrm>
          <a:prstGeom prst="rect">
            <a:avLst/>
          </a:prstGeom>
          <a:solidFill>
            <a:srgbClr val="1B1A1A"/>
          </a:solidFill>
          <a:ln>
            <a:noFill/>
          </a:ln>
          <a:effectLst/>
        </p:spPr>
        <p:txBody>
          <a:bodyPr rtlCol="0" anchor="ctr"/>
          <a:lstStyle/>
          <a:p>
            <a:pPr algn="ctr"/>
            <a:endParaRPr/>
          </a:p>
        </p:txBody>
      </p:sp>
      <p:sp>
        <p:nvSpPr>
          <p:cNvPr id="25" name="Rectangle 24"/>
          <p:cNvSpPr/>
          <p:nvPr/>
        </p:nvSpPr>
        <p:spPr>
          <a:xfrm>
            <a:off x="4522440" y="6581775"/>
            <a:ext cx="9525" cy="352425"/>
          </a:xfrm>
          <a:prstGeom prst="rect">
            <a:avLst/>
          </a:prstGeom>
          <a:solidFill>
            <a:srgbClr val="1B1A1A"/>
          </a:solidFill>
          <a:ln>
            <a:noFill/>
          </a:ln>
          <a:effectLst/>
        </p:spPr>
        <p:txBody>
          <a:bodyPr rtlCol="0" anchor="ctr"/>
          <a:lstStyle/>
          <a:p>
            <a:pPr algn="ctr"/>
            <a:endParaRPr/>
          </a:p>
        </p:txBody>
      </p:sp>
      <p:sp>
        <p:nvSpPr>
          <p:cNvPr id="26" name="Rectangle 25"/>
          <p:cNvSpPr/>
          <p:nvPr/>
        </p:nvSpPr>
        <p:spPr>
          <a:xfrm>
            <a:off x="2414588" y="6924675"/>
            <a:ext cx="2117378" cy="9525"/>
          </a:xfrm>
          <a:prstGeom prst="rect">
            <a:avLst/>
          </a:prstGeom>
          <a:solidFill>
            <a:srgbClr val="1B1A1A"/>
          </a:solidFill>
          <a:ln>
            <a:noFill/>
          </a:ln>
          <a:effectLst/>
        </p:spPr>
        <p:txBody>
          <a:bodyPr rtlCol="0" anchor="ctr"/>
          <a:lstStyle/>
          <a:p>
            <a:pPr algn="ctr"/>
            <a:endParaRPr/>
          </a:p>
        </p:txBody>
      </p:sp>
      <p:sp>
        <p:nvSpPr>
          <p:cNvPr id="27" name="Rectangle 26"/>
          <p:cNvSpPr/>
          <p:nvPr/>
        </p:nvSpPr>
        <p:spPr>
          <a:xfrm>
            <a:off x="2414588" y="6581775"/>
            <a:ext cx="9525" cy="352425"/>
          </a:xfrm>
          <a:prstGeom prst="rect">
            <a:avLst/>
          </a:prstGeom>
          <a:solidFill>
            <a:srgbClr val="1B1A1A"/>
          </a:solidFill>
          <a:ln>
            <a:noFill/>
          </a:ln>
          <a:effectLst/>
        </p:spPr>
        <p:txBody>
          <a:bodyPr rtlCol="0" anchor="ctr"/>
          <a:lstStyle/>
          <a:p>
            <a:pPr algn="ctr"/>
            <a:endParaRPr/>
          </a:p>
        </p:txBody>
      </p:sp>
      <p:sp>
        <p:nvSpPr>
          <p:cNvPr id="28" name="Text: READ THE FULL Q4 2026 REPORT">
            <a:hlinkClick r:id="rId6"/>
          </p:cNvPr>
          <p:cNvSpPr txBox="1"/>
          <p:nvPr/>
        </p:nvSpPr>
        <p:spPr>
          <a:xfrm>
            <a:off x="2595562" y="6696075"/>
            <a:ext cx="1769715" cy="123825"/>
          </a:xfrm>
          <a:prstGeom prst="rect">
            <a:avLst/>
          </a:prstGeom>
          <a:noFill/>
        </p:spPr>
        <p:txBody>
          <a:bodyPr wrap="square" lIns="0" tIns="0" rIns="0" bIns="0" anchor="t">
            <a:spAutoFit/>
          </a:bodyPr>
          <a:lstStyle/>
          <a:p>
            <a:pPr algn="l">
              <a:lnSpc>
                <a:spcPts val="975"/>
              </a:lnSpc>
            </a:pPr>
            <a:r>
              <a:rPr sz="712" b="1" i="0" spc="150">
                <a:solidFill>
                  <a:srgbClr val="1B1A1A"/>
                </a:solidFill>
                <a:latin typeface="Calibri"/>
              </a:rPr>
              <a:t>READ THE REPORT ONLINE</a:t>
            </a:r>
          </a:p>
        </p:txBody>
      </p:sp>
      <p:sp>
        <p:nvSpPr>
          <p:cNvPr id="29" name="Rectangle 28"/>
          <p:cNvSpPr/>
          <p:nvPr/>
        </p:nvSpPr>
        <p:spPr>
          <a:xfrm>
            <a:off x="5848350" y="1238250"/>
            <a:ext cx="3790950" cy="5695950"/>
          </a:xfrm>
          <a:prstGeom prst="rect">
            <a:avLst/>
          </a:prstGeom>
          <a:solidFill>
            <a:srgbClr val="1B1A1A"/>
          </a:solidFill>
          <a:ln>
            <a:noFill/>
          </a:ln>
          <a:effectLst/>
        </p:spPr>
        <p:txBody>
          <a:bodyPr rtlCol="0" anchor="ctr"/>
          <a:lstStyle/>
          <a:p>
            <a:pPr algn="ctr"/>
            <a:endParaRPr/>
          </a:p>
        </p:txBody>
      </p:sp>
      <p:pic>
        <p:nvPicPr>
          <p:cNvPr id="30" name="Picture 29" descr="A business owner seated by a window"/>
          <p:cNvPicPr>
            <a:picLocks noChangeAspect="1"/>
          </p:cNvPicPr>
          <p:nvPr/>
        </p:nvPicPr>
        <p:blipFill>
          <a:blip r:embed="rId7"/>
          <a:srcRect l="9327" r="9327"/>
          <a:stretch>
            <a:fillRect/>
          </a:stretch>
        </p:blipFill>
        <p:spPr>
          <a:xfrm>
            <a:off x="5848350" y="1238250"/>
            <a:ext cx="3790950" cy="5695950"/>
          </a:xfrm>
          <a:prstGeom prst="rect">
            <a:avLst/>
          </a:prstGeom>
        </p:spPr>
      </p:pic>
      <p:sp>
        <p:nvSpPr>
          <p:cNvPr id="31" name="Rectangle 30"/>
          <p:cNvSpPr/>
          <p:nvPr/>
        </p:nvSpPr>
        <p:spPr>
          <a:xfrm>
            <a:off x="5848350" y="1238250"/>
            <a:ext cx="3790950" cy="5695950"/>
          </a:xfrm>
          <a:prstGeom prst="rect">
            <a:avLst/>
          </a:prstGeom>
          <a:gradFill rotWithShape="1">
            <a:gsLst>
              <a:gs pos="40000">
                <a:srgbClr val="1B1A1A">
                  <a:alpha val="0"/>
                </a:srgbClr>
              </a:gs>
              <a:gs pos="100000">
                <a:srgbClr val="1B1A1A">
                  <a:alpha val="92000"/>
                </a:srgbClr>
              </a:gs>
            </a:gsLst>
            <a:lin ang="5400000" scaled="0"/>
          </a:gradFill>
          <a:ln>
            <a:noFill/>
          </a:ln>
        </p:spPr>
        <p:txBody>
          <a:bodyPr rtlCol="0" anchor="ctr"/>
          <a:lstStyle/>
          <a:p>
            <a:pPr algn="ctr"/>
            <a:endParaRPr/>
          </a:p>
        </p:txBody>
      </p:sp>
      <p:sp>
        <p:nvSpPr>
          <p:cNvPr id="36" name="Rectangle 35"/>
          <p:cNvSpPr/>
          <p:nvPr/>
        </p:nvSpPr>
        <p:spPr>
          <a:xfrm>
            <a:off x="419100" y="7029450"/>
            <a:ext cx="9220200" cy="9525"/>
          </a:xfrm>
          <a:prstGeom prst="rect">
            <a:avLst/>
          </a:prstGeom>
          <a:solidFill>
            <a:srgbClr val="E3DCD3"/>
          </a:solidFill>
          <a:ln>
            <a:noFill/>
          </a:ln>
          <a:effectLst/>
        </p:spPr>
        <p:txBody>
          <a:bodyPr rtlCol="0" anchor="ctr"/>
          <a:lstStyle/>
          <a:p>
            <a:pPr algn="ctr"/>
            <a:endParaRPr/>
          </a:p>
        </p:txBody>
      </p:sp>
      <p:pic>
        <p:nvPicPr>
          <p:cNvPr id="37" name="Picture 36" descr="Benchmark International"/>
          <p:cNvPicPr>
            <a:picLocks noChangeAspect="1"/>
          </p:cNvPicPr>
          <p:nvPr/>
        </p:nvPicPr>
        <p:blipFill>
          <a:blip r:embed="rId8"/>
          <a:srcRect/>
          <a:stretch>
            <a:fillRect/>
          </a:stretch>
        </p:blipFill>
        <p:spPr>
          <a:xfrm>
            <a:off x="419100" y="7143750"/>
            <a:ext cx="914400" cy="171450"/>
          </a:xfrm>
          <a:prstGeom prst="rect">
            <a:avLst/>
          </a:prstGeom>
        </p:spPr>
      </p:pic>
      <p:sp>
        <p:nvSpPr>
          <p:cNvPr id="38" name="TextBox"/>
          <p:cNvSpPr txBox="1"/>
          <p:nvPr/>
        </p:nvSpPr>
        <p:spPr>
          <a:xfrm>
            <a:off x="1543050" y="7105650"/>
            <a:ext cx="7748588" cy="238125"/>
          </a:xfrm>
          <a:prstGeom prst="rect">
            <a:avLst/>
          </a:prstGeom>
          <a:noFill/>
        </p:spPr>
        <p:txBody>
          <a:bodyPr wrap="square" lIns="0" tIns="0" rIns="0" bIns="0" anchor="t">
            <a:spAutoFit/>
          </a:bodyPr>
          <a:lstStyle/>
          <a:p>
            <a:pPr algn="l">
              <a:lnSpc>
                <a:spcPts val="938"/>
              </a:lnSpc>
            </a:pPr>
            <a:r>
              <a:rPr sz="675" b="0" i="0" spc="8">
                <a:solidFill>
                  <a:srgbClr val="6F6A66"/>
                </a:solidFill>
                <a:latin typeface="Calibri"/>
              </a:rPr>
              <a:t>Benchmark International Middle Market, 4030 West Boy Scout Blvd., Suite 500, Tampa, FL 33607.</a:t>
            </a:r>
          </a:p>
        </p:txBody>
      </p:sp>
      <p:sp>
        <p:nvSpPr>
          <p:cNvPr id="39" name="Text: 19"/>
          <p:cNvSpPr txBox="1"/>
          <p:nvPr/>
        </p:nvSpPr>
        <p:spPr>
          <a:xfrm>
            <a:off x="9509373" y="7162800"/>
            <a:ext cx="144214" cy="133350"/>
          </a:xfrm>
          <a:prstGeom prst="rect">
            <a:avLst/>
          </a:prstGeom>
          <a:noFill/>
        </p:spPr>
        <p:txBody>
          <a:bodyPr wrap="square" lIns="0" tIns="0" rIns="0" bIns="0" anchor="t">
            <a:spAutoFit/>
          </a:bodyPr>
          <a:lstStyle/>
          <a:p>
            <a:pPr algn="l">
              <a:lnSpc>
                <a:spcPts val="1050"/>
              </a:lnSpc>
            </a:pPr>
            <a:r>
              <a:rPr sz="712" b="1" i="0" spc="150">
                <a:solidFill>
                  <a:srgbClr val="1B1A1A"/>
                </a:solidFill>
                <a:latin typeface="Calibri"/>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57150" cy="7772400"/>
          </a:xfrm>
          <a:prstGeom prst="rect">
            <a:avLst/>
          </a:prstGeom>
          <a:solidFill>
            <a:srgbClr val="B68757"/>
          </a:solidFill>
          <a:ln>
            <a:noFill/>
          </a:ln>
          <a:effectLst/>
        </p:spPr>
        <p:txBody>
          <a:bodyPr rtlCol="0" anchor="ctr"/>
          <a:lstStyle/>
          <a:p>
            <a:pPr algn="ctr"/>
            <a:endParaRPr/>
          </a:p>
        </p:txBody>
      </p:sp>
      <p:sp>
        <p:nvSpPr>
          <p:cNvPr id="3" name="Text: HEALTHCARE | QUARTERLY SECTOR BRIE"/>
          <p:cNvSpPr txBox="1"/>
          <p:nvPr/>
        </p:nvSpPr>
        <p:spPr>
          <a:xfrm>
            <a:off x="419100" y="381000"/>
            <a:ext cx="2439591" cy="133350"/>
          </a:xfrm>
          <a:prstGeom prst="rect">
            <a:avLst/>
          </a:prstGeom>
          <a:noFill/>
        </p:spPr>
        <p:txBody>
          <a:bodyPr wrap="none" lIns="0" tIns="0" rIns="0" bIns="0" anchor="t">
            <a:spAutoFit/>
          </a:bodyPr>
          <a:lstStyle/>
          <a:p>
            <a:pPr algn="l">
              <a:lnSpc>
                <a:spcPts val="1050"/>
              </a:lnSpc>
            </a:pPr>
            <a:r>
              <a:rPr sz="675" b="1" i="0" spc="195">
                <a:solidFill>
                  <a:srgbClr val="8C6239"/>
                </a:solidFill>
                <a:latin typeface="Calibri"/>
              </a:rPr>
              <a:t>HEALTHCARE | QUARTERLY INDUSTRY REPORT</a:t>
            </a:r>
          </a:p>
        </p:txBody>
      </p:sp>
      <p:sp>
        <p:nvSpPr>
          <p:cNvPr id="4" name="Text: Q4 2026"/>
          <p:cNvSpPr txBox="1"/>
          <p:nvPr/>
        </p:nvSpPr>
        <p:spPr>
          <a:xfrm>
            <a:off x="9188648" y="361950"/>
            <a:ext cx="464939" cy="171450"/>
          </a:xfrm>
          <a:prstGeom prst="rect">
            <a:avLst/>
          </a:prstGeom>
          <a:noFill/>
        </p:spPr>
        <p:txBody>
          <a:bodyPr wrap="square" lIns="0" tIns="0" rIns="0" bIns="0" anchor="t">
            <a:spAutoFit/>
          </a:bodyPr>
          <a:lstStyle/>
          <a:p>
            <a:pPr algn="l">
              <a:lnSpc>
                <a:spcPts val="1350"/>
              </a:lnSpc>
            </a:pPr>
            <a:r>
              <a:rPr sz="900" b="0" i="0" spc="90">
                <a:solidFill>
                  <a:srgbClr val="6F6A66"/>
                </a:solidFill>
                <a:latin typeface="Cambria"/>
              </a:rPr>
              <a:t>Q4 2026</a:t>
            </a:r>
          </a:p>
        </p:txBody>
      </p:sp>
      <p:sp>
        <p:nvSpPr>
          <p:cNvPr id="5" name="Text: Our Team"/>
          <p:cNvSpPr txBox="1"/>
          <p:nvPr/>
        </p:nvSpPr>
        <p:spPr>
          <a:xfrm>
            <a:off x="419100" y="523875"/>
            <a:ext cx="9234488" cy="323850"/>
          </a:xfrm>
          <a:prstGeom prst="rect">
            <a:avLst/>
          </a:prstGeom>
          <a:noFill/>
        </p:spPr>
        <p:txBody>
          <a:bodyPr wrap="square" lIns="0" tIns="0" rIns="0" bIns="0" anchor="t">
            <a:spAutoFit/>
          </a:bodyPr>
          <a:lstStyle/>
          <a:p>
            <a:pPr algn="l">
              <a:lnSpc>
                <a:spcPts val="2550"/>
              </a:lnSpc>
            </a:pPr>
            <a:r>
              <a:rPr sz="2025" b="1" i="0">
                <a:solidFill>
                  <a:srgbClr val="1B1A1A"/>
                </a:solidFill>
                <a:latin typeface="Cambria"/>
              </a:rPr>
              <a:t>Our Team</a:t>
            </a:r>
          </a:p>
        </p:txBody>
      </p:sp>
      <p:sp>
        <p:nvSpPr>
          <p:cNvPr id="6" name="TextBox"/>
          <p:cNvSpPr txBox="1"/>
          <p:nvPr/>
        </p:nvSpPr>
        <p:spPr>
          <a:xfrm>
            <a:off x="419100" y="885825"/>
            <a:ext cx="10215086" cy="180975"/>
          </a:xfrm>
          <a:prstGeom prst="rect">
            <a:avLst/>
          </a:prstGeom>
          <a:noFill/>
        </p:spPr>
        <p:txBody>
          <a:bodyPr wrap="square" lIns="0" tIns="0" rIns="0" bIns="0" anchor="t">
            <a:spAutoFit/>
          </a:bodyPr>
          <a:lstStyle/>
          <a:p>
            <a:pPr algn="l">
              <a:lnSpc>
                <a:spcPts val="1388"/>
              </a:lnSpc>
            </a:pPr>
            <a:r>
              <a:rPr sz="938" b="0" i="0" spc="15">
                <a:solidFill>
                  <a:srgbClr val="6F6A66"/>
                </a:solidFill>
                <a:latin typeface="Calibri"/>
              </a:rPr>
              <a:t>The Middle Market team leads each engagement from the first conversation through signing and closing.</a:t>
            </a:r>
          </a:p>
        </p:txBody>
      </p:sp>
      <p:sp>
        <p:nvSpPr>
          <p:cNvPr id="7" name="Rectangle 6"/>
          <p:cNvSpPr/>
          <p:nvPr/>
        </p:nvSpPr>
        <p:spPr>
          <a:xfrm>
            <a:off x="419100" y="1143000"/>
            <a:ext cx="9220200" cy="9525"/>
          </a:xfrm>
          <a:prstGeom prst="rect">
            <a:avLst/>
          </a:prstGeom>
          <a:solidFill>
            <a:srgbClr val="E3DCD3"/>
          </a:solidFill>
          <a:ln>
            <a:noFill/>
          </a:ln>
          <a:effectLst/>
        </p:spPr>
        <p:txBody>
          <a:bodyPr rtlCol="0" anchor="ctr"/>
          <a:lstStyle/>
          <a:p>
            <a:pPr algn="ctr"/>
            <a:endParaRPr/>
          </a:p>
        </p:txBody>
      </p:sp>
      <p:sp>
        <p:nvSpPr>
          <p:cNvPr id="8" name="Rectangle 7"/>
          <p:cNvSpPr/>
          <p:nvPr/>
        </p:nvSpPr>
        <p:spPr>
          <a:xfrm>
            <a:off x="419100" y="1238250"/>
            <a:ext cx="2038350" cy="5695950"/>
          </a:xfrm>
          <a:prstGeom prst="rect">
            <a:avLst/>
          </a:prstGeom>
          <a:solidFill>
            <a:srgbClr val="1B1A1A"/>
          </a:solidFill>
          <a:ln>
            <a:noFill/>
          </a:ln>
          <a:effectLst/>
        </p:spPr>
        <p:txBody>
          <a:bodyPr rtlCol="0" anchor="ctr"/>
          <a:lstStyle/>
          <a:p>
            <a:pPr algn="ctr"/>
            <a:endParaRPr/>
          </a:p>
        </p:txBody>
      </p:sp>
      <p:pic>
        <p:nvPicPr>
          <p:cNvPr id="9" name="Picture 8" descr="knot-dark.jpg"/>
          <p:cNvPicPr>
            <a:picLocks noChangeAspect="1"/>
          </p:cNvPicPr>
          <p:nvPr/>
        </p:nvPicPr>
        <p:blipFill>
          <a:blip r:embed="rId2">
            <a:alphaModFix amt="50000"/>
          </a:blip>
          <a:srcRect l="30109" t="1500" r="50365" b="1500"/>
          <a:stretch>
            <a:fillRect/>
          </a:stretch>
        </p:blipFill>
        <p:spPr>
          <a:xfrm>
            <a:off x="419100" y="1238250"/>
            <a:ext cx="2038350" cy="5695950"/>
          </a:xfrm>
          <a:prstGeom prst="rect">
            <a:avLst/>
          </a:prstGeom>
        </p:spPr>
      </p:pic>
      <p:sp>
        <p:nvSpPr>
          <p:cNvPr id="10" name="TextBox"/>
          <p:cNvSpPr txBox="1"/>
          <p:nvPr/>
        </p:nvSpPr>
        <p:spPr>
          <a:xfrm>
            <a:off x="609600" y="1485900"/>
            <a:ext cx="1671638" cy="533400"/>
          </a:xfrm>
          <a:prstGeom prst="rect">
            <a:avLst/>
          </a:prstGeom>
          <a:noFill/>
        </p:spPr>
        <p:txBody>
          <a:bodyPr wrap="square" lIns="0" tIns="0" rIns="0" bIns="0" anchor="t">
            <a:spAutoFit/>
          </a:bodyPr>
          <a:lstStyle/>
          <a:p>
            <a:pPr algn="l">
              <a:lnSpc>
                <a:spcPts val="2100"/>
              </a:lnSpc>
            </a:pPr>
            <a:r>
              <a:rPr sz="1725" b="1" i="0">
                <a:solidFill>
                  <a:srgbClr val="FFFFFF"/>
                </a:solidFill>
                <a:latin typeface="Cambria"/>
              </a:rPr>
              <a:t>Middle Market</a:t>
            </a:r>
          </a:p>
        </p:txBody>
      </p:sp>
      <p:sp>
        <p:nvSpPr>
          <p:cNvPr id="11" name="Rectangle 10"/>
          <p:cNvSpPr/>
          <p:nvPr/>
        </p:nvSpPr>
        <p:spPr>
          <a:xfrm>
            <a:off x="609600" y="2171700"/>
            <a:ext cx="533400" cy="19050"/>
          </a:xfrm>
          <a:prstGeom prst="rect">
            <a:avLst/>
          </a:prstGeom>
          <a:solidFill>
            <a:srgbClr val="B68757"/>
          </a:solidFill>
          <a:ln>
            <a:noFill/>
          </a:ln>
          <a:effectLst/>
        </p:spPr>
        <p:txBody>
          <a:bodyPr rtlCol="0" anchor="ctr"/>
          <a:lstStyle/>
          <a:p>
            <a:pPr algn="ctr"/>
            <a:endParaRPr/>
          </a:p>
        </p:txBody>
      </p:sp>
      <p:sp>
        <p:nvSpPr>
          <p:cNvPr id="12" name="TextBox"/>
          <p:cNvSpPr txBox="1"/>
          <p:nvPr/>
        </p:nvSpPr>
        <p:spPr>
          <a:xfrm>
            <a:off x="609600" y="2343150"/>
            <a:ext cx="1671638" cy="1085850"/>
          </a:xfrm>
          <a:prstGeom prst="rect">
            <a:avLst/>
          </a:prstGeom>
          <a:noFill/>
        </p:spPr>
        <p:txBody>
          <a:bodyPr wrap="square" lIns="0" tIns="0" rIns="0" bIns="0" anchor="t">
            <a:spAutoFit/>
          </a:bodyPr>
          <a:lstStyle/>
          <a:p>
            <a:pPr algn="l">
              <a:lnSpc>
                <a:spcPts val="1425"/>
              </a:lnSpc>
            </a:pPr>
            <a:r>
              <a:rPr sz="900" b="0" i="0" spc="15">
                <a:solidFill>
                  <a:srgbClr val="E8E2DA"/>
                </a:solidFill>
                <a:latin typeface="Calibri"/>
              </a:rPr>
              <a:t>Benchmark International's Middle Market team represents owners of privately held companies with $50 million to $500 million of total enterprise value on strategic sales, mergers, and qualifying change-of-control transactions.</a:t>
            </a:r>
          </a:p>
        </p:txBody>
      </p:sp>
      <p:sp>
        <p:nvSpPr>
          <p:cNvPr id="13" name="Text: HEADQUARTERS"/>
          <p:cNvSpPr txBox="1"/>
          <p:nvPr/>
        </p:nvSpPr>
        <p:spPr>
          <a:xfrm>
            <a:off x="609600" y="3900488"/>
            <a:ext cx="1671638" cy="123825"/>
          </a:xfrm>
          <a:prstGeom prst="rect">
            <a:avLst/>
          </a:prstGeom>
          <a:noFill/>
        </p:spPr>
        <p:txBody>
          <a:bodyPr wrap="square" lIns="0" tIns="0" rIns="0" bIns="0" anchor="t">
            <a:spAutoFit/>
          </a:bodyPr>
          <a:lstStyle/>
          <a:p>
            <a:pPr algn="l">
              <a:lnSpc>
                <a:spcPts val="975"/>
              </a:lnSpc>
            </a:pPr>
            <a:r>
              <a:rPr sz="675" b="1" i="0" spc="150">
                <a:solidFill>
                  <a:srgbClr val="D3AE84"/>
                </a:solidFill>
                <a:latin typeface="Calibri"/>
              </a:rPr>
              <a:t>HEADQUARTERS</a:t>
            </a:r>
          </a:p>
        </p:txBody>
      </p:sp>
      <p:sp>
        <p:nvSpPr>
          <p:cNvPr id="14" name="Rectangle 13"/>
          <p:cNvSpPr/>
          <p:nvPr/>
        </p:nvSpPr>
        <p:spPr>
          <a:xfrm>
            <a:off x="609600" y="4100512"/>
            <a:ext cx="1657350" cy="9525"/>
          </a:xfrm>
          <a:prstGeom prst="rect">
            <a:avLst/>
          </a:prstGeom>
          <a:solidFill>
            <a:srgbClr val="FFFFFF">
              <a:alpha val="16000"/>
            </a:srgbClr>
          </a:solidFill>
          <a:ln>
            <a:noFill/>
          </a:ln>
          <a:effectLst/>
        </p:spPr>
        <p:txBody>
          <a:bodyPr rtlCol="0" anchor="ctr"/>
          <a:lstStyle/>
          <a:p>
            <a:pPr algn="ctr"/>
            <a:endParaRPr/>
          </a:p>
        </p:txBody>
      </p:sp>
      <p:sp>
        <p:nvSpPr>
          <p:cNvPr id="15" name="Text: AMERICAS"/>
          <p:cNvSpPr txBox="1"/>
          <p:nvPr/>
        </p:nvSpPr>
        <p:spPr>
          <a:xfrm>
            <a:off x="609600" y="4214812"/>
            <a:ext cx="1671638" cy="171450"/>
          </a:xfrm>
          <a:prstGeom prst="rect">
            <a:avLst/>
          </a:prstGeom>
          <a:noFill/>
        </p:spPr>
        <p:txBody>
          <a:bodyPr wrap="square" lIns="0" tIns="0" rIns="0" bIns="0" anchor="t">
            <a:spAutoFit/>
          </a:bodyPr>
          <a:lstStyle/>
          <a:p>
            <a:pPr algn="l">
              <a:lnSpc>
                <a:spcPts val="1350"/>
              </a:lnSpc>
            </a:pPr>
            <a:r>
              <a:rPr sz="975" b="0" i="0" spc="225">
                <a:solidFill>
                  <a:srgbClr val="D3AE84"/>
                </a:solidFill>
                <a:latin typeface="Cambria"/>
              </a:rPr>
              <a:t>AMERICAS</a:t>
            </a:r>
          </a:p>
        </p:txBody>
      </p:sp>
      <p:sp>
        <p:nvSpPr>
          <p:cNvPr id="16" name="Text: 4030 West Boy Scout Blvd."/>
          <p:cNvSpPr txBox="1"/>
          <p:nvPr/>
        </p:nvSpPr>
        <p:spPr>
          <a:xfrm>
            <a:off x="609600" y="4414838"/>
            <a:ext cx="1671638" cy="442912"/>
          </a:xfrm>
          <a:prstGeom prst="rect">
            <a:avLst/>
          </a:prstGeom>
          <a:noFill/>
        </p:spPr>
        <p:txBody>
          <a:bodyPr wrap="square" lIns="0" tIns="0" rIns="0" bIns="0" anchor="t">
            <a:spAutoFit/>
          </a:bodyPr>
          <a:lstStyle/>
          <a:p>
            <a:pPr algn="l">
              <a:lnSpc>
                <a:spcPts val="1162"/>
              </a:lnSpc>
            </a:pPr>
            <a:r>
              <a:rPr sz="788" b="0" i="0" spc="15">
                <a:solidFill>
                  <a:srgbClr val="E8E2DA"/>
                </a:solidFill>
                <a:latin typeface="Calibri"/>
              </a:rPr>
              <a:t>4030 West Boy Scout Blvd.</a:t>
            </a:r>
            <a:br/>
            <a:r>
              <a:rPr sz="788" b="0" i="0" spc="15">
                <a:solidFill>
                  <a:srgbClr val="E8E2DA"/>
                </a:solidFill>
                <a:latin typeface="Calibri"/>
              </a:rPr>
              <a:t>Suite 500, Tampa, FL 33607</a:t>
            </a:r>
            <a:br/>
            <a:r>
              <a:rPr sz="788" b="0" i="0" spc="15">
                <a:solidFill>
                  <a:srgbClr val="E8E2DA"/>
                </a:solidFill>
                <a:latin typeface="Calibri"/>
              </a:rPr>
              <a:t>+1 813 898 2350</a:t>
            </a:r>
          </a:p>
        </p:txBody>
      </p:sp>
      <p:sp>
        <p:nvSpPr>
          <p:cNvPr id="17" name="Rectangle 16"/>
          <p:cNvSpPr/>
          <p:nvPr/>
        </p:nvSpPr>
        <p:spPr>
          <a:xfrm>
            <a:off x="609600" y="4962525"/>
            <a:ext cx="1657350" cy="9525"/>
          </a:xfrm>
          <a:prstGeom prst="rect">
            <a:avLst/>
          </a:prstGeom>
          <a:solidFill>
            <a:srgbClr val="FFFFFF">
              <a:alpha val="16000"/>
            </a:srgbClr>
          </a:solidFill>
          <a:ln>
            <a:noFill/>
          </a:ln>
          <a:effectLst/>
        </p:spPr>
        <p:txBody>
          <a:bodyPr rtlCol="0" anchor="ctr"/>
          <a:lstStyle/>
          <a:p>
            <a:pPr algn="ctr"/>
            <a:endParaRPr/>
          </a:p>
        </p:txBody>
      </p:sp>
      <p:sp>
        <p:nvSpPr>
          <p:cNvPr id="18" name="Text: EUROPE"/>
          <p:cNvSpPr txBox="1"/>
          <p:nvPr/>
        </p:nvSpPr>
        <p:spPr>
          <a:xfrm>
            <a:off x="609600" y="5076825"/>
            <a:ext cx="1671638" cy="171450"/>
          </a:xfrm>
          <a:prstGeom prst="rect">
            <a:avLst/>
          </a:prstGeom>
          <a:noFill/>
        </p:spPr>
        <p:txBody>
          <a:bodyPr wrap="square" lIns="0" tIns="0" rIns="0" bIns="0" anchor="t">
            <a:spAutoFit/>
          </a:bodyPr>
          <a:lstStyle/>
          <a:p>
            <a:pPr algn="l">
              <a:lnSpc>
                <a:spcPts val="1350"/>
              </a:lnSpc>
            </a:pPr>
            <a:r>
              <a:rPr sz="975" b="0" i="0" spc="225">
                <a:solidFill>
                  <a:srgbClr val="D3AE84"/>
                </a:solidFill>
                <a:latin typeface="Cambria"/>
              </a:rPr>
              <a:t>EUROPE</a:t>
            </a:r>
          </a:p>
        </p:txBody>
      </p:sp>
      <p:sp>
        <p:nvSpPr>
          <p:cNvPr id="19" name="Text: One New Bailey, 4 Stanley St."/>
          <p:cNvSpPr txBox="1"/>
          <p:nvPr/>
        </p:nvSpPr>
        <p:spPr>
          <a:xfrm>
            <a:off x="609600" y="5276850"/>
            <a:ext cx="1671638" cy="442912"/>
          </a:xfrm>
          <a:prstGeom prst="rect">
            <a:avLst/>
          </a:prstGeom>
          <a:noFill/>
        </p:spPr>
        <p:txBody>
          <a:bodyPr wrap="square" lIns="0" tIns="0" rIns="0" bIns="0" anchor="t">
            <a:spAutoFit/>
          </a:bodyPr>
          <a:lstStyle/>
          <a:p>
            <a:pPr algn="l">
              <a:lnSpc>
                <a:spcPts val="1162"/>
              </a:lnSpc>
            </a:pPr>
            <a:r>
              <a:rPr sz="788" b="0" i="0" spc="15">
                <a:solidFill>
                  <a:srgbClr val="E8E2DA"/>
                </a:solidFill>
                <a:latin typeface="Calibri"/>
              </a:rPr>
              <a:t>One New Bailey, 4 Stanley St.</a:t>
            </a:r>
            <a:br/>
            <a:r>
              <a:rPr sz="788" b="0" i="0" spc="15">
                <a:solidFill>
                  <a:srgbClr val="E8E2DA"/>
                </a:solidFill>
                <a:latin typeface="Calibri"/>
              </a:rPr>
              <a:t>Manchester, M3 5JL</a:t>
            </a:r>
            <a:br/>
            <a:r>
              <a:rPr sz="788" b="0" i="0" spc="15">
                <a:solidFill>
                  <a:srgbClr val="E8E2DA"/>
                </a:solidFill>
                <a:latin typeface="Calibri"/>
              </a:rPr>
              <a:t>+44 (0) 161 359 4400</a:t>
            </a:r>
          </a:p>
        </p:txBody>
      </p:sp>
      <p:sp>
        <p:nvSpPr>
          <p:cNvPr id="20" name="Rectangle 19"/>
          <p:cNvSpPr/>
          <p:nvPr/>
        </p:nvSpPr>
        <p:spPr>
          <a:xfrm>
            <a:off x="609600" y="5824538"/>
            <a:ext cx="1657350" cy="9525"/>
          </a:xfrm>
          <a:prstGeom prst="rect">
            <a:avLst/>
          </a:prstGeom>
          <a:solidFill>
            <a:srgbClr val="FFFFFF">
              <a:alpha val="16000"/>
            </a:srgbClr>
          </a:solidFill>
          <a:ln>
            <a:noFill/>
          </a:ln>
          <a:effectLst/>
        </p:spPr>
        <p:txBody>
          <a:bodyPr rtlCol="0" anchor="ctr"/>
          <a:lstStyle/>
          <a:p>
            <a:pPr algn="ctr"/>
            <a:endParaRPr/>
          </a:p>
        </p:txBody>
      </p:sp>
      <p:sp>
        <p:nvSpPr>
          <p:cNvPr id="21" name="Text: AFRICA"/>
          <p:cNvSpPr txBox="1"/>
          <p:nvPr/>
        </p:nvSpPr>
        <p:spPr>
          <a:xfrm>
            <a:off x="609600" y="5938838"/>
            <a:ext cx="1671638" cy="171450"/>
          </a:xfrm>
          <a:prstGeom prst="rect">
            <a:avLst/>
          </a:prstGeom>
          <a:noFill/>
        </p:spPr>
        <p:txBody>
          <a:bodyPr wrap="square" lIns="0" tIns="0" rIns="0" bIns="0" anchor="t">
            <a:spAutoFit/>
          </a:bodyPr>
          <a:lstStyle/>
          <a:p>
            <a:pPr algn="l">
              <a:lnSpc>
                <a:spcPts val="1350"/>
              </a:lnSpc>
            </a:pPr>
            <a:r>
              <a:rPr sz="975" b="0" i="0" spc="225">
                <a:solidFill>
                  <a:srgbClr val="D3AE84"/>
                </a:solidFill>
                <a:latin typeface="Cambria"/>
              </a:rPr>
              <a:t>AFRICA</a:t>
            </a:r>
          </a:p>
        </p:txBody>
      </p:sp>
      <p:sp>
        <p:nvSpPr>
          <p:cNvPr id="22" name="Text: Airport Office Park, Freight Rd."/>
          <p:cNvSpPr txBox="1"/>
          <p:nvPr/>
        </p:nvSpPr>
        <p:spPr>
          <a:xfrm>
            <a:off x="609600" y="6138862"/>
            <a:ext cx="1671638" cy="442912"/>
          </a:xfrm>
          <a:prstGeom prst="rect">
            <a:avLst/>
          </a:prstGeom>
          <a:noFill/>
        </p:spPr>
        <p:txBody>
          <a:bodyPr wrap="square" lIns="0" tIns="0" rIns="0" bIns="0" anchor="t">
            <a:spAutoFit/>
          </a:bodyPr>
          <a:lstStyle/>
          <a:p>
            <a:pPr algn="l">
              <a:lnSpc>
                <a:spcPts val="1162"/>
              </a:lnSpc>
            </a:pPr>
            <a:r>
              <a:rPr sz="788" b="0" i="0" spc="15">
                <a:solidFill>
                  <a:srgbClr val="E8E2DA"/>
                </a:solidFill>
                <a:latin typeface="Calibri"/>
              </a:rPr>
              <a:t>Airport Office Park, Freight Rd.</a:t>
            </a:r>
            <a:br/>
            <a:r>
              <a:rPr sz="788" b="0" i="0" spc="15">
                <a:solidFill>
                  <a:srgbClr val="E8E2DA"/>
                </a:solidFill>
                <a:latin typeface="Calibri"/>
              </a:rPr>
              <a:t>Cape Town Airport, 7525</a:t>
            </a:r>
            <a:br/>
            <a:r>
              <a:rPr sz="788" b="0" i="0" spc="15">
                <a:solidFill>
                  <a:srgbClr val="E8E2DA"/>
                </a:solidFill>
                <a:latin typeface="Calibri"/>
              </a:rPr>
              <a:t>+27 (0) 21 300 2055</a:t>
            </a:r>
          </a:p>
        </p:txBody>
      </p:sp>
      <p:sp>
        <p:nvSpPr>
          <p:cNvPr id="23" name="Rectangle 22"/>
          <p:cNvSpPr/>
          <p:nvPr/>
        </p:nvSpPr>
        <p:spPr>
          <a:xfrm>
            <a:off x="2628900" y="1238250"/>
            <a:ext cx="1652588" cy="2628900"/>
          </a:xfrm>
          <a:prstGeom prst="rect">
            <a:avLst/>
          </a:prstGeom>
          <a:solidFill>
            <a:srgbClr val="FAF7F3"/>
          </a:solidFill>
          <a:ln>
            <a:noFill/>
          </a:ln>
          <a:effectLst/>
        </p:spPr>
        <p:txBody>
          <a:bodyPr rtlCol="0" anchor="ctr"/>
          <a:lstStyle/>
          <a:p>
            <a:pPr algn="ctr"/>
            <a:endParaRPr/>
          </a:p>
        </p:txBody>
      </p:sp>
      <p:sp>
        <p:nvSpPr>
          <p:cNvPr id="24" name="Rectangle 23"/>
          <p:cNvSpPr/>
          <p:nvPr/>
        </p:nvSpPr>
        <p:spPr>
          <a:xfrm>
            <a:off x="2628900" y="1238250"/>
            <a:ext cx="1652588" cy="28575"/>
          </a:xfrm>
          <a:prstGeom prst="rect">
            <a:avLst/>
          </a:prstGeom>
          <a:solidFill>
            <a:srgbClr val="B68757"/>
          </a:solidFill>
          <a:ln>
            <a:noFill/>
          </a:ln>
          <a:effectLst/>
        </p:spPr>
        <p:txBody>
          <a:bodyPr rtlCol="0" anchor="ctr"/>
          <a:lstStyle/>
          <a:p>
            <a:pPr algn="ctr"/>
            <a:endParaRPr/>
          </a:p>
        </p:txBody>
      </p:sp>
      <p:pic>
        <p:nvPicPr>
          <p:cNvPr id="25" name="Picture 24" descr="Jordan Houtz"/>
          <p:cNvPicPr>
            <a:picLocks noChangeAspect="1"/>
          </p:cNvPicPr>
          <p:nvPr/>
        </p:nvPicPr>
        <p:blipFill>
          <a:blip r:embed="rId3"/>
          <a:srcRect/>
          <a:stretch>
            <a:fillRect/>
          </a:stretch>
        </p:blipFill>
        <p:spPr>
          <a:xfrm>
            <a:off x="2883694" y="1438275"/>
            <a:ext cx="1143000" cy="1143000"/>
          </a:xfrm>
          <a:prstGeom prst="ellipse">
            <a:avLst/>
          </a:prstGeom>
        </p:spPr>
      </p:pic>
      <p:sp>
        <p:nvSpPr>
          <p:cNvPr id="26" name="Text: Jordan Houtz"/>
          <p:cNvSpPr txBox="1"/>
          <p:nvPr/>
        </p:nvSpPr>
        <p:spPr>
          <a:xfrm>
            <a:off x="2919859" y="2714625"/>
            <a:ext cx="1084808" cy="228600"/>
          </a:xfrm>
          <a:prstGeom prst="rect">
            <a:avLst/>
          </a:prstGeom>
          <a:noFill/>
        </p:spPr>
        <p:txBody>
          <a:bodyPr wrap="square" lIns="0" tIns="0" rIns="0" bIns="0" anchor="t">
            <a:spAutoFit/>
          </a:bodyPr>
          <a:lstStyle/>
          <a:p>
            <a:pPr algn="ctr">
              <a:lnSpc>
                <a:spcPts val="1800"/>
              </a:lnSpc>
            </a:pPr>
            <a:r>
              <a:rPr sz="1425" b="1" i="0">
                <a:solidFill>
                  <a:srgbClr val="1B1A1A"/>
                </a:solidFill>
                <a:latin typeface="Cambria"/>
              </a:rPr>
              <a:t>Jordan Houtz</a:t>
            </a:r>
          </a:p>
        </p:txBody>
      </p:sp>
      <p:sp>
        <p:nvSpPr>
          <p:cNvPr id="27" name="Text: MANAGING DIRECTOR"/>
          <p:cNvSpPr txBox="1"/>
          <p:nvPr/>
        </p:nvSpPr>
        <p:spPr>
          <a:xfrm>
            <a:off x="2637263" y="2971800"/>
            <a:ext cx="1650000" cy="233210"/>
          </a:xfrm>
          <a:prstGeom prst="rect">
            <a:avLst/>
          </a:prstGeom>
          <a:noFill/>
        </p:spPr>
        <p:txBody>
          <a:bodyPr wrap="none" lIns="0" tIns="0" rIns="0" bIns="0" anchor="t">
            <a:spAutoFit/>
          </a:bodyPr>
          <a:lstStyle/>
          <a:p>
            <a:pPr algn="ctr">
              <a:lnSpc>
                <a:spcPts val="975"/>
              </a:lnSpc>
            </a:pPr>
            <a:r>
              <a:rPr sz="638" b="1" i="0" spc="105">
                <a:solidFill>
                  <a:srgbClr val="8C6239"/>
                </a:solidFill>
                <a:latin typeface="Calibri"/>
              </a:rPr>
              <a:t>MANAGING DIRECTOR</a:t>
            </a:r>
            <a:br>
              <a:rPr sz="638" b="1" i="0" spc="105">
                <a:solidFill>
                  <a:srgbClr val="8C6239"/>
                </a:solidFill>
                <a:latin typeface="Calibri"/>
              </a:rPr>
            </a:br>
            <a:r>
              <a:rPr sz="638" b="1" i="0" spc="105">
                <a:solidFill>
                  <a:srgbClr val="8C6239"/>
                </a:solidFill>
                <a:latin typeface="Calibri"/>
              </a:rPr>
              <a:t>HEAD OF MIDDLE MARKET</a:t>
            </a:r>
          </a:p>
        </p:txBody>
      </p:sp>
      <p:sp>
        <p:nvSpPr>
          <p:cNvPr id="28" name="Rectangle 27"/>
          <p:cNvSpPr/>
          <p:nvPr/>
        </p:nvSpPr>
        <p:spPr>
          <a:xfrm>
            <a:off x="4414838" y="1238250"/>
            <a:ext cx="1652588" cy="2628900"/>
          </a:xfrm>
          <a:prstGeom prst="rect">
            <a:avLst/>
          </a:prstGeom>
          <a:solidFill>
            <a:srgbClr val="FAF7F3"/>
          </a:solidFill>
          <a:ln>
            <a:noFill/>
          </a:ln>
          <a:effectLst/>
        </p:spPr>
        <p:txBody>
          <a:bodyPr rtlCol="0" anchor="ctr"/>
          <a:lstStyle/>
          <a:p>
            <a:pPr algn="ctr"/>
            <a:endParaRPr/>
          </a:p>
        </p:txBody>
      </p:sp>
      <p:sp>
        <p:nvSpPr>
          <p:cNvPr id="29" name="Rectangle 28"/>
          <p:cNvSpPr/>
          <p:nvPr/>
        </p:nvSpPr>
        <p:spPr>
          <a:xfrm>
            <a:off x="4414838" y="1238250"/>
            <a:ext cx="1652588" cy="28575"/>
          </a:xfrm>
          <a:prstGeom prst="rect">
            <a:avLst/>
          </a:prstGeom>
          <a:solidFill>
            <a:srgbClr val="B68757"/>
          </a:solidFill>
          <a:ln>
            <a:noFill/>
          </a:ln>
          <a:effectLst/>
        </p:spPr>
        <p:txBody>
          <a:bodyPr rtlCol="0" anchor="ctr"/>
          <a:lstStyle/>
          <a:p>
            <a:pPr algn="ctr"/>
            <a:endParaRPr/>
          </a:p>
        </p:txBody>
      </p:sp>
      <p:pic>
        <p:nvPicPr>
          <p:cNvPr id="30" name="Picture 29" descr="Jared Hardin"/>
          <p:cNvPicPr>
            <a:picLocks noChangeAspect="1"/>
          </p:cNvPicPr>
          <p:nvPr/>
        </p:nvPicPr>
        <p:blipFill>
          <a:blip r:embed="rId4"/>
          <a:srcRect/>
          <a:stretch>
            <a:fillRect/>
          </a:stretch>
        </p:blipFill>
        <p:spPr>
          <a:xfrm>
            <a:off x="4669631" y="1438275"/>
            <a:ext cx="1143000" cy="1143000"/>
          </a:xfrm>
          <a:prstGeom prst="ellipse">
            <a:avLst/>
          </a:prstGeom>
        </p:spPr>
      </p:pic>
      <p:sp>
        <p:nvSpPr>
          <p:cNvPr id="31" name="Text: Jared Hardin"/>
          <p:cNvSpPr txBox="1"/>
          <p:nvPr/>
        </p:nvSpPr>
        <p:spPr>
          <a:xfrm>
            <a:off x="4718745" y="2714625"/>
            <a:ext cx="1058912" cy="228600"/>
          </a:xfrm>
          <a:prstGeom prst="rect">
            <a:avLst/>
          </a:prstGeom>
          <a:noFill/>
        </p:spPr>
        <p:txBody>
          <a:bodyPr wrap="square" lIns="0" tIns="0" rIns="0" bIns="0" anchor="t">
            <a:spAutoFit/>
          </a:bodyPr>
          <a:lstStyle/>
          <a:p>
            <a:pPr algn="ctr">
              <a:lnSpc>
                <a:spcPts val="1800"/>
              </a:lnSpc>
            </a:pPr>
            <a:r>
              <a:rPr sz="1425" b="1" i="0">
                <a:solidFill>
                  <a:srgbClr val="1B1A1A"/>
                </a:solidFill>
                <a:latin typeface="Cambria"/>
              </a:rPr>
              <a:t>Jared Hardin</a:t>
            </a:r>
          </a:p>
        </p:txBody>
      </p:sp>
      <p:sp>
        <p:nvSpPr>
          <p:cNvPr id="32" name="Text: MANAGING DIRECTOR"/>
          <p:cNvSpPr txBox="1"/>
          <p:nvPr/>
        </p:nvSpPr>
        <p:spPr>
          <a:xfrm>
            <a:off x="4749850" y="2971800"/>
            <a:ext cx="996702" cy="123825"/>
          </a:xfrm>
          <a:prstGeom prst="rect">
            <a:avLst/>
          </a:prstGeom>
          <a:noFill/>
        </p:spPr>
        <p:txBody>
          <a:bodyPr wrap="square" lIns="0" tIns="0" rIns="0" bIns="0" anchor="t">
            <a:spAutoFit/>
          </a:bodyPr>
          <a:lstStyle/>
          <a:p>
            <a:pPr algn="ctr">
              <a:lnSpc>
                <a:spcPts val="975"/>
              </a:lnSpc>
            </a:pPr>
            <a:r>
              <a:rPr sz="638" b="1" i="0" spc="105">
                <a:solidFill>
                  <a:srgbClr val="8C6239"/>
                </a:solidFill>
                <a:latin typeface="Calibri"/>
              </a:rPr>
              <a:t>MANAGING DIRECTOR</a:t>
            </a:r>
          </a:p>
        </p:txBody>
      </p:sp>
      <p:sp>
        <p:nvSpPr>
          <p:cNvPr id="33" name="Text: 813-771-6675"/>
          <p:cNvSpPr txBox="1"/>
          <p:nvPr/>
        </p:nvSpPr>
        <p:spPr>
          <a:xfrm>
            <a:off x="4621857" y="3162300"/>
            <a:ext cx="1252686" cy="304800"/>
          </a:xfrm>
          <a:prstGeom prst="rect">
            <a:avLst/>
          </a:prstGeom>
          <a:noFill/>
        </p:spPr>
        <p:txBody>
          <a:bodyPr wrap="square" lIns="0" tIns="0" rIns="0" bIns="0" anchor="t">
            <a:spAutoFit/>
          </a:bodyPr>
          <a:lstStyle/>
          <a:p>
            <a:pPr algn="ctr">
              <a:lnSpc>
                <a:spcPts val="1200"/>
              </a:lnSpc>
            </a:pPr>
            <a:r>
              <a:rPr sz="788" b="0" i="0" spc="15">
                <a:solidFill>
                  <a:srgbClr val="8C6239"/>
                </a:solidFill>
                <a:latin typeface="Calibri"/>
                <a:hlinkClick r:id="rId5">
                  <a:extLst>
                    <a:ext uri="{A12FA001-AC4F-418D-AE19-62706E023703}">
                      <ahyp:hlinkClr xmlns:ahyp="http://schemas.microsoft.com/office/drawing/2018/hyperlinkcolor" val="tx"/>
                    </a:ext>
                  </a:extLst>
                </a:hlinkClick>
              </a:rPr>
              <a:t>813-771-6675</a:t>
            </a:r>
            <a:br/>
            <a:r>
              <a:rPr sz="788" b="0" i="0" spc="15">
                <a:solidFill>
                  <a:srgbClr val="8C6239"/>
                </a:solidFill>
                <a:latin typeface="Calibri"/>
                <a:hlinkClick r:id="rId6">
                  <a:extLst>
                    <a:ext uri="{A12FA001-AC4F-418D-AE19-62706E023703}">
                      <ahyp:hlinkClr xmlns:ahyp="http://schemas.microsoft.com/office/drawing/2018/hyperlinkcolor" val="tx"/>
                    </a:ext>
                  </a:extLst>
                </a:hlinkClick>
              </a:rPr>
              <a:t>j.hardin@benchmarkintl.com</a:t>
            </a:r>
          </a:p>
        </p:txBody>
      </p:sp>
      <p:sp>
        <p:nvSpPr>
          <p:cNvPr id="34" name="Rectangle 33"/>
          <p:cNvSpPr/>
          <p:nvPr/>
        </p:nvSpPr>
        <p:spPr>
          <a:xfrm>
            <a:off x="6200775" y="1238250"/>
            <a:ext cx="1652588" cy="2628900"/>
          </a:xfrm>
          <a:prstGeom prst="rect">
            <a:avLst/>
          </a:prstGeom>
          <a:solidFill>
            <a:srgbClr val="FAF7F3"/>
          </a:solidFill>
          <a:ln>
            <a:noFill/>
          </a:ln>
          <a:effectLst/>
        </p:spPr>
        <p:txBody>
          <a:bodyPr rtlCol="0" anchor="ctr"/>
          <a:lstStyle/>
          <a:p>
            <a:pPr algn="ctr"/>
            <a:endParaRPr/>
          </a:p>
        </p:txBody>
      </p:sp>
      <p:sp>
        <p:nvSpPr>
          <p:cNvPr id="35" name="Rectangle 34"/>
          <p:cNvSpPr/>
          <p:nvPr/>
        </p:nvSpPr>
        <p:spPr>
          <a:xfrm>
            <a:off x="6200775" y="1238250"/>
            <a:ext cx="1652588" cy="28575"/>
          </a:xfrm>
          <a:prstGeom prst="rect">
            <a:avLst/>
          </a:prstGeom>
          <a:solidFill>
            <a:srgbClr val="B68757"/>
          </a:solidFill>
          <a:ln>
            <a:noFill/>
          </a:ln>
          <a:effectLst/>
        </p:spPr>
        <p:txBody>
          <a:bodyPr rtlCol="0" anchor="ctr"/>
          <a:lstStyle/>
          <a:p>
            <a:pPr algn="ctr"/>
            <a:endParaRPr/>
          </a:p>
        </p:txBody>
      </p:sp>
      <p:pic>
        <p:nvPicPr>
          <p:cNvPr id="36" name="Picture 35" descr="Alex Zykov"/>
          <p:cNvPicPr>
            <a:picLocks noChangeAspect="1"/>
          </p:cNvPicPr>
          <p:nvPr/>
        </p:nvPicPr>
        <p:blipFill>
          <a:blip r:embed="rId7"/>
          <a:srcRect/>
          <a:stretch>
            <a:fillRect/>
          </a:stretch>
        </p:blipFill>
        <p:spPr>
          <a:xfrm>
            <a:off x="6455569" y="1438275"/>
            <a:ext cx="1143000" cy="1143000"/>
          </a:xfrm>
          <a:prstGeom prst="ellipse">
            <a:avLst/>
          </a:prstGeom>
        </p:spPr>
      </p:pic>
      <p:sp>
        <p:nvSpPr>
          <p:cNvPr id="37" name="Text: Alex Zykov"/>
          <p:cNvSpPr txBox="1"/>
          <p:nvPr/>
        </p:nvSpPr>
        <p:spPr>
          <a:xfrm>
            <a:off x="6588621" y="2714625"/>
            <a:ext cx="891183" cy="228600"/>
          </a:xfrm>
          <a:prstGeom prst="rect">
            <a:avLst/>
          </a:prstGeom>
          <a:noFill/>
        </p:spPr>
        <p:txBody>
          <a:bodyPr wrap="square" lIns="0" tIns="0" rIns="0" bIns="0" anchor="t">
            <a:spAutoFit/>
          </a:bodyPr>
          <a:lstStyle/>
          <a:p>
            <a:pPr algn="ctr">
              <a:lnSpc>
                <a:spcPts val="1800"/>
              </a:lnSpc>
            </a:pPr>
            <a:r>
              <a:rPr sz="1425" b="1" i="0">
                <a:solidFill>
                  <a:srgbClr val="1B1A1A"/>
                </a:solidFill>
                <a:latin typeface="Cambria"/>
              </a:rPr>
              <a:t>Alex Zykov</a:t>
            </a:r>
          </a:p>
        </p:txBody>
      </p:sp>
      <p:sp>
        <p:nvSpPr>
          <p:cNvPr id="38" name="Text: TRANSACTION DIRECTOR"/>
          <p:cNvSpPr txBox="1"/>
          <p:nvPr/>
        </p:nvSpPr>
        <p:spPr>
          <a:xfrm>
            <a:off x="6472238" y="2971800"/>
            <a:ext cx="1123801" cy="123825"/>
          </a:xfrm>
          <a:prstGeom prst="rect">
            <a:avLst/>
          </a:prstGeom>
          <a:noFill/>
        </p:spPr>
        <p:txBody>
          <a:bodyPr wrap="square" lIns="0" tIns="0" rIns="0" bIns="0" anchor="t">
            <a:spAutoFit/>
          </a:bodyPr>
          <a:lstStyle/>
          <a:p>
            <a:pPr algn="ctr">
              <a:lnSpc>
                <a:spcPts val="975"/>
              </a:lnSpc>
            </a:pPr>
            <a:r>
              <a:rPr sz="638" b="1" i="0" spc="105">
                <a:solidFill>
                  <a:srgbClr val="8C6239"/>
                </a:solidFill>
                <a:latin typeface="Calibri"/>
              </a:rPr>
              <a:t>TRANSACTION DIRECTOR</a:t>
            </a:r>
          </a:p>
        </p:txBody>
      </p:sp>
      <p:sp>
        <p:nvSpPr>
          <p:cNvPr id="39" name="Rectangle 38"/>
          <p:cNvSpPr/>
          <p:nvPr/>
        </p:nvSpPr>
        <p:spPr>
          <a:xfrm>
            <a:off x="7986712" y="1238250"/>
            <a:ext cx="1652588" cy="2628900"/>
          </a:xfrm>
          <a:prstGeom prst="rect">
            <a:avLst/>
          </a:prstGeom>
          <a:solidFill>
            <a:srgbClr val="FAF7F3"/>
          </a:solidFill>
          <a:ln>
            <a:noFill/>
          </a:ln>
          <a:effectLst/>
        </p:spPr>
        <p:txBody>
          <a:bodyPr rtlCol="0" anchor="ctr"/>
          <a:lstStyle/>
          <a:p>
            <a:pPr algn="ctr"/>
            <a:endParaRPr/>
          </a:p>
        </p:txBody>
      </p:sp>
      <p:sp>
        <p:nvSpPr>
          <p:cNvPr id="40" name="Rectangle 39"/>
          <p:cNvSpPr/>
          <p:nvPr/>
        </p:nvSpPr>
        <p:spPr>
          <a:xfrm>
            <a:off x="7986712" y="1238250"/>
            <a:ext cx="1652588" cy="28575"/>
          </a:xfrm>
          <a:prstGeom prst="rect">
            <a:avLst/>
          </a:prstGeom>
          <a:solidFill>
            <a:srgbClr val="B68757"/>
          </a:solidFill>
          <a:ln>
            <a:noFill/>
          </a:ln>
          <a:effectLst/>
        </p:spPr>
        <p:txBody>
          <a:bodyPr rtlCol="0" anchor="ctr"/>
          <a:lstStyle/>
          <a:p>
            <a:pPr algn="ctr"/>
            <a:endParaRPr/>
          </a:p>
        </p:txBody>
      </p:sp>
      <p:pic>
        <p:nvPicPr>
          <p:cNvPr id="41" name="Picture 40" descr="Shannon Hess"/>
          <p:cNvPicPr>
            <a:picLocks noChangeAspect="1"/>
          </p:cNvPicPr>
          <p:nvPr/>
        </p:nvPicPr>
        <p:blipFill>
          <a:blip r:embed="rId8"/>
          <a:srcRect/>
          <a:stretch>
            <a:fillRect/>
          </a:stretch>
        </p:blipFill>
        <p:spPr>
          <a:xfrm>
            <a:off x="8241506" y="1438275"/>
            <a:ext cx="1143000" cy="1143000"/>
          </a:xfrm>
          <a:prstGeom prst="ellipse">
            <a:avLst/>
          </a:prstGeom>
        </p:spPr>
      </p:pic>
      <p:sp>
        <p:nvSpPr>
          <p:cNvPr id="42" name="Text: Shannon Hess"/>
          <p:cNvSpPr txBox="1"/>
          <p:nvPr/>
        </p:nvSpPr>
        <p:spPr>
          <a:xfrm>
            <a:off x="8244632" y="2714625"/>
            <a:ext cx="1150888" cy="228600"/>
          </a:xfrm>
          <a:prstGeom prst="rect">
            <a:avLst/>
          </a:prstGeom>
          <a:noFill/>
        </p:spPr>
        <p:txBody>
          <a:bodyPr wrap="square" lIns="0" tIns="0" rIns="0" bIns="0" anchor="t">
            <a:spAutoFit/>
          </a:bodyPr>
          <a:lstStyle/>
          <a:p>
            <a:pPr algn="ctr">
              <a:lnSpc>
                <a:spcPts val="1800"/>
              </a:lnSpc>
            </a:pPr>
            <a:r>
              <a:rPr sz="1425" b="1" i="0">
                <a:solidFill>
                  <a:srgbClr val="1B1A1A"/>
                </a:solidFill>
                <a:latin typeface="Cambria"/>
              </a:rPr>
              <a:t>Shannon Hess</a:t>
            </a:r>
          </a:p>
        </p:txBody>
      </p:sp>
      <p:sp>
        <p:nvSpPr>
          <p:cNvPr id="43" name="Text: CLIENT ENGAGEMENT DIRECTOR"/>
          <p:cNvSpPr txBox="1"/>
          <p:nvPr/>
        </p:nvSpPr>
        <p:spPr>
          <a:xfrm>
            <a:off x="8092827" y="2971800"/>
            <a:ext cx="1454497" cy="123825"/>
          </a:xfrm>
          <a:prstGeom prst="rect">
            <a:avLst/>
          </a:prstGeom>
          <a:noFill/>
        </p:spPr>
        <p:txBody>
          <a:bodyPr wrap="square" lIns="0" tIns="0" rIns="0" bIns="0" anchor="t">
            <a:spAutoFit/>
          </a:bodyPr>
          <a:lstStyle/>
          <a:p>
            <a:pPr algn="ctr">
              <a:lnSpc>
                <a:spcPts val="975"/>
              </a:lnSpc>
            </a:pPr>
            <a:r>
              <a:rPr sz="638" b="1" i="0" spc="105">
                <a:solidFill>
                  <a:srgbClr val="8C6239"/>
                </a:solidFill>
                <a:latin typeface="Calibri"/>
              </a:rPr>
              <a:t>CLIENT ENGAGEMENT DIRECTOR</a:t>
            </a:r>
          </a:p>
        </p:txBody>
      </p:sp>
      <p:sp>
        <p:nvSpPr>
          <p:cNvPr id="44" name="Rectangle 43"/>
          <p:cNvSpPr/>
          <p:nvPr/>
        </p:nvSpPr>
        <p:spPr>
          <a:xfrm>
            <a:off x="2628900" y="4019550"/>
            <a:ext cx="2247900" cy="742950"/>
          </a:xfrm>
          <a:prstGeom prst="rect">
            <a:avLst/>
          </a:prstGeom>
          <a:solidFill>
            <a:srgbClr val="FFFFFF"/>
          </a:solidFill>
          <a:ln>
            <a:noFill/>
          </a:ln>
          <a:effectLst/>
        </p:spPr>
        <p:txBody>
          <a:bodyPr rtlCol="0" anchor="ctr"/>
          <a:lstStyle/>
          <a:p>
            <a:pPr algn="ctr"/>
            <a:endParaRPr/>
          </a:p>
        </p:txBody>
      </p:sp>
      <p:sp>
        <p:nvSpPr>
          <p:cNvPr id="45" name="Rectangle 44"/>
          <p:cNvSpPr/>
          <p:nvPr/>
        </p:nvSpPr>
        <p:spPr>
          <a:xfrm>
            <a:off x="2628900" y="4019550"/>
            <a:ext cx="2247900" cy="9525"/>
          </a:xfrm>
          <a:prstGeom prst="rect">
            <a:avLst/>
          </a:prstGeom>
          <a:solidFill>
            <a:srgbClr val="E3DCD3"/>
          </a:solidFill>
          <a:ln>
            <a:noFill/>
          </a:ln>
          <a:effectLst/>
        </p:spPr>
        <p:txBody>
          <a:bodyPr rtlCol="0" anchor="ctr"/>
          <a:lstStyle/>
          <a:p>
            <a:pPr algn="ctr"/>
            <a:endParaRPr/>
          </a:p>
        </p:txBody>
      </p:sp>
      <p:sp>
        <p:nvSpPr>
          <p:cNvPr id="46" name="Rectangle 45"/>
          <p:cNvSpPr/>
          <p:nvPr/>
        </p:nvSpPr>
        <p:spPr>
          <a:xfrm>
            <a:off x="4867275" y="4019550"/>
            <a:ext cx="9525" cy="742950"/>
          </a:xfrm>
          <a:prstGeom prst="rect">
            <a:avLst/>
          </a:prstGeom>
          <a:solidFill>
            <a:srgbClr val="E3DCD3"/>
          </a:solidFill>
          <a:ln>
            <a:noFill/>
          </a:ln>
          <a:effectLst/>
        </p:spPr>
        <p:txBody>
          <a:bodyPr rtlCol="0" anchor="ctr"/>
          <a:lstStyle/>
          <a:p>
            <a:pPr algn="ctr"/>
            <a:endParaRPr/>
          </a:p>
        </p:txBody>
      </p:sp>
      <p:sp>
        <p:nvSpPr>
          <p:cNvPr id="47" name="Rectangle 46"/>
          <p:cNvSpPr/>
          <p:nvPr/>
        </p:nvSpPr>
        <p:spPr>
          <a:xfrm>
            <a:off x="2628900" y="4752975"/>
            <a:ext cx="2247900" cy="9525"/>
          </a:xfrm>
          <a:prstGeom prst="rect">
            <a:avLst/>
          </a:prstGeom>
          <a:solidFill>
            <a:srgbClr val="E3DCD3"/>
          </a:solidFill>
          <a:ln>
            <a:noFill/>
          </a:ln>
          <a:effectLst/>
        </p:spPr>
        <p:txBody>
          <a:bodyPr rtlCol="0" anchor="ctr"/>
          <a:lstStyle/>
          <a:p>
            <a:pPr algn="ctr"/>
            <a:endParaRPr/>
          </a:p>
        </p:txBody>
      </p:sp>
      <p:sp>
        <p:nvSpPr>
          <p:cNvPr id="48" name="Rectangle 47"/>
          <p:cNvSpPr/>
          <p:nvPr/>
        </p:nvSpPr>
        <p:spPr>
          <a:xfrm>
            <a:off x="2628900" y="4019550"/>
            <a:ext cx="9525" cy="742950"/>
          </a:xfrm>
          <a:prstGeom prst="rect">
            <a:avLst/>
          </a:prstGeom>
          <a:solidFill>
            <a:srgbClr val="E3DCD3"/>
          </a:solidFill>
          <a:ln>
            <a:noFill/>
          </a:ln>
          <a:effectLst/>
        </p:spPr>
        <p:txBody>
          <a:bodyPr rtlCol="0" anchor="ctr"/>
          <a:lstStyle/>
          <a:p>
            <a:pPr algn="ctr"/>
            <a:endParaRPr/>
          </a:p>
        </p:txBody>
      </p:sp>
      <p:pic>
        <p:nvPicPr>
          <p:cNvPr id="49" name="Picture 48" descr="Sunny Garten"/>
          <p:cNvPicPr>
            <a:picLocks noChangeAspect="1"/>
          </p:cNvPicPr>
          <p:nvPr/>
        </p:nvPicPr>
        <p:blipFill>
          <a:blip r:embed="rId9"/>
          <a:srcRect/>
          <a:stretch>
            <a:fillRect/>
          </a:stretch>
        </p:blipFill>
        <p:spPr>
          <a:xfrm>
            <a:off x="2752725" y="4133850"/>
            <a:ext cx="514350" cy="514350"/>
          </a:xfrm>
          <a:prstGeom prst="ellipse">
            <a:avLst/>
          </a:prstGeom>
        </p:spPr>
      </p:pic>
      <p:sp>
        <p:nvSpPr>
          <p:cNvPr id="50" name="Text: Sunny Garten"/>
          <p:cNvSpPr txBox="1"/>
          <p:nvPr/>
        </p:nvSpPr>
        <p:spPr>
          <a:xfrm>
            <a:off x="3381375" y="4248150"/>
            <a:ext cx="1419225" cy="152400"/>
          </a:xfrm>
          <a:prstGeom prst="rect">
            <a:avLst/>
          </a:prstGeom>
          <a:noFill/>
        </p:spPr>
        <p:txBody>
          <a:bodyPr wrap="square" lIns="0" tIns="0" rIns="0" bIns="0" anchor="t">
            <a:spAutoFit/>
          </a:bodyPr>
          <a:lstStyle/>
          <a:p>
            <a:pPr algn="l">
              <a:lnSpc>
                <a:spcPts val="1200"/>
              </a:lnSpc>
            </a:pPr>
            <a:r>
              <a:rPr sz="900" b="1" i="0" spc="15">
                <a:solidFill>
                  <a:srgbClr val="1B1A1A"/>
                </a:solidFill>
                <a:latin typeface="Calibri"/>
              </a:rPr>
              <a:t>Sunny Garten</a:t>
            </a:r>
          </a:p>
        </p:txBody>
      </p:sp>
      <p:sp>
        <p:nvSpPr>
          <p:cNvPr id="51" name="Text: Senior Deal Associate"/>
          <p:cNvSpPr txBox="1"/>
          <p:nvPr/>
        </p:nvSpPr>
        <p:spPr>
          <a:xfrm>
            <a:off x="3381375" y="4400550"/>
            <a:ext cx="1419225" cy="133350"/>
          </a:xfrm>
          <a:prstGeom prst="rect">
            <a:avLst/>
          </a:prstGeom>
          <a:noFill/>
        </p:spPr>
        <p:txBody>
          <a:bodyPr wrap="square" lIns="0" tIns="0" rIns="0" bIns="0" anchor="t">
            <a:spAutoFit/>
          </a:bodyPr>
          <a:lstStyle/>
          <a:p>
            <a:pPr algn="l">
              <a:lnSpc>
                <a:spcPts val="1050"/>
              </a:lnSpc>
            </a:pPr>
            <a:r>
              <a:rPr sz="750" b="0" i="0" spc="15">
                <a:solidFill>
                  <a:srgbClr val="6F6A66"/>
                </a:solidFill>
                <a:latin typeface="Calibri"/>
              </a:rPr>
              <a:t>Senior Deal Associate</a:t>
            </a:r>
          </a:p>
        </p:txBody>
      </p:sp>
      <p:sp>
        <p:nvSpPr>
          <p:cNvPr id="52" name="Rectangle 51"/>
          <p:cNvSpPr/>
          <p:nvPr/>
        </p:nvSpPr>
        <p:spPr>
          <a:xfrm>
            <a:off x="5010150" y="4019550"/>
            <a:ext cx="2247900" cy="742950"/>
          </a:xfrm>
          <a:prstGeom prst="rect">
            <a:avLst/>
          </a:prstGeom>
          <a:solidFill>
            <a:srgbClr val="FFFFFF"/>
          </a:solidFill>
          <a:ln>
            <a:noFill/>
          </a:ln>
          <a:effectLst/>
        </p:spPr>
        <p:txBody>
          <a:bodyPr rtlCol="0" anchor="ctr"/>
          <a:lstStyle/>
          <a:p>
            <a:pPr algn="ctr"/>
            <a:endParaRPr/>
          </a:p>
        </p:txBody>
      </p:sp>
      <p:sp>
        <p:nvSpPr>
          <p:cNvPr id="53" name="Rectangle 52"/>
          <p:cNvSpPr/>
          <p:nvPr/>
        </p:nvSpPr>
        <p:spPr>
          <a:xfrm>
            <a:off x="5010150" y="4019550"/>
            <a:ext cx="2247900" cy="9525"/>
          </a:xfrm>
          <a:prstGeom prst="rect">
            <a:avLst/>
          </a:prstGeom>
          <a:solidFill>
            <a:srgbClr val="E3DCD3"/>
          </a:solidFill>
          <a:ln>
            <a:noFill/>
          </a:ln>
          <a:effectLst/>
        </p:spPr>
        <p:txBody>
          <a:bodyPr rtlCol="0" anchor="ctr"/>
          <a:lstStyle/>
          <a:p>
            <a:pPr algn="ctr"/>
            <a:endParaRPr/>
          </a:p>
        </p:txBody>
      </p:sp>
      <p:sp>
        <p:nvSpPr>
          <p:cNvPr id="54" name="Rectangle 53"/>
          <p:cNvSpPr/>
          <p:nvPr/>
        </p:nvSpPr>
        <p:spPr>
          <a:xfrm>
            <a:off x="7248525" y="4019550"/>
            <a:ext cx="9525" cy="742950"/>
          </a:xfrm>
          <a:prstGeom prst="rect">
            <a:avLst/>
          </a:prstGeom>
          <a:solidFill>
            <a:srgbClr val="E3DCD3"/>
          </a:solidFill>
          <a:ln>
            <a:noFill/>
          </a:ln>
          <a:effectLst/>
        </p:spPr>
        <p:txBody>
          <a:bodyPr rtlCol="0" anchor="ctr"/>
          <a:lstStyle/>
          <a:p>
            <a:pPr algn="ctr"/>
            <a:endParaRPr/>
          </a:p>
        </p:txBody>
      </p:sp>
      <p:sp>
        <p:nvSpPr>
          <p:cNvPr id="55" name="Rectangle 54"/>
          <p:cNvSpPr/>
          <p:nvPr/>
        </p:nvSpPr>
        <p:spPr>
          <a:xfrm>
            <a:off x="5010150" y="4752975"/>
            <a:ext cx="2247900" cy="9525"/>
          </a:xfrm>
          <a:prstGeom prst="rect">
            <a:avLst/>
          </a:prstGeom>
          <a:solidFill>
            <a:srgbClr val="E3DCD3"/>
          </a:solidFill>
          <a:ln>
            <a:noFill/>
          </a:ln>
          <a:effectLst/>
        </p:spPr>
        <p:txBody>
          <a:bodyPr rtlCol="0" anchor="ctr"/>
          <a:lstStyle/>
          <a:p>
            <a:pPr algn="ctr"/>
            <a:endParaRPr/>
          </a:p>
        </p:txBody>
      </p:sp>
      <p:sp>
        <p:nvSpPr>
          <p:cNvPr id="56" name="Rectangle 55"/>
          <p:cNvSpPr/>
          <p:nvPr/>
        </p:nvSpPr>
        <p:spPr>
          <a:xfrm>
            <a:off x="5010150" y="4019550"/>
            <a:ext cx="9525" cy="742950"/>
          </a:xfrm>
          <a:prstGeom prst="rect">
            <a:avLst/>
          </a:prstGeom>
          <a:solidFill>
            <a:srgbClr val="E3DCD3"/>
          </a:solidFill>
          <a:ln>
            <a:noFill/>
          </a:ln>
          <a:effectLst/>
        </p:spPr>
        <p:txBody>
          <a:bodyPr rtlCol="0" anchor="ctr"/>
          <a:lstStyle/>
          <a:p>
            <a:pPr algn="ctr"/>
            <a:endParaRPr/>
          </a:p>
        </p:txBody>
      </p:sp>
      <p:pic>
        <p:nvPicPr>
          <p:cNvPr id="57" name="Picture 56" descr="Michael Wynn"/>
          <p:cNvPicPr>
            <a:picLocks noChangeAspect="1"/>
          </p:cNvPicPr>
          <p:nvPr/>
        </p:nvPicPr>
        <p:blipFill>
          <a:blip r:embed="rId10"/>
          <a:srcRect/>
          <a:stretch>
            <a:fillRect/>
          </a:stretch>
        </p:blipFill>
        <p:spPr>
          <a:xfrm>
            <a:off x="5133975" y="4133850"/>
            <a:ext cx="514350" cy="514350"/>
          </a:xfrm>
          <a:prstGeom prst="ellipse">
            <a:avLst/>
          </a:prstGeom>
        </p:spPr>
      </p:pic>
      <p:sp>
        <p:nvSpPr>
          <p:cNvPr id="58" name="Text: Michael Wynn"/>
          <p:cNvSpPr txBox="1"/>
          <p:nvPr/>
        </p:nvSpPr>
        <p:spPr>
          <a:xfrm>
            <a:off x="5762625" y="4248150"/>
            <a:ext cx="1419225" cy="152400"/>
          </a:xfrm>
          <a:prstGeom prst="rect">
            <a:avLst/>
          </a:prstGeom>
          <a:noFill/>
        </p:spPr>
        <p:txBody>
          <a:bodyPr wrap="square" lIns="0" tIns="0" rIns="0" bIns="0" anchor="t">
            <a:spAutoFit/>
          </a:bodyPr>
          <a:lstStyle/>
          <a:p>
            <a:pPr algn="l">
              <a:lnSpc>
                <a:spcPts val="1200"/>
              </a:lnSpc>
            </a:pPr>
            <a:r>
              <a:rPr sz="900" b="1" i="0" spc="15">
                <a:solidFill>
                  <a:srgbClr val="1B1A1A"/>
                </a:solidFill>
                <a:latin typeface="Calibri"/>
              </a:rPr>
              <a:t>Michael Wynn</a:t>
            </a:r>
          </a:p>
        </p:txBody>
      </p:sp>
      <p:sp>
        <p:nvSpPr>
          <p:cNvPr id="59" name="Text: Senior Deal Associate"/>
          <p:cNvSpPr txBox="1"/>
          <p:nvPr/>
        </p:nvSpPr>
        <p:spPr>
          <a:xfrm>
            <a:off x="5762625" y="4400550"/>
            <a:ext cx="1419225" cy="133350"/>
          </a:xfrm>
          <a:prstGeom prst="rect">
            <a:avLst/>
          </a:prstGeom>
          <a:noFill/>
        </p:spPr>
        <p:txBody>
          <a:bodyPr wrap="square" lIns="0" tIns="0" rIns="0" bIns="0" anchor="t">
            <a:spAutoFit/>
          </a:bodyPr>
          <a:lstStyle/>
          <a:p>
            <a:pPr algn="l">
              <a:lnSpc>
                <a:spcPts val="1050"/>
              </a:lnSpc>
            </a:pPr>
            <a:r>
              <a:rPr sz="750" b="0" i="0" spc="15">
                <a:solidFill>
                  <a:srgbClr val="6F6A66"/>
                </a:solidFill>
                <a:latin typeface="Calibri"/>
              </a:rPr>
              <a:t>Senior Deal Associate</a:t>
            </a:r>
          </a:p>
        </p:txBody>
      </p:sp>
      <p:sp>
        <p:nvSpPr>
          <p:cNvPr id="60" name="Rectangle 59"/>
          <p:cNvSpPr/>
          <p:nvPr/>
        </p:nvSpPr>
        <p:spPr>
          <a:xfrm>
            <a:off x="7391400" y="4019550"/>
            <a:ext cx="2247900" cy="742950"/>
          </a:xfrm>
          <a:prstGeom prst="rect">
            <a:avLst/>
          </a:prstGeom>
          <a:solidFill>
            <a:srgbClr val="FFFFFF"/>
          </a:solidFill>
          <a:ln>
            <a:noFill/>
          </a:ln>
          <a:effectLst/>
        </p:spPr>
        <p:txBody>
          <a:bodyPr rtlCol="0" anchor="ctr"/>
          <a:lstStyle/>
          <a:p>
            <a:pPr algn="ctr"/>
            <a:endParaRPr/>
          </a:p>
        </p:txBody>
      </p:sp>
      <p:sp>
        <p:nvSpPr>
          <p:cNvPr id="61" name="Rectangle 60"/>
          <p:cNvSpPr/>
          <p:nvPr/>
        </p:nvSpPr>
        <p:spPr>
          <a:xfrm>
            <a:off x="7391400" y="4019550"/>
            <a:ext cx="2247900" cy="9525"/>
          </a:xfrm>
          <a:prstGeom prst="rect">
            <a:avLst/>
          </a:prstGeom>
          <a:solidFill>
            <a:srgbClr val="E3DCD3"/>
          </a:solidFill>
          <a:ln>
            <a:noFill/>
          </a:ln>
          <a:effectLst/>
        </p:spPr>
        <p:txBody>
          <a:bodyPr rtlCol="0" anchor="ctr"/>
          <a:lstStyle/>
          <a:p>
            <a:pPr algn="ctr"/>
            <a:endParaRPr/>
          </a:p>
        </p:txBody>
      </p:sp>
      <p:sp>
        <p:nvSpPr>
          <p:cNvPr id="62" name="Rectangle 61"/>
          <p:cNvSpPr/>
          <p:nvPr/>
        </p:nvSpPr>
        <p:spPr>
          <a:xfrm>
            <a:off x="9629775" y="4019550"/>
            <a:ext cx="9525" cy="742950"/>
          </a:xfrm>
          <a:prstGeom prst="rect">
            <a:avLst/>
          </a:prstGeom>
          <a:solidFill>
            <a:srgbClr val="E3DCD3"/>
          </a:solidFill>
          <a:ln>
            <a:noFill/>
          </a:ln>
          <a:effectLst/>
        </p:spPr>
        <p:txBody>
          <a:bodyPr rtlCol="0" anchor="ctr"/>
          <a:lstStyle/>
          <a:p>
            <a:pPr algn="ctr"/>
            <a:endParaRPr/>
          </a:p>
        </p:txBody>
      </p:sp>
      <p:sp>
        <p:nvSpPr>
          <p:cNvPr id="63" name="Rectangle 62"/>
          <p:cNvSpPr/>
          <p:nvPr/>
        </p:nvSpPr>
        <p:spPr>
          <a:xfrm>
            <a:off x="7391400" y="4752975"/>
            <a:ext cx="2247900" cy="9525"/>
          </a:xfrm>
          <a:prstGeom prst="rect">
            <a:avLst/>
          </a:prstGeom>
          <a:solidFill>
            <a:srgbClr val="E3DCD3"/>
          </a:solidFill>
          <a:ln>
            <a:noFill/>
          </a:ln>
          <a:effectLst/>
        </p:spPr>
        <p:txBody>
          <a:bodyPr rtlCol="0" anchor="ctr"/>
          <a:lstStyle/>
          <a:p>
            <a:pPr algn="ctr"/>
            <a:endParaRPr/>
          </a:p>
        </p:txBody>
      </p:sp>
      <p:sp>
        <p:nvSpPr>
          <p:cNvPr id="64" name="Rectangle 63"/>
          <p:cNvSpPr/>
          <p:nvPr/>
        </p:nvSpPr>
        <p:spPr>
          <a:xfrm>
            <a:off x="7391400" y="4019550"/>
            <a:ext cx="9525" cy="742950"/>
          </a:xfrm>
          <a:prstGeom prst="rect">
            <a:avLst/>
          </a:prstGeom>
          <a:solidFill>
            <a:srgbClr val="E3DCD3"/>
          </a:solidFill>
          <a:ln>
            <a:noFill/>
          </a:ln>
          <a:effectLst/>
        </p:spPr>
        <p:txBody>
          <a:bodyPr rtlCol="0" anchor="ctr"/>
          <a:lstStyle/>
          <a:p>
            <a:pPr algn="ctr"/>
            <a:endParaRPr/>
          </a:p>
        </p:txBody>
      </p:sp>
      <p:pic>
        <p:nvPicPr>
          <p:cNvPr id="65" name="Picture 64" descr="Jason Lisiak"/>
          <p:cNvPicPr>
            <a:picLocks noChangeAspect="1"/>
          </p:cNvPicPr>
          <p:nvPr/>
        </p:nvPicPr>
        <p:blipFill>
          <a:blip r:embed="rId11"/>
          <a:srcRect/>
          <a:stretch>
            <a:fillRect/>
          </a:stretch>
        </p:blipFill>
        <p:spPr>
          <a:xfrm>
            <a:off x="7515225" y="4133850"/>
            <a:ext cx="514350" cy="514350"/>
          </a:xfrm>
          <a:prstGeom prst="ellipse">
            <a:avLst/>
          </a:prstGeom>
        </p:spPr>
      </p:pic>
      <p:sp>
        <p:nvSpPr>
          <p:cNvPr id="66" name="Text: Jason Lisiak"/>
          <p:cNvSpPr txBox="1"/>
          <p:nvPr/>
        </p:nvSpPr>
        <p:spPr>
          <a:xfrm>
            <a:off x="8143875" y="4248150"/>
            <a:ext cx="1419225" cy="152400"/>
          </a:xfrm>
          <a:prstGeom prst="rect">
            <a:avLst/>
          </a:prstGeom>
          <a:noFill/>
        </p:spPr>
        <p:txBody>
          <a:bodyPr wrap="square" lIns="0" tIns="0" rIns="0" bIns="0" anchor="t">
            <a:spAutoFit/>
          </a:bodyPr>
          <a:lstStyle/>
          <a:p>
            <a:pPr algn="l">
              <a:lnSpc>
                <a:spcPts val="1200"/>
              </a:lnSpc>
            </a:pPr>
            <a:r>
              <a:rPr sz="900" b="1" i="0" spc="15">
                <a:solidFill>
                  <a:srgbClr val="1B1A1A"/>
                </a:solidFill>
                <a:latin typeface="Calibri"/>
              </a:rPr>
              <a:t>Jason Lisiak, CFA</a:t>
            </a:r>
          </a:p>
        </p:txBody>
      </p:sp>
      <p:sp>
        <p:nvSpPr>
          <p:cNvPr id="67" name="Text: Research Associate"/>
          <p:cNvSpPr txBox="1"/>
          <p:nvPr/>
        </p:nvSpPr>
        <p:spPr>
          <a:xfrm>
            <a:off x="8143875" y="4400550"/>
            <a:ext cx="1419225" cy="133350"/>
          </a:xfrm>
          <a:prstGeom prst="rect">
            <a:avLst/>
          </a:prstGeom>
          <a:noFill/>
        </p:spPr>
        <p:txBody>
          <a:bodyPr wrap="square" lIns="0" tIns="0" rIns="0" bIns="0" anchor="t">
            <a:spAutoFit/>
          </a:bodyPr>
          <a:lstStyle/>
          <a:p>
            <a:pPr algn="l">
              <a:lnSpc>
                <a:spcPts val="1050"/>
              </a:lnSpc>
            </a:pPr>
            <a:r>
              <a:rPr sz="750" b="0" i="0" spc="15">
                <a:solidFill>
                  <a:srgbClr val="6F6A66"/>
                </a:solidFill>
                <a:latin typeface="Calibri"/>
              </a:rPr>
              <a:t>Research Associate</a:t>
            </a:r>
          </a:p>
        </p:txBody>
      </p:sp>
      <p:sp>
        <p:nvSpPr>
          <p:cNvPr id="68" name="Rectangle 67"/>
          <p:cNvSpPr/>
          <p:nvPr/>
        </p:nvSpPr>
        <p:spPr>
          <a:xfrm>
            <a:off x="2628900" y="4876800"/>
            <a:ext cx="2247900" cy="742950"/>
          </a:xfrm>
          <a:prstGeom prst="rect">
            <a:avLst/>
          </a:prstGeom>
          <a:solidFill>
            <a:srgbClr val="FFFFFF"/>
          </a:solidFill>
          <a:ln>
            <a:noFill/>
          </a:ln>
          <a:effectLst/>
        </p:spPr>
        <p:txBody>
          <a:bodyPr rtlCol="0" anchor="ctr"/>
          <a:lstStyle/>
          <a:p>
            <a:pPr algn="ctr"/>
            <a:endParaRPr/>
          </a:p>
        </p:txBody>
      </p:sp>
      <p:sp>
        <p:nvSpPr>
          <p:cNvPr id="69" name="Rectangle 68"/>
          <p:cNvSpPr/>
          <p:nvPr/>
        </p:nvSpPr>
        <p:spPr>
          <a:xfrm>
            <a:off x="2628900" y="4876800"/>
            <a:ext cx="2247900" cy="9525"/>
          </a:xfrm>
          <a:prstGeom prst="rect">
            <a:avLst/>
          </a:prstGeom>
          <a:solidFill>
            <a:srgbClr val="E3DCD3"/>
          </a:solidFill>
          <a:ln>
            <a:noFill/>
          </a:ln>
          <a:effectLst/>
        </p:spPr>
        <p:txBody>
          <a:bodyPr rtlCol="0" anchor="ctr"/>
          <a:lstStyle/>
          <a:p>
            <a:pPr algn="ctr"/>
            <a:endParaRPr/>
          </a:p>
        </p:txBody>
      </p:sp>
      <p:sp>
        <p:nvSpPr>
          <p:cNvPr id="70" name="Rectangle 69"/>
          <p:cNvSpPr/>
          <p:nvPr/>
        </p:nvSpPr>
        <p:spPr>
          <a:xfrm>
            <a:off x="4867275" y="4876800"/>
            <a:ext cx="9525" cy="742950"/>
          </a:xfrm>
          <a:prstGeom prst="rect">
            <a:avLst/>
          </a:prstGeom>
          <a:solidFill>
            <a:srgbClr val="E3DCD3"/>
          </a:solidFill>
          <a:ln>
            <a:noFill/>
          </a:ln>
          <a:effectLst/>
        </p:spPr>
        <p:txBody>
          <a:bodyPr rtlCol="0" anchor="ctr"/>
          <a:lstStyle/>
          <a:p>
            <a:pPr algn="ctr"/>
            <a:endParaRPr/>
          </a:p>
        </p:txBody>
      </p:sp>
      <p:sp>
        <p:nvSpPr>
          <p:cNvPr id="71" name="Rectangle 70"/>
          <p:cNvSpPr/>
          <p:nvPr/>
        </p:nvSpPr>
        <p:spPr>
          <a:xfrm>
            <a:off x="2628900" y="5610225"/>
            <a:ext cx="2247900" cy="9525"/>
          </a:xfrm>
          <a:prstGeom prst="rect">
            <a:avLst/>
          </a:prstGeom>
          <a:solidFill>
            <a:srgbClr val="E3DCD3"/>
          </a:solidFill>
          <a:ln>
            <a:noFill/>
          </a:ln>
          <a:effectLst/>
        </p:spPr>
        <p:txBody>
          <a:bodyPr rtlCol="0" anchor="ctr"/>
          <a:lstStyle/>
          <a:p>
            <a:pPr algn="ctr"/>
            <a:endParaRPr/>
          </a:p>
        </p:txBody>
      </p:sp>
      <p:sp>
        <p:nvSpPr>
          <p:cNvPr id="72" name="Rectangle 71"/>
          <p:cNvSpPr/>
          <p:nvPr/>
        </p:nvSpPr>
        <p:spPr>
          <a:xfrm>
            <a:off x="2628900" y="4876800"/>
            <a:ext cx="9525" cy="742950"/>
          </a:xfrm>
          <a:prstGeom prst="rect">
            <a:avLst/>
          </a:prstGeom>
          <a:solidFill>
            <a:srgbClr val="E3DCD3"/>
          </a:solidFill>
          <a:ln>
            <a:noFill/>
          </a:ln>
          <a:effectLst/>
        </p:spPr>
        <p:txBody>
          <a:bodyPr rtlCol="0" anchor="ctr"/>
          <a:lstStyle/>
          <a:p>
            <a:pPr algn="ctr"/>
            <a:endParaRPr/>
          </a:p>
        </p:txBody>
      </p:sp>
      <p:pic>
        <p:nvPicPr>
          <p:cNvPr id="73" name="Picture 72" descr="Alexandra Barr"/>
          <p:cNvPicPr>
            <a:picLocks noChangeAspect="1"/>
          </p:cNvPicPr>
          <p:nvPr/>
        </p:nvPicPr>
        <p:blipFill>
          <a:blip r:embed="rId12"/>
          <a:srcRect/>
          <a:stretch>
            <a:fillRect/>
          </a:stretch>
        </p:blipFill>
        <p:spPr>
          <a:xfrm>
            <a:off x="2752725" y="4991100"/>
            <a:ext cx="514350" cy="514350"/>
          </a:xfrm>
          <a:prstGeom prst="ellipse">
            <a:avLst/>
          </a:prstGeom>
        </p:spPr>
      </p:pic>
      <p:sp>
        <p:nvSpPr>
          <p:cNvPr id="74" name="Text: Alexandra Barr"/>
          <p:cNvSpPr txBox="1"/>
          <p:nvPr/>
        </p:nvSpPr>
        <p:spPr>
          <a:xfrm>
            <a:off x="3381375" y="5105400"/>
            <a:ext cx="1419225" cy="152400"/>
          </a:xfrm>
          <a:prstGeom prst="rect">
            <a:avLst/>
          </a:prstGeom>
          <a:noFill/>
        </p:spPr>
        <p:txBody>
          <a:bodyPr wrap="square" lIns="0" tIns="0" rIns="0" bIns="0" anchor="t">
            <a:spAutoFit/>
          </a:bodyPr>
          <a:lstStyle/>
          <a:p>
            <a:pPr algn="l">
              <a:lnSpc>
                <a:spcPts val="1200"/>
              </a:lnSpc>
            </a:pPr>
            <a:r>
              <a:rPr sz="900" b="1" i="0" spc="15">
                <a:solidFill>
                  <a:srgbClr val="1B1A1A"/>
                </a:solidFill>
                <a:latin typeface="Calibri"/>
              </a:rPr>
              <a:t>Alexandra Barr</a:t>
            </a:r>
          </a:p>
        </p:txBody>
      </p:sp>
      <p:sp>
        <p:nvSpPr>
          <p:cNvPr id="75" name="Text: Transaction Support Associate"/>
          <p:cNvSpPr txBox="1"/>
          <p:nvPr/>
        </p:nvSpPr>
        <p:spPr>
          <a:xfrm>
            <a:off x="3381375" y="5257800"/>
            <a:ext cx="1419225" cy="133350"/>
          </a:xfrm>
          <a:prstGeom prst="rect">
            <a:avLst/>
          </a:prstGeom>
          <a:noFill/>
        </p:spPr>
        <p:txBody>
          <a:bodyPr wrap="square" lIns="0" tIns="0" rIns="0" bIns="0" anchor="t">
            <a:spAutoFit/>
          </a:bodyPr>
          <a:lstStyle/>
          <a:p>
            <a:pPr algn="l">
              <a:lnSpc>
                <a:spcPts val="1050"/>
              </a:lnSpc>
            </a:pPr>
            <a:r>
              <a:rPr sz="750" b="0" i="0" spc="15">
                <a:solidFill>
                  <a:srgbClr val="6F6A66"/>
                </a:solidFill>
                <a:latin typeface="Calibri"/>
              </a:rPr>
              <a:t>Transaction Support Associate</a:t>
            </a:r>
          </a:p>
        </p:txBody>
      </p:sp>
      <p:sp>
        <p:nvSpPr>
          <p:cNvPr id="76" name="Rectangle 75"/>
          <p:cNvSpPr/>
          <p:nvPr/>
        </p:nvSpPr>
        <p:spPr>
          <a:xfrm>
            <a:off x="5010150" y="4876800"/>
            <a:ext cx="2247900" cy="742950"/>
          </a:xfrm>
          <a:prstGeom prst="rect">
            <a:avLst/>
          </a:prstGeom>
          <a:solidFill>
            <a:srgbClr val="FFFFFF"/>
          </a:solidFill>
          <a:ln>
            <a:noFill/>
          </a:ln>
          <a:effectLst/>
        </p:spPr>
        <p:txBody>
          <a:bodyPr rtlCol="0" anchor="ctr"/>
          <a:lstStyle/>
          <a:p>
            <a:pPr algn="ctr"/>
            <a:endParaRPr/>
          </a:p>
        </p:txBody>
      </p:sp>
      <p:sp>
        <p:nvSpPr>
          <p:cNvPr id="77" name="Rectangle 76"/>
          <p:cNvSpPr/>
          <p:nvPr/>
        </p:nvSpPr>
        <p:spPr>
          <a:xfrm>
            <a:off x="5010150" y="4876800"/>
            <a:ext cx="2247900" cy="9525"/>
          </a:xfrm>
          <a:prstGeom prst="rect">
            <a:avLst/>
          </a:prstGeom>
          <a:solidFill>
            <a:srgbClr val="E3DCD3"/>
          </a:solidFill>
          <a:ln>
            <a:noFill/>
          </a:ln>
          <a:effectLst/>
        </p:spPr>
        <p:txBody>
          <a:bodyPr rtlCol="0" anchor="ctr"/>
          <a:lstStyle/>
          <a:p>
            <a:pPr algn="ctr"/>
            <a:endParaRPr/>
          </a:p>
        </p:txBody>
      </p:sp>
      <p:sp>
        <p:nvSpPr>
          <p:cNvPr id="78" name="Rectangle 77"/>
          <p:cNvSpPr/>
          <p:nvPr/>
        </p:nvSpPr>
        <p:spPr>
          <a:xfrm>
            <a:off x="7248525" y="4876800"/>
            <a:ext cx="9525" cy="742950"/>
          </a:xfrm>
          <a:prstGeom prst="rect">
            <a:avLst/>
          </a:prstGeom>
          <a:solidFill>
            <a:srgbClr val="E3DCD3"/>
          </a:solidFill>
          <a:ln>
            <a:noFill/>
          </a:ln>
          <a:effectLst/>
        </p:spPr>
        <p:txBody>
          <a:bodyPr rtlCol="0" anchor="ctr"/>
          <a:lstStyle/>
          <a:p>
            <a:pPr algn="ctr"/>
            <a:endParaRPr/>
          </a:p>
        </p:txBody>
      </p:sp>
      <p:sp>
        <p:nvSpPr>
          <p:cNvPr id="79" name="Rectangle 78"/>
          <p:cNvSpPr/>
          <p:nvPr/>
        </p:nvSpPr>
        <p:spPr>
          <a:xfrm>
            <a:off x="5010150" y="5610225"/>
            <a:ext cx="2247900" cy="9525"/>
          </a:xfrm>
          <a:prstGeom prst="rect">
            <a:avLst/>
          </a:prstGeom>
          <a:solidFill>
            <a:srgbClr val="E3DCD3"/>
          </a:solidFill>
          <a:ln>
            <a:noFill/>
          </a:ln>
          <a:effectLst/>
        </p:spPr>
        <p:txBody>
          <a:bodyPr rtlCol="0" anchor="ctr"/>
          <a:lstStyle/>
          <a:p>
            <a:pPr algn="ctr"/>
            <a:endParaRPr/>
          </a:p>
        </p:txBody>
      </p:sp>
      <p:sp>
        <p:nvSpPr>
          <p:cNvPr id="80" name="Rectangle 79"/>
          <p:cNvSpPr/>
          <p:nvPr/>
        </p:nvSpPr>
        <p:spPr>
          <a:xfrm>
            <a:off x="5010150" y="4876800"/>
            <a:ext cx="9525" cy="742950"/>
          </a:xfrm>
          <a:prstGeom prst="rect">
            <a:avLst/>
          </a:prstGeom>
          <a:solidFill>
            <a:srgbClr val="E3DCD3"/>
          </a:solidFill>
          <a:ln>
            <a:noFill/>
          </a:ln>
          <a:effectLst/>
        </p:spPr>
        <p:txBody>
          <a:bodyPr rtlCol="0" anchor="ctr"/>
          <a:lstStyle/>
          <a:p>
            <a:pPr algn="ctr"/>
            <a:endParaRPr/>
          </a:p>
        </p:txBody>
      </p:sp>
      <p:pic>
        <p:nvPicPr>
          <p:cNvPr id="81" name="Picture 80" descr="Josiah Warren"/>
          <p:cNvPicPr>
            <a:picLocks noChangeAspect="1"/>
          </p:cNvPicPr>
          <p:nvPr/>
        </p:nvPicPr>
        <p:blipFill>
          <a:blip r:embed="rId13"/>
          <a:srcRect/>
          <a:stretch>
            <a:fillRect/>
          </a:stretch>
        </p:blipFill>
        <p:spPr>
          <a:xfrm>
            <a:off x="5133975" y="4991100"/>
            <a:ext cx="514350" cy="514350"/>
          </a:xfrm>
          <a:prstGeom prst="ellipse">
            <a:avLst/>
          </a:prstGeom>
        </p:spPr>
      </p:pic>
      <p:sp>
        <p:nvSpPr>
          <p:cNvPr id="82" name="Text: Josiah Warren"/>
          <p:cNvSpPr txBox="1"/>
          <p:nvPr/>
        </p:nvSpPr>
        <p:spPr>
          <a:xfrm>
            <a:off x="5762625" y="5105400"/>
            <a:ext cx="1419225" cy="152400"/>
          </a:xfrm>
          <a:prstGeom prst="rect">
            <a:avLst/>
          </a:prstGeom>
          <a:noFill/>
        </p:spPr>
        <p:txBody>
          <a:bodyPr wrap="square" lIns="0" tIns="0" rIns="0" bIns="0" anchor="t">
            <a:spAutoFit/>
          </a:bodyPr>
          <a:lstStyle/>
          <a:p>
            <a:pPr algn="l">
              <a:lnSpc>
                <a:spcPts val="1200"/>
              </a:lnSpc>
            </a:pPr>
            <a:r>
              <a:rPr sz="900" b="1" i="0" spc="15">
                <a:solidFill>
                  <a:srgbClr val="1B1A1A"/>
                </a:solidFill>
                <a:latin typeface="Calibri"/>
              </a:rPr>
              <a:t>Josiah Warren</a:t>
            </a:r>
          </a:p>
        </p:txBody>
      </p:sp>
      <p:sp>
        <p:nvSpPr>
          <p:cNvPr id="83" name="Text: Transaction Support Associate"/>
          <p:cNvSpPr txBox="1"/>
          <p:nvPr/>
        </p:nvSpPr>
        <p:spPr>
          <a:xfrm>
            <a:off x="5762625" y="5257800"/>
            <a:ext cx="1419225" cy="133350"/>
          </a:xfrm>
          <a:prstGeom prst="rect">
            <a:avLst/>
          </a:prstGeom>
          <a:noFill/>
        </p:spPr>
        <p:txBody>
          <a:bodyPr wrap="square" lIns="0" tIns="0" rIns="0" bIns="0" anchor="t">
            <a:spAutoFit/>
          </a:bodyPr>
          <a:lstStyle/>
          <a:p>
            <a:pPr algn="l">
              <a:lnSpc>
                <a:spcPts val="1050"/>
              </a:lnSpc>
            </a:pPr>
            <a:r>
              <a:rPr sz="750" b="0" i="0" spc="15">
                <a:solidFill>
                  <a:srgbClr val="6F6A66"/>
                </a:solidFill>
                <a:latin typeface="Calibri"/>
              </a:rPr>
              <a:t>Transaction Support Associate</a:t>
            </a:r>
          </a:p>
        </p:txBody>
      </p:sp>
      <p:sp>
        <p:nvSpPr>
          <p:cNvPr id="84" name="Rectangle 83"/>
          <p:cNvSpPr/>
          <p:nvPr/>
        </p:nvSpPr>
        <p:spPr>
          <a:xfrm>
            <a:off x="7391400" y="4876800"/>
            <a:ext cx="2247900" cy="742950"/>
          </a:xfrm>
          <a:prstGeom prst="rect">
            <a:avLst/>
          </a:prstGeom>
          <a:solidFill>
            <a:srgbClr val="FFFFFF"/>
          </a:solidFill>
          <a:ln>
            <a:noFill/>
          </a:ln>
          <a:effectLst/>
        </p:spPr>
        <p:txBody>
          <a:bodyPr rtlCol="0" anchor="ctr"/>
          <a:lstStyle/>
          <a:p>
            <a:pPr algn="ctr"/>
            <a:endParaRPr/>
          </a:p>
        </p:txBody>
      </p:sp>
      <p:sp>
        <p:nvSpPr>
          <p:cNvPr id="85" name="Rectangle 84"/>
          <p:cNvSpPr/>
          <p:nvPr/>
        </p:nvSpPr>
        <p:spPr>
          <a:xfrm>
            <a:off x="7391400" y="4876800"/>
            <a:ext cx="2247900" cy="9525"/>
          </a:xfrm>
          <a:prstGeom prst="rect">
            <a:avLst/>
          </a:prstGeom>
          <a:solidFill>
            <a:srgbClr val="E3DCD3"/>
          </a:solidFill>
          <a:ln>
            <a:noFill/>
          </a:ln>
          <a:effectLst/>
        </p:spPr>
        <p:txBody>
          <a:bodyPr rtlCol="0" anchor="ctr"/>
          <a:lstStyle/>
          <a:p>
            <a:pPr algn="ctr"/>
            <a:endParaRPr/>
          </a:p>
        </p:txBody>
      </p:sp>
      <p:sp>
        <p:nvSpPr>
          <p:cNvPr id="86" name="Rectangle 85"/>
          <p:cNvSpPr/>
          <p:nvPr/>
        </p:nvSpPr>
        <p:spPr>
          <a:xfrm>
            <a:off x="9629775" y="4876800"/>
            <a:ext cx="9525" cy="742950"/>
          </a:xfrm>
          <a:prstGeom prst="rect">
            <a:avLst/>
          </a:prstGeom>
          <a:solidFill>
            <a:srgbClr val="E3DCD3"/>
          </a:solidFill>
          <a:ln>
            <a:noFill/>
          </a:ln>
          <a:effectLst/>
        </p:spPr>
        <p:txBody>
          <a:bodyPr rtlCol="0" anchor="ctr"/>
          <a:lstStyle/>
          <a:p>
            <a:pPr algn="ctr"/>
            <a:endParaRPr/>
          </a:p>
        </p:txBody>
      </p:sp>
      <p:sp>
        <p:nvSpPr>
          <p:cNvPr id="87" name="Rectangle 86"/>
          <p:cNvSpPr/>
          <p:nvPr/>
        </p:nvSpPr>
        <p:spPr>
          <a:xfrm>
            <a:off x="7391400" y="5610225"/>
            <a:ext cx="2247900" cy="9525"/>
          </a:xfrm>
          <a:prstGeom prst="rect">
            <a:avLst/>
          </a:prstGeom>
          <a:solidFill>
            <a:srgbClr val="E3DCD3"/>
          </a:solidFill>
          <a:ln>
            <a:noFill/>
          </a:ln>
          <a:effectLst/>
        </p:spPr>
        <p:txBody>
          <a:bodyPr rtlCol="0" anchor="ctr"/>
          <a:lstStyle/>
          <a:p>
            <a:pPr algn="ctr"/>
            <a:endParaRPr/>
          </a:p>
        </p:txBody>
      </p:sp>
      <p:sp>
        <p:nvSpPr>
          <p:cNvPr id="88" name="Rectangle 87"/>
          <p:cNvSpPr/>
          <p:nvPr/>
        </p:nvSpPr>
        <p:spPr>
          <a:xfrm>
            <a:off x="7391400" y="4876800"/>
            <a:ext cx="9525" cy="742950"/>
          </a:xfrm>
          <a:prstGeom prst="rect">
            <a:avLst/>
          </a:prstGeom>
          <a:solidFill>
            <a:srgbClr val="E3DCD3"/>
          </a:solidFill>
          <a:ln>
            <a:noFill/>
          </a:ln>
          <a:effectLst/>
        </p:spPr>
        <p:txBody>
          <a:bodyPr rtlCol="0" anchor="ctr"/>
          <a:lstStyle/>
          <a:p>
            <a:pPr algn="ctr"/>
            <a:endParaRPr/>
          </a:p>
        </p:txBody>
      </p:sp>
      <p:pic>
        <p:nvPicPr>
          <p:cNvPr id="89" name="Picture 88" descr="Luke Ernst"/>
          <p:cNvPicPr>
            <a:picLocks noChangeAspect="1"/>
          </p:cNvPicPr>
          <p:nvPr/>
        </p:nvPicPr>
        <p:blipFill>
          <a:blip r:embed="rId14"/>
          <a:srcRect/>
          <a:stretch>
            <a:fillRect/>
          </a:stretch>
        </p:blipFill>
        <p:spPr>
          <a:xfrm>
            <a:off x="7515225" y="4991100"/>
            <a:ext cx="514350" cy="514350"/>
          </a:xfrm>
          <a:prstGeom prst="ellipse">
            <a:avLst/>
          </a:prstGeom>
        </p:spPr>
      </p:pic>
      <p:sp>
        <p:nvSpPr>
          <p:cNvPr id="90" name="Text: Luke Ernst"/>
          <p:cNvSpPr txBox="1"/>
          <p:nvPr/>
        </p:nvSpPr>
        <p:spPr>
          <a:xfrm>
            <a:off x="8143875" y="5105400"/>
            <a:ext cx="1419225" cy="152400"/>
          </a:xfrm>
          <a:prstGeom prst="rect">
            <a:avLst/>
          </a:prstGeom>
          <a:noFill/>
        </p:spPr>
        <p:txBody>
          <a:bodyPr wrap="square" lIns="0" tIns="0" rIns="0" bIns="0" anchor="t">
            <a:spAutoFit/>
          </a:bodyPr>
          <a:lstStyle/>
          <a:p>
            <a:pPr algn="l">
              <a:lnSpc>
                <a:spcPts val="1200"/>
              </a:lnSpc>
            </a:pPr>
            <a:r>
              <a:rPr sz="900" b="1" i="0" spc="15">
                <a:solidFill>
                  <a:srgbClr val="1B1A1A"/>
                </a:solidFill>
                <a:latin typeface="Calibri"/>
              </a:rPr>
              <a:t>Luke Ernst</a:t>
            </a:r>
          </a:p>
        </p:txBody>
      </p:sp>
      <p:sp>
        <p:nvSpPr>
          <p:cNvPr id="91" name="Text: Deal Analyst"/>
          <p:cNvSpPr txBox="1"/>
          <p:nvPr/>
        </p:nvSpPr>
        <p:spPr>
          <a:xfrm>
            <a:off x="8143875" y="5257800"/>
            <a:ext cx="1419225" cy="133350"/>
          </a:xfrm>
          <a:prstGeom prst="rect">
            <a:avLst/>
          </a:prstGeom>
          <a:noFill/>
        </p:spPr>
        <p:txBody>
          <a:bodyPr wrap="square" lIns="0" tIns="0" rIns="0" bIns="0" anchor="t">
            <a:spAutoFit/>
          </a:bodyPr>
          <a:lstStyle/>
          <a:p>
            <a:pPr algn="l">
              <a:lnSpc>
                <a:spcPts val="1050"/>
              </a:lnSpc>
            </a:pPr>
            <a:r>
              <a:rPr sz="750" b="0" i="0" spc="15">
                <a:solidFill>
                  <a:srgbClr val="6F6A66"/>
                </a:solidFill>
                <a:latin typeface="Calibri"/>
              </a:rPr>
              <a:t>Deal Analyst</a:t>
            </a:r>
          </a:p>
        </p:txBody>
      </p:sp>
      <p:sp>
        <p:nvSpPr>
          <p:cNvPr id="92" name="Rectangle 91"/>
          <p:cNvSpPr/>
          <p:nvPr/>
        </p:nvSpPr>
        <p:spPr>
          <a:xfrm>
            <a:off x="2628900" y="6143625"/>
            <a:ext cx="7010400" cy="9525"/>
          </a:xfrm>
          <a:prstGeom prst="rect">
            <a:avLst/>
          </a:prstGeom>
          <a:solidFill>
            <a:srgbClr val="E3DCD3"/>
          </a:solidFill>
          <a:ln>
            <a:noFill/>
          </a:ln>
          <a:effectLst/>
        </p:spPr>
        <p:txBody>
          <a:bodyPr rtlCol="0" anchor="ctr"/>
          <a:lstStyle/>
          <a:p>
            <a:pPr algn="ctr"/>
            <a:endParaRPr/>
          </a:p>
        </p:txBody>
      </p:sp>
      <p:sp>
        <p:nvSpPr>
          <p:cNvPr id="93" name="Text: HEALTHCARE COVERAGE"/>
          <p:cNvSpPr txBox="1"/>
          <p:nvPr/>
        </p:nvSpPr>
        <p:spPr>
          <a:xfrm>
            <a:off x="2628900" y="6267450"/>
            <a:ext cx="7024688" cy="123825"/>
          </a:xfrm>
          <a:prstGeom prst="rect">
            <a:avLst/>
          </a:prstGeom>
          <a:noFill/>
        </p:spPr>
        <p:txBody>
          <a:bodyPr wrap="square" lIns="0" tIns="0" rIns="0" bIns="0" anchor="t">
            <a:spAutoFit/>
          </a:bodyPr>
          <a:lstStyle/>
          <a:p>
            <a:pPr algn="l">
              <a:lnSpc>
                <a:spcPts val="975"/>
              </a:lnSpc>
            </a:pPr>
            <a:r>
              <a:rPr sz="638" b="1" i="0" spc="150">
                <a:solidFill>
                  <a:srgbClr val="8C6239"/>
                </a:solidFill>
                <a:latin typeface="Calibri"/>
              </a:rPr>
              <a:t>HEALTHCARE COVERAGE</a:t>
            </a:r>
          </a:p>
        </p:txBody>
      </p:sp>
      <p:pic>
        <p:nvPicPr>
          <p:cNvPr id="94" name="Picture 93" descr="v3fd7db433b86.png"/>
          <p:cNvPicPr>
            <a:picLocks noChangeAspect="1"/>
          </p:cNvPicPr>
          <p:nvPr/>
        </p:nvPicPr>
        <p:blipFill>
          <a:blip r:embed="rId15"/>
          <a:stretch>
            <a:fillRect/>
          </a:stretch>
        </p:blipFill>
        <p:spPr>
          <a:xfrm>
            <a:off x="2628900" y="6467475"/>
            <a:ext cx="190500" cy="190500"/>
          </a:xfrm>
          <a:prstGeom prst="rect">
            <a:avLst/>
          </a:prstGeom>
        </p:spPr>
      </p:pic>
      <p:sp>
        <p:nvSpPr>
          <p:cNvPr id="95" name="Text: Provider Services"/>
          <p:cNvSpPr txBox="1"/>
          <p:nvPr/>
        </p:nvSpPr>
        <p:spPr>
          <a:xfrm>
            <a:off x="2895600" y="6496050"/>
            <a:ext cx="893058" cy="133350"/>
          </a:xfrm>
          <a:prstGeom prst="rect">
            <a:avLst/>
          </a:prstGeom>
          <a:noFill/>
        </p:spPr>
        <p:txBody>
          <a:bodyPr wrap="square" lIns="0" tIns="0" rIns="0" bIns="0" anchor="t">
            <a:spAutoFit/>
          </a:bodyPr>
          <a:lstStyle/>
          <a:p>
            <a:pPr algn="l">
              <a:lnSpc>
                <a:spcPts val="1050"/>
              </a:lnSpc>
            </a:pPr>
            <a:r>
              <a:rPr sz="788" b="1" i="0" spc="15">
                <a:solidFill>
                  <a:srgbClr val="333231"/>
                </a:solidFill>
                <a:latin typeface="Calibri"/>
              </a:rPr>
              <a:t>Provider Services</a:t>
            </a:r>
          </a:p>
        </p:txBody>
      </p:sp>
      <p:pic>
        <p:nvPicPr>
          <p:cNvPr id="96" name="Picture 95" descr="va0eac4097b0b.png"/>
          <p:cNvPicPr>
            <a:picLocks noChangeAspect="1"/>
          </p:cNvPicPr>
          <p:nvPr/>
        </p:nvPicPr>
        <p:blipFill>
          <a:blip r:embed="rId16"/>
          <a:stretch>
            <a:fillRect/>
          </a:stretch>
        </p:blipFill>
        <p:spPr>
          <a:xfrm>
            <a:off x="6200775" y="6467475"/>
            <a:ext cx="190500" cy="190500"/>
          </a:xfrm>
          <a:prstGeom prst="rect">
            <a:avLst/>
          </a:prstGeom>
        </p:spPr>
      </p:pic>
      <p:sp>
        <p:nvSpPr>
          <p:cNvPr id="97" name="Text: Life Sciences &amp; Diagnostics"/>
          <p:cNvSpPr txBox="1"/>
          <p:nvPr/>
        </p:nvSpPr>
        <p:spPr>
          <a:xfrm>
            <a:off x="6467475" y="6496050"/>
            <a:ext cx="1347028" cy="133350"/>
          </a:xfrm>
          <a:prstGeom prst="rect">
            <a:avLst/>
          </a:prstGeom>
          <a:noFill/>
        </p:spPr>
        <p:txBody>
          <a:bodyPr wrap="square" lIns="0" tIns="0" rIns="0" bIns="0" anchor="t">
            <a:spAutoFit/>
          </a:bodyPr>
          <a:lstStyle/>
          <a:p>
            <a:pPr algn="l">
              <a:lnSpc>
                <a:spcPts val="1050"/>
              </a:lnSpc>
            </a:pPr>
            <a:r>
              <a:rPr sz="788" b="1" i="0" spc="15">
                <a:solidFill>
                  <a:srgbClr val="333231"/>
                </a:solidFill>
                <a:latin typeface="Calibri"/>
              </a:rPr>
              <a:t>Life Sciences &amp; Diagnostics</a:t>
            </a:r>
          </a:p>
        </p:txBody>
      </p:sp>
      <p:pic>
        <p:nvPicPr>
          <p:cNvPr id="98" name="Picture 97" descr="vbfbb6f5a2b67.png"/>
          <p:cNvPicPr>
            <a:picLocks noChangeAspect="1"/>
          </p:cNvPicPr>
          <p:nvPr/>
        </p:nvPicPr>
        <p:blipFill>
          <a:blip r:embed="rId17"/>
          <a:stretch>
            <a:fillRect/>
          </a:stretch>
        </p:blipFill>
        <p:spPr>
          <a:xfrm>
            <a:off x="2628900" y="6743700"/>
            <a:ext cx="190500" cy="190500"/>
          </a:xfrm>
          <a:prstGeom prst="rect">
            <a:avLst/>
          </a:prstGeom>
        </p:spPr>
      </p:pic>
      <p:sp>
        <p:nvSpPr>
          <p:cNvPr id="99" name="Text: Medical Products &amp; Distribution"/>
          <p:cNvSpPr txBox="1"/>
          <p:nvPr/>
        </p:nvSpPr>
        <p:spPr>
          <a:xfrm>
            <a:off x="2895600" y="6772275"/>
            <a:ext cx="1600617" cy="133350"/>
          </a:xfrm>
          <a:prstGeom prst="rect">
            <a:avLst/>
          </a:prstGeom>
          <a:noFill/>
        </p:spPr>
        <p:txBody>
          <a:bodyPr wrap="square" lIns="0" tIns="0" rIns="0" bIns="0" anchor="t">
            <a:spAutoFit/>
          </a:bodyPr>
          <a:lstStyle/>
          <a:p>
            <a:pPr algn="l">
              <a:lnSpc>
                <a:spcPts val="1050"/>
              </a:lnSpc>
            </a:pPr>
            <a:r>
              <a:rPr sz="788" b="1" i="0" spc="15">
                <a:solidFill>
                  <a:srgbClr val="333231"/>
                </a:solidFill>
                <a:latin typeface="Calibri"/>
              </a:rPr>
              <a:t>Medical Products &amp; Distribution</a:t>
            </a:r>
          </a:p>
        </p:txBody>
      </p:sp>
      <p:pic>
        <p:nvPicPr>
          <p:cNvPr id="100" name="Picture 99" descr="v1b3d25096321.png"/>
          <p:cNvPicPr>
            <a:picLocks noChangeAspect="1"/>
          </p:cNvPicPr>
          <p:nvPr/>
        </p:nvPicPr>
        <p:blipFill>
          <a:blip r:embed="rId18"/>
          <a:stretch>
            <a:fillRect/>
          </a:stretch>
        </p:blipFill>
        <p:spPr>
          <a:xfrm>
            <a:off x="6200775" y="6743700"/>
            <a:ext cx="190500" cy="190500"/>
          </a:xfrm>
          <a:prstGeom prst="rect">
            <a:avLst/>
          </a:prstGeom>
        </p:spPr>
      </p:pic>
      <p:sp>
        <p:nvSpPr>
          <p:cNvPr id="101" name="Text: Pharmacy &amp; Healthcare Services"/>
          <p:cNvSpPr txBox="1"/>
          <p:nvPr/>
        </p:nvSpPr>
        <p:spPr>
          <a:xfrm>
            <a:off x="6467475" y="6772275"/>
            <a:ext cx="1608966" cy="133350"/>
          </a:xfrm>
          <a:prstGeom prst="rect">
            <a:avLst/>
          </a:prstGeom>
          <a:noFill/>
        </p:spPr>
        <p:txBody>
          <a:bodyPr wrap="square" lIns="0" tIns="0" rIns="0" bIns="0" anchor="t">
            <a:spAutoFit/>
          </a:bodyPr>
          <a:lstStyle/>
          <a:p>
            <a:pPr algn="l">
              <a:lnSpc>
                <a:spcPts val="1050"/>
              </a:lnSpc>
            </a:pPr>
            <a:r>
              <a:rPr sz="788" b="1" i="0" spc="15">
                <a:solidFill>
                  <a:srgbClr val="333231"/>
                </a:solidFill>
                <a:latin typeface="Calibri"/>
              </a:rPr>
              <a:t>Pharmacy &amp; Healthcare Services</a:t>
            </a:r>
          </a:p>
        </p:txBody>
      </p:sp>
      <p:sp>
        <p:nvSpPr>
          <p:cNvPr id="102" name="Rectangle 101"/>
          <p:cNvSpPr/>
          <p:nvPr/>
        </p:nvSpPr>
        <p:spPr>
          <a:xfrm>
            <a:off x="419100" y="7029450"/>
            <a:ext cx="9220200" cy="9525"/>
          </a:xfrm>
          <a:prstGeom prst="rect">
            <a:avLst/>
          </a:prstGeom>
          <a:solidFill>
            <a:srgbClr val="E3DCD3"/>
          </a:solidFill>
          <a:ln>
            <a:noFill/>
          </a:ln>
          <a:effectLst/>
        </p:spPr>
        <p:txBody>
          <a:bodyPr rtlCol="0" anchor="ctr"/>
          <a:lstStyle/>
          <a:p>
            <a:pPr algn="ctr"/>
            <a:endParaRPr/>
          </a:p>
        </p:txBody>
      </p:sp>
      <p:pic>
        <p:nvPicPr>
          <p:cNvPr id="103" name="Picture 102" descr="Benchmark International"/>
          <p:cNvPicPr>
            <a:picLocks noChangeAspect="1"/>
          </p:cNvPicPr>
          <p:nvPr/>
        </p:nvPicPr>
        <p:blipFill>
          <a:blip r:embed="rId19"/>
          <a:srcRect/>
          <a:stretch>
            <a:fillRect/>
          </a:stretch>
        </p:blipFill>
        <p:spPr>
          <a:xfrm>
            <a:off x="419100" y="7143750"/>
            <a:ext cx="914400" cy="171450"/>
          </a:xfrm>
          <a:prstGeom prst="rect">
            <a:avLst/>
          </a:prstGeom>
        </p:spPr>
      </p:pic>
      <p:sp>
        <p:nvSpPr>
          <p:cNvPr id="104" name="Text: Team as listed on the Benchmark Ca"/>
          <p:cNvSpPr txBox="1"/>
          <p:nvPr/>
        </p:nvSpPr>
        <p:spPr>
          <a:xfrm>
            <a:off x="1543050" y="7105650"/>
            <a:ext cx="7748588" cy="238125"/>
          </a:xfrm>
          <a:prstGeom prst="rect">
            <a:avLst/>
          </a:prstGeom>
          <a:noFill/>
        </p:spPr>
        <p:txBody>
          <a:bodyPr wrap="square" lIns="0" tIns="0" rIns="0" bIns="0" anchor="t">
            <a:spAutoFit/>
          </a:bodyPr>
          <a:lstStyle/>
          <a:p>
            <a:pPr algn="l">
              <a:lnSpc>
                <a:spcPts val="938"/>
              </a:lnSpc>
            </a:pPr>
            <a:r>
              <a:rPr sz="675" b="0" i="0" spc="8">
                <a:solidFill>
                  <a:srgbClr val="6F6A66"/>
                </a:solidFill>
                <a:latin typeface="Calibri"/>
              </a:rPr>
              <a:t>Team as listed on the Middle Market site in October 2026.</a:t>
            </a:r>
          </a:p>
        </p:txBody>
      </p:sp>
      <p:sp>
        <p:nvSpPr>
          <p:cNvPr id="105" name="Text: 20"/>
          <p:cNvSpPr txBox="1"/>
          <p:nvPr/>
        </p:nvSpPr>
        <p:spPr>
          <a:xfrm>
            <a:off x="9509373" y="7162800"/>
            <a:ext cx="144214" cy="133350"/>
          </a:xfrm>
          <a:prstGeom prst="rect">
            <a:avLst/>
          </a:prstGeom>
          <a:noFill/>
        </p:spPr>
        <p:txBody>
          <a:bodyPr wrap="square" lIns="0" tIns="0" rIns="0" bIns="0" anchor="t">
            <a:spAutoFit/>
          </a:bodyPr>
          <a:lstStyle/>
          <a:p>
            <a:pPr algn="l">
              <a:lnSpc>
                <a:spcPts val="1050"/>
              </a:lnSpc>
            </a:pPr>
            <a:r>
              <a:rPr sz="712" b="1" i="0" spc="150">
                <a:solidFill>
                  <a:srgbClr val="1B1A1A"/>
                </a:solidFill>
                <a:latin typeface="Calibri"/>
              </a:rPr>
              <a:t>20</a:t>
            </a:r>
          </a:p>
        </p:txBody>
      </p:sp>
      <p:sp>
        <p:nvSpPr>
          <p:cNvPr id="106" name="Text: jhoutz@benchmarkintl.com"/>
          <p:cNvSpPr txBox="1"/>
          <p:nvPr/>
        </p:nvSpPr>
        <p:spPr>
          <a:xfrm>
            <a:off x="2835920" y="3271685"/>
            <a:ext cx="1252686" cy="304800"/>
          </a:xfrm>
          <a:prstGeom prst="rect">
            <a:avLst/>
          </a:prstGeom>
          <a:noFill/>
        </p:spPr>
        <p:txBody>
          <a:bodyPr wrap="square" lIns="0" tIns="0" rIns="0" bIns="0" anchor="t">
            <a:spAutoFit/>
          </a:bodyPr>
          <a:lstStyle/>
          <a:p>
            <a:pPr algn="ctr">
              <a:lnSpc>
                <a:spcPts val="1200"/>
              </a:lnSpc>
            </a:pPr>
            <a:r>
              <a:rPr sz="788" b="0" i="0" spc="15">
                <a:solidFill>
                  <a:srgbClr val="8C6239"/>
                </a:solidFill>
                <a:latin typeface="Calibri"/>
                <a:hlinkClick r:id="rId5">
                  <a:extLst>
                    <a:ext uri="{A12FA001-AC4F-418D-AE19-62706E023703}">
                      <ahyp:hlinkClr xmlns:ahyp="http://schemas.microsoft.com/office/drawing/2018/hyperlinkcolor" val="tx"/>
                    </a:ext>
                  </a:extLst>
                </a:hlinkClick>
              </a:rPr>
              <a:t>813-771-6675</a:t>
            </a:r>
            <a:br/>
            <a:r>
              <a:rPr sz="788" b="0" i="0" spc="15">
                <a:solidFill>
                  <a:srgbClr val="8C6239"/>
                </a:solidFill>
                <a:latin typeface="Calibri"/>
                <a:hlinkClick r:id="rId20">
                  <a:extLst>
                    <a:ext uri="{A12FA001-AC4F-418D-AE19-62706E023703}">
                      <ahyp:hlinkClr xmlns:ahyp="http://schemas.microsoft.com/office/drawing/2018/hyperlinkcolor" val="tx"/>
                    </a:ext>
                  </a:extLst>
                </a:hlinkClick>
              </a:rPr>
              <a:t>jhoutz@benchmarkintl.com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57150" cy="7772400"/>
          </a:xfrm>
          <a:prstGeom prst="rect">
            <a:avLst/>
          </a:prstGeom>
          <a:solidFill>
            <a:srgbClr val="B68757"/>
          </a:solidFill>
          <a:ln>
            <a:noFill/>
          </a:ln>
          <a:effectLst/>
        </p:spPr>
        <p:txBody>
          <a:bodyPr rtlCol="0" anchor="ctr"/>
          <a:lstStyle/>
          <a:p>
            <a:pPr algn="ctr"/>
            <a:endParaRPr/>
          </a:p>
        </p:txBody>
      </p:sp>
      <p:sp>
        <p:nvSpPr>
          <p:cNvPr id="3" name="Text: HEALTHCARE | QUARTERLY SECTOR BRIE"/>
          <p:cNvSpPr txBox="1"/>
          <p:nvPr/>
        </p:nvSpPr>
        <p:spPr>
          <a:xfrm>
            <a:off x="419100" y="381000"/>
            <a:ext cx="2439591" cy="133350"/>
          </a:xfrm>
          <a:prstGeom prst="rect">
            <a:avLst/>
          </a:prstGeom>
          <a:noFill/>
        </p:spPr>
        <p:txBody>
          <a:bodyPr wrap="none" lIns="0" tIns="0" rIns="0" bIns="0" anchor="t">
            <a:spAutoFit/>
          </a:bodyPr>
          <a:lstStyle/>
          <a:p>
            <a:pPr algn="l">
              <a:lnSpc>
                <a:spcPts val="1050"/>
              </a:lnSpc>
            </a:pPr>
            <a:r>
              <a:rPr sz="675" b="1" i="0" spc="195">
                <a:solidFill>
                  <a:srgbClr val="8C6239"/>
                </a:solidFill>
                <a:latin typeface="Calibri"/>
              </a:rPr>
              <a:t>HEALTHCARE | QUARTERLY INDUSTRY REPORT</a:t>
            </a:r>
          </a:p>
        </p:txBody>
      </p:sp>
      <p:sp>
        <p:nvSpPr>
          <p:cNvPr id="4" name="Text: Q4 2026"/>
          <p:cNvSpPr txBox="1"/>
          <p:nvPr/>
        </p:nvSpPr>
        <p:spPr>
          <a:xfrm>
            <a:off x="9188648" y="361950"/>
            <a:ext cx="464939" cy="171450"/>
          </a:xfrm>
          <a:prstGeom prst="rect">
            <a:avLst/>
          </a:prstGeom>
          <a:noFill/>
        </p:spPr>
        <p:txBody>
          <a:bodyPr wrap="square" lIns="0" tIns="0" rIns="0" bIns="0" anchor="t">
            <a:spAutoFit/>
          </a:bodyPr>
          <a:lstStyle/>
          <a:p>
            <a:pPr algn="l">
              <a:lnSpc>
                <a:spcPts val="1350"/>
              </a:lnSpc>
            </a:pPr>
            <a:r>
              <a:rPr sz="900" b="0" i="0" spc="90">
                <a:solidFill>
                  <a:srgbClr val="6F6A66"/>
                </a:solidFill>
                <a:latin typeface="Cambria"/>
              </a:rPr>
              <a:t>Q4 2026</a:t>
            </a:r>
          </a:p>
        </p:txBody>
      </p:sp>
      <p:sp>
        <p:nvSpPr>
          <p:cNvPr id="5" name="Text: Benchmark International"/>
          <p:cNvSpPr txBox="1"/>
          <p:nvPr/>
        </p:nvSpPr>
        <p:spPr>
          <a:xfrm>
            <a:off x="419100" y="523875"/>
            <a:ext cx="9234488" cy="323850"/>
          </a:xfrm>
          <a:prstGeom prst="rect">
            <a:avLst/>
          </a:prstGeom>
          <a:noFill/>
        </p:spPr>
        <p:txBody>
          <a:bodyPr wrap="square" lIns="0" tIns="0" rIns="0" bIns="0" anchor="t">
            <a:spAutoFit/>
          </a:bodyPr>
          <a:lstStyle/>
          <a:p>
            <a:pPr algn="l">
              <a:lnSpc>
                <a:spcPts val="2550"/>
              </a:lnSpc>
            </a:pPr>
            <a:r>
              <a:rPr sz="2025" b="1" i="0">
                <a:solidFill>
                  <a:srgbClr val="1B1A1A"/>
                </a:solidFill>
                <a:latin typeface="Cambria"/>
              </a:rPr>
              <a:t>Benchmark International</a:t>
            </a:r>
          </a:p>
        </p:txBody>
      </p:sp>
      <p:sp>
        <p:nvSpPr>
          <p:cNvPr id="6" name="Text: The world's leading privately owne"/>
          <p:cNvSpPr txBox="1"/>
          <p:nvPr/>
        </p:nvSpPr>
        <p:spPr>
          <a:xfrm>
            <a:off x="419100" y="885825"/>
            <a:ext cx="10215086" cy="180975"/>
          </a:xfrm>
          <a:prstGeom prst="rect">
            <a:avLst/>
          </a:prstGeom>
          <a:noFill/>
        </p:spPr>
        <p:txBody>
          <a:bodyPr wrap="square" lIns="0" tIns="0" rIns="0" bIns="0" anchor="t">
            <a:spAutoFit/>
          </a:bodyPr>
          <a:lstStyle/>
          <a:p>
            <a:pPr algn="l">
              <a:lnSpc>
                <a:spcPts val="1388"/>
              </a:lnSpc>
            </a:pPr>
            <a:r>
              <a:rPr sz="938" b="0" i="0" spc="15">
                <a:solidFill>
                  <a:srgbClr val="6F6A66"/>
                </a:solidFill>
                <a:latin typeface="Calibri"/>
              </a:rPr>
              <a:t>The world's leading privately owned sell-side M&amp;A advisor, with its Middle Market team focused on five industries.</a:t>
            </a:r>
          </a:p>
        </p:txBody>
      </p:sp>
      <p:sp>
        <p:nvSpPr>
          <p:cNvPr id="7" name="Rectangle 6"/>
          <p:cNvSpPr/>
          <p:nvPr/>
        </p:nvSpPr>
        <p:spPr>
          <a:xfrm>
            <a:off x="419100" y="1143000"/>
            <a:ext cx="9220200" cy="9525"/>
          </a:xfrm>
          <a:prstGeom prst="rect">
            <a:avLst/>
          </a:prstGeom>
          <a:solidFill>
            <a:srgbClr val="E3DCD3"/>
          </a:solidFill>
          <a:ln>
            <a:noFill/>
          </a:ln>
          <a:effectLst/>
        </p:spPr>
        <p:txBody>
          <a:bodyPr rtlCol="0" anchor="ctr"/>
          <a:lstStyle/>
          <a:p>
            <a:pPr algn="ctr"/>
            <a:endParaRPr/>
          </a:p>
        </p:txBody>
      </p:sp>
      <p:sp>
        <p:nvSpPr>
          <p:cNvPr id="8" name="Rectangle 7"/>
          <p:cNvSpPr/>
          <p:nvPr/>
        </p:nvSpPr>
        <p:spPr>
          <a:xfrm>
            <a:off x="419100" y="1238250"/>
            <a:ext cx="9220200" cy="2286000"/>
          </a:xfrm>
          <a:prstGeom prst="rect">
            <a:avLst/>
          </a:prstGeom>
          <a:solidFill>
            <a:srgbClr val="1B1A1A"/>
          </a:solidFill>
          <a:ln>
            <a:noFill/>
          </a:ln>
          <a:effectLst/>
        </p:spPr>
        <p:txBody>
          <a:bodyPr rtlCol="0" anchor="ctr"/>
          <a:lstStyle/>
          <a:p>
            <a:pPr algn="ctr"/>
            <a:endParaRPr/>
          </a:p>
        </p:txBody>
      </p:sp>
      <p:pic>
        <p:nvPicPr>
          <p:cNvPr id="9" name="Picture 8" descr="knot-dark.jpg"/>
          <p:cNvPicPr>
            <a:picLocks noChangeAspect="1"/>
          </p:cNvPicPr>
          <p:nvPr/>
        </p:nvPicPr>
        <p:blipFill>
          <a:blip r:embed="rId2">
            <a:alphaModFix amt="50000"/>
          </a:blip>
          <a:srcRect l="13603" t="24064" r="13603" b="43850"/>
          <a:stretch>
            <a:fillRect/>
          </a:stretch>
        </p:blipFill>
        <p:spPr>
          <a:xfrm>
            <a:off x="419100" y="1238250"/>
            <a:ext cx="9220200" cy="2286000"/>
          </a:xfrm>
          <a:prstGeom prst="rect">
            <a:avLst/>
          </a:prstGeom>
        </p:spPr>
      </p:pic>
      <p:pic>
        <p:nvPicPr>
          <p:cNvPr id="10" name="Picture 9" descr="Benchmark International"/>
          <p:cNvPicPr>
            <a:picLocks noChangeAspect="1"/>
          </p:cNvPicPr>
          <p:nvPr/>
        </p:nvPicPr>
        <p:blipFill>
          <a:blip r:embed="rId3"/>
          <a:srcRect/>
          <a:stretch>
            <a:fillRect/>
          </a:stretch>
        </p:blipFill>
        <p:spPr>
          <a:xfrm>
            <a:off x="685800" y="1466850"/>
            <a:ext cx="2381250" cy="447675"/>
          </a:xfrm>
          <a:prstGeom prst="rect">
            <a:avLst/>
          </a:prstGeom>
        </p:spPr>
      </p:pic>
      <p:sp>
        <p:nvSpPr>
          <p:cNvPr id="11" name="TextBox"/>
          <p:cNvSpPr txBox="1"/>
          <p:nvPr/>
        </p:nvSpPr>
        <p:spPr>
          <a:xfrm>
            <a:off x="3352800" y="1504950"/>
            <a:ext cx="6034088" cy="371475"/>
          </a:xfrm>
          <a:prstGeom prst="rect">
            <a:avLst/>
          </a:prstGeom>
          <a:noFill/>
        </p:spPr>
        <p:txBody>
          <a:bodyPr wrap="square" lIns="0" tIns="0" rIns="0" bIns="0" anchor="t">
            <a:spAutoFit/>
          </a:bodyPr>
          <a:lstStyle/>
          <a:p>
            <a:pPr algn="l">
              <a:lnSpc>
                <a:spcPts val="1462"/>
              </a:lnSpc>
            </a:pPr>
            <a:r>
              <a:rPr sz="938" b="0" i="0" spc="15">
                <a:solidFill>
                  <a:srgbClr val="E8E2DA"/>
                </a:solidFill>
                <a:latin typeface="Calibri"/>
              </a:rPr>
              <a:t>The Middle Market team, part of Benchmark International, advises owners of privately held companies across five industries on strategic sales, mergers, and qualifying change-of-control transactions.</a:t>
            </a:r>
          </a:p>
        </p:txBody>
      </p:sp>
      <p:sp>
        <p:nvSpPr>
          <p:cNvPr id="12" name="Rectangle 11"/>
          <p:cNvSpPr/>
          <p:nvPr/>
        </p:nvSpPr>
        <p:spPr>
          <a:xfrm>
            <a:off x="514350" y="2162175"/>
            <a:ext cx="9525" cy="847725"/>
          </a:xfrm>
          <a:prstGeom prst="rect">
            <a:avLst/>
          </a:prstGeom>
          <a:solidFill>
            <a:srgbClr val="FFFFFF">
              <a:alpha val="18000"/>
            </a:srgbClr>
          </a:solidFill>
          <a:ln>
            <a:noFill/>
          </a:ln>
          <a:effectLst/>
        </p:spPr>
        <p:txBody>
          <a:bodyPr rtlCol="0" anchor="ctr"/>
          <a:lstStyle/>
          <a:p>
            <a:pPr algn="ctr"/>
            <a:endParaRPr/>
          </a:p>
        </p:txBody>
      </p:sp>
      <p:sp>
        <p:nvSpPr>
          <p:cNvPr id="13" name="Text: #1"/>
          <p:cNvSpPr txBox="1"/>
          <p:nvPr/>
        </p:nvSpPr>
        <p:spPr>
          <a:xfrm>
            <a:off x="695325" y="2162175"/>
            <a:ext cx="1977807" cy="342900"/>
          </a:xfrm>
          <a:prstGeom prst="rect">
            <a:avLst/>
          </a:prstGeom>
          <a:noFill/>
        </p:spPr>
        <p:txBody>
          <a:bodyPr wrap="square" lIns="0" tIns="0" rIns="0" bIns="0" anchor="t">
            <a:spAutoFit/>
          </a:bodyPr>
          <a:lstStyle/>
          <a:p>
            <a:pPr algn="l">
              <a:lnSpc>
                <a:spcPts val="2700"/>
              </a:lnSpc>
            </a:pPr>
            <a:r>
              <a:rPr sz="2250" b="1" i="0">
                <a:solidFill>
                  <a:srgbClr val="D3AE84"/>
                </a:solidFill>
                <a:latin typeface="Cambria"/>
              </a:rPr>
              <a:t>#1</a:t>
            </a:r>
          </a:p>
        </p:txBody>
      </p:sp>
      <p:sp>
        <p:nvSpPr>
          <p:cNvPr id="14" name="Text: Privately owned sell-side M&amp;A advi"/>
          <p:cNvSpPr txBox="1"/>
          <p:nvPr/>
        </p:nvSpPr>
        <p:spPr>
          <a:xfrm>
            <a:off x="695325" y="2552700"/>
            <a:ext cx="1746052" cy="457200"/>
          </a:xfrm>
          <a:prstGeom prst="rect">
            <a:avLst/>
          </a:prstGeom>
          <a:noFill/>
        </p:spPr>
        <p:txBody>
          <a:bodyPr wrap="square" lIns="0" tIns="0" rIns="0" bIns="0" anchor="t">
            <a:spAutoFit/>
          </a:bodyPr>
          <a:lstStyle/>
          <a:p>
            <a:pPr algn="l">
              <a:lnSpc>
                <a:spcPts val="1200"/>
              </a:lnSpc>
            </a:pPr>
            <a:r>
              <a:rPr sz="825" b="0" i="0" spc="15">
                <a:solidFill>
                  <a:srgbClr val="E8E2DA"/>
                </a:solidFill>
                <a:latin typeface="Calibri"/>
              </a:rPr>
              <a:t>Privately owned sell-side M&amp;A advisor worldwide, based on PitchBook's Q2 2026 Global League Tables</a:t>
            </a:r>
          </a:p>
        </p:txBody>
      </p:sp>
      <p:sp>
        <p:nvSpPr>
          <p:cNvPr id="15" name="Rectangle 14"/>
          <p:cNvSpPr/>
          <p:nvPr/>
        </p:nvSpPr>
        <p:spPr>
          <a:xfrm>
            <a:off x="2598539" y="2162175"/>
            <a:ext cx="9525" cy="847725"/>
          </a:xfrm>
          <a:prstGeom prst="rect">
            <a:avLst/>
          </a:prstGeom>
          <a:solidFill>
            <a:srgbClr val="FFFFFF">
              <a:alpha val="18000"/>
            </a:srgbClr>
          </a:solidFill>
          <a:ln>
            <a:noFill/>
          </a:ln>
          <a:effectLst/>
        </p:spPr>
        <p:txBody>
          <a:bodyPr rtlCol="0" anchor="ctr"/>
          <a:lstStyle/>
          <a:p>
            <a:pPr algn="ctr"/>
            <a:endParaRPr/>
          </a:p>
        </p:txBody>
      </p:sp>
      <p:sp>
        <p:nvSpPr>
          <p:cNvPr id="16" name="Text: $50M to $500M"/>
          <p:cNvSpPr txBox="1"/>
          <p:nvPr/>
        </p:nvSpPr>
        <p:spPr>
          <a:xfrm>
            <a:off x="2779514" y="2162175"/>
            <a:ext cx="2551122" cy="342900"/>
          </a:xfrm>
          <a:prstGeom prst="rect">
            <a:avLst/>
          </a:prstGeom>
          <a:noFill/>
        </p:spPr>
        <p:txBody>
          <a:bodyPr wrap="square" lIns="0" tIns="0" rIns="0" bIns="0" anchor="t">
            <a:spAutoFit/>
          </a:bodyPr>
          <a:lstStyle/>
          <a:p>
            <a:pPr algn="l">
              <a:lnSpc>
                <a:spcPts val="2700"/>
              </a:lnSpc>
            </a:pPr>
            <a:r>
              <a:rPr sz="2250" b="1" i="0">
                <a:solidFill>
                  <a:srgbClr val="D3AE84"/>
                </a:solidFill>
                <a:latin typeface="Cambria"/>
              </a:rPr>
              <a:t>$50M to $500M</a:t>
            </a:r>
          </a:p>
        </p:txBody>
      </p:sp>
      <p:sp>
        <p:nvSpPr>
          <p:cNvPr id="17" name="Text: Total enterprise value range the B"/>
          <p:cNvSpPr txBox="1"/>
          <p:nvPr/>
        </p:nvSpPr>
        <p:spPr>
          <a:xfrm>
            <a:off x="2779514" y="2552700"/>
            <a:ext cx="2267248" cy="152400"/>
          </a:xfrm>
          <a:prstGeom prst="rect">
            <a:avLst/>
          </a:prstGeom>
          <a:noFill/>
        </p:spPr>
        <p:txBody>
          <a:bodyPr wrap="square" lIns="0" tIns="0" rIns="0" bIns="0" anchor="t">
            <a:spAutoFit/>
          </a:bodyPr>
          <a:lstStyle/>
          <a:p>
            <a:pPr algn="l">
              <a:lnSpc>
                <a:spcPts val="1200"/>
              </a:lnSpc>
            </a:pPr>
            <a:r>
              <a:rPr sz="825" b="0" i="0" spc="15">
                <a:solidFill>
                  <a:srgbClr val="E8E2DA"/>
                </a:solidFill>
                <a:latin typeface="Calibri"/>
              </a:rPr>
              <a:t>Total enterprise value range the Middle Market team serves</a:t>
            </a:r>
          </a:p>
        </p:txBody>
      </p:sp>
      <p:sp>
        <p:nvSpPr>
          <p:cNvPr id="18" name="Rectangle 17"/>
          <p:cNvSpPr/>
          <p:nvPr/>
        </p:nvSpPr>
        <p:spPr>
          <a:xfrm>
            <a:off x="5203924" y="2162175"/>
            <a:ext cx="9525" cy="847725"/>
          </a:xfrm>
          <a:prstGeom prst="rect">
            <a:avLst/>
          </a:prstGeom>
          <a:solidFill>
            <a:srgbClr val="FFFFFF">
              <a:alpha val="18000"/>
            </a:srgbClr>
          </a:solidFill>
          <a:ln>
            <a:noFill/>
          </a:ln>
          <a:effectLst/>
        </p:spPr>
        <p:txBody>
          <a:bodyPr rtlCol="0" anchor="ctr"/>
          <a:lstStyle/>
          <a:p>
            <a:pPr algn="ctr"/>
            <a:endParaRPr/>
          </a:p>
        </p:txBody>
      </p:sp>
      <p:sp>
        <p:nvSpPr>
          <p:cNvPr id="19" name="Text: 5"/>
          <p:cNvSpPr txBox="1"/>
          <p:nvPr/>
        </p:nvSpPr>
        <p:spPr>
          <a:xfrm>
            <a:off x="5384899" y="2162175"/>
            <a:ext cx="1977970" cy="342900"/>
          </a:xfrm>
          <a:prstGeom prst="rect">
            <a:avLst/>
          </a:prstGeom>
          <a:noFill/>
        </p:spPr>
        <p:txBody>
          <a:bodyPr wrap="square" lIns="0" tIns="0" rIns="0" bIns="0" anchor="t">
            <a:spAutoFit/>
          </a:bodyPr>
          <a:lstStyle/>
          <a:p>
            <a:pPr algn="l">
              <a:lnSpc>
                <a:spcPts val="2700"/>
              </a:lnSpc>
            </a:pPr>
            <a:r>
              <a:rPr sz="2250" b="1" i="0">
                <a:solidFill>
                  <a:srgbClr val="D3AE84"/>
                </a:solidFill>
                <a:latin typeface="Cambria"/>
              </a:rPr>
              <a:t>5</a:t>
            </a:r>
          </a:p>
        </p:txBody>
      </p:sp>
      <p:sp>
        <p:nvSpPr>
          <p:cNvPr id="20" name="Text: Focused industry groups with dedic"/>
          <p:cNvSpPr txBox="1"/>
          <p:nvPr/>
        </p:nvSpPr>
        <p:spPr>
          <a:xfrm>
            <a:off x="5384899" y="2552700"/>
            <a:ext cx="1746200" cy="304800"/>
          </a:xfrm>
          <a:prstGeom prst="rect">
            <a:avLst/>
          </a:prstGeom>
          <a:noFill/>
        </p:spPr>
        <p:txBody>
          <a:bodyPr wrap="square" lIns="0" tIns="0" rIns="0" bIns="0" anchor="t">
            <a:spAutoFit/>
          </a:bodyPr>
          <a:lstStyle/>
          <a:p>
            <a:pPr algn="l">
              <a:lnSpc>
                <a:spcPts val="1200"/>
              </a:lnSpc>
            </a:pPr>
            <a:r>
              <a:rPr sz="825" b="0" i="0" spc="15">
                <a:solidFill>
                  <a:srgbClr val="E8E2DA"/>
                </a:solidFill>
                <a:latin typeface="Calibri"/>
              </a:rPr>
              <a:t>Focused industry groups with dedicated expertise</a:t>
            </a:r>
          </a:p>
        </p:txBody>
      </p:sp>
      <p:sp>
        <p:nvSpPr>
          <p:cNvPr id="21" name="Rectangle 20"/>
          <p:cNvSpPr/>
          <p:nvPr/>
        </p:nvSpPr>
        <p:spPr>
          <a:xfrm>
            <a:off x="7288262" y="2162175"/>
            <a:ext cx="9525" cy="847725"/>
          </a:xfrm>
          <a:prstGeom prst="rect">
            <a:avLst/>
          </a:prstGeom>
          <a:solidFill>
            <a:srgbClr val="FFFFFF">
              <a:alpha val="18000"/>
            </a:srgbClr>
          </a:solidFill>
          <a:ln>
            <a:noFill/>
          </a:ln>
          <a:effectLst/>
        </p:spPr>
        <p:txBody>
          <a:bodyPr rtlCol="0" anchor="ctr"/>
          <a:lstStyle/>
          <a:p>
            <a:pPr algn="ctr"/>
            <a:endParaRPr/>
          </a:p>
        </p:txBody>
      </p:sp>
      <p:sp>
        <p:nvSpPr>
          <p:cNvPr id="22" name="Text: 15"/>
          <p:cNvSpPr txBox="1"/>
          <p:nvPr/>
        </p:nvSpPr>
        <p:spPr>
          <a:xfrm>
            <a:off x="7469237" y="2162175"/>
            <a:ext cx="1977970" cy="342900"/>
          </a:xfrm>
          <a:prstGeom prst="rect">
            <a:avLst/>
          </a:prstGeom>
          <a:noFill/>
        </p:spPr>
        <p:txBody>
          <a:bodyPr wrap="square" lIns="0" tIns="0" rIns="0" bIns="0" anchor="t">
            <a:spAutoFit/>
          </a:bodyPr>
          <a:lstStyle/>
          <a:p>
            <a:pPr algn="l">
              <a:lnSpc>
                <a:spcPts val="2700"/>
              </a:lnSpc>
            </a:pPr>
            <a:r>
              <a:rPr sz="2250" b="1" i="0">
                <a:solidFill>
                  <a:srgbClr val="D3AE84"/>
                </a:solidFill>
                <a:latin typeface="Cambria"/>
              </a:rPr>
              <a:t>15</a:t>
            </a:r>
          </a:p>
        </p:txBody>
      </p:sp>
      <p:sp>
        <p:nvSpPr>
          <p:cNvPr id="23" name="Text: Global offices across the Americas"/>
          <p:cNvSpPr txBox="1"/>
          <p:nvPr/>
        </p:nvSpPr>
        <p:spPr>
          <a:xfrm>
            <a:off x="7469237" y="2552700"/>
            <a:ext cx="1746200" cy="304800"/>
          </a:xfrm>
          <a:prstGeom prst="rect">
            <a:avLst/>
          </a:prstGeom>
          <a:noFill/>
        </p:spPr>
        <p:txBody>
          <a:bodyPr wrap="square" lIns="0" tIns="0" rIns="0" bIns="0" anchor="t">
            <a:spAutoFit/>
          </a:bodyPr>
          <a:lstStyle/>
          <a:p>
            <a:pPr algn="l">
              <a:lnSpc>
                <a:spcPts val="1200"/>
              </a:lnSpc>
            </a:pPr>
            <a:r>
              <a:rPr sz="825" b="0" i="0" spc="15">
                <a:solidFill>
                  <a:srgbClr val="E8E2DA"/>
                </a:solidFill>
                <a:latin typeface="Calibri"/>
              </a:rPr>
              <a:t>Global offices across the Americas, Europe, and Africa</a:t>
            </a:r>
          </a:p>
        </p:txBody>
      </p:sp>
      <p:sp>
        <p:nvSpPr>
          <p:cNvPr id="24" name="Text: RECOGNITION"/>
          <p:cNvSpPr txBox="1"/>
          <p:nvPr/>
        </p:nvSpPr>
        <p:spPr>
          <a:xfrm>
            <a:off x="419100" y="3714750"/>
            <a:ext cx="9234488" cy="123825"/>
          </a:xfrm>
          <a:prstGeom prst="rect">
            <a:avLst/>
          </a:prstGeom>
          <a:noFill/>
        </p:spPr>
        <p:txBody>
          <a:bodyPr wrap="square" lIns="0" tIns="0" rIns="0" bIns="0" anchor="t">
            <a:spAutoFit/>
          </a:bodyPr>
          <a:lstStyle/>
          <a:p>
            <a:pPr algn="l">
              <a:lnSpc>
                <a:spcPts val="975"/>
              </a:lnSpc>
            </a:pPr>
            <a:r>
              <a:rPr sz="675" b="1" i="0" spc="150">
                <a:solidFill>
                  <a:srgbClr val="8C6239"/>
                </a:solidFill>
                <a:latin typeface="Calibri"/>
              </a:rPr>
              <a:t>RECOGNITION</a:t>
            </a:r>
          </a:p>
        </p:txBody>
      </p:sp>
      <p:sp>
        <p:nvSpPr>
          <p:cNvPr id="25" name="Rectangle 24"/>
          <p:cNvSpPr/>
          <p:nvPr/>
        </p:nvSpPr>
        <p:spPr>
          <a:xfrm>
            <a:off x="419100" y="3924300"/>
            <a:ext cx="2205038" cy="1466850"/>
          </a:xfrm>
          <a:prstGeom prst="rect">
            <a:avLst/>
          </a:prstGeom>
          <a:solidFill>
            <a:srgbClr val="FFFFFF"/>
          </a:solidFill>
          <a:ln>
            <a:noFill/>
          </a:ln>
          <a:effectLst/>
        </p:spPr>
        <p:txBody>
          <a:bodyPr rtlCol="0" anchor="ctr"/>
          <a:lstStyle/>
          <a:p>
            <a:pPr algn="ctr"/>
            <a:endParaRPr/>
          </a:p>
        </p:txBody>
      </p:sp>
      <p:sp>
        <p:nvSpPr>
          <p:cNvPr id="26" name="Rectangle 25"/>
          <p:cNvSpPr/>
          <p:nvPr/>
        </p:nvSpPr>
        <p:spPr>
          <a:xfrm>
            <a:off x="419100" y="3924300"/>
            <a:ext cx="2205038" cy="28575"/>
          </a:xfrm>
          <a:prstGeom prst="rect">
            <a:avLst/>
          </a:prstGeom>
          <a:solidFill>
            <a:srgbClr val="B68757"/>
          </a:solidFill>
          <a:ln>
            <a:noFill/>
          </a:ln>
          <a:effectLst/>
        </p:spPr>
        <p:txBody>
          <a:bodyPr rtlCol="0" anchor="ctr"/>
          <a:lstStyle/>
          <a:p>
            <a:pPr algn="ctr"/>
            <a:endParaRPr/>
          </a:p>
        </p:txBody>
      </p:sp>
      <p:sp>
        <p:nvSpPr>
          <p:cNvPr id="27" name="Rectangle 26"/>
          <p:cNvSpPr/>
          <p:nvPr/>
        </p:nvSpPr>
        <p:spPr>
          <a:xfrm>
            <a:off x="2614612" y="3924300"/>
            <a:ext cx="9525" cy="1466850"/>
          </a:xfrm>
          <a:prstGeom prst="rect">
            <a:avLst/>
          </a:prstGeom>
          <a:solidFill>
            <a:srgbClr val="E3DCD3"/>
          </a:solidFill>
          <a:ln>
            <a:noFill/>
          </a:ln>
          <a:effectLst/>
        </p:spPr>
        <p:txBody>
          <a:bodyPr rtlCol="0" anchor="ctr"/>
          <a:lstStyle/>
          <a:p>
            <a:pPr algn="ctr"/>
            <a:endParaRPr/>
          </a:p>
        </p:txBody>
      </p:sp>
      <p:sp>
        <p:nvSpPr>
          <p:cNvPr id="28" name="Rectangle 27"/>
          <p:cNvSpPr/>
          <p:nvPr/>
        </p:nvSpPr>
        <p:spPr>
          <a:xfrm>
            <a:off x="419100" y="5381625"/>
            <a:ext cx="2205038" cy="9525"/>
          </a:xfrm>
          <a:prstGeom prst="rect">
            <a:avLst/>
          </a:prstGeom>
          <a:solidFill>
            <a:srgbClr val="E3DCD3"/>
          </a:solidFill>
          <a:ln>
            <a:noFill/>
          </a:ln>
          <a:effectLst/>
        </p:spPr>
        <p:txBody>
          <a:bodyPr rtlCol="0" anchor="ctr"/>
          <a:lstStyle/>
          <a:p>
            <a:pPr algn="ctr"/>
            <a:endParaRPr/>
          </a:p>
        </p:txBody>
      </p:sp>
      <p:sp>
        <p:nvSpPr>
          <p:cNvPr id="29" name="Rectangle 28"/>
          <p:cNvSpPr/>
          <p:nvPr/>
        </p:nvSpPr>
        <p:spPr>
          <a:xfrm>
            <a:off x="419100" y="3924300"/>
            <a:ext cx="9525" cy="1466850"/>
          </a:xfrm>
          <a:prstGeom prst="rect">
            <a:avLst/>
          </a:prstGeom>
          <a:solidFill>
            <a:srgbClr val="E3DCD3"/>
          </a:solidFill>
          <a:ln>
            <a:noFill/>
          </a:ln>
          <a:effectLst/>
        </p:spPr>
        <p:txBody>
          <a:bodyPr rtlCol="0" anchor="ctr"/>
          <a:lstStyle/>
          <a:p>
            <a:pPr algn="ctr"/>
            <a:endParaRPr/>
          </a:p>
        </p:txBody>
      </p:sp>
      <p:pic>
        <p:nvPicPr>
          <p:cNvPr id="30" name="Picture 29" descr="The M&amp;A Advisor: Investment Banking Firm of the Year"/>
          <p:cNvPicPr>
            <a:picLocks noChangeAspect="1"/>
          </p:cNvPicPr>
          <p:nvPr/>
        </p:nvPicPr>
        <p:blipFill>
          <a:blip r:embed="rId4"/>
          <a:srcRect/>
          <a:stretch>
            <a:fillRect/>
          </a:stretch>
        </p:blipFill>
        <p:spPr>
          <a:xfrm>
            <a:off x="514499" y="4086225"/>
            <a:ext cx="2014091" cy="1162050"/>
          </a:xfrm>
          <a:prstGeom prst="rect">
            <a:avLst/>
          </a:prstGeom>
        </p:spPr>
      </p:pic>
      <p:sp>
        <p:nvSpPr>
          <p:cNvPr id="31" name="Rectangle 30"/>
          <p:cNvSpPr/>
          <p:nvPr/>
        </p:nvSpPr>
        <p:spPr>
          <a:xfrm>
            <a:off x="2757488" y="3924300"/>
            <a:ext cx="2205038" cy="1466850"/>
          </a:xfrm>
          <a:prstGeom prst="rect">
            <a:avLst/>
          </a:prstGeom>
          <a:solidFill>
            <a:srgbClr val="FFFFFF"/>
          </a:solidFill>
          <a:ln>
            <a:noFill/>
          </a:ln>
          <a:effectLst/>
        </p:spPr>
        <p:txBody>
          <a:bodyPr rtlCol="0" anchor="ctr"/>
          <a:lstStyle/>
          <a:p>
            <a:pPr algn="ctr"/>
            <a:endParaRPr/>
          </a:p>
        </p:txBody>
      </p:sp>
      <p:sp>
        <p:nvSpPr>
          <p:cNvPr id="32" name="Rectangle 31"/>
          <p:cNvSpPr/>
          <p:nvPr/>
        </p:nvSpPr>
        <p:spPr>
          <a:xfrm>
            <a:off x="2757488" y="3924300"/>
            <a:ext cx="2205038" cy="28575"/>
          </a:xfrm>
          <a:prstGeom prst="rect">
            <a:avLst/>
          </a:prstGeom>
          <a:solidFill>
            <a:srgbClr val="B68757"/>
          </a:solidFill>
          <a:ln>
            <a:noFill/>
          </a:ln>
          <a:effectLst/>
        </p:spPr>
        <p:txBody>
          <a:bodyPr rtlCol="0" anchor="ctr"/>
          <a:lstStyle/>
          <a:p>
            <a:pPr algn="ctr"/>
            <a:endParaRPr/>
          </a:p>
        </p:txBody>
      </p:sp>
      <p:sp>
        <p:nvSpPr>
          <p:cNvPr id="33" name="Rectangle 32"/>
          <p:cNvSpPr/>
          <p:nvPr/>
        </p:nvSpPr>
        <p:spPr>
          <a:xfrm>
            <a:off x="4953000" y="3924300"/>
            <a:ext cx="9525" cy="1466850"/>
          </a:xfrm>
          <a:prstGeom prst="rect">
            <a:avLst/>
          </a:prstGeom>
          <a:solidFill>
            <a:srgbClr val="E3DCD3"/>
          </a:solidFill>
          <a:ln>
            <a:noFill/>
          </a:ln>
          <a:effectLst/>
        </p:spPr>
        <p:txBody>
          <a:bodyPr rtlCol="0" anchor="ctr"/>
          <a:lstStyle/>
          <a:p>
            <a:pPr algn="ctr"/>
            <a:endParaRPr/>
          </a:p>
        </p:txBody>
      </p:sp>
      <p:sp>
        <p:nvSpPr>
          <p:cNvPr id="34" name="Rectangle 33"/>
          <p:cNvSpPr/>
          <p:nvPr/>
        </p:nvSpPr>
        <p:spPr>
          <a:xfrm>
            <a:off x="2757488" y="5381625"/>
            <a:ext cx="2205038" cy="9525"/>
          </a:xfrm>
          <a:prstGeom prst="rect">
            <a:avLst/>
          </a:prstGeom>
          <a:solidFill>
            <a:srgbClr val="E3DCD3"/>
          </a:solidFill>
          <a:ln>
            <a:noFill/>
          </a:ln>
          <a:effectLst/>
        </p:spPr>
        <p:txBody>
          <a:bodyPr rtlCol="0" anchor="ctr"/>
          <a:lstStyle/>
          <a:p>
            <a:pPr algn="ctr"/>
            <a:endParaRPr/>
          </a:p>
        </p:txBody>
      </p:sp>
      <p:sp>
        <p:nvSpPr>
          <p:cNvPr id="35" name="Rectangle 34"/>
          <p:cNvSpPr/>
          <p:nvPr/>
        </p:nvSpPr>
        <p:spPr>
          <a:xfrm>
            <a:off x="2757488" y="3924300"/>
            <a:ext cx="9525" cy="1466850"/>
          </a:xfrm>
          <a:prstGeom prst="rect">
            <a:avLst/>
          </a:prstGeom>
          <a:solidFill>
            <a:srgbClr val="E3DCD3"/>
          </a:solidFill>
          <a:ln>
            <a:noFill/>
          </a:ln>
          <a:effectLst/>
        </p:spPr>
        <p:txBody>
          <a:bodyPr rtlCol="0" anchor="ctr"/>
          <a:lstStyle/>
          <a:p>
            <a:pPr algn="ctr"/>
            <a:endParaRPr/>
          </a:p>
        </p:txBody>
      </p:sp>
      <p:pic>
        <p:nvPicPr>
          <p:cNvPr id="36" name="Picture 35" descr="PitchBook: number one sell-side exclusive M&amp;A advisor in the world"/>
          <p:cNvPicPr>
            <a:picLocks noChangeAspect="1"/>
          </p:cNvPicPr>
          <p:nvPr/>
        </p:nvPicPr>
        <p:blipFill>
          <a:blip r:embed="rId5"/>
          <a:srcRect/>
          <a:stretch>
            <a:fillRect/>
          </a:stretch>
        </p:blipFill>
        <p:spPr>
          <a:xfrm>
            <a:off x="2852886" y="4086225"/>
            <a:ext cx="2014091" cy="1162050"/>
          </a:xfrm>
          <a:prstGeom prst="rect">
            <a:avLst/>
          </a:prstGeom>
        </p:spPr>
      </p:pic>
      <p:sp>
        <p:nvSpPr>
          <p:cNvPr id="37" name="Rectangle 36"/>
          <p:cNvSpPr/>
          <p:nvPr/>
        </p:nvSpPr>
        <p:spPr>
          <a:xfrm>
            <a:off x="5095875" y="3924300"/>
            <a:ext cx="2205038" cy="1466850"/>
          </a:xfrm>
          <a:prstGeom prst="rect">
            <a:avLst/>
          </a:prstGeom>
          <a:solidFill>
            <a:srgbClr val="FFFFFF"/>
          </a:solidFill>
          <a:ln>
            <a:noFill/>
          </a:ln>
          <a:effectLst/>
        </p:spPr>
        <p:txBody>
          <a:bodyPr rtlCol="0" anchor="ctr"/>
          <a:lstStyle/>
          <a:p>
            <a:pPr algn="ctr"/>
            <a:endParaRPr/>
          </a:p>
        </p:txBody>
      </p:sp>
      <p:sp>
        <p:nvSpPr>
          <p:cNvPr id="38" name="Rectangle 37"/>
          <p:cNvSpPr/>
          <p:nvPr/>
        </p:nvSpPr>
        <p:spPr>
          <a:xfrm>
            <a:off x="5095875" y="3924300"/>
            <a:ext cx="2205038" cy="28575"/>
          </a:xfrm>
          <a:prstGeom prst="rect">
            <a:avLst/>
          </a:prstGeom>
          <a:solidFill>
            <a:srgbClr val="B68757"/>
          </a:solidFill>
          <a:ln>
            <a:noFill/>
          </a:ln>
          <a:effectLst/>
        </p:spPr>
        <p:txBody>
          <a:bodyPr rtlCol="0" anchor="ctr"/>
          <a:lstStyle/>
          <a:p>
            <a:pPr algn="ctr"/>
            <a:endParaRPr/>
          </a:p>
        </p:txBody>
      </p:sp>
      <p:sp>
        <p:nvSpPr>
          <p:cNvPr id="39" name="Rectangle 38"/>
          <p:cNvSpPr/>
          <p:nvPr/>
        </p:nvSpPr>
        <p:spPr>
          <a:xfrm>
            <a:off x="7291388" y="3924300"/>
            <a:ext cx="9525" cy="1466850"/>
          </a:xfrm>
          <a:prstGeom prst="rect">
            <a:avLst/>
          </a:prstGeom>
          <a:solidFill>
            <a:srgbClr val="E3DCD3"/>
          </a:solidFill>
          <a:ln>
            <a:noFill/>
          </a:ln>
          <a:effectLst/>
        </p:spPr>
        <p:txBody>
          <a:bodyPr rtlCol="0" anchor="ctr"/>
          <a:lstStyle/>
          <a:p>
            <a:pPr algn="ctr"/>
            <a:endParaRPr/>
          </a:p>
        </p:txBody>
      </p:sp>
      <p:sp>
        <p:nvSpPr>
          <p:cNvPr id="40" name="Rectangle 39"/>
          <p:cNvSpPr/>
          <p:nvPr/>
        </p:nvSpPr>
        <p:spPr>
          <a:xfrm>
            <a:off x="5095875" y="5381625"/>
            <a:ext cx="2205038" cy="9525"/>
          </a:xfrm>
          <a:prstGeom prst="rect">
            <a:avLst/>
          </a:prstGeom>
          <a:solidFill>
            <a:srgbClr val="E3DCD3"/>
          </a:solidFill>
          <a:ln>
            <a:noFill/>
          </a:ln>
          <a:effectLst/>
        </p:spPr>
        <p:txBody>
          <a:bodyPr rtlCol="0" anchor="ctr"/>
          <a:lstStyle/>
          <a:p>
            <a:pPr algn="ctr"/>
            <a:endParaRPr/>
          </a:p>
        </p:txBody>
      </p:sp>
      <p:sp>
        <p:nvSpPr>
          <p:cNvPr id="41" name="Rectangle 40"/>
          <p:cNvSpPr/>
          <p:nvPr/>
        </p:nvSpPr>
        <p:spPr>
          <a:xfrm>
            <a:off x="5095875" y="3924300"/>
            <a:ext cx="9525" cy="1466850"/>
          </a:xfrm>
          <a:prstGeom prst="rect">
            <a:avLst/>
          </a:prstGeom>
          <a:solidFill>
            <a:srgbClr val="E3DCD3"/>
          </a:solidFill>
          <a:ln>
            <a:noFill/>
          </a:ln>
          <a:effectLst/>
        </p:spPr>
        <p:txBody>
          <a:bodyPr rtlCol="0" anchor="ctr"/>
          <a:lstStyle/>
          <a:p>
            <a:pPr algn="ctr"/>
            <a:endParaRPr/>
          </a:p>
        </p:txBody>
      </p:sp>
      <p:pic>
        <p:nvPicPr>
          <p:cNvPr id="42" name="Picture 41" descr="LSEG: number one privately held M&amp;A advisor worldwide"/>
          <p:cNvPicPr>
            <a:picLocks noChangeAspect="1"/>
          </p:cNvPicPr>
          <p:nvPr/>
        </p:nvPicPr>
        <p:blipFill>
          <a:blip r:embed="rId6"/>
          <a:srcRect/>
          <a:stretch>
            <a:fillRect/>
          </a:stretch>
        </p:blipFill>
        <p:spPr>
          <a:xfrm>
            <a:off x="5191274" y="4086225"/>
            <a:ext cx="2014091" cy="1162050"/>
          </a:xfrm>
          <a:prstGeom prst="rect">
            <a:avLst/>
          </a:prstGeom>
        </p:spPr>
      </p:pic>
      <p:sp>
        <p:nvSpPr>
          <p:cNvPr id="43" name="Rectangle 42"/>
          <p:cNvSpPr/>
          <p:nvPr/>
        </p:nvSpPr>
        <p:spPr>
          <a:xfrm>
            <a:off x="7434262" y="3924300"/>
            <a:ext cx="2205038" cy="1466850"/>
          </a:xfrm>
          <a:prstGeom prst="rect">
            <a:avLst/>
          </a:prstGeom>
          <a:solidFill>
            <a:srgbClr val="FFFFFF"/>
          </a:solidFill>
          <a:ln>
            <a:noFill/>
          </a:ln>
          <a:effectLst/>
        </p:spPr>
        <p:txBody>
          <a:bodyPr rtlCol="0" anchor="ctr"/>
          <a:lstStyle/>
          <a:p>
            <a:pPr algn="ctr"/>
            <a:endParaRPr/>
          </a:p>
        </p:txBody>
      </p:sp>
      <p:sp>
        <p:nvSpPr>
          <p:cNvPr id="44" name="Rectangle 43"/>
          <p:cNvSpPr/>
          <p:nvPr/>
        </p:nvSpPr>
        <p:spPr>
          <a:xfrm>
            <a:off x="7434262" y="3924300"/>
            <a:ext cx="2205038" cy="28575"/>
          </a:xfrm>
          <a:prstGeom prst="rect">
            <a:avLst/>
          </a:prstGeom>
          <a:solidFill>
            <a:srgbClr val="B68757"/>
          </a:solidFill>
          <a:ln>
            <a:noFill/>
          </a:ln>
          <a:effectLst/>
        </p:spPr>
        <p:txBody>
          <a:bodyPr rtlCol="0" anchor="ctr"/>
          <a:lstStyle/>
          <a:p>
            <a:pPr algn="ctr"/>
            <a:endParaRPr/>
          </a:p>
        </p:txBody>
      </p:sp>
      <p:sp>
        <p:nvSpPr>
          <p:cNvPr id="45" name="Rectangle 44"/>
          <p:cNvSpPr/>
          <p:nvPr/>
        </p:nvSpPr>
        <p:spPr>
          <a:xfrm>
            <a:off x="9629775" y="3924300"/>
            <a:ext cx="9525" cy="1466850"/>
          </a:xfrm>
          <a:prstGeom prst="rect">
            <a:avLst/>
          </a:prstGeom>
          <a:solidFill>
            <a:srgbClr val="E3DCD3"/>
          </a:solidFill>
          <a:ln>
            <a:noFill/>
          </a:ln>
          <a:effectLst/>
        </p:spPr>
        <p:txBody>
          <a:bodyPr rtlCol="0" anchor="ctr"/>
          <a:lstStyle/>
          <a:p>
            <a:pPr algn="ctr"/>
            <a:endParaRPr/>
          </a:p>
        </p:txBody>
      </p:sp>
      <p:sp>
        <p:nvSpPr>
          <p:cNvPr id="46" name="Rectangle 45"/>
          <p:cNvSpPr/>
          <p:nvPr/>
        </p:nvSpPr>
        <p:spPr>
          <a:xfrm>
            <a:off x="7434262" y="5381625"/>
            <a:ext cx="2205038" cy="9525"/>
          </a:xfrm>
          <a:prstGeom prst="rect">
            <a:avLst/>
          </a:prstGeom>
          <a:solidFill>
            <a:srgbClr val="E3DCD3"/>
          </a:solidFill>
          <a:ln>
            <a:noFill/>
          </a:ln>
          <a:effectLst/>
        </p:spPr>
        <p:txBody>
          <a:bodyPr rtlCol="0" anchor="ctr"/>
          <a:lstStyle/>
          <a:p>
            <a:pPr algn="ctr"/>
            <a:endParaRPr/>
          </a:p>
        </p:txBody>
      </p:sp>
      <p:sp>
        <p:nvSpPr>
          <p:cNvPr id="47" name="Rectangle 46"/>
          <p:cNvSpPr/>
          <p:nvPr/>
        </p:nvSpPr>
        <p:spPr>
          <a:xfrm>
            <a:off x="7434262" y="3924300"/>
            <a:ext cx="9525" cy="1466850"/>
          </a:xfrm>
          <a:prstGeom prst="rect">
            <a:avLst/>
          </a:prstGeom>
          <a:solidFill>
            <a:srgbClr val="E3DCD3"/>
          </a:solidFill>
          <a:ln>
            <a:noFill/>
          </a:ln>
          <a:effectLst/>
        </p:spPr>
        <p:txBody>
          <a:bodyPr rtlCol="0" anchor="ctr"/>
          <a:lstStyle/>
          <a:p>
            <a:pPr algn="ctr"/>
            <a:endParaRPr/>
          </a:p>
        </p:txBody>
      </p:sp>
      <p:pic>
        <p:nvPicPr>
          <p:cNvPr id="48" name="Picture 47" descr="DealMakers: first in the category of investment advisers by deal flow, unlisted deals"/>
          <p:cNvPicPr>
            <a:picLocks noChangeAspect="1"/>
          </p:cNvPicPr>
          <p:nvPr/>
        </p:nvPicPr>
        <p:blipFill>
          <a:blip r:embed="rId7"/>
          <a:srcRect/>
          <a:stretch>
            <a:fillRect/>
          </a:stretch>
        </p:blipFill>
        <p:spPr>
          <a:xfrm>
            <a:off x="7529661" y="4086225"/>
            <a:ext cx="2014091" cy="1162050"/>
          </a:xfrm>
          <a:prstGeom prst="rect">
            <a:avLst/>
          </a:prstGeom>
        </p:spPr>
      </p:pic>
      <p:sp>
        <p:nvSpPr>
          <p:cNvPr id="49" name="Text: FIVE INDUSTRY GROUPS"/>
          <p:cNvSpPr txBox="1"/>
          <p:nvPr/>
        </p:nvSpPr>
        <p:spPr>
          <a:xfrm>
            <a:off x="419100" y="6143625"/>
            <a:ext cx="9234488" cy="123825"/>
          </a:xfrm>
          <a:prstGeom prst="rect">
            <a:avLst/>
          </a:prstGeom>
          <a:noFill/>
        </p:spPr>
        <p:txBody>
          <a:bodyPr wrap="square" lIns="0" tIns="0" rIns="0" bIns="0" anchor="t">
            <a:spAutoFit/>
          </a:bodyPr>
          <a:lstStyle/>
          <a:p>
            <a:pPr algn="l">
              <a:lnSpc>
                <a:spcPts val="975"/>
              </a:lnSpc>
            </a:pPr>
            <a:r>
              <a:rPr sz="675" b="1" i="0" spc="150">
                <a:solidFill>
                  <a:srgbClr val="8C6239"/>
                </a:solidFill>
                <a:latin typeface="Calibri"/>
              </a:rPr>
              <a:t>FIVE INDUSTRY GROUPS</a:t>
            </a:r>
          </a:p>
        </p:txBody>
      </p:sp>
      <p:sp>
        <p:nvSpPr>
          <p:cNvPr id="50" name="Rectangle 49"/>
          <p:cNvSpPr/>
          <p:nvPr/>
        </p:nvSpPr>
        <p:spPr>
          <a:xfrm>
            <a:off x="419100" y="6353175"/>
            <a:ext cx="1752600" cy="581025"/>
          </a:xfrm>
          <a:prstGeom prst="rect">
            <a:avLst/>
          </a:prstGeom>
          <a:solidFill>
            <a:srgbClr val="FAF7F3"/>
          </a:solidFill>
          <a:ln>
            <a:noFill/>
          </a:ln>
          <a:effectLst/>
        </p:spPr>
        <p:txBody>
          <a:bodyPr rtlCol="0" anchor="ctr"/>
          <a:lstStyle/>
          <a:p>
            <a:pPr algn="ctr"/>
            <a:endParaRPr/>
          </a:p>
        </p:txBody>
      </p:sp>
      <p:sp>
        <p:nvSpPr>
          <p:cNvPr id="51" name="Rectangle 50"/>
          <p:cNvSpPr/>
          <p:nvPr/>
        </p:nvSpPr>
        <p:spPr>
          <a:xfrm>
            <a:off x="419100" y="6353175"/>
            <a:ext cx="1752600" cy="28575"/>
          </a:xfrm>
          <a:prstGeom prst="rect">
            <a:avLst/>
          </a:prstGeom>
          <a:solidFill>
            <a:srgbClr val="B68757"/>
          </a:solidFill>
          <a:ln>
            <a:noFill/>
          </a:ln>
          <a:effectLst/>
        </p:spPr>
        <p:txBody>
          <a:bodyPr rtlCol="0" anchor="ctr"/>
          <a:lstStyle/>
          <a:p>
            <a:pPr algn="ctr"/>
            <a:endParaRPr/>
          </a:p>
        </p:txBody>
      </p:sp>
      <p:pic>
        <p:nvPicPr>
          <p:cNvPr id="52" name="Picture 51" descr="v522f0581771e.png"/>
          <p:cNvPicPr>
            <a:picLocks noChangeAspect="1"/>
          </p:cNvPicPr>
          <p:nvPr/>
        </p:nvPicPr>
        <p:blipFill>
          <a:blip r:embed="rId8"/>
          <a:stretch>
            <a:fillRect/>
          </a:stretch>
        </p:blipFill>
        <p:spPr>
          <a:xfrm>
            <a:off x="533400" y="6515100"/>
            <a:ext cx="285750" cy="285750"/>
          </a:xfrm>
          <a:prstGeom prst="rect">
            <a:avLst/>
          </a:prstGeom>
        </p:spPr>
      </p:pic>
      <p:sp>
        <p:nvSpPr>
          <p:cNvPr id="53" name="Text: INDUSTRIAL"/>
          <p:cNvSpPr txBox="1"/>
          <p:nvPr/>
        </p:nvSpPr>
        <p:spPr>
          <a:xfrm>
            <a:off x="914400" y="6593681"/>
            <a:ext cx="616744" cy="128588"/>
          </a:xfrm>
          <a:prstGeom prst="rect">
            <a:avLst/>
          </a:prstGeom>
          <a:noFill/>
        </p:spPr>
        <p:txBody>
          <a:bodyPr wrap="square" lIns="0" tIns="0" rIns="0" bIns="0" anchor="t">
            <a:spAutoFit/>
          </a:bodyPr>
          <a:lstStyle/>
          <a:p>
            <a:pPr algn="l">
              <a:lnSpc>
                <a:spcPts val="1011"/>
              </a:lnSpc>
            </a:pPr>
            <a:r>
              <a:rPr sz="750" b="1" i="0" spc="98">
                <a:solidFill>
                  <a:srgbClr val="1B1A1A"/>
                </a:solidFill>
                <a:latin typeface="Calibri"/>
              </a:rPr>
              <a:t>INDUSTRIALS</a:t>
            </a:r>
          </a:p>
        </p:txBody>
      </p:sp>
      <p:sp>
        <p:nvSpPr>
          <p:cNvPr id="54" name="Rectangle 53"/>
          <p:cNvSpPr/>
          <p:nvPr/>
        </p:nvSpPr>
        <p:spPr>
          <a:xfrm>
            <a:off x="2286000" y="6353175"/>
            <a:ext cx="1752600" cy="581025"/>
          </a:xfrm>
          <a:prstGeom prst="rect">
            <a:avLst/>
          </a:prstGeom>
          <a:solidFill>
            <a:srgbClr val="FAF7F3"/>
          </a:solidFill>
          <a:ln>
            <a:noFill/>
          </a:ln>
          <a:effectLst/>
        </p:spPr>
        <p:txBody>
          <a:bodyPr rtlCol="0" anchor="ctr"/>
          <a:lstStyle/>
          <a:p>
            <a:pPr algn="ctr"/>
            <a:endParaRPr/>
          </a:p>
        </p:txBody>
      </p:sp>
      <p:sp>
        <p:nvSpPr>
          <p:cNvPr id="55" name="Rectangle 54"/>
          <p:cNvSpPr/>
          <p:nvPr/>
        </p:nvSpPr>
        <p:spPr>
          <a:xfrm>
            <a:off x="2286000" y="6353175"/>
            <a:ext cx="1752600" cy="28575"/>
          </a:xfrm>
          <a:prstGeom prst="rect">
            <a:avLst/>
          </a:prstGeom>
          <a:solidFill>
            <a:srgbClr val="B68757"/>
          </a:solidFill>
          <a:ln>
            <a:noFill/>
          </a:ln>
          <a:effectLst/>
        </p:spPr>
        <p:txBody>
          <a:bodyPr rtlCol="0" anchor="ctr"/>
          <a:lstStyle/>
          <a:p>
            <a:pPr algn="ctr"/>
            <a:endParaRPr/>
          </a:p>
        </p:txBody>
      </p:sp>
      <p:pic>
        <p:nvPicPr>
          <p:cNvPr id="56" name="Picture 55" descr="v9c75e8daf817.png"/>
          <p:cNvPicPr>
            <a:picLocks noChangeAspect="1"/>
          </p:cNvPicPr>
          <p:nvPr/>
        </p:nvPicPr>
        <p:blipFill>
          <a:blip r:embed="rId9"/>
          <a:stretch>
            <a:fillRect/>
          </a:stretch>
        </p:blipFill>
        <p:spPr>
          <a:xfrm>
            <a:off x="2400300" y="6515100"/>
            <a:ext cx="285750" cy="285750"/>
          </a:xfrm>
          <a:prstGeom prst="rect">
            <a:avLst/>
          </a:prstGeom>
        </p:spPr>
      </p:pic>
      <p:sp>
        <p:nvSpPr>
          <p:cNvPr id="57" name="Text: BUSINESS SERVICES"/>
          <p:cNvSpPr txBox="1"/>
          <p:nvPr/>
        </p:nvSpPr>
        <p:spPr>
          <a:xfrm>
            <a:off x="2781300" y="6593681"/>
            <a:ext cx="997297" cy="128588"/>
          </a:xfrm>
          <a:prstGeom prst="rect">
            <a:avLst/>
          </a:prstGeom>
          <a:noFill/>
        </p:spPr>
        <p:txBody>
          <a:bodyPr wrap="square" lIns="0" tIns="0" rIns="0" bIns="0" anchor="t">
            <a:spAutoFit/>
          </a:bodyPr>
          <a:lstStyle/>
          <a:p>
            <a:pPr algn="l">
              <a:lnSpc>
                <a:spcPts val="1011"/>
              </a:lnSpc>
            </a:pPr>
            <a:r>
              <a:rPr sz="750" b="1" i="0" spc="98">
                <a:solidFill>
                  <a:srgbClr val="1B1A1A"/>
                </a:solidFill>
                <a:latin typeface="Calibri"/>
              </a:rPr>
              <a:t>BUSINESS SERVICES</a:t>
            </a:r>
          </a:p>
        </p:txBody>
      </p:sp>
      <p:sp>
        <p:nvSpPr>
          <p:cNvPr id="58" name="Rectangle 57"/>
          <p:cNvSpPr/>
          <p:nvPr/>
        </p:nvSpPr>
        <p:spPr>
          <a:xfrm>
            <a:off x="4152900" y="6353175"/>
            <a:ext cx="1752600" cy="581025"/>
          </a:xfrm>
          <a:prstGeom prst="rect">
            <a:avLst/>
          </a:prstGeom>
          <a:solidFill>
            <a:srgbClr val="FAF7F3"/>
          </a:solidFill>
          <a:ln>
            <a:noFill/>
          </a:ln>
          <a:effectLst/>
        </p:spPr>
        <p:txBody>
          <a:bodyPr rtlCol="0" anchor="ctr"/>
          <a:lstStyle/>
          <a:p>
            <a:pPr algn="ctr"/>
            <a:endParaRPr/>
          </a:p>
        </p:txBody>
      </p:sp>
      <p:sp>
        <p:nvSpPr>
          <p:cNvPr id="59" name="Rectangle 58"/>
          <p:cNvSpPr/>
          <p:nvPr/>
        </p:nvSpPr>
        <p:spPr>
          <a:xfrm>
            <a:off x="4152900" y="6353175"/>
            <a:ext cx="1752600" cy="28575"/>
          </a:xfrm>
          <a:prstGeom prst="rect">
            <a:avLst/>
          </a:prstGeom>
          <a:solidFill>
            <a:srgbClr val="B68757"/>
          </a:solidFill>
          <a:ln>
            <a:noFill/>
          </a:ln>
          <a:effectLst/>
        </p:spPr>
        <p:txBody>
          <a:bodyPr rtlCol="0" anchor="ctr"/>
          <a:lstStyle/>
          <a:p>
            <a:pPr algn="ctr"/>
            <a:endParaRPr/>
          </a:p>
        </p:txBody>
      </p:sp>
      <p:pic>
        <p:nvPicPr>
          <p:cNvPr id="60" name="Picture 59" descr="vd5b95728390b.png"/>
          <p:cNvPicPr>
            <a:picLocks noChangeAspect="1"/>
          </p:cNvPicPr>
          <p:nvPr/>
        </p:nvPicPr>
        <p:blipFill>
          <a:blip r:embed="rId10"/>
          <a:stretch>
            <a:fillRect/>
          </a:stretch>
        </p:blipFill>
        <p:spPr>
          <a:xfrm>
            <a:off x="4267200" y="6515100"/>
            <a:ext cx="285750" cy="285750"/>
          </a:xfrm>
          <a:prstGeom prst="rect">
            <a:avLst/>
          </a:prstGeom>
        </p:spPr>
      </p:pic>
      <p:sp>
        <p:nvSpPr>
          <p:cNvPr id="61" name="Text: CONSUMER"/>
          <p:cNvSpPr txBox="1"/>
          <p:nvPr/>
        </p:nvSpPr>
        <p:spPr>
          <a:xfrm>
            <a:off x="4648200" y="6593681"/>
            <a:ext cx="580876" cy="128588"/>
          </a:xfrm>
          <a:prstGeom prst="rect">
            <a:avLst/>
          </a:prstGeom>
          <a:noFill/>
        </p:spPr>
        <p:txBody>
          <a:bodyPr wrap="square" lIns="0" tIns="0" rIns="0" bIns="0" anchor="t">
            <a:spAutoFit/>
          </a:bodyPr>
          <a:lstStyle/>
          <a:p>
            <a:pPr algn="l">
              <a:lnSpc>
                <a:spcPts val="1011"/>
              </a:lnSpc>
            </a:pPr>
            <a:r>
              <a:rPr sz="750" b="1" i="0" spc="98">
                <a:solidFill>
                  <a:srgbClr val="1B1A1A"/>
                </a:solidFill>
                <a:latin typeface="Calibri"/>
              </a:rPr>
              <a:t>CONSUMER</a:t>
            </a:r>
          </a:p>
        </p:txBody>
      </p:sp>
      <p:sp>
        <p:nvSpPr>
          <p:cNvPr id="62" name="Rectangle 61"/>
          <p:cNvSpPr/>
          <p:nvPr/>
        </p:nvSpPr>
        <p:spPr>
          <a:xfrm>
            <a:off x="6019800" y="6353175"/>
            <a:ext cx="1752600" cy="581025"/>
          </a:xfrm>
          <a:prstGeom prst="rect">
            <a:avLst/>
          </a:prstGeom>
          <a:solidFill>
            <a:srgbClr val="FAF7F3"/>
          </a:solidFill>
          <a:ln>
            <a:noFill/>
          </a:ln>
          <a:effectLst/>
        </p:spPr>
        <p:txBody>
          <a:bodyPr rtlCol="0" anchor="ctr"/>
          <a:lstStyle/>
          <a:p>
            <a:pPr algn="ctr"/>
            <a:endParaRPr/>
          </a:p>
        </p:txBody>
      </p:sp>
      <p:sp>
        <p:nvSpPr>
          <p:cNvPr id="63" name="Rectangle 62"/>
          <p:cNvSpPr/>
          <p:nvPr/>
        </p:nvSpPr>
        <p:spPr>
          <a:xfrm>
            <a:off x="6019800" y="6353175"/>
            <a:ext cx="1752600" cy="28575"/>
          </a:xfrm>
          <a:prstGeom prst="rect">
            <a:avLst/>
          </a:prstGeom>
          <a:solidFill>
            <a:srgbClr val="B68757"/>
          </a:solidFill>
          <a:ln>
            <a:noFill/>
          </a:ln>
          <a:effectLst/>
        </p:spPr>
        <p:txBody>
          <a:bodyPr rtlCol="0" anchor="ctr"/>
          <a:lstStyle/>
          <a:p>
            <a:pPr algn="ctr"/>
            <a:endParaRPr/>
          </a:p>
        </p:txBody>
      </p:sp>
      <p:pic>
        <p:nvPicPr>
          <p:cNvPr id="64" name="Picture 63" descr="v2db814d26f18.png"/>
          <p:cNvPicPr>
            <a:picLocks noChangeAspect="1"/>
          </p:cNvPicPr>
          <p:nvPr/>
        </p:nvPicPr>
        <p:blipFill>
          <a:blip r:embed="rId11"/>
          <a:stretch>
            <a:fillRect/>
          </a:stretch>
        </p:blipFill>
        <p:spPr>
          <a:xfrm>
            <a:off x="6134100" y="6515100"/>
            <a:ext cx="285750" cy="285750"/>
          </a:xfrm>
          <a:prstGeom prst="rect">
            <a:avLst/>
          </a:prstGeom>
        </p:spPr>
      </p:pic>
      <p:sp>
        <p:nvSpPr>
          <p:cNvPr id="65" name="Text: HEALTHCARE"/>
          <p:cNvSpPr txBox="1"/>
          <p:nvPr/>
        </p:nvSpPr>
        <p:spPr>
          <a:xfrm>
            <a:off x="6515100" y="6593681"/>
            <a:ext cx="650081" cy="128588"/>
          </a:xfrm>
          <a:prstGeom prst="rect">
            <a:avLst/>
          </a:prstGeom>
          <a:noFill/>
        </p:spPr>
        <p:txBody>
          <a:bodyPr wrap="square" lIns="0" tIns="0" rIns="0" bIns="0" anchor="t">
            <a:spAutoFit/>
          </a:bodyPr>
          <a:lstStyle/>
          <a:p>
            <a:pPr algn="l">
              <a:lnSpc>
                <a:spcPts val="1011"/>
              </a:lnSpc>
            </a:pPr>
            <a:r>
              <a:rPr sz="750" b="1" i="0" spc="98">
                <a:solidFill>
                  <a:srgbClr val="1B1A1A"/>
                </a:solidFill>
                <a:latin typeface="Calibri"/>
              </a:rPr>
              <a:t>HEALTHCARE</a:t>
            </a:r>
          </a:p>
        </p:txBody>
      </p:sp>
      <p:sp>
        <p:nvSpPr>
          <p:cNvPr id="66" name="Rectangle 65"/>
          <p:cNvSpPr/>
          <p:nvPr/>
        </p:nvSpPr>
        <p:spPr>
          <a:xfrm>
            <a:off x="7886700" y="6353175"/>
            <a:ext cx="1752600" cy="581025"/>
          </a:xfrm>
          <a:prstGeom prst="rect">
            <a:avLst/>
          </a:prstGeom>
          <a:solidFill>
            <a:srgbClr val="FAF7F3"/>
          </a:solidFill>
          <a:ln>
            <a:noFill/>
          </a:ln>
          <a:effectLst/>
        </p:spPr>
        <p:txBody>
          <a:bodyPr rtlCol="0" anchor="ctr"/>
          <a:lstStyle/>
          <a:p>
            <a:pPr algn="ctr"/>
            <a:endParaRPr/>
          </a:p>
        </p:txBody>
      </p:sp>
      <p:sp>
        <p:nvSpPr>
          <p:cNvPr id="67" name="Rectangle 66"/>
          <p:cNvSpPr/>
          <p:nvPr/>
        </p:nvSpPr>
        <p:spPr>
          <a:xfrm>
            <a:off x="7886700" y="6353175"/>
            <a:ext cx="1752600" cy="28575"/>
          </a:xfrm>
          <a:prstGeom prst="rect">
            <a:avLst/>
          </a:prstGeom>
          <a:solidFill>
            <a:srgbClr val="1B1A1A"/>
          </a:solidFill>
          <a:ln>
            <a:noFill/>
          </a:ln>
          <a:effectLst/>
        </p:spPr>
        <p:txBody>
          <a:bodyPr rtlCol="0" anchor="ctr"/>
          <a:lstStyle/>
          <a:p>
            <a:pPr algn="ctr"/>
            <a:endParaRPr/>
          </a:p>
        </p:txBody>
      </p:sp>
      <p:pic>
        <p:nvPicPr>
          <p:cNvPr id="68" name="Picture 67" descr="vdae12738fcf4.png"/>
          <p:cNvPicPr>
            <a:picLocks noChangeAspect="1"/>
          </p:cNvPicPr>
          <p:nvPr/>
        </p:nvPicPr>
        <p:blipFill>
          <a:blip r:embed="rId12"/>
          <a:stretch>
            <a:fillRect/>
          </a:stretch>
        </p:blipFill>
        <p:spPr>
          <a:xfrm>
            <a:off x="8001000" y="6515100"/>
            <a:ext cx="285750" cy="285750"/>
          </a:xfrm>
          <a:prstGeom prst="rect">
            <a:avLst/>
          </a:prstGeom>
        </p:spPr>
      </p:pic>
      <p:sp>
        <p:nvSpPr>
          <p:cNvPr id="69" name="Text: TECHNOLOGY"/>
          <p:cNvSpPr txBox="1"/>
          <p:nvPr/>
        </p:nvSpPr>
        <p:spPr>
          <a:xfrm>
            <a:off x="8382000" y="6593681"/>
            <a:ext cx="679847" cy="128588"/>
          </a:xfrm>
          <a:prstGeom prst="rect">
            <a:avLst/>
          </a:prstGeom>
          <a:noFill/>
        </p:spPr>
        <p:txBody>
          <a:bodyPr wrap="square" lIns="0" tIns="0" rIns="0" bIns="0" anchor="t">
            <a:spAutoFit/>
          </a:bodyPr>
          <a:lstStyle/>
          <a:p>
            <a:pPr algn="l">
              <a:lnSpc>
                <a:spcPts val="1011"/>
              </a:lnSpc>
            </a:pPr>
            <a:r>
              <a:rPr sz="750" b="1" i="0" spc="98">
                <a:solidFill>
                  <a:srgbClr val="1B1A1A"/>
                </a:solidFill>
                <a:latin typeface="Calibri"/>
              </a:rPr>
              <a:t>TECHNOLOGY</a:t>
            </a:r>
          </a:p>
        </p:txBody>
      </p:sp>
      <p:sp>
        <p:nvSpPr>
          <p:cNvPr id="70" name="Rectangle 69"/>
          <p:cNvSpPr/>
          <p:nvPr/>
        </p:nvSpPr>
        <p:spPr>
          <a:xfrm>
            <a:off x="419100" y="7029450"/>
            <a:ext cx="9220200" cy="9525"/>
          </a:xfrm>
          <a:prstGeom prst="rect">
            <a:avLst/>
          </a:prstGeom>
          <a:solidFill>
            <a:srgbClr val="E3DCD3"/>
          </a:solidFill>
          <a:ln>
            <a:noFill/>
          </a:ln>
          <a:effectLst/>
        </p:spPr>
        <p:txBody>
          <a:bodyPr rtlCol="0" anchor="ctr"/>
          <a:lstStyle/>
          <a:p>
            <a:pPr algn="ctr"/>
            <a:endParaRPr/>
          </a:p>
        </p:txBody>
      </p:sp>
      <p:pic>
        <p:nvPicPr>
          <p:cNvPr id="71" name="Picture 70" descr="Benchmark International"/>
          <p:cNvPicPr>
            <a:picLocks noChangeAspect="1"/>
          </p:cNvPicPr>
          <p:nvPr/>
        </p:nvPicPr>
        <p:blipFill>
          <a:blip r:embed="rId13"/>
          <a:srcRect/>
          <a:stretch>
            <a:fillRect/>
          </a:stretch>
        </p:blipFill>
        <p:spPr>
          <a:xfrm>
            <a:off x="419100" y="7143750"/>
            <a:ext cx="914400" cy="171450"/>
          </a:xfrm>
          <a:prstGeom prst="rect">
            <a:avLst/>
          </a:prstGeom>
        </p:spPr>
      </p:pic>
      <p:sp>
        <p:nvSpPr>
          <p:cNvPr id="72" name="Text: Ranking based on PitchBook's Q2 20"/>
          <p:cNvSpPr txBox="1"/>
          <p:nvPr/>
        </p:nvSpPr>
        <p:spPr>
          <a:xfrm>
            <a:off x="1543050" y="7105650"/>
            <a:ext cx="7748588" cy="238125"/>
          </a:xfrm>
          <a:prstGeom prst="rect">
            <a:avLst/>
          </a:prstGeom>
          <a:noFill/>
        </p:spPr>
        <p:txBody>
          <a:bodyPr wrap="square" lIns="0" tIns="0" rIns="0" bIns="0" anchor="t">
            <a:spAutoFit/>
          </a:bodyPr>
          <a:lstStyle/>
          <a:p>
            <a:pPr algn="l">
              <a:lnSpc>
                <a:spcPts val="938"/>
              </a:lnSpc>
            </a:pPr>
            <a:r>
              <a:rPr sz="675" b="0" i="0" spc="8">
                <a:solidFill>
                  <a:srgbClr val="6F6A66"/>
                </a:solidFill>
                <a:latin typeface="Calibri"/>
              </a:rPr>
              <a:t>Ranking based on PitchBook's Q2 2026 Global League Tables, as published at </a:t>
            </a:r>
            <a:r>
              <a:rPr sz="675" b="0" i="0" spc="8">
                <a:solidFill>
                  <a:srgbClr val="8C6239"/>
                </a:solidFill>
                <a:latin typeface="Calibri"/>
                <a:hlinkClick r:id="rId14">
                  <a:extLst>
                    <a:ext uri="{A12FA001-AC4F-418D-AE19-62706E023703}">
                      <ahyp:hlinkClr xmlns:ahyp="http://schemas.microsoft.com/office/drawing/2018/hyperlinkcolor" val="tx"/>
                    </a:ext>
                  </a:extLst>
                </a:hlinkClick>
              </a:rPr>
              <a:t>benchmarkintl.com</a:t>
            </a:r>
            <a:r>
              <a:rPr sz="675" b="0" i="0" spc="8">
                <a:solidFill>
                  <a:srgbClr val="6F6A66"/>
                </a:solidFill>
                <a:latin typeface="Calibri"/>
              </a:rPr>
              <a:t>. Awards as shown on the Middle Market site.</a:t>
            </a:r>
          </a:p>
        </p:txBody>
      </p:sp>
      <p:sp>
        <p:nvSpPr>
          <p:cNvPr id="73" name="Text: 21"/>
          <p:cNvSpPr txBox="1"/>
          <p:nvPr/>
        </p:nvSpPr>
        <p:spPr>
          <a:xfrm>
            <a:off x="9509373" y="7162800"/>
            <a:ext cx="144214" cy="133350"/>
          </a:xfrm>
          <a:prstGeom prst="rect">
            <a:avLst/>
          </a:prstGeom>
          <a:noFill/>
        </p:spPr>
        <p:txBody>
          <a:bodyPr wrap="square" lIns="0" tIns="0" rIns="0" bIns="0" anchor="t">
            <a:spAutoFit/>
          </a:bodyPr>
          <a:lstStyle/>
          <a:p>
            <a:pPr algn="l">
              <a:lnSpc>
                <a:spcPts val="1050"/>
              </a:lnSpc>
            </a:pPr>
            <a:r>
              <a:rPr sz="712" b="1" i="0" spc="150">
                <a:solidFill>
                  <a:srgbClr val="1B1A1A"/>
                </a:solidFill>
                <a:latin typeface="Calibri"/>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57150" cy="7772400"/>
          </a:xfrm>
          <a:prstGeom prst="rect">
            <a:avLst/>
          </a:prstGeom>
          <a:solidFill>
            <a:srgbClr val="B68757"/>
          </a:solidFill>
          <a:ln>
            <a:noFill/>
          </a:ln>
          <a:effectLst/>
        </p:spPr>
        <p:txBody>
          <a:bodyPr rtlCol="0" anchor="ctr"/>
          <a:lstStyle/>
          <a:p>
            <a:pPr algn="ctr"/>
            <a:endParaRPr/>
          </a:p>
        </p:txBody>
      </p:sp>
      <p:sp>
        <p:nvSpPr>
          <p:cNvPr id="3" name="Text: HEALTHCARE | QUARTERLY SECTOR BRIE"/>
          <p:cNvSpPr txBox="1"/>
          <p:nvPr/>
        </p:nvSpPr>
        <p:spPr>
          <a:xfrm>
            <a:off x="419100" y="381000"/>
            <a:ext cx="2439591" cy="133350"/>
          </a:xfrm>
          <a:prstGeom prst="rect">
            <a:avLst/>
          </a:prstGeom>
          <a:noFill/>
        </p:spPr>
        <p:txBody>
          <a:bodyPr wrap="none" lIns="0" tIns="0" rIns="0" bIns="0" anchor="t">
            <a:spAutoFit/>
          </a:bodyPr>
          <a:lstStyle/>
          <a:p>
            <a:pPr algn="l">
              <a:lnSpc>
                <a:spcPts val="1050"/>
              </a:lnSpc>
            </a:pPr>
            <a:r>
              <a:rPr sz="675" b="1" i="0" spc="195">
                <a:solidFill>
                  <a:srgbClr val="8C6239"/>
                </a:solidFill>
                <a:latin typeface="Calibri"/>
              </a:rPr>
              <a:t>HEALTHCARE | QUARTERLY INDUSTRY REPORT</a:t>
            </a:r>
          </a:p>
        </p:txBody>
      </p:sp>
      <p:sp>
        <p:nvSpPr>
          <p:cNvPr id="4" name="Text: Q4 2026"/>
          <p:cNvSpPr txBox="1"/>
          <p:nvPr/>
        </p:nvSpPr>
        <p:spPr>
          <a:xfrm>
            <a:off x="9188648" y="361950"/>
            <a:ext cx="464939" cy="171450"/>
          </a:xfrm>
          <a:prstGeom prst="rect">
            <a:avLst/>
          </a:prstGeom>
          <a:noFill/>
        </p:spPr>
        <p:txBody>
          <a:bodyPr wrap="square" lIns="0" tIns="0" rIns="0" bIns="0" anchor="t">
            <a:spAutoFit/>
          </a:bodyPr>
          <a:lstStyle/>
          <a:p>
            <a:pPr algn="l">
              <a:lnSpc>
                <a:spcPts val="1350"/>
              </a:lnSpc>
            </a:pPr>
            <a:r>
              <a:rPr sz="900" b="0" i="0" spc="90">
                <a:solidFill>
                  <a:srgbClr val="6F6A66"/>
                </a:solidFill>
                <a:latin typeface="Cambria"/>
              </a:rPr>
              <a:t>Q4 2026</a:t>
            </a:r>
          </a:p>
        </p:txBody>
      </p:sp>
      <p:sp>
        <p:nvSpPr>
          <p:cNvPr id="5" name="Text: Important Disclosures"/>
          <p:cNvSpPr txBox="1"/>
          <p:nvPr/>
        </p:nvSpPr>
        <p:spPr>
          <a:xfrm>
            <a:off x="419100" y="523875"/>
            <a:ext cx="9234488" cy="323850"/>
          </a:xfrm>
          <a:prstGeom prst="rect">
            <a:avLst/>
          </a:prstGeom>
          <a:noFill/>
        </p:spPr>
        <p:txBody>
          <a:bodyPr wrap="square" lIns="0" tIns="0" rIns="0" bIns="0" anchor="t">
            <a:spAutoFit/>
          </a:bodyPr>
          <a:lstStyle/>
          <a:p>
            <a:pPr algn="l">
              <a:lnSpc>
                <a:spcPts val="2550"/>
              </a:lnSpc>
            </a:pPr>
            <a:r>
              <a:rPr sz="2025" b="1" i="0">
                <a:solidFill>
                  <a:srgbClr val="1B1A1A"/>
                </a:solidFill>
                <a:latin typeface="Cambria"/>
              </a:rPr>
              <a:t>Important Disclosures</a:t>
            </a:r>
          </a:p>
        </p:txBody>
      </p:sp>
      <p:sp>
        <p:nvSpPr>
          <p:cNvPr id="6" name="Text: Please read these notes together w"/>
          <p:cNvSpPr txBox="1"/>
          <p:nvPr/>
        </p:nvSpPr>
        <p:spPr>
          <a:xfrm>
            <a:off x="419100" y="885825"/>
            <a:ext cx="10215086" cy="180975"/>
          </a:xfrm>
          <a:prstGeom prst="rect">
            <a:avLst/>
          </a:prstGeom>
          <a:noFill/>
        </p:spPr>
        <p:txBody>
          <a:bodyPr wrap="square" lIns="0" tIns="0" rIns="0" bIns="0" anchor="t">
            <a:spAutoFit/>
          </a:bodyPr>
          <a:lstStyle/>
          <a:p>
            <a:pPr algn="l">
              <a:lnSpc>
                <a:spcPts val="1388"/>
              </a:lnSpc>
            </a:pPr>
            <a:r>
              <a:rPr sz="938" b="0" i="0" spc="15">
                <a:solidFill>
                  <a:srgbClr val="6F6A66"/>
                </a:solidFill>
                <a:latin typeface="Calibri"/>
              </a:rPr>
              <a:t>Please read these notes together with the brief.</a:t>
            </a:r>
          </a:p>
        </p:txBody>
      </p:sp>
      <p:sp>
        <p:nvSpPr>
          <p:cNvPr id="7" name="Rectangle 6"/>
          <p:cNvSpPr/>
          <p:nvPr/>
        </p:nvSpPr>
        <p:spPr>
          <a:xfrm>
            <a:off x="419100" y="1143000"/>
            <a:ext cx="9220200" cy="9525"/>
          </a:xfrm>
          <a:prstGeom prst="rect">
            <a:avLst/>
          </a:prstGeom>
          <a:solidFill>
            <a:srgbClr val="E3DCD3"/>
          </a:solidFill>
          <a:ln>
            <a:noFill/>
          </a:ln>
          <a:effectLst/>
        </p:spPr>
        <p:txBody>
          <a:bodyPr rtlCol="0" anchor="ctr"/>
          <a:lstStyle/>
          <a:p>
            <a:pPr algn="ctr"/>
            <a:endParaRPr/>
          </a:p>
        </p:txBody>
      </p:sp>
      <p:sp>
        <p:nvSpPr>
          <p:cNvPr id="8" name="Text: “Benchmark International” refers t"/>
          <p:cNvSpPr txBox="1"/>
          <p:nvPr/>
        </p:nvSpPr>
        <p:spPr>
          <a:xfrm>
            <a:off x="419100" y="1238250"/>
            <a:ext cx="9220200" cy="3352800"/>
          </a:xfrm>
          <a:prstGeom prst="rect">
            <a:avLst/>
          </a:prstGeom>
          <a:noFill/>
        </p:spPr>
        <p:txBody>
          <a:bodyPr wrap="square" lIns="0" tIns="0" rIns="0" bIns="0" numCol="3" spcCol="285750" anchor="t">
            <a:spAutoFit/>
          </a:bodyPr>
          <a:lstStyle/>
          <a:p>
            <a:pPr algn="l">
              <a:lnSpc>
                <a:spcPts val="1200"/>
              </a:lnSpc>
              <a:spcAft>
                <a:spcPts val="750"/>
              </a:spcAft>
            </a:pPr>
            <a:r>
              <a:rPr sz="788" b="0" i="0" spc="15">
                <a:solidFill>
                  <a:srgbClr val="333231"/>
                </a:solidFill>
                <a:latin typeface="Calibri"/>
              </a:rPr>
              <a:t>“Benchmark International” refers to the Benchmark International group of companies, which provide merger and acquisition advisory services to business owners through offices around the world. The Middle Market team is part of Benchmark International. Any reference to Benchmark International in this material includes its affiliated companies, as the context requires.</a:t>
            </a:r>
          </a:p>
          <a:p>
            <a:pPr algn="l">
              <a:lnSpc>
                <a:spcPts val="1200"/>
              </a:lnSpc>
              <a:spcAft>
                <a:spcPts val="750"/>
              </a:spcAft>
            </a:pPr>
            <a:r>
              <a:rPr sz="788" b="0" i="0" spc="15">
                <a:solidFill>
                  <a:srgbClr val="333231"/>
                </a:solidFill>
                <a:latin typeface="Calibri"/>
              </a:rPr>
              <a:t>Benchmark International and its affiliates may have had, may currently have, or may in the future have business relationships with companies named in this material, with potential parties to a transaction and their related persons, or with their competitors, customers, or suppliers. When Benchmark International is engaged to provide advisory services in a transaction, it acts only for its client in connection with that transaction.</a:t>
            </a:r>
          </a:p>
          <a:p>
            <a:pPr algn="l">
              <a:lnSpc>
                <a:spcPts val="1200"/>
              </a:lnSpc>
              <a:spcAft>
                <a:spcPts val="750"/>
              </a:spcAft>
            </a:pPr>
            <a:r>
              <a:rPr sz="788" b="0" i="0" spc="15">
                <a:solidFill>
                  <a:srgbClr val="333231"/>
                </a:solidFill>
                <a:latin typeface="Calibri"/>
              </a:rPr>
              <a:t>The distribution of this material in certain jurisdictions may be restricted by law, and accordingly, recipients of this material represent that they are able to receive it without contravention of any registration requirement or other legal restrictions in the jurisdictions in which they reside or in which they conduct business.</a:t>
            </a:r>
          </a:p>
          <a:p>
            <a:pPr algn="l">
              <a:lnSpc>
                <a:spcPts val="1200"/>
              </a:lnSpc>
              <a:spcAft>
                <a:spcPts val="750"/>
              </a:spcAft>
            </a:pPr>
            <a:r>
              <a:rPr sz="788" b="0" i="0" spc="15">
                <a:solidFill>
                  <a:srgbClr val="333231"/>
                </a:solidFill>
                <a:latin typeface="Calibri"/>
              </a:rPr>
              <a:t>This material does not contain all the information needed to assess any transaction. You must conduct your own investigations and analyses. Benchmark International does not provide valuations, appraisals, or fairness opinions, and does not provide accounting, tax, investment, regulatory, or legal advice to anyone. This material is for discussion and informational purposes only and is not a recommendation, offer, or solicitation for the purchase or sale of any security or an invitation or inducement to engage in any transaction or investment activity. Benchmark International obtained the information in this material from public filings, company announcements, published reports, and other third-party sources, together with its own transaction experience. Benchmark International has not independently verified such information, the information is current only as of the date stated, and no obligation is undertaken to provide updated or additional information. Transaction values, multiples, and other figures are as publicly reported, and the price of any private company depends on that business. No representation or warranty, expressed or implied, is made in relation to the fairness, accuracy, correctness, or completeness of the information, opinions, or conclusions expressed herein. All forward-looking statements herein involve assumptions and elements of subjective judgment and analysis and are not facts. Past transactions are not indicative of future results, and nothing in this material guarantees future results or performance.</a:t>
            </a:r>
          </a:p>
          <a:p>
            <a:pPr algn="l">
              <a:lnSpc>
                <a:spcPts val="1200"/>
              </a:lnSpc>
              <a:spcAft>
                <a:spcPts val="750"/>
              </a:spcAft>
            </a:pPr>
            <a:r>
              <a:rPr sz="788" b="0" i="0" spc="15">
                <a:solidFill>
                  <a:srgbClr val="333231"/>
                </a:solidFill>
                <a:latin typeface="Calibri"/>
              </a:rPr>
              <a:t>Company names, logos, and trademarks referenced in this material are the property of their respective owners and are used for identification only. Their use does not imply any affiliation with or endorsement by those owners.</a:t>
            </a:r>
          </a:p>
          <a:p>
            <a:pPr algn="l">
              <a:lnSpc>
                <a:spcPts val="1200"/>
              </a:lnSpc>
              <a:spcAft>
                <a:spcPts val="750"/>
              </a:spcAft>
            </a:pPr>
            <a:r>
              <a:rPr sz="788" b="0" i="0" spc="15">
                <a:solidFill>
                  <a:srgbClr val="333231"/>
                </a:solidFill>
                <a:latin typeface="Calibri"/>
              </a:rPr>
              <a:t>This material is only being distributed to, and only made available to, and directed at: (a) persons who are outside the United Kingdom; (b) persons in the United Kingdom who have professional experience in matters relating to investments falling within Article 19(5) of the UK Financial Services and Markets Act 2000 (Financial Promotion) Order 2005, as amended (the “Order”); (c) high net worth entities and other persons to whom it may otherwise lawfully be communicated falling within Article 49(2)(a) to (d) of the Order; or (d) any other person to whom this material may otherwise lawfully be communicated or caused to be communicated (all such persons in (b) to (d) together being referred to as “Relevant Persons”). This material must not be acted on or relied on by persons in the United Kingdom who are not Relevant Persons. In the United Kingdom, any investment or investment activity to which this material relates is only available to, and will be engaged with, Relevant Persons.</a:t>
            </a:r>
          </a:p>
        </p:txBody>
      </p:sp>
      <p:sp>
        <p:nvSpPr>
          <p:cNvPr id="9" name="Rectangle 8"/>
          <p:cNvSpPr/>
          <p:nvPr/>
        </p:nvSpPr>
        <p:spPr>
          <a:xfrm>
            <a:off x="419100" y="7029450"/>
            <a:ext cx="9220200" cy="9525"/>
          </a:xfrm>
          <a:prstGeom prst="rect">
            <a:avLst/>
          </a:prstGeom>
          <a:solidFill>
            <a:srgbClr val="E3DCD3"/>
          </a:solidFill>
          <a:ln>
            <a:noFill/>
          </a:ln>
          <a:effectLst/>
        </p:spPr>
        <p:txBody>
          <a:bodyPr rtlCol="0" anchor="ctr"/>
          <a:lstStyle/>
          <a:p>
            <a:pPr algn="ctr"/>
            <a:endParaRPr/>
          </a:p>
        </p:txBody>
      </p:sp>
      <p:pic>
        <p:nvPicPr>
          <p:cNvPr id="10" name="Picture 9" descr="Benchmark International"/>
          <p:cNvPicPr>
            <a:picLocks noChangeAspect="1"/>
          </p:cNvPicPr>
          <p:nvPr/>
        </p:nvPicPr>
        <p:blipFill>
          <a:blip r:embed="rId2"/>
          <a:srcRect/>
          <a:stretch>
            <a:fillRect/>
          </a:stretch>
        </p:blipFill>
        <p:spPr>
          <a:xfrm>
            <a:off x="419100" y="7143750"/>
            <a:ext cx="914400" cy="171450"/>
          </a:xfrm>
          <a:prstGeom prst="rect">
            <a:avLst/>
          </a:prstGeom>
        </p:spPr>
      </p:pic>
      <p:sp>
        <p:nvSpPr>
          <p:cNvPr id="11" name="TextBox"/>
          <p:cNvSpPr txBox="1"/>
          <p:nvPr/>
        </p:nvSpPr>
        <p:spPr>
          <a:xfrm>
            <a:off x="1543050" y="7105650"/>
            <a:ext cx="7748588" cy="238125"/>
          </a:xfrm>
          <a:prstGeom prst="rect">
            <a:avLst/>
          </a:prstGeom>
          <a:noFill/>
        </p:spPr>
        <p:txBody>
          <a:bodyPr wrap="square" lIns="0" tIns="0" rIns="0" bIns="0" anchor="t">
            <a:spAutoFit/>
          </a:bodyPr>
          <a:lstStyle/>
          <a:p>
            <a:pPr algn="l">
              <a:lnSpc>
                <a:spcPts val="938"/>
              </a:lnSpc>
            </a:pPr>
            <a:r>
              <a:rPr sz="675" b="0" i="0" spc="8">
                <a:solidFill>
                  <a:srgbClr val="6F6A66"/>
                </a:solidFill>
                <a:latin typeface="Calibri"/>
              </a:rPr>
              <a:t>Benchmark International Middle Market, 4030 West Boy Scout Blvd., Suite 500, Tampa, FL 33607.</a:t>
            </a:r>
          </a:p>
        </p:txBody>
      </p:sp>
      <p:sp>
        <p:nvSpPr>
          <p:cNvPr id="12" name="Text: 22"/>
          <p:cNvSpPr txBox="1"/>
          <p:nvPr/>
        </p:nvSpPr>
        <p:spPr>
          <a:xfrm>
            <a:off x="9509373" y="7162800"/>
            <a:ext cx="144214" cy="133350"/>
          </a:xfrm>
          <a:prstGeom prst="rect">
            <a:avLst/>
          </a:prstGeom>
          <a:noFill/>
        </p:spPr>
        <p:txBody>
          <a:bodyPr wrap="square" lIns="0" tIns="0" rIns="0" bIns="0" anchor="t">
            <a:spAutoFit/>
          </a:bodyPr>
          <a:lstStyle/>
          <a:p>
            <a:pPr algn="l">
              <a:lnSpc>
                <a:spcPts val="1050"/>
              </a:lnSpc>
            </a:pPr>
            <a:r>
              <a:rPr sz="712" b="1" i="0" spc="150">
                <a:solidFill>
                  <a:srgbClr val="1B1A1A"/>
                </a:solidFill>
                <a:latin typeface="Calibri"/>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57150" cy="7772400"/>
          </a:xfrm>
          <a:prstGeom prst="rect">
            <a:avLst/>
          </a:prstGeom>
          <a:solidFill>
            <a:srgbClr val="B68757"/>
          </a:solidFill>
          <a:ln>
            <a:noFill/>
          </a:ln>
          <a:effectLst/>
        </p:spPr>
        <p:txBody>
          <a:bodyPr rtlCol="0" anchor="ctr"/>
          <a:lstStyle/>
          <a:p>
            <a:pPr algn="ctr"/>
            <a:endParaRPr/>
          </a:p>
        </p:txBody>
      </p:sp>
      <p:sp>
        <p:nvSpPr>
          <p:cNvPr id="3" name="Text: HEALTHCARE | QUARTERLY SECTOR BRIE"/>
          <p:cNvSpPr txBox="1"/>
          <p:nvPr/>
        </p:nvSpPr>
        <p:spPr>
          <a:xfrm>
            <a:off x="419100" y="381000"/>
            <a:ext cx="2439591" cy="133350"/>
          </a:xfrm>
          <a:prstGeom prst="rect">
            <a:avLst/>
          </a:prstGeom>
          <a:noFill/>
        </p:spPr>
        <p:txBody>
          <a:bodyPr wrap="none" lIns="0" tIns="0" rIns="0" bIns="0" anchor="t">
            <a:spAutoFit/>
          </a:bodyPr>
          <a:lstStyle/>
          <a:p>
            <a:pPr algn="l">
              <a:lnSpc>
                <a:spcPts val="1050"/>
              </a:lnSpc>
            </a:pPr>
            <a:r>
              <a:rPr sz="675" b="1" i="0" spc="195">
                <a:solidFill>
                  <a:srgbClr val="8C6239"/>
                </a:solidFill>
                <a:latin typeface="Calibri"/>
              </a:rPr>
              <a:t>HEALTHCARE | QUARTERLY INDUSTRY REPORT</a:t>
            </a:r>
          </a:p>
        </p:txBody>
      </p:sp>
      <p:sp>
        <p:nvSpPr>
          <p:cNvPr id="4" name="Text: Q4 2026"/>
          <p:cNvSpPr txBox="1"/>
          <p:nvPr/>
        </p:nvSpPr>
        <p:spPr>
          <a:xfrm>
            <a:off x="9188648" y="361950"/>
            <a:ext cx="464939" cy="171450"/>
          </a:xfrm>
          <a:prstGeom prst="rect">
            <a:avLst/>
          </a:prstGeom>
          <a:noFill/>
        </p:spPr>
        <p:txBody>
          <a:bodyPr wrap="square" lIns="0" tIns="0" rIns="0" bIns="0" anchor="t">
            <a:spAutoFit/>
          </a:bodyPr>
          <a:lstStyle/>
          <a:p>
            <a:pPr algn="l">
              <a:lnSpc>
                <a:spcPts val="1350"/>
              </a:lnSpc>
            </a:pPr>
            <a:r>
              <a:rPr sz="900" b="0" i="0" spc="90">
                <a:solidFill>
                  <a:srgbClr val="6F6A66"/>
                </a:solidFill>
                <a:latin typeface="Cambria"/>
              </a:rPr>
              <a:t>Q4 2026</a:t>
            </a:r>
          </a:p>
        </p:txBody>
      </p:sp>
      <p:sp>
        <p:nvSpPr>
          <p:cNvPr id="5" name="Text: Appendix: Public Market Operating "/>
          <p:cNvSpPr txBox="1"/>
          <p:nvPr/>
        </p:nvSpPr>
        <p:spPr>
          <a:xfrm>
            <a:off x="419100" y="523875"/>
            <a:ext cx="9234488" cy="323850"/>
          </a:xfrm>
          <a:prstGeom prst="rect">
            <a:avLst/>
          </a:prstGeom>
          <a:noFill/>
        </p:spPr>
        <p:txBody>
          <a:bodyPr wrap="square" lIns="0" tIns="0" rIns="0" bIns="0" anchor="t">
            <a:spAutoFit/>
          </a:bodyPr>
          <a:lstStyle/>
          <a:p>
            <a:pPr algn="l">
              <a:lnSpc>
                <a:spcPts val="2550"/>
              </a:lnSpc>
            </a:pPr>
            <a:r>
              <a:rPr sz="2025" b="1" i="0">
                <a:solidFill>
                  <a:srgbClr val="1B1A1A"/>
                </a:solidFill>
                <a:latin typeface="Cambria"/>
              </a:rPr>
              <a:t>Appendix: Public Market Operating and Valuation Metrics</a:t>
            </a:r>
          </a:p>
        </p:txBody>
      </p:sp>
      <p:sp>
        <p:nvSpPr>
          <p:cNvPr id="6" name="Text: As of October 7, 2026. Provider Se"/>
          <p:cNvSpPr txBox="1"/>
          <p:nvPr/>
        </p:nvSpPr>
        <p:spPr>
          <a:xfrm>
            <a:off x="419100" y="885825"/>
            <a:ext cx="10215086" cy="180975"/>
          </a:xfrm>
          <a:prstGeom prst="rect">
            <a:avLst/>
          </a:prstGeom>
          <a:noFill/>
        </p:spPr>
        <p:txBody>
          <a:bodyPr wrap="square" lIns="0" tIns="0" rIns="0" bIns="0" anchor="t">
            <a:spAutoFit/>
          </a:bodyPr>
          <a:lstStyle/>
          <a:p>
            <a:pPr algn="l">
              <a:lnSpc>
                <a:spcPts val="1388"/>
              </a:lnSpc>
            </a:pPr>
            <a:r>
              <a:rPr sz="938" b="0" i="0" spc="15">
                <a:solidFill>
                  <a:srgbClr val="6F6A66"/>
                </a:solidFill>
                <a:latin typeface="Calibri"/>
              </a:rPr>
              <a:t>As of October 7, 2026. Provider Services and Life Sciences &amp; Diagnostics.</a:t>
            </a:r>
          </a:p>
        </p:txBody>
      </p:sp>
      <p:sp>
        <p:nvSpPr>
          <p:cNvPr id="7" name="Rectangle 6"/>
          <p:cNvSpPr/>
          <p:nvPr/>
        </p:nvSpPr>
        <p:spPr>
          <a:xfrm>
            <a:off x="419100" y="1143000"/>
            <a:ext cx="9220200" cy="9525"/>
          </a:xfrm>
          <a:prstGeom prst="rect">
            <a:avLst/>
          </a:prstGeom>
          <a:solidFill>
            <a:srgbClr val="E3DCD3"/>
          </a:solidFill>
          <a:ln>
            <a:noFill/>
          </a:ln>
          <a:effectLst/>
        </p:spPr>
        <p:txBody>
          <a:bodyPr rtlCol="0" anchor="ctr"/>
          <a:lstStyle/>
          <a:p>
            <a:pPr algn="ctr"/>
            <a:endParaRPr/>
          </a:p>
        </p:txBody>
      </p:sp>
      <p:graphicFrame>
        <p:nvGraphicFramePr>
          <p:cNvPr id="8" name="Table (editable)"/>
          <p:cNvGraphicFramePr>
            <a:graphicFrameLocks noGrp="1"/>
          </p:cNvGraphicFramePr>
          <p:nvPr/>
        </p:nvGraphicFramePr>
        <p:xfrm>
          <a:off x="419100" y="1238250"/>
          <a:ext cx="9220200" cy="5172075"/>
        </p:xfrm>
        <a:graphic>
          <a:graphicData uri="http://schemas.openxmlformats.org/drawingml/2006/table">
            <a:tbl>
              <a:tblPr>
                <a:tableStyleId>{2D5ABB26-0587-4C30-8999-92F81FD0307C}</a:tableStyleId>
              </a:tblPr>
              <a:tblGrid>
                <a:gridCol w="20955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723900">
                  <a:extLst>
                    <a:ext uri="{9D8B030D-6E8A-4147-A177-3AD203B41FA5}">
                      <a16:colId xmlns:a16="http://schemas.microsoft.com/office/drawing/2014/main" val="20004"/>
                    </a:ext>
                  </a:extLst>
                </a:gridCol>
                <a:gridCol w="72390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685800">
                  <a:extLst>
                    <a:ext uri="{9D8B030D-6E8A-4147-A177-3AD203B41FA5}">
                      <a16:colId xmlns:a16="http://schemas.microsoft.com/office/drawing/2014/main" val="20007"/>
                    </a:ext>
                  </a:extLst>
                </a:gridCol>
                <a:gridCol w="666750">
                  <a:extLst>
                    <a:ext uri="{9D8B030D-6E8A-4147-A177-3AD203B41FA5}">
                      <a16:colId xmlns:a16="http://schemas.microsoft.com/office/drawing/2014/main" val="20008"/>
                    </a:ext>
                  </a:extLst>
                </a:gridCol>
                <a:gridCol w="685800">
                  <a:extLst>
                    <a:ext uri="{9D8B030D-6E8A-4147-A177-3AD203B41FA5}">
                      <a16:colId xmlns:a16="http://schemas.microsoft.com/office/drawing/2014/main" val="20009"/>
                    </a:ext>
                  </a:extLst>
                </a:gridCol>
                <a:gridCol w="704850">
                  <a:extLst>
                    <a:ext uri="{9D8B030D-6E8A-4147-A177-3AD203B41FA5}">
                      <a16:colId xmlns:a16="http://schemas.microsoft.com/office/drawing/2014/main" val="20010"/>
                    </a:ext>
                  </a:extLst>
                </a:gridCol>
              </a:tblGrid>
              <a:tr h="257175">
                <a:tc>
                  <a:txBody>
                    <a:bodyPr/>
                    <a:lstStyle/>
                    <a:p>
                      <a:pPr algn="l">
                        <a:lnSpc>
                          <a:spcPts val="750"/>
                        </a:lnSpc>
                      </a:pPr>
                      <a:r>
                        <a:rPr sz="562" b="1" i="0" spc="60">
                          <a:solidFill>
                            <a:srgbClr val="1B1A1A"/>
                          </a:solidFill>
                          <a:latin typeface="Calibri"/>
                        </a:rPr>
                        <a:t>COMPANY</a:t>
                      </a:r>
                    </a:p>
                  </a:txBody>
                  <a:tcPr marL="76200" marR="57150" marT="0" marB="0" anchor="b">
                    <a:lnL w="0">
                      <a:noFill/>
                    </a:lnL>
                    <a:lnR w="0">
                      <a:noFill/>
                    </a:lnR>
                    <a:lnT w="0">
                      <a:noFill/>
                    </a:lnT>
                    <a:lnB w="19050">
                      <a:solidFill>
                        <a:srgbClr val="B68757"/>
                      </a:solidFill>
                    </a:lnB>
                    <a:noFill/>
                  </a:tcPr>
                </a:tc>
                <a:tc>
                  <a:txBody>
                    <a:bodyPr/>
                    <a:lstStyle/>
                    <a:p>
                      <a:pPr algn="r">
                        <a:lnSpc>
                          <a:spcPts val="750"/>
                        </a:lnSpc>
                      </a:pPr>
                      <a:r>
                        <a:rPr sz="562" b="1" i="0" spc="60">
                          <a:solidFill>
                            <a:srgbClr val="1B1A1A"/>
                          </a:solidFill>
                          <a:latin typeface="Calibri"/>
                        </a:rPr>
                        <a:t>MARKET CAP ($M)</a:t>
                      </a:r>
                    </a:p>
                  </a:txBody>
                  <a:tcPr marL="0" marR="57150" marT="0" marB="0" anchor="b">
                    <a:lnL w="0">
                      <a:noFill/>
                    </a:lnL>
                    <a:lnR w="0">
                      <a:noFill/>
                    </a:lnR>
                    <a:lnT w="0">
                      <a:noFill/>
                    </a:lnT>
                    <a:lnB w="19050">
                      <a:solidFill>
                        <a:srgbClr val="B68757"/>
                      </a:solidFill>
                    </a:lnB>
                    <a:noFill/>
                  </a:tcPr>
                </a:tc>
                <a:tc>
                  <a:txBody>
                    <a:bodyPr/>
                    <a:lstStyle/>
                    <a:p>
                      <a:pPr algn="r">
                        <a:lnSpc>
                          <a:spcPts val="750"/>
                        </a:lnSpc>
                      </a:pPr>
                      <a:r>
                        <a:rPr sz="562" b="1" i="0" spc="60">
                          <a:solidFill>
                            <a:srgbClr val="1B1A1A"/>
                          </a:solidFill>
                          <a:latin typeface="Calibri"/>
                        </a:rPr>
                        <a:t>ENTERPRISE VALUE ($M)</a:t>
                      </a:r>
                    </a:p>
                  </a:txBody>
                  <a:tcPr marL="0" marR="57150" marT="0" marB="0" anchor="b">
                    <a:lnL w="0">
                      <a:noFill/>
                    </a:lnL>
                    <a:lnR w="0">
                      <a:noFill/>
                    </a:lnR>
                    <a:lnT w="0">
                      <a:noFill/>
                    </a:lnT>
                    <a:lnB w="19050">
                      <a:solidFill>
                        <a:srgbClr val="B68757"/>
                      </a:solidFill>
                    </a:lnB>
                    <a:noFill/>
                  </a:tcPr>
                </a:tc>
                <a:tc>
                  <a:txBody>
                    <a:bodyPr/>
                    <a:lstStyle/>
                    <a:p>
                      <a:pPr algn="r">
                        <a:lnSpc>
                          <a:spcPts val="750"/>
                        </a:lnSpc>
                      </a:pPr>
                      <a:r>
                        <a:rPr sz="562" b="1" i="0" spc="60">
                          <a:solidFill>
                            <a:srgbClr val="1B1A1A"/>
                          </a:solidFill>
                          <a:latin typeface="Calibri"/>
                        </a:rPr>
                        <a:t>% OF 52-WEEK HIGH</a:t>
                      </a:r>
                    </a:p>
                  </a:txBody>
                  <a:tcPr marL="0" marR="57150" marT="0" marB="0" anchor="b">
                    <a:lnL w="0">
                      <a:noFill/>
                    </a:lnL>
                    <a:lnR w="0">
                      <a:noFill/>
                    </a:lnR>
                    <a:lnT w="0">
                      <a:noFill/>
                    </a:lnT>
                    <a:lnB w="19050">
                      <a:solidFill>
                        <a:srgbClr val="B68757"/>
                      </a:solidFill>
                    </a:lnB>
                    <a:noFill/>
                  </a:tcPr>
                </a:tc>
                <a:tc>
                  <a:txBody>
                    <a:bodyPr/>
                    <a:lstStyle/>
                    <a:p>
                      <a:pPr algn="r">
                        <a:lnSpc>
                          <a:spcPts val="750"/>
                        </a:lnSpc>
                      </a:pPr>
                      <a:r>
                        <a:rPr sz="562" b="1" i="0" spc="60">
                          <a:solidFill>
                            <a:srgbClr val="1B1A1A"/>
                          </a:solidFill>
                          <a:latin typeface="Calibri"/>
                        </a:rPr>
                        <a:t>52-WEEK PRICE CHANGE</a:t>
                      </a:r>
                    </a:p>
                  </a:txBody>
                  <a:tcPr marL="0" marR="57150" marT="0" marB="0" anchor="b">
                    <a:lnL w="0">
                      <a:noFill/>
                    </a:lnL>
                    <a:lnR w="0">
                      <a:noFill/>
                    </a:lnR>
                    <a:lnT w="0">
                      <a:noFill/>
                    </a:lnT>
                    <a:lnB w="19050">
                      <a:solidFill>
                        <a:srgbClr val="B68757"/>
                      </a:solidFill>
                    </a:lnB>
                    <a:noFill/>
                  </a:tcPr>
                </a:tc>
                <a:tc>
                  <a:txBody>
                    <a:bodyPr/>
                    <a:lstStyle/>
                    <a:p>
                      <a:pPr algn="r">
                        <a:lnSpc>
                          <a:spcPts val="750"/>
                        </a:lnSpc>
                      </a:pPr>
                      <a:r>
                        <a:rPr sz="562" b="1" i="0" spc="60">
                          <a:solidFill>
                            <a:srgbClr val="1B1A1A"/>
                          </a:solidFill>
                          <a:latin typeface="Calibri"/>
                        </a:rPr>
                        <a:t>REVENUE GROWTH, LTM</a:t>
                      </a:r>
                    </a:p>
                  </a:txBody>
                  <a:tcPr marL="0" marR="57150" marT="0" marB="0" anchor="b">
                    <a:lnL w="0">
                      <a:noFill/>
                    </a:lnL>
                    <a:lnR w="0">
                      <a:noFill/>
                    </a:lnR>
                    <a:lnT w="0">
                      <a:noFill/>
                    </a:lnT>
                    <a:lnB w="19050">
                      <a:solidFill>
                        <a:srgbClr val="B68757"/>
                      </a:solidFill>
                    </a:lnB>
                    <a:noFill/>
                  </a:tcPr>
                </a:tc>
                <a:tc>
                  <a:txBody>
                    <a:bodyPr/>
                    <a:lstStyle/>
                    <a:p>
                      <a:pPr algn="r">
                        <a:lnSpc>
                          <a:spcPts val="750"/>
                        </a:lnSpc>
                      </a:pPr>
                      <a:r>
                        <a:rPr sz="562" b="1" i="0" spc="60">
                          <a:solidFill>
                            <a:srgbClr val="1B1A1A"/>
                          </a:solidFill>
                          <a:latin typeface="Calibri"/>
                        </a:rPr>
                        <a:t>GROSS MARGIN, LTM</a:t>
                      </a:r>
                    </a:p>
                  </a:txBody>
                  <a:tcPr marL="0" marR="57150" marT="0" marB="0" anchor="b">
                    <a:lnL w="0">
                      <a:noFill/>
                    </a:lnL>
                    <a:lnR w="0">
                      <a:noFill/>
                    </a:lnR>
                    <a:lnT w="0">
                      <a:noFill/>
                    </a:lnT>
                    <a:lnB w="19050">
                      <a:solidFill>
                        <a:srgbClr val="B68757"/>
                      </a:solidFill>
                    </a:lnB>
                    <a:noFill/>
                  </a:tcPr>
                </a:tc>
                <a:tc>
                  <a:txBody>
                    <a:bodyPr/>
                    <a:lstStyle/>
                    <a:p>
                      <a:pPr algn="r">
                        <a:lnSpc>
                          <a:spcPts val="750"/>
                        </a:lnSpc>
                      </a:pPr>
                      <a:r>
                        <a:rPr sz="562" b="1" i="0" spc="60">
                          <a:solidFill>
                            <a:srgbClr val="1B1A1A"/>
                          </a:solidFill>
                          <a:latin typeface="Calibri"/>
                        </a:rPr>
                        <a:t>EBITDA MARGIN, LTM</a:t>
                      </a:r>
                    </a:p>
                  </a:txBody>
                  <a:tcPr marL="0" marR="57150" marT="0" marB="0" anchor="b">
                    <a:lnL w="0">
                      <a:noFill/>
                    </a:lnL>
                    <a:lnR w="0">
                      <a:noFill/>
                    </a:lnR>
                    <a:lnT w="0">
                      <a:noFill/>
                    </a:lnT>
                    <a:lnB w="19050">
                      <a:solidFill>
                        <a:srgbClr val="B68757"/>
                      </a:solidFill>
                    </a:lnB>
                    <a:noFill/>
                  </a:tcPr>
                </a:tc>
                <a:tc>
                  <a:txBody>
                    <a:bodyPr/>
                    <a:lstStyle/>
                    <a:p>
                      <a:pPr algn="r">
                        <a:lnSpc>
                          <a:spcPts val="750"/>
                        </a:lnSpc>
                      </a:pPr>
                      <a:r>
                        <a:rPr sz="562" b="1" i="0" spc="60">
                          <a:solidFill>
                            <a:srgbClr val="1B1A1A"/>
                          </a:solidFill>
                          <a:latin typeface="Calibri"/>
                        </a:rPr>
                        <a:t>EV / LTM REVENUE</a:t>
                      </a:r>
                    </a:p>
                  </a:txBody>
                  <a:tcPr marL="0" marR="57150" marT="0" marB="0" anchor="b">
                    <a:lnL w="0">
                      <a:noFill/>
                    </a:lnL>
                    <a:lnR w="0">
                      <a:noFill/>
                    </a:lnR>
                    <a:lnT w="0">
                      <a:noFill/>
                    </a:lnT>
                    <a:lnB w="19050">
                      <a:solidFill>
                        <a:srgbClr val="B68757"/>
                      </a:solidFill>
                    </a:lnB>
                    <a:noFill/>
                  </a:tcPr>
                </a:tc>
                <a:tc>
                  <a:txBody>
                    <a:bodyPr/>
                    <a:lstStyle/>
                    <a:p>
                      <a:pPr algn="r">
                        <a:lnSpc>
                          <a:spcPts val="750"/>
                        </a:lnSpc>
                      </a:pPr>
                      <a:r>
                        <a:rPr sz="562" b="1" i="0" spc="60">
                          <a:solidFill>
                            <a:srgbClr val="1B1A1A"/>
                          </a:solidFill>
                          <a:latin typeface="Calibri"/>
                        </a:rPr>
                        <a:t>EV / LTM EBITDA</a:t>
                      </a:r>
                    </a:p>
                  </a:txBody>
                  <a:tcPr marL="0" marR="57150" marT="0" marB="0" anchor="b">
                    <a:lnL w="0">
                      <a:noFill/>
                    </a:lnL>
                    <a:lnR w="0">
                      <a:noFill/>
                    </a:lnR>
                    <a:lnT w="0">
                      <a:noFill/>
                    </a:lnT>
                    <a:lnB w="19050">
                      <a:solidFill>
                        <a:srgbClr val="B68757"/>
                      </a:solidFill>
                    </a:lnB>
                    <a:noFill/>
                  </a:tcPr>
                </a:tc>
                <a:tc>
                  <a:txBody>
                    <a:bodyPr/>
                    <a:lstStyle/>
                    <a:p>
                      <a:pPr algn="r">
                        <a:lnSpc>
                          <a:spcPts val="750"/>
                        </a:lnSpc>
                      </a:pPr>
                      <a:r>
                        <a:rPr sz="562" b="1" i="0" spc="60">
                          <a:solidFill>
                            <a:srgbClr val="1B1A1A"/>
                          </a:solidFill>
                          <a:latin typeface="Calibri"/>
                        </a:rPr>
                        <a:t>EV / EBITDA A YEAR AGO</a:t>
                      </a:r>
                    </a:p>
                  </a:txBody>
                  <a:tcPr marL="0" marR="76200" marT="0" marB="0" anchor="b">
                    <a:lnL w="0">
                      <a:noFill/>
                    </a:lnL>
                    <a:lnR w="0">
                      <a:noFill/>
                    </a:lnR>
                    <a:lnT w="0">
                      <a:noFill/>
                    </a:lnT>
                    <a:lnB w="19050">
                      <a:solidFill>
                        <a:srgbClr val="B68757"/>
                      </a:solidFill>
                    </a:lnB>
                    <a:noFill/>
                  </a:tcPr>
                </a:tc>
                <a:extLst>
                  <a:ext uri="{0D108BD9-81ED-4DB2-BD59-A6C34878D82A}">
                    <a16:rowId xmlns:a16="http://schemas.microsoft.com/office/drawing/2014/main" val="10000"/>
                  </a:ext>
                </a:extLst>
              </a:tr>
              <a:tr h="228600">
                <a:tc gridSpan="11">
                  <a:txBody>
                    <a:bodyPr/>
                    <a:lstStyle/>
                    <a:p>
                      <a:pPr algn="l">
                        <a:lnSpc>
                          <a:spcPts val="900"/>
                        </a:lnSpc>
                      </a:pPr>
                      <a:r>
                        <a:rPr sz="675" b="1" i="0" spc="135">
                          <a:solidFill>
                            <a:srgbClr val="FFFFFF"/>
                          </a:solidFill>
                          <a:latin typeface="Calibri"/>
                        </a:rPr>
                        <a:t>PROVIDER SERVICES</a:t>
                      </a:r>
                    </a:p>
                  </a:txBody>
                  <a:tcPr marL="76200" marR="57150" marT="0" marB="0" anchor="ctr">
                    <a:lnL w="0">
                      <a:noFill/>
                    </a:lnL>
                    <a:lnR w="0">
                      <a:noFill/>
                    </a:lnR>
                    <a:lnT w="19050" cap="flat" cmpd="sng" algn="ctr">
                      <a:solidFill>
                        <a:srgbClr val="B68757"/>
                      </a:solidFill>
                      <a:prstDash val="solid"/>
                      <a:round/>
                      <a:headEnd type="none" w="med" len="med"/>
                      <a:tailEnd type="none" w="med" len="med"/>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76200" marT="0" marB="0" anchor="ctr">
                    <a:lnL w="0">
                      <a:noFill/>
                    </a:lnL>
                    <a:lnR w="0">
                      <a:noFill/>
                    </a:lnR>
                    <a:lnT w="0">
                      <a:noFill/>
                    </a:lnT>
                    <a:lnB w="0">
                      <a:noFill/>
                    </a:lnB>
                    <a:solidFill>
                      <a:srgbClr val="1B1A1A"/>
                    </a:solidFill>
                  </a:tcPr>
                </a:tc>
                <a:extLst>
                  <a:ext uri="{0D108BD9-81ED-4DB2-BD59-A6C34878D82A}">
                    <a16:rowId xmlns:a16="http://schemas.microsoft.com/office/drawing/2014/main" val="10001"/>
                  </a:ext>
                </a:extLst>
              </a:tr>
              <a:tr h="200025">
                <a:tc>
                  <a:txBody>
                    <a:bodyPr/>
                    <a:lstStyle/>
                    <a:p>
                      <a:pPr algn="l">
                        <a:lnSpc>
                          <a:spcPts val="900"/>
                        </a:lnSpc>
                      </a:pPr>
                      <a:r>
                        <a:rPr sz="750" b="1" i="0">
                          <a:solidFill>
                            <a:srgbClr val="333231"/>
                          </a:solidFill>
                          <a:latin typeface="Calibri"/>
                        </a:rPr>
                        <a:t>HCA Healthcare</a:t>
                      </a:r>
                      <a:r>
                        <a:rPr sz="750" b="0" i="0">
                          <a:solidFill>
                            <a:srgbClr val="333231"/>
                          </a:solidFill>
                          <a:latin typeface="Calibri"/>
                        </a:rPr>
                        <a:t> </a:t>
                      </a:r>
                      <a:r>
                        <a:rPr sz="638" b="0" i="0">
                          <a:solidFill>
                            <a:srgbClr val="6F6A66"/>
                          </a:solidFill>
                          <a:latin typeface="Calibri"/>
                        </a:rPr>
                        <a:t>HCA</a:t>
                      </a:r>
                    </a:p>
                  </a:txBody>
                  <a:tcPr marL="7620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93,570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143,990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78%</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+0.6%</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7.3%</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42.6%</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20.2%</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1.85x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9.1x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9.8x</a:t>
                      </a:r>
                    </a:p>
                  </a:txBody>
                  <a:tcPr marL="0" marR="76200" marT="0" marB="0" anchor="ctr">
                    <a:lnL w="0">
                      <a:noFill/>
                    </a:lnL>
                    <a:lnR w="0">
                      <a:noFill/>
                    </a:lnR>
                    <a:lnT w="0">
                      <a:noFill/>
                    </a:lnT>
                    <a:lnB w="0">
                      <a:noFill/>
                    </a:lnB>
                    <a:solidFill>
                      <a:srgbClr val="FFFFFF"/>
                    </a:solidFill>
                  </a:tcPr>
                </a:tc>
                <a:extLst>
                  <a:ext uri="{0D108BD9-81ED-4DB2-BD59-A6C34878D82A}">
                    <a16:rowId xmlns:a16="http://schemas.microsoft.com/office/drawing/2014/main" val="10002"/>
                  </a:ext>
                </a:extLst>
              </a:tr>
              <a:tr h="200025">
                <a:tc>
                  <a:txBody>
                    <a:bodyPr/>
                    <a:lstStyle/>
                    <a:p>
                      <a:pPr algn="l">
                        <a:lnSpc>
                          <a:spcPts val="900"/>
                        </a:lnSpc>
                      </a:pPr>
                      <a:r>
                        <a:rPr sz="750" b="1" i="0">
                          <a:solidFill>
                            <a:srgbClr val="333231"/>
                          </a:solidFill>
                          <a:latin typeface="Calibri"/>
                        </a:rPr>
                        <a:t>Tenet Healthcare</a:t>
                      </a:r>
                      <a:r>
                        <a:rPr sz="750" b="0" i="0">
                          <a:solidFill>
                            <a:srgbClr val="333231"/>
                          </a:solidFill>
                          <a:latin typeface="Calibri"/>
                        </a:rPr>
                        <a:t> </a:t>
                      </a:r>
                      <a:r>
                        <a:rPr sz="638" b="0" i="0">
                          <a:solidFill>
                            <a:srgbClr val="6F6A66"/>
                          </a:solidFill>
                          <a:latin typeface="Calibri"/>
                        </a:rPr>
                        <a:t>THC</a:t>
                      </a:r>
                    </a:p>
                  </a:txBody>
                  <a:tcPr marL="7620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20,810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31,890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91%</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+27.3%</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5.4%</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41.7%</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22.2%</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1.46x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6.6x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7.7x</a:t>
                      </a:r>
                    </a:p>
                  </a:txBody>
                  <a:tcPr marL="0" marR="76200" marT="0" marB="0" anchor="ctr">
                    <a:lnL w="0">
                      <a:noFill/>
                    </a:lnL>
                    <a:lnR w="0">
                      <a:noFill/>
                    </a:lnR>
                    <a:lnT w="0">
                      <a:noFill/>
                    </a:lnT>
                    <a:lnB w="0">
                      <a:noFill/>
                    </a:lnB>
                    <a:solidFill>
                      <a:srgbClr val="FAF7F3"/>
                    </a:solidFill>
                  </a:tcPr>
                </a:tc>
                <a:extLst>
                  <a:ext uri="{0D108BD9-81ED-4DB2-BD59-A6C34878D82A}">
                    <a16:rowId xmlns:a16="http://schemas.microsoft.com/office/drawing/2014/main" val="10003"/>
                  </a:ext>
                </a:extLst>
              </a:tr>
              <a:tr h="200025">
                <a:tc>
                  <a:txBody>
                    <a:bodyPr/>
                    <a:lstStyle/>
                    <a:p>
                      <a:pPr algn="l">
                        <a:lnSpc>
                          <a:spcPts val="900"/>
                        </a:lnSpc>
                      </a:pPr>
                      <a:r>
                        <a:rPr sz="750" b="1" i="0">
                          <a:solidFill>
                            <a:srgbClr val="333231"/>
                          </a:solidFill>
                          <a:latin typeface="Calibri"/>
                        </a:rPr>
                        <a:t>U.S. Physical Therapy</a:t>
                      </a:r>
                      <a:r>
                        <a:rPr sz="750" b="0" i="0">
                          <a:solidFill>
                            <a:srgbClr val="333231"/>
                          </a:solidFill>
                          <a:latin typeface="Calibri"/>
                        </a:rPr>
                        <a:t> </a:t>
                      </a:r>
                      <a:r>
                        <a:rPr sz="638" b="0" i="0">
                          <a:solidFill>
                            <a:srgbClr val="6F6A66"/>
                          </a:solidFill>
                          <a:latin typeface="Calibri"/>
                        </a:rPr>
                        <a:t>USPH†</a:t>
                      </a:r>
                    </a:p>
                  </a:txBody>
                  <a:tcPr marL="7620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1,250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1,610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90%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−5.1%</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11.4%</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21.5%</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12.7%</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2.01x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15.9x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6F6A66"/>
                          </a:solidFill>
                          <a:latin typeface="Calibri"/>
                        </a:rPr>
                        <a:t>n.a.</a:t>
                      </a:r>
                    </a:p>
                  </a:txBody>
                  <a:tcPr marL="0" marR="76200" marT="0" marB="0" anchor="ctr">
                    <a:lnL w="0">
                      <a:noFill/>
                    </a:lnL>
                    <a:lnR w="0">
                      <a:noFill/>
                    </a:lnR>
                    <a:lnT w="0">
                      <a:noFill/>
                    </a:lnT>
                    <a:lnB w="0">
                      <a:noFill/>
                    </a:lnB>
                    <a:solidFill>
                      <a:srgbClr val="FFFFFF"/>
                    </a:solidFill>
                  </a:tcPr>
                </a:tc>
                <a:extLst>
                  <a:ext uri="{0D108BD9-81ED-4DB2-BD59-A6C34878D82A}">
                    <a16:rowId xmlns:a16="http://schemas.microsoft.com/office/drawing/2014/main" val="10004"/>
                  </a:ext>
                </a:extLst>
              </a:tr>
              <a:tr h="200025">
                <a:tc>
                  <a:txBody>
                    <a:bodyPr/>
                    <a:lstStyle/>
                    <a:p>
                      <a:pPr algn="l">
                        <a:lnSpc>
                          <a:spcPts val="900"/>
                        </a:lnSpc>
                      </a:pPr>
                      <a:r>
                        <a:rPr sz="750" b="1" i="0">
                          <a:solidFill>
                            <a:srgbClr val="333231"/>
                          </a:solidFill>
                          <a:latin typeface="Calibri"/>
                        </a:rPr>
                        <a:t>DaVita</a:t>
                      </a:r>
                      <a:r>
                        <a:rPr sz="750" b="0" i="0">
                          <a:solidFill>
                            <a:srgbClr val="333231"/>
                          </a:solidFill>
                          <a:latin typeface="Calibri"/>
                        </a:rPr>
                        <a:t> </a:t>
                      </a:r>
                      <a:r>
                        <a:rPr sz="638" b="0" i="0">
                          <a:solidFill>
                            <a:srgbClr val="6F6A66"/>
                          </a:solidFill>
                          <a:latin typeface="Calibri"/>
                        </a:rPr>
                        <a:t>DVA</a:t>
                      </a:r>
                    </a:p>
                  </a:txBody>
                  <a:tcPr marL="7620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11,350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24,070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72%</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+37.4%</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6.5%</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32.4%</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20.2%</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1.73x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8.6x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8.8x</a:t>
                      </a:r>
                    </a:p>
                  </a:txBody>
                  <a:tcPr marL="0" marR="76200" marT="0" marB="0" anchor="ctr">
                    <a:lnL w="0">
                      <a:noFill/>
                    </a:lnL>
                    <a:lnR w="0">
                      <a:noFill/>
                    </a:lnR>
                    <a:lnT w="0">
                      <a:noFill/>
                    </a:lnT>
                    <a:lnB w="0">
                      <a:noFill/>
                    </a:lnB>
                    <a:solidFill>
                      <a:srgbClr val="FAF7F3"/>
                    </a:solidFill>
                  </a:tcPr>
                </a:tc>
                <a:extLst>
                  <a:ext uri="{0D108BD9-81ED-4DB2-BD59-A6C34878D82A}">
                    <a16:rowId xmlns:a16="http://schemas.microsoft.com/office/drawing/2014/main" val="10005"/>
                  </a:ext>
                </a:extLst>
              </a:tr>
              <a:tr h="200025">
                <a:tc>
                  <a:txBody>
                    <a:bodyPr/>
                    <a:lstStyle/>
                    <a:p>
                      <a:pPr algn="l">
                        <a:lnSpc>
                          <a:spcPts val="900"/>
                        </a:lnSpc>
                      </a:pPr>
                      <a:r>
                        <a:rPr sz="750" b="1" i="0">
                          <a:solidFill>
                            <a:srgbClr val="333231"/>
                          </a:solidFill>
                          <a:latin typeface="Calibri"/>
                        </a:rPr>
                        <a:t>Addus HomeCare</a:t>
                      </a:r>
                      <a:r>
                        <a:rPr sz="750" b="0" i="0">
                          <a:solidFill>
                            <a:srgbClr val="333231"/>
                          </a:solidFill>
                          <a:latin typeface="Calibri"/>
                        </a:rPr>
                        <a:t> </a:t>
                      </a:r>
                      <a:r>
                        <a:rPr sz="638" b="0" i="0">
                          <a:solidFill>
                            <a:srgbClr val="6F6A66"/>
                          </a:solidFill>
                          <a:latin typeface="Calibri"/>
                        </a:rPr>
                        <a:t>ADUS</a:t>
                      </a:r>
                    </a:p>
                  </a:txBody>
                  <a:tcPr marL="7620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2,070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2,080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91%</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−1.6%</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15.9%</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32.0%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10.9%</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1.41x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13.0x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14.5x</a:t>
                      </a:r>
                    </a:p>
                  </a:txBody>
                  <a:tcPr marL="0" marR="76200" marT="0" marB="0" anchor="ctr">
                    <a:lnL w="0">
                      <a:noFill/>
                    </a:lnL>
                    <a:lnR w="0">
                      <a:noFill/>
                    </a:lnR>
                    <a:lnT w="0">
                      <a:noFill/>
                    </a:lnT>
                    <a:lnB w="0">
                      <a:noFill/>
                    </a:lnB>
                    <a:solidFill>
                      <a:srgbClr val="FFFFFF"/>
                    </a:solidFill>
                  </a:tcPr>
                </a:tc>
                <a:extLst>
                  <a:ext uri="{0D108BD9-81ED-4DB2-BD59-A6C34878D82A}">
                    <a16:rowId xmlns:a16="http://schemas.microsoft.com/office/drawing/2014/main" val="10006"/>
                  </a:ext>
                </a:extLst>
              </a:tr>
              <a:tr h="200025">
                <a:tc>
                  <a:txBody>
                    <a:bodyPr/>
                    <a:lstStyle/>
                    <a:p>
                      <a:pPr algn="l">
                        <a:lnSpc>
                          <a:spcPts val="900"/>
                        </a:lnSpc>
                      </a:pPr>
                      <a:r>
                        <a:rPr sz="750" b="1" i="0">
                          <a:solidFill>
                            <a:srgbClr val="333231"/>
                          </a:solidFill>
                          <a:latin typeface="Calibri"/>
                        </a:rPr>
                        <a:t>Pennant Group</a:t>
                      </a:r>
                      <a:r>
                        <a:rPr sz="750" b="0" i="0">
                          <a:solidFill>
                            <a:srgbClr val="333231"/>
                          </a:solidFill>
                          <a:latin typeface="Calibri"/>
                        </a:rPr>
                        <a:t> </a:t>
                      </a:r>
                      <a:r>
                        <a:rPr sz="638" b="0" i="0">
                          <a:solidFill>
                            <a:srgbClr val="6F6A66"/>
                          </a:solidFill>
                          <a:latin typeface="Calibri"/>
                        </a:rPr>
                        <a:t>PNTG</a:t>
                      </a:r>
                    </a:p>
                  </a:txBody>
                  <a:tcPr marL="7620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1,410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1,890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94%</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+56.1%</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37.9%</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19.6%</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6.8%</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1.72x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25.4x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23.6x</a:t>
                      </a:r>
                    </a:p>
                  </a:txBody>
                  <a:tcPr marL="0" marR="76200" marT="0" marB="0" anchor="ctr">
                    <a:lnL w="0">
                      <a:noFill/>
                    </a:lnL>
                    <a:lnR w="0">
                      <a:noFill/>
                    </a:lnR>
                    <a:lnT w="0">
                      <a:noFill/>
                    </a:lnT>
                    <a:lnB w="0">
                      <a:noFill/>
                    </a:lnB>
                    <a:solidFill>
                      <a:srgbClr val="FAF7F3"/>
                    </a:solidFill>
                  </a:tcPr>
                </a:tc>
                <a:extLst>
                  <a:ext uri="{0D108BD9-81ED-4DB2-BD59-A6C34878D82A}">
                    <a16:rowId xmlns:a16="http://schemas.microsoft.com/office/drawing/2014/main" val="10007"/>
                  </a:ext>
                </a:extLst>
              </a:tr>
              <a:tr h="200025">
                <a:tc>
                  <a:txBody>
                    <a:bodyPr/>
                    <a:lstStyle/>
                    <a:p>
                      <a:pPr algn="l">
                        <a:lnSpc>
                          <a:spcPts val="900"/>
                        </a:lnSpc>
                      </a:pPr>
                      <a:r>
                        <a:rPr sz="750" b="1" i="0">
                          <a:solidFill>
                            <a:srgbClr val="333231"/>
                          </a:solidFill>
                          <a:latin typeface="Calibri"/>
                        </a:rPr>
                        <a:t>Acadia Healthcare</a:t>
                      </a:r>
                      <a:r>
                        <a:rPr sz="750" b="0" i="0">
                          <a:solidFill>
                            <a:srgbClr val="333231"/>
                          </a:solidFill>
                          <a:latin typeface="Calibri"/>
                        </a:rPr>
                        <a:t> </a:t>
                      </a:r>
                      <a:r>
                        <a:rPr sz="638" b="0" i="0">
                          <a:solidFill>
                            <a:srgbClr val="6F6A66"/>
                          </a:solidFill>
                          <a:latin typeface="Calibri"/>
                        </a:rPr>
                        <a:t>ACHC</a:t>
                      </a:r>
                    </a:p>
                  </a:txBody>
                  <a:tcPr marL="7620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2,690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5,110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81%</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+6.5%</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4.3%</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41.1%</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15.9%</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1.51x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9.5x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10.5x</a:t>
                      </a:r>
                    </a:p>
                  </a:txBody>
                  <a:tcPr marL="0" marR="76200" marT="0" marB="0" anchor="ctr">
                    <a:lnL w="0">
                      <a:noFill/>
                    </a:lnL>
                    <a:lnR w="0">
                      <a:noFill/>
                    </a:lnR>
                    <a:lnT w="0">
                      <a:noFill/>
                    </a:lnT>
                    <a:lnB w="0">
                      <a:noFill/>
                    </a:lnB>
                    <a:solidFill>
                      <a:srgbClr val="FFFFFF"/>
                    </a:solidFill>
                  </a:tcPr>
                </a:tc>
                <a:extLst>
                  <a:ext uri="{0D108BD9-81ED-4DB2-BD59-A6C34878D82A}">
                    <a16:rowId xmlns:a16="http://schemas.microsoft.com/office/drawing/2014/main" val="10008"/>
                  </a:ext>
                </a:extLst>
              </a:tr>
              <a:tr h="200025">
                <a:tc>
                  <a:txBody>
                    <a:bodyPr/>
                    <a:lstStyle/>
                    <a:p>
                      <a:pPr algn="l">
                        <a:lnSpc>
                          <a:spcPts val="900"/>
                        </a:lnSpc>
                      </a:pPr>
                      <a:r>
                        <a:rPr sz="750" b="1" i="0">
                          <a:solidFill>
                            <a:srgbClr val="333231"/>
                          </a:solidFill>
                          <a:latin typeface="Calibri"/>
                        </a:rPr>
                        <a:t>LifeStance Health</a:t>
                      </a:r>
                      <a:r>
                        <a:rPr sz="750" b="0" i="0">
                          <a:solidFill>
                            <a:srgbClr val="333231"/>
                          </a:solidFill>
                          <a:latin typeface="Calibri"/>
                        </a:rPr>
                        <a:t> </a:t>
                      </a:r>
                      <a:r>
                        <a:rPr sz="638" b="0" i="0">
                          <a:solidFill>
                            <a:srgbClr val="6F6A66"/>
                          </a:solidFill>
                          <a:latin typeface="Calibri"/>
                        </a:rPr>
                        <a:t>LFST†</a:t>
                      </a:r>
                    </a:p>
                  </a:txBody>
                  <a:tcPr marL="7620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4,620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4,870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89%</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+123.4%</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20.4%</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33.6%</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8.5%</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3.08x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36.1x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38.0x</a:t>
                      </a:r>
                    </a:p>
                  </a:txBody>
                  <a:tcPr marL="0" marR="76200" marT="0" marB="0" anchor="ctr">
                    <a:lnL w="0">
                      <a:noFill/>
                    </a:lnL>
                    <a:lnR w="0">
                      <a:noFill/>
                    </a:lnR>
                    <a:lnT w="0">
                      <a:noFill/>
                    </a:lnT>
                    <a:lnB w="0">
                      <a:noFill/>
                    </a:lnB>
                    <a:solidFill>
                      <a:srgbClr val="FAF7F3"/>
                    </a:solidFill>
                  </a:tcPr>
                </a:tc>
                <a:extLst>
                  <a:ext uri="{0D108BD9-81ED-4DB2-BD59-A6C34878D82A}">
                    <a16:rowId xmlns:a16="http://schemas.microsoft.com/office/drawing/2014/main" val="10009"/>
                  </a:ext>
                </a:extLst>
              </a:tr>
              <a:tr h="200025">
                <a:tc>
                  <a:txBody>
                    <a:bodyPr/>
                    <a:lstStyle/>
                    <a:p>
                      <a:pPr algn="l">
                        <a:lnSpc>
                          <a:spcPts val="900"/>
                        </a:lnSpc>
                      </a:pPr>
                      <a:r>
                        <a:rPr sz="750" b="1" i="0">
                          <a:solidFill>
                            <a:srgbClr val="333231"/>
                          </a:solidFill>
                          <a:latin typeface="Calibri"/>
                        </a:rPr>
                        <a:t>Privia Health</a:t>
                      </a:r>
                      <a:r>
                        <a:rPr sz="750" b="0" i="0">
                          <a:solidFill>
                            <a:srgbClr val="333231"/>
                          </a:solidFill>
                          <a:latin typeface="Calibri"/>
                        </a:rPr>
                        <a:t> </a:t>
                      </a:r>
                      <a:r>
                        <a:rPr sz="638" b="0" i="0">
                          <a:solidFill>
                            <a:srgbClr val="6F6A66"/>
                          </a:solidFill>
                          <a:latin typeface="Calibri"/>
                        </a:rPr>
                        <a:t>PRVA†</a:t>
                      </a:r>
                    </a:p>
                  </a:txBody>
                  <a:tcPr marL="7620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2,610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2,210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71%</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−15.5%</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24.1%</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10.0%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2.4%</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0.93x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38.7x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73.0x</a:t>
                      </a:r>
                    </a:p>
                  </a:txBody>
                  <a:tcPr marL="0" marR="76200" marT="0" marB="0" anchor="ctr">
                    <a:lnL w="0">
                      <a:noFill/>
                    </a:lnL>
                    <a:lnR w="0">
                      <a:noFill/>
                    </a:lnR>
                    <a:lnT w="0">
                      <a:noFill/>
                    </a:lnT>
                    <a:lnB w="0">
                      <a:noFill/>
                    </a:lnB>
                    <a:solidFill>
                      <a:srgbClr val="FFFFFF"/>
                    </a:solidFill>
                  </a:tcPr>
                </a:tc>
                <a:extLst>
                  <a:ext uri="{0D108BD9-81ED-4DB2-BD59-A6C34878D82A}">
                    <a16:rowId xmlns:a16="http://schemas.microsoft.com/office/drawing/2014/main" val="10010"/>
                  </a:ext>
                </a:extLst>
              </a:tr>
              <a:tr h="200025">
                <a:tc>
                  <a:txBody>
                    <a:bodyPr/>
                    <a:lstStyle/>
                    <a:p>
                      <a:pPr algn="l">
                        <a:lnSpc>
                          <a:spcPts val="900"/>
                        </a:lnSpc>
                      </a:pPr>
                      <a:r>
                        <a:rPr sz="750" b="1" i="0">
                          <a:solidFill>
                            <a:srgbClr val="333231"/>
                          </a:solidFill>
                          <a:latin typeface="Calibri"/>
                        </a:rPr>
                        <a:t>Concentra</a:t>
                      </a:r>
                      <a:r>
                        <a:rPr sz="750" b="0" i="0">
                          <a:solidFill>
                            <a:srgbClr val="333231"/>
                          </a:solidFill>
                          <a:latin typeface="Calibri"/>
                        </a:rPr>
                        <a:t> </a:t>
                      </a:r>
                      <a:r>
                        <a:rPr sz="638" b="0" i="0">
                          <a:solidFill>
                            <a:srgbClr val="6F6A66"/>
                          </a:solidFill>
                          <a:latin typeface="Calibri"/>
                        </a:rPr>
                        <a:t>CON</a:t>
                      </a:r>
                    </a:p>
                  </a:txBody>
                  <a:tcPr marL="7620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4,620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6,600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99%</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+74.5%</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14.0%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29.3%</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20.2%</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2.89x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14.3x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11.9x</a:t>
                      </a:r>
                    </a:p>
                  </a:txBody>
                  <a:tcPr marL="0" marR="76200" marT="0" marB="0" anchor="ctr">
                    <a:lnL w="0">
                      <a:noFill/>
                    </a:lnL>
                    <a:lnR w="0">
                      <a:noFill/>
                    </a:lnR>
                    <a:lnT w="0">
                      <a:noFill/>
                    </a:lnT>
                    <a:lnB w="0">
                      <a:noFill/>
                    </a:lnB>
                    <a:solidFill>
                      <a:srgbClr val="FAF7F3"/>
                    </a:solidFill>
                  </a:tcPr>
                </a:tc>
                <a:extLst>
                  <a:ext uri="{0D108BD9-81ED-4DB2-BD59-A6C34878D82A}">
                    <a16:rowId xmlns:a16="http://schemas.microsoft.com/office/drawing/2014/main" val="10011"/>
                  </a:ext>
                </a:extLst>
              </a:tr>
              <a:tr h="200025">
                <a:tc>
                  <a:txBody>
                    <a:bodyPr/>
                    <a:lstStyle/>
                    <a:p>
                      <a:pPr algn="l">
                        <a:lnSpc>
                          <a:spcPts val="900"/>
                        </a:lnSpc>
                      </a:pPr>
                      <a:r>
                        <a:rPr sz="750" b="1" i="0">
                          <a:solidFill>
                            <a:srgbClr val="333231"/>
                          </a:solidFill>
                          <a:latin typeface="Calibri"/>
                        </a:rPr>
                        <a:t>Ensign Group</a:t>
                      </a:r>
                      <a:r>
                        <a:rPr sz="750" b="0" i="0">
                          <a:solidFill>
                            <a:srgbClr val="333231"/>
                          </a:solidFill>
                          <a:latin typeface="Calibri"/>
                        </a:rPr>
                        <a:t> </a:t>
                      </a:r>
                      <a:r>
                        <a:rPr sz="638" b="0" i="0">
                          <a:solidFill>
                            <a:srgbClr val="6F6A66"/>
                          </a:solidFill>
                          <a:latin typeface="Calibri"/>
                        </a:rPr>
                        <a:t>ENSG</a:t>
                      </a:r>
                    </a:p>
                  </a:txBody>
                  <a:tcPr marL="7620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9,990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11,920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79%</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−1.4%</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18.9%</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16.6%</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10.6%</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2.18x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20.5x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22.8x</a:t>
                      </a:r>
                    </a:p>
                  </a:txBody>
                  <a:tcPr marL="0" marR="76200" marT="0" marB="0" anchor="ctr">
                    <a:lnL w="0">
                      <a:noFill/>
                    </a:lnL>
                    <a:lnR w="0">
                      <a:noFill/>
                    </a:lnR>
                    <a:lnT w="0">
                      <a:noFill/>
                    </a:lnT>
                    <a:lnB w="0">
                      <a:noFill/>
                    </a:lnB>
                    <a:solidFill>
                      <a:srgbClr val="FFFFFF"/>
                    </a:solidFill>
                  </a:tcPr>
                </a:tc>
                <a:extLst>
                  <a:ext uri="{0D108BD9-81ED-4DB2-BD59-A6C34878D82A}">
                    <a16:rowId xmlns:a16="http://schemas.microsoft.com/office/drawing/2014/main" val="10012"/>
                  </a:ext>
                </a:extLst>
              </a:tr>
              <a:tr h="228600">
                <a:tc>
                  <a:txBody>
                    <a:bodyPr/>
                    <a:lstStyle/>
                    <a:p>
                      <a:pPr algn="l">
                        <a:lnSpc>
                          <a:spcPts val="900"/>
                        </a:lnSpc>
                      </a:pPr>
                      <a:r>
                        <a:rPr sz="750" b="1" i="0">
                          <a:solidFill>
                            <a:srgbClr val="1B1A1A"/>
                          </a:solidFill>
                          <a:latin typeface="Calibri"/>
                        </a:rPr>
                        <a:t>Median</a:t>
                      </a:r>
                    </a:p>
                  </a:txBody>
                  <a:tcPr marL="76200" marR="57150" marT="0" marB="0" anchor="ctr">
                    <a:lnL w="0">
                      <a:noFill/>
                    </a:lnL>
                    <a:lnR w="0">
                      <a:noFill/>
                    </a:lnR>
                    <a:lnT w="7143">
                      <a:noFill/>
                    </a:lnT>
                    <a:lnB w="0">
                      <a:noFill/>
                    </a:lnB>
                    <a:noFill/>
                  </a:tcPr>
                </a:tc>
                <a:tc>
                  <a:txBody>
                    <a:bodyPr/>
                    <a:lstStyle/>
                    <a:p>
                      <a:endParaRPr sz="100"/>
                    </a:p>
                  </a:txBody>
                  <a:tcPr marL="0" marR="57150" marT="0" marB="0" anchor="ctr">
                    <a:lnL w="0">
                      <a:noFill/>
                    </a:lnL>
                    <a:lnR w="0">
                      <a:noFill/>
                    </a:lnR>
                    <a:lnT w="7143">
                      <a:noFill/>
                    </a:lnT>
                    <a:lnB w="0">
                      <a:noFill/>
                    </a:lnB>
                    <a:noFill/>
                  </a:tcPr>
                </a:tc>
                <a:tc>
                  <a:txBody>
                    <a:bodyPr/>
                    <a:lstStyle/>
                    <a:p>
                      <a:endParaRPr sz="100"/>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89%</a:t>
                      </a:r>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+6.5%</a:t>
                      </a:r>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14.0%</a:t>
                      </a:r>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32.0%</a:t>
                      </a:r>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12.7%</a:t>
                      </a:r>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1.73x</a:t>
                      </a:r>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11.3x</a:t>
                      </a:r>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11.2x</a:t>
                      </a:r>
                    </a:p>
                  </a:txBody>
                  <a:tcPr marL="0" marR="76200" marT="0" marB="0" anchor="ctr">
                    <a:lnL w="0">
                      <a:noFill/>
                    </a:lnL>
                    <a:lnR w="0">
                      <a:noFill/>
                    </a:lnR>
                    <a:lnT w="7143">
                      <a:noFill/>
                    </a:lnT>
                    <a:lnB w="0">
                      <a:noFill/>
                    </a:lnB>
                    <a:noFill/>
                  </a:tcPr>
                </a:tc>
                <a:extLst>
                  <a:ext uri="{0D108BD9-81ED-4DB2-BD59-A6C34878D82A}">
                    <a16:rowId xmlns:a16="http://schemas.microsoft.com/office/drawing/2014/main" val="10013"/>
                  </a:ext>
                </a:extLst>
              </a:tr>
              <a:tr h="228600">
                <a:tc gridSpan="11">
                  <a:txBody>
                    <a:bodyPr/>
                    <a:lstStyle/>
                    <a:p>
                      <a:pPr algn="l">
                        <a:lnSpc>
                          <a:spcPts val="900"/>
                        </a:lnSpc>
                      </a:pPr>
                      <a:r>
                        <a:rPr sz="675" b="1" i="0" spc="135">
                          <a:solidFill>
                            <a:srgbClr val="FFFFFF"/>
                          </a:solidFill>
                          <a:latin typeface="Calibri"/>
                        </a:rPr>
                        <a:t>LIFE SCIENCES &amp; DIAGNOSTICS</a:t>
                      </a:r>
                    </a:p>
                  </a:txBody>
                  <a:tcPr marL="7620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76200" marT="0" marB="0" anchor="ctr">
                    <a:lnL w="0">
                      <a:noFill/>
                    </a:lnL>
                    <a:lnR w="0">
                      <a:noFill/>
                    </a:lnR>
                    <a:lnT w="0">
                      <a:noFill/>
                    </a:lnT>
                    <a:lnB w="0">
                      <a:noFill/>
                    </a:lnB>
                    <a:solidFill>
                      <a:srgbClr val="1B1A1A"/>
                    </a:solidFill>
                  </a:tcPr>
                </a:tc>
                <a:extLst>
                  <a:ext uri="{0D108BD9-81ED-4DB2-BD59-A6C34878D82A}">
                    <a16:rowId xmlns:a16="http://schemas.microsoft.com/office/drawing/2014/main" val="10014"/>
                  </a:ext>
                </a:extLst>
              </a:tr>
              <a:tr h="200025">
                <a:tc>
                  <a:txBody>
                    <a:bodyPr/>
                    <a:lstStyle/>
                    <a:p>
                      <a:pPr algn="l">
                        <a:lnSpc>
                          <a:spcPts val="900"/>
                        </a:lnSpc>
                      </a:pPr>
                      <a:r>
                        <a:rPr sz="750" b="1" i="0">
                          <a:solidFill>
                            <a:srgbClr val="333231"/>
                          </a:solidFill>
                          <a:latin typeface="Calibri"/>
                        </a:rPr>
                        <a:t>Labcorp</a:t>
                      </a:r>
                      <a:r>
                        <a:rPr sz="750" b="0" i="0">
                          <a:solidFill>
                            <a:srgbClr val="333231"/>
                          </a:solidFill>
                          <a:latin typeface="Calibri"/>
                        </a:rPr>
                        <a:t> </a:t>
                      </a:r>
                      <a:r>
                        <a:rPr sz="638" b="0" i="0">
                          <a:solidFill>
                            <a:srgbClr val="6F6A66"/>
                          </a:solidFill>
                          <a:latin typeface="Calibri"/>
                        </a:rPr>
                        <a:t>LH</a:t>
                      </a:r>
                    </a:p>
                  </a:txBody>
                  <a:tcPr marL="7620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25,030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31,710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90%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+11.4%</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7.3%</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28.9%</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16.2%</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2.21x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13.7x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14.5x</a:t>
                      </a:r>
                    </a:p>
                  </a:txBody>
                  <a:tcPr marL="0" marR="76200" marT="0" marB="0" anchor="ctr">
                    <a:lnL w="0">
                      <a:noFill/>
                    </a:lnL>
                    <a:lnR w="0">
                      <a:noFill/>
                    </a:lnR>
                    <a:lnT w="0">
                      <a:noFill/>
                    </a:lnT>
                    <a:lnB w="0">
                      <a:noFill/>
                    </a:lnB>
                    <a:solidFill>
                      <a:srgbClr val="FFFFFF"/>
                    </a:solidFill>
                  </a:tcPr>
                </a:tc>
                <a:extLst>
                  <a:ext uri="{0D108BD9-81ED-4DB2-BD59-A6C34878D82A}">
                    <a16:rowId xmlns:a16="http://schemas.microsoft.com/office/drawing/2014/main" val="10015"/>
                  </a:ext>
                </a:extLst>
              </a:tr>
              <a:tr h="200025">
                <a:tc>
                  <a:txBody>
                    <a:bodyPr/>
                    <a:lstStyle/>
                    <a:p>
                      <a:pPr algn="l">
                        <a:lnSpc>
                          <a:spcPts val="900"/>
                        </a:lnSpc>
                      </a:pPr>
                      <a:r>
                        <a:rPr sz="750" b="1" i="0">
                          <a:solidFill>
                            <a:srgbClr val="333231"/>
                          </a:solidFill>
                          <a:latin typeface="Calibri"/>
                        </a:rPr>
                        <a:t>Quest Diagnostics</a:t>
                      </a:r>
                      <a:r>
                        <a:rPr sz="750" b="0" i="0">
                          <a:solidFill>
                            <a:srgbClr val="333231"/>
                          </a:solidFill>
                          <a:latin typeface="Calibri"/>
                        </a:rPr>
                        <a:t> </a:t>
                      </a:r>
                      <a:r>
                        <a:rPr sz="638" b="0" i="0">
                          <a:solidFill>
                            <a:srgbClr val="6F6A66"/>
                          </a:solidFill>
                          <a:latin typeface="Calibri"/>
                        </a:rPr>
                        <a:t>DGX</a:t>
                      </a:r>
                    </a:p>
                  </a:txBody>
                  <a:tcPr marL="7620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25,210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30,990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92%</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+26.6%</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9.9%</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33.2%</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19.6%</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2.68x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13.7x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12.8x</a:t>
                      </a:r>
                    </a:p>
                  </a:txBody>
                  <a:tcPr marL="0" marR="76200" marT="0" marB="0" anchor="ctr">
                    <a:lnL w="0">
                      <a:noFill/>
                    </a:lnL>
                    <a:lnR w="0">
                      <a:noFill/>
                    </a:lnR>
                    <a:lnT w="0">
                      <a:noFill/>
                    </a:lnT>
                    <a:lnB w="0">
                      <a:noFill/>
                    </a:lnB>
                    <a:solidFill>
                      <a:srgbClr val="FAF7F3"/>
                    </a:solidFill>
                  </a:tcPr>
                </a:tc>
                <a:extLst>
                  <a:ext uri="{0D108BD9-81ED-4DB2-BD59-A6C34878D82A}">
                    <a16:rowId xmlns:a16="http://schemas.microsoft.com/office/drawing/2014/main" val="10016"/>
                  </a:ext>
                </a:extLst>
              </a:tr>
              <a:tr h="200025">
                <a:tc>
                  <a:txBody>
                    <a:bodyPr/>
                    <a:lstStyle/>
                    <a:p>
                      <a:pPr algn="l">
                        <a:lnSpc>
                          <a:spcPts val="900"/>
                        </a:lnSpc>
                      </a:pPr>
                      <a:r>
                        <a:rPr sz="750" b="1" i="0">
                          <a:solidFill>
                            <a:srgbClr val="333231"/>
                          </a:solidFill>
                          <a:latin typeface="Calibri"/>
                        </a:rPr>
                        <a:t>Thermo Fisher Scientific</a:t>
                      </a:r>
                      <a:r>
                        <a:rPr sz="750" b="0" i="0">
                          <a:solidFill>
                            <a:srgbClr val="333231"/>
                          </a:solidFill>
                          <a:latin typeface="Calibri"/>
                        </a:rPr>
                        <a:t> </a:t>
                      </a:r>
                      <a:r>
                        <a:rPr sz="638" b="0" i="0">
                          <a:solidFill>
                            <a:srgbClr val="6F6A66"/>
                          </a:solidFill>
                          <a:latin typeface="Calibri"/>
                        </a:rPr>
                        <a:t>TMO</a:t>
                      </a:r>
                    </a:p>
                  </a:txBody>
                  <a:tcPr marL="7620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242,770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281,250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95%</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+20.9%</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7.2%</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41.0%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25.3%</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6.07x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24.0x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18.6x</a:t>
                      </a:r>
                    </a:p>
                  </a:txBody>
                  <a:tcPr marL="0" marR="76200" marT="0" marB="0" anchor="ctr">
                    <a:lnL w="0">
                      <a:noFill/>
                    </a:lnL>
                    <a:lnR w="0">
                      <a:noFill/>
                    </a:lnR>
                    <a:lnT w="0">
                      <a:noFill/>
                    </a:lnT>
                    <a:lnB w="0">
                      <a:noFill/>
                    </a:lnB>
                    <a:solidFill>
                      <a:srgbClr val="FFFFFF"/>
                    </a:solidFill>
                  </a:tcPr>
                </a:tc>
                <a:extLst>
                  <a:ext uri="{0D108BD9-81ED-4DB2-BD59-A6C34878D82A}">
                    <a16:rowId xmlns:a16="http://schemas.microsoft.com/office/drawing/2014/main" val="10017"/>
                  </a:ext>
                </a:extLst>
              </a:tr>
              <a:tr h="200025">
                <a:tc>
                  <a:txBody>
                    <a:bodyPr/>
                    <a:lstStyle/>
                    <a:p>
                      <a:pPr algn="l">
                        <a:lnSpc>
                          <a:spcPts val="900"/>
                        </a:lnSpc>
                      </a:pPr>
                      <a:r>
                        <a:rPr sz="750" b="1" i="0">
                          <a:solidFill>
                            <a:srgbClr val="333231"/>
                          </a:solidFill>
                          <a:latin typeface="Calibri"/>
                        </a:rPr>
                        <a:t>Danaher</a:t>
                      </a:r>
                      <a:r>
                        <a:rPr sz="750" b="0" i="0">
                          <a:solidFill>
                            <a:srgbClr val="333231"/>
                          </a:solidFill>
                          <a:latin typeface="Calibri"/>
                        </a:rPr>
                        <a:t> </a:t>
                      </a:r>
                      <a:r>
                        <a:rPr sz="638" b="0" i="0">
                          <a:solidFill>
                            <a:srgbClr val="6F6A66"/>
                          </a:solidFill>
                          <a:latin typeface="Calibri"/>
                        </a:rPr>
                        <a:t>DHR</a:t>
                      </a:r>
                    </a:p>
                  </a:txBody>
                  <a:tcPr marL="7620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151,570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175,080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89%</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+0.3%</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4.6%</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58.8%</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32.0%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6.97x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21.8x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19.3x</a:t>
                      </a:r>
                    </a:p>
                  </a:txBody>
                  <a:tcPr marL="0" marR="76200" marT="0" marB="0" anchor="ctr">
                    <a:lnL w="0">
                      <a:noFill/>
                    </a:lnL>
                    <a:lnR w="0">
                      <a:noFill/>
                    </a:lnR>
                    <a:lnT w="0">
                      <a:noFill/>
                    </a:lnT>
                    <a:lnB w="0">
                      <a:noFill/>
                    </a:lnB>
                    <a:solidFill>
                      <a:srgbClr val="FAF7F3"/>
                    </a:solidFill>
                  </a:tcPr>
                </a:tc>
                <a:extLst>
                  <a:ext uri="{0D108BD9-81ED-4DB2-BD59-A6C34878D82A}">
                    <a16:rowId xmlns:a16="http://schemas.microsoft.com/office/drawing/2014/main" val="10018"/>
                  </a:ext>
                </a:extLst>
              </a:tr>
              <a:tr h="200025">
                <a:tc>
                  <a:txBody>
                    <a:bodyPr/>
                    <a:lstStyle/>
                    <a:p>
                      <a:pPr algn="l">
                        <a:lnSpc>
                          <a:spcPts val="900"/>
                        </a:lnSpc>
                      </a:pPr>
                      <a:r>
                        <a:rPr sz="750" b="1" i="0">
                          <a:solidFill>
                            <a:srgbClr val="333231"/>
                          </a:solidFill>
                          <a:latin typeface="Calibri"/>
                        </a:rPr>
                        <a:t>Bio-Techne</a:t>
                      </a:r>
                      <a:r>
                        <a:rPr sz="750" b="0" i="0">
                          <a:solidFill>
                            <a:srgbClr val="333231"/>
                          </a:solidFill>
                          <a:latin typeface="Calibri"/>
                        </a:rPr>
                        <a:t> </a:t>
                      </a:r>
                      <a:r>
                        <a:rPr sz="638" b="0" i="0">
                          <a:solidFill>
                            <a:srgbClr val="6F6A66"/>
                          </a:solidFill>
                          <a:latin typeface="Calibri"/>
                        </a:rPr>
                        <a:t>TECH</a:t>
                      </a:r>
                    </a:p>
                  </a:txBody>
                  <a:tcPr marL="7620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11,350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11,380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100%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+20.8%</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-0.4%</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66.2%</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27.5%</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9.36x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34.0x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27.3x</a:t>
                      </a:r>
                    </a:p>
                  </a:txBody>
                  <a:tcPr marL="0" marR="76200" marT="0" marB="0" anchor="ctr">
                    <a:lnL w="0">
                      <a:noFill/>
                    </a:lnL>
                    <a:lnR w="0">
                      <a:noFill/>
                    </a:lnR>
                    <a:lnT w="0">
                      <a:noFill/>
                    </a:lnT>
                    <a:lnB w="0">
                      <a:noFill/>
                    </a:lnB>
                    <a:solidFill>
                      <a:srgbClr val="FFFFFF"/>
                    </a:solidFill>
                  </a:tcPr>
                </a:tc>
                <a:extLst>
                  <a:ext uri="{0D108BD9-81ED-4DB2-BD59-A6C34878D82A}">
                    <a16:rowId xmlns:a16="http://schemas.microsoft.com/office/drawing/2014/main" val="10019"/>
                  </a:ext>
                </a:extLst>
              </a:tr>
              <a:tr h="200025">
                <a:tc>
                  <a:txBody>
                    <a:bodyPr/>
                    <a:lstStyle/>
                    <a:p>
                      <a:pPr algn="l">
                        <a:lnSpc>
                          <a:spcPts val="900"/>
                        </a:lnSpc>
                      </a:pPr>
                      <a:r>
                        <a:rPr sz="750" b="1" i="0">
                          <a:solidFill>
                            <a:srgbClr val="333231"/>
                          </a:solidFill>
                          <a:latin typeface="Calibri"/>
                        </a:rPr>
                        <a:t>IQVIA</a:t>
                      </a:r>
                      <a:r>
                        <a:rPr sz="750" b="0" i="0">
                          <a:solidFill>
                            <a:srgbClr val="333231"/>
                          </a:solidFill>
                          <a:latin typeface="Calibri"/>
                        </a:rPr>
                        <a:t> </a:t>
                      </a:r>
                      <a:r>
                        <a:rPr sz="638" b="0" i="0">
                          <a:solidFill>
                            <a:srgbClr val="6F6A66"/>
                          </a:solidFill>
                          <a:latin typeface="Calibri"/>
                        </a:rPr>
                        <a:t>IQV</a:t>
                      </a:r>
                    </a:p>
                  </a:txBody>
                  <a:tcPr marL="7620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42,790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56,970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94%</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+25.8%</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8.2%</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33.0%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17.9%</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3.35x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18.7x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13.5x</a:t>
                      </a:r>
                    </a:p>
                  </a:txBody>
                  <a:tcPr marL="0" marR="76200" marT="0" marB="0" anchor="ctr">
                    <a:lnL w="0">
                      <a:noFill/>
                    </a:lnL>
                    <a:lnR w="0">
                      <a:noFill/>
                    </a:lnR>
                    <a:lnT w="0">
                      <a:noFill/>
                    </a:lnT>
                    <a:lnB w="0">
                      <a:noFill/>
                    </a:lnB>
                    <a:solidFill>
                      <a:srgbClr val="FAF7F3"/>
                    </a:solidFill>
                  </a:tcPr>
                </a:tc>
                <a:extLst>
                  <a:ext uri="{0D108BD9-81ED-4DB2-BD59-A6C34878D82A}">
                    <a16:rowId xmlns:a16="http://schemas.microsoft.com/office/drawing/2014/main" val="10020"/>
                  </a:ext>
                </a:extLst>
              </a:tr>
              <a:tr h="200025">
                <a:tc>
                  <a:txBody>
                    <a:bodyPr/>
                    <a:lstStyle/>
                    <a:p>
                      <a:pPr algn="l">
                        <a:lnSpc>
                          <a:spcPts val="900"/>
                        </a:lnSpc>
                      </a:pPr>
                      <a:r>
                        <a:rPr sz="750" b="1" i="0">
                          <a:solidFill>
                            <a:srgbClr val="333231"/>
                          </a:solidFill>
                          <a:latin typeface="Calibri"/>
                        </a:rPr>
                        <a:t>Medpace</a:t>
                      </a:r>
                      <a:r>
                        <a:rPr sz="750" b="0" i="0">
                          <a:solidFill>
                            <a:srgbClr val="333231"/>
                          </a:solidFill>
                          <a:latin typeface="Calibri"/>
                        </a:rPr>
                        <a:t> </a:t>
                      </a:r>
                      <a:r>
                        <a:rPr sz="638" b="0" i="0">
                          <a:solidFill>
                            <a:srgbClr val="6F6A66"/>
                          </a:solidFill>
                          <a:latin typeface="Calibri"/>
                        </a:rPr>
                        <a:t>MEDP</a:t>
                      </a:r>
                    </a:p>
                  </a:txBody>
                  <a:tcPr marL="7620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17,320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16,960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92%</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+16.5%</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24.7%</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72.3%</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22.0%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6.10x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27.8x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27.2x</a:t>
                      </a:r>
                    </a:p>
                  </a:txBody>
                  <a:tcPr marL="0" marR="76200" marT="0" marB="0" anchor="ctr">
                    <a:lnL w="0">
                      <a:noFill/>
                    </a:lnL>
                    <a:lnR w="0">
                      <a:noFill/>
                    </a:lnR>
                    <a:lnT w="0">
                      <a:noFill/>
                    </a:lnT>
                    <a:lnB w="0">
                      <a:noFill/>
                    </a:lnB>
                    <a:solidFill>
                      <a:srgbClr val="FFFFFF"/>
                    </a:solidFill>
                  </a:tcPr>
                </a:tc>
                <a:extLst>
                  <a:ext uri="{0D108BD9-81ED-4DB2-BD59-A6C34878D82A}">
                    <a16:rowId xmlns:a16="http://schemas.microsoft.com/office/drawing/2014/main" val="10021"/>
                  </a:ext>
                </a:extLst>
              </a:tr>
              <a:tr h="200025">
                <a:tc>
                  <a:txBody>
                    <a:bodyPr/>
                    <a:lstStyle/>
                    <a:p>
                      <a:pPr algn="l">
                        <a:lnSpc>
                          <a:spcPts val="900"/>
                        </a:lnSpc>
                      </a:pPr>
                      <a:r>
                        <a:rPr sz="750" b="1" i="0">
                          <a:solidFill>
                            <a:srgbClr val="333231"/>
                          </a:solidFill>
                          <a:latin typeface="Calibri"/>
                        </a:rPr>
                        <a:t>ICON</a:t>
                      </a:r>
                      <a:r>
                        <a:rPr sz="750" b="0" i="0">
                          <a:solidFill>
                            <a:srgbClr val="333231"/>
                          </a:solidFill>
                          <a:latin typeface="Calibri"/>
                        </a:rPr>
                        <a:t> </a:t>
                      </a:r>
                      <a:r>
                        <a:rPr sz="638" b="0" i="0">
                          <a:solidFill>
                            <a:srgbClr val="6F6A66"/>
                          </a:solidFill>
                          <a:latin typeface="Calibri"/>
                        </a:rPr>
                        <a:t>ICLR</a:t>
                      </a:r>
                    </a:p>
                  </a:txBody>
                  <a:tcPr marL="7620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12,480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15,080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79%</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−16.6%</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3.3%</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23.9%</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6.3%</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1.83x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29.0x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13.2x</a:t>
                      </a:r>
                    </a:p>
                  </a:txBody>
                  <a:tcPr marL="0" marR="76200" marT="0" marB="0" anchor="ctr">
                    <a:lnL w="0">
                      <a:noFill/>
                    </a:lnL>
                    <a:lnR w="0">
                      <a:noFill/>
                    </a:lnR>
                    <a:lnT w="0">
                      <a:noFill/>
                    </a:lnT>
                    <a:lnB w="0">
                      <a:noFill/>
                    </a:lnB>
                    <a:solidFill>
                      <a:srgbClr val="FAF7F3"/>
                    </a:solidFill>
                  </a:tcPr>
                </a:tc>
                <a:extLst>
                  <a:ext uri="{0D108BD9-81ED-4DB2-BD59-A6C34878D82A}">
                    <a16:rowId xmlns:a16="http://schemas.microsoft.com/office/drawing/2014/main" val="10022"/>
                  </a:ext>
                </a:extLst>
              </a:tr>
              <a:tr h="200025">
                <a:tc>
                  <a:txBody>
                    <a:bodyPr/>
                    <a:lstStyle/>
                    <a:p>
                      <a:pPr algn="l">
                        <a:lnSpc>
                          <a:spcPts val="900"/>
                        </a:lnSpc>
                      </a:pPr>
                      <a:r>
                        <a:rPr sz="750" b="1" i="0">
                          <a:solidFill>
                            <a:srgbClr val="333231"/>
                          </a:solidFill>
                          <a:latin typeface="Calibri"/>
                        </a:rPr>
                        <a:t>Charles River Laboratories</a:t>
                      </a:r>
                      <a:r>
                        <a:rPr sz="750" b="0" i="0">
                          <a:solidFill>
                            <a:srgbClr val="333231"/>
                          </a:solidFill>
                          <a:latin typeface="Calibri"/>
                        </a:rPr>
                        <a:t> </a:t>
                      </a:r>
                      <a:r>
                        <a:rPr sz="638" b="0" i="0">
                          <a:solidFill>
                            <a:srgbClr val="6F6A66"/>
                          </a:solidFill>
                          <a:latin typeface="Calibri"/>
                        </a:rPr>
                        <a:t>CRL</a:t>
                      </a:r>
                    </a:p>
                  </a:txBody>
                  <a:tcPr marL="7620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14,560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17,400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92%</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+72.0%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-0.7%</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34.6%</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21.2%</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4.35x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20.5x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11.7x</a:t>
                      </a:r>
                    </a:p>
                  </a:txBody>
                  <a:tcPr marL="0" marR="76200" marT="0" marB="0" anchor="ctr">
                    <a:lnL w="0">
                      <a:noFill/>
                    </a:lnL>
                    <a:lnR w="0">
                      <a:noFill/>
                    </a:lnR>
                    <a:lnT w="0">
                      <a:noFill/>
                    </a:lnT>
                    <a:lnB w="0">
                      <a:noFill/>
                    </a:lnB>
                    <a:solidFill>
                      <a:srgbClr val="FFFFFF"/>
                    </a:solidFill>
                  </a:tcPr>
                </a:tc>
                <a:extLst>
                  <a:ext uri="{0D108BD9-81ED-4DB2-BD59-A6C34878D82A}">
                    <a16:rowId xmlns:a16="http://schemas.microsoft.com/office/drawing/2014/main" val="10023"/>
                  </a:ext>
                </a:extLst>
              </a:tr>
              <a:tr h="228600">
                <a:tc>
                  <a:txBody>
                    <a:bodyPr/>
                    <a:lstStyle/>
                    <a:p>
                      <a:pPr algn="l">
                        <a:lnSpc>
                          <a:spcPts val="900"/>
                        </a:lnSpc>
                      </a:pPr>
                      <a:r>
                        <a:rPr sz="750" b="1" i="0">
                          <a:solidFill>
                            <a:srgbClr val="1B1A1A"/>
                          </a:solidFill>
                          <a:latin typeface="Calibri"/>
                        </a:rPr>
                        <a:t>Median</a:t>
                      </a:r>
                    </a:p>
                  </a:txBody>
                  <a:tcPr marL="76200" marR="57150" marT="0" marB="0" anchor="ctr">
                    <a:lnL w="0">
                      <a:noFill/>
                    </a:lnL>
                    <a:lnR w="0">
                      <a:noFill/>
                    </a:lnR>
                    <a:lnT w="7143">
                      <a:noFill/>
                    </a:lnT>
                    <a:lnB w="0">
                      <a:noFill/>
                    </a:lnB>
                    <a:noFill/>
                  </a:tcPr>
                </a:tc>
                <a:tc>
                  <a:txBody>
                    <a:bodyPr/>
                    <a:lstStyle/>
                    <a:p>
                      <a:endParaRPr sz="100"/>
                    </a:p>
                  </a:txBody>
                  <a:tcPr marL="0" marR="57150" marT="0" marB="0" anchor="ctr">
                    <a:lnL w="0">
                      <a:noFill/>
                    </a:lnL>
                    <a:lnR w="0">
                      <a:noFill/>
                    </a:lnR>
                    <a:lnT w="7143">
                      <a:noFill/>
                    </a:lnT>
                    <a:lnB w="0">
                      <a:noFill/>
                    </a:lnB>
                    <a:noFill/>
                  </a:tcPr>
                </a:tc>
                <a:tc>
                  <a:txBody>
                    <a:bodyPr/>
                    <a:lstStyle/>
                    <a:p>
                      <a:endParaRPr sz="100"/>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92%</a:t>
                      </a:r>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+20.8%</a:t>
                      </a:r>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7.2%</a:t>
                      </a:r>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34.6%</a:t>
                      </a:r>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21.2%</a:t>
                      </a:r>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4.35x</a:t>
                      </a:r>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21.8x</a:t>
                      </a:r>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14.5x</a:t>
                      </a:r>
                    </a:p>
                  </a:txBody>
                  <a:tcPr marL="0" marR="76200" marT="0" marB="0" anchor="ctr">
                    <a:lnL w="0">
                      <a:noFill/>
                    </a:lnL>
                    <a:lnR w="0">
                      <a:noFill/>
                    </a:lnR>
                    <a:lnT w="7143">
                      <a:noFill/>
                    </a:lnT>
                    <a:lnB w="0">
                      <a:noFill/>
                    </a:lnB>
                    <a:noFill/>
                  </a:tcPr>
                </a:tc>
                <a:extLst>
                  <a:ext uri="{0D108BD9-81ED-4DB2-BD59-A6C34878D82A}">
                    <a16:rowId xmlns:a16="http://schemas.microsoft.com/office/drawing/2014/main" val="10024"/>
                  </a:ext>
                </a:extLst>
              </a:tr>
            </a:tbl>
          </a:graphicData>
        </a:graphic>
      </p:graphicFrame>
      <p:sp>
        <p:nvSpPr>
          <p:cNvPr id="9" name="Rectangle 8"/>
          <p:cNvSpPr/>
          <p:nvPr/>
        </p:nvSpPr>
        <p:spPr>
          <a:xfrm>
            <a:off x="419100" y="7029450"/>
            <a:ext cx="9220200" cy="9525"/>
          </a:xfrm>
          <a:prstGeom prst="rect">
            <a:avLst/>
          </a:prstGeom>
          <a:solidFill>
            <a:srgbClr val="E3DCD3"/>
          </a:solidFill>
          <a:ln>
            <a:noFill/>
          </a:ln>
          <a:effectLst/>
        </p:spPr>
        <p:txBody>
          <a:bodyPr rtlCol="0" anchor="ctr"/>
          <a:lstStyle/>
          <a:p>
            <a:pPr algn="ctr"/>
            <a:endParaRPr/>
          </a:p>
        </p:txBody>
      </p:sp>
      <p:pic>
        <p:nvPicPr>
          <p:cNvPr id="10" name="Picture 9" descr="Benchmark International"/>
          <p:cNvPicPr>
            <a:picLocks noChangeAspect="1"/>
          </p:cNvPicPr>
          <p:nvPr/>
        </p:nvPicPr>
        <p:blipFill>
          <a:blip r:embed="rId2"/>
          <a:srcRect/>
          <a:stretch>
            <a:fillRect/>
          </a:stretch>
        </p:blipFill>
        <p:spPr>
          <a:xfrm>
            <a:off x="419100" y="7143750"/>
            <a:ext cx="914400" cy="171450"/>
          </a:xfrm>
          <a:prstGeom prst="rect">
            <a:avLst/>
          </a:prstGeom>
        </p:spPr>
      </p:pic>
      <p:sp>
        <p:nvSpPr>
          <p:cNvPr id="11" name="Text: Source: "/>
          <p:cNvSpPr txBox="1"/>
          <p:nvPr/>
        </p:nvSpPr>
        <p:spPr>
          <a:xfrm>
            <a:off x="1543050" y="7105650"/>
            <a:ext cx="7748588" cy="238125"/>
          </a:xfrm>
          <a:prstGeom prst="rect">
            <a:avLst/>
          </a:prstGeom>
          <a:noFill/>
        </p:spPr>
        <p:txBody>
          <a:bodyPr wrap="square" lIns="0" tIns="0" rIns="0" bIns="0" anchor="t">
            <a:spAutoFit/>
          </a:bodyPr>
          <a:lstStyle/>
          <a:p>
            <a:pPr algn="l">
              <a:lnSpc>
                <a:spcPts val="938"/>
              </a:lnSpc>
            </a:pPr>
            <a:r>
              <a:rPr sz="675" b="0" i="0" spc="8">
                <a:solidFill>
                  <a:srgbClr val="6F6A66"/>
                </a:solidFill>
                <a:latin typeface="Calibri"/>
              </a:rPr>
              <a:t>Source: </a:t>
            </a:r>
            <a:r>
              <a:rPr sz="675" b="0" i="0" spc="8">
                <a:solidFill>
                  <a:srgbClr val="8C6239"/>
                </a:solidFill>
                <a:latin typeface="Calibri"/>
                <a:hlinkClick r:id="rId3">
                  <a:extLst>
                    <a:ext uri="{A12FA001-AC4F-418D-AE19-62706E023703}">
                      <ahyp:hlinkClr xmlns:ahyp="http://schemas.microsoft.com/office/drawing/2018/hyperlinkcolor" val="tx"/>
                    </a:ext>
                  </a:extLst>
                </a:hlinkClick>
              </a:rPr>
              <a:t>StockAnalysis</a:t>
            </a:r>
            <a:r>
              <a:rPr sz="675" b="0" i="0" spc="8">
                <a:solidFill>
                  <a:srgbClr val="6F6A66"/>
                </a:solidFill>
                <a:latin typeface="Calibri"/>
              </a:rPr>
              <a:t>, retrieved October 7, 2026. LTM is the trailing twelve months. EBITDA is as reported. † Excluded from the EV to EBITDA medians because the multiple is above 60x, negative, or lacks eight quarters of history. n.a. marks a figure distorted by a divestiture.</a:t>
            </a:r>
          </a:p>
        </p:txBody>
      </p:sp>
      <p:sp>
        <p:nvSpPr>
          <p:cNvPr id="12" name="Text: 23"/>
          <p:cNvSpPr txBox="1"/>
          <p:nvPr/>
        </p:nvSpPr>
        <p:spPr>
          <a:xfrm>
            <a:off x="9509373" y="7162800"/>
            <a:ext cx="144214" cy="133350"/>
          </a:xfrm>
          <a:prstGeom prst="rect">
            <a:avLst/>
          </a:prstGeom>
          <a:noFill/>
        </p:spPr>
        <p:txBody>
          <a:bodyPr wrap="square" lIns="0" tIns="0" rIns="0" bIns="0" anchor="t">
            <a:spAutoFit/>
          </a:bodyPr>
          <a:lstStyle/>
          <a:p>
            <a:pPr algn="l">
              <a:lnSpc>
                <a:spcPts val="1050"/>
              </a:lnSpc>
            </a:pPr>
            <a:r>
              <a:rPr sz="712" b="1" i="0" spc="150">
                <a:solidFill>
                  <a:srgbClr val="1B1A1A"/>
                </a:solidFill>
                <a:latin typeface="Calibri"/>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57150" cy="7772400"/>
          </a:xfrm>
          <a:prstGeom prst="rect">
            <a:avLst/>
          </a:prstGeom>
          <a:solidFill>
            <a:srgbClr val="B68757"/>
          </a:solidFill>
          <a:ln>
            <a:noFill/>
          </a:ln>
          <a:effectLst/>
        </p:spPr>
        <p:txBody>
          <a:bodyPr rtlCol="0" anchor="ctr"/>
          <a:lstStyle/>
          <a:p>
            <a:pPr algn="ctr"/>
            <a:endParaRPr/>
          </a:p>
        </p:txBody>
      </p:sp>
      <p:sp>
        <p:nvSpPr>
          <p:cNvPr id="3" name="Text: HEALTHCARE | QUARTERLY SECTOR BRIE"/>
          <p:cNvSpPr txBox="1"/>
          <p:nvPr/>
        </p:nvSpPr>
        <p:spPr>
          <a:xfrm>
            <a:off x="419100" y="381000"/>
            <a:ext cx="2439591" cy="133350"/>
          </a:xfrm>
          <a:prstGeom prst="rect">
            <a:avLst/>
          </a:prstGeom>
          <a:noFill/>
        </p:spPr>
        <p:txBody>
          <a:bodyPr wrap="none" lIns="0" tIns="0" rIns="0" bIns="0" anchor="t">
            <a:spAutoFit/>
          </a:bodyPr>
          <a:lstStyle/>
          <a:p>
            <a:pPr algn="l">
              <a:lnSpc>
                <a:spcPts val="1050"/>
              </a:lnSpc>
            </a:pPr>
            <a:r>
              <a:rPr sz="675" b="1" i="0" spc="195">
                <a:solidFill>
                  <a:srgbClr val="8C6239"/>
                </a:solidFill>
                <a:latin typeface="Calibri"/>
              </a:rPr>
              <a:t>HEALTHCARE | QUARTERLY INDUSTRY REPORT</a:t>
            </a:r>
          </a:p>
        </p:txBody>
      </p:sp>
      <p:sp>
        <p:nvSpPr>
          <p:cNvPr id="4" name="Text: Q4 2026"/>
          <p:cNvSpPr txBox="1"/>
          <p:nvPr/>
        </p:nvSpPr>
        <p:spPr>
          <a:xfrm>
            <a:off x="9188648" y="361950"/>
            <a:ext cx="464939" cy="171450"/>
          </a:xfrm>
          <a:prstGeom prst="rect">
            <a:avLst/>
          </a:prstGeom>
          <a:noFill/>
        </p:spPr>
        <p:txBody>
          <a:bodyPr wrap="square" lIns="0" tIns="0" rIns="0" bIns="0" anchor="t">
            <a:spAutoFit/>
          </a:bodyPr>
          <a:lstStyle/>
          <a:p>
            <a:pPr algn="l">
              <a:lnSpc>
                <a:spcPts val="1350"/>
              </a:lnSpc>
            </a:pPr>
            <a:r>
              <a:rPr sz="900" b="0" i="0" spc="90">
                <a:solidFill>
                  <a:srgbClr val="6F6A66"/>
                </a:solidFill>
                <a:latin typeface="Cambria"/>
              </a:rPr>
              <a:t>Q4 2026</a:t>
            </a:r>
          </a:p>
        </p:txBody>
      </p:sp>
      <p:sp>
        <p:nvSpPr>
          <p:cNvPr id="5" name="Text: Appendix: Public Market Operating "/>
          <p:cNvSpPr txBox="1"/>
          <p:nvPr/>
        </p:nvSpPr>
        <p:spPr>
          <a:xfrm>
            <a:off x="419100" y="523875"/>
            <a:ext cx="9234488" cy="323850"/>
          </a:xfrm>
          <a:prstGeom prst="rect">
            <a:avLst/>
          </a:prstGeom>
          <a:noFill/>
        </p:spPr>
        <p:txBody>
          <a:bodyPr wrap="square" lIns="0" tIns="0" rIns="0" bIns="0" anchor="t">
            <a:spAutoFit/>
          </a:bodyPr>
          <a:lstStyle/>
          <a:p>
            <a:pPr algn="l">
              <a:lnSpc>
                <a:spcPts val="2550"/>
              </a:lnSpc>
            </a:pPr>
            <a:r>
              <a:rPr sz="2025" b="1" i="0">
                <a:solidFill>
                  <a:srgbClr val="1B1A1A"/>
                </a:solidFill>
                <a:latin typeface="Cambria"/>
              </a:rPr>
              <a:t>Appendix: Public Market Operating and Valuation Metrics</a:t>
            </a:r>
          </a:p>
        </p:txBody>
      </p:sp>
      <p:sp>
        <p:nvSpPr>
          <p:cNvPr id="6" name="Text: As of October 7, 2026. Medical Pro"/>
          <p:cNvSpPr txBox="1"/>
          <p:nvPr/>
        </p:nvSpPr>
        <p:spPr>
          <a:xfrm>
            <a:off x="419100" y="885825"/>
            <a:ext cx="10215086" cy="180975"/>
          </a:xfrm>
          <a:prstGeom prst="rect">
            <a:avLst/>
          </a:prstGeom>
          <a:noFill/>
        </p:spPr>
        <p:txBody>
          <a:bodyPr wrap="square" lIns="0" tIns="0" rIns="0" bIns="0" anchor="t">
            <a:spAutoFit/>
          </a:bodyPr>
          <a:lstStyle/>
          <a:p>
            <a:pPr algn="l">
              <a:lnSpc>
                <a:spcPts val="1388"/>
              </a:lnSpc>
            </a:pPr>
            <a:r>
              <a:rPr sz="938" b="0" i="0" spc="15">
                <a:solidFill>
                  <a:srgbClr val="6F6A66"/>
                </a:solidFill>
                <a:latin typeface="Calibri"/>
              </a:rPr>
              <a:t>As of October 7, 2026. Medical Products &amp; Distribution and Pharmacy &amp; Healthcare Services. The total covers all 38 companies.</a:t>
            </a:r>
          </a:p>
        </p:txBody>
      </p:sp>
      <p:sp>
        <p:nvSpPr>
          <p:cNvPr id="7" name="Rectangle 6"/>
          <p:cNvSpPr/>
          <p:nvPr/>
        </p:nvSpPr>
        <p:spPr>
          <a:xfrm>
            <a:off x="419100" y="1143000"/>
            <a:ext cx="9220200" cy="9525"/>
          </a:xfrm>
          <a:prstGeom prst="rect">
            <a:avLst/>
          </a:prstGeom>
          <a:solidFill>
            <a:srgbClr val="E3DCD3"/>
          </a:solidFill>
          <a:ln>
            <a:noFill/>
          </a:ln>
          <a:effectLst/>
        </p:spPr>
        <p:txBody>
          <a:bodyPr rtlCol="0" anchor="ctr"/>
          <a:lstStyle/>
          <a:p>
            <a:pPr algn="ctr"/>
            <a:endParaRPr/>
          </a:p>
        </p:txBody>
      </p:sp>
      <p:graphicFrame>
        <p:nvGraphicFramePr>
          <p:cNvPr id="8" name="Table (editable)"/>
          <p:cNvGraphicFramePr>
            <a:graphicFrameLocks noGrp="1"/>
          </p:cNvGraphicFramePr>
          <p:nvPr/>
        </p:nvGraphicFramePr>
        <p:xfrm>
          <a:off x="419100" y="1238250"/>
          <a:ext cx="9220200" cy="5076825"/>
        </p:xfrm>
        <a:graphic>
          <a:graphicData uri="http://schemas.openxmlformats.org/drawingml/2006/table">
            <a:tbl>
              <a:tblPr>
                <a:tableStyleId>{2D5ABB26-0587-4C30-8999-92F81FD0307C}</a:tableStyleId>
              </a:tblPr>
              <a:tblGrid>
                <a:gridCol w="20955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723900">
                  <a:extLst>
                    <a:ext uri="{9D8B030D-6E8A-4147-A177-3AD203B41FA5}">
                      <a16:colId xmlns:a16="http://schemas.microsoft.com/office/drawing/2014/main" val="20004"/>
                    </a:ext>
                  </a:extLst>
                </a:gridCol>
                <a:gridCol w="72390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685800">
                  <a:extLst>
                    <a:ext uri="{9D8B030D-6E8A-4147-A177-3AD203B41FA5}">
                      <a16:colId xmlns:a16="http://schemas.microsoft.com/office/drawing/2014/main" val="20007"/>
                    </a:ext>
                  </a:extLst>
                </a:gridCol>
                <a:gridCol w="666750">
                  <a:extLst>
                    <a:ext uri="{9D8B030D-6E8A-4147-A177-3AD203B41FA5}">
                      <a16:colId xmlns:a16="http://schemas.microsoft.com/office/drawing/2014/main" val="20008"/>
                    </a:ext>
                  </a:extLst>
                </a:gridCol>
                <a:gridCol w="685800">
                  <a:extLst>
                    <a:ext uri="{9D8B030D-6E8A-4147-A177-3AD203B41FA5}">
                      <a16:colId xmlns:a16="http://schemas.microsoft.com/office/drawing/2014/main" val="20009"/>
                    </a:ext>
                  </a:extLst>
                </a:gridCol>
                <a:gridCol w="704850">
                  <a:extLst>
                    <a:ext uri="{9D8B030D-6E8A-4147-A177-3AD203B41FA5}">
                      <a16:colId xmlns:a16="http://schemas.microsoft.com/office/drawing/2014/main" val="20010"/>
                    </a:ext>
                  </a:extLst>
                </a:gridCol>
              </a:tblGrid>
              <a:tr h="257175">
                <a:tc>
                  <a:txBody>
                    <a:bodyPr/>
                    <a:lstStyle/>
                    <a:p>
                      <a:pPr algn="l">
                        <a:lnSpc>
                          <a:spcPts val="750"/>
                        </a:lnSpc>
                      </a:pPr>
                      <a:r>
                        <a:rPr sz="562" b="1" i="0" spc="60">
                          <a:solidFill>
                            <a:srgbClr val="1B1A1A"/>
                          </a:solidFill>
                          <a:latin typeface="Calibri"/>
                        </a:rPr>
                        <a:t>COMPANY</a:t>
                      </a:r>
                    </a:p>
                  </a:txBody>
                  <a:tcPr marL="76200" marR="57150" marT="0" marB="0" anchor="b">
                    <a:lnL w="0">
                      <a:noFill/>
                    </a:lnL>
                    <a:lnR w="0">
                      <a:noFill/>
                    </a:lnR>
                    <a:lnT w="0">
                      <a:noFill/>
                    </a:lnT>
                    <a:lnB w="19050">
                      <a:solidFill>
                        <a:srgbClr val="B68757"/>
                      </a:solidFill>
                    </a:lnB>
                    <a:noFill/>
                  </a:tcPr>
                </a:tc>
                <a:tc>
                  <a:txBody>
                    <a:bodyPr/>
                    <a:lstStyle/>
                    <a:p>
                      <a:pPr algn="r">
                        <a:lnSpc>
                          <a:spcPts val="750"/>
                        </a:lnSpc>
                      </a:pPr>
                      <a:r>
                        <a:rPr sz="562" b="1" i="0" spc="60">
                          <a:solidFill>
                            <a:srgbClr val="1B1A1A"/>
                          </a:solidFill>
                          <a:latin typeface="Calibri"/>
                        </a:rPr>
                        <a:t>MARKET CAP ($M)</a:t>
                      </a:r>
                    </a:p>
                  </a:txBody>
                  <a:tcPr marL="0" marR="57150" marT="0" marB="0" anchor="b">
                    <a:lnL w="0">
                      <a:noFill/>
                    </a:lnL>
                    <a:lnR w="0">
                      <a:noFill/>
                    </a:lnR>
                    <a:lnT w="0">
                      <a:noFill/>
                    </a:lnT>
                    <a:lnB w="19050">
                      <a:solidFill>
                        <a:srgbClr val="B68757"/>
                      </a:solidFill>
                    </a:lnB>
                    <a:noFill/>
                  </a:tcPr>
                </a:tc>
                <a:tc>
                  <a:txBody>
                    <a:bodyPr/>
                    <a:lstStyle/>
                    <a:p>
                      <a:pPr algn="r">
                        <a:lnSpc>
                          <a:spcPts val="750"/>
                        </a:lnSpc>
                      </a:pPr>
                      <a:r>
                        <a:rPr sz="562" b="1" i="0" spc="60">
                          <a:solidFill>
                            <a:srgbClr val="1B1A1A"/>
                          </a:solidFill>
                          <a:latin typeface="Calibri"/>
                        </a:rPr>
                        <a:t>ENTERPRISE VALUE ($M)</a:t>
                      </a:r>
                    </a:p>
                  </a:txBody>
                  <a:tcPr marL="0" marR="57150" marT="0" marB="0" anchor="b">
                    <a:lnL w="0">
                      <a:noFill/>
                    </a:lnL>
                    <a:lnR w="0">
                      <a:noFill/>
                    </a:lnR>
                    <a:lnT w="0">
                      <a:noFill/>
                    </a:lnT>
                    <a:lnB w="19050">
                      <a:solidFill>
                        <a:srgbClr val="B68757"/>
                      </a:solidFill>
                    </a:lnB>
                    <a:noFill/>
                  </a:tcPr>
                </a:tc>
                <a:tc>
                  <a:txBody>
                    <a:bodyPr/>
                    <a:lstStyle/>
                    <a:p>
                      <a:pPr algn="r">
                        <a:lnSpc>
                          <a:spcPts val="750"/>
                        </a:lnSpc>
                      </a:pPr>
                      <a:r>
                        <a:rPr sz="562" b="1" i="0" spc="60">
                          <a:solidFill>
                            <a:srgbClr val="1B1A1A"/>
                          </a:solidFill>
                          <a:latin typeface="Calibri"/>
                        </a:rPr>
                        <a:t>% OF 52-WEEK HIGH</a:t>
                      </a:r>
                    </a:p>
                  </a:txBody>
                  <a:tcPr marL="0" marR="57150" marT="0" marB="0" anchor="b">
                    <a:lnL w="0">
                      <a:noFill/>
                    </a:lnL>
                    <a:lnR w="0">
                      <a:noFill/>
                    </a:lnR>
                    <a:lnT w="0">
                      <a:noFill/>
                    </a:lnT>
                    <a:lnB w="19050">
                      <a:solidFill>
                        <a:srgbClr val="B68757"/>
                      </a:solidFill>
                    </a:lnB>
                    <a:noFill/>
                  </a:tcPr>
                </a:tc>
                <a:tc>
                  <a:txBody>
                    <a:bodyPr/>
                    <a:lstStyle/>
                    <a:p>
                      <a:pPr algn="r">
                        <a:lnSpc>
                          <a:spcPts val="750"/>
                        </a:lnSpc>
                      </a:pPr>
                      <a:r>
                        <a:rPr sz="562" b="1" i="0" spc="60">
                          <a:solidFill>
                            <a:srgbClr val="1B1A1A"/>
                          </a:solidFill>
                          <a:latin typeface="Calibri"/>
                        </a:rPr>
                        <a:t>52-WEEK PRICE CHANGE</a:t>
                      </a:r>
                    </a:p>
                  </a:txBody>
                  <a:tcPr marL="0" marR="57150" marT="0" marB="0" anchor="b">
                    <a:lnL w="0">
                      <a:noFill/>
                    </a:lnL>
                    <a:lnR w="0">
                      <a:noFill/>
                    </a:lnR>
                    <a:lnT w="0">
                      <a:noFill/>
                    </a:lnT>
                    <a:lnB w="19050">
                      <a:solidFill>
                        <a:srgbClr val="B68757"/>
                      </a:solidFill>
                    </a:lnB>
                    <a:noFill/>
                  </a:tcPr>
                </a:tc>
                <a:tc>
                  <a:txBody>
                    <a:bodyPr/>
                    <a:lstStyle/>
                    <a:p>
                      <a:pPr algn="r">
                        <a:lnSpc>
                          <a:spcPts val="750"/>
                        </a:lnSpc>
                      </a:pPr>
                      <a:r>
                        <a:rPr sz="562" b="1" i="0" spc="60">
                          <a:solidFill>
                            <a:srgbClr val="1B1A1A"/>
                          </a:solidFill>
                          <a:latin typeface="Calibri"/>
                        </a:rPr>
                        <a:t>REVENUE GROWTH, LTM</a:t>
                      </a:r>
                    </a:p>
                  </a:txBody>
                  <a:tcPr marL="0" marR="57150" marT="0" marB="0" anchor="b">
                    <a:lnL w="0">
                      <a:noFill/>
                    </a:lnL>
                    <a:lnR w="0">
                      <a:noFill/>
                    </a:lnR>
                    <a:lnT w="0">
                      <a:noFill/>
                    </a:lnT>
                    <a:lnB w="19050">
                      <a:solidFill>
                        <a:srgbClr val="B68757"/>
                      </a:solidFill>
                    </a:lnB>
                    <a:noFill/>
                  </a:tcPr>
                </a:tc>
                <a:tc>
                  <a:txBody>
                    <a:bodyPr/>
                    <a:lstStyle/>
                    <a:p>
                      <a:pPr algn="r">
                        <a:lnSpc>
                          <a:spcPts val="750"/>
                        </a:lnSpc>
                      </a:pPr>
                      <a:r>
                        <a:rPr sz="562" b="1" i="0" spc="60">
                          <a:solidFill>
                            <a:srgbClr val="1B1A1A"/>
                          </a:solidFill>
                          <a:latin typeface="Calibri"/>
                        </a:rPr>
                        <a:t>GROSS MARGIN, LTM</a:t>
                      </a:r>
                    </a:p>
                  </a:txBody>
                  <a:tcPr marL="0" marR="57150" marT="0" marB="0" anchor="b">
                    <a:lnL w="0">
                      <a:noFill/>
                    </a:lnL>
                    <a:lnR w="0">
                      <a:noFill/>
                    </a:lnR>
                    <a:lnT w="0">
                      <a:noFill/>
                    </a:lnT>
                    <a:lnB w="19050">
                      <a:solidFill>
                        <a:srgbClr val="B68757"/>
                      </a:solidFill>
                    </a:lnB>
                    <a:noFill/>
                  </a:tcPr>
                </a:tc>
                <a:tc>
                  <a:txBody>
                    <a:bodyPr/>
                    <a:lstStyle/>
                    <a:p>
                      <a:pPr algn="r">
                        <a:lnSpc>
                          <a:spcPts val="750"/>
                        </a:lnSpc>
                      </a:pPr>
                      <a:r>
                        <a:rPr sz="562" b="1" i="0" spc="60">
                          <a:solidFill>
                            <a:srgbClr val="1B1A1A"/>
                          </a:solidFill>
                          <a:latin typeface="Calibri"/>
                        </a:rPr>
                        <a:t>EBITDA MARGIN, LTM</a:t>
                      </a:r>
                    </a:p>
                  </a:txBody>
                  <a:tcPr marL="0" marR="57150" marT="0" marB="0" anchor="b">
                    <a:lnL w="0">
                      <a:noFill/>
                    </a:lnL>
                    <a:lnR w="0">
                      <a:noFill/>
                    </a:lnR>
                    <a:lnT w="0">
                      <a:noFill/>
                    </a:lnT>
                    <a:lnB w="19050">
                      <a:solidFill>
                        <a:srgbClr val="B68757"/>
                      </a:solidFill>
                    </a:lnB>
                    <a:noFill/>
                  </a:tcPr>
                </a:tc>
                <a:tc>
                  <a:txBody>
                    <a:bodyPr/>
                    <a:lstStyle/>
                    <a:p>
                      <a:pPr algn="r">
                        <a:lnSpc>
                          <a:spcPts val="750"/>
                        </a:lnSpc>
                      </a:pPr>
                      <a:r>
                        <a:rPr sz="562" b="1" i="0" spc="60">
                          <a:solidFill>
                            <a:srgbClr val="1B1A1A"/>
                          </a:solidFill>
                          <a:latin typeface="Calibri"/>
                        </a:rPr>
                        <a:t>EV / LTM REVENUE</a:t>
                      </a:r>
                    </a:p>
                  </a:txBody>
                  <a:tcPr marL="0" marR="57150" marT="0" marB="0" anchor="b">
                    <a:lnL w="0">
                      <a:noFill/>
                    </a:lnL>
                    <a:lnR w="0">
                      <a:noFill/>
                    </a:lnR>
                    <a:lnT w="0">
                      <a:noFill/>
                    </a:lnT>
                    <a:lnB w="19050">
                      <a:solidFill>
                        <a:srgbClr val="B68757"/>
                      </a:solidFill>
                    </a:lnB>
                    <a:noFill/>
                  </a:tcPr>
                </a:tc>
                <a:tc>
                  <a:txBody>
                    <a:bodyPr/>
                    <a:lstStyle/>
                    <a:p>
                      <a:pPr algn="r">
                        <a:lnSpc>
                          <a:spcPts val="750"/>
                        </a:lnSpc>
                      </a:pPr>
                      <a:r>
                        <a:rPr sz="562" b="1" i="0" spc="60">
                          <a:solidFill>
                            <a:srgbClr val="1B1A1A"/>
                          </a:solidFill>
                          <a:latin typeface="Calibri"/>
                        </a:rPr>
                        <a:t>EV / LTM EBITDA</a:t>
                      </a:r>
                    </a:p>
                  </a:txBody>
                  <a:tcPr marL="0" marR="57150" marT="0" marB="0" anchor="b">
                    <a:lnL w="0">
                      <a:noFill/>
                    </a:lnL>
                    <a:lnR w="0">
                      <a:noFill/>
                    </a:lnR>
                    <a:lnT w="0">
                      <a:noFill/>
                    </a:lnT>
                    <a:lnB w="19050">
                      <a:solidFill>
                        <a:srgbClr val="B68757"/>
                      </a:solidFill>
                    </a:lnB>
                    <a:noFill/>
                  </a:tcPr>
                </a:tc>
                <a:tc>
                  <a:txBody>
                    <a:bodyPr/>
                    <a:lstStyle/>
                    <a:p>
                      <a:pPr algn="r">
                        <a:lnSpc>
                          <a:spcPts val="750"/>
                        </a:lnSpc>
                      </a:pPr>
                      <a:r>
                        <a:rPr sz="562" b="1" i="0" spc="60">
                          <a:solidFill>
                            <a:srgbClr val="1B1A1A"/>
                          </a:solidFill>
                          <a:latin typeface="Calibri"/>
                        </a:rPr>
                        <a:t>EV / EBITDA A YEAR AGO</a:t>
                      </a:r>
                    </a:p>
                  </a:txBody>
                  <a:tcPr marL="0" marR="76200" marT="0" marB="0" anchor="b">
                    <a:lnL w="0">
                      <a:noFill/>
                    </a:lnL>
                    <a:lnR w="0">
                      <a:noFill/>
                    </a:lnR>
                    <a:lnT w="0">
                      <a:noFill/>
                    </a:lnT>
                    <a:lnB w="19050">
                      <a:solidFill>
                        <a:srgbClr val="B68757"/>
                      </a:solidFill>
                    </a:lnB>
                    <a:noFill/>
                  </a:tcPr>
                </a:tc>
                <a:extLst>
                  <a:ext uri="{0D108BD9-81ED-4DB2-BD59-A6C34878D82A}">
                    <a16:rowId xmlns:a16="http://schemas.microsoft.com/office/drawing/2014/main" val="10000"/>
                  </a:ext>
                </a:extLst>
              </a:tr>
              <a:tr h="228600">
                <a:tc gridSpan="11">
                  <a:txBody>
                    <a:bodyPr/>
                    <a:lstStyle/>
                    <a:p>
                      <a:pPr algn="l">
                        <a:lnSpc>
                          <a:spcPts val="900"/>
                        </a:lnSpc>
                      </a:pPr>
                      <a:r>
                        <a:rPr sz="675" b="1" i="0" spc="135">
                          <a:solidFill>
                            <a:srgbClr val="FFFFFF"/>
                          </a:solidFill>
                          <a:latin typeface="Calibri"/>
                        </a:rPr>
                        <a:t>MEDICAL PRODUCTS &amp; DISTRIBUTION</a:t>
                      </a:r>
                    </a:p>
                  </a:txBody>
                  <a:tcPr marL="76200" marR="57150" marT="0" marB="0" anchor="ctr">
                    <a:lnL w="0">
                      <a:noFill/>
                    </a:lnL>
                    <a:lnR w="0">
                      <a:noFill/>
                    </a:lnR>
                    <a:lnT w="19050" cap="flat" cmpd="sng" algn="ctr">
                      <a:solidFill>
                        <a:srgbClr val="B68757"/>
                      </a:solidFill>
                      <a:prstDash val="solid"/>
                      <a:round/>
                      <a:headEnd type="none" w="med" len="med"/>
                      <a:tailEnd type="none" w="med" len="med"/>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76200" marT="0" marB="0" anchor="ctr">
                    <a:lnL w="0">
                      <a:noFill/>
                    </a:lnL>
                    <a:lnR w="0">
                      <a:noFill/>
                    </a:lnR>
                    <a:lnT w="0">
                      <a:noFill/>
                    </a:lnT>
                    <a:lnB w="0">
                      <a:noFill/>
                    </a:lnB>
                    <a:solidFill>
                      <a:srgbClr val="1B1A1A"/>
                    </a:solidFill>
                  </a:tcPr>
                </a:tc>
                <a:extLst>
                  <a:ext uri="{0D108BD9-81ED-4DB2-BD59-A6C34878D82A}">
                    <a16:rowId xmlns:a16="http://schemas.microsoft.com/office/drawing/2014/main" val="10001"/>
                  </a:ext>
                </a:extLst>
              </a:tr>
              <a:tr h="200025">
                <a:tc>
                  <a:txBody>
                    <a:bodyPr/>
                    <a:lstStyle/>
                    <a:p>
                      <a:pPr algn="l">
                        <a:lnSpc>
                          <a:spcPts val="900"/>
                        </a:lnSpc>
                      </a:pPr>
                      <a:r>
                        <a:rPr sz="750" b="1" i="0">
                          <a:solidFill>
                            <a:srgbClr val="333231"/>
                          </a:solidFill>
                          <a:latin typeface="Calibri"/>
                        </a:rPr>
                        <a:t>Stryker</a:t>
                      </a:r>
                      <a:r>
                        <a:rPr sz="750" b="0" i="0">
                          <a:solidFill>
                            <a:srgbClr val="333231"/>
                          </a:solidFill>
                          <a:latin typeface="Calibri"/>
                        </a:rPr>
                        <a:t> </a:t>
                      </a:r>
                      <a:r>
                        <a:rPr sz="638" b="0" i="0">
                          <a:solidFill>
                            <a:srgbClr val="6F6A66"/>
                          </a:solidFill>
                          <a:latin typeface="Calibri"/>
                        </a:rPr>
                        <a:t>SYK</a:t>
                      </a:r>
                    </a:p>
                  </a:txBody>
                  <a:tcPr marL="7620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106,160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118,130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70%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−23.5%</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8.5%</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65.6%</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28.6%</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4.59x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16.1x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23.7x</a:t>
                      </a:r>
                    </a:p>
                  </a:txBody>
                  <a:tcPr marL="0" marR="76200" marT="0" marB="0" anchor="ctr">
                    <a:lnL w="0">
                      <a:noFill/>
                    </a:lnL>
                    <a:lnR w="0">
                      <a:noFill/>
                    </a:lnR>
                    <a:lnT w="0">
                      <a:noFill/>
                    </a:lnT>
                    <a:lnB w="0">
                      <a:noFill/>
                    </a:lnB>
                    <a:solidFill>
                      <a:srgbClr val="FFFFFF"/>
                    </a:solidFill>
                  </a:tcPr>
                </a:tc>
                <a:extLst>
                  <a:ext uri="{0D108BD9-81ED-4DB2-BD59-A6C34878D82A}">
                    <a16:rowId xmlns:a16="http://schemas.microsoft.com/office/drawing/2014/main" val="10002"/>
                  </a:ext>
                </a:extLst>
              </a:tr>
              <a:tr h="200025">
                <a:tc>
                  <a:txBody>
                    <a:bodyPr/>
                    <a:lstStyle/>
                    <a:p>
                      <a:pPr algn="l">
                        <a:lnSpc>
                          <a:spcPts val="900"/>
                        </a:lnSpc>
                      </a:pPr>
                      <a:r>
                        <a:rPr sz="750" b="1" i="0">
                          <a:solidFill>
                            <a:srgbClr val="333231"/>
                          </a:solidFill>
                          <a:latin typeface="Calibri"/>
                        </a:rPr>
                        <a:t>Steris</a:t>
                      </a:r>
                      <a:r>
                        <a:rPr sz="750" b="0" i="0">
                          <a:solidFill>
                            <a:srgbClr val="333231"/>
                          </a:solidFill>
                          <a:latin typeface="Calibri"/>
                        </a:rPr>
                        <a:t> </a:t>
                      </a:r>
                      <a:r>
                        <a:rPr sz="638" b="0" i="0">
                          <a:solidFill>
                            <a:srgbClr val="6F6A66"/>
                          </a:solidFill>
                          <a:latin typeface="Calibri"/>
                        </a:rPr>
                        <a:t>STE</a:t>
                      </a:r>
                    </a:p>
                  </a:txBody>
                  <a:tcPr marL="7620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20,330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21,890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77%</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−13.6%</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8.4%</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44.4%</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27.2%</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3.63x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13.3x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16.9x</a:t>
                      </a:r>
                    </a:p>
                  </a:txBody>
                  <a:tcPr marL="0" marR="76200" marT="0" marB="0" anchor="ctr">
                    <a:lnL w="0">
                      <a:noFill/>
                    </a:lnL>
                    <a:lnR w="0">
                      <a:noFill/>
                    </a:lnR>
                    <a:lnT w="0">
                      <a:noFill/>
                    </a:lnT>
                    <a:lnB w="0">
                      <a:noFill/>
                    </a:lnB>
                    <a:solidFill>
                      <a:srgbClr val="FAF7F3"/>
                    </a:solidFill>
                  </a:tcPr>
                </a:tc>
                <a:extLst>
                  <a:ext uri="{0D108BD9-81ED-4DB2-BD59-A6C34878D82A}">
                    <a16:rowId xmlns:a16="http://schemas.microsoft.com/office/drawing/2014/main" val="10003"/>
                  </a:ext>
                </a:extLst>
              </a:tr>
              <a:tr h="200025">
                <a:tc>
                  <a:txBody>
                    <a:bodyPr/>
                    <a:lstStyle/>
                    <a:p>
                      <a:pPr algn="l">
                        <a:lnSpc>
                          <a:spcPts val="900"/>
                        </a:lnSpc>
                      </a:pPr>
                      <a:r>
                        <a:rPr sz="750" b="1" i="0">
                          <a:solidFill>
                            <a:srgbClr val="333231"/>
                          </a:solidFill>
                          <a:latin typeface="Calibri"/>
                        </a:rPr>
                        <a:t>Teleflex</a:t>
                      </a:r>
                      <a:r>
                        <a:rPr sz="750" b="0" i="0">
                          <a:solidFill>
                            <a:srgbClr val="333231"/>
                          </a:solidFill>
                          <a:latin typeface="Calibri"/>
                        </a:rPr>
                        <a:t> </a:t>
                      </a:r>
                      <a:r>
                        <a:rPr sz="638" b="0" i="0">
                          <a:solidFill>
                            <a:srgbClr val="6F6A66"/>
                          </a:solidFill>
                          <a:latin typeface="Calibri"/>
                        </a:rPr>
                        <a:t>TFX</a:t>
                      </a:r>
                    </a:p>
                  </a:txBody>
                  <a:tcPr marL="7620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5,260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7,870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86%</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+0.2%</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6F6A66"/>
                          </a:solidFill>
                          <a:latin typeface="Calibri"/>
                        </a:rPr>
                        <a:t>n.a.</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55.1%</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17.9%</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3.49x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19.5x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19.4x</a:t>
                      </a:r>
                    </a:p>
                  </a:txBody>
                  <a:tcPr marL="0" marR="76200" marT="0" marB="0" anchor="ctr">
                    <a:lnL w="0">
                      <a:noFill/>
                    </a:lnL>
                    <a:lnR w="0">
                      <a:noFill/>
                    </a:lnR>
                    <a:lnT w="0">
                      <a:noFill/>
                    </a:lnT>
                    <a:lnB w="0">
                      <a:noFill/>
                    </a:lnB>
                    <a:solidFill>
                      <a:srgbClr val="FFFFFF"/>
                    </a:solidFill>
                  </a:tcPr>
                </a:tc>
                <a:extLst>
                  <a:ext uri="{0D108BD9-81ED-4DB2-BD59-A6C34878D82A}">
                    <a16:rowId xmlns:a16="http://schemas.microsoft.com/office/drawing/2014/main" val="10004"/>
                  </a:ext>
                </a:extLst>
              </a:tr>
              <a:tr h="200025">
                <a:tc>
                  <a:txBody>
                    <a:bodyPr/>
                    <a:lstStyle/>
                    <a:p>
                      <a:pPr algn="l">
                        <a:lnSpc>
                          <a:spcPts val="900"/>
                        </a:lnSpc>
                      </a:pPr>
                      <a:r>
                        <a:rPr sz="750" b="1" i="0">
                          <a:solidFill>
                            <a:srgbClr val="333231"/>
                          </a:solidFill>
                          <a:latin typeface="Calibri"/>
                        </a:rPr>
                        <a:t>Henry Schein</a:t>
                      </a:r>
                      <a:r>
                        <a:rPr sz="750" b="0" i="0">
                          <a:solidFill>
                            <a:srgbClr val="333231"/>
                          </a:solidFill>
                          <a:latin typeface="Calibri"/>
                        </a:rPr>
                        <a:t> </a:t>
                      </a:r>
                      <a:r>
                        <a:rPr sz="638" b="0" i="0">
                          <a:solidFill>
                            <a:srgbClr val="6F6A66"/>
                          </a:solidFill>
                          <a:latin typeface="Calibri"/>
                        </a:rPr>
                        <a:t>HSIC</a:t>
                      </a:r>
                    </a:p>
                  </a:txBody>
                  <a:tcPr marL="7620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9,330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12,990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91%</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+26.4%</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6.5%</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31.3%</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7.9%</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0.96x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12.1x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12.5x</a:t>
                      </a:r>
                    </a:p>
                  </a:txBody>
                  <a:tcPr marL="0" marR="76200" marT="0" marB="0" anchor="ctr">
                    <a:lnL w="0">
                      <a:noFill/>
                    </a:lnL>
                    <a:lnR w="0">
                      <a:noFill/>
                    </a:lnR>
                    <a:lnT w="0">
                      <a:noFill/>
                    </a:lnT>
                    <a:lnB w="0">
                      <a:noFill/>
                    </a:lnB>
                    <a:solidFill>
                      <a:srgbClr val="FAF7F3"/>
                    </a:solidFill>
                  </a:tcPr>
                </a:tc>
                <a:extLst>
                  <a:ext uri="{0D108BD9-81ED-4DB2-BD59-A6C34878D82A}">
                    <a16:rowId xmlns:a16="http://schemas.microsoft.com/office/drawing/2014/main" val="10005"/>
                  </a:ext>
                </a:extLst>
              </a:tr>
              <a:tr h="200025">
                <a:tc>
                  <a:txBody>
                    <a:bodyPr/>
                    <a:lstStyle/>
                    <a:p>
                      <a:pPr algn="l">
                        <a:lnSpc>
                          <a:spcPts val="900"/>
                        </a:lnSpc>
                      </a:pPr>
                      <a:r>
                        <a:rPr sz="750" b="1" i="0">
                          <a:solidFill>
                            <a:srgbClr val="333231"/>
                          </a:solidFill>
                          <a:latin typeface="Calibri"/>
                        </a:rPr>
                        <a:t>Dentsply Sirona</a:t>
                      </a:r>
                      <a:r>
                        <a:rPr sz="750" b="0" i="0">
                          <a:solidFill>
                            <a:srgbClr val="333231"/>
                          </a:solidFill>
                          <a:latin typeface="Calibri"/>
                        </a:rPr>
                        <a:t> </a:t>
                      </a:r>
                      <a:r>
                        <a:rPr sz="638" b="0" i="0">
                          <a:solidFill>
                            <a:srgbClr val="6F6A66"/>
                          </a:solidFill>
                          <a:latin typeface="Calibri"/>
                        </a:rPr>
                        <a:t>XRAY</a:t>
                      </a:r>
                    </a:p>
                  </a:txBody>
                  <a:tcPr marL="7620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1,870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3,960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64%</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−27.0%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-0.8%</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49.5%</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14.4%</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1.09x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7.5x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7.7x</a:t>
                      </a:r>
                    </a:p>
                  </a:txBody>
                  <a:tcPr marL="0" marR="76200" marT="0" marB="0" anchor="ctr">
                    <a:lnL w="0">
                      <a:noFill/>
                    </a:lnL>
                    <a:lnR w="0">
                      <a:noFill/>
                    </a:lnR>
                    <a:lnT w="0">
                      <a:noFill/>
                    </a:lnT>
                    <a:lnB w="0">
                      <a:noFill/>
                    </a:lnB>
                    <a:solidFill>
                      <a:srgbClr val="FFFFFF"/>
                    </a:solidFill>
                  </a:tcPr>
                </a:tc>
                <a:extLst>
                  <a:ext uri="{0D108BD9-81ED-4DB2-BD59-A6C34878D82A}">
                    <a16:rowId xmlns:a16="http://schemas.microsoft.com/office/drawing/2014/main" val="10006"/>
                  </a:ext>
                </a:extLst>
              </a:tr>
              <a:tr h="200025">
                <a:tc>
                  <a:txBody>
                    <a:bodyPr/>
                    <a:lstStyle/>
                    <a:p>
                      <a:pPr algn="l">
                        <a:lnSpc>
                          <a:spcPts val="900"/>
                        </a:lnSpc>
                      </a:pPr>
                      <a:r>
                        <a:rPr sz="750" b="1" i="0">
                          <a:solidFill>
                            <a:srgbClr val="333231"/>
                          </a:solidFill>
                          <a:latin typeface="Calibri"/>
                        </a:rPr>
                        <a:t>Envista</a:t>
                      </a:r>
                      <a:r>
                        <a:rPr sz="750" b="0" i="0">
                          <a:solidFill>
                            <a:srgbClr val="333231"/>
                          </a:solidFill>
                          <a:latin typeface="Calibri"/>
                        </a:rPr>
                        <a:t> </a:t>
                      </a:r>
                      <a:r>
                        <a:rPr sz="638" b="0" i="0">
                          <a:solidFill>
                            <a:srgbClr val="6F6A66"/>
                          </a:solidFill>
                          <a:latin typeface="Calibri"/>
                        </a:rPr>
                        <a:t>NVST</a:t>
                      </a:r>
                    </a:p>
                  </a:txBody>
                  <a:tcPr marL="7620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3,740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4,200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76%</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+11.6%</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11.9%</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55.4%</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14.2%</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1.47x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10.4x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11.4x</a:t>
                      </a:r>
                    </a:p>
                  </a:txBody>
                  <a:tcPr marL="0" marR="76200" marT="0" marB="0" anchor="ctr">
                    <a:lnL w="0">
                      <a:noFill/>
                    </a:lnL>
                    <a:lnR w="0">
                      <a:noFill/>
                    </a:lnR>
                    <a:lnT w="0">
                      <a:noFill/>
                    </a:lnT>
                    <a:lnB w="0">
                      <a:noFill/>
                    </a:lnB>
                    <a:solidFill>
                      <a:srgbClr val="FAF7F3"/>
                    </a:solidFill>
                  </a:tcPr>
                </a:tc>
                <a:extLst>
                  <a:ext uri="{0D108BD9-81ED-4DB2-BD59-A6C34878D82A}">
                    <a16:rowId xmlns:a16="http://schemas.microsoft.com/office/drawing/2014/main" val="10007"/>
                  </a:ext>
                </a:extLst>
              </a:tr>
              <a:tr h="200025">
                <a:tc>
                  <a:txBody>
                    <a:bodyPr/>
                    <a:lstStyle/>
                    <a:p>
                      <a:pPr algn="l">
                        <a:lnSpc>
                          <a:spcPts val="900"/>
                        </a:lnSpc>
                      </a:pPr>
                      <a:r>
                        <a:rPr sz="750" b="1" i="0">
                          <a:solidFill>
                            <a:srgbClr val="333231"/>
                          </a:solidFill>
                          <a:latin typeface="Calibri"/>
                        </a:rPr>
                        <a:t>Zimmer Biomet</a:t>
                      </a:r>
                      <a:r>
                        <a:rPr sz="750" b="0" i="0">
                          <a:solidFill>
                            <a:srgbClr val="333231"/>
                          </a:solidFill>
                          <a:latin typeface="Calibri"/>
                        </a:rPr>
                        <a:t> </a:t>
                      </a:r>
                      <a:r>
                        <a:rPr sz="638" b="0" i="0">
                          <a:solidFill>
                            <a:srgbClr val="6F6A66"/>
                          </a:solidFill>
                          <a:latin typeface="Calibri"/>
                        </a:rPr>
                        <a:t>ZBH</a:t>
                      </a:r>
                    </a:p>
                  </a:txBody>
                  <a:tcPr marL="7620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17,110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24,240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84%</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−11.0%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8.6%</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69.5%</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29.7%</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2.85x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9.6x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10.1x</a:t>
                      </a:r>
                    </a:p>
                  </a:txBody>
                  <a:tcPr marL="0" marR="76200" marT="0" marB="0" anchor="ctr">
                    <a:lnL w="0">
                      <a:noFill/>
                    </a:lnL>
                    <a:lnR w="0">
                      <a:noFill/>
                    </a:lnR>
                    <a:lnT w="0">
                      <a:noFill/>
                    </a:lnT>
                    <a:lnB w="0">
                      <a:noFill/>
                    </a:lnB>
                    <a:solidFill>
                      <a:srgbClr val="FFFFFF"/>
                    </a:solidFill>
                  </a:tcPr>
                </a:tc>
                <a:extLst>
                  <a:ext uri="{0D108BD9-81ED-4DB2-BD59-A6C34878D82A}">
                    <a16:rowId xmlns:a16="http://schemas.microsoft.com/office/drawing/2014/main" val="10008"/>
                  </a:ext>
                </a:extLst>
              </a:tr>
              <a:tr h="200025">
                <a:tc>
                  <a:txBody>
                    <a:bodyPr/>
                    <a:lstStyle/>
                    <a:p>
                      <a:pPr algn="l">
                        <a:lnSpc>
                          <a:spcPts val="900"/>
                        </a:lnSpc>
                      </a:pPr>
                      <a:r>
                        <a:rPr sz="750" b="1" i="0">
                          <a:solidFill>
                            <a:srgbClr val="333231"/>
                          </a:solidFill>
                          <a:latin typeface="Calibri"/>
                        </a:rPr>
                        <a:t>Integer Holdings</a:t>
                      </a:r>
                      <a:r>
                        <a:rPr sz="750" b="0" i="0">
                          <a:solidFill>
                            <a:srgbClr val="333231"/>
                          </a:solidFill>
                          <a:latin typeface="Calibri"/>
                        </a:rPr>
                        <a:t> </a:t>
                      </a:r>
                      <a:r>
                        <a:rPr sz="638" b="0" i="0">
                          <a:solidFill>
                            <a:srgbClr val="6F6A66"/>
                          </a:solidFill>
                          <a:latin typeface="Calibri"/>
                        </a:rPr>
                        <a:t>ITGR</a:t>
                      </a:r>
                    </a:p>
                  </a:txBody>
                  <a:tcPr marL="7620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4,300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5,640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100%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+22.9%</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2.7%</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26.1%</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18.9%</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3.06x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16.2x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13.9x</a:t>
                      </a:r>
                    </a:p>
                  </a:txBody>
                  <a:tcPr marL="0" marR="76200" marT="0" marB="0" anchor="ctr">
                    <a:lnL w="0">
                      <a:noFill/>
                    </a:lnL>
                    <a:lnR w="0">
                      <a:noFill/>
                    </a:lnR>
                    <a:lnT w="0">
                      <a:noFill/>
                    </a:lnT>
                    <a:lnB w="0">
                      <a:noFill/>
                    </a:lnB>
                    <a:solidFill>
                      <a:srgbClr val="FAF7F3"/>
                    </a:solidFill>
                  </a:tcPr>
                </a:tc>
                <a:extLst>
                  <a:ext uri="{0D108BD9-81ED-4DB2-BD59-A6C34878D82A}">
                    <a16:rowId xmlns:a16="http://schemas.microsoft.com/office/drawing/2014/main" val="10009"/>
                  </a:ext>
                </a:extLst>
              </a:tr>
              <a:tr h="200025">
                <a:tc>
                  <a:txBody>
                    <a:bodyPr/>
                    <a:lstStyle/>
                    <a:p>
                      <a:pPr algn="l">
                        <a:lnSpc>
                          <a:spcPts val="900"/>
                        </a:lnSpc>
                      </a:pPr>
                      <a:r>
                        <a:rPr sz="750" b="1" i="0">
                          <a:solidFill>
                            <a:srgbClr val="333231"/>
                          </a:solidFill>
                          <a:latin typeface="Calibri"/>
                        </a:rPr>
                        <a:t>Solventum</a:t>
                      </a:r>
                      <a:r>
                        <a:rPr sz="750" b="0" i="0">
                          <a:solidFill>
                            <a:srgbClr val="333231"/>
                          </a:solidFill>
                          <a:latin typeface="Calibri"/>
                        </a:rPr>
                        <a:t> </a:t>
                      </a:r>
                      <a:r>
                        <a:rPr sz="638" b="0" i="0">
                          <a:solidFill>
                            <a:srgbClr val="6F6A66"/>
                          </a:solidFill>
                          <a:latin typeface="Calibri"/>
                        </a:rPr>
                        <a:t>SOLV</a:t>
                      </a:r>
                    </a:p>
                  </a:txBody>
                  <a:tcPr marL="7620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14,950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19,850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93%</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+20.3%</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-0.9%</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54.8%</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13.7%</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2.39x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17.4x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15.9x</a:t>
                      </a:r>
                    </a:p>
                  </a:txBody>
                  <a:tcPr marL="0" marR="76200" marT="0" marB="0" anchor="ctr">
                    <a:lnL w="0">
                      <a:noFill/>
                    </a:lnL>
                    <a:lnR w="0">
                      <a:noFill/>
                    </a:lnR>
                    <a:lnT w="0">
                      <a:noFill/>
                    </a:lnT>
                    <a:lnB w="0">
                      <a:noFill/>
                    </a:lnB>
                    <a:solidFill>
                      <a:srgbClr val="FFFFFF"/>
                    </a:solidFill>
                  </a:tcPr>
                </a:tc>
                <a:extLst>
                  <a:ext uri="{0D108BD9-81ED-4DB2-BD59-A6C34878D82A}">
                    <a16:rowId xmlns:a16="http://schemas.microsoft.com/office/drawing/2014/main" val="10010"/>
                  </a:ext>
                </a:extLst>
              </a:tr>
              <a:tr h="200025">
                <a:tc>
                  <a:txBody>
                    <a:bodyPr/>
                    <a:lstStyle/>
                    <a:p>
                      <a:pPr algn="l">
                        <a:lnSpc>
                          <a:spcPts val="900"/>
                        </a:lnSpc>
                      </a:pPr>
                      <a:r>
                        <a:rPr sz="750" b="1" i="0">
                          <a:solidFill>
                            <a:srgbClr val="333231"/>
                          </a:solidFill>
                          <a:latin typeface="Calibri"/>
                        </a:rPr>
                        <a:t>Viemed Healthcare</a:t>
                      </a:r>
                      <a:r>
                        <a:rPr sz="750" b="0" i="0">
                          <a:solidFill>
                            <a:srgbClr val="333231"/>
                          </a:solidFill>
                          <a:latin typeface="Calibri"/>
                        </a:rPr>
                        <a:t> </a:t>
                      </a:r>
                      <a:r>
                        <a:rPr sz="638" b="0" i="0">
                          <a:solidFill>
                            <a:srgbClr val="6F6A66"/>
                          </a:solidFill>
                          <a:latin typeface="Calibri"/>
                        </a:rPr>
                        <a:t>VMD</a:t>
                      </a:r>
                    </a:p>
                  </a:txBody>
                  <a:tcPr marL="7620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348</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349</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72%</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+31.8%</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25.2%</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57.5%</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18.5%</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1.16x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6.2x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5.4x</a:t>
                      </a:r>
                    </a:p>
                  </a:txBody>
                  <a:tcPr marL="0" marR="76200" marT="0" marB="0" anchor="ctr">
                    <a:lnL w="0">
                      <a:noFill/>
                    </a:lnL>
                    <a:lnR w="0">
                      <a:noFill/>
                    </a:lnR>
                    <a:lnT w="0">
                      <a:noFill/>
                    </a:lnT>
                    <a:lnB w="0">
                      <a:noFill/>
                    </a:lnB>
                    <a:solidFill>
                      <a:srgbClr val="FAF7F3"/>
                    </a:solidFill>
                  </a:tcPr>
                </a:tc>
                <a:extLst>
                  <a:ext uri="{0D108BD9-81ED-4DB2-BD59-A6C34878D82A}">
                    <a16:rowId xmlns:a16="http://schemas.microsoft.com/office/drawing/2014/main" val="10011"/>
                  </a:ext>
                </a:extLst>
              </a:tr>
              <a:tr h="228600">
                <a:tc>
                  <a:txBody>
                    <a:bodyPr/>
                    <a:lstStyle/>
                    <a:p>
                      <a:pPr algn="l">
                        <a:lnSpc>
                          <a:spcPts val="900"/>
                        </a:lnSpc>
                      </a:pPr>
                      <a:r>
                        <a:rPr sz="750" b="1" i="0">
                          <a:solidFill>
                            <a:srgbClr val="1B1A1A"/>
                          </a:solidFill>
                          <a:latin typeface="Calibri"/>
                        </a:rPr>
                        <a:t>Median</a:t>
                      </a:r>
                    </a:p>
                  </a:txBody>
                  <a:tcPr marL="76200" marR="57150" marT="0" marB="0" anchor="ctr">
                    <a:lnL w="0">
                      <a:noFill/>
                    </a:lnL>
                    <a:lnR w="0">
                      <a:noFill/>
                    </a:lnR>
                    <a:lnT w="7143">
                      <a:noFill/>
                    </a:lnT>
                    <a:lnB w="0">
                      <a:noFill/>
                    </a:lnB>
                    <a:noFill/>
                  </a:tcPr>
                </a:tc>
                <a:tc>
                  <a:txBody>
                    <a:bodyPr/>
                    <a:lstStyle/>
                    <a:p>
                      <a:endParaRPr sz="100"/>
                    </a:p>
                  </a:txBody>
                  <a:tcPr marL="0" marR="57150" marT="0" marB="0" anchor="ctr">
                    <a:lnL w="0">
                      <a:noFill/>
                    </a:lnL>
                    <a:lnR w="0">
                      <a:noFill/>
                    </a:lnR>
                    <a:lnT w="7143">
                      <a:noFill/>
                    </a:lnT>
                    <a:lnB w="0">
                      <a:noFill/>
                    </a:lnB>
                    <a:noFill/>
                  </a:tcPr>
                </a:tc>
                <a:tc>
                  <a:txBody>
                    <a:bodyPr/>
                    <a:lstStyle/>
                    <a:p>
                      <a:endParaRPr sz="100"/>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81%</a:t>
                      </a:r>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+5.9%</a:t>
                      </a:r>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8.4%</a:t>
                      </a:r>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54.9%</a:t>
                      </a:r>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18.2%</a:t>
                      </a:r>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2.62x</a:t>
                      </a:r>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12.7x</a:t>
                      </a:r>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13.2x</a:t>
                      </a:r>
                    </a:p>
                  </a:txBody>
                  <a:tcPr marL="0" marR="76200" marT="0" marB="0" anchor="ctr">
                    <a:lnL w="0">
                      <a:noFill/>
                    </a:lnL>
                    <a:lnR w="0">
                      <a:noFill/>
                    </a:lnR>
                    <a:lnT w="7143">
                      <a:noFill/>
                    </a:lnT>
                    <a:lnB w="0">
                      <a:noFill/>
                    </a:lnB>
                    <a:noFill/>
                  </a:tcPr>
                </a:tc>
                <a:extLst>
                  <a:ext uri="{0D108BD9-81ED-4DB2-BD59-A6C34878D82A}">
                    <a16:rowId xmlns:a16="http://schemas.microsoft.com/office/drawing/2014/main" val="10012"/>
                  </a:ext>
                </a:extLst>
              </a:tr>
              <a:tr h="228600">
                <a:tc gridSpan="11">
                  <a:txBody>
                    <a:bodyPr/>
                    <a:lstStyle/>
                    <a:p>
                      <a:pPr algn="l">
                        <a:lnSpc>
                          <a:spcPts val="900"/>
                        </a:lnSpc>
                      </a:pPr>
                      <a:r>
                        <a:rPr sz="675" b="1" i="0" spc="135">
                          <a:solidFill>
                            <a:srgbClr val="FFFFFF"/>
                          </a:solidFill>
                          <a:latin typeface="Calibri"/>
                        </a:rPr>
                        <a:t>PHARMACY &amp; HEALTHCARE SERVICES</a:t>
                      </a:r>
                    </a:p>
                  </a:txBody>
                  <a:tcPr marL="7620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57150" marT="0" marB="0" anchor="ctr">
                    <a:lnL w="0">
                      <a:noFill/>
                    </a:lnL>
                    <a:lnR w="0">
                      <a:noFill/>
                    </a:lnR>
                    <a:lnT w="0">
                      <a:noFill/>
                    </a:lnT>
                    <a:lnB w="0">
                      <a:noFill/>
                    </a:lnB>
                    <a:solidFill>
                      <a:srgbClr val="1B1A1A"/>
                    </a:solidFill>
                  </a:tcPr>
                </a:tc>
                <a:tc hMerge="1">
                  <a:txBody>
                    <a:bodyPr/>
                    <a:lstStyle/>
                    <a:p>
                      <a:endParaRPr sz="100"/>
                    </a:p>
                  </a:txBody>
                  <a:tcPr marL="0" marR="76200" marT="0" marB="0" anchor="ctr">
                    <a:lnL w="0">
                      <a:noFill/>
                    </a:lnL>
                    <a:lnR w="0">
                      <a:noFill/>
                    </a:lnR>
                    <a:lnT w="0">
                      <a:noFill/>
                    </a:lnT>
                    <a:lnB w="0">
                      <a:noFill/>
                    </a:lnB>
                    <a:solidFill>
                      <a:srgbClr val="1B1A1A"/>
                    </a:solidFill>
                  </a:tcPr>
                </a:tc>
                <a:extLst>
                  <a:ext uri="{0D108BD9-81ED-4DB2-BD59-A6C34878D82A}">
                    <a16:rowId xmlns:a16="http://schemas.microsoft.com/office/drawing/2014/main" val="10013"/>
                  </a:ext>
                </a:extLst>
              </a:tr>
              <a:tr h="200025">
                <a:tc>
                  <a:txBody>
                    <a:bodyPr/>
                    <a:lstStyle/>
                    <a:p>
                      <a:pPr algn="l">
                        <a:lnSpc>
                          <a:spcPts val="900"/>
                        </a:lnSpc>
                      </a:pPr>
                      <a:r>
                        <a:rPr sz="750" b="1" i="0">
                          <a:solidFill>
                            <a:srgbClr val="333231"/>
                          </a:solidFill>
                          <a:latin typeface="Calibri"/>
                        </a:rPr>
                        <a:t>Option Care Health</a:t>
                      </a:r>
                      <a:r>
                        <a:rPr sz="750" b="0" i="0">
                          <a:solidFill>
                            <a:srgbClr val="333231"/>
                          </a:solidFill>
                          <a:latin typeface="Calibri"/>
                        </a:rPr>
                        <a:t> </a:t>
                      </a:r>
                      <a:r>
                        <a:rPr sz="638" b="0" i="0">
                          <a:solidFill>
                            <a:srgbClr val="6F6A66"/>
                          </a:solidFill>
                          <a:latin typeface="Calibri"/>
                        </a:rPr>
                        <a:t>OPCH</a:t>
                      </a:r>
                    </a:p>
                  </a:txBody>
                  <a:tcPr marL="7620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4,640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5,710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84%</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+12.7%</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5.9%</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19.1%</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7.1%</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1.00x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14.1x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13.8x</a:t>
                      </a:r>
                    </a:p>
                  </a:txBody>
                  <a:tcPr marL="0" marR="76200" marT="0" marB="0" anchor="ctr">
                    <a:lnL w="0">
                      <a:noFill/>
                    </a:lnL>
                    <a:lnR w="0">
                      <a:noFill/>
                    </a:lnR>
                    <a:lnT w="0">
                      <a:noFill/>
                    </a:lnT>
                    <a:lnB w="0">
                      <a:noFill/>
                    </a:lnB>
                    <a:solidFill>
                      <a:srgbClr val="FFFFFF"/>
                    </a:solidFill>
                  </a:tcPr>
                </a:tc>
                <a:extLst>
                  <a:ext uri="{0D108BD9-81ED-4DB2-BD59-A6C34878D82A}">
                    <a16:rowId xmlns:a16="http://schemas.microsoft.com/office/drawing/2014/main" val="10014"/>
                  </a:ext>
                </a:extLst>
              </a:tr>
              <a:tr h="200025">
                <a:tc>
                  <a:txBody>
                    <a:bodyPr/>
                    <a:lstStyle/>
                    <a:p>
                      <a:pPr algn="l">
                        <a:lnSpc>
                          <a:spcPts val="900"/>
                        </a:lnSpc>
                      </a:pPr>
                      <a:r>
                        <a:rPr sz="750" b="1" i="0">
                          <a:solidFill>
                            <a:srgbClr val="333231"/>
                          </a:solidFill>
                          <a:latin typeface="Calibri"/>
                        </a:rPr>
                        <a:t>BrightSpring</a:t>
                      </a:r>
                      <a:r>
                        <a:rPr sz="750" b="0" i="0">
                          <a:solidFill>
                            <a:srgbClr val="333231"/>
                          </a:solidFill>
                          <a:latin typeface="Calibri"/>
                        </a:rPr>
                        <a:t> </a:t>
                      </a:r>
                      <a:r>
                        <a:rPr sz="638" b="0" i="0">
                          <a:solidFill>
                            <a:srgbClr val="6F6A66"/>
                          </a:solidFill>
                          <a:latin typeface="Calibri"/>
                        </a:rPr>
                        <a:t>BTSG</a:t>
                      </a:r>
                    </a:p>
                  </a:txBody>
                  <a:tcPr marL="7620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13,280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15,120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86%</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+124.8%</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26.4%</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12.4%</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4.4%</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1.05x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24.1x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27.2x</a:t>
                      </a:r>
                    </a:p>
                  </a:txBody>
                  <a:tcPr marL="0" marR="76200" marT="0" marB="0" anchor="ctr">
                    <a:lnL w="0">
                      <a:noFill/>
                    </a:lnL>
                    <a:lnR w="0">
                      <a:noFill/>
                    </a:lnR>
                    <a:lnT w="0">
                      <a:noFill/>
                    </a:lnT>
                    <a:lnB w="0">
                      <a:noFill/>
                    </a:lnB>
                    <a:solidFill>
                      <a:srgbClr val="FAF7F3"/>
                    </a:solidFill>
                  </a:tcPr>
                </a:tc>
                <a:extLst>
                  <a:ext uri="{0D108BD9-81ED-4DB2-BD59-A6C34878D82A}">
                    <a16:rowId xmlns:a16="http://schemas.microsoft.com/office/drawing/2014/main" val="10015"/>
                  </a:ext>
                </a:extLst>
              </a:tr>
              <a:tr h="200025">
                <a:tc>
                  <a:txBody>
                    <a:bodyPr/>
                    <a:lstStyle/>
                    <a:p>
                      <a:pPr algn="l">
                        <a:lnSpc>
                          <a:spcPts val="900"/>
                        </a:lnSpc>
                      </a:pPr>
                      <a:r>
                        <a:rPr sz="750" b="1" i="0">
                          <a:solidFill>
                            <a:srgbClr val="333231"/>
                          </a:solidFill>
                          <a:latin typeface="Calibri"/>
                        </a:rPr>
                        <a:t>Guardian Pharmacy Services</a:t>
                      </a:r>
                      <a:r>
                        <a:rPr sz="750" b="0" i="0">
                          <a:solidFill>
                            <a:srgbClr val="333231"/>
                          </a:solidFill>
                          <a:latin typeface="Calibri"/>
                        </a:rPr>
                        <a:t> </a:t>
                      </a:r>
                      <a:r>
                        <a:rPr sz="638" b="0" i="0">
                          <a:solidFill>
                            <a:srgbClr val="6F6A66"/>
                          </a:solidFill>
                          <a:latin typeface="Calibri"/>
                        </a:rPr>
                        <a:t>GRDN†</a:t>
                      </a:r>
                    </a:p>
                  </a:txBody>
                  <a:tcPr marL="7620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2,670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2,620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87%</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+76.2%</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10.3%</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21.6%</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7.5%</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1.81x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24.2x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20.7x</a:t>
                      </a:r>
                    </a:p>
                  </a:txBody>
                  <a:tcPr marL="0" marR="76200" marT="0" marB="0" anchor="ctr">
                    <a:lnL w="0">
                      <a:noFill/>
                    </a:lnL>
                    <a:lnR w="0">
                      <a:noFill/>
                    </a:lnR>
                    <a:lnT w="0">
                      <a:noFill/>
                    </a:lnT>
                    <a:lnB w="0">
                      <a:noFill/>
                    </a:lnB>
                    <a:solidFill>
                      <a:srgbClr val="FFFFFF"/>
                    </a:solidFill>
                  </a:tcPr>
                </a:tc>
                <a:extLst>
                  <a:ext uri="{0D108BD9-81ED-4DB2-BD59-A6C34878D82A}">
                    <a16:rowId xmlns:a16="http://schemas.microsoft.com/office/drawing/2014/main" val="10016"/>
                  </a:ext>
                </a:extLst>
              </a:tr>
              <a:tr h="200025">
                <a:tc>
                  <a:txBody>
                    <a:bodyPr/>
                    <a:lstStyle/>
                    <a:p>
                      <a:pPr algn="l">
                        <a:lnSpc>
                          <a:spcPts val="900"/>
                        </a:lnSpc>
                      </a:pPr>
                      <a:r>
                        <a:rPr sz="750" b="1" i="0">
                          <a:solidFill>
                            <a:srgbClr val="333231"/>
                          </a:solidFill>
                          <a:latin typeface="Calibri"/>
                        </a:rPr>
                        <a:t>McKesson</a:t>
                      </a:r>
                      <a:r>
                        <a:rPr sz="750" b="0" i="0">
                          <a:solidFill>
                            <a:srgbClr val="333231"/>
                          </a:solidFill>
                          <a:latin typeface="Calibri"/>
                        </a:rPr>
                        <a:t> </a:t>
                      </a:r>
                      <a:r>
                        <a:rPr sz="638" b="0" i="0">
                          <a:solidFill>
                            <a:srgbClr val="6F6A66"/>
                          </a:solidFill>
                          <a:latin typeface="Calibri"/>
                        </a:rPr>
                        <a:t>MCK</a:t>
                      </a:r>
                    </a:p>
                  </a:txBody>
                  <a:tcPr marL="7620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108,020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114,650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93%</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+25.1%</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8.8%</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3.6%</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1.7%</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0.28x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16.1x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18.4x</a:t>
                      </a:r>
                    </a:p>
                  </a:txBody>
                  <a:tcPr marL="0" marR="76200" marT="0" marB="0" anchor="ctr">
                    <a:lnL w="0">
                      <a:noFill/>
                    </a:lnL>
                    <a:lnR w="0">
                      <a:noFill/>
                    </a:lnR>
                    <a:lnT w="0">
                      <a:noFill/>
                    </a:lnT>
                    <a:lnB w="0">
                      <a:noFill/>
                    </a:lnB>
                    <a:solidFill>
                      <a:srgbClr val="FAF7F3"/>
                    </a:solidFill>
                  </a:tcPr>
                </a:tc>
                <a:extLst>
                  <a:ext uri="{0D108BD9-81ED-4DB2-BD59-A6C34878D82A}">
                    <a16:rowId xmlns:a16="http://schemas.microsoft.com/office/drawing/2014/main" val="10017"/>
                  </a:ext>
                </a:extLst>
              </a:tr>
              <a:tr h="200025">
                <a:tc>
                  <a:txBody>
                    <a:bodyPr/>
                    <a:lstStyle/>
                    <a:p>
                      <a:pPr algn="l">
                        <a:lnSpc>
                          <a:spcPts val="900"/>
                        </a:lnSpc>
                      </a:pPr>
                      <a:r>
                        <a:rPr sz="750" b="1" i="0">
                          <a:solidFill>
                            <a:srgbClr val="333231"/>
                          </a:solidFill>
                          <a:latin typeface="Calibri"/>
                        </a:rPr>
                        <a:t>Cencora</a:t>
                      </a:r>
                      <a:r>
                        <a:rPr sz="750" b="0" i="0">
                          <a:solidFill>
                            <a:srgbClr val="333231"/>
                          </a:solidFill>
                          <a:latin typeface="Calibri"/>
                        </a:rPr>
                        <a:t> </a:t>
                      </a:r>
                      <a:r>
                        <a:rPr sz="638" b="0" i="0">
                          <a:solidFill>
                            <a:srgbClr val="6F6A66"/>
                          </a:solidFill>
                          <a:latin typeface="Calibri"/>
                        </a:rPr>
                        <a:t>COR</a:t>
                      </a:r>
                    </a:p>
                  </a:txBody>
                  <a:tcPr marL="7620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61,160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72,810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85%</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+5.2%</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5.1%</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4.0%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1.7%</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0.22x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13.0x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14.4x</a:t>
                      </a:r>
                    </a:p>
                  </a:txBody>
                  <a:tcPr marL="0" marR="76200" marT="0" marB="0" anchor="ctr">
                    <a:lnL w="0">
                      <a:noFill/>
                    </a:lnL>
                    <a:lnR w="0">
                      <a:noFill/>
                    </a:lnR>
                    <a:lnT w="0">
                      <a:noFill/>
                    </a:lnT>
                    <a:lnB w="0">
                      <a:noFill/>
                    </a:lnB>
                    <a:solidFill>
                      <a:srgbClr val="FFFFFF"/>
                    </a:solidFill>
                  </a:tcPr>
                </a:tc>
                <a:extLst>
                  <a:ext uri="{0D108BD9-81ED-4DB2-BD59-A6C34878D82A}">
                    <a16:rowId xmlns:a16="http://schemas.microsoft.com/office/drawing/2014/main" val="10018"/>
                  </a:ext>
                </a:extLst>
              </a:tr>
              <a:tr h="200025">
                <a:tc>
                  <a:txBody>
                    <a:bodyPr/>
                    <a:lstStyle/>
                    <a:p>
                      <a:pPr algn="l">
                        <a:lnSpc>
                          <a:spcPts val="900"/>
                        </a:lnSpc>
                      </a:pPr>
                      <a:r>
                        <a:rPr sz="750" b="1" i="0">
                          <a:solidFill>
                            <a:srgbClr val="333231"/>
                          </a:solidFill>
                          <a:latin typeface="Calibri"/>
                        </a:rPr>
                        <a:t>Cardinal Health</a:t>
                      </a:r>
                      <a:r>
                        <a:rPr sz="750" b="0" i="0">
                          <a:solidFill>
                            <a:srgbClr val="333231"/>
                          </a:solidFill>
                          <a:latin typeface="Calibri"/>
                        </a:rPr>
                        <a:t> </a:t>
                      </a:r>
                      <a:r>
                        <a:rPr sz="638" b="0" i="0">
                          <a:solidFill>
                            <a:srgbClr val="6F6A66"/>
                          </a:solidFill>
                          <a:latin typeface="Calibri"/>
                        </a:rPr>
                        <a:t>CAH</a:t>
                      </a:r>
                    </a:p>
                  </a:txBody>
                  <a:tcPr marL="7620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54,610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59,750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91%</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+51.7%</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14.2%</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3.8%</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1.7%</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0.23x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14.0x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12.1x</a:t>
                      </a:r>
                    </a:p>
                  </a:txBody>
                  <a:tcPr marL="0" marR="76200" marT="0" marB="0" anchor="ctr">
                    <a:lnL w="0">
                      <a:noFill/>
                    </a:lnL>
                    <a:lnR w="0">
                      <a:noFill/>
                    </a:lnR>
                    <a:lnT w="0">
                      <a:noFill/>
                    </a:lnT>
                    <a:lnB w="0">
                      <a:noFill/>
                    </a:lnB>
                    <a:solidFill>
                      <a:srgbClr val="FAF7F3"/>
                    </a:solidFill>
                  </a:tcPr>
                </a:tc>
                <a:extLst>
                  <a:ext uri="{0D108BD9-81ED-4DB2-BD59-A6C34878D82A}">
                    <a16:rowId xmlns:a16="http://schemas.microsoft.com/office/drawing/2014/main" val="10019"/>
                  </a:ext>
                </a:extLst>
              </a:tr>
              <a:tr h="200025">
                <a:tc>
                  <a:txBody>
                    <a:bodyPr/>
                    <a:lstStyle/>
                    <a:p>
                      <a:pPr algn="l">
                        <a:lnSpc>
                          <a:spcPts val="900"/>
                        </a:lnSpc>
                      </a:pPr>
                      <a:r>
                        <a:rPr sz="750" b="1" i="0">
                          <a:solidFill>
                            <a:srgbClr val="333231"/>
                          </a:solidFill>
                          <a:latin typeface="Calibri"/>
                        </a:rPr>
                        <a:t>CVS Health</a:t>
                      </a:r>
                      <a:r>
                        <a:rPr sz="750" b="0" i="0">
                          <a:solidFill>
                            <a:srgbClr val="333231"/>
                          </a:solidFill>
                          <a:latin typeface="Calibri"/>
                        </a:rPr>
                        <a:t> </a:t>
                      </a:r>
                      <a:r>
                        <a:rPr sz="638" b="0" i="0">
                          <a:solidFill>
                            <a:srgbClr val="6F6A66"/>
                          </a:solidFill>
                          <a:latin typeface="Calibri"/>
                        </a:rPr>
                        <a:t>CVS</a:t>
                      </a:r>
                    </a:p>
                  </a:txBody>
                  <a:tcPr marL="7620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112,360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174,710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79%</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+14.3%</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7.4%</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13.6%</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4.0%</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0.42x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10.4x</a:t>
                      </a:r>
                    </a:p>
                  </a:txBody>
                  <a:tcPr marL="0" marR="57150" marT="0" marB="0" anchor="ctr">
                    <a:lnL w="0">
                      <a:noFill/>
                    </a:lnL>
                    <a:lnR w="0">
                      <a:noFill/>
                    </a:lnR>
                    <a:lnT w="0">
                      <a:noFill/>
                    </a:lnT>
                    <a:lnB w="0">
                      <a:noFill/>
                    </a:lnB>
                    <a:solidFill>
                      <a:srgbClr val="FFFFFF"/>
                    </a:solidFill>
                  </a:tcPr>
                </a:tc>
                <a:tc>
                  <a:txBody>
                    <a:bodyPr/>
                    <a:lstStyle/>
                    <a:p>
                      <a:pPr algn="r">
                        <a:lnSpc>
                          <a:spcPts val="900"/>
                        </a:lnSpc>
                      </a:pPr>
                      <a:r>
                        <a:rPr sz="750" b="0" i="0">
                          <a:solidFill>
                            <a:srgbClr val="333231"/>
                          </a:solidFill>
                          <a:latin typeface="Calibri"/>
                        </a:rPr>
                        <a:t>11.1x</a:t>
                      </a:r>
                    </a:p>
                  </a:txBody>
                  <a:tcPr marL="0" marR="76200" marT="0" marB="0" anchor="ctr">
                    <a:lnL w="0">
                      <a:noFill/>
                    </a:lnL>
                    <a:lnR w="0">
                      <a:noFill/>
                    </a:lnR>
                    <a:lnT w="0">
                      <a:noFill/>
                    </a:lnT>
                    <a:lnB w="0">
                      <a:noFill/>
                    </a:lnB>
                    <a:solidFill>
                      <a:srgbClr val="FFFFFF"/>
                    </a:solidFill>
                  </a:tcPr>
                </a:tc>
                <a:extLst>
                  <a:ext uri="{0D108BD9-81ED-4DB2-BD59-A6C34878D82A}">
                    <a16:rowId xmlns:a16="http://schemas.microsoft.com/office/drawing/2014/main" val="10020"/>
                  </a:ext>
                </a:extLst>
              </a:tr>
              <a:tr h="200025">
                <a:tc>
                  <a:txBody>
                    <a:bodyPr/>
                    <a:lstStyle/>
                    <a:p>
                      <a:pPr algn="l">
                        <a:lnSpc>
                          <a:spcPts val="900"/>
                        </a:lnSpc>
                      </a:pPr>
                      <a:r>
                        <a:rPr sz="750" b="1" i="0">
                          <a:solidFill>
                            <a:srgbClr val="333231"/>
                          </a:solidFill>
                          <a:latin typeface="Calibri"/>
                        </a:rPr>
                        <a:t>AMN Healthcare</a:t>
                      </a:r>
                      <a:r>
                        <a:rPr sz="750" b="0" i="0">
                          <a:solidFill>
                            <a:srgbClr val="333231"/>
                          </a:solidFill>
                          <a:latin typeface="Calibri"/>
                        </a:rPr>
                        <a:t> </a:t>
                      </a:r>
                      <a:r>
                        <a:rPr sz="638" b="0" i="0">
                          <a:solidFill>
                            <a:srgbClr val="6F6A66"/>
                          </a:solidFill>
                          <a:latin typeface="Calibri"/>
                        </a:rPr>
                        <a:t>AMN</a:t>
                      </a:r>
                    </a:p>
                  </a:txBody>
                  <a:tcPr marL="7620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1,350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1,770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94%</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+85.2%</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24.0%</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27.8%</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8.9%</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0.51x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5.7x</a:t>
                      </a:r>
                    </a:p>
                  </a:txBody>
                  <a:tcPr marL="0" marR="57150" marT="0" marB="0" anchor="ctr">
                    <a:lnL w="0">
                      <a:noFill/>
                    </a:lnL>
                    <a:lnR w="0">
                      <a:noFill/>
                    </a:lnR>
                    <a:lnT w="0">
                      <a:noFill/>
                    </a:lnT>
                    <a:lnB w="0">
                      <a:noFill/>
                    </a:lnB>
                    <a:solidFill>
                      <a:srgbClr val="FAF7F3"/>
                    </a:solidFill>
                  </a:tcPr>
                </a:tc>
                <a:tc>
                  <a:txBody>
                    <a:bodyPr/>
                    <a:lstStyle/>
                    <a:p>
                      <a:pPr algn="r">
                        <a:lnSpc>
                          <a:spcPts val="900"/>
                        </a:lnSpc>
                      </a:pPr>
                      <a:r>
                        <a:rPr sz="750" b="0" i="0">
                          <a:solidFill>
                            <a:srgbClr val="333231"/>
                          </a:solidFill>
                          <a:latin typeface="Calibri"/>
                        </a:rPr>
                        <a:t>8.1x</a:t>
                      </a:r>
                    </a:p>
                  </a:txBody>
                  <a:tcPr marL="0" marR="76200" marT="0" marB="0" anchor="ctr">
                    <a:lnL w="0">
                      <a:noFill/>
                    </a:lnL>
                    <a:lnR w="0">
                      <a:noFill/>
                    </a:lnR>
                    <a:lnT w="0">
                      <a:noFill/>
                    </a:lnT>
                    <a:lnB w="0">
                      <a:noFill/>
                    </a:lnB>
                    <a:solidFill>
                      <a:srgbClr val="FAF7F3"/>
                    </a:solidFill>
                  </a:tcPr>
                </a:tc>
                <a:extLst>
                  <a:ext uri="{0D108BD9-81ED-4DB2-BD59-A6C34878D82A}">
                    <a16:rowId xmlns:a16="http://schemas.microsoft.com/office/drawing/2014/main" val="10021"/>
                  </a:ext>
                </a:extLst>
              </a:tr>
              <a:tr h="228600">
                <a:tc>
                  <a:txBody>
                    <a:bodyPr/>
                    <a:lstStyle/>
                    <a:p>
                      <a:pPr algn="l">
                        <a:lnSpc>
                          <a:spcPts val="900"/>
                        </a:lnSpc>
                      </a:pPr>
                      <a:r>
                        <a:rPr sz="750" b="1" i="0">
                          <a:solidFill>
                            <a:srgbClr val="1B1A1A"/>
                          </a:solidFill>
                          <a:latin typeface="Calibri"/>
                        </a:rPr>
                        <a:t>Median</a:t>
                      </a:r>
                    </a:p>
                  </a:txBody>
                  <a:tcPr marL="76200" marR="57150" marT="0" marB="0" anchor="ctr">
                    <a:lnL w="0">
                      <a:noFill/>
                    </a:lnL>
                    <a:lnR w="0">
                      <a:noFill/>
                    </a:lnR>
                    <a:lnT w="7143">
                      <a:noFill/>
                    </a:lnT>
                    <a:lnB w="0">
                      <a:noFill/>
                    </a:lnB>
                    <a:noFill/>
                  </a:tcPr>
                </a:tc>
                <a:tc>
                  <a:txBody>
                    <a:bodyPr/>
                    <a:lstStyle/>
                    <a:p>
                      <a:endParaRPr sz="100"/>
                    </a:p>
                  </a:txBody>
                  <a:tcPr marL="0" marR="57150" marT="0" marB="0" anchor="ctr">
                    <a:lnL w="0">
                      <a:noFill/>
                    </a:lnL>
                    <a:lnR w="0">
                      <a:noFill/>
                    </a:lnR>
                    <a:lnT w="7143">
                      <a:noFill/>
                    </a:lnT>
                    <a:lnB w="0">
                      <a:noFill/>
                    </a:lnB>
                    <a:noFill/>
                  </a:tcPr>
                </a:tc>
                <a:tc>
                  <a:txBody>
                    <a:bodyPr/>
                    <a:lstStyle/>
                    <a:p>
                      <a:endParaRPr sz="100"/>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87%</a:t>
                      </a:r>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+38.4%</a:t>
                      </a:r>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9.6%</a:t>
                      </a:r>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13.0%</a:t>
                      </a:r>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4.2%</a:t>
                      </a:r>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0.46x</a:t>
                      </a:r>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14.0x</a:t>
                      </a:r>
                    </a:p>
                  </a:txBody>
                  <a:tcPr marL="0" marR="57150" marT="0" marB="0" anchor="ctr">
                    <a:lnL w="0">
                      <a:noFill/>
                    </a:lnL>
                    <a:lnR w="0">
                      <a:noFill/>
                    </a:lnR>
                    <a:lnT w="7143">
                      <a:noFill/>
                    </a:lnT>
                    <a:lnB w="0">
                      <a:noFill/>
                    </a:lnB>
                    <a:noFill/>
                  </a:tcPr>
                </a:tc>
                <a:tc>
                  <a:txBody>
                    <a:bodyPr/>
                    <a:lstStyle/>
                    <a:p>
                      <a:pPr algn="r">
                        <a:lnSpc>
                          <a:spcPts val="900"/>
                        </a:lnSpc>
                      </a:pPr>
                      <a:r>
                        <a:rPr sz="750" b="1" i="0">
                          <a:solidFill>
                            <a:srgbClr val="1B1A1A"/>
                          </a:solidFill>
                          <a:latin typeface="Calibri"/>
                        </a:rPr>
                        <a:t>13.8x</a:t>
                      </a:r>
                    </a:p>
                  </a:txBody>
                  <a:tcPr marL="0" marR="76200" marT="0" marB="0" anchor="ctr">
                    <a:lnL w="0">
                      <a:noFill/>
                    </a:lnL>
                    <a:lnR w="0">
                      <a:noFill/>
                    </a:lnR>
                    <a:lnT w="7143">
                      <a:noFill/>
                    </a:lnT>
                    <a:lnB w="0">
                      <a:noFill/>
                    </a:lnB>
                    <a:noFill/>
                  </a:tcPr>
                </a:tc>
                <a:extLst>
                  <a:ext uri="{0D108BD9-81ED-4DB2-BD59-A6C34878D82A}">
                    <a16:rowId xmlns:a16="http://schemas.microsoft.com/office/drawing/2014/main" val="10022"/>
                  </a:ext>
                </a:extLst>
              </a:tr>
              <a:tr h="76200">
                <a:tc>
                  <a:txBody>
                    <a:bodyPr/>
                    <a:lstStyle/>
                    <a:p>
                      <a:endParaRPr sz="100"/>
                    </a:p>
                  </a:txBody>
                  <a:tcPr marL="76200" marR="57150" marT="0" marB="0" anchor="ctr">
                    <a:lnL w="0">
                      <a:noFill/>
                    </a:lnL>
                    <a:lnR w="0">
                      <a:noFill/>
                    </a:lnR>
                    <a:lnT w="0">
                      <a:noFill/>
                    </a:lnT>
                    <a:lnB w="0">
                      <a:noFill/>
                    </a:lnB>
                    <a:noFill/>
                  </a:tcPr>
                </a:tc>
                <a:tc>
                  <a:txBody>
                    <a:bodyPr/>
                    <a:lstStyle/>
                    <a:p>
                      <a:endParaRPr sz="100"/>
                    </a:p>
                  </a:txBody>
                  <a:tcPr marL="0" marR="57150" marT="0" marB="0" anchor="ctr">
                    <a:lnL w="0">
                      <a:noFill/>
                    </a:lnL>
                    <a:lnR w="0">
                      <a:noFill/>
                    </a:lnR>
                    <a:lnT w="0">
                      <a:noFill/>
                    </a:lnT>
                    <a:lnB w="0">
                      <a:noFill/>
                    </a:lnB>
                    <a:noFill/>
                  </a:tcPr>
                </a:tc>
                <a:tc>
                  <a:txBody>
                    <a:bodyPr/>
                    <a:lstStyle/>
                    <a:p>
                      <a:endParaRPr sz="100"/>
                    </a:p>
                  </a:txBody>
                  <a:tcPr marL="0" marR="57150" marT="0" marB="0" anchor="ctr">
                    <a:lnL w="0">
                      <a:noFill/>
                    </a:lnL>
                    <a:lnR w="0">
                      <a:noFill/>
                    </a:lnR>
                    <a:lnT w="0">
                      <a:noFill/>
                    </a:lnT>
                    <a:lnB w="0">
                      <a:noFill/>
                    </a:lnB>
                    <a:noFill/>
                  </a:tcPr>
                </a:tc>
                <a:tc>
                  <a:txBody>
                    <a:bodyPr/>
                    <a:lstStyle/>
                    <a:p>
                      <a:endParaRPr sz="100"/>
                    </a:p>
                  </a:txBody>
                  <a:tcPr marL="0" marR="57150" marT="0" marB="0" anchor="ctr">
                    <a:lnL w="0">
                      <a:noFill/>
                    </a:lnL>
                    <a:lnR w="0">
                      <a:noFill/>
                    </a:lnR>
                    <a:lnT w="0">
                      <a:noFill/>
                    </a:lnT>
                    <a:lnB w="0">
                      <a:noFill/>
                    </a:lnB>
                    <a:noFill/>
                  </a:tcPr>
                </a:tc>
                <a:tc>
                  <a:txBody>
                    <a:bodyPr/>
                    <a:lstStyle/>
                    <a:p>
                      <a:endParaRPr sz="100"/>
                    </a:p>
                  </a:txBody>
                  <a:tcPr marL="0" marR="57150" marT="0" marB="0" anchor="ctr">
                    <a:lnL w="0">
                      <a:noFill/>
                    </a:lnL>
                    <a:lnR w="0">
                      <a:noFill/>
                    </a:lnR>
                    <a:lnT w="0">
                      <a:noFill/>
                    </a:lnT>
                    <a:lnB w="0">
                      <a:noFill/>
                    </a:lnB>
                    <a:noFill/>
                  </a:tcPr>
                </a:tc>
                <a:tc>
                  <a:txBody>
                    <a:bodyPr/>
                    <a:lstStyle/>
                    <a:p>
                      <a:endParaRPr sz="100"/>
                    </a:p>
                  </a:txBody>
                  <a:tcPr marL="0" marR="57150" marT="0" marB="0" anchor="ctr">
                    <a:lnL w="0">
                      <a:noFill/>
                    </a:lnL>
                    <a:lnR w="0">
                      <a:noFill/>
                    </a:lnR>
                    <a:lnT w="0">
                      <a:noFill/>
                    </a:lnT>
                    <a:lnB w="0">
                      <a:noFill/>
                    </a:lnB>
                    <a:noFill/>
                  </a:tcPr>
                </a:tc>
                <a:tc>
                  <a:txBody>
                    <a:bodyPr/>
                    <a:lstStyle/>
                    <a:p>
                      <a:endParaRPr sz="100"/>
                    </a:p>
                  </a:txBody>
                  <a:tcPr marL="0" marR="57150" marT="0" marB="0" anchor="ctr">
                    <a:lnL w="0">
                      <a:noFill/>
                    </a:lnL>
                    <a:lnR w="0">
                      <a:noFill/>
                    </a:lnR>
                    <a:lnT w="0">
                      <a:noFill/>
                    </a:lnT>
                    <a:lnB w="0">
                      <a:noFill/>
                    </a:lnB>
                    <a:noFill/>
                  </a:tcPr>
                </a:tc>
                <a:tc>
                  <a:txBody>
                    <a:bodyPr/>
                    <a:lstStyle/>
                    <a:p>
                      <a:endParaRPr sz="100"/>
                    </a:p>
                  </a:txBody>
                  <a:tcPr marL="0" marR="57150" marT="0" marB="0" anchor="ctr">
                    <a:lnL w="0">
                      <a:noFill/>
                    </a:lnL>
                    <a:lnR w="0">
                      <a:noFill/>
                    </a:lnR>
                    <a:lnT w="0">
                      <a:noFill/>
                    </a:lnT>
                    <a:lnB w="0">
                      <a:noFill/>
                    </a:lnB>
                    <a:noFill/>
                  </a:tcPr>
                </a:tc>
                <a:tc>
                  <a:txBody>
                    <a:bodyPr/>
                    <a:lstStyle/>
                    <a:p>
                      <a:endParaRPr sz="100"/>
                    </a:p>
                  </a:txBody>
                  <a:tcPr marL="0" marR="57150" marT="0" marB="0" anchor="ctr">
                    <a:lnL w="0">
                      <a:noFill/>
                    </a:lnL>
                    <a:lnR w="0">
                      <a:noFill/>
                    </a:lnR>
                    <a:lnT w="0">
                      <a:noFill/>
                    </a:lnT>
                    <a:lnB w="0">
                      <a:noFill/>
                    </a:lnB>
                    <a:noFill/>
                  </a:tcPr>
                </a:tc>
                <a:tc>
                  <a:txBody>
                    <a:bodyPr/>
                    <a:lstStyle/>
                    <a:p>
                      <a:endParaRPr sz="100"/>
                    </a:p>
                  </a:txBody>
                  <a:tcPr marL="0" marR="57150" marT="0" marB="0" anchor="ctr">
                    <a:lnL w="0">
                      <a:noFill/>
                    </a:lnL>
                    <a:lnR w="0">
                      <a:noFill/>
                    </a:lnR>
                    <a:lnT w="0">
                      <a:noFill/>
                    </a:lnT>
                    <a:lnB w="0">
                      <a:noFill/>
                    </a:lnB>
                    <a:noFill/>
                  </a:tcPr>
                </a:tc>
                <a:tc>
                  <a:txBody>
                    <a:bodyPr/>
                    <a:lstStyle/>
                    <a:p>
                      <a:endParaRPr sz="100"/>
                    </a:p>
                  </a:txBody>
                  <a:tcPr marL="0" marR="76200" marT="0" marB="0" anchor="ctr">
                    <a:lnL w="0">
                      <a:noFill/>
                    </a:lnL>
                    <a:lnR w="0">
                      <a:noFill/>
                    </a:lnR>
                    <a:lnT w="0">
                      <a:noFill/>
                    </a:lnT>
                    <a:lnB w="0">
                      <a:noFill/>
                    </a:lnB>
                    <a:noFill/>
                  </a:tcPr>
                </a:tc>
                <a:extLst>
                  <a:ext uri="{0D108BD9-81ED-4DB2-BD59-A6C34878D82A}">
                    <a16:rowId xmlns:a16="http://schemas.microsoft.com/office/drawing/2014/main" val="10023"/>
                  </a:ext>
                </a:extLst>
              </a:tr>
              <a:tr h="228600">
                <a:tc>
                  <a:txBody>
                    <a:bodyPr/>
                    <a:lstStyle/>
                    <a:p>
                      <a:pPr algn="l">
                        <a:lnSpc>
                          <a:spcPts val="900"/>
                        </a:lnSpc>
                      </a:pPr>
                      <a:r>
                        <a:rPr sz="750" b="1" i="0">
                          <a:solidFill>
                            <a:srgbClr val="1B1A1A"/>
                          </a:solidFill>
                          <a:latin typeface="Calibri"/>
                        </a:rPr>
                        <a:t>Total reference set median</a:t>
                      </a:r>
                    </a:p>
                  </a:txBody>
                  <a:tcPr marL="76200" marR="57150" marT="0" marB="0" anchor="ctr">
                    <a:lnL w="0">
                      <a:noFill/>
                    </a:lnL>
                    <a:lnR w="0">
                      <a:noFill/>
                    </a:lnR>
                    <a:lnT w="7143">
                      <a:noFill/>
                    </a:lnT>
                    <a:lnB w="0">
                      <a:noFill/>
                    </a:lnB>
                    <a:solidFill>
                      <a:srgbClr val="E8E2DA"/>
                    </a:solidFill>
                  </a:tcPr>
                </a:tc>
                <a:tc>
                  <a:txBody>
                    <a:bodyPr/>
                    <a:lstStyle/>
                    <a:p>
                      <a:endParaRPr sz="100"/>
                    </a:p>
                  </a:txBody>
                  <a:tcPr marL="0" marR="57150" marT="0" marB="0" anchor="ctr">
                    <a:lnL w="0">
                      <a:noFill/>
                    </a:lnL>
                    <a:lnR w="0">
                      <a:noFill/>
                    </a:lnR>
                    <a:lnT w="7143">
                      <a:noFill/>
                    </a:lnT>
                    <a:lnB w="0">
                      <a:noFill/>
                    </a:lnB>
                    <a:solidFill>
                      <a:srgbClr val="E8E2DA"/>
                    </a:solidFill>
                  </a:tcPr>
                </a:tc>
                <a:tc>
                  <a:txBody>
                    <a:bodyPr/>
                    <a:lstStyle/>
                    <a:p>
                      <a:endParaRPr sz="100"/>
                    </a:p>
                  </a:txBody>
                  <a:tcPr marL="0" marR="57150" marT="0" marB="0" anchor="ctr">
                    <a:lnL w="0">
                      <a:noFill/>
                    </a:lnL>
                    <a:lnR w="0">
                      <a:noFill/>
                    </a:lnR>
                    <a:lnT w="7143">
                      <a:noFill/>
                    </a:lnT>
                    <a:lnB w="0">
                      <a:noFill/>
                    </a:lnB>
                    <a:solidFill>
                      <a:srgbClr val="E8E2DA"/>
                    </a:solidFill>
                  </a:tcPr>
                </a:tc>
                <a:tc>
                  <a:txBody>
                    <a:bodyPr/>
                    <a:lstStyle/>
                    <a:p>
                      <a:pPr algn="r">
                        <a:lnSpc>
                          <a:spcPts val="900"/>
                        </a:lnSpc>
                      </a:pPr>
                      <a:r>
                        <a:rPr sz="750" b="1" i="0">
                          <a:solidFill>
                            <a:srgbClr val="1B1A1A"/>
                          </a:solidFill>
                          <a:latin typeface="Calibri"/>
                        </a:rPr>
                        <a:t>89%</a:t>
                      </a:r>
                    </a:p>
                  </a:txBody>
                  <a:tcPr marL="0" marR="57150" marT="0" marB="0" anchor="ctr">
                    <a:lnL w="0">
                      <a:noFill/>
                    </a:lnL>
                    <a:lnR w="0">
                      <a:noFill/>
                    </a:lnR>
                    <a:lnT w="7143">
                      <a:noFill/>
                    </a:lnT>
                    <a:lnB w="0">
                      <a:noFill/>
                    </a:lnB>
                    <a:solidFill>
                      <a:srgbClr val="E8E2DA"/>
                    </a:solidFill>
                  </a:tcPr>
                </a:tc>
                <a:tc>
                  <a:txBody>
                    <a:bodyPr/>
                    <a:lstStyle/>
                    <a:p>
                      <a:pPr algn="r">
                        <a:lnSpc>
                          <a:spcPts val="900"/>
                        </a:lnSpc>
                      </a:pPr>
                      <a:r>
                        <a:rPr sz="750" b="1" i="0">
                          <a:solidFill>
                            <a:srgbClr val="1B1A1A"/>
                          </a:solidFill>
                          <a:latin typeface="Calibri"/>
                        </a:rPr>
                        <a:t>+18.4%</a:t>
                      </a:r>
                    </a:p>
                  </a:txBody>
                  <a:tcPr marL="0" marR="57150" marT="0" marB="0" anchor="ctr">
                    <a:lnL w="0">
                      <a:noFill/>
                    </a:lnL>
                    <a:lnR w="0">
                      <a:noFill/>
                    </a:lnR>
                    <a:lnT w="7143">
                      <a:noFill/>
                    </a:lnT>
                    <a:lnB w="0">
                      <a:noFill/>
                    </a:lnB>
                    <a:solidFill>
                      <a:srgbClr val="E8E2DA"/>
                    </a:solidFill>
                  </a:tcPr>
                </a:tc>
                <a:tc>
                  <a:txBody>
                    <a:bodyPr/>
                    <a:lstStyle/>
                    <a:p>
                      <a:pPr algn="r">
                        <a:lnSpc>
                          <a:spcPts val="900"/>
                        </a:lnSpc>
                      </a:pPr>
                      <a:r>
                        <a:rPr sz="750" b="1" i="0">
                          <a:solidFill>
                            <a:srgbClr val="1B1A1A"/>
                          </a:solidFill>
                          <a:latin typeface="Calibri"/>
                        </a:rPr>
                        <a:t>8.4%</a:t>
                      </a:r>
                    </a:p>
                  </a:txBody>
                  <a:tcPr marL="0" marR="57150" marT="0" marB="0" anchor="ctr">
                    <a:lnL w="0">
                      <a:noFill/>
                    </a:lnL>
                    <a:lnR w="0">
                      <a:noFill/>
                    </a:lnR>
                    <a:lnT w="7143">
                      <a:noFill/>
                    </a:lnT>
                    <a:lnB w="0">
                      <a:noFill/>
                    </a:lnB>
                    <a:solidFill>
                      <a:srgbClr val="E8E2DA"/>
                    </a:solidFill>
                  </a:tcPr>
                </a:tc>
                <a:tc>
                  <a:txBody>
                    <a:bodyPr/>
                    <a:lstStyle/>
                    <a:p>
                      <a:pPr algn="r">
                        <a:lnSpc>
                          <a:spcPts val="900"/>
                        </a:lnSpc>
                      </a:pPr>
                      <a:r>
                        <a:rPr sz="750" b="1" i="0">
                          <a:solidFill>
                            <a:srgbClr val="1B1A1A"/>
                          </a:solidFill>
                          <a:latin typeface="Calibri"/>
                        </a:rPr>
                        <a:t>32.7%</a:t>
                      </a:r>
                    </a:p>
                  </a:txBody>
                  <a:tcPr marL="0" marR="57150" marT="0" marB="0" anchor="ctr">
                    <a:lnL w="0">
                      <a:noFill/>
                    </a:lnL>
                    <a:lnR w="0">
                      <a:noFill/>
                    </a:lnR>
                    <a:lnT w="7143">
                      <a:noFill/>
                    </a:lnT>
                    <a:lnB w="0">
                      <a:noFill/>
                    </a:lnB>
                    <a:solidFill>
                      <a:srgbClr val="E8E2DA"/>
                    </a:solidFill>
                  </a:tcPr>
                </a:tc>
                <a:tc>
                  <a:txBody>
                    <a:bodyPr/>
                    <a:lstStyle/>
                    <a:p>
                      <a:pPr algn="r">
                        <a:lnSpc>
                          <a:spcPts val="900"/>
                        </a:lnSpc>
                      </a:pPr>
                      <a:r>
                        <a:rPr sz="750" b="1" i="0">
                          <a:solidFill>
                            <a:srgbClr val="1B1A1A"/>
                          </a:solidFill>
                          <a:latin typeface="Calibri"/>
                        </a:rPr>
                        <a:t>15.2%</a:t>
                      </a:r>
                    </a:p>
                  </a:txBody>
                  <a:tcPr marL="0" marR="57150" marT="0" marB="0" anchor="ctr">
                    <a:lnL w="0">
                      <a:noFill/>
                    </a:lnL>
                    <a:lnR w="0">
                      <a:noFill/>
                    </a:lnR>
                    <a:lnT w="7143">
                      <a:noFill/>
                    </a:lnT>
                    <a:lnB w="0">
                      <a:noFill/>
                    </a:lnB>
                    <a:solidFill>
                      <a:srgbClr val="E8E2DA"/>
                    </a:solidFill>
                  </a:tcPr>
                </a:tc>
                <a:tc>
                  <a:txBody>
                    <a:bodyPr/>
                    <a:lstStyle/>
                    <a:p>
                      <a:pPr algn="r">
                        <a:lnSpc>
                          <a:spcPts val="900"/>
                        </a:lnSpc>
                      </a:pPr>
                      <a:r>
                        <a:rPr sz="750" b="1" i="0">
                          <a:solidFill>
                            <a:srgbClr val="1B1A1A"/>
                          </a:solidFill>
                          <a:latin typeface="Calibri"/>
                        </a:rPr>
                        <a:t>1.84x</a:t>
                      </a:r>
                    </a:p>
                  </a:txBody>
                  <a:tcPr marL="0" marR="57150" marT="0" marB="0" anchor="ctr">
                    <a:lnL w="0">
                      <a:noFill/>
                    </a:lnL>
                    <a:lnR w="0">
                      <a:noFill/>
                    </a:lnR>
                    <a:lnT w="7143">
                      <a:noFill/>
                    </a:lnT>
                    <a:lnB w="0">
                      <a:noFill/>
                    </a:lnB>
                    <a:solidFill>
                      <a:srgbClr val="E8E2DA"/>
                    </a:solidFill>
                  </a:tcPr>
                </a:tc>
                <a:tc>
                  <a:txBody>
                    <a:bodyPr/>
                    <a:lstStyle/>
                    <a:p>
                      <a:pPr algn="r">
                        <a:lnSpc>
                          <a:spcPts val="900"/>
                        </a:lnSpc>
                      </a:pPr>
                      <a:r>
                        <a:rPr sz="750" b="1" i="0">
                          <a:solidFill>
                            <a:srgbClr val="1B1A1A"/>
                          </a:solidFill>
                          <a:latin typeface="Calibri"/>
                        </a:rPr>
                        <a:t>14.0x</a:t>
                      </a:r>
                    </a:p>
                  </a:txBody>
                  <a:tcPr marL="0" marR="57150" marT="0" marB="0" anchor="ctr">
                    <a:lnL w="0">
                      <a:noFill/>
                    </a:lnL>
                    <a:lnR w="0">
                      <a:noFill/>
                    </a:lnR>
                    <a:lnT w="7143">
                      <a:noFill/>
                    </a:lnT>
                    <a:lnB w="0">
                      <a:noFill/>
                    </a:lnB>
                    <a:solidFill>
                      <a:srgbClr val="E8E2DA"/>
                    </a:solidFill>
                  </a:tcPr>
                </a:tc>
                <a:tc>
                  <a:txBody>
                    <a:bodyPr/>
                    <a:lstStyle/>
                    <a:p>
                      <a:pPr algn="r">
                        <a:lnSpc>
                          <a:spcPts val="900"/>
                        </a:lnSpc>
                      </a:pPr>
                      <a:r>
                        <a:rPr sz="750" b="1" i="0">
                          <a:solidFill>
                            <a:srgbClr val="1B1A1A"/>
                          </a:solidFill>
                          <a:latin typeface="Calibri"/>
                        </a:rPr>
                        <a:t>13.6x</a:t>
                      </a:r>
                    </a:p>
                  </a:txBody>
                  <a:tcPr marL="0" marR="76200" marT="0" marB="0" anchor="ctr">
                    <a:lnL w="0">
                      <a:noFill/>
                    </a:lnL>
                    <a:lnR w="0">
                      <a:noFill/>
                    </a:lnR>
                    <a:lnT w="7143">
                      <a:noFill/>
                    </a:lnT>
                    <a:lnB w="0">
                      <a:noFill/>
                    </a:lnB>
                    <a:solidFill>
                      <a:srgbClr val="E8E2DA"/>
                    </a:solidFill>
                  </a:tcPr>
                </a:tc>
                <a:extLst>
                  <a:ext uri="{0D108BD9-81ED-4DB2-BD59-A6C34878D82A}">
                    <a16:rowId xmlns:a16="http://schemas.microsoft.com/office/drawing/2014/main" val="10024"/>
                  </a:ext>
                </a:extLst>
              </a:tr>
            </a:tbl>
          </a:graphicData>
        </a:graphic>
      </p:graphicFrame>
      <p:sp>
        <p:nvSpPr>
          <p:cNvPr id="9" name="Rectangle 8"/>
          <p:cNvSpPr/>
          <p:nvPr/>
        </p:nvSpPr>
        <p:spPr>
          <a:xfrm>
            <a:off x="419100" y="7029450"/>
            <a:ext cx="9220200" cy="9525"/>
          </a:xfrm>
          <a:prstGeom prst="rect">
            <a:avLst/>
          </a:prstGeom>
          <a:solidFill>
            <a:srgbClr val="E3DCD3"/>
          </a:solidFill>
          <a:ln>
            <a:noFill/>
          </a:ln>
          <a:effectLst/>
        </p:spPr>
        <p:txBody>
          <a:bodyPr rtlCol="0" anchor="ctr"/>
          <a:lstStyle/>
          <a:p>
            <a:pPr algn="ctr"/>
            <a:endParaRPr/>
          </a:p>
        </p:txBody>
      </p:sp>
      <p:pic>
        <p:nvPicPr>
          <p:cNvPr id="10" name="Picture 9" descr="Benchmark International"/>
          <p:cNvPicPr>
            <a:picLocks noChangeAspect="1"/>
          </p:cNvPicPr>
          <p:nvPr/>
        </p:nvPicPr>
        <p:blipFill>
          <a:blip r:embed="rId2"/>
          <a:srcRect/>
          <a:stretch>
            <a:fillRect/>
          </a:stretch>
        </p:blipFill>
        <p:spPr>
          <a:xfrm>
            <a:off x="419100" y="7143750"/>
            <a:ext cx="914400" cy="171450"/>
          </a:xfrm>
          <a:prstGeom prst="rect">
            <a:avLst/>
          </a:prstGeom>
        </p:spPr>
      </p:pic>
      <p:sp>
        <p:nvSpPr>
          <p:cNvPr id="11" name="Text: Source: "/>
          <p:cNvSpPr txBox="1"/>
          <p:nvPr/>
        </p:nvSpPr>
        <p:spPr>
          <a:xfrm>
            <a:off x="1543050" y="7105650"/>
            <a:ext cx="7748588" cy="238125"/>
          </a:xfrm>
          <a:prstGeom prst="rect">
            <a:avLst/>
          </a:prstGeom>
          <a:noFill/>
        </p:spPr>
        <p:txBody>
          <a:bodyPr wrap="square" lIns="0" tIns="0" rIns="0" bIns="0" anchor="t">
            <a:spAutoFit/>
          </a:bodyPr>
          <a:lstStyle/>
          <a:p>
            <a:pPr algn="l">
              <a:lnSpc>
                <a:spcPts val="938"/>
              </a:lnSpc>
            </a:pPr>
            <a:r>
              <a:rPr sz="675" b="0" i="0" spc="8">
                <a:solidFill>
                  <a:srgbClr val="6F6A66"/>
                </a:solidFill>
                <a:latin typeface="Calibri"/>
              </a:rPr>
              <a:t>Source: </a:t>
            </a:r>
            <a:r>
              <a:rPr sz="675" b="0" i="0" spc="8">
                <a:solidFill>
                  <a:srgbClr val="8C6239"/>
                </a:solidFill>
                <a:latin typeface="Calibri"/>
                <a:hlinkClick r:id="rId3">
                  <a:extLst>
                    <a:ext uri="{A12FA001-AC4F-418D-AE19-62706E023703}">
                      <ahyp:hlinkClr xmlns:ahyp="http://schemas.microsoft.com/office/drawing/2018/hyperlinkcolor" val="tx"/>
                    </a:ext>
                  </a:extLst>
                </a:hlinkClick>
              </a:rPr>
              <a:t>StockAnalysis</a:t>
            </a:r>
            <a:r>
              <a:rPr sz="675" b="0" i="0" spc="8">
                <a:solidFill>
                  <a:srgbClr val="6F6A66"/>
                </a:solidFill>
                <a:latin typeface="Calibri"/>
              </a:rPr>
              <a:t>, retrieved October 7, 2026. LTM is the trailing twelve months. EBITDA is as reported. † Excluded from the EV to EBITDA medians because the multiple is above 60x, negative, or lacks eight quarters of history. n.a. marks a figure distorted by a divestiture.</a:t>
            </a:r>
          </a:p>
        </p:txBody>
      </p:sp>
      <p:sp>
        <p:nvSpPr>
          <p:cNvPr id="12" name="Text: 24"/>
          <p:cNvSpPr txBox="1"/>
          <p:nvPr/>
        </p:nvSpPr>
        <p:spPr>
          <a:xfrm>
            <a:off x="9509373" y="7162800"/>
            <a:ext cx="144214" cy="133350"/>
          </a:xfrm>
          <a:prstGeom prst="rect">
            <a:avLst/>
          </a:prstGeom>
          <a:noFill/>
        </p:spPr>
        <p:txBody>
          <a:bodyPr wrap="square" lIns="0" tIns="0" rIns="0" bIns="0" anchor="t">
            <a:spAutoFit/>
          </a:bodyPr>
          <a:lstStyle/>
          <a:p>
            <a:pPr algn="l">
              <a:lnSpc>
                <a:spcPts val="1050"/>
              </a:lnSpc>
            </a:pPr>
            <a:r>
              <a:rPr sz="712" b="1" i="0" spc="150">
                <a:solidFill>
                  <a:srgbClr val="1B1A1A"/>
                </a:solidFill>
                <a:latin typeface="Calibri"/>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57150" cy="7772400"/>
          </a:xfrm>
          <a:prstGeom prst="rect">
            <a:avLst/>
          </a:prstGeom>
          <a:solidFill>
            <a:srgbClr val="B68757"/>
          </a:solidFill>
          <a:ln>
            <a:noFill/>
          </a:ln>
          <a:effectLst/>
        </p:spPr>
        <p:txBody>
          <a:bodyPr rtlCol="0" anchor="ctr"/>
          <a:lstStyle/>
          <a:p>
            <a:pPr algn="ctr"/>
            <a:endParaRPr/>
          </a:p>
        </p:txBody>
      </p:sp>
      <p:sp>
        <p:nvSpPr>
          <p:cNvPr id="3" name="Text: HEALTHCARE | QUARTERLY SECTOR BRIE"/>
          <p:cNvSpPr txBox="1"/>
          <p:nvPr/>
        </p:nvSpPr>
        <p:spPr>
          <a:xfrm>
            <a:off x="419100" y="381000"/>
            <a:ext cx="2439591" cy="133350"/>
          </a:xfrm>
          <a:prstGeom prst="rect">
            <a:avLst/>
          </a:prstGeom>
          <a:noFill/>
        </p:spPr>
        <p:txBody>
          <a:bodyPr wrap="none" lIns="0" tIns="0" rIns="0" bIns="0" anchor="t">
            <a:spAutoFit/>
          </a:bodyPr>
          <a:lstStyle/>
          <a:p>
            <a:pPr algn="l">
              <a:lnSpc>
                <a:spcPts val="1050"/>
              </a:lnSpc>
            </a:pPr>
            <a:r>
              <a:rPr sz="675" b="1" i="0" spc="195">
                <a:solidFill>
                  <a:srgbClr val="8C6239"/>
                </a:solidFill>
                <a:latin typeface="Calibri"/>
              </a:rPr>
              <a:t>HEALTHCARE | QUARTERLY INDUSTRY REPORT</a:t>
            </a:r>
          </a:p>
        </p:txBody>
      </p:sp>
      <p:sp>
        <p:nvSpPr>
          <p:cNvPr id="4" name="Text: Q4 2026"/>
          <p:cNvSpPr txBox="1"/>
          <p:nvPr/>
        </p:nvSpPr>
        <p:spPr>
          <a:xfrm>
            <a:off x="9188648" y="361950"/>
            <a:ext cx="464939" cy="171450"/>
          </a:xfrm>
          <a:prstGeom prst="rect">
            <a:avLst/>
          </a:prstGeom>
          <a:noFill/>
        </p:spPr>
        <p:txBody>
          <a:bodyPr wrap="square" lIns="0" tIns="0" rIns="0" bIns="0" anchor="t">
            <a:spAutoFit/>
          </a:bodyPr>
          <a:lstStyle/>
          <a:p>
            <a:pPr algn="l">
              <a:lnSpc>
                <a:spcPts val="1350"/>
              </a:lnSpc>
            </a:pPr>
            <a:r>
              <a:rPr sz="900" b="0" i="0" spc="90">
                <a:solidFill>
                  <a:srgbClr val="6F6A66"/>
                </a:solidFill>
                <a:latin typeface="Cambria"/>
              </a:rPr>
              <a:t>Q4 2026</a:t>
            </a:r>
          </a:p>
        </p:txBody>
      </p:sp>
      <p:sp>
        <p:nvSpPr>
          <p:cNvPr id="5" name="Text: Sources"/>
          <p:cNvSpPr txBox="1"/>
          <p:nvPr/>
        </p:nvSpPr>
        <p:spPr>
          <a:xfrm>
            <a:off x="419100" y="523875"/>
            <a:ext cx="9234488" cy="323850"/>
          </a:xfrm>
          <a:prstGeom prst="rect">
            <a:avLst/>
          </a:prstGeom>
          <a:noFill/>
        </p:spPr>
        <p:txBody>
          <a:bodyPr wrap="square" lIns="0" tIns="0" rIns="0" bIns="0" anchor="t">
            <a:spAutoFit/>
          </a:bodyPr>
          <a:lstStyle/>
          <a:p>
            <a:pPr algn="l">
              <a:lnSpc>
                <a:spcPts val="2550"/>
              </a:lnSpc>
            </a:pPr>
            <a:r>
              <a:rPr sz="2025" b="1" i="0">
                <a:solidFill>
                  <a:srgbClr val="1B1A1A"/>
                </a:solidFill>
                <a:latin typeface="Cambria"/>
              </a:rPr>
              <a:t>Sources</a:t>
            </a:r>
          </a:p>
        </p:txBody>
      </p:sp>
      <p:sp>
        <p:nvSpPr>
          <p:cNvPr id="6" name="Text: The sources linked on each page, l"/>
          <p:cNvSpPr txBox="1"/>
          <p:nvPr/>
        </p:nvSpPr>
        <p:spPr>
          <a:xfrm>
            <a:off x="419100" y="885825"/>
            <a:ext cx="10215086" cy="180975"/>
          </a:xfrm>
          <a:prstGeom prst="rect">
            <a:avLst/>
          </a:prstGeom>
          <a:noFill/>
        </p:spPr>
        <p:txBody>
          <a:bodyPr wrap="square" lIns="0" tIns="0" rIns="0" bIns="0" anchor="t">
            <a:spAutoFit/>
          </a:bodyPr>
          <a:lstStyle/>
          <a:p>
            <a:pPr algn="l">
              <a:lnSpc>
                <a:spcPts val="1388"/>
              </a:lnSpc>
            </a:pPr>
            <a:r>
              <a:rPr sz="938" b="0" i="0" spc="15">
                <a:solidFill>
                  <a:srgbClr val="6F6A66"/>
                </a:solidFill>
                <a:latin typeface="Calibri"/>
              </a:rPr>
              <a:t>The sources linked on each page, listed by page with the link text used.</a:t>
            </a:r>
          </a:p>
        </p:txBody>
      </p:sp>
      <p:sp>
        <p:nvSpPr>
          <p:cNvPr id="7" name="Rectangle 6"/>
          <p:cNvSpPr/>
          <p:nvPr/>
        </p:nvSpPr>
        <p:spPr>
          <a:xfrm>
            <a:off x="419100" y="1143000"/>
            <a:ext cx="9220200" cy="9525"/>
          </a:xfrm>
          <a:prstGeom prst="rect">
            <a:avLst/>
          </a:prstGeom>
          <a:solidFill>
            <a:srgbClr val="E3DCD3"/>
          </a:solidFill>
          <a:ln>
            <a:noFill/>
          </a:ln>
          <a:effectLst/>
        </p:spPr>
        <p:txBody>
          <a:bodyPr rtlCol="0" anchor="ctr"/>
          <a:lstStyle/>
          <a:p>
            <a:pPr algn="ctr"/>
            <a:endParaRPr/>
          </a:p>
        </p:txBody>
      </p:sp>
      <p:sp>
        <p:nvSpPr>
          <p:cNvPr id="8" name="Text: 03 HEALTHCARE M&amp;A: STATE OF PLAY"/>
          <p:cNvSpPr txBox="1"/>
          <p:nvPr/>
        </p:nvSpPr>
        <p:spPr>
          <a:xfrm>
            <a:off x="419100" y="1238250"/>
            <a:ext cx="9220200" cy="3248025"/>
          </a:xfrm>
          <a:prstGeom prst="rect">
            <a:avLst/>
          </a:prstGeom>
          <a:noFill/>
        </p:spPr>
        <p:txBody>
          <a:bodyPr wrap="square" lIns="0" tIns="0" rIns="0" bIns="0" numCol="4" spcCol="209550" anchor="t">
            <a:spAutoFit/>
          </a:bodyPr>
          <a:lstStyle/>
          <a:p>
            <a:pPr algn="l">
              <a:lnSpc>
                <a:spcPts val="900"/>
              </a:lnSpc>
              <a:spcAft>
                <a:spcPts val="150"/>
              </a:spcAft>
            </a:pPr>
            <a:r>
              <a:rPr sz="600" b="1" i="0" spc="120" dirty="0">
                <a:solidFill>
                  <a:srgbClr val="1B1A1A"/>
                </a:solidFill>
                <a:latin typeface="Calibri"/>
              </a:rPr>
              <a:t>03 HEALTHCARE M&amp;A: STATE OF PLAY</a:t>
            </a:r>
          </a:p>
          <a:p>
            <a:pPr algn="l">
              <a:lnSpc>
                <a:spcPts val="1050"/>
              </a:lnSpc>
              <a:spcAft>
                <a:spcPts val="819"/>
              </a:spcAft>
            </a:pPr>
            <a:r>
              <a:rPr sz="712" b="0" i="0" spc="4" dirty="0" err="1">
                <a:solidFill>
                  <a:srgbClr val="8C6239"/>
                </a:solidFill>
                <a:latin typeface="Calibri"/>
                <a:hlinkClick r:id="rId2">
                  <a:extLst>
                    <a:ext uri="{A12FA001-AC4F-418D-AE19-62706E023703}">
                      <ahyp:hlinkClr xmlns:ahyp="http://schemas.microsoft.com/office/drawing/2018/hyperlinkcolor" val="tx"/>
                    </a:ext>
                  </a:extLst>
                </a:hlinkClick>
              </a:rPr>
              <a:t>PitchBook</a:t>
            </a:r>
            <a:r>
              <a:rPr sz="712" b="0" i="0" spc="4" dirty="0">
                <a:solidFill>
                  <a:srgbClr val="8C6239"/>
                </a:solidFill>
                <a:latin typeface="Calibri"/>
                <a:hlinkClick r:id="rId2">
                  <a:extLst>
                    <a:ext uri="{A12FA001-AC4F-418D-AE19-62706E023703}">
                      <ahyp:hlinkClr xmlns:ahyp="http://schemas.microsoft.com/office/drawing/2018/hyperlinkcolor" val="tx"/>
                    </a:ext>
                  </a:extLst>
                </a:hlinkClick>
              </a:rPr>
              <a:t> via Fierce Healthcare</a:t>
            </a:r>
            <a:r>
              <a:rPr sz="712" b="0" i="0" spc="4" dirty="0">
                <a:solidFill>
                  <a:srgbClr val="333231"/>
                </a:solidFill>
                <a:latin typeface="Calibri"/>
              </a:rPr>
              <a:t>; </a:t>
            </a:r>
            <a:r>
              <a:rPr sz="712" b="0" i="0" spc="4" dirty="0">
                <a:solidFill>
                  <a:srgbClr val="8C6239"/>
                </a:solidFill>
                <a:latin typeface="Calibri"/>
                <a:hlinkClick r:id="rId3">
                  <a:extLst>
                    <a:ext uri="{A12FA001-AC4F-418D-AE19-62706E023703}">
                      <ahyp:hlinkClr xmlns:ahyp="http://schemas.microsoft.com/office/drawing/2018/hyperlinkcolor" val="tx"/>
                    </a:ext>
                  </a:extLst>
                </a:hlinkClick>
              </a:rPr>
              <a:t>PwC via MedTech Dive</a:t>
            </a:r>
            <a:r>
              <a:rPr sz="712" b="0" i="0" spc="4" dirty="0">
                <a:solidFill>
                  <a:srgbClr val="333231"/>
                </a:solidFill>
                <a:latin typeface="Calibri"/>
              </a:rPr>
              <a:t>; </a:t>
            </a:r>
            <a:r>
              <a:rPr sz="712" b="0" i="0" spc="4" dirty="0">
                <a:solidFill>
                  <a:srgbClr val="8C6239"/>
                </a:solidFill>
                <a:latin typeface="Calibri"/>
                <a:hlinkClick r:id="rId4">
                  <a:extLst>
                    <a:ext uri="{A12FA001-AC4F-418D-AE19-62706E023703}">
                      <ahyp:hlinkClr xmlns:ahyp="http://schemas.microsoft.com/office/drawing/2018/hyperlinkcolor" val="tx"/>
                    </a:ext>
                  </a:extLst>
                </a:hlinkClick>
              </a:rPr>
              <a:t>Kaufman Hall</a:t>
            </a:r>
            <a:r>
              <a:rPr sz="712" b="0" i="0" spc="4" dirty="0">
                <a:solidFill>
                  <a:srgbClr val="333231"/>
                </a:solidFill>
                <a:latin typeface="Calibri"/>
              </a:rPr>
              <a:t>; </a:t>
            </a:r>
            <a:r>
              <a:rPr sz="712" b="0" i="0" spc="4" dirty="0">
                <a:solidFill>
                  <a:srgbClr val="8C6239"/>
                </a:solidFill>
                <a:latin typeface="Calibri"/>
                <a:hlinkClick r:id="rId5">
                  <a:extLst>
                    <a:ext uri="{A12FA001-AC4F-418D-AE19-62706E023703}">
                      <ahyp:hlinkClr xmlns:ahyp="http://schemas.microsoft.com/office/drawing/2018/hyperlinkcolor" val="tx"/>
                    </a:ext>
                  </a:extLst>
                </a:hlinkClick>
              </a:rPr>
              <a:t>IQVIA</a:t>
            </a:r>
            <a:r>
              <a:rPr sz="712" b="0" i="0" spc="4" dirty="0">
                <a:solidFill>
                  <a:srgbClr val="333231"/>
                </a:solidFill>
                <a:latin typeface="Calibri"/>
              </a:rPr>
              <a:t>; </a:t>
            </a:r>
            <a:r>
              <a:rPr sz="712" b="0" i="0" spc="4" dirty="0">
                <a:solidFill>
                  <a:srgbClr val="8C6239"/>
                </a:solidFill>
                <a:latin typeface="Calibri"/>
                <a:hlinkClick r:id="rId6">
                  <a:extLst>
                    <a:ext uri="{A12FA001-AC4F-418D-AE19-62706E023703}">
                      <ahyp:hlinkClr xmlns:ahyp="http://schemas.microsoft.com/office/drawing/2018/hyperlinkcolor" val="tx"/>
                    </a:ext>
                  </a:extLst>
                </a:hlinkClick>
              </a:rPr>
              <a:t>CMS</a:t>
            </a:r>
            <a:r>
              <a:rPr sz="712" b="0" i="0" spc="4" dirty="0">
                <a:solidFill>
                  <a:srgbClr val="333231"/>
                </a:solidFill>
                <a:latin typeface="Calibri"/>
              </a:rPr>
              <a:t>; </a:t>
            </a:r>
            <a:r>
              <a:rPr sz="712" b="0" i="0" spc="4" dirty="0">
                <a:solidFill>
                  <a:srgbClr val="8C6239"/>
                </a:solidFill>
                <a:latin typeface="Calibri"/>
                <a:hlinkClick r:id="rId7">
                  <a:extLst>
                    <a:ext uri="{A12FA001-AC4F-418D-AE19-62706E023703}">
                      <ahyp:hlinkClr xmlns:ahyp="http://schemas.microsoft.com/office/drawing/2018/hyperlinkcolor" val="tx"/>
                    </a:ext>
                  </a:extLst>
                </a:hlinkClick>
              </a:rPr>
              <a:t>CMS outpatient rule</a:t>
            </a:r>
            <a:r>
              <a:rPr sz="712" b="0" i="0" spc="4" dirty="0">
                <a:solidFill>
                  <a:srgbClr val="333231"/>
                </a:solidFill>
                <a:latin typeface="Calibri"/>
              </a:rPr>
              <a:t>; </a:t>
            </a:r>
            <a:r>
              <a:rPr sz="712" b="0" i="0" spc="4" dirty="0">
                <a:solidFill>
                  <a:srgbClr val="8C6239"/>
                </a:solidFill>
                <a:latin typeface="Calibri"/>
                <a:hlinkClick r:id="rId8">
                  <a:extLst>
                    <a:ext uri="{A12FA001-AC4F-418D-AE19-62706E023703}">
                      <ahyp:hlinkClr xmlns:ahyp="http://schemas.microsoft.com/office/drawing/2018/hyperlinkcolor" val="tx"/>
                    </a:ext>
                  </a:extLst>
                </a:hlinkClick>
              </a:rPr>
              <a:t>CMS home health</a:t>
            </a:r>
            <a:r>
              <a:rPr sz="712" b="0" i="0" spc="4" dirty="0">
                <a:solidFill>
                  <a:srgbClr val="333231"/>
                </a:solidFill>
                <a:latin typeface="Calibri"/>
              </a:rPr>
              <a:t>; </a:t>
            </a:r>
            <a:r>
              <a:rPr sz="712" b="0" i="0" spc="4" dirty="0">
                <a:solidFill>
                  <a:srgbClr val="8C6239"/>
                </a:solidFill>
                <a:latin typeface="Calibri"/>
                <a:hlinkClick r:id="rId9">
                  <a:extLst>
                    <a:ext uri="{A12FA001-AC4F-418D-AE19-62706E023703}">
                      <ahyp:hlinkClr xmlns:ahyp="http://schemas.microsoft.com/office/drawing/2018/hyperlinkcolor" val="tx"/>
                    </a:ext>
                  </a:extLst>
                </a:hlinkClick>
              </a:rPr>
              <a:t>CMS rate notice</a:t>
            </a:r>
            <a:r>
              <a:rPr sz="712" b="0" i="0" spc="4" dirty="0">
                <a:solidFill>
                  <a:srgbClr val="333231"/>
                </a:solidFill>
                <a:latin typeface="Calibri"/>
              </a:rPr>
              <a:t>; </a:t>
            </a:r>
            <a:r>
              <a:rPr sz="712" b="0" i="0" spc="4" dirty="0">
                <a:solidFill>
                  <a:srgbClr val="8C6239"/>
                </a:solidFill>
                <a:latin typeface="Calibri"/>
                <a:hlinkClick r:id="rId10">
                  <a:extLst>
                    <a:ext uri="{A12FA001-AC4F-418D-AE19-62706E023703}">
                      <ahyp:hlinkClr xmlns:ahyp="http://schemas.microsoft.com/office/drawing/2018/hyperlinkcolor" val="tx"/>
                    </a:ext>
                  </a:extLst>
                </a:hlinkClick>
              </a:rPr>
              <a:t>Medicaid.gov</a:t>
            </a:r>
            <a:r>
              <a:rPr sz="712" b="0" i="0" spc="4" dirty="0">
                <a:solidFill>
                  <a:srgbClr val="333231"/>
                </a:solidFill>
                <a:latin typeface="Calibri"/>
              </a:rPr>
              <a:t>; </a:t>
            </a:r>
            <a:r>
              <a:rPr sz="712" b="0" i="0" spc="4" dirty="0">
                <a:solidFill>
                  <a:srgbClr val="8C6239"/>
                </a:solidFill>
                <a:latin typeface="Calibri"/>
                <a:hlinkClick r:id="rId11">
                  <a:extLst>
                    <a:ext uri="{A12FA001-AC4F-418D-AE19-62706E023703}">
                      <ahyp:hlinkClr xmlns:ahyp="http://schemas.microsoft.com/office/drawing/2018/hyperlinkcolor" val="tx"/>
                    </a:ext>
                  </a:extLst>
                </a:hlinkClick>
              </a:rPr>
              <a:t>Federal Reserve</a:t>
            </a:r>
            <a:r>
              <a:rPr sz="712" b="0" i="0" spc="4" dirty="0">
                <a:solidFill>
                  <a:srgbClr val="333231"/>
                </a:solidFill>
                <a:latin typeface="Calibri"/>
              </a:rPr>
              <a:t>; </a:t>
            </a:r>
            <a:r>
              <a:rPr sz="712" b="0" i="0" spc="4" dirty="0">
                <a:solidFill>
                  <a:srgbClr val="8C6239"/>
                </a:solidFill>
                <a:latin typeface="Calibri"/>
                <a:hlinkClick r:id="rId12">
                  <a:extLst>
                    <a:ext uri="{A12FA001-AC4F-418D-AE19-62706E023703}">
                      <ahyp:hlinkClr xmlns:ahyp="http://schemas.microsoft.com/office/drawing/2018/hyperlinkcolor" val="tx"/>
                    </a:ext>
                  </a:extLst>
                </a:hlinkClick>
              </a:rPr>
              <a:t>US Treasury</a:t>
            </a:r>
            <a:r>
              <a:rPr sz="712" b="0" i="0" spc="4" dirty="0">
                <a:solidFill>
                  <a:srgbClr val="333231"/>
                </a:solidFill>
                <a:latin typeface="Calibri"/>
              </a:rPr>
              <a:t>; </a:t>
            </a:r>
            <a:r>
              <a:rPr sz="712" b="0" i="0" spc="4" dirty="0" err="1">
                <a:solidFill>
                  <a:srgbClr val="8C6239"/>
                </a:solidFill>
                <a:latin typeface="Calibri"/>
                <a:hlinkClick r:id="rId13">
                  <a:extLst>
                    <a:ext uri="{A12FA001-AC4F-418D-AE19-62706E023703}">
                      <ahyp:hlinkClr xmlns:ahyp="http://schemas.microsoft.com/office/drawing/2018/hyperlinkcolor" val="tx"/>
                    </a:ext>
                  </a:extLst>
                </a:hlinkClick>
              </a:rPr>
              <a:t>PitchBook</a:t>
            </a:r>
            <a:r>
              <a:rPr sz="712" b="0" i="0" spc="4" dirty="0">
                <a:solidFill>
                  <a:srgbClr val="333231"/>
                </a:solidFill>
                <a:latin typeface="Calibri"/>
              </a:rPr>
              <a:t>; </a:t>
            </a:r>
            <a:r>
              <a:rPr sz="712" b="0" i="0" spc="4" dirty="0">
                <a:solidFill>
                  <a:srgbClr val="8C6239"/>
                </a:solidFill>
                <a:latin typeface="Calibri"/>
                <a:hlinkClick r:id="rId14">
                  <a:extLst>
                    <a:ext uri="{A12FA001-AC4F-418D-AE19-62706E023703}">
                      <ahyp:hlinkClr xmlns:ahyp="http://schemas.microsoft.com/office/drawing/2018/hyperlinkcolor" val="tx"/>
                    </a:ext>
                  </a:extLst>
                </a:hlinkClick>
              </a:rPr>
              <a:t>GF Data via ACG</a:t>
            </a:r>
            <a:r>
              <a:rPr sz="712" b="0" i="0" spc="4" dirty="0">
                <a:solidFill>
                  <a:srgbClr val="333231"/>
                </a:solidFill>
                <a:latin typeface="Calibri"/>
              </a:rPr>
              <a:t>; </a:t>
            </a:r>
            <a:r>
              <a:rPr sz="712" b="0" i="0" spc="4" dirty="0">
                <a:solidFill>
                  <a:srgbClr val="8C6239"/>
                </a:solidFill>
                <a:latin typeface="Calibri"/>
                <a:hlinkClick r:id="rId15">
                  <a:extLst>
                    <a:ext uri="{A12FA001-AC4F-418D-AE19-62706E023703}">
                      <ahyp:hlinkClr xmlns:ahyp="http://schemas.microsoft.com/office/drawing/2018/hyperlinkcolor" val="tx"/>
                    </a:ext>
                  </a:extLst>
                </a:hlinkClick>
              </a:rPr>
              <a:t>Altarum</a:t>
            </a:r>
            <a:r>
              <a:rPr sz="712" b="0" i="0" spc="4" dirty="0">
                <a:solidFill>
                  <a:srgbClr val="333231"/>
                </a:solidFill>
                <a:latin typeface="Calibri"/>
              </a:rPr>
              <a:t>; </a:t>
            </a:r>
            <a:r>
              <a:rPr sz="712" b="0" i="0" spc="4" dirty="0">
                <a:solidFill>
                  <a:srgbClr val="8C6239"/>
                </a:solidFill>
                <a:latin typeface="Calibri"/>
                <a:hlinkClick r:id="rId16">
                  <a:extLst>
                    <a:ext uri="{A12FA001-AC4F-418D-AE19-62706E023703}">
                      <ahyp:hlinkClr xmlns:ahyp="http://schemas.microsoft.com/office/drawing/2018/hyperlinkcolor" val="tx"/>
                    </a:ext>
                  </a:extLst>
                </a:hlinkClick>
              </a:rPr>
              <a:t>CMS</a:t>
            </a:r>
            <a:r>
              <a:rPr sz="712" b="0" i="0" spc="4" dirty="0">
                <a:solidFill>
                  <a:srgbClr val="333231"/>
                </a:solidFill>
                <a:latin typeface="Calibri"/>
              </a:rPr>
              <a:t>; </a:t>
            </a:r>
            <a:r>
              <a:rPr sz="712" b="0" i="0" spc="4" dirty="0">
                <a:solidFill>
                  <a:srgbClr val="8C6239"/>
                </a:solidFill>
                <a:latin typeface="Calibri"/>
                <a:hlinkClick r:id="rId17">
                  <a:extLst>
                    <a:ext uri="{A12FA001-AC4F-418D-AE19-62706E023703}">
                      <ahyp:hlinkClr xmlns:ahyp="http://schemas.microsoft.com/office/drawing/2018/hyperlinkcolor" val="tx"/>
                    </a:ext>
                  </a:extLst>
                </a:hlinkClick>
              </a:rPr>
              <a:t>Bureau of Labor Statistics</a:t>
            </a:r>
            <a:r>
              <a:rPr sz="712" b="0" i="0" spc="4" dirty="0">
                <a:solidFill>
                  <a:srgbClr val="333231"/>
                </a:solidFill>
                <a:latin typeface="Calibri"/>
              </a:rPr>
              <a:t>; </a:t>
            </a:r>
            <a:r>
              <a:rPr sz="712" b="0" i="0" spc="4" dirty="0">
                <a:solidFill>
                  <a:srgbClr val="8C6239"/>
                </a:solidFill>
                <a:latin typeface="Calibri"/>
                <a:hlinkClick r:id="rId18">
                  <a:extLst>
                    <a:ext uri="{A12FA001-AC4F-418D-AE19-62706E023703}">
                      <ahyp:hlinkClr xmlns:ahyp="http://schemas.microsoft.com/office/drawing/2018/hyperlinkcolor" val="tx"/>
                    </a:ext>
                  </a:extLst>
                </a:hlinkClick>
              </a:rPr>
              <a:t>White House proclamation</a:t>
            </a:r>
            <a:r>
              <a:rPr sz="712" b="0" i="0" spc="4" dirty="0">
                <a:solidFill>
                  <a:srgbClr val="333231"/>
                </a:solidFill>
                <a:latin typeface="Calibri"/>
              </a:rPr>
              <a:t>; </a:t>
            </a:r>
            <a:r>
              <a:rPr sz="712" b="0" i="0" spc="4" dirty="0" err="1">
                <a:solidFill>
                  <a:srgbClr val="8C6239"/>
                </a:solidFill>
                <a:latin typeface="Calibri"/>
                <a:hlinkClick r:id="rId19">
                  <a:extLst>
                    <a:ext uri="{A12FA001-AC4F-418D-AE19-62706E023703}">
                      <ahyp:hlinkClr xmlns:ahyp="http://schemas.microsoft.com/office/drawing/2018/hyperlinkcolor" val="tx"/>
                    </a:ext>
                  </a:extLst>
                </a:hlinkClick>
              </a:rPr>
              <a:t>iData</a:t>
            </a:r>
            <a:r>
              <a:rPr sz="712" b="0" i="0" spc="4" dirty="0">
                <a:solidFill>
                  <a:srgbClr val="8C6239"/>
                </a:solidFill>
                <a:latin typeface="Calibri"/>
                <a:hlinkClick r:id="rId19">
                  <a:extLst>
                    <a:ext uri="{A12FA001-AC4F-418D-AE19-62706E023703}">
                      <ahyp:hlinkClr xmlns:ahyp="http://schemas.microsoft.com/office/drawing/2018/hyperlinkcolor" val="tx"/>
                    </a:ext>
                  </a:extLst>
                </a:hlinkClick>
              </a:rPr>
              <a:t> Research</a:t>
            </a:r>
            <a:r>
              <a:rPr sz="712" b="0" i="0" spc="4" dirty="0">
                <a:solidFill>
                  <a:srgbClr val="333231"/>
                </a:solidFill>
                <a:latin typeface="Calibri"/>
              </a:rPr>
              <a:t>; </a:t>
            </a:r>
            <a:r>
              <a:rPr sz="712" b="0" i="0" spc="4" dirty="0">
                <a:solidFill>
                  <a:srgbClr val="8C6239"/>
                </a:solidFill>
                <a:latin typeface="Calibri"/>
                <a:hlinkClick r:id="rId20">
                  <a:extLst>
                    <a:ext uri="{A12FA001-AC4F-418D-AE19-62706E023703}">
                      <ahyp:hlinkClr xmlns:ahyp="http://schemas.microsoft.com/office/drawing/2018/hyperlinkcolor" val="tx"/>
                    </a:ext>
                  </a:extLst>
                </a:hlinkClick>
              </a:rPr>
              <a:t>Nixon Peabody</a:t>
            </a:r>
            <a:r>
              <a:rPr sz="712" b="0" i="0" spc="4" dirty="0">
                <a:solidFill>
                  <a:srgbClr val="333231"/>
                </a:solidFill>
                <a:latin typeface="Calibri"/>
              </a:rPr>
              <a:t>; </a:t>
            </a:r>
            <a:r>
              <a:rPr sz="712" b="0" i="0" spc="4" dirty="0" err="1">
                <a:solidFill>
                  <a:srgbClr val="8C6239"/>
                </a:solidFill>
                <a:latin typeface="Calibri"/>
                <a:hlinkClick r:id="rId21">
                  <a:extLst>
                    <a:ext uri="{A12FA001-AC4F-418D-AE19-62706E023703}">
                      <ahyp:hlinkClr xmlns:ahyp="http://schemas.microsoft.com/office/drawing/2018/hyperlinkcolor" val="tx"/>
                    </a:ext>
                  </a:extLst>
                </a:hlinkClick>
              </a:rPr>
              <a:t>BakerHostetler</a:t>
            </a:r>
            <a:r>
              <a:rPr sz="712" b="0" i="0" spc="4" dirty="0">
                <a:solidFill>
                  <a:srgbClr val="333231"/>
                </a:solidFill>
                <a:latin typeface="Calibri"/>
              </a:rPr>
              <a:t>; </a:t>
            </a:r>
            <a:r>
              <a:rPr sz="712" b="0" i="0" spc="4" dirty="0" err="1">
                <a:solidFill>
                  <a:srgbClr val="8C6239"/>
                </a:solidFill>
                <a:latin typeface="Calibri"/>
                <a:hlinkClick r:id="rId22">
                  <a:extLst>
                    <a:ext uri="{A12FA001-AC4F-418D-AE19-62706E023703}">
                      <ahyp:hlinkClr xmlns:ahyp="http://schemas.microsoft.com/office/drawing/2018/hyperlinkcolor" val="tx"/>
                    </a:ext>
                  </a:extLst>
                </a:hlinkClick>
              </a:rPr>
              <a:t>PitchBook</a:t>
            </a:r>
            <a:r>
              <a:rPr sz="712" b="0" i="0" spc="4" dirty="0">
                <a:solidFill>
                  <a:srgbClr val="8C6239"/>
                </a:solidFill>
                <a:latin typeface="Calibri"/>
                <a:hlinkClick r:id="rId22">
                  <a:extLst>
                    <a:ext uri="{A12FA001-AC4F-418D-AE19-62706E023703}">
                      <ahyp:hlinkClr xmlns:ahyp="http://schemas.microsoft.com/office/drawing/2018/hyperlinkcolor" val="tx"/>
                    </a:ext>
                  </a:extLst>
                </a:hlinkClick>
              </a:rPr>
              <a:t> via Becker's ASC Review</a:t>
            </a:r>
            <a:r>
              <a:rPr sz="712" b="0" i="0" spc="4" dirty="0">
                <a:solidFill>
                  <a:srgbClr val="333231"/>
                </a:solidFill>
                <a:latin typeface="Calibri"/>
              </a:rPr>
              <a:t>; </a:t>
            </a:r>
            <a:r>
              <a:rPr sz="712" b="0" i="0" spc="4" dirty="0">
                <a:solidFill>
                  <a:srgbClr val="8C6239"/>
                </a:solidFill>
                <a:latin typeface="Calibri"/>
                <a:hlinkClick r:id="rId23">
                  <a:extLst>
                    <a:ext uri="{A12FA001-AC4F-418D-AE19-62706E023703}">
                      <ahyp:hlinkClr xmlns:ahyp="http://schemas.microsoft.com/office/drawing/2018/hyperlinkcolor" val="tx"/>
                    </a:ext>
                  </a:extLst>
                </a:hlinkClick>
              </a:rPr>
              <a:t>IBBA and M&amp;A Source</a:t>
            </a:r>
          </a:p>
          <a:p>
            <a:pPr algn="l">
              <a:lnSpc>
                <a:spcPts val="900"/>
              </a:lnSpc>
              <a:spcAft>
                <a:spcPts val="150"/>
              </a:spcAft>
            </a:pPr>
            <a:r>
              <a:rPr sz="600" b="1" i="0" spc="120" dirty="0">
                <a:solidFill>
                  <a:srgbClr val="1B1A1A"/>
                </a:solidFill>
                <a:latin typeface="Calibri"/>
              </a:rPr>
              <a:t>04 HISTORICAL MARKET CONTEXT</a:t>
            </a:r>
          </a:p>
          <a:p>
            <a:pPr algn="l">
              <a:lnSpc>
                <a:spcPts val="1050"/>
              </a:lnSpc>
              <a:spcAft>
                <a:spcPts val="819"/>
              </a:spcAft>
            </a:pPr>
            <a:r>
              <a:rPr sz="712" b="0" i="0" spc="4" dirty="0">
                <a:solidFill>
                  <a:srgbClr val="8C6239"/>
                </a:solidFill>
                <a:latin typeface="Calibri"/>
                <a:hlinkClick r:id="rId16">
                  <a:extLst>
                    <a:ext uri="{A12FA001-AC4F-418D-AE19-62706E023703}">
                      <ahyp:hlinkClr xmlns:ahyp="http://schemas.microsoft.com/office/drawing/2018/hyperlinkcolor" val="tx"/>
                    </a:ext>
                  </a:extLst>
                </a:hlinkClick>
              </a:rPr>
              <a:t>CMS</a:t>
            </a:r>
            <a:r>
              <a:rPr sz="712" b="0" i="0" spc="4" dirty="0">
                <a:solidFill>
                  <a:srgbClr val="333231"/>
                </a:solidFill>
                <a:latin typeface="Calibri"/>
              </a:rPr>
              <a:t>; </a:t>
            </a:r>
            <a:r>
              <a:rPr sz="712" b="0" i="0" spc="4" dirty="0">
                <a:solidFill>
                  <a:srgbClr val="8C6239"/>
                </a:solidFill>
                <a:latin typeface="Calibri"/>
                <a:hlinkClick r:id="rId24">
                  <a:extLst>
                    <a:ext uri="{A12FA001-AC4F-418D-AE19-62706E023703}">
                      <ahyp:hlinkClr xmlns:ahyp="http://schemas.microsoft.com/office/drawing/2018/hyperlinkcolor" val="tx"/>
                    </a:ext>
                  </a:extLst>
                </a:hlinkClick>
              </a:rPr>
              <a:t>Committee for a Responsible Federal Budget</a:t>
            </a:r>
            <a:r>
              <a:rPr sz="712" b="0" i="0" spc="4" dirty="0">
                <a:solidFill>
                  <a:srgbClr val="333231"/>
                </a:solidFill>
                <a:latin typeface="Calibri"/>
              </a:rPr>
              <a:t>; </a:t>
            </a:r>
            <a:r>
              <a:rPr sz="712" b="0" i="0" spc="4" dirty="0">
                <a:solidFill>
                  <a:srgbClr val="8C6239"/>
                </a:solidFill>
                <a:latin typeface="Calibri"/>
                <a:hlinkClick r:id="rId25">
                  <a:extLst>
                    <a:ext uri="{A12FA001-AC4F-418D-AE19-62706E023703}">
                      <ahyp:hlinkClr xmlns:ahyp="http://schemas.microsoft.com/office/drawing/2018/hyperlinkcolor" val="tx"/>
                    </a:ext>
                  </a:extLst>
                </a:hlinkClick>
              </a:rPr>
              <a:t>Kaufman Hall</a:t>
            </a:r>
            <a:r>
              <a:rPr sz="712" b="0" i="0" spc="4" dirty="0">
                <a:solidFill>
                  <a:srgbClr val="333231"/>
                </a:solidFill>
                <a:latin typeface="Calibri"/>
              </a:rPr>
              <a:t>; </a:t>
            </a:r>
            <a:r>
              <a:rPr sz="712" b="0" i="0" spc="4" dirty="0">
                <a:solidFill>
                  <a:srgbClr val="8C6239"/>
                </a:solidFill>
                <a:latin typeface="Calibri"/>
                <a:hlinkClick r:id="rId26">
                  <a:extLst>
                    <a:ext uri="{A12FA001-AC4F-418D-AE19-62706E023703}">
                      <ahyp:hlinkClr xmlns:ahyp="http://schemas.microsoft.com/office/drawing/2018/hyperlinkcolor" val="tx"/>
                    </a:ext>
                  </a:extLst>
                </a:hlinkClick>
              </a:rPr>
              <a:t>Kaufman Hall, first quarter</a:t>
            </a:r>
            <a:r>
              <a:rPr sz="712" b="0" i="0" spc="4" dirty="0">
                <a:solidFill>
                  <a:srgbClr val="333231"/>
                </a:solidFill>
                <a:latin typeface="Calibri"/>
              </a:rPr>
              <a:t>; </a:t>
            </a:r>
            <a:r>
              <a:rPr sz="712" b="0" i="0" spc="4" dirty="0">
                <a:solidFill>
                  <a:srgbClr val="8C6239"/>
                </a:solidFill>
                <a:latin typeface="Calibri"/>
                <a:hlinkClick r:id="rId4">
                  <a:extLst>
                    <a:ext uri="{A12FA001-AC4F-418D-AE19-62706E023703}">
                      <ahyp:hlinkClr xmlns:ahyp="http://schemas.microsoft.com/office/drawing/2018/hyperlinkcolor" val="tx"/>
                    </a:ext>
                  </a:extLst>
                </a:hlinkClick>
              </a:rPr>
              <a:t>second quarter</a:t>
            </a:r>
            <a:r>
              <a:rPr sz="712" b="0" i="0" spc="4" dirty="0">
                <a:solidFill>
                  <a:srgbClr val="333231"/>
                </a:solidFill>
                <a:latin typeface="Calibri"/>
              </a:rPr>
              <a:t>; </a:t>
            </a:r>
            <a:r>
              <a:rPr sz="712" b="0" i="0" spc="4" dirty="0" err="1">
                <a:solidFill>
                  <a:srgbClr val="8C6239"/>
                </a:solidFill>
                <a:latin typeface="Calibri"/>
                <a:hlinkClick r:id="rId27">
                  <a:extLst>
                    <a:ext uri="{A12FA001-AC4F-418D-AE19-62706E023703}">
                      <ahyp:hlinkClr xmlns:ahyp="http://schemas.microsoft.com/office/drawing/2018/hyperlinkcolor" val="tx"/>
                    </a:ext>
                  </a:extLst>
                </a:hlinkClick>
              </a:rPr>
              <a:t>PitchBook</a:t>
            </a:r>
            <a:r>
              <a:rPr sz="712" b="0" i="0" spc="4" dirty="0">
                <a:solidFill>
                  <a:srgbClr val="333231"/>
                </a:solidFill>
                <a:latin typeface="Calibri"/>
              </a:rPr>
              <a:t>; </a:t>
            </a:r>
            <a:r>
              <a:rPr sz="712" b="0" i="0" spc="4" dirty="0">
                <a:solidFill>
                  <a:srgbClr val="8C6239"/>
                </a:solidFill>
                <a:latin typeface="Calibri"/>
                <a:hlinkClick r:id="rId28">
                  <a:extLst>
                    <a:ext uri="{A12FA001-AC4F-418D-AE19-62706E023703}">
                      <ahyp:hlinkClr xmlns:ahyp="http://schemas.microsoft.com/office/drawing/2018/hyperlinkcolor" val="tx"/>
                    </a:ext>
                  </a:extLst>
                </a:hlinkClick>
              </a:rPr>
              <a:t>2012 to 2022</a:t>
            </a:r>
          </a:p>
          <a:p>
            <a:pPr algn="l">
              <a:lnSpc>
                <a:spcPts val="900"/>
              </a:lnSpc>
              <a:spcAft>
                <a:spcPts val="150"/>
              </a:spcAft>
            </a:pPr>
            <a:r>
              <a:rPr sz="600" b="1" i="0" spc="120" dirty="0">
                <a:solidFill>
                  <a:srgbClr val="1B1A1A"/>
                </a:solidFill>
                <a:latin typeface="Calibri"/>
              </a:rPr>
              <a:t>05 STRONG FUNDAMENTALS SUPPORT CONTINUED ACTIVITY</a:t>
            </a:r>
          </a:p>
          <a:p>
            <a:pPr algn="l">
              <a:lnSpc>
                <a:spcPts val="1050"/>
              </a:lnSpc>
              <a:spcAft>
                <a:spcPts val="819"/>
              </a:spcAft>
            </a:pPr>
            <a:r>
              <a:rPr sz="712" b="0" i="0" spc="4" dirty="0">
                <a:solidFill>
                  <a:srgbClr val="8C6239"/>
                </a:solidFill>
                <a:latin typeface="Calibri"/>
                <a:hlinkClick r:id="rId29">
                  <a:extLst>
                    <a:ext uri="{A12FA001-AC4F-418D-AE19-62706E023703}">
                      <ahyp:hlinkClr xmlns:ahyp="http://schemas.microsoft.com/office/drawing/2018/hyperlinkcolor" val="tx"/>
                    </a:ext>
                  </a:extLst>
                </a:hlinkClick>
              </a:rPr>
              <a:t>FRED</a:t>
            </a:r>
            <a:r>
              <a:rPr sz="712" b="0" i="0" spc="4" dirty="0">
                <a:solidFill>
                  <a:srgbClr val="333231"/>
                </a:solidFill>
                <a:latin typeface="Calibri"/>
              </a:rPr>
              <a:t>; </a:t>
            </a:r>
            <a:r>
              <a:rPr sz="712" b="0" i="0" spc="4" dirty="0">
                <a:solidFill>
                  <a:srgbClr val="8C6239"/>
                </a:solidFill>
                <a:latin typeface="Calibri"/>
                <a:hlinkClick r:id="rId30">
                  <a:extLst>
                    <a:ext uri="{A12FA001-AC4F-418D-AE19-62706E023703}">
                      <ahyp:hlinkClr xmlns:ahyp="http://schemas.microsoft.com/office/drawing/2018/hyperlinkcolor" val="tx"/>
                    </a:ext>
                  </a:extLst>
                </a:hlinkClick>
              </a:rPr>
              <a:t>Bureau of Labor Statistics JOLTS</a:t>
            </a:r>
            <a:r>
              <a:rPr sz="712" b="0" i="0" spc="4" dirty="0">
                <a:solidFill>
                  <a:srgbClr val="333231"/>
                </a:solidFill>
                <a:latin typeface="Calibri"/>
              </a:rPr>
              <a:t>; </a:t>
            </a:r>
            <a:r>
              <a:rPr sz="712" b="0" i="0" spc="4" dirty="0">
                <a:solidFill>
                  <a:srgbClr val="8C6239"/>
                </a:solidFill>
                <a:latin typeface="Calibri"/>
                <a:hlinkClick r:id="rId31">
                  <a:extLst>
                    <a:ext uri="{A12FA001-AC4F-418D-AE19-62706E023703}">
                      <ahyp:hlinkClr xmlns:ahyp="http://schemas.microsoft.com/office/drawing/2018/hyperlinkcolor" val="tx"/>
                    </a:ext>
                  </a:extLst>
                </a:hlinkClick>
              </a:rPr>
              <a:t>FRED</a:t>
            </a:r>
            <a:r>
              <a:rPr sz="712" b="0" i="0" spc="4" dirty="0">
                <a:solidFill>
                  <a:srgbClr val="333231"/>
                </a:solidFill>
                <a:latin typeface="Calibri"/>
              </a:rPr>
              <a:t>; </a:t>
            </a:r>
            <a:r>
              <a:rPr sz="712" b="0" i="0" spc="4" dirty="0">
                <a:solidFill>
                  <a:srgbClr val="8C6239"/>
                </a:solidFill>
                <a:latin typeface="Calibri"/>
                <a:hlinkClick r:id="rId32">
                  <a:extLst>
                    <a:ext uri="{A12FA001-AC4F-418D-AE19-62706E023703}">
                      <ahyp:hlinkClr xmlns:ahyp="http://schemas.microsoft.com/office/drawing/2018/hyperlinkcolor" val="tx"/>
                    </a:ext>
                  </a:extLst>
                </a:hlinkClick>
              </a:rPr>
              <a:t>FRED</a:t>
            </a:r>
            <a:r>
              <a:rPr sz="712" b="0" i="0" spc="4" dirty="0">
                <a:solidFill>
                  <a:srgbClr val="333231"/>
                </a:solidFill>
                <a:latin typeface="Calibri"/>
              </a:rPr>
              <a:t>; </a:t>
            </a:r>
            <a:r>
              <a:rPr sz="712" b="0" i="0" spc="4" dirty="0">
                <a:solidFill>
                  <a:srgbClr val="8C6239"/>
                </a:solidFill>
                <a:latin typeface="Calibri"/>
                <a:hlinkClick r:id="rId33">
                  <a:extLst>
                    <a:ext uri="{A12FA001-AC4F-418D-AE19-62706E023703}">
                      <ahyp:hlinkClr xmlns:ahyp="http://schemas.microsoft.com/office/drawing/2018/hyperlinkcolor" val="tx"/>
                    </a:ext>
                  </a:extLst>
                </a:hlinkClick>
              </a:rPr>
              <a:t>FDA</a:t>
            </a:r>
            <a:r>
              <a:rPr sz="712" b="0" i="0" spc="4" dirty="0">
                <a:solidFill>
                  <a:srgbClr val="333231"/>
                </a:solidFill>
                <a:latin typeface="Calibri"/>
              </a:rPr>
              <a:t>; </a:t>
            </a:r>
            <a:r>
              <a:rPr sz="712" b="0" i="0" spc="4" dirty="0">
                <a:solidFill>
                  <a:srgbClr val="8C6239"/>
                </a:solidFill>
                <a:latin typeface="Calibri"/>
                <a:hlinkClick r:id="rId34">
                  <a:extLst>
                    <a:ext uri="{A12FA001-AC4F-418D-AE19-62706E023703}">
                      <ahyp:hlinkClr xmlns:ahyp="http://schemas.microsoft.com/office/drawing/2018/hyperlinkcolor" val="tx"/>
                    </a:ext>
                  </a:extLst>
                </a:hlinkClick>
              </a:rPr>
              <a:t>RAPS</a:t>
            </a:r>
            <a:r>
              <a:rPr sz="712" b="0" i="0" spc="4" dirty="0">
                <a:solidFill>
                  <a:srgbClr val="333231"/>
                </a:solidFill>
                <a:latin typeface="Calibri"/>
              </a:rPr>
              <a:t>; </a:t>
            </a:r>
            <a:r>
              <a:rPr sz="712" b="0" i="0" spc="4" dirty="0">
                <a:solidFill>
                  <a:srgbClr val="8C6239"/>
                </a:solidFill>
                <a:latin typeface="Calibri"/>
                <a:hlinkClick r:id="rId35">
                  <a:extLst>
                    <a:ext uri="{A12FA001-AC4F-418D-AE19-62706E023703}">
                      <ahyp:hlinkClr xmlns:ahyp="http://schemas.microsoft.com/office/drawing/2018/hyperlinkcolor" val="tx"/>
                    </a:ext>
                  </a:extLst>
                </a:hlinkClick>
              </a:rPr>
              <a:t>IQVIA</a:t>
            </a:r>
          </a:p>
          <a:p>
            <a:pPr algn="l">
              <a:lnSpc>
                <a:spcPts val="900"/>
              </a:lnSpc>
              <a:spcAft>
                <a:spcPts val="150"/>
              </a:spcAft>
            </a:pPr>
            <a:r>
              <a:rPr sz="600" b="1" i="0" spc="120" dirty="0">
                <a:solidFill>
                  <a:srgbClr val="1B1A1A"/>
                </a:solidFill>
                <a:latin typeface="Calibri"/>
              </a:rPr>
              <a:t>06 PERSPECTIVES ON FOUR SECTORS</a:t>
            </a:r>
          </a:p>
          <a:p>
            <a:pPr algn="l">
              <a:lnSpc>
                <a:spcPts val="1050"/>
              </a:lnSpc>
              <a:spcAft>
                <a:spcPts val="819"/>
              </a:spcAft>
            </a:pPr>
            <a:r>
              <a:rPr sz="712" b="0" i="0" spc="4" dirty="0">
                <a:solidFill>
                  <a:srgbClr val="8C6239"/>
                </a:solidFill>
                <a:latin typeface="Calibri"/>
                <a:hlinkClick r:id="rId36">
                  <a:extLst>
                    <a:ext uri="{A12FA001-AC4F-418D-AE19-62706E023703}">
                      <ahyp:hlinkClr xmlns:ahyp="http://schemas.microsoft.com/office/drawing/2018/hyperlinkcolor" val="tx"/>
                    </a:ext>
                  </a:extLst>
                </a:hlinkClick>
              </a:rPr>
              <a:t>Journal of Urgent Care Medicine</a:t>
            </a:r>
            <a:r>
              <a:rPr sz="712" b="0" i="0" spc="4" dirty="0">
                <a:solidFill>
                  <a:srgbClr val="333231"/>
                </a:solidFill>
                <a:latin typeface="Calibri"/>
              </a:rPr>
              <a:t>; </a:t>
            </a:r>
            <a:r>
              <a:rPr sz="712" b="0" i="0" spc="4" dirty="0">
                <a:solidFill>
                  <a:srgbClr val="8C6239"/>
                </a:solidFill>
                <a:latin typeface="Calibri"/>
                <a:hlinkClick r:id="rId37">
                  <a:extLst>
                    <a:ext uri="{A12FA001-AC4F-418D-AE19-62706E023703}">
                      <ahyp:hlinkClr xmlns:ahyp="http://schemas.microsoft.com/office/drawing/2018/hyperlinkcolor" val="tx"/>
                    </a:ext>
                  </a:extLst>
                </a:hlinkClick>
              </a:rPr>
              <a:t>Becker's ASC Review</a:t>
            </a:r>
            <a:r>
              <a:rPr sz="712" b="0" i="0" spc="4" dirty="0">
                <a:solidFill>
                  <a:srgbClr val="333231"/>
                </a:solidFill>
                <a:latin typeface="Calibri"/>
              </a:rPr>
              <a:t>; </a:t>
            </a:r>
            <a:r>
              <a:rPr sz="712" b="0" i="0" spc="4" dirty="0">
                <a:solidFill>
                  <a:srgbClr val="8C6239"/>
                </a:solidFill>
                <a:latin typeface="Calibri"/>
                <a:hlinkClick r:id="rId38">
                  <a:extLst>
                    <a:ext uri="{A12FA001-AC4F-418D-AE19-62706E023703}">
                      <ahyp:hlinkClr xmlns:ahyp="http://schemas.microsoft.com/office/drawing/2018/hyperlinkcolor" val="tx"/>
                    </a:ext>
                  </a:extLst>
                </a:hlinkClick>
              </a:rPr>
              <a:t>Healthcare Dive</a:t>
            </a:r>
            <a:r>
              <a:rPr sz="712" b="0" i="0" spc="4" dirty="0">
                <a:solidFill>
                  <a:srgbClr val="333231"/>
                </a:solidFill>
                <a:latin typeface="Calibri"/>
              </a:rPr>
              <a:t>; </a:t>
            </a:r>
            <a:r>
              <a:rPr sz="712" b="0" i="0" spc="4" dirty="0">
                <a:solidFill>
                  <a:srgbClr val="8C6239"/>
                </a:solidFill>
                <a:latin typeface="Calibri"/>
                <a:hlinkClick r:id="rId39">
                  <a:extLst>
                    <a:ext uri="{A12FA001-AC4F-418D-AE19-62706E023703}">
                      <ahyp:hlinkClr xmlns:ahyp="http://schemas.microsoft.com/office/drawing/2018/hyperlinkcolor" val="tx"/>
                    </a:ext>
                  </a:extLst>
                </a:hlinkClick>
              </a:rPr>
              <a:t>HLTH</a:t>
            </a:r>
            <a:r>
              <a:rPr sz="712" b="0" i="0" spc="4" dirty="0">
                <a:solidFill>
                  <a:srgbClr val="333231"/>
                </a:solidFill>
                <a:latin typeface="Calibri"/>
              </a:rPr>
              <a:t>; </a:t>
            </a:r>
            <a:r>
              <a:rPr sz="712" b="0" i="0" spc="4" dirty="0">
                <a:solidFill>
                  <a:srgbClr val="8C6239"/>
                </a:solidFill>
                <a:latin typeface="Calibri"/>
                <a:hlinkClick r:id="rId40">
                  <a:extLst>
                    <a:ext uri="{A12FA001-AC4F-418D-AE19-62706E023703}">
                      <ahyp:hlinkClr xmlns:ahyp="http://schemas.microsoft.com/office/drawing/2018/hyperlinkcolor" val="tx"/>
                    </a:ext>
                  </a:extLst>
                </a:hlinkClick>
              </a:rPr>
              <a:t>AMA survey via Medical Economics</a:t>
            </a:r>
            <a:r>
              <a:rPr sz="712" b="0" i="0" spc="4" dirty="0">
                <a:solidFill>
                  <a:srgbClr val="333231"/>
                </a:solidFill>
                <a:latin typeface="Calibri"/>
              </a:rPr>
              <a:t>; </a:t>
            </a:r>
            <a:r>
              <a:rPr sz="712" b="0" i="0" spc="4" dirty="0">
                <a:solidFill>
                  <a:srgbClr val="8C6239"/>
                </a:solidFill>
                <a:latin typeface="Calibri"/>
                <a:hlinkClick r:id="rId41">
                  <a:extLst>
                    <a:ext uri="{A12FA001-AC4F-418D-AE19-62706E023703}">
                      <ahyp:hlinkClr xmlns:ahyp="http://schemas.microsoft.com/office/drawing/2018/hyperlinkcolor" val="tx"/>
                    </a:ext>
                  </a:extLst>
                </a:hlinkClick>
              </a:rPr>
              <a:t>Quest Diagnostics</a:t>
            </a:r>
            <a:r>
              <a:rPr sz="712" b="0" i="0" spc="4" dirty="0">
                <a:solidFill>
                  <a:srgbClr val="333231"/>
                </a:solidFill>
                <a:latin typeface="Calibri"/>
              </a:rPr>
              <a:t>; </a:t>
            </a:r>
            <a:r>
              <a:rPr sz="712" b="0" i="0" spc="4" dirty="0" err="1">
                <a:solidFill>
                  <a:srgbClr val="8C6239"/>
                </a:solidFill>
                <a:latin typeface="Calibri"/>
                <a:hlinkClick r:id="rId42">
                  <a:extLst>
                    <a:ext uri="{A12FA001-AC4F-418D-AE19-62706E023703}">
                      <ahyp:hlinkClr xmlns:ahyp="http://schemas.microsoft.com/office/drawing/2018/hyperlinkcolor" val="tx"/>
                    </a:ext>
                  </a:extLst>
                </a:hlinkClick>
              </a:rPr>
              <a:t>Labcorp</a:t>
            </a:r>
            <a:r>
              <a:rPr sz="712" b="0" i="0" spc="4" dirty="0">
                <a:solidFill>
                  <a:srgbClr val="8C6239"/>
                </a:solidFill>
                <a:latin typeface="Calibri"/>
                <a:hlinkClick r:id="rId42">
                  <a:extLst>
                    <a:ext uri="{A12FA001-AC4F-418D-AE19-62706E023703}">
                      <ahyp:hlinkClr xmlns:ahyp="http://schemas.microsoft.com/office/drawing/2018/hyperlinkcolor" val="tx"/>
                    </a:ext>
                  </a:extLst>
                </a:hlinkClick>
              </a:rPr>
              <a:t> Form 10-Q</a:t>
            </a:r>
            <a:r>
              <a:rPr sz="712" b="0" i="0" spc="4" dirty="0">
                <a:solidFill>
                  <a:srgbClr val="333231"/>
                </a:solidFill>
                <a:latin typeface="Calibri"/>
              </a:rPr>
              <a:t>; </a:t>
            </a:r>
            <a:r>
              <a:rPr sz="712" b="0" i="0" spc="4" dirty="0">
                <a:solidFill>
                  <a:srgbClr val="8C6239"/>
                </a:solidFill>
                <a:latin typeface="Calibri"/>
                <a:hlinkClick r:id="rId43">
                  <a:extLst>
                    <a:ext uri="{A12FA001-AC4F-418D-AE19-62706E023703}">
                      <ahyp:hlinkClr xmlns:ahyp="http://schemas.microsoft.com/office/drawing/2018/hyperlinkcolor" val="tx"/>
                    </a:ext>
                  </a:extLst>
                </a:hlinkClick>
              </a:rPr>
              <a:t>Association for Diagnostics &amp; Laboratory Medicine</a:t>
            </a:r>
            <a:r>
              <a:rPr sz="712" b="0" i="0" spc="4" dirty="0">
                <a:solidFill>
                  <a:srgbClr val="333231"/>
                </a:solidFill>
                <a:latin typeface="Calibri"/>
              </a:rPr>
              <a:t>; </a:t>
            </a:r>
            <a:r>
              <a:rPr sz="712" b="0" i="0" spc="4" dirty="0">
                <a:solidFill>
                  <a:srgbClr val="8C6239"/>
                </a:solidFill>
                <a:latin typeface="Calibri"/>
                <a:hlinkClick r:id="rId35">
                  <a:extLst>
                    <a:ext uri="{A12FA001-AC4F-418D-AE19-62706E023703}">
                      <ahyp:hlinkClr xmlns:ahyp="http://schemas.microsoft.com/office/drawing/2018/hyperlinkcolor" val="tx"/>
                    </a:ext>
                  </a:extLst>
                </a:hlinkClick>
              </a:rPr>
              <a:t>IQVIA</a:t>
            </a:r>
            <a:r>
              <a:rPr sz="712" b="0" i="0" spc="4" dirty="0">
                <a:solidFill>
                  <a:srgbClr val="333231"/>
                </a:solidFill>
                <a:latin typeface="Calibri"/>
              </a:rPr>
              <a:t>; </a:t>
            </a:r>
            <a:r>
              <a:rPr sz="712" b="0" i="0" spc="4" dirty="0" err="1">
                <a:solidFill>
                  <a:srgbClr val="8C6239"/>
                </a:solidFill>
                <a:latin typeface="Calibri"/>
                <a:hlinkClick r:id="rId44">
                  <a:extLst>
                    <a:ext uri="{A12FA001-AC4F-418D-AE19-62706E023703}">
                      <ahyp:hlinkClr xmlns:ahyp="http://schemas.microsoft.com/office/drawing/2018/hyperlinkcolor" val="tx"/>
                    </a:ext>
                  </a:extLst>
                </a:hlinkClick>
              </a:rPr>
              <a:t>Medpace</a:t>
            </a:r>
            <a:r>
              <a:rPr sz="712" b="0" i="0" spc="4" dirty="0">
                <a:solidFill>
                  <a:srgbClr val="333231"/>
                </a:solidFill>
                <a:latin typeface="Calibri"/>
              </a:rPr>
              <a:t>; </a:t>
            </a:r>
            <a:r>
              <a:rPr sz="712" b="0" i="0" spc="4" dirty="0">
                <a:solidFill>
                  <a:srgbClr val="8C6239"/>
                </a:solidFill>
                <a:latin typeface="Calibri"/>
                <a:hlinkClick r:id="rId45">
                  <a:extLst>
                    <a:ext uri="{A12FA001-AC4F-418D-AE19-62706E023703}">
                      <ahyp:hlinkClr xmlns:ahyp="http://schemas.microsoft.com/office/drawing/2018/hyperlinkcolor" val="tx"/>
                    </a:ext>
                  </a:extLst>
                </a:hlinkClick>
              </a:rPr>
              <a:t>Headlands Research</a:t>
            </a:r>
            <a:r>
              <a:rPr sz="712" b="0" i="0" spc="4" dirty="0">
                <a:solidFill>
                  <a:srgbClr val="333231"/>
                </a:solidFill>
                <a:latin typeface="Calibri"/>
              </a:rPr>
              <a:t>; </a:t>
            </a:r>
            <a:r>
              <a:rPr sz="712" b="0" i="0" spc="4" dirty="0">
                <a:solidFill>
                  <a:srgbClr val="8C6239"/>
                </a:solidFill>
                <a:latin typeface="Calibri"/>
                <a:hlinkClick r:id="rId46">
                  <a:extLst>
                    <a:ext uri="{A12FA001-AC4F-418D-AE19-62706E023703}">
                      <ahyp:hlinkClr xmlns:ahyp="http://schemas.microsoft.com/office/drawing/2018/hyperlinkcolor" val="tx"/>
                    </a:ext>
                  </a:extLst>
                </a:hlinkClick>
              </a:rPr>
              <a:t>Summit Clinical Research</a:t>
            </a:r>
          </a:p>
          <a:p>
            <a:pPr algn="l">
              <a:lnSpc>
                <a:spcPts val="900"/>
              </a:lnSpc>
              <a:spcAft>
                <a:spcPts val="150"/>
              </a:spcAft>
            </a:pPr>
            <a:r>
              <a:rPr sz="600" b="1" i="0" spc="120" dirty="0">
                <a:solidFill>
                  <a:srgbClr val="1B1A1A"/>
                </a:solidFill>
                <a:latin typeface="Calibri"/>
              </a:rPr>
              <a:t>07 PERSPECTIVES ON FOUR SECTORS</a:t>
            </a:r>
          </a:p>
          <a:p>
            <a:pPr algn="l">
              <a:lnSpc>
                <a:spcPts val="1050"/>
              </a:lnSpc>
              <a:spcAft>
                <a:spcPts val="819"/>
              </a:spcAft>
            </a:pPr>
            <a:r>
              <a:rPr sz="712" b="0" i="0" spc="4" dirty="0">
                <a:solidFill>
                  <a:srgbClr val="8C6239"/>
                </a:solidFill>
                <a:latin typeface="Calibri"/>
                <a:hlinkClick r:id="rId47">
                  <a:extLst>
                    <a:ext uri="{A12FA001-AC4F-418D-AE19-62706E023703}">
                      <ahyp:hlinkClr xmlns:ahyp="http://schemas.microsoft.com/office/drawing/2018/hyperlinkcolor" val="tx"/>
                    </a:ext>
                  </a:extLst>
                </a:hlinkClick>
              </a:rPr>
              <a:t>Stryker</a:t>
            </a:r>
            <a:r>
              <a:rPr sz="712" b="0" i="0" spc="4" dirty="0">
                <a:solidFill>
                  <a:srgbClr val="333231"/>
                </a:solidFill>
                <a:latin typeface="Calibri"/>
              </a:rPr>
              <a:t>; </a:t>
            </a:r>
            <a:r>
              <a:rPr sz="712" b="0" i="0" spc="4" dirty="0">
                <a:solidFill>
                  <a:srgbClr val="8C6239"/>
                </a:solidFill>
                <a:latin typeface="Calibri"/>
                <a:hlinkClick r:id="rId48">
                  <a:extLst>
                    <a:ext uri="{A12FA001-AC4F-418D-AE19-62706E023703}">
                      <ahyp:hlinkClr xmlns:ahyp="http://schemas.microsoft.com/office/drawing/2018/hyperlinkcolor" val="tx"/>
                    </a:ext>
                  </a:extLst>
                </a:hlinkClick>
              </a:rPr>
              <a:t>Steris</a:t>
            </a:r>
            <a:r>
              <a:rPr sz="712" b="0" i="0" spc="4" dirty="0">
                <a:solidFill>
                  <a:srgbClr val="333231"/>
                </a:solidFill>
                <a:latin typeface="Calibri"/>
              </a:rPr>
              <a:t>; </a:t>
            </a:r>
            <a:r>
              <a:rPr sz="712" b="0" i="0" spc="4" dirty="0">
                <a:solidFill>
                  <a:srgbClr val="8C6239"/>
                </a:solidFill>
                <a:latin typeface="Calibri"/>
                <a:hlinkClick r:id="rId49">
                  <a:extLst>
                    <a:ext uri="{A12FA001-AC4F-418D-AE19-62706E023703}">
                      <ahyp:hlinkClr xmlns:ahyp="http://schemas.microsoft.com/office/drawing/2018/hyperlinkcolor" val="tx"/>
                    </a:ext>
                  </a:extLst>
                </a:hlinkClick>
              </a:rPr>
              <a:t>HFMA</a:t>
            </a:r>
            <a:r>
              <a:rPr sz="712" b="0" i="0" spc="4" dirty="0">
                <a:solidFill>
                  <a:srgbClr val="333231"/>
                </a:solidFill>
                <a:latin typeface="Calibri"/>
              </a:rPr>
              <a:t>; </a:t>
            </a:r>
            <a:r>
              <a:rPr sz="712" b="0" i="0" spc="4" dirty="0">
                <a:solidFill>
                  <a:srgbClr val="8C6239"/>
                </a:solidFill>
                <a:latin typeface="Calibri"/>
                <a:hlinkClick r:id="rId50">
                  <a:extLst>
                    <a:ext uri="{A12FA001-AC4F-418D-AE19-62706E023703}">
                      <ahyp:hlinkClr xmlns:ahyp="http://schemas.microsoft.com/office/drawing/2018/hyperlinkcolor" val="tx"/>
                    </a:ext>
                  </a:extLst>
                </a:hlinkClick>
              </a:rPr>
              <a:t>Owens &amp; Minor</a:t>
            </a:r>
            <a:r>
              <a:rPr sz="712" b="0" i="0" spc="4" dirty="0">
                <a:solidFill>
                  <a:srgbClr val="333231"/>
                </a:solidFill>
                <a:latin typeface="Calibri"/>
              </a:rPr>
              <a:t>; </a:t>
            </a:r>
            <a:r>
              <a:rPr sz="712" b="0" i="0" spc="4" dirty="0">
                <a:solidFill>
                  <a:srgbClr val="8C6239"/>
                </a:solidFill>
                <a:latin typeface="Calibri"/>
                <a:hlinkClick r:id="rId51">
                  <a:extLst>
                    <a:ext uri="{A12FA001-AC4F-418D-AE19-62706E023703}">
                      <ahyp:hlinkClr xmlns:ahyp="http://schemas.microsoft.com/office/drawing/2018/hyperlinkcolor" val="tx"/>
                    </a:ext>
                  </a:extLst>
                </a:hlinkClick>
              </a:rPr>
              <a:t>McKesson</a:t>
            </a:r>
            <a:r>
              <a:rPr sz="712" b="0" i="0" spc="4" dirty="0">
                <a:solidFill>
                  <a:srgbClr val="333231"/>
                </a:solidFill>
                <a:latin typeface="Calibri"/>
              </a:rPr>
              <a:t>; </a:t>
            </a:r>
            <a:r>
              <a:rPr sz="712" b="0" i="0" spc="4" dirty="0">
                <a:solidFill>
                  <a:srgbClr val="8C6239"/>
                </a:solidFill>
                <a:latin typeface="Calibri"/>
                <a:hlinkClick r:id="rId52">
                  <a:extLst>
                    <a:ext uri="{A12FA001-AC4F-418D-AE19-62706E023703}">
                      <ahyp:hlinkClr xmlns:ahyp="http://schemas.microsoft.com/office/drawing/2018/hyperlinkcolor" val="tx"/>
                    </a:ext>
                  </a:extLst>
                </a:hlinkClick>
              </a:rPr>
              <a:t>Barnes Dennig</a:t>
            </a:r>
            <a:r>
              <a:rPr sz="712" b="0" i="0" spc="4" dirty="0">
                <a:solidFill>
                  <a:srgbClr val="333231"/>
                </a:solidFill>
                <a:latin typeface="Calibri"/>
              </a:rPr>
              <a:t>; </a:t>
            </a:r>
            <a:r>
              <a:rPr sz="712" b="0" i="0" spc="4" dirty="0">
                <a:solidFill>
                  <a:srgbClr val="8C6239"/>
                </a:solidFill>
                <a:latin typeface="Calibri"/>
                <a:hlinkClick r:id="rId53">
                  <a:extLst>
                    <a:ext uri="{A12FA001-AC4F-418D-AE19-62706E023703}">
                      <ahyp:hlinkClr xmlns:ahyp="http://schemas.microsoft.com/office/drawing/2018/hyperlinkcolor" val="tx"/>
                    </a:ext>
                  </a:extLst>
                </a:hlinkClick>
              </a:rPr>
              <a:t>IQVIA Institute</a:t>
            </a:r>
            <a:r>
              <a:rPr sz="712" b="0" i="0" spc="4" dirty="0">
                <a:solidFill>
                  <a:srgbClr val="333231"/>
                </a:solidFill>
                <a:latin typeface="Calibri"/>
              </a:rPr>
              <a:t>; </a:t>
            </a:r>
            <a:r>
              <a:rPr sz="712" b="0" i="0" spc="4" dirty="0">
                <a:solidFill>
                  <a:srgbClr val="8C6239"/>
                </a:solidFill>
                <a:latin typeface="Calibri"/>
                <a:hlinkClick r:id="rId54">
                  <a:extLst>
                    <a:ext uri="{A12FA001-AC4F-418D-AE19-62706E023703}">
                      <ahyp:hlinkClr xmlns:ahyp="http://schemas.microsoft.com/office/drawing/2018/hyperlinkcolor" val="tx"/>
                    </a:ext>
                  </a:extLst>
                </a:hlinkClick>
              </a:rPr>
              <a:t>NCPA Digest</a:t>
            </a:r>
            <a:r>
              <a:rPr sz="712" b="0" i="0" spc="4" dirty="0">
                <a:solidFill>
                  <a:srgbClr val="333231"/>
                </a:solidFill>
                <a:latin typeface="Calibri"/>
              </a:rPr>
              <a:t>; </a:t>
            </a:r>
            <a:r>
              <a:rPr sz="712" b="0" i="0" spc="4" dirty="0">
                <a:solidFill>
                  <a:srgbClr val="8C6239"/>
                </a:solidFill>
                <a:latin typeface="Calibri"/>
                <a:hlinkClick r:id="rId55">
                  <a:extLst>
                    <a:ext uri="{A12FA001-AC4F-418D-AE19-62706E023703}">
                      <ahyp:hlinkClr xmlns:ahyp="http://schemas.microsoft.com/office/drawing/2018/hyperlinkcolor" val="tx"/>
                    </a:ext>
                  </a:extLst>
                </a:hlinkClick>
              </a:rPr>
              <a:t>Guardian Pharmacy Services</a:t>
            </a:r>
            <a:r>
              <a:rPr sz="712" b="0" i="0" spc="4" dirty="0">
                <a:solidFill>
                  <a:srgbClr val="333231"/>
                </a:solidFill>
                <a:latin typeface="Calibri"/>
              </a:rPr>
              <a:t>; </a:t>
            </a:r>
            <a:r>
              <a:rPr sz="712" b="0" i="0" spc="4" dirty="0" err="1">
                <a:solidFill>
                  <a:srgbClr val="8C6239"/>
                </a:solidFill>
                <a:latin typeface="Calibri"/>
                <a:hlinkClick r:id="rId56">
                  <a:extLst>
                    <a:ext uri="{A12FA001-AC4F-418D-AE19-62706E023703}">
                      <ahyp:hlinkClr xmlns:ahyp="http://schemas.microsoft.com/office/drawing/2018/hyperlinkcolor" val="tx"/>
                    </a:ext>
                  </a:extLst>
                </a:hlinkClick>
              </a:rPr>
              <a:t>BrightSpring</a:t>
            </a:r>
            <a:r>
              <a:rPr sz="712" b="0" i="0" spc="4" dirty="0">
                <a:solidFill>
                  <a:srgbClr val="333231"/>
                </a:solidFill>
                <a:latin typeface="Calibri"/>
              </a:rPr>
              <a:t>; </a:t>
            </a:r>
            <a:r>
              <a:rPr sz="712" b="0" i="0" spc="4" dirty="0">
                <a:solidFill>
                  <a:srgbClr val="8C6239"/>
                </a:solidFill>
                <a:latin typeface="Calibri"/>
                <a:hlinkClick r:id="rId57">
                  <a:extLst>
                    <a:ext uri="{A12FA001-AC4F-418D-AE19-62706E023703}">
                      <ahyp:hlinkClr xmlns:ahyp="http://schemas.microsoft.com/office/drawing/2018/hyperlinkcolor" val="tx"/>
                    </a:ext>
                  </a:extLst>
                </a:hlinkClick>
              </a:rPr>
              <a:t>Staffing Industry Analysts</a:t>
            </a:r>
          </a:p>
          <a:p>
            <a:pPr algn="l">
              <a:lnSpc>
                <a:spcPts val="900"/>
              </a:lnSpc>
              <a:spcAft>
                <a:spcPts val="150"/>
              </a:spcAft>
            </a:pPr>
            <a:r>
              <a:rPr sz="600" b="1" i="0" spc="120" dirty="0">
                <a:solidFill>
                  <a:srgbClr val="1B1A1A"/>
                </a:solidFill>
                <a:latin typeface="Calibri"/>
              </a:rPr>
              <a:t>08 WHAT WE'RE READING</a:t>
            </a:r>
          </a:p>
          <a:p>
            <a:pPr algn="l">
              <a:lnSpc>
                <a:spcPts val="1050"/>
              </a:lnSpc>
              <a:spcAft>
                <a:spcPts val="819"/>
              </a:spcAft>
            </a:pPr>
            <a:r>
              <a:rPr sz="712" b="0" i="0" spc="4" dirty="0" err="1">
                <a:solidFill>
                  <a:srgbClr val="8C6239"/>
                </a:solidFill>
                <a:latin typeface="Calibri"/>
                <a:hlinkClick r:id="rId2">
                  <a:extLst>
                    <a:ext uri="{A12FA001-AC4F-418D-AE19-62706E023703}">
                      <ahyp:hlinkClr xmlns:ahyp="http://schemas.microsoft.com/office/drawing/2018/hyperlinkcolor" val="tx"/>
                    </a:ext>
                  </a:extLst>
                </a:hlinkClick>
              </a:rPr>
              <a:t>PitchBook</a:t>
            </a:r>
            <a:r>
              <a:rPr sz="712" b="0" i="0" spc="4" dirty="0">
                <a:solidFill>
                  <a:srgbClr val="8C6239"/>
                </a:solidFill>
                <a:latin typeface="Calibri"/>
                <a:hlinkClick r:id="rId2">
                  <a:extLst>
                    <a:ext uri="{A12FA001-AC4F-418D-AE19-62706E023703}">
                      <ahyp:hlinkClr xmlns:ahyp="http://schemas.microsoft.com/office/drawing/2018/hyperlinkcolor" val="tx"/>
                    </a:ext>
                  </a:extLst>
                </a:hlinkClick>
              </a:rPr>
              <a:t> via Fierce Healthcare</a:t>
            </a:r>
            <a:r>
              <a:rPr sz="712" b="0" i="0" spc="4" dirty="0">
                <a:solidFill>
                  <a:srgbClr val="333231"/>
                </a:solidFill>
                <a:latin typeface="Calibri"/>
              </a:rPr>
              <a:t>; </a:t>
            </a:r>
            <a:r>
              <a:rPr sz="712" b="0" i="0" spc="4" dirty="0">
                <a:solidFill>
                  <a:srgbClr val="8C6239"/>
                </a:solidFill>
                <a:latin typeface="Calibri"/>
                <a:hlinkClick r:id="rId5">
                  <a:extLst>
                    <a:ext uri="{A12FA001-AC4F-418D-AE19-62706E023703}">
                      <ahyp:hlinkClr xmlns:ahyp="http://schemas.microsoft.com/office/drawing/2018/hyperlinkcolor" val="tx"/>
                    </a:ext>
                  </a:extLst>
                </a:hlinkClick>
              </a:rPr>
              <a:t>IQVIA</a:t>
            </a:r>
            <a:r>
              <a:rPr sz="712" b="0" i="0" spc="4" dirty="0">
                <a:solidFill>
                  <a:srgbClr val="333231"/>
                </a:solidFill>
                <a:latin typeface="Calibri"/>
              </a:rPr>
              <a:t>; </a:t>
            </a:r>
            <a:r>
              <a:rPr sz="712" b="0" i="0" spc="4" dirty="0">
                <a:solidFill>
                  <a:srgbClr val="8C6239"/>
                </a:solidFill>
                <a:latin typeface="Calibri"/>
                <a:hlinkClick r:id="rId58">
                  <a:extLst>
                    <a:ext uri="{A12FA001-AC4F-418D-AE19-62706E023703}">
                      <ahyp:hlinkClr xmlns:ahyp="http://schemas.microsoft.com/office/drawing/2018/hyperlinkcolor" val="tx"/>
                    </a:ext>
                  </a:extLst>
                </a:hlinkClick>
              </a:rPr>
              <a:t>MedTech Dive</a:t>
            </a:r>
            <a:r>
              <a:rPr sz="712" b="0" i="0" spc="4" dirty="0">
                <a:solidFill>
                  <a:srgbClr val="333231"/>
                </a:solidFill>
                <a:latin typeface="Calibri"/>
              </a:rPr>
              <a:t>; </a:t>
            </a:r>
            <a:r>
              <a:rPr sz="712" b="0" i="0" spc="4" dirty="0">
                <a:solidFill>
                  <a:srgbClr val="8C6239"/>
                </a:solidFill>
                <a:latin typeface="Calibri"/>
                <a:hlinkClick r:id="rId59">
                  <a:extLst>
                    <a:ext uri="{A12FA001-AC4F-418D-AE19-62706E023703}">
                      <ahyp:hlinkClr xmlns:ahyp="http://schemas.microsoft.com/office/drawing/2018/hyperlinkcolor" val="tx"/>
                    </a:ext>
                  </a:extLst>
                </a:hlinkClick>
              </a:rPr>
              <a:t>Drug Channels</a:t>
            </a:r>
          </a:p>
          <a:p>
            <a:pPr algn="l">
              <a:lnSpc>
                <a:spcPts val="900"/>
              </a:lnSpc>
              <a:spcAft>
                <a:spcPts val="150"/>
              </a:spcAft>
            </a:pPr>
            <a:r>
              <a:rPr sz="600" b="1" i="0" spc="120" dirty="0">
                <a:solidFill>
                  <a:srgbClr val="1B1A1A"/>
                </a:solidFill>
                <a:latin typeface="Calibri"/>
              </a:rPr>
              <a:t>10 HEALTHCARE SERVICES DEAL VOLUME HAS RESET</a:t>
            </a:r>
          </a:p>
          <a:p>
            <a:pPr algn="l">
              <a:lnSpc>
                <a:spcPts val="1050"/>
              </a:lnSpc>
              <a:spcAft>
                <a:spcPts val="819"/>
              </a:spcAft>
            </a:pPr>
            <a:r>
              <a:rPr sz="712" b="0" i="0" spc="4" dirty="0">
                <a:solidFill>
                  <a:srgbClr val="8C6239"/>
                </a:solidFill>
                <a:latin typeface="Calibri"/>
                <a:hlinkClick r:id="rId60">
                  <a:extLst>
                    <a:ext uri="{A12FA001-AC4F-418D-AE19-62706E023703}">
                      <ahyp:hlinkClr xmlns:ahyp="http://schemas.microsoft.com/office/drawing/2018/hyperlinkcolor" val="tx"/>
                    </a:ext>
                  </a:extLst>
                </a:hlinkClick>
              </a:rPr>
              <a:t>AMA</a:t>
            </a:r>
            <a:r>
              <a:rPr sz="712" b="0" i="0" spc="4" dirty="0">
                <a:solidFill>
                  <a:srgbClr val="333231"/>
                </a:solidFill>
                <a:latin typeface="Calibri"/>
              </a:rPr>
              <a:t>; </a:t>
            </a:r>
            <a:r>
              <a:rPr sz="712" b="0" i="0" spc="4" dirty="0">
                <a:solidFill>
                  <a:srgbClr val="8C6239"/>
                </a:solidFill>
                <a:latin typeface="Calibri"/>
                <a:hlinkClick r:id="rId27">
                  <a:extLst>
                    <a:ext uri="{A12FA001-AC4F-418D-AE19-62706E023703}">
                      <ahyp:hlinkClr xmlns:ahyp="http://schemas.microsoft.com/office/drawing/2018/hyperlinkcolor" val="tx"/>
                    </a:ext>
                  </a:extLst>
                </a:hlinkClick>
              </a:rPr>
              <a:t>Q4 2025 Healthcare Services Report</a:t>
            </a:r>
            <a:r>
              <a:rPr sz="712" b="0" i="0" spc="4" dirty="0">
                <a:solidFill>
                  <a:srgbClr val="333231"/>
                </a:solidFill>
                <a:latin typeface="Calibri"/>
              </a:rPr>
              <a:t>; </a:t>
            </a:r>
            <a:r>
              <a:rPr sz="712" b="0" i="0" spc="4" dirty="0" err="1">
                <a:solidFill>
                  <a:srgbClr val="8C6239"/>
                </a:solidFill>
                <a:latin typeface="Calibri"/>
                <a:hlinkClick r:id="rId2">
                  <a:extLst>
                    <a:ext uri="{A12FA001-AC4F-418D-AE19-62706E023703}">
                      <ahyp:hlinkClr xmlns:ahyp="http://schemas.microsoft.com/office/drawing/2018/hyperlinkcolor" val="tx"/>
                    </a:ext>
                  </a:extLst>
                </a:hlinkClick>
              </a:rPr>
              <a:t>PitchBook</a:t>
            </a:r>
            <a:r>
              <a:rPr sz="712" b="0" i="0" spc="4" dirty="0">
                <a:solidFill>
                  <a:srgbClr val="8C6239"/>
                </a:solidFill>
                <a:latin typeface="Calibri"/>
                <a:hlinkClick r:id="rId2">
                  <a:extLst>
                    <a:ext uri="{A12FA001-AC4F-418D-AE19-62706E023703}">
                      <ahyp:hlinkClr xmlns:ahyp="http://schemas.microsoft.com/office/drawing/2018/hyperlinkcolor" val="tx"/>
                    </a:ext>
                  </a:extLst>
                </a:hlinkClick>
              </a:rPr>
              <a:t> via Fierce Healthcare</a:t>
            </a:r>
          </a:p>
          <a:p>
            <a:pPr algn="l">
              <a:lnSpc>
                <a:spcPts val="900"/>
              </a:lnSpc>
              <a:spcAft>
                <a:spcPts val="150"/>
              </a:spcAft>
            </a:pPr>
            <a:r>
              <a:rPr sz="600" b="1" i="0" spc="120" dirty="0">
                <a:solidFill>
                  <a:srgbClr val="1B1A1A"/>
                </a:solidFill>
                <a:latin typeface="Calibri"/>
              </a:rPr>
              <a:t>12 SELECT RECENT HEALTHCARE M&amp;A TRANSACTIONS</a:t>
            </a:r>
          </a:p>
          <a:p>
            <a:pPr algn="l">
              <a:lnSpc>
                <a:spcPts val="1050"/>
              </a:lnSpc>
              <a:spcAft>
                <a:spcPts val="819"/>
              </a:spcAft>
            </a:pPr>
            <a:r>
              <a:rPr sz="712" b="0" i="0" spc="4" dirty="0" err="1">
                <a:solidFill>
                  <a:srgbClr val="8C6239"/>
                </a:solidFill>
                <a:latin typeface="Calibri"/>
                <a:hlinkClick r:id="rId61">
                  <a:extLst>
                    <a:ext uri="{A12FA001-AC4F-418D-AE19-62706E023703}">
                      <ahyp:hlinkClr xmlns:ahyp="http://schemas.microsoft.com/office/drawing/2018/hyperlinkcolor" val="tx"/>
                    </a:ext>
                  </a:extLst>
                </a:hlinkClick>
              </a:rPr>
              <a:t>EyeCare</a:t>
            </a:r>
            <a:r>
              <a:rPr sz="712" b="0" i="0" spc="4" dirty="0">
                <a:solidFill>
                  <a:srgbClr val="8C6239"/>
                </a:solidFill>
                <a:latin typeface="Calibri"/>
                <a:hlinkClick r:id="rId61">
                  <a:extLst>
                    <a:ext uri="{A12FA001-AC4F-418D-AE19-62706E023703}">
                      <ahyp:hlinkClr xmlns:ahyp="http://schemas.microsoft.com/office/drawing/2018/hyperlinkcolor" val="tx"/>
                    </a:ext>
                  </a:extLst>
                </a:hlinkClick>
              </a:rPr>
              <a:t> Partners</a:t>
            </a:r>
            <a:r>
              <a:rPr sz="712" b="0" i="0" spc="4" dirty="0">
                <a:solidFill>
                  <a:srgbClr val="333231"/>
                </a:solidFill>
                <a:latin typeface="Calibri"/>
              </a:rPr>
              <a:t>; </a:t>
            </a:r>
            <a:r>
              <a:rPr sz="712" b="0" i="0" spc="4" dirty="0" err="1">
                <a:solidFill>
                  <a:srgbClr val="8C6239"/>
                </a:solidFill>
                <a:latin typeface="Calibri"/>
                <a:hlinkClick r:id="rId62">
                  <a:extLst>
                    <a:ext uri="{A12FA001-AC4F-418D-AE19-62706E023703}">
                      <ahyp:hlinkClr xmlns:ahyp="http://schemas.microsoft.com/office/drawing/2018/hyperlinkcolor" val="tx"/>
                    </a:ext>
                  </a:extLst>
                </a:hlinkClick>
              </a:rPr>
              <a:t>Addus</a:t>
            </a:r>
            <a:r>
              <a:rPr sz="712" b="0" i="0" spc="4" dirty="0">
                <a:solidFill>
                  <a:srgbClr val="8C6239"/>
                </a:solidFill>
                <a:latin typeface="Calibri"/>
                <a:hlinkClick r:id="rId62">
                  <a:extLst>
                    <a:ext uri="{A12FA001-AC4F-418D-AE19-62706E023703}">
                      <ahyp:hlinkClr xmlns:ahyp="http://schemas.microsoft.com/office/drawing/2018/hyperlinkcolor" val="tx"/>
                    </a:ext>
                  </a:extLst>
                </a:hlinkClick>
              </a:rPr>
              <a:t> </a:t>
            </a:r>
            <a:r>
              <a:rPr sz="712" b="0" i="0" spc="4" dirty="0" err="1">
                <a:solidFill>
                  <a:srgbClr val="8C6239"/>
                </a:solidFill>
                <a:latin typeface="Calibri"/>
                <a:hlinkClick r:id="rId62">
                  <a:extLst>
                    <a:ext uri="{A12FA001-AC4F-418D-AE19-62706E023703}">
                      <ahyp:hlinkClr xmlns:ahyp="http://schemas.microsoft.com/office/drawing/2018/hyperlinkcolor" val="tx"/>
                    </a:ext>
                  </a:extLst>
                </a:hlinkClick>
              </a:rPr>
              <a:t>HomeCare</a:t>
            </a:r>
            <a:r>
              <a:rPr sz="712" b="0" i="0" spc="4" dirty="0">
                <a:solidFill>
                  <a:srgbClr val="333231"/>
                </a:solidFill>
                <a:latin typeface="Calibri"/>
              </a:rPr>
              <a:t>; </a:t>
            </a:r>
            <a:r>
              <a:rPr sz="712" b="0" i="0" spc="4" dirty="0">
                <a:solidFill>
                  <a:srgbClr val="8C6239"/>
                </a:solidFill>
                <a:latin typeface="Calibri"/>
                <a:hlinkClick r:id="rId63">
                  <a:extLst>
                    <a:ext uri="{A12FA001-AC4F-418D-AE19-62706E023703}">
                      <ahyp:hlinkClr xmlns:ahyp="http://schemas.microsoft.com/office/drawing/2018/hyperlinkcolor" val="tx"/>
                    </a:ext>
                  </a:extLst>
                </a:hlinkClick>
              </a:rPr>
              <a:t>Bio-Techne</a:t>
            </a:r>
            <a:r>
              <a:rPr sz="712" b="0" i="0" spc="4" dirty="0">
                <a:solidFill>
                  <a:srgbClr val="333231"/>
                </a:solidFill>
                <a:latin typeface="Calibri"/>
              </a:rPr>
              <a:t>; </a:t>
            </a:r>
            <a:r>
              <a:rPr sz="712" b="0" i="0" spc="4" dirty="0">
                <a:solidFill>
                  <a:srgbClr val="8C6239"/>
                </a:solidFill>
                <a:latin typeface="Calibri"/>
                <a:hlinkClick r:id="rId64">
                  <a:extLst>
                    <a:ext uri="{A12FA001-AC4F-418D-AE19-62706E023703}">
                      <ahyp:hlinkClr xmlns:ahyp="http://schemas.microsoft.com/office/drawing/2018/hyperlinkcolor" val="tx"/>
                    </a:ext>
                  </a:extLst>
                </a:hlinkClick>
              </a:rPr>
              <a:t>PE Professional</a:t>
            </a:r>
            <a:r>
              <a:rPr sz="712" b="0" i="0" spc="4" dirty="0">
                <a:solidFill>
                  <a:srgbClr val="333231"/>
                </a:solidFill>
                <a:latin typeface="Calibri"/>
              </a:rPr>
              <a:t>; </a:t>
            </a:r>
            <a:r>
              <a:rPr sz="712" b="0" i="0" spc="4" dirty="0">
                <a:solidFill>
                  <a:srgbClr val="8C6239"/>
                </a:solidFill>
                <a:latin typeface="Calibri"/>
                <a:hlinkClick r:id="rId65">
                  <a:extLst>
                    <a:ext uri="{A12FA001-AC4F-418D-AE19-62706E023703}">
                      <ahyp:hlinkClr xmlns:ahyp="http://schemas.microsoft.com/office/drawing/2018/hyperlinkcolor" val="tx"/>
                    </a:ext>
                  </a:extLst>
                </a:hlinkClick>
              </a:rPr>
              <a:t>Medical Design &amp; Outsourcing</a:t>
            </a:r>
            <a:r>
              <a:rPr sz="712" b="0" i="0" spc="4" dirty="0">
                <a:solidFill>
                  <a:srgbClr val="333231"/>
                </a:solidFill>
                <a:latin typeface="Calibri"/>
              </a:rPr>
              <a:t>; </a:t>
            </a:r>
            <a:r>
              <a:rPr sz="712" b="0" i="0" spc="4" dirty="0">
                <a:solidFill>
                  <a:srgbClr val="8C6239"/>
                </a:solidFill>
                <a:latin typeface="Calibri"/>
                <a:hlinkClick r:id="rId66">
                  <a:extLst>
                    <a:ext uri="{A12FA001-AC4F-418D-AE19-62706E023703}">
                      <ahyp:hlinkClr xmlns:ahyp="http://schemas.microsoft.com/office/drawing/2018/hyperlinkcolor" val="tx"/>
                    </a:ext>
                  </a:extLst>
                </a:hlinkClick>
              </a:rPr>
              <a:t>Staffing Industry Analysts</a:t>
            </a:r>
            <a:r>
              <a:rPr sz="712" b="0" i="0" spc="4" dirty="0">
                <a:solidFill>
                  <a:srgbClr val="333231"/>
                </a:solidFill>
                <a:latin typeface="Calibri"/>
              </a:rPr>
              <a:t>; </a:t>
            </a:r>
            <a:r>
              <a:rPr sz="712" b="0" i="0" spc="4" dirty="0">
                <a:solidFill>
                  <a:srgbClr val="8C6239"/>
                </a:solidFill>
                <a:latin typeface="Calibri"/>
                <a:hlinkClick r:id="rId67">
                  <a:extLst>
                    <a:ext uri="{A12FA001-AC4F-418D-AE19-62706E023703}">
                      <ahyp:hlinkClr xmlns:ahyp="http://schemas.microsoft.com/office/drawing/2018/hyperlinkcolor" val="tx"/>
                    </a:ext>
                  </a:extLst>
                </a:hlinkClick>
              </a:rPr>
              <a:t>Fierce Healthcare</a:t>
            </a:r>
          </a:p>
          <a:p>
            <a:pPr algn="l">
              <a:lnSpc>
                <a:spcPts val="900"/>
              </a:lnSpc>
              <a:spcAft>
                <a:spcPts val="150"/>
              </a:spcAft>
            </a:pPr>
            <a:r>
              <a:rPr sz="600" b="1" i="0" spc="120" dirty="0">
                <a:solidFill>
                  <a:srgbClr val="1B1A1A"/>
                </a:solidFill>
                <a:latin typeface="Calibri"/>
              </a:rPr>
              <a:t>13 BENCHMARK INTERNATIONAL'S HEALTHCARE TRANSACTIONS</a:t>
            </a:r>
          </a:p>
          <a:p>
            <a:pPr algn="l">
              <a:lnSpc>
                <a:spcPts val="1050"/>
              </a:lnSpc>
              <a:spcAft>
                <a:spcPts val="819"/>
              </a:spcAft>
            </a:pPr>
            <a:r>
              <a:rPr sz="712" b="0" i="0" spc="4" dirty="0">
                <a:solidFill>
                  <a:srgbClr val="8C6239"/>
                </a:solidFill>
                <a:latin typeface="Calibri"/>
                <a:hlinkClick r:id="rId68">
                  <a:extLst>
                    <a:ext uri="{A12FA001-AC4F-418D-AE19-62706E023703}">
                      <ahyp:hlinkClr xmlns:ahyp="http://schemas.microsoft.com/office/drawing/2018/hyperlinkcolor" val="tx"/>
                    </a:ext>
                  </a:extLst>
                </a:hlinkClick>
              </a:rPr>
              <a:t>Benchmark International</a:t>
            </a:r>
            <a:r>
              <a:rPr sz="712" b="0" i="0" spc="4" dirty="0">
                <a:solidFill>
                  <a:srgbClr val="333231"/>
                </a:solidFill>
                <a:latin typeface="Calibri"/>
              </a:rPr>
              <a:t>; </a:t>
            </a:r>
            <a:r>
              <a:rPr sz="712" b="0" i="0" spc="4" dirty="0">
                <a:solidFill>
                  <a:srgbClr val="8C6239"/>
                </a:solidFill>
                <a:latin typeface="Calibri"/>
                <a:hlinkClick r:id="rId69">
                  <a:extLst>
                    <a:ext uri="{A12FA001-AC4F-418D-AE19-62706E023703}">
                      <ahyp:hlinkClr xmlns:ahyp="http://schemas.microsoft.com/office/drawing/2018/hyperlinkcolor" val="tx"/>
                    </a:ext>
                  </a:extLst>
                </a:hlinkClick>
              </a:rPr>
              <a:t>Benchmark International: Precise Bioscience</a:t>
            </a:r>
            <a:r>
              <a:rPr sz="712" b="0" i="0" spc="4" dirty="0">
                <a:solidFill>
                  <a:srgbClr val="333231"/>
                </a:solidFill>
                <a:latin typeface="Calibri"/>
              </a:rPr>
              <a:t>; </a:t>
            </a:r>
            <a:r>
              <a:rPr sz="712" b="0" i="0" spc="4" dirty="0">
                <a:solidFill>
                  <a:srgbClr val="8C6239"/>
                </a:solidFill>
                <a:latin typeface="Calibri"/>
                <a:hlinkClick r:id="rId70">
                  <a:extLst>
                    <a:ext uri="{A12FA001-AC4F-418D-AE19-62706E023703}">
                      <ahyp:hlinkClr xmlns:ahyp="http://schemas.microsoft.com/office/drawing/2018/hyperlinkcolor" val="tx"/>
                    </a:ext>
                  </a:extLst>
                </a:hlinkClick>
              </a:rPr>
              <a:t>Benchmark International: Formulation Technology</a:t>
            </a:r>
            <a:r>
              <a:rPr sz="712" b="0" i="0" spc="4" dirty="0">
                <a:solidFill>
                  <a:srgbClr val="333231"/>
                </a:solidFill>
                <a:latin typeface="Calibri"/>
              </a:rPr>
              <a:t>; </a:t>
            </a:r>
            <a:r>
              <a:rPr sz="712" b="0" i="0" spc="4" dirty="0">
                <a:solidFill>
                  <a:srgbClr val="8C6239"/>
                </a:solidFill>
                <a:latin typeface="Calibri"/>
                <a:hlinkClick r:id="rId71">
                  <a:extLst>
                    <a:ext uri="{A12FA001-AC4F-418D-AE19-62706E023703}">
                      <ahyp:hlinkClr xmlns:ahyp="http://schemas.microsoft.com/office/drawing/2018/hyperlinkcolor" val="tx"/>
                    </a:ext>
                  </a:extLst>
                </a:hlinkClick>
              </a:rPr>
              <a:t>Benchmark International: Fast Response On-Site Testing</a:t>
            </a:r>
            <a:r>
              <a:rPr sz="712" b="0" i="0" spc="4" dirty="0">
                <a:solidFill>
                  <a:srgbClr val="333231"/>
                </a:solidFill>
                <a:latin typeface="Calibri"/>
              </a:rPr>
              <a:t>; </a:t>
            </a:r>
            <a:r>
              <a:rPr sz="712" b="0" i="0" spc="4" dirty="0">
                <a:solidFill>
                  <a:srgbClr val="8C6239"/>
                </a:solidFill>
                <a:latin typeface="Calibri"/>
                <a:hlinkClick r:id="rId72">
                  <a:extLst>
                    <a:ext uri="{A12FA001-AC4F-418D-AE19-62706E023703}">
                      <ahyp:hlinkClr xmlns:ahyp="http://schemas.microsoft.com/office/drawing/2018/hyperlinkcolor" val="tx"/>
                    </a:ext>
                  </a:extLst>
                </a:hlinkClick>
              </a:rPr>
              <a:t>Benchmark International: Critical Environments Professionals, certification division</a:t>
            </a:r>
            <a:r>
              <a:rPr sz="712" b="0" i="0" spc="4" dirty="0">
                <a:solidFill>
                  <a:srgbClr val="333231"/>
                </a:solidFill>
                <a:latin typeface="Calibri"/>
              </a:rPr>
              <a:t>; </a:t>
            </a:r>
            <a:r>
              <a:rPr sz="712" b="0" i="0" spc="4" dirty="0">
                <a:solidFill>
                  <a:srgbClr val="8C6239"/>
                </a:solidFill>
                <a:latin typeface="Calibri"/>
                <a:hlinkClick r:id="rId73">
                  <a:extLst>
                    <a:ext uri="{A12FA001-AC4F-418D-AE19-62706E023703}">
                      <ahyp:hlinkClr xmlns:ahyp="http://schemas.microsoft.com/office/drawing/2018/hyperlinkcolor" val="tx"/>
                    </a:ext>
                  </a:extLst>
                </a:hlinkClick>
              </a:rPr>
              <a:t>Benchmark International: Dental Holdings</a:t>
            </a:r>
            <a:r>
              <a:rPr sz="712" b="0" i="0" spc="4" dirty="0">
                <a:solidFill>
                  <a:srgbClr val="333231"/>
                </a:solidFill>
                <a:latin typeface="Calibri"/>
              </a:rPr>
              <a:t>; </a:t>
            </a:r>
            <a:r>
              <a:rPr sz="712" b="0" i="0" spc="4" dirty="0">
                <a:solidFill>
                  <a:srgbClr val="8C6239"/>
                </a:solidFill>
                <a:latin typeface="Calibri"/>
                <a:hlinkClick r:id="rId74">
                  <a:extLst>
                    <a:ext uri="{A12FA001-AC4F-418D-AE19-62706E023703}">
                      <ahyp:hlinkClr xmlns:ahyp="http://schemas.microsoft.com/office/drawing/2018/hyperlinkcolor" val="tx"/>
                    </a:ext>
                  </a:extLst>
                </a:hlinkClick>
              </a:rPr>
              <a:t>Benchmark International: </a:t>
            </a:r>
            <a:r>
              <a:rPr sz="712" b="0" i="0" spc="4" dirty="0" err="1">
                <a:solidFill>
                  <a:srgbClr val="8C6239"/>
                </a:solidFill>
                <a:latin typeface="Calibri"/>
                <a:hlinkClick r:id="rId74">
                  <a:extLst>
                    <a:ext uri="{A12FA001-AC4F-418D-AE19-62706E023703}">
                      <ahyp:hlinkClr xmlns:ahyp="http://schemas.microsoft.com/office/drawing/2018/hyperlinkcolor" val="tx"/>
                    </a:ext>
                  </a:extLst>
                </a:hlinkClick>
              </a:rPr>
              <a:t>FosterBridge</a:t>
            </a:r>
            <a:r>
              <a:rPr sz="712" b="0" i="0" spc="4" dirty="0">
                <a:solidFill>
                  <a:srgbClr val="333231"/>
                </a:solidFill>
                <a:latin typeface="Calibri"/>
              </a:rPr>
              <a:t>; </a:t>
            </a:r>
            <a:r>
              <a:rPr sz="712" b="0" i="0" spc="4" dirty="0">
                <a:solidFill>
                  <a:srgbClr val="8C6239"/>
                </a:solidFill>
                <a:latin typeface="Calibri"/>
                <a:hlinkClick r:id="rId75">
                  <a:extLst>
                    <a:ext uri="{A12FA001-AC4F-418D-AE19-62706E023703}">
                      <ahyp:hlinkClr xmlns:ahyp="http://schemas.microsoft.com/office/drawing/2018/hyperlinkcolor" val="tx"/>
                    </a:ext>
                  </a:extLst>
                </a:hlinkClick>
              </a:rPr>
              <a:t>Benchmark International: Medical Temps</a:t>
            </a:r>
            <a:r>
              <a:rPr sz="712" b="0" i="0" spc="4" dirty="0">
                <a:solidFill>
                  <a:srgbClr val="333231"/>
                </a:solidFill>
                <a:latin typeface="Calibri"/>
              </a:rPr>
              <a:t>; </a:t>
            </a:r>
            <a:r>
              <a:rPr sz="712" b="0" i="0" spc="4" dirty="0">
                <a:solidFill>
                  <a:srgbClr val="8C6239"/>
                </a:solidFill>
                <a:latin typeface="Calibri"/>
                <a:hlinkClick r:id="rId76">
                  <a:extLst>
                    <a:ext uri="{A12FA001-AC4F-418D-AE19-62706E023703}">
                      <ahyp:hlinkClr xmlns:ahyp="http://schemas.microsoft.com/office/drawing/2018/hyperlinkcolor" val="tx"/>
                    </a:ext>
                  </a:extLst>
                </a:hlinkClick>
              </a:rPr>
              <a:t>Benchmark International: The Brooks Group and Associates</a:t>
            </a:r>
          </a:p>
          <a:p>
            <a:pPr algn="l">
              <a:lnSpc>
                <a:spcPts val="900"/>
              </a:lnSpc>
              <a:spcAft>
                <a:spcPts val="150"/>
              </a:spcAft>
            </a:pPr>
            <a:r>
              <a:rPr sz="600" b="1" i="0" spc="120" dirty="0">
                <a:solidFill>
                  <a:srgbClr val="1B1A1A"/>
                </a:solidFill>
                <a:latin typeface="Calibri"/>
              </a:rPr>
              <a:t>14 VALUATION MULTIPLES HAVE SHIFTED BY SECTOR</a:t>
            </a:r>
          </a:p>
          <a:p>
            <a:pPr algn="l">
              <a:lnSpc>
                <a:spcPts val="1050"/>
              </a:lnSpc>
              <a:spcAft>
                <a:spcPts val="819"/>
              </a:spcAft>
            </a:pPr>
            <a:r>
              <a:rPr sz="712" b="0" i="0" spc="4" dirty="0" err="1">
                <a:solidFill>
                  <a:srgbClr val="8C6239"/>
                </a:solidFill>
                <a:latin typeface="Calibri"/>
                <a:hlinkClick r:id="rId22">
                  <a:extLst>
                    <a:ext uri="{A12FA001-AC4F-418D-AE19-62706E023703}">
                      <ahyp:hlinkClr xmlns:ahyp="http://schemas.microsoft.com/office/drawing/2018/hyperlinkcolor" val="tx"/>
                    </a:ext>
                  </a:extLst>
                </a:hlinkClick>
              </a:rPr>
              <a:t>PitchBook</a:t>
            </a:r>
            <a:r>
              <a:rPr sz="712" b="0" i="0" spc="4" dirty="0">
                <a:solidFill>
                  <a:srgbClr val="8C6239"/>
                </a:solidFill>
                <a:latin typeface="Calibri"/>
                <a:hlinkClick r:id="rId22">
                  <a:extLst>
                    <a:ext uri="{A12FA001-AC4F-418D-AE19-62706E023703}">
                      <ahyp:hlinkClr xmlns:ahyp="http://schemas.microsoft.com/office/drawing/2018/hyperlinkcolor" val="tx"/>
                    </a:ext>
                  </a:extLst>
                </a:hlinkClick>
              </a:rPr>
              <a:t> via Becker's ASC Review</a:t>
            </a:r>
            <a:r>
              <a:rPr sz="712" b="0" i="0" spc="4" dirty="0">
                <a:solidFill>
                  <a:srgbClr val="333231"/>
                </a:solidFill>
                <a:latin typeface="Calibri"/>
              </a:rPr>
              <a:t>; </a:t>
            </a:r>
            <a:r>
              <a:rPr sz="712" b="0" i="0" spc="4" dirty="0">
                <a:solidFill>
                  <a:srgbClr val="8C6239"/>
                </a:solidFill>
                <a:latin typeface="Calibri"/>
                <a:hlinkClick r:id="rId14">
                  <a:extLst>
                    <a:ext uri="{A12FA001-AC4F-418D-AE19-62706E023703}">
                      <ahyp:hlinkClr xmlns:ahyp="http://schemas.microsoft.com/office/drawing/2018/hyperlinkcolor" val="tx"/>
                    </a:ext>
                  </a:extLst>
                </a:hlinkClick>
              </a:rPr>
              <a:t>GF Data via ACG</a:t>
            </a:r>
            <a:r>
              <a:rPr sz="712" b="0" i="0" spc="4" dirty="0">
                <a:solidFill>
                  <a:srgbClr val="333231"/>
                </a:solidFill>
                <a:latin typeface="Calibri"/>
              </a:rPr>
              <a:t>; </a:t>
            </a:r>
            <a:r>
              <a:rPr sz="712" b="0" i="0" spc="4" dirty="0">
                <a:solidFill>
                  <a:srgbClr val="8C6239"/>
                </a:solidFill>
                <a:latin typeface="Calibri"/>
                <a:hlinkClick r:id="rId77">
                  <a:extLst>
                    <a:ext uri="{A12FA001-AC4F-418D-AE19-62706E023703}">
                      <ahyp:hlinkClr xmlns:ahyp="http://schemas.microsoft.com/office/drawing/2018/hyperlinkcolor" val="tx"/>
                    </a:ext>
                  </a:extLst>
                </a:hlinkClick>
              </a:rPr>
              <a:t>IBBA and M&amp;A Source</a:t>
            </a:r>
            <a:r>
              <a:rPr sz="712" b="0" i="0" spc="4" dirty="0">
                <a:solidFill>
                  <a:srgbClr val="333231"/>
                </a:solidFill>
                <a:latin typeface="Calibri"/>
              </a:rPr>
              <a:t>; </a:t>
            </a:r>
            <a:r>
              <a:rPr sz="712" b="0" i="0" spc="4" dirty="0" err="1">
                <a:solidFill>
                  <a:srgbClr val="8C6239"/>
                </a:solidFill>
                <a:latin typeface="Calibri"/>
                <a:hlinkClick r:id="rId78">
                  <a:extLst>
                    <a:ext uri="{A12FA001-AC4F-418D-AE19-62706E023703}">
                      <ahyp:hlinkClr xmlns:ahyp="http://schemas.microsoft.com/office/drawing/2018/hyperlinkcolor" val="tx"/>
                    </a:ext>
                  </a:extLst>
                </a:hlinkClick>
              </a:rPr>
              <a:t>StockAnalysis</a:t>
            </a:r>
            <a:endParaRPr sz="712" b="0" i="0" spc="4" dirty="0">
              <a:solidFill>
                <a:srgbClr val="8C6239"/>
              </a:solidFill>
              <a:latin typeface="Calibri"/>
              <a:hlinkClick r:id="rId78">
                <a:extLst>
                  <a:ext uri="{A12FA001-AC4F-418D-AE19-62706E023703}">
                    <ahyp:hlinkClr xmlns:ahyp="http://schemas.microsoft.com/office/drawing/2018/hyperlinkcolor" val="tx"/>
                  </a:ext>
                </a:extLst>
              </a:hlinkClick>
            </a:endParaRPr>
          </a:p>
          <a:p>
            <a:pPr algn="l">
              <a:lnSpc>
                <a:spcPts val="900"/>
              </a:lnSpc>
              <a:spcAft>
                <a:spcPts val="150"/>
              </a:spcAft>
            </a:pPr>
            <a:r>
              <a:rPr sz="600" b="1" i="0" spc="120" dirty="0">
                <a:solidFill>
                  <a:srgbClr val="1B1A1A"/>
                </a:solidFill>
                <a:latin typeface="Calibri"/>
              </a:rPr>
              <a:t>15 PUBLIC COMPANY STOCK PERFORMANCE: PAST 12 MONTHS</a:t>
            </a:r>
          </a:p>
          <a:p>
            <a:pPr algn="l">
              <a:lnSpc>
                <a:spcPts val="1050"/>
              </a:lnSpc>
              <a:spcAft>
                <a:spcPts val="819"/>
              </a:spcAft>
            </a:pPr>
            <a:r>
              <a:rPr sz="712" b="0" i="0" spc="4" dirty="0" err="1">
                <a:solidFill>
                  <a:srgbClr val="8C6239"/>
                </a:solidFill>
                <a:latin typeface="Calibri"/>
                <a:hlinkClick r:id="rId78">
                  <a:extLst>
                    <a:ext uri="{A12FA001-AC4F-418D-AE19-62706E023703}">
                      <ahyp:hlinkClr xmlns:ahyp="http://schemas.microsoft.com/office/drawing/2018/hyperlinkcolor" val="tx"/>
                    </a:ext>
                  </a:extLst>
                </a:hlinkClick>
              </a:rPr>
              <a:t>StockAnalysis</a:t>
            </a:r>
            <a:endParaRPr sz="712" b="0" i="0" spc="4" dirty="0">
              <a:solidFill>
                <a:srgbClr val="8C6239"/>
              </a:solidFill>
              <a:latin typeface="Calibri"/>
              <a:hlinkClick r:id="rId78">
                <a:extLst>
                  <a:ext uri="{A12FA001-AC4F-418D-AE19-62706E023703}">
                    <ahyp:hlinkClr xmlns:ahyp="http://schemas.microsoft.com/office/drawing/2018/hyperlinkcolor" val="tx"/>
                  </a:ext>
                </a:extLst>
              </a:hlinkClick>
            </a:endParaRPr>
          </a:p>
          <a:p>
            <a:pPr algn="l">
              <a:lnSpc>
                <a:spcPts val="900"/>
              </a:lnSpc>
              <a:spcAft>
                <a:spcPts val="150"/>
              </a:spcAft>
            </a:pPr>
            <a:r>
              <a:rPr sz="600" b="1" i="0" spc="120" dirty="0">
                <a:solidFill>
                  <a:srgbClr val="1B1A1A"/>
                </a:solidFill>
                <a:latin typeface="Calibri"/>
              </a:rPr>
              <a:t>16 PUBLIC COMPANY OPERATING AND VALUATION METRICS</a:t>
            </a:r>
          </a:p>
          <a:p>
            <a:pPr algn="l">
              <a:lnSpc>
                <a:spcPts val="1050"/>
              </a:lnSpc>
              <a:spcAft>
                <a:spcPts val="819"/>
              </a:spcAft>
            </a:pPr>
            <a:r>
              <a:rPr sz="712" b="0" i="0" spc="4" dirty="0" err="1">
                <a:solidFill>
                  <a:srgbClr val="8C6239"/>
                </a:solidFill>
                <a:latin typeface="Calibri"/>
                <a:hlinkClick r:id="rId78">
                  <a:extLst>
                    <a:ext uri="{A12FA001-AC4F-418D-AE19-62706E023703}">
                      <ahyp:hlinkClr xmlns:ahyp="http://schemas.microsoft.com/office/drawing/2018/hyperlinkcolor" val="tx"/>
                    </a:ext>
                  </a:extLst>
                </a:hlinkClick>
              </a:rPr>
              <a:t>StockAnalysis</a:t>
            </a:r>
            <a:endParaRPr sz="712" b="0" i="0" spc="4" dirty="0">
              <a:solidFill>
                <a:srgbClr val="8C6239"/>
              </a:solidFill>
              <a:latin typeface="Calibri"/>
              <a:hlinkClick r:id="rId78">
                <a:extLst>
                  <a:ext uri="{A12FA001-AC4F-418D-AE19-62706E023703}">
                    <ahyp:hlinkClr xmlns:ahyp="http://schemas.microsoft.com/office/drawing/2018/hyperlinkcolor" val="tx"/>
                  </a:ext>
                </a:extLst>
              </a:hlinkClick>
            </a:endParaRPr>
          </a:p>
          <a:p>
            <a:pPr algn="l">
              <a:lnSpc>
                <a:spcPts val="900"/>
              </a:lnSpc>
              <a:spcAft>
                <a:spcPts val="150"/>
              </a:spcAft>
            </a:pPr>
            <a:r>
              <a:rPr sz="600" b="1" i="0" spc="120" dirty="0">
                <a:solidFill>
                  <a:srgbClr val="1B1A1A"/>
                </a:solidFill>
                <a:latin typeface="Calibri"/>
              </a:rPr>
              <a:t>17 EARNINGS AND COMMENTARY</a:t>
            </a:r>
          </a:p>
          <a:p>
            <a:pPr>
              <a:lnSpc>
                <a:spcPts val="1050"/>
              </a:lnSpc>
              <a:spcAft>
                <a:spcPts val="819"/>
              </a:spcAft>
            </a:pPr>
            <a:r>
              <a:rPr sz="712" b="0" i="0" spc="4" dirty="0">
                <a:solidFill>
                  <a:srgbClr val="8C6239"/>
                </a:solidFill>
                <a:latin typeface="Calibri"/>
                <a:hlinkClick r:id="rId79">
                  <a:extLst>
                    <a:ext uri="{A12FA001-AC4F-418D-AE19-62706E023703}">
                      <ahyp:hlinkClr xmlns:ahyp="http://schemas.microsoft.com/office/drawing/2018/hyperlinkcolor" val="tx"/>
                    </a:ext>
                  </a:extLst>
                </a:hlinkClick>
              </a:rPr>
              <a:t>Ensign Group</a:t>
            </a:r>
            <a:r>
              <a:rPr sz="712" b="0" i="0" spc="4" dirty="0">
                <a:solidFill>
                  <a:srgbClr val="333231"/>
                </a:solidFill>
                <a:latin typeface="Calibri"/>
              </a:rPr>
              <a:t>; </a:t>
            </a:r>
            <a:r>
              <a:rPr sz="712" b="0" i="0" spc="4" dirty="0" err="1">
                <a:solidFill>
                  <a:srgbClr val="8C6239"/>
                </a:solidFill>
                <a:latin typeface="Calibri"/>
                <a:hlinkClick r:id="rId44">
                  <a:extLst>
                    <a:ext uri="{A12FA001-AC4F-418D-AE19-62706E023703}">
                      <ahyp:hlinkClr xmlns:ahyp="http://schemas.microsoft.com/office/drawing/2018/hyperlinkcolor" val="tx"/>
                    </a:ext>
                  </a:extLst>
                </a:hlinkClick>
              </a:rPr>
              <a:t>Medpace</a:t>
            </a:r>
            <a:r>
              <a:rPr sz="712" b="0" i="0" spc="4" dirty="0">
                <a:solidFill>
                  <a:srgbClr val="333231"/>
                </a:solidFill>
                <a:latin typeface="Calibri"/>
              </a:rPr>
              <a:t>; </a:t>
            </a:r>
            <a:r>
              <a:rPr sz="712" b="0" i="0" spc="4" dirty="0">
                <a:solidFill>
                  <a:srgbClr val="8C6239"/>
                </a:solidFill>
                <a:latin typeface="Calibri"/>
                <a:hlinkClick r:id="rId80">
                  <a:extLst>
                    <a:ext uri="{A12FA001-AC4F-418D-AE19-62706E023703}">
                      <ahyp:hlinkClr xmlns:ahyp="http://schemas.microsoft.com/office/drawing/2018/hyperlinkcolor" val="tx"/>
                    </a:ext>
                  </a:extLst>
                </a:hlinkClick>
              </a:rPr>
              <a:t>Quest Diagnostics</a:t>
            </a:r>
            <a:r>
              <a:rPr sz="712" b="0" i="0" spc="4" dirty="0">
                <a:solidFill>
                  <a:srgbClr val="333231"/>
                </a:solidFill>
                <a:latin typeface="Calibri"/>
              </a:rPr>
              <a:t>; </a:t>
            </a:r>
            <a:r>
              <a:rPr sz="712" b="0" i="0" spc="4" dirty="0" err="1">
                <a:solidFill>
                  <a:srgbClr val="8C6239"/>
                </a:solidFill>
                <a:latin typeface="Calibri"/>
                <a:hlinkClick r:id="rId81">
                  <a:extLst>
                    <a:ext uri="{A12FA001-AC4F-418D-AE19-62706E023703}">
                      <ahyp:hlinkClr xmlns:ahyp="http://schemas.microsoft.com/office/drawing/2018/hyperlinkcolor" val="tx"/>
                    </a:ext>
                  </a:extLst>
                </a:hlinkClick>
              </a:rPr>
              <a:t>Thermo</a:t>
            </a:r>
            <a:r>
              <a:rPr sz="712" b="0" i="0" spc="4" dirty="0">
                <a:solidFill>
                  <a:srgbClr val="8C6239"/>
                </a:solidFill>
                <a:latin typeface="Calibri"/>
                <a:hlinkClick r:id="rId81">
                  <a:extLst>
                    <a:ext uri="{A12FA001-AC4F-418D-AE19-62706E023703}">
                      <ahyp:hlinkClr xmlns:ahyp="http://schemas.microsoft.com/office/drawing/2018/hyperlinkcolor" val="tx"/>
                    </a:ext>
                  </a:extLst>
                </a:hlinkClick>
              </a:rPr>
              <a:t> Fisher Scientific</a:t>
            </a:r>
            <a:r>
              <a:rPr sz="712" b="0" i="0" spc="4" dirty="0">
                <a:solidFill>
                  <a:srgbClr val="333231"/>
                </a:solidFill>
                <a:latin typeface="Calibri"/>
              </a:rPr>
              <a:t>; </a:t>
            </a:r>
            <a:r>
              <a:rPr sz="712" b="0" i="0" spc="4" dirty="0">
                <a:solidFill>
                  <a:srgbClr val="8C6239"/>
                </a:solidFill>
                <a:latin typeface="Calibri"/>
                <a:hlinkClick r:id="rId47">
                  <a:extLst>
                    <a:ext uri="{A12FA001-AC4F-418D-AE19-62706E023703}">
                      <ahyp:hlinkClr xmlns:ahyp="http://schemas.microsoft.com/office/drawing/2018/hyperlinkcolor" val="tx"/>
                    </a:ext>
                  </a:extLst>
                </a:hlinkClick>
              </a:rPr>
              <a:t>Stryker</a:t>
            </a:r>
            <a:r>
              <a:rPr sz="712" b="0" i="0" spc="4" dirty="0">
                <a:solidFill>
                  <a:srgbClr val="333231"/>
                </a:solidFill>
                <a:latin typeface="Calibri"/>
              </a:rPr>
              <a:t>; </a:t>
            </a:r>
            <a:r>
              <a:rPr sz="712" b="0" i="0" spc="4" dirty="0">
                <a:solidFill>
                  <a:srgbClr val="8C6239"/>
                </a:solidFill>
                <a:latin typeface="Calibri"/>
                <a:hlinkClick r:id="rId82">
                  <a:extLst>
                    <a:ext uri="{A12FA001-AC4F-418D-AE19-62706E023703}">
                      <ahyp:hlinkClr xmlns:ahyp="http://schemas.microsoft.com/office/drawing/2018/hyperlinkcolor" val="tx"/>
                    </a:ext>
                  </a:extLst>
                </a:hlinkClick>
              </a:rPr>
              <a:t>HCA Healthcare</a:t>
            </a:r>
            <a:r>
              <a:rPr sz="712" b="0" i="0" spc="4" dirty="0">
                <a:solidFill>
                  <a:srgbClr val="333231"/>
                </a:solidFill>
                <a:latin typeface="Calibri"/>
              </a:rPr>
              <a:t>; </a:t>
            </a:r>
            <a:r>
              <a:rPr sz="712" b="0" i="0" spc="4" dirty="0">
                <a:solidFill>
                  <a:srgbClr val="8C6239"/>
                </a:solidFill>
                <a:latin typeface="Calibri"/>
                <a:hlinkClick r:id="rId83">
                  <a:extLst>
                    <a:ext uri="{A12FA001-AC4F-418D-AE19-62706E023703}">
                      <ahyp:hlinkClr xmlns:ahyp="http://schemas.microsoft.com/office/drawing/2018/hyperlinkcolor" val="tx"/>
                    </a:ext>
                  </a:extLst>
                </a:hlinkClick>
              </a:rPr>
              <a:t>IQVIA earnings release</a:t>
            </a:r>
            <a:r>
              <a:rPr sz="712" b="0" i="0" spc="4" dirty="0">
                <a:solidFill>
                  <a:srgbClr val="333231"/>
                </a:solidFill>
                <a:latin typeface="Calibri"/>
              </a:rPr>
              <a:t>; </a:t>
            </a:r>
            <a:r>
              <a:rPr sz="712" b="0" i="0" spc="4" dirty="0">
                <a:solidFill>
                  <a:srgbClr val="8C6239"/>
                </a:solidFill>
                <a:latin typeface="Calibri"/>
                <a:hlinkClick r:id="rId84">
                  <a:extLst>
                    <a:ext uri="{A12FA001-AC4F-418D-AE19-62706E023703}">
                      <ahyp:hlinkClr xmlns:ahyp="http://schemas.microsoft.com/office/drawing/2018/hyperlinkcolor" val="tx"/>
                    </a:ext>
                  </a:extLst>
                </a:hlinkClick>
              </a:rPr>
              <a:t>U.S. Physical Therapy</a:t>
            </a:r>
            <a:r>
              <a:rPr sz="712" b="0" i="0" spc="4" dirty="0">
                <a:solidFill>
                  <a:srgbClr val="333231"/>
                </a:solidFill>
                <a:latin typeface="Calibri"/>
              </a:rPr>
              <a:t>; </a:t>
            </a:r>
            <a:r>
              <a:rPr lang="en-US" sz="712" b="0" i="0" spc="4" dirty="0" err="1">
                <a:solidFill>
                  <a:srgbClr val="8C6239"/>
                </a:solidFill>
                <a:latin typeface="Calibri"/>
                <a:hlinkClick r:id="rId85"/>
              </a:rPr>
              <a:t>Addus</a:t>
            </a:r>
            <a:r>
              <a:rPr lang="en-US" sz="712" b="0" i="0" spc="4" dirty="0">
                <a:solidFill>
                  <a:srgbClr val="8C6239"/>
                </a:solidFill>
                <a:latin typeface="Calibri"/>
                <a:hlinkClick r:id="rId85"/>
              </a:rPr>
              <a:t> </a:t>
            </a:r>
            <a:r>
              <a:rPr lang="en-US" sz="712" b="0" i="0" spc="4" dirty="0" err="1">
                <a:solidFill>
                  <a:srgbClr val="8C6239"/>
                </a:solidFill>
                <a:latin typeface="Calibri"/>
                <a:hlinkClick r:id="rId85"/>
              </a:rPr>
              <a:t>HomeCare</a:t>
            </a:r>
            <a:r>
              <a:rPr sz="712" b="0" i="0" spc="4" dirty="0">
                <a:solidFill>
                  <a:srgbClr val="333231"/>
                </a:solidFill>
                <a:latin typeface="Calibri"/>
              </a:rPr>
              <a:t>; </a:t>
            </a:r>
            <a:r>
              <a:rPr sz="712" b="0" i="0" spc="4" dirty="0">
                <a:solidFill>
                  <a:srgbClr val="8C6239"/>
                </a:solidFill>
                <a:latin typeface="Calibri"/>
                <a:hlinkClick r:id="rId86">
                  <a:extLst>
                    <a:ext uri="{A12FA001-AC4F-418D-AE19-62706E023703}">
                      <ahyp:hlinkClr xmlns:ahyp="http://schemas.microsoft.com/office/drawing/2018/hyperlinkcolor" val="tx"/>
                    </a:ext>
                  </a:extLst>
                </a:hlinkClick>
              </a:rPr>
              <a:t>McKesson</a:t>
            </a:r>
            <a:r>
              <a:rPr sz="712" b="0" i="0" spc="4" dirty="0">
                <a:solidFill>
                  <a:srgbClr val="333231"/>
                </a:solidFill>
                <a:latin typeface="Calibri"/>
              </a:rPr>
              <a:t>; </a:t>
            </a:r>
            <a:r>
              <a:rPr sz="712" b="0" i="0" spc="4" dirty="0">
                <a:solidFill>
                  <a:srgbClr val="8C6239"/>
                </a:solidFill>
                <a:latin typeface="Calibri"/>
                <a:hlinkClick r:id="rId87">
                  <a:extLst>
                    <a:ext uri="{A12FA001-AC4F-418D-AE19-62706E023703}">
                      <ahyp:hlinkClr xmlns:ahyp="http://schemas.microsoft.com/office/drawing/2018/hyperlinkcolor" val="tx"/>
                    </a:ext>
                  </a:extLst>
                </a:hlinkClick>
              </a:rPr>
              <a:t>Steris</a:t>
            </a:r>
            <a:r>
              <a:rPr sz="712" b="0" i="0" spc="4" dirty="0">
                <a:solidFill>
                  <a:srgbClr val="333231"/>
                </a:solidFill>
                <a:latin typeface="Calibri"/>
              </a:rPr>
              <a:t>; </a:t>
            </a:r>
            <a:r>
              <a:rPr sz="712" b="0" i="0" spc="4" dirty="0">
                <a:solidFill>
                  <a:srgbClr val="8C6239"/>
                </a:solidFill>
                <a:latin typeface="Calibri"/>
                <a:hlinkClick r:id="rId88">
                  <a:extLst>
                    <a:ext uri="{A12FA001-AC4F-418D-AE19-62706E023703}">
                      <ahyp:hlinkClr xmlns:ahyp="http://schemas.microsoft.com/office/drawing/2018/hyperlinkcolor" val="tx"/>
                    </a:ext>
                  </a:extLst>
                </a:hlinkClick>
              </a:rPr>
              <a:t>Tenet Healthcare</a:t>
            </a:r>
            <a:r>
              <a:rPr sz="712" b="0" i="0" spc="4" dirty="0">
                <a:solidFill>
                  <a:srgbClr val="333231"/>
                </a:solidFill>
                <a:latin typeface="Calibri"/>
              </a:rPr>
              <a:t>; </a:t>
            </a:r>
            <a:r>
              <a:rPr sz="712" b="0" i="0" spc="4" dirty="0">
                <a:solidFill>
                  <a:srgbClr val="8C6239"/>
                </a:solidFill>
                <a:latin typeface="Calibri"/>
                <a:hlinkClick r:id="rId89">
                  <a:extLst>
                    <a:ext uri="{A12FA001-AC4F-418D-AE19-62706E023703}">
                      <ahyp:hlinkClr xmlns:ahyp="http://schemas.microsoft.com/office/drawing/2018/hyperlinkcolor" val="tx"/>
                    </a:ext>
                  </a:extLst>
                </a:hlinkClick>
              </a:rPr>
              <a:t>Henry Schein</a:t>
            </a:r>
            <a:r>
              <a:rPr sz="712" b="0" i="0" spc="4" dirty="0">
                <a:solidFill>
                  <a:srgbClr val="333231"/>
                </a:solidFill>
                <a:latin typeface="Calibri"/>
              </a:rPr>
              <a:t>; </a:t>
            </a:r>
            <a:r>
              <a:rPr sz="712" b="0" i="0" spc="4" dirty="0">
                <a:solidFill>
                  <a:srgbClr val="8C6239"/>
                </a:solidFill>
                <a:latin typeface="Calibri"/>
                <a:hlinkClick r:id="rId90">
                  <a:extLst>
                    <a:ext uri="{A12FA001-AC4F-418D-AE19-62706E023703}">
                      <ahyp:hlinkClr xmlns:ahyp="http://schemas.microsoft.com/office/drawing/2018/hyperlinkcolor" val="tx"/>
                    </a:ext>
                  </a:extLst>
                </a:hlinkClick>
              </a:rPr>
              <a:t>Cardinal Health</a:t>
            </a:r>
            <a:r>
              <a:rPr sz="712" b="0" i="0" spc="4" dirty="0">
                <a:solidFill>
                  <a:srgbClr val="333231"/>
                </a:solidFill>
                <a:latin typeface="Calibri"/>
              </a:rPr>
              <a:t>; </a:t>
            </a:r>
            <a:r>
              <a:rPr sz="712" b="0" i="0" spc="4" dirty="0" err="1">
                <a:solidFill>
                  <a:srgbClr val="8C6239"/>
                </a:solidFill>
                <a:latin typeface="Calibri"/>
                <a:hlinkClick r:id="rId91">
                  <a:extLst>
                    <a:ext uri="{A12FA001-AC4F-418D-AE19-62706E023703}">
                      <ahyp:hlinkClr xmlns:ahyp="http://schemas.microsoft.com/office/drawing/2018/hyperlinkcolor" val="tx"/>
                    </a:ext>
                  </a:extLst>
                </a:hlinkClick>
              </a:rPr>
              <a:t>Labcorp</a:t>
            </a:r>
            <a:r>
              <a:rPr sz="712" b="0" i="0" spc="4" dirty="0">
                <a:solidFill>
                  <a:srgbClr val="333231"/>
                </a:solidFill>
                <a:latin typeface="Calibri"/>
              </a:rPr>
              <a:t>; </a:t>
            </a:r>
            <a:r>
              <a:rPr sz="712" b="0" i="0" spc="4" dirty="0">
                <a:solidFill>
                  <a:srgbClr val="8C6239"/>
                </a:solidFill>
                <a:latin typeface="Calibri"/>
                <a:hlinkClick r:id="rId55">
                  <a:extLst>
                    <a:ext uri="{A12FA001-AC4F-418D-AE19-62706E023703}">
                      <ahyp:hlinkClr xmlns:ahyp="http://schemas.microsoft.com/office/drawing/2018/hyperlinkcolor" val="tx"/>
                    </a:ext>
                  </a:extLst>
                </a:hlinkClick>
              </a:rPr>
              <a:t>Guardian Pharmacy Services</a:t>
            </a:r>
            <a:r>
              <a:rPr sz="712" b="0" i="0" spc="4" dirty="0">
                <a:solidFill>
                  <a:srgbClr val="333231"/>
                </a:solidFill>
                <a:latin typeface="Calibri"/>
              </a:rPr>
              <a:t>; </a:t>
            </a:r>
            <a:r>
              <a:rPr sz="712" b="0" i="0" spc="4" dirty="0">
                <a:solidFill>
                  <a:srgbClr val="8C6239"/>
                </a:solidFill>
                <a:latin typeface="Calibri"/>
                <a:hlinkClick r:id="rId92">
                  <a:extLst>
                    <a:ext uri="{A12FA001-AC4F-418D-AE19-62706E023703}">
                      <ahyp:hlinkClr xmlns:ahyp="http://schemas.microsoft.com/office/drawing/2018/hyperlinkcolor" val="tx"/>
                    </a:ext>
                  </a:extLst>
                </a:hlinkClick>
              </a:rPr>
              <a:t>AMN Healthcare</a:t>
            </a:r>
            <a:r>
              <a:rPr sz="712" b="0" i="0" spc="4" dirty="0">
                <a:solidFill>
                  <a:srgbClr val="333231"/>
                </a:solidFill>
                <a:latin typeface="Calibri"/>
              </a:rPr>
              <a:t>; </a:t>
            </a:r>
            <a:r>
              <a:rPr sz="712" spc="4" dirty="0">
                <a:solidFill>
                  <a:srgbClr val="8C6239"/>
                </a:solidFill>
                <a:latin typeface="Calibri"/>
                <a:hlinkClick r:id="rId93">
                  <a:extLst>
                    <a:ext uri="{A12FA001-AC4F-418D-AE19-62706E023703}">
                      <ahyp:hlinkClr xmlns:ahyp="http://schemas.microsoft.com/office/drawing/2018/hyperlinkcolor" val="tx"/>
                    </a:ext>
                  </a:extLst>
                </a:hlinkClick>
              </a:rPr>
              <a:t>Option Care Health</a:t>
            </a:r>
            <a:r>
              <a:rPr lang="en-US" sz="712" spc="4" dirty="0">
                <a:solidFill>
                  <a:srgbClr val="8C6239"/>
                </a:solidFill>
                <a:latin typeface="Calibri"/>
              </a:rPr>
              <a:t>; </a:t>
            </a:r>
            <a:r>
              <a:rPr lang="en-US" sz="712" spc="4" dirty="0">
                <a:solidFill>
                  <a:srgbClr val="8C6239"/>
                </a:solidFill>
                <a:hlinkClick r:id="rId90"/>
              </a:rPr>
              <a:t>Cardinal Health</a:t>
            </a:r>
            <a:endParaRPr lang="en-US" sz="712" spc="4" dirty="0">
              <a:solidFill>
                <a:srgbClr val="8C6239"/>
              </a:solidFill>
            </a:endParaRPr>
          </a:p>
          <a:p>
            <a:pPr>
              <a:lnSpc>
                <a:spcPts val="1050"/>
              </a:lnSpc>
              <a:spcAft>
                <a:spcPts val="819"/>
              </a:spcAft>
            </a:pPr>
            <a:endParaRPr lang="en-US" sz="712" spc="4" dirty="0">
              <a:solidFill>
                <a:srgbClr val="8C6239"/>
              </a:solidFill>
            </a:endParaRPr>
          </a:p>
          <a:p>
            <a:pPr>
              <a:lnSpc>
                <a:spcPts val="1050"/>
              </a:lnSpc>
              <a:spcAft>
                <a:spcPts val="819"/>
              </a:spcAft>
            </a:pPr>
            <a:r>
              <a:rPr sz="600" b="1" i="0" spc="120" dirty="0">
                <a:solidFill>
                  <a:srgbClr val="1B1A1A"/>
                </a:solidFill>
                <a:latin typeface="Calibri"/>
              </a:rPr>
              <a:t>21 BENCHMARK INTERNATIONAL</a:t>
            </a:r>
          </a:p>
          <a:p>
            <a:pPr algn="l">
              <a:lnSpc>
                <a:spcPts val="1050"/>
              </a:lnSpc>
              <a:spcAft>
                <a:spcPts val="819"/>
              </a:spcAft>
            </a:pPr>
            <a:r>
              <a:rPr sz="712" b="0" i="0" spc="4" dirty="0">
                <a:solidFill>
                  <a:srgbClr val="8C6239"/>
                </a:solidFill>
                <a:latin typeface="Calibri"/>
                <a:hlinkClick r:id="rId68">
                  <a:extLst>
                    <a:ext uri="{A12FA001-AC4F-418D-AE19-62706E023703}">
                      <ahyp:hlinkClr xmlns:ahyp="http://schemas.microsoft.com/office/drawing/2018/hyperlinkcolor" val="tx"/>
                    </a:ext>
                  </a:extLst>
                </a:hlinkClick>
              </a:rPr>
              <a:t>benchmarkintl.com</a:t>
            </a:r>
          </a:p>
          <a:p>
            <a:pPr algn="l">
              <a:lnSpc>
                <a:spcPts val="900"/>
              </a:lnSpc>
              <a:spcAft>
                <a:spcPts val="150"/>
              </a:spcAft>
            </a:pPr>
            <a:r>
              <a:rPr sz="600" b="1" i="0" spc="120" dirty="0">
                <a:solidFill>
                  <a:srgbClr val="1B1A1A"/>
                </a:solidFill>
                <a:latin typeface="Calibri"/>
              </a:rPr>
              <a:t>23 APPENDIX: PUBLIC MARKET OPERATING AND VALUATION METRICS</a:t>
            </a:r>
          </a:p>
          <a:p>
            <a:pPr algn="l">
              <a:lnSpc>
                <a:spcPts val="1050"/>
              </a:lnSpc>
              <a:spcAft>
                <a:spcPts val="819"/>
              </a:spcAft>
            </a:pPr>
            <a:r>
              <a:rPr sz="712" b="0" i="0" spc="4" dirty="0" err="1">
                <a:solidFill>
                  <a:srgbClr val="8C6239"/>
                </a:solidFill>
                <a:latin typeface="Calibri"/>
                <a:hlinkClick r:id="rId78">
                  <a:extLst>
                    <a:ext uri="{A12FA001-AC4F-418D-AE19-62706E023703}">
                      <ahyp:hlinkClr xmlns:ahyp="http://schemas.microsoft.com/office/drawing/2018/hyperlinkcolor" val="tx"/>
                    </a:ext>
                  </a:extLst>
                </a:hlinkClick>
              </a:rPr>
              <a:t>StockAnalysis</a:t>
            </a:r>
            <a:endParaRPr sz="712" b="0" i="0" spc="4" dirty="0">
              <a:solidFill>
                <a:srgbClr val="8C6239"/>
              </a:solidFill>
              <a:latin typeface="Calibri"/>
              <a:hlinkClick r:id="rId78">
                <a:extLst>
                  <a:ext uri="{A12FA001-AC4F-418D-AE19-62706E023703}">
                    <ahyp:hlinkClr xmlns:ahyp="http://schemas.microsoft.com/office/drawing/2018/hyperlinkcolor" val="tx"/>
                  </a:ext>
                </a:extLst>
              </a:hlinkClick>
            </a:endParaRPr>
          </a:p>
          <a:p>
            <a:pPr algn="l">
              <a:lnSpc>
                <a:spcPts val="900"/>
              </a:lnSpc>
              <a:spcAft>
                <a:spcPts val="150"/>
              </a:spcAft>
            </a:pPr>
            <a:r>
              <a:rPr sz="600" b="1" i="0" spc="120" dirty="0">
                <a:solidFill>
                  <a:srgbClr val="1B1A1A"/>
                </a:solidFill>
                <a:latin typeface="Calibri"/>
              </a:rPr>
              <a:t>24 APPENDIX: PUBLIC MARKET OPERATING AND VALUATION METRICS</a:t>
            </a:r>
          </a:p>
          <a:p>
            <a:pPr algn="l">
              <a:lnSpc>
                <a:spcPts val="1050"/>
              </a:lnSpc>
              <a:spcAft>
                <a:spcPts val="819"/>
              </a:spcAft>
            </a:pPr>
            <a:r>
              <a:rPr sz="712" b="0" i="0" spc="4" dirty="0" err="1">
                <a:solidFill>
                  <a:srgbClr val="8C6239"/>
                </a:solidFill>
                <a:latin typeface="Calibri"/>
                <a:hlinkClick r:id="rId78">
                  <a:extLst>
                    <a:ext uri="{A12FA001-AC4F-418D-AE19-62706E023703}">
                      <ahyp:hlinkClr xmlns:ahyp="http://schemas.microsoft.com/office/drawing/2018/hyperlinkcolor" val="tx"/>
                    </a:ext>
                  </a:extLst>
                </a:hlinkClick>
              </a:rPr>
              <a:t>StockAnalysis</a:t>
            </a:r>
            <a:endParaRPr sz="712" b="0" i="0" spc="4" dirty="0">
              <a:solidFill>
                <a:srgbClr val="8C6239"/>
              </a:solidFill>
              <a:latin typeface="Calibri"/>
              <a:hlinkClick r:id="rId78">
                <a:extLst>
                  <a:ext uri="{A12FA001-AC4F-418D-AE19-62706E023703}">
                    <ahyp:hlinkClr xmlns:ahyp="http://schemas.microsoft.com/office/drawing/2018/hyperlinkcolor" val="tx"/>
                  </a:ext>
                </a:extLst>
              </a:hlinkClick>
            </a:endParaRPr>
          </a:p>
        </p:txBody>
      </p:sp>
      <p:sp>
        <p:nvSpPr>
          <p:cNvPr id="9" name="Rectangle 8"/>
          <p:cNvSpPr/>
          <p:nvPr/>
        </p:nvSpPr>
        <p:spPr>
          <a:xfrm>
            <a:off x="419100" y="7029450"/>
            <a:ext cx="9220200" cy="9525"/>
          </a:xfrm>
          <a:prstGeom prst="rect">
            <a:avLst/>
          </a:prstGeom>
          <a:solidFill>
            <a:srgbClr val="E3DCD3"/>
          </a:solidFill>
          <a:ln>
            <a:noFill/>
          </a:ln>
          <a:effectLst/>
        </p:spPr>
        <p:txBody>
          <a:bodyPr rtlCol="0" anchor="ctr"/>
          <a:lstStyle/>
          <a:p>
            <a:pPr algn="ctr"/>
            <a:endParaRPr/>
          </a:p>
        </p:txBody>
      </p:sp>
      <p:pic>
        <p:nvPicPr>
          <p:cNvPr id="10" name="Picture 9" descr="Benchmark International"/>
          <p:cNvPicPr>
            <a:picLocks noChangeAspect="1"/>
          </p:cNvPicPr>
          <p:nvPr/>
        </p:nvPicPr>
        <p:blipFill>
          <a:blip r:embed="rId94"/>
          <a:srcRect/>
          <a:stretch>
            <a:fillRect/>
          </a:stretch>
        </p:blipFill>
        <p:spPr>
          <a:xfrm>
            <a:off x="419100" y="7143750"/>
            <a:ext cx="914400" cy="171450"/>
          </a:xfrm>
          <a:prstGeom prst="rect">
            <a:avLst/>
          </a:prstGeom>
        </p:spPr>
      </p:pic>
      <p:sp>
        <p:nvSpPr>
          <p:cNvPr id="11" name="Text: Listed-company data pages at "/>
          <p:cNvSpPr txBox="1"/>
          <p:nvPr/>
        </p:nvSpPr>
        <p:spPr>
          <a:xfrm>
            <a:off x="1543050" y="7105650"/>
            <a:ext cx="7748588" cy="238125"/>
          </a:xfrm>
          <a:prstGeom prst="rect">
            <a:avLst/>
          </a:prstGeom>
          <a:noFill/>
        </p:spPr>
        <p:txBody>
          <a:bodyPr wrap="square" lIns="0" tIns="0" rIns="0" bIns="0" anchor="t">
            <a:spAutoFit/>
          </a:bodyPr>
          <a:lstStyle/>
          <a:p>
            <a:pPr algn="l">
              <a:lnSpc>
                <a:spcPts val="938"/>
              </a:lnSpc>
            </a:pPr>
            <a:r>
              <a:rPr sz="675" b="0" i="0" spc="8">
                <a:solidFill>
                  <a:srgbClr val="6F6A66"/>
                </a:solidFill>
                <a:latin typeface="Calibri"/>
              </a:rPr>
              <a:t>Listed-company data pages at </a:t>
            </a:r>
            <a:r>
              <a:rPr sz="675" b="0" i="0" spc="8">
                <a:solidFill>
                  <a:srgbClr val="8C6239"/>
                </a:solidFill>
                <a:latin typeface="Calibri"/>
                <a:hlinkClick r:id="rId78">
                  <a:extLst>
                    <a:ext uri="{A12FA001-AC4F-418D-AE19-62706E023703}">
                      <ahyp:hlinkClr xmlns:ahyp="http://schemas.microsoft.com/office/drawing/2018/hyperlinkcolor" val="tx"/>
                    </a:ext>
                  </a:extLst>
                </a:hlinkClick>
              </a:rPr>
              <a:t>StockAnalysis</a:t>
            </a:r>
            <a:r>
              <a:rPr sz="675" b="0" i="0" spc="8">
                <a:solidFill>
                  <a:srgbClr val="6F6A66"/>
                </a:solidFill>
                <a:latin typeface="Calibri"/>
              </a:rPr>
              <a:t> are linked from each company name in the market participants and appendix pages.</a:t>
            </a:r>
          </a:p>
        </p:txBody>
      </p:sp>
      <p:sp>
        <p:nvSpPr>
          <p:cNvPr id="12" name="Text: 25"/>
          <p:cNvSpPr txBox="1"/>
          <p:nvPr/>
        </p:nvSpPr>
        <p:spPr>
          <a:xfrm>
            <a:off x="9509373" y="7162800"/>
            <a:ext cx="144214" cy="133350"/>
          </a:xfrm>
          <a:prstGeom prst="rect">
            <a:avLst/>
          </a:prstGeom>
          <a:noFill/>
        </p:spPr>
        <p:txBody>
          <a:bodyPr wrap="square" lIns="0" tIns="0" rIns="0" bIns="0" anchor="t">
            <a:spAutoFit/>
          </a:bodyPr>
          <a:lstStyle/>
          <a:p>
            <a:pPr algn="l">
              <a:lnSpc>
                <a:spcPts val="1050"/>
              </a:lnSpc>
            </a:pPr>
            <a:r>
              <a:rPr sz="712" b="1" i="0" spc="150">
                <a:solidFill>
                  <a:srgbClr val="1B1A1A"/>
                </a:solidFill>
                <a:latin typeface="Calibri"/>
              </a:rPr>
              <a:t>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8C6239"/>
      </a:hlink>
      <a:folHlink>
        <a:srgbClr val="8C623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135</TotalTime>
  <Words>8466</Words>
  <Application>Microsoft Office PowerPoint</Application>
  <PresentationFormat>Custom</PresentationFormat>
  <Paragraphs>1371</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Healthcare Q4 2026 Industry Report</dc:title>
  <dc:subject>Healthcare quarterly industry report, Q4 2026</dc:subject>
  <dc:creator>Jared Hardin, Benchmark International</dc:creator>
  <cp:keywords/>
  <dc:description/>
  <cp:lastModifiedBy>Benchmark International</cp:lastModifiedBy>
  <cp:revision>5</cp:revision>
  <dcterms:created xsi:type="dcterms:W3CDTF">2013-01-27T09:14:16Z</dcterms:created>
  <dcterms:modified xsi:type="dcterms:W3CDTF">2026-10-14T13:27:31Z</dcterms:modified>
  <cp:category/>
</cp:coreProperties>
</file>