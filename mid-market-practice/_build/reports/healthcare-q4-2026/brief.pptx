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focus area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 BENCHMARK CAPITAL MARKETS"/>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SECTOR BRIEF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focus areas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SECTOR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market landscape,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 The BCM team and Benchmark Interna"/>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Healthcare M&amp;A: state of play"/>
          <p:cNvSpPr txBox="1"/>
          <p:nvPr/>
        </p:nvSpPr>
        <p:spPr>
          <a:xfrm>
            <a:off x="781050" y="4010025"/>
            <a:ext cx="152191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Healthcare M&amp;A: state of play</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Historical market context"/>
          <p:cNvSpPr txBox="1"/>
          <p:nvPr/>
        </p:nvSpPr>
        <p:spPr>
          <a:xfrm>
            <a:off x="781050" y="4352925"/>
            <a:ext cx="127039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Historical market context</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Fundamentals supporting activity"/>
          <p:cNvSpPr txBox="1"/>
          <p:nvPr/>
        </p:nvSpPr>
        <p:spPr>
          <a:xfrm>
            <a:off x="781050" y="4695825"/>
            <a:ext cx="1687562"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Fundamentals supporting activity</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Perspectives on four focus areas"/>
          <p:cNvSpPr txBox="1"/>
          <p:nvPr/>
        </p:nvSpPr>
        <p:spPr>
          <a:xfrm>
            <a:off x="781050" y="5038725"/>
            <a:ext cx="162713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Perspectives on four focus areas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What we're reading"/>
          <p:cNvSpPr txBox="1"/>
          <p:nvPr/>
        </p:nvSpPr>
        <p:spPr>
          <a:xfrm>
            <a:off x="781050" y="5381625"/>
            <a:ext cx="1000274"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What we're reading</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dynamics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focus areas.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focus area,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Sector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Landscape of select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Landscape: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focus area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focus area.</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focus areas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Focus Area</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focus areas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focus area</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focus areas,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The Benchmark Capital Markets team"/>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Owners considering a sale, a recapitalization or a growth partnership in any of the four focus areas, and the advisors who work with them, are welcome to call or write.</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REPORT ONLINE</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 Benchmark Capital Markets (BCM), 4"/>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 The BCM team leads each engagement"/>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 Benchmark Capital Markets"/>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 Benchmark Capital Markets (BCM) re"/>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07" name="Text: azykov@benchmarkintl.com"/>
          <p:cNvSpPr txBox="1"/>
          <p:nvPr/>
        </p:nvSpPr>
        <p:spPr>
          <a:xfrm>
            <a:off x="6407869"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21">
                  <a:extLst>
                    <a:ext uri="{A12FA001-AC4F-418D-AE19-62706E023703}">
                      <ahyp:hlinkClr xmlns:ahyp="http://schemas.microsoft.com/office/drawing/2018/hyperlinkcolor" val="tx"/>
                    </a:ext>
                  </a:extLst>
                </a:hlinkClick>
              </a:rPr>
              <a:t>813-898-2372</a:t>
            </a:r>
            <a:br/>
            <a:r>
              <a:rPr sz="788" b="0" i="0" spc="15">
                <a:solidFill>
                  <a:srgbClr val="8C6239"/>
                </a:solidFill>
                <a:latin typeface="Calibri"/>
                <a:hlinkClick r:id="rId22">
                  <a:extLst>
                    <a:ext uri="{A12FA001-AC4F-418D-AE19-62706E023703}">
                      <ahyp:hlinkClr xmlns:ahyp="http://schemas.microsoft.com/office/drawing/2018/hyperlinkcolor" val="tx"/>
                    </a:ext>
                  </a:extLst>
                </a:hlinkClick>
              </a:rPr>
              <a:t>azykov@benchmarkintl.com</a:t>
            </a:r>
          </a:p>
        </p:txBody>
      </p:sp>
      <p:sp>
        <p:nvSpPr>
          <p:cNvPr id="108" name="Text: hess@benchmarkintl.com"/>
          <p:cNvSpPr txBox="1"/>
          <p:nvPr/>
        </p:nvSpPr>
        <p:spPr>
          <a:xfrm>
            <a:off x="8193733"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23">
                  <a:extLst>
                    <a:ext uri="{A12FA001-AC4F-418D-AE19-62706E023703}">
                      <ahyp:hlinkClr xmlns:ahyp="http://schemas.microsoft.com/office/drawing/2018/hyperlinkcolor" val="tx"/>
                    </a:ext>
                  </a:extLst>
                </a:hlinkClick>
              </a:rPr>
              <a:t>813-898-2397</a:t>
            </a:r>
            <a:br/>
            <a:r>
              <a:rPr sz="788" b="0" i="0" spc="15">
                <a:solidFill>
                  <a:srgbClr val="8C6239"/>
                </a:solidFill>
                <a:latin typeface="Calibri"/>
                <a:hlinkClick r:id="rId24">
                  <a:extLst>
                    <a:ext uri="{A12FA001-AC4F-418D-AE19-62706E023703}">
                      <ahyp:hlinkClr xmlns:ahyp="http://schemas.microsoft.com/office/drawing/2018/hyperlinkcolor" val="tx"/>
                    </a:ext>
                  </a:extLst>
                </a:hlinkClick>
              </a:rPr>
              <a:t>hess@benchmarkintl.com</a:t>
            </a:r>
          </a:p>
        </p:txBody>
      </p:sp>
      <p:sp>
        <p:nvSpPr>
          <p:cNvPr id="109" name="Text: garten@benchmarkintl.com"/>
          <p:cNvSpPr txBox="1"/>
          <p:nvPr/>
        </p:nvSpPr>
        <p:spPr>
          <a:xfrm>
            <a:off x="338137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5">
                  <a:extLst>
                    <a:ext uri="{A12FA001-AC4F-418D-AE19-62706E023703}">
                      <ahyp:hlinkClr xmlns:ahyp="http://schemas.microsoft.com/office/drawing/2018/hyperlinkcolor" val="tx"/>
                    </a:ext>
                  </a:extLst>
                </a:hlinkClick>
              </a:rPr>
              <a:t>813-898-2357</a:t>
            </a:r>
            <a:br/>
            <a:r>
              <a:rPr sz="675" b="0" i="0" spc="15">
                <a:solidFill>
                  <a:srgbClr val="8C6239"/>
                </a:solidFill>
                <a:latin typeface="Calibri"/>
                <a:hlinkClick r:id="rId26">
                  <a:extLst>
                    <a:ext uri="{A12FA001-AC4F-418D-AE19-62706E023703}">
                      <ahyp:hlinkClr xmlns:ahyp="http://schemas.microsoft.com/office/drawing/2018/hyperlinkcolor" val="tx"/>
                    </a:ext>
                  </a:extLst>
                </a:hlinkClick>
              </a:rPr>
              <a:t>garten@benchmarkintl.com</a:t>
            </a:r>
          </a:p>
        </p:txBody>
      </p:sp>
      <p:sp>
        <p:nvSpPr>
          <p:cNvPr id="110" name="Text: mwynn@benchmarkintl.com"/>
          <p:cNvSpPr txBox="1"/>
          <p:nvPr/>
        </p:nvSpPr>
        <p:spPr>
          <a:xfrm>
            <a:off x="576262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7">
                  <a:extLst>
                    <a:ext uri="{A12FA001-AC4F-418D-AE19-62706E023703}">
                      <ahyp:hlinkClr xmlns:ahyp="http://schemas.microsoft.com/office/drawing/2018/hyperlinkcolor" val="tx"/>
                    </a:ext>
                  </a:extLst>
                </a:hlinkClick>
              </a:rPr>
              <a:t>813-384-4972</a:t>
            </a:r>
            <a:br/>
            <a:r>
              <a:rPr sz="675" b="0" i="0" spc="15">
                <a:solidFill>
                  <a:srgbClr val="8C6239"/>
                </a:solidFill>
                <a:latin typeface="Calibri"/>
                <a:hlinkClick r:id="rId28">
                  <a:extLst>
                    <a:ext uri="{A12FA001-AC4F-418D-AE19-62706E023703}">
                      <ahyp:hlinkClr xmlns:ahyp="http://schemas.microsoft.com/office/drawing/2018/hyperlinkcolor" val="tx"/>
                    </a:ext>
                  </a:extLst>
                </a:hlinkClick>
              </a:rPr>
              <a:t>mwynn@benchmarkintl.com</a:t>
            </a:r>
          </a:p>
        </p:txBody>
      </p:sp>
      <p:sp>
        <p:nvSpPr>
          <p:cNvPr id="111" name="Text: jlisiak@benchmarkintl.com"/>
          <p:cNvSpPr txBox="1"/>
          <p:nvPr/>
        </p:nvSpPr>
        <p:spPr>
          <a:xfrm>
            <a:off x="814387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9">
                  <a:extLst>
                    <a:ext uri="{A12FA001-AC4F-418D-AE19-62706E023703}">
                      <ahyp:hlinkClr xmlns:ahyp="http://schemas.microsoft.com/office/drawing/2018/hyperlinkcolor" val="tx"/>
                    </a:ext>
                  </a:extLst>
                </a:hlinkClick>
              </a:rPr>
              <a:t>jlisiak@benchmarkintl.com</a:t>
            </a:r>
          </a:p>
        </p:txBody>
      </p:sp>
      <p:sp>
        <p:nvSpPr>
          <p:cNvPr id="112" name="Text: abarr@benchmarkintl.com"/>
          <p:cNvSpPr txBox="1"/>
          <p:nvPr/>
        </p:nvSpPr>
        <p:spPr>
          <a:xfrm>
            <a:off x="338137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0">
                  <a:extLst>
                    <a:ext uri="{A12FA001-AC4F-418D-AE19-62706E023703}">
                      <ahyp:hlinkClr xmlns:ahyp="http://schemas.microsoft.com/office/drawing/2018/hyperlinkcolor" val="tx"/>
                    </a:ext>
                  </a:extLst>
                </a:hlinkClick>
              </a:rPr>
              <a:t>813-387-6046</a:t>
            </a:r>
            <a:br/>
            <a:r>
              <a:rPr sz="675" b="0" i="0" spc="15">
                <a:solidFill>
                  <a:srgbClr val="8C6239"/>
                </a:solidFill>
                <a:latin typeface="Calibri"/>
                <a:hlinkClick r:id="rId31">
                  <a:extLst>
                    <a:ext uri="{A12FA001-AC4F-418D-AE19-62706E023703}">
                      <ahyp:hlinkClr xmlns:ahyp="http://schemas.microsoft.com/office/drawing/2018/hyperlinkcolor" val="tx"/>
                    </a:ext>
                  </a:extLst>
                </a:hlinkClick>
              </a:rPr>
              <a:t>abarr@benchmarkintl.com</a:t>
            </a:r>
          </a:p>
        </p:txBody>
      </p:sp>
      <p:sp>
        <p:nvSpPr>
          <p:cNvPr id="113" name="Text: jwarren@benchmarkintl.com"/>
          <p:cNvSpPr txBox="1"/>
          <p:nvPr/>
        </p:nvSpPr>
        <p:spPr>
          <a:xfrm>
            <a:off x="576262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2">
                  <a:extLst>
                    <a:ext uri="{A12FA001-AC4F-418D-AE19-62706E023703}">
                      <ahyp:hlinkClr xmlns:ahyp="http://schemas.microsoft.com/office/drawing/2018/hyperlinkcolor" val="tx"/>
                    </a:ext>
                  </a:extLst>
                </a:hlinkClick>
              </a:rPr>
              <a:t>813-898-2398</a:t>
            </a:r>
            <a:br/>
            <a:r>
              <a:rPr sz="675" b="0" i="0" spc="15">
                <a:solidFill>
                  <a:srgbClr val="8C6239"/>
                </a:solidFill>
                <a:latin typeface="Calibri"/>
                <a:hlinkClick r:id="rId33">
                  <a:extLst>
                    <a:ext uri="{A12FA001-AC4F-418D-AE19-62706E023703}">
                      <ahyp:hlinkClr xmlns:ahyp="http://schemas.microsoft.com/office/drawing/2018/hyperlinkcolor" val="tx"/>
                    </a:ext>
                  </a:extLst>
                </a:hlinkClick>
              </a:rPr>
              <a:t>jwarren@benchmarkintl.com</a:t>
            </a:r>
          </a:p>
        </p:txBody>
      </p:sp>
      <p:sp>
        <p:nvSpPr>
          <p:cNvPr id="114" name="Text: lernst@benchmarkintl.com"/>
          <p:cNvSpPr txBox="1"/>
          <p:nvPr/>
        </p:nvSpPr>
        <p:spPr>
          <a:xfrm>
            <a:off x="814387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4">
                  <a:extLst>
                    <a:ext uri="{A12FA001-AC4F-418D-AE19-62706E023703}">
                      <ahyp:hlinkClr xmlns:ahyp="http://schemas.microsoft.com/office/drawing/2018/hyperlinkcolor" val="tx"/>
                    </a:ext>
                  </a:extLst>
                </a:hlinkClick>
              </a:rPr>
              <a:t>813-771-6318</a:t>
            </a:r>
            <a:br/>
            <a:r>
              <a:rPr sz="675" b="0" i="0" spc="15">
                <a:solidFill>
                  <a:srgbClr val="8C6239"/>
                </a:solidFill>
                <a:latin typeface="Calibri"/>
                <a:hlinkClick r:id="rId35">
                  <a:extLst>
                    <a:ext uri="{A12FA001-AC4F-418D-AE19-62706E023703}">
                      <ahyp:hlinkClr xmlns:ahyp="http://schemas.microsoft.com/office/drawing/2018/hyperlinkcolor" val="tx"/>
                    </a:ext>
                  </a:extLst>
                </a:hlinkClick>
              </a:rPr>
              <a:t>lernst@benchmarkintl.com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 Benchmark Capital Markets (BCM), p"/>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on sales, recapitalizations and growth partnerships across five sectors.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sector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SECTOR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Benchmark Capital Markets (BCM), 4"/>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FOCUS AREAS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FOCUS AREAS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FOCUS AREA</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landscape and appendix pages.</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Sector Brief</dc:title>
  <dc:subject/>
  <dc:creator>Benchmark Capital Markets</dc:creator>
  <cp:keywords/>
  <dc:description>generated using python-pptx</dc:description>
  <cp:lastModifiedBy>Jason Lisiak</cp:lastModifiedBy>
  <cp:revision>5</cp:revision>
  <dcterms:created xsi:type="dcterms:W3CDTF">2013-01-27T09:14:16Z</dcterms:created>
  <dcterms:modified xsi:type="dcterms:W3CDTF">2026-10-14T13:27:31Z</dcterms:modified>
  <cp:category/>
</cp:coreProperties>
</file>