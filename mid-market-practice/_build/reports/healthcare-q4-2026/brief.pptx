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3"/>
    <p:sldId id="275" r:id="rId4"/>
    <p:sldId id="257" r:id="rId5"/>
    <p:sldId id="258" r:id="rId6"/>
    <p:sldId id="283"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6" r:id="rId23"/>
    <p:sldId id="274" r:id="rId24"/>
    <p:sldId id="278" r:id="rId25"/>
    <p:sldId id="279" r:id="rId26"/>
    <p:sldId id="280" r:id="rId27"/>
    <p:sldId id="284" r:id="rId28"/>
  </p:sldIdLst>
  <p:sldSz cx="10058400"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6875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30" Type="http://schemas.openxmlformats.org/officeDocument/2006/relationships/presProps" Target="pres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national health expenditures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265E-44B6-B150-EF3CB1485320}"/>
              </c:ext>
            </c:extLst>
          </c:dPt>
          <c:dPt>
            <c:idx val="1"/>
            <c:invertIfNegative val="1"/>
            <c:bubble3D val="0"/>
            <c:spPr>
              <a:solidFill>
                <a:srgbClr val="1B1A1A"/>
              </a:solidFill>
            </c:spPr>
            <c:extLst>
              <c:ext xmlns:c16="http://schemas.microsoft.com/office/drawing/2014/chart" uri="{C3380CC4-5D6E-409C-BE32-E72D297353CC}">
                <c16:uniqueId val="{00000003-265E-44B6-B150-EF3CB1485320}"/>
              </c:ext>
            </c:extLst>
          </c:dPt>
          <c:dPt>
            <c:idx val="2"/>
            <c:invertIfNegative val="1"/>
            <c:bubble3D val="0"/>
            <c:spPr>
              <a:solidFill>
                <a:srgbClr val="1B1A1A"/>
              </a:solidFill>
            </c:spPr>
            <c:extLst>
              <c:ext xmlns:c16="http://schemas.microsoft.com/office/drawing/2014/chart" uri="{C3380CC4-5D6E-409C-BE32-E72D297353CC}">
                <c16:uniqueId val="{00000005-265E-44B6-B150-EF3CB1485320}"/>
              </c:ext>
            </c:extLst>
          </c:dPt>
          <c:dPt>
            <c:idx val="3"/>
            <c:invertIfNegative val="1"/>
            <c:bubble3D val="0"/>
            <c:spPr>
              <a:solidFill>
                <a:srgbClr val="1B1A1A"/>
              </a:solidFill>
            </c:spPr>
            <c:extLst>
              <c:ext xmlns:c16="http://schemas.microsoft.com/office/drawing/2014/chart" uri="{C3380CC4-5D6E-409C-BE32-E72D297353CC}">
                <c16:uniqueId val="{00000007-265E-44B6-B150-EF3CB1485320}"/>
              </c:ext>
            </c:extLst>
          </c:dPt>
          <c:dPt>
            <c:idx val="4"/>
            <c:invertIfNegative val="1"/>
            <c:bubble3D val="0"/>
            <c:spPr>
              <a:solidFill>
                <a:srgbClr val="1B1A1A"/>
              </a:solidFill>
            </c:spPr>
            <c:extLst>
              <c:ext xmlns:c16="http://schemas.microsoft.com/office/drawing/2014/chart" uri="{C3380CC4-5D6E-409C-BE32-E72D297353CC}">
                <c16:uniqueId val="{00000009-265E-44B6-B150-EF3CB1485320}"/>
              </c:ext>
            </c:extLst>
          </c:dPt>
          <c:dPt>
            <c:idx val="5"/>
            <c:invertIfNegative val="1"/>
            <c:bubble3D val="0"/>
            <c:spPr>
              <a:solidFill>
                <a:srgbClr val="1B1A1A"/>
              </a:solidFill>
            </c:spPr>
            <c:extLst>
              <c:ext xmlns:c16="http://schemas.microsoft.com/office/drawing/2014/chart" uri="{C3380CC4-5D6E-409C-BE32-E72D297353CC}">
                <c16:uniqueId val="{0000000B-265E-44B6-B150-EF3CB1485320}"/>
              </c:ext>
            </c:extLst>
          </c:dPt>
          <c:dPt>
            <c:idx val="6"/>
            <c:invertIfNegative val="1"/>
            <c:bubble3D val="0"/>
            <c:spPr>
              <a:solidFill>
                <a:srgbClr val="1B1A1A"/>
              </a:solidFill>
            </c:spPr>
            <c:extLst>
              <c:ext xmlns:c16="http://schemas.microsoft.com/office/drawing/2014/chart" uri="{C3380CC4-5D6E-409C-BE32-E72D297353CC}">
                <c16:uniqueId val="{0000000D-265E-44B6-B150-EF3CB1485320}"/>
              </c:ext>
            </c:extLst>
          </c:dPt>
          <c:dPt>
            <c:idx val="7"/>
            <c:invertIfNegative val="1"/>
            <c:bubble3D val="0"/>
            <c:spPr>
              <a:solidFill>
                <a:srgbClr val="1B1A1A"/>
              </a:solidFill>
            </c:spPr>
            <c:extLst>
              <c:ext xmlns:c16="http://schemas.microsoft.com/office/drawing/2014/chart" uri="{C3380CC4-5D6E-409C-BE32-E72D297353CC}">
                <c16:uniqueId val="{0000000F-265E-44B6-B150-EF3CB1485320}"/>
              </c:ext>
            </c:extLst>
          </c:dPt>
          <c:dPt>
            <c:idx val="8"/>
            <c:invertIfNegative val="1"/>
            <c:bubble3D val="0"/>
            <c:spPr>
              <a:solidFill>
                <a:srgbClr val="1B1A1A"/>
              </a:solidFill>
            </c:spPr>
            <c:extLst>
              <c:ext xmlns:c16="http://schemas.microsoft.com/office/drawing/2014/chart" uri="{C3380CC4-5D6E-409C-BE32-E72D297353CC}">
                <c16:uniqueId val="{00000011-265E-44B6-B150-EF3CB1485320}"/>
              </c:ext>
            </c:extLst>
          </c:dPt>
          <c:dPt>
            <c:idx val="9"/>
            <c:invertIfNegative val="1"/>
            <c:bubble3D val="0"/>
            <c:spPr>
              <a:solidFill>
                <a:srgbClr val="C3BDB6"/>
              </a:solidFill>
            </c:spPr>
            <c:extLst>
              <c:ext xmlns:c16="http://schemas.microsoft.com/office/drawing/2014/chart" uri="{C3380CC4-5D6E-409C-BE32-E72D297353CC}">
                <c16:uniqueId val="{00000013-265E-44B6-B150-EF3CB1485320}"/>
              </c:ext>
            </c:extLst>
          </c:dPt>
          <c:dPt>
            <c:idx val="10"/>
            <c:invertIfNegative val="1"/>
            <c:bubble3D val="0"/>
            <c:spPr>
              <a:solidFill>
                <a:srgbClr val="C3BDB6"/>
              </a:solidFill>
            </c:spPr>
            <c:extLst>
              <c:ext xmlns:c16="http://schemas.microsoft.com/office/drawing/2014/chart" uri="{C3380CC4-5D6E-409C-BE32-E72D297353CC}">
                <c16:uniqueId val="{00000015-265E-44B6-B150-EF3CB1485320}"/>
              </c:ext>
            </c:extLst>
          </c:dPt>
          <c:dLbls>
            <c:numFmt formatCode="&quot;$&quot;0.0&quot;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2016</c:v>
                </c:pt>
                <c:pt idx="1">
                  <c:v>2017</c:v>
                </c:pt>
                <c:pt idx="2">
                  <c:v>2018</c:v>
                </c:pt>
                <c:pt idx="3">
                  <c:v>2019</c:v>
                </c:pt>
                <c:pt idx="4">
                  <c:v>2020</c:v>
                </c:pt>
                <c:pt idx="5">
                  <c:v>2021</c:v>
                </c:pt>
                <c:pt idx="6">
                  <c:v>2022</c:v>
                </c:pt>
                <c:pt idx="7">
                  <c:v>2023</c:v>
                </c:pt>
                <c:pt idx="8">
                  <c:v>2024</c:v>
                </c:pt>
                <c:pt idx="9">
                  <c:v>2025</c:v>
                </c:pt>
                <c:pt idx="10">
                  <c:v>2026</c:v>
                </c:pt>
              </c:strCache>
            </c:strRef>
          </c:cat>
          <c:val>
            <c:numRef>
              <c:f>Sheet1!$B$2:$B$12</c:f>
              <c:numCache>
                <c:formatCode>General</c:formatCode>
                <c:ptCount val="11"/>
                <c:pt idx="0">
                  <c:v>3.3</c:v>
                </c:pt>
                <c:pt idx="1">
                  <c:v>3.5</c:v>
                </c:pt>
                <c:pt idx="2">
                  <c:v>3.6</c:v>
                </c:pt>
                <c:pt idx="3">
                  <c:v>3.8</c:v>
                </c:pt>
                <c:pt idx="4">
                  <c:v>4.0999999999999996</c:v>
                </c:pt>
                <c:pt idx="5">
                  <c:v>4.3</c:v>
                </c:pt>
                <c:pt idx="6">
                  <c:v>4.5</c:v>
                </c:pt>
                <c:pt idx="7">
                  <c:v>4.9000000000000004</c:v>
                </c:pt>
                <c:pt idx="8">
                  <c:v>5.3</c:v>
                </c:pt>
                <c:pt idx="9">
                  <c:v>5.7</c:v>
                </c:pt>
                <c:pt idx="10">
                  <c:v>6</c:v>
                </c:pt>
              </c:numCache>
            </c:numRef>
          </c:val>
          <c:extLst>
            <c:ext xmlns:c16="http://schemas.microsoft.com/office/drawing/2014/chart" uri="{C3380CC4-5D6E-409C-BE32-E72D297353CC}">
              <c16:uniqueId val="{00000016-265E-44B6-B150-EF3CB1485320}"/>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9"/>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Announced hospital and health system transactions by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E0-4DE4-82D9-2A8D70A078AE}"/>
              </c:ext>
            </c:extLst>
          </c:dPt>
          <c:dPt>
            <c:idx val="1"/>
            <c:invertIfNegative val="1"/>
            <c:bubble3D val="0"/>
            <c:spPr>
              <a:solidFill>
                <a:srgbClr val="1B1A1A"/>
              </a:solidFill>
            </c:spPr>
            <c:extLst>
              <c:ext xmlns:c16="http://schemas.microsoft.com/office/drawing/2014/chart" uri="{C3380CC4-5D6E-409C-BE32-E72D297353CC}">
                <c16:uniqueId val="{00000003-FDE0-4DE4-82D9-2A8D70A078AE}"/>
              </c:ext>
            </c:extLst>
          </c:dPt>
          <c:dPt>
            <c:idx val="2"/>
            <c:invertIfNegative val="1"/>
            <c:bubble3D val="0"/>
            <c:spPr>
              <a:solidFill>
                <a:srgbClr val="1B1A1A"/>
              </a:solidFill>
            </c:spPr>
            <c:extLst>
              <c:ext xmlns:c16="http://schemas.microsoft.com/office/drawing/2014/chart" uri="{C3380CC4-5D6E-409C-BE32-E72D297353CC}">
                <c16:uniqueId val="{00000005-FDE0-4DE4-82D9-2A8D70A078AE}"/>
              </c:ext>
            </c:extLst>
          </c:dPt>
          <c:dPt>
            <c:idx val="3"/>
            <c:invertIfNegative val="1"/>
            <c:bubble3D val="0"/>
            <c:spPr>
              <a:solidFill>
                <a:srgbClr val="1B1A1A"/>
              </a:solidFill>
            </c:spPr>
            <c:extLst>
              <c:ext xmlns:c16="http://schemas.microsoft.com/office/drawing/2014/chart" uri="{C3380CC4-5D6E-409C-BE32-E72D297353CC}">
                <c16:uniqueId val="{00000007-FDE0-4DE4-82D9-2A8D70A078AE}"/>
              </c:ext>
            </c:extLst>
          </c:dPt>
          <c:dPt>
            <c:idx val="4"/>
            <c:invertIfNegative val="1"/>
            <c:bubble3D val="0"/>
            <c:spPr>
              <a:solidFill>
                <a:srgbClr val="1B1A1A"/>
              </a:solidFill>
            </c:spPr>
            <c:extLst>
              <c:ext xmlns:c16="http://schemas.microsoft.com/office/drawing/2014/chart" uri="{C3380CC4-5D6E-409C-BE32-E72D297353CC}">
                <c16:uniqueId val="{00000009-FDE0-4DE4-82D9-2A8D70A078AE}"/>
              </c:ext>
            </c:extLst>
          </c:dPt>
          <c:dPt>
            <c:idx val="5"/>
            <c:invertIfNegative val="1"/>
            <c:bubble3D val="0"/>
            <c:spPr>
              <a:solidFill>
                <a:srgbClr val="1B1A1A"/>
              </a:solidFill>
            </c:spPr>
            <c:extLst>
              <c:ext xmlns:c16="http://schemas.microsoft.com/office/drawing/2014/chart" uri="{C3380CC4-5D6E-409C-BE32-E72D297353CC}">
                <c16:uniqueId val="{0000000B-FDE0-4DE4-82D9-2A8D70A078AE}"/>
              </c:ext>
            </c:extLst>
          </c:dPt>
          <c:dPt>
            <c:idx val="6"/>
            <c:invertIfNegative val="1"/>
            <c:bubble3D val="0"/>
            <c:spPr>
              <a:solidFill>
                <a:srgbClr val="1B1A1A"/>
              </a:solidFill>
            </c:spPr>
            <c:extLst>
              <c:ext xmlns:c16="http://schemas.microsoft.com/office/drawing/2014/chart" uri="{C3380CC4-5D6E-409C-BE32-E72D297353CC}">
                <c16:uniqueId val="{0000000D-FDE0-4DE4-82D9-2A8D70A078AE}"/>
              </c:ext>
            </c:extLst>
          </c:dPt>
          <c:dPt>
            <c:idx val="7"/>
            <c:invertIfNegative val="1"/>
            <c:bubble3D val="0"/>
            <c:spPr>
              <a:solidFill>
                <a:srgbClr val="1B1A1A"/>
              </a:solidFill>
            </c:spPr>
            <c:extLst>
              <c:ext xmlns:c16="http://schemas.microsoft.com/office/drawing/2014/chart" uri="{C3380CC4-5D6E-409C-BE32-E72D297353CC}">
                <c16:uniqueId val="{0000000F-FDE0-4DE4-82D9-2A8D70A078AE}"/>
              </c:ext>
            </c:extLst>
          </c:dPt>
          <c:dPt>
            <c:idx val="8"/>
            <c:invertIfNegative val="1"/>
            <c:bubble3D val="0"/>
            <c:spPr>
              <a:solidFill>
                <a:srgbClr val="1B1A1A"/>
              </a:solidFill>
            </c:spPr>
            <c:extLst>
              <c:ext xmlns:c16="http://schemas.microsoft.com/office/drawing/2014/chart" uri="{C3380CC4-5D6E-409C-BE32-E72D297353CC}">
                <c16:uniqueId val="{00000011-FDE0-4DE4-82D9-2A8D70A078AE}"/>
              </c:ext>
            </c:extLst>
          </c:dPt>
          <c:dPt>
            <c:idx val="9"/>
            <c:invertIfNegative val="1"/>
            <c:bubble3D val="0"/>
            <c:spPr>
              <a:solidFill>
                <a:srgbClr val="C3BDB6"/>
              </a:solidFill>
            </c:spPr>
            <c:extLst>
              <c:ext xmlns:c16="http://schemas.microsoft.com/office/drawing/2014/chart" uri="{C3380CC4-5D6E-409C-BE32-E72D297353CC}">
                <c16:uniqueId val="{00000013-FDE0-4DE4-82D9-2A8D70A078AE}"/>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9M 2026</c:v>
                </c:pt>
              </c:strCache>
            </c:strRef>
          </c:cat>
          <c:val>
            <c:numRef>
              <c:f>Sheet1!$B$2:$B$11</c:f>
              <c:numCache>
                <c:formatCode>General</c:formatCode>
                <c:ptCount val="10"/>
                <c:pt idx="0">
                  <c:v>117</c:v>
                </c:pt>
                <c:pt idx="1">
                  <c:v>90</c:v>
                </c:pt>
                <c:pt idx="2">
                  <c:v>92</c:v>
                </c:pt>
                <c:pt idx="3">
                  <c:v>79</c:v>
                </c:pt>
                <c:pt idx="4">
                  <c:v>49</c:v>
                </c:pt>
                <c:pt idx="5">
                  <c:v>53</c:v>
                </c:pt>
                <c:pt idx="6">
                  <c:v>65</c:v>
                </c:pt>
                <c:pt idx="7">
                  <c:v>72</c:v>
                </c:pt>
                <c:pt idx="8">
                  <c:v>46</c:v>
                </c:pt>
                <c:pt idx="9">
                  <c:v>56</c:v>
                </c:pt>
              </c:numCache>
            </c:numRef>
          </c:val>
          <c:extLst>
            <c:ext xmlns:c16="http://schemas.microsoft.com/office/drawing/2014/chart" uri="{C3380CC4-5D6E-409C-BE32-E72D297353CC}">
              <c16:uniqueId val="{00000014-FDE0-4DE4-82D9-2A8D70A078AE}"/>
            </c:ext>
          </c:extLst>
        </c:ser>
        <c:dLbls>
          <c:dLblPos val="outEnd"/>
          <c:showLegendKey val="0"/>
          <c:showVal val="1"/>
          <c:showCatName val="0"/>
          <c:showSerName val="0"/>
          <c:showPercent val="0"/>
          <c:showBubbleSize val="0"/>
        </c:dLbls>
        <c:gapWidth val="61"/>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3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employment</c:v>
                </c:pt>
              </c:strCache>
            </c:strRef>
          </c:tx>
          <c:spPr>
            <a:ln w="22225">
              <a:solidFill>
                <a:srgbClr val="1B1A1A"/>
              </a:solidFill>
            </a:ln>
          </c:spPr>
          <c:marker>
            <c:symbol val="none"/>
          </c:marker>
          <c:dLbls>
            <c:dLbl>
              <c:idx val="60"/>
              <c:layout>
                <c:manualLayout>
                  <c:x val="-4.1095890410959068E-2"/>
                  <c:y val="-4.2666666666666665E-2"/>
                </c:manualLayout>
              </c:layout>
              <c:numFmt formatCode="0.0&quot;M&quot;" sourceLinked="0"/>
              <c:spPr/>
              <c:txPr>
                <a:bodyPr/>
                <a:lstStyle/>
                <a:p>
                  <a:pPr>
                    <a:defRPr sz="800" b="1">
                      <a:solidFill>
                        <a:srgbClr val="1B1A1A"/>
                      </a:solidFill>
                      <a:latin typeface="Calibri"/>
                    </a:defRPr>
                  </a:pPr>
                  <a:endParaRPr lang="en-US"/>
                </a:p>
              </c:txPr>
              <c:dLblPos val="r"/>
              <c:showLegendKey val="0"/>
              <c:showVal val="1"/>
              <c:showCatName val="0"/>
              <c:showSerName val="0"/>
              <c:showPercent val="0"/>
              <c:showBubbleSize val="0"/>
              <c:extLst>
                <c:ext xmlns:c16="http://schemas.microsoft.com/office/drawing/2014/chart" uri="{C3380CC4-5D6E-409C-BE32-E72D297353CC}">
                  <c16:uniqueId val="{00000000-9B61-4B78-8C5C-2573290FC75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Sheet1!$A$2:$A$62</c:f>
              <c:numCache>
                <c:formatCode>yyyy\-mm\-dd</c:formatCode>
                <c:ptCount val="61"/>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pt idx="60">
                  <c:v>46266</c:v>
                </c:pt>
              </c:numCache>
            </c:numRef>
          </c:cat>
          <c:val>
            <c:numRef>
              <c:f>Sheet1!$B$2:$B$62</c:f>
              <c:numCache>
                <c:formatCode>General</c:formatCode>
                <c:ptCount val="61"/>
                <c:pt idx="0">
                  <c:v>15.975899999999999</c:v>
                </c:pt>
                <c:pt idx="1">
                  <c:v>15.9993</c:v>
                </c:pt>
                <c:pt idx="2">
                  <c:v>16.0185</c:v>
                </c:pt>
                <c:pt idx="3">
                  <c:v>16.032799999999998</c:v>
                </c:pt>
                <c:pt idx="4">
                  <c:v>16.032599999999999</c:v>
                </c:pt>
                <c:pt idx="5">
                  <c:v>16.089299999999998</c:v>
                </c:pt>
                <c:pt idx="6">
                  <c:v>16.1206</c:v>
                </c:pt>
                <c:pt idx="7">
                  <c:v>16.1678</c:v>
                </c:pt>
                <c:pt idx="8">
                  <c:v>16.206700000000001</c:v>
                </c:pt>
                <c:pt idx="9">
                  <c:v>16.257999999999999</c:v>
                </c:pt>
                <c:pt idx="10">
                  <c:v>16.327100000000002</c:v>
                </c:pt>
                <c:pt idx="11">
                  <c:v>16.375499999999999</c:v>
                </c:pt>
                <c:pt idx="12">
                  <c:v>16.435700000000001</c:v>
                </c:pt>
                <c:pt idx="13">
                  <c:v>16.498699999999999</c:v>
                </c:pt>
                <c:pt idx="14">
                  <c:v>16.547000000000001</c:v>
                </c:pt>
                <c:pt idx="15">
                  <c:v>16.6037</c:v>
                </c:pt>
                <c:pt idx="16">
                  <c:v>16.657799999999998</c:v>
                </c:pt>
                <c:pt idx="17">
                  <c:v>16.6996</c:v>
                </c:pt>
                <c:pt idx="18">
                  <c:v>16.743500000000001</c:v>
                </c:pt>
                <c:pt idx="19">
                  <c:v>16.787099999999999</c:v>
                </c:pt>
                <c:pt idx="20">
                  <c:v>16.8367</c:v>
                </c:pt>
                <c:pt idx="21">
                  <c:v>16.897099999999998</c:v>
                </c:pt>
                <c:pt idx="22">
                  <c:v>16.968799999999998</c:v>
                </c:pt>
                <c:pt idx="23">
                  <c:v>17.037500000000001</c:v>
                </c:pt>
                <c:pt idx="24">
                  <c:v>17.098599999999998</c:v>
                </c:pt>
                <c:pt idx="25">
                  <c:v>17.151199999999999</c:v>
                </c:pt>
                <c:pt idx="26">
                  <c:v>17.2272</c:v>
                </c:pt>
                <c:pt idx="27">
                  <c:v>17.275599999999997</c:v>
                </c:pt>
                <c:pt idx="28">
                  <c:v>17.332900000000002</c:v>
                </c:pt>
                <c:pt idx="29">
                  <c:v>17.3978</c:v>
                </c:pt>
                <c:pt idx="30">
                  <c:v>17.471299999999999</c:v>
                </c:pt>
                <c:pt idx="31">
                  <c:v>17.5322</c:v>
                </c:pt>
                <c:pt idx="32">
                  <c:v>17.579099999999997</c:v>
                </c:pt>
                <c:pt idx="33">
                  <c:v>17.624500000000001</c:v>
                </c:pt>
                <c:pt idx="34">
                  <c:v>17.659099999999999</c:v>
                </c:pt>
                <c:pt idx="35">
                  <c:v>17.6953</c:v>
                </c:pt>
                <c:pt idx="36">
                  <c:v>17.746599999999997</c:v>
                </c:pt>
                <c:pt idx="37">
                  <c:v>17.806900000000002</c:v>
                </c:pt>
                <c:pt idx="38">
                  <c:v>17.864999999999998</c:v>
                </c:pt>
                <c:pt idx="39">
                  <c:v>17.908099999999997</c:v>
                </c:pt>
                <c:pt idx="40">
                  <c:v>17.9438</c:v>
                </c:pt>
                <c:pt idx="41">
                  <c:v>17.980499999999999</c:v>
                </c:pt>
                <c:pt idx="42">
                  <c:v>18.028099999999998</c:v>
                </c:pt>
                <c:pt idx="43">
                  <c:v>17.989900000000002</c:v>
                </c:pt>
                <c:pt idx="44">
                  <c:v>18.0288</c:v>
                </c:pt>
                <c:pt idx="45">
                  <c:v>18.064700000000002</c:v>
                </c:pt>
                <c:pt idx="46">
                  <c:v>18.1266</c:v>
                </c:pt>
                <c:pt idx="47">
                  <c:v>18.142199999999999</c:v>
                </c:pt>
                <c:pt idx="48">
                  <c:v>18.181799999999999</c:v>
                </c:pt>
                <c:pt idx="49">
                  <c:v>18.215400000000002</c:v>
                </c:pt>
                <c:pt idx="50">
                  <c:v>18.265400000000003</c:v>
                </c:pt>
                <c:pt idx="51">
                  <c:v>18.295300000000001</c:v>
                </c:pt>
                <c:pt idx="52">
                  <c:v>18.363599999999998</c:v>
                </c:pt>
                <c:pt idx="53">
                  <c:v>18.3307</c:v>
                </c:pt>
                <c:pt idx="54">
                  <c:v>18.411099999999998</c:v>
                </c:pt>
                <c:pt idx="55">
                  <c:v>18.4465</c:v>
                </c:pt>
                <c:pt idx="56">
                  <c:v>18.476200000000002</c:v>
                </c:pt>
                <c:pt idx="57">
                  <c:v>18.494599999999998</c:v>
                </c:pt>
                <c:pt idx="58">
                  <c:v>18.512499999999999</c:v>
                </c:pt>
                <c:pt idx="59">
                  <c:v>18.536900000000003</c:v>
                </c:pt>
                <c:pt idx="60">
                  <c:v>18.553599999999999</c:v>
                </c:pt>
              </c:numCache>
            </c:numRef>
          </c:val>
          <c:smooth val="0"/>
          <c:extLst>
            <c:ext xmlns:c16="http://schemas.microsoft.com/office/drawing/2014/chart" uri="{C3380CC4-5D6E-409C-BE32-E72D297353CC}">
              <c16:uniqueId val="{00000001-9B61-4B78-8C5C-2573290FC754}"/>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19"/>
          <c:min val="15.5"/>
        </c:scaling>
        <c:delete val="0"/>
        <c:axPos val="l"/>
        <c:majorGridlines>
          <c:spPr>
            <a:ln w="6350">
              <a:solidFill>
                <a:srgbClr val="E3DCD3"/>
              </a:solidFill>
            </a:ln>
          </c:spPr>
        </c:majorGridlines>
        <c:numFmt formatCode="0.0&quot;M&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0.87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Health care construction spending</c:v>
                </c:pt>
              </c:strCache>
            </c:strRef>
          </c:tx>
          <c:spPr>
            <a:ln w="22225">
              <a:solidFill>
                <a:srgbClr val="B68757"/>
              </a:solidFill>
            </a:ln>
          </c:spPr>
          <c:marker>
            <c:symbol val="none"/>
          </c:marker>
          <c:dLbls>
            <c:dLbl>
              <c:idx val="59"/>
              <c:layout>
                <c:manualLayout>
                  <c:x val="-2.2831050228310501E-2"/>
                  <c:y val="-6.933333333333333E-2"/>
                </c:manualLayout>
              </c:layout>
              <c:numFmt formatCode="&quot;$&quot;0&quot;B&quot;" sourceLinked="0"/>
              <c:spPr/>
              <c:txPr>
                <a:bodyPr/>
                <a:lstStyle/>
                <a:p>
                  <a:pPr>
                    <a:defRPr sz="800" b="1">
                      <a:solidFill>
                        <a:srgbClr val="B68757"/>
                      </a:solidFill>
                      <a:latin typeface="Calibri"/>
                    </a:defRPr>
                  </a:pPr>
                  <a:endParaRPr lang="en-US"/>
                </a:p>
              </c:txPr>
              <c:dLblPos val="r"/>
              <c:showLegendKey val="0"/>
              <c:showVal val="1"/>
              <c:showCatName val="0"/>
              <c:showSerName val="0"/>
              <c:showPercent val="0"/>
              <c:showBubbleSize val="0"/>
              <c:extLst>
                <c:ext xmlns:c16="http://schemas.microsoft.com/office/drawing/2014/chart" uri="{C3380CC4-5D6E-409C-BE32-E72D297353CC}">
                  <c16:uniqueId val="{00000000-20B6-4158-AA3E-7681A4F7F49D}"/>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Sheet1!$A$2:$A$61</c:f>
              <c:numCache>
                <c:formatCode>yyyy\-mm\-dd</c:formatCode>
                <c:ptCount val="60"/>
                <c:pt idx="0">
                  <c:v>44440</c:v>
                </c:pt>
                <c:pt idx="1">
                  <c:v>44470</c:v>
                </c:pt>
                <c:pt idx="2">
                  <c:v>44501</c:v>
                </c:pt>
                <c:pt idx="3">
                  <c:v>44531</c:v>
                </c:pt>
                <c:pt idx="4">
                  <c:v>44562</c:v>
                </c:pt>
                <c:pt idx="5">
                  <c:v>44593</c:v>
                </c:pt>
                <c:pt idx="6">
                  <c:v>44621</c:v>
                </c:pt>
                <c:pt idx="7">
                  <c:v>44652</c:v>
                </c:pt>
                <c:pt idx="8">
                  <c:v>44682</c:v>
                </c:pt>
                <c:pt idx="9">
                  <c:v>44713</c:v>
                </c:pt>
                <c:pt idx="10">
                  <c:v>44743</c:v>
                </c:pt>
                <c:pt idx="11">
                  <c:v>44774</c:v>
                </c:pt>
                <c:pt idx="12">
                  <c:v>44805</c:v>
                </c:pt>
                <c:pt idx="13">
                  <c:v>44835</c:v>
                </c:pt>
                <c:pt idx="14">
                  <c:v>44866</c:v>
                </c:pt>
                <c:pt idx="15">
                  <c:v>44896</c:v>
                </c:pt>
                <c:pt idx="16">
                  <c:v>44927</c:v>
                </c:pt>
                <c:pt idx="17">
                  <c:v>44958</c:v>
                </c:pt>
                <c:pt idx="18">
                  <c:v>44986</c:v>
                </c:pt>
                <c:pt idx="19">
                  <c:v>45017</c:v>
                </c:pt>
                <c:pt idx="20">
                  <c:v>45047</c:v>
                </c:pt>
                <c:pt idx="21">
                  <c:v>45078</c:v>
                </c:pt>
                <c:pt idx="22">
                  <c:v>45108</c:v>
                </c:pt>
                <c:pt idx="23">
                  <c:v>45139</c:v>
                </c:pt>
                <c:pt idx="24">
                  <c:v>45170</c:v>
                </c:pt>
                <c:pt idx="25">
                  <c:v>45200</c:v>
                </c:pt>
                <c:pt idx="26">
                  <c:v>45231</c:v>
                </c:pt>
                <c:pt idx="27">
                  <c:v>45261</c:v>
                </c:pt>
                <c:pt idx="28">
                  <c:v>45292</c:v>
                </c:pt>
                <c:pt idx="29">
                  <c:v>45323</c:v>
                </c:pt>
                <c:pt idx="30">
                  <c:v>45352</c:v>
                </c:pt>
                <c:pt idx="31">
                  <c:v>45383</c:v>
                </c:pt>
                <c:pt idx="32">
                  <c:v>45413</c:v>
                </c:pt>
                <c:pt idx="33">
                  <c:v>45444</c:v>
                </c:pt>
                <c:pt idx="34">
                  <c:v>45474</c:v>
                </c:pt>
                <c:pt idx="35">
                  <c:v>45505</c:v>
                </c:pt>
                <c:pt idx="36">
                  <c:v>45536</c:v>
                </c:pt>
                <c:pt idx="37">
                  <c:v>45566</c:v>
                </c:pt>
                <c:pt idx="38">
                  <c:v>45597</c:v>
                </c:pt>
                <c:pt idx="39">
                  <c:v>45627</c:v>
                </c:pt>
                <c:pt idx="40">
                  <c:v>45658</c:v>
                </c:pt>
                <c:pt idx="41">
                  <c:v>45689</c:v>
                </c:pt>
                <c:pt idx="42">
                  <c:v>45717</c:v>
                </c:pt>
                <c:pt idx="43">
                  <c:v>45748</c:v>
                </c:pt>
                <c:pt idx="44">
                  <c:v>45778</c:v>
                </c:pt>
                <c:pt idx="45">
                  <c:v>45809</c:v>
                </c:pt>
                <c:pt idx="46">
                  <c:v>45839</c:v>
                </c:pt>
                <c:pt idx="47">
                  <c:v>45870</c:v>
                </c:pt>
                <c:pt idx="48">
                  <c:v>45901</c:v>
                </c:pt>
                <c:pt idx="49">
                  <c:v>45931</c:v>
                </c:pt>
                <c:pt idx="50">
                  <c:v>45962</c:v>
                </c:pt>
                <c:pt idx="51">
                  <c:v>45992</c:v>
                </c:pt>
                <c:pt idx="52">
                  <c:v>46023</c:v>
                </c:pt>
                <c:pt idx="53">
                  <c:v>46054</c:v>
                </c:pt>
                <c:pt idx="54">
                  <c:v>46082</c:v>
                </c:pt>
                <c:pt idx="55">
                  <c:v>46113</c:v>
                </c:pt>
                <c:pt idx="56">
                  <c:v>46143</c:v>
                </c:pt>
                <c:pt idx="57">
                  <c:v>46174</c:v>
                </c:pt>
                <c:pt idx="58">
                  <c:v>46204</c:v>
                </c:pt>
                <c:pt idx="59">
                  <c:v>46235</c:v>
                </c:pt>
              </c:numCache>
            </c:numRef>
          </c:cat>
          <c:val>
            <c:numRef>
              <c:f>Sheet1!$B$2:$B$61</c:f>
              <c:numCache>
                <c:formatCode>General</c:formatCode>
                <c:ptCount val="60"/>
                <c:pt idx="0">
                  <c:v>50.932000000000002</c:v>
                </c:pt>
                <c:pt idx="1">
                  <c:v>51.503</c:v>
                </c:pt>
                <c:pt idx="2">
                  <c:v>52.371000000000002</c:v>
                </c:pt>
                <c:pt idx="3">
                  <c:v>52.401000000000003</c:v>
                </c:pt>
                <c:pt idx="4">
                  <c:v>53.75</c:v>
                </c:pt>
                <c:pt idx="5">
                  <c:v>54.832000000000001</c:v>
                </c:pt>
                <c:pt idx="6">
                  <c:v>55.515000000000001</c:v>
                </c:pt>
                <c:pt idx="7">
                  <c:v>56.856999999999999</c:v>
                </c:pt>
                <c:pt idx="8">
                  <c:v>57.313000000000002</c:v>
                </c:pt>
                <c:pt idx="9">
                  <c:v>58.046999999999997</c:v>
                </c:pt>
                <c:pt idx="10">
                  <c:v>58.798000000000002</c:v>
                </c:pt>
                <c:pt idx="11">
                  <c:v>59.247999999999998</c:v>
                </c:pt>
                <c:pt idx="12">
                  <c:v>59.188000000000002</c:v>
                </c:pt>
                <c:pt idx="13">
                  <c:v>60.478999999999999</c:v>
                </c:pt>
                <c:pt idx="14">
                  <c:v>61.177</c:v>
                </c:pt>
                <c:pt idx="15">
                  <c:v>62.023000000000003</c:v>
                </c:pt>
                <c:pt idx="16">
                  <c:v>62.64</c:v>
                </c:pt>
                <c:pt idx="17">
                  <c:v>65.596000000000004</c:v>
                </c:pt>
                <c:pt idx="18">
                  <c:v>65.921000000000006</c:v>
                </c:pt>
                <c:pt idx="19">
                  <c:v>66.599999999999994</c:v>
                </c:pt>
                <c:pt idx="20">
                  <c:v>66.043999999999997</c:v>
                </c:pt>
                <c:pt idx="21">
                  <c:v>66.066000000000003</c:v>
                </c:pt>
                <c:pt idx="22">
                  <c:v>66.260000000000005</c:v>
                </c:pt>
                <c:pt idx="23">
                  <c:v>66.573999999999998</c:v>
                </c:pt>
                <c:pt idx="24">
                  <c:v>67.852999999999994</c:v>
                </c:pt>
                <c:pt idx="25">
                  <c:v>67.855000000000004</c:v>
                </c:pt>
                <c:pt idx="26">
                  <c:v>68.802000000000007</c:v>
                </c:pt>
                <c:pt idx="27">
                  <c:v>69.611999999999995</c:v>
                </c:pt>
                <c:pt idx="28">
                  <c:v>69.55</c:v>
                </c:pt>
                <c:pt idx="29">
                  <c:v>68.555000000000007</c:v>
                </c:pt>
                <c:pt idx="30">
                  <c:v>68.917000000000002</c:v>
                </c:pt>
                <c:pt idx="31">
                  <c:v>67.739000000000004</c:v>
                </c:pt>
                <c:pt idx="32">
                  <c:v>69.251000000000005</c:v>
                </c:pt>
                <c:pt idx="33">
                  <c:v>69.614999999999995</c:v>
                </c:pt>
                <c:pt idx="34">
                  <c:v>69.47</c:v>
                </c:pt>
                <c:pt idx="35">
                  <c:v>70.194999999999993</c:v>
                </c:pt>
                <c:pt idx="36">
                  <c:v>70.433999999999997</c:v>
                </c:pt>
                <c:pt idx="37">
                  <c:v>71.239999999999995</c:v>
                </c:pt>
                <c:pt idx="38">
                  <c:v>73.42</c:v>
                </c:pt>
                <c:pt idx="39">
                  <c:v>73.641000000000005</c:v>
                </c:pt>
                <c:pt idx="40">
                  <c:v>76.31</c:v>
                </c:pt>
                <c:pt idx="41">
                  <c:v>76.494</c:v>
                </c:pt>
                <c:pt idx="42">
                  <c:v>76.757000000000005</c:v>
                </c:pt>
                <c:pt idx="43">
                  <c:v>79.266000000000005</c:v>
                </c:pt>
                <c:pt idx="44">
                  <c:v>77.234999999999999</c:v>
                </c:pt>
                <c:pt idx="45">
                  <c:v>75.953999999999994</c:v>
                </c:pt>
                <c:pt idx="46">
                  <c:v>76.42</c:v>
                </c:pt>
                <c:pt idx="47">
                  <c:v>78.099999999999994</c:v>
                </c:pt>
                <c:pt idx="48">
                  <c:v>76.137</c:v>
                </c:pt>
                <c:pt idx="49">
                  <c:v>77.394000000000005</c:v>
                </c:pt>
                <c:pt idx="50">
                  <c:v>76.617999999999995</c:v>
                </c:pt>
                <c:pt idx="51">
                  <c:v>75.147999999999996</c:v>
                </c:pt>
                <c:pt idx="52">
                  <c:v>74.846000000000004</c:v>
                </c:pt>
                <c:pt idx="53">
                  <c:v>74.394000000000005</c:v>
                </c:pt>
                <c:pt idx="54">
                  <c:v>74.433999999999997</c:v>
                </c:pt>
                <c:pt idx="55">
                  <c:v>74.48</c:v>
                </c:pt>
                <c:pt idx="56">
                  <c:v>74.900999999999996</c:v>
                </c:pt>
                <c:pt idx="57">
                  <c:v>75.903999999999996</c:v>
                </c:pt>
                <c:pt idx="58">
                  <c:v>75.504000000000005</c:v>
                </c:pt>
                <c:pt idx="59">
                  <c:v>75.787000000000006</c:v>
                </c:pt>
              </c:numCache>
            </c:numRef>
          </c:val>
          <c:smooth val="0"/>
          <c:extLst>
            <c:ext xmlns:c16="http://schemas.microsoft.com/office/drawing/2014/chart" uri="{C3380CC4-5D6E-409C-BE32-E72D297353CC}">
              <c16:uniqueId val="{00000001-20B6-4158-AA3E-7681A4F7F49D}"/>
            </c:ext>
          </c:extLst>
        </c:ser>
        <c:dLbls>
          <c:showLegendKey val="0"/>
          <c:showVal val="0"/>
          <c:showCatName val="0"/>
          <c:showSerName val="0"/>
          <c:showPercent val="0"/>
          <c:showBubbleSize val="0"/>
        </c:dLbls>
        <c:smooth val="0"/>
        <c:axId val="2118791784"/>
        <c:axId val="2140495176"/>
      </c:lineChart>
      <c:dateAx>
        <c:axId val="2118791784"/>
        <c:scaling>
          <c:orientation val="minMax"/>
        </c:scaling>
        <c:delete val="0"/>
        <c:axPos val="b"/>
        <c:numFmt formatCode="mmm\ \'yy" sourceLinked="0"/>
        <c:majorTickMark val="none"/>
        <c:minorTickMark val="none"/>
        <c:tickLblPos val="nextTo"/>
        <c:spPr>
          <a:ln>
            <a:solidFill>
              <a:srgbClr val="E3DCD3"/>
            </a:solidFill>
          </a:ln>
        </c:spPr>
        <c:txPr>
          <a:bodyPr rot="0" vert="horz"/>
          <a:lstStyle/>
          <a:p>
            <a:pPr>
              <a:defRPr sz="700" b="0">
                <a:solidFill>
                  <a:srgbClr val="6F6A66"/>
                </a:solidFill>
                <a:latin typeface="Calibri"/>
              </a:defRPr>
            </a:pPr>
            <a:endParaRPr lang="en-US"/>
          </a:p>
        </c:txPr>
        <c:crossAx val="2140495176"/>
        <c:crosses val="autoZero"/>
        <c:auto val="1"/>
        <c:lblOffset val="100"/>
        <c:baseTimeUnit val="months"/>
        <c:majorUnit val="12"/>
        <c:majorTimeUnit val="months"/>
      </c:dateAx>
      <c:valAx>
        <c:axId val="2140495176"/>
        <c:scaling>
          <c:orientation val="minMax"/>
          <c:max val="85"/>
          <c:min val="45"/>
        </c:scaling>
        <c:delete val="0"/>
        <c:axPos val="l"/>
        <c:majorGridlines>
          <c:spPr>
            <a:ln w="6350">
              <a:solidFill>
                <a:srgbClr val="E3DCD3"/>
              </a:solidFill>
            </a:ln>
          </c:spPr>
        </c:majorGridlines>
        <c:numFmt formatCode="&quot;$&quot;0&quot;B&quot;" sourceLinked="0"/>
        <c:majorTickMark val="none"/>
        <c:minorTickMark val="none"/>
        <c:tickLblPos val="nextTo"/>
        <c:spPr>
          <a:ln>
            <a:noFill/>
          </a:ln>
        </c:spPr>
        <c:txPr>
          <a:bodyPr/>
          <a:lstStyle/>
          <a:p>
            <a:pPr>
              <a:defRPr sz="700" b="0">
                <a:solidFill>
                  <a:srgbClr val="6F6A66"/>
                </a:solidFill>
                <a:latin typeface="Calibri"/>
              </a:defRPr>
            </a:pPr>
            <a:endParaRPr lang="en-US"/>
          </a:p>
        </c:txPr>
        <c:crossAx val="2118791784"/>
        <c:crosses val="autoZero"/>
        <c:crossBetween val="between"/>
        <c:majorUnit val="1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FDA novel drug approvals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55A-4C00-B1B8-A38734F1DA2C}"/>
              </c:ext>
            </c:extLst>
          </c:dPt>
          <c:dPt>
            <c:idx val="1"/>
            <c:invertIfNegative val="1"/>
            <c:bubble3D val="0"/>
            <c:spPr>
              <a:solidFill>
                <a:srgbClr val="1B1A1A"/>
              </a:solidFill>
            </c:spPr>
            <c:extLst>
              <c:ext xmlns:c16="http://schemas.microsoft.com/office/drawing/2014/chart" uri="{C3380CC4-5D6E-409C-BE32-E72D297353CC}">
                <c16:uniqueId val="{00000003-B55A-4C00-B1B8-A38734F1DA2C}"/>
              </c:ext>
            </c:extLst>
          </c:dPt>
          <c:dPt>
            <c:idx val="2"/>
            <c:invertIfNegative val="1"/>
            <c:bubble3D val="0"/>
            <c:spPr>
              <a:solidFill>
                <a:srgbClr val="1B1A1A"/>
              </a:solidFill>
            </c:spPr>
            <c:extLst>
              <c:ext xmlns:c16="http://schemas.microsoft.com/office/drawing/2014/chart" uri="{C3380CC4-5D6E-409C-BE32-E72D297353CC}">
                <c16:uniqueId val="{00000005-B55A-4C00-B1B8-A38734F1DA2C}"/>
              </c:ext>
            </c:extLst>
          </c:dPt>
          <c:dPt>
            <c:idx val="3"/>
            <c:invertIfNegative val="1"/>
            <c:bubble3D val="0"/>
            <c:spPr>
              <a:solidFill>
                <a:srgbClr val="1B1A1A"/>
              </a:solidFill>
            </c:spPr>
            <c:extLst>
              <c:ext xmlns:c16="http://schemas.microsoft.com/office/drawing/2014/chart" uri="{C3380CC4-5D6E-409C-BE32-E72D297353CC}">
                <c16:uniqueId val="{00000007-B55A-4C00-B1B8-A38734F1DA2C}"/>
              </c:ext>
            </c:extLst>
          </c:dPt>
          <c:dPt>
            <c:idx val="4"/>
            <c:invertIfNegative val="1"/>
            <c:bubble3D val="0"/>
            <c:spPr>
              <a:solidFill>
                <a:srgbClr val="1B1A1A"/>
              </a:solidFill>
            </c:spPr>
            <c:extLst>
              <c:ext xmlns:c16="http://schemas.microsoft.com/office/drawing/2014/chart" uri="{C3380CC4-5D6E-409C-BE32-E72D297353CC}">
                <c16:uniqueId val="{00000009-B55A-4C00-B1B8-A38734F1DA2C}"/>
              </c:ext>
            </c:extLst>
          </c:dPt>
          <c:dPt>
            <c:idx val="5"/>
            <c:invertIfNegative val="1"/>
            <c:bubble3D val="0"/>
            <c:spPr>
              <a:solidFill>
                <a:srgbClr val="1B1A1A"/>
              </a:solidFill>
            </c:spPr>
            <c:extLst>
              <c:ext xmlns:c16="http://schemas.microsoft.com/office/drawing/2014/chart" uri="{C3380CC4-5D6E-409C-BE32-E72D297353CC}">
                <c16:uniqueId val="{0000000B-B55A-4C00-B1B8-A38734F1DA2C}"/>
              </c:ext>
            </c:extLst>
          </c:dPt>
          <c:dPt>
            <c:idx val="6"/>
            <c:invertIfNegative val="1"/>
            <c:bubble3D val="0"/>
            <c:spPr>
              <a:solidFill>
                <a:srgbClr val="1B1A1A"/>
              </a:solidFill>
            </c:spPr>
            <c:extLst>
              <c:ext xmlns:c16="http://schemas.microsoft.com/office/drawing/2014/chart" uri="{C3380CC4-5D6E-409C-BE32-E72D297353CC}">
                <c16:uniqueId val="{0000000D-B55A-4C00-B1B8-A38734F1DA2C}"/>
              </c:ext>
            </c:extLst>
          </c:dPt>
          <c:dPt>
            <c:idx val="7"/>
            <c:invertIfNegative val="1"/>
            <c:bubble3D val="0"/>
            <c:spPr>
              <a:solidFill>
                <a:srgbClr val="1B1A1A"/>
              </a:solidFill>
            </c:spPr>
            <c:extLst>
              <c:ext xmlns:c16="http://schemas.microsoft.com/office/drawing/2014/chart" uri="{C3380CC4-5D6E-409C-BE32-E72D297353CC}">
                <c16:uniqueId val="{0000000F-B55A-4C00-B1B8-A38734F1DA2C}"/>
              </c:ext>
            </c:extLst>
          </c:dPt>
          <c:dPt>
            <c:idx val="8"/>
            <c:invertIfNegative val="1"/>
            <c:bubble3D val="0"/>
            <c:spPr>
              <a:solidFill>
                <a:srgbClr val="1B1A1A"/>
              </a:solidFill>
            </c:spPr>
            <c:extLst>
              <c:ext xmlns:c16="http://schemas.microsoft.com/office/drawing/2014/chart" uri="{C3380CC4-5D6E-409C-BE32-E72D297353CC}">
                <c16:uniqueId val="{00000011-B55A-4C00-B1B8-A38734F1DA2C}"/>
              </c:ext>
            </c:extLst>
          </c:dPt>
          <c:dPt>
            <c:idx val="9"/>
            <c:invertIfNegative val="1"/>
            <c:bubble3D val="0"/>
            <c:spPr>
              <a:solidFill>
                <a:srgbClr val="1B1A1A"/>
              </a:solidFill>
            </c:spPr>
            <c:extLst>
              <c:ext xmlns:c16="http://schemas.microsoft.com/office/drawing/2014/chart" uri="{C3380CC4-5D6E-409C-BE32-E72D297353CC}">
                <c16:uniqueId val="{00000013-B55A-4C00-B1B8-A38734F1DA2C}"/>
              </c:ext>
            </c:extLst>
          </c:dPt>
          <c:dPt>
            <c:idx val="10"/>
            <c:invertIfNegative val="1"/>
            <c:bubble3D val="0"/>
            <c:spPr>
              <a:solidFill>
                <a:srgbClr val="C3BDB6"/>
              </a:solidFill>
            </c:spPr>
            <c:extLst>
              <c:ext xmlns:c16="http://schemas.microsoft.com/office/drawing/2014/chart" uri="{C3380CC4-5D6E-409C-BE32-E72D297353CC}">
                <c16:uniqueId val="{00000015-B55A-4C00-B1B8-A38734F1DA2C}"/>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16</c:v>
                </c:pt>
                <c:pt idx="1">
                  <c:v>17</c:v>
                </c:pt>
                <c:pt idx="2">
                  <c:v>18</c:v>
                </c:pt>
                <c:pt idx="3">
                  <c:v>19</c:v>
                </c:pt>
                <c:pt idx="4">
                  <c:v>20</c:v>
                </c:pt>
                <c:pt idx="5">
                  <c:v>21</c:v>
                </c:pt>
                <c:pt idx="6">
                  <c:v>22</c:v>
                </c:pt>
                <c:pt idx="7">
                  <c:v>23</c:v>
                </c:pt>
                <c:pt idx="8">
                  <c:v>24</c:v>
                </c:pt>
                <c:pt idx="9">
                  <c:v>25</c:v>
                </c:pt>
                <c:pt idx="10">
                  <c:v>26*</c:v>
                </c:pt>
              </c:strCache>
            </c:strRef>
          </c:cat>
          <c:val>
            <c:numRef>
              <c:f>Sheet1!$B$2:$B$12</c:f>
              <c:numCache>
                <c:formatCode>General</c:formatCode>
                <c:ptCount val="11"/>
                <c:pt idx="0">
                  <c:v>22</c:v>
                </c:pt>
                <c:pt idx="1">
                  <c:v>46</c:v>
                </c:pt>
                <c:pt idx="2">
                  <c:v>59</c:v>
                </c:pt>
                <c:pt idx="3">
                  <c:v>48</c:v>
                </c:pt>
                <c:pt idx="4">
                  <c:v>53</c:v>
                </c:pt>
                <c:pt idx="5">
                  <c:v>50</c:v>
                </c:pt>
                <c:pt idx="6">
                  <c:v>37</c:v>
                </c:pt>
                <c:pt idx="7">
                  <c:v>55</c:v>
                </c:pt>
                <c:pt idx="8">
                  <c:v>50</c:v>
                </c:pt>
                <c:pt idx="9">
                  <c:v>46</c:v>
                </c:pt>
                <c:pt idx="10">
                  <c:v>46</c:v>
                </c:pt>
              </c:numCache>
            </c:numRef>
          </c:val>
          <c:extLst>
            <c:ext xmlns:c16="http://schemas.microsoft.com/office/drawing/2014/chart" uri="{C3380CC4-5D6E-409C-BE32-E72D297353CC}">
              <c16:uniqueId val="{00000016-B55A-4C00-B1B8-A38734F1DA2C}"/>
            </c:ext>
          </c:extLst>
        </c:ser>
        <c:dLbls>
          <c:dLblPos val="outEnd"/>
          <c:showLegendKey val="0"/>
          <c:showVal val="1"/>
          <c:showCatName val="0"/>
          <c:showSerName val="0"/>
          <c:showPercent val="0"/>
          <c:showBubbleSize val="0"/>
        </c:dLbls>
        <c:gapWidth val="52"/>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66"/>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US private equity healthcare services transactions per year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72FF-476B-A377-ED890EDC1269}"/>
              </c:ext>
            </c:extLst>
          </c:dPt>
          <c:dPt>
            <c:idx val="1"/>
            <c:invertIfNegative val="1"/>
            <c:bubble3D val="0"/>
            <c:spPr>
              <a:solidFill>
                <a:srgbClr val="1B1A1A"/>
              </a:solidFill>
            </c:spPr>
            <c:extLst>
              <c:ext xmlns:c16="http://schemas.microsoft.com/office/drawing/2014/chart" uri="{C3380CC4-5D6E-409C-BE32-E72D297353CC}">
                <c16:uniqueId val="{00000003-72FF-476B-A377-ED890EDC1269}"/>
              </c:ext>
            </c:extLst>
          </c:dPt>
          <c:dPt>
            <c:idx val="2"/>
            <c:invertIfNegative val="1"/>
            <c:bubble3D val="0"/>
            <c:spPr>
              <a:solidFill>
                <a:srgbClr val="1B1A1A"/>
              </a:solidFill>
            </c:spPr>
            <c:extLst>
              <c:ext xmlns:c16="http://schemas.microsoft.com/office/drawing/2014/chart" uri="{C3380CC4-5D6E-409C-BE32-E72D297353CC}">
                <c16:uniqueId val="{00000005-72FF-476B-A377-ED890EDC1269}"/>
              </c:ext>
            </c:extLst>
          </c:dPt>
          <c:dPt>
            <c:idx val="3"/>
            <c:invertIfNegative val="1"/>
            <c:bubble3D val="0"/>
            <c:spPr>
              <a:solidFill>
                <a:srgbClr val="1B1A1A"/>
              </a:solidFill>
            </c:spPr>
            <c:extLst>
              <c:ext xmlns:c16="http://schemas.microsoft.com/office/drawing/2014/chart" uri="{C3380CC4-5D6E-409C-BE32-E72D297353CC}">
                <c16:uniqueId val="{00000007-72FF-476B-A377-ED890EDC1269}"/>
              </c:ext>
            </c:extLst>
          </c:dPt>
          <c:dPt>
            <c:idx val="4"/>
            <c:invertIfNegative val="1"/>
            <c:bubble3D val="0"/>
            <c:spPr>
              <a:solidFill>
                <a:srgbClr val="1B1A1A"/>
              </a:solidFill>
            </c:spPr>
            <c:extLst>
              <c:ext xmlns:c16="http://schemas.microsoft.com/office/drawing/2014/chart" uri="{C3380CC4-5D6E-409C-BE32-E72D297353CC}">
                <c16:uniqueId val="{00000009-72FF-476B-A377-ED890EDC1269}"/>
              </c:ext>
            </c:extLst>
          </c:dPt>
          <c:dPt>
            <c:idx val="5"/>
            <c:invertIfNegative val="1"/>
            <c:bubble3D val="0"/>
            <c:spPr>
              <a:solidFill>
                <a:srgbClr val="1B1A1A"/>
              </a:solidFill>
            </c:spPr>
            <c:extLst>
              <c:ext xmlns:c16="http://schemas.microsoft.com/office/drawing/2014/chart" uri="{C3380CC4-5D6E-409C-BE32-E72D297353CC}">
                <c16:uniqueId val="{0000000B-72FF-476B-A377-ED890EDC1269}"/>
              </c:ext>
            </c:extLst>
          </c:dPt>
          <c:dPt>
            <c:idx val="6"/>
            <c:invertIfNegative val="1"/>
            <c:bubble3D val="0"/>
            <c:spPr>
              <a:solidFill>
                <a:srgbClr val="1B1A1A"/>
              </a:solidFill>
            </c:spPr>
            <c:extLst>
              <c:ext xmlns:c16="http://schemas.microsoft.com/office/drawing/2014/chart" uri="{C3380CC4-5D6E-409C-BE32-E72D297353CC}">
                <c16:uniqueId val="{0000000D-72FF-476B-A377-ED890EDC1269}"/>
              </c:ext>
            </c:extLst>
          </c:dPt>
          <c:dPt>
            <c:idx val="7"/>
            <c:invertIfNegative val="1"/>
            <c:bubble3D val="0"/>
            <c:spPr>
              <a:solidFill>
                <a:srgbClr val="1B1A1A"/>
              </a:solidFill>
            </c:spPr>
            <c:extLst>
              <c:ext xmlns:c16="http://schemas.microsoft.com/office/drawing/2014/chart" uri="{C3380CC4-5D6E-409C-BE32-E72D297353CC}">
                <c16:uniqueId val="{0000000F-72FF-476B-A377-ED890EDC1269}"/>
              </c:ext>
            </c:extLst>
          </c:dPt>
          <c:dPt>
            <c:idx val="8"/>
            <c:invertIfNegative val="1"/>
            <c:bubble3D val="0"/>
            <c:spPr>
              <a:solidFill>
                <a:srgbClr val="1B1A1A"/>
              </a:solidFill>
            </c:spPr>
            <c:extLst>
              <c:ext xmlns:c16="http://schemas.microsoft.com/office/drawing/2014/chart" uri="{C3380CC4-5D6E-409C-BE32-E72D297353CC}">
                <c16:uniqueId val="{00000011-72FF-476B-A377-ED890EDC1269}"/>
              </c:ext>
            </c:extLst>
          </c:dPt>
          <c:dPt>
            <c:idx val="9"/>
            <c:invertIfNegative val="1"/>
            <c:bubble3D val="0"/>
            <c:spPr>
              <a:solidFill>
                <a:srgbClr val="C3BDB6"/>
              </a:solidFill>
            </c:spPr>
            <c:extLst>
              <c:ext xmlns:c16="http://schemas.microsoft.com/office/drawing/2014/chart" uri="{C3380CC4-5D6E-409C-BE32-E72D297353CC}">
                <c16:uniqueId val="{00000013-72FF-476B-A377-ED890EDC1269}"/>
              </c:ext>
            </c:extLst>
          </c:dPt>
          <c:dLbls>
            <c:numFmt formatCode="#,##0"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2017</c:v>
                </c:pt>
                <c:pt idx="1">
                  <c:v>2018</c:v>
                </c:pt>
                <c:pt idx="2">
                  <c:v>2019</c:v>
                </c:pt>
                <c:pt idx="3">
                  <c:v>2020</c:v>
                </c:pt>
                <c:pt idx="4">
                  <c:v>2021</c:v>
                </c:pt>
                <c:pt idx="5">
                  <c:v>2022</c:v>
                </c:pt>
                <c:pt idx="6">
                  <c:v>2023</c:v>
                </c:pt>
                <c:pt idx="7">
                  <c:v>2024</c:v>
                </c:pt>
                <c:pt idx="8">
                  <c:v>2025</c:v>
                </c:pt>
                <c:pt idx="9">
                  <c:v>2026*</c:v>
                </c:pt>
              </c:strCache>
            </c:strRef>
          </c:cat>
          <c:val>
            <c:numRef>
              <c:f>Sheet1!$B$2:$B$11</c:f>
              <c:numCache>
                <c:formatCode>General</c:formatCode>
                <c:ptCount val="10"/>
                <c:pt idx="0">
                  <c:v>490</c:v>
                </c:pt>
                <c:pt idx="1">
                  <c:v>651</c:v>
                </c:pt>
                <c:pt idx="2">
                  <c:v>684</c:v>
                </c:pt>
                <c:pt idx="3">
                  <c:v>829</c:v>
                </c:pt>
                <c:pt idx="4">
                  <c:v>1217</c:v>
                </c:pt>
                <c:pt idx="5">
                  <c:v>998</c:v>
                </c:pt>
                <c:pt idx="6">
                  <c:v>801</c:v>
                </c:pt>
                <c:pt idx="7">
                  <c:v>682</c:v>
                </c:pt>
                <c:pt idx="8">
                  <c:v>747</c:v>
                </c:pt>
                <c:pt idx="9">
                  <c:v>674</c:v>
                </c:pt>
              </c:numCache>
            </c:numRef>
          </c:val>
          <c:extLst>
            <c:ext xmlns:c16="http://schemas.microsoft.com/office/drawing/2014/chart" uri="{C3380CC4-5D6E-409C-BE32-E72D297353CC}">
              <c16:uniqueId val="{00000014-72FF-476B-A377-ED890EDC1269}"/>
            </c:ext>
          </c:extLst>
        </c:ser>
        <c:dLbls>
          <c:dLblPos val="outEnd"/>
          <c:showLegendKey val="0"/>
          <c:showVal val="1"/>
          <c:showCatName val="0"/>
          <c:showSerName val="0"/>
          <c:showPercent val="0"/>
          <c:showBubbleSize val="0"/>
        </c:dLbls>
        <c:gapWidth val="79"/>
        <c:axId val="-2068027336"/>
        <c:axId val="-2113994440"/>
      </c:barChart>
      <c:catAx>
        <c:axId val="-2068027336"/>
        <c:scaling>
          <c:orientation val="minMax"/>
        </c:scaling>
        <c:delete val="0"/>
        <c:axPos val="b"/>
        <c:numFmt formatCode="General" sourceLinked="0"/>
        <c:majorTickMark val="none"/>
        <c:minorTickMark val="none"/>
        <c:tickLblPos val="nextTo"/>
        <c:spPr>
          <a:ln>
            <a:solidFill>
              <a:srgbClr val="C3BDB6"/>
            </a:solidFill>
          </a:ln>
        </c:spPr>
        <c:txPr>
          <a:bodyPr/>
          <a:lstStyle/>
          <a:p>
            <a:pPr>
              <a:defRPr sz="700" b="0">
                <a:solidFill>
                  <a:srgbClr val="6F6A66"/>
                </a:solidFill>
                <a:latin typeface="Calibri"/>
              </a:defRPr>
            </a:pPr>
            <a:endParaRPr lang="en-US"/>
          </a:p>
        </c:txPr>
        <c:crossAx val="-2113994440"/>
        <c:crosses val="autoZero"/>
        <c:auto val="1"/>
        <c:lblAlgn val="ctr"/>
        <c:lblOffset val="100"/>
        <c:noMultiLvlLbl val="0"/>
      </c:catAx>
      <c:valAx>
        <c:axId val="-2113994440"/>
        <c:scaling>
          <c:orientation val="minMax"/>
          <c:max val="14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 year ago</c:v>
                </c:pt>
              </c:strCache>
            </c:strRef>
          </c:tx>
          <c:spPr>
            <a:solidFill>
              <a:srgbClr val="C9C1B8"/>
            </a:solidFill>
          </c:spPr>
          <c:invertIfNegative val="1"/>
          <c:dLbls>
            <c:numFmt formatCode="0.0&quot;x&quot;" sourceLinked="0"/>
            <c:spPr>
              <a:noFill/>
              <a:ln>
                <a:noFill/>
              </a:ln>
              <a:effectLst/>
            </c:spPr>
            <c:txPr>
              <a:bodyPr/>
              <a:lstStyle/>
              <a:p>
                <a:pPr>
                  <a:defRPr sz="7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Provider: hospitals, behavioral, post-acute</c:v>
                </c:pt>
                <c:pt idx="1">
                  <c:v>Provider: outpatient, physician, home care</c:v>
                </c:pt>
                <c:pt idx="2">
                  <c:v>Life sciences: clinical laboratories</c:v>
                </c:pt>
                <c:pt idx="3">
                  <c:v>Life sciences: tools and reagents</c:v>
                </c:pt>
                <c:pt idx="4">
                  <c:v>Life sciences: research services</c:v>
                </c:pt>
                <c:pt idx="5">
                  <c:v>Products: devices, consumables, manufacturing</c:v>
                </c:pt>
                <c:pt idx="6">
                  <c:v>Products: dental, distribution, home equipment</c:v>
                </c:pt>
                <c:pt idx="7">
                  <c:v>Pharmacy: pharmacy services and staffing</c:v>
                </c:pt>
                <c:pt idx="8">
                  <c:v>Pharmacy: drug distribution and retail</c:v>
                </c:pt>
              </c:strCache>
            </c:strRef>
          </c:cat>
          <c:val>
            <c:numRef>
              <c:f>Sheet1!$B$2:$B$10</c:f>
              <c:numCache>
                <c:formatCode>General</c:formatCode>
                <c:ptCount val="9"/>
                <c:pt idx="0">
                  <c:v>8.6130557490012087</c:v>
                </c:pt>
                <c:pt idx="1">
                  <c:v>18.776586509056465</c:v>
                </c:pt>
                <c:pt idx="2">
                  <c:v>13.259596104166789</c:v>
                </c:pt>
                <c:pt idx="3">
                  <c:v>19.537963818830054</c:v>
                </c:pt>
                <c:pt idx="4">
                  <c:v>11.127103449125983</c:v>
                </c:pt>
                <c:pt idx="5">
                  <c:v>12.620324785068703</c:v>
                </c:pt>
                <c:pt idx="6">
                  <c:v>9.5508630802748442</c:v>
                </c:pt>
                <c:pt idx="7">
                  <c:v>14.308404184540526</c:v>
                </c:pt>
                <c:pt idx="8">
                  <c:v>14.152394095210013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2CF7-45E8-B7BF-AA81F9694DC2}"/>
            </c:ext>
          </c:extLst>
        </c:ser>
        <c:ser>
          <c:idx val="1"/>
          <c:order val="1"/>
          <c:tx>
            <c:strRef>
              <c:f>Sheet1!$C$1</c:f>
              <c:strCache>
                <c:ptCount val="1"/>
                <c:pt idx="0">
                  <c:v>Today</c:v>
                </c:pt>
              </c:strCache>
            </c:strRef>
          </c:tx>
          <c:spPr>
            <a:solidFill>
              <a:srgbClr val="1B1A1A"/>
            </a:solidFill>
          </c:spPr>
          <c:invertIfNegative val="1"/>
          <c:dLbls>
            <c:numFmt formatCode="0.0&quot;x&quot;" sourceLinked="0"/>
            <c:spPr>
              <a:noFill/>
              <a:ln>
                <a:noFill/>
              </a:ln>
              <a:effectLst/>
            </c:spPr>
            <c:txPr>
              <a:bodyPr/>
              <a:lstStyle/>
              <a:p>
                <a:pPr>
                  <a:defRPr sz="70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Provider: hospitals, behavioral, post-acute</c:v>
                </c:pt>
                <c:pt idx="1">
                  <c:v>Provider: outpatient, physician, home care</c:v>
                </c:pt>
                <c:pt idx="2">
                  <c:v>Life sciences: clinical laboratories</c:v>
                </c:pt>
                <c:pt idx="3">
                  <c:v>Life sciences: tools and reagents</c:v>
                </c:pt>
                <c:pt idx="4">
                  <c:v>Life sciences: research services</c:v>
                </c:pt>
                <c:pt idx="5">
                  <c:v>Products: devices, consumables, manufacturing</c:v>
                </c:pt>
                <c:pt idx="6">
                  <c:v>Products: dental, distribution, home equipment</c:v>
                </c:pt>
                <c:pt idx="7">
                  <c:v>Pharmacy: pharmacy services and staffing</c:v>
                </c:pt>
                <c:pt idx="8">
                  <c:v>Pharmacy: drug distribution and retail</c:v>
                </c:pt>
              </c:strCache>
            </c:strRef>
          </c:cat>
          <c:val>
            <c:numRef>
              <c:f>Sheet1!$C$2:$C$10</c:f>
              <c:numCache>
                <c:formatCode>General</c:formatCode>
                <c:ptCount val="9"/>
                <c:pt idx="0">
                  <c:v>9.2004768001412742</c:v>
                </c:pt>
                <c:pt idx="1">
                  <c:v>17.081999459663884</c:v>
                </c:pt>
                <c:pt idx="2">
                  <c:v>13.501146699306043</c:v>
                </c:pt>
                <c:pt idx="3">
                  <c:v>24.979581419091375</c:v>
                </c:pt>
                <c:pt idx="4">
                  <c:v>16.780324306159955</c:v>
                </c:pt>
                <c:pt idx="5">
                  <c:v>14.270907757423739</c:v>
                </c:pt>
                <c:pt idx="6">
                  <c:v>8.0475331276798006</c:v>
                </c:pt>
                <c:pt idx="7">
                  <c:v>15.834859102779994</c:v>
                </c:pt>
                <c:pt idx="8">
                  <c:v>15.040037933685062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2CF7-45E8-B7BF-AA81F9694DC2}"/>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3BDB6"/>
            </a:solidFill>
          </a:ln>
        </c:spPr>
        <c:txPr>
          <a:bodyPr/>
          <a:lstStyle/>
          <a:p>
            <a:pPr>
              <a:defRPr sz="750"/>
            </a:pPr>
            <a:endParaRPr lang="en-US"/>
          </a:p>
        </c:txPr>
        <c:crossAx val="-2113994440"/>
        <c:crosses val="autoZero"/>
        <c:auto val="1"/>
        <c:lblAlgn val="ctr"/>
        <c:lblOffset val="100"/>
        <c:noMultiLvlLbl val="0"/>
      </c:catAx>
      <c:valAx>
        <c:axId val="-2113994440"/>
        <c:scaling>
          <c:orientation val="minMax"/>
          <c:max val="30"/>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750">
          <a:solidFill>
            <a:srgbClr val="333231"/>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change over 52 weeks by sector</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559D-418E-87F1-3ECBDCE88A2C}"/>
              </c:ext>
            </c:extLst>
          </c:dPt>
          <c:dPt>
            <c:idx val="1"/>
            <c:invertIfNegative val="1"/>
            <c:bubble3D val="0"/>
            <c:spPr>
              <a:solidFill>
                <a:srgbClr val="B68757"/>
              </a:solidFill>
            </c:spPr>
            <c:extLst>
              <c:ext xmlns:c16="http://schemas.microsoft.com/office/drawing/2014/chart" uri="{C3380CC4-5D6E-409C-BE32-E72D297353CC}">
                <c16:uniqueId val="{00000003-559D-418E-87F1-3ECBDCE88A2C}"/>
              </c:ext>
            </c:extLst>
          </c:dPt>
          <c:dPt>
            <c:idx val="2"/>
            <c:invertIfNegative val="1"/>
            <c:bubble3D val="0"/>
            <c:spPr>
              <a:solidFill>
                <a:srgbClr val="6D7681"/>
              </a:solidFill>
            </c:spPr>
            <c:extLst>
              <c:ext xmlns:c16="http://schemas.microsoft.com/office/drawing/2014/chart" uri="{C3380CC4-5D6E-409C-BE32-E72D297353CC}">
                <c16:uniqueId val="{00000005-559D-418E-87F1-3ECBDCE88A2C}"/>
              </c:ext>
            </c:extLst>
          </c:dPt>
          <c:dPt>
            <c:idx val="3"/>
            <c:invertIfNegative val="1"/>
            <c:bubble3D val="0"/>
            <c:spPr>
              <a:solidFill>
                <a:srgbClr val="A39486"/>
              </a:solidFill>
            </c:spPr>
            <c:extLst>
              <c:ext xmlns:c16="http://schemas.microsoft.com/office/drawing/2014/chart" uri="{C3380CC4-5D6E-409C-BE32-E72D297353CC}">
                <c16:uniqueId val="{00000007-559D-418E-87F1-3ECBDCE88A2C}"/>
              </c:ext>
            </c:extLst>
          </c:dPt>
          <c:dLbls>
            <c:numFmt formatCode="\+0.0&quot;%&quot;;\-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21.48</c:v>
                </c:pt>
                <c:pt idx="1">
                  <c:v>21.8</c:v>
                </c:pt>
                <c:pt idx="2">
                  <c:v>12.08</c:v>
                </c:pt>
                <c:pt idx="3">
                  <c:v>44.3</c:v>
                </c:pt>
              </c:numCache>
            </c:numRef>
          </c:val>
          <c:extLst>
            <c:ext xmlns:c16="http://schemas.microsoft.com/office/drawing/2014/chart" uri="{C3380CC4-5D6E-409C-BE32-E72D297353CC}">
              <c16:uniqueId val="{00000008-559D-418E-87F1-3ECBDCE88A2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53.84615384615384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share price as a percentage of the 52-week high by fo</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6C92-4D78-A79F-BA11ADDC9970}"/>
              </c:ext>
            </c:extLst>
          </c:dPt>
          <c:dPt>
            <c:idx val="1"/>
            <c:invertIfNegative val="1"/>
            <c:bubble3D val="0"/>
            <c:spPr>
              <a:solidFill>
                <a:srgbClr val="B68757"/>
              </a:solidFill>
            </c:spPr>
            <c:extLst>
              <c:ext xmlns:c16="http://schemas.microsoft.com/office/drawing/2014/chart" uri="{C3380CC4-5D6E-409C-BE32-E72D297353CC}">
                <c16:uniqueId val="{00000003-6C92-4D78-A79F-BA11ADDC9970}"/>
              </c:ext>
            </c:extLst>
          </c:dPt>
          <c:dPt>
            <c:idx val="2"/>
            <c:invertIfNegative val="1"/>
            <c:bubble3D val="0"/>
            <c:spPr>
              <a:solidFill>
                <a:srgbClr val="6D7681"/>
              </a:solidFill>
            </c:spPr>
            <c:extLst>
              <c:ext xmlns:c16="http://schemas.microsoft.com/office/drawing/2014/chart" uri="{C3380CC4-5D6E-409C-BE32-E72D297353CC}">
                <c16:uniqueId val="{00000005-6C92-4D78-A79F-BA11ADDC9970}"/>
              </c:ext>
            </c:extLst>
          </c:dPt>
          <c:dPt>
            <c:idx val="3"/>
            <c:invertIfNegative val="1"/>
            <c:bubble3D val="0"/>
            <c:spPr>
              <a:solidFill>
                <a:srgbClr val="A39486"/>
              </a:solidFill>
            </c:spPr>
            <c:extLst>
              <c:ext xmlns:c16="http://schemas.microsoft.com/office/drawing/2014/chart" uri="{C3380CC4-5D6E-409C-BE32-E72D297353CC}">
                <c16:uniqueId val="{00000007-6C92-4D78-A79F-BA11ADDC997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86.58</c:v>
                </c:pt>
                <c:pt idx="1">
                  <c:v>93.02</c:v>
                </c:pt>
                <c:pt idx="2">
                  <c:v>85.75</c:v>
                </c:pt>
                <c:pt idx="3">
                  <c:v>87.54</c:v>
                </c:pt>
              </c:numCache>
            </c:numRef>
          </c:val>
          <c:extLst>
            <c:ext xmlns:c16="http://schemas.microsoft.com/office/drawing/2014/chart" uri="{C3380CC4-5D6E-409C-BE32-E72D297353CC}">
              <c16:uniqueId val="{00000008-6C92-4D78-A79F-BA11ADDC997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extTo"/>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31.6239316239316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4A32-464F-9ED9-0A561D68F8A1}"/>
              </c:ext>
            </c:extLst>
          </c:dPt>
          <c:dPt>
            <c:idx val="1"/>
            <c:invertIfNegative val="1"/>
            <c:bubble3D val="0"/>
            <c:spPr>
              <a:solidFill>
                <a:srgbClr val="B68757"/>
              </a:solidFill>
            </c:spPr>
            <c:extLst>
              <c:ext xmlns:c16="http://schemas.microsoft.com/office/drawing/2014/chart" uri="{C3380CC4-5D6E-409C-BE32-E72D297353CC}">
                <c16:uniqueId val="{00000003-4A32-464F-9ED9-0A561D68F8A1}"/>
              </c:ext>
            </c:extLst>
          </c:dPt>
          <c:dPt>
            <c:idx val="2"/>
            <c:invertIfNegative val="1"/>
            <c:bubble3D val="0"/>
            <c:spPr>
              <a:solidFill>
                <a:srgbClr val="6D7681"/>
              </a:solidFill>
            </c:spPr>
            <c:extLst>
              <c:ext xmlns:c16="http://schemas.microsoft.com/office/drawing/2014/chart" uri="{C3380CC4-5D6E-409C-BE32-E72D297353CC}">
                <c16:uniqueId val="{00000005-4A32-464F-9ED9-0A561D68F8A1}"/>
              </c:ext>
            </c:extLst>
          </c:dPt>
          <c:dPt>
            <c:idx val="3"/>
            <c:invertIfNegative val="1"/>
            <c:bubble3D val="0"/>
            <c:spPr>
              <a:solidFill>
                <a:srgbClr val="A39486"/>
              </a:solidFill>
            </c:spPr>
            <c:extLst>
              <c:ext xmlns:c16="http://schemas.microsoft.com/office/drawing/2014/chart" uri="{C3380CC4-5D6E-409C-BE32-E72D297353CC}">
                <c16:uniqueId val="{00000007-4A32-464F-9ED9-0A561D68F8A1}"/>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c:v>
                </c:pt>
                <c:pt idx="1">
                  <c:v>6.4</c:v>
                </c:pt>
                <c:pt idx="2">
                  <c:v>8.3699999999999992</c:v>
                </c:pt>
                <c:pt idx="3">
                  <c:v>9.5500000000000007</c:v>
                </c:pt>
              </c:numCache>
            </c:numRef>
          </c:val>
          <c:extLst>
            <c:ext xmlns:c16="http://schemas.microsoft.com/office/drawing/2014/chart" uri="{C3380CC4-5D6E-409C-BE32-E72D297353CC}">
              <c16:uniqueId val="{00000008-4A32-464F-9ED9-0A561D68F8A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Revenue growth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B703-45A5-A4B2-A5948389BFAC}"/>
              </c:ext>
            </c:extLst>
          </c:dPt>
          <c:dPt>
            <c:idx val="1"/>
            <c:invertIfNegative val="1"/>
            <c:bubble3D val="0"/>
            <c:spPr>
              <a:solidFill>
                <a:srgbClr val="B68757"/>
              </a:solidFill>
            </c:spPr>
            <c:extLst>
              <c:ext xmlns:c16="http://schemas.microsoft.com/office/drawing/2014/chart" uri="{C3380CC4-5D6E-409C-BE32-E72D297353CC}">
                <c16:uniqueId val="{00000003-B703-45A5-A4B2-A5948389BFAC}"/>
              </c:ext>
            </c:extLst>
          </c:dPt>
          <c:dPt>
            <c:idx val="2"/>
            <c:invertIfNegative val="1"/>
            <c:bubble3D val="0"/>
            <c:spPr>
              <a:solidFill>
                <a:srgbClr val="6D7681"/>
              </a:solidFill>
            </c:spPr>
            <c:extLst>
              <c:ext xmlns:c16="http://schemas.microsoft.com/office/drawing/2014/chart" uri="{C3380CC4-5D6E-409C-BE32-E72D297353CC}">
                <c16:uniqueId val="{00000005-B703-45A5-A4B2-A5948389BFAC}"/>
              </c:ext>
            </c:extLst>
          </c:dPt>
          <c:dPt>
            <c:idx val="3"/>
            <c:invertIfNegative val="1"/>
            <c:bubble3D val="0"/>
            <c:spPr>
              <a:solidFill>
                <a:srgbClr val="A39486"/>
              </a:solidFill>
            </c:spPr>
            <c:extLst>
              <c:ext xmlns:c16="http://schemas.microsoft.com/office/drawing/2014/chart" uri="{C3380CC4-5D6E-409C-BE32-E72D297353CC}">
                <c16:uniqueId val="{00000007-B703-45A5-A4B2-A5948389BFAC}"/>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8.74</c:v>
                </c:pt>
                <c:pt idx="1">
                  <c:v>6.79</c:v>
                </c:pt>
                <c:pt idx="2">
                  <c:v>5.57</c:v>
                </c:pt>
                <c:pt idx="3">
                  <c:v>4.7249999999999996</c:v>
                </c:pt>
              </c:numCache>
            </c:numRef>
          </c:val>
          <c:extLst>
            <c:ext xmlns:c16="http://schemas.microsoft.com/office/drawing/2014/chart" uri="{C3380CC4-5D6E-409C-BE32-E72D297353CC}">
              <c16:uniqueId val="{00000008-B703-45A5-A4B2-A5948389BFA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23.17500000000000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EBITDA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4BA-4E36-B346-730C45E0DB44}"/>
              </c:ext>
            </c:extLst>
          </c:dPt>
          <c:dPt>
            <c:idx val="1"/>
            <c:invertIfNegative val="1"/>
            <c:bubble3D val="0"/>
            <c:spPr>
              <a:solidFill>
                <a:srgbClr val="B68757"/>
              </a:solidFill>
            </c:spPr>
            <c:extLst>
              <c:ext xmlns:c16="http://schemas.microsoft.com/office/drawing/2014/chart" uri="{C3380CC4-5D6E-409C-BE32-E72D297353CC}">
                <c16:uniqueId val="{00000003-F4BA-4E36-B346-730C45E0DB44}"/>
              </c:ext>
            </c:extLst>
          </c:dPt>
          <c:dPt>
            <c:idx val="2"/>
            <c:invertIfNegative val="1"/>
            <c:bubble3D val="0"/>
            <c:spPr>
              <a:solidFill>
                <a:srgbClr val="6D7681"/>
              </a:solidFill>
            </c:spPr>
            <c:extLst>
              <c:ext xmlns:c16="http://schemas.microsoft.com/office/drawing/2014/chart" uri="{C3380CC4-5D6E-409C-BE32-E72D297353CC}">
                <c16:uniqueId val="{00000005-F4BA-4E36-B346-730C45E0DB44}"/>
              </c:ext>
            </c:extLst>
          </c:dPt>
          <c:dPt>
            <c:idx val="3"/>
            <c:invertIfNegative val="1"/>
            <c:bubble3D val="0"/>
            <c:spPr>
              <a:solidFill>
                <a:srgbClr val="A39486"/>
              </a:solidFill>
            </c:spPr>
            <c:extLst>
              <c:ext xmlns:c16="http://schemas.microsoft.com/office/drawing/2014/chart" uri="{C3380CC4-5D6E-409C-BE32-E72D297353CC}">
                <c16:uniqueId val="{00000007-F4BA-4E36-B346-730C45E0DB44}"/>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13.05</c:v>
                </c:pt>
                <c:pt idx="1">
                  <c:v>22.91</c:v>
                </c:pt>
                <c:pt idx="2">
                  <c:v>22.28</c:v>
                </c:pt>
                <c:pt idx="3">
                  <c:v>4.88</c:v>
                </c:pt>
              </c:numCache>
            </c:numRef>
          </c:val>
          <c:extLst>
            <c:ext xmlns:c16="http://schemas.microsoft.com/office/drawing/2014/chart" uri="{C3380CC4-5D6E-409C-BE32-E72D297353CC}">
              <c16:uniqueId val="{00000008-F4BA-4E36-B346-730C45E0DB44}"/>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Free cash flow margin</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346D-4ACF-A068-C5C4C9A45DA7}"/>
              </c:ext>
            </c:extLst>
          </c:dPt>
          <c:dPt>
            <c:idx val="1"/>
            <c:invertIfNegative val="1"/>
            <c:bubble3D val="0"/>
            <c:spPr>
              <a:solidFill>
                <a:srgbClr val="B68757"/>
              </a:solidFill>
            </c:spPr>
            <c:extLst>
              <c:ext xmlns:c16="http://schemas.microsoft.com/office/drawing/2014/chart" uri="{C3380CC4-5D6E-409C-BE32-E72D297353CC}">
                <c16:uniqueId val="{00000003-346D-4ACF-A068-C5C4C9A45DA7}"/>
              </c:ext>
            </c:extLst>
          </c:dPt>
          <c:dPt>
            <c:idx val="2"/>
            <c:invertIfNegative val="1"/>
            <c:bubble3D val="0"/>
            <c:spPr>
              <a:solidFill>
                <a:srgbClr val="6D7681"/>
              </a:solidFill>
            </c:spPr>
            <c:extLst>
              <c:ext xmlns:c16="http://schemas.microsoft.com/office/drawing/2014/chart" uri="{C3380CC4-5D6E-409C-BE32-E72D297353CC}">
                <c16:uniqueId val="{00000005-346D-4ACF-A068-C5C4C9A45DA7}"/>
              </c:ext>
            </c:extLst>
          </c:dPt>
          <c:dPt>
            <c:idx val="3"/>
            <c:invertIfNegative val="1"/>
            <c:bubble3D val="0"/>
            <c:spPr>
              <a:solidFill>
                <a:srgbClr val="A39486"/>
              </a:solidFill>
            </c:spPr>
            <c:extLst>
              <c:ext xmlns:c16="http://schemas.microsoft.com/office/drawing/2014/chart" uri="{C3380CC4-5D6E-409C-BE32-E72D297353CC}">
                <c16:uniqueId val="{00000007-346D-4ACF-A068-C5C4C9A45DA7}"/>
              </c:ext>
            </c:extLst>
          </c:dPt>
          <c:dLbls>
            <c:numFmt formatCode="0.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7.97</c:v>
                </c:pt>
                <c:pt idx="1">
                  <c:v>12.86</c:v>
                </c:pt>
                <c:pt idx="2">
                  <c:v>9.19</c:v>
                </c:pt>
                <c:pt idx="3">
                  <c:v>2.8250000000000002</c:v>
                </c:pt>
              </c:numCache>
            </c:numRef>
          </c:val>
          <c:extLst>
            <c:ext xmlns:c16="http://schemas.microsoft.com/office/drawing/2014/chart" uri="{C3380CC4-5D6E-409C-BE32-E72D297353CC}">
              <c16:uniqueId val="{00000008-346D-4ACF-A068-C5C4C9A45DA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4.76250000000000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revenue</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FDAF-4994-829D-7C15B53A2646}"/>
              </c:ext>
            </c:extLst>
          </c:dPt>
          <c:dPt>
            <c:idx val="1"/>
            <c:invertIfNegative val="1"/>
            <c:bubble3D val="0"/>
            <c:spPr>
              <a:solidFill>
                <a:srgbClr val="B68757"/>
              </a:solidFill>
            </c:spPr>
            <c:extLst>
              <c:ext xmlns:c16="http://schemas.microsoft.com/office/drawing/2014/chart" uri="{C3380CC4-5D6E-409C-BE32-E72D297353CC}">
                <c16:uniqueId val="{00000003-FDAF-4994-829D-7C15B53A2646}"/>
              </c:ext>
            </c:extLst>
          </c:dPt>
          <c:dPt>
            <c:idx val="2"/>
            <c:invertIfNegative val="1"/>
            <c:bubble3D val="0"/>
            <c:spPr>
              <a:solidFill>
                <a:srgbClr val="6D7681"/>
              </a:solidFill>
            </c:spPr>
            <c:extLst>
              <c:ext xmlns:c16="http://schemas.microsoft.com/office/drawing/2014/chart" uri="{C3380CC4-5D6E-409C-BE32-E72D297353CC}">
                <c16:uniqueId val="{00000005-FDAF-4994-829D-7C15B53A2646}"/>
              </c:ext>
            </c:extLst>
          </c:dPt>
          <c:dPt>
            <c:idx val="3"/>
            <c:invertIfNegative val="1"/>
            <c:bubble3D val="0"/>
            <c:spPr>
              <a:solidFill>
                <a:srgbClr val="A39486"/>
              </a:solidFill>
            </c:spPr>
            <c:extLst>
              <c:ext xmlns:c16="http://schemas.microsoft.com/office/drawing/2014/chart" uri="{C3380CC4-5D6E-409C-BE32-E72D297353CC}">
                <c16:uniqueId val="{00000007-FDAF-4994-829D-7C15B53A2646}"/>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1.76</c:v>
                </c:pt>
                <c:pt idx="1">
                  <c:v>4.29</c:v>
                </c:pt>
                <c:pt idx="2">
                  <c:v>2.66</c:v>
                </c:pt>
                <c:pt idx="3">
                  <c:v>0.51</c:v>
                </c:pt>
              </c:numCache>
            </c:numRef>
          </c:val>
          <c:extLst>
            <c:ext xmlns:c16="http://schemas.microsoft.com/office/drawing/2014/chart" uri="{C3380CC4-5D6E-409C-BE32-E72D297353CC}">
              <c16:uniqueId val="{00000008-FDAF-4994-829D-7C15B53A26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7.2099999999999991"/>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16E-481D-A836-743894632E71}"/>
              </c:ext>
            </c:extLst>
          </c:dPt>
          <c:dPt>
            <c:idx val="1"/>
            <c:invertIfNegative val="1"/>
            <c:bubble3D val="0"/>
            <c:spPr>
              <a:solidFill>
                <a:srgbClr val="B68757"/>
              </a:solidFill>
            </c:spPr>
            <c:extLst>
              <c:ext xmlns:c16="http://schemas.microsoft.com/office/drawing/2014/chart" uri="{C3380CC4-5D6E-409C-BE32-E72D297353CC}">
                <c16:uniqueId val="{00000003-C16E-481D-A836-743894632E71}"/>
              </c:ext>
            </c:extLst>
          </c:dPt>
          <c:dPt>
            <c:idx val="2"/>
            <c:invertIfNegative val="1"/>
            <c:bubble3D val="0"/>
            <c:spPr>
              <a:solidFill>
                <a:srgbClr val="6D7681"/>
              </a:solidFill>
            </c:spPr>
            <c:extLst>
              <c:ext xmlns:c16="http://schemas.microsoft.com/office/drawing/2014/chart" uri="{C3380CC4-5D6E-409C-BE32-E72D297353CC}">
                <c16:uniqueId val="{00000005-C16E-481D-A836-743894632E71}"/>
              </c:ext>
            </c:extLst>
          </c:dPt>
          <c:dPt>
            <c:idx val="3"/>
            <c:invertIfNegative val="1"/>
            <c:bubble3D val="0"/>
            <c:spPr>
              <a:solidFill>
                <a:srgbClr val="A39486"/>
              </a:solidFill>
            </c:spPr>
            <c:extLst>
              <c:ext xmlns:c16="http://schemas.microsoft.com/office/drawing/2014/chart" uri="{C3380CC4-5D6E-409C-BE32-E72D297353CC}">
                <c16:uniqueId val="{00000007-C16E-481D-A836-743894632E71}"/>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14.21</c:v>
                </c:pt>
                <c:pt idx="1">
                  <c:v>18.739999999999998</c:v>
                </c:pt>
                <c:pt idx="2">
                  <c:v>10.7</c:v>
                </c:pt>
                <c:pt idx="3">
                  <c:v>15.04</c:v>
                </c:pt>
              </c:numCache>
            </c:numRef>
          </c:val>
          <c:extLst>
            <c:ext xmlns:c16="http://schemas.microsoft.com/office/drawing/2014/chart" uri="{C3380CC4-5D6E-409C-BE32-E72D297353CC}">
              <c16:uniqueId val="{00000008-C16E-481D-A836-743894632E7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EV to trailing EBITDA</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CAF6-42BB-8F9B-580458E84FC2}"/>
              </c:ext>
            </c:extLst>
          </c:dPt>
          <c:dPt>
            <c:idx val="1"/>
            <c:invertIfNegative val="1"/>
            <c:bubble3D val="0"/>
            <c:spPr>
              <a:solidFill>
                <a:srgbClr val="B68757"/>
              </a:solidFill>
            </c:spPr>
            <c:extLst>
              <c:ext xmlns:c16="http://schemas.microsoft.com/office/drawing/2014/chart" uri="{C3380CC4-5D6E-409C-BE32-E72D297353CC}">
                <c16:uniqueId val="{00000003-CAF6-42BB-8F9B-580458E84FC2}"/>
              </c:ext>
            </c:extLst>
          </c:dPt>
          <c:dPt>
            <c:idx val="2"/>
            <c:invertIfNegative val="1"/>
            <c:bubble3D val="0"/>
            <c:spPr>
              <a:solidFill>
                <a:srgbClr val="6D7681"/>
              </a:solidFill>
            </c:spPr>
            <c:extLst>
              <c:ext xmlns:c16="http://schemas.microsoft.com/office/drawing/2014/chart" uri="{C3380CC4-5D6E-409C-BE32-E72D297353CC}">
                <c16:uniqueId val="{00000005-CAF6-42BB-8F9B-580458E84FC2}"/>
              </c:ext>
            </c:extLst>
          </c:dPt>
          <c:dPt>
            <c:idx val="3"/>
            <c:invertIfNegative val="1"/>
            <c:bubble3D val="0"/>
            <c:spPr>
              <a:solidFill>
                <a:srgbClr val="A39486"/>
              </a:solidFill>
            </c:spPr>
            <c:extLst>
              <c:ext xmlns:c16="http://schemas.microsoft.com/office/drawing/2014/chart" uri="{C3380CC4-5D6E-409C-BE32-E72D297353CC}">
                <c16:uniqueId val="{00000007-CAF6-42BB-8F9B-580458E84FC2}"/>
              </c:ext>
            </c:extLst>
          </c:dPt>
          <c:dLbls>
            <c:numFmt formatCode="0.0&quot;x&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14.54</c:v>
                </c:pt>
                <c:pt idx="1">
                  <c:v>13.33</c:v>
                </c:pt>
                <c:pt idx="2">
                  <c:v>12.04</c:v>
                </c:pt>
                <c:pt idx="3">
                  <c:v>14.15</c:v>
                </c:pt>
              </c:numCache>
            </c:numRef>
          </c:val>
          <c:extLst>
            <c:ext xmlns:c16="http://schemas.microsoft.com/office/drawing/2014/chart" uri="{C3380CC4-5D6E-409C-BE32-E72D297353CC}">
              <c16:uniqueId val="{00000008-CAF6-42BB-8F9B-580458E84FC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36.049999999999997"/>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Share price relative to 52-week high</c:v>
                </c:pt>
              </c:strCache>
            </c:strRef>
          </c:tx>
          <c:invertIfNegative val="1"/>
          <c:dPt>
            <c:idx val="0"/>
            <c:invertIfNegative val="1"/>
            <c:bubble3D val="0"/>
            <c:spPr>
              <a:solidFill>
                <a:srgbClr val="1B1A1A"/>
              </a:solidFill>
            </c:spPr>
            <c:extLst>
              <c:ext xmlns:c16="http://schemas.microsoft.com/office/drawing/2014/chart" uri="{C3380CC4-5D6E-409C-BE32-E72D297353CC}">
                <c16:uniqueId val="{00000001-091B-4003-A698-7001C4B7CE50}"/>
              </c:ext>
            </c:extLst>
          </c:dPt>
          <c:dPt>
            <c:idx val="1"/>
            <c:invertIfNegative val="1"/>
            <c:bubble3D val="0"/>
            <c:spPr>
              <a:solidFill>
                <a:srgbClr val="B68757"/>
              </a:solidFill>
            </c:spPr>
            <c:extLst>
              <c:ext xmlns:c16="http://schemas.microsoft.com/office/drawing/2014/chart" uri="{C3380CC4-5D6E-409C-BE32-E72D297353CC}">
                <c16:uniqueId val="{00000003-091B-4003-A698-7001C4B7CE50}"/>
              </c:ext>
            </c:extLst>
          </c:dPt>
          <c:dPt>
            <c:idx val="2"/>
            <c:invertIfNegative val="1"/>
            <c:bubble3D val="0"/>
            <c:spPr>
              <a:solidFill>
                <a:srgbClr val="6D7681"/>
              </a:solidFill>
            </c:spPr>
            <c:extLst>
              <c:ext xmlns:c16="http://schemas.microsoft.com/office/drawing/2014/chart" uri="{C3380CC4-5D6E-409C-BE32-E72D297353CC}">
                <c16:uniqueId val="{00000005-091B-4003-A698-7001C4B7CE50}"/>
              </c:ext>
            </c:extLst>
          </c:dPt>
          <c:dPt>
            <c:idx val="3"/>
            <c:invertIfNegative val="1"/>
            <c:bubble3D val="0"/>
            <c:spPr>
              <a:solidFill>
                <a:srgbClr val="A39486"/>
              </a:solidFill>
            </c:spPr>
            <c:extLst>
              <c:ext xmlns:c16="http://schemas.microsoft.com/office/drawing/2014/chart" uri="{C3380CC4-5D6E-409C-BE32-E72D297353CC}">
                <c16:uniqueId val="{00000007-091B-4003-A698-7001C4B7CE50}"/>
              </c:ext>
            </c:extLst>
          </c:dPt>
          <c:dLbls>
            <c:numFmt formatCode="0&quot;%&quot;" sourceLinked="0"/>
            <c:spPr>
              <a:noFill/>
              <a:ln>
                <a:noFill/>
              </a:ln>
              <a:effectLst/>
            </c:spPr>
            <c:txPr>
              <a:bodyPr/>
              <a:lstStyle/>
              <a:p>
                <a:pPr>
                  <a:defRPr sz="750" b="1">
                    <a:solidFill>
                      <a:srgbClr val="1B1A1A"/>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Provider Services</c:v>
                </c:pt>
                <c:pt idx="1">
                  <c:v>Life Sciences &amp; Dx</c:v>
                </c:pt>
                <c:pt idx="2">
                  <c:v>Medical Products</c:v>
                </c:pt>
                <c:pt idx="3">
                  <c:v>Pharmacy &amp; Services</c:v>
                </c:pt>
              </c:strCache>
            </c:strRef>
          </c:cat>
          <c:val>
            <c:numRef>
              <c:f>Sheet1!$B$2:$B$5</c:f>
              <c:numCache>
                <c:formatCode>General</c:formatCode>
                <c:ptCount val="4"/>
                <c:pt idx="0">
                  <c:v>86.58</c:v>
                </c:pt>
                <c:pt idx="1">
                  <c:v>93.02</c:v>
                </c:pt>
                <c:pt idx="2">
                  <c:v>85.75</c:v>
                </c:pt>
                <c:pt idx="3">
                  <c:v>87.54</c:v>
                </c:pt>
              </c:numCache>
            </c:numRef>
          </c:val>
          <c:extLst>
            <c:ext xmlns:c16="http://schemas.microsoft.com/office/drawing/2014/chart" uri="{C3380CC4-5D6E-409C-BE32-E72D297353CC}">
              <c16:uniqueId val="{00000008-091B-4003-A698-7001C4B7CE5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none"/>
        <c:minorTickMark val="none"/>
        <c:tickLblPos val="none"/>
        <c:spPr>
          <a:ln>
            <a:solidFill>
              <a:srgbClr val="C3BDB6"/>
            </a:solidFill>
          </a:ln>
        </c:spPr>
        <c:txPr>
          <a:bodyPr/>
          <a:lstStyle/>
          <a:p>
            <a:pPr>
              <a:defRPr sz="750" b="0">
                <a:solidFill>
                  <a:srgbClr val="333231"/>
                </a:solidFill>
                <a:latin typeface="Calibri"/>
              </a:defRPr>
            </a:pPr>
            <a:endParaRPr lang="en-US"/>
          </a:p>
        </c:txPr>
        <c:crossAx val="-2113994440"/>
        <c:crosses val="autoZero"/>
        <c:auto val="1"/>
        <c:lblAlgn val="ctr"/>
        <c:lblOffset val="100"/>
        <c:noMultiLvlLbl val="0"/>
      </c:catAx>
      <c:valAx>
        <c:axId val="-2113994440"/>
        <c:scaling>
          <c:orientation val="minMax"/>
          <c:max val="160.9375"/>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image" Target="../media/image10.jpg"/><Relationship Id="rId9" Type="http://schemas.openxmlformats.org/officeDocument/2006/relationships/image" Target="../media/image11.jpg"/><Relationship Id="rId10" Type="http://schemas.openxmlformats.org/officeDocument/2006/relationships/image" Target="../media/image12.jpg"/><Relationship Id="rId11" Type="http://schemas.openxmlformats.org/officeDocument/2006/relationships/image" Target="../media/image13.jpg"/><Relationship Id="rId12" Type="http://schemas.openxmlformats.org/officeDocument/2006/relationships/image" Target="../media/image14.jp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4.png"/><Relationship Id="rId18" Type="http://schemas.openxmlformats.org/officeDocument/2006/relationships/hyperlink" Target="tel:8137716675" TargetMode="External"/><Relationship Id="rId19" Type="http://schemas.openxmlformats.org/officeDocument/2006/relationships/hyperlink" Target="mailto:jhoutz@benchmarkintl.com" TargetMode="External"/><Relationship Id="rId20" Type="http://schemas.openxmlformats.org/officeDocument/2006/relationships/hyperlink" Target="tel:2102417990" TargetMode="External"/><Relationship Id="rId21" Type="http://schemas.openxmlformats.org/officeDocument/2006/relationships/hyperlink" Target="mailto:j.hardin@benchmarkintl.com" TargetMode="External"/><Relationship Id="rId22" Type="http://schemas.openxmlformats.org/officeDocument/2006/relationships/hyperlink" Target="tel:8138982372" TargetMode="External"/><Relationship Id="rId23" Type="http://schemas.openxmlformats.org/officeDocument/2006/relationships/hyperlink" Target="mailto:azykov@benchmarkintl.com" TargetMode="External"/><Relationship Id="rId24" Type="http://schemas.openxmlformats.org/officeDocument/2006/relationships/hyperlink" Target="tel:8138982397" TargetMode="External"/><Relationship Id="rId25" Type="http://schemas.openxmlformats.org/officeDocument/2006/relationships/hyperlink" Target="mailto:hess@benchmarkintl.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2.jpg"/><Relationship Id="rId4" Type="http://schemas.openxmlformats.org/officeDocument/2006/relationships/image" Target="../media/image19.jp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www.fiercehealthcare.com/finance/projected-healthcare-services-deal-count-be-lowest-2017-pitchbook-finds" TargetMode="External"/><Relationship Id="rId4" Type="http://schemas.openxmlformats.org/officeDocument/2006/relationships/hyperlink" Target="https://www.medtechdive.com/news/medtech-ma-maintains-momentum-following-decade-high-2025-pwc/823113/" TargetMode="External"/><Relationship Id="rId5" Type="http://schemas.openxmlformats.org/officeDocument/2006/relationships/hyperlink" Target="https://www.kaufmanhall.com/news/ma-activity-remains-strong-among-large-health-systems-amid-continued-industry-transformation" TargetMode="External"/><Relationship Id="rId6" Type="http://schemas.openxmlformats.org/officeDocument/2006/relationships/hyperlink" Target="https://www.iqvia.com/locations/emea/blogs/2026/07/biopharma-ma-mid-year-2026-update" TargetMode="External"/><Relationship Id="rId7" Type="http://schemas.openxmlformats.org/officeDocument/2006/relationships/image" Target="../media/image21.png"/><Relationship Id="rId8" Type="http://schemas.openxmlformats.org/officeDocument/2006/relationships/hyperlink" Target="https://www.cms.gov/newsroom/fact-sheets/calendar-year-cy-2027-medicare-physician-fee-schedule-proposed-rule" TargetMode="External"/><Relationship Id="rId9" Type="http://schemas.openxmlformats.org/officeDocument/2006/relationships/hyperlink" Target="https://www.cms.gov/newsroom/fact-sheets/calendar-year-2027-hospital-outpatient-prospective-payment-system-opps-ambulatory-surgical-center" TargetMode="External"/><Relationship Id="rId10" Type="http://schemas.openxmlformats.org/officeDocument/2006/relationships/hyperlink" Target="https://www.cms.gov/newsroom/fact-sheets/calendar-year-cy-2027-home-health-prospective-payment-system-proposed-rule-fact-sheet-cms-1844-p" TargetMode="External"/><Relationship Id="rId11" Type="http://schemas.openxmlformats.org/officeDocument/2006/relationships/hyperlink" Target="https://www.cms.gov/newsroom/fact-sheets/2027-medicare-advantage-part-d-rate-announcement" TargetMode="External"/><Relationship Id="rId12" Type="http://schemas.openxmlformats.org/officeDocument/2006/relationships/hyperlink" Target="https://www.medicaid.gov/medicaid/downloads/elig-redet-section-71107-deck.pdf" TargetMode="External"/><Relationship Id="rId13" Type="http://schemas.openxmlformats.org/officeDocument/2006/relationships/image" Target="../media/image22.png"/><Relationship Id="rId14" Type="http://schemas.openxmlformats.org/officeDocument/2006/relationships/hyperlink" Target="https://federalreserve.gov/newsevents/pressreleases/monetary20260916a.htm" TargetMode="External"/><Relationship Id="rId15" Type="http://schemas.openxmlformats.org/officeDocument/2006/relationships/hyperlink" Target="https://home.treasury.gov/resource-center/data-chart-center/interest-rates/TextView?type=daily_treasury_yield_curve&amp;field_tdr_date_value_month=202610"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acg.org/news-trends/news/gf-data-reports-show-steady-middle-market-deal-flow-amid-more-selective" TargetMode="External"/><Relationship Id="rId18" Type="http://schemas.openxmlformats.org/officeDocument/2006/relationships/image" Target="../media/image23.png"/><Relationship Id="rId19" Type="http://schemas.openxmlformats.org/officeDocument/2006/relationships/hyperlink" Target="https://www.altarum.org/news-and-insights/september-2026-health-sector-economic-indicators-briefs" TargetMode="External"/><Relationship Id="rId20" Type="http://schemas.openxmlformats.org/officeDocument/2006/relationships/hyperlink" Target="https://www.cms.gov/data-research/statistics-trends-and-reports/national-health-expenditure-data/nhe-fact-sheet" TargetMode="External"/><Relationship Id="rId21" Type="http://schemas.openxmlformats.org/officeDocument/2006/relationships/hyperlink" Target="https://www.bls.gov/news.release/archives/empsit_10022026.htm" TargetMode="External"/><Relationship Id="rId22" Type="http://schemas.openxmlformats.org/officeDocument/2006/relationships/image" Target="../media/image24.png"/><Relationship Id="rId23" Type="http://schemas.openxmlformats.org/officeDocument/2006/relationships/hyperlink" Target="https://www.whitehouse.gov/presidential-actions/2026/04/adjusting-imports-of-pharmaceuticals-and-pharmaceutical-ingredients-into-the-united-states/" TargetMode="External"/><Relationship Id="rId24" Type="http://schemas.openxmlformats.org/officeDocument/2006/relationships/hyperlink" Target="https://idataresearch.com/news-medical-device-tariffs-in-2026/" TargetMode="External"/><Relationship Id="rId25" Type="http://schemas.openxmlformats.org/officeDocument/2006/relationships/hyperlink" Target="https://www.nixonpeabody.com/insights/alerts/2026/05/27/ohcas-proposed-emergency-regulations-clarify-ab-1415-notice-requirements" TargetMode="External"/><Relationship Id="rId26" Type="http://schemas.openxmlformats.org/officeDocument/2006/relationships/hyperlink" Target="https://www.foley.com/insights/publications/2026/04/maine-health-care-transactions-new-state-approvals-involving-some-private-equity-hedge-funds-and-msos/" TargetMode="External"/><Relationship Id="rId27" Type="http://schemas.openxmlformats.org/officeDocument/2006/relationships/image" Target="../media/image2.jpg"/><Relationship Id="rId28" Type="http://schemas.openxmlformats.org/officeDocument/2006/relationships/hyperlink" Target="https://www.beckersasc.com/asc-transactions-and-valuation-issues/why-asc-deals-are-outperforming-the-rest-of-healthcare-ma-in-2026-8-things-to-know/" TargetMode="External"/><Relationship Id="rId29" Type="http://schemas.openxmlformats.org/officeDocument/2006/relationships/hyperlink" Target="https://www.ibba.org/market-pulse-q2-2026-survey-results/" TargetMode="External"/><Relationship Id="rId30"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ms.gov/data-research/statistics-trends-and-reports/national-health-expenditure-data/historical" TargetMode="External"/><Relationship Id="rId3" Type="http://schemas.openxmlformats.org/officeDocument/2006/relationships/hyperlink" Target="https://www.crfb.org/blogs/national-health-expenditures-continue-rise" TargetMode="External"/><Relationship Id="rId4" Type="http://schemas.openxmlformats.org/officeDocument/2006/relationships/hyperlink" Target="https://www.kaufmanhall.com/news/hospital-and-health-system-ma-activity-ends-2025-momentum" TargetMode="External"/><Relationship Id="rId5" Type="http://schemas.openxmlformats.org/officeDocument/2006/relationships/hyperlink" Target="https://www.kaufmanhall.com/news/ma-activity-remains-strong-among-large-health-systems-amid-continued-industry-transformation" TargetMode="External"/><Relationship Id="rId6" Type="http://schemas.openxmlformats.org/officeDocument/2006/relationships/hyperlink" Target="https://pitchbook.brightspotcdn.com/2d/0a/acb3601c4e19925c22d3f3877637/q4-2025-healthcare-services-report.pdf" TargetMode="External"/><Relationship Id="rId7" Type="http://schemas.openxmlformats.org/officeDocument/2006/relationships/chart" Target="../charts/chart1.xml"/><Relationship Id="rId8" Type="http://schemas.openxmlformats.org/officeDocument/2006/relationships/chart" Target="../charts/chart2.xml"/><Relationship Id="rId9"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ed.stlouisfed.org/series/CES6562000101" TargetMode="External"/><Relationship Id="rId3" Type="http://schemas.openxmlformats.org/officeDocument/2006/relationships/chart" Target="../charts/chart3.xml"/><Relationship Id="rId4" Type="http://schemas.openxmlformats.org/officeDocument/2006/relationships/hyperlink" Target="https://www.bls.gov/news.release/jolts.t01.htm" TargetMode="External"/><Relationship Id="rId5" Type="http://schemas.openxmlformats.org/officeDocument/2006/relationships/hyperlink" Target="https://fred.stlouisfed.org/series/TLHLTHCONS" TargetMode="External"/><Relationship Id="rId6" Type="http://schemas.openxmlformats.org/officeDocument/2006/relationships/chart" Target="../charts/chart4.xml"/><Relationship Id="rId7" Type="http://schemas.openxmlformats.org/officeDocument/2006/relationships/hyperlink" Target="https://www.hfma.org/fast-finance/health-system-capital-investment-strategy-2026/" TargetMode="External"/><Relationship Id="rId8" Type="http://schemas.openxmlformats.org/officeDocument/2006/relationships/hyperlink" Target="https://www.fda.gov/drugs/novel-drug-approvals-fda/novel-drug-approvals-2026" TargetMode="External"/><Relationship Id="rId9" Type="http://schemas.openxmlformats.org/officeDocument/2006/relationships/hyperlink" Target="https://www.raps.org/resource/cder-approved-50-novel-drugs-in-2024-record-numbe.html" TargetMode="External"/><Relationship Id="rId10" Type="http://schemas.openxmlformats.org/officeDocument/2006/relationships/chart" Target="../charts/chart5.xml"/><Relationship Id="rId11" Type="http://schemas.openxmlformats.org/officeDocument/2006/relationships/hyperlink" Target="https://www.biospace.com/press-releases/iqvia-reports-second-quarter-2026-results" TargetMode="External"/><Relationship Id="rId1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jpg"/><Relationship Id="rId4" Type="http://schemas.openxmlformats.org/officeDocument/2006/relationships/hyperlink" Target="https://www.jucm.com/?p=86881" TargetMode="External"/><Relationship Id="rId5" Type="http://schemas.openxmlformats.org/officeDocument/2006/relationships/hyperlink" Target="https://www.beckersasc.com/asc-transactions-and-valuation-issues/hcas-urgent-care-acquisition-spree/" TargetMode="External"/><Relationship Id="rId6" Type="http://schemas.openxmlformats.org/officeDocument/2006/relationships/hyperlink" Target="https://www.healthcaredive.com/news/hca-texas-medclinic-acquisition-urgent-care/826917/" TargetMode="External"/><Relationship Id="rId7" Type="http://schemas.openxmlformats.org/officeDocument/2006/relationships/hyperlink" Target="https://healthcare.levinassociates.com/2026/05/11/top-home-health-hospice-deals-of-2026-so-far/" TargetMode="External"/><Relationship Id="rId8" Type="http://schemas.openxmlformats.org/officeDocument/2006/relationships/hyperlink" Target="https://www.sec.gov/Archives/edgar/data/1803737/000119312526064210/d29040dex991.htm" TargetMode="External"/><Relationship Id="rId9" Type="http://schemas.openxmlformats.org/officeDocument/2006/relationships/hyperlink" Target="https://www.ama-assn.org/about/research/physician-practice-benchmark-survey" TargetMode="External"/><Relationship Id="rId10" Type="http://schemas.openxmlformats.org/officeDocument/2006/relationships/image" Target="../media/image27.png"/><Relationship Id="rId11" Type="http://schemas.openxmlformats.org/officeDocument/2006/relationships/image" Target="../media/image28.jpg"/><Relationship Id="rId12" Type="http://schemas.openxmlformats.org/officeDocument/2006/relationships/hyperlink" Target="https://newsroom.questdiagnostics.com/2026-07-23-Quest-Diagnostics-Reports-Second-Quarter-2026-Financial-Results-Raises-Revenue-and-EPS-Guidance-for-Full-Year-2026" TargetMode="External"/><Relationship Id="rId13" Type="http://schemas.openxmlformats.org/officeDocument/2006/relationships/hyperlink" Target="https://www.sec.gov/Archives/edgar/data/0000920148/000092014826000175/lh-20260630.htm" TargetMode="External"/><Relationship Id="rId14" Type="http://schemas.openxmlformats.org/officeDocument/2006/relationships/hyperlink" Target="https://myadlm.org/cln/The-Lab-Advocate/2026/August/ADLM-Continues-Push-for-Permanent-PAMA-Reform" TargetMode="External"/><Relationship Id="rId15" Type="http://schemas.openxmlformats.org/officeDocument/2006/relationships/hyperlink" Target="https://www.sec.gov/Archives/edgar/data/0001478242/000162828026049923/iqv-q2x2026earningspressre.htm" TargetMode="External"/><Relationship Id="rId16" Type="http://schemas.openxmlformats.org/officeDocument/2006/relationships/hyperlink" Target="https://www.sec.gov/Archives/edgar/data/0001668397/000166839726000023/medp-2026722exx991.htm" TargetMode="External"/><Relationship Id="rId17" Type="http://schemas.openxmlformats.org/officeDocument/2006/relationships/hyperlink" Target="https://www.prnewswire.com/news-releases/headlands-research-expands-california-presence-with-acquisition-of-clinical-trials-research-302814202.html" TargetMode="External"/><Relationship Id="rId18" Type="http://schemas.openxmlformats.org/officeDocument/2006/relationships/hyperlink" Target="https://www.prnewswire.com/news-releases/summit-clinical-research-solutions-expands-pinnacle-site-network-with-acquisition-of-dallas-research-institute-302874775.html" TargetMode="External"/><Relationship Id="rId19" Type="http://schemas.openxmlformats.org/officeDocument/2006/relationships/image" Target="../media/image4.png"/><Relationship Id="rId20" Type="http://schemas.openxmlformats.org/officeDocument/2006/relationships/image" Target="../media/image29.png"/><Relationship Id="rId21" Type="http://schemas.openxmlformats.org/officeDocument/2006/relationships/image" Target="../media/image30.png"/><Relationship Id="rId22" Type="http://schemas.openxmlformats.org/officeDocument/2006/relationships/image" Target="../media/image31.png"/><Relationship Id="rId23" Type="http://schemas.openxmlformats.org/officeDocument/2006/relationships/image" Target="../media/image32.png"/><Relationship Id="rId24" Type="http://schemas.openxmlformats.org/officeDocument/2006/relationships/image" Target="../media/image33.png"/><Relationship Id="rId25" Type="http://schemas.openxmlformats.org/officeDocument/2006/relationships/image" Target="../media/image34.png"/><Relationship Id="rId26" Type="http://schemas.openxmlformats.org/officeDocument/2006/relationships/image" Target="../media/image35.png"/><Relationship Id="rId27" Type="http://schemas.openxmlformats.org/officeDocument/2006/relationships/image" Target="../media/image36.png"/><Relationship Id="rId28" Type="http://schemas.openxmlformats.org/officeDocument/2006/relationships/image" Target="../media/image37.png"/><Relationship Id="rId29" Type="http://schemas.openxmlformats.org/officeDocument/2006/relationships/image" Target="../media/image38.png"/><Relationship Id="rId30" Type="http://schemas.openxmlformats.org/officeDocument/2006/relationships/image" Target="../media/image39.png"/><Relationship Id="rId31" Type="http://schemas.openxmlformats.org/officeDocument/2006/relationships/image" Target="../media/image40.png"/><Relationship Id="rId32" Type="http://schemas.openxmlformats.org/officeDocument/2006/relationships/image" Target="../media/image41.png"/><Relationship Id="rId33" Type="http://schemas.openxmlformats.org/officeDocument/2006/relationships/image" Target="../media/image42.png"/><Relationship Id="rId34" Type="http://schemas.openxmlformats.org/officeDocument/2006/relationships/image" Target="../media/image43.png"/><Relationship Id="rId35" Type="http://schemas.openxmlformats.org/officeDocument/2006/relationships/image" Target="../media/image44.png"/><Relationship Id="rId36" Type="http://schemas.openxmlformats.org/officeDocument/2006/relationships/image" Target="../media/image45.png"/><Relationship Id="rId37" Type="http://schemas.openxmlformats.org/officeDocument/2006/relationships/image" Target="../media/image46.png"/><Relationship Id="rId38" Type="http://schemas.openxmlformats.org/officeDocument/2006/relationships/image" Target="../media/image47.png"/><Relationship Id="rId39" Type="http://schemas.openxmlformats.org/officeDocument/2006/relationships/image" Target="../media/image4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jpg"/><Relationship Id="rId4" Type="http://schemas.openxmlformats.org/officeDocument/2006/relationships/hyperlink" Target="https://www.sec.gov/Archives/edgar/data/0000310764/000031076426000048/sykex991earningsq22026.htm" TargetMode="External"/><Relationship Id="rId5" Type="http://schemas.openxmlformats.org/officeDocument/2006/relationships/hyperlink" Target="https://www.sec.gov/Archives/edgar/data/0001757898/000162828026053412/ste6302026ex991.htm" TargetMode="External"/><Relationship Id="rId6" Type="http://schemas.openxmlformats.org/officeDocument/2006/relationships/hyperlink" Target="https://www.hfma.org/fast-finance/health-system-capital-investment-strategy-2026/" TargetMode="External"/><Relationship Id="rId7"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8" Type="http://schemas.openxmlformats.org/officeDocument/2006/relationships/hyperlink" Target="https://www.sec.gov/Archives/edgar/data/0000927653/000092765326000232/mck_exhibit991x6302026.htm" TargetMode="External"/><Relationship Id="rId9" Type="http://schemas.openxmlformats.org/officeDocument/2006/relationships/hyperlink" Target="https://www.kslaw.com/news-and-insights/u-s-supreme-court-invalidates-the-president-s-ieepa-tariffs-in-learning-resources-inc-v-trump" TargetMode="External"/><Relationship Id="rId10" Type="http://schemas.openxmlformats.org/officeDocument/2006/relationships/image" Target="../media/image51.png"/><Relationship Id="rId11" Type="http://schemas.openxmlformats.org/officeDocument/2006/relationships/image" Target="../media/image52.jpg"/><Relationship Id="rId12" Type="http://schemas.openxmlformats.org/officeDocument/2006/relationships/hyperlink" Target="https://www.iqvia.com/insights/the-iqvia-institute/reports/us-medicine-use-trends-2026" TargetMode="External"/><Relationship Id="rId13" Type="http://schemas.openxmlformats.org/officeDocument/2006/relationships/hyperlink" Target="https://ncpa.org/newsroom/news-releases/2025/10/19/ncpa-releases-2025-digest-report" TargetMode="External"/><Relationship Id="rId14" Type="http://schemas.openxmlformats.org/officeDocument/2006/relationships/hyperlink" Target="https://www.sec.gov/Archives/edgar/data/0001802255/000119312526338032/d160709dex991.htm" TargetMode="External"/><Relationship Id="rId15" Type="http://schemas.openxmlformats.org/officeDocument/2006/relationships/hyperlink" Target="https://www.sec.gov/Archives/edgar/data/0001865782/000119312526326654/btsg-ex99_1.htm" TargetMode="External"/><Relationship Id="rId16" Type="http://schemas.openxmlformats.org/officeDocument/2006/relationships/hyperlink" Target="https://www.staffingindustry.com/editorial/healthcare-staffing-report/healthcare-staffing-rebounds-as-demand-strengthens-in-the-second-and-third-quarters" TargetMode="External"/><Relationship Id="rId17" Type="http://schemas.openxmlformats.org/officeDocument/2006/relationships/image" Target="../media/image4.png"/><Relationship Id="rId18" Type="http://schemas.openxmlformats.org/officeDocument/2006/relationships/image" Target="../media/image53.png"/><Relationship Id="rId19" Type="http://schemas.openxmlformats.org/officeDocument/2006/relationships/image" Target="../media/image54.png"/><Relationship Id="rId20" Type="http://schemas.openxmlformats.org/officeDocument/2006/relationships/image" Target="../media/image55.png"/><Relationship Id="rId21" Type="http://schemas.openxmlformats.org/officeDocument/2006/relationships/image" Target="../media/image56.png"/><Relationship Id="rId22" Type="http://schemas.openxmlformats.org/officeDocument/2006/relationships/image" Target="../media/image57.png"/><Relationship Id="rId23" Type="http://schemas.openxmlformats.org/officeDocument/2006/relationships/image" Target="../media/image58.png"/><Relationship Id="rId24" Type="http://schemas.openxmlformats.org/officeDocument/2006/relationships/image" Target="../media/image59.png"/><Relationship Id="rId25" Type="http://schemas.openxmlformats.org/officeDocument/2006/relationships/image" Target="../media/image60.png"/><Relationship Id="rId26" Type="http://schemas.openxmlformats.org/officeDocument/2006/relationships/image" Target="../media/image61.png"/><Relationship Id="rId27" Type="http://schemas.openxmlformats.org/officeDocument/2006/relationships/image" Target="../media/image62.png"/><Relationship Id="rId28" Type="http://schemas.openxmlformats.org/officeDocument/2006/relationships/image" Target="../media/image63.png"/><Relationship Id="rId29" Type="http://schemas.openxmlformats.org/officeDocument/2006/relationships/image" Target="../media/image64.png"/><Relationship Id="rId30" Type="http://schemas.openxmlformats.org/officeDocument/2006/relationships/image" Target="../media/image65.png"/><Relationship Id="rId31" Type="http://schemas.openxmlformats.org/officeDocument/2006/relationships/image" Target="../media/image66.png"/><Relationship Id="rId32" Type="http://schemas.openxmlformats.org/officeDocument/2006/relationships/image" Target="../media/image67.png"/><Relationship Id="rId33" Type="http://schemas.openxmlformats.org/officeDocument/2006/relationships/image" Target="../media/image68.png"/><Relationship Id="rId34" Type="http://schemas.openxmlformats.org/officeDocument/2006/relationships/image" Target="../media/image69.png"/><Relationship Id="rId35"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1.png"/><Relationship Id="rId4" Type="http://schemas.openxmlformats.org/officeDocument/2006/relationships/hyperlink" Target="https://www.fiercehealthcare.com/finance/projected-healthcare-services-deal-count-be-lowest-2017-pitchbook-finds"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medtechdive.com/news/top-10-medtech-deals-in-the-first-half-of-2026/824435/" TargetMode="External"/><Relationship Id="rId7" Type="http://schemas.openxmlformats.org/officeDocument/2006/relationships/hyperlink" Target="https://www.drugchannels.net/2026/08/the-k-shaped-pharmacy-shakeout.html" TargetMode="External"/><Relationship Id="rId8"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2.jp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ma-assn.org/system/files/2021-01/cf-history.pdf" TargetMode="External"/><Relationship Id="rId3" Type="http://schemas.openxmlformats.org/officeDocument/2006/relationships/hyperlink" Target="https://pitchbook.brightspotcdn.com/7b/53/6ae3fbf84f12bfd344a7ae0a691a/q2-2026-healthcare-services-report-gusting-macroeconomic-headwinds-impede-progress.pdf" TargetMode="External"/><Relationship Id="rId4" Type="http://schemas.openxmlformats.org/officeDocument/2006/relationships/hyperlink" Target="https://www.kaufmanhall.com/news/ma-activity-remains-strong-among-large-health-systems-amid-continued-industry-transformation" TargetMode="External"/><Relationship Id="rId5" Type="http://schemas.openxmlformats.org/officeDocument/2006/relationships/hyperlink" Target="https://pitchbook.brightspotcdn.com/2d/0a/acb3601c4e19925c22d3f3877637/q4-2025-healthcare-services-report.pdf" TargetMode="External"/><Relationship Id="rId6" Type="http://schemas.openxmlformats.org/officeDocument/2006/relationships/hyperlink" Target="https://www.fiercehealthcare.com/finance/projected-healthcare-services-deal-count-be-lowest-2017-pitchbook-finds" TargetMode="External"/><Relationship Id="rId7" Type="http://schemas.openxmlformats.org/officeDocument/2006/relationships/chart" Target="../charts/chart6.xml"/><Relationship Id="rId8"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4.png"/><Relationship Id="rId7" Type="http://schemas.openxmlformats.org/officeDocument/2006/relationships/hyperlink" Target="https://stockanalysis.com/stocks/hca/statistics/" TargetMode="External"/><Relationship Id="rId8" Type="http://schemas.openxmlformats.org/officeDocument/2006/relationships/image" Target="../media/image29.png"/><Relationship Id="rId9" Type="http://schemas.openxmlformats.org/officeDocument/2006/relationships/hyperlink" Target="https://stockanalysis.com/stocks/thc/statistics/" TargetMode="External"/><Relationship Id="rId10" Type="http://schemas.openxmlformats.org/officeDocument/2006/relationships/image" Target="../media/image30.png"/><Relationship Id="rId11" Type="http://schemas.openxmlformats.org/officeDocument/2006/relationships/hyperlink" Target="https://stockanalysis.com/stocks/usph/statistics/" TargetMode="External"/><Relationship Id="rId12" Type="http://schemas.openxmlformats.org/officeDocument/2006/relationships/image" Target="../media/image31.png"/><Relationship Id="rId13" Type="http://schemas.openxmlformats.org/officeDocument/2006/relationships/hyperlink" Target="https://stockanalysis.com/stocks/dva/statistics/" TargetMode="External"/><Relationship Id="rId14" Type="http://schemas.openxmlformats.org/officeDocument/2006/relationships/image" Target="../media/image32.png"/><Relationship Id="rId15" Type="http://schemas.openxmlformats.org/officeDocument/2006/relationships/hyperlink" Target="https://stockanalysis.com/stocks/adus/statistics/" TargetMode="External"/><Relationship Id="rId16" Type="http://schemas.openxmlformats.org/officeDocument/2006/relationships/image" Target="../media/image33.png"/><Relationship Id="rId17" Type="http://schemas.openxmlformats.org/officeDocument/2006/relationships/hyperlink" Target="https://stockanalysis.com/stocks/pntg/statistics/" TargetMode="External"/><Relationship Id="rId18" Type="http://schemas.openxmlformats.org/officeDocument/2006/relationships/image" Target="../media/image34.png"/><Relationship Id="rId19" Type="http://schemas.openxmlformats.org/officeDocument/2006/relationships/hyperlink" Target="https://stockanalysis.com/stocks/achc/statistics/" TargetMode="External"/><Relationship Id="rId20" Type="http://schemas.openxmlformats.org/officeDocument/2006/relationships/image" Target="../media/image35.png"/><Relationship Id="rId21" Type="http://schemas.openxmlformats.org/officeDocument/2006/relationships/hyperlink" Target="https://stockanalysis.com/stocks/lfst/statistics/" TargetMode="External"/><Relationship Id="rId22" Type="http://schemas.openxmlformats.org/officeDocument/2006/relationships/image" Target="../media/image36.png"/><Relationship Id="rId23" Type="http://schemas.openxmlformats.org/officeDocument/2006/relationships/hyperlink" Target="https://stockanalysis.com/stocks/prva/statistics/" TargetMode="External"/><Relationship Id="rId24" Type="http://schemas.openxmlformats.org/officeDocument/2006/relationships/image" Target="../media/image37.png"/><Relationship Id="rId25" Type="http://schemas.openxmlformats.org/officeDocument/2006/relationships/hyperlink" Target="https://stockanalysis.com/stocks/con/statistics/" TargetMode="External"/><Relationship Id="rId26" Type="http://schemas.openxmlformats.org/officeDocument/2006/relationships/image" Target="../media/image38.png"/><Relationship Id="rId27" Type="http://schemas.openxmlformats.org/officeDocument/2006/relationships/hyperlink" Target="https://stockanalysis.com/stocks/ensg/statistics/" TargetMode="External"/><Relationship Id="rId28" Type="http://schemas.openxmlformats.org/officeDocument/2006/relationships/image" Target="../media/image39.png"/><Relationship Id="rId29" Type="http://schemas.openxmlformats.org/officeDocument/2006/relationships/image" Target="../media/image77.png"/><Relationship Id="rId30" Type="http://schemas.openxmlformats.org/officeDocument/2006/relationships/image" Target="../media/image78.png"/><Relationship Id="rId31" Type="http://schemas.openxmlformats.org/officeDocument/2006/relationships/image" Target="../media/image79.png"/><Relationship Id="rId32" Type="http://schemas.openxmlformats.org/officeDocument/2006/relationships/image" Target="../media/image80.png"/><Relationship Id="rId33" Type="http://schemas.openxmlformats.org/officeDocument/2006/relationships/image" Target="../media/image81.png"/><Relationship Id="rId34" Type="http://schemas.openxmlformats.org/officeDocument/2006/relationships/hyperlink" Target="https://stockanalysis.com/stocks/lh/statistics/" TargetMode="External"/><Relationship Id="rId35" Type="http://schemas.openxmlformats.org/officeDocument/2006/relationships/image" Target="../media/image40.png"/><Relationship Id="rId36" Type="http://schemas.openxmlformats.org/officeDocument/2006/relationships/hyperlink" Target="https://stockanalysis.com/stocks/dgx/statistics/" TargetMode="External"/><Relationship Id="rId37" Type="http://schemas.openxmlformats.org/officeDocument/2006/relationships/image" Target="../media/image41.png"/><Relationship Id="rId38" Type="http://schemas.openxmlformats.org/officeDocument/2006/relationships/hyperlink" Target="https://stockanalysis.com/stocks/tmo/statistics/" TargetMode="External"/><Relationship Id="rId39" Type="http://schemas.openxmlformats.org/officeDocument/2006/relationships/image" Target="../media/image42.png"/><Relationship Id="rId40" Type="http://schemas.openxmlformats.org/officeDocument/2006/relationships/hyperlink" Target="https://stockanalysis.com/stocks/dhr/statistics/" TargetMode="External"/><Relationship Id="rId41" Type="http://schemas.openxmlformats.org/officeDocument/2006/relationships/image" Target="../media/image43.png"/><Relationship Id="rId42" Type="http://schemas.openxmlformats.org/officeDocument/2006/relationships/hyperlink" Target="https://stockanalysis.com/stocks/tech/statistics/" TargetMode="External"/><Relationship Id="rId43" Type="http://schemas.openxmlformats.org/officeDocument/2006/relationships/image" Target="../media/image44.png"/><Relationship Id="rId44" Type="http://schemas.openxmlformats.org/officeDocument/2006/relationships/hyperlink" Target="https://stockanalysis.com/stocks/iqv/statistics/" TargetMode="External"/><Relationship Id="rId45" Type="http://schemas.openxmlformats.org/officeDocument/2006/relationships/image" Target="../media/image45.png"/><Relationship Id="rId46" Type="http://schemas.openxmlformats.org/officeDocument/2006/relationships/hyperlink" Target="https://stockanalysis.com/stocks/medp/statistics/" TargetMode="External"/><Relationship Id="rId47" Type="http://schemas.openxmlformats.org/officeDocument/2006/relationships/image" Target="../media/image46.png"/><Relationship Id="rId48" Type="http://schemas.openxmlformats.org/officeDocument/2006/relationships/hyperlink" Target="https://stockanalysis.com/stocks/iclr/statistics/" TargetMode="External"/><Relationship Id="rId49" Type="http://schemas.openxmlformats.org/officeDocument/2006/relationships/image" Target="../media/image47.png"/><Relationship Id="rId50" Type="http://schemas.openxmlformats.org/officeDocument/2006/relationships/hyperlink" Target="https://stockanalysis.com/stocks/crl/statistics/" TargetMode="External"/><Relationship Id="rId51" Type="http://schemas.openxmlformats.org/officeDocument/2006/relationships/image" Target="../media/image48.png"/><Relationship Id="rId52" Type="http://schemas.openxmlformats.org/officeDocument/2006/relationships/image" Target="../media/image82.png"/><Relationship Id="rId53" Type="http://schemas.openxmlformats.org/officeDocument/2006/relationships/image" Target="../media/image83.png"/><Relationship Id="rId54" Type="http://schemas.openxmlformats.org/officeDocument/2006/relationships/image" Target="../media/image84.png"/><Relationship Id="rId55" Type="http://schemas.openxmlformats.org/officeDocument/2006/relationships/image" Target="../media/image85.png"/><Relationship Id="rId56" Type="http://schemas.openxmlformats.org/officeDocument/2006/relationships/image" Target="../media/image86.png"/><Relationship Id="rId57" Type="http://schemas.openxmlformats.org/officeDocument/2006/relationships/image" Target="../media/image87.png"/><Relationship Id="rId58" Type="http://schemas.openxmlformats.org/officeDocument/2006/relationships/image" Target="../media/image88.png"/><Relationship Id="rId59" Type="http://schemas.openxmlformats.org/officeDocument/2006/relationships/hyperlink" Target="https://stockanalysis.com/stocks/syk/statistics/" TargetMode="External"/><Relationship Id="rId60" Type="http://schemas.openxmlformats.org/officeDocument/2006/relationships/image" Target="../media/image53.png"/><Relationship Id="rId61" Type="http://schemas.openxmlformats.org/officeDocument/2006/relationships/hyperlink" Target="https://stockanalysis.com/stocks/ste/statistics/" TargetMode="External"/><Relationship Id="rId62" Type="http://schemas.openxmlformats.org/officeDocument/2006/relationships/image" Target="../media/image54.png"/><Relationship Id="rId63" Type="http://schemas.openxmlformats.org/officeDocument/2006/relationships/hyperlink" Target="https://stockanalysis.com/stocks/tfx/statistics/" TargetMode="External"/><Relationship Id="rId64" Type="http://schemas.openxmlformats.org/officeDocument/2006/relationships/image" Target="../media/image55.png"/><Relationship Id="rId65" Type="http://schemas.openxmlformats.org/officeDocument/2006/relationships/hyperlink" Target="https://stockanalysis.com/stocks/hsic/statistics/" TargetMode="External"/><Relationship Id="rId66" Type="http://schemas.openxmlformats.org/officeDocument/2006/relationships/image" Target="../media/image56.png"/><Relationship Id="rId67" Type="http://schemas.openxmlformats.org/officeDocument/2006/relationships/hyperlink" Target="https://stockanalysis.com/stocks/xray/statistics/" TargetMode="External"/><Relationship Id="rId68" Type="http://schemas.openxmlformats.org/officeDocument/2006/relationships/image" Target="../media/image57.png"/><Relationship Id="rId69" Type="http://schemas.openxmlformats.org/officeDocument/2006/relationships/hyperlink" Target="https://stockanalysis.com/stocks/nvst/statistics/" TargetMode="External"/><Relationship Id="rId70" Type="http://schemas.openxmlformats.org/officeDocument/2006/relationships/image" Target="../media/image58.png"/><Relationship Id="rId71" Type="http://schemas.openxmlformats.org/officeDocument/2006/relationships/hyperlink" Target="https://stockanalysis.com/stocks/zbh/statistics/" TargetMode="External"/><Relationship Id="rId72" Type="http://schemas.openxmlformats.org/officeDocument/2006/relationships/image" Target="../media/image59.png"/><Relationship Id="rId73" Type="http://schemas.openxmlformats.org/officeDocument/2006/relationships/hyperlink" Target="https://stockanalysis.com/stocks/solv/statistics/" TargetMode="External"/><Relationship Id="rId74" Type="http://schemas.openxmlformats.org/officeDocument/2006/relationships/image" Target="../media/image60.png"/><Relationship Id="rId75" Type="http://schemas.openxmlformats.org/officeDocument/2006/relationships/hyperlink" Target="https://stockanalysis.com/stocks/vmd/statistics/" TargetMode="External"/><Relationship Id="rId76" Type="http://schemas.openxmlformats.org/officeDocument/2006/relationships/image" Target="../media/image61.png"/><Relationship Id="rId77" Type="http://schemas.openxmlformats.org/officeDocument/2006/relationships/image" Target="../media/image89.png"/><Relationship Id="rId78" Type="http://schemas.openxmlformats.org/officeDocument/2006/relationships/image" Target="../media/image90.png"/><Relationship Id="rId79" Type="http://schemas.openxmlformats.org/officeDocument/2006/relationships/image" Target="../media/image91.png"/><Relationship Id="rId80" Type="http://schemas.openxmlformats.org/officeDocument/2006/relationships/image" Target="../media/image92.png"/><Relationship Id="rId81" Type="http://schemas.openxmlformats.org/officeDocument/2006/relationships/image" Target="../media/image93.png"/><Relationship Id="rId82" Type="http://schemas.openxmlformats.org/officeDocument/2006/relationships/image" Target="../media/image94.png"/><Relationship Id="rId83" Type="http://schemas.openxmlformats.org/officeDocument/2006/relationships/image" Target="../media/image95.png"/><Relationship Id="rId84" Type="http://schemas.openxmlformats.org/officeDocument/2006/relationships/hyperlink" Target="https://stockanalysis.com/stocks/opch/statistics/" TargetMode="External"/><Relationship Id="rId85" Type="http://schemas.openxmlformats.org/officeDocument/2006/relationships/image" Target="../media/image62.png"/><Relationship Id="rId86" Type="http://schemas.openxmlformats.org/officeDocument/2006/relationships/hyperlink" Target="https://stockanalysis.com/stocks/btsg/statistics/" TargetMode="External"/><Relationship Id="rId87" Type="http://schemas.openxmlformats.org/officeDocument/2006/relationships/image" Target="../media/image63.png"/><Relationship Id="rId88" Type="http://schemas.openxmlformats.org/officeDocument/2006/relationships/hyperlink" Target="https://stockanalysis.com/stocks/grdn/statistics/" TargetMode="External"/><Relationship Id="rId89" Type="http://schemas.openxmlformats.org/officeDocument/2006/relationships/image" Target="../media/image64.png"/><Relationship Id="rId90" Type="http://schemas.openxmlformats.org/officeDocument/2006/relationships/hyperlink" Target="https://stockanalysis.com/stocks/mck/statistics/" TargetMode="External"/><Relationship Id="rId91" Type="http://schemas.openxmlformats.org/officeDocument/2006/relationships/image" Target="../media/image65.png"/><Relationship Id="rId92" Type="http://schemas.openxmlformats.org/officeDocument/2006/relationships/hyperlink" Target="https://stockanalysis.com/stocks/cor/statistics/" TargetMode="External"/><Relationship Id="rId93" Type="http://schemas.openxmlformats.org/officeDocument/2006/relationships/image" Target="../media/image66.png"/><Relationship Id="rId94" Type="http://schemas.openxmlformats.org/officeDocument/2006/relationships/hyperlink" Target="https://stockanalysis.com/stocks/cah/statistics/" TargetMode="External"/><Relationship Id="rId95" Type="http://schemas.openxmlformats.org/officeDocument/2006/relationships/image" Target="../media/image67.png"/><Relationship Id="rId96" Type="http://schemas.openxmlformats.org/officeDocument/2006/relationships/hyperlink" Target="https://stockanalysis.com/stocks/cvs/statistics/" TargetMode="External"/><Relationship Id="rId97" Type="http://schemas.openxmlformats.org/officeDocument/2006/relationships/image" Target="../media/image68.png"/><Relationship Id="rId98" Type="http://schemas.openxmlformats.org/officeDocument/2006/relationships/hyperlink" Target="https://stockanalysis.com/stocks/amn/statistics/" TargetMode="External"/><Relationship Id="rId99" Type="http://schemas.openxmlformats.org/officeDocument/2006/relationships/image" Target="../media/image69.png"/><Relationship Id="rId100" Type="http://schemas.openxmlformats.org/officeDocument/2006/relationships/image" Target="../media/image96.png"/><Relationship Id="rId101" Type="http://schemas.openxmlformats.org/officeDocument/2006/relationships/image" Target="../media/image97.png"/><Relationship Id="rId102" Type="http://schemas.openxmlformats.org/officeDocument/2006/relationships/image" Target="../media/image98.png"/><Relationship Id="rId103" Type="http://schemas.openxmlformats.org/officeDocument/2006/relationships/image" Target="../media/image99.png"/><Relationship Id="rId104" Type="http://schemas.openxmlformats.org/officeDocument/2006/relationships/image" Target="../media/image100.png"/><Relationship Id="rId105" Type="http://schemas.openxmlformats.org/officeDocument/2006/relationships/image" Target="../media/image101.png"/><Relationship Id="rId106" Type="http://schemas.openxmlformats.org/officeDocument/2006/relationships/image" Target="../media/image102.png"/><Relationship Id="rId107" Type="http://schemas.openxmlformats.org/officeDocument/2006/relationships/hyperlink" Target="https://stockanalysis.com/stocks/itgr/statistics/" TargetMode="External"/><Relationship Id="rId108" Type="http://schemas.openxmlformats.org/officeDocument/2006/relationships/image" Target="../media/image7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yewire.news/news/myeyedr-to-acquire-eyecare-partners-optometry-division-adding-more-than-300-offices" TargetMode="External"/><Relationship Id="rId3" Type="http://schemas.openxmlformats.org/officeDocument/2006/relationships/hyperlink" Target="https://www.businesswire.com/news/home/20260928896885/en/EyeCare-Partners-Announces-Sale-of-Optometry-Business" TargetMode="External"/><Relationship Id="rId4" Type="http://schemas.openxmlformats.org/officeDocument/2006/relationships/hyperlink" Target="https://www.sec.gov/Archives/edgar/data/0001468328/000143774926030348/ex_1015828.htm" TargetMode="External"/><Relationship Id="rId5" Type="http://schemas.openxmlformats.org/officeDocument/2006/relationships/hyperlink" Target="https://www.sec.gov/Archives/edgar/data/0000842023/000199937126013429/ex99-1.htm" TargetMode="External"/><Relationship Id="rId6" Type="http://schemas.openxmlformats.org/officeDocument/2006/relationships/hyperlink" Target="https://www.sec.gov/Archives/edgar/data/0000313616/000031361626000163/dhr-20260721xex991.htm" TargetMode="External"/><Relationship Id="rId7" Type="http://schemas.openxmlformats.org/officeDocument/2006/relationships/hyperlink" Target="https://peprofessional.com/2026/07/statlab-sold-to-danahers-leica-biosystems/" TargetMode="External"/><Relationship Id="rId8" Type="http://schemas.openxmlformats.org/officeDocument/2006/relationships/hyperlink" Target="https://www.sec.gov/Archives/edgar/data/1114483/000095010326011709/dp251126_ex9901.htm" TargetMode="External"/><Relationship Id="rId9" Type="http://schemas.openxmlformats.org/officeDocument/2006/relationships/hyperlink" Target="https://www.medicaldesignandoutsourcing.com/?p=280019" TargetMode="External"/><Relationship Id="rId10" Type="http://schemas.openxmlformats.org/officeDocument/2006/relationships/hyperlink" Target="https://www.fiercehealthcare.com/finance/staffing-firm-cross-country-healthcare-be-acquired-knox-lane-437m" TargetMode="External"/><Relationship Id="rId11" Type="http://schemas.openxmlformats.org/officeDocument/2006/relationships/hyperlink" Target="https://www.staffingindustry.com/news/global-daily-news/private-equity-firm-knox-lane-completes-acquisition-of-cross-county" TargetMode="External"/><Relationship Id="rId12" Type="http://schemas.openxmlformats.org/officeDocument/2006/relationships/image" Target="../media/image4.png"/><Relationship Id="rId13" Type="http://schemas.openxmlformats.org/officeDocument/2006/relationships/image" Target="../media/image77.png"/><Relationship Id="rId14" Type="http://schemas.openxmlformats.org/officeDocument/2006/relationships/image" Target="../media/image103.png"/><Relationship Id="rId15" Type="http://schemas.openxmlformats.org/officeDocument/2006/relationships/image" Target="../media/image33.png"/><Relationship Id="rId16" Type="http://schemas.openxmlformats.org/officeDocument/2006/relationships/image" Target="../media/image44.png"/><Relationship Id="rId17" Type="http://schemas.openxmlformats.org/officeDocument/2006/relationships/image" Target="../media/image87.png"/><Relationship Id="rId18" Type="http://schemas.openxmlformats.org/officeDocument/2006/relationships/image" Target="../media/image104.png"/><Relationship Id="rId19" Type="http://schemas.openxmlformats.org/officeDocument/2006/relationships/image" Target="../media/image88.png"/><Relationship Id="rId20" Type="http://schemas.openxmlformats.org/officeDocument/2006/relationships/image" Target="../media/image90.png"/><Relationship Id="rId21" Type="http://schemas.openxmlformats.org/officeDocument/2006/relationships/image" Target="../media/image101.png"/><Relationship Id="rId22" Type="http://schemas.openxmlformats.org/officeDocument/2006/relationships/image" Target="../media/image102.png"/><Relationship Id="rId23" Type="http://schemas.openxmlformats.org/officeDocument/2006/relationships/image" Target="../media/image70.png"/><Relationship Id="rId24" Type="http://schemas.openxmlformats.org/officeDocument/2006/relationships/image" Target="../media/image10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benchmark-international-successfully-facilitated-the-transaction-between-precise-bioscience-llc-and-new-horizon-medical-solutions/" TargetMode="External"/><Relationship Id="rId5"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6"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7"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8" Type="http://schemas.openxmlformats.org/officeDocument/2006/relationships/hyperlink" Target="https://www.benchmarkintl.com/insights/completed-transactions/benchmark-international-facilitated-the-transaction-of-dental-holdings-llc-and-solmetex-llc/" TargetMode="External"/><Relationship Id="rId9" Type="http://schemas.openxmlformats.org/officeDocument/2006/relationships/hyperlink" Target="https://www.benchmarkintl.com/insights/benchmark-international-successfully-facilitated-the-transaction-between-fosterbridge-inc-and-amvie/" TargetMode="External"/><Relationship Id="rId10" Type="http://schemas.openxmlformats.org/officeDocument/2006/relationships/hyperlink" Target="https://www.benchmarkintl.com/insights/benchmark-international-successfully-facilitated-the-transaction-between-medical-temps-inc-and-health-advocates-network/" TargetMode="External"/><Relationship Id="rId11" Type="http://schemas.openxmlformats.org/officeDocument/2006/relationships/hyperlink" Target="https://www.benchmarkintl.com/insights/completed-transactions/benchmark-international-successfully-facilitated-the-transaction-between-the-brooks-group-and-private-investors/" TargetMode="External"/><Relationship Id="rId12" Type="http://schemas.openxmlformats.org/officeDocument/2006/relationships/hyperlink" Target="https://www.benchmarkintl.com/insights/benchmark-international-successfully-facilitated-the-transaction-between-fitzgerald-enterprises-and-pioneers-operations/" TargetMode="External"/><Relationship Id="rId13" Type="http://schemas.openxmlformats.org/officeDocument/2006/relationships/image" Target="../media/image4.png"/><Relationship Id="rId14" Type="http://schemas.openxmlformats.org/officeDocument/2006/relationships/image" Target="../media/image106.png"/><Relationship Id="rId15" Type="http://schemas.openxmlformats.org/officeDocument/2006/relationships/image" Target="../media/image107.png"/><Relationship Id="rId16" Type="http://schemas.openxmlformats.org/officeDocument/2006/relationships/image" Target="../media/image108.png"/><Relationship Id="rId17" Type="http://schemas.openxmlformats.org/officeDocument/2006/relationships/image" Target="../media/image109.png"/><Relationship Id="rId18" Type="http://schemas.openxmlformats.org/officeDocument/2006/relationships/image" Target="../media/image110.png"/><Relationship Id="rId19" Type="http://schemas.openxmlformats.org/officeDocument/2006/relationships/image" Target="../media/image111.png"/><Relationship Id="rId20" Type="http://schemas.openxmlformats.org/officeDocument/2006/relationships/image" Target="../media/image112.png"/><Relationship Id="rId21" Type="http://schemas.openxmlformats.org/officeDocument/2006/relationships/image" Target="../media/image113.png"/><Relationship Id="rId22" Type="http://schemas.openxmlformats.org/officeDocument/2006/relationships/image" Target="../media/image114.png"/><Relationship Id="rId23" Type="http://schemas.openxmlformats.org/officeDocument/2006/relationships/image" Target="../media/image115.png"/><Relationship Id="rId24" Type="http://schemas.openxmlformats.org/officeDocument/2006/relationships/image" Target="../media/image116.png"/><Relationship Id="rId25" Type="http://schemas.openxmlformats.org/officeDocument/2006/relationships/image" Target="../media/image117.png"/><Relationship Id="rId26" Type="http://schemas.openxmlformats.org/officeDocument/2006/relationships/image" Target="../media/image118.png"/><Relationship Id="rId27" Type="http://schemas.openxmlformats.org/officeDocument/2006/relationships/image" Target="../media/image119.png"/><Relationship Id="rId28" Type="http://schemas.openxmlformats.org/officeDocument/2006/relationships/image" Target="../media/image120.png"/><Relationship Id="rId29" Type="http://schemas.openxmlformats.org/officeDocument/2006/relationships/image" Target="../media/image121.png"/><Relationship Id="rId30" Type="http://schemas.openxmlformats.org/officeDocument/2006/relationships/image" Target="../media/image1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www.beckersasc.com/asc-transactions-and-valuation-issues/why-asc-deals-are-outperforming-the-rest-of-healthcare-ma-in-2026-8-things-to-know/" TargetMode="External"/><Relationship Id="rId4" Type="http://schemas.openxmlformats.org/officeDocument/2006/relationships/hyperlink" Target="https://www.acg.org/news-trends/news/gf-data-reports-show-steady-middle-market-deal-flow-amid-more-selective" TargetMode="External"/><Relationship Id="rId5" Type="http://schemas.openxmlformats.org/officeDocument/2006/relationships/hyperlink" Target="https://www.ibba.org/market-pulse-q2-2026-survey-results/" TargetMode="External"/><Relationship Id="rId6" Type="http://schemas.openxmlformats.org/officeDocument/2006/relationships/image" Target="../media/image4.png"/><Relationship Id="rId7" Type="http://schemas.openxmlformats.org/officeDocument/2006/relationships/hyperlink" Target="https://stockanalysis.com/" TargetMode="External"/><Relationship Id="rId8"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image" Target="../media/image4.png"/><Relationship Id="rId5" Type="http://schemas.openxmlformats.org/officeDocument/2006/relationships/hyperlink" Target="https://stockanalysis.com/" TargetMode="External"/><Relationship Id="rId6" Type="http://schemas.openxmlformats.org/officeDocument/2006/relationships/image" Target="../media/image36.png"/><Relationship Id="rId7" Type="http://schemas.openxmlformats.org/officeDocument/2006/relationships/image" Target="../media/image63.png"/><Relationship Id="rId8" Type="http://schemas.openxmlformats.org/officeDocument/2006/relationships/image" Target="../media/image38.png"/><Relationship Id="rId9" Type="http://schemas.openxmlformats.org/officeDocument/2006/relationships/image" Target="../media/image48.png"/><Relationship Id="rId10" Type="http://schemas.openxmlformats.org/officeDocument/2006/relationships/image" Target="../media/image34.png"/><Relationship Id="rId11" Type="http://schemas.openxmlformats.org/officeDocument/2006/relationships/image" Target="../media/image67.png"/><Relationship Id="rId12" Type="http://schemas.openxmlformats.org/officeDocument/2006/relationships/image" Target="../media/image64.png"/><Relationship Id="rId13" Type="http://schemas.openxmlformats.org/officeDocument/2006/relationships/image" Target="../media/image32.png"/><Relationship Id="rId14" Type="http://schemas.openxmlformats.org/officeDocument/2006/relationships/image" Target="../media/image56.png"/><Relationship Id="rId15" Type="http://schemas.openxmlformats.org/officeDocument/2006/relationships/image" Target="../media/image30.png"/><Relationship Id="rId16" Type="http://schemas.openxmlformats.org/officeDocument/2006/relationships/image" Target="../media/image61.png"/><Relationship Id="rId17" Type="http://schemas.openxmlformats.org/officeDocument/2006/relationships/image" Target="../media/image45.png"/><Relationship Id="rId18" Type="http://schemas.openxmlformats.org/officeDocument/2006/relationships/image" Target="../media/image42.png"/><Relationship Id="rId19" Type="http://schemas.openxmlformats.org/officeDocument/2006/relationships/image" Target="../media/image65.png"/><Relationship Id="rId20" Type="http://schemas.openxmlformats.org/officeDocument/2006/relationships/image" Target="../media/image41.png"/><Relationship Id="rId21" Type="http://schemas.openxmlformats.org/officeDocument/2006/relationships/image" Target="../media/image57.png"/><Relationship Id="rId22" Type="http://schemas.openxmlformats.org/officeDocument/2006/relationships/image" Target="../media/image53.png"/><Relationship Id="rId23" Type="http://schemas.openxmlformats.org/officeDocument/2006/relationships/image" Target="../media/image37.png"/><Relationship Id="rId24" Type="http://schemas.openxmlformats.org/officeDocument/2006/relationships/image" Target="../media/image47.png"/><Relationship Id="rId25" Type="http://schemas.openxmlformats.org/officeDocument/2006/relationships/image" Target="../media/image54.png"/><Relationship Id="rId26" Type="http://schemas.openxmlformats.org/officeDocument/2006/relationships/image" Target="../media/image31.png"/><Relationship Id="rId27" Type="http://schemas.openxmlformats.org/officeDocument/2006/relationships/image" Target="../media/image59.png"/><Relationship Id="rId28" Type="http://schemas.openxmlformats.org/officeDocument/2006/relationships/image" Target="../media/image39.png"/><Relationship Id="rId29" Type="http://schemas.openxmlformats.org/officeDocument/2006/relationships/image" Target="../media/image33.png"/><Relationship Id="rId30"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 Id="rId7" Type="http://schemas.openxmlformats.org/officeDocument/2006/relationships/chart" Target="../charts/chart15.xml"/><Relationship Id="rId8" Type="http://schemas.openxmlformats.org/officeDocument/2006/relationships/chart" Target="../charts/chart16.xml"/><Relationship Id="rId9" Type="http://schemas.openxmlformats.org/officeDocument/2006/relationships/chart" Target="../charts/chart17.xml"/><Relationship Id="rId10" Type="http://schemas.openxmlformats.org/officeDocument/2006/relationships/image" Target="../media/image4.png"/><Relationship Id="rId11" Type="http://schemas.openxmlformats.org/officeDocument/2006/relationships/hyperlink" Target="https://stockanalysi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ec.gov/Archives/edgar/data/0001125376/000112537626000036/q22026pressrelease.htm" TargetMode="External"/><Relationship Id="rId3" Type="http://schemas.openxmlformats.org/officeDocument/2006/relationships/hyperlink" Target="https://www.sec.gov/Archives/edgar/data/0001668397/000166839726000023/medp-2026722exx991.htm" TargetMode="External"/><Relationship Id="rId4" Type="http://schemas.openxmlformats.org/officeDocument/2006/relationships/hyperlink" Target="https://www.sec.gov/Archives/edgar/data/0000097745/000009774526000138/q22026earnings8kex99_1.htm" TargetMode="External"/><Relationship Id="rId5" Type="http://schemas.openxmlformats.org/officeDocument/2006/relationships/hyperlink" Target="https://newsroom.questdiagnostics.com/2026-07-23-Quest-Diagnostics-Reports-Second-Quarter-2026-Financial-Results-Raises-Revenue-and-EPS-Guidance-for-Full-Year-2026" TargetMode="External"/><Relationship Id="rId6" Type="http://schemas.openxmlformats.org/officeDocument/2006/relationships/hyperlink" Target="https://www.sec.gov/Archives/edgar/data/0000310764/000031076426000048/sykex991earningsq22026.htm" TargetMode="External"/><Relationship Id="rId7" Type="http://schemas.openxmlformats.org/officeDocument/2006/relationships/hyperlink" Target="https://www.sec.gov/Archives/edgar/data/0000860730/000119312526315151/hca-ex99_1.htm" TargetMode="External"/><Relationship Id="rId8" Type="http://schemas.openxmlformats.org/officeDocument/2006/relationships/hyperlink" Target="https://www.sec.gov/Archives/edgar/data/0001478242/000162828026049923/iqv-q2x2026earningspressre.htm" TargetMode="External"/><Relationship Id="rId9" Type="http://schemas.openxmlformats.org/officeDocument/2006/relationships/hyperlink" Target="https://www.sec.gov/Archives/edgar/data/0000885978/000088597826000042/ex99-1.htm" TargetMode="External"/><Relationship Id="rId10" Type="http://schemas.openxmlformats.org/officeDocument/2006/relationships/hyperlink" Target="https://www.sec.gov/Archives/edgar/data/0001468328/000143774926025448/ex_997368.htm" TargetMode="External"/><Relationship Id="rId11" Type="http://schemas.openxmlformats.org/officeDocument/2006/relationships/hyperlink" Target="https://www.mckesson.com/about-us/newsroom/press-releases/2026/mckesson-reports-fiscal-2027-first-quarter-results-and-raises-full-year-adjusted-eps-guidance/" TargetMode="External"/><Relationship Id="rId12" Type="http://schemas.openxmlformats.org/officeDocument/2006/relationships/hyperlink" Target="https://www.sec.gov/Archives/edgar/data/0001757898/000162828026053412/ste6302026ex991.htm" TargetMode="External"/><Relationship Id="rId13" Type="http://schemas.openxmlformats.org/officeDocument/2006/relationships/hyperlink" Target="https://www.sec.gov/Archives/edgar/data/0000070318/000007031826000032/thc-20260630ex991earningsr.htm" TargetMode="External"/><Relationship Id="rId14" Type="http://schemas.openxmlformats.org/officeDocument/2006/relationships/hyperlink" Target="https://investor.henryschein.com/news-releases/news-release-details/2026/Henry-Schein-Reports-Strong-Second-Quarter-2026-Financial-Results-and-Raises-FY2026-Guidance" TargetMode="External"/><Relationship Id="rId15" Type="http://schemas.openxmlformats.org/officeDocument/2006/relationships/hyperlink" Target="https://www.sec.gov/Archives/edgar/data/0000920148/000092014826000162/form8-kexhibit9912q26.htm" TargetMode="External"/><Relationship Id="rId16" Type="http://schemas.openxmlformats.org/officeDocument/2006/relationships/hyperlink" Target="https://www.sec.gov/Archives/edgar/data/0000721371/000072137126000037/a26q4_x063026xex991xnewsre.htm" TargetMode="External"/><Relationship Id="rId17" Type="http://schemas.openxmlformats.org/officeDocument/2006/relationships/hyperlink" Target="https://www.sec.gov/Archives/edgar/data/0001142750/000114275026000008/amn-ex991x20260630xearning.htm" TargetMode="External"/><Relationship Id="rId18" Type="http://schemas.openxmlformats.org/officeDocument/2006/relationships/hyperlink" Target="https://www.sec.gov/Archives/edgar/data/0001802255/000119312526338032/d160709dex991.htm" TargetMode="External"/><Relationship Id="rId19" Type="http://schemas.openxmlformats.org/officeDocument/2006/relationships/hyperlink" Target="https://www.sec.gov/Archives/edgar/data/1014739/000101473926000021/exhibit991-q22026.htm" TargetMode="External"/><Relationship Id="rId20" Type="http://schemas.openxmlformats.org/officeDocument/2006/relationships/hyperlink" Target="https://stockanalysis.com/stocks/adus/transcripts/660727-q2-2026/" TargetMode="External"/><Relationship Id="rId21" Type="http://schemas.openxmlformats.org/officeDocument/2006/relationships/hyperlink" Target="https://s2.q4cdn.com/390454341/files/doc_earnings/2026/q2/transcript/prepared-comments-for-website-Q2-2026-final.pdf" TargetMode="External"/><Relationship Id="rId22" Type="http://schemas.openxmlformats.org/officeDocument/2006/relationships/hyperlink" Target="https://stockanalysis.com/stocks/tmo/transcripts/653574-q2-2026/" TargetMode="External"/><Relationship Id="rId23" Type="http://schemas.openxmlformats.org/officeDocument/2006/relationships/hyperlink" Target="https://stockanalysis.com/stocks/ste/transcripts/666655-q1-2027/" TargetMode="External"/><Relationship Id="rId24" Type="http://schemas.openxmlformats.org/officeDocument/2006/relationships/hyperlink" Target="https://s206.q4cdn.com/399858780/files/doc_financials/2026/q2/HSIC-USQ_Transcript_2026-08-04.pdf" TargetMode="External"/><Relationship Id="rId25" Type="http://schemas.openxmlformats.org/officeDocument/2006/relationships/hyperlink" Target="https://s201.q4cdn.com/566741227/files/doc_financials/2026/q4/Q4-FY26-CAH-Earnings-Transcript.pdf" TargetMode="External"/><Relationship Id="rId26" Type="http://schemas.openxmlformats.org/officeDocument/2006/relationships/hyperlink" Target="https://stockanalysis.com/stocks/amn/transcripts/662833-q2-2026/" TargetMode="External"/><Relationship Id="rId27"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23.jp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image" Target="../media/image4.png"/><Relationship Id="rId14" Type="http://schemas.openxmlformats.org/officeDocument/2006/relationships/hyperlink" Target="https://www.benchmarkintl.com/about/our-success/"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subject=Healthcare%20Q4%202026%20brief" TargetMode="External"/><Relationship Id="rId6" Type="http://schemas.openxmlformats.org/officeDocument/2006/relationships/image" Target="../media/image4.png"/><Relationship Id="rId7" Type="http://schemas.openxmlformats.org/officeDocument/2006/relationships/image" Target="../media/image13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stockanalysi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stockanalysi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ercehealthcare.com/finance/projected-healthcare-services-deal-count-be-lowest-2017-pitchbook-finds" TargetMode="External"/><Relationship Id="rId3" Type="http://schemas.openxmlformats.org/officeDocument/2006/relationships/hyperlink" Target="https://www.medtechdive.com/news/medtech-ma-maintains-momentum-following-decade-high-2025-pwc/823113/" TargetMode="External"/><Relationship Id="rId4" Type="http://schemas.openxmlformats.org/officeDocument/2006/relationships/hyperlink" Target="https://www.kaufmanhall.com/news/ma-activity-remains-strong-among-large-health-systems-amid-continued-industry-transformation" TargetMode="External"/><Relationship Id="rId5" Type="http://schemas.openxmlformats.org/officeDocument/2006/relationships/hyperlink" Target="https://www.iqvia.com/locations/emea/blogs/2026/07/biopharma-ma-mid-year-2026-update" TargetMode="External"/><Relationship Id="rId6" Type="http://schemas.openxmlformats.org/officeDocument/2006/relationships/hyperlink" Target="https://www.cms.gov/newsroom/fact-sheets/calendar-year-cy-2027-medicare-physician-fee-schedule-proposed-rule" TargetMode="External"/><Relationship Id="rId7" Type="http://schemas.openxmlformats.org/officeDocument/2006/relationships/hyperlink" Target="https://www.cms.gov/newsroom/fact-sheets/calendar-year-2027-hospital-outpatient-prospective-payment-system-opps-ambulatory-surgical-center" TargetMode="External"/><Relationship Id="rId8" Type="http://schemas.openxmlformats.org/officeDocument/2006/relationships/hyperlink" Target="https://www.cms.gov/newsroom/fact-sheets/calendar-year-cy-2027-home-health-prospective-payment-system-proposed-rule-fact-sheet-cms-1844-p" TargetMode="External"/><Relationship Id="rId9" Type="http://schemas.openxmlformats.org/officeDocument/2006/relationships/hyperlink" Target="https://www.cms.gov/newsroom/fact-sheets/2027-medicare-advantage-part-d-rate-announcement" TargetMode="External"/><Relationship Id="rId10" Type="http://schemas.openxmlformats.org/officeDocument/2006/relationships/hyperlink" Target="https://www.medicaid.gov/medicaid/downloads/elig-redet-section-71107-deck.pdf" TargetMode="External"/><Relationship Id="rId11" Type="http://schemas.openxmlformats.org/officeDocument/2006/relationships/hyperlink" Target="https://federalreserve.gov/newsevents/pressreleases/monetary20260916a.htm" TargetMode="External"/><Relationship Id="rId12" Type="http://schemas.openxmlformats.org/officeDocument/2006/relationships/hyperlink" Target="https://home.treasury.gov/resource-center/data-chart-center/interest-rates/TextView?type=daily_treasury_yield_curve&amp;field_tdr_date_value_month=202610" TargetMode="External"/><Relationship Id="rId13" Type="http://schemas.openxmlformats.org/officeDocument/2006/relationships/hyperlink" Target="https://pitchbook.brightspotcdn.com/40/42/bbeb88094080abaea3d7c87530b8/q2-2026-us-pe-breakdown.pdf"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altarum.org/news-and-insights/september-2026-health-sector-economic-indicators-briefs" TargetMode="External"/><Relationship Id="rId16" Type="http://schemas.openxmlformats.org/officeDocument/2006/relationships/hyperlink" Target="https://www.cms.gov/data-research/statistics-trends-and-reports/national-health-expenditure-data/nhe-fact-sheet" TargetMode="External"/><Relationship Id="rId17" Type="http://schemas.openxmlformats.org/officeDocument/2006/relationships/hyperlink" Target="https://www.bls.gov/news.release/archives/empsit_10022026.htm" TargetMode="External"/><Relationship Id="rId18" Type="http://schemas.openxmlformats.org/officeDocument/2006/relationships/hyperlink" Target="https://www.whitehouse.gov/presidential-actions/2026/04/adjusting-imports-of-pharmaceuticals-and-pharmaceutical-ingredients-into-the-united-states/" TargetMode="External"/><Relationship Id="rId19" Type="http://schemas.openxmlformats.org/officeDocument/2006/relationships/hyperlink" Target="https://idataresearch.com/news-medical-device-tariffs-in-2026/" TargetMode="External"/><Relationship Id="rId20" Type="http://schemas.openxmlformats.org/officeDocument/2006/relationships/hyperlink" Target="https://www.nixonpeabody.com/insights/alerts/2026/05/27/ohcas-proposed-emergency-regulations-clarify-ab-1415-notice-requirements" TargetMode="External"/><Relationship Id="rId21" Type="http://schemas.openxmlformats.org/officeDocument/2006/relationships/hyperlink" Target="https://www.foley.com/insights/publications/2026/04/maine-health-care-transactions-new-state-approvals-involving-some-private-equity-hedge-funds-and-msos/"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ibba.org/market-pulse-q2-2026-survey-results/" TargetMode="External"/><Relationship Id="rId24" Type="http://schemas.openxmlformats.org/officeDocument/2006/relationships/hyperlink" Target="https://www.cms.gov/data-research/statistics-trends-and-reports/national-health-expenditure-data/historical" TargetMode="External"/><Relationship Id="rId25" Type="http://schemas.openxmlformats.org/officeDocument/2006/relationships/hyperlink" Target="https://www.crfb.org/blogs/national-health-expenditures-continue-rise" TargetMode="External"/><Relationship Id="rId26" Type="http://schemas.openxmlformats.org/officeDocument/2006/relationships/hyperlink" Target="https://www.kaufmanhall.com/news/hospital-and-health-system-ma-activity-ends-2025-momentum" TargetMode="External"/><Relationship Id="rId27" Type="http://schemas.openxmlformats.org/officeDocument/2006/relationships/hyperlink" Target="https://pitchbook.brightspotcdn.com/2d/0a/acb3601c4e19925c22d3f3877637/q4-2025-healthcare-services-report.pdf" TargetMode="External"/><Relationship Id="rId28" Type="http://schemas.openxmlformats.org/officeDocument/2006/relationships/hyperlink" Target="https://fred.stlouisfed.org/series/CES6562000101" TargetMode="External"/><Relationship Id="rId29" Type="http://schemas.openxmlformats.org/officeDocument/2006/relationships/hyperlink" Target="https://www.bls.gov/news.release/jolts.t01.htm" TargetMode="External"/><Relationship Id="rId30" Type="http://schemas.openxmlformats.org/officeDocument/2006/relationships/hyperlink" Target="https://fred.stlouisfed.org/series/TLHLTHCONS" TargetMode="External"/><Relationship Id="rId31" Type="http://schemas.openxmlformats.org/officeDocument/2006/relationships/hyperlink" Target="https://www.hfma.org/fast-finance/health-system-capital-investment-strategy-2026/" TargetMode="External"/><Relationship Id="rId32" Type="http://schemas.openxmlformats.org/officeDocument/2006/relationships/hyperlink" Target="https://www.fda.gov/drugs/novel-drug-approvals-fda/novel-drug-approvals-2026" TargetMode="External"/><Relationship Id="rId33" Type="http://schemas.openxmlformats.org/officeDocument/2006/relationships/hyperlink" Target="https://www.raps.org/resource/cder-approved-50-novel-drugs-in-2024-record-numbe.html" TargetMode="External"/><Relationship Id="rId34" Type="http://schemas.openxmlformats.org/officeDocument/2006/relationships/hyperlink" Target="https://www.biospace.com/press-releases/iqvia-reports-second-quarter-2026-results" TargetMode="External"/><Relationship Id="rId35" Type="http://schemas.openxmlformats.org/officeDocument/2006/relationships/hyperlink" Target="https://www.jucm.com/?p=86881" TargetMode="External"/><Relationship Id="rId36" Type="http://schemas.openxmlformats.org/officeDocument/2006/relationships/hyperlink" Target="https://www.beckersasc.com/asc-transactions-and-valuation-issues/hcas-urgent-care-acquisition-spree/" TargetMode="External"/><Relationship Id="rId37" Type="http://schemas.openxmlformats.org/officeDocument/2006/relationships/hyperlink" Target="https://www.healthcaredive.com/news/hca-texas-medclinic-acquisition-urgent-care/826917/" TargetMode="External"/><Relationship Id="rId38" Type="http://schemas.openxmlformats.org/officeDocument/2006/relationships/hyperlink" Target="https://healthcare.levinassociates.com/2026/05/11/top-home-health-hospice-deals-of-2026-so-far/" TargetMode="External"/><Relationship Id="rId39" Type="http://schemas.openxmlformats.org/officeDocument/2006/relationships/hyperlink" Target="https://www.sec.gov/Archives/edgar/data/1803737/000119312526064210/d29040dex991.htm" TargetMode="External"/><Relationship Id="rId40" Type="http://schemas.openxmlformats.org/officeDocument/2006/relationships/hyperlink" Target="https://www.ama-assn.org/about/research/physician-practice-benchmark-survey" TargetMode="External"/><Relationship Id="rId41" Type="http://schemas.openxmlformats.org/officeDocument/2006/relationships/hyperlink" Target="https://newsroom.questdiagnostics.com/2026-07-23-Quest-Diagnostics-Reports-Second-Quarter-2026-Financial-Results-Raises-Revenue-and-EPS-Guidance-for-Full-Year-2026" TargetMode="External"/><Relationship Id="rId42" Type="http://schemas.openxmlformats.org/officeDocument/2006/relationships/hyperlink" Target="https://www.sec.gov/Archives/edgar/data/0000920148/000092014826000175/lh-20260630.htm" TargetMode="External"/><Relationship Id="rId43" Type="http://schemas.openxmlformats.org/officeDocument/2006/relationships/hyperlink" Target="https://myadlm.org/cln/The-Lab-Advocate/2026/August/ADLM-Continues-Push-for-Permanent-PAMA-Reform" TargetMode="External"/><Relationship Id="rId44" Type="http://schemas.openxmlformats.org/officeDocument/2006/relationships/hyperlink" Target="https://www.sec.gov/Archives/edgar/data/0001478242/000162828026049923/iqv-q2x2026earningspressre.htm" TargetMode="External"/><Relationship Id="rId45" Type="http://schemas.openxmlformats.org/officeDocument/2006/relationships/hyperlink" Target="https://www.sec.gov/Archives/edgar/data/0001668397/000166839726000023/medp-2026722exx991.htm" TargetMode="External"/><Relationship Id="rId46" Type="http://schemas.openxmlformats.org/officeDocument/2006/relationships/hyperlink" Target="https://www.prnewswire.com/news-releases/headlands-research-expands-california-presence-with-acquisition-of-clinical-trials-research-302814202.html" TargetMode="External"/><Relationship Id="rId47" Type="http://schemas.openxmlformats.org/officeDocument/2006/relationships/hyperlink" Target="https://www.prnewswire.com/news-releases/summit-clinical-research-solutions-expands-pinnacle-site-network-with-acquisition-of-dallas-research-institute-302874775.html" TargetMode="External"/><Relationship Id="rId48" Type="http://schemas.openxmlformats.org/officeDocument/2006/relationships/hyperlink" Target="https://www.sec.gov/Archives/edgar/data/0000310764/000031076426000048/sykex991earningsq22026.htm" TargetMode="External"/><Relationship Id="rId49" Type="http://schemas.openxmlformats.org/officeDocument/2006/relationships/hyperlink" Target="https://www.sec.gov/Archives/edgar/data/0001757898/000162828026053412/ste6302026ex991.htm" TargetMode="External"/><Relationship Id="rId50" Type="http://schemas.openxmlformats.org/officeDocument/2006/relationships/hyperlink" Target="https://www.owens-minor.com/pressreleases/owens-minor-announces-definitive-agreement-to-divest-products-healthcare-services-segment-to-platinum-equity-for-375mm-in-cash-and-a-retained-equity-stake/" TargetMode="External"/><Relationship Id="rId51" Type="http://schemas.openxmlformats.org/officeDocument/2006/relationships/hyperlink" Target="https://www.sec.gov/Archives/edgar/data/0000927653/000092765326000232/mck_exhibit991x6302026.htm" TargetMode="External"/><Relationship Id="rId52" Type="http://schemas.openxmlformats.org/officeDocument/2006/relationships/hyperlink" Target="https://www.kslaw.com/news-and-insights/u-s-supreme-court-invalidates-the-president-s-ieepa-tariffs-in-learning-resources-inc-v-trump" TargetMode="External"/><Relationship Id="rId53" Type="http://schemas.openxmlformats.org/officeDocument/2006/relationships/hyperlink" Target="https://www.iqvia.com/insights/the-iqvia-institute/reports/us-medicine-use-trends-2026" TargetMode="External"/><Relationship Id="rId54" Type="http://schemas.openxmlformats.org/officeDocument/2006/relationships/hyperlink" Target="https://ncpa.org/newsroom/news-releases/2025/10/19/ncpa-releases-2025-digest-report" TargetMode="External"/><Relationship Id="rId55" Type="http://schemas.openxmlformats.org/officeDocument/2006/relationships/hyperlink" Target="https://www.sec.gov/Archives/edgar/data/0001802255/000119312526338032/d160709dex991.htm" TargetMode="External"/><Relationship Id="rId56" Type="http://schemas.openxmlformats.org/officeDocument/2006/relationships/hyperlink" Target="https://www.sec.gov/Archives/edgar/data/0001865782/000119312526326654/btsg-ex99_1.htm" TargetMode="External"/><Relationship Id="rId57" Type="http://schemas.openxmlformats.org/officeDocument/2006/relationships/hyperlink" Target="https://www.staffingindustry.com/editorial/healthcare-staffing-report/healthcare-staffing-rebounds-as-demand-strengthens-in-the-second-and-third-quarters" TargetMode="External"/><Relationship Id="rId58" Type="http://schemas.openxmlformats.org/officeDocument/2006/relationships/hyperlink" Target="https://www.medtechdive.com/news/top-10-medtech-deals-in-the-first-half-of-2026/824435/" TargetMode="External"/><Relationship Id="rId59" Type="http://schemas.openxmlformats.org/officeDocument/2006/relationships/hyperlink" Target="https://www.drugchannels.net/2026/08/the-k-shaped-pharmacy-shakeout.html" TargetMode="External"/><Relationship Id="rId60" Type="http://schemas.openxmlformats.org/officeDocument/2006/relationships/hyperlink" Target="https://www.ama-assn.org/system/files/2021-01/cf-history.pdf" TargetMode="External"/><Relationship Id="rId61" Type="http://schemas.openxmlformats.org/officeDocument/2006/relationships/hyperlink" Target="https://pitchbook.brightspotcdn.com/7b/53/6ae3fbf84f12bfd344a7ae0a691a/q2-2026-healthcare-services-report-gusting-macroeconomic-headwinds-impede-progress.pdf" TargetMode="External"/><Relationship Id="rId6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yewire.news/news/myeyedr-to-acquire-eyecare-partners-optometry-division-adding-more-than-300-offices" TargetMode="External"/><Relationship Id="rId3" Type="http://schemas.openxmlformats.org/officeDocument/2006/relationships/hyperlink" Target="https://www.businesswire.com/news/home/20260928896885/en/EyeCare-Partners-Announces-Sale-of-Optometry-Business" TargetMode="External"/><Relationship Id="rId4" Type="http://schemas.openxmlformats.org/officeDocument/2006/relationships/hyperlink" Target="https://www.sec.gov/Archives/edgar/data/0001468328/000143774926030348/ex_1015828.htm" TargetMode="External"/><Relationship Id="rId5" Type="http://schemas.openxmlformats.org/officeDocument/2006/relationships/hyperlink" Target="https://www.sec.gov/Archives/edgar/data/0000842023/000199937126013429/ex99-1.htm" TargetMode="External"/><Relationship Id="rId6" Type="http://schemas.openxmlformats.org/officeDocument/2006/relationships/hyperlink" Target="https://www.sec.gov/Archives/edgar/data/0000313616/000031361626000163/dhr-20260721xex991.htm" TargetMode="External"/><Relationship Id="rId7" Type="http://schemas.openxmlformats.org/officeDocument/2006/relationships/hyperlink" Target="https://peprofessional.com/2026/07/statlab-sold-to-danahers-leica-biosystems/" TargetMode="External"/><Relationship Id="rId8" Type="http://schemas.openxmlformats.org/officeDocument/2006/relationships/hyperlink" Target="https://www.sec.gov/Archives/edgar/data/1114483/000095010326011709/dp251126_ex9901.htm" TargetMode="External"/><Relationship Id="rId9" Type="http://schemas.openxmlformats.org/officeDocument/2006/relationships/hyperlink" Target="https://www.medicaldesignandoutsourcing.com/?p=280019" TargetMode="External"/><Relationship Id="rId10" Type="http://schemas.openxmlformats.org/officeDocument/2006/relationships/hyperlink" Target="https://www.fiercehealthcare.com/finance/staffing-firm-cross-country-healthcare-be-acquired-knox-lane-437m" TargetMode="External"/><Relationship Id="rId11" Type="http://schemas.openxmlformats.org/officeDocument/2006/relationships/hyperlink" Target="https://www.staffingindustry.com/news/global-daily-news/private-equity-firm-knox-lane-completes-acquisition-of-cross-county" TargetMode="External"/><Relationship Id="rId12" Type="http://schemas.openxmlformats.org/officeDocument/2006/relationships/hyperlink" Target="https://www.benchmarkintl.com/about/our-success/" TargetMode="External"/><Relationship Id="rId13" Type="http://schemas.openxmlformats.org/officeDocument/2006/relationships/hyperlink" Target="https://www.benchmarkintl.com/insights/benchmark-international-successfully-facilitated-the-transaction-between-precise-bioscience-llc-and-new-horizon-medical-solutions/" TargetMode="External"/><Relationship Id="rId14"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5" Type="http://schemas.openxmlformats.org/officeDocument/2006/relationships/hyperlink" Target="https://www.benchmarkintl.com/insights/completed-transactions/benchmark-international-successfully-facilitated-the-transaction-between-fast-response-onsite-testing-inc-and-relentless-health-inc/" TargetMode="External"/><Relationship Id="rId16" Type="http://schemas.openxmlformats.org/officeDocument/2006/relationships/hyperlink" Target="https://www.benchmarkintl.com/insights/completed-transactions/benchmark-international-successfully-facilitated-the-transaction-between-critical-environments-professionals-and-scientific-safety-alliance/" TargetMode="External"/><Relationship Id="rId17" Type="http://schemas.openxmlformats.org/officeDocument/2006/relationships/hyperlink" Target="https://www.benchmarkintl.com/insights/completed-transactions/benchmark-international-facilitated-the-transaction-of-dental-holdings-llc-and-solmetex-llc/" TargetMode="External"/><Relationship Id="rId18" Type="http://schemas.openxmlformats.org/officeDocument/2006/relationships/hyperlink" Target="https://www.benchmarkintl.com/insights/benchmark-international-successfully-facilitated-the-transaction-between-fosterbridge-inc-and-amvie/" TargetMode="External"/><Relationship Id="rId19" Type="http://schemas.openxmlformats.org/officeDocument/2006/relationships/hyperlink" Target="https://www.benchmarkintl.com/insights/benchmark-international-successfully-facilitated-the-transaction-between-medical-temps-inc-and-health-advocates-network/" TargetMode="External"/><Relationship Id="rId20" Type="http://schemas.openxmlformats.org/officeDocument/2006/relationships/hyperlink" Target="https://www.benchmarkintl.com/insights/completed-transactions/benchmark-international-successfully-facilitated-the-transaction-between-the-brooks-group-and-private-investors/" TargetMode="External"/><Relationship Id="rId21" Type="http://schemas.openxmlformats.org/officeDocument/2006/relationships/hyperlink" Target="https://www.benchmarkintl.com/insights/benchmark-international-successfully-facilitated-the-transaction-between-fitzgerald-enterprises-and-pioneers-operations/" TargetMode="External"/><Relationship Id="rId22" Type="http://schemas.openxmlformats.org/officeDocument/2006/relationships/hyperlink" Target="https://www.beckersasc.com/asc-transactions-and-valuation-issues/why-asc-deals-are-outperforming-the-rest-of-healthcare-ma-in-2026-8-things-to-know/" TargetMode="External"/><Relationship Id="rId23" Type="http://schemas.openxmlformats.org/officeDocument/2006/relationships/hyperlink" Target="https://www.acg.org/news-trends/news/gf-data-reports-show-steady-middle-market-deal-flow-amid-more-selective" TargetMode="External"/><Relationship Id="rId24" Type="http://schemas.openxmlformats.org/officeDocument/2006/relationships/hyperlink" Target="https://www.ibba.org/market-pulse-q2-2026-survey-results/" TargetMode="External"/><Relationship Id="rId25" Type="http://schemas.openxmlformats.org/officeDocument/2006/relationships/hyperlink" Target="https://stockanalysis.com/" TargetMode="External"/><Relationship Id="rId26" Type="http://schemas.openxmlformats.org/officeDocument/2006/relationships/hyperlink" Target="https://www.sec.gov/Archives/edgar/data/0001125376/000112537626000036/q22026pressrelease.htm" TargetMode="External"/><Relationship Id="rId27" Type="http://schemas.openxmlformats.org/officeDocument/2006/relationships/hyperlink" Target="https://www.sec.gov/Archives/edgar/data/0001668397/000166839726000023/medp-2026722exx991.htm" TargetMode="External"/><Relationship Id="rId28" Type="http://schemas.openxmlformats.org/officeDocument/2006/relationships/hyperlink" Target="https://www.sec.gov/Archives/edgar/data/0000097745/000009774526000138/q22026earnings8kex99_1.htm" TargetMode="External"/><Relationship Id="rId29" Type="http://schemas.openxmlformats.org/officeDocument/2006/relationships/hyperlink" Target="https://newsroom.questdiagnostics.com/2026-07-23-Quest-Diagnostics-Reports-Second-Quarter-2026-Financial-Results-Raises-Revenue-and-EPS-Guidance-for-Full-Year-2026" TargetMode="External"/><Relationship Id="rId30" Type="http://schemas.openxmlformats.org/officeDocument/2006/relationships/hyperlink" Target="https://www.sec.gov/Archives/edgar/data/0000310764/000031076426000048/sykex991earningsq22026.htm" TargetMode="External"/><Relationship Id="rId31" Type="http://schemas.openxmlformats.org/officeDocument/2006/relationships/hyperlink" Target="https://www.sec.gov/Archives/edgar/data/0000860730/000119312526315151/hca-ex99_1.htm" TargetMode="External"/><Relationship Id="rId32" Type="http://schemas.openxmlformats.org/officeDocument/2006/relationships/hyperlink" Target="https://www.sec.gov/Archives/edgar/data/0001478242/000162828026049923/iqv-q2x2026earningspressre.htm" TargetMode="External"/><Relationship Id="rId33" Type="http://schemas.openxmlformats.org/officeDocument/2006/relationships/hyperlink" Target="https://www.sec.gov/Archives/edgar/data/0000885978/000088597826000042/ex99-1.htm" TargetMode="External"/><Relationship Id="rId34" Type="http://schemas.openxmlformats.org/officeDocument/2006/relationships/hyperlink" Target="https://www.sec.gov/Archives/edgar/data/0001468328/000143774926025448/ex_997368.htm" TargetMode="External"/><Relationship Id="rId35" Type="http://schemas.openxmlformats.org/officeDocument/2006/relationships/hyperlink" Target="https://www.mckesson.com/about-us/newsroom/press-releases/2026/mckesson-reports-fiscal-2027-first-quarter-results-and-raises-full-year-adjusted-eps-guidance/" TargetMode="External"/><Relationship Id="rId36" Type="http://schemas.openxmlformats.org/officeDocument/2006/relationships/hyperlink" Target="https://www.sec.gov/Archives/edgar/data/0001757898/000162828026053412/ste6302026ex991.htm" TargetMode="External"/><Relationship Id="rId37" Type="http://schemas.openxmlformats.org/officeDocument/2006/relationships/hyperlink" Target="https://www.sec.gov/Archives/edgar/data/0000070318/000007031826000032/thc-20260630ex991earningsr.htm" TargetMode="External"/><Relationship Id="rId38" Type="http://schemas.openxmlformats.org/officeDocument/2006/relationships/hyperlink" Target="https://investor.henryschein.com/news-releases/news-release-details/2026/Henry-Schein-Reports-Strong-Second-Quarter-2026-Financial-Results-and-Raises-FY2026-Guidance" TargetMode="External"/><Relationship Id="rId39" Type="http://schemas.openxmlformats.org/officeDocument/2006/relationships/hyperlink" Target="https://www.sec.gov/Archives/edgar/data/0000920148/000092014826000162/form8-kexhibit9912q26.htm" TargetMode="External"/><Relationship Id="rId40" Type="http://schemas.openxmlformats.org/officeDocument/2006/relationships/hyperlink" Target="https://www.sec.gov/Archives/edgar/data/0000721371/000072137126000037/a26q4_x063026xex991xnewsre.htm" TargetMode="External"/><Relationship Id="rId41" Type="http://schemas.openxmlformats.org/officeDocument/2006/relationships/hyperlink" Target="https://www.sec.gov/Archives/edgar/data/0001142750/000114275026000008/amn-ex991x20260630xearning.htm" TargetMode="External"/><Relationship Id="rId42" Type="http://schemas.openxmlformats.org/officeDocument/2006/relationships/hyperlink" Target="https://www.sec.gov/Archives/edgar/data/0001802255/000119312526338032/d160709dex991.htm" TargetMode="External"/><Relationship Id="rId43" Type="http://schemas.openxmlformats.org/officeDocument/2006/relationships/hyperlink" Target="https://www.sec.gov/Archives/edgar/data/1014739/000101473926000021/exhibit991-q22026.htm" TargetMode="External"/><Relationship Id="rId44" Type="http://schemas.openxmlformats.org/officeDocument/2006/relationships/hyperlink" Target="https://stockanalysis.com/stocks/adus/transcripts/660727-q2-2026/" TargetMode="External"/><Relationship Id="rId45" Type="http://schemas.openxmlformats.org/officeDocument/2006/relationships/hyperlink" Target="https://s2.q4cdn.com/390454341/files/doc_earnings/2026/q2/transcript/prepared-comments-for-website-Q2-2026-final.pdf" TargetMode="External"/><Relationship Id="rId46" Type="http://schemas.openxmlformats.org/officeDocument/2006/relationships/hyperlink" Target="https://stockanalysis.com/stocks/tmo/transcripts/653574-q2-2026/" TargetMode="External"/><Relationship Id="rId47" Type="http://schemas.openxmlformats.org/officeDocument/2006/relationships/hyperlink" Target="https://stockanalysis.com/stocks/ste/transcripts/666655-q1-2027/" TargetMode="External"/><Relationship Id="rId48" Type="http://schemas.openxmlformats.org/officeDocument/2006/relationships/hyperlink" Target="https://s206.q4cdn.com/399858780/files/doc_financials/2026/q2/HSIC-USQ_Transcript_2026-08-04.pdf" TargetMode="External"/><Relationship Id="rId49" Type="http://schemas.openxmlformats.org/officeDocument/2006/relationships/hyperlink" Target="https://s201.q4cdn.com/566741227/files/doc_financials/2026/q4/Q4-FY26-CAH-Earnings-Transcript.pdf" TargetMode="External"/><Relationship Id="rId50" Type="http://schemas.openxmlformats.org/officeDocument/2006/relationships/hyperlink" Target="https://stockanalysis.com/stocks/amn/transcripts/662833-q2-2026/" TargetMode="External"/><Relationship Id="rId5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Smiling young boy seated for a medical checkup"/>
          <p:cNvPicPr>
            <a:picLocks noChangeAspect="1"/>
          </p:cNvPicPr>
          <p:nvPr/>
        </p:nvPicPr>
        <p:blipFill>
          <a:blip r:embed="rId2"/>
          <a:srcRect/>
          <a:stretch>
            <a:fillRect/>
          </a:stretch>
        </p:blipFill>
        <p:spPr>
          <a:xfrm>
            <a:off x="0" y="0"/>
            <a:ext cx="4191000" cy="7772400"/>
          </a:xfrm>
          <a:prstGeom prst="rect">
            <a:avLst/>
          </a:prstGeom>
        </p:spPr>
      </p:pic>
      <p:sp>
        <p:nvSpPr>
          <p:cNvPr id="3" name="Shape 1"/>
          <p:cNvSpPr/>
          <p:nvPr/>
        </p:nvSpPr>
        <p:spPr>
          <a:xfrm>
            <a:off x="0" y="0"/>
            <a:ext cx="4191000" cy="7772400"/>
          </a:xfrm>
          <a:prstGeom prst="rect">
            <a:avLst/>
          </a:prstGeom>
          <a:gradFill rotWithShape="1">
            <a:gsLst>
              <a:gs pos="0">
                <a:srgbClr val="1B1A1A">
                  <a:alpha val="15000"/>
                </a:srgbClr>
              </a:gs>
              <a:gs pos="45000">
                <a:srgbClr val="1B1A1A">
                  <a:alpha val="5000"/>
                </a:srgbClr>
              </a:gs>
              <a:gs pos="100000">
                <a:srgbClr val="1B1A1A">
                  <a:alpha val="80000"/>
                </a:srgbClr>
              </a:gs>
            </a:gsLst>
            <a:lin ang="5400000" scaled="0"/>
          </a:gradFill>
          <a:ln>
            <a:noFill/>
          </a:ln>
        </p:spPr>
        <p:txBody>
          <a:bodyPr rtlCol="0" anchor="ctr"/>
          <a:lstStyle/>
          <a:p>
            <a:pPr algn="ctr"/>
            <a:endParaRPr/>
          </a:p>
        </p:txBody>
      </p:sp>
      <p:sp>
        <p:nvSpPr>
          <p:cNvPr id="4" name="Shape 2"/>
          <p:cNvSpPr/>
          <p:nvPr/>
        </p:nvSpPr>
        <p:spPr>
          <a:xfrm>
            <a:off x="4191000" y="0"/>
            <a:ext cx="5695950" cy="7772400"/>
          </a:xfrm>
          <a:prstGeom prst="rect">
            <a:avLst/>
          </a:prstGeom>
          <a:solidFill>
            <a:srgbClr val="1B1A1A"/>
          </a:solidFill>
          <a:ln>
            <a:noFill/>
          </a:ln>
          <a:effectLst/>
        </p:spPr>
        <p:txBody>
          <a:bodyPr rtlCol="0" anchor="ctr"/>
          <a:lstStyle/>
          <a:p>
            <a:pPr algn="ctr"/>
            <a:endParaRPr/>
          </a:p>
        </p:txBody>
      </p:sp>
      <p:pic>
        <p:nvPicPr>
          <p:cNvPr id="5" name="Picture 2" descr="Dark textured background with the Benchmark International knot emblem"/>
          <p:cNvPicPr>
            <a:picLocks noChangeAspect="1"/>
          </p:cNvPicPr>
          <p:nvPr/>
        </p:nvPicPr>
        <p:blipFill>
          <a:blip r:embed="rId3">
            <a:alphaModFix amt="55000"/>
          </a:blip>
          <a:srcRect l="29389" r="29389"/>
          <a:stretch>
            <a:fillRect/>
          </a:stretch>
        </p:blipFill>
        <p:spPr>
          <a:xfrm>
            <a:off x="4191000" y="0"/>
            <a:ext cx="5695950" cy="7772400"/>
          </a:xfrm>
          <a:prstGeom prst="rect">
            <a:avLst/>
          </a:prstGeom>
        </p:spPr>
      </p:pic>
      <p:sp>
        <p:nvSpPr>
          <p:cNvPr id="6" name="Shape 3"/>
          <p:cNvSpPr/>
          <p:nvPr/>
        </p:nvSpPr>
        <p:spPr>
          <a:xfrm>
            <a:off x="4191000" y="0"/>
            <a:ext cx="57150" cy="7772400"/>
          </a:xfrm>
          <a:prstGeom prst="rect">
            <a:avLst/>
          </a:prstGeom>
          <a:solidFill>
            <a:srgbClr val="B68757"/>
          </a:solidFill>
          <a:ln>
            <a:noFill/>
          </a:ln>
          <a:effectLst/>
        </p:spPr>
        <p:txBody>
          <a:bodyPr rtlCol="0" anchor="ctr"/>
          <a:lstStyle/>
          <a:p>
            <a:pPr algn="ctr"/>
            <a:endParaRPr/>
          </a:p>
        </p:txBody>
      </p:sp>
      <p:sp>
        <p:nvSpPr>
          <p:cNvPr id="7" name="TextBox 1"/>
          <p:cNvSpPr txBox="1"/>
          <p:nvPr/>
        </p:nvSpPr>
        <p:spPr>
          <a:xfrm>
            <a:off x="419100" y="6867525"/>
            <a:ext cx="4054316" cy="485775"/>
          </a:xfrm>
          <a:prstGeom prst="rect">
            <a:avLst/>
          </a:prstGeom>
          <a:noFill/>
        </p:spPr>
        <p:txBody>
          <a:bodyPr wrap="square" lIns="0" tIns="0" rIns="0" bIns="0" anchor="t">
            <a:spAutoFit/>
          </a:bodyPr>
          <a:lstStyle/>
          <a:p>
            <a:pPr algn="l">
              <a:lnSpc>
                <a:spcPts val="1352"/>
              </a:lnSpc>
            </a:pPr>
            <a:r>
              <a:rPr sz="700" b="1" i="0" spc="165">
                <a:solidFill>
                  <a:srgbClr val="FFFFFF"/>
                </a:solidFill>
                <a:latin typeface="Calibri"/>
              </a:rPr>
              <a:t>PROVIDER SERVICES · LIFE SCIENCES &amp; DIAGNOSTICS</a:t>
            </a:r>
            <a:br/>
            <a:r>
              <a:rPr sz="700" b="1" i="0" spc="165">
                <a:solidFill>
                  <a:srgbClr val="FFFFFF"/>
                </a:solidFill>
                <a:latin typeface="Calibri"/>
              </a:rPr>
              <a:t>MEDICAL PRODUCTS &amp; DISTRIBUTION</a:t>
            </a:r>
            <a:br/>
            <a:r>
              <a:rPr sz="700" b="1" i="0" spc="165">
                <a:solidFill>
                  <a:srgbClr val="FFFFFF"/>
                </a:solidFill>
                <a:latin typeface="Calibri"/>
              </a:rPr>
              <a:t>PHARMACY &amp; HEALTHCARE SERVICES</a:t>
            </a:r>
          </a:p>
        </p:txBody>
      </p:sp>
      <p:pic>
        <p:nvPicPr>
          <p:cNvPr id="8" name="Picture 3" descr="Benchmark International logo"/>
          <p:cNvPicPr>
            <a:picLocks noChangeAspect="1"/>
          </p:cNvPicPr>
          <p:nvPr/>
        </p:nvPicPr>
        <p:blipFill>
          <a:blip r:embed="rId4"/>
          <a:srcRect/>
          <a:stretch>
            <a:fillRect/>
          </a:stretch>
        </p:blipFill>
        <p:spPr>
          <a:xfrm>
            <a:off x="4724400" y="571500"/>
            <a:ext cx="2438400" cy="457200"/>
          </a:xfrm>
          <a:prstGeom prst="rect">
            <a:avLst/>
          </a:prstGeom>
        </p:spPr>
      </p:pic>
      <p:sp>
        <p:nvSpPr>
          <p:cNvPr id="9" name="TextBox 2"/>
          <p:cNvSpPr txBox="1"/>
          <p:nvPr/>
        </p:nvSpPr>
        <p:spPr>
          <a:xfrm>
            <a:off x="4724400" y="1123950"/>
            <a:ext cx="2030164" cy="133350"/>
          </a:xfrm>
          <a:prstGeom prst="rect">
            <a:avLst/>
          </a:prstGeom>
          <a:noFill/>
        </p:spPr>
        <p:txBody>
          <a:bodyPr wrap="square" lIns="0" tIns="0" rIns="0" bIns="0" anchor="t">
            <a:spAutoFit/>
          </a:bodyPr>
          <a:lstStyle/>
          <a:p>
            <a:pPr algn="l">
              <a:lnSpc>
                <a:spcPts val="1208"/>
              </a:lnSpc>
            </a:pPr>
            <a:r>
              <a:rPr sz="800" b="1" i="0" spc="255">
                <a:solidFill>
                  <a:srgbClr val="D3AE84"/>
                </a:solidFill>
                <a:latin typeface="Calibri"/>
              </a:rPr>
              <a:t>MIDDLE MARKET</a:t>
            </a:r>
          </a:p>
        </p:txBody>
      </p:sp>
      <p:sp>
        <p:nvSpPr>
          <p:cNvPr id="10" name="TextBox 3"/>
          <p:cNvSpPr txBox="1"/>
          <p:nvPr/>
        </p:nvSpPr>
        <p:spPr>
          <a:xfrm>
            <a:off x="4724400" y="2247900"/>
            <a:ext cx="4929188" cy="152400"/>
          </a:xfrm>
          <a:prstGeom prst="rect">
            <a:avLst/>
          </a:prstGeom>
          <a:noFill/>
        </p:spPr>
        <p:txBody>
          <a:bodyPr wrap="square" lIns="0" tIns="0" rIns="0" bIns="0" anchor="t">
            <a:spAutoFit/>
          </a:bodyPr>
          <a:lstStyle/>
          <a:p>
            <a:pPr algn="l">
              <a:lnSpc>
                <a:spcPts val="1380"/>
              </a:lnSpc>
            </a:pPr>
            <a:r>
              <a:rPr sz="900" b="1" i="0" spc="225">
                <a:solidFill>
                  <a:srgbClr val="D3AE84"/>
                </a:solidFill>
                <a:latin typeface="Calibri"/>
              </a:rPr>
              <a:t>QUARTERLY INDUSTRY REPORT | Q4 2026</a:t>
            </a:r>
          </a:p>
        </p:txBody>
      </p:sp>
      <p:sp>
        <p:nvSpPr>
          <p:cNvPr id="11" name="TextBox 4"/>
          <p:cNvSpPr txBox="1"/>
          <p:nvPr/>
        </p:nvSpPr>
        <p:spPr>
          <a:xfrm>
            <a:off x="4724400" y="2514600"/>
            <a:ext cx="5105400" cy="647700"/>
          </a:xfrm>
          <a:prstGeom prst="rect">
            <a:avLst/>
          </a:prstGeom>
          <a:noFill/>
        </p:spPr>
        <p:txBody>
          <a:bodyPr wrap="square" lIns="0" tIns="0" rIns="0" bIns="0" anchor="t">
            <a:spAutoFit/>
          </a:bodyPr>
          <a:lstStyle/>
          <a:p>
            <a:pPr algn="l">
              <a:lnSpc>
                <a:spcPts val="5100"/>
              </a:lnSpc>
            </a:pPr>
            <a:r>
              <a:rPr sz="4500" b="0" i="0" spc="300">
                <a:solidFill>
                  <a:srgbClr val="FFFFFF"/>
                </a:solidFill>
                <a:latin typeface="Cambria"/>
              </a:rPr>
              <a:t>HEALTHCARE</a:t>
            </a:r>
          </a:p>
        </p:txBody>
      </p:sp>
      <p:sp>
        <p:nvSpPr>
          <p:cNvPr id="12" name="Shape 4"/>
          <p:cNvSpPr/>
          <p:nvPr/>
        </p:nvSpPr>
        <p:spPr>
          <a:xfrm>
            <a:off x="4724400" y="3333750"/>
            <a:ext cx="914400" cy="19050"/>
          </a:xfrm>
          <a:prstGeom prst="rect">
            <a:avLst/>
          </a:prstGeom>
          <a:solidFill>
            <a:srgbClr val="B68757"/>
          </a:solidFill>
          <a:ln>
            <a:noFill/>
          </a:ln>
          <a:effectLst/>
        </p:spPr>
        <p:txBody>
          <a:bodyPr rtlCol="0" anchor="ctr"/>
          <a:lstStyle/>
          <a:p>
            <a:pPr algn="ctr"/>
            <a:endParaRPr/>
          </a:p>
        </p:txBody>
      </p:sp>
      <p:sp>
        <p:nvSpPr>
          <p:cNvPr id="13" name="TextBox 5"/>
          <p:cNvSpPr txBox="1"/>
          <p:nvPr/>
        </p:nvSpPr>
        <p:spPr>
          <a:xfrm>
            <a:off x="4724400" y="3524250"/>
            <a:ext cx="4929188" cy="533400"/>
          </a:xfrm>
          <a:prstGeom prst="rect">
            <a:avLst/>
          </a:prstGeom>
          <a:noFill/>
        </p:spPr>
        <p:txBody>
          <a:bodyPr wrap="square" lIns="0" tIns="0" rIns="0" bIns="0" anchor="t">
            <a:spAutoFit/>
          </a:bodyPr>
          <a:lstStyle/>
          <a:p>
            <a:pPr algn="l">
              <a:lnSpc>
                <a:spcPts val="2100"/>
              </a:lnSpc>
            </a:pPr>
            <a:r>
              <a:rPr sz="1500" b="0" i="1">
                <a:solidFill>
                  <a:srgbClr val="F1ECE5"/>
                </a:solidFill>
                <a:latin typeface="Cambria"/>
              </a:rPr>
              <a:t>Mergers and acquisitions across provider services, life sciences, medical products, and pharmacy services</a:t>
            </a:r>
          </a:p>
        </p:txBody>
      </p:sp>
      <p:sp>
        <p:nvSpPr>
          <p:cNvPr id="14" name="TextBox 6"/>
          <p:cNvSpPr txBox="1"/>
          <p:nvPr/>
        </p:nvSpPr>
        <p:spPr>
          <a:xfrm>
            <a:off x="4724400" y="4953000"/>
            <a:ext cx="4929188" cy="133350"/>
          </a:xfrm>
          <a:prstGeom prst="rect">
            <a:avLst/>
          </a:prstGeom>
          <a:noFill/>
        </p:spPr>
        <p:txBody>
          <a:bodyPr wrap="square" lIns="0" tIns="0" rIns="0" bIns="0" anchor="t">
            <a:spAutoFit/>
          </a:bodyPr>
          <a:lstStyle/>
          <a:p>
            <a:pPr algn="l">
              <a:lnSpc>
                <a:spcPts val="1208"/>
              </a:lnSpc>
            </a:pPr>
            <a:r>
              <a:rPr sz="800" b="1" i="0" spc="225">
                <a:solidFill>
                  <a:srgbClr val="D3AE84"/>
                </a:solidFill>
                <a:latin typeface="Calibri"/>
              </a:rPr>
              <a:t>WHAT’S INCLUDED</a:t>
            </a:r>
          </a:p>
        </p:txBody>
      </p:sp>
      <p:sp>
        <p:nvSpPr>
          <p:cNvPr id="15" name="Shape 5"/>
          <p:cNvSpPr/>
          <p:nvPr/>
        </p:nvSpPr>
        <p:spPr>
          <a:xfrm>
            <a:off x="4724400" y="5181600"/>
            <a:ext cx="4914900" cy="9525"/>
          </a:xfrm>
          <a:prstGeom prst="rect">
            <a:avLst/>
          </a:prstGeom>
          <a:solidFill>
            <a:srgbClr val="FFFFFF">
              <a:alpha val="16000"/>
            </a:srgbClr>
          </a:solidFill>
          <a:ln>
            <a:noFill/>
          </a:ln>
          <a:effectLst/>
        </p:spPr>
        <p:txBody>
          <a:bodyPr rtlCol="0" anchor="ctr"/>
          <a:lstStyle/>
          <a:p>
            <a:pPr algn="ctr"/>
            <a:endParaRPr/>
          </a:p>
        </p:txBody>
      </p:sp>
      <p:sp>
        <p:nvSpPr>
          <p:cNvPr id="16" name="TextBox 7"/>
          <p:cNvSpPr txBox="1"/>
          <p:nvPr/>
        </p:nvSpPr>
        <p:spPr>
          <a:xfrm>
            <a:off x="4724400" y="530542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01</a:t>
            </a:r>
          </a:p>
        </p:txBody>
      </p:sp>
      <p:sp>
        <p:nvSpPr>
          <p:cNvPr id="17" name="TextBox 8"/>
          <p:cNvSpPr txBox="1"/>
          <p:nvPr/>
        </p:nvSpPr>
        <p:spPr>
          <a:xfrm>
            <a:off x="5162550" y="5362575"/>
            <a:ext cx="1328738" cy="171450"/>
          </a:xfrm>
          <a:prstGeom prst="rect">
            <a:avLst/>
          </a:prstGeom>
          <a:noFill/>
        </p:spPr>
        <p:txBody>
          <a:bodyPr wrap="square" lIns="0" tIns="0" rIns="0" bIns="0" anchor="t">
            <a:spAutoFit/>
          </a:bodyPr>
          <a:lstStyle/>
          <a:p>
            <a:pPr algn="l">
              <a:lnSpc>
                <a:spcPts val="1552"/>
              </a:lnSpc>
            </a:pPr>
            <a:r>
              <a:rPr sz="1050" b="1" i="0" spc="135">
                <a:solidFill>
                  <a:srgbClr val="FFFFFF"/>
                </a:solidFill>
                <a:latin typeface="Calibri"/>
              </a:rPr>
              <a:t>INSIGHTS</a:t>
            </a:r>
          </a:p>
        </p:txBody>
      </p:sp>
      <p:sp>
        <p:nvSpPr>
          <p:cNvPr id="18" name="TextBox 9"/>
          <p:cNvSpPr txBox="1"/>
          <p:nvPr/>
        </p:nvSpPr>
        <p:spPr>
          <a:xfrm>
            <a:off x="6610350" y="5362575"/>
            <a:ext cx="3043238" cy="342900"/>
          </a:xfrm>
          <a:prstGeom prst="rect">
            <a:avLst/>
          </a:prstGeom>
          <a:noFill/>
        </p:spPr>
        <p:txBody>
          <a:bodyPr wrap="square" lIns="0" tIns="0" rIns="0" bIns="0" anchor="t">
            <a:spAutoFit/>
          </a:bodyPr>
          <a:lstStyle/>
          <a:p>
            <a:pPr algn="l">
              <a:lnSpc>
                <a:spcPts val="1472"/>
              </a:lnSpc>
            </a:pPr>
            <a:r>
              <a:rPr sz="1000" b="0" i="0" spc="15">
                <a:solidFill>
                  <a:srgbClr val="C3BDB6"/>
                </a:solidFill>
                <a:latin typeface="Calibri"/>
              </a:rPr>
              <a:t>The state of play, our view, market context, perspectives on four sectors, and what we are reading</a:t>
            </a:r>
          </a:p>
        </p:txBody>
      </p:sp>
      <p:sp>
        <p:nvSpPr>
          <p:cNvPr id="19" name="Shape 6"/>
          <p:cNvSpPr/>
          <p:nvPr/>
        </p:nvSpPr>
        <p:spPr>
          <a:xfrm>
            <a:off x="4724400" y="5819775"/>
            <a:ext cx="4914900" cy="9525"/>
          </a:xfrm>
          <a:prstGeom prst="rect">
            <a:avLst/>
          </a:prstGeom>
          <a:solidFill>
            <a:srgbClr val="FFFFFF">
              <a:alpha val="16000"/>
            </a:srgbClr>
          </a:solidFill>
          <a:ln>
            <a:noFill/>
          </a:ln>
          <a:effectLst/>
        </p:spPr>
        <p:txBody>
          <a:bodyPr rtlCol="0" anchor="ctr"/>
          <a:lstStyle/>
          <a:p>
            <a:pPr algn="ctr"/>
            <a:endParaRPr/>
          </a:p>
        </p:txBody>
      </p:sp>
      <p:sp>
        <p:nvSpPr>
          <p:cNvPr id="20" name="TextBox 10"/>
          <p:cNvSpPr txBox="1"/>
          <p:nvPr/>
        </p:nvSpPr>
        <p:spPr>
          <a:xfrm>
            <a:off x="4724400" y="5943600"/>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02</a:t>
            </a:r>
          </a:p>
        </p:txBody>
      </p:sp>
      <p:sp>
        <p:nvSpPr>
          <p:cNvPr id="21" name="TextBox 11"/>
          <p:cNvSpPr txBox="1"/>
          <p:nvPr/>
        </p:nvSpPr>
        <p:spPr>
          <a:xfrm>
            <a:off x="5162550" y="6000750"/>
            <a:ext cx="1328738" cy="171450"/>
          </a:xfrm>
          <a:prstGeom prst="rect">
            <a:avLst/>
          </a:prstGeom>
          <a:noFill/>
        </p:spPr>
        <p:txBody>
          <a:bodyPr wrap="square" lIns="0" tIns="0" rIns="0" bIns="0" anchor="t">
            <a:spAutoFit/>
          </a:bodyPr>
          <a:lstStyle/>
          <a:p>
            <a:pPr algn="l">
              <a:lnSpc>
                <a:spcPts val="1552"/>
              </a:lnSpc>
            </a:pPr>
            <a:r>
              <a:rPr sz="1050" b="1" i="0" spc="135">
                <a:solidFill>
                  <a:srgbClr val="FFFFFF"/>
                </a:solidFill>
                <a:latin typeface="Calibri"/>
              </a:rPr>
              <a:t>SECTOR ACTIVITY</a:t>
            </a:r>
          </a:p>
        </p:txBody>
      </p:sp>
      <p:sp>
        <p:nvSpPr>
          <p:cNvPr id="22" name="TextBox 12"/>
          <p:cNvSpPr txBox="1"/>
          <p:nvPr/>
        </p:nvSpPr>
        <p:spPr>
          <a:xfrm>
            <a:off x="6610350" y="6000750"/>
            <a:ext cx="3043238" cy="342900"/>
          </a:xfrm>
          <a:prstGeom prst="rect">
            <a:avLst/>
          </a:prstGeom>
          <a:noFill/>
        </p:spPr>
        <p:txBody>
          <a:bodyPr wrap="square" lIns="0" tIns="0" rIns="0" bIns="0" anchor="t">
            <a:spAutoFit/>
          </a:bodyPr>
          <a:lstStyle/>
          <a:p>
            <a:pPr algn="l">
              <a:lnSpc>
                <a:spcPts val="1431"/>
              </a:lnSpc>
            </a:pPr>
            <a:r>
              <a:rPr sz="950" b="0" i="0" spc="15">
                <a:solidFill>
                  <a:srgbClr val="C3BDB6"/>
                </a:solidFill>
                <a:latin typeface="Calibri"/>
              </a:rPr>
              <a:t>The select market participants, recent transactions, listed-company valuation and performance, and earnings commentary</a:t>
            </a:r>
          </a:p>
        </p:txBody>
      </p:sp>
      <p:sp>
        <p:nvSpPr>
          <p:cNvPr id="23" name="Shape 7"/>
          <p:cNvSpPr/>
          <p:nvPr/>
        </p:nvSpPr>
        <p:spPr>
          <a:xfrm>
            <a:off x="4724400" y="6457950"/>
            <a:ext cx="4914900" cy="9525"/>
          </a:xfrm>
          <a:prstGeom prst="rect">
            <a:avLst/>
          </a:prstGeom>
          <a:solidFill>
            <a:srgbClr val="FFFFFF">
              <a:alpha val="16000"/>
            </a:srgbClr>
          </a:solidFill>
          <a:ln>
            <a:noFill/>
          </a:ln>
          <a:effectLst/>
        </p:spPr>
        <p:txBody>
          <a:bodyPr rtlCol="0" anchor="ctr"/>
          <a:lstStyle/>
          <a:p>
            <a:pPr algn="ctr"/>
            <a:endParaRPr/>
          </a:p>
        </p:txBody>
      </p:sp>
      <p:sp>
        <p:nvSpPr>
          <p:cNvPr id="24" name="TextBox 13"/>
          <p:cNvSpPr txBox="1"/>
          <p:nvPr/>
        </p:nvSpPr>
        <p:spPr>
          <a:xfrm>
            <a:off x="4724400" y="6581775"/>
            <a:ext cx="319088" cy="228600"/>
          </a:xfrm>
          <a:prstGeom prst="rect">
            <a:avLst/>
          </a:prstGeom>
          <a:noFill/>
        </p:spPr>
        <p:txBody>
          <a:bodyPr wrap="square" lIns="0" tIns="0" rIns="0" bIns="0" anchor="t">
            <a:spAutoFit/>
          </a:bodyPr>
          <a:lstStyle/>
          <a:p>
            <a:pPr algn="l">
              <a:lnSpc>
                <a:spcPts val="1800"/>
              </a:lnSpc>
            </a:pPr>
            <a:r>
              <a:rPr sz="1500" b="0" i="0" spc="75">
                <a:solidFill>
                  <a:srgbClr val="D3AE84"/>
                </a:solidFill>
                <a:latin typeface="Cambria"/>
              </a:rPr>
              <a:t>03</a:t>
            </a:r>
          </a:p>
        </p:txBody>
      </p:sp>
      <p:sp>
        <p:nvSpPr>
          <p:cNvPr id="25" name="TextBox 14"/>
          <p:cNvSpPr txBox="1"/>
          <p:nvPr/>
        </p:nvSpPr>
        <p:spPr>
          <a:xfrm>
            <a:off x="5162550" y="6638925"/>
            <a:ext cx="1328738" cy="171450"/>
          </a:xfrm>
          <a:prstGeom prst="rect">
            <a:avLst/>
          </a:prstGeom>
          <a:noFill/>
        </p:spPr>
        <p:txBody>
          <a:bodyPr wrap="square" lIns="0" tIns="0" rIns="0" bIns="0" anchor="t">
            <a:spAutoFit/>
          </a:bodyPr>
          <a:lstStyle/>
          <a:p>
            <a:pPr algn="l">
              <a:lnSpc>
                <a:spcPts val="1552"/>
              </a:lnSpc>
            </a:pPr>
            <a:r>
              <a:rPr sz="1050" b="1" i="0" spc="135">
                <a:solidFill>
                  <a:srgbClr val="FFFFFF"/>
                </a:solidFill>
                <a:latin typeface="Calibri"/>
              </a:rPr>
              <a:t>CONNECT WITH US</a:t>
            </a:r>
          </a:p>
        </p:txBody>
      </p:sp>
      <p:sp>
        <p:nvSpPr>
          <p:cNvPr id="26" name="TextBox 15"/>
          <p:cNvSpPr txBox="1"/>
          <p:nvPr/>
        </p:nvSpPr>
        <p:spPr>
          <a:xfrm>
            <a:off x="6610350" y="6638925"/>
            <a:ext cx="3043238" cy="171450"/>
          </a:xfrm>
          <a:prstGeom prst="rect">
            <a:avLst/>
          </a:prstGeom>
          <a:noFill/>
        </p:spPr>
        <p:txBody>
          <a:bodyPr wrap="square" lIns="0" tIns="0" rIns="0" bIns="0" anchor="t">
            <a:spAutoFit/>
          </a:bodyPr>
          <a:lstStyle/>
          <a:p>
            <a:pPr algn="l">
              <a:lnSpc>
                <a:spcPts val="1552"/>
              </a:lnSpc>
            </a:pPr>
            <a:r>
              <a:rPr sz="1050" b="0" i="0" spc="15">
                <a:solidFill>
                  <a:srgbClr val="C3BDB6"/>
                </a:solidFill>
                <a:latin typeface="Calibri"/>
              </a:rPr>
              <a:t>Benchmark International and how to reach us</a:t>
            </a:r>
          </a:p>
        </p:txBody>
      </p:sp>
      <p:sp>
        <p:nvSpPr>
          <p:cNvPr id="27" name="Shape 8"/>
          <p:cNvSpPr/>
          <p:nvPr/>
        </p:nvSpPr>
        <p:spPr>
          <a:xfrm>
            <a:off x="4724400" y="6924675"/>
            <a:ext cx="4914900" cy="9525"/>
          </a:xfrm>
          <a:prstGeom prst="rect">
            <a:avLst/>
          </a:prstGeom>
          <a:solidFill>
            <a:srgbClr val="FFFFFF">
              <a:alpha val="16000"/>
            </a:srgbClr>
          </a:solidFill>
          <a:ln>
            <a:noFill/>
          </a:ln>
          <a:effectLst/>
        </p:spPr>
        <p:txBody>
          <a:bodyPr rtlCol="0" anchor="ctr"/>
          <a:lstStyle/>
          <a:p>
            <a:pPr algn="ctr"/>
            <a:endParaRPr/>
          </a:p>
        </p:txBody>
      </p:sp>
      <p:sp>
        <p:nvSpPr>
          <p:cNvPr id="28" name="TextBox 16"/>
          <p:cNvSpPr txBox="1"/>
          <p:nvPr/>
        </p:nvSpPr>
        <p:spPr>
          <a:xfrm>
            <a:off x="4724400" y="7219950"/>
            <a:ext cx="4929188" cy="133350"/>
          </a:xfrm>
          <a:prstGeom prst="rect">
            <a:avLst/>
          </a:prstGeom>
          <a:noFill/>
        </p:spPr>
        <p:txBody>
          <a:bodyPr wrap="square" lIns="0" tIns="0" rIns="0" bIns="0" anchor="t">
            <a:spAutoFit/>
          </a:bodyPr>
          <a:lstStyle/>
          <a:p>
            <a:pPr algn="l">
              <a:lnSpc>
                <a:spcPts val="1208"/>
              </a:lnSpc>
            </a:pPr>
            <a:r>
              <a:rPr sz="800" b="1" i="0" spc="150">
                <a:solidFill>
                  <a:srgbClr val="C3BDB6"/>
                </a:solidFill>
                <a:latin typeface="Calibri"/>
              </a:rPr>
              <a:t>OCTOBER 2026 | JARED HARDIN, MANAGING DIRECTOR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Important Disclosures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13" name="Text 3"/>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14" name="Text 4"/>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Information in this report is as of October 19, 2026, unless stated otherwise.</a:t>
            </a:r>
          </a:p>
        </p:txBody>
      </p:sp>
      <p:sp>
        <p:nvSpPr>
          <p:cNvPr id="12" name="TextBox 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The Middle Market team leads engagements from the first conversation through signing and closing.</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5"/>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 team</a:t>
            </a:r>
          </a:p>
        </p:txBody>
      </p:sp>
      <p:sp>
        <p:nvSpPr>
          <p:cNvPr id="11" name="Shape 4"/>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6"/>
          <p:cNvSpPr txBox="1"/>
          <p:nvPr/>
        </p:nvSpPr>
        <p:spPr>
          <a:xfrm>
            <a:off x="609600" y="2343150"/>
            <a:ext cx="1671638" cy="1085850"/>
          </a:xfrm>
          <a:prstGeom prst="rect">
            <a:avLst/>
          </a:prstGeom>
          <a:noFill/>
        </p:spPr>
        <p:txBody>
          <a:bodyPr wrap="square" lIns="0" tIns="0" rIns="0" bIns="0" anchor="t">
            <a:spAutoFit/>
          </a:bodyPr>
          <a:lstStyle/>
          <a:p>
            <a:pPr algn="l">
              <a:lnSpc>
                <a:spcPts val="1468"/>
              </a:lnSpc>
            </a:pPr>
            <a:r>
              <a:rPr sz="950" b="0" i="0" spc="15">
                <a:solidFill>
                  <a:srgbClr val="E8E2DA"/>
                </a:solidFill>
                <a:latin typeface="Calibri"/>
              </a:rPr>
              <a:t>Benchmark International’s Middle Market team represents owners of privately held companies with $50 million to $500 million of total enterprise value in strategic sales, mergers, and qualifying change-of-control transactions.</a:t>
            </a:r>
          </a:p>
        </p:txBody>
      </p:sp>
      <p:sp>
        <p:nvSpPr>
          <p:cNvPr id="13" name="TextBox 7"/>
          <p:cNvSpPr txBox="1"/>
          <p:nvPr/>
        </p:nvSpPr>
        <p:spPr>
          <a:xfrm>
            <a:off x="609600" y="3900488"/>
            <a:ext cx="1671638" cy="123825"/>
          </a:xfrm>
          <a:prstGeom prst="rect">
            <a:avLst/>
          </a:prstGeom>
          <a:noFill/>
        </p:spPr>
        <p:txBody>
          <a:bodyPr wrap="square" lIns="0" tIns="0" rIns="0" bIns="0" anchor="t">
            <a:spAutoFit/>
          </a:bodyPr>
          <a:lstStyle/>
          <a:p>
            <a:pPr algn="l">
              <a:lnSpc>
                <a:spcPts val="1121"/>
              </a:lnSpc>
            </a:pPr>
            <a:r>
              <a:rPr sz="800" b="1" i="0" spc="150">
                <a:solidFill>
                  <a:srgbClr val="D3AE84"/>
                </a:solidFill>
                <a:latin typeface="Calibri"/>
              </a:rPr>
              <a:t>HEADQUARTERS</a:t>
            </a:r>
          </a:p>
        </p:txBody>
      </p:sp>
      <p:sp>
        <p:nvSpPr>
          <p:cNvPr id="14" name="Shape 5"/>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Box 8"/>
          <p:cNvSpPr txBox="1"/>
          <p:nvPr/>
        </p:nvSpPr>
        <p:spPr>
          <a:xfrm>
            <a:off x="609600" y="4214812"/>
            <a:ext cx="1671638" cy="171450"/>
          </a:xfrm>
          <a:prstGeom prst="rect">
            <a:avLst/>
          </a:prstGeom>
          <a:noFill/>
        </p:spPr>
        <p:txBody>
          <a:bodyPr wrap="square" lIns="0" tIns="0" rIns="0" bIns="0" anchor="t">
            <a:spAutoFit/>
          </a:bodyPr>
          <a:lstStyle/>
          <a:p>
            <a:pPr algn="l">
              <a:lnSpc>
                <a:spcPts val="1552"/>
              </a:lnSpc>
            </a:pPr>
            <a:r>
              <a:rPr sz="1100" b="0" i="0" spc="225">
                <a:solidFill>
                  <a:srgbClr val="D3AE84"/>
                </a:solidFill>
                <a:latin typeface="Cambria"/>
              </a:rPr>
              <a:t>AMERICAS</a:t>
            </a:r>
          </a:p>
        </p:txBody>
      </p:sp>
      <p:sp>
        <p:nvSpPr>
          <p:cNvPr id="16" name="TextBox 9"/>
          <p:cNvSpPr txBox="1"/>
          <p:nvPr/>
        </p:nvSpPr>
        <p:spPr>
          <a:xfrm>
            <a:off x="609600" y="4414838"/>
            <a:ext cx="1671638" cy="442912"/>
          </a:xfrm>
          <a:prstGeom prst="rect">
            <a:avLst/>
          </a:prstGeom>
          <a:noFill/>
        </p:spPr>
        <p:txBody>
          <a:bodyPr wrap="square" lIns="0" tIns="0" rIns="0" bIns="0" anchor="t">
            <a:spAutoFit/>
          </a:bodyPr>
          <a:lstStyle/>
          <a:p>
            <a:pPr algn="l">
              <a:lnSpc>
                <a:spcPts val="1232"/>
              </a:lnSpc>
            </a:pPr>
            <a:r>
              <a:rPr sz="850" b="0" i="0" spc="15">
                <a:solidFill>
                  <a:srgbClr val="E8E2DA"/>
                </a:solidFill>
                <a:latin typeface="Calibri"/>
              </a:rPr>
              <a:t>4030 West Boy Scout Blvd.</a:t>
            </a:r>
            <a:br/>
            <a:r>
              <a:rPr sz="850" b="0" i="0" spc="15">
                <a:solidFill>
                  <a:srgbClr val="E8E2DA"/>
                </a:solidFill>
                <a:latin typeface="Calibri"/>
              </a:rPr>
              <a:t>Suite 500, Tampa, FL 33607</a:t>
            </a:r>
            <a:br/>
            <a:r>
              <a:rPr sz="850" b="0" i="0" spc="15">
                <a:solidFill>
                  <a:srgbClr val="E8E2DA"/>
                </a:solidFill>
                <a:latin typeface="Calibri"/>
              </a:rPr>
              <a:t>+1 813 898 2350</a:t>
            </a:r>
          </a:p>
        </p:txBody>
      </p:sp>
      <p:sp>
        <p:nvSpPr>
          <p:cNvPr id="17" name="Shape 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Box 10"/>
          <p:cNvSpPr txBox="1"/>
          <p:nvPr/>
        </p:nvSpPr>
        <p:spPr>
          <a:xfrm>
            <a:off x="609600" y="5076825"/>
            <a:ext cx="1671638" cy="171450"/>
          </a:xfrm>
          <a:prstGeom prst="rect">
            <a:avLst/>
          </a:prstGeom>
          <a:noFill/>
        </p:spPr>
        <p:txBody>
          <a:bodyPr wrap="square" lIns="0" tIns="0" rIns="0" bIns="0" anchor="t">
            <a:spAutoFit/>
          </a:bodyPr>
          <a:lstStyle/>
          <a:p>
            <a:pPr algn="l">
              <a:lnSpc>
                <a:spcPts val="1552"/>
              </a:lnSpc>
            </a:pPr>
            <a:r>
              <a:rPr sz="1100" b="0" i="0" spc="225">
                <a:solidFill>
                  <a:srgbClr val="D3AE84"/>
                </a:solidFill>
                <a:latin typeface="Cambria"/>
              </a:rPr>
              <a:t>EUROPE</a:t>
            </a:r>
          </a:p>
        </p:txBody>
      </p:sp>
      <p:sp>
        <p:nvSpPr>
          <p:cNvPr id="19" name="TextBox 11"/>
          <p:cNvSpPr txBox="1"/>
          <p:nvPr/>
        </p:nvSpPr>
        <p:spPr>
          <a:xfrm>
            <a:off x="609600" y="5276850"/>
            <a:ext cx="1671638" cy="442912"/>
          </a:xfrm>
          <a:prstGeom prst="rect">
            <a:avLst/>
          </a:prstGeom>
          <a:noFill/>
        </p:spPr>
        <p:txBody>
          <a:bodyPr wrap="square" lIns="0" tIns="0" rIns="0" bIns="0" anchor="t">
            <a:spAutoFit/>
          </a:bodyPr>
          <a:lstStyle/>
          <a:p>
            <a:pPr algn="l">
              <a:lnSpc>
                <a:spcPts val="1232"/>
              </a:lnSpc>
            </a:pPr>
            <a:r>
              <a:rPr sz="850" b="0" i="0" spc="15">
                <a:solidFill>
                  <a:srgbClr val="E8E2DA"/>
                </a:solidFill>
                <a:latin typeface="Calibri"/>
              </a:rPr>
              <a:t>One New Bailey, 4 Stanley Street</a:t>
            </a:r>
            <a:br/>
            <a:r>
              <a:rPr sz="850" b="0" i="0" spc="15">
                <a:solidFill>
                  <a:srgbClr val="E8E2DA"/>
                </a:solidFill>
                <a:latin typeface="Calibri"/>
              </a:rPr>
              <a:t>Manchester M3 5JL</a:t>
            </a:r>
            <a:br/>
            <a:r>
              <a:rPr sz="850" b="0" i="0" spc="15">
                <a:solidFill>
                  <a:srgbClr val="E8E2DA"/>
                </a:solidFill>
                <a:latin typeface="Calibri"/>
              </a:rPr>
              <a:t>+44 (0) 161 359 4400</a:t>
            </a:r>
          </a:p>
        </p:txBody>
      </p:sp>
      <p:sp>
        <p:nvSpPr>
          <p:cNvPr id="20" name="Shape 7"/>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Box 12"/>
          <p:cNvSpPr txBox="1"/>
          <p:nvPr/>
        </p:nvSpPr>
        <p:spPr>
          <a:xfrm>
            <a:off x="609600" y="5938838"/>
            <a:ext cx="1671638" cy="171450"/>
          </a:xfrm>
          <a:prstGeom prst="rect">
            <a:avLst/>
          </a:prstGeom>
          <a:noFill/>
        </p:spPr>
        <p:txBody>
          <a:bodyPr wrap="square" lIns="0" tIns="0" rIns="0" bIns="0" anchor="t">
            <a:spAutoFit/>
          </a:bodyPr>
          <a:lstStyle/>
          <a:p>
            <a:pPr algn="l">
              <a:lnSpc>
                <a:spcPts val="1552"/>
              </a:lnSpc>
            </a:pPr>
            <a:r>
              <a:rPr sz="1100" b="0" i="0" spc="225">
                <a:solidFill>
                  <a:srgbClr val="D3AE84"/>
                </a:solidFill>
                <a:latin typeface="Cambria"/>
              </a:rPr>
              <a:t>AFRICA</a:t>
            </a:r>
          </a:p>
        </p:txBody>
      </p:sp>
      <p:sp>
        <p:nvSpPr>
          <p:cNvPr id="22" name="TextBox 13"/>
          <p:cNvSpPr txBox="1"/>
          <p:nvPr/>
        </p:nvSpPr>
        <p:spPr>
          <a:xfrm>
            <a:off x="609600" y="6138862"/>
            <a:ext cx="1671638" cy="442912"/>
          </a:xfrm>
          <a:prstGeom prst="rect">
            <a:avLst/>
          </a:prstGeom>
          <a:noFill/>
        </p:spPr>
        <p:txBody>
          <a:bodyPr wrap="square" lIns="0" tIns="0" rIns="0" bIns="0" anchor="t">
            <a:spAutoFit/>
          </a:bodyPr>
          <a:lstStyle/>
          <a:p>
            <a:pPr algn="l">
              <a:lnSpc>
                <a:spcPts val="1232"/>
              </a:lnSpc>
            </a:pPr>
            <a:r>
              <a:rPr sz="850" b="0" i="0" spc="15">
                <a:solidFill>
                  <a:srgbClr val="E8E2DA"/>
                </a:solidFill>
                <a:latin typeface="Calibri"/>
              </a:rPr>
              <a:t>Airport Office Park, Freight Rd.</a:t>
            </a:r>
            <a:br/>
            <a:r>
              <a:rPr sz="850" b="0" i="0" spc="15">
                <a:solidFill>
                  <a:srgbClr val="E8E2DA"/>
                </a:solidFill>
                <a:latin typeface="Calibri"/>
              </a:rPr>
              <a:t>Cape Town Airport, 7525</a:t>
            </a:r>
            <a:br/>
            <a:r>
              <a:rPr sz="850" b="0" i="0" spc="15">
                <a:solidFill>
                  <a:srgbClr val="E8E2DA"/>
                </a:solidFill>
                <a:latin typeface="Calibri"/>
              </a:rPr>
              <a:t>+27 (0) 21 300 2055</a:t>
            </a:r>
          </a:p>
        </p:txBody>
      </p:sp>
      <p:sp>
        <p:nvSpPr>
          <p:cNvPr id="23" name="Shape 8"/>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Shape 9"/>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 descr="Portrait of Jordan Houtz, Managing Director and Head of Middle Market"/>
          <p:cNvPicPr>
            <a:picLocks noChangeAspect="1"/>
          </p:cNvPicPr>
          <p:nvPr/>
        </p:nvPicPr>
        <p:blipFill>
          <a:blip r:embed="rId3"/>
          <a:srcRect/>
          <a:stretch>
            <a:fillRect/>
          </a:stretch>
        </p:blipFill>
        <p:spPr>
          <a:xfrm>
            <a:off x="2883694" y="1438275"/>
            <a:ext cx="1143000" cy="1143000"/>
          </a:xfrm>
          <a:prstGeom prst="ellipse">
            <a:avLst/>
          </a:prstGeom>
        </p:spPr>
      </p:pic>
      <p:sp>
        <p:nvSpPr>
          <p:cNvPr id="28" name="Shape 10"/>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Shape 11"/>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3" descr="Portrait of Jared Hardin, Managing Director"/>
          <p:cNvPicPr>
            <a:picLocks noChangeAspect="1"/>
          </p:cNvPicPr>
          <p:nvPr/>
        </p:nvPicPr>
        <p:blipFill>
          <a:blip r:embed="rId4"/>
          <a:srcRect/>
          <a:stretch>
            <a:fillRect/>
          </a:stretch>
        </p:blipFill>
        <p:spPr>
          <a:xfrm>
            <a:off x="4669631" y="1438275"/>
            <a:ext cx="1143000" cy="1143000"/>
          </a:xfrm>
          <a:prstGeom prst="ellipse">
            <a:avLst/>
          </a:prstGeom>
        </p:spPr>
      </p:pic>
      <p:sp>
        <p:nvSpPr>
          <p:cNvPr id="34" name="Shape 12"/>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Shape 13"/>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4" descr="Portrait of Alex Zykov, Transaction Director"/>
          <p:cNvPicPr>
            <a:picLocks noChangeAspect="1"/>
          </p:cNvPicPr>
          <p:nvPr/>
        </p:nvPicPr>
        <p:blipFill>
          <a:blip r:embed="rId5"/>
          <a:srcRect/>
          <a:stretch>
            <a:fillRect/>
          </a:stretch>
        </p:blipFill>
        <p:spPr>
          <a:xfrm>
            <a:off x="6455569" y="1438275"/>
            <a:ext cx="1143000" cy="1143000"/>
          </a:xfrm>
          <a:prstGeom prst="ellipse">
            <a:avLst/>
          </a:prstGeom>
        </p:spPr>
      </p:pic>
      <p:sp>
        <p:nvSpPr>
          <p:cNvPr id="39" name="Shape 14"/>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Shape 15"/>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5" descr="Portrait of Shannon Hess, Client Engagement Director"/>
          <p:cNvPicPr>
            <a:picLocks noChangeAspect="1"/>
          </p:cNvPicPr>
          <p:nvPr/>
        </p:nvPicPr>
        <p:blipFill>
          <a:blip r:embed="rId6"/>
          <a:srcRect/>
          <a:stretch>
            <a:fillRect/>
          </a:stretch>
        </p:blipFill>
        <p:spPr>
          <a:xfrm>
            <a:off x="8241506" y="1438275"/>
            <a:ext cx="1143000" cy="1143000"/>
          </a:xfrm>
          <a:prstGeom prst="ellipse">
            <a:avLst/>
          </a:prstGeom>
        </p:spPr>
      </p:pic>
      <p:sp>
        <p:nvSpPr>
          <p:cNvPr id="44" name="Shape 16"/>
          <p:cNvSpPr/>
          <p:nvPr/>
        </p:nvSpPr>
        <p:spPr>
          <a:xfrm>
            <a:off x="2628900" y="4023360"/>
            <a:ext cx="2247900" cy="740664"/>
          </a:xfrm>
          <a:prstGeom prst="rect">
            <a:avLst/>
          </a:prstGeom>
          <a:solidFill>
            <a:srgbClr val="FFFFFF"/>
          </a:solidFill>
          <a:ln>
            <a:noFill/>
          </a:ln>
          <a:effectLst/>
        </p:spPr>
        <p:txBody>
          <a:bodyPr rtlCol="0" anchor="ctr"/>
          <a:lstStyle/>
          <a:p>
            <a:pPr algn="ctr"/>
            <a:endParaRPr/>
          </a:p>
        </p:txBody>
      </p:sp>
      <p:sp>
        <p:nvSpPr>
          <p:cNvPr id="45" name="Shape 17"/>
          <p:cNvSpPr/>
          <p:nvPr/>
        </p:nvSpPr>
        <p:spPr>
          <a:xfrm>
            <a:off x="2628900" y="4023360"/>
            <a:ext cx="2247900" cy="9525"/>
          </a:xfrm>
          <a:prstGeom prst="rect">
            <a:avLst/>
          </a:prstGeom>
          <a:solidFill>
            <a:srgbClr val="E3DCD3"/>
          </a:solidFill>
          <a:ln>
            <a:noFill/>
          </a:ln>
          <a:effectLst/>
        </p:spPr>
        <p:txBody>
          <a:bodyPr rtlCol="0" anchor="ctr"/>
          <a:lstStyle/>
          <a:p>
            <a:pPr algn="ctr"/>
            <a:endParaRPr/>
          </a:p>
        </p:txBody>
      </p:sp>
      <p:sp>
        <p:nvSpPr>
          <p:cNvPr id="46" name="Shape 18"/>
          <p:cNvSpPr/>
          <p:nvPr/>
        </p:nvSpPr>
        <p:spPr>
          <a:xfrm>
            <a:off x="4867275" y="4023360"/>
            <a:ext cx="9525" cy="740664"/>
          </a:xfrm>
          <a:prstGeom prst="rect">
            <a:avLst/>
          </a:prstGeom>
          <a:solidFill>
            <a:srgbClr val="E3DCD3"/>
          </a:solidFill>
          <a:ln>
            <a:noFill/>
          </a:ln>
          <a:effectLst/>
        </p:spPr>
        <p:txBody>
          <a:bodyPr rtlCol="0" anchor="ctr"/>
          <a:lstStyle/>
          <a:p>
            <a:pPr algn="ctr"/>
            <a:endParaRPr/>
          </a:p>
        </p:txBody>
      </p:sp>
      <p:sp>
        <p:nvSpPr>
          <p:cNvPr id="47" name="Shape 19"/>
          <p:cNvSpPr/>
          <p:nvPr/>
        </p:nvSpPr>
        <p:spPr>
          <a:xfrm>
            <a:off x="2628900" y="4764024"/>
            <a:ext cx="2247900" cy="9525"/>
          </a:xfrm>
          <a:prstGeom prst="rect">
            <a:avLst/>
          </a:prstGeom>
          <a:solidFill>
            <a:srgbClr val="E3DCD3"/>
          </a:solidFill>
          <a:ln>
            <a:noFill/>
          </a:ln>
          <a:effectLst/>
        </p:spPr>
        <p:txBody>
          <a:bodyPr rtlCol="0" anchor="ctr"/>
          <a:lstStyle/>
          <a:p>
            <a:pPr algn="ctr"/>
            <a:endParaRPr/>
          </a:p>
        </p:txBody>
      </p:sp>
      <p:sp>
        <p:nvSpPr>
          <p:cNvPr id="48" name="Shape 20"/>
          <p:cNvSpPr/>
          <p:nvPr/>
        </p:nvSpPr>
        <p:spPr>
          <a:xfrm>
            <a:off x="2628900" y="4023360"/>
            <a:ext cx="9525" cy="740664"/>
          </a:xfrm>
          <a:prstGeom prst="rect">
            <a:avLst/>
          </a:prstGeom>
          <a:solidFill>
            <a:srgbClr val="E3DCD3"/>
          </a:solidFill>
          <a:ln>
            <a:noFill/>
          </a:ln>
          <a:effectLst/>
        </p:spPr>
        <p:txBody>
          <a:bodyPr rtlCol="0" anchor="ctr"/>
          <a:lstStyle/>
          <a:p>
            <a:pPr algn="ctr"/>
            <a:endParaRPr/>
          </a:p>
        </p:txBody>
      </p:sp>
      <p:pic>
        <p:nvPicPr>
          <p:cNvPr id="49" name="Picture 6" descr="Portrait of Sunny Garten, Senior Deal Associate"/>
          <p:cNvPicPr>
            <a:picLocks noChangeAspect="1"/>
          </p:cNvPicPr>
          <p:nvPr/>
        </p:nvPicPr>
        <p:blipFill>
          <a:blip r:embed="rId7"/>
          <a:srcRect/>
          <a:stretch>
            <a:fillRect/>
          </a:stretch>
        </p:blipFill>
        <p:spPr>
          <a:xfrm>
            <a:off x="2752725" y="4178808"/>
            <a:ext cx="514350" cy="514350"/>
          </a:xfrm>
          <a:prstGeom prst="ellipse">
            <a:avLst/>
          </a:prstGeom>
        </p:spPr>
      </p:pic>
      <p:sp>
        <p:nvSpPr>
          <p:cNvPr id="52" name="Shape 21"/>
          <p:cNvSpPr/>
          <p:nvPr/>
        </p:nvSpPr>
        <p:spPr>
          <a:xfrm>
            <a:off x="5010150" y="4023360"/>
            <a:ext cx="2247900" cy="740664"/>
          </a:xfrm>
          <a:prstGeom prst="rect">
            <a:avLst/>
          </a:prstGeom>
          <a:solidFill>
            <a:srgbClr val="FFFFFF"/>
          </a:solidFill>
          <a:ln>
            <a:noFill/>
          </a:ln>
          <a:effectLst/>
        </p:spPr>
        <p:txBody>
          <a:bodyPr rtlCol="0" anchor="ctr"/>
          <a:lstStyle/>
          <a:p>
            <a:pPr algn="ctr"/>
            <a:endParaRPr/>
          </a:p>
        </p:txBody>
      </p:sp>
      <p:sp>
        <p:nvSpPr>
          <p:cNvPr id="53" name="Shape 22"/>
          <p:cNvSpPr/>
          <p:nvPr/>
        </p:nvSpPr>
        <p:spPr>
          <a:xfrm>
            <a:off x="5010150" y="4023360"/>
            <a:ext cx="2247900" cy="9525"/>
          </a:xfrm>
          <a:prstGeom prst="rect">
            <a:avLst/>
          </a:prstGeom>
          <a:solidFill>
            <a:srgbClr val="E3DCD3"/>
          </a:solidFill>
          <a:ln>
            <a:noFill/>
          </a:ln>
          <a:effectLst/>
        </p:spPr>
        <p:txBody>
          <a:bodyPr rtlCol="0" anchor="ctr"/>
          <a:lstStyle/>
          <a:p>
            <a:pPr algn="ctr"/>
            <a:endParaRPr/>
          </a:p>
        </p:txBody>
      </p:sp>
      <p:sp>
        <p:nvSpPr>
          <p:cNvPr id="54" name="Shape 23"/>
          <p:cNvSpPr/>
          <p:nvPr/>
        </p:nvSpPr>
        <p:spPr>
          <a:xfrm>
            <a:off x="7248525" y="4023360"/>
            <a:ext cx="9525" cy="740664"/>
          </a:xfrm>
          <a:prstGeom prst="rect">
            <a:avLst/>
          </a:prstGeom>
          <a:solidFill>
            <a:srgbClr val="E3DCD3"/>
          </a:solidFill>
          <a:ln>
            <a:noFill/>
          </a:ln>
          <a:effectLst/>
        </p:spPr>
        <p:txBody>
          <a:bodyPr rtlCol="0" anchor="ctr"/>
          <a:lstStyle/>
          <a:p>
            <a:pPr algn="ctr"/>
            <a:endParaRPr/>
          </a:p>
        </p:txBody>
      </p:sp>
      <p:sp>
        <p:nvSpPr>
          <p:cNvPr id="55" name="Shape 24"/>
          <p:cNvSpPr/>
          <p:nvPr/>
        </p:nvSpPr>
        <p:spPr>
          <a:xfrm>
            <a:off x="5010150" y="4764024"/>
            <a:ext cx="2247900" cy="9525"/>
          </a:xfrm>
          <a:prstGeom prst="rect">
            <a:avLst/>
          </a:prstGeom>
          <a:solidFill>
            <a:srgbClr val="E3DCD3"/>
          </a:solidFill>
          <a:ln>
            <a:noFill/>
          </a:ln>
          <a:effectLst/>
        </p:spPr>
        <p:txBody>
          <a:bodyPr rtlCol="0" anchor="ctr"/>
          <a:lstStyle/>
          <a:p>
            <a:pPr algn="ctr"/>
            <a:endParaRPr/>
          </a:p>
        </p:txBody>
      </p:sp>
      <p:sp>
        <p:nvSpPr>
          <p:cNvPr id="56" name="Shape 25"/>
          <p:cNvSpPr/>
          <p:nvPr/>
        </p:nvSpPr>
        <p:spPr>
          <a:xfrm>
            <a:off x="5010150" y="4023360"/>
            <a:ext cx="9525" cy="740664"/>
          </a:xfrm>
          <a:prstGeom prst="rect">
            <a:avLst/>
          </a:prstGeom>
          <a:solidFill>
            <a:srgbClr val="E3DCD3"/>
          </a:solidFill>
          <a:ln>
            <a:noFill/>
          </a:ln>
          <a:effectLst/>
        </p:spPr>
        <p:txBody>
          <a:bodyPr rtlCol="0" anchor="ctr"/>
          <a:lstStyle/>
          <a:p>
            <a:pPr algn="ctr"/>
            <a:endParaRPr/>
          </a:p>
        </p:txBody>
      </p:sp>
      <p:pic>
        <p:nvPicPr>
          <p:cNvPr id="57" name="Picture 7" descr="Portrait of Michael Wynn, Senior Deal Associate"/>
          <p:cNvPicPr>
            <a:picLocks noChangeAspect="1"/>
          </p:cNvPicPr>
          <p:nvPr/>
        </p:nvPicPr>
        <p:blipFill>
          <a:blip r:embed="rId8"/>
          <a:srcRect/>
          <a:stretch>
            <a:fillRect/>
          </a:stretch>
        </p:blipFill>
        <p:spPr>
          <a:xfrm>
            <a:off x="5133975" y="4178808"/>
            <a:ext cx="514350" cy="514350"/>
          </a:xfrm>
          <a:prstGeom prst="ellipse">
            <a:avLst/>
          </a:prstGeom>
        </p:spPr>
      </p:pic>
      <p:sp>
        <p:nvSpPr>
          <p:cNvPr id="60" name="Shape 26"/>
          <p:cNvSpPr/>
          <p:nvPr/>
        </p:nvSpPr>
        <p:spPr>
          <a:xfrm>
            <a:off x="7391400" y="4023360"/>
            <a:ext cx="2247900" cy="740664"/>
          </a:xfrm>
          <a:prstGeom prst="rect">
            <a:avLst/>
          </a:prstGeom>
          <a:solidFill>
            <a:srgbClr val="FFFFFF"/>
          </a:solidFill>
          <a:ln>
            <a:noFill/>
          </a:ln>
          <a:effectLst/>
        </p:spPr>
        <p:txBody>
          <a:bodyPr rtlCol="0" anchor="ctr"/>
          <a:lstStyle/>
          <a:p>
            <a:pPr algn="ctr"/>
            <a:endParaRPr/>
          </a:p>
        </p:txBody>
      </p:sp>
      <p:sp>
        <p:nvSpPr>
          <p:cNvPr id="61" name="Shape 27"/>
          <p:cNvSpPr/>
          <p:nvPr/>
        </p:nvSpPr>
        <p:spPr>
          <a:xfrm>
            <a:off x="7391400" y="4023360"/>
            <a:ext cx="2247900" cy="9525"/>
          </a:xfrm>
          <a:prstGeom prst="rect">
            <a:avLst/>
          </a:prstGeom>
          <a:solidFill>
            <a:srgbClr val="E3DCD3"/>
          </a:solidFill>
          <a:ln>
            <a:noFill/>
          </a:ln>
          <a:effectLst/>
        </p:spPr>
        <p:txBody>
          <a:bodyPr rtlCol="0" anchor="ctr"/>
          <a:lstStyle/>
          <a:p>
            <a:pPr algn="ctr"/>
            <a:endParaRPr/>
          </a:p>
        </p:txBody>
      </p:sp>
      <p:sp>
        <p:nvSpPr>
          <p:cNvPr id="62" name="Shape 28"/>
          <p:cNvSpPr/>
          <p:nvPr/>
        </p:nvSpPr>
        <p:spPr>
          <a:xfrm>
            <a:off x="9629775" y="4023360"/>
            <a:ext cx="9525" cy="740664"/>
          </a:xfrm>
          <a:prstGeom prst="rect">
            <a:avLst/>
          </a:prstGeom>
          <a:solidFill>
            <a:srgbClr val="E3DCD3"/>
          </a:solidFill>
          <a:ln>
            <a:noFill/>
          </a:ln>
          <a:effectLst/>
        </p:spPr>
        <p:txBody>
          <a:bodyPr rtlCol="0" anchor="ctr"/>
          <a:lstStyle/>
          <a:p>
            <a:pPr algn="ctr"/>
            <a:endParaRPr/>
          </a:p>
        </p:txBody>
      </p:sp>
      <p:sp>
        <p:nvSpPr>
          <p:cNvPr id="63" name="Shape 29"/>
          <p:cNvSpPr/>
          <p:nvPr/>
        </p:nvSpPr>
        <p:spPr>
          <a:xfrm>
            <a:off x="7391400" y="4764024"/>
            <a:ext cx="2247900" cy="9525"/>
          </a:xfrm>
          <a:prstGeom prst="rect">
            <a:avLst/>
          </a:prstGeom>
          <a:solidFill>
            <a:srgbClr val="E3DCD3"/>
          </a:solidFill>
          <a:ln>
            <a:noFill/>
          </a:ln>
          <a:effectLst/>
        </p:spPr>
        <p:txBody>
          <a:bodyPr rtlCol="0" anchor="ctr"/>
          <a:lstStyle/>
          <a:p>
            <a:pPr algn="ctr"/>
            <a:endParaRPr/>
          </a:p>
        </p:txBody>
      </p:sp>
      <p:sp>
        <p:nvSpPr>
          <p:cNvPr id="64" name="Shape 30"/>
          <p:cNvSpPr/>
          <p:nvPr/>
        </p:nvSpPr>
        <p:spPr>
          <a:xfrm>
            <a:off x="7391400" y="4023360"/>
            <a:ext cx="9525" cy="740664"/>
          </a:xfrm>
          <a:prstGeom prst="rect">
            <a:avLst/>
          </a:prstGeom>
          <a:solidFill>
            <a:srgbClr val="E3DCD3"/>
          </a:solidFill>
          <a:ln>
            <a:noFill/>
          </a:ln>
          <a:effectLst/>
        </p:spPr>
        <p:txBody>
          <a:bodyPr rtlCol="0" anchor="ctr"/>
          <a:lstStyle/>
          <a:p>
            <a:pPr algn="ctr"/>
            <a:endParaRPr/>
          </a:p>
        </p:txBody>
      </p:sp>
      <p:pic>
        <p:nvPicPr>
          <p:cNvPr id="65" name="Picture 8" descr="Portrait of Jason Lisiak, Research Associate"/>
          <p:cNvPicPr>
            <a:picLocks noChangeAspect="1"/>
          </p:cNvPicPr>
          <p:nvPr/>
        </p:nvPicPr>
        <p:blipFill>
          <a:blip r:embed="rId9"/>
          <a:srcRect/>
          <a:stretch>
            <a:fillRect/>
          </a:stretch>
        </p:blipFill>
        <p:spPr>
          <a:xfrm>
            <a:off x="7515225" y="4178808"/>
            <a:ext cx="514350" cy="514350"/>
          </a:xfrm>
          <a:prstGeom prst="ellipse">
            <a:avLst/>
          </a:prstGeom>
        </p:spPr>
      </p:pic>
      <p:sp>
        <p:nvSpPr>
          <p:cNvPr id="68" name="Shape 31"/>
          <p:cNvSpPr/>
          <p:nvPr/>
        </p:nvSpPr>
        <p:spPr>
          <a:xfrm>
            <a:off x="2628900" y="4873752"/>
            <a:ext cx="2247900" cy="740664"/>
          </a:xfrm>
          <a:prstGeom prst="rect">
            <a:avLst/>
          </a:prstGeom>
          <a:solidFill>
            <a:srgbClr val="FFFFFF"/>
          </a:solidFill>
          <a:ln>
            <a:noFill/>
          </a:ln>
          <a:effectLst/>
        </p:spPr>
        <p:txBody>
          <a:bodyPr rtlCol="0" anchor="ctr"/>
          <a:lstStyle/>
          <a:p>
            <a:pPr algn="ctr"/>
            <a:endParaRPr/>
          </a:p>
        </p:txBody>
      </p:sp>
      <p:sp>
        <p:nvSpPr>
          <p:cNvPr id="69" name="Shape 32"/>
          <p:cNvSpPr/>
          <p:nvPr/>
        </p:nvSpPr>
        <p:spPr>
          <a:xfrm>
            <a:off x="2628900" y="4873752"/>
            <a:ext cx="2247900" cy="9525"/>
          </a:xfrm>
          <a:prstGeom prst="rect">
            <a:avLst/>
          </a:prstGeom>
          <a:solidFill>
            <a:srgbClr val="E3DCD3"/>
          </a:solidFill>
          <a:ln>
            <a:noFill/>
          </a:ln>
          <a:effectLst/>
        </p:spPr>
        <p:txBody>
          <a:bodyPr rtlCol="0" anchor="ctr"/>
          <a:lstStyle/>
          <a:p>
            <a:pPr algn="ctr"/>
            <a:endParaRPr/>
          </a:p>
        </p:txBody>
      </p:sp>
      <p:sp>
        <p:nvSpPr>
          <p:cNvPr id="70" name="Shape 33"/>
          <p:cNvSpPr/>
          <p:nvPr/>
        </p:nvSpPr>
        <p:spPr>
          <a:xfrm>
            <a:off x="4867275" y="4873752"/>
            <a:ext cx="9525" cy="740664"/>
          </a:xfrm>
          <a:prstGeom prst="rect">
            <a:avLst/>
          </a:prstGeom>
          <a:solidFill>
            <a:srgbClr val="E3DCD3"/>
          </a:solidFill>
          <a:ln>
            <a:noFill/>
          </a:ln>
          <a:effectLst/>
        </p:spPr>
        <p:txBody>
          <a:bodyPr rtlCol="0" anchor="ctr"/>
          <a:lstStyle/>
          <a:p>
            <a:pPr algn="ctr"/>
            <a:endParaRPr/>
          </a:p>
        </p:txBody>
      </p:sp>
      <p:sp>
        <p:nvSpPr>
          <p:cNvPr id="71" name="Shape 34"/>
          <p:cNvSpPr/>
          <p:nvPr/>
        </p:nvSpPr>
        <p:spPr>
          <a:xfrm>
            <a:off x="2628900" y="5614416"/>
            <a:ext cx="2247900" cy="9525"/>
          </a:xfrm>
          <a:prstGeom prst="rect">
            <a:avLst/>
          </a:prstGeom>
          <a:solidFill>
            <a:srgbClr val="E3DCD3"/>
          </a:solidFill>
          <a:ln>
            <a:noFill/>
          </a:ln>
          <a:effectLst/>
        </p:spPr>
        <p:txBody>
          <a:bodyPr rtlCol="0" anchor="ctr"/>
          <a:lstStyle/>
          <a:p>
            <a:pPr algn="ctr"/>
            <a:endParaRPr/>
          </a:p>
        </p:txBody>
      </p:sp>
      <p:sp>
        <p:nvSpPr>
          <p:cNvPr id="72" name="Shape 35"/>
          <p:cNvSpPr/>
          <p:nvPr/>
        </p:nvSpPr>
        <p:spPr>
          <a:xfrm>
            <a:off x="2628900" y="4873752"/>
            <a:ext cx="9525" cy="740664"/>
          </a:xfrm>
          <a:prstGeom prst="rect">
            <a:avLst/>
          </a:prstGeom>
          <a:solidFill>
            <a:srgbClr val="E3DCD3"/>
          </a:solidFill>
          <a:ln>
            <a:noFill/>
          </a:ln>
          <a:effectLst/>
        </p:spPr>
        <p:txBody>
          <a:bodyPr rtlCol="0" anchor="ctr"/>
          <a:lstStyle/>
          <a:p>
            <a:pPr algn="ctr"/>
            <a:endParaRPr/>
          </a:p>
        </p:txBody>
      </p:sp>
      <p:pic>
        <p:nvPicPr>
          <p:cNvPr id="73" name="Picture 9" descr="Portrait of Alexandra Barr, Transaction Support Associate"/>
          <p:cNvPicPr>
            <a:picLocks noChangeAspect="1"/>
          </p:cNvPicPr>
          <p:nvPr/>
        </p:nvPicPr>
        <p:blipFill>
          <a:blip r:embed="rId10"/>
          <a:srcRect/>
          <a:stretch>
            <a:fillRect/>
          </a:stretch>
        </p:blipFill>
        <p:spPr>
          <a:xfrm>
            <a:off x="2752725" y="5029200"/>
            <a:ext cx="514350" cy="514350"/>
          </a:xfrm>
          <a:prstGeom prst="ellipse">
            <a:avLst/>
          </a:prstGeom>
        </p:spPr>
      </p:pic>
      <p:sp>
        <p:nvSpPr>
          <p:cNvPr id="76" name="Shape 36"/>
          <p:cNvSpPr/>
          <p:nvPr/>
        </p:nvSpPr>
        <p:spPr>
          <a:xfrm>
            <a:off x="5010150" y="4873752"/>
            <a:ext cx="2247900" cy="740664"/>
          </a:xfrm>
          <a:prstGeom prst="rect">
            <a:avLst/>
          </a:prstGeom>
          <a:solidFill>
            <a:srgbClr val="FFFFFF"/>
          </a:solidFill>
          <a:ln>
            <a:noFill/>
          </a:ln>
          <a:effectLst/>
        </p:spPr>
        <p:txBody>
          <a:bodyPr rtlCol="0" anchor="ctr"/>
          <a:lstStyle/>
          <a:p>
            <a:pPr algn="ctr"/>
            <a:endParaRPr/>
          </a:p>
        </p:txBody>
      </p:sp>
      <p:sp>
        <p:nvSpPr>
          <p:cNvPr id="77" name="Shape 37"/>
          <p:cNvSpPr/>
          <p:nvPr/>
        </p:nvSpPr>
        <p:spPr>
          <a:xfrm>
            <a:off x="5010150" y="4873752"/>
            <a:ext cx="2247900" cy="9525"/>
          </a:xfrm>
          <a:prstGeom prst="rect">
            <a:avLst/>
          </a:prstGeom>
          <a:solidFill>
            <a:srgbClr val="E3DCD3"/>
          </a:solidFill>
          <a:ln>
            <a:noFill/>
          </a:ln>
          <a:effectLst/>
        </p:spPr>
        <p:txBody>
          <a:bodyPr rtlCol="0" anchor="ctr"/>
          <a:lstStyle/>
          <a:p>
            <a:pPr algn="ctr"/>
            <a:endParaRPr/>
          </a:p>
        </p:txBody>
      </p:sp>
      <p:sp>
        <p:nvSpPr>
          <p:cNvPr id="78" name="Shape 38"/>
          <p:cNvSpPr/>
          <p:nvPr/>
        </p:nvSpPr>
        <p:spPr>
          <a:xfrm>
            <a:off x="7248525" y="4873752"/>
            <a:ext cx="9525" cy="740664"/>
          </a:xfrm>
          <a:prstGeom prst="rect">
            <a:avLst/>
          </a:prstGeom>
          <a:solidFill>
            <a:srgbClr val="E3DCD3"/>
          </a:solidFill>
          <a:ln>
            <a:noFill/>
          </a:ln>
          <a:effectLst/>
        </p:spPr>
        <p:txBody>
          <a:bodyPr rtlCol="0" anchor="ctr"/>
          <a:lstStyle/>
          <a:p>
            <a:pPr algn="ctr"/>
            <a:endParaRPr/>
          </a:p>
        </p:txBody>
      </p:sp>
      <p:sp>
        <p:nvSpPr>
          <p:cNvPr id="79" name="Shape 39"/>
          <p:cNvSpPr/>
          <p:nvPr/>
        </p:nvSpPr>
        <p:spPr>
          <a:xfrm>
            <a:off x="5010150" y="5614416"/>
            <a:ext cx="2247900" cy="9525"/>
          </a:xfrm>
          <a:prstGeom prst="rect">
            <a:avLst/>
          </a:prstGeom>
          <a:solidFill>
            <a:srgbClr val="E3DCD3"/>
          </a:solidFill>
          <a:ln>
            <a:noFill/>
          </a:ln>
          <a:effectLst/>
        </p:spPr>
        <p:txBody>
          <a:bodyPr rtlCol="0" anchor="ctr"/>
          <a:lstStyle/>
          <a:p>
            <a:pPr algn="ctr"/>
            <a:endParaRPr/>
          </a:p>
        </p:txBody>
      </p:sp>
      <p:sp>
        <p:nvSpPr>
          <p:cNvPr id="80" name="Shape 40"/>
          <p:cNvSpPr/>
          <p:nvPr/>
        </p:nvSpPr>
        <p:spPr>
          <a:xfrm>
            <a:off x="5010150" y="4873752"/>
            <a:ext cx="9525" cy="740664"/>
          </a:xfrm>
          <a:prstGeom prst="rect">
            <a:avLst/>
          </a:prstGeom>
          <a:solidFill>
            <a:srgbClr val="E3DCD3"/>
          </a:solidFill>
          <a:ln>
            <a:noFill/>
          </a:ln>
          <a:effectLst/>
        </p:spPr>
        <p:txBody>
          <a:bodyPr rtlCol="0" anchor="ctr"/>
          <a:lstStyle/>
          <a:p>
            <a:pPr algn="ctr"/>
            <a:endParaRPr/>
          </a:p>
        </p:txBody>
      </p:sp>
      <p:pic>
        <p:nvPicPr>
          <p:cNvPr id="81" name="Picture 10" descr="Portrait of Josiah Warren, Transaction Support Associate"/>
          <p:cNvPicPr>
            <a:picLocks noChangeAspect="1"/>
          </p:cNvPicPr>
          <p:nvPr/>
        </p:nvPicPr>
        <p:blipFill>
          <a:blip r:embed="rId11"/>
          <a:srcRect/>
          <a:stretch>
            <a:fillRect/>
          </a:stretch>
        </p:blipFill>
        <p:spPr>
          <a:xfrm>
            <a:off x="5133975" y="5029200"/>
            <a:ext cx="514350" cy="514350"/>
          </a:xfrm>
          <a:prstGeom prst="ellipse">
            <a:avLst/>
          </a:prstGeom>
        </p:spPr>
      </p:pic>
      <p:sp>
        <p:nvSpPr>
          <p:cNvPr id="84" name="Shape 41"/>
          <p:cNvSpPr/>
          <p:nvPr/>
        </p:nvSpPr>
        <p:spPr>
          <a:xfrm>
            <a:off x="7391400" y="4873752"/>
            <a:ext cx="2247900" cy="740664"/>
          </a:xfrm>
          <a:prstGeom prst="rect">
            <a:avLst/>
          </a:prstGeom>
          <a:solidFill>
            <a:srgbClr val="FFFFFF"/>
          </a:solidFill>
          <a:ln>
            <a:noFill/>
          </a:ln>
          <a:effectLst/>
        </p:spPr>
        <p:txBody>
          <a:bodyPr rtlCol="0" anchor="ctr"/>
          <a:lstStyle/>
          <a:p>
            <a:pPr algn="ctr"/>
            <a:endParaRPr/>
          </a:p>
        </p:txBody>
      </p:sp>
      <p:sp>
        <p:nvSpPr>
          <p:cNvPr id="85" name="Shape 42"/>
          <p:cNvSpPr/>
          <p:nvPr/>
        </p:nvSpPr>
        <p:spPr>
          <a:xfrm>
            <a:off x="7391400" y="4873752"/>
            <a:ext cx="2247900" cy="9525"/>
          </a:xfrm>
          <a:prstGeom prst="rect">
            <a:avLst/>
          </a:prstGeom>
          <a:solidFill>
            <a:srgbClr val="E3DCD3"/>
          </a:solidFill>
          <a:ln>
            <a:noFill/>
          </a:ln>
          <a:effectLst/>
        </p:spPr>
        <p:txBody>
          <a:bodyPr rtlCol="0" anchor="ctr"/>
          <a:lstStyle/>
          <a:p>
            <a:pPr algn="ctr"/>
            <a:endParaRPr/>
          </a:p>
        </p:txBody>
      </p:sp>
      <p:sp>
        <p:nvSpPr>
          <p:cNvPr id="86" name="Shape 43"/>
          <p:cNvSpPr/>
          <p:nvPr/>
        </p:nvSpPr>
        <p:spPr>
          <a:xfrm>
            <a:off x="9629775" y="4873752"/>
            <a:ext cx="9525" cy="740664"/>
          </a:xfrm>
          <a:prstGeom prst="rect">
            <a:avLst/>
          </a:prstGeom>
          <a:solidFill>
            <a:srgbClr val="E3DCD3"/>
          </a:solidFill>
          <a:ln>
            <a:noFill/>
          </a:ln>
          <a:effectLst/>
        </p:spPr>
        <p:txBody>
          <a:bodyPr rtlCol="0" anchor="ctr"/>
          <a:lstStyle/>
          <a:p>
            <a:pPr algn="ctr"/>
            <a:endParaRPr/>
          </a:p>
        </p:txBody>
      </p:sp>
      <p:sp>
        <p:nvSpPr>
          <p:cNvPr id="87" name="Shape 44"/>
          <p:cNvSpPr/>
          <p:nvPr/>
        </p:nvSpPr>
        <p:spPr>
          <a:xfrm>
            <a:off x="7391400" y="5614416"/>
            <a:ext cx="2247900" cy="9525"/>
          </a:xfrm>
          <a:prstGeom prst="rect">
            <a:avLst/>
          </a:prstGeom>
          <a:solidFill>
            <a:srgbClr val="E3DCD3"/>
          </a:solidFill>
          <a:ln>
            <a:noFill/>
          </a:ln>
          <a:effectLst/>
        </p:spPr>
        <p:txBody>
          <a:bodyPr rtlCol="0" anchor="ctr"/>
          <a:lstStyle/>
          <a:p>
            <a:pPr algn="ctr"/>
            <a:endParaRPr/>
          </a:p>
        </p:txBody>
      </p:sp>
      <p:sp>
        <p:nvSpPr>
          <p:cNvPr id="88" name="Shape 45"/>
          <p:cNvSpPr/>
          <p:nvPr/>
        </p:nvSpPr>
        <p:spPr>
          <a:xfrm>
            <a:off x="7391400" y="4873752"/>
            <a:ext cx="9525" cy="740664"/>
          </a:xfrm>
          <a:prstGeom prst="rect">
            <a:avLst/>
          </a:prstGeom>
          <a:solidFill>
            <a:srgbClr val="E3DCD3"/>
          </a:solidFill>
          <a:ln>
            <a:noFill/>
          </a:ln>
          <a:effectLst/>
        </p:spPr>
        <p:txBody>
          <a:bodyPr rtlCol="0" anchor="ctr"/>
          <a:lstStyle/>
          <a:p>
            <a:pPr algn="ctr"/>
            <a:endParaRPr/>
          </a:p>
        </p:txBody>
      </p:sp>
      <p:pic>
        <p:nvPicPr>
          <p:cNvPr id="89" name="Picture 11" descr="Portrait of Luke Ernst, Deal Analyst"/>
          <p:cNvPicPr>
            <a:picLocks noChangeAspect="1"/>
          </p:cNvPicPr>
          <p:nvPr/>
        </p:nvPicPr>
        <p:blipFill>
          <a:blip r:embed="rId12"/>
          <a:srcRect/>
          <a:stretch>
            <a:fillRect/>
          </a:stretch>
        </p:blipFill>
        <p:spPr>
          <a:xfrm>
            <a:off x="7515225" y="5029200"/>
            <a:ext cx="514350" cy="514350"/>
          </a:xfrm>
          <a:prstGeom prst="ellipse">
            <a:avLst/>
          </a:prstGeom>
        </p:spPr>
      </p:pic>
      <p:sp>
        <p:nvSpPr>
          <p:cNvPr id="92" name="Shape 46"/>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Box 35"/>
          <p:cNvSpPr txBox="1"/>
          <p:nvPr/>
        </p:nvSpPr>
        <p:spPr>
          <a:xfrm>
            <a:off x="2628900" y="6267450"/>
            <a:ext cx="7024688"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HEALTHCARE COVERAGE</a:t>
            </a:r>
          </a:p>
        </p:txBody>
      </p:sp>
      <p:pic>
        <p:nvPicPr>
          <p:cNvPr id="94" name="Picture 12" descr="Icon of a building with a medical cross for Provider Services"/>
          <p:cNvPicPr>
            <a:picLocks noChangeAspect="1"/>
          </p:cNvPicPr>
          <p:nvPr/>
        </p:nvPicPr>
        <p:blipFill>
          <a:blip r:embed="rId13"/>
          <a:stretch>
            <a:fillRect/>
          </a:stretch>
        </p:blipFill>
        <p:spPr>
          <a:xfrm>
            <a:off x="2628900" y="6467475"/>
            <a:ext cx="190500" cy="190500"/>
          </a:xfrm>
          <a:prstGeom prst="rect">
            <a:avLst/>
          </a:prstGeom>
        </p:spPr>
      </p:pic>
      <p:sp>
        <p:nvSpPr>
          <p:cNvPr id="95" name="TextBox 36"/>
          <p:cNvSpPr txBox="1"/>
          <p:nvPr/>
        </p:nvSpPr>
        <p:spPr>
          <a:xfrm>
            <a:off x="2895600" y="6496050"/>
            <a:ext cx="893058"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Provider Services</a:t>
            </a:r>
          </a:p>
        </p:txBody>
      </p:sp>
      <p:pic>
        <p:nvPicPr>
          <p:cNvPr id="96" name="Picture 13" descr="Icon of a laboratory flask for Life Sciences &amp; Diagnostics"/>
          <p:cNvPicPr>
            <a:picLocks noChangeAspect="1"/>
          </p:cNvPicPr>
          <p:nvPr/>
        </p:nvPicPr>
        <p:blipFill>
          <a:blip r:embed="rId14"/>
          <a:stretch>
            <a:fillRect/>
          </a:stretch>
        </p:blipFill>
        <p:spPr>
          <a:xfrm>
            <a:off x="6200775" y="6467475"/>
            <a:ext cx="190500" cy="190500"/>
          </a:xfrm>
          <a:prstGeom prst="rect">
            <a:avLst/>
          </a:prstGeom>
        </p:spPr>
      </p:pic>
      <p:sp>
        <p:nvSpPr>
          <p:cNvPr id="97" name="TextBox 37"/>
          <p:cNvSpPr txBox="1"/>
          <p:nvPr/>
        </p:nvSpPr>
        <p:spPr>
          <a:xfrm>
            <a:off x="6467475" y="6496050"/>
            <a:ext cx="1347028"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Life Sciences &amp; Diagnostics</a:t>
            </a:r>
          </a:p>
        </p:txBody>
      </p:sp>
      <p:pic>
        <p:nvPicPr>
          <p:cNvPr id="98" name="Picture 14" descr="Icon of a monitor with a heartbeat line for Medical Products &amp; Distribution"/>
          <p:cNvPicPr>
            <a:picLocks noChangeAspect="1"/>
          </p:cNvPicPr>
          <p:nvPr/>
        </p:nvPicPr>
        <p:blipFill>
          <a:blip r:embed="rId15"/>
          <a:stretch>
            <a:fillRect/>
          </a:stretch>
        </p:blipFill>
        <p:spPr>
          <a:xfrm>
            <a:off x="2628900" y="6743700"/>
            <a:ext cx="190500" cy="190500"/>
          </a:xfrm>
          <a:prstGeom prst="rect">
            <a:avLst/>
          </a:prstGeom>
        </p:spPr>
      </p:pic>
      <p:sp>
        <p:nvSpPr>
          <p:cNvPr id="99" name="TextBox 38"/>
          <p:cNvSpPr txBox="1"/>
          <p:nvPr/>
        </p:nvSpPr>
        <p:spPr>
          <a:xfrm>
            <a:off x="2895600" y="6772275"/>
            <a:ext cx="1600617"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Medical Products &amp; Distribution</a:t>
            </a:r>
          </a:p>
        </p:txBody>
      </p:sp>
      <p:pic>
        <p:nvPicPr>
          <p:cNvPr id="100" name="Picture 15" descr="Icon of a medicine bottle and pill for Pharmacy &amp; Healthcare Services"/>
          <p:cNvPicPr>
            <a:picLocks noChangeAspect="1"/>
          </p:cNvPicPr>
          <p:nvPr/>
        </p:nvPicPr>
        <p:blipFill>
          <a:blip r:embed="rId16"/>
          <a:stretch>
            <a:fillRect/>
          </a:stretch>
        </p:blipFill>
        <p:spPr>
          <a:xfrm>
            <a:off x="6200775" y="6743700"/>
            <a:ext cx="190500" cy="190500"/>
          </a:xfrm>
          <a:prstGeom prst="rect">
            <a:avLst/>
          </a:prstGeom>
        </p:spPr>
      </p:pic>
      <p:sp>
        <p:nvSpPr>
          <p:cNvPr id="101" name="TextBox 39"/>
          <p:cNvSpPr txBox="1"/>
          <p:nvPr/>
        </p:nvSpPr>
        <p:spPr>
          <a:xfrm>
            <a:off x="6467475" y="6772275"/>
            <a:ext cx="1608966" cy="133350"/>
          </a:xfrm>
          <a:prstGeom prst="rect">
            <a:avLst/>
          </a:prstGeom>
          <a:noFill/>
        </p:spPr>
        <p:txBody>
          <a:bodyPr wrap="square" lIns="0" tIns="0" rIns="0" bIns="0" anchor="t">
            <a:spAutoFit/>
          </a:bodyPr>
          <a:lstStyle/>
          <a:p>
            <a:pPr algn="l">
              <a:lnSpc>
                <a:spcPts val="1208"/>
              </a:lnSpc>
            </a:pPr>
            <a:r>
              <a:rPr sz="900" b="1" i="0" spc="15">
                <a:solidFill>
                  <a:srgbClr val="333231"/>
                </a:solidFill>
                <a:latin typeface="Calibri"/>
              </a:rPr>
              <a:t>Pharmacy &amp; Healthcare Services</a:t>
            </a:r>
          </a:p>
        </p:txBody>
      </p:sp>
      <p:sp>
        <p:nvSpPr>
          <p:cNvPr id="102" name="Shape 4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6" descr="Benchmark International logo"/>
          <p:cNvPicPr>
            <a:picLocks noChangeAspect="1"/>
          </p:cNvPicPr>
          <p:nvPr/>
        </p:nvPicPr>
        <p:blipFill>
          <a:blip r:embed="rId17"/>
          <a:srcRect/>
          <a:stretch>
            <a:fillRect/>
          </a:stretch>
        </p:blipFill>
        <p:spPr>
          <a:xfrm>
            <a:off x="419100" y="7143750"/>
            <a:ext cx="914400" cy="171450"/>
          </a:xfrm>
          <a:prstGeom prst="rect">
            <a:avLst/>
          </a:prstGeom>
        </p:spPr>
      </p:pic>
      <p:sp>
        <p:nvSpPr>
          <p:cNvPr id="105" name="TextBox 40"/>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03</a:t>
            </a:r>
          </a:p>
        </p:txBody>
      </p:sp>
      <p:sp>
        <p:nvSpPr>
          <p:cNvPr id="106" name="Team Jordan Houtz"/>
          <p:cNvSpPr txBox="1"/>
          <p:nvPr/>
        </p:nvSpPr>
        <p:spPr>
          <a:xfrm>
            <a:off x="270662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Jordan Houtz</a:t>
            </a:r>
          </a:p>
        </p:txBody>
      </p:sp>
      <p:sp>
        <p:nvSpPr>
          <p:cNvPr id="107" name="Team Managing Director"/>
          <p:cNvSpPr txBox="1"/>
          <p:nvPr/>
        </p:nvSpPr>
        <p:spPr>
          <a:xfrm>
            <a:off x="2706624" y="2990088"/>
            <a:ext cx="1508760" cy="146304"/>
          </a:xfrm>
          <a:prstGeom prst="rect">
            <a:avLst/>
          </a:prstGeom>
          <a:noFill/>
        </p:spPr>
        <p:txBody>
          <a:bodyPr wrap="square" lIns="0" tIns="0" rIns="0" bIns="0" anchor="t">
            <a:noAutofit/>
          </a:bodyPr>
          <a:lstStyle/>
          <a:p>
            <a:pPr algn="ctr"/>
            <a:r>
              <a:rPr sz="700" b="1" spc="120" dirty="0">
                <a:solidFill>
                  <a:srgbClr val="B68757"/>
                </a:solidFill>
                <a:latin typeface="Calibri"/>
              </a:rPr>
              <a:t>MANAGING DIRECTOR</a:t>
            </a:r>
            <a:endParaRPr lang="en-US" sz="700" b="1" spc="120" dirty="0">
              <a:solidFill>
                <a:srgbClr val="B68757"/>
              </a:solidFill>
              <a:latin typeface="Calibri"/>
            </a:endParaRPr>
          </a:p>
          <a:p>
            <a:pPr algn="ctr"/>
            <a:r>
              <a:rPr lang="en-US" sz="700" b="1" spc="120" dirty="0">
                <a:solidFill>
                  <a:srgbClr val="B68757"/>
                </a:solidFill>
                <a:latin typeface="Calibri"/>
              </a:rPr>
              <a:t>HEAD OF MIDDLE MARKET</a:t>
            </a:r>
          </a:p>
        </p:txBody>
      </p:sp>
      <p:sp>
        <p:nvSpPr>
          <p:cNvPr id="108" name="Team 813-771-6675"/>
          <p:cNvSpPr txBox="1"/>
          <p:nvPr/>
        </p:nvSpPr>
        <p:spPr>
          <a:xfrm>
            <a:off x="270662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18"/>
              </a:rPr>
              <a:t>813-771-6675</a:t>
            </a:r>
          </a:p>
        </p:txBody>
      </p:sp>
      <p:sp>
        <p:nvSpPr>
          <p:cNvPr id="109" name="Team jhoutz@benchmarkintl"/>
          <p:cNvSpPr txBox="1"/>
          <p:nvPr/>
        </p:nvSpPr>
        <p:spPr>
          <a:xfrm>
            <a:off x="270662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19"/>
              </a:rPr>
              <a:t>jhoutz@benchmarkintl.com</a:t>
            </a:r>
          </a:p>
        </p:txBody>
      </p:sp>
      <p:sp>
        <p:nvSpPr>
          <p:cNvPr id="110" name="Team Jared Hardin"/>
          <p:cNvSpPr txBox="1"/>
          <p:nvPr/>
        </p:nvSpPr>
        <p:spPr>
          <a:xfrm>
            <a:off x="448970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Jared Hardin</a:t>
            </a:r>
          </a:p>
        </p:txBody>
      </p:sp>
      <p:sp>
        <p:nvSpPr>
          <p:cNvPr id="111" name="Team Managing Director"/>
          <p:cNvSpPr txBox="1"/>
          <p:nvPr/>
        </p:nvSpPr>
        <p:spPr>
          <a:xfrm>
            <a:off x="4489704" y="2990088"/>
            <a:ext cx="1508760" cy="146304"/>
          </a:xfrm>
          <a:prstGeom prst="rect">
            <a:avLst/>
          </a:prstGeom>
          <a:noFill/>
        </p:spPr>
        <p:txBody>
          <a:bodyPr wrap="square" lIns="0" tIns="0" rIns="0" bIns="0" anchor="t">
            <a:noAutofit/>
          </a:bodyPr>
          <a:lstStyle/>
          <a:p>
            <a:pPr algn="ctr"/>
            <a:r>
              <a:rPr sz="700" b="1" spc="120">
                <a:solidFill>
                  <a:srgbClr val="B68757"/>
                </a:solidFill>
                <a:latin typeface="Calibri"/>
              </a:rPr>
              <a:t>MANAGING DIRECTOR</a:t>
            </a:r>
          </a:p>
        </p:txBody>
      </p:sp>
      <p:sp>
        <p:nvSpPr>
          <p:cNvPr id="112" name="Team 210-241-7990"/>
          <p:cNvSpPr txBox="1"/>
          <p:nvPr/>
        </p:nvSpPr>
        <p:spPr>
          <a:xfrm>
            <a:off x="448970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0"/>
              </a:rPr>
              <a:t>210-241-7990</a:t>
            </a:r>
          </a:p>
        </p:txBody>
      </p:sp>
      <p:sp>
        <p:nvSpPr>
          <p:cNvPr id="113" name="Team j.hardin@benchmarkin"/>
          <p:cNvSpPr txBox="1"/>
          <p:nvPr/>
        </p:nvSpPr>
        <p:spPr>
          <a:xfrm>
            <a:off x="448970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1"/>
              </a:rPr>
              <a:t>j.hardin@benchmarkintl.com</a:t>
            </a:r>
          </a:p>
        </p:txBody>
      </p:sp>
      <p:sp>
        <p:nvSpPr>
          <p:cNvPr id="114" name="Team Alex Zykov"/>
          <p:cNvSpPr txBox="1"/>
          <p:nvPr/>
        </p:nvSpPr>
        <p:spPr>
          <a:xfrm>
            <a:off x="627278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Alex Zykov</a:t>
            </a:r>
          </a:p>
        </p:txBody>
      </p:sp>
      <p:sp>
        <p:nvSpPr>
          <p:cNvPr id="115" name="Team Transaction Director"/>
          <p:cNvSpPr txBox="1"/>
          <p:nvPr/>
        </p:nvSpPr>
        <p:spPr>
          <a:xfrm>
            <a:off x="6272784" y="2990088"/>
            <a:ext cx="1508760" cy="146304"/>
          </a:xfrm>
          <a:prstGeom prst="rect">
            <a:avLst/>
          </a:prstGeom>
          <a:noFill/>
        </p:spPr>
        <p:txBody>
          <a:bodyPr wrap="square" lIns="0" tIns="0" rIns="0" bIns="0" anchor="t">
            <a:noAutofit/>
          </a:bodyPr>
          <a:lstStyle/>
          <a:p>
            <a:pPr algn="ctr"/>
            <a:r>
              <a:rPr sz="700" b="1" spc="120">
                <a:solidFill>
                  <a:srgbClr val="B68757"/>
                </a:solidFill>
                <a:latin typeface="Calibri"/>
              </a:rPr>
              <a:t>TRANSACTION DIRECTOR</a:t>
            </a:r>
          </a:p>
        </p:txBody>
      </p:sp>
      <p:sp>
        <p:nvSpPr>
          <p:cNvPr id="116" name="Team 813-898-2372"/>
          <p:cNvSpPr txBox="1"/>
          <p:nvPr/>
        </p:nvSpPr>
        <p:spPr>
          <a:xfrm>
            <a:off x="627278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2"/>
              </a:rPr>
              <a:t>813-898-2372</a:t>
            </a:r>
          </a:p>
        </p:txBody>
      </p:sp>
      <p:sp>
        <p:nvSpPr>
          <p:cNvPr id="117" name="Team azykov@benchmarkintl"/>
          <p:cNvSpPr txBox="1"/>
          <p:nvPr/>
        </p:nvSpPr>
        <p:spPr>
          <a:xfrm>
            <a:off x="627278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3"/>
              </a:rPr>
              <a:t>azykov@benchmarkintl.com</a:t>
            </a:r>
          </a:p>
        </p:txBody>
      </p:sp>
      <p:sp>
        <p:nvSpPr>
          <p:cNvPr id="118" name="Team Shannon Hess"/>
          <p:cNvSpPr txBox="1"/>
          <p:nvPr/>
        </p:nvSpPr>
        <p:spPr>
          <a:xfrm>
            <a:off x="8055864" y="2697480"/>
            <a:ext cx="1508760" cy="274320"/>
          </a:xfrm>
          <a:prstGeom prst="rect">
            <a:avLst/>
          </a:prstGeom>
          <a:noFill/>
        </p:spPr>
        <p:txBody>
          <a:bodyPr wrap="square" lIns="0" tIns="0" rIns="0" bIns="0" anchor="t">
            <a:noAutofit/>
          </a:bodyPr>
          <a:lstStyle/>
          <a:p>
            <a:pPr algn="ctr"/>
            <a:r>
              <a:rPr sz="1300" b="1">
                <a:solidFill>
                  <a:srgbClr val="1B1A1A"/>
                </a:solidFill>
                <a:latin typeface="Cambria"/>
              </a:rPr>
              <a:t>Shannon Hess</a:t>
            </a:r>
          </a:p>
        </p:txBody>
      </p:sp>
      <p:sp>
        <p:nvSpPr>
          <p:cNvPr id="119" name="Team Client Engagement Di"/>
          <p:cNvSpPr txBox="1"/>
          <p:nvPr/>
        </p:nvSpPr>
        <p:spPr>
          <a:xfrm>
            <a:off x="8055864" y="2990088"/>
            <a:ext cx="1508760" cy="146304"/>
          </a:xfrm>
          <a:prstGeom prst="rect">
            <a:avLst/>
          </a:prstGeom>
          <a:noFill/>
        </p:spPr>
        <p:txBody>
          <a:bodyPr wrap="square" lIns="0" tIns="0" rIns="0" bIns="0" anchor="t">
            <a:noAutofit/>
          </a:bodyPr>
          <a:lstStyle/>
          <a:p>
            <a:pPr algn="ctr"/>
            <a:r>
              <a:rPr sz="620" b="1" spc="120">
                <a:solidFill>
                  <a:srgbClr val="B68757"/>
                </a:solidFill>
                <a:latin typeface="Calibri"/>
              </a:rPr>
              <a:t>CLIENT ENGAGEMENT DIRECTOR</a:t>
            </a:r>
          </a:p>
        </p:txBody>
      </p:sp>
      <p:sp>
        <p:nvSpPr>
          <p:cNvPr id="120" name="Team 813-898-2397"/>
          <p:cNvSpPr txBox="1"/>
          <p:nvPr/>
        </p:nvSpPr>
        <p:spPr>
          <a:xfrm>
            <a:off x="8055864" y="3435477"/>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4"/>
              </a:rPr>
              <a:t>813-898-2397</a:t>
            </a:r>
          </a:p>
        </p:txBody>
      </p:sp>
      <p:sp>
        <p:nvSpPr>
          <p:cNvPr id="121" name="Team hess@benchmarkintl.c"/>
          <p:cNvSpPr txBox="1"/>
          <p:nvPr/>
        </p:nvSpPr>
        <p:spPr>
          <a:xfrm>
            <a:off x="8055864" y="3600069"/>
            <a:ext cx="1508760" cy="146304"/>
          </a:xfrm>
          <a:prstGeom prst="rect">
            <a:avLst/>
          </a:prstGeom>
          <a:noFill/>
        </p:spPr>
        <p:txBody>
          <a:bodyPr wrap="square" lIns="0" tIns="0" rIns="0" bIns="0" anchor="t">
            <a:noAutofit/>
          </a:bodyPr>
          <a:lstStyle/>
          <a:p>
            <a:pPr algn="ctr"/>
            <a:r>
              <a:rPr sz="850" b="0">
                <a:solidFill>
                  <a:srgbClr val="8C6239"/>
                </a:solidFill>
                <a:latin typeface="Calibri"/>
                <a:hlinkClick r:id="rId25"/>
              </a:rPr>
              <a:t>hess@benchmarkintl.com</a:t>
            </a:r>
          </a:p>
        </p:txBody>
      </p:sp>
      <p:sp>
        <p:nvSpPr>
          <p:cNvPr id="122" name="Team Sunny Garten"/>
          <p:cNvSpPr txBox="1"/>
          <p:nvPr/>
        </p:nvSpPr>
        <p:spPr>
          <a:xfrm>
            <a:off x="3383279" y="4242816"/>
            <a:ext cx="1444752" cy="155448"/>
          </a:xfrm>
          <a:prstGeom prst="rect">
            <a:avLst/>
          </a:prstGeom>
          <a:noFill/>
        </p:spPr>
        <p:txBody>
          <a:bodyPr wrap="square" lIns="0" tIns="0" rIns="0" bIns="0" anchor="t">
            <a:noAutofit/>
          </a:bodyPr>
          <a:lstStyle/>
          <a:p>
            <a:pPr algn="l"/>
            <a:r>
              <a:rPr sz="1000" b="1">
                <a:solidFill>
                  <a:srgbClr val="1B1A1A"/>
                </a:solidFill>
                <a:latin typeface="Calibri"/>
              </a:rPr>
              <a:t>Sunny Garten</a:t>
            </a:r>
          </a:p>
        </p:txBody>
      </p:sp>
      <p:sp>
        <p:nvSpPr>
          <p:cNvPr id="123" name="Team Senior Deal Associat"/>
          <p:cNvSpPr txBox="1"/>
          <p:nvPr/>
        </p:nvSpPr>
        <p:spPr>
          <a:xfrm>
            <a:off x="3383279" y="4407408"/>
            <a:ext cx="1444752" cy="137160"/>
          </a:xfrm>
          <a:prstGeom prst="rect">
            <a:avLst/>
          </a:prstGeom>
          <a:noFill/>
        </p:spPr>
        <p:txBody>
          <a:bodyPr wrap="square" lIns="0" tIns="0" rIns="0" bIns="0" anchor="t">
            <a:noAutofit/>
          </a:bodyPr>
          <a:lstStyle/>
          <a:p>
            <a:pPr algn="l"/>
            <a:r>
              <a:rPr sz="800" b="0">
                <a:solidFill>
                  <a:srgbClr val="333231"/>
                </a:solidFill>
                <a:latin typeface="Calibri"/>
              </a:rPr>
              <a:t>Senior Deal Associate</a:t>
            </a:r>
          </a:p>
        </p:txBody>
      </p:sp>
      <p:sp>
        <p:nvSpPr>
          <p:cNvPr id="124" name="Team Michael Wynn"/>
          <p:cNvSpPr txBox="1"/>
          <p:nvPr/>
        </p:nvSpPr>
        <p:spPr>
          <a:xfrm>
            <a:off x="5760720" y="4242816"/>
            <a:ext cx="1444752" cy="155448"/>
          </a:xfrm>
          <a:prstGeom prst="rect">
            <a:avLst/>
          </a:prstGeom>
          <a:noFill/>
        </p:spPr>
        <p:txBody>
          <a:bodyPr wrap="square" lIns="0" tIns="0" rIns="0" bIns="0" anchor="t">
            <a:noAutofit/>
          </a:bodyPr>
          <a:lstStyle/>
          <a:p>
            <a:pPr algn="l"/>
            <a:r>
              <a:rPr sz="1000" b="1">
                <a:solidFill>
                  <a:srgbClr val="1B1A1A"/>
                </a:solidFill>
                <a:latin typeface="Calibri"/>
              </a:rPr>
              <a:t>Michael Wynn</a:t>
            </a:r>
          </a:p>
        </p:txBody>
      </p:sp>
      <p:sp>
        <p:nvSpPr>
          <p:cNvPr id="125" name="Team Senior Deal Associat"/>
          <p:cNvSpPr txBox="1"/>
          <p:nvPr/>
        </p:nvSpPr>
        <p:spPr>
          <a:xfrm>
            <a:off x="5760720" y="4407408"/>
            <a:ext cx="1444752" cy="137160"/>
          </a:xfrm>
          <a:prstGeom prst="rect">
            <a:avLst/>
          </a:prstGeom>
          <a:noFill/>
        </p:spPr>
        <p:txBody>
          <a:bodyPr wrap="square" lIns="0" tIns="0" rIns="0" bIns="0" anchor="t">
            <a:noAutofit/>
          </a:bodyPr>
          <a:lstStyle/>
          <a:p>
            <a:pPr algn="l"/>
            <a:r>
              <a:rPr sz="800" b="0">
                <a:solidFill>
                  <a:srgbClr val="333231"/>
                </a:solidFill>
                <a:latin typeface="Calibri"/>
              </a:rPr>
              <a:t>Senior Deal Associate</a:t>
            </a:r>
          </a:p>
        </p:txBody>
      </p:sp>
      <p:sp>
        <p:nvSpPr>
          <p:cNvPr id="126" name="Team Jason Lisiak"/>
          <p:cNvSpPr txBox="1"/>
          <p:nvPr/>
        </p:nvSpPr>
        <p:spPr>
          <a:xfrm>
            <a:off x="8138160" y="4242816"/>
            <a:ext cx="1444752" cy="155448"/>
          </a:xfrm>
          <a:prstGeom prst="rect">
            <a:avLst/>
          </a:prstGeom>
          <a:noFill/>
        </p:spPr>
        <p:txBody>
          <a:bodyPr wrap="square" lIns="0" tIns="0" rIns="0" bIns="0" anchor="t">
            <a:noAutofit/>
          </a:bodyPr>
          <a:lstStyle/>
          <a:p>
            <a:pPr algn="l"/>
            <a:r>
              <a:rPr sz="1000" b="1">
                <a:solidFill>
                  <a:srgbClr val="1B1A1A"/>
                </a:solidFill>
                <a:latin typeface="Calibri"/>
              </a:rPr>
              <a:t>Jason Lisiak, CFA</a:t>
            </a:r>
          </a:p>
        </p:txBody>
      </p:sp>
      <p:sp>
        <p:nvSpPr>
          <p:cNvPr id="127" name="Team Research Associate"/>
          <p:cNvSpPr txBox="1"/>
          <p:nvPr/>
        </p:nvSpPr>
        <p:spPr>
          <a:xfrm>
            <a:off x="8138160" y="4407408"/>
            <a:ext cx="1444752" cy="137160"/>
          </a:xfrm>
          <a:prstGeom prst="rect">
            <a:avLst/>
          </a:prstGeom>
          <a:noFill/>
        </p:spPr>
        <p:txBody>
          <a:bodyPr wrap="square" lIns="0" tIns="0" rIns="0" bIns="0" anchor="t">
            <a:noAutofit/>
          </a:bodyPr>
          <a:lstStyle/>
          <a:p>
            <a:pPr algn="l"/>
            <a:r>
              <a:rPr sz="800" b="0">
                <a:solidFill>
                  <a:srgbClr val="333231"/>
                </a:solidFill>
                <a:latin typeface="Calibri"/>
              </a:rPr>
              <a:t>Research Associate</a:t>
            </a:r>
          </a:p>
        </p:txBody>
      </p:sp>
      <p:sp>
        <p:nvSpPr>
          <p:cNvPr id="128" name="Team Alexandra Barr"/>
          <p:cNvSpPr txBox="1"/>
          <p:nvPr/>
        </p:nvSpPr>
        <p:spPr>
          <a:xfrm>
            <a:off x="3383279" y="5093208"/>
            <a:ext cx="1444752" cy="155448"/>
          </a:xfrm>
          <a:prstGeom prst="rect">
            <a:avLst/>
          </a:prstGeom>
          <a:noFill/>
        </p:spPr>
        <p:txBody>
          <a:bodyPr wrap="square" lIns="0" tIns="0" rIns="0" bIns="0" anchor="t">
            <a:noAutofit/>
          </a:bodyPr>
          <a:lstStyle/>
          <a:p>
            <a:pPr algn="l"/>
            <a:r>
              <a:rPr sz="1000" b="1">
                <a:solidFill>
                  <a:srgbClr val="1B1A1A"/>
                </a:solidFill>
                <a:latin typeface="Calibri"/>
              </a:rPr>
              <a:t>Alexandra Barr</a:t>
            </a:r>
          </a:p>
        </p:txBody>
      </p:sp>
      <p:sp>
        <p:nvSpPr>
          <p:cNvPr id="129" name="Team Transaction Support "/>
          <p:cNvSpPr txBox="1"/>
          <p:nvPr/>
        </p:nvSpPr>
        <p:spPr>
          <a:xfrm>
            <a:off x="3383279" y="5257800"/>
            <a:ext cx="1444752" cy="137160"/>
          </a:xfrm>
          <a:prstGeom prst="rect">
            <a:avLst/>
          </a:prstGeom>
          <a:noFill/>
        </p:spPr>
        <p:txBody>
          <a:bodyPr wrap="square" lIns="0" tIns="0" rIns="0" bIns="0" anchor="t">
            <a:noAutofit/>
          </a:bodyPr>
          <a:lstStyle/>
          <a:p>
            <a:pPr algn="l"/>
            <a:r>
              <a:rPr sz="800" b="0">
                <a:solidFill>
                  <a:srgbClr val="333231"/>
                </a:solidFill>
                <a:latin typeface="Calibri"/>
              </a:rPr>
              <a:t>Transaction Support Associate</a:t>
            </a:r>
          </a:p>
        </p:txBody>
      </p:sp>
      <p:sp>
        <p:nvSpPr>
          <p:cNvPr id="130" name="Team Josiah Warren"/>
          <p:cNvSpPr txBox="1"/>
          <p:nvPr/>
        </p:nvSpPr>
        <p:spPr>
          <a:xfrm>
            <a:off x="5760720" y="5093208"/>
            <a:ext cx="1444752" cy="155448"/>
          </a:xfrm>
          <a:prstGeom prst="rect">
            <a:avLst/>
          </a:prstGeom>
          <a:noFill/>
        </p:spPr>
        <p:txBody>
          <a:bodyPr wrap="square" lIns="0" tIns="0" rIns="0" bIns="0" anchor="t">
            <a:noAutofit/>
          </a:bodyPr>
          <a:lstStyle/>
          <a:p>
            <a:pPr algn="l"/>
            <a:r>
              <a:rPr sz="1000" b="1">
                <a:solidFill>
                  <a:srgbClr val="1B1A1A"/>
                </a:solidFill>
                <a:latin typeface="Calibri"/>
              </a:rPr>
              <a:t>Josiah Warren</a:t>
            </a:r>
          </a:p>
        </p:txBody>
      </p:sp>
      <p:sp>
        <p:nvSpPr>
          <p:cNvPr id="131" name="Team Transaction Support "/>
          <p:cNvSpPr txBox="1"/>
          <p:nvPr/>
        </p:nvSpPr>
        <p:spPr>
          <a:xfrm>
            <a:off x="5760720" y="5257800"/>
            <a:ext cx="1444752" cy="137160"/>
          </a:xfrm>
          <a:prstGeom prst="rect">
            <a:avLst/>
          </a:prstGeom>
          <a:noFill/>
        </p:spPr>
        <p:txBody>
          <a:bodyPr wrap="square" lIns="0" tIns="0" rIns="0" bIns="0" anchor="t">
            <a:noAutofit/>
          </a:bodyPr>
          <a:lstStyle/>
          <a:p>
            <a:pPr algn="l"/>
            <a:r>
              <a:rPr sz="800" b="0">
                <a:solidFill>
                  <a:srgbClr val="333231"/>
                </a:solidFill>
                <a:latin typeface="Calibri"/>
              </a:rPr>
              <a:t>Transaction Support Associate</a:t>
            </a:r>
          </a:p>
        </p:txBody>
      </p:sp>
      <p:sp>
        <p:nvSpPr>
          <p:cNvPr id="132" name="Team Luke Ernst"/>
          <p:cNvSpPr txBox="1"/>
          <p:nvPr/>
        </p:nvSpPr>
        <p:spPr>
          <a:xfrm>
            <a:off x="8138160" y="5093208"/>
            <a:ext cx="1444752" cy="155448"/>
          </a:xfrm>
          <a:prstGeom prst="rect">
            <a:avLst/>
          </a:prstGeom>
          <a:noFill/>
        </p:spPr>
        <p:txBody>
          <a:bodyPr wrap="square" lIns="0" tIns="0" rIns="0" bIns="0" anchor="t">
            <a:noAutofit/>
          </a:bodyPr>
          <a:lstStyle/>
          <a:p>
            <a:pPr algn="l"/>
            <a:r>
              <a:rPr sz="1000" b="1">
                <a:solidFill>
                  <a:srgbClr val="1B1A1A"/>
                </a:solidFill>
                <a:latin typeface="Calibri"/>
              </a:rPr>
              <a:t>Luke Ernst</a:t>
            </a:r>
          </a:p>
        </p:txBody>
      </p:sp>
      <p:sp>
        <p:nvSpPr>
          <p:cNvPr id="133" name="Team Deal Analyst"/>
          <p:cNvSpPr txBox="1"/>
          <p:nvPr/>
        </p:nvSpPr>
        <p:spPr>
          <a:xfrm>
            <a:off x="8138160" y="5257800"/>
            <a:ext cx="1444752" cy="137160"/>
          </a:xfrm>
          <a:prstGeom prst="rect">
            <a:avLst/>
          </a:prstGeom>
          <a:noFill/>
        </p:spPr>
        <p:txBody>
          <a:bodyPr wrap="square" lIns="0" tIns="0" rIns="0" bIns="0" anchor="t">
            <a:noAutofit/>
          </a:bodyPr>
          <a:lstStyle/>
          <a:p>
            <a:pPr algn="l"/>
            <a:r>
              <a:rPr sz="800" b="0">
                <a:solidFill>
                  <a:srgbClr val="333231"/>
                </a:solidFill>
                <a:latin typeface="Calibri"/>
              </a:rPr>
              <a:t>Deal Analyst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Dark textured background with the Benchmark International knot emblem"/>
          <p:cNvPicPr>
            <a:picLocks noChangeAspect="1"/>
          </p:cNvPicPr>
          <p:nvPr/>
        </p:nvPicPr>
        <p:blipFill>
          <a:blip r:embed="rId3">
            <a:alphaModFix amt="60000"/>
          </a:blip>
          <a:srcRect l="13603" r="13603"/>
          <a:stretch>
            <a:fillRect/>
          </a:stretch>
        </p:blipFill>
        <p:spPr>
          <a:xfrm>
            <a:off x="0" y="0"/>
            <a:ext cx="10058400" cy="7772400"/>
          </a:xfrm>
          <a:prstGeom prst="rect">
            <a:avLst/>
          </a:prstGeom>
        </p:spPr>
      </p:pic>
      <p:pic>
        <p:nvPicPr>
          <p:cNvPr id="3" name="Picture 2" descr="Laboratory scientists in coats, masks and hair covers working at a bench"/>
          <p:cNvPicPr>
            <a:picLocks noChangeAspect="1"/>
          </p:cNvPicPr>
          <p:nvPr/>
        </p:nvPicPr>
        <p:blipFill>
          <a:blip r:embed="rId4"/>
          <a:srcRect l="23529" r="23529"/>
          <a:stretch>
            <a:fillRect/>
          </a:stretch>
        </p:blipFill>
        <p:spPr>
          <a:xfrm>
            <a:off x="4572000" y="0"/>
            <a:ext cx="5486400" cy="7772400"/>
          </a:xfrm>
          <a:prstGeom prst="rect">
            <a:avLst/>
          </a:prstGeom>
        </p:spPr>
      </p:pic>
      <p:sp>
        <p:nvSpPr>
          <p:cNvPr id="4" name="Shape 1"/>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Shape 2"/>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Shape 3"/>
          <p:cNvCxnSpPr/>
          <p:nvPr/>
        </p:nvCxnSpPr>
        <p:spPr>
          <a:xfrm flipH="1">
            <a:off x="4562475" y="0"/>
            <a:ext cx="1314450" cy="7772400"/>
          </a:xfrm>
          <a:prstGeom prst="line">
            <a:avLst/>
          </a:prstGeom>
          <a:ln w="38100">
            <a:solidFill>
              <a:srgbClr val="B68757"/>
            </a:solidFill>
          </a:ln>
        </p:spPr>
      </p:cxnSp>
      <p:sp>
        <p:nvSpPr>
          <p:cNvPr id="7" name="TextBox 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01</a:t>
            </a:r>
          </a:p>
        </p:txBody>
      </p:sp>
      <p:sp>
        <p:nvSpPr>
          <p:cNvPr id="8" name="TextBox 2"/>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Insights</a:t>
            </a:r>
          </a:p>
        </p:txBody>
      </p:sp>
      <p:sp>
        <p:nvSpPr>
          <p:cNvPr id="9" name="Shape 4"/>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Shape 6"/>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Box 3"/>
          <p:cNvSpPr txBox="1"/>
          <p:nvPr/>
        </p:nvSpPr>
        <p:spPr>
          <a:xfrm>
            <a:off x="781050" y="4010025"/>
            <a:ext cx="152191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Healthcare M&amp;A: state of play</a:t>
            </a:r>
          </a:p>
        </p:txBody>
      </p:sp>
      <p:sp>
        <p:nvSpPr>
          <p:cNvPr id="13" name="Shape 7"/>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Shape 8"/>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5" name="TextBox 4"/>
          <p:cNvSpPr txBox="1"/>
          <p:nvPr/>
        </p:nvSpPr>
        <p:spPr>
          <a:xfrm>
            <a:off x="781050" y="4695825"/>
            <a:ext cx="1270397"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Historical market context</a:t>
            </a:r>
          </a:p>
        </p:txBody>
      </p:sp>
      <p:sp>
        <p:nvSpPr>
          <p:cNvPr id="16" name="Shape 9"/>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Shape 10"/>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18" name="TextBox 5"/>
          <p:cNvSpPr txBox="1"/>
          <p:nvPr/>
        </p:nvSpPr>
        <p:spPr>
          <a:xfrm>
            <a:off x="781050" y="5038725"/>
            <a:ext cx="1687562"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Market fundamentals</a:t>
            </a:r>
          </a:p>
        </p:txBody>
      </p:sp>
      <p:sp>
        <p:nvSpPr>
          <p:cNvPr id="19" name="Shape 11"/>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Shape 12"/>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1" name="TextBox 6"/>
          <p:cNvSpPr txBox="1"/>
          <p:nvPr/>
        </p:nvSpPr>
        <p:spPr>
          <a:xfrm>
            <a:off x="781050" y="5381625"/>
            <a:ext cx="1627138" cy="180975"/>
          </a:xfrm>
          <a:prstGeom prst="rect">
            <a:avLst/>
          </a:prstGeom>
          <a:noFill/>
        </p:spPr>
        <p:txBody>
          <a:bodyPr wrap="square" lIns="0" tIns="0" rIns="0" bIns="0" anchor="t">
            <a:spAutoFit/>
          </a:bodyPr>
          <a:lstStyle/>
          <a:p>
            <a:pPr algn="l">
              <a:lnSpc>
                <a:spcPts val="1596"/>
              </a:lnSpc>
            </a:pPr>
            <a:r>
              <a:rPr sz="1050" b="0" i="0" spc="15">
                <a:solidFill>
                  <a:srgbClr val="C3BDB6"/>
                </a:solidFill>
                <a:latin typeface="Calibri"/>
              </a:rPr>
              <a:t>Perspectives on four sectors</a:t>
            </a:r>
          </a:p>
        </p:txBody>
      </p:sp>
      <p:sp>
        <p:nvSpPr>
          <p:cNvPr id="22" name="Shape 13"/>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Shape 14"/>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4" name="TextBox 7"/>
          <p:cNvSpPr txBox="1"/>
          <p:nvPr/>
        </p:nvSpPr>
        <p:spPr>
          <a:xfrm>
            <a:off x="781050" y="5724525"/>
            <a:ext cx="1000274"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What we’re reading</a:t>
            </a:r>
          </a:p>
        </p:txBody>
      </p:sp>
      <p:sp>
        <p:nvSpPr>
          <p:cNvPr id="25" name="Shape 15"/>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6" name="Picture 3" descr="Benchmark International logo"/>
          <p:cNvPicPr>
            <a:picLocks noChangeAspect="1"/>
          </p:cNvPicPr>
          <p:nvPr/>
        </p:nvPicPr>
        <p:blipFill>
          <a:blip r:embed="rId5"/>
          <a:srcRect/>
          <a:stretch>
            <a:fillRect/>
          </a:stretch>
        </p:blipFill>
        <p:spPr>
          <a:xfrm>
            <a:off x="609600" y="7086600"/>
            <a:ext cx="1428750" cy="266700"/>
          </a:xfrm>
          <a:prstGeom prst="rect">
            <a:avLst/>
          </a:prstGeom>
        </p:spPr>
      </p:pic>
      <p:sp>
        <p:nvSpPr>
          <p:cNvPr id="27" name="TextBox 8"/>
          <p:cNvSpPr txBox="1"/>
          <p:nvPr/>
        </p:nvSpPr>
        <p:spPr>
          <a:xfrm>
            <a:off x="2209800" y="7181850"/>
            <a:ext cx="1482179" cy="133350"/>
          </a:xfrm>
          <a:prstGeom prst="rect">
            <a:avLst/>
          </a:prstGeom>
          <a:noFill/>
        </p:spPr>
        <p:txBody>
          <a:bodyPr wrap="square" lIns="0" tIns="0" rIns="0" bIns="0" anchor="t">
            <a:spAutoFit/>
          </a:bodyPr>
          <a:lstStyle/>
          <a:p>
            <a:pPr algn="l">
              <a:lnSpc>
                <a:spcPts val="1113"/>
              </a:lnSpc>
            </a:pPr>
            <a:r>
              <a:rPr sz="750" b="1" i="0" spc="195">
                <a:solidFill>
                  <a:srgbClr val="C3BDB6"/>
                </a:solidFill>
                <a:latin typeface="Calibri"/>
              </a:rPr>
              <a:t>HEALTHCARE | Q4 2026</a:t>
            </a:r>
          </a:p>
        </p:txBody>
      </p:sp>
      <p:sp>
        <p:nvSpPr>
          <p:cNvPr id="28" name="TextBox 3"/>
          <p:cNvSpPr txBox="1"/>
          <p:nvPr/>
        </p:nvSpPr>
        <p:spPr>
          <a:xfrm>
            <a:off x="781050" y="4352925"/>
            <a:ext cx="1521916"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Our view</a:t>
            </a:r>
          </a:p>
        </p:txBody>
      </p:sp>
      <p:sp>
        <p:nvSpPr>
          <p:cNvPr id="29" name="Shape 6"/>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M&amp;A: State of Play</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Strategic buyers are setting the pace in 2026 while private equity completes fewer healthcare services transactions.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971800" cy="2781300"/>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590550" y="1390650"/>
            <a:ext cx="381000" cy="381000"/>
          </a:xfrm>
          <a:prstGeom prst="ellipse">
            <a:avLst/>
          </a:prstGeom>
          <a:solidFill>
            <a:srgbClr val="1B1A1A"/>
          </a:solidFill>
          <a:ln>
            <a:noFill/>
          </a:ln>
          <a:effectLst/>
        </p:spPr>
        <p:txBody>
          <a:bodyPr rtlCol="0" anchor="ctr"/>
          <a:lstStyle/>
          <a:p>
            <a:pPr algn="ctr"/>
            <a:endParaRPr/>
          </a:p>
        </p:txBody>
      </p:sp>
      <p:pic>
        <p:nvPicPr>
          <p:cNvPr id="11" name="Picture 1" descr="Icon of a handshake for M&amp;A market dynamics"/>
          <p:cNvPicPr>
            <a:picLocks noChangeAspect="1"/>
          </p:cNvPicPr>
          <p:nvPr/>
        </p:nvPicPr>
        <p:blipFill>
          <a:blip r:embed="rId2"/>
          <a:stretch>
            <a:fillRect/>
          </a:stretch>
        </p:blipFill>
        <p:spPr>
          <a:xfrm>
            <a:off x="657225" y="1457325"/>
            <a:ext cx="247650" cy="247650"/>
          </a:xfrm>
          <a:prstGeom prst="rect">
            <a:avLst/>
          </a:prstGeom>
        </p:spPr>
      </p:pic>
      <p:sp>
        <p:nvSpPr>
          <p:cNvPr id="12" name="TextBox 5"/>
          <p:cNvSpPr txBox="1"/>
          <p:nvPr/>
        </p:nvSpPr>
        <p:spPr>
          <a:xfrm>
            <a:off x="1085850" y="1495425"/>
            <a:ext cx="1255663"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M&amp;A market dynamics</a:t>
            </a:r>
          </a:p>
        </p:txBody>
      </p:sp>
      <p:sp>
        <p:nvSpPr>
          <p:cNvPr id="13" name="Shape 6"/>
          <p:cNvSpPr/>
          <p:nvPr/>
        </p:nvSpPr>
        <p:spPr>
          <a:xfrm>
            <a:off x="590550" y="1924050"/>
            <a:ext cx="47625" cy="47625"/>
          </a:xfrm>
          <a:prstGeom prst="rect">
            <a:avLst/>
          </a:prstGeom>
          <a:solidFill>
            <a:srgbClr val="B68757"/>
          </a:solidFill>
          <a:ln>
            <a:noFill/>
          </a:ln>
          <a:effectLst/>
        </p:spPr>
        <p:txBody>
          <a:bodyPr rtlCol="0" anchor="ctr"/>
          <a:lstStyle/>
          <a:p>
            <a:pPr algn="ctr"/>
            <a:endParaRPr/>
          </a:p>
        </p:txBody>
      </p:sp>
      <p:sp>
        <p:nvSpPr>
          <p:cNvPr id="14" name="TextBox 6"/>
          <p:cNvSpPr txBox="1"/>
          <p:nvPr/>
        </p:nvSpPr>
        <p:spPr>
          <a:xfrm>
            <a:off x="714375" y="1866900"/>
            <a:ext cx="2519362" cy="666495"/>
          </a:xfrm>
          <a:prstGeom prst="rect">
            <a:avLst/>
          </a:prstGeom>
          <a:noFill/>
        </p:spPr>
        <p:txBody>
          <a:bodyPr wrap="square" lIns="0" tIns="0" rIns="0" bIns="0" anchor="t">
            <a:spAutoFit/>
          </a:bodyPr>
          <a:lstStyle/>
          <a:p>
            <a:pPr algn="l">
              <a:lnSpc>
                <a:spcPts val="1351"/>
              </a:lnSpc>
            </a:pPr>
            <a:r>
              <a:rPr sz="900" b="0" i="0" spc="15" dirty="0">
                <a:solidFill>
                  <a:srgbClr val="333231"/>
                </a:solidFill>
                <a:latin typeface="Calibri"/>
              </a:rPr>
              <a:t>Private equity completed an estimated 337 healthcare services transactions in the first half, a pace of 674 for the year and the lowest annual count since 2017 (</a:t>
            </a:r>
            <a:r>
              <a:rPr sz="900" b="0" i="0" spc="15" dirty="0">
                <a:solidFill>
                  <a:srgbClr val="8C6239"/>
                </a:solidFill>
                <a:latin typeface="Calibri"/>
                <a:hlinkClick r:id="rId3"/>
              </a:rPr>
              <a:t>PitchBook via Fierce Healthcare</a:t>
            </a:r>
            <a:r>
              <a:rPr sz="900" b="0" i="0" spc="15" dirty="0">
                <a:solidFill>
                  <a:srgbClr val="333231"/>
                </a:solidFill>
                <a:latin typeface="Calibri"/>
              </a:rPr>
              <a:t>).</a:t>
            </a:r>
          </a:p>
        </p:txBody>
      </p:sp>
      <p:sp>
        <p:nvSpPr>
          <p:cNvPr id="15" name="Shape 7"/>
          <p:cNvSpPr/>
          <p:nvPr/>
        </p:nvSpPr>
        <p:spPr>
          <a:xfrm>
            <a:off x="590550" y="2627122"/>
            <a:ext cx="47625" cy="47625"/>
          </a:xfrm>
          <a:prstGeom prst="rect">
            <a:avLst/>
          </a:prstGeom>
          <a:solidFill>
            <a:srgbClr val="B68757"/>
          </a:solidFill>
          <a:ln>
            <a:noFill/>
          </a:ln>
          <a:effectLst/>
        </p:spPr>
        <p:txBody>
          <a:bodyPr rtlCol="0" anchor="ctr"/>
          <a:lstStyle/>
          <a:p>
            <a:pPr algn="ctr"/>
            <a:endParaRPr/>
          </a:p>
        </p:txBody>
      </p:sp>
      <p:sp>
        <p:nvSpPr>
          <p:cNvPr id="16" name="TextBox 7"/>
          <p:cNvSpPr txBox="1"/>
          <p:nvPr/>
        </p:nvSpPr>
        <p:spPr>
          <a:xfrm>
            <a:off x="714375" y="2569972"/>
            <a:ext cx="2519362" cy="999743"/>
          </a:xfrm>
          <a:prstGeom prst="rect">
            <a:avLst/>
          </a:prstGeom>
          <a:noFill/>
        </p:spPr>
        <p:txBody>
          <a:bodyPr wrap="square" lIns="0" tIns="0" rIns="0" bIns="0" anchor="t">
            <a:spAutoFit/>
          </a:bodyPr>
          <a:lstStyle/>
          <a:p>
            <a:pPr algn="l">
              <a:lnSpc>
                <a:spcPts val="1312"/>
              </a:lnSpc>
            </a:pPr>
            <a:r>
              <a:rPr sz="861" b="0" i="0" spc="15" dirty="0">
                <a:solidFill>
                  <a:srgbClr val="333231"/>
                </a:solidFill>
                <a:latin typeface="Calibri"/>
              </a:rPr>
              <a:t>Strategic buyers carried more of the activity: medtech deal value reached $36.5 billion in the first half (</a:t>
            </a:r>
            <a:r>
              <a:rPr sz="861" b="0" i="0" spc="15" dirty="0">
                <a:solidFill>
                  <a:srgbClr val="8C6239"/>
                </a:solidFill>
                <a:latin typeface="Calibri"/>
                <a:hlinkClick r:id="rId4"/>
              </a:rPr>
              <a:t>PwC via MedTech Dive</a:t>
            </a:r>
            <a:r>
              <a:rPr sz="861" b="0" i="0" spc="15" dirty="0">
                <a:solidFill>
                  <a:srgbClr val="333231"/>
                </a:solidFill>
                <a:latin typeface="Calibri"/>
              </a:rPr>
              <a:t>), and hospitals and health systems announced 56 transactions through September, 16 of them in the third quarter (</a:t>
            </a:r>
            <a:r>
              <a:rPr sz="861" b="0" i="0" spc="15" dirty="0">
                <a:solidFill>
                  <a:srgbClr val="8C6239"/>
                </a:solidFill>
                <a:latin typeface="Calibri"/>
                <a:hlinkClick r:id="rId5"/>
              </a:rPr>
              <a:t>Kaufman Hall</a:t>
            </a:r>
            <a:r>
              <a:rPr sz="861" b="0" i="0" spc="15" dirty="0">
                <a:solidFill>
                  <a:srgbClr val="333231"/>
                </a:solidFill>
                <a:latin typeface="Calibri"/>
              </a:rPr>
              <a:t>).</a:t>
            </a:r>
          </a:p>
        </p:txBody>
      </p:sp>
      <p:sp>
        <p:nvSpPr>
          <p:cNvPr id="17" name="Shape 8"/>
          <p:cNvSpPr/>
          <p:nvPr/>
        </p:nvSpPr>
        <p:spPr>
          <a:xfrm>
            <a:off x="590550" y="3511042"/>
            <a:ext cx="47625" cy="47625"/>
          </a:xfrm>
          <a:prstGeom prst="rect">
            <a:avLst/>
          </a:prstGeom>
          <a:solidFill>
            <a:srgbClr val="B68757"/>
          </a:solidFill>
          <a:ln>
            <a:noFill/>
          </a:ln>
          <a:effectLst/>
        </p:spPr>
        <p:txBody>
          <a:bodyPr rtlCol="0" anchor="ctr"/>
          <a:lstStyle/>
          <a:p>
            <a:pPr algn="ctr"/>
            <a:endParaRPr/>
          </a:p>
        </p:txBody>
      </p:sp>
      <p:sp>
        <p:nvSpPr>
          <p:cNvPr id="18" name="TextBox 8"/>
          <p:cNvSpPr txBox="1"/>
          <p:nvPr/>
        </p:nvSpPr>
        <p:spPr>
          <a:xfrm>
            <a:off x="714375" y="3453892"/>
            <a:ext cx="2519362" cy="499871"/>
          </a:xfrm>
          <a:prstGeom prst="rect">
            <a:avLst/>
          </a:prstGeom>
          <a:noFill/>
        </p:spPr>
        <p:txBody>
          <a:bodyPr wrap="square" lIns="0" tIns="0" rIns="0" bIns="0" anchor="t">
            <a:spAutoFit/>
          </a:bodyPr>
          <a:lstStyle/>
          <a:p>
            <a:pPr algn="l">
              <a:lnSpc>
                <a:spcPts val="1391"/>
              </a:lnSpc>
            </a:pPr>
            <a:r>
              <a:rPr sz="900" b="0" i="0" spc="15" dirty="0">
                <a:solidFill>
                  <a:srgbClr val="333231"/>
                </a:solidFill>
                <a:latin typeface="Calibri"/>
              </a:rPr>
              <a:t>Biopharma deal value reached $130 billion in six months, almost matching the total for all of 2025 (</a:t>
            </a:r>
            <a:r>
              <a:rPr sz="900" b="0" i="0" spc="15" dirty="0">
                <a:solidFill>
                  <a:srgbClr val="8C6239"/>
                </a:solidFill>
                <a:latin typeface="Calibri"/>
                <a:hlinkClick r:id="rId6">
                  <a:extLst>
                    <a:ext uri="{A12FA001-AC4F-418D-AE19-62706E023703}">
                      <ahyp:hlinkClr xmlns:ahyp="http://schemas.microsoft.com/office/drawing/2018/hyperlinkcolor" val="tx"/>
                    </a:ext>
                  </a:extLst>
                </a:hlinkClick>
              </a:rPr>
              <a:t>IQVIA</a:t>
            </a:r>
            <a:r>
              <a:rPr sz="900" b="0" i="0" spc="15" dirty="0">
                <a:solidFill>
                  <a:srgbClr val="333231"/>
                </a:solidFill>
                <a:latin typeface="Calibri"/>
              </a:rPr>
              <a:t>).</a:t>
            </a:r>
          </a:p>
        </p:txBody>
      </p:sp>
      <p:sp>
        <p:nvSpPr>
          <p:cNvPr id="19" name="Shape 9"/>
          <p:cNvSpPr/>
          <p:nvPr/>
        </p:nvSpPr>
        <p:spPr>
          <a:xfrm>
            <a:off x="3543300" y="1238250"/>
            <a:ext cx="2971800" cy="2781300"/>
          </a:xfrm>
          <a:prstGeom prst="rect">
            <a:avLst/>
          </a:prstGeom>
          <a:solidFill>
            <a:srgbClr val="FAF7F3"/>
          </a:solidFill>
          <a:ln>
            <a:noFill/>
          </a:ln>
          <a:effectLst/>
        </p:spPr>
        <p:txBody>
          <a:bodyPr rtlCol="0" anchor="ctr"/>
          <a:lstStyle/>
          <a:p>
            <a:pPr algn="ctr"/>
            <a:endParaRPr/>
          </a:p>
        </p:txBody>
      </p:sp>
      <p:sp>
        <p:nvSpPr>
          <p:cNvPr id="20" name="Shape 10"/>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21" name="Shape 11"/>
          <p:cNvSpPr/>
          <p:nvPr/>
        </p:nvSpPr>
        <p:spPr>
          <a:xfrm>
            <a:off x="3714750" y="1390650"/>
            <a:ext cx="381000" cy="381000"/>
          </a:xfrm>
          <a:prstGeom prst="ellipse">
            <a:avLst/>
          </a:prstGeom>
          <a:solidFill>
            <a:srgbClr val="1B1A1A"/>
          </a:solidFill>
          <a:ln>
            <a:noFill/>
          </a:ln>
          <a:effectLst/>
        </p:spPr>
        <p:txBody>
          <a:bodyPr rtlCol="0" anchor="ctr"/>
          <a:lstStyle/>
          <a:p>
            <a:pPr algn="ctr"/>
            <a:endParaRPr/>
          </a:p>
        </p:txBody>
      </p:sp>
      <p:pic>
        <p:nvPicPr>
          <p:cNvPr id="22" name="Picture 2" descr="Icon of a columned institution with a medical cross for reimbursement and policy"/>
          <p:cNvPicPr>
            <a:picLocks noChangeAspect="1"/>
          </p:cNvPicPr>
          <p:nvPr/>
        </p:nvPicPr>
        <p:blipFill>
          <a:blip r:embed="rId7"/>
          <a:stretch>
            <a:fillRect/>
          </a:stretch>
        </p:blipFill>
        <p:spPr>
          <a:xfrm>
            <a:off x="3781425" y="1457325"/>
            <a:ext cx="247650" cy="247650"/>
          </a:xfrm>
          <a:prstGeom prst="rect">
            <a:avLst/>
          </a:prstGeom>
        </p:spPr>
      </p:pic>
      <p:sp>
        <p:nvSpPr>
          <p:cNvPr id="23" name="TextBox 9"/>
          <p:cNvSpPr txBox="1"/>
          <p:nvPr/>
        </p:nvSpPr>
        <p:spPr>
          <a:xfrm>
            <a:off x="4210050" y="1495425"/>
            <a:ext cx="146417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Reimbursement and policy</a:t>
            </a:r>
          </a:p>
        </p:txBody>
      </p:sp>
      <p:sp>
        <p:nvSpPr>
          <p:cNvPr id="24" name="Shape 12"/>
          <p:cNvSpPr/>
          <p:nvPr/>
        </p:nvSpPr>
        <p:spPr>
          <a:xfrm>
            <a:off x="3714750" y="1924050"/>
            <a:ext cx="47625" cy="47625"/>
          </a:xfrm>
          <a:prstGeom prst="rect">
            <a:avLst/>
          </a:prstGeom>
          <a:solidFill>
            <a:srgbClr val="B68757"/>
          </a:solidFill>
          <a:ln>
            <a:noFill/>
          </a:ln>
          <a:effectLst/>
        </p:spPr>
        <p:txBody>
          <a:bodyPr rtlCol="0" anchor="ctr"/>
          <a:lstStyle/>
          <a:p>
            <a:pPr algn="ctr"/>
            <a:endParaRPr/>
          </a:p>
        </p:txBody>
      </p:sp>
      <p:sp>
        <p:nvSpPr>
          <p:cNvPr id="25" name="TextBox 10"/>
          <p:cNvSpPr txBox="1"/>
          <p:nvPr/>
        </p:nvSpPr>
        <p:spPr>
          <a:xfrm>
            <a:off x="3838575" y="186690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Medicare has proposed 2027 physician conversion factors of $33.17 and $32.84, reductions of 1.19% and 1.68%, with the final rule pending (</a:t>
            </a:r>
            <a:r>
              <a:rPr sz="900" b="0" i="0" spc="15">
                <a:solidFill>
                  <a:srgbClr val="8C6239"/>
                </a:solidFill>
                <a:latin typeface="Calibri"/>
                <a:hlinkClick r:id="rId8">
                  <a:extLst>
                    <a:ext uri="{A12FA001-AC4F-418D-AE19-62706E023703}">
                      <ahyp:hlinkClr xmlns:ahyp="http://schemas.microsoft.com/office/drawing/2018/hyperlinkcolor" val="tx"/>
                    </a:ext>
                  </a:extLst>
                </a:hlinkClick>
              </a:rPr>
              <a:t>CMS</a:t>
            </a:r>
            <a:r>
              <a:rPr sz="900" b="0" i="0" spc="15">
                <a:solidFill>
                  <a:srgbClr val="333231"/>
                </a:solidFill>
                <a:latin typeface="Calibri"/>
              </a:rPr>
              <a:t>).</a:t>
            </a:r>
          </a:p>
        </p:txBody>
      </p:sp>
      <p:sp>
        <p:nvSpPr>
          <p:cNvPr id="26" name="Shape 13"/>
          <p:cNvSpPr/>
          <p:nvPr/>
        </p:nvSpPr>
        <p:spPr>
          <a:xfrm>
            <a:off x="3714750" y="2460498"/>
            <a:ext cx="47625" cy="47625"/>
          </a:xfrm>
          <a:prstGeom prst="rect">
            <a:avLst/>
          </a:prstGeom>
          <a:solidFill>
            <a:srgbClr val="B68757"/>
          </a:solidFill>
          <a:ln>
            <a:noFill/>
          </a:ln>
          <a:effectLst/>
        </p:spPr>
        <p:txBody>
          <a:bodyPr rtlCol="0" anchor="ctr"/>
          <a:lstStyle/>
          <a:p>
            <a:pPr algn="ctr"/>
            <a:endParaRPr/>
          </a:p>
        </p:txBody>
      </p:sp>
      <p:sp>
        <p:nvSpPr>
          <p:cNvPr id="27" name="TextBox 11"/>
          <p:cNvSpPr txBox="1"/>
          <p:nvPr/>
        </p:nvSpPr>
        <p:spPr>
          <a:xfrm>
            <a:off x="3838575" y="2403348"/>
            <a:ext cx="2519362" cy="666495"/>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Hospital outpatient, surgery center, and home health rates are proposed to rise 2.4% (</a:t>
            </a:r>
            <a:r>
              <a:rPr sz="861" b="0" i="0" spc="15">
                <a:solidFill>
                  <a:srgbClr val="8C6239"/>
                </a:solidFill>
                <a:latin typeface="Calibri"/>
                <a:hlinkClick r:id="rId9"/>
              </a:rPr>
              <a:t>CMS outpatient rule</a:t>
            </a:r>
            <a:r>
              <a:rPr sz="861" b="0" i="0" spc="15">
                <a:solidFill>
                  <a:srgbClr val="333231"/>
                </a:solidFill>
                <a:latin typeface="Calibri"/>
              </a:rPr>
              <a:t>; </a:t>
            </a:r>
            <a:r>
              <a:rPr sz="861" b="0" i="0" spc="15">
                <a:solidFill>
                  <a:srgbClr val="8C6239"/>
                </a:solidFill>
                <a:latin typeface="Calibri"/>
                <a:hlinkClick r:id="rId10"/>
              </a:rPr>
              <a:t>CMS home health</a:t>
            </a:r>
            <a:r>
              <a:rPr sz="861" b="0" i="0" spc="15">
                <a:solidFill>
                  <a:srgbClr val="333231"/>
                </a:solidFill>
                <a:latin typeface="Calibri"/>
              </a:rPr>
              <a:t>), and Medicare Advantage rates rise 2.48% (</a:t>
            </a:r>
            <a:r>
              <a:rPr sz="861" b="0" i="0" spc="15">
                <a:solidFill>
                  <a:srgbClr val="8C6239"/>
                </a:solidFill>
                <a:latin typeface="Calibri"/>
                <a:hlinkClick r:id="rId11"/>
              </a:rPr>
              <a:t>CMS rate notice</a:t>
            </a:r>
            <a:r>
              <a:rPr sz="861" b="0" i="0" spc="15">
                <a:solidFill>
                  <a:srgbClr val="333231"/>
                </a:solidFill>
                <a:latin typeface="Calibri"/>
              </a:rPr>
              <a:t>).</a:t>
            </a:r>
          </a:p>
        </p:txBody>
      </p:sp>
      <p:sp>
        <p:nvSpPr>
          <p:cNvPr id="28" name="Shape 14"/>
          <p:cNvSpPr/>
          <p:nvPr/>
        </p:nvSpPr>
        <p:spPr>
          <a:xfrm>
            <a:off x="3714750" y="3163570"/>
            <a:ext cx="47625" cy="47625"/>
          </a:xfrm>
          <a:prstGeom prst="rect">
            <a:avLst/>
          </a:prstGeom>
          <a:solidFill>
            <a:srgbClr val="B68757"/>
          </a:solidFill>
          <a:ln>
            <a:noFill/>
          </a:ln>
          <a:effectLst/>
        </p:spPr>
        <p:txBody>
          <a:bodyPr rtlCol="0" anchor="ctr"/>
          <a:lstStyle/>
          <a:p>
            <a:pPr algn="ctr"/>
            <a:endParaRPr/>
          </a:p>
        </p:txBody>
      </p:sp>
      <p:sp>
        <p:nvSpPr>
          <p:cNvPr id="29" name="TextBox 12"/>
          <p:cNvSpPr txBox="1"/>
          <p:nvPr/>
        </p:nvSpPr>
        <p:spPr>
          <a:xfrm>
            <a:off x="3838575" y="310642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Medicaid work requirements and six-month eligibility reviews for expansion adults begin in January 2027 (</a:t>
            </a:r>
            <a:r>
              <a:rPr sz="900" b="0" i="0" spc="15">
                <a:solidFill>
                  <a:srgbClr val="8C6239"/>
                </a:solidFill>
                <a:latin typeface="Calibri"/>
                <a:hlinkClick r:id="rId12"/>
              </a:rPr>
              <a:t>CMS</a:t>
            </a:r>
            <a:r>
              <a:rPr sz="900" b="0" i="0" spc="15">
                <a:solidFill>
                  <a:srgbClr val="333231"/>
                </a:solidFill>
                <a:latin typeface="Calibri"/>
              </a:rPr>
              <a:t>).</a:t>
            </a:r>
          </a:p>
        </p:txBody>
      </p:sp>
      <p:sp>
        <p:nvSpPr>
          <p:cNvPr id="30" name="Shape 15"/>
          <p:cNvSpPr/>
          <p:nvPr/>
        </p:nvSpPr>
        <p:spPr>
          <a:xfrm>
            <a:off x="6667500" y="1238250"/>
            <a:ext cx="2971800" cy="2781300"/>
          </a:xfrm>
          <a:prstGeom prst="rect">
            <a:avLst/>
          </a:prstGeom>
          <a:solidFill>
            <a:srgbClr val="FAF7F3"/>
          </a:solidFill>
          <a:ln>
            <a:noFill/>
          </a:ln>
          <a:effectLst/>
        </p:spPr>
        <p:txBody>
          <a:bodyPr rtlCol="0" anchor="ctr"/>
          <a:lstStyle/>
          <a:p>
            <a:pPr algn="ctr"/>
            <a:endParaRPr/>
          </a:p>
        </p:txBody>
      </p:sp>
      <p:sp>
        <p:nvSpPr>
          <p:cNvPr id="31" name="Shape 16"/>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32" name="Shape 17"/>
          <p:cNvSpPr/>
          <p:nvPr/>
        </p:nvSpPr>
        <p:spPr>
          <a:xfrm>
            <a:off x="6838950" y="1390650"/>
            <a:ext cx="381000" cy="381000"/>
          </a:xfrm>
          <a:prstGeom prst="ellipse">
            <a:avLst/>
          </a:prstGeom>
          <a:solidFill>
            <a:srgbClr val="1B1A1A"/>
          </a:solidFill>
          <a:ln>
            <a:noFill/>
          </a:ln>
          <a:effectLst/>
        </p:spPr>
        <p:txBody>
          <a:bodyPr rtlCol="0" anchor="ctr"/>
          <a:lstStyle/>
          <a:p>
            <a:pPr algn="ctr"/>
            <a:endParaRPr/>
          </a:p>
        </p:txBody>
      </p:sp>
      <p:pic>
        <p:nvPicPr>
          <p:cNvPr id="33" name="Picture 3" descr="Icon of a rising trend line for financing and macro backdrop"/>
          <p:cNvPicPr>
            <a:picLocks noChangeAspect="1"/>
          </p:cNvPicPr>
          <p:nvPr/>
        </p:nvPicPr>
        <p:blipFill>
          <a:blip r:embed="rId13"/>
          <a:stretch>
            <a:fillRect/>
          </a:stretch>
        </p:blipFill>
        <p:spPr>
          <a:xfrm>
            <a:off x="6905625" y="1457325"/>
            <a:ext cx="247650" cy="247650"/>
          </a:xfrm>
          <a:prstGeom prst="rect">
            <a:avLst/>
          </a:prstGeom>
        </p:spPr>
      </p:pic>
      <p:sp>
        <p:nvSpPr>
          <p:cNvPr id="34" name="TextBox 13"/>
          <p:cNvSpPr txBox="1"/>
          <p:nvPr/>
        </p:nvSpPr>
        <p:spPr>
          <a:xfrm>
            <a:off x="7334250" y="1495425"/>
            <a:ext cx="1668661"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Financing and macro backdrop</a:t>
            </a:r>
          </a:p>
        </p:txBody>
      </p:sp>
      <p:sp>
        <p:nvSpPr>
          <p:cNvPr id="35" name="Shape 18"/>
          <p:cNvSpPr/>
          <p:nvPr/>
        </p:nvSpPr>
        <p:spPr>
          <a:xfrm>
            <a:off x="6838950" y="1933575"/>
            <a:ext cx="47625" cy="47625"/>
          </a:xfrm>
          <a:prstGeom prst="rect">
            <a:avLst/>
          </a:prstGeom>
          <a:solidFill>
            <a:srgbClr val="B68757"/>
          </a:solidFill>
          <a:ln>
            <a:noFill/>
          </a:ln>
          <a:effectLst/>
        </p:spPr>
        <p:txBody>
          <a:bodyPr rtlCol="0" anchor="ctr"/>
          <a:lstStyle/>
          <a:p>
            <a:pPr algn="ctr"/>
            <a:endParaRPr/>
          </a:p>
        </p:txBody>
      </p:sp>
      <p:sp>
        <p:nvSpPr>
          <p:cNvPr id="36" name="TextBox 14"/>
          <p:cNvSpPr txBox="1"/>
          <p:nvPr/>
        </p:nvSpPr>
        <p:spPr>
          <a:xfrm>
            <a:off x="6962775" y="1866900"/>
            <a:ext cx="2519362" cy="666495"/>
          </a:xfrm>
          <a:prstGeom prst="rect">
            <a:avLst/>
          </a:prstGeom>
          <a:noFill/>
        </p:spPr>
        <p:txBody>
          <a:bodyPr wrap="square" lIns="0" tIns="0" rIns="0" bIns="0" anchor="t">
            <a:spAutoFit/>
          </a:bodyPr>
          <a:lstStyle/>
          <a:p>
            <a:pPr algn="l">
              <a:lnSpc>
                <a:spcPts val="1351"/>
              </a:lnSpc>
            </a:pPr>
            <a:r>
              <a:rPr sz="900" b="0" i="0" spc="15">
                <a:solidFill>
                  <a:srgbClr val="333231"/>
                </a:solidFill>
                <a:latin typeface="Calibri"/>
              </a:rPr>
              <a:t>The Federal Reserve raised its target range to 3.75% to 4.00% on September 16 (</a:t>
            </a:r>
            <a:r>
              <a:rPr sz="900" b="0" i="0" spc="15">
                <a:solidFill>
                  <a:srgbClr val="8C6239"/>
                </a:solidFill>
                <a:latin typeface="Calibri"/>
                <a:hlinkClick r:id="rId14"/>
              </a:rPr>
              <a:t>Federal Reserve</a:t>
            </a:r>
            <a:r>
              <a:rPr sz="900" b="0" i="0" spc="15">
                <a:solidFill>
                  <a:srgbClr val="333231"/>
                </a:solidFill>
                <a:latin typeface="Calibri"/>
              </a:rPr>
              <a:t>), and the 10-year Treasury yielded 5.09% on October 16 (</a:t>
            </a:r>
            <a:r>
              <a:rPr sz="900" b="0" i="0" spc="15">
                <a:solidFill>
                  <a:srgbClr val="8C6239"/>
                </a:solidFill>
                <a:latin typeface="Calibri"/>
                <a:hlinkClick r:id="rId15"/>
              </a:rPr>
              <a:t>US Treasury</a:t>
            </a:r>
            <a:r>
              <a:rPr sz="900" b="0" i="0" spc="15">
                <a:solidFill>
                  <a:srgbClr val="333231"/>
                </a:solidFill>
                <a:latin typeface="Calibri"/>
              </a:rPr>
              <a:t>).</a:t>
            </a:r>
          </a:p>
        </p:txBody>
      </p:sp>
      <p:sp>
        <p:nvSpPr>
          <p:cNvPr id="37" name="Shape 19"/>
          <p:cNvSpPr/>
          <p:nvPr/>
        </p:nvSpPr>
        <p:spPr>
          <a:xfrm>
            <a:off x="6838950" y="2657665"/>
            <a:ext cx="47625" cy="47625"/>
          </a:xfrm>
          <a:prstGeom prst="rect">
            <a:avLst/>
          </a:prstGeom>
          <a:solidFill>
            <a:srgbClr val="B68757"/>
          </a:solidFill>
          <a:ln>
            <a:noFill/>
          </a:ln>
          <a:effectLst/>
        </p:spPr>
        <p:txBody>
          <a:bodyPr rtlCol="0" anchor="ctr"/>
          <a:lstStyle/>
          <a:p>
            <a:pPr algn="ctr"/>
            <a:endParaRPr/>
          </a:p>
        </p:txBody>
      </p:sp>
      <p:sp>
        <p:nvSpPr>
          <p:cNvPr id="38" name="TextBox 15"/>
          <p:cNvSpPr txBox="1"/>
          <p:nvPr/>
        </p:nvSpPr>
        <p:spPr>
          <a:xfrm>
            <a:off x="6962775" y="2590990"/>
            <a:ext cx="2519362" cy="666495"/>
          </a:xfrm>
          <a:prstGeom prst="rect">
            <a:avLst/>
          </a:prstGeom>
          <a:noFill/>
        </p:spPr>
        <p:txBody>
          <a:bodyPr wrap="square" lIns="0" tIns="0" rIns="0" bIns="0" anchor="t">
            <a:spAutoFit/>
          </a:bodyPr>
          <a:lstStyle/>
          <a:p>
            <a:pPr algn="l">
              <a:lnSpc>
                <a:spcPts val="1351"/>
              </a:lnSpc>
            </a:pPr>
            <a:r>
              <a:rPr sz="900" b="0" i="0" spc="15">
                <a:solidFill>
                  <a:srgbClr val="333231"/>
                </a:solidFill>
                <a:latin typeface="Calibri"/>
              </a:rPr>
              <a:t>In a small sample of recent buyout loans, PitchBook found direct-lender spreads averaging 509 basis points in the second quarter against 474 in the first (</a:t>
            </a:r>
            <a:r>
              <a:rPr sz="900" b="0" i="0" spc="15">
                <a:solidFill>
                  <a:srgbClr val="8C6239"/>
                </a:solidFill>
                <a:latin typeface="Calibri"/>
                <a:hlinkClick r:id="rId16"/>
              </a:rPr>
              <a:t>PitchBook</a:t>
            </a:r>
            <a:r>
              <a:rPr sz="900" b="0" i="0" spc="15">
                <a:solidFill>
                  <a:srgbClr val="333231"/>
                </a:solidFill>
                <a:latin typeface="Calibri"/>
              </a:rPr>
              <a:t>).</a:t>
            </a:r>
          </a:p>
        </p:txBody>
      </p:sp>
      <p:sp>
        <p:nvSpPr>
          <p:cNvPr id="39" name="Shape 20"/>
          <p:cNvSpPr/>
          <p:nvPr/>
        </p:nvSpPr>
        <p:spPr>
          <a:xfrm>
            <a:off x="6838950" y="3381755"/>
            <a:ext cx="47625" cy="47625"/>
          </a:xfrm>
          <a:prstGeom prst="rect">
            <a:avLst/>
          </a:prstGeom>
          <a:solidFill>
            <a:srgbClr val="B68757"/>
          </a:solidFill>
          <a:ln>
            <a:noFill/>
          </a:ln>
          <a:effectLst/>
        </p:spPr>
        <p:txBody>
          <a:bodyPr rtlCol="0" anchor="ctr"/>
          <a:lstStyle/>
          <a:p>
            <a:pPr algn="ctr"/>
            <a:endParaRPr/>
          </a:p>
        </p:txBody>
      </p:sp>
      <p:sp>
        <p:nvSpPr>
          <p:cNvPr id="40" name="TextBox 16"/>
          <p:cNvSpPr txBox="1"/>
          <p:nvPr/>
        </p:nvSpPr>
        <p:spPr>
          <a:xfrm>
            <a:off x="6962775" y="331508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Completed middle-market transactions across industries averaged 7.0x EBITDA, with senior debt priced at 7.8% (</a:t>
            </a:r>
            <a:r>
              <a:rPr sz="900" b="0" i="0" spc="15">
                <a:solidFill>
                  <a:srgbClr val="8C6239"/>
                </a:solidFill>
                <a:latin typeface="Calibri"/>
                <a:hlinkClick r:id="rId17">
                  <a:extLst>
                    <a:ext uri="{A12FA001-AC4F-418D-AE19-62706E023703}">
                      <ahyp:hlinkClr xmlns:ahyp="http://schemas.microsoft.com/office/drawing/2018/hyperlinkcolor" val="tx"/>
                    </a:ext>
                  </a:extLst>
                </a:hlinkClick>
              </a:rPr>
              <a:t>GF Data via ACG</a:t>
            </a:r>
            <a:r>
              <a:rPr sz="900" b="0" i="0" spc="15">
                <a:solidFill>
                  <a:srgbClr val="333231"/>
                </a:solidFill>
                <a:latin typeface="Calibri"/>
              </a:rPr>
              <a:t>).</a:t>
            </a:r>
          </a:p>
        </p:txBody>
      </p:sp>
      <p:sp>
        <p:nvSpPr>
          <p:cNvPr id="41" name="Shape 21"/>
          <p:cNvSpPr/>
          <p:nvPr/>
        </p:nvSpPr>
        <p:spPr>
          <a:xfrm>
            <a:off x="419100" y="4152900"/>
            <a:ext cx="2971800" cy="2781300"/>
          </a:xfrm>
          <a:prstGeom prst="rect">
            <a:avLst/>
          </a:prstGeom>
          <a:solidFill>
            <a:srgbClr val="FAF7F3"/>
          </a:solidFill>
          <a:ln>
            <a:noFill/>
          </a:ln>
          <a:effectLst/>
        </p:spPr>
        <p:txBody>
          <a:bodyPr rtlCol="0" anchor="ctr"/>
          <a:lstStyle/>
          <a:p>
            <a:pPr algn="ctr"/>
            <a:endParaRPr/>
          </a:p>
        </p:txBody>
      </p:sp>
      <p:sp>
        <p:nvSpPr>
          <p:cNvPr id="42" name="Shape 22"/>
          <p:cNvSpPr/>
          <p:nvPr/>
        </p:nvSpPr>
        <p:spPr>
          <a:xfrm>
            <a:off x="419100" y="4152900"/>
            <a:ext cx="2971800" cy="28575"/>
          </a:xfrm>
          <a:prstGeom prst="rect">
            <a:avLst/>
          </a:prstGeom>
          <a:solidFill>
            <a:srgbClr val="B68757"/>
          </a:solidFill>
          <a:ln>
            <a:noFill/>
          </a:ln>
          <a:effectLst/>
        </p:spPr>
        <p:txBody>
          <a:bodyPr rtlCol="0" anchor="ctr"/>
          <a:lstStyle/>
          <a:p>
            <a:pPr algn="ctr"/>
            <a:endParaRPr/>
          </a:p>
        </p:txBody>
      </p:sp>
      <p:sp>
        <p:nvSpPr>
          <p:cNvPr id="43" name="Shape 23"/>
          <p:cNvSpPr/>
          <p:nvPr/>
        </p:nvSpPr>
        <p:spPr>
          <a:xfrm>
            <a:off x="590550" y="4305300"/>
            <a:ext cx="381000" cy="381000"/>
          </a:xfrm>
          <a:prstGeom prst="ellipse">
            <a:avLst/>
          </a:prstGeom>
          <a:solidFill>
            <a:srgbClr val="1B1A1A"/>
          </a:solidFill>
          <a:ln>
            <a:noFill/>
          </a:ln>
          <a:effectLst/>
        </p:spPr>
        <p:txBody>
          <a:bodyPr rtlCol="0" anchor="ctr"/>
          <a:lstStyle/>
          <a:p>
            <a:pPr algn="ctr"/>
            <a:endParaRPr/>
          </a:p>
        </p:txBody>
      </p:sp>
      <p:pic>
        <p:nvPicPr>
          <p:cNvPr id="44" name="Picture 4" descr="Icon of a heart with a pulse line for demand fundamentals"/>
          <p:cNvPicPr>
            <a:picLocks noChangeAspect="1"/>
          </p:cNvPicPr>
          <p:nvPr/>
        </p:nvPicPr>
        <p:blipFill>
          <a:blip r:embed="rId18"/>
          <a:stretch>
            <a:fillRect/>
          </a:stretch>
        </p:blipFill>
        <p:spPr>
          <a:xfrm>
            <a:off x="657225" y="4371975"/>
            <a:ext cx="247650" cy="247650"/>
          </a:xfrm>
          <a:prstGeom prst="rect">
            <a:avLst/>
          </a:prstGeom>
        </p:spPr>
      </p:pic>
      <p:sp>
        <p:nvSpPr>
          <p:cNvPr id="45" name="TextBox 17"/>
          <p:cNvSpPr txBox="1"/>
          <p:nvPr/>
        </p:nvSpPr>
        <p:spPr>
          <a:xfrm>
            <a:off x="1085850" y="4410075"/>
            <a:ext cx="1251347"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Demand fundamentals</a:t>
            </a:r>
          </a:p>
        </p:txBody>
      </p:sp>
      <p:sp>
        <p:nvSpPr>
          <p:cNvPr id="46" name="Shape 24"/>
          <p:cNvSpPr/>
          <p:nvPr/>
        </p:nvSpPr>
        <p:spPr>
          <a:xfrm>
            <a:off x="590550" y="4819650"/>
            <a:ext cx="47625" cy="47625"/>
          </a:xfrm>
          <a:prstGeom prst="rect">
            <a:avLst/>
          </a:prstGeom>
          <a:solidFill>
            <a:srgbClr val="B68757"/>
          </a:solidFill>
          <a:ln>
            <a:noFill/>
          </a:ln>
          <a:effectLst/>
        </p:spPr>
        <p:txBody>
          <a:bodyPr rtlCol="0" anchor="ctr"/>
          <a:lstStyle/>
          <a:p>
            <a:pPr algn="ctr"/>
            <a:endParaRPr/>
          </a:p>
        </p:txBody>
      </p:sp>
      <p:sp>
        <p:nvSpPr>
          <p:cNvPr id="47" name="TextBox 18"/>
          <p:cNvSpPr txBox="1"/>
          <p:nvPr/>
        </p:nvSpPr>
        <p:spPr>
          <a:xfrm>
            <a:off x="714375" y="4781550"/>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National health spending grew 6.8% in the year to July 2026 and represented 18.4% of GDP (</a:t>
            </a:r>
            <a:r>
              <a:rPr sz="900" b="0" i="0" spc="15">
                <a:solidFill>
                  <a:srgbClr val="8C6239"/>
                </a:solidFill>
                <a:latin typeface="Calibri"/>
                <a:hlinkClick r:id="rId19">
                  <a:extLst>
                    <a:ext uri="{A12FA001-AC4F-418D-AE19-62706E023703}">
                      <ahyp:hlinkClr xmlns:ahyp="http://schemas.microsoft.com/office/drawing/2018/hyperlinkcolor" val="tx"/>
                    </a:ext>
                  </a:extLst>
                </a:hlinkClick>
              </a:rPr>
              <a:t>Altarum</a:t>
            </a:r>
            <a:r>
              <a:rPr sz="900" b="0" i="0" spc="15">
                <a:solidFill>
                  <a:srgbClr val="333231"/>
                </a:solidFill>
                <a:latin typeface="Calibri"/>
              </a:rPr>
              <a:t>).</a:t>
            </a:r>
          </a:p>
        </p:txBody>
      </p:sp>
      <p:sp>
        <p:nvSpPr>
          <p:cNvPr id="48" name="Shape 25"/>
          <p:cNvSpPr/>
          <p:nvPr/>
        </p:nvSpPr>
        <p:spPr>
          <a:xfrm>
            <a:off x="590550" y="5310378"/>
            <a:ext cx="47625" cy="47625"/>
          </a:xfrm>
          <a:prstGeom prst="rect">
            <a:avLst/>
          </a:prstGeom>
          <a:solidFill>
            <a:srgbClr val="B68757"/>
          </a:solidFill>
          <a:ln>
            <a:noFill/>
          </a:ln>
          <a:effectLst/>
        </p:spPr>
        <p:txBody>
          <a:bodyPr rtlCol="0" anchor="ctr"/>
          <a:lstStyle/>
          <a:p>
            <a:pPr algn="ctr"/>
            <a:endParaRPr/>
          </a:p>
        </p:txBody>
      </p:sp>
      <p:sp>
        <p:nvSpPr>
          <p:cNvPr id="49" name="TextBox 19"/>
          <p:cNvSpPr txBox="1"/>
          <p:nvPr/>
        </p:nvSpPr>
        <p:spPr>
          <a:xfrm>
            <a:off x="714375" y="5243703"/>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CMS projects nearly $9.0 trillion of spending in 2034, or 20.6% of GDP, on average annual growth of 5.4% (</a:t>
            </a:r>
            <a:r>
              <a:rPr sz="900" b="0" i="0" spc="15">
                <a:solidFill>
                  <a:srgbClr val="8C6239"/>
                </a:solidFill>
                <a:latin typeface="Calibri"/>
                <a:hlinkClick r:id="rId20">
                  <a:extLst>
                    <a:ext uri="{A12FA001-AC4F-418D-AE19-62706E023703}">
                      <ahyp:hlinkClr xmlns:ahyp="http://schemas.microsoft.com/office/drawing/2018/hyperlinkcolor" val="tx"/>
                    </a:ext>
                  </a:extLst>
                </a:hlinkClick>
              </a:rPr>
              <a:t>CMS</a:t>
            </a:r>
            <a:r>
              <a:rPr sz="900" b="0" i="0" spc="15">
                <a:solidFill>
                  <a:srgbClr val="333231"/>
                </a:solidFill>
                <a:latin typeface="Calibri"/>
              </a:rPr>
              <a:t>).</a:t>
            </a:r>
          </a:p>
        </p:txBody>
      </p:sp>
      <p:sp>
        <p:nvSpPr>
          <p:cNvPr id="50" name="Shape 26"/>
          <p:cNvSpPr/>
          <p:nvPr/>
        </p:nvSpPr>
        <p:spPr>
          <a:xfrm>
            <a:off x="590550" y="5953506"/>
            <a:ext cx="47625" cy="47625"/>
          </a:xfrm>
          <a:prstGeom prst="rect">
            <a:avLst/>
          </a:prstGeom>
          <a:solidFill>
            <a:srgbClr val="B68757"/>
          </a:solidFill>
          <a:ln>
            <a:noFill/>
          </a:ln>
          <a:effectLst/>
        </p:spPr>
        <p:txBody>
          <a:bodyPr rtlCol="0" anchor="ctr"/>
          <a:lstStyle/>
          <a:p>
            <a:pPr algn="ctr"/>
            <a:endParaRPr/>
          </a:p>
        </p:txBody>
      </p:sp>
      <p:sp>
        <p:nvSpPr>
          <p:cNvPr id="51" name="TextBox 20"/>
          <p:cNvSpPr txBox="1"/>
          <p:nvPr/>
        </p:nvSpPr>
        <p:spPr>
          <a:xfrm>
            <a:off x="714375" y="5896356"/>
            <a:ext cx="2519362" cy="499871"/>
          </a:xfrm>
          <a:prstGeom prst="rect">
            <a:avLst/>
          </a:prstGeom>
          <a:noFill/>
        </p:spPr>
        <p:txBody>
          <a:bodyPr wrap="square" lIns="0" tIns="0" rIns="0" bIns="0" anchor="t">
            <a:spAutoFit/>
          </a:bodyPr>
          <a:lstStyle/>
          <a:p>
            <a:pPr algn="l">
              <a:lnSpc>
                <a:spcPts val="1391"/>
              </a:lnSpc>
            </a:pPr>
            <a:r>
              <a:rPr sz="900" b="0" i="0" spc="15">
                <a:solidFill>
                  <a:srgbClr val="333231"/>
                </a:solidFill>
                <a:latin typeface="Calibri"/>
              </a:rPr>
              <a:t>Healthcare employers added 17,000 jobs in September against a twelve-month average of 33,000 (</a:t>
            </a:r>
            <a:r>
              <a:rPr sz="900" b="0" i="0" spc="15">
                <a:solidFill>
                  <a:srgbClr val="8C6239"/>
                </a:solidFill>
                <a:latin typeface="Calibri"/>
                <a:hlinkClick r:id="rId21">
                  <a:extLst>
                    <a:ext uri="{A12FA001-AC4F-418D-AE19-62706E023703}">
                      <ahyp:hlinkClr xmlns:ahyp="http://schemas.microsoft.com/office/drawing/2018/hyperlinkcolor" val="tx"/>
                    </a:ext>
                  </a:extLst>
                </a:hlinkClick>
              </a:rPr>
              <a:t>Bureau of Labor Statistics</a:t>
            </a:r>
            <a:r>
              <a:rPr sz="900" b="0" i="0" spc="15">
                <a:solidFill>
                  <a:srgbClr val="333231"/>
                </a:solidFill>
                <a:latin typeface="Calibri"/>
              </a:rPr>
              <a:t>).</a:t>
            </a:r>
          </a:p>
        </p:txBody>
      </p:sp>
      <p:sp>
        <p:nvSpPr>
          <p:cNvPr id="52" name="Shape 27"/>
          <p:cNvSpPr/>
          <p:nvPr/>
        </p:nvSpPr>
        <p:spPr>
          <a:xfrm>
            <a:off x="3543300" y="4152900"/>
            <a:ext cx="2971800" cy="2781300"/>
          </a:xfrm>
          <a:prstGeom prst="rect">
            <a:avLst/>
          </a:prstGeom>
          <a:solidFill>
            <a:srgbClr val="FAF7F3"/>
          </a:solidFill>
          <a:ln>
            <a:noFill/>
          </a:ln>
          <a:effectLst/>
        </p:spPr>
        <p:txBody>
          <a:bodyPr rtlCol="0" anchor="ctr"/>
          <a:lstStyle/>
          <a:p>
            <a:pPr algn="ctr"/>
            <a:endParaRPr/>
          </a:p>
        </p:txBody>
      </p:sp>
      <p:sp>
        <p:nvSpPr>
          <p:cNvPr id="53" name="Shape 28"/>
          <p:cNvSpPr/>
          <p:nvPr/>
        </p:nvSpPr>
        <p:spPr>
          <a:xfrm>
            <a:off x="3543300" y="4152900"/>
            <a:ext cx="2971800" cy="28575"/>
          </a:xfrm>
          <a:prstGeom prst="rect">
            <a:avLst/>
          </a:prstGeom>
          <a:solidFill>
            <a:srgbClr val="B68757"/>
          </a:solidFill>
          <a:ln>
            <a:noFill/>
          </a:ln>
          <a:effectLst/>
        </p:spPr>
        <p:txBody>
          <a:bodyPr rtlCol="0" anchor="ctr"/>
          <a:lstStyle/>
          <a:p>
            <a:pPr algn="ctr"/>
            <a:endParaRPr/>
          </a:p>
        </p:txBody>
      </p:sp>
      <p:sp>
        <p:nvSpPr>
          <p:cNvPr id="54" name="Shape 29"/>
          <p:cNvSpPr/>
          <p:nvPr/>
        </p:nvSpPr>
        <p:spPr>
          <a:xfrm>
            <a:off x="3714750" y="4305300"/>
            <a:ext cx="381000" cy="381000"/>
          </a:xfrm>
          <a:prstGeom prst="ellipse">
            <a:avLst/>
          </a:prstGeom>
          <a:solidFill>
            <a:srgbClr val="1B1A1A"/>
          </a:solidFill>
          <a:ln>
            <a:noFill/>
          </a:ln>
          <a:effectLst/>
        </p:spPr>
        <p:txBody>
          <a:bodyPr rtlCol="0" anchor="ctr"/>
          <a:lstStyle/>
          <a:p>
            <a:pPr algn="ctr"/>
            <a:endParaRPr/>
          </a:p>
        </p:txBody>
      </p:sp>
      <p:pic>
        <p:nvPicPr>
          <p:cNvPr id="55" name="Picture 5" descr="Icon of a globe for trade and deal regulation"/>
          <p:cNvPicPr>
            <a:picLocks noChangeAspect="1"/>
          </p:cNvPicPr>
          <p:nvPr/>
        </p:nvPicPr>
        <p:blipFill>
          <a:blip r:embed="rId22"/>
          <a:stretch>
            <a:fillRect/>
          </a:stretch>
        </p:blipFill>
        <p:spPr>
          <a:xfrm>
            <a:off x="3781425" y="4371975"/>
            <a:ext cx="247650" cy="247650"/>
          </a:xfrm>
          <a:prstGeom prst="rect">
            <a:avLst/>
          </a:prstGeom>
        </p:spPr>
      </p:pic>
      <p:sp>
        <p:nvSpPr>
          <p:cNvPr id="56" name="TextBox 21"/>
          <p:cNvSpPr txBox="1"/>
          <p:nvPr/>
        </p:nvSpPr>
        <p:spPr>
          <a:xfrm>
            <a:off x="4210050" y="4410075"/>
            <a:ext cx="1400026" cy="171450"/>
          </a:xfrm>
          <a:prstGeom prst="rect">
            <a:avLst/>
          </a:prstGeom>
          <a:noFill/>
        </p:spPr>
        <p:txBody>
          <a:bodyPr wrap="square" lIns="0" tIns="0" rIns="0" bIns="0" anchor="t">
            <a:spAutoFit/>
          </a:bodyPr>
          <a:lstStyle/>
          <a:p>
            <a:pPr algn="l">
              <a:lnSpc>
                <a:spcPts val="1350"/>
              </a:lnSpc>
            </a:pPr>
            <a:r>
              <a:rPr sz="1011" b="1" i="0" spc="8">
                <a:solidFill>
                  <a:srgbClr val="1B1A1A"/>
                </a:solidFill>
                <a:latin typeface="Calibri"/>
              </a:rPr>
              <a:t>Trade and deal regulation</a:t>
            </a:r>
          </a:p>
        </p:txBody>
      </p:sp>
      <p:sp>
        <p:nvSpPr>
          <p:cNvPr id="57" name="Shape 30"/>
          <p:cNvSpPr/>
          <p:nvPr/>
        </p:nvSpPr>
        <p:spPr>
          <a:xfrm>
            <a:off x="3714750" y="4838700"/>
            <a:ext cx="47625" cy="47625"/>
          </a:xfrm>
          <a:prstGeom prst="rect">
            <a:avLst/>
          </a:prstGeom>
          <a:solidFill>
            <a:srgbClr val="B68757"/>
          </a:solidFill>
          <a:ln>
            <a:noFill/>
          </a:ln>
          <a:effectLst/>
        </p:spPr>
        <p:txBody>
          <a:bodyPr rtlCol="0" anchor="ctr"/>
          <a:lstStyle/>
          <a:p>
            <a:pPr algn="ctr"/>
            <a:endParaRPr/>
          </a:p>
        </p:txBody>
      </p:sp>
      <p:sp>
        <p:nvSpPr>
          <p:cNvPr id="58" name="TextBox 22"/>
          <p:cNvSpPr txBox="1"/>
          <p:nvPr/>
        </p:nvSpPr>
        <p:spPr>
          <a:xfrm>
            <a:off x="3838575" y="4781550"/>
            <a:ext cx="2519362" cy="999743"/>
          </a:xfrm>
          <a:prstGeom prst="rect">
            <a:avLst/>
          </a:prstGeom>
          <a:noFill/>
        </p:spPr>
        <p:txBody>
          <a:bodyPr wrap="square" lIns="0" tIns="0" rIns="0" bIns="0" anchor="t">
            <a:spAutoFit/>
          </a:bodyPr>
          <a:lstStyle/>
          <a:p>
            <a:pPr algn="l">
              <a:lnSpc>
                <a:spcPts val="1312"/>
              </a:lnSpc>
            </a:pPr>
            <a:r>
              <a:rPr sz="861" b="0" i="0" spc="15">
                <a:solidFill>
                  <a:srgbClr val="333231"/>
                </a:solidFill>
                <a:latin typeface="Calibri"/>
              </a:rPr>
              <a:t>A 100% default tariff applies to covered patented pharmaceuticals, with country and company exceptions and generics excluded (</a:t>
            </a:r>
            <a:r>
              <a:rPr sz="861" b="0" i="0" spc="15">
                <a:solidFill>
                  <a:srgbClr val="8C6239"/>
                </a:solidFill>
                <a:latin typeface="Calibri"/>
                <a:hlinkClick r:id="rId23">
                  <a:extLst>
                    <a:ext uri="{A12FA001-AC4F-418D-AE19-62706E023703}">
                      <ahyp:hlinkClr xmlns:ahyp="http://schemas.microsoft.com/office/drawing/2018/hyperlinkcolor" val="tx"/>
                    </a:ext>
                  </a:extLst>
                </a:hlinkClick>
              </a:rPr>
              <a:t>White House proclamation</a:t>
            </a:r>
            <a:r>
              <a:rPr sz="861" b="0" i="0" spc="15">
                <a:solidFill>
                  <a:srgbClr val="333231"/>
                </a:solidFill>
                <a:latin typeface="Calibri"/>
              </a:rPr>
              <a:t>). The medical device investigation remained open in September with no tariff imposed (</a:t>
            </a:r>
            <a:r>
              <a:rPr sz="861" b="0" i="0" spc="15">
                <a:solidFill>
                  <a:srgbClr val="8C6239"/>
                </a:solidFill>
                <a:latin typeface="Calibri"/>
                <a:hlinkClick r:id="rId24">
                  <a:extLst>
                    <a:ext uri="{A12FA001-AC4F-418D-AE19-62706E023703}">
                      <ahyp:hlinkClr xmlns:ahyp="http://schemas.microsoft.com/office/drawing/2018/hyperlinkcolor" val="tx"/>
                    </a:ext>
                  </a:extLst>
                </a:hlinkClick>
              </a:rPr>
              <a:t>iData Research</a:t>
            </a:r>
            <a:r>
              <a:rPr sz="861" b="0" i="0" spc="15">
                <a:solidFill>
                  <a:srgbClr val="333231"/>
                </a:solidFill>
                <a:latin typeface="Calibri"/>
              </a:rPr>
              <a:t>).</a:t>
            </a:r>
          </a:p>
        </p:txBody>
      </p:sp>
      <p:sp>
        <p:nvSpPr>
          <p:cNvPr id="59" name="Shape 31"/>
          <p:cNvSpPr/>
          <p:nvPr/>
        </p:nvSpPr>
        <p:spPr>
          <a:xfrm>
            <a:off x="3714750" y="5929884"/>
            <a:ext cx="47625" cy="47625"/>
          </a:xfrm>
          <a:prstGeom prst="rect">
            <a:avLst/>
          </a:prstGeom>
          <a:solidFill>
            <a:srgbClr val="B68757"/>
          </a:solidFill>
          <a:ln>
            <a:noFill/>
          </a:ln>
          <a:effectLst/>
        </p:spPr>
        <p:txBody>
          <a:bodyPr rtlCol="0" anchor="ctr"/>
          <a:lstStyle/>
          <a:p>
            <a:pPr algn="ctr"/>
            <a:endParaRPr/>
          </a:p>
        </p:txBody>
      </p:sp>
      <p:sp>
        <p:nvSpPr>
          <p:cNvPr id="60" name="TextBox 23"/>
          <p:cNvSpPr txBox="1"/>
          <p:nvPr/>
        </p:nvSpPr>
        <p:spPr>
          <a:xfrm>
            <a:off x="3838575" y="5872734"/>
            <a:ext cx="2519362" cy="833119"/>
          </a:xfrm>
          <a:prstGeom prst="rect">
            <a:avLst/>
          </a:prstGeom>
          <a:noFill/>
        </p:spPr>
        <p:txBody>
          <a:bodyPr wrap="square" lIns="0" tIns="0" rIns="0" bIns="0" anchor="t">
            <a:spAutoFit/>
          </a:bodyPr>
          <a:lstStyle/>
          <a:p>
            <a:pPr algn="l">
              <a:lnSpc>
                <a:spcPts val="1351"/>
              </a:lnSpc>
            </a:pPr>
            <a:r>
              <a:rPr sz="900" b="0" i="0" spc="15" dirty="0">
                <a:solidFill>
                  <a:srgbClr val="333231"/>
                </a:solidFill>
                <a:latin typeface="Calibri"/>
              </a:rPr>
              <a:t>California now requires transaction notices from private equity groups and management services organizations (</a:t>
            </a:r>
            <a:r>
              <a:rPr sz="900" b="0" i="0" spc="15" dirty="0">
                <a:solidFill>
                  <a:srgbClr val="8C6239"/>
                </a:solidFill>
                <a:latin typeface="Calibri"/>
                <a:hlinkClick r:id="rId25"/>
              </a:rPr>
              <a:t>Nixon Peabody</a:t>
            </a:r>
            <a:r>
              <a:rPr sz="900" b="0" i="0" spc="15" dirty="0">
                <a:solidFill>
                  <a:srgbClr val="333231"/>
                </a:solidFill>
                <a:latin typeface="Calibri"/>
              </a:rPr>
              <a:t>), and Maine’s 180-day notice and approval regime begins January 1, 2027 (</a:t>
            </a:r>
            <a:r>
              <a:rPr sz="900" b="0" i="0" spc="15" dirty="0">
                <a:solidFill>
                  <a:srgbClr val="8C6239"/>
                </a:solidFill>
                <a:latin typeface="Calibri"/>
                <a:hlinkClick r:id="rId26"/>
              </a:rPr>
              <a:t>Foley &amp; Lardner</a:t>
            </a:r>
            <a:r>
              <a:rPr sz="900" b="0" i="0" spc="15" dirty="0">
                <a:solidFill>
                  <a:srgbClr val="333231"/>
                </a:solidFill>
                <a:latin typeface="Calibri"/>
              </a:rPr>
              <a:t>).</a:t>
            </a:r>
          </a:p>
        </p:txBody>
      </p:sp>
      <p:sp>
        <p:nvSpPr>
          <p:cNvPr id="61" name="Shape 32"/>
          <p:cNvSpPr/>
          <p:nvPr/>
        </p:nvSpPr>
        <p:spPr>
          <a:xfrm>
            <a:off x="6667500" y="4152900"/>
            <a:ext cx="2971800" cy="2781300"/>
          </a:xfrm>
          <a:prstGeom prst="rect">
            <a:avLst/>
          </a:prstGeom>
          <a:solidFill>
            <a:srgbClr val="1B1A1A"/>
          </a:solidFill>
          <a:ln>
            <a:noFill/>
          </a:ln>
          <a:effectLst/>
        </p:spPr>
        <p:txBody>
          <a:bodyPr rtlCol="0" anchor="ctr"/>
          <a:lstStyle/>
          <a:p>
            <a:pPr algn="ctr"/>
            <a:endParaRPr/>
          </a:p>
        </p:txBody>
      </p:sp>
      <p:pic>
        <p:nvPicPr>
          <p:cNvPr id="62" name="Picture 6" descr="Dark textured background with the Benchmark International knot emblem"/>
          <p:cNvPicPr>
            <a:picLocks noChangeAspect="1"/>
          </p:cNvPicPr>
          <p:nvPr/>
        </p:nvPicPr>
        <p:blipFill>
          <a:blip r:embed="rId27">
            <a:alphaModFix amt="50000"/>
          </a:blip>
          <a:srcRect l="33333" t="20370" r="32000" b="21951"/>
          <a:stretch>
            <a:fillRect/>
          </a:stretch>
        </p:blipFill>
        <p:spPr>
          <a:xfrm>
            <a:off x="6667500" y="4152900"/>
            <a:ext cx="2971800" cy="2781300"/>
          </a:xfrm>
          <a:prstGeom prst="rect">
            <a:avLst/>
          </a:prstGeom>
        </p:spPr>
      </p:pic>
      <p:sp>
        <p:nvSpPr>
          <p:cNvPr id="63" name="TextBox 24"/>
          <p:cNvSpPr txBox="1"/>
          <p:nvPr/>
        </p:nvSpPr>
        <p:spPr>
          <a:xfrm>
            <a:off x="6858000" y="4324350"/>
            <a:ext cx="2605088" cy="123825"/>
          </a:xfrm>
          <a:prstGeom prst="rect">
            <a:avLst/>
          </a:prstGeom>
          <a:noFill/>
        </p:spPr>
        <p:txBody>
          <a:bodyPr wrap="square" lIns="0" tIns="0" rIns="0" bIns="0" anchor="t">
            <a:spAutoFit/>
          </a:bodyPr>
          <a:lstStyle/>
          <a:p>
            <a:pPr algn="l">
              <a:lnSpc>
                <a:spcPts val="1121"/>
              </a:lnSpc>
            </a:pPr>
            <a:r>
              <a:rPr sz="800" b="1" i="0" spc="150">
                <a:solidFill>
                  <a:srgbClr val="D3AE84"/>
                </a:solidFill>
                <a:latin typeface="Calibri"/>
              </a:rPr>
              <a:t>FOR OWNERS</a:t>
            </a:r>
          </a:p>
        </p:txBody>
      </p:sp>
      <p:sp>
        <p:nvSpPr>
          <p:cNvPr id="64" name="TextBox 25"/>
          <p:cNvSpPr txBox="1"/>
          <p:nvPr/>
        </p:nvSpPr>
        <p:spPr>
          <a:xfrm>
            <a:off x="6858000" y="4543425"/>
            <a:ext cx="2605088" cy="1466849"/>
          </a:xfrm>
          <a:prstGeom prst="rect">
            <a:avLst/>
          </a:prstGeom>
          <a:noFill/>
        </p:spPr>
        <p:txBody>
          <a:bodyPr wrap="square" lIns="0" tIns="0" rIns="0" bIns="0" anchor="t">
            <a:spAutoFit/>
          </a:bodyPr>
          <a:lstStyle/>
          <a:p>
            <a:pPr algn="l">
              <a:lnSpc>
                <a:spcPts val="1650"/>
              </a:lnSpc>
            </a:pPr>
            <a:r>
              <a:rPr sz="950" b="0" i="0">
                <a:solidFill>
                  <a:srgbClr val="FFFFFF"/>
                </a:solidFill>
                <a:latin typeface="Cambria"/>
              </a:rPr>
              <a:t>Medicaid redeterminations begin in January, so a Medicaid-weighted provider should expect diligence on enrollment attrition. Negotiated Medicare drug prices cut Guardian Pharmacy’s growth to 2% in one quarter. Operating companies are winning auctions against sponsors because senior debt prices at 7.8%.</a:t>
            </a:r>
          </a:p>
        </p:txBody>
      </p:sp>
      <p:sp>
        <p:nvSpPr>
          <p:cNvPr id="65" name="TextBox 26"/>
          <p:cNvSpPr txBox="1"/>
          <p:nvPr/>
        </p:nvSpPr>
        <p:spPr>
          <a:xfrm>
            <a:off x="6858000" y="6120003"/>
            <a:ext cx="2605088" cy="786130"/>
          </a:xfrm>
          <a:prstGeom prst="rect">
            <a:avLst/>
          </a:prstGeom>
          <a:noFill/>
        </p:spPr>
        <p:txBody>
          <a:bodyPr wrap="square" lIns="0" tIns="0" rIns="0" bIns="0" anchor="t">
            <a:spAutoFit/>
          </a:bodyPr>
          <a:lstStyle/>
          <a:p>
            <a:pPr algn="l">
              <a:lnSpc>
                <a:spcPts val="1275"/>
              </a:lnSpc>
            </a:pPr>
            <a:r>
              <a:rPr sz="750" b="0" i="0" spc="15" dirty="0">
                <a:solidFill>
                  <a:srgbClr val="E8E2DA"/>
                </a:solidFill>
                <a:latin typeface="Calibri"/>
              </a:rPr>
              <a:t>Private equity paid a median 13.6x EBITDA for healthcare services companies in 2025, on targets with median revenue of $162.5 million (</a:t>
            </a:r>
            <a:r>
              <a:rPr sz="750" b="0" i="0" spc="15" dirty="0" err="1">
                <a:solidFill>
                  <a:srgbClr val="D3AE84"/>
                </a:solidFill>
                <a:latin typeface="Calibri"/>
                <a:hlinkClick r:id="rId28"/>
              </a:rPr>
              <a:t>PitchBook</a:t>
            </a:r>
            <a:r>
              <a:rPr sz="750" b="0" i="0" spc="15" dirty="0">
                <a:solidFill>
                  <a:srgbClr val="D3AE84"/>
                </a:solidFill>
                <a:latin typeface="Calibri"/>
                <a:hlinkClick r:id="rId28"/>
              </a:rPr>
              <a:t> via Becker’s ASC Review</a:t>
            </a:r>
            <a:r>
              <a:rPr sz="750" b="0" i="0" spc="15" dirty="0">
                <a:solidFill>
                  <a:srgbClr val="E8E2DA"/>
                </a:solidFill>
                <a:latin typeface="Calibri"/>
              </a:rPr>
              <a:t>), and 87% of sales above $5 million across industries drew three or more offers (</a:t>
            </a:r>
            <a:r>
              <a:rPr sz="750" b="0" i="0" spc="15" dirty="0">
                <a:solidFill>
                  <a:srgbClr val="D3AE84"/>
                </a:solidFill>
                <a:latin typeface="Calibri"/>
                <a:hlinkClick r:id="rId29"/>
              </a:rPr>
              <a:t>IBBA and M&amp;A Source</a:t>
            </a:r>
            <a:r>
              <a:rPr sz="750" b="0" i="0" spc="15" dirty="0">
                <a:solidFill>
                  <a:srgbClr val="E8E2DA"/>
                </a:solidFill>
                <a:latin typeface="Calibri"/>
              </a:rPr>
              <a:t>).</a:t>
            </a:r>
          </a:p>
        </p:txBody>
      </p:sp>
      <p:sp>
        <p:nvSpPr>
          <p:cNvPr id="66" name="Shape 3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7" descr="Benchmark International logo"/>
          <p:cNvPicPr>
            <a:picLocks noChangeAspect="1"/>
          </p:cNvPicPr>
          <p:nvPr/>
        </p:nvPicPr>
        <p:blipFill>
          <a:blip r:embed="rId30"/>
          <a:srcRect/>
          <a:stretch>
            <a:fillRect/>
          </a:stretch>
        </p:blipFill>
        <p:spPr>
          <a:xfrm>
            <a:off x="419100" y="7143750"/>
            <a:ext cx="914400" cy="171450"/>
          </a:xfrm>
          <a:prstGeom prst="rect">
            <a:avLst/>
          </a:prstGeom>
        </p:spPr>
      </p:pic>
      <p:sp>
        <p:nvSpPr>
          <p:cNvPr id="68" name="TextBox 27"/>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Figures are as of October 16, 2026, and deal counts and values are as reported by the named publisher and are revised as transactions are confirmed.</a:t>
            </a:r>
          </a:p>
        </p:txBody>
      </p:sp>
      <p:sp>
        <p:nvSpPr>
          <p:cNvPr id="69" name="TextBox 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View</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Strategic buyers hold the advantage into 2027, and the owners who do best will have answered the policy questions before a buyer asks them.</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66" name="Shape 3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7" name="Picture 7"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69" name="TextBox 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06</a:t>
            </a:r>
          </a:p>
        </p:txBody>
      </p:sp>
      <p:sp>
        <p:nvSpPr>
          <p:cNvPr id="70" name="Rectangle 69"/>
          <p:cNvSpPr/>
          <p:nvPr/>
        </p:nvSpPr>
        <p:spPr>
          <a:xfrm>
            <a:off x="420624" y="1234440"/>
            <a:ext cx="2971800" cy="5696712"/>
          </a:xfrm>
          <a:prstGeom prst="rect">
            <a:avLst/>
          </a:prstGeom>
          <a:solidFill>
            <a:srgbClr val="1B1A1A"/>
          </a:solidFill>
          <a:ln>
            <a:noFill/>
          </a:ln>
        </p:spPr>
        <p:txBody>
          <a:bodyPr rtlCol="0" anchor="ctr"/>
          <a:lstStyle/>
          <a:p>
            <a:endParaRPr/>
          </a:p>
        </p:txBody>
      </p:sp>
      <p:pic>
        <p:nvPicPr>
          <p:cNvPr id="62" name="Picture 6" descr="Dark textured background with the Benchmark International knot emblem"/>
          <p:cNvPicPr>
            <a:picLocks noChangeAspect="1"/>
          </p:cNvPicPr>
          <p:nvPr/>
        </p:nvPicPr>
        <p:blipFill>
          <a:blip r:embed="rId3">
            <a:alphaModFix amt="50000"/>
          </a:blip>
          <a:srcRect l="33333" t="20370" r="32000" b="21951"/>
          <a:stretch>
            <a:fillRect/>
          </a:stretch>
        </p:blipFill>
        <p:spPr>
          <a:xfrm>
            <a:off x="420624" y="1234440"/>
            <a:ext cx="2971800" cy="5696712"/>
          </a:xfrm>
          <a:prstGeom prst="rect">
            <a:avLst/>
          </a:prstGeom>
        </p:spPr>
      </p:pic>
      <p:sp>
        <p:nvSpPr>
          <p:cNvPr id="71" name="TextBox 70"/>
          <p:cNvSpPr txBox="1"/>
          <p:nvPr/>
        </p:nvSpPr>
        <p:spPr>
          <a:xfrm>
            <a:off x="612648" y="1444752"/>
            <a:ext cx="2606040" cy="128016"/>
          </a:xfrm>
          <a:prstGeom prst="rect">
            <a:avLst/>
          </a:prstGeom>
          <a:noFill/>
        </p:spPr>
        <p:txBody>
          <a:bodyPr wrap="square" lIns="0" tIns="0" rIns="0" bIns="0" anchor="t">
            <a:spAutoFit/>
          </a:bodyPr>
          <a:lstStyle/>
          <a:p>
            <a:pPr algn="l"/>
            <a:r>
              <a:rPr sz="800" b="1" i="0" spc="150">
                <a:solidFill>
                  <a:srgbClr val="D3AE84"/>
                </a:solidFill>
                <a:latin typeface="Calibri"/>
              </a:rPr>
              <a:t>THE HOUSE VIEW</a:t>
            </a:r>
          </a:p>
        </p:txBody>
      </p:sp>
      <p:sp>
        <p:nvSpPr>
          <p:cNvPr id="72" name="Rectangle 71"/>
          <p:cNvSpPr/>
          <p:nvPr/>
        </p:nvSpPr>
        <p:spPr>
          <a:xfrm>
            <a:off x="612648" y="1664208"/>
            <a:ext cx="2596896" cy="9144"/>
          </a:xfrm>
          <a:prstGeom prst="rect">
            <a:avLst/>
          </a:prstGeom>
          <a:solidFill>
            <a:srgbClr val="5A5248"/>
          </a:solidFill>
          <a:ln>
            <a:noFill/>
          </a:ln>
        </p:spPr>
        <p:txBody>
          <a:bodyPr rtlCol="0" anchor="ctr"/>
          <a:lstStyle/>
          <a:p>
            <a:endParaRPr/>
          </a:p>
        </p:txBody>
      </p:sp>
      <p:sp>
        <p:nvSpPr>
          <p:cNvPr id="73" name="TextBox 72"/>
          <p:cNvSpPr txBox="1"/>
          <p:nvPr/>
        </p:nvSpPr>
        <p:spPr>
          <a:xfrm>
            <a:off x="612648" y="1810512"/>
            <a:ext cx="2606040" cy="1828800"/>
          </a:xfrm>
          <a:prstGeom prst="rect">
            <a:avLst/>
          </a:prstGeom>
          <a:noFill/>
        </p:spPr>
        <p:txBody>
          <a:bodyPr wrap="square" lIns="0" tIns="0" rIns="0" bIns="0" anchor="t">
            <a:spAutoFit/>
          </a:bodyPr>
          <a:lstStyle/>
          <a:p>
            <a:pPr algn="l">
              <a:lnSpc>
                <a:spcPts val="1350"/>
              </a:lnSpc>
            </a:pPr>
            <a:r>
              <a:rPr sz="950" b="0" i="0">
                <a:solidFill>
                  <a:srgbClr val="FFFFFF"/>
                </a:solidFill>
                <a:latin typeface="Cambria"/>
              </a:rPr>
              <a:t>Operating companies and the largest platforms are buying through 7.8% senior debt and 500-basis-point spreads because they pay from cash flow, and hospital transactions are tracking to their most active year since 2020 while private equity’s healthcare services count is at a 2017 pace.</a:t>
            </a:r>
          </a:p>
        </p:txBody>
      </p:sp>
      <p:sp>
        <p:nvSpPr>
          <p:cNvPr id="74" name="TextBox 73"/>
          <p:cNvSpPr txBox="1"/>
          <p:nvPr/>
        </p:nvSpPr>
        <p:spPr>
          <a:xfrm>
            <a:off x="612648" y="3429000"/>
            <a:ext cx="2606040" cy="1463040"/>
          </a:xfrm>
          <a:prstGeom prst="rect">
            <a:avLst/>
          </a:prstGeom>
          <a:noFill/>
        </p:spPr>
        <p:txBody>
          <a:bodyPr wrap="square" lIns="0" tIns="0" rIns="0" bIns="0" anchor="t">
            <a:spAutoFit/>
          </a:bodyPr>
          <a:lstStyle/>
          <a:p>
            <a:pPr algn="l">
              <a:lnSpc>
                <a:spcPts val="1390"/>
              </a:lnSpc>
            </a:pPr>
            <a:r>
              <a:rPr sz="1000" b="0" i="0">
                <a:solidFill>
                  <a:srgbClr val="FFFFFF"/>
                </a:solidFill>
                <a:latin typeface="Cambria"/>
              </a:rPr>
              <a:t>We expect that division to hold through the first half of 2027. Sponsor volume returns once the September rate increase is absorbed and the 2027 Medicare and Medicaid rules are final, and the 2021 vintage of platforms still waiting for an exit will bring supply to market before then.</a:t>
            </a:r>
          </a:p>
        </p:txBody>
      </p:sp>
      <p:sp>
        <p:nvSpPr>
          <p:cNvPr id="75" name="Rectangle 74"/>
          <p:cNvSpPr/>
          <p:nvPr/>
        </p:nvSpPr>
        <p:spPr>
          <a:xfrm>
            <a:off x="612648" y="5532120"/>
            <a:ext cx="2596896" cy="9144"/>
          </a:xfrm>
          <a:prstGeom prst="rect">
            <a:avLst/>
          </a:prstGeom>
          <a:solidFill>
            <a:srgbClr val="5A5248"/>
          </a:solidFill>
          <a:ln>
            <a:noFill/>
          </a:ln>
        </p:spPr>
        <p:txBody>
          <a:bodyPr rtlCol="0" anchor="ctr"/>
          <a:lstStyle/>
          <a:p>
            <a:endParaRPr/>
          </a:p>
        </p:txBody>
      </p:sp>
      <p:sp>
        <p:nvSpPr>
          <p:cNvPr id="76" name="TextBox 75"/>
          <p:cNvSpPr txBox="1"/>
          <p:nvPr/>
        </p:nvSpPr>
        <p:spPr>
          <a:xfrm>
            <a:off x="612648" y="5678424"/>
            <a:ext cx="2606040" cy="1188720"/>
          </a:xfrm>
          <a:prstGeom prst="rect">
            <a:avLst/>
          </a:prstGeom>
          <a:noFill/>
        </p:spPr>
        <p:txBody>
          <a:bodyPr wrap="square" lIns="0" tIns="0" rIns="0" bIns="0" anchor="t">
            <a:spAutoFit/>
          </a:bodyPr>
          <a:lstStyle/>
          <a:p>
            <a:pPr algn="l">
              <a:lnSpc>
                <a:spcPts val="1166"/>
              </a:lnSpc>
            </a:pPr>
            <a:r>
              <a:rPr sz="800" b="0" i="0" spc="15" dirty="0">
                <a:solidFill>
                  <a:srgbClr val="E8E2DA"/>
                </a:solidFill>
                <a:latin typeface="Calibri"/>
              </a:rPr>
              <a:t>For an owner, the next twelve months favor a process built around strategic buyers, launched with the payer-mix and enrollment analysis already done and timed ahead of the sponsor exits that will crowd the second half of 2027.</a:t>
            </a:r>
          </a:p>
        </p:txBody>
      </p:sp>
      <p:sp>
        <p:nvSpPr>
          <p:cNvPr id="77" name="Rectangle 76"/>
          <p:cNvSpPr/>
          <p:nvPr/>
        </p:nvSpPr>
        <p:spPr>
          <a:xfrm>
            <a:off x="3547872" y="1234440"/>
            <a:ext cx="2971800" cy="2176272"/>
          </a:xfrm>
          <a:prstGeom prst="rect">
            <a:avLst/>
          </a:prstGeom>
          <a:solidFill>
            <a:srgbClr val="FAF7F3"/>
          </a:solidFill>
          <a:ln>
            <a:noFill/>
          </a:ln>
        </p:spPr>
        <p:txBody>
          <a:bodyPr rtlCol="0" anchor="ctr"/>
          <a:lstStyle/>
          <a:p>
            <a:endParaRPr/>
          </a:p>
        </p:txBody>
      </p:sp>
      <p:sp>
        <p:nvSpPr>
          <p:cNvPr id="78" name="Rectangle 77"/>
          <p:cNvSpPr/>
          <p:nvPr/>
        </p:nvSpPr>
        <p:spPr>
          <a:xfrm>
            <a:off x="3547872" y="1234440"/>
            <a:ext cx="2971800" cy="27432"/>
          </a:xfrm>
          <a:prstGeom prst="rect">
            <a:avLst/>
          </a:prstGeom>
          <a:solidFill>
            <a:srgbClr val="B68757"/>
          </a:solidFill>
          <a:ln>
            <a:noFill/>
          </a:ln>
        </p:spPr>
        <p:txBody>
          <a:bodyPr rtlCol="0" anchor="ctr"/>
          <a:lstStyle/>
          <a:p>
            <a:endParaRPr/>
          </a:p>
        </p:txBody>
      </p:sp>
      <p:sp>
        <p:nvSpPr>
          <p:cNvPr id="79" name="TextBox 78"/>
          <p:cNvSpPr txBox="1"/>
          <p:nvPr/>
        </p:nvSpPr>
        <p:spPr>
          <a:xfrm>
            <a:off x="3712463" y="1389888"/>
            <a:ext cx="457200" cy="329184"/>
          </a:xfrm>
          <a:prstGeom prst="rect">
            <a:avLst/>
          </a:prstGeom>
          <a:noFill/>
        </p:spPr>
        <p:txBody>
          <a:bodyPr wrap="square" lIns="0" tIns="0" rIns="0" bIns="0" anchor="t">
            <a:spAutoFit/>
          </a:bodyPr>
          <a:lstStyle/>
          <a:p>
            <a:pPr algn="l"/>
            <a:r>
              <a:rPr sz="2200" b="1" i="0">
                <a:solidFill>
                  <a:srgbClr val="B68757"/>
                </a:solidFill>
                <a:latin typeface="Cambria"/>
              </a:rPr>
              <a:t>01</a:t>
            </a:r>
          </a:p>
        </p:txBody>
      </p:sp>
      <p:sp>
        <p:nvSpPr>
          <p:cNvPr id="80" name="TextBox 79"/>
          <p:cNvSpPr txBox="1"/>
          <p:nvPr/>
        </p:nvSpPr>
        <p:spPr>
          <a:xfrm>
            <a:off x="4206240" y="1417320"/>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Strategic Buyers</a:t>
            </a:r>
          </a:p>
        </p:txBody>
      </p:sp>
      <p:sp>
        <p:nvSpPr>
          <p:cNvPr id="81" name="TextBox 80"/>
          <p:cNvSpPr txBox="1"/>
          <p:nvPr/>
        </p:nvSpPr>
        <p:spPr>
          <a:xfrm>
            <a:off x="3712463" y="1837944"/>
            <a:ext cx="2642616" cy="1444751"/>
          </a:xfrm>
          <a:prstGeom prst="rect">
            <a:avLst/>
          </a:prstGeom>
          <a:noFill/>
        </p:spPr>
        <p:txBody>
          <a:bodyPr wrap="square" lIns="0" tIns="0" rIns="0" bIns="0" anchor="t">
            <a:spAutoFit/>
          </a:bodyPr>
          <a:lstStyle/>
          <a:p>
            <a:pPr algn="l">
              <a:lnSpc>
                <a:spcPts val="1257"/>
              </a:lnSpc>
            </a:pPr>
            <a:r>
              <a:rPr sz="850" b="0" i="0" spc="15">
                <a:solidFill>
                  <a:srgbClr val="333231"/>
                </a:solidFill>
                <a:latin typeface="Calibri"/>
              </a:rPr>
              <a:t>Operating companies bought seven of the nine named sellers in Benchmark’s last 24 months of healthcare closings, HCA has added about 70 urgent care centers this year, and Danaher, Merck KGaA, and Labcorp are paying for consumables and testing volume. A buyer list that leads with strategics and brings in sponsors for competitive tension suits a 2027 process.</a:t>
            </a:r>
          </a:p>
        </p:txBody>
      </p:sp>
      <p:sp>
        <p:nvSpPr>
          <p:cNvPr id="82" name="Rectangle 81"/>
          <p:cNvSpPr/>
          <p:nvPr/>
        </p:nvSpPr>
        <p:spPr>
          <a:xfrm>
            <a:off x="6665976" y="1234440"/>
            <a:ext cx="2971800" cy="2176272"/>
          </a:xfrm>
          <a:prstGeom prst="rect">
            <a:avLst/>
          </a:prstGeom>
          <a:solidFill>
            <a:srgbClr val="FAF7F3"/>
          </a:solidFill>
          <a:ln>
            <a:noFill/>
          </a:ln>
        </p:spPr>
        <p:txBody>
          <a:bodyPr rtlCol="0" anchor="ctr"/>
          <a:lstStyle/>
          <a:p>
            <a:endParaRPr/>
          </a:p>
        </p:txBody>
      </p:sp>
      <p:sp>
        <p:nvSpPr>
          <p:cNvPr id="83" name="Rectangle 82"/>
          <p:cNvSpPr/>
          <p:nvPr/>
        </p:nvSpPr>
        <p:spPr>
          <a:xfrm>
            <a:off x="6665976" y="1234440"/>
            <a:ext cx="2971800" cy="27432"/>
          </a:xfrm>
          <a:prstGeom prst="rect">
            <a:avLst/>
          </a:prstGeom>
          <a:solidFill>
            <a:srgbClr val="B68757"/>
          </a:solidFill>
          <a:ln>
            <a:noFill/>
          </a:ln>
        </p:spPr>
        <p:txBody>
          <a:bodyPr rtlCol="0" anchor="ctr"/>
          <a:lstStyle/>
          <a:p>
            <a:endParaRPr/>
          </a:p>
        </p:txBody>
      </p:sp>
      <p:sp>
        <p:nvSpPr>
          <p:cNvPr id="84" name="TextBox 83"/>
          <p:cNvSpPr txBox="1"/>
          <p:nvPr/>
        </p:nvSpPr>
        <p:spPr>
          <a:xfrm>
            <a:off x="6830568" y="1389888"/>
            <a:ext cx="457200" cy="329184"/>
          </a:xfrm>
          <a:prstGeom prst="rect">
            <a:avLst/>
          </a:prstGeom>
          <a:noFill/>
        </p:spPr>
        <p:txBody>
          <a:bodyPr wrap="square" lIns="0" tIns="0" rIns="0" bIns="0" anchor="t">
            <a:spAutoFit/>
          </a:bodyPr>
          <a:lstStyle/>
          <a:p>
            <a:pPr algn="l"/>
            <a:r>
              <a:rPr sz="2200" b="1" i="0">
                <a:solidFill>
                  <a:srgbClr val="B68757"/>
                </a:solidFill>
                <a:latin typeface="Cambria"/>
              </a:rPr>
              <a:t>02</a:t>
            </a:r>
          </a:p>
        </p:txBody>
      </p:sp>
      <p:sp>
        <p:nvSpPr>
          <p:cNvPr id="85" name="TextBox 84"/>
          <p:cNvSpPr txBox="1"/>
          <p:nvPr/>
        </p:nvSpPr>
        <p:spPr>
          <a:xfrm>
            <a:off x="7324344" y="1417320"/>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Reimbursement Dates</a:t>
            </a:r>
          </a:p>
        </p:txBody>
      </p:sp>
      <p:sp>
        <p:nvSpPr>
          <p:cNvPr id="86" name="TextBox 85"/>
          <p:cNvSpPr txBox="1"/>
          <p:nvPr/>
        </p:nvSpPr>
        <p:spPr>
          <a:xfrm>
            <a:off x="6830568" y="1837944"/>
            <a:ext cx="2642616" cy="1444751"/>
          </a:xfrm>
          <a:prstGeom prst="rect">
            <a:avLst/>
          </a:prstGeom>
          <a:noFill/>
        </p:spPr>
        <p:txBody>
          <a:bodyPr wrap="square" lIns="0" tIns="0" rIns="0" bIns="0" anchor="t">
            <a:spAutoFit/>
          </a:bodyPr>
          <a:lstStyle/>
          <a:p>
            <a:pPr algn="l">
              <a:lnSpc>
                <a:spcPts val="1257"/>
              </a:lnSpc>
            </a:pPr>
            <a:r>
              <a:rPr sz="850" b="0" i="0" spc="15">
                <a:solidFill>
                  <a:srgbClr val="333231"/>
                </a:solidFill>
                <a:latin typeface="Calibri"/>
              </a:rPr>
              <a:t>The 2027 physician fee schedule proposes conversion factor cuts of 1.2% to 1.7%, Medicaid work requirements, and six-month redeterminations start in January, and laboratory fee cuts of up to 15% a year resume unless the RESULTS Act passes. Buyers will model these items line by line, so an owner who brings that analysis to the first meeting stays in control of the valuation conversation.</a:t>
            </a:r>
          </a:p>
        </p:txBody>
      </p:sp>
      <p:sp>
        <p:nvSpPr>
          <p:cNvPr id="87" name="Rectangle 86"/>
          <p:cNvSpPr/>
          <p:nvPr/>
        </p:nvSpPr>
        <p:spPr>
          <a:xfrm>
            <a:off x="3547872" y="3547872"/>
            <a:ext cx="2971800" cy="2176272"/>
          </a:xfrm>
          <a:prstGeom prst="rect">
            <a:avLst/>
          </a:prstGeom>
          <a:solidFill>
            <a:srgbClr val="FAF7F3"/>
          </a:solidFill>
          <a:ln>
            <a:noFill/>
          </a:ln>
        </p:spPr>
        <p:txBody>
          <a:bodyPr rtlCol="0" anchor="ctr"/>
          <a:lstStyle/>
          <a:p>
            <a:endParaRPr/>
          </a:p>
        </p:txBody>
      </p:sp>
      <p:sp>
        <p:nvSpPr>
          <p:cNvPr id="88" name="Rectangle 87"/>
          <p:cNvSpPr/>
          <p:nvPr/>
        </p:nvSpPr>
        <p:spPr>
          <a:xfrm>
            <a:off x="3547872" y="3547872"/>
            <a:ext cx="2971800" cy="27432"/>
          </a:xfrm>
          <a:prstGeom prst="rect">
            <a:avLst/>
          </a:prstGeom>
          <a:solidFill>
            <a:srgbClr val="B68757"/>
          </a:solidFill>
          <a:ln>
            <a:noFill/>
          </a:ln>
        </p:spPr>
        <p:txBody>
          <a:bodyPr rtlCol="0" anchor="ctr"/>
          <a:lstStyle/>
          <a:p>
            <a:endParaRPr/>
          </a:p>
        </p:txBody>
      </p:sp>
      <p:sp>
        <p:nvSpPr>
          <p:cNvPr id="89" name="TextBox 88"/>
          <p:cNvSpPr txBox="1"/>
          <p:nvPr/>
        </p:nvSpPr>
        <p:spPr>
          <a:xfrm>
            <a:off x="3712463" y="3703320"/>
            <a:ext cx="457200" cy="329184"/>
          </a:xfrm>
          <a:prstGeom prst="rect">
            <a:avLst/>
          </a:prstGeom>
          <a:noFill/>
        </p:spPr>
        <p:txBody>
          <a:bodyPr wrap="square" lIns="0" tIns="0" rIns="0" bIns="0" anchor="t">
            <a:spAutoFit/>
          </a:bodyPr>
          <a:lstStyle/>
          <a:p>
            <a:pPr algn="l"/>
            <a:r>
              <a:rPr sz="2200" b="1" i="0">
                <a:solidFill>
                  <a:srgbClr val="B68757"/>
                </a:solidFill>
                <a:latin typeface="Cambria"/>
              </a:rPr>
              <a:t>03</a:t>
            </a:r>
          </a:p>
        </p:txBody>
      </p:sp>
      <p:sp>
        <p:nvSpPr>
          <p:cNvPr id="90" name="TextBox 89"/>
          <p:cNvSpPr txBox="1"/>
          <p:nvPr/>
        </p:nvSpPr>
        <p:spPr>
          <a:xfrm>
            <a:off x="4206240" y="3730752"/>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Adjusted Multiples</a:t>
            </a:r>
          </a:p>
        </p:txBody>
      </p:sp>
      <p:sp>
        <p:nvSpPr>
          <p:cNvPr id="91" name="TextBox 90"/>
          <p:cNvSpPr txBox="1"/>
          <p:nvPr/>
        </p:nvSpPr>
        <p:spPr>
          <a:xfrm>
            <a:off x="3712463" y="4151376"/>
            <a:ext cx="2642616" cy="1444751"/>
          </a:xfrm>
          <a:prstGeom prst="rect">
            <a:avLst/>
          </a:prstGeom>
          <a:noFill/>
        </p:spPr>
        <p:txBody>
          <a:bodyPr wrap="square" lIns="0" tIns="0" rIns="0" bIns="0" anchor="t">
            <a:spAutoFit/>
          </a:bodyPr>
          <a:lstStyle/>
          <a:p>
            <a:pPr algn="l">
              <a:lnSpc>
                <a:spcPts val="1220"/>
              </a:lnSpc>
            </a:pPr>
            <a:r>
              <a:rPr sz="825" b="0" i="0" spc="15">
                <a:solidFill>
                  <a:srgbClr val="333231"/>
                </a:solidFill>
                <a:latin typeface="Calibri"/>
              </a:rPr>
              <a:t>On company-reported adjusted EBITDA the listed reference set trades at 14.3x, with provider services at 14.2x, medical products at 10.7x and pharmacy services at 15.0x, all within about a turn of a year ago, while life sciences and diagnostics re-rated to 18.7x. Private healthcare services deals cleared a 13.6x median in 2025 on targets with $162.5 million of revenue, against 5.8x for $5 million to $50 million businesses across industries. Scale, contracted revenue, and payer mix account for the gap between those two numbers.</a:t>
            </a:r>
          </a:p>
        </p:txBody>
      </p:sp>
      <p:sp>
        <p:nvSpPr>
          <p:cNvPr id="92" name="Rectangle 91"/>
          <p:cNvSpPr/>
          <p:nvPr/>
        </p:nvSpPr>
        <p:spPr>
          <a:xfrm>
            <a:off x="6665976" y="3547872"/>
            <a:ext cx="2971800" cy="2176272"/>
          </a:xfrm>
          <a:prstGeom prst="rect">
            <a:avLst/>
          </a:prstGeom>
          <a:solidFill>
            <a:srgbClr val="FAF7F3"/>
          </a:solidFill>
          <a:ln>
            <a:noFill/>
          </a:ln>
        </p:spPr>
        <p:txBody>
          <a:bodyPr rtlCol="0" anchor="ctr"/>
          <a:lstStyle/>
          <a:p>
            <a:endParaRPr/>
          </a:p>
        </p:txBody>
      </p:sp>
      <p:sp>
        <p:nvSpPr>
          <p:cNvPr id="93" name="Rectangle 92"/>
          <p:cNvSpPr/>
          <p:nvPr/>
        </p:nvSpPr>
        <p:spPr>
          <a:xfrm>
            <a:off x="6665976" y="3547872"/>
            <a:ext cx="2971800" cy="27432"/>
          </a:xfrm>
          <a:prstGeom prst="rect">
            <a:avLst/>
          </a:prstGeom>
          <a:solidFill>
            <a:srgbClr val="B68757"/>
          </a:solidFill>
          <a:ln>
            <a:noFill/>
          </a:ln>
        </p:spPr>
        <p:txBody>
          <a:bodyPr rtlCol="0" anchor="ctr"/>
          <a:lstStyle/>
          <a:p>
            <a:endParaRPr/>
          </a:p>
        </p:txBody>
      </p:sp>
      <p:sp>
        <p:nvSpPr>
          <p:cNvPr id="94" name="TextBox 93"/>
          <p:cNvSpPr txBox="1"/>
          <p:nvPr/>
        </p:nvSpPr>
        <p:spPr>
          <a:xfrm>
            <a:off x="6830568" y="3703320"/>
            <a:ext cx="457200" cy="329184"/>
          </a:xfrm>
          <a:prstGeom prst="rect">
            <a:avLst/>
          </a:prstGeom>
          <a:noFill/>
        </p:spPr>
        <p:txBody>
          <a:bodyPr wrap="square" lIns="0" tIns="0" rIns="0" bIns="0" anchor="t">
            <a:spAutoFit/>
          </a:bodyPr>
          <a:lstStyle/>
          <a:p>
            <a:pPr algn="l"/>
            <a:r>
              <a:rPr sz="2200" b="1" i="0">
                <a:solidFill>
                  <a:srgbClr val="B68757"/>
                </a:solidFill>
                <a:latin typeface="Cambria"/>
              </a:rPr>
              <a:t>04</a:t>
            </a:r>
          </a:p>
        </p:txBody>
      </p:sp>
      <p:sp>
        <p:nvSpPr>
          <p:cNvPr id="95" name="TextBox 94"/>
          <p:cNvSpPr txBox="1"/>
          <p:nvPr/>
        </p:nvSpPr>
        <p:spPr>
          <a:xfrm>
            <a:off x="7324344" y="3730752"/>
            <a:ext cx="2148840" cy="329184"/>
          </a:xfrm>
          <a:prstGeom prst="rect">
            <a:avLst/>
          </a:prstGeom>
          <a:noFill/>
        </p:spPr>
        <p:txBody>
          <a:bodyPr wrap="square" lIns="0" tIns="0" rIns="0" bIns="0" anchor="ctr">
            <a:spAutoFit/>
          </a:bodyPr>
          <a:lstStyle/>
          <a:p>
            <a:pPr algn="l"/>
            <a:r>
              <a:rPr sz="1011" b="1" i="0" spc="8">
                <a:solidFill>
                  <a:srgbClr val="1B1A1A"/>
                </a:solidFill>
                <a:latin typeface="Calibri"/>
              </a:rPr>
              <a:t>Supply</a:t>
            </a:r>
          </a:p>
        </p:txBody>
      </p:sp>
      <p:sp>
        <p:nvSpPr>
          <p:cNvPr id="96" name="TextBox 95"/>
          <p:cNvSpPr txBox="1"/>
          <p:nvPr/>
        </p:nvSpPr>
        <p:spPr>
          <a:xfrm>
            <a:off x="6830568" y="4151376"/>
            <a:ext cx="2642616" cy="1444751"/>
          </a:xfrm>
          <a:prstGeom prst="rect">
            <a:avLst/>
          </a:prstGeom>
          <a:noFill/>
        </p:spPr>
        <p:txBody>
          <a:bodyPr wrap="square" lIns="0" tIns="0" rIns="0" bIns="0" anchor="t">
            <a:spAutoFit/>
          </a:bodyPr>
          <a:lstStyle/>
          <a:p>
            <a:pPr algn="l">
              <a:lnSpc>
                <a:spcPts val="1220"/>
              </a:lnSpc>
            </a:pPr>
            <a:r>
              <a:rPr sz="825" b="0" i="0" spc="15">
                <a:solidFill>
                  <a:srgbClr val="333231"/>
                </a:solidFill>
                <a:latin typeface="Calibri"/>
              </a:rPr>
              <a:t>PitchBook’s healthcare analyst expects mean reversion from the 2026 low, and AMN and Thermo Fisher both described fuller pipelines on their second-quarter calls. Sponsor exits are running 26% below last year’s pace, which builds a backlog of platforms waiting to sell. Owners who launch in the first half of 2027 meet buyers before that backlog clears.</a:t>
            </a:r>
          </a:p>
        </p:txBody>
      </p:sp>
      <p:sp>
        <p:nvSpPr>
          <p:cNvPr id="97" name="Rectangle 96"/>
          <p:cNvSpPr/>
          <p:nvPr/>
        </p:nvSpPr>
        <p:spPr>
          <a:xfrm>
            <a:off x="3547872" y="5861304"/>
            <a:ext cx="6089904" cy="1069848"/>
          </a:xfrm>
          <a:prstGeom prst="rect">
            <a:avLst/>
          </a:prstGeom>
          <a:solidFill>
            <a:srgbClr val="FFFFFF"/>
          </a:solidFill>
          <a:ln w="6350">
            <a:solidFill>
              <a:srgbClr val="E3DCD3"/>
            </a:solidFill>
          </a:ln>
        </p:spPr>
        <p:txBody>
          <a:bodyPr rtlCol="0" anchor="ctr"/>
          <a:lstStyle/>
          <a:p>
            <a:endParaRPr/>
          </a:p>
        </p:txBody>
      </p:sp>
      <p:sp>
        <p:nvSpPr>
          <p:cNvPr id="98" name="TextBox 97"/>
          <p:cNvSpPr txBox="1"/>
          <p:nvPr/>
        </p:nvSpPr>
        <p:spPr>
          <a:xfrm>
            <a:off x="3712463" y="5980176"/>
            <a:ext cx="2286000" cy="128016"/>
          </a:xfrm>
          <a:prstGeom prst="rect">
            <a:avLst/>
          </a:prstGeom>
          <a:noFill/>
        </p:spPr>
        <p:txBody>
          <a:bodyPr wrap="square" lIns="0" tIns="0" rIns="0" bIns="0" anchor="t">
            <a:spAutoFit/>
          </a:bodyPr>
          <a:lstStyle/>
          <a:p>
            <a:pPr algn="l"/>
            <a:r>
              <a:rPr sz="800" b="1" i="0" spc="150">
                <a:solidFill>
                  <a:srgbClr val="B68757"/>
                </a:solidFill>
                <a:latin typeface="Calibri"/>
              </a:rPr>
              <a:t>WHAT WE ARE WATCHING</a:t>
            </a:r>
          </a:p>
        </p:txBody>
      </p:sp>
      <p:sp>
        <p:nvSpPr>
          <p:cNvPr id="99" name="TextBox 98"/>
          <p:cNvSpPr txBox="1"/>
          <p:nvPr/>
        </p:nvSpPr>
        <p:spPr>
          <a:xfrm>
            <a:off x="3712463"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OCTOBER 21 AND 28</a:t>
            </a:r>
          </a:p>
        </p:txBody>
      </p:sp>
      <p:sp>
        <p:nvSpPr>
          <p:cNvPr id="100" name="TextBox 99"/>
          <p:cNvSpPr txBox="1"/>
          <p:nvPr/>
        </p:nvSpPr>
        <p:spPr>
          <a:xfrm>
            <a:off x="3712463"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Integer shareholders vote on the KKR offer; the FOMC meets a second time after the September increase.</a:t>
            </a:r>
          </a:p>
        </p:txBody>
      </p:sp>
      <p:sp>
        <p:nvSpPr>
          <p:cNvPr id="101" name="TextBox 100"/>
          <p:cNvSpPr txBox="1"/>
          <p:nvPr/>
        </p:nvSpPr>
        <p:spPr>
          <a:xfrm>
            <a:off x="5212079"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LATE OCTOBER TO NOVEMBER</a:t>
            </a:r>
          </a:p>
        </p:txBody>
      </p:sp>
      <p:sp>
        <p:nvSpPr>
          <p:cNvPr id="102" name="TextBox 101"/>
          <p:cNvSpPr txBox="1"/>
          <p:nvPr/>
        </p:nvSpPr>
        <p:spPr>
          <a:xfrm>
            <a:off x="5212079"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Final CY2027 physician fee schedule, outpatient, and home health rules; Q3 earnings for the reference set.</a:t>
            </a:r>
          </a:p>
        </p:txBody>
      </p:sp>
      <p:sp>
        <p:nvSpPr>
          <p:cNvPr id="103" name="TextBox 102"/>
          <p:cNvSpPr txBox="1"/>
          <p:nvPr/>
        </p:nvSpPr>
        <p:spPr>
          <a:xfrm>
            <a:off x="6711696"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JANUARY 1, 2027</a:t>
            </a:r>
          </a:p>
        </p:txBody>
      </p:sp>
      <p:sp>
        <p:nvSpPr>
          <p:cNvPr id="104" name="TextBox 103"/>
          <p:cNvSpPr txBox="1"/>
          <p:nvPr/>
        </p:nvSpPr>
        <p:spPr>
          <a:xfrm>
            <a:off x="6711696"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Medicaid work requirements and six-month redeterminations begin; Maine’s 180-day notice regime starts; PAMA lab cuts resume absent legislation.</a:t>
            </a:r>
          </a:p>
        </p:txBody>
      </p:sp>
      <p:sp>
        <p:nvSpPr>
          <p:cNvPr id="105" name="TextBox 104"/>
          <p:cNvSpPr txBox="1"/>
          <p:nvPr/>
        </p:nvSpPr>
        <p:spPr>
          <a:xfrm>
            <a:off x="8211312" y="6190488"/>
            <a:ext cx="1417320" cy="109728"/>
          </a:xfrm>
          <a:prstGeom prst="rect">
            <a:avLst/>
          </a:prstGeom>
          <a:noFill/>
        </p:spPr>
        <p:txBody>
          <a:bodyPr wrap="square" lIns="0" tIns="0" rIns="0" bIns="0" anchor="t">
            <a:spAutoFit/>
          </a:bodyPr>
          <a:lstStyle/>
          <a:p>
            <a:pPr algn="l"/>
            <a:r>
              <a:rPr sz="700" b="1" i="0" spc="60">
                <a:solidFill>
                  <a:srgbClr val="1B1A1A"/>
                </a:solidFill>
                <a:latin typeface="Calibri"/>
              </a:rPr>
              <a:t>MID-JANUARY 2027</a:t>
            </a:r>
          </a:p>
        </p:txBody>
      </p:sp>
      <p:sp>
        <p:nvSpPr>
          <p:cNvPr id="106" name="TextBox 105"/>
          <p:cNvSpPr txBox="1"/>
          <p:nvPr/>
        </p:nvSpPr>
        <p:spPr>
          <a:xfrm>
            <a:off x="8211312" y="6336792"/>
            <a:ext cx="1417320" cy="457200"/>
          </a:xfrm>
          <a:prstGeom prst="rect">
            <a:avLst/>
          </a:prstGeom>
          <a:noFill/>
        </p:spPr>
        <p:txBody>
          <a:bodyPr wrap="square" lIns="0" tIns="0" rIns="0" bIns="0" anchor="t">
            <a:spAutoFit/>
          </a:bodyPr>
          <a:lstStyle/>
          <a:p>
            <a:pPr algn="l">
              <a:lnSpc>
                <a:spcPts val="912"/>
              </a:lnSpc>
            </a:pPr>
            <a:r>
              <a:rPr sz="700" b="0" i="0" spc="10">
                <a:solidFill>
                  <a:srgbClr val="6F6A66"/>
                </a:solidFill>
                <a:latin typeface="Calibri"/>
              </a:rPr>
              <a:t>Kaufman Hall’s full-year hospital count and PitchBook’s Q4 healthcare services report set the 2026 baseline.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61925"/>
          </a:xfrm>
          <a:prstGeom prst="rect">
            <a:avLst/>
          </a:prstGeom>
          <a:noFill/>
        </p:spPr>
        <p:txBody>
          <a:bodyPr wrap="none" lIns="0" tIns="0" rIns="0" bIns="0" anchor="t">
            <a:noAutofit/>
          </a:bodyPr>
          <a:lstStyle/>
          <a:p>
            <a:pPr algn="r">
              <a:lnSpc>
                <a:spcPts val="1350"/>
              </a:lnSpc>
            </a:pPr>
            <a:r>
              <a:rPr sz="900" b="0" i="0" spc="90" dirty="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Historical Market Context</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Health spending has grown steadily since 2016, and hospital transaction counts have recovered from the 2025 low.</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238250"/>
            <a:ext cx="3500438" cy="671512"/>
          </a:xfrm>
          <a:prstGeom prst="rect">
            <a:avLst/>
          </a:prstGeom>
          <a:noFill/>
        </p:spPr>
        <p:txBody>
          <a:bodyPr wrap="square" lIns="0" tIns="0" rIns="0" bIns="0" anchor="t">
            <a:spAutoFit/>
          </a:bodyPr>
          <a:lstStyle/>
          <a:p>
            <a:pPr algn="l">
              <a:lnSpc>
                <a:spcPts val="1762"/>
              </a:lnSpc>
            </a:pPr>
            <a:r>
              <a:rPr sz="1275" b="0" i="1">
                <a:solidFill>
                  <a:srgbClr val="1B1A1A"/>
                </a:solidFill>
                <a:latin typeface="Cambria"/>
              </a:rPr>
              <a:t>Spending on care has grown annually for a decade, and transaction counts have moved with financing costs and policy.</a:t>
            </a:r>
          </a:p>
        </p:txBody>
      </p:sp>
      <p:sp>
        <p:nvSpPr>
          <p:cNvPr id="9" name="Shape 3"/>
          <p:cNvSpPr/>
          <p:nvPr/>
        </p:nvSpPr>
        <p:spPr>
          <a:xfrm>
            <a:off x="419100" y="2043112"/>
            <a:ext cx="3486150" cy="9525"/>
          </a:xfrm>
          <a:prstGeom prst="rect">
            <a:avLst/>
          </a:prstGeom>
          <a:solidFill>
            <a:srgbClr val="E3DCD3"/>
          </a:solidFill>
          <a:ln>
            <a:noFill/>
          </a:ln>
          <a:effectLst/>
        </p:spPr>
        <p:txBody>
          <a:bodyPr rtlCol="0" anchor="ctr"/>
          <a:lstStyle/>
          <a:p>
            <a:pPr algn="ctr"/>
            <a:endParaRPr/>
          </a:p>
        </p:txBody>
      </p:sp>
      <p:sp>
        <p:nvSpPr>
          <p:cNvPr id="10" name="TextBox 6"/>
          <p:cNvSpPr txBox="1"/>
          <p:nvPr/>
        </p:nvSpPr>
        <p:spPr>
          <a:xfrm>
            <a:off x="419100" y="217646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$5.3T</a:t>
            </a:r>
          </a:p>
        </p:txBody>
      </p:sp>
      <p:sp>
        <p:nvSpPr>
          <p:cNvPr id="11" name="TextBox 7"/>
          <p:cNvSpPr txBox="1"/>
          <p:nvPr/>
        </p:nvSpPr>
        <p:spPr>
          <a:xfrm>
            <a:off x="1447800" y="2290762"/>
            <a:ext cx="2471738"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National health expenditures reached $5.3 trillion in 2024, or 18.0% of GDP, against $3.3 trillion in 2016 (</a:t>
            </a:r>
            <a:r>
              <a:rPr sz="900" b="0" i="0" spc="15">
                <a:solidFill>
                  <a:srgbClr val="8C6239"/>
                </a:solidFill>
                <a:latin typeface="Calibri"/>
                <a:hlinkClick r:id="rId2"/>
              </a:rPr>
              <a:t>CMS</a:t>
            </a:r>
            <a:r>
              <a:rPr sz="900" b="0" i="0" spc="15">
                <a:solidFill>
                  <a:srgbClr val="333231"/>
                </a:solidFill>
                <a:latin typeface="Calibri"/>
              </a:rPr>
              <a:t>).</a:t>
            </a:r>
          </a:p>
        </p:txBody>
      </p:sp>
      <p:sp>
        <p:nvSpPr>
          <p:cNvPr id="12" name="Shape 4"/>
          <p:cNvSpPr/>
          <p:nvPr/>
        </p:nvSpPr>
        <p:spPr>
          <a:xfrm>
            <a:off x="419100" y="2900362"/>
            <a:ext cx="3486150" cy="9525"/>
          </a:xfrm>
          <a:prstGeom prst="rect">
            <a:avLst/>
          </a:prstGeom>
          <a:solidFill>
            <a:srgbClr val="E3DCD3"/>
          </a:solidFill>
          <a:ln>
            <a:noFill/>
          </a:ln>
          <a:effectLst/>
        </p:spPr>
        <p:txBody>
          <a:bodyPr rtlCol="0" anchor="ctr"/>
          <a:lstStyle/>
          <a:p>
            <a:pPr algn="ctr"/>
            <a:endParaRPr/>
          </a:p>
        </p:txBody>
      </p:sp>
      <p:sp>
        <p:nvSpPr>
          <p:cNvPr id="13" name="TextBox 8"/>
          <p:cNvSpPr txBox="1"/>
          <p:nvPr/>
        </p:nvSpPr>
        <p:spPr>
          <a:xfrm>
            <a:off x="419100" y="30337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5.4%</a:t>
            </a:r>
          </a:p>
        </p:txBody>
      </p:sp>
      <p:sp>
        <p:nvSpPr>
          <p:cNvPr id="14" name="TextBox 9"/>
          <p:cNvSpPr txBox="1"/>
          <p:nvPr/>
        </p:nvSpPr>
        <p:spPr>
          <a:xfrm>
            <a:off x="1447800" y="3148012"/>
            <a:ext cx="2471738"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CMS projects average annual spending growth of 5.4% from 2025 to 2034, against 4.1% for the economy, which would take spending to $9.0 trillion (</a:t>
            </a:r>
            <a:r>
              <a:rPr sz="861" b="0" i="0" spc="15">
                <a:solidFill>
                  <a:srgbClr val="8C6239"/>
                </a:solidFill>
                <a:latin typeface="Calibri"/>
                <a:hlinkClick r:id="rId3">
                  <a:extLst>
                    <a:ext uri="{A12FA001-AC4F-418D-AE19-62706E023703}">
                      <ahyp:hlinkClr xmlns:ahyp="http://schemas.microsoft.com/office/drawing/2018/hyperlinkcolor" val="tx"/>
                    </a:ext>
                  </a:extLst>
                </a:hlinkClick>
              </a:rPr>
              <a:t>Committee for a Responsible Federal Budget</a:t>
            </a:r>
            <a:r>
              <a:rPr sz="861" b="0" i="0" spc="15">
                <a:solidFill>
                  <a:srgbClr val="333231"/>
                </a:solidFill>
                <a:latin typeface="Calibri"/>
              </a:rPr>
              <a:t>).</a:t>
            </a:r>
          </a:p>
        </p:txBody>
      </p:sp>
      <p:sp>
        <p:nvSpPr>
          <p:cNvPr id="15" name="Shape 5"/>
          <p:cNvSpPr/>
          <p:nvPr/>
        </p:nvSpPr>
        <p:spPr>
          <a:xfrm>
            <a:off x="419100" y="3919538"/>
            <a:ext cx="3486150" cy="9525"/>
          </a:xfrm>
          <a:prstGeom prst="rect">
            <a:avLst/>
          </a:prstGeom>
          <a:solidFill>
            <a:srgbClr val="E3DCD3"/>
          </a:solidFill>
          <a:ln>
            <a:noFill/>
          </a:ln>
          <a:effectLst/>
        </p:spPr>
        <p:txBody>
          <a:bodyPr rtlCol="0" anchor="ctr"/>
          <a:lstStyle/>
          <a:p>
            <a:pPr algn="ctr"/>
            <a:endParaRPr/>
          </a:p>
        </p:txBody>
      </p:sp>
      <p:sp>
        <p:nvSpPr>
          <p:cNvPr id="16" name="TextBox 10"/>
          <p:cNvSpPr txBox="1"/>
          <p:nvPr/>
        </p:nvSpPr>
        <p:spPr>
          <a:xfrm>
            <a:off x="419100" y="405288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46</a:t>
            </a:r>
          </a:p>
        </p:txBody>
      </p:sp>
      <p:sp>
        <p:nvSpPr>
          <p:cNvPr id="17" name="TextBox 11"/>
          <p:cNvSpPr txBox="1"/>
          <p:nvPr/>
        </p:nvSpPr>
        <p:spPr>
          <a:xfrm>
            <a:off x="1447800" y="4167188"/>
            <a:ext cx="2471738"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Hospitals and health systems announced 46 transactions in 2025, the fewest in the series, against 117 in 2017 (</a:t>
            </a:r>
            <a:r>
              <a:rPr sz="900" b="0" i="0" spc="15">
                <a:solidFill>
                  <a:srgbClr val="8C6239"/>
                </a:solidFill>
                <a:latin typeface="Calibri"/>
                <a:hlinkClick r:id="rId4"/>
              </a:rPr>
              <a:t>Kaufman Hall</a:t>
            </a:r>
            <a:r>
              <a:rPr sz="900" b="0" i="0" spc="15">
                <a:solidFill>
                  <a:srgbClr val="333231"/>
                </a:solidFill>
                <a:latin typeface="Calibri"/>
              </a:rPr>
              <a:t>).</a:t>
            </a:r>
          </a:p>
        </p:txBody>
      </p:sp>
      <p:sp>
        <p:nvSpPr>
          <p:cNvPr id="18" name="Shape 6"/>
          <p:cNvSpPr/>
          <p:nvPr/>
        </p:nvSpPr>
        <p:spPr>
          <a:xfrm>
            <a:off x="419100" y="4776788"/>
            <a:ext cx="3486150" cy="9525"/>
          </a:xfrm>
          <a:prstGeom prst="rect">
            <a:avLst/>
          </a:prstGeom>
          <a:solidFill>
            <a:srgbClr val="E3DCD3"/>
          </a:solidFill>
          <a:ln>
            <a:noFill/>
          </a:ln>
          <a:effectLst/>
        </p:spPr>
        <p:txBody>
          <a:bodyPr rtlCol="0" anchor="ctr"/>
          <a:lstStyle/>
          <a:p>
            <a:pPr algn="ctr"/>
            <a:endParaRPr/>
          </a:p>
        </p:txBody>
      </p:sp>
      <p:sp>
        <p:nvSpPr>
          <p:cNvPr id="19" name="TextBox 12"/>
          <p:cNvSpPr txBox="1"/>
          <p:nvPr/>
        </p:nvSpPr>
        <p:spPr>
          <a:xfrm>
            <a:off x="419100" y="4910138"/>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56</a:t>
            </a:r>
          </a:p>
        </p:txBody>
      </p:sp>
      <p:sp>
        <p:nvSpPr>
          <p:cNvPr id="20" name="TextBox 13"/>
          <p:cNvSpPr txBox="1"/>
          <p:nvPr/>
        </p:nvSpPr>
        <p:spPr>
          <a:xfrm>
            <a:off x="1447800" y="5024438"/>
            <a:ext cx="2471738" cy="647700"/>
          </a:xfrm>
          <a:prstGeom prst="rect">
            <a:avLst/>
          </a:prstGeom>
          <a:noFill/>
        </p:spPr>
        <p:txBody>
          <a:bodyPr wrap="square" lIns="0" tIns="0" rIns="0" bIns="0" anchor="t">
            <a:spAutoFit/>
          </a:bodyPr>
          <a:lstStyle/>
          <a:p>
            <a:pPr algn="l">
              <a:lnSpc>
                <a:spcPts val="1313"/>
              </a:lnSpc>
            </a:pPr>
            <a:r>
              <a:rPr sz="900" b="0" i="0" spc="15">
                <a:solidFill>
                  <a:srgbClr val="333231"/>
                </a:solidFill>
                <a:latin typeface="Calibri"/>
              </a:rPr>
              <a:t>The first three quarters of 2026 produced 56 announced hospital transactions: 22 in the first quarter, 18 in the second, and 16 in the third (</a:t>
            </a:r>
            <a:r>
              <a:rPr sz="900" b="0" i="0" spc="15">
                <a:solidFill>
                  <a:srgbClr val="8C6239"/>
                </a:solidFill>
                <a:latin typeface="Calibri"/>
                <a:hlinkClick r:id="rId5"/>
              </a:rPr>
              <a:t>Kaufman Hall</a:t>
            </a:r>
            <a:r>
              <a:rPr sz="900" b="0" i="0" spc="15">
                <a:solidFill>
                  <a:srgbClr val="333231"/>
                </a:solidFill>
                <a:latin typeface="Calibri"/>
              </a:rPr>
              <a:t>).</a:t>
            </a:r>
          </a:p>
        </p:txBody>
      </p:sp>
      <p:sp>
        <p:nvSpPr>
          <p:cNvPr id="21" name="Shape 7"/>
          <p:cNvSpPr/>
          <p:nvPr/>
        </p:nvSpPr>
        <p:spPr>
          <a:xfrm>
            <a:off x="419100" y="5795962"/>
            <a:ext cx="3486150" cy="9525"/>
          </a:xfrm>
          <a:prstGeom prst="rect">
            <a:avLst/>
          </a:prstGeom>
          <a:solidFill>
            <a:srgbClr val="E3DCD3"/>
          </a:solidFill>
          <a:ln>
            <a:noFill/>
          </a:ln>
          <a:effectLst/>
        </p:spPr>
        <p:txBody>
          <a:bodyPr rtlCol="0" anchor="ctr"/>
          <a:lstStyle/>
          <a:p>
            <a:pPr algn="ctr"/>
            <a:endParaRPr/>
          </a:p>
        </p:txBody>
      </p:sp>
      <p:sp>
        <p:nvSpPr>
          <p:cNvPr id="22" name="TextBox 14"/>
          <p:cNvSpPr txBox="1"/>
          <p:nvPr/>
        </p:nvSpPr>
        <p:spPr>
          <a:xfrm>
            <a:off x="419100" y="5929312"/>
            <a:ext cx="1036796" cy="285750"/>
          </a:xfrm>
          <a:prstGeom prst="rect">
            <a:avLst/>
          </a:prstGeom>
          <a:noFill/>
        </p:spPr>
        <p:txBody>
          <a:bodyPr wrap="square" lIns="0" tIns="0" rIns="0" bIns="0" anchor="t">
            <a:spAutoFit/>
          </a:bodyPr>
          <a:lstStyle/>
          <a:p>
            <a:pPr algn="l">
              <a:lnSpc>
                <a:spcPts val="2250"/>
              </a:lnSpc>
            </a:pPr>
            <a:r>
              <a:rPr sz="2025" b="1" i="0" spc="15">
                <a:solidFill>
                  <a:srgbClr val="8C6239"/>
                </a:solidFill>
                <a:latin typeface="Cambria"/>
              </a:rPr>
              <a:t>1,217</a:t>
            </a:r>
          </a:p>
        </p:txBody>
      </p:sp>
      <p:sp>
        <p:nvSpPr>
          <p:cNvPr id="23" name="TextBox 15"/>
          <p:cNvSpPr txBox="1"/>
          <p:nvPr/>
        </p:nvSpPr>
        <p:spPr>
          <a:xfrm>
            <a:off x="1447800" y="6043612"/>
            <a:ext cx="2471738"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Private equity completed 1,217 healthcare services transactions in 2021 and an estimated 747 in 2025 (</a:t>
            </a:r>
            <a:r>
              <a:rPr sz="900" b="0" i="0" spc="15">
                <a:solidFill>
                  <a:srgbClr val="8C6239"/>
                </a:solidFill>
                <a:latin typeface="Calibri"/>
                <a:hlinkClick r:id="rId6">
                  <a:extLst>
                    <a:ext uri="{A12FA001-AC4F-418D-AE19-62706E023703}">
                      <ahyp:hlinkClr xmlns:ahyp="http://schemas.microsoft.com/office/drawing/2018/hyperlinkcolor" val="tx"/>
                    </a:ext>
                  </a:extLst>
                </a:hlinkClick>
              </a:rPr>
              <a:t>PitchBook</a:t>
            </a:r>
            <a:r>
              <a:rPr sz="900" b="0" i="0" spc="15">
                <a:solidFill>
                  <a:srgbClr val="333231"/>
                </a:solidFill>
                <a:latin typeface="Calibri"/>
              </a:rPr>
              <a:t>).</a:t>
            </a:r>
          </a:p>
        </p:txBody>
      </p:sp>
      <p:sp>
        <p:nvSpPr>
          <p:cNvPr id="24" name="Shape 8"/>
          <p:cNvSpPr/>
          <p:nvPr/>
        </p:nvSpPr>
        <p:spPr>
          <a:xfrm>
            <a:off x="419100" y="6653212"/>
            <a:ext cx="3486150" cy="9525"/>
          </a:xfrm>
          <a:prstGeom prst="rect">
            <a:avLst/>
          </a:prstGeom>
          <a:solidFill>
            <a:srgbClr val="E3DCD3"/>
          </a:solidFill>
          <a:ln>
            <a:noFill/>
          </a:ln>
          <a:effectLst/>
        </p:spPr>
        <p:txBody>
          <a:bodyPr rtlCol="0" anchor="ctr"/>
          <a:lstStyle/>
          <a:p>
            <a:pPr algn="ctr"/>
            <a:endParaRPr/>
          </a:p>
        </p:txBody>
      </p:sp>
      <p:sp>
        <p:nvSpPr>
          <p:cNvPr id="25" name="Shape 9"/>
          <p:cNvSpPr/>
          <p:nvPr/>
        </p:nvSpPr>
        <p:spPr>
          <a:xfrm>
            <a:off x="4114800" y="1238250"/>
            <a:ext cx="5524500" cy="9525"/>
          </a:xfrm>
          <a:prstGeom prst="rect">
            <a:avLst/>
          </a:prstGeom>
          <a:solidFill>
            <a:srgbClr val="E3DCD3"/>
          </a:solidFill>
          <a:ln>
            <a:noFill/>
          </a:ln>
          <a:effectLst/>
        </p:spPr>
        <p:txBody>
          <a:bodyPr rtlCol="0" anchor="ctr"/>
          <a:lstStyle/>
          <a:p>
            <a:pPr algn="ctr"/>
            <a:endParaRPr/>
          </a:p>
        </p:txBody>
      </p:sp>
      <p:sp>
        <p:nvSpPr>
          <p:cNvPr id="26" name="Shape 10"/>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27" name="Shape 11"/>
          <p:cNvSpPr/>
          <p:nvPr/>
        </p:nvSpPr>
        <p:spPr>
          <a:xfrm>
            <a:off x="4114800" y="4010025"/>
            <a:ext cx="5524500" cy="9525"/>
          </a:xfrm>
          <a:prstGeom prst="rect">
            <a:avLst/>
          </a:prstGeom>
          <a:solidFill>
            <a:srgbClr val="E3DCD3"/>
          </a:solidFill>
          <a:ln>
            <a:noFill/>
          </a:ln>
          <a:effectLst/>
        </p:spPr>
        <p:txBody>
          <a:bodyPr rtlCol="0" anchor="ctr"/>
          <a:lstStyle/>
          <a:p>
            <a:pPr algn="ctr"/>
            <a:endParaRPr/>
          </a:p>
        </p:txBody>
      </p:sp>
      <p:sp>
        <p:nvSpPr>
          <p:cNvPr id="28" name="Shape 12"/>
          <p:cNvSpPr/>
          <p:nvPr/>
        </p:nvSpPr>
        <p:spPr>
          <a:xfrm>
            <a:off x="4114800" y="1238250"/>
            <a:ext cx="9525" cy="2781300"/>
          </a:xfrm>
          <a:prstGeom prst="rect">
            <a:avLst/>
          </a:prstGeom>
          <a:solidFill>
            <a:srgbClr val="E3DCD3"/>
          </a:solidFill>
          <a:ln>
            <a:noFill/>
          </a:ln>
          <a:effectLst/>
        </p:spPr>
        <p:txBody>
          <a:bodyPr rtlCol="0" anchor="ctr"/>
          <a:lstStyle/>
          <a:p>
            <a:pPr algn="ctr"/>
            <a:endParaRPr/>
          </a:p>
        </p:txBody>
      </p:sp>
      <p:sp>
        <p:nvSpPr>
          <p:cNvPr id="29" name="TextBox 16"/>
          <p:cNvSpPr txBox="1"/>
          <p:nvPr/>
        </p:nvSpPr>
        <p:spPr>
          <a:xfrm>
            <a:off x="4276725" y="1362075"/>
            <a:ext cx="52149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National health expenditures</a:t>
            </a:r>
          </a:p>
        </p:txBody>
      </p:sp>
      <p:sp>
        <p:nvSpPr>
          <p:cNvPr id="30" name="TextBox 17"/>
          <p:cNvSpPr txBox="1"/>
          <p:nvPr/>
        </p:nvSpPr>
        <p:spPr>
          <a:xfrm>
            <a:off x="4276725" y="1524000"/>
            <a:ext cx="52149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 trillions; 2025 and 2026 are CMS projections. Source: </a:t>
            </a:r>
            <a:r>
              <a:rPr sz="850" b="0" i="0" spc="15">
                <a:solidFill>
                  <a:srgbClr val="8C6239"/>
                </a:solidFill>
                <a:latin typeface="Calibri"/>
                <a:hlinkClick r:id="rId2"/>
              </a:rPr>
              <a:t>CMS</a:t>
            </a:r>
            <a:r>
              <a:rPr sz="850" b="0" i="0" spc="15">
                <a:solidFill>
                  <a:srgbClr val="6F6A66"/>
                </a:solidFill>
                <a:latin typeface="Calibri"/>
              </a:rPr>
              <a:t>; </a:t>
            </a:r>
            <a:r>
              <a:rPr sz="850" b="0" i="0" spc="15">
                <a:solidFill>
                  <a:srgbClr val="8C6239"/>
                </a:solidFill>
                <a:latin typeface="Calibri"/>
                <a:hlinkClick r:id="rId3"/>
              </a:rPr>
              <a:t>CRFB</a:t>
            </a:r>
          </a:p>
        </p:txBody>
      </p:sp>
      <p:graphicFrame>
        <p:nvGraphicFramePr>
          <p:cNvPr id="31" name="Chart 1" descr="Bar chart of US national health expenditures in trillions of dollars by year, 2016 to 2026"/>
          <p:cNvGraphicFramePr>
            <a:graphicFrameLocks noGrp="1"/>
          </p:cNvGraphicFramePr>
          <p:nvPr/>
        </p:nvGraphicFramePr>
        <p:xfrm>
          <a:off x="4276725" y="2047875"/>
          <a:ext cx="5181600" cy="1866900"/>
        </p:xfrm>
        <a:graphic>
          <a:graphicData uri="http://schemas.openxmlformats.org/drawingml/2006/chart">
            <c:chart xmlns:c="http://schemas.openxmlformats.org/drawingml/2006/chart" xmlns:r="http://schemas.openxmlformats.org/officeDocument/2006/relationships" r:id="rId7"/>
          </a:graphicData>
        </a:graphic>
      </p:graphicFrame>
      <p:sp>
        <p:nvSpPr>
          <p:cNvPr id="32" name="Shape 13"/>
          <p:cNvSpPr/>
          <p:nvPr/>
        </p:nvSpPr>
        <p:spPr>
          <a:xfrm>
            <a:off x="4114800" y="4152900"/>
            <a:ext cx="5524500" cy="9525"/>
          </a:xfrm>
          <a:prstGeom prst="rect">
            <a:avLst/>
          </a:prstGeom>
          <a:solidFill>
            <a:srgbClr val="E3DCD3"/>
          </a:solidFill>
          <a:ln>
            <a:noFill/>
          </a:ln>
          <a:effectLst/>
        </p:spPr>
        <p:txBody>
          <a:bodyPr rtlCol="0" anchor="ctr"/>
          <a:lstStyle/>
          <a:p>
            <a:pPr algn="ctr"/>
            <a:endParaRPr/>
          </a:p>
        </p:txBody>
      </p:sp>
      <p:sp>
        <p:nvSpPr>
          <p:cNvPr id="33" name="Shape 14"/>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34" name="Shape 15"/>
          <p:cNvSpPr/>
          <p:nvPr/>
        </p:nvSpPr>
        <p:spPr>
          <a:xfrm>
            <a:off x="4114800" y="6924675"/>
            <a:ext cx="5524500" cy="9525"/>
          </a:xfrm>
          <a:prstGeom prst="rect">
            <a:avLst/>
          </a:prstGeom>
          <a:solidFill>
            <a:srgbClr val="E3DCD3"/>
          </a:solidFill>
          <a:ln>
            <a:noFill/>
          </a:ln>
          <a:effectLst/>
        </p:spPr>
        <p:txBody>
          <a:bodyPr rtlCol="0" anchor="ctr"/>
          <a:lstStyle/>
          <a:p>
            <a:pPr algn="ctr"/>
            <a:endParaRPr/>
          </a:p>
        </p:txBody>
      </p:sp>
      <p:sp>
        <p:nvSpPr>
          <p:cNvPr id="35" name="Shape 16"/>
          <p:cNvSpPr/>
          <p:nvPr/>
        </p:nvSpPr>
        <p:spPr>
          <a:xfrm>
            <a:off x="4114800" y="4152900"/>
            <a:ext cx="9525" cy="2781300"/>
          </a:xfrm>
          <a:prstGeom prst="rect">
            <a:avLst/>
          </a:prstGeom>
          <a:solidFill>
            <a:srgbClr val="E3DCD3"/>
          </a:solidFill>
          <a:ln>
            <a:noFill/>
          </a:ln>
          <a:effectLst/>
        </p:spPr>
        <p:txBody>
          <a:bodyPr rtlCol="0" anchor="ctr"/>
          <a:lstStyle/>
          <a:p>
            <a:pPr algn="ctr"/>
            <a:endParaRPr/>
          </a:p>
        </p:txBody>
      </p:sp>
      <p:sp>
        <p:nvSpPr>
          <p:cNvPr id="36" name="TextBox 18"/>
          <p:cNvSpPr txBox="1"/>
          <p:nvPr/>
        </p:nvSpPr>
        <p:spPr>
          <a:xfrm>
            <a:off x="4276725" y="4276725"/>
            <a:ext cx="52149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Announced hospital and health system transactions</a:t>
            </a:r>
          </a:p>
        </p:txBody>
      </p:sp>
      <p:sp>
        <p:nvSpPr>
          <p:cNvPr id="37" name="TextBox 19"/>
          <p:cNvSpPr txBox="1"/>
          <p:nvPr/>
        </p:nvSpPr>
        <p:spPr>
          <a:xfrm>
            <a:off x="4276725" y="4438650"/>
            <a:ext cx="52149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Number per year; 2026 covers the first three quarters. Source: </a:t>
            </a:r>
            <a:r>
              <a:rPr sz="850" b="0" i="0" spc="15">
                <a:solidFill>
                  <a:srgbClr val="8C6239"/>
                </a:solidFill>
                <a:latin typeface="Calibri"/>
                <a:hlinkClick r:id="rId4"/>
              </a:rPr>
              <a:t>Kaufman Hall</a:t>
            </a:r>
          </a:p>
        </p:txBody>
      </p:sp>
      <p:graphicFrame>
        <p:nvGraphicFramePr>
          <p:cNvPr id="38" name="Chart 2" descr="Bar chart of announced hospital and health system transactions by year, 2017 to the first nine months of 2026"/>
          <p:cNvGraphicFramePr>
            <a:graphicFrameLocks noGrp="1"/>
          </p:cNvGraphicFramePr>
          <p:nvPr/>
        </p:nvGraphicFramePr>
        <p:xfrm>
          <a:off x="4276725" y="4962525"/>
          <a:ext cx="5181600" cy="1866900"/>
        </p:xfrm>
        <a:graphic>
          <a:graphicData uri="http://schemas.openxmlformats.org/drawingml/2006/chart">
            <c:chart xmlns:c="http://schemas.openxmlformats.org/drawingml/2006/chart" xmlns:r="http://schemas.openxmlformats.org/officeDocument/2006/relationships" r:id="rId8"/>
          </a:graphicData>
        </a:graphic>
      </p:graphicFrame>
      <p:sp>
        <p:nvSpPr>
          <p:cNvPr id="39" name="Shape 1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0" name="Picture 1" descr="Benchmark International logo"/>
          <p:cNvPicPr>
            <a:picLocks noChangeAspect="1"/>
          </p:cNvPicPr>
          <p:nvPr/>
        </p:nvPicPr>
        <p:blipFill>
          <a:blip r:embed="rId9"/>
          <a:srcRect/>
          <a:stretch>
            <a:fillRect/>
          </a:stretch>
        </p:blipFill>
        <p:spPr>
          <a:xfrm>
            <a:off x="419100" y="7143750"/>
            <a:ext cx="914400" cy="171450"/>
          </a:xfrm>
          <a:prstGeom prst="rect">
            <a:avLst/>
          </a:prstGeom>
        </p:spPr>
      </p:pic>
      <p:sp>
        <p:nvSpPr>
          <p:cNvPr id="41" name="TextBox 20"/>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National health expenditures are from the CMS historical tables; 2025 and 2026 are CMS projections. Transaction counts are announced transactions as tallied by Kaufman Hall.</a:t>
            </a:r>
          </a:p>
        </p:txBody>
      </p:sp>
      <p:sp>
        <p:nvSpPr>
          <p:cNvPr id="42" name="TextBox 21"/>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Market Fundamentals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Employment, capital investment, and drug approvals have grown since 2021, which supports demand across the four sectors.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971800" cy="9525"/>
          </a:xfrm>
          <a:prstGeom prst="rect">
            <a:avLst/>
          </a:prstGeom>
          <a:solidFill>
            <a:srgbClr val="E3DCD3"/>
          </a:solidFill>
          <a:ln>
            <a:noFill/>
          </a:ln>
          <a:effectLst/>
        </p:spPr>
        <p:txBody>
          <a:bodyPr rtlCol="0" anchor="ctr"/>
          <a:lstStyle/>
          <a:p>
            <a:pPr algn="ctr"/>
            <a:endParaRPr/>
          </a:p>
        </p:txBody>
      </p:sp>
      <p:sp>
        <p:nvSpPr>
          <p:cNvPr id="9" name="Shape 4"/>
          <p:cNvSpPr/>
          <p:nvPr/>
        </p:nvSpPr>
        <p:spPr>
          <a:xfrm>
            <a:off x="3381375" y="1238250"/>
            <a:ext cx="9525" cy="5695950"/>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419100" y="6924675"/>
            <a:ext cx="2971800" cy="9525"/>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28625" y="1247775"/>
            <a:ext cx="2952750" cy="323850"/>
          </a:xfrm>
          <a:prstGeom prst="rect">
            <a:avLst/>
          </a:prstGeom>
          <a:solidFill>
            <a:srgbClr val="1B1A1A"/>
          </a:solidFill>
          <a:ln>
            <a:noFill/>
          </a:ln>
          <a:effectLst/>
        </p:spPr>
        <p:txBody>
          <a:bodyPr rtlCol="0" anchor="ctr"/>
          <a:lstStyle/>
          <a:p>
            <a:pPr algn="ctr"/>
            <a:endParaRPr/>
          </a:p>
        </p:txBody>
      </p:sp>
      <p:sp>
        <p:nvSpPr>
          <p:cNvPr id="13" name="TextBox 5"/>
          <p:cNvSpPr txBox="1"/>
          <p:nvPr/>
        </p:nvSpPr>
        <p:spPr>
          <a:xfrm>
            <a:off x="561975" y="1343025"/>
            <a:ext cx="2700338" cy="133350"/>
          </a:xfrm>
          <a:prstGeom prst="rect">
            <a:avLst/>
          </a:prstGeom>
          <a:noFill/>
        </p:spPr>
        <p:txBody>
          <a:bodyPr wrap="square" lIns="0" tIns="0" rIns="0" bIns="0" anchor="t">
            <a:spAutoFit/>
          </a:bodyPr>
          <a:lstStyle/>
          <a:p>
            <a:pPr algn="l">
              <a:lnSpc>
                <a:spcPts val="1208"/>
              </a:lnSpc>
            </a:pPr>
            <a:r>
              <a:rPr sz="900" b="1" i="0" spc="120">
                <a:solidFill>
                  <a:srgbClr val="FFFFFF"/>
                </a:solidFill>
                <a:latin typeface="Calibri"/>
              </a:rPr>
              <a:t>HEALTHCARE EMPLOYMENT</a:t>
            </a:r>
          </a:p>
        </p:txBody>
      </p:sp>
      <p:sp>
        <p:nvSpPr>
          <p:cNvPr id="14" name="TextBox 6"/>
          <p:cNvSpPr txBox="1"/>
          <p:nvPr/>
        </p:nvSpPr>
        <p:spPr>
          <a:xfrm>
            <a:off x="561975" y="1666875"/>
            <a:ext cx="2700338" cy="400050"/>
          </a:xfrm>
          <a:prstGeom prst="rect">
            <a:avLst/>
          </a:prstGeom>
          <a:noFill/>
        </p:spPr>
        <p:txBody>
          <a:bodyPr wrap="square" lIns="0" tIns="0" rIns="0" bIns="0" anchor="t">
            <a:spAutoFit/>
          </a:bodyPr>
          <a:lstStyle/>
          <a:p>
            <a:pPr algn="l">
              <a:lnSpc>
                <a:spcPts val="1176"/>
              </a:lnSpc>
            </a:pPr>
            <a:r>
              <a:rPr sz="850" b="0" i="0" spc="15">
                <a:solidFill>
                  <a:srgbClr val="6F6A66"/>
                </a:solidFill>
                <a:latin typeface="Calibri"/>
              </a:rPr>
              <a:t>All employees, healthcare, millions, monthly, seasonally adjusted. Source: Bureau of Labor Statistics via </a:t>
            </a:r>
            <a:r>
              <a:rPr sz="850" b="0" i="0" spc="15">
                <a:solidFill>
                  <a:srgbClr val="8C6239"/>
                </a:solidFill>
                <a:latin typeface="Calibri"/>
                <a:hlinkClick r:id="rId2">
                  <a:extLst>
                    <a:ext uri="{A12FA001-AC4F-418D-AE19-62706E023703}">
                      <ahyp:hlinkClr xmlns:ahyp="http://schemas.microsoft.com/office/drawing/2018/hyperlinkcolor" val="tx"/>
                    </a:ext>
                  </a:extLst>
                </a:hlinkClick>
              </a:rPr>
              <a:t>FRED</a:t>
            </a:r>
          </a:p>
        </p:txBody>
      </p:sp>
      <p:graphicFrame>
        <p:nvGraphicFramePr>
          <p:cNvPr id="15" name="Chart 1" descr="Line chart of health care employment in millions, monthly from September 2021 to September 2026"/>
          <p:cNvGraphicFramePr>
            <a:graphicFrameLocks noGrp="1"/>
          </p:cNvGraphicFramePr>
          <p:nvPr>
            <p:extLst>
              <p:ext uri="{D42A27DB-BD31-4B8C-83A1-F6EECF244321}">
                <p14:modId xmlns:p14="http://schemas.microsoft.com/office/powerpoint/2010/main" val="839241025"/>
              </p:ext>
            </p:extLst>
          </p:nvPr>
        </p:nvGraphicFramePr>
        <p:xfrm>
          <a:off x="561975" y="2105025"/>
          <a:ext cx="2781300" cy="2381250"/>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8"/>
          <p:cNvSpPr/>
          <p:nvPr/>
        </p:nvSpPr>
        <p:spPr>
          <a:xfrm>
            <a:off x="561975" y="4600575"/>
            <a:ext cx="2686050" cy="9525"/>
          </a:xfrm>
          <a:prstGeom prst="rect">
            <a:avLst/>
          </a:prstGeom>
          <a:solidFill>
            <a:srgbClr val="E3DCD3"/>
          </a:solidFill>
          <a:ln>
            <a:noFill/>
          </a:ln>
          <a:effectLst/>
        </p:spPr>
        <p:txBody>
          <a:bodyPr rtlCol="0" anchor="ctr"/>
          <a:lstStyle/>
          <a:p>
            <a:pPr algn="ctr"/>
            <a:endParaRPr/>
          </a:p>
        </p:txBody>
      </p:sp>
      <p:sp>
        <p:nvSpPr>
          <p:cNvPr id="17" name="Shape 9"/>
          <p:cNvSpPr/>
          <p:nvPr/>
        </p:nvSpPr>
        <p:spPr>
          <a:xfrm>
            <a:off x="561975" y="4752975"/>
            <a:ext cx="47625" cy="47625"/>
          </a:xfrm>
          <a:prstGeom prst="rect">
            <a:avLst/>
          </a:prstGeom>
          <a:solidFill>
            <a:srgbClr val="B68757"/>
          </a:solidFill>
          <a:ln>
            <a:noFill/>
          </a:ln>
          <a:effectLst/>
        </p:spPr>
        <p:txBody>
          <a:bodyPr rtlCol="0" anchor="ctr"/>
          <a:lstStyle/>
          <a:p>
            <a:pPr algn="ctr"/>
            <a:endParaRPr/>
          </a:p>
        </p:txBody>
      </p:sp>
      <p:sp>
        <p:nvSpPr>
          <p:cNvPr id="18" name="TextBox 7"/>
          <p:cNvSpPr txBox="1"/>
          <p:nvPr/>
        </p:nvSpPr>
        <p:spPr>
          <a:xfrm>
            <a:off x="685800" y="4714875"/>
            <a:ext cx="2576512"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Healthcare employed 18.55 million people in September 2026, 16.1% more than in September 2021 and 2.0% more than a year earlier.</a:t>
            </a:r>
          </a:p>
        </p:txBody>
      </p:sp>
      <p:sp>
        <p:nvSpPr>
          <p:cNvPr id="19" name="Shape 10"/>
          <p:cNvSpPr/>
          <p:nvPr/>
        </p:nvSpPr>
        <p:spPr>
          <a:xfrm>
            <a:off x="561975" y="5330190"/>
            <a:ext cx="47625" cy="47625"/>
          </a:xfrm>
          <a:prstGeom prst="rect">
            <a:avLst/>
          </a:prstGeom>
          <a:solidFill>
            <a:srgbClr val="B68757"/>
          </a:solidFill>
          <a:ln>
            <a:noFill/>
          </a:ln>
          <a:effectLst/>
        </p:spPr>
        <p:txBody>
          <a:bodyPr rtlCol="0" anchor="ctr"/>
          <a:lstStyle/>
          <a:p>
            <a:pPr algn="ctr"/>
            <a:endParaRPr/>
          </a:p>
        </p:txBody>
      </p:sp>
      <p:sp>
        <p:nvSpPr>
          <p:cNvPr id="20" name="TextBox 8"/>
          <p:cNvSpPr txBox="1"/>
          <p:nvPr/>
        </p:nvSpPr>
        <p:spPr>
          <a:xfrm>
            <a:off x="685800" y="5292090"/>
            <a:ext cx="2576512" cy="647700"/>
          </a:xfrm>
          <a:prstGeom prst="rect">
            <a:avLst/>
          </a:prstGeom>
          <a:noFill/>
        </p:spPr>
        <p:txBody>
          <a:bodyPr wrap="square" lIns="0" tIns="0" rIns="0" bIns="0" anchor="t">
            <a:spAutoFit/>
          </a:bodyPr>
          <a:lstStyle/>
          <a:p>
            <a:pPr algn="l">
              <a:lnSpc>
                <a:spcPts val="1275"/>
              </a:lnSpc>
            </a:pPr>
            <a:r>
              <a:rPr sz="861" b="0" i="0" spc="15">
                <a:solidFill>
                  <a:srgbClr val="333231"/>
                </a:solidFill>
                <a:latin typeface="Calibri"/>
              </a:rPr>
              <a:t>Health care and social assistance had 1,359,000 open positions in August (</a:t>
            </a:r>
            <a:r>
              <a:rPr sz="861" b="0" i="0" spc="15">
                <a:solidFill>
                  <a:srgbClr val="8C6239"/>
                </a:solidFill>
                <a:latin typeface="Calibri"/>
                <a:hlinkClick r:id="rId4"/>
              </a:rPr>
              <a:t>Bureau of Labor Statistics JOLTS</a:t>
            </a:r>
            <a:r>
              <a:rPr sz="861" b="0" i="0" spc="15">
                <a:solidFill>
                  <a:srgbClr val="333231"/>
                </a:solidFill>
                <a:latin typeface="Calibri"/>
              </a:rPr>
              <a:t>). Buyers test clinician turnover as closely as payer mix.</a:t>
            </a:r>
          </a:p>
        </p:txBody>
      </p:sp>
      <p:sp>
        <p:nvSpPr>
          <p:cNvPr id="21" name="Shape 11"/>
          <p:cNvSpPr/>
          <p:nvPr/>
        </p:nvSpPr>
        <p:spPr>
          <a:xfrm>
            <a:off x="3543300" y="1238250"/>
            <a:ext cx="2971800" cy="9525"/>
          </a:xfrm>
          <a:prstGeom prst="rect">
            <a:avLst/>
          </a:prstGeom>
          <a:solidFill>
            <a:srgbClr val="E3DCD3"/>
          </a:solidFill>
          <a:ln>
            <a:noFill/>
          </a:ln>
          <a:effectLst/>
        </p:spPr>
        <p:txBody>
          <a:bodyPr rtlCol="0" anchor="ctr"/>
          <a:lstStyle/>
          <a:p>
            <a:pPr algn="ctr"/>
            <a:endParaRPr/>
          </a:p>
        </p:txBody>
      </p:sp>
      <p:sp>
        <p:nvSpPr>
          <p:cNvPr id="22" name="Shape 12"/>
          <p:cNvSpPr/>
          <p:nvPr/>
        </p:nvSpPr>
        <p:spPr>
          <a:xfrm>
            <a:off x="6505575" y="1238250"/>
            <a:ext cx="9525" cy="5695950"/>
          </a:xfrm>
          <a:prstGeom prst="rect">
            <a:avLst/>
          </a:prstGeom>
          <a:solidFill>
            <a:srgbClr val="E3DCD3"/>
          </a:solidFill>
          <a:ln>
            <a:noFill/>
          </a:ln>
          <a:effectLst/>
        </p:spPr>
        <p:txBody>
          <a:bodyPr rtlCol="0" anchor="ctr"/>
          <a:lstStyle/>
          <a:p>
            <a:pPr algn="ctr"/>
            <a:endParaRPr/>
          </a:p>
        </p:txBody>
      </p:sp>
      <p:sp>
        <p:nvSpPr>
          <p:cNvPr id="23" name="Shape 13"/>
          <p:cNvSpPr/>
          <p:nvPr/>
        </p:nvSpPr>
        <p:spPr>
          <a:xfrm>
            <a:off x="3543300" y="6924675"/>
            <a:ext cx="2971800" cy="9525"/>
          </a:xfrm>
          <a:prstGeom prst="rect">
            <a:avLst/>
          </a:prstGeom>
          <a:solidFill>
            <a:srgbClr val="E3DCD3"/>
          </a:solidFill>
          <a:ln>
            <a:noFill/>
          </a:ln>
          <a:effectLst/>
        </p:spPr>
        <p:txBody>
          <a:bodyPr rtlCol="0" anchor="ctr"/>
          <a:lstStyle/>
          <a:p>
            <a:pPr algn="ctr"/>
            <a:endParaRPr/>
          </a:p>
        </p:txBody>
      </p:sp>
      <p:sp>
        <p:nvSpPr>
          <p:cNvPr id="24" name="Shape 14"/>
          <p:cNvSpPr/>
          <p:nvPr/>
        </p:nvSpPr>
        <p:spPr>
          <a:xfrm>
            <a:off x="3543300" y="1238250"/>
            <a:ext cx="9525" cy="5695950"/>
          </a:xfrm>
          <a:prstGeom prst="rect">
            <a:avLst/>
          </a:prstGeom>
          <a:solidFill>
            <a:srgbClr val="E3DCD3"/>
          </a:solidFill>
          <a:ln>
            <a:noFill/>
          </a:ln>
          <a:effectLst/>
        </p:spPr>
        <p:txBody>
          <a:bodyPr rtlCol="0" anchor="ctr"/>
          <a:lstStyle/>
          <a:p>
            <a:pPr algn="ctr"/>
            <a:endParaRPr/>
          </a:p>
        </p:txBody>
      </p:sp>
      <p:sp>
        <p:nvSpPr>
          <p:cNvPr id="25" name="Shape 15"/>
          <p:cNvSpPr/>
          <p:nvPr/>
        </p:nvSpPr>
        <p:spPr>
          <a:xfrm>
            <a:off x="3552825" y="1247775"/>
            <a:ext cx="2952750" cy="323850"/>
          </a:xfrm>
          <a:prstGeom prst="rect">
            <a:avLst/>
          </a:prstGeom>
          <a:solidFill>
            <a:srgbClr val="1B1A1A"/>
          </a:solidFill>
          <a:ln>
            <a:noFill/>
          </a:ln>
          <a:effectLst/>
        </p:spPr>
        <p:txBody>
          <a:bodyPr rtlCol="0" anchor="ctr"/>
          <a:lstStyle/>
          <a:p>
            <a:pPr algn="ctr"/>
            <a:endParaRPr/>
          </a:p>
        </p:txBody>
      </p:sp>
      <p:sp>
        <p:nvSpPr>
          <p:cNvPr id="26" name="TextBox 9"/>
          <p:cNvSpPr txBox="1"/>
          <p:nvPr/>
        </p:nvSpPr>
        <p:spPr>
          <a:xfrm>
            <a:off x="3686175" y="1343025"/>
            <a:ext cx="2700338" cy="133350"/>
          </a:xfrm>
          <a:prstGeom prst="rect">
            <a:avLst/>
          </a:prstGeom>
          <a:noFill/>
        </p:spPr>
        <p:txBody>
          <a:bodyPr wrap="square" lIns="0" tIns="0" rIns="0" bIns="0" anchor="t">
            <a:spAutoFit/>
          </a:bodyPr>
          <a:lstStyle/>
          <a:p>
            <a:pPr algn="l">
              <a:lnSpc>
                <a:spcPts val="1208"/>
              </a:lnSpc>
            </a:pPr>
            <a:r>
              <a:rPr sz="900" b="1" i="0" spc="120">
                <a:solidFill>
                  <a:srgbClr val="FFFFFF"/>
                </a:solidFill>
                <a:latin typeface="Calibri"/>
              </a:rPr>
              <a:t>FACILITY CONSTRUCTION</a:t>
            </a:r>
          </a:p>
        </p:txBody>
      </p:sp>
      <p:sp>
        <p:nvSpPr>
          <p:cNvPr id="27" name="TextBox 10"/>
          <p:cNvSpPr txBox="1"/>
          <p:nvPr/>
        </p:nvSpPr>
        <p:spPr>
          <a:xfrm>
            <a:off x="3686175" y="1666875"/>
            <a:ext cx="2700338" cy="400050"/>
          </a:xfrm>
          <a:prstGeom prst="rect">
            <a:avLst/>
          </a:prstGeom>
          <a:noFill/>
        </p:spPr>
        <p:txBody>
          <a:bodyPr wrap="square" lIns="0" tIns="0" rIns="0" bIns="0" anchor="t">
            <a:spAutoFit/>
          </a:bodyPr>
          <a:lstStyle/>
          <a:p>
            <a:pPr algn="l">
              <a:lnSpc>
                <a:spcPts val="1176"/>
              </a:lnSpc>
            </a:pPr>
            <a:r>
              <a:rPr sz="850" b="0" i="0" spc="15">
                <a:solidFill>
                  <a:srgbClr val="6F6A66"/>
                </a:solidFill>
                <a:latin typeface="Calibri"/>
              </a:rPr>
              <a:t>Total construction spending on healthcare, $ billions at an annual rate, monthly. Source: US Census Bureau via </a:t>
            </a:r>
            <a:r>
              <a:rPr sz="850" b="0" i="0" spc="15">
                <a:solidFill>
                  <a:srgbClr val="8C6239"/>
                </a:solidFill>
                <a:latin typeface="Calibri"/>
                <a:hlinkClick r:id="rId5">
                  <a:extLst>
                    <a:ext uri="{A12FA001-AC4F-418D-AE19-62706E023703}">
                      <ahyp:hlinkClr xmlns:ahyp="http://schemas.microsoft.com/office/drawing/2018/hyperlinkcolor" val="tx"/>
                    </a:ext>
                  </a:extLst>
                </a:hlinkClick>
              </a:rPr>
              <a:t>FRED</a:t>
            </a:r>
          </a:p>
        </p:txBody>
      </p:sp>
      <p:graphicFrame>
        <p:nvGraphicFramePr>
          <p:cNvPr id="28" name="Chart 2" descr="Line chart of health care construction spending at an annual rate, monthly from September 2021 to August 2026"/>
          <p:cNvGraphicFramePr>
            <a:graphicFrameLocks noGrp="1"/>
          </p:cNvGraphicFramePr>
          <p:nvPr>
            <p:extLst>
              <p:ext uri="{D42A27DB-BD31-4B8C-83A1-F6EECF244321}">
                <p14:modId xmlns:p14="http://schemas.microsoft.com/office/powerpoint/2010/main" val="857406205"/>
              </p:ext>
            </p:extLst>
          </p:nvPr>
        </p:nvGraphicFramePr>
        <p:xfrm>
          <a:off x="3686175" y="2105025"/>
          <a:ext cx="2781300" cy="2381250"/>
        </p:xfrm>
        <a:graphic>
          <a:graphicData uri="http://schemas.openxmlformats.org/drawingml/2006/chart">
            <c:chart xmlns:c="http://schemas.openxmlformats.org/drawingml/2006/chart" xmlns:r="http://schemas.openxmlformats.org/officeDocument/2006/relationships" r:id="rId6"/>
          </a:graphicData>
        </a:graphic>
      </p:graphicFrame>
      <p:sp>
        <p:nvSpPr>
          <p:cNvPr id="29" name="Shape 16"/>
          <p:cNvSpPr/>
          <p:nvPr/>
        </p:nvSpPr>
        <p:spPr>
          <a:xfrm>
            <a:off x="3686175" y="4600575"/>
            <a:ext cx="2686050" cy="9525"/>
          </a:xfrm>
          <a:prstGeom prst="rect">
            <a:avLst/>
          </a:prstGeom>
          <a:solidFill>
            <a:srgbClr val="E3DCD3"/>
          </a:solidFill>
          <a:ln>
            <a:noFill/>
          </a:ln>
          <a:effectLst/>
        </p:spPr>
        <p:txBody>
          <a:bodyPr rtlCol="0" anchor="ctr"/>
          <a:lstStyle/>
          <a:p>
            <a:pPr algn="ctr"/>
            <a:endParaRPr/>
          </a:p>
        </p:txBody>
      </p:sp>
      <p:sp>
        <p:nvSpPr>
          <p:cNvPr id="30" name="Shape 17"/>
          <p:cNvSpPr/>
          <p:nvPr/>
        </p:nvSpPr>
        <p:spPr>
          <a:xfrm>
            <a:off x="3686175" y="4752975"/>
            <a:ext cx="47625" cy="47625"/>
          </a:xfrm>
          <a:prstGeom prst="rect">
            <a:avLst/>
          </a:prstGeom>
          <a:solidFill>
            <a:srgbClr val="B68757"/>
          </a:solidFill>
          <a:ln>
            <a:noFill/>
          </a:ln>
          <a:effectLst/>
        </p:spPr>
        <p:txBody>
          <a:bodyPr rtlCol="0" anchor="ctr"/>
          <a:lstStyle/>
          <a:p>
            <a:pPr algn="ctr"/>
            <a:endParaRPr/>
          </a:p>
        </p:txBody>
      </p:sp>
      <p:sp>
        <p:nvSpPr>
          <p:cNvPr id="31" name="TextBox 11"/>
          <p:cNvSpPr txBox="1"/>
          <p:nvPr/>
        </p:nvSpPr>
        <p:spPr>
          <a:xfrm>
            <a:off x="3810000" y="4714875"/>
            <a:ext cx="2576512"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Healthcare construction ran at an annual rate of $75.8 billion in August 2026, 49% above September 2021 in nominal dollars.</a:t>
            </a:r>
          </a:p>
        </p:txBody>
      </p:sp>
      <p:sp>
        <p:nvSpPr>
          <p:cNvPr id="32" name="Shape 18"/>
          <p:cNvSpPr/>
          <p:nvPr/>
        </p:nvSpPr>
        <p:spPr>
          <a:xfrm>
            <a:off x="3686175" y="5275326"/>
            <a:ext cx="47625" cy="47625"/>
          </a:xfrm>
          <a:prstGeom prst="rect">
            <a:avLst/>
          </a:prstGeom>
          <a:solidFill>
            <a:srgbClr val="B68757"/>
          </a:solidFill>
          <a:ln>
            <a:noFill/>
          </a:ln>
          <a:effectLst/>
        </p:spPr>
        <p:txBody>
          <a:bodyPr rtlCol="0" anchor="ctr"/>
          <a:lstStyle/>
          <a:p>
            <a:pPr algn="ctr"/>
            <a:endParaRPr/>
          </a:p>
        </p:txBody>
      </p:sp>
      <p:sp>
        <p:nvSpPr>
          <p:cNvPr id="33" name="TextBox 12"/>
          <p:cNvSpPr txBox="1"/>
          <p:nvPr/>
        </p:nvSpPr>
        <p:spPr>
          <a:xfrm>
            <a:off x="3810000" y="5237226"/>
            <a:ext cx="2576512" cy="647700"/>
          </a:xfrm>
          <a:prstGeom prst="rect">
            <a:avLst/>
          </a:prstGeom>
          <a:noFill/>
        </p:spPr>
        <p:txBody>
          <a:bodyPr wrap="square" lIns="0" tIns="0" rIns="0" bIns="0" anchor="t">
            <a:spAutoFit/>
          </a:bodyPr>
          <a:lstStyle/>
          <a:p>
            <a:pPr algn="l">
              <a:lnSpc>
                <a:spcPts val="1313"/>
              </a:lnSpc>
            </a:pPr>
            <a:r>
              <a:rPr sz="900" b="0" i="0" spc="15">
                <a:solidFill>
                  <a:srgbClr val="333231"/>
                </a:solidFill>
                <a:latin typeface="Calibri"/>
              </a:rPr>
              <a:t>Among hospital and health system executives surveyed, 41% plan to cut capital spending in 2026 (</a:t>
            </a:r>
            <a:r>
              <a:rPr sz="900" b="0" i="0" spc="15">
                <a:solidFill>
                  <a:srgbClr val="8C6239"/>
                </a:solidFill>
                <a:latin typeface="Calibri"/>
                <a:hlinkClick r:id="rId7"/>
              </a:rPr>
              <a:t>Sage Growth Partners via HFMA</a:t>
            </a:r>
            <a:r>
              <a:rPr sz="900" b="0" i="0" spc="15">
                <a:solidFill>
                  <a:srgbClr val="333231"/>
                </a:solidFill>
                <a:latin typeface="Calibri"/>
              </a:rPr>
              <a:t>), which shifts spending from new construction toward acquisition.</a:t>
            </a:r>
          </a:p>
        </p:txBody>
      </p:sp>
      <p:sp>
        <p:nvSpPr>
          <p:cNvPr id="34" name="Shape 19"/>
          <p:cNvSpPr/>
          <p:nvPr/>
        </p:nvSpPr>
        <p:spPr>
          <a:xfrm>
            <a:off x="6667500" y="1238250"/>
            <a:ext cx="2971800" cy="9525"/>
          </a:xfrm>
          <a:prstGeom prst="rect">
            <a:avLst/>
          </a:prstGeom>
          <a:solidFill>
            <a:srgbClr val="E3DCD3"/>
          </a:solidFill>
          <a:ln>
            <a:noFill/>
          </a:ln>
          <a:effectLst/>
        </p:spPr>
        <p:txBody>
          <a:bodyPr rtlCol="0" anchor="ctr"/>
          <a:lstStyle/>
          <a:p>
            <a:pPr algn="ctr"/>
            <a:endParaRPr/>
          </a:p>
        </p:txBody>
      </p:sp>
      <p:sp>
        <p:nvSpPr>
          <p:cNvPr id="35" name="Shape 20"/>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36" name="Shape 21"/>
          <p:cNvSpPr/>
          <p:nvPr/>
        </p:nvSpPr>
        <p:spPr>
          <a:xfrm>
            <a:off x="6667500" y="6924675"/>
            <a:ext cx="2971800" cy="9525"/>
          </a:xfrm>
          <a:prstGeom prst="rect">
            <a:avLst/>
          </a:prstGeom>
          <a:solidFill>
            <a:srgbClr val="E3DCD3"/>
          </a:solidFill>
          <a:ln>
            <a:noFill/>
          </a:ln>
          <a:effectLst/>
        </p:spPr>
        <p:txBody>
          <a:bodyPr rtlCol="0" anchor="ctr"/>
          <a:lstStyle/>
          <a:p>
            <a:pPr algn="ctr"/>
            <a:endParaRPr/>
          </a:p>
        </p:txBody>
      </p:sp>
      <p:sp>
        <p:nvSpPr>
          <p:cNvPr id="37" name="Shape 22"/>
          <p:cNvSpPr/>
          <p:nvPr/>
        </p:nvSpPr>
        <p:spPr>
          <a:xfrm>
            <a:off x="6667500" y="1238250"/>
            <a:ext cx="9525" cy="5695950"/>
          </a:xfrm>
          <a:prstGeom prst="rect">
            <a:avLst/>
          </a:prstGeom>
          <a:solidFill>
            <a:srgbClr val="E3DCD3"/>
          </a:solidFill>
          <a:ln>
            <a:noFill/>
          </a:ln>
          <a:effectLst/>
        </p:spPr>
        <p:txBody>
          <a:bodyPr rtlCol="0" anchor="ctr"/>
          <a:lstStyle/>
          <a:p>
            <a:pPr algn="ctr"/>
            <a:endParaRPr/>
          </a:p>
        </p:txBody>
      </p:sp>
      <p:sp>
        <p:nvSpPr>
          <p:cNvPr id="38" name="Shape 23"/>
          <p:cNvSpPr/>
          <p:nvPr/>
        </p:nvSpPr>
        <p:spPr>
          <a:xfrm>
            <a:off x="6677025" y="1247775"/>
            <a:ext cx="2952750" cy="323850"/>
          </a:xfrm>
          <a:prstGeom prst="rect">
            <a:avLst/>
          </a:prstGeom>
          <a:solidFill>
            <a:srgbClr val="1B1A1A"/>
          </a:solidFill>
          <a:ln>
            <a:noFill/>
          </a:ln>
          <a:effectLst/>
        </p:spPr>
        <p:txBody>
          <a:bodyPr rtlCol="0" anchor="ctr"/>
          <a:lstStyle/>
          <a:p>
            <a:pPr algn="ctr"/>
            <a:endParaRPr/>
          </a:p>
        </p:txBody>
      </p:sp>
      <p:sp>
        <p:nvSpPr>
          <p:cNvPr id="39" name="TextBox 13"/>
          <p:cNvSpPr txBox="1"/>
          <p:nvPr/>
        </p:nvSpPr>
        <p:spPr>
          <a:xfrm>
            <a:off x="6810375" y="1343025"/>
            <a:ext cx="2700338" cy="133350"/>
          </a:xfrm>
          <a:prstGeom prst="rect">
            <a:avLst/>
          </a:prstGeom>
          <a:noFill/>
        </p:spPr>
        <p:txBody>
          <a:bodyPr wrap="square" lIns="0" tIns="0" rIns="0" bIns="0" anchor="t">
            <a:spAutoFit/>
          </a:bodyPr>
          <a:lstStyle/>
          <a:p>
            <a:pPr algn="l">
              <a:lnSpc>
                <a:spcPts val="1208"/>
              </a:lnSpc>
            </a:pPr>
            <a:r>
              <a:rPr sz="900" b="1" i="0" spc="120">
                <a:solidFill>
                  <a:srgbClr val="FFFFFF"/>
                </a:solidFill>
                <a:latin typeface="Calibri"/>
              </a:rPr>
              <a:t>FDA DRUG APPROVALS</a:t>
            </a:r>
          </a:p>
        </p:txBody>
      </p:sp>
      <p:sp>
        <p:nvSpPr>
          <p:cNvPr id="40" name="TextBox 14"/>
          <p:cNvSpPr txBox="1"/>
          <p:nvPr/>
        </p:nvSpPr>
        <p:spPr>
          <a:xfrm>
            <a:off x="6810375" y="1666875"/>
            <a:ext cx="2700338" cy="400050"/>
          </a:xfrm>
          <a:prstGeom prst="rect">
            <a:avLst/>
          </a:prstGeom>
          <a:noFill/>
        </p:spPr>
        <p:txBody>
          <a:bodyPr wrap="square" lIns="0" tIns="0" rIns="0" bIns="0" anchor="t">
            <a:spAutoFit/>
          </a:bodyPr>
          <a:lstStyle/>
          <a:p>
            <a:pPr algn="l">
              <a:lnSpc>
                <a:spcPts val="1176"/>
              </a:lnSpc>
            </a:pPr>
            <a:r>
              <a:rPr sz="850" b="0" i="0" spc="15">
                <a:solidFill>
                  <a:srgbClr val="6F6A66"/>
                </a:solidFill>
                <a:latin typeface="Calibri"/>
              </a:rPr>
              <a:t>Novel drugs approved by the FDA Center for Drug Evaluation and Research, by year. Source: </a:t>
            </a:r>
            <a:r>
              <a:rPr sz="850" b="0" i="0" spc="15">
                <a:solidFill>
                  <a:srgbClr val="8C6239"/>
                </a:solidFill>
                <a:latin typeface="Calibri"/>
                <a:hlinkClick r:id="rId8">
                  <a:extLst>
                    <a:ext uri="{A12FA001-AC4F-418D-AE19-62706E023703}">
                      <ahyp:hlinkClr xmlns:ahyp="http://schemas.microsoft.com/office/drawing/2018/hyperlinkcolor" val="tx"/>
                    </a:ext>
                  </a:extLst>
                </a:hlinkClick>
              </a:rPr>
              <a:t>FDA</a:t>
            </a:r>
            <a:r>
              <a:rPr sz="850" b="0" i="0" spc="15">
                <a:solidFill>
                  <a:srgbClr val="6F6A66"/>
                </a:solidFill>
                <a:latin typeface="Calibri"/>
              </a:rPr>
              <a:t>; </a:t>
            </a:r>
            <a:r>
              <a:rPr sz="850" b="0" i="0" spc="15">
                <a:solidFill>
                  <a:srgbClr val="8C6239"/>
                </a:solidFill>
                <a:latin typeface="Calibri"/>
                <a:hlinkClick r:id="rId9">
                  <a:extLst>
                    <a:ext uri="{A12FA001-AC4F-418D-AE19-62706E023703}">
                      <ahyp:hlinkClr xmlns:ahyp="http://schemas.microsoft.com/office/drawing/2018/hyperlinkcolor" val="tx"/>
                    </a:ext>
                  </a:extLst>
                </a:hlinkClick>
              </a:rPr>
              <a:t>RAPS</a:t>
            </a:r>
          </a:p>
        </p:txBody>
      </p:sp>
      <p:graphicFrame>
        <p:nvGraphicFramePr>
          <p:cNvPr id="41" name="Chart 3" descr="Bar chart of FDA novel drug approvals by year, 2016 to 2026"/>
          <p:cNvGraphicFramePr>
            <a:graphicFrameLocks noGrp="1"/>
          </p:cNvGraphicFramePr>
          <p:nvPr/>
        </p:nvGraphicFramePr>
        <p:xfrm>
          <a:off x="6810375" y="2105025"/>
          <a:ext cx="2781300" cy="2381250"/>
        </p:xfrm>
        <a:graphic>
          <a:graphicData uri="http://schemas.openxmlformats.org/drawingml/2006/chart">
            <c:chart xmlns:c="http://schemas.openxmlformats.org/drawingml/2006/chart" xmlns:r="http://schemas.openxmlformats.org/officeDocument/2006/relationships" r:id="rId10"/>
          </a:graphicData>
        </a:graphic>
      </p:graphicFrame>
      <p:sp>
        <p:nvSpPr>
          <p:cNvPr id="42" name="Shape 24"/>
          <p:cNvSpPr/>
          <p:nvPr/>
        </p:nvSpPr>
        <p:spPr>
          <a:xfrm>
            <a:off x="6810375" y="4600575"/>
            <a:ext cx="2686050" cy="9525"/>
          </a:xfrm>
          <a:prstGeom prst="rect">
            <a:avLst/>
          </a:prstGeom>
          <a:solidFill>
            <a:srgbClr val="E3DCD3"/>
          </a:solidFill>
          <a:ln>
            <a:noFill/>
          </a:ln>
          <a:effectLst/>
        </p:spPr>
        <p:txBody>
          <a:bodyPr rtlCol="0" anchor="ctr"/>
          <a:lstStyle/>
          <a:p>
            <a:pPr algn="ctr"/>
            <a:endParaRPr/>
          </a:p>
        </p:txBody>
      </p:sp>
      <p:sp>
        <p:nvSpPr>
          <p:cNvPr id="43" name="Shape 25"/>
          <p:cNvSpPr/>
          <p:nvPr/>
        </p:nvSpPr>
        <p:spPr>
          <a:xfrm>
            <a:off x="6810375" y="4752975"/>
            <a:ext cx="47625" cy="47625"/>
          </a:xfrm>
          <a:prstGeom prst="rect">
            <a:avLst/>
          </a:prstGeom>
          <a:solidFill>
            <a:srgbClr val="B68757"/>
          </a:solidFill>
          <a:ln>
            <a:noFill/>
          </a:ln>
          <a:effectLst/>
        </p:spPr>
        <p:txBody>
          <a:bodyPr rtlCol="0" anchor="ctr"/>
          <a:lstStyle/>
          <a:p>
            <a:pPr algn="ctr"/>
            <a:endParaRPr/>
          </a:p>
        </p:txBody>
      </p:sp>
      <p:sp>
        <p:nvSpPr>
          <p:cNvPr id="44" name="TextBox 15"/>
          <p:cNvSpPr txBox="1"/>
          <p:nvPr/>
        </p:nvSpPr>
        <p:spPr>
          <a:xfrm>
            <a:off x="6934200" y="4714875"/>
            <a:ext cx="2576512" cy="323850"/>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The FDA approved 46 novel drugs in 2025 and 46 in 2026 through October 9, after a low of 37 in 2022.</a:t>
            </a:r>
          </a:p>
        </p:txBody>
      </p:sp>
      <p:sp>
        <p:nvSpPr>
          <p:cNvPr id="45" name="Shape 26"/>
          <p:cNvSpPr/>
          <p:nvPr/>
        </p:nvSpPr>
        <p:spPr>
          <a:xfrm>
            <a:off x="6810375" y="5113401"/>
            <a:ext cx="47625" cy="47625"/>
          </a:xfrm>
          <a:prstGeom prst="rect">
            <a:avLst/>
          </a:prstGeom>
          <a:solidFill>
            <a:srgbClr val="B68757"/>
          </a:solidFill>
          <a:ln>
            <a:noFill/>
          </a:ln>
          <a:effectLst/>
        </p:spPr>
        <p:txBody>
          <a:bodyPr rtlCol="0" anchor="ctr"/>
          <a:lstStyle/>
          <a:p>
            <a:pPr algn="ctr"/>
            <a:endParaRPr/>
          </a:p>
        </p:txBody>
      </p:sp>
      <p:sp>
        <p:nvSpPr>
          <p:cNvPr id="46" name="TextBox 16"/>
          <p:cNvSpPr txBox="1"/>
          <p:nvPr/>
        </p:nvSpPr>
        <p:spPr>
          <a:xfrm>
            <a:off x="6934200" y="5075301"/>
            <a:ext cx="2576512" cy="485775"/>
          </a:xfrm>
          <a:prstGeom prst="rect">
            <a:avLst/>
          </a:prstGeom>
          <a:noFill/>
        </p:spPr>
        <p:txBody>
          <a:bodyPr wrap="square" lIns="0" tIns="0" rIns="0" bIns="0" anchor="t">
            <a:spAutoFit/>
          </a:bodyPr>
          <a:lstStyle/>
          <a:p>
            <a:pPr algn="l">
              <a:lnSpc>
                <a:spcPts val="1352"/>
              </a:lnSpc>
            </a:pPr>
            <a:r>
              <a:rPr sz="900" b="0" i="0" spc="15">
                <a:solidFill>
                  <a:srgbClr val="333231"/>
                </a:solidFill>
                <a:latin typeface="Calibri"/>
              </a:rPr>
              <a:t>Outsourced research has recovered alongside approvals, with IQVIA booking $1.22 of new work for each dollar of revenue in the second quarter (</a:t>
            </a:r>
            <a:r>
              <a:rPr sz="900" b="0" i="0" spc="15">
                <a:solidFill>
                  <a:srgbClr val="8C6239"/>
                </a:solidFill>
                <a:latin typeface="Calibri"/>
                <a:hlinkClick r:id="rId11">
                  <a:extLst>
                    <a:ext uri="{A12FA001-AC4F-418D-AE19-62706E023703}">
                      <ahyp:hlinkClr xmlns:ahyp="http://schemas.microsoft.com/office/drawing/2018/hyperlinkcolor" val="tx"/>
                    </a:ext>
                  </a:extLst>
                </a:hlinkClick>
              </a:rPr>
              <a:t>IQVIA</a:t>
            </a:r>
            <a:r>
              <a:rPr sz="900" b="0" i="0" spc="15">
                <a:solidFill>
                  <a:srgbClr val="333231"/>
                </a:solidFill>
                <a:latin typeface="Calibri"/>
              </a:rPr>
              <a:t>).</a:t>
            </a:r>
          </a:p>
        </p:txBody>
      </p:sp>
      <p:sp>
        <p:nvSpPr>
          <p:cNvPr id="47" name="Shape 2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48" name="Picture 1" descr="Benchmark International logo"/>
          <p:cNvPicPr>
            <a:picLocks noChangeAspect="1"/>
          </p:cNvPicPr>
          <p:nvPr/>
        </p:nvPicPr>
        <p:blipFill>
          <a:blip r:embed="rId12"/>
          <a:srcRect/>
          <a:stretch>
            <a:fillRect/>
          </a:stretch>
        </p:blipFill>
        <p:spPr>
          <a:xfrm>
            <a:off x="419100" y="7143750"/>
            <a:ext cx="914400" cy="171450"/>
          </a:xfrm>
          <a:prstGeom prst="rect">
            <a:avLst/>
          </a:prstGeom>
        </p:spPr>
      </p:pic>
      <p:sp>
        <p:nvSpPr>
          <p:cNvPr id="49" name="TextBox 17"/>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 2026 covers approvals through October 9. Employment and construction series run from September 2021 to the latest month published as of October 16, 2026. Approval counts for 2016 to 2021 and 2024 are as reported by RAPS and US Pharmacist from FDA data.</a:t>
            </a:r>
          </a:p>
        </p:txBody>
      </p:sp>
      <p:sp>
        <p:nvSpPr>
          <p:cNvPr id="50" name="TextBox 1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Buyers and drivers differ by sector, and this page covers providers, laboratories, and research services.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Shape 4"/>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Shape 8"/>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 descr="Icon of a building with a medical cross for Provider Services"/>
          <p:cNvPicPr>
            <a:picLocks noChangeAspect="1"/>
          </p:cNvPicPr>
          <p:nvPr/>
        </p:nvPicPr>
        <p:blipFill>
          <a:blip r:embed="rId2"/>
          <a:stretch>
            <a:fillRect/>
          </a:stretch>
        </p:blipFill>
        <p:spPr>
          <a:xfrm>
            <a:off x="581025" y="1323975"/>
            <a:ext cx="266700" cy="266700"/>
          </a:xfrm>
          <a:prstGeom prst="rect">
            <a:avLst/>
          </a:prstGeom>
        </p:spPr>
      </p:pic>
      <p:sp>
        <p:nvSpPr>
          <p:cNvPr id="15" name="TextBox 5"/>
          <p:cNvSpPr txBox="1"/>
          <p:nvPr/>
        </p:nvSpPr>
        <p:spPr>
          <a:xfrm>
            <a:off x="952500" y="1390650"/>
            <a:ext cx="1181695"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PROVIDER SERVICES</a:t>
            </a:r>
          </a:p>
        </p:txBody>
      </p:sp>
      <p:sp>
        <p:nvSpPr>
          <p:cNvPr id="16" name="Shape 9"/>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Box 6"/>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Health systems are buying access points and sponsors are trading platforms.</a:t>
            </a:r>
          </a:p>
        </p:txBody>
      </p:sp>
      <p:sp>
        <p:nvSpPr>
          <p:cNvPr id="18" name="TextBox 7"/>
          <p:cNvSpPr txBox="1"/>
          <p:nvPr/>
        </p:nvSpPr>
        <p:spPr>
          <a:xfrm>
            <a:off x="581025" y="247173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19" name="TextBox 8"/>
          <p:cNvSpPr txBox="1"/>
          <p:nvPr/>
        </p:nvSpPr>
        <p:spPr>
          <a:xfrm>
            <a:off x="581025" y="2633662"/>
            <a:ext cx="2195512" cy="442912"/>
          </a:xfrm>
          <a:prstGeom prst="rect">
            <a:avLst/>
          </a:prstGeom>
          <a:noFill/>
        </p:spPr>
        <p:txBody>
          <a:bodyPr wrap="square" lIns="0" tIns="0" rIns="0" bIns="0" anchor="t">
            <a:spAutoFit/>
          </a:bodyPr>
          <a:lstStyle/>
          <a:p>
            <a:pPr algn="l">
              <a:lnSpc>
                <a:spcPts val="1232"/>
              </a:lnSpc>
            </a:pPr>
            <a:r>
              <a:rPr sz="850" b="0" i="0" spc="15">
                <a:solidFill>
                  <a:srgbClr val="333231"/>
                </a:solidFill>
                <a:latin typeface="Calibri"/>
              </a:rPr>
              <a:t>Urgent care, Optometry &amp; eye care, Pediatric &amp; physical therapy, Multi-specialty medical groups, Emergency medical services, Renal care</a:t>
            </a:r>
          </a:p>
        </p:txBody>
      </p:sp>
      <p:pic>
        <p:nvPicPr>
          <p:cNvPr id="20" name="Picture 2" descr="Child laughing while a clinician holds a stethoscope to his chest"/>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Box 9"/>
          <p:cNvSpPr txBox="1"/>
          <p:nvPr/>
        </p:nvSpPr>
        <p:spPr>
          <a:xfrm>
            <a:off x="3095625" y="180022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22" name="Shape 10"/>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Box 10"/>
          <p:cNvSpPr txBox="1"/>
          <p:nvPr/>
        </p:nvSpPr>
        <p:spPr>
          <a:xfrm>
            <a:off x="3219450" y="1990725"/>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The 100 largest urgent care operators hold 6,056 of the country’s 14,655 centers, and 55.9% of those Top 100 locations are affiliated with a hospital (</a:t>
            </a:r>
            <a:r>
              <a:rPr sz="825" b="0" i="0" spc="15">
                <a:solidFill>
                  <a:srgbClr val="8C6239"/>
                </a:solidFill>
                <a:latin typeface="Calibri"/>
                <a:hlinkClick r:id="rId4"/>
              </a:rPr>
              <a:t>Journal of Urgent Care Medicine</a:t>
            </a:r>
            <a:r>
              <a:rPr sz="825" b="0" i="0" spc="15">
                <a:solidFill>
                  <a:srgbClr val="333231"/>
                </a:solidFill>
                <a:latin typeface="Calibri"/>
              </a:rPr>
              <a:t>).</a:t>
            </a:r>
          </a:p>
        </p:txBody>
      </p:sp>
      <p:sp>
        <p:nvSpPr>
          <p:cNvPr id="24" name="Shape 11"/>
          <p:cNvSpPr/>
          <p:nvPr/>
        </p:nvSpPr>
        <p:spPr>
          <a:xfrm>
            <a:off x="3095625" y="2522601"/>
            <a:ext cx="47625" cy="47625"/>
          </a:xfrm>
          <a:prstGeom prst="rect">
            <a:avLst/>
          </a:prstGeom>
          <a:solidFill>
            <a:srgbClr val="B68757"/>
          </a:solidFill>
          <a:ln>
            <a:noFill/>
          </a:ln>
          <a:effectLst/>
        </p:spPr>
        <p:txBody>
          <a:bodyPr rtlCol="0" anchor="ctr"/>
          <a:lstStyle/>
          <a:p>
            <a:pPr algn="ctr"/>
            <a:endParaRPr/>
          </a:p>
        </p:txBody>
      </p:sp>
      <p:sp>
        <p:nvSpPr>
          <p:cNvPr id="25" name="TextBox 11"/>
          <p:cNvSpPr txBox="1"/>
          <p:nvPr/>
        </p:nvSpPr>
        <p:spPr>
          <a:xfrm>
            <a:off x="3219450" y="2484501"/>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HCA Healthcare acquired about 70 urgent care centers in three 2026 transactions: CommunityMed, Urgent Care Group, and Texas MedClinic (</a:t>
            </a:r>
            <a:r>
              <a:rPr sz="850" b="0" i="0" spc="15">
                <a:solidFill>
                  <a:srgbClr val="8C6239"/>
                </a:solidFill>
                <a:latin typeface="Calibri"/>
                <a:hlinkClick r:id="rId5"/>
              </a:rPr>
              <a:t>Becker’s ASC Review</a:t>
            </a:r>
            <a:r>
              <a:rPr sz="850" b="0" i="0" spc="15">
                <a:solidFill>
                  <a:srgbClr val="333231"/>
                </a:solidFill>
                <a:latin typeface="Calibri"/>
              </a:rPr>
              <a:t>; </a:t>
            </a:r>
            <a:r>
              <a:rPr sz="850" b="0" i="0" spc="15">
                <a:solidFill>
                  <a:srgbClr val="8C6239"/>
                </a:solidFill>
                <a:latin typeface="Calibri"/>
                <a:hlinkClick r:id="rId6"/>
              </a:rPr>
              <a:t>Healthcare Dive</a:t>
            </a:r>
            <a:r>
              <a:rPr sz="850" b="0" i="0" spc="15">
                <a:solidFill>
                  <a:srgbClr val="333231"/>
                </a:solidFill>
                <a:latin typeface="Calibri"/>
              </a:rPr>
              <a:t>).</a:t>
            </a:r>
          </a:p>
        </p:txBody>
      </p:sp>
      <p:sp>
        <p:nvSpPr>
          <p:cNvPr id="26" name="Shape 12"/>
          <p:cNvSpPr/>
          <p:nvPr/>
        </p:nvSpPr>
        <p:spPr>
          <a:xfrm>
            <a:off x="3095625" y="3016377"/>
            <a:ext cx="47625" cy="47625"/>
          </a:xfrm>
          <a:prstGeom prst="rect">
            <a:avLst/>
          </a:prstGeom>
          <a:solidFill>
            <a:srgbClr val="B68757"/>
          </a:solidFill>
          <a:ln>
            <a:noFill/>
          </a:ln>
          <a:effectLst/>
        </p:spPr>
        <p:txBody>
          <a:bodyPr rtlCol="0" anchor="ctr"/>
          <a:lstStyle/>
          <a:p>
            <a:pPr algn="ctr"/>
            <a:endParaRPr/>
          </a:p>
        </p:txBody>
      </p:sp>
      <p:sp>
        <p:nvSpPr>
          <p:cNvPr id="27" name="TextBox 12"/>
          <p:cNvSpPr txBox="1"/>
          <p:nvPr/>
        </p:nvSpPr>
        <p:spPr>
          <a:xfrm>
            <a:off x="3219450" y="2978277"/>
            <a:ext cx="4005262" cy="6096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Care in the home drew some of the largest sponsor-led provider transactions of the year, including General Atlantic’s purchase of TEAM Services Group at about $3 billion (</a:t>
            </a:r>
            <a:r>
              <a:rPr sz="825" b="0" i="0" spc="15">
                <a:solidFill>
                  <a:srgbClr val="8C6239"/>
                </a:solidFill>
                <a:latin typeface="Calibri"/>
                <a:hlinkClick r:id="rId7"/>
              </a:rPr>
              <a:t>LevinPro</a:t>
            </a:r>
            <a:r>
              <a:rPr sz="825" b="0" i="0" spc="15">
                <a:solidFill>
                  <a:srgbClr val="333231"/>
                </a:solidFill>
                <a:latin typeface="Calibri"/>
              </a:rPr>
              <a:t>) and Kinderhook’s agreement to take Enhabit private at about $1.1 billion (</a:t>
            </a:r>
            <a:r>
              <a:rPr sz="825" b="0" i="0" spc="15">
                <a:solidFill>
                  <a:srgbClr val="8C6239"/>
                </a:solidFill>
                <a:latin typeface="Calibri"/>
                <a:hlinkClick r:id="rId8"/>
              </a:rPr>
              <a:t>Enhabit</a:t>
            </a:r>
            <a:r>
              <a:rPr sz="825" b="0" i="0" spc="15">
                <a:solidFill>
                  <a:srgbClr val="333231"/>
                </a:solidFill>
                <a:latin typeface="Calibri"/>
              </a:rPr>
              <a:t>).</a:t>
            </a:r>
          </a:p>
        </p:txBody>
      </p:sp>
      <p:sp>
        <p:nvSpPr>
          <p:cNvPr id="28" name="Shape 13"/>
          <p:cNvSpPr/>
          <p:nvPr/>
        </p:nvSpPr>
        <p:spPr>
          <a:xfrm>
            <a:off x="3095625" y="3662553"/>
            <a:ext cx="47625" cy="47625"/>
          </a:xfrm>
          <a:prstGeom prst="rect">
            <a:avLst/>
          </a:prstGeom>
          <a:solidFill>
            <a:srgbClr val="B68757"/>
          </a:solidFill>
          <a:ln>
            <a:noFill/>
          </a:ln>
          <a:effectLst/>
        </p:spPr>
        <p:txBody>
          <a:bodyPr rtlCol="0" anchor="ctr"/>
          <a:lstStyle/>
          <a:p>
            <a:pPr algn="ctr"/>
            <a:endParaRPr/>
          </a:p>
        </p:txBody>
      </p:sp>
      <p:sp>
        <p:nvSpPr>
          <p:cNvPr id="29" name="TextBox 13"/>
          <p:cNvSpPr txBox="1"/>
          <p:nvPr/>
        </p:nvSpPr>
        <p:spPr>
          <a:xfrm>
            <a:off x="3219450" y="3624453"/>
            <a:ext cx="4005262"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Independent practice continues to shrink, and 42.2% of physicians work in physician-owned practices against 60.1% in 2012 (</a:t>
            </a:r>
            <a:r>
              <a:rPr sz="825" b="0" i="0" spc="15">
                <a:solidFill>
                  <a:srgbClr val="8C6239"/>
                </a:solidFill>
                <a:latin typeface="Calibri"/>
                <a:hlinkClick r:id="rId9"/>
              </a:rPr>
              <a:t>AMA 2024 Benchmark Survey via Medical Economics</a:t>
            </a:r>
            <a:r>
              <a:rPr sz="825" b="0" i="0" spc="15">
                <a:solidFill>
                  <a:srgbClr val="333231"/>
                </a:solidFill>
                <a:latin typeface="Calibri"/>
              </a:rPr>
              <a:t>).</a:t>
            </a:r>
          </a:p>
        </p:txBody>
      </p:sp>
      <p:sp>
        <p:nvSpPr>
          <p:cNvPr id="30" name="Shape 14"/>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Box 14"/>
          <p:cNvSpPr txBox="1"/>
          <p:nvPr/>
        </p:nvSpPr>
        <p:spPr>
          <a:xfrm>
            <a:off x="7534275" y="180022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32" name="TextBox 15"/>
          <p:cNvSpPr txBox="1"/>
          <p:nvPr/>
        </p:nvSpPr>
        <p:spPr>
          <a:xfrm>
            <a:off x="7534275" y="1962150"/>
            <a:ext cx="1957388" cy="471488"/>
          </a:xfrm>
          <a:prstGeom prst="rect">
            <a:avLst/>
          </a:prstGeom>
          <a:noFill/>
        </p:spPr>
        <p:txBody>
          <a:bodyPr wrap="square" lIns="0" tIns="0" rIns="0" bIns="0" anchor="t">
            <a:spAutoFit/>
          </a:bodyPr>
          <a:lstStyle/>
          <a:p>
            <a:pPr algn="l">
              <a:lnSpc>
                <a:spcPts val="1312"/>
              </a:lnSpc>
            </a:pPr>
            <a:r>
              <a:rPr sz="850" b="0" i="0" spc="15">
                <a:solidFill>
                  <a:srgbClr val="333231"/>
                </a:solidFill>
                <a:latin typeface="Calibri"/>
              </a:rPr>
              <a:t>HCA Healthcare, MyEyeDr., U.S. Physical Therapy, Addus HomeCare, Concentra, Kinderhook, and Universal Health Services</a:t>
            </a:r>
          </a:p>
        </p:txBody>
      </p:sp>
      <p:sp>
        <p:nvSpPr>
          <p:cNvPr id="33" name="Shape 15"/>
          <p:cNvSpPr/>
          <p:nvPr/>
        </p:nvSpPr>
        <p:spPr>
          <a:xfrm>
            <a:off x="7534275" y="2579942"/>
            <a:ext cx="1943100" cy="9525"/>
          </a:xfrm>
          <a:prstGeom prst="rect">
            <a:avLst/>
          </a:prstGeom>
          <a:solidFill>
            <a:srgbClr val="E3DCD3"/>
          </a:solidFill>
          <a:ln>
            <a:noFill/>
          </a:ln>
          <a:effectLst/>
        </p:spPr>
        <p:txBody>
          <a:bodyPr rtlCol="0" anchor="ctr"/>
          <a:lstStyle/>
          <a:p>
            <a:pPr algn="ctr"/>
            <a:endParaRPr/>
          </a:p>
        </p:txBody>
      </p:sp>
      <p:sp>
        <p:nvSpPr>
          <p:cNvPr id="34" name="TextBox 16"/>
          <p:cNvSpPr txBox="1"/>
          <p:nvPr/>
        </p:nvSpPr>
        <p:spPr>
          <a:xfrm>
            <a:off x="7534275" y="2671382"/>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57" name="Shape 27"/>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8" name="Shape 28"/>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9" name="Shape 29"/>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60" name="Shape 30"/>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61" name="Shape 31"/>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2" name="Shape 32"/>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3" name="Picture 3" descr="Icon of a laboratory flask for Life Sciences &amp; Diagnostics"/>
          <p:cNvPicPr>
            <a:picLocks noChangeAspect="1"/>
          </p:cNvPicPr>
          <p:nvPr/>
        </p:nvPicPr>
        <p:blipFill>
          <a:blip r:embed="rId10"/>
          <a:stretch>
            <a:fillRect/>
          </a:stretch>
        </p:blipFill>
        <p:spPr>
          <a:xfrm>
            <a:off x="581025" y="4238625"/>
            <a:ext cx="266700" cy="266700"/>
          </a:xfrm>
          <a:prstGeom prst="rect">
            <a:avLst/>
          </a:prstGeom>
        </p:spPr>
      </p:pic>
      <p:sp>
        <p:nvSpPr>
          <p:cNvPr id="64" name="TextBox 28"/>
          <p:cNvSpPr txBox="1"/>
          <p:nvPr/>
        </p:nvSpPr>
        <p:spPr>
          <a:xfrm>
            <a:off x="952500" y="4305300"/>
            <a:ext cx="1797844"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LIFE SCIENCES &amp; DIAGNOSTICS</a:t>
            </a:r>
          </a:p>
        </p:txBody>
      </p:sp>
      <p:sp>
        <p:nvSpPr>
          <p:cNvPr id="65" name="Shape 33"/>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6" name="TextBox 29"/>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Research spending has turned up and laboratories are selling to the national networks.</a:t>
            </a:r>
          </a:p>
        </p:txBody>
      </p:sp>
      <p:sp>
        <p:nvSpPr>
          <p:cNvPr id="67" name="TextBox 30"/>
          <p:cNvSpPr txBox="1"/>
          <p:nvPr/>
        </p:nvSpPr>
        <p:spPr>
          <a:xfrm>
            <a:off x="581025" y="538638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68" name="TextBox 31"/>
          <p:cNvSpPr txBox="1"/>
          <p:nvPr/>
        </p:nvSpPr>
        <p:spPr>
          <a:xfrm>
            <a:off x="581025" y="5548312"/>
            <a:ext cx="2195512" cy="442912"/>
          </a:xfrm>
          <a:prstGeom prst="rect">
            <a:avLst/>
          </a:prstGeom>
          <a:noFill/>
        </p:spPr>
        <p:txBody>
          <a:bodyPr wrap="square" lIns="0" tIns="0" rIns="0" bIns="0" anchor="t">
            <a:spAutoFit/>
          </a:bodyPr>
          <a:lstStyle/>
          <a:p>
            <a:pPr algn="l">
              <a:lnSpc>
                <a:spcPts val="1232"/>
              </a:lnSpc>
            </a:pPr>
            <a:r>
              <a:rPr sz="850" b="0" i="0" spc="15">
                <a:solidFill>
                  <a:srgbClr val="333231"/>
                </a:solidFill>
                <a:latin typeface="Calibri"/>
              </a:rPr>
              <a:t>Clinical &amp; pathology labs, Biologics &amp; reagents, Clinical research sites, Human-factors &amp; device design</a:t>
            </a:r>
          </a:p>
        </p:txBody>
      </p:sp>
      <p:pic>
        <p:nvPicPr>
          <p:cNvPr id="69" name="Picture 4" descr="Close-up of a microscope objective lens over a specimen"/>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70" name="TextBox 32"/>
          <p:cNvSpPr txBox="1"/>
          <p:nvPr/>
        </p:nvSpPr>
        <p:spPr>
          <a:xfrm>
            <a:off x="3095625" y="471487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71" name="Shape 34"/>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2" name="TextBox 33"/>
          <p:cNvSpPr txBox="1"/>
          <p:nvPr/>
        </p:nvSpPr>
        <p:spPr>
          <a:xfrm>
            <a:off x="3219450" y="4905375"/>
            <a:ext cx="4005262" cy="457200"/>
          </a:xfrm>
          <a:prstGeom prst="rect">
            <a:avLst/>
          </a:prstGeom>
          <a:noFill/>
        </p:spPr>
        <p:txBody>
          <a:bodyPr wrap="square" lIns="0" tIns="0" rIns="0" bIns="0" anchor="t">
            <a:spAutoFit/>
          </a:bodyPr>
          <a:lstStyle/>
          <a:p>
            <a:pPr algn="l">
              <a:lnSpc>
                <a:spcPts val="1272"/>
              </a:lnSpc>
            </a:pPr>
            <a:r>
              <a:rPr sz="850" b="0" i="0" spc="15" dirty="0">
                <a:solidFill>
                  <a:srgbClr val="333231"/>
                </a:solidFill>
                <a:latin typeface="Calibri"/>
              </a:rPr>
              <a:t>Quest grew revenue 10.2% in the second quarter on 13.1% more requisitions (</a:t>
            </a:r>
            <a:r>
              <a:rPr sz="850" b="0" i="0" spc="15" dirty="0">
                <a:solidFill>
                  <a:srgbClr val="8C6239"/>
                </a:solidFill>
                <a:latin typeface="Calibri"/>
                <a:hlinkClick r:id="rId12"/>
              </a:rPr>
              <a:t>Quest Diagnostics</a:t>
            </a:r>
            <a:r>
              <a:rPr sz="850" b="0" i="0" spc="15" dirty="0">
                <a:solidFill>
                  <a:srgbClr val="333231"/>
                </a:solidFill>
                <a:latin typeface="Calibri"/>
              </a:rPr>
              <a:t>), and Labcorp agreed acquisitions with total consideration of $528.6 million in the first half (</a:t>
            </a:r>
            <a:r>
              <a:rPr sz="850" b="0" i="0" spc="15" dirty="0">
                <a:solidFill>
                  <a:srgbClr val="8C6239"/>
                </a:solidFill>
                <a:latin typeface="Calibri"/>
                <a:hlinkClick r:id="rId13"/>
              </a:rPr>
              <a:t>Labcorp Form 10-Q</a:t>
            </a:r>
            <a:r>
              <a:rPr sz="850" b="0" i="0" spc="15" dirty="0">
                <a:solidFill>
                  <a:srgbClr val="333231"/>
                </a:solidFill>
                <a:latin typeface="Calibri"/>
              </a:rPr>
              <a:t>).</a:t>
            </a:r>
          </a:p>
        </p:txBody>
      </p:sp>
      <p:sp>
        <p:nvSpPr>
          <p:cNvPr id="73" name="Shape 35"/>
          <p:cNvSpPr/>
          <p:nvPr/>
        </p:nvSpPr>
        <p:spPr>
          <a:xfrm>
            <a:off x="3095625" y="5443601"/>
            <a:ext cx="47625" cy="47625"/>
          </a:xfrm>
          <a:prstGeom prst="rect">
            <a:avLst/>
          </a:prstGeom>
          <a:solidFill>
            <a:srgbClr val="B68757"/>
          </a:solidFill>
          <a:ln>
            <a:noFill/>
          </a:ln>
          <a:effectLst/>
        </p:spPr>
        <p:txBody>
          <a:bodyPr rtlCol="0" anchor="ctr"/>
          <a:lstStyle/>
          <a:p>
            <a:pPr algn="ctr"/>
            <a:endParaRPr/>
          </a:p>
        </p:txBody>
      </p:sp>
      <p:sp>
        <p:nvSpPr>
          <p:cNvPr id="74" name="TextBox 34"/>
          <p:cNvSpPr txBox="1"/>
          <p:nvPr/>
        </p:nvSpPr>
        <p:spPr>
          <a:xfrm>
            <a:off x="3219450" y="5405501"/>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Medicare laboratory fee cuts of up to 15% a year could resume in 2027 unless Congress passes the RESULTS Act (</a:t>
            </a:r>
            <a:r>
              <a:rPr sz="850" b="0" i="0" spc="15">
                <a:solidFill>
                  <a:srgbClr val="8C6239"/>
                </a:solidFill>
                <a:latin typeface="Calibri"/>
                <a:hlinkClick r:id="rId14">
                  <a:extLst>
                    <a:ext uri="{A12FA001-AC4F-418D-AE19-62706E023703}">
                      <ahyp:hlinkClr xmlns:ahyp="http://schemas.microsoft.com/office/drawing/2018/hyperlinkcolor" val="tx"/>
                    </a:ext>
                  </a:extLst>
                </a:hlinkClick>
              </a:rPr>
              <a:t>Association for Diagnostics &amp; Laboratory Medicine</a:t>
            </a:r>
            <a:r>
              <a:rPr sz="850" b="0" i="0" spc="15">
                <a:solidFill>
                  <a:srgbClr val="333231"/>
                </a:solidFill>
                <a:latin typeface="Calibri"/>
              </a:rPr>
              <a:t>).</a:t>
            </a:r>
          </a:p>
        </p:txBody>
      </p:sp>
      <p:sp>
        <p:nvSpPr>
          <p:cNvPr id="75" name="Shape 36"/>
          <p:cNvSpPr/>
          <p:nvPr/>
        </p:nvSpPr>
        <p:spPr>
          <a:xfrm>
            <a:off x="3095625" y="5943727"/>
            <a:ext cx="47625" cy="47625"/>
          </a:xfrm>
          <a:prstGeom prst="rect">
            <a:avLst/>
          </a:prstGeom>
          <a:solidFill>
            <a:srgbClr val="B68757"/>
          </a:solidFill>
          <a:ln>
            <a:noFill/>
          </a:ln>
          <a:effectLst/>
        </p:spPr>
        <p:txBody>
          <a:bodyPr rtlCol="0" anchor="ctr"/>
          <a:lstStyle/>
          <a:p>
            <a:pPr algn="ctr"/>
            <a:endParaRPr/>
          </a:p>
        </p:txBody>
      </p:sp>
      <p:sp>
        <p:nvSpPr>
          <p:cNvPr id="76" name="TextBox 35"/>
          <p:cNvSpPr txBox="1"/>
          <p:nvPr/>
        </p:nvSpPr>
        <p:spPr>
          <a:xfrm>
            <a:off x="3219450" y="5905627"/>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Outsourced research has recovered, with IQVIA’s net bookings up 19% (</a:t>
            </a:r>
            <a:r>
              <a:rPr sz="900" b="0" i="0" spc="15">
                <a:solidFill>
                  <a:srgbClr val="8C6239"/>
                </a:solidFill>
                <a:latin typeface="Calibri"/>
                <a:hlinkClick r:id="rId15"/>
              </a:rPr>
              <a:t>IQVIA</a:t>
            </a:r>
            <a:r>
              <a:rPr sz="900" b="0" i="0" spc="15">
                <a:solidFill>
                  <a:srgbClr val="333231"/>
                </a:solidFill>
                <a:latin typeface="Calibri"/>
              </a:rPr>
              <a:t>) and Medpace growing revenue 17.2% (</a:t>
            </a:r>
            <a:r>
              <a:rPr sz="900" b="0" i="0" spc="15">
                <a:solidFill>
                  <a:srgbClr val="8C6239"/>
                </a:solidFill>
                <a:latin typeface="Calibri"/>
                <a:hlinkClick r:id="rId16"/>
              </a:rPr>
              <a:t>Medpace</a:t>
            </a:r>
            <a:r>
              <a:rPr sz="900" b="0" i="0" spc="15">
                <a:solidFill>
                  <a:srgbClr val="333231"/>
                </a:solidFill>
                <a:latin typeface="Calibri"/>
              </a:rPr>
              <a:t>).</a:t>
            </a:r>
          </a:p>
        </p:txBody>
      </p:sp>
      <p:sp>
        <p:nvSpPr>
          <p:cNvPr id="77" name="Shape 37"/>
          <p:cNvSpPr/>
          <p:nvPr/>
        </p:nvSpPr>
        <p:spPr>
          <a:xfrm>
            <a:off x="3095625" y="6291453"/>
            <a:ext cx="47625" cy="47625"/>
          </a:xfrm>
          <a:prstGeom prst="rect">
            <a:avLst/>
          </a:prstGeom>
          <a:solidFill>
            <a:srgbClr val="B68757"/>
          </a:solidFill>
          <a:ln>
            <a:noFill/>
          </a:ln>
          <a:effectLst/>
        </p:spPr>
        <p:txBody>
          <a:bodyPr rtlCol="0" anchor="ctr"/>
          <a:lstStyle/>
          <a:p>
            <a:pPr algn="ctr"/>
            <a:endParaRPr/>
          </a:p>
        </p:txBody>
      </p:sp>
      <p:sp>
        <p:nvSpPr>
          <p:cNvPr id="78" name="TextBox 36"/>
          <p:cNvSpPr txBox="1"/>
          <p:nvPr/>
        </p:nvSpPr>
        <p:spPr>
          <a:xfrm>
            <a:off x="3219450" y="6253353"/>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Sponsor-backed networks continue to buy clinical research sites, including Headlands Research in California and Summit Clinical Research in Dallas (</a:t>
            </a:r>
            <a:r>
              <a:rPr sz="850" b="0" i="0" spc="15">
                <a:solidFill>
                  <a:srgbClr val="8C6239"/>
                </a:solidFill>
                <a:latin typeface="Calibri"/>
                <a:hlinkClick r:id="rId17">
                  <a:extLst>
                    <a:ext uri="{A12FA001-AC4F-418D-AE19-62706E023703}">
                      <ahyp:hlinkClr xmlns:ahyp="http://schemas.microsoft.com/office/drawing/2018/hyperlinkcolor" val="tx"/>
                    </a:ext>
                  </a:extLst>
                </a:hlinkClick>
              </a:rPr>
              <a:t>Headlands Research</a:t>
            </a:r>
            <a:r>
              <a:rPr sz="850" b="0" i="0" spc="15">
                <a:solidFill>
                  <a:srgbClr val="333231"/>
                </a:solidFill>
                <a:latin typeface="Calibri"/>
              </a:rPr>
              <a:t>; </a:t>
            </a:r>
            <a:r>
              <a:rPr sz="850" b="0" i="0" spc="15">
                <a:solidFill>
                  <a:srgbClr val="8C6239"/>
                </a:solidFill>
                <a:latin typeface="Calibri"/>
                <a:hlinkClick r:id="rId18">
                  <a:extLst>
                    <a:ext uri="{A12FA001-AC4F-418D-AE19-62706E023703}">
                      <ahyp:hlinkClr xmlns:ahyp="http://schemas.microsoft.com/office/drawing/2018/hyperlinkcolor" val="tx"/>
                    </a:ext>
                  </a:extLst>
                </a:hlinkClick>
              </a:rPr>
              <a:t>Summit Clinical Research</a:t>
            </a:r>
            <a:r>
              <a:rPr sz="850" b="0" i="0" spc="15">
                <a:solidFill>
                  <a:srgbClr val="333231"/>
                </a:solidFill>
                <a:latin typeface="Calibri"/>
              </a:rPr>
              <a:t>).</a:t>
            </a:r>
          </a:p>
        </p:txBody>
      </p:sp>
      <p:sp>
        <p:nvSpPr>
          <p:cNvPr id="79" name="Shape 38"/>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80" name="TextBox 37"/>
          <p:cNvSpPr txBox="1"/>
          <p:nvPr/>
        </p:nvSpPr>
        <p:spPr>
          <a:xfrm>
            <a:off x="7534275" y="471487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81" name="TextBox 38"/>
          <p:cNvSpPr txBox="1"/>
          <p:nvPr/>
        </p:nvSpPr>
        <p:spPr>
          <a:xfrm>
            <a:off x="7534275" y="4876800"/>
            <a:ext cx="1957388" cy="785812"/>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Labcorp and Quest for laboratories; Thermo Fisher, Danaher, Agilent, and Merck KGaA for tools and reagents; Headlands Research and Summit Clinical Research for sites</a:t>
            </a:r>
          </a:p>
        </p:txBody>
      </p:sp>
      <p:sp>
        <p:nvSpPr>
          <p:cNvPr id="82" name="Shape 39"/>
          <p:cNvSpPr/>
          <p:nvPr/>
        </p:nvSpPr>
        <p:spPr>
          <a:xfrm>
            <a:off x="7534275" y="5808916"/>
            <a:ext cx="1943100" cy="9525"/>
          </a:xfrm>
          <a:prstGeom prst="rect">
            <a:avLst/>
          </a:prstGeom>
          <a:solidFill>
            <a:srgbClr val="E3DCD3"/>
          </a:solidFill>
          <a:ln>
            <a:noFill/>
          </a:ln>
          <a:effectLst/>
        </p:spPr>
        <p:txBody>
          <a:bodyPr rtlCol="0" anchor="ctr"/>
          <a:lstStyle/>
          <a:p>
            <a:pPr algn="ctr"/>
            <a:endParaRPr/>
          </a:p>
        </p:txBody>
      </p:sp>
      <p:sp>
        <p:nvSpPr>
          <p:cNvPr id="83" name="TextBox 39"/>
          <p:cNvSpPr txBox="1"/>
          <p:nvPr/>
        </p:nvSpPr>
        <p:spPr>
          <a:xfrm>
            <a:off x="7534275" y="5900356"/>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102" name="Shape 49"/>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5" descr="Benchmark International logo"/>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Box 49"/>
          <p:cNvSpPr txBox="1"/>
          <p:nvPr/>
        </p:nvSpPr>
        <p:spPr>
          <a:xfrm>
            <a:off x="1543050" y="7105650"/>
            <a:ext cx="7748588" cy="238125"/>
          </a:xfrm>
          <a:prstGeom prst="rect">
            <a:avLst/>
          </a:prstGeom>
          <a:noFill/>
        </p:spPr>
        <p:txBody>
          <a:bodyPr wrap="square" lIns="0" tIns="0" rIns="0" bIns="0" anchor="t">
            <a:spAutoFit/>
          </a:bodyPr>
          <a:lstStyle/>
          <a:p>
            <a:pPr algn="l">
              <a:lnSpc>
                <a:spcPts val="994"/>
              </a:lnSpc>
            </a:pPr>
            <a:r>
              <a:rPr sz="700" b="0" i="0" spc="8">
                <a:solidFill>
                  <a:srgbClr val="6F6A66"/>
                </a:solidFill>
                <a:latin typeface="Calibri"/>
              </a:rPr>
              <a:t>Buyers named are examples drawn from 2026 transactions and results. Listed reference companies are the public comparables used on the valuation pages. Logos are the property of their owners.</a:t>
            </a:r>
          </a:p>
        </p:txBody>
      </p:sp>
      <p:sp>
        <p:nvSpPr>
          <p:cNvPr id="105" name="TextBox 50"/>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09</a:t>
            </a:r>
          </a:p>
        </p:txBody>
      </p:sp>
      <p:pic>
        <p:nvPicPr>
          <p:cNvPr id="106" name="Logo HCA" descr="HCA Healthcare logo"/>
          <p:cNvPicPr>
            <a:picLocks noChangeAspect="1"/>
          </p:cNvPicPr>
          <p:nvPr/>
        </p:nvPicPr>
        <p:blipFill>
          <a:blip r:embed="rId20"/>
          <a:stretch>
            <a:fillRect/>
          </a:stretch>
        </p:blipFill>
        <p:spPr>
          <a:xfrm>
            <a:off x="7575804" y="2964343"/>
            <a:ext cx="406908" cy="182172"/>
          </a:xfrm>
          <a:prstGeom prst="rect">
            <a:avLst/>
          </a:prstGeom>
        </p:spPr>
      </p:pic>
      <p:pic>
        <p:nvPicPr>
          <p:cNvPr id="107" name="Logo THC" descr="Tenet Health logo"/>
          <p:cNvPicPr>
            <a:picLocks noChangeAspect="1"/>
          </p:cNvPicPr>
          <p:nvPr/>
        </p:nvPicPr>
        <p:blipFill>
          <a:blip r:embed="rId21"/>
          <a:stretch>
            <a:fillRect/>
          </a:stretch>
        </p:blipFill>
        <p:spPr>
          <a:xfrm>
            <a:off x="8065008" y="2968235"/>
            <a:ext cx="406908" cy="174389"/>
          </a:xfrm>
          <a:prstGeom prst="rect">
            <a:avLst/>
          </a:prstGeom>
        </p:spPr>
      </p:pic>
      <p:pic>
        <p:nvPicPr>
          <p:cNvPr id="108" name="Logo USPH" descr="U.S. Physical Therapy logo"/>
          <p:cNvPicPr>
            <a:picLocks noChangeAspect="1"/>
          </p:cNvPicPr>
          <p:nvPr/>
        </p:nvPicPr>
        <p:blipFill>
          <a:blip r:embed="rId22"/>
          <a:stretch>
            <a:fillRect/>
          </a:stretch>
        </p:blipFill>
        <p:spPr>
          <a:xfrm>
            <a:off x="8554212" y="2960060"/>
            <a:ext cx="406908" cy="190738"/>
          </a:xfrm>
          <a:prstGeom prst="rect">
            <a:avLst/>
          </a:prstGeom>
        </p:spPr>
      </p:pic>
      <p:pic>
        <p:nvPicPr>
          <p:cNvPr id="109" name="Logo DVA" descr="DaVita Kidney Care logo"/>
          <p:cNvPicPr>
            <a:picLocks noChangeAspect="1"/>
          </p:cNvPicPr>
          <p:nvPr/>
        </p:nvPicPr>
        <p:blipFill>
          <a:blip r:embed="rId23"/>
          <a:stretch>
            <a:fillRect/>
          </a:stretch>
        </p:blipFill>
        <p:spPr>
          <a:xfrm>
            <a:off x="9057802" y="2954846"/>
            <a:ext cx="378135" cy="201168"/>
          </a:xfrm>
          <a:prstGeom prst="rect">
            <a:avLst/>
          </a:prstGeom>
        </p:spPr>
      </p:pic>
      <p:pic>
        <p:nvPicPr>
          <p:cNvPr id="110" name="Logo ADUS" descr="Addus HomeCare logo"/>
          <p:cNvPicPr>
            <a:picLocks noChangeAspect="1"/>
          </p:cNvPicPr>
          <p:nvPr/>
        </p:nvPicPr>
        <p:blipFill>
          <a:blip r:embed="rId24"/>
          <a:stretch>
            <a:fillRect/>
          </a:stretch>
        </p:blipFill>
        <p:spPr>
          <a:xfrm>
            <a:off x="7575804" y="3338497"/>
            <a:ext cx="406908" cy="92232"/>
          </a:xfrm>
          <a:prstGeom prst="rect">
            <a:avLst/>
          </a:prstGeom>
        </p:spPr>
      </p:pic>
      <p:pic>
        <p:nvPicPr>
          <p:cNvPr id="111" name="Logo PNTG" descr="Pennant Group logo"/>
          <p:cNvPicPr>
            <a:picLocks noChangeAspect="1"/>
          </p:cNvPicPr>
          <p:nvPr/>
        </p:nvPicPr>
        <p:blipFill>
          <a:blip r:embed="rId25"/>
          <a:stretch>
            <a:fillRect/>
          </a:stretch>
        </p:blipFill>
        <p:spPr>
          <a:xfrm>
            <a:off x="8065008" y="3364735"/>
            <a:ext cx="406908" cy="39757"/>
          </a:xfrm>
          <a:prstGeom prst="rect">
            <a:avLst/>
          </a:prstGeom>
        </p:spPr>
      </p:pic>
      <p:pic>
        <p:nvPicPr>
          <p:cNvPr id="112" name="Logo ACHC" descr="Acadia Healthcare logo"/>
          <p:cNvPicPr>
            <a:picLocks noChangeAspect="1"/>
          </p:cNvPicPr>
          <p:nvPr/>
        </p:nvPicPr>
        <p:blipFill>
          <a:blip r:embed="rId26"/>
          <a:stretch>
            <a:fillRect/>
          </a:stretch>
        </p:blipFill>
        <p:spPr>
          <a:xfrm>
            <a:off x="8554212" y="3327597"/>
            <a:ext cx="406908" cy="114032"/>
          </a:xfrm>
          <a:prstGeom prst="rect">
            <a:avLst/>
          </a:prstGeom>
        </p:spPr>
      </p:pic>
      <p:pic>
        <p:nvPicPr>
          <p:cNvPr id="113" name="Logo LFST" descr="LifeStance Health logo"/>
          <p:cNvPicPr>
            <a:picLocks noChangeAspect="1"/>
          </p:cNvPicPr>
          <p:nvPr/>
        </p:nvPicPr>
        <p:blipFill>
          <a:blip r:embed="rId27"/>
          <a:stretch>
            <a:fillRect/>
          </a:stretch>
        </p:blipFill>
        <p:spPr>
          <a:xfrm>
            <a:off x="9043416" y="3331037"/>
            <a:ext cx="406908" cy="107152"/>
          </a:xfrm>
          <a:prstGeom prst="rect">
            <a:avLst/>
          </a:prstGeom>
        </p:spPr>
      </p:pic>
      <p:pic>
        <p:nvPicPr>
          <p:cNvPr id="114" name="Logo PRVA" descr="Privia Health logo"/>
          <p:cNvPicPr>
            <a:picLocks noChangeAspect="1"/>
          </p:cNvPicPr>
          <p:nvPr/>
        </p:nvPicPr>
        <p:blipFill>
          <a:blip r:embed="rId28"/>
          <a:stretch>
            <a:fillRect/>
          </a:stretch>
        </p:blipFill>
        <p:spPr>
          <a:xfrm>
            <a:off x="7575804" y="3667960"/>
            <a:ext cx="406908" cy="91674"/>
          </a:xfrm>
          <a:prstGeom prst="rect">
            <a:avLst/>
          </a:prstGeom>
        </p:spPr>
      </p:pic>
      <p:pic>
        <p:nvPicPr>
          <p:cNvPr id="115" name="Logo CON" descr="Concentra logo"/>
          <p:cNvPicPr>
            <a:picLocks noChangeAspect="1"/>
          </p:cNvPicPr>
          <p:nvPr/>
        </p:nvPicPr>
        <p:blipFill>
          <a:blip r:embed="rId29"/>
          <a:stretch>
            <a:fillRect/>
          </a:stretch>
        </p:blipFill>
        <p:spPr>
          <a:xfrm>
            <a:off x="8065008" y="3680312"/>
            <a:ext cx="406908" cy="66970"/>
          </a:xfrm>
          <a:prstGeom prst="rect">
            <a:avLst/>
          </a:prstGeom>
        </p:spPr>
      </p:pic>
      <p:pic>
        <p:nvPicPr>
          <p:cNvPr id="116" name="Logo ENSG" descr="Ensign Group logo"/>
          <p:cNvPicPr>
            <a:picLocks noChangeAspect="1"/>
          </p:cNvPicPr>
          <p:nvPr/>
        </p:nvPicPr>
        <p:blipFill>
          <a:blip r:embed="rId30"/>
          <a:stretch>
            <a:fillRect/>
          </a:stretch>
        </p:blipFill>
        <p:spPr>
          <a:xfrm>
            <a:off x="8554212" y="3686474"/>
            <a:ext cx="406908" cy="54646"/>
          </a:xfrm>
          <a:prstGeom prst="rect">
            <a:avLst/>
          </a:prstGeom>
        </p:spPr>
      </p:pic>
      <p:pic>
        <p:nvPicPr>
          <p:cNvPr id="117" name="Logo LH" descr="Labcorp logo"/>
          <p:cNvPicPr>
            <a:picLocks noChangeAspect="1"/>
          </p:cNvPicPr>
          <p:nvPr/>
        </p:nvPicPr>
        <p:blipFill>
          <a:blip r:embed="rId31"/>
          <a:stretch>
            <a:fillRect/>
          </a:stretch>
        </p:blipFill>
        <p:spPr>
          <a:xfrm>
            <a:off x="7575804" y="6162757"/>
            <a:ext cx="569976" cy="151917"/>
          </a:xfrm>
          <a:prstGeom prst="rect">
            <a:avLst/>
          </a:prstGeom>
        </p:spPr>
      </p:pic>
      <p:pic>
        <p:nvPicPr>
          <p:cNvPr id="118" name="Logo DGX" descr="Quest Diagnostics logo"/>
          <p:cNvPicPr>
            <a:picLocks noChangeAspect="1"/>
          </p:cNvPicPr>
          <p:nvPr/>
        </p:nvPicPr>
        <p:blipFill>
          <a:blip r:embed="rId32"/>
          <a:stretch>
            <a:fillRect/>
          </a:stretch>
        </p:blipFill>
        <p:spPr>
          <a:xfrm>
            <a:off x="8250873" y="6156388"/>
            <a:ext cx="524381" cy="164655"/>
          </a:xfrm>
          <a:prstGeom prst="rect">
            <a:avLst/>
          </a:prstGeom>
        </p:spPr>
      </p:pic>
      <p:pic>
        <p:nvPicPr>
          <p:cNvPr id="119" name="Logo TMO" descr="Thermo Fisher Scientific logo"/>
          <p:cNvPicPr>
            <a:picLocks noChangeAspect="1"/>
          </p:cNvPicPr>
          <p:nvPr/>
        </p:nvPicPr>
        <p:blipFill>
          <a:blip r:embed="rId33"/>
          <a:stretch>
            <a:fillRect/>
          </a:stretch>
        </p:blipFill>
        <p:spPr>
          <a:xfrm>
            <a:off x="8987137" y="6156388"/>
            <a:ext cx="356397" cy="164655"/>
          </a:xfrm>
          <a:prstGeom prst="rect">
            <a:avLst/>
          </a:prstGeom>
        </p:spPr>
      </p:pic>
      <p:pic>
        <p:nvPicPr>
          <p:cNvPr id="120" name="Logo DHR" descr="Danaher logo"/>
          <p:cNvPicPr>
            <a:picLocks noChangeAspect="1"/>
          </p:cNvPicPr>
          <p:nvPr/>
        </p:nvPicPr>
        <p:blipFill>
          <a:blip r:embed="rId34"/>
          <a:stretch>
            <a:fillRect/>
          </a:stretch>
        </p:blipFill>
        <p:spPr>
          <a:xfrm>
            <a:off x="7705527" y="6394195"/>
            <a:ext cx="310529" cy="164655"/>
          </a:xfrm>
          <a:prstGeom prst="rect">
            <a:avLst/>
          </a:prstGeom>
        </p:spPr>
      </p:pic>
      <p:pic>
        <p:nvPicPr>
          <p:cNvPr id="121" name="Logo TECH" descr="Bio-Techne logo"/>
          <p:cNvPicPr>
            <a:picLocks noChangeAspect="1"/>
          </p:cNvPicPr>
          <p:nvPr/>
        </p:nvPicPr>
        <p:blipFill>
          <a:blip r:embed="rId35"/>
          <a:stretch>
            <a:fillRect/>
          </a:stretch>
        </p:blipFill>
        <p:spPr>
          <a:xfrm>
            <a:off x="8228076" y="6425795"/>
            <a:ext cx="569976" cy="101455"/>
          </a:xfrm>
          <a:prstGeom prst="rect">
            <a:avLst/>
          </a:prstGeom>
        </p:spPr>
      </p:pic>
      <p:pic>
        <p:nvPicPr>
          <p:cNvPr id="122" name="Logo IQV" descr="IQVIA logo"/>
          <p:cNvPicPr>
            <a:picLocks noChangeAspect="1"/>
          </p:cNvPicPr>
          <p:nvPr/>
        </p:nvPicPr>
        <p:blipFill>
          <a:blip r:embed="rId36"/>
          <a:stretch>
            <a:fillRect/>
          </a:stretch>
        </p:blipFill>
        <p:spPr>
          <a:xfrm>
            <a:off x="8880348" y="6426935"/>
            <a:ext cx="569976" cy="99175"/>
          </a:xfrm>
          <a:prstGeom prst="rect">
            <a:avLst/>
          </a:prstGeom>
        </p:spPr>
      </p:pic>
      <p:pic>
        <p:nvPicPr>
          <p:cNvPr id="123" name="Logo MEDP" descr="Medpace logo"/>
          <p:cNvPicPr>
            <a:picLocks noChangeAspect="1"/>
          </p:cNvPicPr>
          <p:nvPr/>
        </p:nvPicPr>
        <p:blipFill>
          <a:blip r:embed="rId37"/>
          <a:stretch>
            <a:fillRect/>
          </a:stretch>
        </p:blipFill>
        <p:spPr>
          <a:xfrm>
            <a:off x="7575804" y="6672555"/>
            <a:ext cx="569976" cy="83550"/>
          </a:xfrm>
          <a:prstGeom prst="rect">
            <a:avLst/>
          </a:prstGeom>
        </p:spPr>
      </p:pic>
      <p:pic>
        <p:nvPicPr>
          <p:cNvPr id="124" name="Logo ICLR" descr="ICON logo"/>
          <p:cNvPicPr>
            <a:picLocks noChangeAspect="1"/>
          </p:cNvPicPr>
          <p:nvPr/>
        </p:nvPicPr>
        <p:blipFill>
          <a:blip r:embed="rId38"/>
          <a:stretch>
            <a:fillRect/>
          </a:stretch>
        </p:blipFill>
        <p:spPr>
          <a:xfrm>
            <a:off x="8228076" y="6636244"/>
            <a:ext cx="569976" cy="156173"/>
          </a:xfrm>
          <a:prstGeom prst="rect">
            <a:avLst/>
          </a:prstGeom>
        </p:spPr>
      </p:pic>
      <p:pic>
        <p:nvPicPr>
          <p:cNvPr id="125" name="Logo CRL" descr="Charles River Laboratories logo"/>
          <p:cNvPicPr>
            <a:picLocks noChangeAspect="1"/>
          </p:cNvPicPr>
          <p:nvPr/>
        </p:nvPicPr>
        <p:blipFill>
          <a:blip r:embed="rId39"/>
          <a:stretch>
            <a:fillRect/>
          </a:stretch>
        </p:blipFill>
        <p:spPr>
          <a:xfrm>
            <a:off x="8880348" y="6653004"/>
            <a:ext cx="569976" cy="12265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Perspectives on Four Sectors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Buyers and drivers differ by sector, and this page covers products, distribution, pharmacy, and staffing.</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9220200" cy="2781300"/>
          </a:xfrm>
          <a:prstGeom prst="rect">
            <a:avLst/>
          </a:prstGeom>
          <a:solidFill>
            <a:srgbClr val="FFFFFF"/>
          </a:solidFill>
          <a:ln>
            <a:noFill/>
          </a:ln>
          <a:effectLst/>
        </p:spPr>
        <p:txBody>
          <a:bodyPr rtlCol="0" anchor="ctr"/>
          <a:lstStyle/>
          <a:p>
            <a:pPr algn="ctr"/>
            <a:endParaRPr/>
          </a:p>
        </p:txBody>
      </p:sp>
      <p:sp>
        <p:nvSpPr>
          <p:cNvPr id="9" name="Shape 4"/>
          <p:cNvSpPr/>
          <p:nvPr/>
        </p:nvSpPr>
        <p:spPr>
          <a:xfrm>
            <a:off x="419100" y="1238250"/>
            <a:ext cx="9220200" cy="952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9629775" y="1238250"/>
            <a:ext cx="9525" cy="2781300"/>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4010025"/>
            <a:ext cx="9220200" cy="9525"/>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19100" y="1238250"/>
            <a:ext cx="9525" cy="2781300"/>
          </a:xfrm>
          <a:prstGeom prst="rect">
            <a:avLst/>
          </a:prstGeom>
          <a:solidFill>
            <a:srgbClr val="E3DCD3"/>
          </a:solidFill>
          <a:ln>
            <a:noFill/>
          </a:ln>
          <a:effectLst/>
        </p:spPr>
        <p:txBody>
          <a:bodyPr rtlCol="0" anchor="ctr"/>
          <a:lstStyle/>
          <a:p>
            <a:pPr algn="ctr"/>
            <a:endParaRPr/>
          </a:p>
        </p:txBody>
      </p:sp>
      <p:sp>
        <p:nvSpPr>
          <p:cNvPr id="13" name="Shape 8"/>
          <p:cNvSpPr/>
          <p:nvPr/>
        </p:nvSpPr>
        <p:spPr>
          <a:xfrm>
            <a:off x="428625" y="1247775"/>
            <a:ext cx="9201150" cy="419100"/>
          </a:xfrm>
          <a:prstGeom prst="rect">
            <a:avLst/>
          </a:prstGeom>
          <a:solidFill>
            <a:srgbClr val="1B1A1A"/>
          </a:solidFill>
          <a:ln>
            <a:noFill/>
          </a:ln>
          <a:effectLst/>
        </p:spPr>
        <p:txBody>
          <a:bodyPr rtlCol="0" anchor="ctr"/>
          <a:lstStyle/>
          <a:p>
            <a:pPr algn="ctr"/>
            <a:endParaRPr/>
          </a:p>
        </p:txBody>
      </p:sp>
      <p:pic>
        <p:nvPicPr>
          <p:cNvPr id="14" name="Picture 1" descr="Icon of a monitor with a heartbeat line for Medical Products &amp; Distribution"/>
          <p:cNvPicPr>
            <a:picLocks noChangeAspect="1"/>
          </p:cNvPicPr>
          <p:nvPr/>
        </p:nvPicPr>
        <p:blipFill>
          <a:blip r:embed="rId2"/>
          <a:stretch>
            <a:fillRect/>
          </a:stretch>
        </p:blipFill>
        <p:spPr>
          <a:xfrm>
            <a:off x="581025" y="1323975"/>
            <a:ext cx="266700" cy="266700"/>
          </a:xfrm>
          <a:prstGeom prst="rect">
            <a:avLst/>
          </a:prstGeom>
        </p:spPr>
      </p:pic>
      <p:sp>
        <p:nvSpPr>
          <p:cNvPr id="15" name="TextBox 5"/>
          <p:cNvSpPr txBox="1"/>
          <p:nvPr/>
        </p:nvSpPr>
        <p:spPr>
          <a:xfrm>
            <a:off x="952500" y="1390650"/>
            <a:ext cx="2194620"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MEDICAL PRODUCTS &amp; DISTRIBUTION</a:t>
            </a:r>
          </a:p>
        </p:txBody>
      </p:sp>
      <p:sp>
        <p:nvSpPr>
          <p:cNvPr id="16" name="Shape 9"/>
          <p:cNvSpPr/>
          <p:nvPr/>
        </p:nvSpPr>
        <p:spPr>
          <a:xfrm>
            <a:off x="2914650" y="1666875"/>
            <a:ext cx="9525" cy="2343150"/>
          </a:xfrm>
          <a:prstGeom prst="rect">
            <a:avLst/>
          </a:prstGeom>
          <a:solidFill>
            <a:srgbClr val="E3DCD3"/>
          </a:solidFill>
          <a:ln>
            <a:noFill/>
          </a:ln>
          <a:effectLst/>
        </p:spPr>
        <p:txBody>
          <a:bodyPr rtlCol="0" anchor="ctr"/>
          <a:lstStyle/>
          <a:p>
            <a:pPr algn="ctr"/>
            <a:endParaRPr/>
          </a:p>
        </p:txBody>
      </p:sp>
      <p:sp>
        <p:nvSpPr>
          <p:cNvPr id="17" name="TextBox 6"/>
          <p:cNvSpPr txBox="1"/>
          <p:nvPr/>
        </p:nvSpPr>
        <p:spPr>
          <a:xfrm>
            <a:off x="581025" y="179070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Procedure demand is firm and consumables are outgrowing capital equipment.</a:t>
            </a:r>
          </a:p>
        </p:txBody>
      </p:sp>
      <p:sp>
        <p:nvSpPr>
          <p:cNvPr id="18" name="TextBox 7"/>
          <p:cNvSpPr txBox="1"/>
          <p:nvPr/>
        </p:nvSpPr>
        <p:spPr>
          <a:xfrm>
            <a:off x="581025" y="247173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19" name="TextBox 8"/>
          <p:cNvSpPr txBox="1"/>
          <p:nvPr/>
        </p:nvSpPr>
        <p:spPr>
          <a:xfrm>
            <a:off x="581025" y="2633662"/>
            <a:ext cx="2195512" cy="442912"/>
          </a:xfrm>
          <a:prstGeom prst="rect">
            <a:avLst/>
          </a:prstGeom>
          <a:noFill/>
        </p:spPr>
        <p:txBody>
          <a:bodyPr wrap="square" lIns="0" tIns="0" rIns="0" bIns="0" anchor="t">
            <a:spAutoFit/>
          </a:bodyPr>
          <a:lstStyle/>
          <a:p>
            <a:pPr algn="l">
              <a:lnSpc>
                <a:spcPts val="1232"/>
              </a:lnSpc>
            </a:pPr>
            <a:r>
              <a:rPr sz="850" b="0" i="0" spc="15">
                <a:solidFill>
                  <a:srgbClr val="333231"/>
                </a:solidFill>
                <a:latin typeface="Calibri"/>
              </a:rPr>
              <a:t>Surgical instrument reprocessing, Emergency medical supplies, Respiratory &amp; anesthesia products, Dental devices, Orthopedic products</a:t>
            </a:r>
          </a:p>
        </p:txBody>
      </p:sp>
      <p:pic>
        <p:nvPicPr>
          <p:cNvPr id="20" name="Picture 2" descr="Close-up of a surgical light in an operating room"/>
          <p:cNvPicPr>
            <a:picLocks noChangeAspect="1"/>
          </p:cNvPicPr>
          <p:nvPr/>
        </p:nvPicPr>
        <p:blipFill>
          <a:blip r:embed="rId3"/>
          <a:srcRect t="24371" b="24371"/>
          <a:stretch>
            <a:fillRect/>
          </a:stretch>
        </p:blipFill>
        <p:spPr>
          <a:xfrm>
            <a:off x="581025" y="3343275"/>
            <a:ext cx="2190750" cy="533400"/>
          </a:xfrm>
          <a:prstGeom prst="rect">
            <a:avLst/>
          </a:prstGeom>
        </p:spPr>
      </p:pic>
      <p:sp>
        <p:nvSpPr>
          <p:cNvPr id="21" name="TextBox 9"/>
          <p:cNvSpPr txBox="1"/>
          <p:nvPr/>
        </p:nvSpPr>
        <p:spPr>
          <a:xfrm>
            <a:off x="3095625" y="180022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22" name="Shape 10"/>
          <p:cNvSpPr/>
          <p:nvPr/>
        </p:nvSpPr>
        <p:spPr>
          <a:xfrm>
            <a:off x="3095625" y="2028825"/>
            <a:ext cx="47625" cy="47625"/>
          </a:xfrm>
          <a:prstGeom prst="rect">
            <a:avLst/>
          </a:prstGeom>
          <a:solidFill>
            <a:srgbClr val="B68757"/>
          </a:solidFill>
          <a:ln>
            <a:noFill/>
          </a:ln>
          <a:effectLst/>
        </p:spPr>
        <p:txBody>
          <a:bodyPr rtlCol="0" anchor="ctr"/>
          <a:lstStyle/>
          <a:p>
            <a:pPr algn="ctr"/>
            <a:endParaRPr/>
          </a:p>
        </p:txBody>
      </p:sp>
      <p:sp>
        <p:nvSpPr>
          <p:cNvPr id="23" name="TextBox 10"/>
          <p:cNvSpPr txBox="1"/>
          <p:nvPr/>
        </p:nvSpPr>
        <p:spPr>
          <a:xfrm>
            <a:off x="3219450" y="1990725"/>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Stryker grew 9.0% organically in the second quarter (</a:t>
            </a:r>
            <a:r>
              <a:rPr sz="900" b="0" i="0" spc="15">
                <a:solidFill>
                  <a:srgbClr val="8C6239"/>
                </a:solidFill>
                <a:latin typeface="Calibri"/>
                <a:hlinkClick r:id="rId4"/>
              </a:rPr>
              <a:t>Stryker</a:t>
            </a:r>
            <a:r>
              <a:rPr sz="900" b="0" i="0" spc="15">
                <a:solidFill>
                  <a:srgbClr val="333231"/>
                </a:solidFill>
                <a:latin typeface="Calibri"/>
              </a:rPr>
              <a:t>), and Steris grew healthcare-segment consumables 9% and capital equipment 1% (</a:t>
            </a:r>
            <a:r>
              <a:rPr sz="900" b="0" i="0" spc="15">
                <a:solidFill>
                  <a:srgbClr val="8C6239"/>
                </a:solidFill>
                <a:latin typeface="Calibri"/>
                <a:hlinkClick r:id="rId5"/>
              </a:rPr>
              <a:t>Steris</a:t>
            </a:r>
            <a:r>
              <a:rPr sz="900" b="0" i="0" spc="15">
                <a:solidFill>
                  <a:srgbClr val="333231"/>
                </a:solidFill>
                <a:latin typeface="Calibri"/>
              </a:rPr>
              <a:t>).</a:t>
            </a:r>
          </a:p>
        </p:txBody>
      </p:sp>
      <p:sp>
        <p:nvSpPr>
          <p:cNvPr id="24" name="Shape 11"/>
          <p:cNvSpPr/>
          <p:nvPr/>
        </p:nvSpPr>
        <p:spPr>
          <a:xfrm>
            <a:off x="3095625" y="2370201"/>
            <a:ext cx="47625" cy="47625"/>
          </a:xfrm>
          <a:prstGeom prst="rect">
            <a:avLst/>
          </a:prstGeom>
          <a:solidFill>
            <a:srgbClr val="B68757"/>
          </a:solidFill>
          <a:ln>
            <a:noFill/>
          </a:ln>
          <a:effectLst/>
        </p:spPr>
        <p:txBody>
          <a:bodyPr rtlCol="0" anchor="ctr"/>
          <a:lstStyle/>
          <a:p>
            <a:pPr algn="ctr"/>
            <a:endParaRPr/>
          </a:p>
        </p:txBody>
      </p:sp>
      <p:sp>
        <p:nvSpPr>
          <p:cNvPr id="25" name="TextBox 11"/>
          <p:cNvSpPr txBox="1"/>
          <p:nvPr/>
        </p:nvSpPr>
        <p:spPr>
          <a:xfrm>
            <a:off x="3219450" y="2332101"/>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Among hospital and health system executives surveyed, 41% plan to cut capital spending in 2026 (</a:t>
            </a:r>
            <a:r>
              <a:rPr sz="850" b="0" i="0" spc="15">
                <a:solidFill>
                  <a:srgbClr val="8C6239"/>
                </a:solidFill>
                <a:latin typeface="Calibri"/>
                <a:hlinkClick r:id="rId6"/>
              </a:rPr>
              <a:t>Sage Growth Partners via HFMA</a:t>
            </a:r>
            <a:r>
              <a:rPr sz="850" b="0" i="0" spc="15">
                <a:solidFill>
                  <a:srgbClr val="333231"/>
                </a:solidFill>
                <a:latin typeface="Calibri"/>
              </a:rPr>
              <a:t>). Recurring supplies hold up better than capital equipment in that budget.</a:t>
            </a:r>
          </a:p>
        </p:txBody>
      </p:sp>
      <p:sp>
        <p:nvSpPr>
          <p:cNvPr id="26" name="Shape 12"/>
          <p:cNvSpPr/>
          <p:nvPr/>
        </p:nvSpPr>
        <p:spPr>
          <a:xfrm>
            <a:off x="3095625" y="2863977"/>
            <a:ext cx="47625" cy="47625"/>
          </a:xfrm>
          <a:prstGeom prst="rect">
            <a:avLst/>
          </a:prstGeom>
          <a:solidFill>
            <a:srgbClr val="B68757"/>
          </a:solidFill>
          <a:ln>
            <a:noFill/>
          </a:ln>
          <a:effectLst/>
        </p:spPr>
        <p:txBody>
          <a:bodyPr rtlCol="0" anchor="ctr"/>
          <a:lstStyle/>
          <a:p>
            <a:pPr algn="ctr"/>
            <a:endParaRPr/>
          </a:p>
        </p:txBody>
      </p:sp>
      <p:sp>
        <p:nvSpPr>
          <p:cNvPr id="27" name="TextBox 12"/>
          <p:cNvSpPr txBox="1"/>
          <p:nvPr/>
        </p:nvSpPr>
        <p:spPr>
          <a:xfrm>
            <a:off x="3219450" y="2825877"/>
            <a:ext cx="4005262" cy="6096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Distribution assets changed hands: Platinum Equity agreed in October 2025 to buy Owens &amp; Minor’s products segment (</a:t>
            </a:r>
            <a:r>
              <a:rPr sz="850" b="0" i="0" spc="15">
                <a:solidFill>
                  <a:srgbClr val="8C6239"/>
                </a:solidFill>
                <a:latin typeface="Calibri"/>
                <a:hlinkClick r:id="rId7"/>
              </a:rPr>
              <a:t>Owens &amp; Minor</a:t>
            </a:r>
            <a:r>
              <a:rPr sz="850" b="0" i="0" spc="15">
                <a:solidFill>
                  <a:srgbClr val="333231"/>
                </a:solidFill>
                <a:latin typeface="Calibri"/>
              </a:rPr>
              <a:t>), and Apollo bought a 13% interest in McKesson’s medical-surgical unit for $1.25 billion ahead of its planned separation (</a:t>
            </a:r>
            <a:r>
              <a:rPr sz="850" b="0" i="0" spc="15">
                <a:solidFill>
                  <a:srgbClr val="8C6239"/>
                </a:solidFill>
                <a:latin typeface="Calibri"/>
                <a:hlinkClick r:id="rId8"/>
              </a:rPr>
              <a:t>McKesson</a:t>
            </a:r>
            <a:r>
              <a:rPr sz="850" b="0" i="0" spc="15">
                <a:solidFill>
                  <a:srgbClr val="333231"/>
                </a:solidFill>
                <a:latin typeface="Calibri"/>
              </a:rPr>
              <a:t>).</a:t>
            </a:r>
          </a:p>
        </p:txBody>
      </p:sp>
      <p:sp>
        <p:nvSpPr>
          <p:cNvPr id="28" name="Shape 13"/>
          <p:cNvSpPr/>
          <p:nvPr/>
        </p:nvSpPr>
        <p:spPr>
          <a:xfrm>
            <a:off x="3095625" y="3510153"/>
            <a:ext cx="47625" cy="47625"/>
          </a:xfrm>
          <a:prstGeom prst="rect">
            <a:avLst/>
          </a:prstGeom>
          <a:solidFill>
            <a:srgbClr val="B68757"/>
          </a:solidFill>
          <a:ln>
            <a:noFill/>
          </a:ln>
          <a:effectLst/>
        </p:spPr>
        <p:txBody>
          <a:bodyPr rtlCol="0" anchor="ctr"/>
          <a:lstStyle/>
          <a:p>
            <a:pPr algn="ctr"/>
            <a:endParaRPr/>
          </a:p>
        </p:txBody>
      </p:sp>
      <p:sp>
        <p:nvSpPr>
          <p:cNvPr id="29" name="TextBox 13"/>
          <p:cNvSpPr txBox="1"/>
          <p:nvPr/>
        </p:nvSpPr>
        <p:spPr>
          <a:xfrm>
            <a:off x="3219450" y="3472053"/>
            <a:ext cx="4005262" cy="3048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Tariffs have moved earnings in both directions since the Supreme Court struck down the emergency-powers tariffs on February 20 (</a:t>
            </a:r>
            <a:r>
              <a:rPr sz="850" b="0" i="0" spc="15">
                <a:solidFill>
                  <a:srgbClr val="8C6239"/>
                </a:solidFill>
                <a:latin typeface="Calibri"/>
                <a:hlinkClick r:id="rId9"/>
              </a:rPr>
              <a:t>Learning Resources v. Trump</a:t>
            </a:r>
            <a:r>
              <a:rPr sz="850" b="0" i="0" spc="15">
                <a:solidFill>
                  <a:srgbClr val="333231"/>
                </a:solidFill>
                <a:latin typeface="Calibri"/>
              </a:rPr>
              <a:t>).</a:t>
            </a:r>
          </a:p>
        </p:txBody>
      </p:sp>
      <p:sp>
        <p:nvSpPr>
          <p:cNvPr id="30" name="Shape 14"/>
          <p:cNvSpPr/>
          <p:nvPr/>
        </p:nvSpPr>
        <p:spPr>
          <a:xfrm>
            <a:off x="7381875" y="1666875"/>
            <a:ext cx="2247900" cy="2343150"/>
          </a:xfrm>
          <a:prstGeom prst="rect">
            <a:avLst/>
          </a:prstGeom>
          <a:solidFill>
            <a:srgbClr val="FAF7F3"/>
          </a:solidFill>
          <a:ln>
            <a:noFill/>
          </a:ln>
          <a:effectLst/>
        </p:spPr>
        <p:txBody>
          <a:bodyPr rtlCol="0" anchor="ctr"/>
          <a:lstStyle/>
          <a:p>
            <a:pPr algn="ctr"/>
            <a:endParaRPr/>
          </a:p>
        </p:txBody>
      </p:sp>
      <p:sp>
        <p:nvSpPr>
          <p:cNvPr id="31" name="TextBox 14"/>
          <p:cNvSpPr txBox="1"/>
          <p:nvPr/>
        </p:nvSpPr>
        <p:spPr>
          <a:xfrm>
            <a:off x="7534275" y="180022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32" name="TextBox 15"/>
          <p:cNvSpPr txBox="1"/>
          <p:nvPr/>
        </p:nvSpPr>
        <p:spPr>
          <a:xfrm>
            <a:off x="7534275" y="1962150"/>
            <a:ext cx="1957388" cy="471488"/>
          </a:xfrm>
          <a:prstGeom prst="rect">
            <a:avLst/>
          </a:prstGeom>
          <a:noFill/>
        </p:spPr>
        <p:txBody>
          <a:bodyPr wrap="square" lIns="0" tIns="0" rIns="0" bIns="0" anchor="t">
            <a:spAutoFit/>
          </a:bodyPr>
          <a:lstStyle/>
          <a:p>
            <a:pPr algn="l">
              <a:lnSpc>
                <a:spcPts val="1312"/>
              </a:lnSpc>
            </a:pPr>
            <a:r>
              <a:rPr sz="850" b="0" i="0" spc="15">
                <a:solidFill>
                  <a:srgbClr val="333231"/>
                </a:solidFill>
                <a:latin typeface="Calibri"/>
              </a:rPr>
              <a:t>KKR, Danaher, Stryker, Mitsui Chemicals, Cardinal Health, Aspen Surgical, Platinum Equity, and Apollo</a:t>
            </a:r>
          </a:p>
        </p:txBody>
      </p:sp>
      <p:sp>
        <p:nvSpPr>
          <p:cNvPr id="33" name="Shape 15"/>
          <p:cNvSpPr/>
          <p:nvPr/>
        </p:nvSpPr>
        <p:spPr>
          <a:xfrm>
            <a:off x="7534275" y="2579942"/>
            <a:ext cx="1943100" cy="9525"/>
          </a:xfrm>
          <a:prstGeom prst="rect">
            <a:avLst/>
          </a:prstGeom>
          <a:solidFill>
            <a:srgbClr val="E3DCD3"/>
          </a:solidFill>
          <a:ln>
            <a:noFill/>
          </a:ln>
          <a:effectLst/>
        </p:spPr>
        <p:txBody>
          <a:bodyPr rtlCol="0" anchor="ctr"/>
          <a:lstStyle/>
          <a:p>
            <a:pPr algn="ctr"/>
            <a:endParaRPr/>
          </a:p>
        </p:txBody>
      </p:sp>
      <p:sp>
        <p:nvSpPr>
          <p:cNvPr id="34" name="TextBox 16"/>
          <p:cNvSpPr txBox="1"/>
          <p:nvPr/>
        </p:nvSpPr>
        <p:spPr>
          <a:xfrm>
            <a:off x="7534275" y="2671382"/>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55" name="Shape 26"/>
          <p:cNvSpPr/>
          <p:nvPr/>
        </p:nvSpPr>
        <p:spPr>
          <a:xfrm>
            <a:off x="419100" y="4152900"/>
            <a:ext cx="9220200" cy="2781300"/>
          </a:xfrm>
          <a:prstGeom prst="rect">
            <a:avLst/>
          </a:prstGeom>
          <a:solidFill>
            <a:srgbClr val="FFFFFF"/>
          </a:solidFill>
          <a:ln>
            <a:noFill/>
          </a:ln>
          <a:effectLst/>
        </p:spPr>
        <p:txBody>
          <a:bodyPr rtlCol="0" anchor="ctr"/>
          <a:lstStyle/>
          <a:p>
            <a:pPr algn="ctr"/>
            <a:endParaRPr/>
          </a:p>
        </p:txBody>
      </p:sp>
      <p:sp>
        <p:nvSpPr>
          <p:cNvPr id="56" name="Shape 27"/>
          <p:cNvSpPr/>
          <p:nvPr/>
        </p:nvSpPr>
        <p:spPr>
          <a:xfrm>
            <a:off x="419100" y="4152900"/>
            <a:ext cx="9220200" cy="9525"/>
          </a:xfrm>
          <a:prstGeom prst="rect">
            <a:avLst/>
          </a:prstGeom>
          <a:solidFill>
            <a:srgbClr val="E3DCD3"/>
          </a:solidFill>
          <a:ln>
            <a:noFill/>
          </a:ln>
          <a:effectLst/>
        </p:spPr>
        <p:txBody>
          <a:bodyPr rtlCol="0" anchor="ctr"/>
          <a:lstStyle/>
          <a:p>
            <a:pPr algn="ctr"/>
            <a:endParaRPr/>
          </a:p>
        </p:txBody>
      </p:sp>
      <p:sp>
        <p:nvSpPr>
          <p:cNvPr id="57" name="Shape 28"/>
          <p:cNvSpPr/>
          <p:nvPr/>
        </p:nvSpPr>
        <p:spPr>
          <a:xfrm>
            <a:off x="9629775" y="4152900"/>
            <a:ext cx="9525" cy="2781300"/>
          </a:xfrm>
          <a:prstGeom prst="rect">
            <a:avLst/>
          </a:prstGeom>
          <a:solidFill>
            <a:srgbClr val="E3DCD3"/>
          </a:solidFill>
          <a:ln>
            <a:noFill/>
          </a:ln>
          <a:effectLst/>
        </p:spPr>
        <p:txBody>
          <a:bodyPr rtlCol="0" anchor="ctr"/>
          <a:lstStyle/>
          <a:p>
            <a:pPr algn="ctr"/>
            <a:endParaRPr/>
          </a:p>
        </p:txBody>
      </p:sp>
      <p:sp>
        <p:nvSpPr>
          <p:cNvPr id="58" name="Shape 29"/>
          <p:cNvSpPr/>
          <p:nvPr/>
        </p:nvSpPr>
        <p:spPr>
          <a:xfrm>
            <a:off x="419100" y="6924675"/>
            <a:ext cx="9220200" cy="9525"/>
          </a:xfrm>
          <a:prstGeom prst="rect">
            <a:avLst/>
          </a:prstGeom>
          <a:solidFill>
            <a:srgbClr val="E3DCD3"/>
          </a:solidFill>
          <a:ln>
            <a:noFill/>
          </a:ln>
          <a:effectLst/>
        </p:spPr>
        <p:txBody>
          <a:bodyPr rtlCol="0" anchor="ctr"/>
          <a:lstStyle/>
          <a:p>
            <a:pPr algn="ctr"/>
            <a:endParaRPr/>
          </a:p>
        </p:txBody>
      </p:sp>
      <p:sp>
        <p:nvSpPr>
          <p:cNvPr id="59" name="Shape 30"/>
          <p:cNvSpPr/>
          <p:nvPr/>
        </p:nvSpPr>
        <p:spPr>
          <a:xfrm>
            <a:off x="419100" y="4152900"/>
            <a:ext cx="9525" cy="2781300"/>
          </a:xfrm>
          <a:prstGeom prst="rect">
            <a:avLst/>
          </a:prstGeom>
          <a:solidFill>
            <a:srgbClr val="E3DCD3"/>
          </a:solidFill>
          <a:ln>
            <a:noFill/>
          </a:ln>
          <a:effectLst/>
        </p:spPr>
        <p:txBody>
          <a:bodyPr rtlCol="0" anchor="ctr"/>
          <a:lstStyle/>
          <a:p>
            <a:pPr algn="ctr"/>
            <a:endParaRPr/>
          </a:p>
        </p:txBody>
      </p:sp>
      <p:sp>
        <p:nvSpPr>
          <p:cNvPr id="60" name="Shape 31"/>
          <p:cNvSpPr/>
          <p:nvPr/>
        </p:nvSpPr>
        <p:spPr>
          <a:xfrm>
            <a:off x="428625" y="4162425"/>
            <a:ext cx="9201150" cy="419100"/>
          </a:xfrm>
          <a:prstGeom prst="rect">
            <a:avLst/>
          </a:prstGeom>
          <a:solidFill>
            <a:srgbClr val="1B1A1A"/>
          </a:solidFill>
          <a:ln>
            <a:noFill/>
          </a:ln>
          <a:effectLst/>
        </p:spPr>
        <p:txBody>
          <a:bodyPr rtlCol="0" anchor="ctr"/>
          <a:lstStyle/>
          <a:p>
            <a:pPr algn="ctr"/>
            <a:endParaRPr/>
          </a:p>
        </p:txBody>
      </p:sp>
      <p:pic>
        <p:nvPicPr>
          <p:cNvPr id="61" name="Picture 3" descr="Icon of a medicine bottle and pill for Pharmacy &amp; Healthcare Services"/>
          <p:cNvPicPr>
            <a:picLocks noChangeAspect="1"/>
          </p:cNvPicPr>
          <p:nvPr/>
        </p:nvPicPr>
        <p:blipFill>
          <a:blip r:embed="rId10"/>
          <a:stretch>
            <a:fillRect/>
          </a:stretch>
        </p:blipFill>
        <p:spPr>
          <a:xfrm>
            <a:off x="581025" y="4238625"/>
            <a:ext cx="266700" cy="266700"/>
          </a:xfrm>
          <a:prstGeom prst="rect">
            <a:avLst/>
          </a:prstGeom>
        </p:spPr>
      </p:pic>
      <p:sp>
        <p:nvSpPr>
          <p:cNvPr id="62" name="TextBox 27"/>
          <p:cNvSpPr txBox="1"/>
          <p:nvPr/>
        </p:nvSpPr>
        <p:spPr>
          <a:xfrm>
            <a:off x="952500" y="4305300"/>
            <a:ext cx="2148036" cy="133350"/>
          </a:xfrm>
          <a:prstGeom prst="rect">
            <a:avLst/>
          </a:prstGeom>
          <a:noFill/>
        </p:spPr>
        <p:txBody>
          <a:bodyPr wrap="square" lIns="0" tIns="0" rIns="0" bIns="0" anchor="t">
            <a:spAutoFit/>
          </a:bodyPr>
          <a:lstStyle/>
          <a:p>
            <a:pPr algn="l">
              <a:lnSpc>
                <a:spcPts val="1050"/>
              </a:lnSpc>
            </a:pPr>
            <a:r>
              <a:rPr sz="825" b="1" i="0" spc="135">
                <a:solidFill>
                  <a:srgbClr val="FFFFFF"/>
                </a:solidFill>
                <a:latin typeface="Calibri"/>
              </a:rPr>
              <a:t>PHARMACY &amp; HEALTHCARE SERVICES</a:t>
            </a:r>
          </a:p>
        </p:txBody>
      </p:sp>
      <p:sp>
        <p:nvSpPr>
          <p:cNvPr id="63" name="Shape 32"/>
          <p:cNvSpPr/>
          <p:nvPr/>
        </p:nvSpPr>
        <p:spPr>
          <a:xfrm>
            <a:off x="2914650" y="4581525"/>
            <a:ext cx="9525" cy="2343150"/>
          </a:xfrm>
          <a:prstGeom prst="rect">
            <a:avLst/>
          </a:prstGeom>
          <a:solidFill>
            <a:srgbClr val="E3DCD3"/>
          </a:solidFill>
          <a:ln>
            <a:noFill/>
          </a:ln>
          <a:effectLst/>
        </p:spPr>
        <p:txBody>
          <a:bodyPr rtlCol="0" anchor="ctr"/>
          <a:lstStyle/>
          <a:p>
            <a:pPr algn="ctr"/>
            <a:endParaRPr/>
          </a:p>
        </p:txBody>
      </p:sp>
      <p:sp>
        <p:nvSpPr>
          <p:cNvPr id="64" name="TextBox 28"/>
          <p:cNvSpPr txBox="1"/>
          <p:nvPr/>
        </p:nvSpPr>
        <p:spPr>
          <a:xfrm>
            <a:off x="581025" y="4705350"/>
            <a:ext cx="2195512" cy="585788"/>
          </a:xfrm>
          <a:prstGeom prst="rect">
            <a:avLst/>
          </a:prstGeom>
          <a:noFill/>
        </p:spPr>
        <p:txBody>
          <a:bodyPr wrap="square" lIns="0" tIns="0" rIns="0" bIns="0" anchor="t">
            <a:spAutoFit/>
          </a:bodyPr>
          <a:lstStyle/>
          <a:p>
            <a:pPr algn="l">
              <a:lnSpc>
                <a:spcPts val="1538"/>
              </a:lnSpc>
            </a:pPr>
            <a:r>
              <a:rPr sz="1125" b="0" i="1">
                <a:solidFill>
                  <a:srgbClr val="1B1A1A"/>
                </a:solidFill>
                <a:latin typeface="Cambria"/>
              </a:rPr>
              <a:t>Drug pricing reform is reshaping pharmacy while staffing returns to growth.</a:t>
            </a:r>
          </a:p>
        </p:txBody>
      </p:sp>
      <p:sp>
        <p:nvSpPr>
          <p:cNvPr id="65" name="TextBox 29"/>
          <p:cNvSpPr txBox="1"/>
          <p:nvPr/>
        </p:nvSpPr>
        <p:spPr>
          <a:xfrm>
            <a:off x="581025" y="5386388"/>
            <a:ext cx="21955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SUBSECTORS WE COVER</a:t>
            </a:r>
          </a:p>
        </p:txBody>
      </p:sp>
      <p:sp>
        <p:nvSpPr>
          <p:cNvPr id="66" name="TextBox 30"/>
          <p:cNvSpPr txBox="1"/>
          <p:nvPr/>
        </p:nvSpPr>
        <p:spPr>
          <a:xfrm>
            <a:off x="581025" y="5548312"/>
            <a:ext cx="2195512" cy="295275"/>
          </a:xfrm>
          <a:prstGeom prst="rect">
            <a:avLst/>
          </a:prstGeom>
          <a:noFill/>
        </p:spPr>
        <p:txBody>
          <a:bodyPr wrap="square" lIns="0" tIns="0" rIns="0" bIns="0" anchor="t">
            <a:spAutoFit/>
          </a:bodyPr>
          <a:lstStyle/>
          <a:p>
            <a:pPr algn="l">
              <a:lnSpc>
                <a:spcPts val="1197"/>
              </a:lnSpc>
            </a:pPr>
            <a:r>
              <a:rPr sz="800" b="0" i="0" spc="15">
                <a:solidFill>
                  <a:srgbClr val="333231"/>
                </a:solidFill>
                <a:latin typeface="Calibri"/>
              </a:rPr>
              <a:t>Specialty &amp; mail-order pharmacy, Home infusion, Pharmaceutical delivery, Clinical staffing</a:t>
            </a:r>
          </a:p>
        </p:txBody>
      </p:sp>
      <p:pic>
        <p:nvPicPr>
          <p:cNvPr id="67" name="Picture 4" descr="Pharmacy shelves stocked with boxed medicines"/>
          <p:cNvPicPr>
            <a:picLocks noChangeAspect="1"/>
          </p:cNvPicPr>
          <p:nvPr/>
        </p:nvPicPr>
        <p:blipFill>
          <a:blip r:embed="rId11"/>
          <a:srcRect t="24371" b="24371"/>
          <a:stretch>
            <a:fillRect/>
          </a:stretch>
        </p:blipFill>
        <p:spPr>
          <a:xfrm>
            <a:off x="581025" y="6257925"/>
            <a:ext cx="2190750" cy="533400"/>
          </a:xfrm>
          <a:prstGeom prst="rect">
            <a:avLst/>
          </a:prstGeom>
        </p:spPr>
      </p:pic>
      <p:sp>
        <p:nvSpPr>
          <p:cNvPr id="68" name="TextBox 31"/>
          <p:cNvSpPr txBox="1"/>
          <p:nvPr/>
        </p:nvSpPr>
        <p:spPr>
          <a:xfrm>
            <a:off x="3095625" y="4714875"/>
            <a:ext cx="41290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KEY TRENDS</a:t>
            </a:r>
          </a:p>
        </p:txBody>
      </p:sp>
      <p:sp>
        <p:nvSpPr>
          <p:cNvPr id="69" name="Shape 33"/>
          <p:cNvSpPr/>
          <p:nvPr/>
        </p:nvSpPr>
        <p:spPr>
          <a:xfrm>
            <a:off x="3095625" y="4943475"/>
            <a:ext cx="47625" cy="47625"/>
          </a:xfrm>
          <a:prstGeom prst="rect">
            <a:avLst/>
          </a:prstGeom>
          <a:solidFill>
            <a:srgbClr val="B68757"/>
          </a:solidFill>
          <a:ln>
            <a:noFill/>
          </a:ln>
          <a:effectLst/>
        </p:spPr>
        <p:txBody>
          <a:bodyPr rtlCol="0" anchor="ctr"/>
          <a:lstStyle/>
          <a:p>
            <a:pPr algn="ctr"/>
            <a:endParaRPr/>
          </a:p>
        </p:txBody>
      </p:sp>
      <p:sp>
        <p:nvSpPr>
          <p:cNvPr id="70" name="TextBox 32"/>
          <p:cNvSpPr txBox="1"/>
          <p:nvPr/>
        </p:nvSpPr>
        <p:spPr>
          <a:xfrm>
            <a:off x="3219450" y="4905375"/>
            <a:ext cx="4005262"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US net medicine spending reached $606 billion in 2025, up 10.6% (</a:t>
            </a:r>
            <a:r>
              <a:rPr sz="850" b="0" i="0" spc="15">
                <a:solidFill>
                  <a:srgbClr val="8C6239"/>
                </a:solidFill>
                <a:latin typeface="Calibri"/>
                <a:hlinkClick r:id="rId12"/>
              </a:rPr>
              <a:t>IQVIA Institute</a:t>
            </a:r>
            <a:r>
              <a:rPr sz="850" b="0" i="0" spc="15">
                <a:solidFill>
                  <a:srgbClr val="333231"/>
                </a:solidFill>
                <a:latin typeface="Calibri"/>
              </a:rPr>
              <a:t>), while independent pharmacies reported their lowest gross profit in ten years in 2024 (</a:t>
            </a:r>
            <a:r>
              <a:rPr sz="850" b="0" i="0" spc="15">
                <a:solidFill>
                  <a:srgbClr val="8C6239"/>
                </a:solidFill>
                <a:latin typeface="Calibri"/>
                <a:hlinkClick r:id="rId13"/>
              </a:rPr>
              <a:t>NCPA 2025 Digest</a:t>
            </a:r>
            <a:r>
              <a:rPr sz="850" b="0" i="0" spc="15">
                <a:solidFill>
                  <a:srgbClr val="333231"/>
                </a:solidFill>
                <a:latin typeface="Calibri"/>
              </a:rPr>
              <a:t>).</a:t>
            </a:r>
          </a:p>
        </p:txBody>
      </p:sp>
      <p:sp>
        <p:nvSpPr>
          <p:cNvPr id="71" name="Shape 34"/>
          <p:cNvSpPr/>
          <p:nvPr/>
        </p:nvSpPr>
        <p:spPr>
          <a:xfrm>
            <a:off x="3095625" y="5437251"/>
            <a:ext cx="47625" cy="47625"/>
          </a:xfrm>
          <a:prstGeom prst="rect">
            <a:avLst/>
          </a:prstGeom>
          <a:solidFill>
            <a:srgbClr val="B68757"/>
          </a:solidFill>
          <a:ln>
            <a:noFill/>
          </a:ln>
          <a:effectLst/>
        </p:spPr>
        <p:txBody>
          <a:bodyPr rtlCol="0" anchor="ctr"/>
          <a:lstStyle/>
          <a:p>
            <a:pPr algn="ctr"/>
            <a:endParaRPr/>
          </a:p>
        </p:txBody>
      </p:sp>
      <p:sp>
        <p:nvSpPr>
          <p:cNvPr id="72" name="TextBox 33"/>
          <p:cNvSpPr txBox="1"/>
          <p:nvPr/>
        </p:nvSpPr>
        <p:spPr>
          <a:xfrm>
            <a:off x="3219450" y="5399151"/>
            <a:ext cx="4005262" cy="304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Negotiated Medicare prices have cut deepest in long-term care pharmacy, where Guardian grew revenue 2% while serving 8% more residents (</a:t>
            </a:r>
            <a:r>
              <a:rPr sz="825" b="0" i="0" spc="15">
                <a:solidFill>
                  <a:srgbClr val="8C6239"/>
                </a:solidFill>
                <a:latin typeface="Calibri"/>
                <a:hlinkClick r:id="rId14">
                  <a:extLst>
                    <a:ext uri="{A12FA001-AC4F-418D-AE19-62706E023703}">
                      <ahyp:hlinkClr xmlns:ahyp="http://schemas.microsoft.com/office/drawing/2018/hyperlinkcolor" val="tx"/>
                    </a:ext>
                  </a:extLst>
                </a:hlinkClick>
              </a:rPr>
              <a:t>Guardian Pharmacy Services</a:t>
            </a:r>
            <a:r>
              <a:rPr sz="825" b="0" i="0" spc="15">
                <a:solidFill>
                  <a:srgbClr val="333231"/>
                </a:solidFill>
                <a:latin typeface="Calibri"/>
              </a:rPr>
              <a:t>).</a:t>
            </a:r>
          </a:p>
        </p:txBody>
      </p:sp>
      <p:sp>
        <p:nvSpPr>
          <p:cNvPr id="73" name="Shape 35"/>
          <p:cNvSpPr/>
          <p:nvPr/>
        </p:nvSpPr>
        <p:spPr>
          <a:xfrm>
            <a:off x="3095625" y="5950077"/>
            <a:ext cx="47625" cy="47625"/>
          </a:xfrm>
          <a:prstGeom prst="rect">
            <a:avLst/>
          </a:prstGeom>
          <a:solidFill>
            <a:srgbClr val="B68757"/>
          </a:solidFill>
          <a:ln>
            <a:noFill/>
          </a:ln>
          <a:effectLst/>
        </p:spPr>
        <p:txBody>
          <a:bodyPr rtlCol="0" anchor="ctr"/>
          <a:lstStyle/>
          <a:p>
            <a:pPr algn="ctr"/>
            <a:endParaRPr/>
          </a:p>
        </p:txBody>
      </p:sp>
      <p:sp>
        <p:nvSpPr>
          <p:cNvPr id="74" name="TextBox 34"/>
          <p:cNvSpPr txBox="1"/>
          <p:nvPr/>
        </p:nvSpPr>
        <p:spPr>
          <a:xfrm>
            <a:off x="3219450" y="5911977"/>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Specialty and infusion are growing fastest, and BrightSpring’s pharmacy solutions segment grew revenue 22% to $3.4 billion in the second quarter (</a:t>
            </a:r>
            <a:r>
              <a:rPr sz="900" b="0" i="0" spc="15">
                <a:solidFill>
                  <a:srgbClr val="8C6239"/>
                </a:solidFill>
                <a:latin typeface="Calibri"/>
                <a:hlinkClick r:id="rId15"/>
              </a:rPr>
              <a:t>BrightSpring</a:t>
            </a:r>
            <a:r>
              <a:rPr sz="900" b="0" i="0" spc="15">
                <a:solidFill>
                  <a:srgbClr val="333231"/>
                </a:solidFill>
                <a:latin typeface="Calibri"/>
              </a:rPr>
              <a:t>).</a:t>
            </a:r>
          </a:p>
        </p:txBody>
      </p:sp>
      <p:sp>
        <p:nvSpPr>
          <p:cNvPr id="75" name="Shape 36"/>
          <p:cNvSpPr/>
          <p:nvPr/>
        </p:nvSpPr>
        <p:spPr>
          <a:xfrm>
            <a:off x="3095625" y="6291453"/>
            <a:ext cx="47625" cy="47625"/>
          </a:xfrm>
          <a:prstGeom prst="rect">
            <a:avLst/>
          </a:prstGeom>
          <a:solidFill>
            <a:srgbClr val="B68757"/>
          </a:solidFill>
          <a:ln>
            <a:noFill/>
          </a:ln>
          <a:effectLst/>
        </p:spPr>
        <p:txBody>
          <a:bodyPr rtlCol="0" anchor="ctr"/>
          <a:lstStyle/>
          <a:p>
            <a:pPr algn="ctr"/>
            <a:endParaRPr/>
          </a:p>
        </p:txBody>
      </p:sp>
      <p:sp>
        <p:nvSpPr>
          <p:cNvPr id="76" name="TextBox 35"/>
          <p:cNvSpPr txBox="1"/>
          <p:nvPr/>
        </p:nvSpPr>
        <p:spPr>
          <a:xfrm>
            <a:off x="3219450" y="6253353"/>
            <a:ext cx="4005262" cy="304800"/>
          </a:xfrm>
          <a:prstGeom prst="rect">
            <a:avLst/>
          </a:prstGeom>
          <a:noFill/>
        </p:spPr>
        <p:txBody>
          <a:bodyPr wrap="square" lIns="0" tIns="0" rIns="0" bIns="0" anchor="t">
            <a:spAutoFit/>
          </a:bodyPr>
          <a:lstStyle/>
          <a:p>
            <a:pPr algn="l">
              <a:lnSpc>
                <a:spcPts val="1344"/>
              </a:lnSpc>
            </a:pPr>
            <a:r>
              <a:rPr sz="900" b="0" i="0" spc="15">
                <a:solidFill>
                  <a:srgbClr val="333231"/>
                </a:solidFill>
                <a:latin typeface="Calibri"/>
              </a:rPr>
              <a:t>Healthcare staffing is forecast to grow 1% to $39.0 billion in 2026 after three years of contraction (</a:t>
            </a:r>
            <a:r>
              <a:rPr sz="900" b="0" i="0" spc="15">
                <a:solidFill>
                  <a:srgbClr val="8C6239"/>
                </a:solidFill>
                <a:latin typeface="Calibri"/>
                <a:hlinkClick r:id="rId16">
                  <a:extLst>
                    <a:ext uri="{A12FA001-AC4F-418D-AE19-62706E023703}">
                      <ahyp:hlinkClr xmlns:ahyp="http://schemas.microsoft.com/office/drawing/2018/hyperlinkcolor" val="tx"/>
                    </a:ext>
                  </a:extLst>
                </a:hlinkClick>
              </a:rPr>
              <a:t>Staffing Industry Analysts</a:t>
            </a:r>
            <a:r>
              <a:rPr sz="900" b="0" i="0" spc="15">
                <a:solidFill>
                  <a:srgbClr val="333231"/>
                </a:solidFill>
                <a:latin typeface="Calibri"/>
              </a:rPr>
              <a:t>).</a:t>
            </a:r>
          </a:p>
        </p:txBody>
      </p:sp>
      <p:sp>
        <p:nvSpPr>
          <p:cNvPr id="77" name="Shape 37"/>
          <p:cNvSpPr/>
          <p:nvPr/>
        </p:nvSpPr>
        <p:spPr>
          <a:xfrm>
            <a:off x="7381875" y="4581525"/>
            <a:ext cx="2247900" cy="2343150"/>
          </a:xfrm>
          <a:prstGeom prst="rect">
            <a:avLst/>
          </a:prstGeom>
          <a:solidFill>
            <a:srgbClr val="FAF7F3"/>
          </a:solidFill>
          <a:ln>
            <a:noFill/>
          </a:ln>
          <a:effectLst/>
        </p:spPr>
        <p:txBody>
          <a:bodyPr rtlCol="0" anchor="ctr"/>
          <a:lstStyle/>
          <a:p>
            <a:pPr algn="ctr"/>
            <a:endParaRPr/>
          </a:p>
        </p:txBody>
      </p:sp>
      <p:sp>
        <p:nvSpPr>
          <p:cNvPr id="78" name="TextBox 36"/>
          <p:cNvSpPr txBox="1"/>
          <p:nvPr/>
        </p:nvSpPr>
        <p:spPr>
          <a:xfrm>
            <a:off x="7534275" y="4714875"/>
            <a:ext cx="19573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ACTIVE BUYERS</a:t>
            </a:r>
          </a:p>
        </p:txBody>
      </p:sp>
      <p:sp>
        <p:nvSpPr>
          <p:cNvPr id="79" name="TextBox 37"/>
          <p:cNvSpPr txBox="1"/>
          <p:nvPr/>
        </p:nvSpPr>
        <p:spPr>
          <a:xfrm>
            <a:off x="7534275" y="4876800"/>
            <a:ext cx="1957388" cy="628650"/>
          </a:xfrm>
          <a:prstGeom prst="rect">
            <a:avLst/>
          </a:prstGeom>
          <a:noFill/>
        </p:spPr>
        <p:txBody>
          <a:bodyPr wrap="square" lIns="0" tIns="0" rIns="0" bIns="0" anchor="t">
            <a:spAutoFit/>
          </a:bodyPr>
          <a:lstStyle/>
          <a:p>
            <a:pPr algn="l">
              <a:lnSpc>
                <a:spcPts val="1238"/>
              </a:lnSpc>
            </a:pPr>
            <a:r>
              <a:rPr sz="825" b="0" i="0" spc="15">
                <a:solidFill>
                  <a:srgbClr val="333231"/>
                </a:solidFill>
                <a:latin typeface="Calibri"/>
              </a:rPr>
              <a:t>Guardian Pharmacy Services, Cencora, Cardinal Health, and McKesson; Knox Lane, JLL Partners, and VeloSource in staffing and logistics; Strata Critical Medical in perfusion</a:t>
            </a:r>
          </a:p>
        </p:txBody>
      </p:sp>
      <p:sp>
        <p:nvSpPr>
          <p:cNvPr id="80" name="Shape 38"/>
          <p:cNvSpPr/>
          <p:nvPr/>
        </p:nvSpPr>
        <p:spPr>
          <a:xfrm>
            <a:off x="7534275" y="5651754"/>
            <a:ext cx="1943100" cy="9525"/>
          </a:xfrm>
          <a:prstGeom prst="rect">
            <a:avLst/>
          </a:prstGeom>
          <a:solidFill>
            <a:srgbClr val="E3DCD3"/>
          </a:solidFill>
          <a:ln>
            <a:noFill/>
          </a:ln>
          <a:effectLst/>
        </p:spPr>
        <p:txBody>
          <a:bodyPr rtlCol="0" anchor="ctr"/>
          <a:lstStyle/>
          <a:p>
            <a:pPr algn="ctr"/>
            <a:endParaRPr/>
          </a:p>
        </p:txBody>
      </p:sp>
      <p:sp>
        <p:nvSpPr>
          <p:cNvPr id="81" name="TextBox 38"/>
          <p:cNvSpPr txBox="1"/>
          <p:nvPr/>
        </p:nvSpPr>
        <p:spPr>
          <a:xfrm>
            <a:off x="7534275" y="5743194"/>
            <a:ext cx="1957388" cy="123825"/>
          </a:xfrm>
          <a:prstGeom prst="rect">
            <a:avLst/>
          </a:prstGeom>
          <a:noFill/>
        </p:spPr>
        <p:txBody>
          <a:bodyPr wrap="square" lIns="0" tIns="0" rIns="0" bIns="0" anchor="t">
            <a:spAutoFit/>
          </a:bodyPr>
          <a:lstStyle/>
          <a:p>
            <a:pPr algn="l">
              <a:lnSpc>
                <a:spcPts val="1121"/>
              </a:lnSpc>
            </a:pPr>
            <a:r>
              <a:rPr sz="750" b="1" i="0" spc="150">
                <a:solidFill>
                  <a:srgbClr val="6F6A66"/>
                </a:solidFill>
                <a:latin typeface="Calibri"/>
              </a:rPr>
              <a:t>LISTED REFERENCE COMPANIES</a:t>
            </a:r>
          </a:p>
        </p:txBody>
      </p:sp>
      <p:sp>
        <p:nvSpPr>
          <p:cNvPr id="98" name="Shape 4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99" name="Picture 5" descr="Benchmark International logo"/>
          <p:cNvPicPr>
            <a:picLocks noChangeAspect="1"/>
          </p:cNvPicPr>
          <p:nvPr/>
        </p:nvPicPr>
        <p:blipFill>
          <a:blip r:embed="rId17"/>
          <a:srcRect/>
          <a:stretch>
            <a:fillRect/>
          </a:stretch>
        </p:blipFill>
        <p:spPr>
          <a:xfrm>
            <a:off x="419100" y="7143750"/>
            <a:ext cx="914400" cy="171450"/>
          </a:xfrm>
          <a:prstGeom prst="rect">
            <a:avLst/>
          </a:prstGeom>
        </p:spPr>
      </p:pic>
      <p:sp>
        <p:nvSpPr>
          <p:cNvPr id="100" name="TextBox 47"/>
          <p:cNvSpPr txBox="1"/>
          <p:nvPr/>
        </p:nvSpPr>
        <p:spPr>
          <a:xfrm>
            <a:off x="1543050" y="7105650"/>
            <a:ext cx="7748588" cy="238125"/>
          </a:xfrm>
          <a:prstGeom prst="rect">
            <a:avLst/>
          </a:prstGeom>
          <a:noFill/>
        </p:spPr>
        <p:txBody>
          <a:bodyPr wrap="square" lIns="0" tIns="0" rIns="0" bIns="0" anchor="t">
            <a:spAutoFit/>
          </a:bodyPr>
          <a:lstStyle/>
          <a:p>
            <a:pPr algn="l">
              <a:lnSpc>
                <a:spcPts val="994"/>
              </a:lnSpc>
            </a:pPr>
            <a:r>
              <a:rPr sz="700" b="0" i="0" spc="8">
                <a:solidFill>
                  <a:srgbClr val="6F6A66"/>
                </a:solidFill>
                <a:latin typeface="Calibri"/>
              </a:rPr>
              <a:t>Buyers named are examples drawn from 2026 transactions and results. Listed reference companies are the public comparables used on the valuation pages. Logos are the property of their owners.</a:t>
            </a:r>
          </a:p>
        </p:txBody>
      </p:sp>
      <p:sp>
        <p:nvSpPr>
          <p:cNvPr id="101" name="TextBox 4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10</a:t>
            </a:r>
          </a:p>
        </p:txBody>
      </p:sp>
      <p:pic>
        <p:nvPicPr>
          <p:cNvPr id="102" name="Logo SYK" descr="Stryker logo"/>
          <p:cNvPicPr>
            <a:picLocks noChangeAspect="1"/>
          </p:cNvPicPr>
          <p:nvPr/>
        </p:nvPicPr>
        <p:blipFill>
          <a:blip r:embed="rId18"/>
          <a:stretch>
            <a:fillRect/>
          </a:stretch>
        </p:blipFill>
        <p:spPr>
          <a:xfrm>
            <a:off x="7575804" y="3004360"/>
            <a:ext cx="406908" cy="102138"/>
          </a:xfrm>
          <a:prstGeom prst="rect">
            <a:avLst/>
          </a:prstGeom>
        </p:spPr>
      </p:pic>
      <p:pic>
        <p:nvPicPr>
          <p:cNvPr id="103" name="Logo STE" descr="Steris logo"/>
          <p:cNvPicPr>
            <a:picLocks noChangeAspect="1"/>
          </p:cNvPicPr>
          <p:nvPr/>
        </p:nvPicPr>
        <p:blipFill>
          <a:blip r:embed="rId19"/>
          <a:stretch>
            <a:fillRect/>
          </a:stretch>
        </p:blipFill>
        <p:spPr>
          <a:xfrm>
            <a:off x="8065008" y="3022063"/>
            <a:ext cx="406908" cy="66732"/>
          </a:xfrm>
          <a:prstGeom prst="rect">
            <a:avLst/>
          </a:prstGeom>
        </p:spPr>
      </p:pic>
      <p:pic>
        <p:nvPicPr>
          <p:cNvPr id="104" name="Logo TFX" descr="Teleflex logo"/>
          <p:cNvPicPr>
            <a:picLocks noChangeAspect="1"/>
          </p:cNvPicPr>
          <p:nvPr/>
        </p:nvPicPr>
        <p:blipFill>
          <a:blip r:embed="rId20"/>
          <a:stretch>
            <a:fillRect/>
          </a:stretch>
        </p:blipFill>
        <p:spPr>
          <a:xfrm>
            <a:off x="8554212" y="3024504"/>
            <a:ext cx="406908" cy="61850"/>
          </a:xfrm>
          <a:prstGeom prst="rect">
            <a:avLst/>
          </a:prstGeom>
        </p:spPr>
      </p:pic>
      <p:pic>
        <p:nvPicPr>
          <p:cNvPr id="105" name="Logo HSIC" descr="Henry Schein logo"/>
          <p:cNvPicPr>
            <a:picLocks noChangeAspect="1"/>
          </p:cNvPicPr>
          <p:nvPr/>
        </p:nvPicPr>
        <p:blipFill>
          <a:blip r:embed="rId21"/>
          <a:stretch>
            <a:fillRect/>
          </a:stretch>
        </p:blipFill>
        <p:spPr>
          <a:xfrm>
            <a:off x="9043416" y="3035043"/>
            <a:ext cx="406908" cy="40772"/>
          </a:xfrm>
          <a:prstGeom prst="rect">
            <a:avLst/>
          </a:prstGeom>
        </p:spPr>
      </p:pic>
      <p:pic>
        <p:nvPicPr>
          <p:cNvPr id="106" name="Logo XRAY" descr="Dentsply Sirona logo"/>
          <p:cNvPicPr>
            <a:picLocks noChangeAspect="1"/>
          </p:cNvPicPr>
          <p:nvPr/>
        </p:nvPicPr>
        <p:blipFill>
          <a:blip r:embed="rId22"/>
          <a:stretch>
            <a:fillRect/>
          </a:stretch>
        </p:blipFill>
        <p:spPr>
          <a:xfrm>
            <a:off x="7575804" y="3327982"/>
            <a:ext cx="406908" cy="113263"/>
          </a:xfrm>
          <a:prstGeom prst="rect">
            <a:avLst/>
          </a:prstGeom>
        </p:spPr>
      </p:pic>
      <p:pic>
        <p:nvPicPr>
          <p:cNvPr id="107" name="Logo NVST" descr="Envista logo"/>
          <p:cNvPicPr>
            <a:picLocks noChangeAspect="1"/>
          </p:cNvPicPr>
          <p:nvPr/>
        </p:nvPicPr>
        <p:blipFill>
          <a:blip r:embed="rId23"/>
          <a:stretch>
            <a:fillRect/>
          </a:stretch>
        </p:blipFill>
        <p:spPr>
          <a:xfrm>
            <a:off x="8065008" y="3335351"/>
            <a:ext cx="406908" cy="98524"/>
          </a:xfrm>
          <a:prstGeom prst="rect">
            <a:avLst/>
          </a:prstGeom>
        </p:spPr>
      </p:pic>
      <p:pic>
        <p:nvPicPr>
          <p:cNvPr id="108" name="Logo ZBH" descr="Zimmer Biomet logo"/>
          <p:cNvPicPr>
            <a:picLocks noChangeAspect="1"/>
          </p:cNvPicPr>
          <p:nvPr/>
        </p:nvPicPr>
        <p:blipFill>
          <a:blip r:embed="rId24"/>
          <a:stretch>
            <a:fillRect/>
          </a:stretch>
        </p:blipFill>
        <p:spPr>
          <a:xfrm>
            <a:off x="8554212" y="3347845"/>
            <a:ext cx="406908" cy="73537"/>
          </a:xfrm>
          <a:prstGeom prst="rect">
            <a:avLst/>
          </a:prstGeom>
        </p:spPr>
      </p:pic>
      <p:pic>
        <p:nvPicPr>
          <p:cNvPr id="110" name="Logo SOLV" descr="Solventum logo"/>
          <p:cNvPicPr>
            <a:picLocks noChangeAspect="1"/>
          </p:cNvPicPr>
          <p:nvPr/>
        </p:nvPicPr>
        <p:blipFill>
          <a:blip r:embed="rId25"/>
          <a:stretch>
            <a:fillRect/>
          </a:stretch>
        </p:blipFill>
        <p:spPr>
          <a:xfrm>
            <a:off x="7575804" y="3662934"/>
            <a:ext cx="406908" cy="101727"/>
          </a:xfrm>
          <a:prstGeom prst="rect">
            <a:avLst/>
          </a:prstGeom>
        </p:spPr>
      </p:pic>
      <p:pic>
        <p:nvPicPr>
          <p:cNvPr id="111" name="Logo VMD" descr="Viemed Healthcare logo"/>
          <p:cNvPicPr>
            <a:picLocks noChangeAspect="1"/>
          </p:cNvPicPr>
          <p:nvPr/>
        </p:nvPicPr>
        <p:blipFill>
          <a:blip r:embed="rId26"/>
          <a:stretch>
            <a:fillRect/>
          </a:stretch>
        </p:blipFill>
        <p:spPr>
          <a:xfrm>
            <a:off x="8085024" y="3613213"/>
            <a:ext cx="366875" cy="201168"/>
          </a:xfrm>
          <a:prstGeom prst="rect">
            <a:avLst/>
          </a:prstGeom>
        </p:spPr>
      </p:pic>
      <p:pic>
        <p:nvPicPr>
          <p:cNvPr id="112" name="Logo OPCH" descr="Option Care Health logo"/>
          <p:cNvPicPr>
            <a:picLocks noChangeAspect="1"/>
          </p:cNvPicPr>
          <p:nvPr/>
        </p:nvPicPr>
        <p:blipFill>
          <a:blip r:embed="rId27"/>
          <a:stretch>
            <a:fillRect/>
          </a:stretch>
        </p:blipFill>
        <p:spPr>
          <a:xfrm>
            <a:off x="7607218" y="6007163"/>
            <a:ext cx="507146" cy="201168"/>
          </a:xfrm>
          <a:prstGeom prst="rect">
            <a:avLst/>
          </a:prstGeom>
        </p:spPr>
      </p:pic>
      <p:pic>
        <p:nvPicPr>
          <p:cNvPr id="113" name="Logo BTSG" descr="BrightSpring Health Services logo"/>
          <p:cNvPicPr>
            <a:picLocks noChangeAspect="1"/>
          </p:cNvPicPr>
          <p:nvPr/>
        </p:nvPicPr>
        <p:blipFill>
          <a:blip r:embed="rId28"/>
          <a:stretch>
            <a:fillRect/>
          </a:stretch>
        </p:blipFill>
        <p:spPr>
          <a:xfrm>
            <a:off x="8228076" y="6053124"/>
            <a:ext cx="569976" cy="109245"/>
          </a:xfrm>
          <a:prstGeom prst="rect">
            <a:avLst/>
          </a:prstGeom>
        </p:spPr>
      </p:pic>
      <p:pic>
        <p:nvPicPr>
          <p:cNvPr id="114" name="Logo GRDN" descr="Guardian Pharmacy Services logo"/>
          <p:cNvPicPr>
            <a:picLocks noChangeAspect="1"/>
          </p:cNvPicPr>
          <p:nvPr/>
        </p:nvPicPr>
        <p:blipFill>
          <a:blip r:embed="rId29"/>
          <a:stretch>
            <a:fillRect/>
          </a:stretch>
        </p:blipFill>
        <p:spPr>
          <a:xfrm>
            <a:off x="8977365" y="6007163"/>
            <a:ext cx="375941" cy="201168"/>
          </a:xfrm>
          <a:prstGeom prst="rect">
            <a:avLst/>
          </a:prstGeom>
        </p:spPr>
      </p:pic>
      <p:pic>
        <p:nvPicPr>
          <p:cNvPr id="115" name="Logo MCK" descr="McKesson logo"/>
          <p:cNvPicPr>
            <a:picLocks noChangeAspect="1"/>
          </p:cNvPicPr>
          <p:nvPr/>
        </p:nvPicPr>
        <p:blipFill>
          <a:blip r:embed="rId30"/>
          <a:stretch>
            <a:fillRect/>
          </a:stretch>
        </p:blipFill>
        <p:spPr>
          <a:xfrm>
            <a:off x="7575804" y="6358614"/>
            <a:ext cx="569976" cy="78656"/>
          </a:xfrm>
          <a:prstGeom prst="rect">
            <a:avLst/>
          </a:prstGeom>
        </p:spPr>
      </p:pic>
      <p:pic>
        <p:nvPicPr>
          <p:cNvPr id="116" name="Logo COR" descr="Cencora logo"/>
          <p:cNvPicPr>
            <a:picLocks noChangeAspect="1"/>
          </p:cNvPicPr>
          <p:nvPr/>
        </p:nvPicPr>
        <p:blipFill>
          <a:blip r:embed="rId31"/>
          <a:stretch>
            <a:fillRect/>
          </a:stretch>
        </p:blipFill>
        <p:spPr>
          <a:xfrm>
            <a:off x="8228076" y="6357474"/>
            <a:ext cx="569976" cy="80936"/>
          </a:xfrm>
          <a:prstGeom prst="rect">
            <a:avLst/>
          </a:prstGeom>
        </p:spPr>
      </p:pic>
      <p:pic>
        <p:nvPicPr>
          <p:cNvPr id="117" name="Logo CAH" descr="Cardinal Health logo"/>
          <p:cNvPicPr>
            <a:picLocks noChangeAspect="1"/>
          </p:cNvPicPr>
          <p:nvPr/>
        </p:nvPicPr>
        <p:blipFill>
          <a:blip r:embed="rId32"/>
          <a:stretch>
            <a:fillRect/>
          </a:stretch>
        </p:blipFill>
        <p:spPr>
          <a:xfrm>
            <a:off x="8880348" y="6303761"/>
            <a:ext cx="569976" cy="188361"/>
          </a:xfrm>
          <a:prstGeom prst="rect">
            <a:avLst/>
          </a:prstGeom>
        </p:spPr>
      </p:pic>
      <p:pic>
        <p:nvPicPr>
          <p:cNvPr id="118" name="Logo CVS" descr="CVS Health logo"/>
          <p:cNvPicPr>
            <a:picLocks noChangeAspect="1"/>
          </p:cNvPicPr>
          <p:nvPr/>
        </p:nvPicPr>
        <p:blipFill>
          <a:blip r:embed="rId33"/>
          <a:stretch>
            <a:fillRect/>
          </a:stretch>
        </p:blipFill>
        <p:spPr>
          <a:xfrm>
            <a:off x="7575804" y="6653368"/>
            <a:ext cx="569976" cy="69537"/>
          </a:xfrm>
          <a:prstGeom prst="rect">
            <a:avLst/>
          </a:prstGeom>
        </p:spPr>
      </p:pic>
      <p:pic>
        <p:nvPicPr>
          <p:cNvPr id="119" name="Logo AMN" descr="AMN Healthcare logo"/>
          <p:cNvPicPr>
            <a:picLocks noChangeAspect="1"/>
          </p:cNvPicPr>
          <p:nvPr/>
        </p:nvPicPr>
        <p:blipFill>
          <a:blip r:embed="rId34"/>
          <a:stretch>
            <a:fillRect/>
          </a:stretch>
        </p:blipFill>
        <p:spPr>
          <a:xfrm>
            <a:off x="8228076" y="6591241"/>
            <a:ext cx="569976" cy="193791"/>
          </a:xfrm>
          <a:prstGeom prst="rect">
            <a:avLst/>
          </a:prstGeom>
        </p:spPr>
      </p:pic>
      <p:pic>
        <p:nvPicPr>
          <p:cNvPr id="120" name="Logo ITGR" descr="Integer Holdings logo"/>
          <p:cNvPicPr>
            <a:picLocks noChangeAspect="1"/>
          </p:cNvPicPr>
          <p:nvPr/>
        </p:nvPicPr>
        <p:blipFill>
          <a:blip r:embed="rId35"/>
          <a:stretch>
            <a:fillRect/>
          </a:stretch>
        </p:blipFill>
        <p:spPr>
          <a:xfrm>
            <a:off x="9031986" y="3324177"/>
            <a:ext cx="429768" cy="1208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What We’re Reading</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Primary sources and trade reporting from the third quarter.</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1809750" cy="569595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0" name="Picture 2" descr="Icon of a document for the reading list"/>
          <p:cNvPicPr>
            <a:picLocks noChangeAspect="1"/>
          </p:cNvPicPr>
          <p:nvPr/>
        </p:nvPicPr>
        <p:blipFill>
          <a:blip r:embed="rId3"/>
          <a:stretch>
            <a:fillRect/>
          </a:stretch>
        </p:blipFill>
        <p:spPr>
          <a:xfrm>
            <a:off x="609600" y="1504950"/>
            <a:ext cx="419100" cy="419100"/>
          </a:xfrm>
          <a:prstGeom prst="rect">
            <a:avLst/>
          </a:prstGeom>
        </p:spPr>
      </p:pic>
      <p:sp>
        <p:nvSpPr>
          <p:cNvPr id="11" name="TextBox 5"/>
          <p:cNvSpPr txBox="1"/>
          <p:nvPr/>
        </p:nvSpPr>
        <p:spPr>
          <a:xfrm>
            <a:off x="609600" y="2114550"/>
            <a:ext cx="1443038" cy="1028700"/>
          </a:xfrm>
          <a:prstGeom prst="rect">
            <a:avLst/>
          </a:prstGeom>
          <a:noFill/>
        </p:spPr>
        <p:txBody>
          <a:bodyPr wrap="square" lIns="0" tIns="0" rIns="0" bIns="0" anchor="t">
            <a:spAutoFit/>
          </a:bodyPr>
          <a:lstStyle/>
          <a:p>
            <a:pPr algn="l">
              <a:lnSpc>
                <a:spcPts val="2700"/>
              </a:lnSpc>
            </a:pPr>
            <a:r>
              <a:rPr sz="2250" b="1" i="0">
                <a:solidFill>
                  <a:srgbClr val="FFFFFF"/>
                </a:solidFill>
                <a:latin typeface="Cambria"/>
              </a:rPr>
              <a:t>What We’re Reading</a:t>
            </a:r>
          </a:p>
        </p:txBody>
      </p:sp>
      <p:sp>
        <p:nvSpPr>
          <p:cNvPr id="12" name="Shape 4"/>
          <p:cNvSpPr/>
          <p:nvPr/>
        </p:nvSpPr>
        <p:spPr>
          <a:xfrm>
            <a:off x="609600" y="3314700"/>
            <a:ext cx="533400" cy="19050"/>
          </a:xfrm>
          <a:prstGeom prst="rect">
            <a:avLst/>
          </a:prstGeom>
          <a:solidFill>
            <a:srgbClr val="B68757"/>
          </a:solidFill>
          <a:ln>
            <a:noFill/>
          </a:ln>
          <a:effectLst/>
        </p:spPr>
        <p:txBody>
          <a:bodyPr rtlCol="0" anchor="ctr"/>
          <a:lstStyle/>
          <a:p>
            <a:pPr algn="ctr"/>
            <a:endParaRPr/>
          </a:p>
        </p:txBody>
      </p:sp>
      <p:sp>
        <p:nvSpPr>
          <p:cNvPr id="13" name="TextBox 6"/>
          <p:cNvSpPr txBox="1"/>
          <p:nvPr/>
        </p:nvSpPr>
        <p:spPr>
          <a:xfrm>
            <a:off x="609600" y="3505200"/>
            <a:ext cx="1443038" cy="904875"/>
          </a:xfrm>
          <a:prstGeom prst="rect">
            <a:avLst/>
          </a:prstGeom>
          <a:noFill/>
        </p:spPr>
        <p:txBody>
          <a:bodyPr wrap="square" lIns="0" tIns="0" rIns="0" bIns="0" anchor="t">
            <a:spAutoFit/>
          </a:bodyPr>
          <a:lstStyle/>
          <a:p>
            <a:pPr algn="l">
              <a:lnSpc>
                <a:spcPts val="1468"/>
              </a:lnSpc>
            </a:pPr>
            <a:r>
              <a:rPr sz="950" b="0" i="0" spc="15">
                <a:solidFill>
                  <a:srgbClr val="E8E2DA"/>
                </a:solidFill>
                <a:latin typeface="Calibri"/>
              </a:rPr>
              <a:t>Four pieces from the third quarter, one per sector, with a marked passage and the takeaway for an owner.</a:t>
            </a:r>
          </a:p>
        </p:txBody>
      </p:sp>
      <p:sp>
        <p:nvSpPr>
          <p:cNvPr id="14" name="Shape 5"/>
          <p:cNvSpPr/>
          <p:nvPr/>
        </p:nvSpPr>
        <p:spPr>
          <a:xfrm>
            <a:off x="2400300" y="1238250"/>
            <a:ext cx="3543300" cy="2771775"/>
          </a:xfrm>
          <a:prstGeom prst="rect">
            <a:avLst/>
          </a:prstGeom>
          <a:solidFill>
            <a:srgbClr val="FAF7F3"/>
          </a:solidFill>
          <a:ln>
            <a:noFill/>
          </a:ln>
          <a:effectLst/>
        </p:spPr>
        <p:txBody>
          <a:bodyPr rtlCol="0" anchor="ctr"/>
          <a:lstStyle/>
          <a:p>
            <a:pPr algn="ctr"/>
            <a:endParaRPr/>
          </a:p>
        </p:txBody>
      </p:sp>
      <p:sp>
        <p:nvSpPr>
          <p:cNvPr id="15" name="Shape 6"/>
          <p:cNvSpPr/>
          <p:nvPr/>
        </p:nvSpPr>
        <p:spPr>
          <a:xfrm>
            <a:off x="2400300" y="1238250"/>
            <a:ext cx="3543300" cy="28575"/>
          </a:xfrm>
          <a:prstGeom prst="rect">
            <a:avLst/>
          </a:prstGeom>
          <a:solidFill>
            <a:srgbClr val="B68757"/>
          </a:solidFill>
          <a:ln>
            <a:noFill/>
          </a:ln>
          <a:effectLst/>
        </p:spPr>
        <p:txBody>
          <a:bodyPr rtlCol="0" anchor="ctr"/>
          <a:lstStyle/>
          <a:p>
            <a:pPr algn="ctr"/>
            <a:endParaRPr/>
          </a:p>
        </p:txBody>
      </p:sp>
      <p:sp>
        <p:nvSpPr>
          <p:cNvPr id="16" name="TextBox 7"/>
          <p:cNvSpPr txBox="1"/>
          <p:nvPr/>
        </p:nvSpPr>
        <p:spPr>
          <a:xfrm>
            <a:off x="2552700" y="1400175"/>
            <a:ext cx="2224683" cy="123825"/>
          </a:xfrm>
          <a:prstGeom prst="rect">
            <a:avLst/>
          </a:prstGeom>
          <a:noFill/>
        </p:spPr>
        <p:txBody>
          <a:bodyPr wrap="square" lIns="0" tIns="0" rIns="0" bIns="0" anchor="t">
            <a:spAutoFit/>
          </a:bodyPr>
          <a:lstStyle/>
          <a:p>
            <a:pPr algn="l">
              <a:lnSpc>
                <a:spcPts val="1004"/>
              </a:lnSpc>
            </a:pPr>
            <a:r>
              <a:rPr sz="650" b="1" i="0" spc="150">
                <a:solidFill>
                  <a:srgbClr val="8C6239"/>
                </a:solidFill>
                <a:latin typeface="Calibri"/>
              </a:rPr>
              <a:t>FIERCE HEALTHCARE | PROVIDER SERVICES</a:t>
            </a:r>
          </a:p>
        </p:txBody>
      </p:sp>
      <p:sp>
        <p:nvSpPr>
          <p:cNvPr id="17" name="TextBox 8"/>
          <p:cNvSpPr txBox="1"/>
          <p:nvPr/>
        </p:nvSpPr>
        <p:spPr>
          <a:xfrm>
            <a:off x="5169098" y="1390650"/>
            <a:ext cx="757178"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August 19, 2026</a:t>
            </a:r>
          </a:p>
        </p:txBody>
      </p:sp>
      <p:sp>
        <p:nvSpPr>
          <p:cNvPr id="18" name="TextBox 9"/>
          <p:cNvSpPr txBox="1"/>
          <p:nvPr/>
        </p:nvSpPr>
        <p:spPr>
          <a:xfrm>
            <a:off x="2552700" y="1590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Projected healthcare services deal count to be lowest since 2017, PitchBook finds</a:t>
            </a:r>
          </a:p>
        </p:txBody>
      </p:sp>
      <p:sp>
        <p:nvSpPr>
          <p:cNvPr id="19" name="Shape 7"/>
          <p:cNvSpPr/>
          <p:nvPr/>
        </p:nvSpPr>
        <p:spPr>
          <a:xfrm>
            <a:off x="2552700" y="2219325"/>
            <a:ext cx="19050" cy="495300"/>
          </a:xfrm>
          <a:prstGeom prst="rect">
            <a:avLst/>
          </a:prstGeom>
          <a:solidFill>
            <a:srgbClr val="B68757"/>
          </a:solidFill>
          <a:ln>
            <a:noFill/>
          </a:ln>
          <a:effectLst/>
        </p:spPr>
        <p:txBody>
          <a:bodyPr rtlCol="0" anchor="ctr"/>
          <a:lstStyle/>
          <a:p>
            <a:pPr algn="ctr"/>
            <a:endParaRPr/>
          </a:p>
        </p:txBody>
      </p:sp>
      <p:sp>
        <p:nvSpPr>
          <p:cNvPr id="20" name="TextBox 10"/>
          <p:cNvSpPr txBox="1"/>
          <p:nvPr/>
        </p:nvSpPr>
        <p:spPr>
          <a:xfrm>
            <a:off x="2686050" y="2219325"/>
            <a:ext cx="3119438" cy="333375"/>
          </a:xfrm>
          <a:prstGeom prst="rect">
            <a:avLst/>
          </a:prstGeom>
          <a:noFill/>
        </p:spPr>
        <p:txBody>
          <a:bodyPr wrap="square" lIns="0" tIns="0" rIns="0" bIns="0" anchor="t">
            <a:spAutoFit/>
          </a:bodyPr>
          <a:lstStyle/>
          <a:p>
            <a:pPr algn="l">
              <a:lnSpc>
                <a:spcPts val="1430"/>
              </a:lnSpc>
            </a:pPr>
            <a:r>
              <a:rPr sz="1000" b="0" i="1">
                <a:solidFill>
                  <a:srgbClr val="2A2928"/>
                </a:solidFill>
                <a:latin typeface="Cambria"/>
              </a:rPr>
              <a:t>“It’s hard to imagine that things stay at such a depressed level. We expect mean reversion going forward.”</a:t>
            </a:r>
          </a:p>
        </p:txBody>
      </p:sp>
      <p:sp>
        <p:nvSpPr>
          <p:cNvPr id="21" name="TextBox 11"/>
          <p:cNvSpPr txBox="1"/>
          <p:nvPr/>
        </p:nvSpPr>
        <p:spPr>
          <a:xfrm>
            <a:off x="2686050" y="2581275"/>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Brian Wright, lead research analyst of healthcare at PitchBook</a:t>
            </a:r>
          </a:p>
        </p:txBody>
      </p:sp>
      <p:sp>
        <p:nvSpPr>
          <p:cNvPr id="22" name="TextBox 12"/>
          <p:cNvSpPr txBox="1"/>
          <p:nvPr/>
        </p:nvSpPr>
        <p:spPr>
          <a:xfrm>
            <a:off x="2552700" y="2990850"/>
            <a:ext cx="3252788" cy="442912"/>
          </a:xfrm>
          <a:prstGeom prst="rect">
            <a:avLst/>
          </a:prstGeom>
          <a:noFill/>
        </p:spPr>
        <p:txBody>
          <a:bodyPr wrap="square" lIns="0" tIns="0" rIns="0" bIns="0" anchor="t">
            <a:spAutoFit/>
          </a:bodyPr>
          <a:lstStyle/>
          <a:p>
            <a:pPr algn="l">
              <a:lnSpc>
                <a:spcPts val="1232"/>
              </a:lnSpc>
            </a:pPr>
            <a:r>
              <a:rPr sz="850" b="0" i="0" spc="15" dirty="0">
                <a:solidFill>
                  <a:srgbClr val="333231"/>
                </a:solidFill>
                <a:latin typeface="Calibri"/>
              </a:rPr>
              <a:t>Private equity is on pace for 674 healthcare services transactions in 2026 after an estimated 337 in the first half. The analyst behind the count expects activity to return toward its longer-run level.</a:t>
            </a:r>
          </a:p>
        </p:txBody>
      </p:sp>
      <p:sp>
        <p:nvSpPr>
          <p:cNvPr id="23" name="Shape 8"/>
          <p:cNvSpPr/>
          <p:nvPr/>
        </p:nvSpPr>
        <p:spPr>
          <a:xfrm>
            <a:off x="2552700" y="3657600"/>
            <a:ext cx="838646" cy="228600"/>
          </a:xfrm>
          <a:prstGeom prst="rect">
            <a:avLst/>
          </a:prstGeom>
          <a:solidFill>
            <a:srgbClr val="1B1A1A"/>
          </a:solidFill>
          <a:ln>
            <a:noFill/>
          </a:ln>
          <a:effectLst/>
        </p:spPr>
        <p:txBody>
          <a:bodyPr rtlCol="0" anchor="ctr"/>
          <a:lstStyle/>
          <a:p>
            <a:pPr algn="ctr"/>
            <a:endParaRPr/>
          </a:p>
        </p:txBody>
      </p:sp>
      <p:sp>
        <p:nvSpPr>
          <p:cNvPr id="24" name="TextBox 13">
            <a:hlinkClick r:id="rId4"/>
          </p:cNvPr>
          <p:cNvSpPr txBox="1"/>
          <p:nvPr/>
        </p:nvSpPr>
        <p:spPr>
          <a:xfrm>
            <a:off x="26860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25" name="Shape 9"/>
          <p:cNvSpPr/>
          <p:nvPr/>
        </p:nvSpPr>
        <p:spPr>
          <a:xfrm>
            <a:off x="6096000" y="1238250"/>
            <a:ext cx="3543300" cy="2771775"/>
          </a:xfrm>
          <a:prstGeom prst="rect">
            <a:avLst/>
          </a:prstGeom>
          <a:solidFill>
            <a:srgbClr val="FAF7F3"/>
          </a:solidFill>
          <a:ln>
            <a:noFill/>
          </a:ln>
          <a:effectLst/>
        </p:spPr>
        <p:txBody>
          <a:bodyPr rtlCol="0" anchor="ctr"/>
          <a:lstStyle/>
          <a:p>
            <a:pPr algn="ctr"/>
            <a:endParaRPr/>
          </a:p>
        </p:txBody>
      </p:sp>
      <p:sp>
        <p:nvSpPr>
          <p:cNvPr id="26" name="Shape 10"/>
          <p:cNvSpPr/>
          <p:nvPr/>
        </p:nvSpPr>
        <p:spPr>
          <a:xfrm>
            <a:off x="6096000" y="1238250"/>
            <a:ext cx="3543300" cy="28575"/>
          </a:xfrm>
          <a:prstGeom prst="rect">
            <a:avLst/>
          </a:prstGeom>
          <a:solidFill>
            <a:srgbClr val="B68757"/>
          </a:solidFill>
          <a:ln>
            <a:noFill/>
          </a:ln>
          <a:effectLst/>
        </p:spPr>
        <p:txBody>
          <a:bodyPr rtlCol="0" anchor="ctr"/>
          <a:lstStyle/>
          <a:p>
            <a:pPr algn="ctr"/>
            <a:endParaRPr/>
          </a:p>
        </p:txBody>
      </p:sp>
      <p:sp>
        <p:nvSpPr>
          <p:cNvPr id="27" name="TextBox 14"/>
          <p:cNvSpPr txBox="1"/>
          <p:nvPr/>
        </p:nvSpPr>
        <p:spPr>
          <a:xfrm>
            <a:off x="6248400" y="1400175"/>
            <a:ext cx="2045494" cy="123825"/>
          </a:xfrm>
          <a:prstGeom prst="rect">
            <a:avLst/>
          </a:prstGeom>
          <a:noFill/>
        </p:spPr>
        <p:txBody>
          <a:bodyPr wrap="square" lIns="0" tIns="0" rIns="0" bIns="0" anchor="t">
            <a:spAutoFit/>
          </a:bodyPr>
          <a:lstStyle/>
          <a:p>
            <a:pPr algn="l">
              <a:lnSpc>
                <a:spcPts val="1004"/>
              </a:lnSpc>
            </a:pPr>
            <a:r>
              <a:rPr sz="650" b="1" i="0" spc="150">
                <a:solidFill>
                  <a:srgbClr val="8C6239"/>
                </a:solidFill>
                <a:latin typeface="Calibri"/>
              </a:rPr>
              <a:t>IQVIA | LIFE SCIENCES &amp; DIAGNOSTICS</a:t>
            </a:r>
          </a:p>
        </p:txBody>
      </p:sp>
      <p:sp>
        <p:nvSpPr>
          <p:cNvPr id="28" name="TextBox 15"/>
          <p:cNvSpPr txBox="1"/>
          <p:nvPr/>
        </p:nvSpPr>
        <p:spPr>
          <a:xfrm>
            <a:off x="9032974" y="1390650"/>
            <a:ext cx="572185"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July 8, 2026</a:t>
            </a:r>
          </a:p>
        </p:txBody>
      </p:sp>
      <p:sp>
        <p:nvSpPr>
          <p:cNvPr id="29" name="TextBox 16"/>
          <p:cNvSpPr txBox="1"/>
          <p:nvPr/>
        </p:nvSpPr>
        <p:spPr>
          <a:xfrm>
            <a:off x="6248400" y="1590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Biopharma M&amp;A: Mid-year 2026 update</a:t>
            </a:r>
          </a:p>
        </p:txBody>
      </p:sp>
      <p:sp>
        <p:nvSpPr>
          <p:cNvPr id="30" name="Shape 11"/>
          <p:cNvSpPr/>
          <p:nvPr/>
        </p:nvSpPr>
        <p:spPr>
          <a:xfrm>
            <a:off x="6248400" y="2033587"/>
            <a:ext cx="19050" cy="828675"/>
          </a:xfrm>
          <a:prstGeom prst="rect">
            <a:avLst/>
          </a:prstGeom>
          <a:solidFill>
            <a:srgbClr val="B68757"/>
          </a:solidFill>
          <a:ln>
            <a:noFill/>
          </a:ln>
          <a:effectLst/>
        </p:spPr>
        <p:txBody>
          <a:bodyPr rtlCol="0" anchor="ctr"/>
          <a:lstStyle/>
          <a:p>
            <a:pPr algn="ctr"/>
            <a:endParaRPr/>
          </a:p>
        </p:txBody>
      </p:sp>
      <p:sp>
        <p:nvSpPr>
          <p:cNvPr id="31" name="TextBox 17"/>
          <p:cNvSpPr txBox="1"/>
          <p:nvPr/>
        </p:nvSpPr>
        <p:spPr>
          <a:xfrm>
            <a:off x="6381750" y="2033587"/>
            <a:ext cx="3119438" cy="666750"/>
          </a:xfrm>
          <a:prstGeom prst="rect">
            <a:avLst/>
          </a:prstGeom>
          <a:noFill/>
        </p:spPr>
        <p:txBody>
          <a:bodyPr wrap="square" lIns="0" tIns="0" rIns="0" bIns="0" anchor="t">
            <a:spAutoFit/>
          </a:bodyPr>
          <a:lstStyle/>
          <a:p>
            <a:pPr algn="l">
              <a:lnSpc>
                <a:spcPts val="1351"/>
              </a:lnSpc>
            </a:pPr>
            <a:r>
              <a:rPr sz="950" b="0" i="1">
                <a:solidFill>
                  <a:srgbClr val="2A2928"/>
                </a:solidFill>
                <a:latin typeface="Cambria"/>
              </a:rPr>
              <a:t>“After the first six months of 2026, aggregate M&amp;A deal value has already reached $130Bn, almost matching the full-year total for 2025, with a year-to-date deal count of 42, or 84% of the 2025 total.”</a:t>
            </a:r>
          </a:p>
        </p:txBody>
      </p:sp>
      <p:sp>
        <p:nvSpPr>
          <p:cNvPr id="32" name="TextBox 18"/>
          <p:cNvSpPr txBox="1"/>
          <p:nvPr/>
        </p:nvSpPr>
        <p:spPr>
          <a:xfrm>
            <a:off x="6381750" y="2728913"/>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IQVIA Global Thought Leadership</a:t>
            </a:r>
          </a:p>
        </p:txBody>
      </p:sp>
      <p:sp>
        <p:nvSpPr>
          <p:cNvPr id="33" name="TextBox 19"/>
          <p:cNvSpPr txBox="1"/>
          <p:nvPr/>
        </p:nvSpPr>
        <p:spPr>
          <a:xfrm>
            <a:off x="6248400" y="2990850"/>
            <a:ext cx="3252788" cy="590550"/>
          </a:xfrm>
          <a:prstGeom prst="rect">
            <a:avLst/>
          </a:prstGeom>
          <a:noFill/>
        </p:spPr>
        <p:txBody>
          <a:bodyPr wrap="square" lIns="0" tIns="0" rIns="0" bIns="0" anchor="t">
            <a:spAutoFit/>
          </a:bodyPr>
          <a:lstStyle/>
          <a:p>
            <a:pPr algn="l">
              <a:lnSpc>
                <a:spcPts val="1162"/>
              </a:lnSpc>
            </a:pPr>
            <a:r>
              <a:rPr sz="788" b="0" i="0" spc="15">
                <a:solidFill>
                  <a:srgbClr val="333231"/>
                </a:solidFill>
                <a:latin typeface="Calibri"/>
              </a:rPr>
              <a:t>The count covers acquisitions of $250 million or more, so it describes the largest buyers. Their spending supports demand for the research, laboratory, and manufacturing services that founder-owned companies supply.</a:t>
            </a:r>
          </a:p>
        </p:txBody>
      </p:sp>
      <p:sp>
        <p:nvSpPr>
          <p:cNvPr id="34" name="Shape 12"/>
          <p:cNvSpPr/>
          <p:nvPr/>
        </p:nvSpPr>
        <p:spPr>
          <a:xfrm>
            <a:off x="6248400" y="3657600"/>
            <a:ext cx="838646" cy="228600"/>
          </a:xfrm>
          <a:prstGeom prst="rect">
            <a:avLst/>
          </a:prstGeom>
          <a:solidFill>
            <a:srgbClr val="1B1A1A"/>
          </a:solidFill>
          <a:ln>
            <a:noFill/>
          </a:ln>
          <a:effectLst/>
        </p:spPr>
        <p:txBody>
          <a:bodyPr rtlCol="0" anchor="ctr"/>
          <a:lstStyle/>
          <a:p>
            <a:pPr algn="ctr"/>
            <a:endParaRPr/>
          </a:p>
        </p:txBody>
      </p:sp>
      <p:sp>
        <p:nvSpPr>
          <p:cNvPr id="35" name="TextBox 20">
            <a:hlinkClick r:id="rId5"/>
          </p:cNvPr>
          <p:cNvSpPr txBox="1"/>
          <p:nvPr/>
        </p:nvSpPr>
        <p:spPr>
          <a:xfrm>
            <a:off x="6381750" y="3714750"/>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36" name="Shape 13"/>
          <p:cNvSpPr/>
          <p:nvPr/>
        </p:nvSpPr>
        <p:spPr>
          <a:xfrm>
            <a:off x="2400300" y="4162425"/>
            <a:ext cx="3543300" cy="2771775"/>
          </a:xfrm>
          <a:prstGeom prst="rect">
            <a:avLst/>
          </a:prstGeom>
          <a:solidFill>
            <a:srgbClr val="FAF7F3"/>
          </a:solidFill>
          <a:ln>
            <a:noFill/>
          </a:ln>
          <a:effectLst/>
        </p:spPr>
        <p:txBody>
          <a:bodyPr rtlCol="0" anchor="ctr"/>
          <a:lstStyle/>
          <a:p>
            <a:pPr algn="ctr"/>
            <a:endParaRPr/>
          </a:p>
        </p:txBody>
      </p:sp>
      <p:sp>
        <p:nvSpPr>
          <p:cNvPr id="37" name="Shape 14"/>
          <p:cNvSpPr/>
          <p:nvPr/>
        </p:nvSpPr>
        <p:spPr>
          <a:xfrm>
            <a:off x="2400300" y="4162425"/>
            <a:ext cx="3543300" cy="28575"/>
          </a:xfrm>
          <a:prstGeom prst="rect">
            <a:avLst/>
          </a:prstGeom>
          <a:solidFill>
            <a:srgbClr val="B68757"/>
          </a:solidFill>
          <a:ln>
            <a:noFill/>
          </a:ln>
          <a:effectLst/>
        </p:spPr>
        <p:txBody>
          <a:bodyPr rtlCol="0" anchor="ctr"/>
          <a:lstStyle/>
          <a:p>
            <a:pPr algn="ctr"/>
            <a:endParaRPr/>
          </a:p>
        </p:txBody>
      </p:sp>
      <p:sp>
        <p:nvSpPr>
          <p:cNvPr id="38" name="TextBox 21"/>
          <p:cNvSpPr txBox="1"/>
          <p:nvPr/>
        </p:nvSpPr>
        <p:spPr>
          <a:xfrm>
            <a:off x="2552700" y="4324350"/>
            <a:ext cx="2703612" cy="247650"/>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MEDTECH DIVE | MEDICAL PRODUCTS &amp; DISTRIBUTION</a:t>
            </a:r>
          </a:p>
        </p:txBody>
      </p:sp>
      <p:sp>
        <p:nvSpPr>
          <p:cNvPr id="39" name="TextBox 22"/>
          <p:cNvSpPr txBox="1"/>
          <p:nvPr/>
        </p:nvSpPr>
        <p:spPr>
          <a:xfrm>
            <a:off x="5337274" y="4314825"/>
            <a:ext cx="572185"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July 6, 2026</a:t>
            </a:r>
          </a:p>
        </p:txBody>
      </p:sp>
      <p:sp>
        <p:nvSpPr>
          <p:cNvPr id="40" name="TextBox 23"/>
          <p:cNvSpPr txBox="1"/>
          <p:nvPr/>
        </p:nvSpPr>
        <p:spPr>
          <a:xfrm>
            <a:off x="2552700" y="4638675"/>
            <a:ext cx="3252788" cy="185738"/>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Top 10 medtech deals in the first half of 2026</a:t>
            </a:r>
          </a:p>
        </p:txBody>
      </p:sp>
      <p:sp>
        <p:nvSpPr>
          <p:cNvPr id="41" name="Shape 15"/>
          <p:cNvSpPr/>
          <p:nvPr/>
        </p:nvSpPr>
        <p:spPr>
          <a:xfrm>
            <a:off x="2552700" y="5053012"/>
            <a:ext cx="19050" cy="661988"/>
          </a:xfrm>
          <a:prstGeom prst="rect">
            <a:avLst/>
          </a:prstGeom>
          <a:solidFill>
            <a:srgbClr val="B68757"/>
          </a:solidFill>
          <a:ln>
            <a:noFill/>
          </a:ln>
          <a:effectLst/>
        </p:spPr>
        <p:txBody>
          <a:bodyPr rtlCol="0" anchor="ctr"/>
          <a:lstStyle/>
          <a:p>
            <a:pPr algn="ctr"/>
            <a:endParaRPr/>
          </a:p>
        </p:txBody>
      </p:sp>
      <p:sp>
        <p:nvSpPr>
          <p:cNvPr id="42" name="TextBox 24"/>
          <p:cNvSpPr txBox="1"/>
          <p:nvPr/>
        </p:nvSpPr>
        <p:spPr>
          <a:xfrm>
            <a:off x="2686050" y="5053012"/>
            <a:ext cx="3119438" cy="500062"/>
          </a:xfrm>
          <a:prstGeom prst="rect">
            <a:avLst/>
          </a:prstGeom>
          <a:noFill/>
        </p:spPr>
        <p:txBody>
          <a:bodyPr wrap="square" lIns="0" tIns="0" rIns="0" bIns="0" anchor="t">
            <a:spAutoFit/>
          </a:bodyPr>
          <a:lstStyle/>
          <a:p>
            <a:pPr algn="l">
              <a:lnSpc>
                <a:spcPts val="1391"/>
              </a:lnSpc>
            </a:pPr>
            <a:r>
              <a:rPr sz="1000" b="0" i="1">
                <a:solidFill>
                  <a:srgbClr val="2A2928"/>
                </a:solidFill>
                <a:latin typeface="Cambria"/>
              </a:rPr>
              <a:t>“Medtech dealmakers remained busy over the first half of 2026, building on the decade-high M&amp;A activity achieved last year with a string of deals worth upward of $1 billion.”</a:t>
            </a:r>
          </a:p>
        </p:txBody>
      </p:sp>
      <p:sp>
        <p:nvSpPr>
          <p:cNvPr id="43" name="TextBox 25"/>
          <p:cNvSpPr txBox="1"/>
          <p:nvPr/>
        </p:nvSpPr>
        <p:spPr>
          <a:xfrm>
            <a:off x="2686050" y="5581650"/>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MedTech Dive</a:t>
            </a:r>
          </a:p>
        </p:txBody>
      </p:sp>
      <p:sp>
        <p:nvSpPr>
          <p:cNvPr id="44" name="TextBox 26"/>
          <p:cNvSpPr txBox="1"/>
          <p:nvPr/>
        </p:nvSpPr>
        <p:spPr>
          <a:xfrm>
            <a:off x="2552700" y="5915025"/>
            <a:ext cx="3252788" cy="442912"/>
          </a:xfrm>
          <a:prstGeom prst="rect">
            <a:avLst/>
          </a:prstGeom>
          <a:noFill/>
        </p:spPr>
        <p:txBody>
          <a:bodyPr wrap="square" lIns="0" tIns="0" rIns="0" bIns="0" anchor="t">
            <a:spAutoFit/>
          </a:bodyPr>
          <a:lstStyle/>
          <a:p>
            <a:pPr algn="l">
              <a:lnSpc>
                <a:spcPts val="1232"/>
              </a:lnSpc>
            </a:pPr>
            <a:r>
              <a:rPr sz="850" b="0" i="0" spc="15" dirty="0">
                <a:solidFill>
                  <a:srgbClr val="333231"/>
                </a:solidFill>
                <a:latin typeface="Calibri"/>
              </a:rPr>
              <a:t>PwC counted $36.5 billion of medtech acquisitions in the first half. The largest were Boston Scientific’s $14.5 billion purchase of Penumbra and Danaher’s $9.9 billion purchase of Masimo.</a:t>
            </a:r>
          </a:p>
        </p:txBody>
      </p:sp>
      <p:sp>
        <p:nvSpPr>
          <p:cNvPr id="45" name="Shape 16"/>
          <p:cNvSpPr/>
          <p:nvPr/>
        </p:nvSpPr>
        <p:spPr>
          <a:xfrm>
            <a:off x="2552700" y="6581775"/>
            <a:ext cx="838646" cy="228600"/>
          </a:xfrm>
          <a:prstGeom prst="rect">
            <a:avLst/>
          </a:prstGeom>
          <a:solidFill>
            <a:srgbClr val="1B1A1A"/>
          </a:solidFill>
          <a:ln>
            <a:noFill/>
          </a:ln>
          <a:effectLst/>
        </p:spPr>
        <p:txBody>
          <a:bodyPr rtlCol="0" anchor="ctr"/>
          <a:lstStyle/>
          <a:p>
            <a:pPr algn="ctr"/>
            <a:endParaRPr/>
          </a:p>
        </p:txBody>
      </p:sp>
      <p:sp>
        <p:nvSpPr>
          <p:cNvPr id="46" name="TextBox 27">
            <a:hlinkClick r:id="rId6"/>
          </p:cNvPr>
          <p:cNvSpPr txBox="1"/>
          <p:nvPr/>
        </p:nvSpPr>
        <p:spPr>
          <a:xfrm>
            <a:off x="26860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47" name="Shape 17"/>
          <p:cNvSpPr/>
          <p:nvPr/>
        </p:nvSpPr>
        <p:spPr>
          <a:xfrm>
            <a:off x="6096000" y="4162425"/>
            <a:ext cx="3543300" cy="2771775"/>
          </a:xfrm>
          <a:prstGeom prst="rect">
            <a:avLst/>
          </a:prstGeom>
          <a:solidFill>
            <a:srgbClr val="FAF7F3"/>
          </a:solidFill>
          <a:ln>
            <a:noFill/>
          </a:ln>
          <a:effectLst/>
        </p:spPr>
        <p:txBody>
          <a:bodyPr rtlCol="0" anchor="ctr"/>
          <a:lstStyle/>
          <a:p>
            <a:pPr algn="ctr"/>
            <a:endParaRPr/>
          </a:p>
        </p:txBody>
      </p:sp>
      <p:sp>
        <p:nvSpPr>
          <p:cNvPr id="48" name="Shape 18"/>
          <p:cNvSpPr/>
          <p:nvPr/>
        </p:nvSpPr>
        <p:spPr>
          <a:xfrm>
            <a:off x="6096000" y="4162425"/>
            <a:ext cx="3543300" cy="28575"/>
          </a:xfrm>
          <a:prstGeom prst="rect">
            <a:avLst/>
          </a:prstGeom>
          <a:solidFill>
            <a:srgbClr val="B68757"/>
          </a:solidFill>
          <a:ln>
            <a:noFill/>
          </a:ln>
          <a:effectLst/>
        </p:spPr>
        <p:txBody>
          <a:bodyPr rtlCol="0" anchor="ctr"/>
          <a:lstStyle/>
          <a:p>
            <a:pPr algn="ctr"/>
            <a:endParaRPr/>
          </a:p>
        </p:txBody>
      </p:sp>
      <p:sp>
        <p:nvSpPr>
          <p:cNvPr id="49" name="TextBox 28"/>
          <p:cNvSpPr txBox="1"/>
          <p:nvPr/>
        </p:nvSpPr>
        <p:spPr>
          <a:xfrm>
            <a:off x="6248400" y="4324350"/>
            <a:ext cx="2535436"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DRUG CHANNELS | PHARMACY &amp; HEALTHCARE SERVICES</a:t>
            </a:r>
          </a:p>
        </p:txBody>
      </p:sp>
      <p:sp>
        <p:nvSpPr>
          <p:cNvPr id="50" name="TextBox 29"/>
          <p:cNvSpPr txBox="1"/>
          <p:nvPr/>
        </p:nvSpPr>
        <p:spPr>
          <a:xfrm>
            <a:off x="8864798" y="4314825"/>
            <a:ext cx="757178" cy="123825"/>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August 11, 2026</a:t>
            </a:r>
          </a:p>
        </p:txBody>
      </p:sp>
      <p:sp>
        <p:nvSpPr>
          <p:cNvPr id="51" name="TextBox 30"/>
          <p:cNvSpPr txBox="1"/>
          <p:nvPr/>
        </p:nvSpPr>
        <p:spPr>
          <a:xfrm>
            <a:off x="6248400" y="4638675"/>
            <a:ext cx="3252788" cy="371475"/>
          </a:xfrm>
          <a:prstGeom prst="rect">
            <a:avLst/>
          </a:prstGeom>
          <a:noFill/>
        </p:spPr>
        <p:txBody>
          <a:bodyPr wrap="square" lIns="0" tIns="0" rIns="0" bIns="0" anchor="t">
            <a:spAutoFit/>
          </a:bodyPr>
          <a:lstStyle/>
          <a:p>
            <a:pPr algn="l">
              <a:lnSpc>
                <a:spcPts val="1462"/>
              </a:lnSpc>
            </a:pPr>
            <a:r>
              <a:rPr sz="1125" b="1" i="0">
                <a:solidFill>
                  <a:srgbClr val="1B1A1A"/>
                </a:solidFill>
                <a:latin typeface="Cambria"/>
              </a:rPr>
              <a:t>The K-Shaped Pharmacy Shakeout: Consolidation in Cities, Lost Access in Rural America</a:t>
            </a:r>
          </a:p>
        </p:txBody>
      </p:sp>
      <p:sp>
        <p:nvSpPr>
          <p:cNvPr id="52" name="Shape 19"/>
          <p:cNvSpPr/>
          <p:nvPr/>
        </p:nvSpPr>
        <p:spPr>
          <a:xfrm>
            <a:off x="6248400" y="5162550"/>
            <a:ext cx="19050" cy="495300"/>
          </a:xfrm>
          <a:prstGeom prst="rect">
            <a:avLst/>
          </a:prstGeom>
          <a:solidFill>
            <a:srgbClr val="B68757"/>
          </a:solidFill>
          <a:ln>
            <a:noFill/>
          </a:ln>
          <a:effectLst/>
        </p:spPr>
        <p:txBody>
          <a:bodyPr rtlCol="0" anchor="ctr"/>
          <a:lstStyle/>
          <a:p>
            <a:pPr algn="ctr"/>
            <a:endParaRPr/>
          </a:p>
        </p:txBody>
      </p:sp>
      <p:sp>
        <p:nvSpPr>
          <p:cNvPr id="53" name="TextBox 31"/>
          <p:cNvSpPr txBox="1"/>
          <p:nvPr/>
        </p:nvSpPr>
        <p:spPr>
          <a:xfrm>
            <a:off x="6381750" y="5162550"/>
            <a:ext cx="3119438" cy="333375"/>
          </a:xfrm>
          <a:prstGeom prst="rect">
            <a:avLst/>
          </a:prstGeom>
          <a:noFill/>
        </p:spPr>
        <p:txBody>
          <a:bodyPr wrap="square" lIns="0" tIns="0" rIns="0" bIns="0" anchor="t">
            <a:spAutoFit/>
          </a:bodyPr>
          <a:lstStyle/>
          <a:p>
            <a:pPr algn="l">
              <a:lnSpc>
                <a:spcPts val="1351"/>
              </a:lnSpc>
            </a:pPr>
            <a:r>
              <a:rPr sz="950" b="0" i="1">
                <a:solidFill>
                  <a:srgbClr val="2A2928"/>
                </a:solidFill>
                <a:latin typeface="Cambria"/>
              </a:rPr>
              <a:t>“The United States has almost 8,000 fewer retail pharmacies than it did in 2018, and more than 2,000 closed in 2025 alone.”</a:t>
            </a:r>
          </a:p>
        </p:txBody>
      </p:sp>
      <p:sp>
        <p:nvSpPr>
          <p:cNvPr id="54" name="TextBox 32"/>
          <p:cNvSpPr txBox="1"/>
          <p:nvPr/>
        </p:nvSpPr>
        <p:spPr>
          <a:xfrm>
            <a:off x="6381750" y="5524500"/>
            <a:ext cx="3119438" cy="133350"/>
          </a:xfrm>
          <a:prstGeom prst="rect">
            <a:avLst/>
          </a:prstGeom>
          <a:noFill/>
        </p:spPr>
        <p:txBody>
          <a:bodyPr wrap="square" lIns="0" tIns="0" rIns="0" bIns="0" anchor="t">
            <a:spAutoFit/>
          </a:bodyPr>
          <a:lstStyle/>
          <a:p>
            <a:pPr algn="l">
              <a:lnSpc>
                <a:spcPts val="1208"/>
              </a:lnSpc>
            </a:pPr>
            <a:r>
              <a:rPr sz="800" b="0" i="0" spc="15">
                <a:solidFill>
                  <a:srgbClr val="6F6A66"/>
                </a:solidFill>
                <a:latin typeface="Calibri"/>
              </a:rPr>
              <a:t>Bryce Platt, PharmD, Drug Channels</a:t>
            </a:r>
          </a:p>
        </p:txBody>
      </p:sp>
      <p:sp>
        <p:nvSpPr>
          <p:cNvPr id="55" name="TextBox 33"/>
          <p:cNvSpPr txBox="1"/>
          <p:nvPr/>
        </p:nvSpPr>
        <p:spPr>
          <a:xfrm>
            <a:off x="6248400" y="5915025"/>
            <a:ext cx="3252788" cy="590550"/>
          </a:xfrm>
          <a:prstGeom prst="rect">
            <a:avLst/>
          </a:prstGeom>
          <a:noFill/>
        </p:spPr>
        <p:txBody>
          <a:bodyPr wrap="square" lIns="0" tIns="0" rIns="0" bIns="0" anchor="t">
            <a:spAutoFit/>
          </a:bodyPr>
          <a:lstStyle/>
          <a:p>
            <a:pPr algn="l">
              <a:lnSpc>
                <a:spcPts val="1197"/>
              </a:lnSpc>
            </a:pPr>
            <a:r>
              <a:rPr sz="800" b="0" i="0" spc="15">
                <a:solidFill>
                  <a:srgbClr val="333231"/>
                </a:solidFill>
                <a:latin typeface="Calibri"/>
              </a:rPr>
              <a:t>Prescription dispensing revenues reached a record $751 billion in 2025, up 10%, while the number of pharmacies fell. Scale, specialty mix, and payer contracts decide which pharmacies remain attractive to a buyer.</a:t>
            </a:r>
          </a:p>
        </p:txBody>
      </p:sp>
      <p:sp>
        <p:nvSpPr>
          <p:cNvPr id="56" name="Shape 20"/>
          <p:cNvSpPr/>
          <p:nvPr/>
        </p:nvSpPr>
        <p:spPr>
          <a:xfrm>
            <a:off x="6248400" y="6581775"/>
            <a:ext cx="838646" cy="228600"/>
          </a:xfrm>
          <a:prstGeom prst="rect">
            <a:avLst/>
          </a:prstGeom>
          <a:solidFill>
            <a:srgbClr val="1B1A1A"/>
          </a:solidFill>
          <a:ln>
            <a:noFill/>
          </a:ln>
          <a:effectLst/>
        </p:spPr>
        <p:txBody>
          <a:bodyPr rtlCol="0" anchor="ctr"/>
          <a:lstStyle/>
          <a:p>
            <a:pPr algn="ctr"/>
            <a:endParaRPr/>
          </a:p>
        </p:txBody>
      </p:sp>
      <p:sp>
        <p:nvSpPr>
          <p:cNvPr id="57" name="TextBox 34">
            <a:hlinkClick r:id="rId7"/>
          </p:cNvPr>
          <p:cNvSpPr txBox="1"/>
          <p:nvPr/>
        </p:nvSpPr>
        <p:spPr>
          <a:xfrm>
            <a:off x="6381750" y="6638925"/>
            <a:ext cx="586234" cy="114300"/>
          </a:xfrm>
          <a:prstGeom prst="rect">
            <a:avLst/>
          </a:prstGeom>
          <a:noFill/>
        </p:spPr>
        <p:txBody>
          <a:bodyPr wrap="square" lIns="0" tIns="0" rIns="0" bIns="0" anchor="t">
            <a:spAutoFit/>
          </a:bodyPr>
          <a:lstStyle/>
          <a:p>
            <a:pPr algn="l">
              <a:lnSpc>
                <a:spcPts val="900"/>
              </a:lnSpc>
            </a:pPr>
            <a:r>
              <a:rPr sz="675" b="1" i="0" spc="150">
                <a:solidFill>
                  <a:srgbClr val="FFFFFF"/>
                </a:solidFill>
                <a:latin typeface="Calibri"/>
              </a:rPr>
              <a:t>READ HERE</a:t>
            </a:r>
          </a:p>
        </p:txBody>
      </p:sp>
      <p:sp>
        <p:nvSpPr>
          <p:cNvPr id="58" name="Shape 2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9" name="Picture 3" descr="Benchmark International logo"/>
          <p:cNvPicPr>
            <a:picLocks noChangeAspect="1"/>
          </p:cNvPicPr>
          <p:nvPr/>
        </p:nvPicPr>
        <p:blipFill>
          <a:blip r:embed="rId8"/>
          <a:srcRect/>
          <a:stretch>
            <a:fillRect/>
          </a:stretch>
        </p:blipFill>
        <p:spPr>
          <a:xfrm>
            <a:off x="419100" y="7143750"/>
            <a:ext cx="914400" cy="171450"/>
          </a:xfrm>
          <a:prstGeom prst="rect">
            <a:avLst/>
          </a:prstGeom>
        </p:spPr>
      </p:pic>
      <p:sp>
        <p:nvSpPr>
          <p:cNvPr id="60" name="TextBox 35"/>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Quotations as published; the Fierce Healthcare passage joins two consecutive sentences spoken by the analyst.</a:t>
            </a:r>
          </a:p>
        </p:txBody>
      </p:sp>
      <p:sp>
        <p:nvSpPr>
          <p:cNvPr id="61" name="TextBox 36"/>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Dark textured background with the Benchmark International knot emblem"/>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passing a document and pen across a table during a signing meeting"/>
          <p:cNvPicPr>
            <a:picLocks noChangeAspect="1"/>
          </p:cNvPicPr>
          <p:nvPr/>
        </p:nvPicPr>
        <p:blipFill>
          <a:blip r:embed="rId3"/>
          <a:srcRect l="31618" r="31618"/>
          <a:stretch>
            <a:fillRect/>
          </a:stretch>
        </p:blipFill>
        <p:spPr>
          <a:xfrm>
            <a:off x="4572000" y="0"/>
            <a:ext cx="5486400" cy="7772400"/>
          </a:xfrm>
          <a:prstGeom prst="rect">
            <a:avLst/>
          </a:prstGeom>
        </p:spPr>
      </p:pic>
      <p:sp>
        <p:nvSpPr>
          <p:cNvPr id="4" name="Shape 1"/>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Shape 2"/>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Shape 3"/>
          <p:cNvCxnSpPr/>
          <p:nvPr/>
        </p:nvCxnSpPr>
        <p:spPr>
          <a:xfrm flipH="1">
            <a:off x="4562475" y="0"/>
            <a:ext cx="1314450" cy="7772400"/>
          </a:xfrm>
          <a:prstGeom prst="line">
            <a:avLst/>
          </a:prstGeom>
          <a:ln w="38100">
            <a:solidFill>
              <a:srgbClr val="B68757"/>
            </a:solidFill>
          </a:ln>
        </p:spPr>
      </p:cxnSp>
      <p:sp>
        <p:nvSpPr>
          <p:cNvPr id="7" name="TextBox 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02</a:t>
            </a:r>
          </a:p>
        </p:txBody>
      </p:sp>
      <p:sp>
        <p:nvSpPr>
          <p:cNvPr id="8" name="TextBox 2"/>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Sector Activity</a:t>
            </a:r>
          </a:p>
        </p:txBody>
      </p:sp>
      <p:sp>
        <p:nvSpPr>
          <p:cNvPr id="9" name="Shape 4"/>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Shape 6"/>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Box 3"/>
          <p:cNvSpPr txBox="1"/>
          <p:nvPr/>
        </p:nvSpPr>
        <p:spPr>
          <a:xfrm>
            <a:off x="781050" y="4010025"/>
            <a:ext cx="23650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Momentum in healthcare services transactions</a:t>
            </a:r>
          </a:p>
        </p:txBody>
      </p:sp>
      <p:sp>
        <p:nvSpPr>
          <p:cNvPr id="13" name="Shape 7"/>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Shape 8"/>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4"/>
          <p:cNvSpPr txBox="1"/>
          <p:nvPr/>
        </p:nvSpPr>
        <p:spPr>
          <a:xfrm>
            <a:off x="781050" y="4352925"/>
            <a:ext cx="1618208"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Select market participants</a:t>
            </a:r>
          </a:p>
        </p:txBody>
      </p:sp>
      <p:sp>
        <p:nvSpPr>
          <p:cNvPr id="16" name="Shape 9"/>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Shape 10"/>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Box 5"/>
          <p:cNvSpPr txBox="1"/>
          <p:nvPr/>
        </p:nvSpPr>
        <p:spPr>
          <a:xfrm>
            <a:off x="781050" y="4695825"/>
            <a:ext cx="1596628"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Select recent M&amp;A transactions</a:t>
            </a:r>
          </a:p>
        </p:txBody>
      </p:sp>
      <p:sp>
        <p:nvSpPr>
          <p:cNvPr id="19" name="Shape 11"/>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Shape 12"/>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Box 6"/>
          <p:cNvSpPr txBox="1"/>
          <p:nvPr/>
        </p:nvSpPr>
        <p:spPr>
          <a:xfrm>
            <a:off x="781050" y="5038725"/>
            <a:ext cx="1901726"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Benchmark International transactions</a:t>
            </a:r>
          </a:p>
        </p:txBody>
      </p:sp>
      <p:sp>
        <p:nvSpPr>
          <p:cNvPr id="22" name="Shape 13"/>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sp>
        <p:nvSpPr>
          <p:cNvPr id="23" name="Shape 14"/>
          <p:cNvSpPr/>
          <p:nvPr/>
        </p:nvSpPr>
        <p:spPr>
          <a:xfrm>
            <a:off x="609600" y="5429250"/>
            <a:ext cx="57150" cy="57150"/>
          </a:xfrm>
          <a:prstGeom prst="rect">
            <a:avLst/>
          </a:prstGeom>
          <a:solidFill>
            <a:srgbClr val="B68757"/>
          </a:solidFill>
          <a:ln>
            <a:noFill/>
          </a:ln>
          <a:effectLst/>
        </p:spPr>
        <p:txBody>
          <a:bodyPr rtlCol="0" anchor="ctr"/>
          <a:lstStyle/>
          <a:p>
            <a:pPr algn="ctr"/>
            <a:endParaRPr/>
          </a:p>
        </p:txBody>
      </p:sp>
      <p:sp>
        <p:nvSpPr>
          <p:cNvPr id="24" name="TextBox 7"/>
          <p:cNvSpPr txBox="1"/>
          <p:nvPr/>
        </p:nvSpPr>
        <p:spPr>
          <a:xfrm>
            <a:off x="781050" y="5381625"/>
            <a:ext cx="2738289"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Public companies: valuation, performance, and metrics</a:t>
            </a:r>
          </a:p>
        </p:txBody>
      </p:sp>
      <p:sp>
        <p:nvSpPr>
          <p:cNvPr id="25" name="Shape 15"/>
          <p:cNvSpPr/>
          <p:nvPr/>
        </p:nvSpPr>
        <p:spPr>
          <a:xfrm>
            <a:off x="609600" y="5638800"/>
            <a:ext cx="3333750" cy="9525"/>
          </a:xfrm>
          <a:prstGeom prst="rect">
            <a:avLst/>
          </a:prstGeom>
          <a:solidFill>
            <a:srgbClr val="FFFFFF">
              <a:alpha val="16000"/>
            </a:srgbClr>
          </a:solidFill>
          <a:ln>
            <a:noFill/>
          </a:ln>
          <a:effectLst/>
        </p:spPr>
        <p:txBody>
          <a:bodyPr rtlCol="0" anchor="ctr"/>
          <a:lstStyle/>
          <a:p>
            <a:pPr algn="ctr"/>
            <a:endParaRPr/>
          </a:p>
        </p:txBody>
      </p:sp>
      <p:sp>
        <p:nvSpPr>
          <p:cNvPr id="26" name="Shape 16"/>
          <p:cNvSpPr/>
          <p:nvPr/>
        </p:nvSpPr>
        <p:spPr>
          <a:xfrm>
            <a:off x="609600" y="5772150"/>
            <a:ext cx="57150" cy="57150"/>
          </a:xfrm>
          <a:prstGeom prst="rect">
            <a:avLst/>
          </a:prstGeom>
          <a:solidFill>
            <a:srgbClr val="B68757"/>
          </a:solidFill>
          <a:ln>
            <a:noFill/>
          </a:ln>
          <a:effectLst/>
        </p:spPr>
        <p:txBody>
          <a:bodyPr rtlCol="0" anchor="ctr"/>
          <a:lstStyle/>
          <a:p>
            <a:pPr algn="ctr"/>
            <a:endParaRPr/>
          </a:p>
        </p:txBody>
      </p:sp>
      <p:sp>
        <p:nvSpPr>
          <p:cNvPr id="27" name="TextBox 8"/>
          <p:cNvSpPr txBox="1"/>
          <p:nvPr/>
        </p:nvSpPr>
        <p:spPr>
          <a:xfrm>
            <a:off x="781050" y="5724525"/>
            <a:ext cx="1318320" cy="180975"/>
          </a:xfrm>
          <a:prstGeom prst="rect">
            <a:avLst/>
          </a:prstGeom>
          <a:noFill/>
        </p:spPr>
        <p:txBody>
          <a:bodyPr wrap="square" lIns="0" tIns="0" rIns="0" bIns="0" anchor="t">
            <a:spAutoFit/>
          </a:bodyPr>
          <a:lstStyle/>
          <a:p>
            <a:pPr algn="l">
              <a:lnSpc>
                <a:spcPts val="1425"/>
              </a:lnSpc>
            </a:pPr>
            <a:r>
              <a:rPr sz="938" b="0" i="0" spc="15">
                <a:solidFill>
                  <a:srgbClr val="C3BDB6"/>
                </a:solidFill>
                <a:latin typeface="Calibri"/>
              </a:rPr>
              <a:t>Earnings and commentary</a:t>
            </a:r>
          </a:p>
        </p:txBody>
      </p:sp>
      <p:sp>
        <p:nvSpPr>
          <p:cNvPr id="28" name="Shape 17"/>
          <p:cNvSpPr/>
          <p:nvPr/>
        </p:nvSpPr>
        <p:spPr>
          <a:xfrm>
            <a:off x="609600" y="5981700"/>
            <a:ext cx="3333750" cy="9525"/>
          </a:xfrm>
          <a:prstGeom prst="rect">
            <a:avLst/>
          </a:prstGeom>
          <a:solidFill>
            <a:srgbClr val="FFFFFF">
              <a:alpha val="16000"/>
            </a:srgbClr>
          </a:solidFill>
          <a:ln>
            <a:noFill/>
          </a:ln>
          <a:effectLst/>
        </p:spPr>
        <p:txBody>
          <a:bodyPr rtlCol="0" anchor="ctr"/>
          <a:lstStyle/>
          <a:p>
            <a:pPr algn="ctr"/>
            <a:endParaRPr/>
          </a:p>
        </p:txBody>
      </p:sp>
      <p:pic>
        <p:nvPicPr>
          <p:cNvPr id="29" name="Picture 3" descr="Benchmark International logo"/>
          <p:cNvPicPr>
            <a:picLocks noChangeAspect="1"/>
          </p:cNvPicPr>
          <p:nvPr/>
        </p:nvPicPr>
        <p:blipFill>
          <a:blip r:embed="rId4"/>
          <a:srcRect/>
          <a:stretch>
            <a:fillRect/>
          </a:stretch>
        </p:blipFill>
        <p:spPr>
          <a:xfrm>
            <a:off x="609600" y="7086600"/>
            <a:ext cx="1428750" cy="266700"/>
          </a:xfrm>
          <a:prstGeom prst="rect">
            <a:avLst/>
          </a:prstGeom>
        </p:spPr>
      </p:pic>
      <p:sp>
        <p:nvSpPr>
          <p:cNvPr id="30" name="TextBox 9"/>
          <p:cNvSpPr txBox="1"/>
          <p:nvPr/>
        </p:nvSpPr>
        <p:spPr>
          <a:xfrm>
            <a:off x="2209800" y="7181850"/>
            <a:ext cx="1482179" cy="133350"/>
          </a:xfrm>
          <a:prstGeom prst="rect">
            <a:avLst/>
          </a:prstGeom>
          <a:noFill/>
        </p:spPr>
        <p:txBody>
          <a:bodyPr wrap="square" lIns="0" tIns="0" rIns="0" bIns="0" anchor="t">
            <a:spAutoFit/>
          </a:bodyPr>
          <a:lstStyle/>
          <a:p>
            <a:pPr algn="l">
              <a:lnSpc>
                <a:spcPts val="1113"/>
              </a:lnSpc>
            </a:pPr>
            <a:r>
              <a:rPr sz="750" b="1" i="0" spc="195">
                <a:solidFill>
                  <a:srgbClr val="C3BDB6"/>
                </a:solidFill>
                <a:latin typeface="Calibri"/>
              </a:rPr>
              <a:t>HEALTHCARE | Q4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Healthcare Services Deal Volume</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Private equity completed 1,217 healthcare services transactions in 2021 and is on pace for 674 in 2026, the lowest annual count since 2017.</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686050" cy="2219325"/>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686050" cy="28575"/>
          </a:xfrm>
          <a:prstGeom prst="rect">
            <a:avLst/>
          </a:prstGeom>
          <a:solidFill>
            <a:srgbClr val="B68757"/>
          </a:solidFill>
          <a:ln>
            <a:noFill/>
          </a:ln>
          <a:effectLst/>
        </p:spPr>
        <p:txBody>
          <a:bodyPr rtlCol="0" anchor="ctr"/>
          <a:lstStyle/>
          <a:p>
            <a:pPr algn="ctr"/>
            <a:endParaRPr/>
          </a:p>
        </p:txBody>
      </p:sp>
      <p:sp>
        <p:nvSpPr>
          <p:cNvPr id="10" name="TextBox 5"/>
          <p:cNvSpPr txBox="1"/>
          <p:nvPr/>
        </p:nvSpPr>
        <p:spPr>
          <a:xfrm>
            <a:off x="552450" y="1381125"/>
            <a:ext cx="966564"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2017 to 2019</a:t>
            </a:r>
          </a:p>
        </p:txBody>
      </p:sp>
      <p:sp>
        <p:nvSpPr>
          <p:cNvPr id="11" name="TextBox 6"/>
          <p:cNvSpPr txBox="1"/>
          <p:nvPr/>
        </p:nvSpPr>
        <p:spPr>
          <a:xfrm>
            <a:off x="552450" y="1600200"/>
            <a:ext cx="24336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Steady platform building</a:t>
            </a:r>
          </a:p>
        </p:txBody>
      </p:sp>
      <p:sp>
        <p:nvSpPr>
          <p:cNvPr id="12" name="TextBox 7"/>
          <p:cNvSpPr txBox="1"/>
          <p:nvPr/>
        </p:nvSpPr>
        <p:spPr>
          <a:xfrm>
            <a:off x="55245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Private equity completed between 490 and 684 healthcare services transactions a year, and hospitals announced 117 transactions in 2017 and 92 in 2019.</a:t>
            </a:r>
          </a:p>
        </p:txBody>
      </p:sp>
      <p:sp>
        <p:nvSpPr>
          <p:cNvPr id="13" name="Shape 5"/>
          <p:cNvSpPr/>
          <p:nvPr/>
        </p:nvSpPr>
        <p:spPr>
          <a:xfrm>
            <a:off x="3219450" y="1238250"/>
            <a:ext cx="1752600" cy="2219325"/>
          </a:xfrm>
          <a:prstGeom prst="rect">
            <a:avLst/>
          </a:prstGeom>
          <a:solidFill>
            <a:srgbClr val="FAF7F3"/>
          </a:solidFill>
          <a:ln>
            <a:noFill/>
          </a:ln>
          <a:effectLst/>
        </p:spPr>
        <p:txBody>
          <a:bodyPr rtlCol="0" anchor="ctr"/>
          <a:lstStyle/>
          <a:p>
            <a:pPr algn="ctr"/>
            <a:endParaRPr/>
          </a:p>
        </p:txBody>
      </p:sp>
      <p:sp>
        <p:nvSpPr>
          <p:cNvPr id="14" name="Shape 6"/>
          <p:cNvSpPr/>
          <p:nvPr/>
        </p:nvSpPr>
        <p:spPr>
          <a:xfrm>
            <a:off x="3219450" y="1238250"/>
            <a:ext cx="1752600" cy="28575"/>
          </a:xfrm>
          <a:prstGeom prst="rect">
            <a:avLst/>
          </a:prstGeom>
          <a:solidFill>
            <a:srgbClr val="B68757"/>
          </a:solidFill>
          <a:ln>
            <a:noFill/>
          </a:ln>
          <a:effectLst/>
        </p:spPr>
        <p:txBody>
          <a:bodyPr rtlCol="0" anchor="ctr"/>
          <a:lstStyle/>
          <a:p>
            <a:pPr algn="ctr"/>
            <a:endParaRPr/>
          </a:p>
        </p:txBody>
      </p:sp>
      <p:sp>
        <p:nvSpPr>
          <p:cNvPr id="15" name="TextBox 8"/>
          <p:cNvSpPr txBox="1"/>
          <p:nvPr/>
        </p:nvSpPr>
        <p:spPr>
          <a:xfrm>
            <a:off x="3352800" y="1381125"/>
            <a:ext cx="990302"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2020 to 2021</a:t>
            </a:r>
          </a:p>
        </p:txBody>
      </p:sp>
      <p:sp>
        <p:nvSpPr>
          <p:cNvPr id="16" name="TextBox 9"/>
          <p:cNvSpPr txBox="1"/>
          <p:nvPr/>
        </p:nvSpPr>
        <p:spPr>
          <a:xfrm>
            <a:off x="3352800" y="1600200"/>
            <a:ext cx="15001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The peak</a:t>
            </a:r>
          </a:p>
        </p:txBody>
      </p:sp>
      <p:sp>
        <p:nvSpPr>
          <p:cNvPr id="17" name="TextBox 10"/>
          <p:cNvSpPr txBox="1"/>
          <p:nvPr/>
        </p:nvSpPr>
        <p:spPr>
          <a:xfrm>
            <a:off x="3352800" y="1819275"/>
            <a:ext cx="1500188" cy="457200"/>
          </a:xfrm>
          <a:prstGeom prst="rect">
            <a:avLst/>
          </a:prstGeom>
          <a:noFill/>
        </p:spPr>
        <p:txBody>
          <a:bodyPr wrap="square" lIns="0" tIns="0" rIns="0" bIns="0" anchor="t">
            <a:spAutoFit/>
          </a:bodyPr>
          <a:lstStyle/>
          <a:p>
            <a:pPr algn="l">
              <a:lnSpc>
                <a:spcPts val="1272"/>
              </a:lnSpc>
            </a:pPr>
            <a:r>
              <a:rPr sz="850" b="0" i="0" spc="15">
                <a:solidFill>
                  <a:srgbClr val="333231"/>
                </a:solidFill>
                <a:latin typeface="Calibri"/>
              </a:rPr>
              <a:t>Volume rose to 829 in 2020 and 1,217 in 2021, the highest in the series.</a:t>
            </a:r>
          </a:p>
        </p:txBody>
      </p:sp>
      <p:sp>
        <p:nvSpPr>
          <p:cNvPr id="18" name="Shape 7"/>
          <p:cNvSpPr/>
          <p:nvPr/>
        </p:nvSpPr>
        <p:spPr>
          <a:xfrm>
            <a:off x="5086350" y="1238250"/>
            <a:ext cx="2686050" cy="2219325"/>
          </a:xfrm>
          <a:prstGeom prst="rect">
            <a:avLst/>
          </a:prstGeom>
          <a:solidFill>
            <a:srgbClr val="FAF7F3"/>
          </a:solidFill>
          <a:ln>
            <a:noFill/>
          </a:ln>
          <a:effectLst/>
        </p:spPr>
        <p:txBody>
          <a:bodyPr rtlCol="0" anchor="ctr"/>
          <a:lstStyle/>
          <a:p>
            <a:pPr algn="ctr"/>
            <a:endParaRPr/>
          </a:p>
        </p:txBody>
      </p:sp>
      <p:sp>
        <p:nvSpPr>
          <p:cNvPr id="19" name="Shape 8"/>
          <p:cNvSpPr/>
          <p:nvPr/>
        </p:nvSpPr>
        <p:spPr>
          <a:xfrm>
            <a:off x="5086350" y="1238250"/>
            <a:ext cx="2686050" cy="28575"/>
          </a:xfrm>
          <a:prstGeom prst="rect">
            <a:avLst/>
          </a:prstGeom>
          <a:solidFill>
            <a:srgbClr val="B68757"/>
          </a:solidFill>
          <a:ln>
            <a:noFill/>
          </a:ln>
          <a:effectLst/>
        </p:spPr>
        <p:txBody>
          <a:bodyPr rtlCol="0" anchor="ctr"/>
          <a:lstStyle/>
          <a:p>
            <a:pPr algn="ctr"/>
            <a:endParaRPr/>
          </a:p>
        </p:txBody>
      </p:sp>
      <p:sp>
        <p:nvSpPr>
          <p:cNvPr id="20" name="TextBox 11"/>
          <p:cNvSpPr txBox="1"/>
          <p:nvPr/>
        </p:nvSpPr>
        <p:spPr>
          <a:xfrm>
            <a:off x="5219700" y="1381125"/>
            <a:ext cx="1003727"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2022 to 2024</a:t>
            </a:r>
          </a:p>
        </p:txBody>
      </p:sp>
      <p:sp>
        <p:nvSpPr>
          <p:cNvPr id="21" name="TextBox 12"/>
          <p:cNvSpPr txBox="1"/>
          <p:nvPr/>
        </p:nvSpPr>
        <p:spPr>
          <a:xfrm>
            <a:off x="5219700" y="1600200"/>
            <a:ext cx="24336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Three years of decline</a:t>
            </a:r>
          </a:p>
        </p:txBody>
      </p:sp>
      <p:sp>
        <p:nvSpPr>
          <p:cNvPr id="22" name="TextBox 13"/>
          <p:cNvSpPr txBox="1"/>
          <p:nvPr/>
        </p:nvSpPr>
        <p:spPr>
          <a:xfrm>
            <a:off x="5219700" y="1819275"/>
            <a:ext cx="2433638" cy="4572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Annual volume fell from 998 to 682, and the Medicare conversion factor fell from $34.61 in 2022 to $32.35 in 2025 before rising to $33.40 in 2026 (</a:t>
            </a:r>
            <a:r>
              <a:rPr sz="825" b="0" i="0" spc="15">
                <a:solidFill>
                  <a:srgbClr val="8C6239"/>
                </a:solidFill>
                <a:latin typeface="Calibri"/>
                <a:hlinkClick r:id="rId2"/>
              </a:rPr>
              <a:t>AMA</a:t>
            </a:r>
            <a:r>
              <a:rPr sz="825" b="0" i="0" spc="15">
                <a:solidFill>
                  <a:srgbClr val="333231"/>
                </a:solidFill>
                <a:latin typeface="Calibri"/>
              </a:rPr>
              <a:t>).</a:t>
            </a:r>
          </a:p>
        </p:txBody>
      </p:sp>
      <p:sp>
        <p:nvSpPr>
          <p:cNvPr id="23" name="Shape 9"/>
          <p:cNvSpPr/>
          <p:nvPr/>
        </p:nvSpPr>
        <p:spPr>
          <a:xfrm>
            <a:off x="7886700" y="1238250"/>
            <a:ext cx="1752600" cy="2219325"/>
          </a:xfrm>
          <a:prstGeom prst="rect">
            <a:avLst/>
          </a:prstGeom>
          <a:solidFill>
            <a:srgbClr val="FAF7F3"/>
          </a:solidFill>
          <a:ln>
            <a:noFill/>
          </a:ln>
          <a:effectLst/>
        </p:spPr>
        <p:txBody>
          <a:bodyPr rtlCol="0" anchor="ctr"/>
          <a:lstStyle/>
          <a:p>
            <a:pPr algn="ctr"/>
            <a:endParaRPr/>
          </a:p>
        </p:txBody>
      </p:sp>
      <p:sp>
        <p:nvSpPr>
          <p:cNvPr id="24" name="Shape 10"/>
          <p:cNvSpPr/>
          <p:nvPr/>
        </p:nvSpPr>
        <p:spPr>
          <a:xfrm>
            <a:off x="7886700" y="1238250"/>
            <a:ext cx="1752600" cy="28575"/>
          </a:xfrm>
          <a:prstGeom prst="rect">
            <a:avLst/>
          </a:prstGeom>
          <a:solidFill>
            <a:srgbClr val="B68757"/>
          </a:solidFill>
          <a:ln>
            <a:noFill/>
          </a:ln>
          <a:effectLst/>
        </p:spPr>
        <p:txBody>
          <a:bodyPr rtlCol="0" anchor="ctr"/>
          <a:lstStyle/>
          <a:p>
            <a:pPr algn="ctr"/>
            <a:endParaRPr/>
          </a:p>
        </p:txBody>
      </p:sp>
      <p:sp>
        <p:nvSpPr>
          <p:cNvPr id="25" name="TextBox 14"/>
          <p:cNvSpPr txBox="1"/>
          <p:nvPr/>
        </p:nvSpPr>
        <p:spPr>
          <a:xfrm>
            <a:off x="8020050" y="1381125"/>
            <a:ext cx="1000616" cy="190500"/>
          </a:xfrm>
          <a:prstGeom prst="rect">
            <a:avLst/>
          </a:prstGeom>
          <a:noFill/>
        </p:spPr>
        <p:txBody>
          <a:bodyPr wrap="square" lIns="0" tIns="0" rIns="0" bIns="0" anchor="t">
            <a:spAutoFit/>
          </a:bodyPr>
          <a:lstStyle/>
          <a:p>
            <a:pPr algn="l">
              <a:lnSpc>
                <a:spcPts val="1500"/>
              </a:lnSpc>
            </a:pPr>
            <a:r>
              <a:rPr sz="1125" b="0" i="0" spc="75">
                <a:solidFill>
                  <a:srgbClr val="8C6239"/>
                </a:solidFill>
                <a:latin typeface="Cambria"/>
              </a:rPr>
              <a:t>2025 to 2026</a:t>
            </a:r>
          </a:p>
        </p:txBody>
      </p:sp>
      <p:sp>
        <p:nvSpPr>
          <p:cNvPr id="26" name="TextBox 15"/>
          <p:cNvSpPr txBox="1"/>
          <p:nvPr/>
        </p:nvSpPr>
        <p:spPr>
          <a:xfrm>
            <a:off x="8020050" y="1600200"/>
            <a:ext cx="15001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Strategic buyers lead</a:t>
            </a:r>
          </a:p>
        </p:txBody>
      </p:sp>
      <p:sp>
        <p:nvSpPr>
          <p:cNvPr id="27" name="TextBox 16"/>
          <p:cNvSpPr txBox="1"/>
          <p:nvPr/>
        </p:nvSpPr>
        <p:spPr>
          <a:xfrm>
            <a:off x="8020050" y="1819275"/>
            <a:ext cx="1500188" cy="1066800"/>
          </a:xfrm>
          <a:prstGeom prst="rect">
            <a:avLst/>
          </a:prstGeom>
          <a:noFill/>
        </p:spPr>
        <p:txBody>
          <a:bodyPr wrap="square" lIns="0" tIns="0" rIns="0" bIns="0" anchor="t">
            <a:spAutoFit/>
          </a:bodyPr>
          <a:lstStyle/>
          <a:p>
            <a:pPr algn="l">
              <a:lnSpc>
                <a:spcPts val="1200"/>
              </a:lnSpc>
            </a:pPr>
            <a:r>
              <a:rPr sz="825" b="0" i="0" spc="15">
                <a:solidFill>
                  <a:srgbClr val="333231"/>
                </a:solidFill>
                <a:latin typeface="Calibri"/>
              </a:rPr>
              <a:t>Volume recovered to an estimated 747 in 2025. The first half of 2026 produced an estimated 337, with physician practice deals down 46% on pace (</a:t>
            </a:r>
            <a:r>
              <a:rPr sz="825" b="0" i="0" spc="15">
                <a:solidFill>
                  <a:srgbClr val="8C6239"/>
                </a:solidFill>
                <a:latin typeface="Calibri"/>
                <a:hlinkClick r:id="rId3"/>
              </a:rPr>
              <a:t>PitchBook</a:t>
            </a:r>
            <a:r>
              <a:rPr sz="825" b="0" i="0" spc="15">
                <a:solidFill>
                  <a:srgbClr val="333231"/>
                </a:solidFill>
                <a:latin typeface="Calibri"/>
              </a:rPr>
              <a:t>), while hospitals announced 56 transactions through September (</a:t>
            </a:r>
            <a:r>
              <a:rPr sz="825" b="0" i="0" spc="15">
                <a:solidFill>
                  <a:srgbClr val="8C6239"/>
                </a:solidFill>
                <a:latin typeface="Calibri"/>
                <a:hlinkClick r:id="rId4"/>
              </a:rPr>
              <a:t>Kaufman Hall</a:t>
            </a:r>
            <a:r>
              <a:rPr sz="825" b="0" i="0" spc="15">
                <a:solidFill>
                  <a:srgbClr val="333231"/>
                </a:solidFill>
                <a:latin typeface="Calibri"/>
              </a:rPr>
              <a:t>).</a:t>
            </a:r>
          </a:p>
        </p:txBody>
      </p:sp>
      <p:sp>
        <p:nvSpPr>
          <p:cNvPr id="28" name="TextBox 17"/>
          <p:cNvSpPr txBox="1"/>
          <p:nvPr/>
        </p:nvSpPr>
        <p:spPr>
          <a:xfrm>
            <a:off x="419100" y="3609975"/>
            <a:ext cx="92344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US private equity healthcare services transactions</a:t>
            </a:r>
          </a:p>
        </p:txBody>
      </p:sp>
      <p:sp>
        <p:nvSpPr>
          <p:cNvPr id="29" name="TextBox 18"/>
          <p:cNvSpPr txBox="1"/>
          <p:nvPr/>
        </p:nvSpPr>
        <p:spPr>
          <a:xfrm>
            <a:off x="419100" y="3771900"/>
            <a:ext cx="9234488" cy="133350"/>
          </a:xfrm>
          <a:prstGeom prst="rect">
            <a:avLst/>
          </a:prstGeom>
          <a:noFill/>
        </p:spPr>
        <p:txBody>
          <a:bodyPr wrap="square" lIns="0" tIns="0" rIns="0" bIns="0" anchor="t">
            <a:spAutoFit/>
          </a:bodyPr>
          <a:lstStyle/>
          <a:p>
            <a:pPr algn="l">
              <a:lnSpc>
                <a:spcPts val="1208"/>
              </a:lnSpc>
            </a:pPr>
            <a:r>
              <a:rPr sz="850" b="0" i="0" spc="15" dirty="0">
                <a:solidFill>
                  <a:srgbClr val="6F6A66"/>
                </a:solidFill>
                <a:latin typeface="Calibri"/>
              </a:rPr>
              <a:t>Announced or closed transactions per year. Source: PitchBook </a:t>
            </a:r>
            <a:r>
              <a:rPr sz="850" b="0" i="0" spc="15" dirty="0">
                <a:solidFill>
                  <a:srgbClr val="8C6239"/>
                </a:solidFill>
                <a:latin typeface="Calibri"/>
                <a:hlinkClick r:id="rId5"/>
              </a:rPr>
              <a:t>Q4 2025</a:t>
            </a:r>
            <a:r>
              <a:rPr sz="850" b="0" i="0" spc="15" dirty="0">
                <a:solidFill>
                  <a:srgbClr val="6F6A66"/>
                </a:solidFill>
                <a:latin typeface="Calibri"/>
              </a:rPr>
              <a:t> and </a:t>
            </a:r>
            <a:r>
              <a:rPr sz="850" b="0" i="0" spc="15" dirty="0">
                <a:solidFill>
                  <a:srgbClr val="8C6239"/>
                </a:solidFill>
                <a:latin typeface="Calibri"/>
                <a:hlinkClick r:id="rId3"/>
              </a:rPr>
              <a:t>Q2 2026</a:t>
            </a:r>
            <a:r>
              <a:rPr sz="850" b="0" i="0" spc="15" dirty="0">
                <a:solidFill>
                  <a:srgbClr val="6F6A66"/>
                </a:solidFill>
                <a:latin typeface="Calibri"/>
              </a:rPr>
              <a:t> Healthcare Services Reports; 2026 pace from </a:t>
            </a:r>
            <a:r>
              <a:rPr sz="850" b="0" i="0" spc="15" dirty="0">
                <a:solidFill>
                  <a:srgbClr val="8C6239"/>
                </a:solidFill>
                <a:latin typeface="Calibri"/>
                <a:hlinkClick r:id="rId6"/>
              </a:rPr>
              <a:t>PitchBook via Fierce Healthcare</a:t>
            </a:r>
            <a:r>
              <a:rPr lang="en-US" sz="850" b="0" i="0" spc="15" dirty="0">
                <a:solidFill>
                  <a:srgbClr val="8C6239"/>
                </a:solidFill>
                <a:latin typeface="Calibri"/>
                <a:hlinkClick r:id="rId6"/>
              </a:rPr>
              <a:t>.</a:t>
            </a:r>
            <a:endParaRPr sz="850" b="0" i="0" spc="15" dirty="0">
              <a:solidFill>
                <a:srgbClr val="8C6239"/>
              </a:solidFill>
              <a:latin typeface="Calibri"/>
              <a:hlinkClick r:id="rId6"/>
            </a:endParaRPr>
          </a:p>
        </p:txBody>
      </p:sp>
      <p:graphicFrame>
        <p:nvGraphicFramePr>
          <p:cNvPr id="30" name="Chart 1" descr="Bar chart of US private equity healthcare services transactions by year, 2017 to 2026"/>
          <p:cNvGraphicFramePr>
            <a:graphicFrameLocks noGrp="1"/>
          </p:cNvGraphicFramePr>
          <p:nvPr/>
        </p:nvGraphicFramePr>
        <p:xfrm>
          <a:off x="419100" y="4210050"/>
          <a:ext cx="9220200" cy="2724150"/>
        </p:xfrm>
        <a:graphic>
          <a:graphicData uri="http://schemas.openxmlformats.org/drawingml/2006/chart">
            <c:chart xmlns:c="http://schemas.openxmlformats.org/drawingml/2006/chart" xmlns:r="http://schemas.openxmlformats.org/officeDocument/2006/relationships" r:id="rId7"/>
          </a:graphicData>
        </a:graphic>
      </p:graphicFrame>
      <p:sp>
        <p:nvSpPr>
          <p:cNvPr id="31" name="Shape 1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2" name="Picture 1" descr="Benchmark International logo"/>
          <p:cNvPicPr>
            <a:picLocks noChangeAspect="1"/>
          </p:cNvPicPr>
          <p:nvPr/>
        </p:nvPicPr>
        <p:blipFill>
          <a:blip r:embed="rId8"/>
          <a:srcRect/>
          <a:stretch>
            <a:fillRect/>
          </a:stretch>
        </p:blipFill>
        <p:spPr>
          <a:xfrm>
            <a:off x="419100" y="7143750"/>
            <a:ext cx="914400" cy="171450"/>
          </a:xfrm>
          <a:prstGeom prst="rect">
            <a:avLst/>
          </a:prstGeom>
        </p:spPr>
      </p:pic>
      <p:sp>
        <p:nvSpPr>
          <p:cNvPr id="33" name="TextBox 19"/>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 2026 is the annualized pace of an estimated 337 transactions in the first half. Annual counts are the chart labels in PitchBook’s Q4 2025 report, and PitchBook restates earlier years as late-reported transactions are added. The 2025 count is an estimate.</a:t>
            </a:r>
          </a:p>
        </p:txBody>
      </p:sp>
      <p:sp>
        <p:nvSpPr>
          <p:cNvPr id="34" name="TextBox 20"/>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Market Participants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The listed reference companies in each sector, and the private platforms, sponsors, and strategic buyers acquiring founder-owned businesses.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205038" cy="5695950"/>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205038" cy="952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2614612" y="1238250"/>
            <a:ext cx="9525" cy="5695950"/>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6924675"/>
            <a:ext cx="2205038" cy="9525"/>
          </a:xfrm>
          <a:prstGeom prst="rect">
            <a:avLst/>
          </a:prstGeom>
          <a:solidFill>
            <a:srgbClr val="E3DCD3"/>
          </a:solidFill>
          <a:ln>
            <a:noFill/>
          </a:ln>
          <a:effectLst/>
        </p:spPr>
        <p:txBody>
          <a:bodyPr rtlCol="0" anchor="ctr"/>
          <a:lstStyle/>
          <a:p>
            <a:pPr algn="ctr"/>
            <a:endParaRPr/>
          </a:p>
        </p:txBody>
      </p:sp>
      <p:sp>
        <p:nvSpPr>
          <p:cNvPr id="12" name="Shape 7"/>
          <p:cNvSpPr/>
          <p:nvPr/>
        </p:nvSpPr>
        <p:spPr>
          <a:xfrm>
            <a:off x="419100" y="1238250"/>
            <a:ext cx="9525" cy="5695950"/>
          </a:xfrm>
          <a:prstGeom prst="rect">
            <a:avLst/>
          </a:prstGeom>
          <a:solidFill>
            <a:srgbClr val="E3DCD3"/>
          </a:solidFill>
          <a:ln>
            <a:noFill/>
          </a:ln>
          <a:effectLst/>
        </p:spPr>
        <p:txBody>
          <a:bodyPr rtlCol="0" anchor="ctr"/>
          <a:lstStyle/>
          <a:p>
            <a:pPr algn="ctr"/>
            <a:endParaRPr/>
          </a:p>
        </p:txBody>
      </p:sp>
      <p:sp>
        <p:nvSpPr>
          <p:cNvPr id="13" name="Shape 8"/>
          <p:cNvSpPr/>
          <p:nvPr/>
        </p:nvSpPr>
        <p:spPr>
          <a:xfrm>
            <a:off x="428625" y="1247775"/>
            <a:ext cx="2185988" cy="419100"/>
          </a:xfrm>
          <a:prstGeom prst="rect">
            <a:avLst/>
          </a:prstGeom>
          <a:solidFill>
            <a:srgbClr val="1B1A1A"/>
          </a:solidFill>
          <a:ln>
            <a:noFill/>
          </a:ln>
          <a:effectLst/>
        </p:spPr>
        <p:txBody>
          <a:bodyPr rtlCol="0" anchor="ctr"/>
          <a:lstStyle/>
          <a:p>
            <a:pPr algn="ctr"/>
            <a:endParaRPr/>
          </a:p>
        </p:txBody>
      </p:sp>
      <p:pic>
        <p:nvPicPr>
          <p:cNvPr id="14" name="Picture 1" descr="Icon of a building with a medical cross for Provider Services"/>
          <p:cNvPicPr>
            <a:picLocks noChangeAspect="1"/>
          </p:cNvPicPr>
          <p:nvPr/>
        </p:nvPicPr>
        <p:blipFill>
          <a:blip r:embed="rId2"/>
          <a:stretch>
            <a:fillRect/>
          </a:stretch>
        </p:blipFill>
        <p:spPr>
          <a:xfrm>
            <a:off x="542925" y="1333500"/>
            <a:ext cx="247650" cy="247650"/>
          </a:xfrm>
          <a:prstGeom prst="rect">
            <a:avLst/>
          </a:prstGeom>
        </p:spPr>
      </p:pic>
      <p:sp>
        <p:nvSpPr>
          <p:cNvPr id="15" name="TextBox 5"/>
          <p:cNvSpPr txBox="1"/>
          <p:nvPr/>
        </p:nvSpPr>
        <p:spPr>
          <a:xfrm>
            <a:off x="885825" y="1395412"/>
            <a:ext cx="1013668"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PROVIDER SERVICES</a:t>
            </a:r>
          </a:p>
        </p:txBody>
      </p:sp>
      <p:sp>
        <p:nvSpPr>
          <p:cNvPr id="16" name="TextBox 6"/>
          <p:cNvSpPr txBox="1"/>
          <p:nvPr/>
        </p:nvSpPr>
        <p:spPr>
          <a:xfrm>
            <a:off x="542925"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105" name="TextBox 29"/>
          <p:cNvSpPr txBox="1"/>
          <p:nvPr/>
        </p:nvSpPr>
        <p:spPr>
          <a:xfrm>
            <a:off x="542925" y="4334256"/>
            <a:ext cx="1971675"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PLATFORMS, SPONSORS AND HEALTH SYSTEMS</a:t>
            </a:r>
          </a:p>
        </p:txBody>
      </p:sp>
      <p:sp>
        <p:nvSpPr>
          <p:cNvPr id="160" name="Shape 120"/>
          <p:cNvSpPr/>
          <p:nvPr/>
        </p:nvSpPr>
        <p:spPr>
          <a:xfrm>
            <a:off x="2757488" y="1238250"/>
            <a:ext cx="2205038" cy="5695950"/>
          </a:xfrm>
          <a:prstGeom prst="rect">
            <a:avLst/>
          </a:prstGeom>
          <a:solidFill>
            <a:srgbClr val="FAF7F3"/>
          </a:solidFill>
          <a:ln>
            <a:noFill/>
          </a:ln>
          <a:effectLst/>
        </p:spPr>
        <p:txBody>
          <a:bodyPr rtlCol="0" anchor="ctr"/>
          <a:lstStyle/>
          <a:p>
            <a:pPr algn="ctr"/>
            <a:endParaRPr/>
          </a:p>
        </p:txBody>
      </p:sp>
      <p:sp>
        <p:nvSpPr>
          <p:cNvPr id="161" name="Shape 121"/>
          <p:cNvSpPr/>
          <p:nvPr/>
        </p:nvSpPr>
        <p:spPr>
          <a:xfrm>
            <a:off x="2757488" y="1238250"/>
            <a:ext cx="2205038" cy="9525"/>
          </a:xfrm>
          <a:prstGeom prst="rect">
            <a:avLst/>
          </a:prstGeom>
          <a:solidFill>
            <a:srgbClr val="E3DCD3"/>
          </a:solidFill>
          <a:ln>
            <a:noFill/>
          </a:ln>
          <a:effectLst/>
        </p:spPr>
        <p:txBody>
          <a:bodyPr rtlCol="0" anchor="ctr"/>
          <a:lstStyle/>
          <a:p>
            <a:pPr algn="ctr"/>
            <a:endParaRPr/>
          </a:p>
        </p:txBody>
      </p:sp>
      <p:sp>
        <p:nvSpPr>
          <p:cNvPr id="162" name="Shape 122"/>
          <p:cNvSpPr/>
          <p:nvPr/>
        </p:nvSpPr>
        <p:spPr>
          <a:xfrm>
            <a:off x="4953000" y="1238250"/>
            <a:ext cx="9525" cy="5695950"/>
          </a:xfrm>
          <a:prstGeom prst="rect">
            <a:avLst/>
          </a:prstGeom>
          <a:solidFill>
            <a:srgbClr val="E3DCD3"/>
          </a:solidFill>
          <a:ln>
            <a:noFill/>
          </a:ln>
          <a:effectLst/>
        </p:spPr>
        <p:txBody>
          <a:bodyPr rtlCol="0" anchor="ctr"/>
          <a:lstStyle/>
          <a:p>
            <a:pPr algn="ctr"/>
            <a:endParaRPr/>
          </a:p>
        </p:txBody>
      </p:sp>
      <p:sp>
        <p:nvSpPr>
          <p:cNvPr id="163" name="Shape 123"/>
          <p:cNvSpPr/>
          <p:nvPr/>
        </p:nvSpPr>
        <p:spPr>
          <a:xfrm>
            <a:off x="2757488" y="6924675"/>
            <a:ext cx="2205038" cy="9525"/>
          </a:xfrm>
          <a:prstGeom prst="rect">
            <a:avLst/>
          </a:prstGeom>
          <a:solidFill>
            <a:srgbClr val="E3DCD3"/>
          </a:solidFill>
          <a:ln>
            <a:noFill/>
          </a:ln>
          <a:effectLst/>
        </p:spPr>
        <p:txBody>
          <a:bodyPr rtlCol="0" anchor="ctr"/>
          <a:lstStyle/>
          <a:p>
            <a:pPr algn="ctr"/>
            <a:endParaRPr/>
          </a:p>
        </p:txBody>
      </p:sp>
      <p:sp>
        <p:nvSpPr>
          <p:cNvPr id="164" name="Shape 124"/>
          <p:cNvSpPr/>
          <p:nvPr/>
        </p:nvSpPr>
        <p:spPr>
          <a:xfrm>
            <a:off x="2757488" y="1238250"/>
            <a:ext cx="9525" cy="5695950"/>
          </a:xfrm>
          <a:prstGeom prst="rect">
            <a:avLst/>
          </a:prstGeom>
          <a:solidFill>
            <a:srgbClr val="E3DCD3"/>
          </a:solidFill>
          <a:ln>
            <a:noFill/>
          </a:ln>
          <a:effectLst/>
        </p:spPr>
        <p:txBody>
          <a:bodyPr rtlCol="0" anchor="ctr"/>
          <a:lstStyle/>
          <a:p>
            <a:pPr algn="ctr"/>
            <a:endParaRPr/>
          </a:p>
        </p:txBody>
      </p:sp>
      <p:sp>
        <p:nvSpPr>
          <p:cNvPr id="165" name="Shape 125"/>
          <p:cNvSpPr/>
          <p:nvPr/>
        </p:nvSpPr>
        <p:spPr>
          <a:xfrm>
            <a:off x="2767012" y="1247775"/>
            <a:ext cx="2185988" cy="419100"/>
          </a:xfrm>
          <a:prstGeom prst="rect">
            <a:avLst/>
          </a:prstGeom>
          <a:solidFill>
            <a:srgbClr val="1B1A1A"/>
          </a:solidFill>
          <a:ln>
            <a:noFill/>
          </a:ln>
          <a:effectLst/>
        </p:spPr>
        <p:txBody>
          <a:bodyPr rtlCol="0" anchor="ctr"/>
          <a:lstStyle/>
          <a:p>
            <a:pPr algn="ctr"/>
            <a:endParaRPr/>
          </a:p>
        </p:txBody>
      </p:sp>
      <p:pic>
        <p:nvPicPr>
          <p:cNvPr id="166" name="Picture 2" descr="Icon of a laboratory flask for Life Sciences &amp; Diagnostics"/>
          <p:cNvPicPr>
            <a:picLocks noChangeAspect="1"/>
          </p:cNvPicPr>
          <p:nvPr/>
        </p:nvPicPr>
        <p:blipFill>
          <a:blip r:embed="rId3"/>
          <a:stretch>
            <a:fillRect/>
          </a:stretch>
        </p:blipFill>
        <p:spPr>
          <a:xfrm>
            <a:off x="2881312" y="1333500"/>
            <a:ext cx="247650" cy="247650"/>
          </a:xfrm>
          <a:prstGeom prst="rect">
            <a:avLst/>
          </a:prstGeom>
        </p:spPr>
      </p:pic>
      <p:sp>
        <p:nvSpPr>
          <p:cNvPr id="167" name="TextBox 39"/>
          <p:cNvSpPr txBox="1"/>
          <p:nvPr/>
        </p:nvSpPr>
        <p:spPr>
          <a:xfrm>
            <a:off x="3224212" y="1395412"/>
            <a:ext cx="1540520" cy="123825"/>
          </a:xfrm>
          <a:prstGeom prst="rect">
            <a:avLst/>
          </a:prstGeom>
          <a:noFill/>
        </p:spPr>
        <p:txBody>
          <a:bodyPr wrap="square" lIns="0" tIns="0" rIns="0" bIns="0" anchor="t">
            <a:spAutoFit/>
          </a:bodyPr>
          <a:lstStyle/>
          <a:p>
            <a:pPr algn="l">
              <a:lnSpc>
                <a:spcPts val="975"/>
              </a:lnSpc>
            </a:pPr>
            <a:r>
              <a:rPr sz="712" b="1" i="0" spc="112">
                <a:solidFill>
                  <a:srgbClr val="FFFFFF"/>
                </a:solidFill>
                <a:latin typeface="Calibri"/>
              </a:rPr>
              <a:t>LIFE SCIENCES &amp; DIAGNOSTICS</a:t>
            </a:r>
          </a:p>
        </p:txBody>
      </p:sp>
      <p:sp>
        <p:nvSpPr>
          <p:cNvPr id="168" name="TextBox 40"/>
          <p:cNvSpPr txBox="1"/>
          <p:nvPr/>
        </p:nvSpPr>
        <p:spPr>
          <a:xfrm>
            <a:off x="2881312"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241" name="TextBox 59"/>
          <p:cNvSpPr txBox="1"/>
          <p:nvPr/>
        </p:nvSpPr>
        <p:spPr>
          <a:xfrm>
            <a:off x="2881312" y="4334256"/>
            <a:ext cx="1971675"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RESEARCH NETWORKS AND STRATEGIC BUYERS</a:t>
            </a:r>
          </a:p>
        </p:txBody>
      </p:sp>
      <p:sp>
        <p:nvSpPr>
          <p:cNvPr id="290" name="Shape 220"/>
          <p:cNvSpPr/>
          <p:nvPr/>
        </p:nvSpPr>
        <p:spPr>
          <a:xfrm>
            <a:off x="5095875" y="1238250"/>
            <a:ext cx="2205038" cy="5695950"/>
          </a:xfrm>
          <a:prstGeom prst="rect">
            <a:avLst/>
          </a:prstGeom>
          <a:solidFill>
            <a:srgbClr val="FAF7F3"/>
          </a:solidFill>
          <a:ln>
            <a:noFill/>
          </a:ln>
          <a:effectLst/>
        </p:spPr>
        <p:txBody>
          <a:bodyPr rtlCol="0" anchor="ctr"/>
          <a:lstStyle/>
          <a:p>
            <a:pPr algn="ctr"/>
            <a:endParaRPr/>
          </a:p>
        </p:txBody>
      </p:sp>
      <p:sp>
        <p:nvSpPr>
          <p:cNvPr id="291" name="Shape 221"/>
          <p:cNvSpPr/>
          <p:nvPr/>
        </p:nvSpPr>
        <p:spPr>
          <a:xfrm>
            <a:off x="5095875" y="1238250"/>
            <a:ext cx="2205038" cy="9525"/>
          </a:xfrm>
          <a:prstGeom prst="rect">
            <a:avLst/>
          </a:prstGeom>
          <a:solidFill>
            <a:srgbClr val="E3DCD3"/>
          </a:solidFill>
          <a:ln>
            <a:noFill/>
          </a:ln>
          <a:effectLst/>
        </p:spPr>
        <p:txBody>
          <a:bodyPr rtlCol="0" anchor="ctr"/>
          <a:lstStyle/>
          <a:p>
            <a:pPr algn="ctr"/>
            <a:endParaRPr/>
          </a:p>
        </p:txBody>
      </p:sp>
      <p:sp>
        <p:nvSpPr>
          <p:cNvPr id="292" name="Shape 222"/>
          <p:cNvSpPr/>
          <p:nvPr/>
        </p:nvSpPr>
        <p:spPr>
          <a:xfrm>
            <a:off x="7291388" y="1238250"/>
            <a:ext cx="9525" cy="5695950"/>
          </a:xfrm>
          <a:prstGeom prst="rect">
            <a:avLst/>
          </a:prstGeom>
          <a:solidFill>
            <a:srgbClr val="E3DCD3"/>
          </a:solidFill>
          <a:ln>
            <a:noFill/>
          </a:ln>
          <a:effectLst/>
        </p:spPr>
        <p:txBody>
          <a:bodyPr rtlCol="0" anchor="ctr"/>
          <a:lstStyle/>
          <a:p>
            <a:pPr algn="ctr"/>
            <a:endParaRPr/>
          </a:p>
        </p:txBody>
      </p:sp>
      <p:sp>
        <p:nvSpPr>
          <p:cNvPr id="293" name="Shape 223"/>
          <p:cNvSpPr/>
          <p:nvPr/>
        </p:nvSpPr>
        <p:spPr>
          <a:xfrm>
            <a:off x="5095875" y="6924675"/>
            <a:ext cx="2205038" cy="9525"/>
          </a:xfrm>
          <a:prstGeom prst="rect">
            <a:avLst/>
          </a:prstGeom>
          <a:solidFill>
            <a:srgbClr val="E3DCD3"/>
          </a:solidFill>
          <a:ln>
            <a:noFill/>
          </a:ln>
          <a:effectLst/>
        </p:spPr>
        <p:txBody>
          <a:bodyPr rtlCol="0" anchor="ctr"/>
          <a:lstStyle/>
          <a:p>
            <a:pPr algn="ctr"/>
            <a:endParaRPr/>
          </a:p>
        </p:txBody>
      </p:sp>
      <p:sp>
        <p:nvSpPr>
          <p:cNvPr id="294" name="Shape 224"/>
          <p:cNvSpPr/>
          <p:nvPr/>
        </p:nvSpPr>
        <p:spPr>
          <a:xfrm>
            <a:off x="5095875" y="1238250"/>
            <a:ext cx="9525" cy="5695950"/>
          </a:xfrm>
          <a:prstGeom prst="rect">
            <a:avLst/>
          </a:prstGeom>
          <a:solidFill>
            <a:srgbClr val="E3DCD3"/>
          </a:solidFill>
          <a:ln>
            <a:noFill/>
          </a:ln>
          <a:effectLst/>
        </p:spPr>
        <p:txBody>
          <a:bodyPr rtlCol="0" anchor="ctr"/>
          <a:lstStyle/>
          <a:p>
            <a:pPr algn="ctr"/>
            <a:endParaRPr/>
          </a:p>
        </p:txBody>
      </p:sp>
      <p:sp>
        <p:nvSpPr>
          <p:cNvPr id="295" name="Shape 225"/>
          <p:cNvSpPr/>
          <p:nvPr/>
        </p:nvSpPr>
        <p:spPr>
          <a:xfrm>
            <a:off x="5105400" y="1247775"/>
            <a:ext cx="2185988" cy="419100"/>
          </a:xfrm>
          <a:prstGeom prst="rect">
            <a:avLst/>
          </a:prstGeom>
          <a:solidFill>
            <a:srgbClr val="1B1A1A"/>
          </a:solidFill>
          <a:ln>
            <a:noFill/>
          </a:ln>
          <a:effectLst/>
        </p:spPr>
        <p:txBody>
          <a:bodyPr rtlCol="0" anchor="ctr"/>
          <a:lstStyle/>
          <a:p>
            <a:pPr algn="ctr"/>
            <a:endParaRPr/>
          </a:p>
        </p:txBody>
      </p:sp>
      <p:pic>
        <p:nvPicPr>
          <p:cNvPr id="296" name="Picture 3" descr="Icon of a monitor with a heartbeat line for Medical Products &amp; Distribution"/>
          <p:cNvPicPr>
            <a:picLocks noChangeAspect="1"/>
          </p:cNvPicPr>
          <p:nvPr/>
        </p:nvPicPr>
        <p:blipFill>
          <a:blip r:embed="rId4"/>
          <a:stretch>
            <a:fillRect/>
          </a:stretch>
        </p:blipFill>
        <p:spPr>
          <a:xfrm>
            <a:off x="5219700" y="1333500"/>
            <a:ext cx="247650" cy="247650"/>
          </a:xfrm>
          <a:prstGeom prst="rect">
            <a:avLst/>
          </a:prstGeom>
        </p:spPr>
      </p:pic>
      <p:sp>
        <p:nvSpPr>
          <p:cNvPr id="297" name="TextBox 68"/>
          <p:cNvSpPr txBox="1"/>
          <p:nvPr/>
        </p:nvSpPr>
        <p:spPr>
          <a:xfrm>
            <a:off x="5562600" y="1333500"/>
            <a:ext cx="1628775" cy="247650"/>
          </a:xfrm>
          <a:prstGeom prst="rect">
            <a:avLst/>
          </a:prstGeom>
          <a:noFill/>
        </p:spPr>
        <p:txBody>
          <a:bodyPr wrap="square" lIns="0" tIns="0" rIns="0" bIns="0" anchor="t">
            <a:spAutoFit/>
          </a:bodyPr>
          <a:lstStyle/>
          <a:p>
            <a:pPr algn="l">
              <a:lnSpc>
                <a:spcPts val="1121"/>
              </a:lnSpc>
            </a:pPr>
            <a:r>
              <a:rPr sz="800" b="1" i="0" spc="112">
                <a:solidFill>
                  <a:srgbClr val="FFFFFF"/>
                </a:solidFill>
                <a:latin typeface="Calibri"/>
              </a:rPr>
              <a:t>MEDICAL PRODUCTS &amp; DISTRIBUTION</a:t>
            </a:r>
          </a:p>
        </p:txBody>
      </p:sp>
      <p:sp>
        <p:nvSpPr>
          <p:cNvPr id="298" name="TextBox 69"/>
          <p:cNvSpPr txBox="1"/>
          <p:nvPr/>
        </p:nvSpPr>
        <p:spPr>
          <a:xfrm>
            <a:off x="5219700"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379" name="TextBox 90"/>
          <p:cNvSpPr txBox="1"/>
          <p:nvPr/>
        </p:nvSpPr>
        <p:spPr>
          <a:xfrm>
            <a:off x="5219700" y="4334256"/>
            <a:ext cx="1971675" cy="123825"/>
          </a:xfrm>
          <a:prstGeom prst="rect">
            <a:avLst/>
          </a:prstGeom>
          <a:noFill/>
        </p:spPr>
        <p:txBody>
          <a:bodyPr wrap="square" lIns="0" tIns="0" rIns="0" bIns="0" anchor="t">
            <a:spAutoFit/>
          </a:bodyPr>
          <a:lstStyle/>
          <a:p>
            <a:pPr algn="l">
              <a:lnSpc>
                <a:spcPts val="1004"/>
              </a:lnSpc>
            </a:pPr>
            <a:r>
              <a:rPr sz="650" b="1" i="0" spc="150">
                <a:solidFill>
                  <a:srgbClr val="8C6239"/>
                </a:solidFill>
                <a:latin typeface="Calibri"/>
              </a:rPr>
              <a:t>SPONSORS AND PRODUCT STRATEGICS</a:t>
            </a:r>
          </a:p>
        </p:txBody>
      </p:sp>
      <p:sp>
        <p:nvSpPr>
          <p:cNvPr id="434" name="Shape 331"/>
          <p:cNvSpPr/>
          <p:nvPr/>
        </p:nvSpPr>
        <p:spPr>
          <a:xfrm>
            <a:off x="7434262" y="1238250"/>
            <a:ext cx="2205038" cy="5695950"/>
          </a:xfrm>
          <a:prstGeom prst="rect">
            <a:avLst/>
          </a:prstGeom>
          <a:solidFill>
            <a:srgbClr val="FAF7F3"/>
          </a:solidFill>
          <a:ln>
            <a:noFill/>
          </a:ln>
          <a:effectLst/>
        </p:spPr>
        <p:txBody>
          <a:bodyPr rtlCol="0" anchor="ctr"/>
          <a:lstStyle/>
          <a:p>
            <a:pPr algn="ctr"/>
            <a:endParaRPr/>
          </a:p>
        </p:txBody>
      </p:sp>
      <p:sp>
        <p:nvSpPr>
          <p:cNvPr id="435" name="Shape 332"/>
          <p:cNvSpPr/>
          <p:nvPr/>
        </p:nvSpPr>
        <p:spPr>
          <a:xfrm>
            <a:off x="7434262" y="1238250"/>
            <a:ext cx="2205038" cy="9525"/>
          </a:xfrm>
          <a:prstGeom prst="rect">
            <a:avLst/>
          </a:prstGeom>
          <a:solidFill>
            <a:srgbClr val="E3DCD3"/>
          </a:solidFill>
          <a:ln>
            <a:noFill/>
          </a:ln>
          <a:effectLst/>
        </p:spPr>
        <p:txBody>
          <a:bodyPr rtlCol="0" anchor="ctr"/>
          <a:lstStyle/>
          <a:p>
            <a:pPr algn="ctr"/>
            <a:endParaRPr/>
          </a:p>
        </p:txBody>
      </p:sp>
      <p:sp>
        <p:nvSpPr>
          <p:cNvPr id="436" name="Shape 333"/>
          <p:cNvSpPr/>
          <p:nvPr/>
        </p:nvSpPr>
        <p:spPr>
          <a:xfrm>
            <a:off x="9629775" y="1238250"/>
            <a:ext cx="9525" cy="5695950"/>
          </a:xfrm>
          <a:prstGeom prst="rect">
            <a:avLst/>
          </a:prstGeom>
          <a:solidFill>
            <a:srgbClr val="E3DCD3"/>
          </a:solidFill>
          <a:ln>
            <a:noFill/>
          </a:ln>
          <a:effectLst/>
        </p:spPr>
        <p:txBody>
          <a:bodyPr rtlCol="0" anchor="ctr"/>
          <a:lstStyle/>
          <a:p>
            <a:pPr algn="ctr"/>
            <a:endParaRPr/>
          </a:p>
        </p:txBody>
      </p:sp>
      <p:sp>
        <p:nvSpPr>
          <p:cNvPr id="437" name="Shape 334"/>
          <p:cNvSpPr/>
          <p:nvPr/>
        </p:nvSpPr>
        <p:spPr>
          <a:xfrm>
            <a:off x="7434262" y="6924675"/>
            <a:ext cx="2205038" cy="9525"/>
          </a:xfrm>
          <a:prstGeom prst="rect">
            <a:avLst/>
          </a:prstGeom>
          <a:solidFill>
            <a:srgbClr val="E3DCD3"/>
          </a:solidFill>
          <a:ln>
            <a:noFill/>
          </a:ln>
          <a:effectLst/>
        </p:spPr>
        <p:txBody>
          <a:bodyPr rtlCol="0" anchor="ctr"/>
          <a:lstStyle/>
          <a:p>
            <a:pPr algn="ctr"/>
            <a:endParaRPr/>
          </a:p>
        </p:txBody>
      </p:sp>
      <p:sp>
        <p:nvSpPr>
          <p:cNvPr id="438" name="Shape 335"/>
          <p:cNvSpPr/>
          <p:nvPr/>
        </p:nvSpPr>
        <p:spPr>
          <a:xfrm>
            <a:off x="7434262" y="1238250"/>
            <a:ext cx="9525" cy="5695950"/>
          </a:xfrm>
          <a:prstGeom prst="rect">
            <a:avLst/>
          </a:prstGeom>
          <a:solidFill>
            <a:srgbClr val="E3DCD3"/>
          </a:solidFill>
          <a:ln>
            <a:noFill/>
          </a:ln>
          <a:effectLst/>
        </p:spPr>
        <p:txBody>
          <a:bodyPr rtlCol="0" anchor="ctr"/>
          <a:lstStyle/>
          <a:p>
            <a:pPr algn="ctr"/>
            <a:endParaRPr/>
          </a:p>
        </p:txBody>
      </p:sp>
      <p:sp>
        <p:nvSpPr>
          <p:cNvPr id="439" name="Shape 336"/>
          <p:cNvSpPr/>
          <p:nvPr/>
        </p:nvSpPr>
        <p:spPr>
          <a:xfrm>
            <a:off x="7443788" y="1247775"/>
            <a:ext cx="2185988" cy="419100"/>
          </a:xfrm>
          <a:prstGeom prst="rect">
            <a:avLst/>
          </a:prstGeom>
          <a:solidFill>
            <a:srgbClr val="1B1A1A"/>
          </a:solidFill>
          <a:ln>
            <a:noFill/>
          </a:ln>
          <a:effectLst/>
        </p:spPr>
        <p:txBody>
          <a:bodyPr rtlCol="0" anchor="ctr"/>
          <a:lstStyle/>
          <a:p>
            <a:pPr algn="ctr"/>
            <a:endParaRPr/>
          </a:p>
        </p:txBody>
      </p:sp>
      <p:pic>
        <p:nvPicPr>
          <p:cNvPr id="440" name="Picture 4" descr="Icon of a medicine bottle and pill for Pharmacy &amp; Healthcare Services"/>
          <p:cNvPicPr>
            <a:picLocks noChangeAspect="1"/>
          </p:cNvPicPr>
          <p:nvPr/>
        </p:nvPicPr>
        <p:blipFill>
          <a:blip r:embed="rId5"/>
          <a:stretch>
            <a:fillRect/>
          </a:stretch>
        </p:blipFill>
        <p:spPr>
          <a:xfrm>
            <a:off x="7558088" y="1333500"/>
            <a:ext cx="247650" cy="247650"/>
          </a:xfrm>
          <a:prstGeom prst="rect">
            <a:avLst/>
          </a:prstGeom>
        </p:spPr>
      </p:pic>
      <p:sp>
        <p:nvSpPr>
          <p:cNvPr id="441" name="TextBox 100"/>
          <p:cNvSpPr txBox="1"/>
          <p:nvPr/>
        </p:nvSpPr>
        <p:spPr>
          <a:xfrm>
            <a:off x="7900988" y="1333500"/>
            <a:ext cx="1628775" cy="247650"/>
          </a:xfrm>
          <a:prstGeom prst="rect">
            <a:avLst/>
          </a:prstGeom>
          <a:noFill/>
        </p:spPr>
        <p:txBody>
          <a:bodyPr wrap="square" lIns="0" tIns="0" rIns="0" bIns="0" anchor="t">
            <a:spAutoFit/>
          </a:bodyPr>
          <a:lstStyle/>
          <a:p>
            <a:pPr algn="l">
              <a:lnSpc>
                <a:spcPts val="1121"/>
              </a:lnSpc>
            </a:pPr>
            <a:r>
              <a:rPr sz="800" b="1" i="0" spc="112">
                <a:solidFill>
                  <a:srgbClr val="FFFFFF"/>
                </a:solidFill>
                <a:latin typeface="Calibri"/>
              </a:rPr>
              <a:t>PHARMACY &amp; HEALTHCARE SERVICES</a:t>
            </a:r>
          </a:p>
        </p:txBody>
      </p:sp>
      <p:sp>
        <p:nvSpPr>
          <p:cNvPr id="442" name="TextBox 101"/>
          <p:cNvSpPr txBox="1"/>
          <p:nvPr/>
        </p:nvSpPr>
        <p:spPr>
          <a:xfrm>
            <a:off x="7558088" y="1771650"/>
            <a:ext cx="1971675" cy="123825"/>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LISTED COMPANIES</a:t>
            </a:r>
          </a:p>
        </p:txBody>
      </p:sp>
      <p:sp>
        <p:nvSpPr>
          <p:cNvPr id="507" name="TextBox 118"/>
          <p:cNvSpPr txBox="1"/>
          <p:nvPr/>
        </p:nvSpPr>
        <p:spPr>
          <a:xfrm>
            <a:off x="7558088" y="4334256"/>
            <a:ext cx="1971675" cy="247650"/>
          </a:xfrm>
          <a:prstGeom prst="rect">
            <a:avLst/>
          </a:prstGeom>
          <a:noFill/>
        </p:spPr>
        <p:txBody>
          <a:bodyPr wrap="square" lIns="0" tIns="0" rIns="0" bIns="0" anchor="t">
            <a:spAutoFit/>
          </a:bodyPr>
          <a:lstStyle/>
          <a:p>
            <a:pPr algn="l">
              <a:lnSpc>
                <a:spcPts val="1121"/>
              </a:lnSpc>
            </a:pPr>
            <a:r>
              <a:rPr sz="750" b="1" i="0" spc="150">
                <a:solidFill>
                  <a:srgbClr val="8C6239"/>
                </a:solidFill>
                <a:latin typeface="Calibri"/>
              </a:rPr>
              <a:t>PHARMACY, STAFFING AND LOGISTICS BUYERS</a:t>
            </a:r>
          </a:p>
        </p:txBody>
      </p:sp>
      <p:sp>
        <p:nvSpPr>
          <p:cNvPr id="556" name="Shape 425"/>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557" name="Picture 5" descr="Benchmark International logo"/>
          <p:cNvPicPr>
            <a:picLocks noChangeAspect="1"/>
          </p:cNvPicPr>
          <p:nvPr/>
        </p:nvPicPr>
        <p:blipFill>
          <a:blip r:embed="rId6"/>
          <a:srcRect/>
          <a:stretch>
            <a:fillRect/>
          </a:stretch>
        </p:blipFill>
        <p:spPr>
          <a:xfrm>
            <a:off x="419100" y="7143750"/>
            <a:ext cx="914400" cy="171450"/>
          </a:xfrm>
          <a:prstGeom prst="rect">
            <a:avLst/>
          </a:prstGeom>
        </p:spPr>
      </p:pic>
      <p:sp>
        <p:nvSpPr>
          <p:cNvPr id="558" name="TextBox 127"/>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Listed companies are the reference set for the valuation pages. Private participants are buyers named in 2026 transactions. Company logos identify the companies only and remain the property of their owners.</a:t>
            </a:r>
          </a:p>
        </p:txBody>
      </p:sp>
      <p:sp>
        <p:nvSpPr>
          <p:cNvPr id="559" name="TextBox 1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14</a:t>
            </a:r>
          </a:p>
        </p:txBody>
      </p:sp>
      <p:sp>
        <p:nvSpPr>
          <p:cNvPr id="622" name="Rule"/>
          <p:cNvSpPr/>
          <p:nvPr/>
        </p:nvSpPr>
        <p:spPr>
          <a:xfrm>
            <a:off x="544068"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23" name="Logo HCA" descr="HCA Healthcare logo">
            <a:hlinkClick r:id="rId7"/>
          </p:cNvPr>
          <p:cNvPicPr>
            <a:picLocks noChangeAspect="1"/>
          </p:cNvPicPr>
          <p:nvPr/>
        </p:nvPicPr>
        <p:blipFill>
          <a:blip r:embed="rId8"/>
          <a:stretch>
            <a:fillRect/>
          </a:stretch>
        </p:blipFill>
        <p:spPr>
          <a:xfrm>
            <a:off x="767754" y="2112264"/>
            <a:ext cx="531035" cy="237744"/>
          </a:xfrm>
          <a:prstGeom prst="rect">
            <a:avLst/>
          </a:prstGeom>
        </p:spPr>
      </p:pic>
      <p:pic>
        <p:nvPicPr>
          <p:cNvPr id="624" name="Logo THC" descr="Tenet Health logo">
            <a:hlinkClick r:id="rId9"/>
          </p:cNvPr>
          <p:cNvPicPr>
            <a:picLocks noChangeAspect="1"/>
          </p:cNvPicPr>
          <p:nvPr/>
        </p:nvPicPr>
        <p:blipFill>
          <a:blip r:embed="rId10"/>
          <a:stretch>
            <a:fillRect/>
          </a:stretch>
        </p:blipFill>
        <p:spPr>
          <a:xfrm>
            <a:off x="1734312" y="2112264"/>
            <a:ext cx="554736" cy="237744"/>
          </a:xfrm>
          <a:prstGeom prst="rect">
            <a:avLst/>
          </a:prstGeom>
        </p:spPr>
      </p:pic>
      <p:pic>
        <p:nvPicPr>
          <p:cNvPr id="625" name="Logo USPH" descr="U.S. Physical Therapy logo">
            <a:hlinkClick r:id="rId11"/>
          </p:cNvPr>
          <p:cNvPicPr>
            <a:picLocks noChangeAspect="1"/>
          </p:cNvPicPr>
          <p:nvPr/>
        </p:nvPicPr>
        <p:blipFill>
          <a:blip r:embed="rId12"/>
          <a:stretch>
            <a:fillRect/>
          </a:stretch>
        </p:blipFill>
        <p:spPr>
          <a:xfrm>
            <a:off x="779678" y="2478024"/>
            <a:ext cx="507187" cy="237744"/>
          </a:xfrm>
          <a:prstGeom prst="rect">
            <a:avLst/>
          </a:prstGeom>
        </p:spPr>
      </p:pic>
      <p:pic>
        <p:nvPicPr>
          <p:cNvPr id="626" name="Logo DVA" descr="DaVita Kidney Care logo">
            <a:hlinkClick r:id="rId13"/>
          </p:cNvPr>
          <p:cNvPicPr>
            <a:picLocks noChangeAspect="1"/>
          </p:cNvPicPr>
          <p:nvPr/>
        </p:nvPicPr>
        <p:blipFill>
          <a:blip r:embed="rId14"/>
          <a:stretch>
            <a:fillRect/>
          </a:stretch>
        </p:blipFill>
        <p:spPr>
          <a:xfrm>
            <a:off x="1788236" y="2478024"/>
            <a:ext cx="446887" cy="237744"/>
          </a:xfrm>
          <a:prstGeom prst="rect">
            <a:avLst/>
          </a:prstGeom>
        </p:spPr>
      </p:pic>
      <p:pic>
        <p:nvPicPr>
          <p:cNvPr id="627" name="Logo ADUS" descr="Addus HomeCare logo">
            <a:hlinkClick r:id="rId15"/>
          </p:cNvPr>
          <p:cNvPicPr>
            <a:picLocks noChangeAspect="1"/>
          </p:cNvPicPr>
          <p:nvPr/>
        </p:nvPicPr>
        <p:blipFill>
          <a:blip r:embed="rId16"/>
          <a:stretch>
            <a:fillRect/>
          </a:stretch>
        </p:blipFill>
        <p:spPr>
          <a:xfrm>
            <a:off x="594359" y="2863169"/>
            <a:ext cx="877824" cy="198973"/>
          </a:xfrm>
          <a:prstGeom prst="rect">
            <a:avLst/>
          </a:prstGeom>
        </p:spPr>
      </p:pic>
      <p:pic>
        <p:nvPicPr>
          <p:cNvPr id="628" name="Logo PNTG" descr="Pennant Group logo">
            <a:hlinkClick r:id="rId17"/>
          </p:cNvPr>
          <p:cNvPicPr>
            <a:picLocks noChangeAspect="1"/>
          </p:cNvPicPr>
          <p:nvPr/>
        </p:nvPicPr>
        <p:blipFill>
          <a:blip r:embed="rId18"/>
          <a:stretch>
            <a:fillRect/>
          </a:stretch>
        </p:blipFill>
        <p:spPr>
          <a:xfrm>
            <a:off x="1572768" y="2919771"/>
            <a:ext cx="877824" cy="85769"/>
          </a:xfrm>
          <a:prstGeom prst="rect">
            <a:avLst/>
          </a:prstGeom>
        </p:spPr>
      </p:pic>
      <p:pic>
        <p:nvPicPr>
          <p:cNvPr id="629" name="Logo ACHC" descr="Acadia Healthcare logo">
            <a:hlinkClick r:id="rId19"/>
          </p:cNvPr>
          <p:cNvPicPr>
            <a:picLocks noChangeAspect="1"/>
          </p:cNvPicPr>
          <p:nvPr/>
        </p:nvPicPr>
        <p:blipFill>
          <a:blip r:embed="rId20"/>
          <a:stretch>
            <a:fillRect/>
          </a:stretch>
        </p:blipFill>
        <p:spPr>
          <a:xfrm>
            <a:off x="609095" y="3209544"/>
            <a:ext cx="848352" cy="237744"/>
          </a:xfrm>
          <a:prstGeom prst="rect">
            <a:avLst/>
          </a:prstGeom>
        </p:spPr>
      </p:pic>
      <p:pic>
        <p:nvPicPr>
          <p:cNvPr id="630" name="Logo LFST" descr="LifeStance Health logo">
            <a:hlinkClick r:id="rId21"/>
          </p:cNvPr>
          <p:cNvPicPr>
            <a:picLocks noChangeAspect="1"/>
          </p:cNvPicPr>
          <p:nvPr/>
        </p:nvPicPr>
        <p:blipFill>
          <a:blip r:embed="rId22"/>
          <a:stretch>
            <a:fillRect/>
          </a:stretch>
        </p:blipFill>
        <p:spPr>
          <a:xfrm>
            <a:off x="1572768" y="3212835"/>
            <a:ext cx="877824" cy="231160"/>
          </a:xfrm>
          <a:prstGeom prst="rect">
            <a:avLst/>
          </a:prstGeom>
        </p:spPr>
      </p:pic>
      <p:pic>
        <p:nvPicPr>
          <p:cNvPr id="631" name="Logo PRVA" descr="Privia Health logo">
            <a:hlinkClick r:id="rId23"/>
          </p:cNvPr>
          <p:cNvPicPr>
            <a:picLocks noChangeAspect="1"/>
          </p:cNvPicPr>
          <p:nvPr/>
        </p:nvPicPr>
        <p:blipFill>
          <a:blip r:embed="rId24"/>
          <a:stretch>
            <a:fillRect/>
          </a:stretch>
        </p:blipFill>
        <p:spPr>
          <a:xfrm>
            <a:off x="594359" y="3595290"/>
            <a:ext cx="877824" cy="197770"/>
          </a:xfrm>
          <a:prstGeom prst="rect">
            <a:avLst/>
          </a:prstGeom>
        </p:spPr>
      </p:pic>
      <p:pic>
        <p:nvPicPr>
          <p:cNvPr id="632" name="Logo CON" descr="Concentra logo">
            <a:hlinkClick r:id="rId25"/>
          </p:cNvPr>
          <p:cNvPicPr>
            <a:picLocks noChangeAspect="1"/>
          </p:cNvPicPr>
          <p:nvPr/>
        </p:nvPicPr>
        <p:blipFill>
          <a:blip r:embed="rId26"/>
          <a:stretch>
            <a:fillRect/>
          </a:stretch>
        </p:blipFill>
        <p:spPr>
          <a:xfrm>
            <a:off x="1572768" y="3621938"/>
            <a:ext cx="877824" cy="144475"/>
          </a:xfrm>
          <a:prstGeom prst="rect">
            <a:avLst/>
          </a:prstGeom>
        </p:spPr>
      </p:pic>
      <p:pic>
        <p:nvPicPr>
          <p:cNvPr id="633" name="Logo ENSG" descr="Ensign Group logo">
            <a:hlinkClick r:id="rId27"/>
          </p:cNvPr>
          <p:cNvPicPr>
            <a:picLocks noChangeAspect="1"/>
          </p:cNvPicPr>
          <p:nvPr/>
        </p:nvPicPr>
        <p:blipFill>
          <a:blip r:embed="rId28"/>
          <a:stretch>
            <a:fillRect/>
          </a:stretch>
        </p:blipFill>
        <p:spPr>
          <a:xfrm>
            <a:off x="594359" y="4000991"/>
            <a:ext cx="877824" cy="117889"/>
          </a:xfrm>
          <a:prstGeom prst="rect">
            <a:avLst/>
          </a:prstGeom>
        </p:spPr>
      </p:pic>
      <p:sp>
        <p:nvSpPr>
          <p:cNvPr id="634" name="Rule"/>
          <p:cNvSpPr/>
          <p:nvPr/>
        </p:nvSpPr>
        <p:spPr>
          <a:xfrm>
            <a:off x="544068"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35" name="Logo HCA" descr="HCA Healthcare logo"/>
          <p:cNvPicPr>
            <a:picLocks noChangeAspect="1"/>
          </p:cNvPicPr>
          <p:nvPr/>
        </p:nvPicPr>
        <p:blipFill>
          <a:blip r:embed="rId8"/>
          <a:stretch>
            <a:fillRect/>
          </a:stretch>
        </p:blipFill>
        <p:spPr>
          <a:xfrm>
            <a:off x="798390" y="4814316"/>
            <a:ext cx="469762" cy="210312"/>
          </a:xfrm>
          <a:prstGeom prst="rect">
            <a:avLst/>
          </a:prstGeom>
        </p:spPr>
      </p:pic>
      <p:pic>
        <p:nvPicPr>
          <p:cNvPr id="637" name="Logo EYECAREPARTNERS" descr="EyeCare Partners logo"/>
          <p:cNvPicPr>
            <a:picLocks noChangeAspect="1"/>
          </p:cNvPicPr>
          <p:nvPr/>
        </p:nvPicPr>
        <p:blipFill>
          <a:blip r:embed="rId29"/>
          <a:stretch>
            <a:fillRect/>
          </a:stretch>
        </p:blipFill>
        <p:spPr>
          <a:xfrm>
            <a:off x="594359" y="5239207"/>
            <a:ext cx="877824" cy="92048"/>
          </a:xfrm>
          <a:prstGeom prst="rect">
            <a:avLst/>
          </a:prstGeom>
        </p:spPr>
      </p:pic>
      <p:pic>
        <p:nvPicPr>
          <p:cNvPr id="638" name="Logo KINDERHOOK" descr="Kinderhook Industries logo"/>
          <p:cNvPicPr>
            <a:picLocks noChangeAspect="1"/>
          </p:cNvPicPr>
          <p:nvPr/>
        </p:nvPicPr>
        <p:blipFill>
          <a:blip r:embed="rId30"/>
          <a:stretch>
            <a:fillRect/>
          </a:stretch>
        </p:blipFill>
        <p:spPr>
          <a:xfrm>
            <a:off x="1572768" y="5197449"/>
            <a:ext cx="877824" cy="175564"/>
          </a:xfrm>
          <a:prstGeom prst="rect">
            <a:avLst/>
          </a:prstGeom>
        </p:spPr>
      </p:pic>
      <p:pic>
        <p:nvPicPr>
          <p:cNvPr id="639" name="Logo UHS" descr="Universal Health Services logo"/>
          <p:cNvPicPr>
            <a:picLocks noChangeAspect="1"/>
          </p:cNvPicPr>
          <p:nvPr/>
        </p:nvPicPr>
        <p:blipFill>
          <a:blip r:embed="rId31"/>
          <a:stretch>
            <a:fillRect/>
          </a:stretch>
        </p:blipFill>
        <p:spPr>
          <a:xfrm>
            <a:off x="796059" y="5545836"/>
            <a:ext cx="474424" cy="210312"/>
          </a:xfrm>
          <a:prstGeom prst="rect">
            <a:avLst/>
          </a:prstGeom>
        </p:spPr>
      </p:pic>
      <p:pic>
        <p:nvPicPr>
          <p:cNvPr id="640" name="Logo ACES" descr="ACES logo"/>
          <p:cNvPicPr>
            <a:picLocks noChangeAspect="1"/>
          </p:cNvPicPr>
          <p:nvPr/>
        </p:nvPicPr>
        <p:blipFill>
          <a:blip r:embed="rId32"/>
          <a:stretch>
            <a:fillRect/>
          </a:stretch>
        </p:blipFill>
        <p:spPr>
          <a:xfrm>
            <a:off x="1808117" y="5513831"/>
            <a:ext cx="407125" cy="274320"/>
          </a:xfrm>
          <a:prstGeom prst="rect">
            <a:avLst/>
          </a:prstGeom>
        </p:spPr>
      </p:pic>
      <p:sp>
        <p:nvSpPr>
          <p:cNvPr id="641" name="Label MKH Capital Partners"/>
          <p:cNvSpPr txBox="1"/>
          <p:nvPr/>
        </p:nvSpPr>
        <p:spPr>
          <a:xfrm>
            <a:off x="571499" y="5879592"/>
            <a:ext cx="923544" cy="274320"/>
          </a:xfrm>
          <a:prstGeom prst="rect">
            <a:avLst/>
          </a:prstGeom>
          <a:noFill/>
        </p:spPr>
        <p:txBody>
          <a:bodyPr wrap="square" lIns="0" tIns="0" rIns="0" bIns="0" anchor="ctr">
            <a:spAutoFit/>
          </a:bodyPr>
          <a:lstStyle/>
          <a:p>
            <a:pPr algn="ctr"/>
            <a:r>
              <a:rPr sz="800" b="1">
                <a:solidFill>
                  <a:srgbClr val="333231"/>
                </a:solidFill>
                <a:latin typeface="Calibri"/>
              </a:rPr>
              <a:t>MKH Capital Partners</a:t>
            </a:r>
          </a:p>
        </p:txBody>
      </p:sp>
      <p:sp>
        <p:nvSpPr>
          <p:cNvPr id="642" name="Label Grant Avenue Capital"/>
          <p:cNvSpPr txBox="1"/>
          <p:nvPr/>
        </p:nvSpPr>
        <p:spPr>
          <a:xfrm>
            <a:off x="1549908" y="5879592"/>
            <a:ext cx="923544" cy="274320"/>
          </a:xfrm>
          <a:prstGeom prst="rect">
            <a:avLst/>
          </a:prstGeom>
          <a:noFill/>
        </p:spPr>
        <p:txBody>
          <a:bodyPr wrap="square" lIns="0" tIns="0" rIns="0" bIns="0" anchor="ctr">
            <a:spAutoFit/>
          </a:bodyPr>
          <a:lstStyle/>
          <a:p>
            <a:pPr algn="ctr"/>
            <a:r>
              <a:rPr sz="800" b="1">
                <a:solidFill>
                  <a:srgbClr val="333231"/>
                </a:solidFill>
                <a:latin typeface="Calibri"/>
              </a:rPr>
              <a:t>Grant Avenue Capital</a:t>
            </a:r>
          </a:p>
        </p:txBody>
      </p:sp>
      <p:pic>
        <p:nvPicPr>
          <p:cNvPr id="643" name="Logo GMR" descr="Global Medical Response logo"/>
          <p:cNvPicPr>
            <a:picLocks noChangeAspect="1"/>
          </p:cNvPicPr>
          <p:nvPr/>
        </p:nvPicPr>
        <p:blipFill>
          <a:blip r:embed="rId33"/>
          <a:stretch>
            <a:fillRect/>
          </a:stretch>
        </p:blipFill>
        <p:spPr>
          <a:xfrm>
            <a:off x="630848" y="6277355"/>
            <a:ext cx="804847" cy="210312"/>
          </a:xfrm>
          <a:prstGeom prst="rect">
            <a:avLst/>
          </a:prstGeom>
        </p:spPr>
      </p:pic>
      <p:sp>
        <p:nvSpPr>
          <p:cNvPr id="644" name="Rule"/>
          <p:cNvSpPr/>
          <p:nvPr/>
        </p:nvSpPr>
        <p:spPr>
          <a:xfrm>
            <a:off x="2884932"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45" name="Logo LH" descr="Labcorp logo">
            <a:hlinkClick r:id="rId34"/>
          </p:cNvPr>
          <p:cNvPicPr>
            <a:picLocks noChangeAspect="1"/>
          </p:cNvPicPr>
          <p:nvPr/>
        </p:nvPicPr>
        <p:blipFill>
          <a:blip r:embed="rId35"/>
          <a:stretch>
            <a:fillRect/>
          </a:stretch>
        </p:blipFill>
        <p:spPr>
          <a:xfrm>
            <a:off x="2935224" y="2114151"/>
            <a:ext cx="877824" cy="233969"/>
          </a:xfrm>
          <a:prstGeom prst="rect">
            <a:avLst/>
          </a:prstGeom>
        </p:spPr>
      </p:pic>
      <p:pic>
        <p:nvPicPr>
          <p:cNvPr id="646" name="Logo DGX" descr="Quest Diagnostics logo">
            <a:hlinkClick r:id="rId36"/>
          </p:cNvPr>
          <p:cNvPicPr>
            <a:picLocks noChangeAspect="1"/>
          </p:cNvPicPr>
          <p:nvPr/>
        </p:nvPicPr>
        <p:blipFill>
          <a:blip r:embed="rId37"/>
          <a:stretch>
            <a:fillRect/>
          </a:stretch>
        </p:blipFill>
        <p:spPr>
          <a:xfrm>
            <a:off x="3973970" y="2112264"/>
            <a:ext cx="757146" cy="237744"/>
          </a:xfrm>
          <a:prstGeom prst="rect">
            <a:avLst/>
          </a:prstGeom>
        </p:spPr>
      </p:pic>
      <p:pic>
        <p:nvPicPr>
          <p:cNvPr id="647" name="Logo TMO" descr="Thermo Fisher Scientific logo">
            <a:hlinkClick r:id="rId38"/>
          </p:cNvPr>
          <p:cNvPicPr>
            <a:picLocks noChangeAspect="1"/>
          </p:cNvPicPr>
          <p:nvPr/>
        </p:nvPicPr>
        <p:blipFill>
          <a:blip r:embed="rId39"/>
          <a:stretch>
            <a:fillRect/>
          </a:stretch>
        </p:blipFill>
        <p:spPr>
          <a:xfrm>
            <a:off x="3116837" y="2478024"/>
            <a:ext cx="514597" cy="237744"/>
          </a:xfrm>
          <a:prstGeom prst="rect">
            <a:avLst/>
          </a:prstGeom>
        </p:spPr>
      </p:pic>
      <p:pic>
        <p:nvPicPr>
          <p:cNvPr id="648" name="Logo DHR" descr="Danaher logo">
            <a:hlinkClick r:id="rId40"/>
          </p:cNvPr>
          <p:cNvPicPr>
            <a:picLocks noChangeAspect="1"/>
          </p:cNvPicPr>
          <p:nvPr/>
        </p:nvPicPr>
        <p:blipFill>
          <a:blip r:embed="rId41"/>
          <a:stretch>
            <a:fillRect/>
          </a:stretch>
        </p:blipFill>
        <p:spPr>
          <a:xfrm>
            <a:off x="4128359" y="2478024"/>
            <a:ext cx="448368" cy="237744"/>
          </a:xfrm>
          <a:prstGeom prst="rect">
            <a:avLst/>
          </a:prstGeom>
        </p:spPr>
      </p:pic>
      <p:pic>
        <p:nvPicPr>
          <p:cNvPr id="649" name="Logo TECH" descr="Bio-Techne logo">
            <a:hlinkClick r:id="rId42"/>
          </p:cNvPr>
          <p:cNvPicPr>
            <a:picLocks noChangeAspect="1"/>
          </p:cNvPicPr>
          <p:nvPr/>
        </p:nvPicPr>
        <p:blipFill>
          <a:blip r:embed="rId43"/>
          <a:stretch>
            <a:fillRect/>
          </a:stretch>
        </p:blipFill>
        <p:spPr>
          <a:xfrm>
            <a:off x="2935224" y="2884529"/>
            <a:ext cx="877824" cy="156252"/>
          </a:xfrm>
          <a:prstGeom prst="rect">
            <a:avLst/>
          </a:prstGeom>
        </p:spPr>
      </p:pic>
      <p:pic>
        <p:nvPicPr>
          <p:cNvPr id="650" name="Logo IQV" descr="IQVIA logo">
            <a:hlinkClick r:id="rId44"/>
          </p:cNvPr>
          <p:cNvPicPr>
            <a:picLocks noChangeAspect="1"/>
          </p:cNvPicPr>
          <p:nvPr/>
        </p:nvPicPr>
        <p:blipFill>
          <a:blip r:embed="rId45"/>
          <a:stretch>
            <a:fillRect/>
          </a:stretch>
        </p:blipFill>
        <p:spPr>
          <a:xfrm>
            <a:off x="3913631" y="2886285"/>
            <a:ext cx="877824" cy="152741"/>
          </a:xfrm>
          <a:prstGeom prst="rect">
            <a:avLst/>
          </a:prstGeom>
        </p:spPr>
      </p:pic>
      <p:pic>
        <p:nvPicPr>
          <p:cNvPr id="651" name="Logo MEDP" descr="Medpace logo">
            <a:hlinkClick r:id="rId46"/>
          </p:cNvPr>
          <p:cNvPicPr>
            <a:picLocks noChangeAspect="1"/>
          </p:cNvPicPr>
          <p:nvPr/>
        </p:nvPicPr>
        <p:blipFill>
          <a:blip r:embed="rId47"/>
          <a:stretch>
            <a:fillRect/>
          </a:stretch>
        </p:blipFill>
        <p:spPr>
          <a:xfrm>
            <a:off x="2935224" y="3264077"/>
            <a:ext cx="877824" cy="128677"/>
          </a:xfrm>
          <a:prstGeom prst="rect">
            <a:avLst/>
          </a:prstGeom>
        </p:spPr>
      </p:pic>
      <p:pic>
        <p:nvPicPr>
          <p:cNvPr id="652" name="Logo ICLR" descr="ICON logo">
            <a:hlinkClick r:id="rId48"/>
          </p:cNvPr>
          <p:cNvPicPr>
            <a:picLocks noChangeAspect="1"/>
          </p:cNvPicPr>
          <p:nvPr/>
        </p:nvPicPr>
        <p:blipFill>
          <a:blip r:embed="rId49"/>
          <a:stretch>
            <a:fillRect/>
          </a:stretch>
        </p:blipFill>
        <p:spPr>
          <a:xfrm>
            <a:off x="3918704" y="3209544"/>
            <a:ext cx="867678" cy="237744"/>
          </a:xfrm>
          <a:prstGeom prst="rect">
            <a:avLst/>
          </a:prstGeom>
        </p:spPr>
      </p:pic>
      <p:pic>
        <p:nvPicPr>
          <p:cNvPr id="653" name="Logo CRL" descr="Charles River Laboratories logo">
            <a:hlinkClick r:id="rId50"/>
          </p:cNvPr>
          <p:cNvPicPr>
            <a:picLocks noChangeAspect="1"/>
          </p:cNvPicPr>
          <p:nvPr/>
        </p:nvPicPr>
        <p:blipFill>
          <a:blip r:embed="rId51"/>
          <a:stretch>
            <a:fillRect/>
          </a:stretch>
        </p:blipFill>
        <p:spPr>
          <a:xfrm>
            <a:off x="2935224" y="3599726"/>
            <a:ext cx="877824" cy="188898"/>
          </a:xfrm>
          <a:prstGeom prst="rect">
            <a:avLst/>
          </a:prstGeom>
        </p:spPr>
      </p:pic>
      <p:sp>
        <p:nvSpPr>
          <p:cNvPr id="654" name="Rule"/>
          <p:cNvSpPr/>
          <p:nvPr/>
        </p:nvSpPr>
        <p:spPr>
          <a:xfrm>
            <a:off x="2884932"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55" name="Logo HEADLANDS" descr="Headlands Research logo"/>
          <p:cNvPicPr>
            <a:picLocks noChangeAspect="1"/>
          </p:cNvPicPr>
          <p:nvPr/>
        </p:nvPicPr>
        <p:blipFill>
          <a:blip r:embed="rId52"/>
          <a:stretch>
            <a:fillRect/>
          </a:stretch>
        </p:blipFill>
        <p:spPr>
          <a:xfrm>
            <a:off x="3046230" y="4814316"/>
            <a:ext cx="655811" cy="210312"/>
          </a:xfrm>
          <a:prstGeom prst="rect">
            <a:avLst/>
          </a:prstGeom>
        </p:spPr>
      </p:pic>
      <p:pic>
        <p:nvPicPr>
          <p:cNvPr id="656" name="Logo SUMMITCR" descr="Summit Clinical Research logo"/>
          <p:cNvPicPr>
            <a:picLocks noChangeAspect="1"/>
          </p:cNvPicPr>
          <p:nvPr/>
        </p:nvPicPr>
        <p:blipFill>
          <a:blip r:embed="rId53"/>
          <a:stretch>
            <a:fillRect/>
          </a:stretch>
        </p:blipFill>
        <p:spPr>
          <a:xfrm>
            <a:off x="4061956" y="4814316"/>
            <a:ext cx="581174" cy="210312"/>
          </a:xfrm>
          <a:prstGeom prst="rect">
            <a:avLst/>
          </a:prstGeom>
        </p:spPr>
      </p:pic>
      <p:sp>
        <p:nvSpPr>
          <p:cNvPr id="657" name="Label Worldwide Clinical Trials"/>
          <p:cNvSpPr txBox="1"/>
          <p:nvPr/>
        </p:nvSpPr>
        <p:spPr>
          <a:xfrm>
            <a:off x="2912364" y="5148071"/>
            <a:ext cx="923544" cy="274320"/>
          </a:xfrm>
          <a:prstGeom prst="rect">
            <a:avLst/>
          </a:prstGeom>
          <a:noFill/>
        </p:spPr>
        <p:txBody>
          <a:bodyPr wrap="square" lIns="0" tIns="0" rIns="0" bIns="0" anchor="ctr">
            <a:spAutoFit/>
          </a:bodyPr>
          <a:lstStyle/>
          <a:p>
            <a:pPr algn="ctr"/>
            <a:r>
              <a:rPr sz="700" b="1">
                <a:solidFill>
                  <a:srgbClr val="333231"/>
                </a:solidFill>
                <a:latin typeface="Calibri"/>
              </a:rPr>
              <a:t>Worldwide Clinical Trials</a:t>
            </a:r>
          </a:p>
        </p:txBody>
      </p:sp>
      <p:pic>
        <p:nvPicPr>
          <p:cNvPr id="658" name="Logo FORTREA" descr="Fortrea logo"/>
          <p:cNvPicPr>
            <a:picLocks noChangeAspect="1"/>
          </p:cNvPicPr>
          <p:nvPr/>
        </p:nvPicPr>
        <p:blipFill>
          <a:blip r:embed="rId54"/>
          <a:stretch>
            <a:fillRect/>
          </a:stretch>
        </p:blipFill>
        <p:spPr>
          <a:xfrm>
            <a:off x="3913631" y="5186273"/>
            <a:ext cx="877824" cy="197917"/>
          </a:xfrm>
          <a:prstGeom prst="rect">
            <a:avLst/>
          </a:prstGeom>
        </p:spPr>
      </p:pic>
      <p:pic>
        <p:nvPicPr>
          <p:cNvPr id="659" name="Logo RESONETICS" descr="Resonetics logo"/>
          <p:cNvPicPr>
            <a:picLocks noChangeAspect="1"/>
          </p:cNvPicPr>
          <p:nvPr/>
        </p:nvPicPr>
        <p:blipFill>
          <a:blip r:embed="rId55"/>
          <a:stretch>
            <a:fillRect/>
          </a:stretch>
        </p:blipFill>
        <p:spPr>
          <a:xfrm>
            <a:off x="2935224" y="5611489"/>
            <a:ext cx="877824" cy="79004"/>
          </a:xfrm>
          <a:prstGeom prst="rect">
            <a:avLst/>
          </a:prstGeom>
        </p:spPr>
      </p:pic>
      <p:pic>
        <p:nvPicPr>
          <p:cNvPr id="660" name="Logo AGILENT" descr="Agilent Technologies logo"/>
          <p:cNvPicPr>
            <a:picLocks noChangeAspect="1"/>
          </p:cNvPicPr>
          <p:nvPr/>
        </p:nvPicPr>
        <p:blipFill>
          <a:blip r:embed="rId56"/>
          <a:stretch>
            <a:fillRect/>
          </a:stretch>
        </p:blipFill>
        <p:spPr>
          <a:xfrm>
            <a:off x="3913631" y="5565843"/>
            <a:ext cx="877824" cy="170297"/>
          </a:xfrm>
          <a:prstGeom prst="rect">
            <a:avLst/>
          </a:prstGeom>
        </p:spPr>
      </p:pic>
      <p:pic>
        <p:nvPicPr>
          <p:cNvPr id="661" name="Logo MERCKKGAA" descr="Merck KGaA logo"/>
          <p:cNvPicPr>
            <a:picLocks noChangeAspect="1"/>
          </p:cNvPicPr>
          <p:nvPr/>
        </p:nvPicPr>
        <p:blipFill>
          <a:blip r:embed="rId57"/>
          <a:stretch>
            <a:fillRect/>
          </a:stretch>
        </p:blipFill>
        <p:spPr>
          <a:xfrm>
            <a:off x="2935224" y="5945673"/>
            <a:ext cx="877824" cy="142157"/>
          </a:xfrm>
          <a:prstGeom prst="rect">
            <a:avLst/>
          </a:prstGeom>
        </p:spPr>
      </p:pic>
      <p:pic>
        <p:nvPicPr>
          <p:cNvPr id="662" name="Logo LEICABIO" descr="Leica Biosystems logo"/>
          <p:cNvPicPr>
            <a:picLocks noChangeAspect="1"/>
          </p:cNvPicPr>
          <p:nvPr/>
        </p:nvPicPr>
        <p:blipFill>
          <a:blip r:embed="rId58"/>
          <a:stretch>
            <a:fillRect/>
          </a:stretch>
        </p:blipFill>
        <p:spPr>
          <a:xfrm>
            <a:off x="4181963" y="5911596"/>
            <a:ext cx="341161" cy="210312"/>
          </a:xfrm>
          <a:prstGeom prst="rect">
            <a:avLst/>
          </a:prstGeom>
        </p:spPr>
      </p:pic>
      <p:sp>
        <p:nvSpPr>
          <p:cNvPr id="663" name="Rule"/>
          <p:cNvSpPr/>
          <p:nvPr/>
        </p:nvSpPr>
        <p:spPr>
          <a:xfrm>
            <a:off x="5216652"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64" name="Logo SYK" descr="Stryker logo">
            <a:hlinkClick r:id="rId59"/>
          </p:cNvPr>
          <p:cNvPicPr>
            <a:picLocks noChangeAspect="1"/>
          </p:cNvPicPr>
          <p:nvPr/>
        </p:nvPicPr>
        <p:blipFill>
          <a:blip r:embed="rId60"/>
          <a:stretch>
            <a:fillRect/>
          </a:stretch>
        </p:blipFill>
        <p:spPr>
          <a:xfrm>
            <a:off x="5266944" y="2120963"/>
            <a:ext cx="877824" cy="220344"/>
          </a:xfrm>
          <a:prstGeom prst="rect">
            <a:avLst/>
          </a:prstGeom>
        </p:spPr>
      </p:pic>
      <p:pic>
        <p:nvPicPr>
          <p:cNvPr id="665" name="Logo STE" descr="Steris logo">
            <a:hlinkClick r:id="rId61"/>
          </p:cNvPr>
          <p:cNvPicPr>
            <a:picLocks noChangeAspect="1"/>
          </p:cNvPicPr>
          <p:nvPr/>
        </p:nvPicPr>
        <p:blipFill>
          <a:blip r:embed="rId62"/>
          <a:stretch>
            <a:fillRect/>
          </a:stretch>
        </p:blipFill>
        <p:spPr>
          <a:xfrm>
            <a:off x="6245352" y="2159154"/>
            <a:ext cx="877824" cy="143963"/>
          </a:xfrm>
          <a:prstGeom prst="rect">
            <a:avLst/>
          </a:prstGeom>
        </p:spPr>
      </p:pic>
      <p:pic>
        <p:nvPicPr>
          <p:cNvPr id="666" name="Logo TFX" descr="Teleflex logo">
            <a:hlinkClick r:id="rId63"/>
          </p:cNvPr>
          <p:cNvPicPr>
            <a:picLocks noChangeAspect="1"/>
          </p:cNvPicPr>
          <p:nvPr/>
        </p:nvPicPr>
        <p:blipFill>
          <a:blip r:embed="rId64"/>
          <a:stretch>
            <a:fillRect/>
          </a:stretch>
        </p:blipFill>
        <p:spPr>
          <a:xfrm>
            <a:off x="5266944" y="2530181"/>
            <a:ext cx="877824" cy="133429"/>
          </a:xfrm>
          <a:prstGeom prst="rect">
            <a:avLst/>
          </a:prstGeom>
        </p:spPr>
      </p:pic>
      <p:pic>
        <p:nvPicPr>
          <p:cNvPr id="667" name="Logo HSIC" descr="Henry Schein logo">
            <a:hlinkClick r:id="rId65"/>
          </p:cNvPr>
          <p:cNvPicPr>
            <a:picLocks noChangeAspect="1"/>
          </p:cNvPicPr>
          <p:nvPr/>
        </p:nvPicPr>
        <p:blipFill>
          <a:blip r:embed="rId66"/>
          <a:stretch>
            <a:fillRect/>
          </a:stretch>
        </p:blipFill>
        <p:spPr>
          <a:xfrm>
            <a:off x="6245352" y="2552916"/>
            <a:ext cx="877824" cy="87958"/>
          </a:xfrm>
          <a:prstGeom prst="rect">
            <a:avLst/>
          </a:prstGeom>
        </p:spPr>
      </p:pic>
      <p:pic>
        <p:nvPicPr>
          <p:cNvPr id="668" name="Logo XRAY" descr="Dentsply Sirona logo">
            <a:hlinkClick r:id="rId67"/>
          </p:cNvPr>
          <p:cNvPicPr>
            <a:picLocks noChangeAspect="1"/>
          </p:cNvPicPr>
          <p:nvPr/>
        </p:nvPicPr>
        <p:blipFill>
          <a:blip r:embed="rId68"/>
          <a:stretch>
            <a:fillRect/>
          </a:stretch>
        </p:blipFill>
        <p:spPr>
          <a:xfrm>
            <a:off x="5278797" y="2843784"/>
            <a:ext cx="854117" cy="237744"/>
          </a:xfrm>
          <a:prstGeom prst="rect">
            <a:avLst/>
          </a:prstGeom>
        </p:spPr>
      </p:pic>
      <p:pic>
        <p:nvPicPr>
          <p:cNvPr id="669" name="Logo NVST" descr="Envista logo">
            <a:hlinkClick r:id="rId69"/>
          </p:cNvPr>
          <p:cNvPicPr>
            <a:picLocks noChangeAspect="1"/>
          </p:cNvPicPr>
          <p:nvPr/>
        </p:nvPicPr>
        <p:blipFill>
          <a:blip r:embed="rId70"/>
          <a:stretch>
            <a:fillRect/>
          </a:stretch>
        </p:blipFill>
        <p:spPr>
          <a:xfrm>
            <a:off x="6245352" y="2856381"/>
            <a:ext cx="877824" cy="212548"/>
          </a:xfrm>
          <a:prstGeom prst="rect">
            <a:avLst/>
          </a:prstGeom>
        </p:spPr>
      </p:pic>
      <p:pic>
        <p:nvPicPr>
          <p:cNvPr id="670" name="Logo ZBH" descr="Zimmer Biomet logo">
            <a:hlinkClick r:id="rId71"/>
          </p:cNvPr>
          <p:cNvPicPr>
            <a:picLocks noChangeAspect="1"/>
          </p:cNvPicPr>
          <p:nvPr/>
        </p:nvPicPr>
        <p:blipFill>
          <a:blip r:embed="rId72"/>
          <a:stretch>
            <a:fillRect/>
          </a:stretch>
        </p:blipFill>
        <p:spPr>
          <a:xfrm>
            <a:off x="5266944" y="3249094"/>
            <a:ext cx="877824" cy="158642"/>
          </a:xfrm>
          <a:prstGeom prst="rect">
            <a:avLst/>
          </a:prstGeom>
        </p:spPr>
      </p:pic>
      <p:pic>
        <p:nvPicPr>
          <p:cNvPr id="672" name="Logo SOLV" descr="Solventum logo">
            <a:hlinkClick r:id="rId73"/>
          </p:cNvPr>
          <p:cNvPicPr>
            <a:picLocks noChangeAspect="1"/>
          </p:cNvPicPr>
          <p:nvPr/>
        </p:nvPicPr>
        <p:blipFill>
          <a:blip r:embed="rId74"/>
          <a:stretch>
            <a:fillRect/>
          </a:stretch>
        </p:blipFill>
        <p:spPr>
          <a:xfrm>
            <a:off x="5266944" y="3584448"/>
            <a:ext cx="877824" cy="219456"/>
          </a:xfrm>
          <a:prstGeom prst="rect">
            <a:avLst/>
          </a:prstGeom>
        </p:spPr>
      </p:pic>
      <p:pic>
        <p:nvPicPr>
          <p:cNvPr id="673" name="Logo VMD" descr="Viemed Healthcare logo">
            <a:hlinkClick r:id="rId75"/>
          </p:cNvPr>
          <p:cNvPicPr>
            <a:picLocks noChangeAspect="1"/>
          </p:cNvPicPr>
          <p:nvPr/>
        </p:nvPicPr>
        <p:blipFill>
          <a:blip r:embed="rId76"/>
          <a:stretch>
            <a:fillRect/>
          </a:stretch>
        </p:blipFill>
        <p:spPr>
          <a:xfrm>
            <a:off x="6467473" y="3575304"/>
            <a:ext cx="433580" cy="237744"/>
          </a:xfrm>
          <a:prstGeom prst="rect">
            <a:avLst/>
          </a:prstGeom>
        </p:spPr>
      </p:pic>
      <p:sp>
        <p:nvSpPr>
          <p:cNvPr id="674" name="Rule"/>
          <p:cNvSpPr/>
          <p:nvPr/>
        </p:nvSpPr>
        <p:spPr>
          <a:xfrm>
            <a:off x="5216652"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5" name="Logo MITSUI" descr="Mitsui Chemicals logo"/>
          <p:cNvPicPr>
            <a:picLocks noChangeAspect="1"/>
          </p:cNvPicPr>
          <p:nvPr/>
        </p:nvPicPr>
        <p:blipFill>
          <a:blip r:embed="rId77"/>
          <a:stretch>
            <a:fillRect/>
          </a:stretch>
        </p:blipFill>
        <p:spPr>
          <a:xfrm>
            <a:off x="5266944" y="4848368"/>
            <a:ext cx="877824" cy="142207"/>
          </a:xfrm>
          <a:prstGeom prst="rect">
            <a:avLst/>
          </a:prstGeom>
        </p:spPr>
      </p:pic>
      <p:sp>
        <p:nvSpPr>
          <p:cNvPr id="676" name="Label Aspen Surgical"/>
          <p:cNvSpPr txBox="1"/>
          <p:nvPr/>
        </p:nvSpPr>
        <p:spPr>
          <a:xfrm>
            <a:off x="6222492" y="4782312"/>
            <a:ext cx="923544" cy="274320"/>
          </a:xfrm>
          <a:prstGeom prst="rect">
            <a:avLst/>
          </a:prstGeom>
          <a:noFill/>
        </p:spPr>
        <p:txBody>
          <a:bodyPr wrap="square" lIns="0" tIns="0" rIns="0" bIns="0" anchor="ctr">
            <a:spAutoFit/>
          </a:bodyPr>
          <a:lstStyle/>
          <a:p>
            <a:pPr algn="ctr"/>
            <a:r>
              <a:rPr sz="800" b="1">
                <a:solidFill>
                  <a:srgbClr val="333231"/>
                </a:solidFill>
                <a:latin typeface="Calibri"/>
              </a:rPr>
              <a:t>Aspen Surgical</a:t>
            </a:r>
          </a:p>
        </p:txBody>
      </p:sp>
      <p:pic>
        <p:nvPicPr>
          <p:cNvPr id="677" name="Logo KKR" descr="KKR logo"/>
          <p:cNvPicPr>
            <a:picLocks noChangeAspect="1"/>
          </p:cNvPicPr>
          <p:nvPr/>
        </p:nvPicPr>
        <p:blipFill>
          <a:blip r:embed="rId78"/>
          <a:stretch>
            <a:fillRect/>
          </a:stretch>
        </p:blipFill>
        <p:spPr>
          <a:xfrm>
            <a:off x="5266944" y="5180390"/>
            <a:ext cx="877824" cy="209682"/>
          </a:xfrm>
          <a:prstGeom prst="rect">
            <a:avLst/>
          </a:prstGeom>
        </p:spPr>
      </p:pic>
      <p:pic>
        <p:nvPicPr>
          <p:cNvPr id="678" name="Logo PLATINUM" descr="Platinum Equity logo"/>
          <p:cNvPicPr>
            <a:picLocks noChangeAspect="1"/>
          </p:cNvPicPr>
          <p:nvPr/>
        </p:nvPicPr>
        <p:blipFill>
          <a:blip r:embed="rId79"/>
          <a:stretch>
            <a:fillRect/>
          </a:stretch>
        </p:blipFill>
        <p:spPr>
          <a:xfrm>
            <a:off x="6245352" y="5183404"/>
            <a:ext cx="877824" cy="203655"/>
          </a:xfrm>
          <a:prstGeom prst="rect">
            <a:avLst/>
          </a:prstGeom>
        </p:spPr>
      </p:pic>
      <p:pic>
        <p:nvPicPr>
          <p:cNvPr id="679" name="Logo HANGER" descr="Hanger logo"/>
          <p:cNvPicPr>
            <a:picLocks noChangeAspect="1"/>
          </p:cNvPicPr>
          <p:nvPr/>
        </p:nvPicPr>
        <p:blipFill>
          <a:blip r:embed="rId80"/>
          <a:stretch>
            <a:fillRect/>
          </a:stretch>
        </p:blipFill>
        <p:spPr>
          <a:xfrm>
            <a:off x="5355336" y="5545836"/>
            <a:ext cx="701040" cy="210312"/>
          </a:xfrm>
          <a:prstGeom prst="rect">
            <a:avLst/>
          </a:prstGeom>
        </p:spPr>
      </p:pic>
      <p:pic>
        <p:nvPicPr>
          <p:cNvPr id="680" name="Logo APOLLO" descr="Apollo logo"/>
          <p:cNvPicPr>
            <a:picLocks noChangeAspect="1"/>
          </p:cNvPicPr>
          <p:nvPr/>
        </p:nvPicPr>
        <p:blipFill>
          <a:blip r:embed="rId81"/>
          <a:stretch>
            <a:fillRect/>
          </a:stretch>
        </p:blipFill>
        <p:spPr>
          <a:xfrm>
            <a:off x="6245352" y="5584009"/>
            <a:ext cx="877824" cy="133965"/>
          </a:xfrm>
          <a:prstGeom prst="rect">
            <a:avLst/>
          </a:prstGeom>
        </p:spPr>
      </p:pic>
      <p:pic>
        <p:nvPicPr>
          <p:cNvPr id="681" name="Logo MEDLINE" descr="Medline logo"/>
          <p:cNvPicPr>
            <a:picLocks noChangeAspect="1"/>
          </p:cNvPicPr>
          <p:nvPr/>
        </p:nvPicPr>
        <p:blipFill>
          <a:blip r:embed="rId82"/>
          <a:stretch>
            <a:fillRect/>
          </a:stretch>
        </p:blipFill>
        <p:spPr>
          <a:xfrm>
            <a:off x="5568696" y="5879592"/>
            <a:ext cx="274320" cy="274320"/>
          </a:xfrm>
          <a:prstGeom prst="rect">
            <a:avLst/>
          </a:prstGeom>
        </p:spPr>
      </p:pic>
      <p:pic>
        <p:nvPicPr>
          <p:cNvPr id="682" name="Logo INTERSURGICAL" descr="Intersurgical logo"/>
          <p:cNvPicPr>
            <a:picLocks noChangeAspect="1"/>
          </p:cNvPicPr>
          <p:nvPr/>
        </p:nvPicPr>
        <p:blipFill>
          <a:blip r:embed="rId83"/>
          <a:stretch>
            <a:fillRect/>
          </a:stretch>
        </p:blipFill>
        <p:spPr>
          <a:xfrm>
            <a:off x="6245352" y="5953712"/>
            <a:ext cx="877824" cy="126078"/>
          </a:xfrm>
          <a:prstGeom prst="rect">
            <a:avLst/>
          </a:prstGeom>
        </p:spPr>
      </p:pic>
      <p:sp>
        <p:nvSpPr>
          <p:cNvPr id="683" name="Label Montagu and Kohlberg"/>
          <p:cNvSpPr txBox="1"/>
          <p:nvPr/>
        </p:nvSpPr>
        <p:spPr>
          <a:xfrm>
            <a:off x="5244084" y="6245351"/>
            <a:ext cx="923544" cy="274320"/>
          </a:xfrm>
          <a:prstGeom prst="rect">
            <a:avLst/>
          </a:prstGeom>
          <a:noFill/>
        </p:spPr>
        <p:txBody>
          <a:bodyPr wrap="square" lIns="0" tIns="0" rIns="0" bIns="0" anchor="ctr">
            <a:spAutoFit/>
          </a:bodyPr>
          <a:lstStyle/>
          <a:p>
            <a:pPr algn="ctr"/>
            <a:r>
              <a:rPr sz="750" b="1">
                <a:solidFill>
                  <a:srgbClr val="333231"/>
                </a:solidFill>
                <a:latin typeface="Calibri"/>
              </a:rPr>
              <a:t>Montagu and Kohlberg</a:t>
            </a:r>
          </a:p>
        </p:txBody>
      </p:sp>
      <p:sp>
        <p:nvSpPr>
          <p:cNvPr id="684" name="Rule"/>
          <p:cNvSpPr/>
          <p:nvPr/>
        </p:nvSpPr>
        <p:spPr>
          <a:xfrm>
            <a:off x="7557516" y="1956816"/>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85" name="Logo OPCH" descr="Option Care Health logo">
            <a:hlinkClick r:id="rId84"/>
          </p:cNvPr>
          <p:cNvPicPr>
            <a:picLocks noChangeAspect="1"/>
          </p:cNvPicPr>
          <p:nvPr/>
        </p:nvPicPr>
        <p:blipFill>
          <a:blip r:embed="rId85"/>
          <a:stretch>
            <a:fillRect/>
          </a:stretch>
        </p:blipFill>
        <p:spPr>
          <a:xfrm>
            <a:off x="7747042" y="2112264"/>
            <a:ext cx="599354" cy="237744"/>
          </a:xfrm>
          <a:prstGeom prst="rect">
            <a:avLst/>
          </a:prstGeom>
        </p:spPr>
      </p:pic>
      <p:pic>
        <p:nvPicPr>
          <p:cNvPr id="686" name="Logo BTSG" descr="BrightSpring Health Services logo">
            <a:hlinkClick r:id="rId86"/>
          </p:cNvPr>
          <p:cNvPicPr>
            <a:picLocks noChangeAspect="1"/>
          </p:cNvPicPr>
          <p:nvPr/>
        </p:nvPicPr>
        <p:blipFill>
          <a:blip r:embed="rId87"/>
          <a:stretch>
            <a:fillRect/>
          </a:stretch>
        </p:blipFill>
        <p:spPr>
          <a:xfrm>
            <a:off x="8586216" y="2147011"/>
            <a:ext cx="877824" cy="168249"/>
          </a:xfrm>
          <a:prstGeom prst="rect">
            <a:avLst/>
          </a:prstGeom>
        </p:spPr>
      </p:pic>
      <p:pic>
        <p:nvPicPr>
          <p:cNvPr id="687" name="Logo GRDN" descr="Guardian Pharmacy Services logo">
            <a:hlinkClick r:id="rId88"/>
          </p:cNvPr>
          <p:cNvPicPr>
            <a:picLocks noChangeAspect="1"/>
          </p:cNvPicPr>
          <p:nvPr/>
        </p:nvPicPr>
        <p:blipFill>
          <a:blip r:embed="rId89"/>
          <a:stretch>
            <a:fillRect/>
          </a:stretch>
        </p:blipFill>
        <p:spPr>
          <a:xfrm>
            <a:off x="7824572" y="2478024"/>
            <a:ext cx="444294" cy="237744"/>
          </a:xfrm>
          <a:prstGeom prst="rect">
            <a:avLst/>
          </a:prstGeom>
        </p:spPr>
      </p:pic>
      <p:pic>
        <p:nvPicPr>
          <p:cNvPr id="688" name="Logo MCK" descr="McKesson logo">
            <a:hlinkClick r:id="rId90"/>
          </p:cNvPr>
          <p:cNvPicPr>
            <a:picLocks noChangeAspect="1"/>
          </p:cNvPicPr>
          <p:nvPr/>
        </p:nvPicPr>
        <p:blipFill>
          <a:blip r:embed="rId91"/>
          <a:stretch>
            <a:fillRect/>
          </a:stretch>
        </p:blipFill>
        <p:spPr>
          <a:xfrm>
            <a:off x="8586216" y="2536326"/>
            <a:ext cx="877824" cy="121139"/>
          </a:xfrm>
          <a:prstGeom prst="rect">
            <a:avLst/>
          </a:prstGeom>
        </p:spPr>
      </p:pic>
      <p:pic>
        <p:nvPicPr>
          <p:cNvPr id="689" name="Logo COR" descr="Cencora logo">
            <a:hlinkClick r:id="rId92"/>
          </p:cNvPr>
          <p:cNvPicPr>
            <a:picLocks noChangeAspect="1"/>
          </p:cNvPicPr>
          <p:nvPr/>
        </p:nvPicPr>
        <p:blipFill>
          <a:blip r:embed="rId93"/>
          <a:stretch>
            <a:fillRect/>
          </a:stretch>
        </p:blipFill>
        <p:spPr>
          <a:xfrm>
            <a:off x="7607808" y="2900330"/>
            <a:ext cx="877824" cy="124651"/>
          </a:xfrm>
          <a:prstGeom prst="rect">
            <a:avLst/>
          </a:prstGeom>
        </p:spPr>
      </p:pic>
      <p:pic>
        <p:nvPicPr>
          <p:cNvPr id="690" name="Logo CAH" descr="Cardinal Health logo">
            <a:hlinkClick r:id="rId94"/>
          </p:cNvPr>
          <p:cNvPicPr>
            <a:picLocks noChangeAspect="1"/>
          </p:cNvPicPr>
          <p:nvPr/>
        </p:nvPicPr>
        <p:blipFill>
          <a:blip r:embed="rId95"/>
          <a:stretch>
            <a:fillRect/>
          </a:stretch>
        </p:blipFill>
        <p:spPr>
          <a:xfrm>
            <a:off x="8665424" y="2843784"/>
            <a:ext cx="719407" cy="237744"/>
          </a:xfrm>
          <a:prstGeom prst="rect">
            <a:avLst/>
          </a:prstGeom>
        </p:spPr>
      </p:pic>
      <p:pic>
        <p:nvPicPr>
          <p:cNvPr id="691" name="Logo CVS" descr="CVS Health logo">
            <a:hlinkClick r:id="rId96"/>
          </p:cNvPr>
          <p:cNvPicPr>
            <a:picLocks noChangeAspect="1"/>
          </p:cNvPicPr>
          <p:nvPr/>
        </p:nvPicPr>
        <p:blipFill>
          <a:blip r:embed="rId97"/>
          <a:stretch>
            <a:fillRect/>
          </a:stretch>
        </p:blipFill>
        <p:spPr>
          <a:xfrm>
            <a:off x="7607808" y="3274868"/>
            <a:ext cx="877824" cy="107094"/>
          </a:xfrm>
          <a:prstGeom prst="rect">
            <a:avLst/>
          </a:prstGeom>
        </p:spPr>
      </p:pic>
      <p:pic>
        <p:nvPicPr>
          <p:cNvPr id="692" name="Logo AMN" descr="AMN Healthcare logo">
            <a:hlinkClick r:id="rId98"/>
          </p:cNvPr>
          <p:cNvPicPr>
            <a:picLocks noChangeAspect="1"/>
          </p:cNvPicPr>
          <p:nvPr/>
        </p:nvPicPr>
        <p:blipFill>
          <a:blip r:embed="rId99"/>
          <a:stretch>
            <a:fillRect/>
          </a:stretch>
        </p:blipFill>
        <p:spPr>
          <a:xfrm>
            <a:off x="8675504" y="3209544"/>
            <a:ext cx="699247" cy="237744"/>
          </a:xfrm>
          <a:prstGeom prst="rect">
            <a:avLst/>
          </a:prstGeom>
        </p:spPr>
      </p:pic>
      <p:sp>
        <p:nvSpPr>
          <p:cNvPr id="693" name="Rule"/>
          <p:cNvSpPr/>
          <p:nvPr/>
        </p:nvSpPr>
        <p:spPr>
          <a:xfrm>
            <a:off x="7557516" y="4645152"/>
            <a:ext cx="1956816" cy="9144"/>
          </a:xfrm>
          <a:prstGeom prst="rect">
            <a:avLst/>
          </a:prstGeom>
          <a:solidFill>
            <a:srgbClr val="E3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5" name="Logo JLL" descr="JLL Partners logo"/>
          <p:cNvPicPr>
            <a:picLocks noChangeAspect="1"/>
          </p:cNvPicPr>
          <p:nvPr/>
        </p:nvPicPr>
        <p:blipFill>
          <a:blip r:embed="rId100"/>
          <a:stretch>
            <a:fillRect/>
          </a:stretch>
        </p:blipFill>
        <p:spPr>
          <a:xfrm>
            <a:off x="8638525" y="4814316"/>
            <a:ext cx="773205" cy="210312"/>
          </a:xfrm>
          <a:prstGeom prst="rect">
            <a:avLst/>
          </a:prstGeom>
        </p:spPr>
      </p:pic>
      <p:pic>
        <p:nvPicPr>
          <p:cNvPr id="696" name="Logo SOLEO" descr="Soleo Health logo"/>
          <p:cNvPicPr>
            <a:picLocks noChangeAspect="1"/>
          </p:cNvPicPr>
          <p:nvPr/>
        </p:nvPicPr>
        <p:blipFill>
          <a:blip r:embed="rId101"/>
          <a:stretch>
            <a:fillRect/>
          </a:stretch>
        </p:blipFill>
        <p:spPr>
          <a:xfrm>
            <a:off x="7833205" y="5180075"/>
            <a:ext cx="427029" cy="210312"/>
          </a:xfrm>
          <a:prstGeom prst="rect">
            <a:avLst/>
          </a:prstGeom>
        </p:spPr>
      </p:pic>
      <p:sp>
        <p:nvSpPr>
          <p:cNvPr id="697" name="Label GenieRx Holdings"/>
          <p:cNvSpPr txBox="1"/>
          <p:nvPr/>
        </p:nvSpPr>
        <p:spPr>
          <a:xfrm>
            <a:off x="8563356" y="5148071"/>
            <a:ext cx="923544" cy="274320"/>
          </a:xfrm>
          <a:prstGeom prst="rect">
            <a:avLst/>
          </a:prstGeom>
          <a:noFill/>
        </p:spPr>
        <p:txBody>
          <a:bodyPr wrap="square" lIns="0" tIns="0" rIns="0" bIns="0" anchor="ctr">
            <a:spAutoFit/>
          </a:bodyPr>
          <a:lstStyle/>
          <a:p>
            <a:pPr algn="ctr"/>
            <a:r>
              <a:rPr sz="800" b="1">
                <a:solidFill>
                  <a:srgbClr val="333231"/>
                </a:solidFill>
                <a:latin typeface="Calibri"/>
              </a:rPr>
              <a:t>GenieRx Holdings</a:t>
            </a:r>
          </a:p>
        </p:txBody>
      </p:sp>
      <p:pic>
        <p:nvPicPr>
          <p:cNvPr id="698" name="Logo STRATA" descr="Strata Critical Medical logo"/>
          <p:cNvPicPr>
            <a:picLocks noChangeAspect="1"/>
          </p:cNvPicPr>
          <p:nvPr/>
        </p:nvPicPr>
        <p:blipFill>
          <a:blip r:embed="rId102"/>
          <a:stretch>
            <a:fillRect/>
          </a:stretch>
        </p:blipFill>
        <p:spPr>
          <a:xfrm>
            <a:off x="7607808" y="5571189"/>
            <a:ext cx="877824" cy="159604"/>
          </a:xfrm>
          <a:prstGeom prst="rect">
            <a:avLst/>
          </a:prstGeom>
        </p:spPr>
      </p:pic>
      <p:sp>
        <p:nvSpPr>
          <p:cNvPr id="699" name="Label VeloSource (Interlock Equity)"/>
          <p:cNvSpPr txBox="1"/>
          <p:nvPr/>
        </p:nvSpPr>
        <p:spPr>
          <a:xfrm>
            <a:off x="8563356" y="5513831"/>
            <a:ext cx="923544" cy="274320"/>
          </a:xfrm>
          <a:prstGeom prst="rect">
            <a:avLst/>
          </a:prstGeom>
          <a:noFill/>
        </p:spPr>
        <p:txBody>
          <a:bodyPr wrap="square" lIns="0" tIns="0" rIns="0" bIns="0" anchor="ctr">
            <a:spAutoFit/>
          </a:bodyPr>
          <a:lstStyle/>
          <a:p>
            <a:pPr algn="ctr"/>
            <a:r>
              <a:rPr sz="800" b="1">
                <a:solidFill>
                  <a:srgbClr val="333231"/>
                </a:solidFill>
                <a:latin typeface="Calibri"/>
              </a:rPr>
              <a:t>VeloSource (Interlock Equity)</a:t>
            </a:r>
          </a:p>
        </p:txBody>
      </p:sp>
      <p:pic>
        <p:nvPicPr>
          <p:cNvPr id="700" name="Logo CARECAREER" descr="Care Career logo"/>
          <p:cNvPicPr>
            <a:picLocks noChangeAspect="1"/>
          </p:cNvPicPr>
          <p:nvPr/>
        </p:nvPicPr>
        <p:blipFill>
          <a:blip r:embed="rId103"/>
          <a:stretch>
            <a:fillRect/>
          </a:stretch>
        </p:blipFill>
        <p:spPr>
          <a:xfrm>
            <a:off x="7847438" y="5911596"/>
            <a:ext cx="398563" cy="210312"/>
          </a:xfrm>
          <a:prstGeom prst="rect">
            <a:avLst/>
          </a:prstGeom>
        </p:spPr>
      </p:pic>
      <p:pic>
        <p:nvPicPr>
          <p:cNvPr id="701" name="Logo ELITE365" descr="Elite365 Family of Brands logo"/>
          <p:cNvPicPr>
            <a:picLocks noChangeAspect="1"/>
          </p:cNvPicPr>
          <p:nvPr/>
        </p:nvPicPr>
        <p:blipFill>
          <a:blip r:embed="rId104"/>
          <a:stretch>
            <a:fillRect/>
          </a:stretch>
        </p:blipFill>
        <p:spPr>
          <a:xfrm>
            <a:off x="8818370" y="5879592"/>
            <a:ext cx="413515" cy="274320"/>
          </a:xfrm>
          <a:prstGeom prst="rect">
            <a:avLst/>
          </a:prstGeom>
        </p:spPr>
      </p:pic>
      <p:pic>
        <p:nvPicPr>
          <p:cNvPr id="702" name="Logo MYEYEDR" descr="MyEyeDr. logo"/>
          <p:cNvPicPr>
            <a:picLocks noChangeAspect="1"/>
          </p:cNvPicPr>
          <p:nvPr/>
        </p:nvPicPr>
        <p:blipFill>
          <a:blip r:embed="rId105"/>
          <a:stretch>
            <a:fillRect/>
          </a:stretch>
        </p:blipFill>
        <p:spPr>
          <a:xfrm>
            <a:off x="1572768" y="4843264"/>
            <a:ext cx="877824" cy="152415"/>
          </a:xfrm>
          <a:prstGeom prst="rect">
            <a:avLst/>
          </a:prstGeom>
        </p:spPr>
      </p:pic>
      <p:pic>
        <p:nvPicPr>
          <p:cNvPr id="703" name="Logo KNOXLANE" descr="Knox Lane logo"/>
          <p:cNvPicPr>
            <a:picLocks noChangeAspect="1"/>
          </p:cNvPicPr>
          <p:nvPr/>
        </p:nvPicPr>
        <p:blipFill>
          <a:blip r:embed="rId106"/>
          <a:stretch>
            <a:fillRect/>
          </a:stretch>
        </p:blipFill>
        <p:spPr>
          <a:xfrm>
            <a:off x="7607808" y="4866076"/>
            <a:ext cx="877824" cy="106791"/>
          </a:xfrm>
          <a:prstGeom prst="rect">
            <a:avLst/>
          </a:prstGeom>
        </p:spPr>
      </p:pic>
      <p:pic>
        <p:nvPicPr>
          <p:cNvPr id="704" name="Logo ITGR" descr="Integer Holdings logo">
            <a:hlinkClick r:id="rId107"/>
          </p:cNvPr>
          <p:cNvPicPr>
            <a:picLocks noChangeAspect="1"/>
          </p:cNvPicPr>
          <p:nvPr/>
        </p:nvPicPr>
        <p:blipFill>
          <a:blip r:embed="rId108"/>
          <a:stretch>
            <a:fillRect/>
          </a:stretch>
        </p:blipFill>
        <p:spPr>
          <a:xfrm>
            <a:off x="6261607" y="3209544"/>
            <a:ext cx="845312" cy="2377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Select Recent Healthcare M&amp;A Transactions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Six transactions announced or completed between June and September 2026, with at least one from each sector.</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2971800" cy="2771775"/>
          </a:xfrm>
          <a:prstGeom prst="rect">
            <a:avLst/>
          </a:prstGeom>
          <a:solidFill>
            <a:srgbClr val="FAF7F3"/>
          </a:solidFill>
          <a:ln>
            <a:noFill/>
          </a:ln>
          <a:effectLst/>
        </p:spPr>
        <p:txBody>
          <a:bodyPr rtlCol="0" anchor="ctr"/>
          <a:lstStyle/>
          <a:p>
            <a:pPr algn="ctr"/>
            <a:endParaRPr/>
          </a:p>
        </p:txBody>
      </p:sp>
      <p:sp>
        <p:nvSpPr>
          <p:cNvPr id="9" name="Shape 4"/>
          <p:cNvSpPr/>
          <p:nvPr/>
        </p:nvSpPr>
        <p:spPr>
          <a:xfrm>
            <a:off x="419100" y="1238250"/>
            <a:ext cx="2971800" cy="28575"/>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419100" y="1323975"/>
            <a:ext cx="995362" cy="209550"/>
          </a:xfrm>
          <a:prstGeom prst="rect">
            <a:avLst/>
          </a:prstGeom>
          <a:solidFill>
            <a:srgbClr val="1B1A1A"/>
          </a:solidFill>
          <a:ln>
            <a:noFill/>
          </a:ln>
          <a:effectLst/>
        </p:spPr>
        <p:txBody>
          <a:bodyPr rtlCol="0" anchor="ctr"/>
          <a:lstStyle/>
          <a:p>
            <a:pPr algn="ctr"/>
            <a:endParaRPr/>
          </a:p>
        </p:txBody>
      </p:sp>
      <p:sp>
        <p:nvSpPr>
          <p:cNvPr id="11" name="TextBox 5"/>
          <p:cNvSpPr txBox="1"/>
          <p:nvPr/>
        </p:nvSpPr>
        <p:spPr>
          <a:xfrm>
            <a:off x="504825" y="1371600"/>
            <a:ext cx="979170"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SEPTEMBER 2026</a:t>
            </a:r>
          </a:p>
        </p:txBody>
      </p:sp>
      <p:sp>
        <p:nvSpPr>
          <p:cNvPr id="12" name="TextBox 6"/>
          <p:cNvSpPr txBox="1"/>
          <p:nvPr/>
        </p:nvSpPr>
        <p:spPr>
          <a:xfrm>
            <a:off x="23444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19" name="TextBox 8"/>
          <p:cNvSpPr txBox="1"/>
          <p:nvPr/>
        </p:nvSpPr>
        <p:spPr>
          <a:xfrm>
            <a:off x="1676400" y="1747838"/>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26" name="TextBox 10"/>
          <p:cNvSpPr txBox="1"/>
          <p:nvPr/>
        </p:nvSpPr>
        <p:spPr>
          <a:xfrm>
            <a:off x="561975" y="2171700"/>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MyEyeDr. agrees to buy the optometry business of EyeCare Partners</a:t>
            </a:r>
          </a:p>
        </p:txBody>
      </p:sp>
      <p:sp>
        <p:nvSpPr>
          <p:cNvPr id="27" name="TextBox 11"/>
          <p:cNvSpPr txBox="1"/>
          <p:nvPr/>
        </p:nvSpPr>
        <p:spPr>
          <a:xfrm>
            <a:off x="561975" y="2552700"/>
            <a:ext cx="2700338" cy="628650"/>
          </a:xfrm>
          <a:prstGeom prst="rect">
            <a:avLst/>
          </a:prstGeom>
          <a:noFill/>
        </p:spPr>
        <p:txBody>
          <a:bodyPr wrap="square" lIns="0" tIns="0" rIns="0" bIns="0" anchor="t">
            <a:spAutoFit/>
          </a:bodyPr>
          <a:lstStyle/>
          <a:p>
            <a:pPr algn="l">
              <a:lnSpc>
                <a:spcPts val="1312"/>
              </a:lnSpc>
            </a:pPr>
            <a:r>
              <a:rPr sz="900" b="0" i="0" spc="15">
                <a:solidFill>
                  <a:srgbClr val="333231"/>
                </a:solidFill>
                <a:latin typeface="Calibri"/>
              </a:rPr>
              <a:t>The business has more than 300 offices (</a:t>
            </a:r>
            <a:r>
              <a:rPr sz="900" b="0" i="0" spc="15">
                <a:solidFill>
                  <a:srgbClr val="8C6239"/>
                </a:solidFill>
                <a:latin typeface="Calibri"/>
                <a:hlinkClick r:id="rId2"/>
              </a:rPr>
              <a:t>Eyewire News</a:t>
            </a:r>
            <a:r>
              <a:rPr sz="900" b="0" i="0" spc="15">
                <a:solidFill>
                  <a:srgbClr val="333231"/>
                </a:solidFill>
                <a:latin typeface="Calibri"/>
              </a:rPr>
              <a:t>), and EyeCare Partners will apply the proceeds to debt reduction. Closing is expected in the fourth quarter (</a:t>
            </a:r>
            <a:r>
              <a:rPr sz="900" b="0" i="0" spc="15">
                <a:solidFill>
                  <a:srgbClr val="8C6239"/>
                </a:solidFill>
                <a:latin typeface="Calibri"/>
                <a:hlinkClick r:id="rId3"/>
              </a:rPr>
              <a:t>EyeCare Partners</a:t>
            </a:r>
            <a:r>
              <a:rPr sz="900" b="0" i="0" spc="15">
                <a:solidFill>
                  <a:srgbClr val="333231"/>
                </a:solidFill>
                <a:latin typeface="Calibri"/>
              </a:rPr>
              <a:t>).</a:t>
            </a:r>
          </a:p>
        </p:txBody>
      </p:sp>
      <p:sp>
        <p:nvSpPr>
          <p:cNvPr id="28" name="Shape 16"/>
          <p:cNvSpPr/>
          <p:nvPr/>
        </p:nvSpPr>
        <p:spPr>
          <a:xfrm>
            <a:off x="561975" y="3505200"/>
            <a:ext cx="2686050" cy="9525"/>
          </a:xfrm>
          <a:prstGeom prst="rect">
            <a:avLst/>
          </a:prstGeom>
          <a:solidFill>
            <a:srgbClr val="E3DCD3"/>
          </a:solidFill>
          <a:ln>
            <a:noFill/>
          </a:ln>
          <a:effectLst/>
        </p:spPr>
        <p:txBody>
          <a:bodyPr rtlCol="0" anchor="ctr"/>
          <a:lstStyle/>
          <a:p>
            <a:pPr algn="ctr"/>
            <a:endParaRPr/>
          </a:p>
        </p:txBody>
      </p:sp>
      <p:sp>
        <p:nvSpPr>
          <p:cNvPr id="29" name="TextBox 12"/>
          <p:cNvSpPr txBox="1"/>
          <p:nvPr/>
        </p:nvSpPr>
        <p:spPr>
          <a:xfrm>
            <a:off x="561975" y="3590925"/>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 sponsor-backed platform sold a division to a competitor to repair its balance sheet; the consolidator with capacity set the terms.</a:t>
            </a:r>
          </a:p>
        </p:txBody>
      </p:sp>
      <p:sp>
        <p:nvSpPr>
          <p:cNvPr id="30" name="Shape 17"/>
          <p:cNvSpPr/>
          <p:nvPr/>
        </p:nvSpPr>
        <p:spPr>
          <a:xfrm>
            <a:off x="3543300" y="1238250"/>
            <a:ext cx="2971800" cy="2771775"/>
          </a:xfrm>
          <a:prstGeom prst="rect">
            <a:avLst/>
          </a:prstGeom>
          <a:solidFill>
            <a:srgbClr val="FAF7F3"/>
          </a:solidFill>
          <a:ln>
            <a:noFill/>
          </a:ln>
          <a:effectLst/>
        </p:spPr>
        <p:txBody>
          <a:bodyPr rtlCol="0" anchor="ctr"/>
          <a:lstStyle/>
          <a:p>
            <a:pPr algn="ctr"/>
            <a:endParaRPr/>
          </a:p>
        </p:txBody>
      </p:sp>
      <p:sp>
        <p:nvSpPr>
          <p:cNvPr id="31" name="Shape 18"/>
          <p:cNvSpPr/>
          <p:nvPr/>
        </p:nvSpPr>
        <p:spPr>
          <a:xfrm>
            <a:off x="3543300" y="1238250"/>
            <a:ext cx="2971800" cy="28575"/>
          </a:xfrm>
          <a:prstGeom prst="rect">
            <a:avLst/>
          </a:prstGeom>
          <a:solidFill>
            <a:srgbClr val="B68757"/>
          </a:solidFill>
          <a:ln>
            <a:noFill/>
          </a:ln>
          <a:effectLst/>
        </p:spPr>
        <p:txBody>
          <a:bodyPr rtlCol="0" anchor="ctr"/>
          <a:lstStyle/>
          <a:p>
            <a:pPr algn="ctr"/>
            <a:endParaRPr/>
          </a:p>
        </p:txBody>
      </p:sp>
      <p:sp>
        <p:nvSpPr>
          <p:cNvPr id="32" name="Shape 19"/>
          <p:cNvSpPr/>
          <p:nvPr/>
        </p:nvSpPr>
        <p:spPr>
          <a:xfrm>
            <a:off x="3543300" y="1323975"/>
            <a:ext cx="995362" cy="209550"/>
          </a:xfrm>
          <a:prstGeom prst="rect">
            <a:avLst/>
          </a:prstGeom>
          <a:solidFill>
            <a:srgbClr val="1B1A1A"/>
          </a:solidFill>
          <a:ln>
            <a:noFill/>
          </a:ln>
          <a:effectLst/>
        </p:spPr>
        <p:txBody>
          <a:bodyPr rtlCol="0" anchor="ctr"/>
          <a:lstStyle/>
          <a:p>
            <a:pPr algn="ctr"/>
            <a:endParaRPr/>
          </a:p>
        </p:txBody>
      </p:sp>
      <p:sp>
        <p:nvSpPr>
          <p:cNvPr id="33" name="TextBox 13"/>
          <p:cNvSpPr txBox="1"/>
          <p:nvPr/>
        </p:nvSpPr>
        <p:spPr>
          <a:xfrm>
            <a:off x="3629025" y="1371600"/>
            <a:ext cx="979170"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SEPTEMBER 2026</a:t>
            </a:r>
          </a:p>
        </p:txBody>
      </p:sp>
      <p:sp>
        <p:nvSpPr>
          <p:cNvPr id="34" name="TextBox 14"/>
          <p:cNvSpPr txBox="1"/>
          <p:nvPr/>
        </p:nvSpPr>
        <p:spPr>
          <a:xfrm>
            <a:off x="5468689" y="1371600"/>
            <a:ext cx="917823"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PROVIDER SERVICES</a:t>
            </a:r>
          </a:p>
        </p:txBody>
      </p:sp>
      <p:sp>
        <p:nvSpPr>
          <p:cNvPr id="41" name="TextBox 16"/>
          <p:cNvSpPr txBox="1"/>
          <p:nvPr/>
        </p:nvSpPr>
        <p:spPr>
          <a:xfrm>
            <a:off x="4800600" y="1747838"/>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48" name="TextBox 18"/>
          <p:cNvSpPr txBox="1"/>
          <p:nvPr/>
        </p:nvSpPr>
        <p:spPr>
          <a:xfrm>
            <a:off x="3686175" y="2171700"/>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Addus HomeCare agrees to buy AccentCare’s personal care division</a:t>
            </a:r>
          </a:p>
        </p:txBody>
      </p:sp>
      <p:sp>
        <p:nvSpPr>
          <p:cNvPr id="49" name="TextBox 19"/>
          <p:cNvSpPr txBox="1"/>
          <p:nvPr/>
        </p:nvSpPr>
        <p:spPr>
          <a:xfrm>
            <a:off x="3686175" y="2552700"/>
            <a:ext cx="2700338" cy="471488"/>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Addus will pay about $275 million for AccentCare’s personal care operations outside New York, with about $280 million of annual revenue in ten states (</a:t>
            </a:r>
            <a:r>
              <a:rPr sz="861" b="0" i="0" spc="15">
                <a:solidFill>
                  <a:srgbClr val="8C6239"/>
                </a:solidFill>
                <a:latin typeface="Calibri"/>
                <a:hlinkClick r:id="rId4"/>
              </a:rPr>
              <a:t>Addus HomeCare</a:t>
            </a:r>
            <a:r>
              <a:rPr sz="861" b="0" i="0" spc="15">
                <a:solidFill>
                  <a:srgbClr val="333231"/>
                </a:solidFill>
                <a:latin typeface="Calibri"/>
              </a:rPr>
              <a:t>).</a:t>
            </a:r>
          </a:p>
        </p:txBody>
      </p:sp>
      <p:sp>
        <p:nvSpPr>
          <p:cNvPr id="50" name="Shape 30"/>
          <p:cNvSpPr/>
          <p:nvPr/>
        </p:nvSpPr>
        <p:spPr>
          <a:xfrm>
            <a:off x="3686175" y="3505200"/>
            <a:ext cx="2686050" cy="9525"/>
          </a:xfrm>
          <a:prstGeom prst="rect">
            <a:avLst/>
          </a:prstGeom>
          <a:solidFill>
            <a:srgbClr val="E3DCD3"/>
          </a:solidFill>
          <a:ln>
            <a:noFill/>
          </a:ln>
          <a:effectLst/>
        </p:spPr>
        <p:txBody>
          <a:bodyPr rtlCol="0" anchor="ctr"/>
          <a:lstStyle/>
          <a:p>
            <a:pPr algn="ctr"/>
            <a:endParaRPr/>
          </a:p>
        </p:txBody>
      </p:sp>
      <p:sp>
        <p:nvSpPr>
          <p:cNvPr id="51" name="TextBox 20"/>
          <p:cNvSpPr txBox="1"/>
          <p:nvPr/>
        </p:nvSpPr>
        <p:spPr>
          <a:xfrm>
            <a:off x="3686175" y="3590925"/>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About one times revenue, paid in cash by a listed operator, is the current reference for personal care scale.</a:t>
            </a:r>
          </a:p>
        </p:txBody>
      </p:sp>
      <p:sp>
        <p:nvSpPr>
          <p:cNvPr id="52" name="Shape 31"/>
          <p:cNvSpPr/>
          <p:nvPr/>
        </p:nvSpPr>
        <p:spPr>
          <a:xfrm>
            <a:off x="6667500" y="1238250"/>
            <a:ext cx="2971800" cy="2771775"/>
          </a:xfrm>
          <a:prstGeom prst="rect">
            <a:avLst/>
          </a:prstGeom>
          <a:solidFill>
            <a:srgbClr val="FAF7F3"/>
          </a:solidFill>
          <a:ln>
            <a:noFill/>
          </a:ln>
          <a:effectLst/>
        </p:spPr>
        <p:txBody>
          <a:bodyPr rtlCol="0" anchor="ctr"/>
          <a:lstStyle/>
          <a:p>
            <a:pPr algn="ctr"/>
            <a:endParaRPr/>
          </a:p>
        </p:txBody>
      </p:sp>
      <p:sp>
        <p:nvSpPr>
          <p:cNvPr id="53" name="Shape 32"/>
          <p:cNvSpPr/>
          <p:nvPr/>
        </p:nvSpPr>
        <p:spPr>
          <a:xfrm>
            <a:off x="6667500" y="1238250"/>
            <a:ext cx="2971800" cy="28575"/>
          </a:xfrm>
          <a:prstGeom prst="rect">
            <a:avLst/>
          </a:prstGeom>
          <a:solidFill>
            <a:srgbClr val="B68757"/>
          </a:solidFill>
          <a:ln>
            <a:noFill/>
          </a:ln>
          <a:effectLst/>
        </p:spPr>
        <p:txBody>
          <a:bodyPr rtlCol="0" anchor="ctr"/>
          <a:lstStyle/>
          <a:p>
            <a:pPr algn="ctr"/>
            <a:endParaRPr/>
          </a:p>
        </p:txBody>
      </p:sp>
      <p:sp>
        <p:nvSpPr>
          <p:cNvPr id="54" name="Shape 33"/>
          <p:cNvSpPr/>
          <p:nvPr/>
        </p:nvSpPr>
        <p:spPr>
          <a:xfrm>
            <a:off x="6667500" y="1323975"/>
            <a:ext cx="680740" cy="209550"/>
          </a:xfrm>
          <a:prstGeom prst="rect">
            <a:avLst/>
          </a:prstGeom>
          <a:solidFill>
            <a:srgbClr val="1B1A1A"/>
          </a:solidFill>
          <a:ln>
            <a:noFill/>
          </a:ln>
          <a:effectLst/>
        </p:spPr>
        <p:txBody>
          <a:bodyPr rtlCol="0" anchor="ctr"/>
          <a:lstStyle/>
          <a:p>
            <a:pPr algn="ctr"/>
            <a:endParaRPr/>
          </a:p>
        </p:txBody>
      </p:sp>
      <p:sp>
        <p:nvSpPr>
          <p:cNvPr id="55" name="TextBox 21"/>
          <p:cNvSpPr txBox="1"/>
          <p:nvPr/>
        </p:nvSpPr>
        <p:spPr>
          <a:xfrm>
            <a:off x="6753225" y="1371600"/>
            <a:ext cx="633085"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JUNE 2026</a:t>
            </a:r>
          </a:p>
        </p:txBody>
      </p:sp>
      <p:sp>
        <p:nvSpPr>
          <p:cNvPr id="56" name="TextBox 22"/>
          <p:cNvSpPr txBox="1"/>
          <p:nvPr/>
        </p:nvSpPr>
        <p:spPr>
          <a:xfrm>
            <a:off x="8115895" y="1371600"/>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63" name="TextBox 24"/>
          <p:cNvSpPr txBox="1"/>
          <p:nvPr/>
        </p:nvSpPr>
        <p:spPr>
          <a:xfrm>
            <a:off x="7924800" y="1747838"/>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70" name="TextBox 26"/>
          <p:cNvSpPr txBox="1"/>
          <p:nvPr/>
        </p:nvSpPr>
        <p:spPr>
          <a:xfrm>
            <a:off x="6810375" y="2171700"/>
            <a:ext cx="2700338" cy="166688"/>
          </a:xfrm>
          <a:prstGeom prst="rect">
            <a:avLst/>
          </a:prstGeom>
          <a:noFill/>
        </p:spPr>
        <p:txBody>
          <a:bodyPr wrap="square" lIns="0" tIns="0" rIns="0" bIns="0" anchor="t">
            <a:spAutoFit/>
          </a:bodyPr>
          <a:lstStyle/>
          <a:p>
            <a:pPr algn="l">
              <a:lnSpc>
                <a:spcPts val="1509"/>
              </a:lnSpc>
            </a:pPr>
            <a:r>
              <a:rPr sz="1100" b="1" i="0" spc="15">
                <a:solidFill>
                  <a:srgbClr val="1B1A1A"/>
                </a:solidFill>
                <a:latin typeface="Calibri"/>
              </a:rPr>
              <a:t>Merck KGaA agrees to acquire Bio-Techne</a:t>
            </a:r>
          </a:p>
        </p:txBody>
      </p:sp>
      <p:sp>
        <p:nvSpPr>
          <p:cNvPr id="71" name="TextBox 27"/>
          <p:cNvSpPr txBox="1"/>
          <p:nvPr/>
        </p:nvSpPr>
        <p:spPr>
          <a:xfrm>
            <a:off x="6810375" y="2386012"/>
            <a:ext cx="2700338" cy="471488"/>
          </a:xfrm>
          <a:prstGeom prst="rect">
            <a:avLst/>
          </a:prstGeom>
          <a:noFill/>
        </p:spPr>
        <p:txBody>
          <a:bodyPr wrap="square" lIns="0" tIns="0" rIns="0" bIns="0" anchor="t">
            <a:spAutoFit/>
          </a:bodyPr>
          <a:lstStyle/>
          <a:p>
            <a:pPr algn="l">
              <a:lnSpc>
                <a:spcPts val="1312"/>
              </a:lnSpc>
            </a:pPr>
            <a:r>
              <a:rPr sz="900" b="0" i="0" spc="15">
                <a:solidFill>
                  <a:srgbClr val="333231"/>
                </a:solidFill>
                <a:latin typeface="Calibri"/>
              </a:rPr>
              <a:t>The agreement values the reagent and instrument maker at an enterprise value of $11.3 billion, with closing expected by early 2027 (</a:t>
            </a:r>
            <a:r>
              <a:rPr sz="900" b="0" i="0" spc="15">
                <a:solidFill>
                  <a:srgbClr val="8C6239"/>
                </a:solidFill>
                <a:latin typeface="Calibri"/>
                <a:hlinkClick r:id="rId5">
                  <a:extLst>
                    <a:ext uri="{A12FA001-AC4F-418D-AE19-62706E023703}">
                      <ahyp:hlinkClr xmlns:ahyp="http://schemas.microsoft.com/office/drawing/2018/hyperlinkcolor" val="tx"/>
                    </a:ext>
                  </a:extLst>
                </a:hlinkClick>
              </a:rPr>
              <a:t>Bio-Techne</a:t>
            </a:r>
            <a:r>
              <a:rPr sz="900" b="0" i="0" spc="15">
                <a:solidFill>
                  <a:srgbClr val="333231"/>
                </a:solidFill>
                <a:latin typeface="Calibri"/>
              </a:rPr>
              <a:t>).</a:t>
            </a:r>
          </a:p>
        </p:txBody>
      </p:sp>
      <p:sp>
        <p:nvSpPr>
          <p:cNvPr id="72" name="Shape 44"/>
          <p:cNvSpPr/>
          <p:nvPr/>
        </p:nvSpPr>
        <p:spPr>
          <a:xfrm>
            <a:off x="6810375" y="3505200"/>
            <a:ext cx="2686050" cy="9525"/>
          </a:xfrm>
          <a:prstGeom prst="rect">
            <a:avLst/>
          </a:prstGeom>
          <a:solidFill>
            <a:srgbClr val="E3DCD3"/>
          </a:solidFill>
          <a:ln>
            <a:noFill/>
          </a:ln>
          <a:effectLst/>
        </p:spPr>
        <p:txBody>
          <a:bodyPr rtlCol="0" anchor="ctr"/>
          <a:lstStyle/>
          <a:p>
            <a:pPr algn="ctr"/>
            <a:endParaRPr/>
          </a:p>
        </p:txBody>
      </p:sp>
      <p:sp>
        <p:nvSpPr>
          <p:cNvPr id="73" name="TextBox 28"/>
          <p:cNvSpPr txBox="1"/>
          <p:nvPr/>
        </p:nvSpPr>
        <p:spPr>
          <a:xfrm>
            <a:off x="6810375" y="3590925"/>
            <a:ext cx="2700338" cy="304800"/>
          </a:xfrm>
          <a:prstGeom prst="rect">
            <a:avLst/>
          </a:prstGeom>
          <a:noFill/>
        </p:spPr>
        <p:txBody>
          <a:bodyPr wrap="square" lIns="0" tIns="0" rIns="0" bIns="0" anchor="t">
            <a:spAutoFit/>
          </a:bodyPr>
          <a:lstStyle/>
          <a:p>
            <a:pPr algn="l">
              <a:lnSpc>
                <a:spcPts val="1125"/>
              </a:lnSpc>
            </a:pPr>
            <a:r>
              <a:rPr sz="638" b="1" i="0" spc="120">
                <a:solidFill>
                  <a:srgbClr val="8C6239"/>
                </a:solidFill>
                <a:latin typeface="Calibri"/>
              </a:rPr>
              <a:t>TAKEAWAY </a:t>
            </a:r>
            <a:r>
              <a:rPr sz="861" b="0" i="0" spc="15">
                <a:solidFill>
                  <a:srgbClr val="333231"/>
                </a:solidFill>
                <a:latin typeface="Calibri"/>
              </a:rPr>
              <a:t>A strategic paid a 36% premium for reagents and instruments with recurring consumable demand.</a:t>
            </a:r>
          </a:p>
        </p:txBody>
      </p:sp>
      <p:sp>
        <p:nvSpPr>
          <p:cNvPr id="74" name="Shape 45"/>
          <p:cNvSpPr/>
          <p:nvPr/>
        </p:nvSpPr>
        <p:spPr>
          <a:xfrm>
            <a:off x="419100" y="4162425"/>
            <a:ext cx="2971800" cy="2771775"/>
          </a:xfrm>
          <a:prstGeom prst="rect">
            <a:avLst/>
          </a:prstGeom>
          <a:solidFill>
            <a:srgbClr val="FAF7F3"/>
          </a:solidFill>
          <a:ln>
            <a:noFill/>
          </a:ln>
          <a:effectLst/>
        </p:spPr>
        <p:txBody>
          <a:bodyPr rtlCol="0" anchor="ctr"/>
          <a:lstStyle/>
          <a:p>
            <a:pPr algn="ctr"/>
            <a:endParaRPr/>
          </a:p>
        </p:txBody>
      </p:sp>
      <p:sp>
        <p:nvSpPr>
          <p:cNvPr id="75" name="Shape 46"/>
          <p:cNvSpPr/>
          <p:nvPr/>
        </p:nvSpPr>
        <p:spPr>
          <a:xfrm>
            <a:off x="419100" y="4162425"/>
            <a:ext cx="2971800" cy="28575"/>
          </a:xfrm>
          <a:prstGeom prst="rect">
            <a:avLst/>
          </a:prstGeom>
          <a:solidFill>
            <a:srgbClr val="B68757"/>
          </a:solidFill>
          <a:ln>
            <a:noFill/>
          </a:ln>
          <a:effectLst/>
        </p:spPr>
        <p:txBody>
          <a:bodyPr rtlCol="0" anchor="ctr"/>
          <a:lstStyle/>
          <a:p>
            <a:pPr algn="ctr"/>
            <a:endParaRPr/>
          </a:p>
        </p:txBody>
      </p:sp>
      <p:sp>
        <p:nvSpPr>
          <p:cNvPr id="76" name="Shape 47"/>
          <p:cNvSpPr/>
          <p:nvPr/>
        </p:nvSpPr>
        <p:spPr>
          <a:xfrm>
            <a:off x="419100" y="4248150"/>
            <a:ext cx="995362" cy="209550"/>
          </a:xfrm>
          <a:prstGeom prst="rect">
            <a:avLst/>
          </a:prstGeom>
          <a:solidFill>
            <a:srgbClr val="1B1A1A"/>
          </a:solidFill>
          <a:ln>
            <a:noFill/>
          </a:ln>
          <a:effectLst/>
        </p:spPr>
        <p:txBody>
          <a:bodyPr rtlCol="0" anchor="ctr"/>
          <a:lstStyle/>
          <a:p>
            <a:pPr algn="ctr"/>
            <a:endParaRPr/>
          </a:p>
        </p:txBody>
      </p:sp>
      <p:sp>
        <p:nvSpPr>
          <p:cNvPr id="77" name="TextBox 29"/>
          <p:cNvSpPr txBox="1"/>
          <p:nvPr/>
        </p:nvSpPr>
        <p:spPr>
          <a:xfrm>
            <a:off x="504825" y="4295775"/>
            <a:ext cx="979170"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JULY 2026</a:t>
            </a:r>
          </a:p>
        </p:txBody>
      </p:sp>
      <p:sp>
        <p:nvSpPr>
          <p:cNvPr id="78" name="TextBox 30"/>
          <p:cNvSpPr txBox="1"/>
          <p:nvPr/>
        </p:nvSpPr>
        <p:spPr>
          <a:xfrm>
            <a:off x="1867495" y="4295775"/>
            <a:ext cx="1394817"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LIFE SCIENCES &amp; DIAGNOSTICS</a:t>
            </a:r>
          </a:p>
        </p:txBody>
      </p:sp>
      <p:sp>
        <p:nvSpPr>
          <p:cNvPr id="85" name="TextBox 32"/>
          <p:cNvSpPr txBox="1"/>
          <p:nvPr/>
        </p:nvSpPr>
        <p:spPr>
          <a:xfrm>
            <a:off x="1676400" y="4672012"/>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92" name="TextBox 34"/>
          <p:cNvSpPr txBox="1"/>
          <p:nvPr/>
        </p:nvSpPr>
        <p:spPr>
          <a:xfrm>
            <a:off x="561975" y="5095875"/>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Leica Biosystems agrees to buy StatLab from Audax and Linden</a:t>
            </a:r>
          </a:p>
        </p:txBody>
      </p:sp>
      <p:sp>
        <p:nvSpPr>
          <p:cNvPr id="93" name="TextBox 35"/>
          <p:cNvSpPr txBox="1"/>
          <p:nvPr/>
        </p:nvSpPr>
        <p:spPr>
          <a:xfrm>
            <a:off x="5619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StatLab makes anatomic pathology consumables and had about $250 million of 2025 revenue (</a:t>
            </a:r>
            <a:r>
              <a:rPr sz="861" b="0" i="0" spc="15">
                <a:solidFill>
                  <a:srgbClr val="8C6239"/>
                </a:solidFill>
                <a:latin typeface="Calibri"/>
                <a:hlinkClick r:id="rId6"/>
              </a:rPr>
              <a:t>Danaher</a:t>
            </a:r>
            <a:r>
              <a:rPr sz="861" b="0" i="0" spc="15">
                <a:solidFill>
                  <a:srgbClr val="333231"/>
                </a:solidFill>
                <a:latin typeface="Calibri"/>
              </a:rPr>
              <a:t>). Its sponsors built it through nine add-on acquisitions in five years (</a:t>
            </a:r>
            <a:r>
              <a:rPr sz="861" b="0" i="0" spc="15">
                <a:solidFill>
                  <a:srgbClr val="8C6239"/>
                </a:solidFill>
                <a:latin typeface="Calibri"/>
                <a:hlinkClick r:id="rId7"/>
              </a:rPr>
              <a:t>PE Professional</a:t>
            </a:r>
            <a:r>
              <a:rPr sz="861" b="0" i="0" spc="15">
                <a:solidFill>
                  <a:srgbClr val="333231"/>
                </a:solidFill>
                <a:latin typeface="Calibri"/>
              </a:rPr>
              <a:t>), and the purchase closed on September 28.</a:t>
            </a:r>
          </a:p>
        </p:txBody>
      </p:sp>
      <p:sp>
        <p:nvSpPr>
          <p:cNvPr id="94" name="Shape 58"/>
          <p:cNvSpPr/>
          <p:nvPr/>
        </p:nvSpPr>
        <p:spPr>
          <a:xfrm>
            <a:off x="561975" y="6429375"/>
            <a:ext cx="2686050" cy="9525"/>
          </a:xfrm>
          <a:prstGeom prst="rect">
            <a:avLst/>
          </a:prstGeom>
          <a:solidFill>
            <a:srgbClr val="E3DCD3"/>
          </a:solidFill>
          <a:ln>
            <a:noFill/>
          </a:ln>
          <a:effectLst/>
        </p:spPr>
        <p:txBody>
          <a:bodyPr rtlCol="0" anchor="ctr"/>
          <a:lstStyle/>
          <a:p>
            <a:pPr algn="ctr"/>
            <a:endParaRPr/>
          </a:p>
        </p:txBody>
      </p:sp>
      <p:sp>
        <p:nvSpPr>
          <p:cNvPr id="95" name="TextBox 36"/>
          <p:cNvSpPr txBox="1"/>
          <p:nvPr/>
        </p:nvSpPr>
        <p:spPr>
          <a:xfrm>
            <a:off x="561975" y="6515100"/>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Nine founder-owned businesses assembled over five years became one strategic sale, a path open to other pathology suppliers.</a:t>
            </a:r>
          </a:p>
        </p:txBody>
      </p:sp>
      <p:sp>
        <p:nvSpPr>
          <p:cNvPr id="96" name="Shape 59"/>
          <p:cNvSpPr/>
          <p:nvPr/>
        </p:nvSpPr>
        <p:spPr>
          <a:xfrm>
            <a:off x="3543300" y="4162425"/>
            <a:ext cx="2971800" cy="2771775"/>
          </a:xfrm>
          <a:prstGeom prst="rect">
            <a:avLst/>
          </a:prstGeom>
          <a:solidFill>
            <a:srgbClr val="FAF7F3"/>
          </a:solidFill>
          <a:ln>
            <a:noFill/>
          </a:ln>
          <a:effectLst/>
        </p:spPr>
        <p:txBody>
          <a:bodyPr rtlCol="0" anchor="ctr"/>
          <a:lstStyle/>
          <a:p>
            <a:pPr algn="ctr"/>
            <a:endParaRPr/>
          </a:p>
        </p:txBody>
      </p:sp>
      <p:sp>
        <p:nvSpPr>
          <p:cNvPr id="97" name="Shape 60"/>
          <p:cNvSpPr/>
          <p:nvPr/>
        </p:nvSpPr>
        <p:spPr>
          <a:xfrm>
            <a:off x="3543300" y="4162425"/>
            <a:ext cx="2971800" cy="28575"/>
          </a:xfrm>
          <a:prstGeom prst="rect">
            <a:avLst/>
          </a:prstGeom>
          <a:solidFill>
            <a:srgbClr val="B68757"/>
          </a:solidFill>
          <a:ln>
            <a:noFill/>
          </a:ln>
          <a:effectLst/>
        </p:spPr>
        <p:txBody>
          <a:bodyPr rtlCol="0" anchor="ctr"/>
          <a:lstStyle/>
          <a:p>
            <a:pPr algn="ctr"/>
            <a:endParaRPr/>
          </a:p>
        </p:txBody>
      </p:sp>
      <p:sp>
        <p:nvSpPr>
          <p:cNvPr id="98" name="Shape 61"/>
          <p:cNvSpPr/>
          <p:nvPr/>
        </p:nvSpPr>
        <p:spPr>
          <a:xfrm>
            <a:off x="3543300" y="4248150"/>
            <a:ext cx="825103" cy="209550"/>
          </a:xfrm>
          <a:prstGeom prst="rect">
            <a:avLst/>
          </a:prstGeom>
          <a:solidFill>
            <a:srgbClr val="1B1A1A"/>
          </a:solidFill>
          <a:ln>
            <a:noFill/>
          </a:ln>
          <a:effectLst/>
        </p:spPr>
        <p:txBody>
          <a:bodyPr rtlCol="0" anchor="ctr"/>
          <a:lstStyle/>
          <a:p>
            <a:pPr algn="ctr"/>
            <a:endParaRPr/>
          </a:p>
        </p:txBody>
      </p:sp>
      <p:sp>
        <p:nvSpPr>
          <p:cNvPr id="99" name="TextBox 37"/>
          <p:cNvSpPr txBox="1"/>
          <p:nvPr/>
        </p:nvSpPr>
        <p:spPr>
          <a:xfrm>
            <a:off x="3629025" y="4295775"/>
            <a:ext cx="791885"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AUGUST 2026</a:t>
            </a:r>
          </a:p>
        </p:txBody>
      </p:sp>
      <p:sp>
        <p:nvSpPr>
          <p:cNvPr id="100" name="TextBox 38"/>
          <p:cNvSpPr txBox="1"/>
          <p:nvPr/>
        </p:nvSpPr>
        <p:spPr>
          <a:xfrm>
            <a:off x="4684663" y="4295775"/>
            <a:ext cx="1701850"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MEDICAL PRODUCTS &amp; DISTRIBUTION</a:t>
            </a:r>
          </a:p>
        </p:txBody>
      </p:sp>
      <p:sp>
        <p:nvSpPr>
          <p:cNvPr id="107" name="TextBox 40"/>
          <p:cNvSpPr txBox="1"/>
          <p:nvPr/>
        </p:nvSpPr>
        <p:spPr>
          <a:xfrm>
            <a:off x="4800600" y="4672012"/>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114" name="TextBox 42"/>
          <p:cNvSpPr txBox="1"/>
          <p:nvPr/>
        </p:nvSpPr>
        <p:spPr>
          <a:xfrm>
            <a:off x="3686175" y="5095875"/>
            <a:ext cx="2700338" cy="166688"/>
          </a:xfrm>
          <a:prstGeom prst="rect">
            <a:avLst/>
          </a:prstGeom>
          <a:noFill/>
        </p:spPr>
        <p:txBody>
          <a:bodyPr wrap="square" lIns="0" tIns="0" rIns="0" bIns="0" anchor="t">
            <a:spAutoFit/>
          </a:bodyPr>
          <a:lstStyle/>
          <a:p>
            <a:pPr algn="l">
              <a:lnSpc>
                <a:spcPts val="1509"/>
              </a:lnSpc>
            </a:pPr>
            <a:r>
              <a:rPr sz="1100" b="1" i="0" spc="15">
                <a:solidFill>
                  <a:srgbClr val="1B1A1A"/>
                </a:solidFill>
                <a:latin typeface="Calibri"/>
              </a:rPr>
              <a:t>KKR agrees to take Integer Holdings private</a:t>
            </a:r>
          </a:p>
        </p:txBody>
      </p:sp>
      <p:sp>
        <p:nvSpPr>
          <p:cNvPr id="115" name="TextBox 43"/>
          <p:cNvSpPr txBox="1"/>
          <p:nvPr/>
        </p:nvSpPr>
        <p:spPr>
          <a:xfrm>
            <a:off x="3686175" y="5310188"/>
            <a:ext cx="2700338" cy="471488"/>
          </a:xfrm>
          <a:prstGeom prst="rect">
            <a:avLst/>
          </a:prstGeom>
          <a:noFill/>
        </p:spPr>
        <p:txBody>
          <a:bodyPr wrap="square" lIns="0" tIns="0" rIns="0" bIns="0" anchor="t">
            <a:spAutoFit/>
          </a:bodyPr>
          <a:lstStyle/>
          <a:p>
            <a:pPr algn="l">
              <a:lnSpc>
                <a:spcPts val="1275"/>
              </a:lnSpc>
            </a:pPr>
            <a:r>
              <a:rPr sz="900" b="0" i="0" spc="15">
                <a:solidFill>
                  <a:srgbClr val="333231"/>
                </a:solidFill>
                <a:latin typeface="Calibri"/>
              </a:rPr>
              <a:t>The offer of $127 a share values the contract manufacturer at an enterprise value of $5.7 billion, a 51.8% premium to the undisturbed price (</a:t>
            </a:r>
            <a:r>
              <a:rPr sz="900" b="0" i="0" spc="15">
                <a:solidFill>
                  <a:srgbClr val="8C6239"/>
                </a:solidFill>
                <a:latin typeface="Calibri"/>
                <a:hlinkClick r:id="rId8"/>
              </a:rPr>
              <a:t>Integer</a:t>
            </a:r>
            <a:r>
              <a:rPr sz="900" b="0" i="0" spc="15">
                <a:solidFill>
                  <a:srgbClr val="333231"/>
                </a:solidFill>
                <a:latin typeface="Calibri"/>
              </a:rPr>
              <a:t>; </a:t>
            </a:r>
            <a:r>
              <a:rPr sz="900" b="0" i="0" spc="15">
                <a:solidFill>
                  <a:srgbClr val="8C6239"/>
                </a:solidFill>
                <a:latin typeface="Calibri"/>
                <a:hlinkClick r:id="rId9"/>
              </a:rPr>
              <a:t>Medical Design &amp; Outsourcing</a:t>
            </a:r>
            <a:r>
              <a:rPr sz="900" b="0" i="0" spc="15">
                <a:solidFill>
                  <a:srgbClr val="333231"/>
                </a:solidFill>
                <a:latin typeface="Calibri"/>
              </a:rPr>
              <a:t>). Shareholders vote on October 21 and closing is expected by year end.</a:t>
            </a:r>
          </a:p>
        </p:txBody>
      </p:sp>
      <p:sp>
        <p:nvSpPr>
          <p:cNvPr id="116" name="Shape 72"/>
          <p:cNvSpPr/>
          <p:nvPr/>
        </p:nvSpPr>
        <p:spPr>
          <a:xfrm>
            <a:off x="3686175" y="6429375"/>
            <a:ext cx="2686050" cy="9525"/>
          </a:xfrm>
          <a:prstGeom prst="rect">
            <a:avLst/>
          </a:prstGeom>
          <a:solidFill>
            <a:srgbClr val="E3DCD3"/>
          </a:solidFill>
          <a:ln>
            <a:noFill/>
          </a:ln>
          <a:effectLst/>
        </p:spPr>
        <p:txBody>
          <a:bodyPr rtlCol="0" anchor="ctr"/>
          <a:lstStyle/>
          <a:p>
            <a:pPr algn="ctr"/>
            <a:endParaRPr/>
          </a:p>
        </p:txBody>
      </p:sp>
      <p:sp>
        <p:nvSpPr>
          <p:cNvPr id="117" name="TextBox 44"/>
          <p:cNvSpPr txBox="1"/>
          <p:nvPr/>
        </p:nvSpPr>
        <p:spPr>
          <a:xfrm>
            <a:off x="3686175" y="6515100"/>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 52% premium for contract device manufacturing supports demand for smaller manufacturers as add-ons.</a:t>
            </a:r>
          </a:p>
        </p:txBody>
      </p:sp>
      <p:sp>
        <p:nvSpPr>
          <p:cNvPr id="118" name="Shape 73"/>
          <p:cNvSpPr/>
          <p:nvPr/>
        </p:nvSpPr>
        <p:spPr>
          <a:xfrm>
            <a:off x="6667500" y="4162425"/>
            <a:ext cx="2971800" cy="2771775"/>
          </a:xfrm>
          <a:prstGeom prst="rect">
            <a:avLst/>
          </a:prstGeom>
          <a:solidFill>
            <a:srgbClr val="FAF7F3"/>
          </a:solidFill>
          <a:ln>
            <a:noFill/>
          </a:ln>
          <a:effectLst/>
        </p:spPr>
        <p:txBody>
          <a:bodyPr rtlCol="0" anchor="ctr"/>
          <a:lstStyle/>
          <a:p>
            <a:pPr algn="ctr"/>
            <a:endParaRPr/>
          </a:p>
        </p:txBody>
      </p:sp>
      <p:sp>
        <p:nvSpPr>
          <p:cNvPr id="119" name="Shape 74"/>
          <p:cNvSpPr/>
          <p:nvPr/>
        </p:nvSpPr>
        <p:spPr>
          <a:xfrm>
            <a:off x="6667500" y="4162425"/>
            <a:ext cx="2971800" cy="28575"/>
          </a:xfrm>
          <a:prstGeom prst="rect">
            <a:avLst/>
          </a:prstGeom>
          <a:solidFill>
            <a:srgbClr val="B68757"/>
          </a:solidFill>
          <a:ln>
            <a:noFill/>
          </a:ln>
          <a:effectLst/>
        </p:spPr>
        <p:txBody>
          <a:bodyPr rtlCol="0" anchor="ctr"/>
          <a:lstStyle/>
          <a:p>
            <a:pPr algn="ctr"/>
            <a:endParaRPr/>
          </a:p>
        </p:txBody>
      </p:sp>
      <p:sp>
        <p:nvSpPr>
          <p:cNvPr id="120" name="Shape 75"/>
          <p:cNvSpPr/>
          <p:nvPr/>
        </p:nvSpPr>
        <p:spPr>
          <a:xfrm>
            <a:off x="6667500" y="4248150"/>
            <a:ext cx="657076" cy="209550"/>
          </a:xfrm>
          <a:prstGeom prst="rect">
            <a:avLst/>
          </a:prstGeom>
          <a:solidFill>
            <a:srgbClr val="1B1A1A"/>
          </a:solidFill>
          <a:ln>
            <a:noFill/>
          </a:ln>
          <a:effectLst/>
        </p:spPr>
        <p:txBody>
          <a:bodyPr rtlCol="0" anchor="ctr"/>
          <a:lstStyle/>
          <a:p>
            <a:pPr algn="ctr"/>
            <a:endParaRPr/>
          </a:p>
        </p:txBody>
      </p:sp>
      <p:sp>
        <p:nvSpPr>
          <p:cNvPr id="121" name="TextBox 45"/>
          <p:cNvSpPr txBox="1"/>
          <p:nvPr/>
        </p:nvSpPr>
        <p:spPr>
          <a:xfrm>
            <a:off x="6753225" y="4295775"/>
            <a:ext cx="607055" cy="114300"/>
          </a:xfrm>
          <a:prstGeom prst="rect">
            <a:avLst/>
          </a:prstGeom>
          <a:noFill/>
        </p:spPr>
        <p:txBody>
          <a:bodyPr wrap="square" lIns="0" tIns="0" rIns="0" bIns="0" anchor="t">
            <a:spAutoFit/>
          </a:bodyPr>
          <a:lstStyle/>
          <a:p>
            <a:pPr algn="l">
              <a:lnSpc>
                <a:spcPts val="1035"/>
              </a:lnSpc>
            </a:pPr>
            <a:r>
              <a:rPr sz="750" b="1" i="0" spc="135">
                <a:solidFill>
                  <a:srgbClr val="D3AE84"/>
                </a:solidFill>
                <a:latin typeface="Calibri"/>
              </a:rPr>
              <a:t>JULY 2026</a:t>
            </a:r>
          </a:p>
        </p:txBody>
      </p:sp>
      <p:sp>
        <p:nvSpPr>
          <p:cNvPr id="122" name="TextBox 46"/>
          <p:cNvSpPr txBox="1"/>
          <p:nvPr/>
        </p:nvSpPr>
        <p:spPr>
          <a:xfrm>
            <a:off x="7845028" y="4295775"/>
            <a:ext cx="1665684" cy="114300"/>
          </a:xfrm>
          <a:prstGeom prst="rect">
            <a:avLst/>
          </a:prstGeom>
          <a:noFill/>
        </p:spPr>
        <p:txBody>
          <a:bodyPr wrap="square" lIns="0" tIns="0" rIns="0" bIns="0" anchor="t">
            <a:spAutoFit/>
          </a:bodyPr>
          <a:lstStyle/>
          <a:p>
            <a:pPr algn="r">
              <a:lnSpc>
                <a:spcPts val="900"/>
              </a:lnSpc>
            </a:pPr>
            <a:r>
              <a:rPr sz="638" b="1" i="0" spc="105">
                <a:solidFill>
                  <a:srgbClr val="8C6239"/>
                </a:solidFill>
                <a:latin typeface="Calibri"/>
              </a:rPr>
              <a:t>PHARMACY &amp; HEALTHCARE SERVICES</a:t>
            </a:r>
          </a:p>
        </p:txBody>
      </p:sp>
      <p:sp>
        <p:nvSpPr>
          <p:cNvPr id="129" name="TextBox 48"/>
          <p:cNvSpPr txBox="1"/>
          <p:nvPr/>
        </p:nvSpPr>
        <p:spPr>
          <a:xfrm>
            <a:off x="7924800" y="4672012"/>
            <a:ext cx="471488" cy="200025"/>
          </a:xfrm>
          <a:prstGeom prst="rect">
            <a:avLst/>
          </a:prstGeom>
          <a:noFill/>
        </p:spPr>
        <p:txBody>
          <a:bodyPr wrap="square" lIns="0" tIns="0" rIns="0" bIns="0" anchor="t">
            <a:spAutoFit/>
          </a:bodyPr>
          <a:lstStyle/>
          <a:p>
            <a:pPr algn="ctr">
              <a:lnSpc>
                <a:spcPts val="906"/>
              </a:lnSpc>
            </a:pPr>
            <a:r>
              <a:rPr sz="700" b="0" i="0" spc="60">
                <a:solidFill>
                  <a:srgbClr val="6F6A66"/>
                </a:solidFill>
                <a:latin typeface="Calibri"/>
              </a:rPr>
              <a:t>ACQUIRED BY</a:t>
            </a:r>
          </a:p>
        </p:txBody>
      </p:sp>
      <p:sp>
        <p:nvSpPr>
          <p:cNvPr id="136" name="TextBox 50"/>
          <p:cNvSpPr txBox="1"/>
          <p:nvPr/>
        </p:nvSpPr>
        <p:spPr>
          <a:xfrm>
            <a:off x="6810375" y="5095875"/>
            <a:ext cx="2700338" cy="333375"/>
          </a:xfrm>
          <a:prstGeom prst="rect">
            <a:avLst/>
          </a:prstGeom>
          <a:noFill/>
        </p:spPr>
        <p:txBody>
          <a:bodyPr wrap="square" lIns="0" tIns="0" rIns="0" bIns="0" anchor="t">
            <a:spAutoFit/>
          </a:bodyPr>
          <a:lstStyle/>
          <a:p>
            <a:pPr algn="l">
              <a:lnSpc>
                <a:spcPts val="1430"/>
              </a:lnSpc>
            </a:pPr>
            <a:r>
              <a:rPr sz="1050" b="1" i="0" spc="15">
                <a:solidFill>
                  <a:srgbClr val="1B1A1A"/>
                </a:solidFill>
                <a:latin typeface="Calibri"/>
              </a:rPr>
              <a:t>Knox Lane completes its purchase of Cross Country Healthcare</a:t>
            </a:r>
          </a:p>
        </p:txBody>
      </p:sp>
      <p:sp>
        <p:nvSpPr>
          <p:cNvPr id="137" name="TextBox 51"/>
          <p:cNvSpPr txBox="1"/>
          <p:nvPr/>
        </p:nvSpPr>
        <p:spPr>
          <a:xfrm>
            <a:off x="6810375" y="5476875"/>
            <a:ext cx="2700338" cy="628650"/>
          </a:xfrm>
          <a:prstGeom prst="rect">
            <a:avLst/>
          </a:prstGeom>
          <a:noFill/>
        </p:spPr>
        <p:txBody>
          <a:bodyPr wrap="square" lIns="0" tIns="0" rIns="0" bIns="0" anchor="t">
            <a:spAutoFit/>
          </a:bodyPr>
          <a:lstStyle/>
          <a:p>
            <a:pPr algn="l">
              <a:lnSpc>
                <a:spcPts val="1238"/>
              </a:lnSpc>
            </a:pPr>
            <a:r>
              <a:rPr sz="861" b="0" i="0" spc="15">
                <a:solidFill>
                  <a:srgbClr val="333231"/>
                </a:solidFill>
                <a:latin typeface="Calibri"/>
              </a:rPr>
              <a:t>Knox Lane paid $437 million, or $13.25 a share, after Aya Healthcare ended an agreement at $18.61 following an extended FTC review (</a:t>
            </a:r>
            <a:r>
              <a:rPr sz="861" b="0" i="0" spc="15">
                <a:solidFill>
                  <a:srgbClr val="8C6239"/>
                </a:solidFill>
                <a:latin typeface="Calibri"/>
                <a:hlinkClick r:id="rId10"/>
              </a:rPr>
              <a:t>Fierce Healthcare</a:t>
            </a:r>
            <a:r>
              <a:rPr sz="861" b="0" i="0" spc="15">
                <a:solidFill>
                  <a:srgbClr val="333231"/>
                </a:solidFill>
                <a:latin typeface="Calibri"/>
              </a:rPr>
              <a:t>). The purchase closed on July 21 (</a:t>
            </a:r>
            <a:r>
              <a:rPr sz="861" b="0" i="0" spc="15">
                <a:solidFill>
                  <a:srgbClr val="8C6239"/>
                </a:solidFill>
                <a:latin typeface="Calibri"/>
                <a:hlinkClick r:id="rId11"/>
              </a:rPr>
              <a:t>Staffing Industry Analysts</a:t>
            </a:r>
            <a:r>
              <a:rPr sz="861" b="0" i="0" spc="15">
                <a:solidFill>
                  <a:srgbClr val="333231"/>
                </a:solidFill>
                <a:latin typeface="Calibri"/>
              </a:rPr>
              <a:t>).</a:t>
            </a:r>
          </a:p>
        </p:txBody>
      </p:sp>
      <p:sp>
        <p:nvSpPr>
          <p:cNvPr id="138" name="Shape 86"/>
          <p:cNvSpPr/>
          <p:nvPr/>
        </p:nvSpPr>
        <p:spPr>
          <a:xfrm>
            <a:off x="6810375" y="6429375"/>
            <a:ext cx="2686050" cy="9525"/>
          </a:xfrm>
          <a:prstGeom prst="rect">
            <a:avLst/>
          </a:prstGeom>
          <a:solidFill>
            <a:srgbClr val="E3DCD3"/>
          </a:solidFill>
          <a:ln>
            <a:noFill/>
          </a:ln>
          <a:effectLst/>
        </p:spPr>
        <p:txBody>
          <a:bodyPr rtlCol="0" anchor="ctr"/>
          <a:lstStyle/>
          <a:p>
            <a:pPr algn="ctr"/>
            <a:endParaRPr/>
          </a:p>
        </p:txBody>
      </p:sp>
      <p:sp>
        <p:nvSpPr>
          <p:cNvPr id="139" name="TextBox 52"/>
          <p:cNvSpPr txBox="1"/>
          <p:nvPr/>
        </p:nvSpPr>
        <p:spPr>
          <a:xfrm>
            <a:off x="6810375" y="6515100"/>
            <a:ext cx="2700338" cy="304800"/>
          </a:xfrm>
          <a:prstGeom prst="rect">
            <a:avLst/>
          </a:prstGeom>
          <a:noFill/>
        </p:spPr>
        <p:txBody>
          <a:bodyPr wrap="square" lIns="0" tIns="0" rIns="0" bIns="0" anchor="t">
            <a:spAutoFit/>
          </a:bodyPr>
          <a:lstStyle/>
          <a:p>
            <a:pPr algn="l">
              <a:lnSpc>
                <a:spcPts val="1192"/>
              </a:lnSpc>
            </a:pPr>
            <a:r>
              <a:rPr sz="700" b="1" i="0" spc="120">
                <a:solidFill>
                  <a:srgbClr val="8C6239"/>
                </a:solidFill>
                <a:latin typeface="Calibri"/>
              </a:rPr>
              <a:t>TAKEAWAY </a:t>
            </a:r>
            <a:r>
              <a:rPr sz="900" b="0" i="0" spc="15">
                <a:solidFill>
                  <a:srgbClr val="333231"/>
                </a:solidFill>
                <a:latin typeface="Calibri"/>
              </a:rPr>
              <a:t>An extended FTC review cost the seller $5.36 a share; antitrust timing belongs in process design for mergers of scale.</a:t>
            </a:r>
          </a:p>
        </p:txBody>
      </p:sp>
      <p:sp>
        <p:nvSpPr>
          <p:cNvPr id="140" name="Shape 87"/>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41" name="Picture 1" descr="Benchmark International logo"/>
          <p:cNvPicPr>
            <a:picLocks noChangeAspect="1"/>
          </p:cNvPicPr>
          <p:nvPr/>
        </p:nvPicPr>
        <p:blipFill>
          <a:blip r:embed="rId12"/>
          <a:srcRect/>
          <a:stretch>
            <a:fillRect/>
          </a:stretch>
        </p:blipFill>
        <p:spPr>
          <a:xfrm>
            <a:off x="419100" y="7143750"/>
            <a:ext cx="914400" cy="171450"/>
          </a:xfrm>
          <a:prstGeom prst="rect">
            <a:avLst/>
          </a:prstGeom>
        </p:spPr>
      </p:pic>
      <p:sp>
        <p:nvSpPr>
          <p:cNvPr id="142" name="TextBox 53"/>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Terms are as disclosed by the parties or reported by the linked source. Benchmark International did not advise on these transactions.</a:t>
            </a:r>
          </a:p>
        </p:txBody>
      </p:sp>
      <p:sp>
        <p:nvSpPr>
          <p:cNvPr id="143" name="TextBox 54"/>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15</a:t>
            </a:r>
          </a:p>
        </p:txBody>
      </p:sp>
      <p:pic>
        <p:nvPicPr>
          <p:cNvPr id="144" name="Logo EYECAREPARTNERS" descr="EyeCare Partners logo"/>
          <p:cNvPicPr>
            <a:picLocks noChangeAspect="1"/>
          </p:cNvPicPr>
          <p:nvPr/>
        </p:nvPicPr>
        <p:blipFill>
          <a:blip r:embed="rId13"/>
          <a:stretch>
            <a:fillRect/>
          </a:stretch>
        </p:blipFill>
        <p:spPr>
          <a:xfrm>
            <a:off x="640556" y="1799908"/>
            <a:ext cx="914399" cy="95883"/>
          </a:xfrm>
          <a:prstGeom prst="rect">
            <a:avLst/>
          </a:prstGeom>
        </p:spPr>
      </p:pic>
      <p:pic>
        <p:nvPicPr>
          <p:cNvPr id="145" name="Logo ACCENTCARE" descr="AccentCare logo"/>
          <p:cNvPicPr>
            <a:picLocks noChangeAspect="1"/>
          </p:cNvPicPr>
          <p:nvPr/>
        </p:nvPicPr>
        <p:blipFill>
          <a:blip r:embed="rId14"/>
          <a:stretch>
            <a:fillRect/>
          </a:stretch>
        </p:blipFill>
        <p:spPr>
          <a:xfrm>
            <a:off x="3764755" y="1791331"/>
            <a:ext cx="914399" cy="113038"/>
          </a:xfrm>
          <a:prstGeom prst="rect">
            <a:avLst/>
          </a:prstGeom>
        </p:spPr>
      </p:pic>
      <p:pic>
        <p:nvPicPr>
          <p:cNvPr id="146" name="Logo ADUS" descr="Addus HomeCare logo"/>
          <p:cNvPicPr>
            <a:picLocks noChangeAspect="1"/>
          </p:cNvPicPr>
          <p:nvPr/>
        </p:nvPicPr>
        <p:blipFill>
          <a:blip r:embed="rId15"/>
          <a:stretch>
            <a:fillRect/>
          </a:stretch>
        </p:blipFill>
        <p:spPr>
          <a:xfrm>
            <a:off x="5393531" y="1744217"/>
            <a:ext cx="914399" cy="207263"/>
          </a:xfrm>
          <a:prstGeom prst="rect">
            <a:avLst/>
          </a:prstGeom>
        </p:spPr>
      </p:pic>
      <p:pic>
        <p:nvPicPr>
          <p:cNvPr id="147" name="Logo TECH" descr="Bio-Techne logo"/>
          <p:cNvPicPr>
            <a:picLocks noChangeAspect="1"/>
          </p:cNvPicPr>
          <p:nvPr/>
        </p:nvPicPr>
        <p:blipFill>
          <a:blip r:embed="rId16"/>
          <a:stretch>
            <a:fillRect/>
          </a:stretch>
        </p:blipFill>
        <p:spPr>
          <a:xfrm>
            <a:off x="6888881" y="1766468"/>
            <a:ext cx="914399" cy="162763"/>
          </a:xfrm>
          <a:prstGeom prst="rect">
            <a:avLst/>
          </a:prstGeom>
        </p:spPr>
      </p:pic>
      <p:pic>
        <p:nvPicPr>
          <p:cNvPr id="148" name="Logo MERCKKGAA" descr="Merck KGaA logo"/>
          <p:cNvPicPr>
            <a:picLocks noChangeAspect="1"/>
          </p:cNvPicPr>
          <p:nvPr/>
        </p:nvPicPr>
        <p:blipFill>
          <a:blip r:embed="rId17"/>
          <a:stretch>
            <a:fillRect/>
          </a:stretch>
        </p:blipFill>
        <p:spPr>
          <a:xfrm>
            <a:off x="8517656" y="1773809"/>
            <a:ext cx="914399" cy="148080"/>
          </a:xfrm>
          <a:prstGeom prst="rect">
            <a:avLst/>
          </a:prstGeom>
        </p:spPr>
      </p:pic>
      <p:pic>
        <p:nvPicPr>
          <p:cNvPr id="149" name="Logo STATLAB" descr="StatLab logo"/>
          <p:cNvPicPr>
            <a:picLocks noChangeAspect="1"/>
          </p:cNvPicPr>
          <p:nvPr/>
        </p:nvPicPr>
        <p:blipFill>
          <a:blip r:embed="rId18"/>
          <a:stretch>
            <a:fillRect/>
          </a:stretch>
        </p:blipFill>
        <p:spPr>
          <a:xfrm>
            <a:off x="640481" y="4652282"/>
            <a:ext cx="914399" cy="239485"/>
          </a:xfrm>
          <a:prstGeom prst="rect">
            <a:avLst/>
          </a:prstGeom>
        </p:spPr>
      </p:pic>
      <p:pic>
        <p:nvPicPr>
          <p:cNvPr id="150" name="Logo LEICABIO" descr="Leica Biosystems logo"/>
          <p:cNvPicPr>
            <a:picLocks noChangeAspect="1"/>
          </p:cNvPicPr>
          <p:nvPr/>
        </p:nvPicPr>
        <p:blipFill>
          <a:blip r:embed="rId19"/>
          <a:stretch>
            <a:fillRect/>
          </a:stretch>
        </p:blipFill>
        <p:spPr>
          <a:xfrm>
            <a:off x="2489201" y="4625720"/>
            <a:ext cx="474658" cy="292607"/>
          </a:xfrm>
          <a:prstGeom prst="rect">
            <a:avLst/>
          </a:prstGeom>
        </p:spPr>
      </p:pic>
      <p:pic>
        <p:nvPicPr>
          <p:cNvPr id="151" name="Logo KKR" descr="KKR logo"/>
          <p:cNvPicPr>
            <a:picLocks noChangeAspect="1"/>
          </p:cNvPicPr>
          <p:nvPr/>
        </p:nvPicPr>
        <p:blipFill>
          <a:blip r:embed="rId20"/>
          <a:stretch>
            <a:fillRect/>
          </a:stretch>
        </p:blipFill>
        <p:spPr>
          <a:xfrm>
            <a:off x="5393531" y="4662815"/>
            <a:ext cx="914399" cy="218419"/>
          </a:xfrm>
          <a:prstGeom prst="rect">
            <a:avLst/>
          </a:prstGeom>
        </p:spPr>
      </p:pic>
      <p:pic>
        <p:nvPicPr>
          <p:cNvPr id="152" name="Logo MYEYEDR" descr="MyEyeDr. logo"/>
          <p:cNvPicPr>
            <a:picLocks noChangeAspect="1"/>
          </p:cNvPicPr>
          <p:nvPr/>
        </p:nvPicPr>
        <p:blipFill>
          <a:blip r:embed="rId21"/>
          <a:stretch>
            <a:fillRect/>
          </a:stretch>
        </p:blipFill>
        <p:spPr>
          <a:xfrm>
            <a:off x="2269331" y="1768466"/>
            <a:ext cx="914399" cy="158766"/>
          </a:xfrm>
          <a:prstGeom prst="rect">
            <a:avLst/>
          </a:prstGeom>
        </p:spPr>
      </p:pic>
      <p:pic>
        <p:nvPicPr>
          <p:cNvPr id="153" name="Logo KNOXLANE" descr="Knox Lane logo"/>
          <p:cNvPicPr>
            <a:picLocks noChangeAspect="1"/>
          </p:cNvPicPr>
          <p:nvPr/>
        </p:nvPicPr>
        <p:blipFill>
          <a:blip r:embed="rId22"/>
          <a:stretch>
            <a:fillRect/>
          </a:stretch>
        </p:blipFill>
        <p:spPr>
          <a:xfrm>
            <a:off x="8517656" y="4716404"/>
            <a:ext cx="914399" cy="111240"/>
          </a:xfrm>
          <a:prstGeom prst="rect">
            <a:avLst/>
          </a:prstGeom>
        </p:spPr>
      </p:pic>
      <p:pic>
        <p:nvPicPr>
          <p:cNvPr id="154" name="Logo ITGR" descr="Integer Holdings logo"/>
          <p:cNvPicPr>
            <a:picLocks noChangeAspect="1"/>
          </p:cNvPicPr>
          <p:nvPr/>
        </p:nvPicPr>
        <p:blipFill>
          <a:blip r:embed="rId23"/>
          <a:stretch>
            <a:fillRect/>
          </a:stretch>
        </p:blipFill>
        <p:spPr>
          <a:xfrm>
            <a:off x="3764756" y="4643437"/>
            <a:ext cx="914400" cy="257175"/>
          </a:xfrm>
          <a:prstGeom prst="rect">
            <a:avLst/>
          </a:prstGeom>
        </p:spPr>
      </p:pic>
      <p:pic>
        <p:nvPicPr>
          <p:cNvPr id="155" name="Logo CROSSCOUNTRY" descr="Cross Country Healthcare logo"/>
          <p:cNvPicPr>
            <a:picLocks noChangeAspect="1"/>
          </p:cNvPicPr>
          <p:nvPr/>
        </p:nvPicPr>
        <p:blipFill>
          <a:blip r:embed="rId24"/>
          <a:stretch>
            <a:fillRect/>
          </a:stretch>
        </p:blipFill>
        <p:spPr>
          <a:xfrm>
            <a:off x="6888956" y="4651852"/>
            <a:ext cx="914400" cy="24034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International’s Healthcare Transactions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Twelve transactions closed in the trailing 24 months across the four sectors, and seven of the nine named buyers were operating companies.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1943100" cy="569595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0" name="TextBox 5"/>
          <p:cNvSpPr txBox="1"/>
          <p:nvPr/>
        </p:nvSpPr>
        <p:spPr>
          <a:xfrm>
            <a:off x="609600" y="1466850"/>
            <a:ext cx="1576388" cy="123825"/>
          </a:xfrm>
          <a:prstGeom prst="rect">
            <a:avLst/>
          </a:prstGeom>
          <a:noFill/>
        </p:spPr>
        <p:txBody>
          <a:bodyPr wrap="square" lIns="0" tIns="0" rIns="0" bIns="0" anchor="t">
            <a:spAutoFit/>
          </a:bodyPr>
          <a:lstStyle/>
          <a:p>
            <a:pPr algn="l">
              <a:lnSpc>
                <a:spcPts val="1121"/>
              </a:lnSpc>
            </a:pPr>
            <a:r>
              <a:rPr sz="800" b="1" i="0" spc="150">
                <a:solidFill>
                  <a:srgbClr val="D3AE84"/>
                </a:solidFill>
                <a:latin typeface="Calibri"/>
              </a:rPr>
              <a:t>TRAILING 24 MONTHS</a:t>
            </a:r>
          </a:p>
        </p:txBody>
      </p:sp>
      <p:sp>
        <p:nvSpPr>
          <p:cNvPr id="11" name="Shape 4"/>
          <p:cNvSpPr/>
          <p:nvPr/>
        </p:nvSpPr>
        <p:spPr>
          <a:xfrm>
            <a:off x="609600" y="1685925"/>
            <a:ext cx="1562100" cy="9525"/>
          </a:xfrm>
          <a:prstGeom prst="rect">
            <a:avLst/>
          </a:prstGeom>
          <a:solidFill>
            <a:srgbClr val="FFFFFF">
              <a:alpha val="16000"/>
            </a:srgbClr>
          </a:solidFill>
          <a:ln>
            <a:noFill/>
          </a:ln>
          <a:effectLst/>
        </p:spPr>
        <p:txBody>
          <a:bodyPr rtlCol="0" anchor="ctr"/>
          <a:lstStyle/>
          <a:p>
            <a:pPr algn="ctr"/>
            <a:endParaRPr/>
          </a:p>
        </p:txBody>
      </p:sp>
      <p:sp>
        <p:nvSpPr>
          <p:cNvPr id="12" name="TextBox 6"/>
          <p:cNvSpPr txBox="1"/>
          <p:nvPr/>
        </p:nvSpPr>
        <p:spPr>
          <a:xfrm>
            <a:off x="609600" y="1828800"/>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12</a:t>
            </a:r>
          </a:p>
        </p:txBody>
      </p:sp>
      <p:sp>
        <p:nvSpPr>
          <p:cNvPr id="13" name="TextBox 7"/>
          <p:cNvSpPr txBox="1"/>
          <p:nvPr/>
        </p:nvSpPr>
        <p:spPr>
          <a:xfrm>
            <a:off x="609600" y="2209800"/>
            <a:ext cx="1576388" cy="323850"/>
          </a:xfrm>
          <a:prstGeom prst="rect">
            <a:avLst/>
          </a:prstGeom>
          <a:noFill/>
        </p:spPr>
        <p:txBody>
          <a:bodyPr wrap="square" lIns="0" tIns="0" rIns="0" bIns="0" anchor="t">
            <a:spAutoFit/>
          </a:bodyPr>
          <a:lstStyle/>
          <a:p>
            <a:pPr algn="l">
              <a:lnSpc>
                <a:spcPts val="1390"/>
              </a:lnSpc>
            </a:pPr>
            <a:r>
              <a:rPr sz="950" b="0" i="0" spc="15">
                <a:solidFill>
                  <a:srgbClr val="E8E2DA"/>
                </a:solidFill>
                <a:latin typeface="Calibri"/>
              </a:rPr>
              <a:t>transactions closed in these four sectors</a:t>
            </a:r>
          </a:p>
        </p:txBody>
      </p:sp>
      <p:sp>
        <p:nvSpPr>
          <p:cNvPr id="14" name="Shape 5"/>
          <p:cNvSpPr/>
          <p:nvPr/>
        </p:nvSpPr>
        <p:spPr>
          <a:xfrm>
            <a:off x="609600" y="2667000"/>
            <a:ext cx="1562100" cy="9525"/>
          </a:xfrm>
          <a:prstGeom prst="rect">
            <a:avLst/>
          </a:prstGeom>
          <a:solidFill>
            <a:srgbClr val="FFFFFF">
              <a:alpha val="16000"/>
            </a:srgbClr>
          </a:solidFill>
          <a:ln>
            <a:noFill/>
          </a:ln>
          <a:effectLst/>
        </p:spPr>
        <p:txBody>
          <a:bodyPr rtlCol="0" anchor="ctr"/>
          <a:lstStyle/>
          <a:p>
            <a:pPr algn="ctr"/>
            <a:endParaRPr/>
          </a:p>
        </p:txBody>
      </p:sp>
      <p:sp>
        <p:nvSpPr>
          <p:cNvPr id="15" name="TextBox 8"/>
          <p:cNvSpPr txBox="1"/>
          <p:nvPr/>
        </p:nvSpPr>
        <p:spPr>
          <a:xfrm>
            <a:off x="609600" y="2809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4 of 9</a:t>
            </a:r>
          </a:p>
        </p:txBody>
      </p:sp>
      <p:sp>
        <p:nvSpPr>
          <p:cNvPr id="16" name="TextBox 9"/>
          <p:cNvSpPr txBox="1"/>
          <p:nvPr/>
        </p:nvSpPr>
        <p:spPr>
          <a:xfrm>
            <a:off x="609600" y="3190875"/>
            <a:ext cx="1576388" cy="485775"/>
          </a:xfrm>
          <a:prstGeom prst="rect">
            <a:avLst/>
          </a:prstGeom>
          <a:noFill/>
        </p:spPr>
        <p:txBody>
          <a:bodyPr wrap="square" lIns="0" tIns="0" rIns="0" bIns="0" anchor="t">
            <a:spAutoFit/>
          </a:bodyPr>
          <a:lstStyle/>
          <a:p>
            <a:pPr algn="l">
              <a:lnSpc>
                <a:spcPts val="1390"/>
              </a:lnSpc>
            </a:pPr>
            <a:r>
              <a:rPr sz="950" b="0" i="0" spc="15">
                <a:solidFill>
                  <a:srgbClr val="E8E2DA"/>
                </a:solidFill>
                <a:latin typeface="Calibri"/>
              </a:rPr>
              <a:t>sellers shown are life sciences and diagnostics companies</a:t>
            </a:r>
          </a:p>
        </p:txBody>
      </p:sp>
      <p:sp>
        <p:nvSpPr>
          <p:cNvPr id="17" name="Shape 6"/>
          <p:cNvSpPr/>
          <p:nvPr/>
        </p:nvSpPr>
        <p:spPr>
          <a:xfrm>
            <a:off x="609600" y="3810000"/>
            <a:ext cx="1562100" cy="9525"/>
          </a:xfrm>
          <a:prstGeom prst="rect">
            <a:avLst/>
          </a:prstGeom>
          <a:solidFill>
            <a:srgbClr val="FFFFFF">
              <a:alpha val="16000"/>
            </a:srgbClr>
          </a:solidFill>
          <a:ln>
            <a:noFill/>
          </a:ln>
          <a:effectLst/>
        </p:spPr>
        <p:txBody>
          <a:bodyPr rtlCol="0" anchor="ctr"/>
          <a:lstStyle/>
          <a:p>
            <a:pPr algn="ctr"/>
            <a:endParaRPr/>
          </a:p>
        </p:txBody>
      </p:sp>
      <p:sp>
        <p:nvSpPr>
          <p:cNvPr id="18" name="TextBox 10"/>
          <p:cNvSpPr txBox="1"/>
          <p:nvPr/>
        </p:nvSpPr>
        <p:spPr>
          <a:xfrm>
            <a:off x="609600" y="3952875"/>
            <a:ext cx="1576388" cy="342900"/>
          </a:xfrm>
          <a:prstGeom prst="rect">
            <a:avLst/>
          </a:prstGeom>
          <a:noFill/>
        </p:spPr>
        <p:txBody>
          <a:bodyPr wrap="square" lIns="0" tIns="0" rIns="0" bIns="0" anchor="t">
            <a:spAutoFit/>
          </a:bodyPr>
          <a:lstStyle/>
          <a:p>
            <a:pPr algn="l">
              <a:lnSpc>
                <a:spcPts val="2700"/>
              </a:lnSpc>
            </a:pPr>
            <a:r>
              <a:rPr sz="2550" b="1" i="0">
                <a:solidFill>
                  <a:srgbClr val="D3AE84"/>
                </a:solidFill>
                <a:latin typeface="Cambria"/>
              </a:rPr>
              <a:t>7 of 9</a:t>
            </a:r>
          </a:p>
        </p:txBody>
      </p:sp>
      <p:sp>
        <p:nvSpPr>
          <p:cNvPr id="19" name="TextBox 11"/>
          <p:cNvSpPr txBox="1"/>
          <p:nvPr/>
        </p:nvSpPr>
        <p:spPr>
          <a:xfrm>
            <a:off x="609600" y="4333875"/>
            <a:ext cx="1576388" cy="323850"/>
          </a:xfrm>
          <a:prstGeom prst="rect">
            <a:avLst/>
          </a:prstGeom>
          <a:noFill/>
        </p:spPr>
        <p:txBody>
          <a:bodyPr wrap="square" lIns="0" tIns="0" rIns="0" bIns="0" anchor="t">
            <a:spAutoFit/>
          </a:bodyPr>
          <a:lstStyle/>
          <a:p>
            <a:pPr algn="l">
              <a:lnSpc>
                <a:spcPts val="1390"/>
              </a:lnSpc>
            </a:pPr>
            <a:r>
              <a:rPr sz="950" b="0" i="0" spc="15">
                <a:solidFill>
                  <a:srgbClr val="E8E2DA"/>
                </a:solidFill>
                <a:latin typeface="Calibri"/>
              </a:rPr>
              <a:t>sellers shown were bought by an operating company</a:t>
            </a:r>
          </a:p>
        </p:txBody>
      </p:sp>
      <p:sp>
        <p:nvSpPr>
          <p:cNvPr id="20" name="Shape 7"/>
          <p:cNvSpPr/>
          <p:nvPr/>
        </p:nvSpPr>
        <p:spPr>
          <a:xfrm>
            <a:off x="609600" y="5776912"/>
            <a:ext cx="1562100" cy="9525"/>
          </a:xfrm>
          <a:prstGeom prst="rect">
            <a:avLst/>
          </a:prstGeom>
          <a:solidFill>
            <a:srgbClr val="FFFFFF">
              <a:alpha val="16000"/>
            </a:srgbClr>
          </a:solidFill>
          <a:ln>
            <a:noFill/>
          </a:ln>
          <a:effectLst/>
        </p:spPr>
        <p:txBody>
          <a:bodyPr rtlCol="0" anchor="ctr"/>
          <a:lstStyle/>
          <a:p>
            <a:pPr algn="ctr"/>
            <a:endParaRPr/>
          </a:p>
        </p:txBody>
      </p:sp>
      <p:sp>
        <p:nvSpPr>
          <p:cNvPr id="21" name="TextBox 12"/>
          <p:cNvSpPr txBox="1"/>
          <p:nvPr/>
        </p:nvSpPr>
        <p:spPr>
          <a:xfrm>
            <a:off x="609600" y="5919788"/>
            <a:ext cx="1576388" cy="785812"/>
          </a:xfrm>
          <a:prstGeom prst="rect">
            <a:avLst/>
          </a:prstGeom>
          <a:noFill/>
        </p:spPr>
        <p:txBody>
          <a:bodyPr wrap="square" lIns="0" tIns="0" rIns="0" bIns="0" anchor="t">
            <a:spAutoFit/>
          </a:bodyPr>
          <a:lstStyle/>
          <a:p>
            <a:pPr algn="l">
              <a:lnSpc>
                <a:spcPts val="1238"/>
              </a:lnSpc>
            </a:pPr>
            <a:r>
              <a:rPr sz="825" b="0" i="0" spc="15">
                <a:solidFill>
                  <a:srgbClr val="E8E2DA"/>
                </a:solidFill>
                <a:latin typeface="Calibri"/>
              </a:rPr>
              <a:t>The world’s #1 privately owned sell-side M&amp;A advisor, based on PitchBook’s Q2 2026 Global League Tables (</a:t>
            </a:r>
            <a:r>
              <a:rPr sz="825" b="0" i="0" spc="15">
                <a:solidFill>
                  <a:srgbClr val="D3AE84"/>
                </a:solidFill>
                <a:latin typeface="Calibri"/>
                <a:hlinkClick r:id="rId3"/>
              </a:rPr>
              <a:t>Benchmark International</a:t>
            </a:r>
            <a:r>
              <a:rPr sz="825" b="0" i="0" spc="15">
                <a:solidFill>
                  <a:srgbClr val="E8E2DA"/>
                </a:solidFill>
                <a:latin typeface="Calibri"/>
              </a:rPr>
              <a:t>).</a:t>
            </a:r>
          </a:p>
        </p:txBody>
      </p:sp>
      <p:sp>
        <p:nvSpPr>
          <p:cNvPr id="22" name="Shape 8"/>
          <p:cNvSpPr/>
          <p:nvPr/>
        </p:nvSpPr>
        <p:spPr>
          <a:xfrm>
            <a:off x="2514600" y="1238250"/>
            <a:ext cx="2298650" cy="1822400"/>
          </a:xfrm>
          <a:prstGeom prst="rect">
            <a:avLst/>
          </a:prstGeom>
          <a:solidFill>
            <a:srgbClr val="FFFFFF"/>
          </a:solidFill>
          <a:ln>
            <a:noFill/>
          </a:ln>
          <a:effectLst/>
        </p:spPr>
        <p:txBody>
          <a:bodyPr rtlCol="0" anchor="ctr"/>
          <a:lstStyle/>
          <a:p>
            <a:pPr algn="ctr"/>
            <a:endParaRPr/>
          </a:p>
        </p:txBody>
      </p:sp>
      <p:sp>
        <p:nvSpPr>
          <p:cNvPr id="23" name="Shape 9"/>
          <p:cNvSpPr/>
          <p:nvPr/>
        </p:nvSpPr>
        <p:spPr>
          <a:xfrm>
            <a:off x="2514600" y="1238250"/>
            <a:ext cx="2298650" cy="28575"/>
          </a:xfrm>
          <a:prstGeom prst="rect">
            <a:avLst/>
          </a:prstGeom>
          <a:solidFill>
            <a:srgbClr val="B68757"/>
          </a:solidFill>
          <a:ln>
            <a:noFill/>
          </a:ln>
          <a:effectLst/>
        </p:spPr>
        <p:txBody>
          <a:bodyPr rtlCol="0" anchor="ctr"/>
          <a:lstStyle/>
          <a:p>
            <a:pPr algn="ctr"/>
            <a:endParaRPr/>
          </a:p>
        </p:txBody>
      </p:sp>
      <p:sp>
        <p:nvSpPr>
          <p:cNvPr id="24" name="Shape 10"/>
          <p:cNvSpPr/>
          <p:nvPr/>
        </p:nvSpPr>
        <p:spPr>
          <a:xfrm>
            <a:off x="4803725" y="1238250"/>
            <a:ext cx="9525" cy="1822400"/>
          </a:xfrm>
          <a:prstGeom prst="rect">
            <a:avLst/>
          </a:prstGeom>
          <a:solidFill>
            <a:srgbClr val="E3DCD3"/>
          </a:solidFill>
          <a:ln>
            <a:noFill/>
          </a:ln>
          <a:effectLst/>
        </p:spPr>
        <p:txBody>
          <a:bodyPr rtlCol="0" anchor="ctr"/>
          <a:lstStyle/>
          <a:p>
            <a:pPr algn="ctr"/>
            <a:endParaRPr/>
          </a:p>
        </p:txBody>
      </p:sp>
      <p:sp>
        <p:nvSpPr>
          <p:cNvPr id="25" name="Shape 11"/>
          <p:cNvSpPr/>
          <p:nvPr/>
        </p:nvSpPr>
        <p:spPr>
          <a:xfrm>
            <a:off x="2514600" y="3051125"/>
            <a:ext cx="2298650" cy="9525"/>
          </a:xfrm>
          <a:prstGeom prst="rect">
            <a:avLst/>
          </a:prstGeom>
          <a:solidFill>
            <a:srgbClr val="E3DCD3"/>
          </a:solidFill>
          <a:ln>
            <a:noFill/>
          </a:ln>
          <a:effectLst/>
        </p:spPr>
        <p:txBody>
          <a:bodyPr rtlCol="0" anchor="ctr"/>
          <a:lstStyle/>
          <a:p>
            <a:pPr algn="ctr"/>
            <a:endParaRPr/>
          </a:p>
        </p:txBody>
      </p:sp>
      <p:sp>
        <p:nvSpPr>
          <p:cNvPr id="26" name="Shape 12"/>
          <p:cNvSpPr/>
          <p:nvPr/>
        </p:nvSpPr>
        <p:spPr>
          <a:xfrm>
            <a:off x="2514600" y="1238250"/>
            <a:ext cx="9525" cy="1822400"/>
          </a:xfrm>
          <a:prstGeom prst="rect">
            <a:avLst/>
          </a:prstGeom>
          <a:solidFill>
            <a:srgbClr val="E3DCD3"/>
          </a:solidFill>
          <a:ln>
            <a:noFill/>
          </a:ln>
          <a:effectLst/>
        </p:spPr>
        <p:txBody>
          <a:bodyPr rtlCol="0" anchor="ctr"/>
          <a:lstStyle/>
          <a:p>
            <a:pPr algn="ctr"/>
            <a:endParaRPr/>
          </a:p>
        </p:txBody>
      </p:sp>
      <p:sp>
        <p:nvSpPr>
          <p:cNvPr id="33" name="TextBox 14">
            <a:hlinkClick r:id="rId4"/>
          </p:cNvPr>
          <p:cNvSpPr txBox="1"/>
          <p:nvPr/>
        </p:nvSpPr>
        <p:spPr>
          <a:xfrm>
            <a:off x="2638425" y="17811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40" name="TextBox 16">
            <a:hlinkClick r:id="rId4"/>
          </p:cNvPr>
          <p:cNvSpPr txBox="1"/>
          <p:nvPr/>
        </p:nvSpPr>
        <p:spPr>
          <a:xfrm>
            <a:off x="2638425" y="24479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Amniotic membrane allografts for wound care and sports medicine</a:t>
            </a:r>
          </a:p>
        </p:txBody>
      </p:sp>
      <p:sp>
        <p:nvSpPr>
          <p:cNvPr id="41" name="TextBox 17">
            <a:hlinkClick r:id="rId4"/>
          </p:cNvPr>
          <p:cNvSpPr txBox="1"/>
          <p:nvPr/>
        </p:nvSpPr>
        <p:spPr>
          <a:xfrm>
            <a:off x="2638425" y="2860625"/>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42" name="Shape 23"/>
          <p:cNvSpPr/>
          <p:nvPr/>
        </p:nvSpPr>
        <p:spPr>
          <a:xfrm>
            <a:off x="4927550" y="1238250"/>
            <a:ext cx="2298650" cy="1822400"/>
          </a:xfrm>
          <a:prstGeom prst="rect">
            <a:avLst/>
          </a:prstGeom>
          <a:solidFill>
            <a:srgbClr val="FFFFFF"/>
          </a:solidFill>
          <a:ln>
            <a:noFill/>
          </a:ln>
          <a:effectLst/>
        </p:spPr>
        <p:txBody>
          <a:bodyPr rtlCol="0" anchor="ctr"/>
          <a:lstStyle/>
          <a:p>
            <a:pPr algn="ctr"/>
            <a:endParaRPr/>
          </a:p>
        </p:txBody>
      </p:sp>
      <p:sp>
        <p:nvSpPr>
          <p:cNvPr id="43" name="Shape 24"/>
          <p:cNvSpPr/>
          <p:nvPr/>
        </p:nvSpPr>
        <p:spPr>
          <a:xfrm>
            <a:off x="4927550" y="1238250"/>
            <a:ext cx="2298650" cy="28575"/>
          </a:xfrm>
          <a:prstGeom prst="rect">
            <a:avLst/>
          </a:prstGeom>
          <a:solidFill>
            <a:srgbClr val="B68757"/>
          </a:solidFill>
          <a:ln>
            <a:noFill/>
          </a:ln>
          <a:effectLst/>
        </p:spPr>
        <p:txBody>
          <a:bodyPr rtlCol="0" anchor="ctr"/>
          <a:lstStyle/>
          <a:p>
            <a:pPr algn="ctr"/>
            <a:endParaRPr/>
          </a:p>
        </p:txBody>
      </p:sp>
      <p:sp>
        <p:nvSpPr>
          <p:cNvPr id="44" name="Shape 25"/>
          <p:cNvSpPr/>
          <p:nvPr/>
        </p:nvSpPr>
        <p:spPr>
          <a:xfrm>
            <a:off x="7216676" y="1238250"/>
            <a:ext cx="9525" cy="1822400"/>
          </a:xfrm>
          <a:prstGeom prst="rect">
            <a:avLst/>
          </a:prstGeom>
          <a:solidFill>
            <a:srgbClr val="E3DCD3"/>
          </a:solidFill>
          <a:ln>
            <a:noFill/>
          </a:ln>
          <a:effectLst/>
        </p:spPr>
        <p:txBody>
          <a:bodyPr rtlCol="0" anchor="ctr"/>
          <a:lstStyle/>
          <a:p>
            <a:pPr algn="ctr"/>
            <a:endParaRPr/>
          </a:p>
        </p:txBody>
      </p:sp>
      <p:sp>
        <p:nvSpPr>
          <p:cNvPr id="45" name="Shape 26"/>
          <p:cNvSpPr/>
          <p:nvPr/>
        </p:nvSpPr>
        <p:spPr>
          <a:xfrm>
            <a:off x="4927550" y="3051125"/>
            <a:ext cx="2298650" cy="9525"/>
          </a:xfrm>
          <a:prstGeom prst="rect">
            <a:avLst/>
          </a:prstGeom>
          <a:solidFill>
            <a:srgbClr val="E3DCD3"/>
          </a:solidFill>
          <a:ln>
            <a:noFill/>
          </a:ln>
          <a:effectLst/>
        </p:spPr>
        <p:txBody>
          <a:bodyPr rtlCol="0" anchor="ctr"/>
          <a:lstStyle/>
          <a:p>
            <a:pPr algn="ctr"/>
            <a:endParaRPr/>
          </a:p>
        </p:txBody>
      </p:sp>
      <p:sp>
        <p:nvSpPr>
          <p:cNvPr id="46" name="Shape 27"/>
          <p:cNvSpPr/>
          <p:nvPr/>
        </p:nvSpPr>
        <p:spPr>
          <a:xfrm>
            <a:off x="4927550" y="1238250"/>
            <a:ext cx="9525" cy="1822400"/>
          </a:xfrm>
          <a:prstGeom prst="rect">
            <a:avLst/>
          </a:prstGeom>
          <a:solidFill>
            <a:srgbClr val="E3DCD3"/>
          </a:solidFill>
          <a:ln>
            <a:noFill/>
          </a:ln>
          <a:effectLst/>
        </p:spPr>
        <p:txBody>
          <a:bodyPr rtlCol="0" anchor="ctr"/>
          <a:lstStyle/>
          <a:p>
            <a:pPr algn="ctr"/>
            <a:endParaRPr/>
          </a:p>
        </p:txBody>
      </p:sp>
      <p:sp>
        <p:nvSpPr>
          <p:cNvPr id="53" name="TextBox 19">
            <a:hlinkClick r:id="rId5"/>
          </p:cNvPr>
          <p:cNvSpPr txBox="1"/>
          <p:nvPr/>
        </p:nvSpPr>
        <p:spPr>
          <a:xfrm>
            <a:off x="5051375" y="17811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60" name="TextBox 21">
            <a:hlinkClick r:id="rId5"/>
          </p:cNvPr>
          <p:cNvSpPr txBox="1"/>
          <p:nvPr/>
        </p:nvSpPr>
        <p:spPr>
          <a:xfrm>
            <a:off x="5051375" y="24479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Contract manufacturer of nutritional supplements</a:t>
            </a:r>
          </a:p>
        </p:txBody>
      </p:sp>
      <p:sp>
        <p:nvSpPr>
          <p:cNvPr id="61" name="TextBox 22">
            <a:hlinkClick r:id="rId5"/>
          </p:cNvPr>
          <p:cNvSpPr txBox="1"/>
          <p:nvPr/>
        </p:nvSpPr>
        <p:spPr>
          <a:xfrm>
            <a:off x="5051375" y="2860625"/>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62" name="Shape 38"/>
          <p:cNvSpPr/>
          <p:nvPr/>
        </p:nvSpPr>
        <p:spPr>
          <a:xfrm>
            <a:off x="7340501" y="1238250"/>
            <a:ext cx="2298650" cy="1822400"/>
          </a:xfrm>
          <a:prstGeom prst="rect">
            <a:avLst/>
          </a:prstGeom>
          <a:solidFill>
            <a:srgbClr val="FFFFFF"/>
          </a:solidFill>
          <a:ln>
            <a:noFill/>
          </a:ln>
          <a:effectLst/>
        </p:spPr>
        <p:txBody>
          <a:bodyPr rtlCol="0" anchor="ctr"/>
          <a:lstStyle/>
          <a:p>
            <a:pPr algn="ctr"/>
            <a:endParaRPr/>
          </a:p>
        </p:txBody>
      </p:sp>
      <p:sp>
        <p:nvSpPr>
          <p:cNvPr id="63" name="Shape 39"/>
          <p:cNvSpPr/>
          <p:nvPr/>
        </p:nvSpPr>
        <p:spPr>
          <a:xfrm>
            <a:off x="7340501" y="1238250"/>
            <a:ext cx="2298650" cy="28575"/>
          </a:xfrm>
          <a:prstGeom prst="rect">
            <a:avLst/>
          </a:prstGeom>
          <a:solidFill>
            <a:srgbClr val="B68757"/>
          </a:solidFill>
          <a:ln>
            <a:noFill/>
          </a:ln>
          <a:effectLst/>
        </p:spPr>
        <p:txBody>
          <a:bodyPr rtlCol="0" anchor="ctr"/>
          <a:lstStyle/>
          <a:p>
            <a:pPr algn="ctr"/>
            <a:endParaRPr/>
          </a:p>
        </p:txBody>
      </p:sp>
      <p:sp>
        <p:nvSpPr>
          <p:cNvPr id="64" name="Shape 40"/>
          <p:cNvSpPr/>
          <p:nvPr/>
        </p:nvSpPr>
        <p:spPr>
          <a:xfrm>
            <a:off x="9629626" y="1238250"/>
            <a:ext cx="9525" cy="1822400"/>
          </a:xfrm>
          <a:prstGeom prst="rect">
            <a:avLst/>
          </a:prstGeom>
          <a:solidFill>
            <a:srgbClr val="E3DCD3"/>
          </a:solidFill>
          <a:ln>
            <a:noFill/>
          </a:ln>
          <a:effectLst/>
        </p:spPr>
        <p:txBody>
          <a:bodyPr rtlCol="0" anchor="ctr"/>
          <a:lstStyle/>
          <a:p>
            <a:pPr algn="ctr"/>
            <a:endParaRPr/>
          </a:p>
        </p:txBody>
      </p:sp>
      <p:sp>
        <p:nvSpPr>
          <p:cNvPr id="65" name="Shape 41"/>
          <p:cNvSpPr/>
          <p:nvPr/>
        </p:nvSpPr>
        <p:spPr>
          <a:xfrm>
            <a:off x="7340501" y="3051125"/>
            <a:ext cx="2298650" cy="9525"/>
          </a:xfrm>
          <a:prstGeom prst="rect">
            <a:avLst/>
          </a:prstGeom>
          <a:solidFill>
            <a:srgbClr val="E3DCD3"/>
          </a:solidFill>
          <a:ln>
            <a:noFill/>
          </a:ln>
          <a:effectLst/>
        </p:spPr>
        <p:txBody>
          <a:bodyPr rtlCol="0" anchor="ctr"/>
          <a:lstStyle/>
          <a:p>
            <a:pPr algn="ctr"/>
            <a:endParaRPr/>
          </a:p>
        </p:txBody>
      </p:sp>
      <p:sp>
        <p:nvSpPr>
          <p:cNvPr id="66" name="Shape 42"/>
          <p:cNvSpPr/>
          <p:nvPr/>
        </p:nvSpPr>
        <p:spPr>
          <a:xfrm>
            <a:off x="7340501" y="1238250"/>
            <a:ext cx="9525" cy="1822400"/>
          </a:xfrm>
          <a:prstGeom prst="rect">
            <a:avLst/>
          </a:prstGeom>
          <a:solidFill>
            <a:srgbClr val="E3DCD3"/>
          </a:solidFill>
          <a:ln>
            <a:noFill/>
          </a:ln>
          <a:effectLst/>
        </p:spPr>
        <p:txBody>
          <a:bodyPr rtlCol="0" anchor="ctr"/>
          <a:lstStyle/>
          <a:p>
            <a:pPr algn="ctr"/>
            <a:endParaRPr/>
          </a:p>
        </p:txBody>
      </p:sp>
      <p:sp>
        <p:nvSpPr>
          <p:cNvPr id="73" name="TextBox 24">
            <a:hlinkClick r:id="rId6"/>
          </p:cNvPr>
          <p:cNvSpPr txBox="1"/>
          <p:nvPr/>
        </p:nvSpPr>
        <p:spPr>
          <a:xfrm>
            <a:off x="7464326" y="17811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80" name="TextBox 26">
            <a:hlinkClick r:id="rId6"/>
          </p:cNvPr>
          <p:cNvSpPr txBox="1"/>
          <p:nvPr/>
        </p:nvSpPr>
        <p:spPr>
          <a:xfrm>
            <a:off x="7464326" y="2447925"/>
            <a:ext cx="2065288" cy="138112"/>
          </a:xfrm>
          <a:prstGeom prst="rect">
            <a:avLst/>
          </a:prstGeom>
          <a:noFill/>
        </p:spPr>
        <p:txBody>
          <a:bodyPr wrap="square" lIns="0" tIns="0" rIns="0" bIns="0" anchor="t">
            <a:spAutoFit/>
          </a:bodyPr>
          <a:lstStyle/>
          <a:p>
            <a:pPr algn="ctr">
              <a:lnSpc>
                <a:spcPts val="1251"/>
              </a:lnSpc>
            </a:pPr>
            <a:r>
              <a:rPr sz="900" b="0" i="0" spc="15">
                <a:solidFill>
                  <a:srgbClr val="333231"/>
                </a:solidFill>
                <a:latin typeface="Calibri"/>
              </a:rPr>
              <a:t>Mobile occupational health testing</a:t>
            </a:r>
          </a:p>
        </p:txBody>
      </p:sp>
      <p:sp>
        <p:nvSpPr>
          <p:cNvPr id="81" name="TextBox 27">
            <a:hlinkClick r:id="rId6"/>
          </p:cNvPr>
          <p:cNvSpPr txBox="1"/>
          <p:nvPr/>
        </p:nvSpPr>
        <p:spPr>
          <a:xfrm>
            <a:off x="7464326" y="2860625"/>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82" name="Shape 53"/>
          <p:cNvSpPr/>
          <p:nvPr/>
        </p:nvSpPr>
        <p:spPr>
          <a:xfrm>
            <a:off x="2514600" y="3174950"/>
            <a:ext cx="2298650" cy="1822400"/>
          </a:xfrm>
          <a:prstGeom prst="rect">
            <a:avLst/>
          </a:prstGeom>
          <a:solidFill>
            <a:srgbClr val="FFFFFF"/>
          </a:solidFill>
          <a:ln>
            <a:noFill/>
          </a:ln>
          <a:effectLst/>
        </p:spPr>
        <p:txBody>
          <a:bodyPr rtlCol="0" anchor="ctr"/>
          <a:lstStyle/>
          <a:p>
            <a:pPr algn="ctr"/>
            <a:endParaRPr/>
          </a:p>
        </p:txBody>
      </p:sp>
      <p:sp>
        <p:nvSpPr>
          <p:cNvPr id="83" name="Shape 54"/>
          <p:cNvSpPr/>
          <p:nvPr/>
        </p:nvSpPr>
        <p:spPr>
          <a:xfrm>
            <a:off x="2514600" y="3174950"/>
            <a:ext cx="2298650" cy="28575"/>
          </a:xfrm>
          <a:prstGeom prst="rect">
            <a:avLst/>
          </a:prstGeom>
          <a:solidFill>
            <a:srgbClr val="B68757"/>
          </a:solidFill>
          <a:ln>
            <a:noFill/>
          </a:ln>
          <a:effectLst/>
        </p:spPr>
        <p:txBody>
          <a:bodyPr rtlCol="0" anchor="ctr"/>
          <a:lstStyle/>
          <a:p>
            <a:pPr algn="ctr"/>
            <a:endParaRPr/>
          </a:p>
        </p:txBody>
      </p:sp>
      <p:sp>
        <p:nvSpPr>
          <p:cNvPr id="84" name="Shape 55"/>
          <p:cNvSpPr/>
          <p:nvPr/>
        </p:nvSpPr>
        <p:spPr>
          <a:xfrm>
            <a:off x="4803725" y="3174950"/>
            <a:ext cx="9525" cy="1822400"/>
          </a:xfrm>
          <a:prstGeom prst="rect">
            <a:avLst/>
          </a:prstGeom>
          <a:solidFill>
            <a:srgbClr val="E3DCD3"/>
          </a:solidFill>
          <a:ln>
            <a:noFill/>
          </a:ln>
          <a:effectLst/>
        </p:spPr>
        <p:txBody>
          <a:bodyPr rtlCol="0" anchor="ctr"/>
          <a:lstStyle/>
          <a:p>
            <a:pPr algn="ctr"/>
            <a:endParaRPr/>
          </a:p>
        </p:txBody>
      </p:sp>
      <p:sp>
        <p:nvSpPr>
          <p:cNvPr id="85" name="Shape 56"/>
          <p:cNvSpPr/>
          <p:nvPr/>
        </p:nvSpPr>
        <p:spPr>
          <a:xfrm>
            <a:off x="2514600" y="4987826"/>
            <a:ext cx="2298650" cy="9525"/>
          </a:xfrm>
          <a:prstGeom prst="rect">
            <a:avLst/>
          </a:prstGeom>
          <a:solidFill>
            <a:srgbClr val="E3DCD3"/>
          </a:solidFill>
          <a:ln>
            <a:noFill/>
          </a:ln>
          <a:effectLst/>
        </p:spPr>
        <p:txBody>
          <a:bodyPr rtlCol="0" anchor="ctr"/>
          <a:lstStyle/>
          <a:p>
            <a:pPr algn="ctr"/>
            <a:endParaRPr/>
          </a:p>
        </p:txBody>
      </p:sp>
      <p:sp>
        <p:nvSpPr>
          <p:cNvPr id="86" name="Shape 57"/>
          <p:cNvSpPr/>
          <p:nvPr/>
        </p:nvSpPr>
        <p:spPr>
          <a:xfrm>
            <a:off x="2514600" y="3174950"/>
            <a:ext cx="9525" cy="1822400"/>
          </a:xfrm>
          <a:prstGeom prst="rect">
            <a:avLst/>
          </a:prstGeom>
          <a:solidFill>
            <a:srgbClr val="E3DCD3"/>
          </a:solidFill>
          <a:ln>
            <a:noFill/>
          </a:ln>
          <a:effectLst/>
        </p:spPr>
        <p:txBody>
          <a:bodyPr rtlCol="0" anchor="ctr"/>
          <a:lstStyle/>
          <a:p>
            <a:pPr algn="ctr"/>
            <a:endParaRPr/>
          </a:p>
        </p:txBody>
      </p:sp>
      <p:sp>
        <p:nvSpPr>
          <p:cNvPr id="93" name="TextBox 29">
            <a:hlinkClick r:id="rId7"/>
          </p:cNvPr>
          <p:cNvSpPr txBox="1"/>
          <p:nvPr/>
        </p:nvSpPr>
        <p:spPr>
          <a:xfrm>
            <a:off x="2638425" y="3716982"/>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00" name="TextBox 31">
            <a:hlinkClick r:id="rId7"/>
          </p:cNvPr>
          <p:cNvSpPr txBox="1"/>
          <p:nvPr/>
        </p:nvSpPr>
        <p:spPr>
          <a:xfrm>
            <a:off x="2638425" y="4382839"/>
            <a:ext cx="2065288" cy="414338"/>
          </a:xfrm>
          <a:prstGeom prst="rect">
            <a:avLst/>
          </a:prstGeom>
          <a:noFill/>
        </p:spPr>
        <p:txBody>
          <a:bodyPr wrap="square" lIns="0" tIns="0" rIns="0" bIns="0" anchor="t">
            <a:spAutoFit/>
          </a:bodyPr>
          <a:lstStyle/>
          <a:p>
            <a:pPr algn="ctr">
              <a:lnSpc>
                <a:spcPts val="1186"/>
              </a:lnSpc>
            </a:pPr>
            <a:r>
              <a:rPr sz="850" b="0" i="0" spc="15">
                <a:solidFill>
                  <a:srgbClr val="333231"/>
                </a:solidFill>
                <a:latin typeface="Calibri"/>
              </a:rPr>
              <a:t>Certification testing for compounding pharmacies, laboratories, and bio-containment facilities</a:t>
            </a:r>
          </a:p>
        </p:txBody>
      </p:sp>
      <p:sp>
        <p:nvSpPr>
          <p:cNvPr id="101" name="TextBox 32">
            <a:hlinkClick r:id="rId7"/>
          </p:cNvPr>
          <p:cNvSpPr txBox="1"/>
          <p:nvPr/>
        </p:nvSpPr>
        <p:spPr>
          <a:xfrm>
            <a:off x="2638425" y="47973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LIFE SCIENCES &amp; DIAGNOSTICS</a:t>
            </a:r>
          </a:p>
        </p:txBody>
      </p:sp>
      <p:sp>
        <p:nvSpPr>
          <p:cNvPr id="102" name="Shape 68"/>
          <p:cNvSpPr/>
          <p:nvPr/>
        </p:nvSpPr>
        <p:spPr>
          <a:xfrm>
            <a:off x="4927550" y="3174950"/>
            <a:ext cx="2298650" cy="1822400"/>
          </a:xfrm>
          <a:prstGeom prst="rect">
            <a:avLst/>
          </a:prstGeom>
          <a:solidFill>
            <a:srgbClr val="FFFFFF"/>
          </a:solidFill>
          <a:ln>
            <a:noFill/>
          </a:ln>
          <a:effectLst/>
        </p:spPr>
        <p:txBody>
          <a:bodyPr rtlCol="0" anchor="ctr"/>
          <a:lstStyle/>
          <a:p>
            <a:pPr algn="ctr"/>
            <a:endParaRPr/>
          </a:p>
        </p:txBody>
      </p:sp>
      <p:sp>
        <p:nvSpPr>
          <p:cNvPr id="103" name="Shape 69"/>
          <p:cNvSpPr/>
          <p:nvPr/>
        </p:nvSpPr>
        <p:spPr>
          <a:xfrm>
            <a:off x="4927550" y="3174950"/>
            <a:ext cx="2298650" cy="28575"/>
          </a:xfrm>
          <a:prstGeom prst="rect">
            <a:avLst/>
          </a:prstGeom>
          <a:solidFill>
            <a:srgbClr val="B68757"/>
          </a:solidFill>
          <a:ln>
            <a:noFill/>
          </a:ln>
          <a:effectLst/>
        </p:spPr>
        <p:txBody>
          <a:bodyPr rtlCol="0" anchor="ctr"/>
          <a:lstStyle/>
          <a:p>
            <a:pPr algn="ctr"/>
            <a:endParaRPr/>
          </a:p>
        </p:txBody>
      </p:sp>
      <p:sp>
        <p:nvSpPr>
          <p:cNvPr id="104" name="Shape 70"/>
          <p:cNvSpPr/>
          <p:nvPr/>
        </p:nvSpPr>
        <p:spPr>
          <a:xfrm>
            <a:off x="7216676" y="3174950"/>
            <a:ext cx="9525" cy="1822400"/>
          </a:xfrm>
          <a:prstGeom prst="rect">
            <a:avLst/>
          </a:prstGeom>
          <a:solidFill>
            <a:srgbClr val="E3DCD3"/>
          </a:solidFill>
          <a:ln>
            <a:noFill/>
          </a:ln>
          <a:effectLst/>
        </p:spPr>
        <p:txBody>
          <a:bodyPr rtlCol="0" anchor="ctr"/>
          <a:lstStyle/>
          <a:p>
            <a:pPr algn="ctr"/>
            <a:endParaRPr/>
          </a:p>
        </p:txBody>
      </p:sp>
      <p:sp>
        <p:nvSpPr>
          <p:cNvPr id="105" name="Shape 71"/>
          <p:cNvSpPr/>
          <p:nvPr/>
        </p:nvSpPr>
        <p:spPr>
          <a:xfrm>
            <a:off x="4927550" y="4987826"/>
            <a:ext cx="2298650" cy="9525"/>
          </a:xfrm>
          <a:prstGeom prst="rect">
            <a:avLst/>
          </a:prstGeom>
          <a:solidFill>
            <a:srgbClr val="E3DCD3"/>
          </a:solidFill>
          <a:ln>
            <a:noFill/>
          </a:ln>
          <a:effectLst/>
        </p:spPr>
        <p:txBody>
          <a:bodyPr rtlCol="0" anchor="ctr"/>
          <a:lstStyle/>
          <a:p>
            <a:pPr algn="ctr"/>
            <a:endParaRPr/>
          </a:p>
        </p:txBody>
      </p:sp>
      <p:sp>
        <p:nvSpPr>
          <p:cNvPr id="106" name="Shape 72"/>
          <p:cNvSpPr/>
          <p:nvPr/>
        </p:nvSpPr>
        <p:spPr>
          <a:xfrm>
            <a:off x="4927550" y="3174950"/>
            <a:ext cx="9525" cy="1822400"/>
          </a:xfrm>
          <a:prstGeom prst="rect">
            <a:avLst/>
          </a:prstGeom>
          <a:solidFill>
            <a:srgbClr val="E3DCD3"/>
          </a:solidFill>
          <a:ln>
            <a:noFill/>
          </a:ln>
          <a:effectLst/>
        </p:spPr>
        <p:txBody>
          <a:bodyPr rtlCol="0" anchor="ctr"/>
          <a:lstStyle/>
          <a:p>
            <a:pPr algn="ctr"/>
            <a:endParaRPr/>
          </a:p>
        </p:txBody>
      </p:sp>
      <p:sp>
        <p:nvSpPr>
          <p:cNvPr id="113" name="TextBox 33">
            <a:hlinkClick r:id="rId8"/>
          </p:cNvPr>
          <p:cNvSpPr txBox="1"/>
          <p:nvPr/>
        </p:nvSpPr>
        <p:spPr>
          <a:xfrm>
            <a:off x="5051375" y="37178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20" name="TextBox 34">
            <a:hlinkClick r:id="rId8"/>
          </p:cNvPr>
          <p:cNvSpPr txBox="1"/>
          <p:nvPr/>
        </p:nvSpPr>
        <p:spPr>
          <a:xfrm>
            <a:off x="5051375" y="43846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Patent holder and brand owner of ReLeaf hands-free dental suction devices</a:t>
            </a:r>
          </a:p>
        </p:txBody>
      </p:sp>
      <p:sp>
        <p:nvSpPr>
          <p:cNvPr id="121" name="TextBox 35">
            <a:hlinkClick r:id="rId8"/>
          </p:cNvPr>
          <p:cNvSpPr txBox="1"/>
          <p:nvPr/>
        </p:nvSpPr>
        <p:spPr>
          <a:xfrm>
            <a:off x="5051375" y="47973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MEDICAL PRODUCTS &amp; DISTRIBUTION</a:t>
            </a:r>
          </a:p>
        </p:txBody>
      </p:sp>
      <p:sp>
        <p:nvSpPr>
          <p:cNvPr id="122" name="Shape 83"/>
          <p:cNvSpPr/>
          <p:nvPr/>
        </p:nvSpPr>
        <p:spPr>
          <a:xfrm>
            <a:off x="7340501" y="3174950"/>
            <a:ext cx="2298650" cy="1822400"/>
          </a:xfrm>
          <a:prstGeom prst="rect">
            <a:avLst/>
          </a:prstGeom>
          <a:solidFill>
            <a:srgbClr val="FFFFFF"/>
          </a:solidFill>
          <a:ln>
            <a:noFill/>
          </a:ln>
          <a:effectLst/>
        </p:spPr>
        <p:txBody>
          <a:bodyPr rtlCol="0" anchor="ctr"/>
          <a:lstStyle/>
          <a:p>
            <a:pPr algn="ctr"/>
            <a:endParaRPr/>
          </a:p>
        </p:txBody>
      </p:sp>
      <p:sp>
        <p:nvSpPr>
          <p:cNvPr id="123" name="Shape 84"/>
          <p:cNvSpPr/>
          <p:nvPr/>
        </p:nvSpPr>
        <p:spPr>
          <a:xfrm>
            <a:off x="7340501" y="3174950"/>
            <a:ext cx="2298650" cy="28575"/>
          </a:xfrm>
          <a:prstGeom prst="rect">
            <a:avLst/>
          </a:prstGeom>
          <a:solidFill>
            <a:srgbClr val="B68757"/>
          </a:solidFill>
          <a:ln>
            <a:noFill/>
          </a:ln>
          <a:effectLst/>
        </p:spPr>
        <p:txBody>
          <a:bodyPr rtlCol="0" anchor="ctr"/>
          <a:lstStyle/>
          <a:p>
            <a:pPr algn="ctr"/>
            <a:endParaRPr/>
          </a:p>
        </p:txBody>
      </p:sp>
      <p:sp>
        <p:nvSpPr>
          <p:cNvPr id="124" name="Shape 85"/>
          <p:cNvSpPr/>
          <p:nvPr/>
        </p:nvSpPr>
        <p:spPr>
          <a:xfrm>
            <a:off x="9629626" y="3174950"/>
            <a:ext cx="9525" cy="1822400"/>
          </a:xfrm>
          <a:prstGeom prst="rect">
            <a:avLst/>
          </a:prstGeom>
          <a:solidFill>
            <a:srgbClr val="E3DCD3"/>
          </a:solidFill>
          <a:ln>
            <a:noFill/>
          </a:ln>
          <a:effectLst/>
        </p:spPr>
        <p:txBody>
          <a:bodyPr rtlCol="0" anchor="ctr"/>
          <a:lstStyle/>
          <a:p>
            <a:pPr algn="ctr"/>
            <a:endParaRPr/>
          </a:p>
        </p:txBody>
      </p:sp>
      <p:sp>
        <p:nvSpPr>
          <p:cNvPr id="125" name="Shape 86"/>
          <p:cNvSpPr/>
          <p:nvPr/>
        </p:nvSpPr>
        <p:spPr>
          <a:xfrm>
            <a:off x="7340501" y="4987826"/>
            <a:ext cx="2298650" cy="9525"/>
          </a:xfrm>
          <a:prstGeom prst="rect">
            <a:avLst/>
          </a:prstGeom>
          <a:solidFill>
            <a:srgbClr val="E3DCD3"/>
          </a:solidFill>
          <a:ln>
            <a:noFill/>
          </a:ln>
          <a:effectLst/>
        </p:spPr>
        <p:txBody>
          <a:bodyPr rtlCol="0" anchor="ctr"/>
          <a:lstStyle/>
          <a:p>
            <a:pPr algn="ctr"/>
            <a:endParaRPr/>
          </a:p>
        </p:txBody>
      </p:sp>
      <p:sp>
        <p:nvSpPr>
          <p:cNvPr id="126" name="Shape 87"/>
          <p:cNvSpPr/>
          <p:nvPr/>
        </p:nvSpPr>
        <p:spPr>
          <a:xfrm>
            <a:off x="7340501" y="3174950"/>
            <a:ext cx="9525" cy="1822400"/>
          </a:xfrm>
          <a:prstGeom prst="rect">
            <a:avLst/>
          </a:prstGeom>
          <a:solidFill>
            <a:srgbClr val="E3DCD3"/>
          </a:solidFill>
          <a:ln>
            <a:noFill/>
          </a:ln>
          <a:effectLst/>
        </p:spPr>
        <p:txBody>
          <a:bodyPr rtlCol="0" anchor="ctr"/>
          <a:lstStyle/>
          <a:p>
            <a:pPr algn="ctr"/>
            <a:endParaRPr/>
          </a:p>
        </p:txBody>
      </p:sp>
      <p:sp>
        <p:nvSpPr>
          <p:cNvPr id="133" name="TextBox 37">
            <a:hlinkClick r:id="rId9"/>
          </p:cNvPr>
          <p:cNvSpPr txBox="1"/>
          <p:nvPr/>
        </p:nvSpPr>
        <p:spPr>
          <a:xfrm>
            <a:off x="7464326" y="3717875"/>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40" name="TextBox 39">
            <a:hlinkClick r:id="rId9"/>
          </p:cNvPr>
          <p:cNvSpPr txBox="1"/>
          <p:nvPr/>
        </p:nvSpPr>
        <p:spPr>
          <a:xfrm>
            <a:off x="7464326" y="4384625"/>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In-home care for Ohio Medicaid waiver participants</a:t>
            </a:r>
          </a:p>
        </p:txBody>
      </p:sp>
      <p:sp>
        <p:nvSpPr>
          <p:cNvPr id="141" name="TextBox 40">
            <a:hlinkClick r:id="rId9"/>
          </p:cNvPr>
          <p:cNvSpPr txBox="1"/>
          <p:nvPr/>
        </p:nvSpPr>
        <p:spPr>
          <a:xfrm>
            <a:off x="7464326" y="47973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PROVIDER SERVICES</a:t>
            </a:r>
          </a:p>
        </p:txBody>
      </p:sp>
      <p:sp>
        <p:nvSpPr>
          <p:cNvPr id="142" name="Shape 98"/>
          <p:cNvSpPr/>
          <p:nvPr/>
        </p:nvSpPr>
        <p:spPr>
          <a:xfrm>
            <a:off x="2514600" y="5111651"/>
            <a:ext cx="2298650" cy="1822400"/>
          </a:xfrm>
          <a:prstGeom prst="rect">
            <a:avLst/>
          </a:prstGeom>
          <a:solidFill>
            <a:srgbClr val="FFFFFF"/>
          </a:solidFill>
          <a:ln>
            <a:noFill/>
          </a:ln>
          <a:effectLst/>
        </p:spPr>
        <p:txBody>
          <a:bodyPr rtlCol="0" anchor="ctr"/>
          <a:lstStyle/>
          <a:p>
            <a:pPr algn="ctr"/>
            <a:endParaRPr/>
          </a:p>
        </p:txBody>
      </p:sp>
      <p:sp>
        <p:nvSpPr>
          <p:cNvPr id="143" name="Shape 99"/>
          <p:cNvSpPr/>
          <p:nvPr/>
        </p:nvSpPr>
        <p:spPr>
          <a:xfrm>
            <a:off x="2514600" y="5111651"/>
            <a:ext cx="2298650" cy="28575"/>
          </a:xfrm>
          <a:prstGeom prst="rect">
            <a:avLst/>
          </a:prstGeom>
          <a:solidFill>
            <a:srgbClr val="B68757"/>
          </a:solidFill>
          <a:ln>
            <a:noFill/>
          </a:ln>
          <a:effectLst/>
        </p:spPr>
        <p:txBody>
          <a:bodyPr rtlCol="0" anchor="ctr"/>
          <a:lstStyle/>
          <a:p>
            <a:pPr algn="ctr"/>
            <a:endParaRPr/>
          </a:p>
        </p:txBody>
      </p:sp>
      <p:sp>
        <p:nvSpPr>
          <p:cNvPr id="144" name="Shape 100"/>
          <p:cNvSpPr/>
          <p:nvPr/>
        </p:nvSpPr>
        <p:spPr>
          <a:xfrm>
            <a:off x="4803725" y="5111651"/>
            <a:ext cx="9525" cy="1822400"/>
          </a:xfrm>
          <a:prstGeom prst="rect">
            <a:avLst/>
          </a:prstGeom>
          <a:solidFill>
            <a:srgbClr val="E3DCD3"/>
          </a:solidFill>
          <a:ln>
            <a:noFill/>
          </a:ln>
          <a:effectLst/>
        </p:spPr>
        <p:txBody>
          <a:bodyPr rtlCol="0" anchor="ctr"/>
          <a:lstStyle/>
          <a:p>
            <a:pPr algn="ctr"/>
            <a:endParaRPr/>
          </a:p>
        </p:txBody>
      </p:sp>
      <p:sp>
        <p:nvSpPr>
          <p:cNvPr id="145" name="Shape 101"/>
          <p:cNvSpPr/>
          <p:nvPr/>
        </p:nvSpPr>
        <p:spPr>
          <a:xfrm>
            <a:off x="2514600" y="6924526"/>
            <a:ext cx="2298650" cy="9525"/>
          </a:xfrm>
          <a:prstGeom prst="rect">
            <a:avLst/>
          </a:prstGeom>
          <a:solidFill>
            <a:srgbClr val="E3DCD3"/>
          </a:solidFill>
          <a:ln>
            <a:noFill/>
          </a:ln>
          <a:effectLst/>
        </p:spPr>
        <p:txBody>
          <a:bodyPr rtlCol="0" anchor="ctr"/>
          <a:lstStyle/>
          <a:p>
            <a:pPr algn="ctr"/>
            <a:endParaRPr/>
          </a:p>
        </p:txBody>
      </p:sp>
      <p:sp>
        <p:nvSpPr>
          <p:cNvPr id="146" name="Shape 102"/>
          <p:cNvSpPr/>
          <p:nvPr/>
        </p:nvSpPr>
        <p:spPr>
          <a:xfrm>
            <a:off x="2514600" y="5111651"/>
            <a:ext cx="9525" cy="1822400"/>
          </a:xfrm>
          <a:prstGeom prst="rect">
            <a:avLst/>
          </a:prstGeom>
          <a:solidFill>
            <a:srgbClr val="E3DCD3"/>
          </a:solidFill>
          <a:ln>
            <a:noFill/>
          </a:ln>
          <a:effectLst/>
        </p:spPr>
        <p:txBody>
          <a:bodyPr rtlCol="0" anchor="ctr"/>
          <a:lstStyle/>
          <a:p>
            <a:pPr algn="ctr"/>
            <a:endParaRPr/>
          </a:p>
        </p:txBody>
      </p:sp>
      <p:sp>
        <p:nvSpPr>
          <p:cNvPr id="153" name="TextBox 42">
            <a:hlinkClick r:id="rId10"/>
          </p:cNvPr>
          <p:cNvSpPr txBox="1"/>
          <p:nvPr/>
        </p:nvSpPr>
        <p:spPr>
          <a:xfrm>
            <a:off x="2638425" y="5654576"/>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60" name="TextBox 44">
            <a:hlinkClick r:id="rId10"/>
          </p:cNvPr>
          <p:cNvSpPr txBox="1"/>
          <p:nvPr/>
        </p:nvSpPr>
        <p:spPr>
          <a:xfrm>
            <a:off x="2638425" y="6321326"/>
            <a:ext cx="2065288" cy="276225"/>
          </a:xfrm>
          <a:prstGeom prst="rect">
            <a:avLst/>
          </a:prstGeom>
          <a:noFill/>
        </p:spPr>
        <p:txBody>
          <a:bodyPr wrap="square" lIns="0" tIns="0" rIns="0" bIns="0" anchor="t">
            <a:spAutoFit/>
          </a:bodyPr>
          <a:lstStyle/>
          <a:p>
            <a:pPr algn="ctr">
              <a:lnSpc>
                <a:spcPts val="1219"/>
              </a:lnSpc>
            </a:pPr>
            <a:r>
              <a:rPr sz="900" b="0" i="0" spc="15">
                <a:solidFill>
                  <a:srgbClr val="333231"/>
                </a:solidFill>
                <a:latin typeface="Calibri"/>
              </a:rPr>
              <a:t>Nurse staffing for healthcare facilities in northern Louisiana</a:t>
            </a:r>
          </a:p>
        </p:txBody>
      </p:sp>
      <p:sp>
        <p:nvSpPr>
          <p:cNvPr id="161" name="TextBox 45">
            <a:hlinkClick r:id="rId10"/>
          </p:cNvPr>
          <p:cNvSpPr txBox="1"/>
          <p:nvPr/>
        </p:nvSpPr>
        <p:spPr>
          <a:xfrm>
            <a:off x="2638425" y="67340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PHARMACY &amp; HEALTHCARE SERVICES</a:t>
            </a:r>
          </a:p>
        </p:txBody>
      </p:sp>
      <p:sp>
        <p:nvSpPr>
          <p:cNvPr id="162" name="Shape 113"/>
          <p:cNvSpPr/>
          <p:nvPr/>
        </p:nvSpPr>
        <p:spPr>
          <a:xfrm>
            <a:off x="4927550" y="5111651"/>
            <a:ext cx="2298650" cy="1822400"/>
          </a:xfrm>
          <a:prstGeom prst="rect">
            <a:avLst/>
          </a:prstGeom>
          <a:solidFill>
            <a:srgbClr val="FFFFFF"/>
          </a:solidFill>
          <a:ln>
            <a:noFill/>
          </a:ln>
          <a:effectLst/>
        </p:spPr>
        <p:txBody>
          <a:bodyPr rtlCol="0" anchor="ctr"/>
          <a:lstStyle/>
          <a:p>
            <a:pPr algn="ctr"/>
            <a:endParaRPr/>
          </a:p>
        </p:txBody>
      </p:sp>
      <p:sp>
        <p:nvSpPr>
          <p:cNvPr id="163" name="Shape 114"/>
          <p:cNvSpPr/>
          <p:nvPr/>
        </p:nvSpPr>
        <p:spPr>
          <a:xfrm>
            <a:off x="4927550" y="5111651"/>
            <a:ext cx="2298650" cy="28575"/>
          </a:xfrm>
          <a:prstGeom prst="rect">
            <a:avLst/>
          </a:prstGeom>
          <a:solidFill>
            <a:srgbClr val="B68757"/>
          </a:solidFill>
          <a:ln>
            <a:noFill/>
          </a:ln>
          <a:effectLst/>
        </p:spPr>
        <p:txBody>
          <a:bodyPr rtlCol="0" anchor="ctr"/>
          <a:lstStyle/>
          <a:p>
            <a:pPr algn="ctr"/>
            <a:endParaRPr/>
          </a:p>
        </p:txBody>
      </p:sp>
      <p:sp>
        <p:nvSpPr>
          <p:cNvPr id="164" name="Shape 115"/>
          <p:cNvSpPr/>
          <p:nvPr/>
        </p:nvSpPr>
        <p:spPr>
          <a:xfrm>
            <a:off x="7216676" y="5111651"/>
            <a:ext cx="9525" cy="1822400"/>
          </a:xfrm>
          <a:prstGeom prst="rect">
            <a:avLst/>
          </a:prstGeom>
          <a:solidFill>
            <a:srgbClr val="E3DCD3"/>
          </a:solidFill>
          <a:ln>
            <a:noFill/>
          </a:ln>
          <a:effectLst/>
        </p:spPr>
        <p:txBody>
          <a:bodyPr rtlCol="0" anchor="ctr"/>
          <a:lstStyle/>
          <a:p>
            <a:pPr algn="ctr"/>
            <a:endParaRPr/>
          </a:p>
        </p:txBody>
      </p:sp>
      <p:sp>
        <p:nvSpPr>
          <p:cNvPr id="165" name="Shape 116"/>
          <p:cNvSpPr/>
          <p:nvPr/>
        </p:nvSpPr>
        <p:spPr>
          <a:xfrm>
            <a:off x="4927550" y="6924526"/>
            <a:ext cx="2298650" cy="9525"/>
          </a:xfrm>
          <a:prstGeom prst="rect">
            <a:avLst/>
          </a:prstGeom>
          <a:solidFill>
            <a:srgbClr val="E3DCD3"/>
          </a:solidFill>
          <a:ln>
            <a:noFill/>
          </a:ln>
          <a:effectLst/>
        </p:spPr>
        <p:txBody>
          <a:bodyPr rtlCol="0" anchor="ctr"/>
          <a:lstStyle/>
          <a:p>
            <a:pPr algn="ctr"/>
            <a:endParaRPr/>
          </a:p>
        </p:txBody>
      </p:sp>
      <p:sp>
        <p:nvSpPr>
          <p:cNvPr id="166" name="Shape 117"/>
          <p:cNvSpPr/>
          <p:nvPr/>
        </p:nvSpPr>
        <p:spPr>
          <a:xfrm>
            <a:off x="4927550" y="5111651"/>
            <a:ext cx="9525" cy="1822400"/>
          </a:xfrm>
          <a:prstGeom prst="rect">
            <a:avLst/>
          </a:prstGeom>
          <a:solidFill>
            <a:srgbClr val="E3DCD3"/>
          </a:solidFill>
          <a:ln>
            <a:noFill/>
          </a:ln>
          <a:effectLst/>
        </p:spPr>
        <p:txBody>
          <a:bodyPr rtlCol="0" anchor="ctr"/>
          <a:lstStyle/>
          <a:p>
            <a:pPr algn="ctr"/>
            <a:endParaRPr/>
          </a:p>
        </p:txBody>
      </p:sp>
      <p:sp>
        <p:nvSpPr>
          <p:cNvPr id="173" name="TextBox 47">
            <a:hlinkClick r:id="rId11"/>
          </p:cNvPr>
          <p:cNvSpPr txBox="1"/>
          <p:nvPr/>
        </p:nvSpPr>
        <p:spPr>
          <a:xfrm>
            <a:off x="5051375" y="5654576"/>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179" name="TextBox 48">
            <a:hlinkClick r:id="rId11"/>
          </p:cNvPr>
          <p:cNvSpPr txBox="1"/>
          <p:nvPr/>
        </p:nvSpPr>
        <p:spPr>
          <a:xfrm>
            <a:off x="5375374" y="5964138"/>
            <a:ext cx="1417290" cy="123825"/>
          </a:xfrm>
          <a:prstGeom prst="rect">
            <a:avLst/>
          </a:prstGeom>
          <a:noFill/>
        </p:spPr>
        <p:txBody>
          <a:bodyPr wrap="square" lIns="0" tIns="0" rIns="0" bIns="0" anchor="t">
            <a:spAutoFit/>
          </a:bodyPr>
          <a:lstStyle/>
          <a:p>
            <a:pPr algn="ctr">
              <a:lnSpc>
                <a:spcPts val="975"/>
              </a:lnSpc>
            </a:pPr>
            <a:r>
              <a:rPr sz="712" b="1" i="0" spc="45">
                <a:solidFill>
                  <a:srgbClr val="1B1A1A"/>
                </a:solidFill>
                <a:latin typeface="Calibri"/>
              </a:rPr>
              <a:t>A GROUP OF PRIVATE INVESTORS</a:t>
            </a:r>
          </a:p>
        </p:txBody>
      </p:sp>
      <p:sp>
        <p:nvSpPr>
          <p:cNvPr id="180" name="TextBox 49">
            <a:hlinkClick r:id="rId11"/>
          </p:cNvPr>
          <p:cNvSpPr txBox="1"/>
          <p:nvPr/>
        </p:nvSpPr>
        <p:spPr>
          <a:xfrm>
            <a:off x="5051375" y="6321326"/>
            <a:ext cx="2065288" cy="276225"/>
          </a:xfrm>
          <a:prstGeom prst="rect">
            <a:avLst/>
          </a:prstGeom>
          <a:noFill/>
        </p:spPr>
        <p:txBody>
          <a:bodyPr wrap="square" lIns="0" tIns="0" rIns="0" bIns="0" anchor="t">
            <a:spAutoFit/>
          </a:bodyPr>
          <a:lstStyle/>
          <a:p>
            <a:pPr algn="ctr">
              <a:lnSpc>
                <a:spcPts val="1121"/>
              </a:lnSpc>
            </a:pPr>
            <a:r>
              <a:rPr sz="800" b="0" i="0" spc="15">
                <a:solidFill>
                  <a:srgbClr val="333231"/>
                </a:solidFill>
                <a:latin typeface="Calibri"/>
              </a:rPr>
              <a:t>Training, research, and instructional design for pharmaceutical, biotech, and device companies</a:t>
            </a:r>
          </a:p>
        </p:txBody>
      </p:sp>
      <p:sp>
        <p:nvSpPr>
          <p:cNvPr id="181" name="TextBox 50">
            <a:hlinkClick r:id="rId11"/>
          </p:cNvPr>
          <p:cNvSpPr txBox="1"/>
          <p:nvPr/>
        </p:nvSpPr>
        <p:spPr>
          <a:xfrm>
            <a:off x="5051375" y="67340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PHARMACY &amp; HEALTHCARE SERVICES</a:t>
            </a:r>
          </a:p>
        </p:txBody>
      </p:sp>
      <p:sp>
        <p:nvSpPr>
          <p:cNvPr id="182" name="Shape 128"/>
          <p:cNvSpPr/>
          <p:nvPr/>
        </p:nvSpPr>
        <p:spPr>
          <a:xfrm>
            <a:off x="7340501" y="5111651"/>
            <a:ext cx="2298650" cy="1822400"/>
          </a:xfrm>
          <a:prstGeom prst="rect">
            <a:avLst/>
          </a:prstGeom>
          <a:solidFill>
            <a:srgbClr val="FFFFFF"/>
          </a:solidFill>
          <a:ln>
            <a:noFill/>
          </a:ln>
          <a:effectLst/>
        </p:spPr>
        <p:txBody>
          <a:bodyPr rtlCol="0" anchor="ctr"/>
          <a:lstStyle/>
          <a:p>
            <a:pPr algn="ctr"/>
            <a:endParaRPr/>
          </a:p>
        </p:txBody>
      </p:sp>
      <p:sp>
        <p:nvSpPr>
          <p:cNvPr id="183" name="Shape 129"/>
          <p:cNvSpPr/>
          <p:nvPr/>
        </p:nvSpPr>
        <p:spPr>
          <a:xfrm>
            <a:off x="7340501" y="5111651"/>
            <a:ext cx="2298650" cy="28575"/>
          </a:xfrm>
          <a:prstGeom prst="rect">
            <a:avLst/>
          </a:prstGeom>
          <a:solidFill>
            <a:srgbClr val="B68757"/>
          </a:solidFill>
          <a:ln>
            <a:noFill/>
          </a:ln>
          <a:effectLst/>
        </p:spPr>
        <p:txBody>
          <a:bodyPr rtlCol="0" anchor="ctr"/>
          <a:lstStyle/>
          <a:p>
            <a:pPr algn="ctr"/>
            <a:endParaRPr/>
          </a:p>
        </p:txBody>
      </p:sp>
      <p:sp>
        <p:nvSpPr>
          <p:cNvPr id="184" name="Shape 130"/>
          <p:cNvSpPr/>
          <p:nvPr/>
        </p:nvSpPr>
        <p:spPr>
          <a:xfrm>
            <a:off x="9629626" y="5111651"/>
            <a:ext cx="9525" cy="1822400"/>
          </a:xfrm>
          <a:prstGeom prst="rect">
            <a:avLst/>
          </a:prstGeom>
          <a:solidFill>
            <a:srgbClr val="E3DCD3"/>
          </a:solidFill>
          <a:ln>
            <a:noFill/>
          </a:ln>
          <a:effectLst/>
        </p:spPr>
        <p:txBody>
          <a:bodyPr rtlCol="0" anchor="ctr"/>
          <a:lstStyle/>
          <a:p>
            <a:pPr algn="ctr"/>
            <a:endParaRPr/>
          </a:p>
        </p:txBody>
      </p:sp>
      <p:sp>
        <p:nvSpPr>
          <p:cNvPr id="185" name="Shape 131"/>
          <p:cNvSpPr/>
          <p:nvPr/>
        </p:nvSpPr>
        <p:spPr>
          <a:xfrm>
            <a:off x="7340501" y="6924526"/>
            <a:ext cx="2298650" cy="9525"/>
          </a:xfrm>
          <a:prstGeom prst="rect">
            <a:avLst/>
          </a:prstGeom>
          <a:solidFill>
            <a:srgbClr val="E3DCD3"/>
          </a:solidFill>
          <a:ln>
            <a:noFill/>
          </a:ln>
          <a:effectLst/>
        </p:spPr>
        <p:txBody>
          <a:bodyPr rtlCol="0" anchor="ctr"/>
          <a:lstStyle/>
          <a:p>
            <a:pPr algn="ctr"/>
            <a:endParaRPr/>
          </a:p>
        </p:txBody>
      </p:sp>
      <p:sp>
        <p:nvSpPr>
          <p:cNvPr id="186" name="Shape 132"/>
          <p:cNvSpPr/>
          <p:nvPr/>
        </p:nvSpPr>
        <p:spPr>
          <a:xfrm>
            <a:off x="7340501" y="5111651"/>
            <a:ext cx="9525" cy="1822400"/>
          </a:xfrm>
          <a:prstGeom prst="rect">
            <a:avLst/>
          </a:prstGeom>
          <a:solidFill>
            <a:srgbClr val="E3DCD3"/>
          </a:solidFill>
          <a:ln>
            <a:noFill/>
          </a:ln>
          <a:effectLst/>
        </p:spPr>
        <p:txBody>
          <a:bodyPr rtlCol="0" anchor="ctr"/>
          <a:lstStyle/>
          <a:p>
            <a:pPr algn="ctr"/>
            <a:endParaRPr/>
          </a:p>
        </p:txBody>
      </p:sp>
      <p:sp>
        <p:nvSpPr>
          <p:cNvPr id="193" name="TextBox 52">
            <a:hlinkClick r:id="rId12"/>
          </p:cNvPr>
          <p:cNvSpPr txBox="1"/>
          <p:nvPr/>
        </p:nvSpPr>
        <p:spPr>
          <a:xfrm>
            <a:off x="7464326" y="5654576"/>
            <a:ext cx="2065288" cy="161925"/>
          </a:xfrm>
          <a:prstGeom prst="rect">
            <a:avLst/>
          </a:prstGeom>
          <a:noFill/>
        </p:spPr>
        <p:txBody>
          <a:bodyPr wrap="square" lIns="0" tIns="0" rIns="0" bIns="0" anchor="t">
            <a:spAutoFit/>
          </a:bodyPr>
          <a:lstStyle/>
          <a:p>
            <a:pPr algn="ctr">
              <a:lnSpc>
                <a:spcPts val="1466"/>
              </a:lnSpc>
            </a:pPr>
            <a:r>
              <a:rPr sz="700" b="0" i="0" spc="112">
                <a:solidFill>
                  <a:srgbClr val="6F6A66"/>
                </a:solidFill>
                <a:latin typeface="Calibri"/>
              </a:rPr>
              <a:t>HAS BEEN ACQUIRED BY</a:t>
            </a:r>
          </a:p>
        </p:txBody>
      </p:sp>
      <p:sp>
        <p:nvSpPr>
          <p:cNvPr id="200" name="TextBox 54">
            <a:hlinkClick r:id="rId12"/>
          </p:cNvPr>
          <p:cNvSpPr txBox="1"/>
          <p:nvPr/>
        </p:nvSpPr>
        <p:spPr>
          <a:xfrm>
            <a:off x="7464326" y="6321326"/>
            <a:ext cx="2065288" cy="138112"/>
          </a:xfrm>
          <a:prstGeom prst="rect">
            <a:avLst/>
          </a:prstGeom>
          <a:noFill/>
        </p:spPr>
        <p:txBody>
          <a:bodyPr wrap="square" lIns="0" tIns="0" rIns="0" bIns="0" anchor="t">
            <a:spAutoFit/>
          </a:bodyPr>
          <a:lstStyle/>
          <a:p>
            <a:pPr algn="ctr">
              <a:lnSpc>
                <a:spcPts val="1186"/>
              </a:lnSpc>
            </a:pPr>
            <a:r>
              <a:rPr sz="850" b="0" i="0" spc="15">
                <a:solidFill>
                  <a:srgbClr val="333231"/>
                </a:solidFill>
                <a:latin typeface="Calibri"/>
              </a:rPr>
              <a:t>Healthcare executive and clinical placement</a:t>
            </a:r>
          </a:p>
        </p:txBody>
      </p:sp>
      <p:sp>
        <p:nvSpPr>
          <p:cNvPr id="201" name="TextBox 55">
            <a:hlinkClick r:id="rId12"/>
          </p:cNvPr>
          <p:cNvSpPr txBox="1"/>
          <p:nvPr/>
        </p:nvSpPr>
        <p:spPr>
          <a:xfrm>
            <a:off x="7464326" y="6734026"/>
            <a:ext cx="2065288" cy="104775"/>
          </a:xfrm>
          <a:prstGeom prst="rect">
            <a:avLst/>
          </a:prstGeom>
          <a:noFill/>
        </p:spPr>
        <p:txBody>
          <a:bodyPr wrap="square" lIns="0" tIns="0" rIns="0" bIns="0" anchor="t">
            <a:spAutoFit/>
          </a:bodyPr>
          <a:lstStyle/>
          <a:p>
            <a:pPr algn="ctr">
              <a:lnSpc>
                <a:spcPts val="949"/>
              </a:lnSpc>
            </a:pPr>
            <a:r>
              <a:rPr sz="700" b="1" i="0" spc="105">
                <a:solidFill>
                  <a:srgbClr val="8C6239"/>
                </a:solidFill>
                <a:latin typeface="Calibri"/>
              </a:rPr>
              <a:t>PHARMACY &amp; HEALTHCARE SERVICES</a:t>
            </a:r>
          </a:p>
        </p:txBody>
      </p:sp>
      <p:sp>
        <p:nvSpPr>
          <p:cNvPr id="202" name="Shape 14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203" name="Picture 2" descr="Benchmark International logo"/>
          <p:cNvPicPr>
            <a:picLocks noChangeAspect="1"/>
          </p:cNvPicPr>
          <p:nvPr/>
        </p:nvPicPr>
        <p:blipFill>
          <a:blip r:embed="rId13"/>
          <a:srcRect/>
          <a:stretch>
            <a:fillRect/>
          </a:stretch>
        </p:blipFill>
        <p:spPr>
          <a:xfrm>
            <a:off x="419100" y="7143750"/>
            <a:ext cx="914400" cy="171450"/>
          </a:xfrm>
          <a:prstGeom prst="rect">
            <a:avLst/>
          </a:prstGeom>
        </p:spPr>
      </p:pic>
      <p:sp>
        <p:nvSpPr>
          <p:cNvPr id="204" name="TextBox 5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Transactions closed in the trailing 24 months on which Benchmark International advised the seller, as announced at benchmarkintl.com. Nine of the twelve are shown.</a:t>
            </a:r>
          </a:p>
        </p:txBody>
      </p:sp>
      <p:sp>
        <p:nvSpPr>
          <p:cNvPr id="205" name="TextBox 5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16</a:t>
            </a:r>
          </a:p>
        </p:txBody>
      </p:sp>
      <p:pic>
        <p:nvPicPr>
          <p:cNvPr id="206" name="Logo FORMTECH" descr="Formtech logo">
            <a:hlinkClick r:id="rId5"/>
          </p:cNvPr>
          <p:cNvPicPr>
            <a:picLocks noChangeAspect="1"/>
          </p:cNvPicPr>
          <p:nvPr/>
        </p:nvPicPr>
        <p:blipFill>
          <a:blip r:embed="rId14"/>
          <a:stretch>
            <a:fillRect/>
          </a:stretch>
        </p:blipFill>
        <p:spPr>
          <a:xfrm>
            <a:off x="5132969" y="1469185"/>
            <a:ext cx="1901952" cy="204878"/>
          </a:xfrm>
          <a:prstGeom prst="rect">
            <a:avLst/>
          </a:prstGeom>
        </p:spPr>
      </p:pic>
      <p:pic>
        <p:nvPicPr>
          <p:cNvPr id="207" name="Logo FROST" descr="Fast Response On Site Testing logo">
            <a:hlinkClick r:id="rId6"/>
          </p:cNvPr>
          <p:cNvPicPr>
            <a:picLocks noChangeAspect="1"/>
          </p:cNvPicPr>
          <p:nvPr/>
        </p:nvPicPr>
        <p:blipFill>
          <a:blip r:embed="rId15"/>
          <a:stretch>
            <a:fillRect/>
          </a:stretch>
        </p:blipFill>
        <p:spPr>
          <a:xfrm>
            <a:off x="7956485" y="1434464"/>
            <a:ext cx="1080820" cy="274320"/>
          </a:xfrm>
          <a:prstGeom prst="rect">
            <a:avLst/>
          </a:prstGeom>
        </p:spPr>
      </p:pic>
      <p:pic>
        <p:nvPicPr>
          <p:cNvPr id="208" name="Logo RELENTLESS" descr="Relentless Health logo">
            <a:hlinkClick r:id="rId6"/>
          </p:cNvPr>
          <p:cNvPicPr>
            <a:picLocks noChangeAspect="1"/>
          </p:cNvPicPr>
          <p:nvPr/>
        </p:nvPicPr>
        <p:blipFill>
          <a:blip r:embed="rId16"/>
          <a:stretch>
            <a:fillRect/>
          </a:stretch>
        </p:blipFill>
        <p:spPr>
          <a:xfrm>
            <a:off x="7834323" y="2015490"/>
            <a:ext cx="1325142" cy="274320"/>
          </a:xfrm>
          <a:prstGeom prst="rect">
            <a:avLst/>
          </a:prstGeom>
        </p:spPr>
      </p:pic>
      <p:pic>
        <p:nvPicPr>
          <p:cNvPr id="209" name="Logo DENTALHOLD" descr="ReLeaf logo">
            <a:hlinkClick r:id="rId8"/>
          </p:cNvPr>
          <p:cNvPicPr>
            <a:picLocks noChangeAspect="1"/>
          </p:cNvPicPr>
          <p:nvPr/>
        </p:nvPicPr>
        <p:blipFill>
          <a:blip r:embed="rId17"/>
          <a:stretch>
            <a:fillRect/>
          </a:stretch>
        </p:blipFill>
        <p:spPr>
          <a:xfrm>
            <a:off x="5783789" y="3371165"/>
            <a:ext cx="593940" cy="274320"/>
          </a:xfrm>
          <a:prstGeom prst="rect">
            <a:avLst/>
          </a:prstGeom>
        </p:spPr>
      </p:pic>
      <p:pic>
        <p:nvPicPr>
          <p:cNvPr id="210" name="Logo SOLMETEX" descr="Solmetex logo">
            <a:hlinkClick r:id="rId8"/>
          </p:cNvPr>
          <p:cNvPicPr>
            <a:picLocks noChangeAspect="1"/>
          </p:cNvPicPr>
          <p:nvPr/>
        </p:nvPicPr>
        <p:blipFill>
          <a:blip r:embed="rId18"/>
          <a:stretch>
            <a:fillRect/>
          </a:stretch>
        </p:blipFill>
        <p:spPr>
          <a:xfrm>
            <a:off x="5532119" y="3952190"/>
            <a:ext cx="1097280" cy="274320"/>
          </a:xfrm>
          <a:prstGeom prst="rect">
            <a:avLst/>
          </a:prstGeom>
        </p:spPr>
      </p:pic>
      <p:pic>
        <p:nvPicPr>
          <p:cNvPr id="211" name="Logo AMIVIE" descr="Amivie logo">
            <a:hlinkClick r:id="rId9"/>
          </p:cNvPr>
          <p:cNvPicPr>
            <a:picLocks noChangeAspect="1"/>
          </p:cNvPicPr>
          <p:nvPr/>
        </p:nvPicPr>
        <p:blipFill>
          <a:blip r:embed="rId19"/>
          <a:stretch>
            <a:fillRect/>
          </a:stretch>
        </p:blipFill>
        <p:spPr>
          <a:xfrm>
            <a:off x="8054518" y="3952190"/>
            <a:ext cx="884903" cy="274320"/>
          </a:xfrm>
          <a:prstGeom prst="rect">
            <a:avLst/>
          </a:prstGeom>
        </p:spPr>
      </p:pic>
      <p:pic>
        <p:nvPicPr>
          <p:cNvPr id="212" name="Logo PRECISEBIO" descr="Precise Bioscience logo">
            <a:hlinkClick r:id="rId4"/>
          </p:cNvPr>
          <p:cNvPicPr>
            <a:picLocks noChangeAspect="1"/>
          </p:cNvPicPr>
          <p:nvPr/>
        </p:nvPicPr>
        <p:blipFill>
          <a:blip r:embed="rId20"/>
          <a:stretch>
            <a:fillRect/>
          </a:stretch>
        </p:blipFill>
        <p:spPr>
          <a:xfrm>
            <a:off x="3212824" y="1425320"/>
            <a:ext cx="916490" cy="292608"/>
          </a:xfrm>
          <a:prstGeom prst="rect">
            <a:avLst/>
          </a:prstGeom>
        </p:spPr>
      </p:pic>
      <p:pic>
        <p:nvPicPr>
          <p:cNvPr id="213" name="Logo NEWHORIZON" descr="New Horizon Medical Solutions logo">
            <a:hlinkClick r:id="rId4"/>
          </p:cNvPr>
          <p:cNvPicPr>
            <a:picLocks noChangeAspect="1"/>
          </p:cNvPicPr>
          <p:nvPr/>
        </p:nvPicPr>
        <p:blipFill>
          <a:blip r:embed="rId21"/>
          <a:stretch>
            <a:fillRect/>
          </a:stretch>
        </p:blipFill>
        <p:spPr>
          <a:xfrm>
            <a:off x="3386087" y="2006346"/>
            <a:ext cx="569815" cy="292608"/>
          </a:xfrm>
          <a:prstGeom prst="rect">
            <a:avLst/>
          </a:prstGeom>
        </p:spPr>
      </p:pic>
      <p:pic>
        <p:nvPicPr>
          <p:cNvPr id="214" name="Logo AAVIN" descr="Aavin Private Equity logo">
            <a:hlinkClick r:id="rId5"/>
          </p:cNvPr>
          <p:cNvPicPr>
            <a:picLocks noChangeAspect="1"/>
          </p:cNvPicPr>
          <p:nvPr/>
        </p:nvPicPr>
        <p:blipFill>
          <a:blip r:embed="rId22"/>
          <a:stretch>
            <a:fillRect/>
          </a:stretch>
        </p:blipFill>
        <p:spPr>
          <a:xfrm>
            <a:off x="5953733" y="2006346"/>
            <a:ext cx="260421" cy="292608"/>
          </a:xfrm>
          <a:prstGeom prst="rect">
            <a:avLst/>
          </a:prstGeom>
        </p:spPr>
      </p:pic>
      <p:pic>
        <p:nvPicPr>
          <p:cNvPr id="215" name="Logo CEPRO" descr="CEPRO logo">
            <a:hlinkClick r:id="rId7"/>
          </p:cNvPr>
          <p:cNvPicPr>
            <a:picLocks noChangeAspect="1"/>
          </p:cNvPicPr>
          <p:nvPr/>
        </p:nvPicPr>
        <p:blipFill>
          <a:blip r:embed="rId23"/>
          <a:stretch>
            <a:fillRect/>
          </a:stretch>
        </p:blipFill>
        <p:spPr>
          <a:xfrm>
            <a:off x="3213259" y="3361575"/>
            <a:ext cx="915619" cy="292608"/>
          </a:xfrm>
          <a:prstGeom prst="rect">
            <a:avLst/>
          </a:prstGeom>
        </p:spPr>
      </p:pic>
      <p:pic>
        <p:nvPicPr>
          <p:cNvPr id="216" name="Logo SSA" descr="Scientific Safety Alliance logo">
            <a:hlinkClick r:id="rId7"/>
          </p:cNvPr>
          <p:cNvPicPr>
            <a:picLocks noChangeAspect="1"/>
          </p:cNvPicPr>
          <p:nvPr/>
        </p:nvPicPr>
        <p:blipFill>
          <a:blip r:embed="rId24"/>
          <a:stretch>
            <a:fillRect/>
          </a:stretch>
        </p:blipFill>
        <p:spPr>
          <a:xfrm>
            <a:off x="3279594" y="3941706"/>
            <a:ext cx="782948" cy="292608"/>
          </a:xfrm>
          <a:prstGeom prst="rect">
            <a:avLst/>
          </a:prstGeom>
        </p:spPr>
      </p:pic>
      <p:pic>
        <p:nvPicPr>
          <p:cNvPr id="217" name="Logo MEDICALTEMPS" descr="Medical Temps logo">
            <a:hlinkClick r:id="rId10"/>
          </p:cNvPr>
          <p:cNvPicPr>
            <a:picLocks noChangeAspect="1"/>
          </p:cNvPicPr>
          <p:nvPr/>
        </p:nvPicPr>
        <p:blipFill>
          <a:blip r:embed="rId25"/>
          <a:stretch>
            <a:fillRect/>
          </a:stretch>
        </p:blipFill>
        <p:spPr>
          <a:xfrm>
            <a:off x="2720019" y="5352926"/>
            <a:ext cx="1901952" cy="184198"/>
          </a:xfrm>
          <a:prstGeom prst="rect">
            <a:avLst/>
          </a:prstGeom>
        </p:spPr>
      </p:pic>
      <p:pic>
        <p:nvPicPr>
          <p:cNvPr id="218" name="Logo HAN" descr="Health Advocates Network logo">
            <a:hlinkClick r:id="rId10"/>
          </p:cNvPr>
          <p:cNvPicPr>
            <a:picLocks noChangeAspect="1"/>
          </p:cNvPicPr>
          <p:nvPr/>
        </p:nvPicPr>
        <p:blipFill>
          <a:blip r:embed="rId26"/>
          <a:stretch>
            <a:fillRect/>
          </a:stretch>
        </p:blipFill>
        <p:spPr>
          <a:xfrm>
            <a:off x="3169469" y="5879746"/>
            <a:ext cx="1003050" cy="292608"/>
          </a:xfrm>
          <a:prstGeom prst="rect">
            <a:avLst/>
          </a:prstGeom>
        </p:spPr>
      </p:pic>
      <p:pic>
        <p:nvPicPr>
          <p:cNvPr id="219" name="Logo BROOKS" descr="The Brooks Group logo">
            <a:hlinkClick r:id="rId11"/>
          </p:cNvPr>
          <p:cNvPicPr>
            <a:picLocks noChangeAspect="1"/>
          </p:cNvPicPr>
          <p:nvPr/>
        </p:nvPicPr>
        <p:blipFill>
          <a:blip r:embed="rId27"/>
          <a:stretch>
            <a:fillRect/>
          </a:stretch>
        </p:blipFill>
        <p:spPr>
          <a:xfrm>
            <a:off x="5471198" y="5298721"/>
            <a:ext cx="1225641" cy="292608"/>
          </a:xfrm>
          <a:prstGeom prst="rect">
            <a:avLst/>
          </a:prstGeom>
        </p:spPr>
      </p:pic>
      <p:pic>
        <p:nvPicPr>
          <p:cNvPr id="220" name="Logo FITZGERALD" descr="American Consultants logo">
            <a:hlinkClick r:id="rId12"/>
          </p:cNvPr>
          <p:cNvPicPr>
            <a:picLocks noChangeAspect="1"/>
          </p:cNvPicPr>
          <p:nvPr/>
        </p:nvPicPr>
        <p:blipFill>
          <a:blip r:embed="rId28"/>
          <a:stretch>
            <a:fillRect/>
          </a:stretch>
        </p:blipFill>
        <p:spPr>
          <a:xfrm>
            <a:off x="8089628" y="5298721"/>
            <a:ext cx="814532" cy="292608"/>
          </a:xfrm>
          <a:prstGeom prst="rect">
            <a:avLst/>
          </a:prstGeom>
        </p:spPr>
      </p:pic>
      <p:pic>
        <p:nvPicPr>
          <p:cNvPr id="221" name="Logo PIONEERS" descr="Pioneers Operations logo">
            <a:hlinkClick r:id="rId12"/>
          </p:cNvPr>
          <p:cNvPicPr>
            <a:picLocks noChangeAspect="1"/>
          </p:cNvPicPr>
          <p:nvPr/>
        </p:nvPicPr>
        <p:blipFill>
          <a:blip r:embed="rId29"/>
          <a:stretch>
            <a:fillRect/>
          </a:stretch>
        </p:blipFill>
        <p:spPr>
          <a:xfrm>
            <a:off x="7545919" y="5966000"/>
            <a:ext cx="1901952" cy="120100"/>
          </a:xfrm>
          <a:prstGeom prst="rect">
            <a:avLst/>
          </a:prstGeom>
        </p:spPr>
      </p:pic>
      <p:pic>
        <p:nvPicPr>
          <p:cNvPr id="222" name="Logo FOSTERBRIDGE" descr="Fosterbridge logo">
            <a:hlinkClick r:id="rId9"/>
          </p:cNvPr>
          <p:cNvPicPr>
            <a:picLocks noChangeAspect="1"/>
          </p:cNvPicPr>
          <p:nvPr/>
        </p:nvPicPr>
        <p:blipFill>
          <a:blip r:embed="rId30"/>
          <a:stretch>
            <a:fillRect/>
          </a:stretch>
        </p:blipFill>
        <p:spPr>
          <a:xfrm>
            <a:off x="7806962" y="3371165"/>
            <a:ext cx="1380014" cy="27432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Valuation Multiples by Sector</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430"/>
              </a:lnSpc>
            </a:pPr>
            <a:r>
              <a:rPr sz="950" b="0" i="0" spc="15">
                <a:solidFill>
                  <a:srgbClr val="6F6A66"/>
                </a:solidFill>
                <a:latin typeface="Calibri"/>
              </a:rPr>
              <a:t>Life sciences and diagnostics re-rated from 13.3x to 18.7x adjusted EBITDA in a year; provider services, medical products, and pharmacy services moved within about one turn.</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238250"/>
            <a:ext cx="64912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Enterprise value to trailing adjusted EBITDA, median by subsector</a:t>
            </a:r>
          </a:p>
        </p:txBody>
      </p:sp>
      <p:sp>
        <p:nvSpPr>
          <p:cNvPr id="9" name="TextBox 6"/>
          <p:cNvSpPr txBox="1"/>
          <p:nvPr/>
        </p:nvSpPr>
        <p:spPr>
          <a:xfrm>
            <a:off x="419100" y="1400175"/>
            <a:ext cx="6491288" cy="133350"/>
          </a:xfrm>
          <a:prstGeom prst="rect">
            <a:avLst/>
          </a:prstGeom>
          <a:noFill/>
        </p:spPr>
        <p:txBody>
          <a:bodyPr wrap="square" lIns="0" tIns="0" rIns="0" bIns="0" anchor="t">
            <a:spAutoFit/>
          </a:bodyPr>
          <a:lstStyle/>
          <a:p>
            <a:pPr algn="l">
              <a:lnSpc>
                <a:spcPts val="1208"/>
              </a:lnSpc>
            </a:pPr>
            <a:r>
              <a:rPr sz="850" b="0" i="0" spc="15" dirty="0">
                <a:solidFill>
                  <a:srgbClr val="6F6A66"/>
                </a:solidFill>
                <a:latin typeface="Calibri"/>
              </a:rPr>
              <a:t>Enterprise value at October 16, 2026 (a year ago: September 30, 2025) over adjusted EBITDA for the twelve months to June 2026 (June 2025)</a:t>
            </a:r>
            <a:r>
              <a:rPr lang="en-US" sz="850" b="0" i="0" spc="15" dirty="0">
                <a:solidFill>
                  <a:srgbClr val="6F6A66"/>
                </a:solidFill>
                <a:latin typeface="Calibri"/>
              </a:rPr>
              <a:t>.</a:t>
            </a:r>
            <a:endParaRPr sz="850" b="0" i="0" spc="15" dirty="0">
              <a:solidFill>
                <a:srgbClr val="6F6A66"/>
              </a:solidFill>
              <a:latin typeface="Calibri"/>
            </a:endParaRPr>
          </a:p>
        </p:txBody>
      </p:sp>
      <p:sp>
        <p:nvSpPr>
          <p:cNvPr id="11" name="Shape 3"/>
          <p:cNvSpPr/>
          <p:nvPr/>
        </p:nvSpPr>
        <p:spPr>
          <a:xfrm>
            <a:off x="419100" y="4767262"/>
            <a:ext cx="133350" cy="28575"/>
          </a:xfrm>
          <a:prstGeom prst="rect">
            <a:avLst/>
          </a:prstGeom>
          <a:solidFill>
            <a:srgbClr val="C9C1B8"/>
          </a:solidFill>
          <a:ln>
            <a:noFill/>
          </a:ln>
          <a:effectLst/>
        </p:spPr>
        <p:txBody>
          <a:bodyPr rtlCol="0" anchor="ctr"/>
          <a:lstStyle/>
          <a:p>
            <a:pPr algn="ctr"/>
            <a:endParaRPr/>
          </a:p>
        </p:txBody>
      </p:sp>
      <p:sp>
        <p:nvSpPr>
          <p:cNvPr id="12" name="TextBox 7"/>
          <p:cNvSpPr txBox="1"/>
          <p:nvPr/>
        </p:nvSpPr>
        <p:spPr>
          <a:xfrm>
            <a:off x="609600" y="4714875"/>
            <a:ext cx="1554480"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A year ago (September 30, 2025)</a:t>
            </a:r>
          </a:p>
        </p:txBody>
      </p:sp>
      <p:sp>
        <p:nvSpPr>
          <p:cNvPr id="13" name="Shape 4"/>
          <p:cNvSpPr/>
          <p:nvPr/>
        </p:nvSpPr>
        <p:spPr>
          <a:xfrm>
            <a:off x="2240280" y="4767262"/>
            <a:ext cx="133350" cy="28575"/>
          </a:xfrm>
          <a:prstGeom prst="rect">
            <a:avLst/>
          </a:prstGeom>
          <a:solidFill>
            <a:srgbClr val="1B1A1A"/>
          </a:solidFill>
          <a:ln>
            <a:noFill/>
          </a:ln>
          <a:effectLst/>
        </p:spPr>
        <p:txBody>
          <a:bodyPr rtlCol="0" anchor="ctr"/>
          <a:lstStyle/>
          <a:p>
            <a:pPr algn="ctr"/>
            <a:endParaRPr/>
          </a:p>
        </p:txBody>
      </p:sp>
      <p:sp>
        <p:nvSpPr>
          <p:cNvPr id="14" name="TextBox 8"/>
          <p:cNvSpPr txBox="1"/>
          <p:nvPr/>
        </p:nvSpPr>
        <p:spPr>
          <a:xfrm>
            <a:off x="2432304" y="4714875"/>
            <a:ext cx="1554480"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Today (October 16, 2026)</a:t>
            </a:r>
          </a:p>
        </p:txBody>
      </p:sp>
      <p:sp>
        <p:nvSpPr>
          <p:cNvPr id="19" name="Shape 7"/>
          <p:cNvSpPr/>
          <p:nvPr/>
        </p:nvSpPr>
        <p:spPr>
          <a:xfrm>
            <a:off x="419100" y="5848350"/>
            <a:ext cx="6477000" cy="19050"/>
          </a:xfrm>
          <a:prstGeom prst="rect">
            <a:avLst/>
          </a:prstGeom>
          <a:solidFill>
            <a:srgbClr val="B68757"/>
          </a:solidFill>
          <a:ln>
            <a:noFill/>
          </a:ln>
          <a:effectLst/>
        </p:spPr>
        <p:txBody>
          <a:bodyPr rtlCol="0" anchor="ctr"/>
          <a:lstStyle/>
          <a:p>
            <a:pPr algn="ctr"/>
            <a:endParaRPr/>
          </a:p>
        </p:txBody>
      </p:sp>
      <p:sp>
        <p:nvSpPr>
          <p:cNvPr id="20" name="TextBox 11"/>
          <p:cNvSpPr txBox="1"/>
          <p:nvPr/>
        </p:nvSpPr>
        <p:spPr>
          <a:xfrm>
            <a:off x="419100" y="5686425"/>
            <a:ext cx="3119438" cy="114300"/>
          </a:xfrm>
          <a:prstGeom prst="rect">
            <a:avLst/>
          </a:prstGeom>
          <a:noFill/>
        </p:spPr>
        <p:txBody>
          <a:bodyPr wrap="square" lIns="0" tIns="0" rIns="0" bIns="0" anchor="t">
            <a:spAutoFit/>
          </a:bodyPr>
          <a:lstStyle/>
          <a:p>
            <a:pPr algn="l">
              <a:lnSpc>
                <a:spcPts val="1035"/>
              </a:lnSpc>
            </a:pPr>
            <a:r>
              <a:rPr sz="750" b="1" i="0" spc="105">
                <a:solidFill>
                  <a:srgbClr val="333231"/>
                </a:solidFill>
                <a:latin typeface="Calibri"/>
              </a:rPr>
              <a:t>MEDIAN EV TO TRAILING ADJUSTED EBITDA</a:t>
            </a:r>
          </a:p>
        </p:txBody>
      </p:sp>
      <p:sp>
        <p:nvSpPr>
          <p:cNvPr id="21" name="TextBox 12"/>
          <p:cNvSpPr txBox="1"/>
          <p:nvPr/>
        </p:nvSpPr>
        <p:spPr>
          <a:xfrm>
            <a:off x="3619500" y="5686425"/>
            <a:ext cx="719138" cy="114300"/>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A YEAR AGO</a:t>
            </a:r>
          </a:p>
        </p:txBody>
      </p:sp>
      <p:sp>
        <p:nvSpPr>
          <p:cNvPr id="22" name="TextBox 13"/>
          <p:cNvSpPr txBox="1"/>
          <p:nvPr/>
        </p:nvSpPr>
        <p:spPr>
          <a:xfrm>
            <a:off x="4419600" y="5686425"/>
            <a:ext cx="719138" cy="114300"/>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TODAY</a:t>
            </a:r>
          </a:p>
        </p:txBody>
      </p:sp>
      <p:sp>
        <p:nvSpPr>
          <p:cNvPr id="23" name="TextBox 14"/>
          <p:cNvSpPr txBox="1"/>
          <p:nvPr/>
        </p:nvSpPr>
        <p:spPr>
          <a:xfrm>
            <a:off x="5219700" y="5687568"/>
            <a:ext cx="928688" cy="109728"/>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CHANGE</a:t>
            </a:r>
          </a:p>
        </p:txBody>
      </p:sp>
      <p:sp>
        <p:nvSpPr>
          <p:cNvPr id="24" name="TextBox 15"/>
          <p:cNvSpPr txBox="1"/>
          <p:nvPr/>
        </p:nvSpPr>
        <p:spPr>
          <a:xfrm>
            <a:off x="6229350" y="5686425"/>
            <a:ext cx="681038" cy="114300"/>
          </a:xfrm>
          <a:prstGeom prst="rect">
            <a:avLst/>
          </a:prstGeom>
          <a:noFill/>
        </p:spPr>
        <p:txBody>
          <a:bodyPr wrap="square" lIns="0" tIns="0" rIns="0" bIns="0" anchor="t">
            <a:spAutoFit/>
          </a:bodyPr>
          <a:lstStyle/>
          <a:p>
            <a:pPr algn="r">
              <a:lnSpc>
                <a:spcPts val="1035"/>
              </a:lnSpc>
            </a:pPr>
            <a:r>
              <a:rPr sz="750" b="1" i="0" spc="105">
                <a:solidFill>
                  <a:srgbClr val="333231"/>
                </a:solidFill>
                <a:latin typeface="Calibri"/>
              </a:rPr>
              <a:t>COMPANIES</a:t>
            </a:r>
          </a:p>
        </p:txBody>
      </p:sp>
      <p:sp>
        <p:nvSpPr>
          <p:cNvPr id="25" name="Shape 8"/>
          <p:cNvSpPr/>
          <p:nvPr/>
        </p:nvSpPr>
        <p:spPr>
          <a:xfrm>
            <a:off x="419100" y="6124575"/>
            <a:ext cx="6477000" cy="9525"/>
          </a:xfrm>
          <a:prstGeom prst="rect">
            <a:avLst/>
          </a:prstGeom>
          <a:solidFill>
            <a:srgbClr val="E3DCD3"/>
          </a:solidFill>
          <a:ln>
            <a:noFill/>
          </a:ln>
          <a:effectLst/>
        </p:spPr>
        <p:txBody>
          <a:bodyPr rtlCol="0" anchor="ctr"/>
          <a:lstStyle/>
          <a:p>
            <a:pPr algn="ctr"/>
            <a:endParaRPr/>
          </a:p>
        </p:txBody>
      </p:sp>
      <p:sp>
        <p:nvSpPr>
          <p:cNvPr id="26" name="Shape 9"/>
          <p:cNvSpPr/>
          <p:nvPr/>
        </p:nvSpPr>
        <p:spPr>
          <a:xfrm>
            <a:off x="419100" y="5981700"/>
            <a:ext cx="133350" cy="28575"/>
          </a:xfrm>
          <a:prstGeom prst="rect">
            <a:avLst/>
          </a:prstGeom>
          <a:solidFill>
            <a:srgbClr val="1B1A1A"/>
          </a:solidFill>
          <a:ln>
            <a:noFill/>
          </a:ln>
          <a:effectLst/>
        </p:spPr>
        <p:txBody>
          <a:bodyPr rtlCol="0" anchor="ctr"/>
          <a:lstStyle/>
          <a:p>
            <a:pPr algn="ctr"/>
            <a:endParaRPr/>
          </a:p>
        </p:txBody>
      </p:sp>
      <p:sp>
        <p:nvSpPr>
          <p:cNvPr id="27" name="TextBox 16"/>
          <p:cNvSpPr txBox="1"/>
          <p:nvPr/>
        </p:nvSpPr>
        <p:spPr>
          <a:xfrm>
            <a:off x="628650" y="5934075"/>
            <a:ext cx="930384"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Provider Services</a:t>
            </a:r>
          </a:p>
        </p:txBody>
      </p:sp>
      <p:sp>
        <p:nvSpPr>
          <p:cNvPr id="28" name="TextBox 17"/>
          <p:cNvSpPr txBox="1"/>
          <p:nvPr/>
        </p:nvSpPr>
        <p:spPr>
          <a:xfrm>
            <a:off x="3619500" y="59245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14.5x</a:t>
            </a:r>
          </a:p>
        </p:txBody>
      </p:sp>
      <p:sp>
        <p:nvSpPr>
          <p:cNvPr id="29" name="TextBox 18"/>
          <p:cNvSpPr txBox="1"/>
          <p:nvPr/>
        </p:nvSpPr>
        <p:spPr>
          <a:xfrm>
            <a:off x="4419600" y="59245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14.2x</a:t>
            </a:r>
          </a:p>
        </p:txBody>
      </p:sp>
      <p:sp>
        <p:nvSpPr>
          <p:cNvPr id="30" name="TextBox 19"/>
          <p:cNvSpPr txBox="1"/>
          <p:nvPr/>
        </p:nvSpPr>
        <p:spPr>
          <a:xfrm>
            <a:off x="5219700" y="59245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-0.3x</a:t>
            </a:r>
          </a:p>
        </p:txBody>
      </p:sp>
      <p:sp>
        <p:nvSpPr>
          <p:cNvPr id="31" name="TextBox 20"/>
          <p:cNvSpPr txBox="1"/>
          <p:nvPr/>
        </p:nvSpPr>
        <p:spPr>
          <a:xfrm>
            <a:off x="6229350" y="59245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11 / 11</a:t>
            </a:r>
          </a:p>
        </p:txBody>
      </p:sp>
      <p:sp>
        <p:nvSpPr>
          <p:cNvPr id="32" name="Shape 10"/>
          <p:cNvSpPr/>
          <p:nvPr/>
        </p:nvSpPr>
        <p:spPr>
          <a:xfrm>
            <a:off x="419100" y="6391275"/>
            <a:ext cx="6477000" cy="9525"/>
          </a:xfrm>
          <a:prstGeom prst="rect">
            <a:avLst/>
          </a:prstGeom>
          <a:solidFill>
            <a:srgbClr val="E3DCD3"/>
          </a:solidFill>
          <a:ln>
            <a:noFill/>
          </a:ln>
          <a:effectLst/>
        </p:spPr>
        <p:txBody>
          <a:bodyPr rtlCol="0" anchor="ctr"/>
          <a:lstStyle/>
          <a:p>
            <a:pPr algn="ctr"/>
            <a:endParaRPr/>
          </a:p>
        </p:txBody>
      </p:sp>
      <p:sp>
        <p:nvSpPr>
          <p:cNvPr id="33" name="Shape 11"/>
          <p:cNvSpPr/>
          <p:nvPr/>
        </p:nvSpPr>
        <p:spPr>
          <a:xfrm>
            <a:off x="419100" y="6248400"/>
            <a:ext cx="133350" cy="28575"/>
          </a:xfrm>
          <a:prstGeom prst="rect">
            <a:avLst/>
          </a:prstGeom>
          <a:solidFill>
            <a:srgbClr val="B68757"/>
          </a:solidFill>
          <a:ln>
            <a:noFill/>
          </a:ln>
          <a:effectLst/>
        </p:spPr>
        <p:txBody>
          <a:bodyPr rtlCol="0" anchor="ctr"/>
          <a:lstStyle/>
          <a:p>
            <a:pPr algn="ctr"/>
            <a:endParaRPr/>
          </a:p>
        </p:txBody>
      </p:sp>
      <p:sp>
        <p:nvSpPr>
          <p:cNvPr id="34" name="TextBox 21"/>
          <p:cNvSpPr txBox="1"/>
          <p:nvPr/>
        </p:nvSpPr>
        <p:spPr>
          <a:xfrm>
            <a:off x="628650" y="6200775"/>
            <a:ext cx="1404982"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Life Sciences &amp; Diagnostics</a:t>
            </a:r>
          </a:p>
        </p:txBody>
      </p:sp>
      <p:sp>
        <p:nvSpPr>
          <p:cNvPr id="35" name="TextBox 22"/>
          <p:cNvSpPr txBox="1"/>
          <p:nvPr/>
        </p:nvSpPr>
        <p:spPr>
          <a:xfrm>
            <a:off x="3619500" y="61912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13.3x</a:t>
            </a:r>
          </a:p>
        </p:txBody>
      </p:sp>
      <p:sp>
        <p:nvSpPr>
          <p:cNvPr id="36" name="TextBox 23"/>
          <p:cNvSpPr txBox="1"/>
          <p:nvPr/>
        </p:nvSpPr>
        <p:spPr>
          <a:xfrm>
            <a:off x="4419600" y="61912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18.7x</a:t>
            </a:r>
          </a:p>
        </p:txBody>
      </p:sp>
      <p:sp>
        <p:nvSpPr>
          <p:cNvPr id="37" name="TextBox 24"/>
          <p:cNvSpPr txBox="1"/>
          <p:nvPr/>
        </p:nvSpPr>
        <p:spPr>
          <a:xfrm>
            <a:off x="5219700" y="61912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+5.4x</a:t>
            </a:r>
          </a:p>
        </p:txBody>
      </p:sp>
      <p:sp>
        <p:nvSpPr>
          <p:cNvPr id="38" name="TextBox 25"/>
          <p:cNvSpPr txBox="1"/>
          <p:nvPr/>
        </p:nvSpPr>
        <p:spPr>
          <a:xfrm>
            <a:off x="6229350" y="61912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9 / 9</a:t>
            </a:r>
          </a:p>
        </p:txBody>
      </p:sp>
      <p:sp>
        <p:nvSpPr>
          <p:cNvPr id="39" name="Shape 12"/>
          <p:cNvSpPr/>
          <p:nvPr/>
        </p:nvSpPr>
        <p:spPr>
          <a:xfrm>
            <a:off x="419100" y="6657975"/>
            <a:ext cx="6477000" cy="9525"/>
          </a:xfrm>
          <a:prstGeom prst="rect">
            <a:avLst/>
          </a:prstGeom>
          <a:solidFill>
            <a:srgbClr val="E3DCD3"/>
          </a:solidFill>
          <a:ln>
            <a:noFill/>
          </a:ln>
          <a:effectLst/>
        </p:spPr>
        <p:txBody>
          <a:bodyPr rtlCol="0" anchor="ctr"/>
          <a:lstStyle/>
          <a:p>
            <a:pPr algn="ctr"/>
            <a:endParaRPr/>
          </a:p>
        </p:txBody>
      </p:sp>
      <p:sp>
        <p:nvSpPr>
          <p:cNvPr id="40" name="Shape 13"/>
          <p:cNvSpPr/>
          <p:nvPr/>
        </p:nvSpPr>
        <p:spPr>
          <a:xfrm>
            <a:off x="419100" y="6515100"/>
            <a:ext cx="133350" cy="28575"/>
          </a:xfrm>
          <a:prstGeom prst="rect">
            <a:avLst/>
          </a:prstGeom>
          <a:solidFill>
            <a:srgbClr val="6D7681"/>
          </a:solidFill>
          <a:ln>
            <a:noFill/>
          </a:ln>
          <a:effectLst/>
        </p:spPr>
        <p:txBody>
          <a:bodyPr rtlCol="0" anchor="ctr"/>
          <a:lstStyle/>
          <a:p>
            <a:pPr algn="ctr"/>
            <a:endParaRPr/>
          </a:p>
        </p:txBody>
      </p:sp>
      <p:sp>
        <p:nvSpPr>
          <p:cNvPr id="41" name="TextBox 26"/>
          <p:cNvSpPr txBox="1"/>
          <p:nvPr/>
        </p:nvSpPr>
        <p:spPr>
          <a:xfrm>
            <a:off x="628650" y="6467475"/>
            <a:ext cx="1670358"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Medical Products &amp; Distribution</a:t>
            </a:r>
          </a:p>
        </p:txBody>
      </p:sp>
      <p:sp>
        <p:nvSpPr>
          <p:cNvPr id="42" name="TextBox 27"/>
          <p:cNvSpPr txBox="1"/>
          <p:nvPr/>
        </p:nvSpPr>
        <p:spPr>
          <a:xfrm>
            <a:off x="3619500" y="64579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12.0x</a:t>
            </a:r>
          </a:p>
        </p:txBody>
      </p:sp>
      <p:sp>
        <p:nvSpPr>
          <p:cNvPr id="43" name="TextBox 28"/>
          <p:cNvSpPr txBox="1"/>
          <p:nvPr/>
        </p:nvSpPr>
        <p:spPr>
          <a:xfrm>
            <a:off x="4419600" y="64579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10.7x</a:t>
            </a:r>
          </a:p>
        </p:txBody>
      </p:sp>
      <p:sp>
        <p:nvSpPr>
          <p:cNvPr id="44" name="TextBox 29"/>
          <p:cNvSpPr txBox="1"/>
          <p:nvPr/>
        </p:nvSpPr>
        <p:spPr>
          <a:xfrm>
            <a:off x="5219700" y="64579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-1.3x</a:t>
            </a:r>
          </a:p>
        </p:txBody>
      </p:sp>
      <p:sp>
        <p:nvSpPr>
          <p:cNvPr id="45" name="TextBox 30"/>
          <p:cNvSpPr txBox="1"/>
          <p:nvPr/>
        </p:nvSpPr>
        <p:spPr>
          <a:xfrm>
            <a:off x="6229350" y="64579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10 / 9</a:t>
            </a:r>
          </a:p>
        </p:txBody>
      </p:sp>
      <p:sp>
        <p:nvSpPr>
          <p:cNvPr id="46" name="Shape 14"/>
          <p:cNvSpPr/>
          <p:nvPr/>
        </p:nvSpPr>
        <p:spPr>
          <a:xfrm>
            <a:off x="419100" y="6924675"/>
            <a:ext cx="6477000" cy="9525"/>
          </a:xfrm>
          <a:prstGeom prst="rect">
            <a:avLst/>
          </a:prstGeom>
          <a:solidFill>
            <a:srgbClr val="E3DCD3"/>
          </a:solidFill>
          <a:ln>
            <a:noFill/>
          </a:ln>
          <a:effectLst/>
        </p:spPr>
        <p:txBody>
          <a:bodyPr rtlCol="0" anchor="ctr"/>
          <a:lstStyle/>
          <a:p>
            <a:pPr algn="ctr"/>
            <a:endParaRPr/>
          </a:p>
        </p:txBody>
      </p:sp>
      <p:sp>
        <p:nvSpPr>
          <p:cNvPr id="47" name="Shape 15"/>
          <p:cNvSpPr/>
          <p:nvPr/>
        </p:nvSpPr>
        <p:spPr>
          <a:xfrm>
            <a:off x="419100" y="6781800"/>
            <a:ext cx="133350" cy="28575"/>
          </a:xfrm>
          <a:prstGeom prst="rect">
            <a:avLst/>
          </a:prstGeom>
          <a:solidFill>
            <a:srgbClr val="A39486"/>
          </a:solidFill>
          <a:ln>
            <a:noFill/>
          </a:ln>
          <a:effectLst/>
        </p:spPr>
        <p:txBody>
          <a:bodyPr rtlCol="0" anchor="ctr"/>
          <a:lstStyle/>
          <a:p>
            <a:pPr algn="ctr"/>
            <a:endParaRPr/>
          </a:p>
        </p:txBody>
      </p:sp>
      <p:sp>
        <p:nvSpPr>
          <p:cNvPr id="48" name="TextBox 31"/>
          <p:cNvSpPr txBox="1"/>
          <p:nvPr/>
        </p:nvSpPr>
        <p:spPr>
          <a:xfrm>
            <a:off x="628650" y="6734175"/>
            <a:ext cx="1679034" cy="123825"/>
          </a:xfrm>
          <a:prstGeom prst="rect">
            <a:avLst/>
          </a:prstGeom>
          <a:noFill/>
        </p:spPr>
        <p:txBody>
          <a:bodyPr wrap="square" lIns="0" tIns="0" rIns="0" bIns="0" anchor="t">
            <a:spAutoFit/>
          </a:bodyPr>
          <a:lstStyle/>
          <a:p>
            <a:pPr algn="l">
              <a:lnSpc>
                <a:spcPts val="1121"/>
              </a:lnSpc>
            </a:pPr>
            <a:r>
              <a:rPr sz="950" b="1" i="0" spc="15">
                <a:solidFill>
                  <a:srgbClr val="333231"/>
                </a:solidFill>
                <a:latin typeface="Calibri"/>
              </a:rPr>
              <a:t>Pharmacy &amp; Healthcare Services</a:t>
            </a:r>
          </a:p>
        </p:txBody>
      </p:sp>
      <p:sp>
        <p:nvSpPr>
          <p:cNvPr id="49" name="TextBox 32"/>
          <p:cNvSpPr txBox="1"/>
          <p:nvPr/>
        </p:nvSpPr>
        <p:spPr>
          <a:xfrm>
            <a:off x="3619500" y="6724650"/>
            <a:ext cx="71913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14.2x</a:t>
            </a:r>
          </a:p>
        </p:txBody>
      </p:sp>
      <p:sp>
        <p:nvSpPr>
          <p:cNvPr id="50" name="TextBox 33"/>
          <p:cNvSpPr txBox="1"/>
          <p:nvPr/>
        </p:nvSpPr>
        <p:spPr>
          <a:xfrm>
            <a:off x="4419600" y="6724650"/>
            <a:ext cx="719138" cy="142875"/>
          </a:xfrm>
          <a:prstGeom prst="rect">
            <a:avLst/>
          </a:prstGeom>
          <a:noFill/>
        </p:spPr>
        <p:txBody>
          <a:bodyPr wrap="square" lIns="0" tIns="0" rIns="0" bIns="0" anchor="t">
            <a:spAutoFit/>
          </a:bodyPr>
          <a:lstStyle/>
          <a:p>
            <a:pPr algn="r">
              <a:lnSpc>
                <a:spcPts val="1294"/>
              </a:lnSpc>
            </a:pPr>
            <a:r>
              <a:rPr sz="950" b="1" i="0" spc="15">
                <a:solidFill>
                  <a:srgbClr val="1B1A1A"/>
                </a:solidFill>
                <a:latin typeface="Calibri"/>
              </a:rPr>
              <a:t>15.0x</a:t>
            </a:r>
          </a:p>
        </p:txBody>
      </p:sp>
      <p:sp>
        <p:nvSpPr>
          <p:cNvPr id="51" name="TextBox 34"/>
          <p:cNvSpPr txBox="1"/>
          <p:nvPr/>
        </p:nvSpPr>
        <p:spPr>
          <a:xfrm>
            <a:off x="5219700" y="6724650"/>
            <a:ext cx="928688" cy="142875"/>
          </a:xfrm>
          <a:prstGeom prst="rect">
            <a:avLst/>
          </a:prstGeom>
          <a:noFill/>
        </p:spPr>
        <p:txBody>
          <a:bodyPr wrap="square" lIns="0" tIns="0" rIns="0" bIns="0" anchor="t">
            <a:spAutoFit/>
          </a:bodyPr>
          <a:lstStyle/>
          <a:p>
            <a:pPr algn="r">
              <a:lnSpc>
                <a:spcPts val="1294"/>
              </a:lnSpc>
            </a:pPr>
            <a:r>
              <a:rPr sz="950" b="0" i="0" spc="15">
                <a:solidFill>
                  <a:srgbClr val="333231"/>
                </a:solidFill>
                <a:latin typeface="Calibri"/>
              </a:rPr>
              <a:t>+0.9x</a:t>
            </a:r>
          </a:p>
        </p:txBody>
      </p:sp>
      <p:sp>
        <p:nvSpPr>
          <p:cNvPr id="52" name="TextBox 35"/>
          <p:cNvSpPr txBox="1"/>
          <p:nvPr/>
        </p:nvSpPr>
        <p:spPr>
          <a:xfrm>
            <a:off x="6229350" y="6724650"/>
            <a:ext cx="681038" cy="142875"/>
          </a:xfrm>
          <a:prstGeom prst="rect">
            <a:avLst/>
          </a:prstGeom>
          <a:noFill/>
        </p:spPr>
        <p:txBody>
          <a:bodyPr wrap="square" lIns="0" tIns="0" rIns="0" bIns="0" anchor="t">
            <a:spAutoFit/>
          </a:bodyPr>
          <a:lstStyle/>
          <a:p>
            <a:pPr algn="r">
              <a:lnSpc>
                <a:spcPts val="1294"/>
              </a:lnSpc>
            </a:pPr>
            <a:r>
              <a:rPr sz="950" b="0" i="0" spc="15">
                <a:solidFill>
                  <a:srgbClr val="6F6A66"/>
                </a:solidFill>
                <a:latin typeface="Calibri"/>
              </a:rPr>
              <a:t>8 / 8</a:t>
            </a:r>
          </a:p>
        </p:txBody>
      </p:sp>
      <p:sp>
        <p:nvSpPr>
          <p:cNvPr id="53" name="Shape 16"/>
          <p:cNvSpPr/>
          <p:nvPr/>
        </p:nvSpPr>
        <p:spPr>
          <a:xfrm>
            <a:off x="7086600" y="1238250"/>
            <a:ext cx="2552700" cy="5695950"/>
          </a:xfrm>
          <a:prstGeom prst="rect">
            <a:avLst/>
          </a:prstGeom>
          <a:solidFill>
            <a:srgbClr val="1B1A1A"/>
          </a:solidFill>
          <a:ln>
            <a:noFill/>
          </a:ln>
          <a:effectLst/>
        </p:spPr>
        <p:txBody>
          <a:bodyPr rtlCol="0" anchor="ctr"/>
          <a:lstStyle/>
          <a:p>
            <a:pPr algn="ctr"/>
            <a:endParaRPr/>
          </a:p>
        </p:txBody>
      </p:sp>
      <p:pic>
        <p:nvPicPr>
          <p:cNvPr id="54" name="Picture 1" descr="Dark textured background with the Benchmark International knot emblem"/>
          <p:cNvPicPr>
            <a:picLocks noChangeAspect="1"/>
          </p:cNvPicPr>
          <p:nvPr/>
        </p:nvPicPr>
        <p:blipFill>
          <a:blip r:embed="rId2">
            <a:alphaModFix amt="50000"/>
          </a:blip>
          <a:srcRect l="30109" t="1500" r="45438" b="1500"/>
          <a:stretch>
            <a:fillRect/>
          </a:stretch>
        </p:blipFill>
        <p:spPr>
          <a:xfrm>
            <a:off x="7086600" y="1238250"/>
            <a:ext cx="2552700" cy="5695950"/>
          </a:xfrm>
          <a:prstGeom prst="rect">
            <a:avLst/>
          </a:prstGeom>
        </p:spPr>
      </p:pic>
      <p:sp>
        <p:nvSpPr>
          <p:cNvPr id="55" name="TextBox 36"/>
          <p:cNvSpPr txBox="1"/>
          <p:nvPr/>
        </p:nvSpPr>
        <p:spPr>
          <a:xfrm>
            <a:off x="7277100" y="1447800"/>
            <a:ext cx="2185988" cy="123825"/>
          </a:xfrm>
          <a:prstGeom prst="rect">
            <a:avLst/>
          </a:prstGeom>
          <a:noFill/>
        </p:spPr>
        <p:txBody>
          <a:bodyPr wrap="square" lIns="0" tIns="0" rIns="0" bIns="0" anchor="t">
            <a:spAutoFit/>
          </a:bodyPr>
          <a:lstStyle/>
          <a:p>
            <a:pPr algn="l">
              <a:lnSpc>
                <a:spcPts val="1092"/>
              </a:lnSpc>
            </a:pPr>
            <a:r>
              <a:rPr sz="750" b="1" i="0" spc="150">
                <a:solidFill>
                  <a:srgbClr val="D3AE84"/>
                </a:solidFill>
                <a:latin typeface="Calibri"/>
              </a:rPr>
              <a:t>PRIVATE-MARKET REFERENCE POINTS</a:t>
            </a:r>
          </a:p>
        </p:txBody>
      </p:sp>
      <p:sp>
        <p:nvSpPr>
          <p:cNvPr id="56" name="Shape 17"/>
          <p:cNvSpPr/>
          <p:nvPr/>
        </p:nvSpPr>
        <p:spPr>
          <a:xfrm>
            <a:off x="7277100" y="1666875"/>
            <a:ext cx="2171700" cy="9525"/>
          </a:xfrm>
          <a:prstGeom prst="rect">
            <a:avLst/>
          </a:prstGeom>
          <a:solidFill>
            <a:srgbClr val="FFFFFF">
              <a:alpha val="16000"/>
            </a:srgbClr>
          </a:solidFill>
          <a:ln>
            <a:noFill/>
          </a:ln>
          <a:effectLst/>
        </p:spPr>
        <p:txBody>
          <a:bodyPr rtlCol="0" anchor="ctr"/>
          <a:lstStyle/>
          <a:p>
            <a:pPr algn="ctr"/>
            <a:endParaRPr/>
          </a:p>
        </p:txBody>
      </p:sp>
      <p:sp>
        <p:nvSpPr>
          <p:cNvPr id="57" name="TextBox 37"/>
          <p:cNvSpPr txBox="1"/>
          <p:nvPr/>
        </p:nvSpPr>
        <p:spPr>
          <a:xfrm>
            <a:off x="7277100" y="17907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13.6x</a:t>
            </a:r>
          </a:p>
        </p:txBody>
      </p:sp>
      <p:sp>
        <p:nvSpPr>
          <p:cNvPr id="58" name="TextBox 38"/>
          <p:cNvSpPr txBox="1"/>
          <p:nvPr/>
        </p:nvSpPr>
        <p:spPr>
          <a:xfrm>
            <a:off x="7277100" y="2143125"/>
            <a:ext cx="2185988" cy="609600"/>
          </a:xfrm>
          <a:prstGeom prst="rect">
            <a:avLst/>
          </a:prstGeom>
          <a:noFill/>
        </p:spPr>
        <p:txBody>
          <a:bodyPr wrap="square" lIns="0" tIns="0" rIns="0" bIns="0" anchor="t">
            <a:spAutoFit/>
          </a:bodyPr>
          <a:lstStyle/>
          <a:p>
            <a:pPr algn="l">
              <a:lnSpc>
                <a:spcPts val="1272"/>
              </a:lnSpc>
            </a:pPr>
            <a:r>
              <a:rPr sz="850" b="0" i="0" spc="15">
                <a:solidFill>
                  <a:srgbClr val="E8E2DA"/>
                </a:solidFill>
                <a:latin typeface="Calibri"/>
              </a:rPr>
              <a:t>Median EBITDA multiple private equity paid for healthcare services companies in 2025; the median target had $162.5 million of revenue (</a:t>
            </a:r>
            <a:r>
              <a:rPr sz="850" b="0" i="0" spc="15">
                <a:solidFill>
                  <a:srgbClr val="D3AE84"/>
                </a:solidFill>
                <a:latin typeface="Calibri"/>
                <a:hlinkClick r:id="rId3"/>
              </a:rPr>
              <a:t>PitchBook via Becker’s ASC Review</a:t>
            </a:r>
            <a:r>
              <a:rPr sz="850" b="0" i="0" spc="15">
                <a:solidFill>
                  <a:srgbClr val="E8E2DA"/>
                </a:solidFill>
                <a:latin typeface="Calibri"/>
              </a:rPr>
              <a:t>)</a:t>
            </a:r>
          </a:p>
        </p:txBody>
      </p:sp>
      <p:sp>
        <p:nvSpPr>
          <p:cNvPr id="59" name="Shape 18"/>
          <p:cNvSpPr/>
          <p:nvPr/>
        </p:nvSpPr>
        <p:spPr>
          <a:xfrm>
            <a:off x="7277100" y="2867025"/>
            <a:ext cx="2171700" cy="9525"/>
          </a:xfrm>
          <a:prstGeom prst="rect">
            <a:avLst/>
          </a:prstGeom>
          <a:solidFill>
            <a:srgbClr val="FFFFFF">
              <a:alpha val="16000"/>
            </a:srgbClr>
          </a:solidFill>
          <a:ln>
            <a:noFill/>
          </a:ln>
          <a:effectLst/>
        </p:spPr>
        <p:txBody>
          <a:bodyPr rtlCol="0" anchor="ctr"/>
          <a:lstStyle/>
          <a:p>
            <a:pPr algn="ctr"/>
            <a:endParaRPr/>
          </a:p>
        </p:txBody>
      </p:sp>
      <p:sp>
        <p:nvSpPr>
          <p:cNvPr id="60" name="TextBox 39"/>
          <p:cNvSpPr txBox="1"/>
          <p:nvPr/>
        </p:nvSpPr>
        <p:spPr>
          <a:xfrm>
            <a:off x="7277100" y="299085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7.0x</a:t>
            </a:r>
          </a:p>
        </p:txBody>
      </p:sp>
      <p:sp>
        <p:nvSpPr>
          <p:cNvPr id="61" name="TextBox 40"/>
          <p:cNvSpPr txBox="1"/>
          <p:nvPr/>
        </p:nvSpPr>
        <p:spPr>
          <a:xfrm>
            <a:off x="7277100" y="3343275"/>
            <a:ext cx="2185988" cy="457200"/>
          </a:xfrm>
          <a:prstGeom prst="rect">
            <a:avLst/>
          </a:prstGeom>
          <a:noFill/>
        </p:spPr>
        <p:txBody>
          <a:bodyPr wrap="square" lIns="0" tIns="0" rIns="0" bIns="0" anchor="t">
            <a:spAutoFit/>
          </a:bodyPr>
          <a:lstStyle/>
          <a:p>
            <a:pPr algn="l">
              <a:lnSpc>
                <a:spcPts val="1272"/>
              </a:lnSpc>
            </a:pPr>
            <a:r>
              <a:rPr sz="850" b="0" i="0" spc="15">
                <a:solidFill>
                  <a:srgbClr val="E8E2DA"/>
                </a:solidFill>
                <a:latin typeface="Calibri"/>
              </a:rPr>
              <a:t>Average for completed middle-market transactions across industries, second quarter of 2026 (</a:t>
            </a:r>
            <a:r>
              <a:rPr sz="850" b="0" i="0" spc="15">
                <a:solidFill>
                  <a:srgbClr val="D3AE84"/>
                </a:solidFill>
                <a:latin typeface="Calibri"/>
                <a:hlinkClick r:id="rId4">
                  <a:extLst>
                    <a:ext uri="{A12FA001-AC4F-418D-AE19-62706E023703}">
                      <ahyp:hlinkClr xmlns:ahyp="http://schemas.microsoft.com/office/drawing/2018/hyperlinkcolor" val="tx"/>
                    </a:ext>
                  </a:extLst>
                </a:hlinkClick>
              </a:rPr>
              <a:t>GF Data via ACG</a:t>
            </a:r>
            <a:r>
              <a:rPr sz="850" b="0" i="0" spc="15">
                <a:solidFill>
                  <a:srgbClr val="E8E2DA"/>
                </a:solidFill>
                <a:latin typeface="Calibri"/>
              </a:rPr>
              <a:t>)</a:t>
            </a:r>
          </a:p>
        </p:txBody>
      </p:sp>
      <p:sp>
        <p:nvSpPr>
          <p:cNvPr id="62" name="Shape 19"/>
          <p:cNvSpPr/>
          <p:nvPr/>
        </p:nvSpPr>
        <p:spPr>
          <a:xfrm>
            <a:off x="7277100" y="3914775"/>
            <a:ext cx="2171700" cy="9525"/>
          </a:xfrm>
          <a:prstGeom prst="rect">
            <a:avLst/>
          </a:prstGeom>
          <a:solidFill>
            <a:srgbClr val="FFFFFF">
              <a:alpha val="16000"/>
            </a:srgbClr>
          </a:solidFill>
          <a:ln>
            <a:noFill/>
          </a:ln>
          <a:effectLst/>
        </p:spPr>
        <p:txBody>
          <a:bodyPr rtlCol="0" anchor="ctr"/>
          <a:lstStyle/>
          <a:p>
            <a:pPr algn="ctr"/>
            <a:endParaRPr/>
          </a:p>
        </p:txBody>
      </p:sp>
      <p:sp>
        <p:nvSpPr>
          <p:cNvPr id="63" name="TextBox 41"/>
          <p:cNvSpPr txBox="1"/>
          <p:nvPr/>
        </p:nvSpPr>
        <p:spPr>
          <a:xfrm>
            <a:off x="7277100" y="4038600"/>
            <a:ext cx="2185988" cy="323850"/>
          </a:xfrm>
          <a:prstGeom prst="rect">
            <a:avLst/>
          </a:prstGeom>
          <a:noFill/>
        </p:spPr>
        <p:txBody>
          <a:bodyPr wrap="square" lIns="0" tIns="0" rIns="0" bIns="0" anchor="t">
            <a:spAutoFit/>
          </a:bodyPr>
          <a:lstStyle/>
          <a:p>
            <a:pPr algn="l">
              <a:lnSpc>
                <a:spcPts val="2550"/>
              </a:lnSpc>
            </a:pPr>
            <a:r>
              <a:rPr sz="2250" b="1" i="0" spc="15">
                <a:solidFill>
                  <a:srgbClr val="D3AE84"/>
                </a:solidFill>
                <a:latin typeface="Cambria"/>
              </a:rPr>
              <a:t>5.8x</a:t>
            </a:r>
          </a:p>
        </p:txBody>
      </p:sp>
      <p:sp>
        <p:nvSpPr>
          <p:cNvPr id="64" name="TextBox 42"/>
          <p:cNvSpPr txBox="1"/>
          <p:nvPr/>
        </p:nvSpPr>
        <p:spPr>
          <a:xfrm>
            <a:off x="7277100" y="4391025"/>
            <a:ext cx="2185988" cy="457200"/>
          </a:xfrm>
          <a:prstGeom prst="rect">
            <a:avLst/>
          </a:prstGeom>
          <a:noFill/>
        </p:spPr>
        <p:txBody>
          <a:bodyPr wrap="square" lIns="0" tIns="0" rIns="0" bIns="0" anchor="t">
            <a:spAutoFit/>
          </a:bodyPr>
          <a:lstStyle/>
          <a:p>
            <a:pPr algn="l">
              <a:lnSpc>
                <a:spcPts val="1272"/>
              </a:lnSpc>
            </a:pPr>
            <a:r>
              <a:rPr sz="850" b="0" i="0" spc="15">
                <a:solidFill>
                  <a:srgbClr val="E8E2DA"/>
                </a:solidFill>
                <a:latin typeface="Calibri"/>
              </a:rPr>
              <a:t>Multiple paid for businesses of $5 million to $50 million across industries, second quarter of 2026 (</a:t>
            </a:r>
            <a:r>
              <a:rPr sz="850" b="0" i="0" spc="15">
                <a:solidFill>
                  <a:srgbClr val="D3AE84"/>
                </a:solidFill>
                <a:latin typeface="Calibri"/>
                <a:hlinkClick r:id="rId5"/>
              </a:rPr>
              <a:t>IBBA and M&amp;A Source</a:t>
            </a:r>
            <a:r>
              <a:rPr sz="850" b="0" i="0" spc="15">
                <a:solidFill>
                  <a:srgbClr val="E8E2DA"/>
                </a:solidFill>
                <a:latin typeface="Calibri"/>
              </a:rPr>
              <a:t>)</a:t>
            </a:r>
          </a:p>
        </p:txBody>
      </p:sp>
      <p:sp>
        <p:nvSpPr>
          <p:cNvPr id="65" name="Shape 20"/>
          <p:cNvSpPr/>
          <p:nvPr/>
        </p:nvSpPr>
        <p:spPr>
          <a:xfrm>
            <a:off x="7277100" y="5467350"/>
            <a:ext cx="2171700" cy="9525"/>
          </a:xfrm>
          <a:prstGeom prst="rect">
            <a:avLst/>
          </a:prstGeom>
          <a:solidFill>
            <a:srgbClr val="FFFFFF">
              <a:alpha val="16000"/>
            </a:srgbClr>
          </a:solidFill>
          <a:ln>
            <a:noFill/>
          </a:ln>
          <a:effectLst/>
        </p:spPr>
        <p:txBody>
          <a:bodyPr rtlCol="0" anchor="ctr"/>
          <a:lstStyle/>
          <a:p>
            <a:pPr algn="ctr"/>
            <a:endParaRPr/>
          </a:p>
        </p:txBody>
      </p:sp>
      <p:sp>
        <p:nvSpPr>
          <p:cNvPr id="66" name="TextBox 43"/>
          <p:cNvSpPr txBox="1"/>
          <p:nvPr/>
        </p:nvSpPr>
        <p:spPr>
          <a:xfrm>
            <a:off x="7277100" y="5610225"/>
            <a:ext cx="2185988" cy="1114425"/>
          </a:xfrm>
          <a:prstGeom prst="rect">
            <a:avLst/>
          </a:prstGeom>
          <a:noFill/>
        </p:spPr>
        <p:txBody>
          <a:bodyPr wrap="square" lIns="0" tIns="0" rIns="0" bIns="0" anchor="t">
            <a:spAutoFit/>
          </a:bodyPr>
          <a:lstStyle/>
          <a:p>
            <a:pPr algn="l">
              <a:lnSpc>
                <a:spcPts val="1462"/>
              </a:lnSpc>
            </a:pPr>
            <a:r>
              <a:rPr sz="1011" b="0" i="1" spc="15">
                <a:solidFill>
                  <a:srgbClr val="FFFFFF"/>
                </a:solidFill>
                <a:latin typeface="Cambria"/>
              </a:rPr>
              <a:t>Listed multiples describe companies many times larger than a founder-owned business. They show relative standing among the sectors, and a private company’s price is set by its own earnings, growth, and risk.</a:t>
            </a:r>
          </a:p>
        </p:txBody>
      </p:sp>
      <p:sp>
        <p:nvSpPr>
          <p:cNvPr id="67" name="Shape 2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68" name="Picture 2" descr="Benchmark International logo"/>
          <p:cNvPicPr>
            <a:picLocks noChangeAspect="1"/>
          </p:cNvPicPr>
          <p:nvPr/>
        </p:nvPicPr>
        <p:blipFill>
          <a:blip r:embed="rId6"/>
          <a:srcRect/>
          <a:stretch>
            <a:fillRect/>
          </a:stretch>
        </p:blipFill>
        <p:spPr>
          <a:xfrm>
            <a:off x="419100" y="7143750"/>
            <a:ext cx="914400" cy="171450"/>
          </a:xfrm>
          <a:prstGeom prst="rect">
            <a:avLst/>
          </a:prstGeom>
        </p:spPr>
      </p:pic>
      <p:sp>
        <p:nvSpPr>
          <p:cNvPr id="69" name="TextBox 44"/>
          <p:cNvSpPr txBox="1"/>
          <p:nvPr/>
        </p:nvSpPr>
        <p:spPr>
          <a:xfrm>
            <a:off x="1543050" y="7105650"/>
            <a:ext cx="7748588" cy="238125"/>
          </a:xfrm>
          <a:prstGeom prst="rect">
            <a:avLst/>
          </a:prstGeom>
          <a:noFill/>
        </p:spPr>
        <p:txBody>
          <a:bodyPr wrap="square" lIns="0" tIns="0" rIns="0" bIns="0" anchor="t">
            <a:spAutoFit/>
          </a:bodyPr>
          <a:lstStyle/>
          <a:p>
            <a:pPr algn="l">
              <a:lnSpc>
                <a:spcPts val="1022"/>
              </a:lnSpc>
            </a:pPr>
            <a:r>
              <a:rPr sz="750" b="0" i="0" spc="8">
                <a:solidFill>
                  <a:srgbClr val="6F6A66"/>
                </a:solidFill>
                <a:latin typeface="Calibri"/>
              </a:rPr>
              <a:t>Source: company earnings releases and filings for adjusted EBITDA; </a:t>
            </a:r>
            <a:r>
              <a:rPr sz="750" b="0" i="0" spc="8">
                <a:solidFill>
                  <a:srgbClr val="8C6239"/>
                </a:solidFill>
                <a:latin typeface="Calibri"/>
                <a:hlinkClick r:id="rId7"/>
              </a:rPr>
              <a:t>StockAnalysis</a:t>
            </a:r>
            <a:r>
              <a:rPr sz="750" b="0" i="0" spc="8">
                <a:solidFill>
                  <a:srgbClr val="6F6A66"/>
                </a:solidFill>
                <a:latin typeface="Calibri"/>
              </a:rPr>
              <a:t> for enterprise values and prices, retrieved October 19, 2026 (closing prices of October 16). Where a company reports adjusted operating income rather than adjusted EBITDA, depreciation is added. U.S. Physical Therapy reports adjusted EBITDA net of noncontrolling interests. Teleflex is shown for continuing operations and has no comparable year-ago figure, and company counts are shown as today / a year ago. Bio-Techne and Integer Holdings trade at agreed acquisition prices.</a:t>
            </a:r>
          </a:p>
        </p:txBody>
      </p:sp>
      <p:sp>
        <p:nvSpPr>
          <p:cNvPr id="70" name="TextBox 45"/>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17</a:t>
            </a:r>
          </a:p>
        </p:txBody>
      </p:sp>
      <p:graphicFrame>
        <p:nvGraphicFramePr>
          <p:cNvPr id="71" name="Chart 1" descr="Bar chart comparing median enterprise value to trailing adjusted EBITDA a year ago and today across nine healthcare subsectors"/>
          <p:cNvGraphicFramePr>
            <a:graphicFrameLocks noGrp="1"/>
          </p:cNvGraphicFramePr>
          <p:nvPr/>
        </p:nvGraphicFramePr>
        <p:xfrm>
          <a:off x="419100" y="1655445"/>
          <a:ext cx="6096000" cy="3028950"/>
        </p:xfrm>
        <a:graphic>
          <a:graphicData uri="http://schemas.openxmlformats.org/drawingml/2006/chart">
            <c:chart xmlns:c="http://schemas.openxmlformats.org/drawingml/2006/chart" xmlns:r="http://schemas.openxmlformats.org/officeDocument/2006/relationships" r:id="rId8"/>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Stock Performance: Past 12 Months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13"/>
              </a:lnSpc>
            </a:pPr>
            <a:r>
              <a:rPr sz="1000" b="0" i="0" spc="15">
                <a:solidFill>
                  <a:srgbClr val="6F6A66"/>
                </a:solidFill>
                <a:latin typeface="Calibri"/>
              </a:rPr>
              <a:t>Pharmacy and healthcare services shares rose 44% at the median and life sciences shares rose 22%, while provider shares rose 21% and medical products shares rose 12%.</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4305300" cy="9525"/>
          </a:xfrm>
          <a:prstGeom prst="rect">
            <a:avLst/>
          </a:prstGeom>
          <a:solidFill>
            <a:srgbClr val="E3DCD3"/>
          </a:solidFill>
          <a:ln>
            <a:noFill/>
          </a:ln>
          <a:effectLst/>
        </p:spPr>
        <p:txBody>
          <a:bodyPr rtlCol="0" anchor="ctr"/>
          <a:lstStyle/>
          <a:p>
            <a:pPr algn="ctr"/>
            <a:endParaRPr/>
          </a:p>
        </p:txBody>
      </p:sp>
      <p:sp>
        <p:nvSpPr>
          <p:cNvPr id="9" name="Shape 4"/>
          <p:cNvSpPr/>
          <p:nvPr/>
        </p:nvSpPr>
        <p:spPr>
          <a:xfrm>
            <a:off x="4714875" y="1238250"/>
            <a:ext cx="9525" cy="2276475"/>
          </a:xfrm>
          <a:prstGeom prst="rect">
            <a:avLst/>
          </a:prstGeom>
          <a:solidFill>
            <a:srgbClr val="E3DCD3"/>
          </a:solidFill>
          <a:ln>
            <a:noFill/>
          </a:ln>
          <a:effectLst/>
        </p:spPr>
        <p:txBody>
          <a:bodyPr rtlCol="0" anchor="ctr"/>
          <a:lstStyle/>
          <a:p>
            <a:pPr algn="ctr"/>
            <a:endParaRPr/>
          </a:p>
        </p:txBody>
      </p:sp>
      <p:sp>
        <p:nvSpPr>
          <p:cNvPr id="10" name="Shape 5"/>
          <p:cNvSpPr/>
          <p:nvPr/>
        </p:nvSpPr>
        <p:spPr>
          <a:xfrm>
            <a:off x="419100" y="3505200"/>
            <a:ext cx="4305300" cy="9525"/>
          </a:xfrm>
          <a:prstGeom prst="rect">
            <a:avLst/>
          </a:prstGeom>
          <a:solidFill>
            <a:srgbClr val="E3DCD3"/>
          </a:solidFill>
          <a:ln>
            <a:noFill/>
          </a:ln>
          <a:effectLst/>
        </p:spPr>
        <p:txBody>
          <a:bodyPr rtlCol="0" anchor="ctr"/>
          <a:lstStyle/>
          <a:p>
            <a:pPr algn="ctr"/>
            <a:endParaRPr/>
          </a:p>
        </p:txBody>
      </p:sp>
      <p:sp>
        <p:nvSpPr>
          <p:cNvPr id="11" name="Shape 6"/>
          <p:cNvSpPr/>
          <p:nvPr/>
        </p:nvSpPr>
        <p:spPr>
          <a:xfrm>
            <a:off x="419100" y="1238250"/>
            <a:ext cx="9525" cy="2276475"/>
          </a:xfrm>
          <a:prstGeom prst="rect">
            <a:avLst/>
          </a:prstGeom>
          <a:solidFill>
            <a:srgbClr val="E3DCD3"/>
          </a:solidFill>
          <a:ln>
            <a:noFill/>
          </a:ln>
          <a:effectLst/>
        </p:spPr>
        <p:txBody>
          <a:bodyPr rtlCol="0" anchor="ctr"/>
          <a:lstStyle/>
          <a:p>
            <a:pPr algn="ctr"/>
            <a:endParaRPr/>
          </a:p>
        </p:txBody>
      </p:sp>
      <p:sp>
        <p:nvSpPr>
          <p:cNvPr id="12" name="TextBox 5"/>
          <p:cNvSpPr txBox="1"/>
          <p:nvPr/>
        </p:nvSpPr>
        <p:spPr>
          <a:xfrm>
            <a:off x="581025" y="1381125"/>
            <a:ext cx="39957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Share price change, past 52 weeks</a:t>
            </a:r>
          </a:p>
        </p:txBody>
      </p:sp>
      <p:sp>
        <p:nvSpPr>
          <p:cNvPr id="13" name="TextBox 6"/>
          <p:cNvSpPr txBox="1"/>
          <p:nvPr/>
        </p:nvSpPr>
        <p:spPr>
          <a:xfrm>
            <a:off x="581025" y="1543050"/>
            <a:ext cx="39957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Median of the listed companies by sector</a:t>
            </a:r>
          </a:p>
        </p:txBody>
      </p:sp>
      <p:graphicFrame>
        <p:nvGraphicFramePr>
          <p:cNvPr id="14" name="Chart 1" descr="Bar chart of median 52-week share price change for the four healthcare sectors"/>
          <p:cNvGraphicFramePr>
            <a:graphicFrameLocks noGrp="1"/>
          </p:cNvGraphicFramePr>
          <p:nvPr/>
        </p:nvGraphicFramePr>
        <p:xfrm>
          <a:off x="581025" y="1752600"/>
          <a:ext cx="4000500" cy="1638300"/>
        </p:xfrm>
        <a:graphic>
          <a:graphicData uri="http://schemas.openxmlformats.org/drawingml/2006/chart">
            <c:chart xmlns:c="http://schemas.openxmlformats.org/drawingml/2006/chart" xmlns:r="http://schemas.openxmlformats.org/officeDocument/2006/relationships" r:id="rId2"/>
          </a:graphicData>
        </a:graphic>
      </p:graphicFrame>
      <p:sp>
        <p:nvSpPr>
          <p:cNvPr id="15" name="Shape 7"/>
          <p:cNvSpPr/>
          <p:nvPr/>
        </p:nvSpPr>
        <p:spPr>
          <a:xfrm>
            <a:off x="419100" y="3648075"/>
            <a:ext cx="4305300" cy="9525"/>
          </a:xfrm>
          <a:prstGeom prst="rect">
            <a:avLst/>
          </a:prstGeom>
          <a:solidFill>
            <a:srgbClr val="E3DCD3"/>
          </a:solidFill>
          <a:ln>
            <a:noFill/>
          </a:ln>
          <a:effectLst/>
        </p:spPr>
        <p:txBody>
          <a:bodyPr rtlCol="0" anchor="ctr"/>
          <a:lstStyle/>
          <a:p>
            <a:pPr algn="ctr"/>
            <a:endParaRPr/>
          </a:p>
        </p:txBody>
      </p:sp>
      <p:sp>
        <p:nvSpPr>
          <p:cNvPr id="16" name="Shape 8"/>
          <p:cNvSpPr/>
          <p:nvPr/>
        </p:nvSpPr>
        <p:spPr>
          <a:xfrm>
            <a:off x="4714875" y="3648075"/>
            <a:ext cx="9525" cy="2276475"/>
          </a:xfrm>
          <a:prstGeom prst="rect">
            <a:avLst/>
          </a:prstGeom>
          <a:solidFill>
            <a:srgbClr val="E3DCD3"/>
          </a:solidFill>
          <a:ln>
            <a:noFill/>
          </a:ln>
          <a:effectLst/>
        </p:spPr>
        <p:txBody>
          <a:bodyPr rtlCol="0" anchor="ctr"/>
          <a:lstStyle/>
          <a:p>
            <a:pPr algn="ctr"/>
            <a:endParaRPr/>
          </a:p>
        </p:txBody>
      </p:sp>
      <p:sp>
        <p:nvSpPr>
          <p:cNvPr id="17" name="Shape 9"/>
          <p:cNvSpPr/>
          <p:nvPr/>
        </p:nvSpPr>
        <p:spPr>
          <a:xfrm>
            <a:off x="419100" y="5915025"/>
            <a:ext cx="4305300" cy="9525"/>
          </a:xfrm>
          <a:prstGeom prst="rect">
            <a:avLst/>
          </a:prstGeom>
          <a:solidFill>
            <a:srgbClr val="E3DCD3"/>
          </a:solidFill>
          <a:ln>
            <a:noFill/>
          </a:ln>
          <a:effectLst/>
        </p:spPr>
        <p:txBody>
          <a:bodyPr rtlCol="0" anchor="ctr"/>
          <a:lstStyle/>
          <a:p>
            <a:pPr algn="ctr"/>
            <a:endParaRPr/>
          </a:p>
        </p:txBody>
      </p:sp>
      <p:sp>
        <p:nvSpPr>
          <p:cNvPr id="18" name="Shape 10"/>
          <p:cNvSpPr/>
          <p:nvPr/>
        </p:nvSpPr>
        <p:spPr>
          <a:xfrm>
            <a:off x="419100" y="3648075"/>
            <a:ext cx="9525" cy="2276475"/>
          </a:xfrm>
          <a:prstGeom prst="rect">
            <a:avLst/>
          </a:prstGeom>
          <a:solidFill>
            <a:srgbClr val="E3DCD3"/>
          </a:solidFill>
          <a:ln>
            <a:noFill/>
          </a:ln>
          <a:effectLst/>
        </p:spPr>
        <p:txBody>
          <a:bodyPr rtlCol="0" anchor="ctr"/>
          <a:lstStyle/>
          <a:p>
            <a:pPr algn="ctr"/>
            <a:endParaRPr/>
          </a:p>
        </p:txBody>
      </p:sp>
      <p:sp>
        <p:nvSpPr>
          <p:cNvPr id="19" name="TextBox 7"/>
          <p:cNvSpPr txBox="1"/>
          <p:nvPr/>
        </p:nvSpPr>
        <p:spPr>
          <a:xfrm>
            <a:off x="581025" y="3790950"/>
            <a:ext cx="399573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Share price relative to the 52-week high</a:t>
            </a:r>
          </a:p>
        </p:txBody>
      </p:sp>
      <p:sp>
        <p:nvSpPr>
          <p:cNvPr id="20" name="TextBox 8"/>
          <p:cNvSpPr txBox="1"/>
          <p:nvPr/>
        </p:nvSpPr>
        <p:spPr>
          <a:xfrm>
            <a:off x="581025" y="3952875"/>
            <a:ext cx="399573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Median of the listed companies by sector</a:t>
            </a:r>
          </a:p>
        </p:txBody>
      </p:sp>
      <p:graphicFrame>
        <p:nvGraphicFramePr>
          <p:cNvPr id="21" name="Chart 2" descr="Bar chart of median share price as a percentage of the 52-week high for the four healthcare sectors"/>
          <p:cNvGraphicFramePr>
            <a:graphicFrameLocks noGrp="1"/>
          </p:cNvGraphicFramePr>
          <p:nvPr/>
        </p:nvGraphicFramePr>
        <p:xfrm>
          <a:off x="581025" y="4162425"/>
          <a:ext cx="4000500" cy="1638300"/>
        </p:xfrm>
        <a:graphic>
          <a:graphicData uri="http://schemas.openxmlformats.org/drawingml/2006/chart">
            <c:chart xmlns:c="http://schemas.openxmlformats.org/drawingml/2006/chart" xmlns:r="http://schemas.openxmlformats.org/officeDocument/2006/relationships" r:id="rId3"/>
          </a:graphicData>
        </a:graphic>
      </p:graphicFrame>
      <p:sp>
        <p:nvSpPr>
          <p:cNvPr id="22" name="Shape 11"/>
          <p:cNvSpPr/>
          <p:nvPr/>
        </p:nvSpPr>
        <p:spPr>
          <a:xfrm>
            <a:off x="419100" y="6205538"/>
            <a:ext cx="4305300" cy="728662"/>
          </a:xfrm>
          <a:prstGeom prst="rect">
            <a:avLst/>
          </a:prstGeom>
          <a:solidFill>
            <a:srgbClr val="FAF7F3"/>
          </a:solidFill>
          <a:ln>
            <a:noFill/>
          </a:ln>
          <a:effectLst/>
        </p:spPr>
        <p:txBody>
          <a:bodyPr rtlCol="0" anchor="ctr"/>
          <a:lstStyle/>
          <a:p>
            <a:pPr algn="ctr"/>
            <a:endParaRPr/>
          </a:p>
        </p:txBody>
      </p:sp>
      <p:sp>
        <p:nvSpPr>
          <p:cNvPr id="23" name="Shape 12"/>
          <p:cNvSpPr/>
          <p:nvPr/>
        </p:nvSpPr>
        <p:spPr>
          <a:xfrm>
            <a:off x="419100" y="6205538"/>
            <a:ext cx="4305300" cy="28575"/>
          </a:xfrm>
          <a:prstGeom prst="rect">
            <a:avLst/>
          </a:prstGeom>
          <a:solidFill>
            <a:srgbClr val="B68757"/>
          </a:solidFill>
          <a:ln>
            <a:noFill/>
          </a:ln>
          <a:effectLst/>
        </p:spPr>
        <p:txBody>
          <a:bodyPr rtlCol="0" anchor="ctr"/>
          <a:lstStyle/>
          <a:p>
            <a:pPr algn="ctr"/>
            <a:endParaRPr/>
          </a:p>
        </p:txBody>
      </p:sp>
      <p:sp>
        <p:nvSpPr>
          <p:cNvPr id="24" name="TextBox 9"/>
          <p:cNvSpPr txBox="1"/>
          <p:nvPr/>
        </p:nvSpPr>
        <p:spPr>
          <a:xfrm>
            <a:off x="571500" y="6348412"/>
            <a:ext cx="4014788" cy="471488"/>
          </a:xfrm>
          <a:prstGeom prst="rect">
            <a:avLst/>
          </a:prstGeom>
          <a:noFill/>
        </p:spPr>
        <p:txBody>
          <a:bodyPr wrap="square" lIns="0" tIns="0" rIns="0" bIns="0" anchor="t">
            <a:spAutoFit/>
          </a:bodyPr>
          <a:lstStyle/>
          <a:p>
            <a:pPr algn="l">
              <a:lnSpc>
                <a:spcPts val="1312"/>
              </a:lnSpc>
            </a:pPr>
            <a:r>
              <a:rPr sz="850" b="0" i="0" spc="15">
                <a:solidFill>
                  <a:srgbClr val="333231"/>
                </a:solidFill>
                <a:latin typeface="Calibri"/>
              </a:rPr>
              <a:t>Shares rose over the year at 29 of the 38 companies: 7 of 11 provider companies, 8 of 9 life sciences and diagnostics companies, 6 of 10 medical products companies, 8 of 8 pharmacy and healthcare services companies.</a:t>
            </a:r>
          </a:p>
        </p:txBody>
      </p:sp>
      <p:sp>
        <p:nvSpPr>
          <p:cNvPr id="25" name="TextBox 10"/>
          <p:cNvSpPr txBox="1"/>
          <p:nvPr/>
        </p:nvSpPr>
        <p:spPr>
          <a:xfrm>
            <a:off x="4933950" y="1238250"/>
            <a:ext cx="22717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LARGEST GAINS, 52 WEEKS</a:t>
            </a:r>
          </a:p>
        </p:txBody>
      </p:sp>
      <p:sp>
        <p:nvSpPr>
          <p:cNvPr id="26" name="Shape 13"/>
          <p:cNvSpPr/>
          <p:nvPr/>
        </p:nvSpPr>
        <p:spPr>
          <a:xfrm>
            <a:off x="4933950" y="1685925"/>
            <a:ext cx="2257425" cy="9525"/>
          </a:xfrm>
          <a:prstGeom prst="rect">
            <a:avLst/>
          </a:prstGeom>
          <a:solidFill>
            <a:srgbClr val="E3DCD3"/>
          </a:solidFill>
          <a:ln>
            <a:noFill/>
          </a:ln>
          <a:effectLst/>
        </p:spPr>
        <p:txBody>
          <a:bodyPr rtlCol="0" anchor="ctr"/>
          <a:lstStyle/>
          <a:p>
            <a:pPr algn="ctr"/>
            <a:endParaRPr/>
          </a:p>
        </p:txBody>
      </p:sp>
      <p:sp>
        <p:nvSpPr>
          <p:cNvPr id="30" name="TextBox 13"/>
          <p:cNvSpPr txBox="1"/>
          <p:nvPr/>
        </p:nvSpPr>
        <p:spPr>
          <a:xfrm>
            <a:off x="6638925" y="14716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+126.2%</a:t>
            </a:r>
          </a:p>
        </p:txBody>
      </p:sp>
      <p:sp>
        <p:nvSpPr>
          <p:cNvPr id="31" name="Shape 15"/>
          <p:cNvSpPr/>
          <p:nvPr/>
        </p:nvSpPr>
        <p:spPr>
          <a:xfrm>
            <a:off x="4933950" y="1962150"/>
            <a:ext cx="2257425" cy="9525"/>
          </a:xfrm>
          <a:prstGeom prst="rect">
            <a:avLst/>
          </a:prstGeom>
          <a:solidFill>
            <a:srgbClr val="E3DCD3"/>
          </a:solidFill>
          <a:ln>
            <a:noFill/>
          </a:ln>
          <a:effectLst/>
        </p:spPr>
        <p:txBody>
          <a:bodyPr rtlCol="0" anchor="ctr"/>
          <a:lstStyle/>
          <a:p>
            <a:pPr algn="ctr"/>
            <a:endParaRPr/>
          </a:p>
        </p:txBody>
      </p:sp>
      <p:sp>
        <p:nvSpPr>
          <p:cNvPr id="35" name="TextBox 16"/>
          <p:cNvSpPr txBox="1"/>
          <p:nvPr/>
        </p:nvSpPr>
        <p:spPr>
          <a:xfrm>
            <a:off x="6638925" y="17478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+111.0%</a:t>
            </a:r>
          </a:p>
        </p:txBody>
      </p:sp>
      <p:sp>
        <p:nvSpPr>
          <p:cNvPr id="36" name="Shape 17"/>
          <p:cNvSpPr/>
          <p:nvPr/>
        </p:nvSpPr>
        <p:spPr>
          <a:xfrm>
            <a:off x="4933950" y="2238375"/>
            <a:ext cx="2257425" cy="9525"/>
          </a:xfrm>
          <a:prstGeom prst="rect">
            <a:avLst/>
          </a:prstGeom>
          <a:solidFill>
            <a:srgbClr val="E3DCD3"/>
          </a:solidFill>
          <a:ln>
            <a:noFill/>
          </a:ln>
          <a:effectLst/>
        </p:spPr>
        <p:txBody>
          <a:bodyPr rtlCol="0" anchor="ctr"/>
          <a:lstStyle/>
          <a:p>
            <a:pPr algn="ctr"/>
            <a:endParaRPr/>
          </a:p>
        </p:txBody>
      </p:sp>
      <p:sp>
        <p:nvSpPr>
          <p:cNvPr id="40" name="TextBox 19"/>
          <p:cNvSpPr txBox="1"/>
          <p:nvPr/>
        </p:nvSpPr>
        <p:spPr>
          <a:xfrm>
            <a:off x="6638925" y="20240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+108.4%</a:t>
            </a:r>
          </a:p>
        </p:txBody>
      </p:sp>
      <p:sp>
        <p:nvSpPr>
          <p:cNvPr id="41" name="Shape 19"/>
          <p:cNvSpPr/>
          <p:nvPr/>
        </p:nvSpPr>
        <p:spPr>
          <a:xfrm>
            <a:off x="4933950" y="2590800"/>
            <a:ext cx="2257425" cy="9525"/>
          </a:xfrm>
          <a:prstGeom prst="rect">
            <a:avLst/>
          </a:prstGeom>
          <a:solidFill>
            <a:srgbClr val="E3DCD3"/>
          </a:solidFill>
          <a:ln>
            <a:noFill/>
          </a:ln>
          <a:effectLst/>
        </p:spPr>
        <p:txBody>
          <a:bodyPr rtlCol="0" anchor="ctr"/>
          <a:lstStyle/>
          <a:p>
            <a:pPr algn="ctr"/>
            <a:endParaRPr/>
          </a:p>
        </p:txBody>
      </p:sp>
      <p:sp>
        <p:nvSpPr>
          <p:cNvPr id="45" name="TextBox 22"/>
          <p:cNvSpPr txBox="1"/>
          <p:nvPr/>
        </p:nvSpPr>
        <p:spPr>
          <a:xfrm>
            <a:off x="6638925" y="23383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+85.7%</a:t>
            </a:r>
          </a:p>
        </p:txBody>
      </p:sp>
      <p:sp>
        <p:nvSpPr>
          <p:cNvPr id="46" name="Shape 21"/>
          <p:cNvSpPr/>
          <p:nvPr/>
        </p:nvSpPr>
        <p:spPr>
          <a:xfrm>
            <a:off x="4933950" y="2867025"/>
            <a:ext cx="2257425" cy="9525"/>
          </a:xfrm>
          <a:prstGeom prst="rect">
            <a:avLst/>
          </a:prstGeom>
          <a:solidFill>
            <a:srgbClr val="E3DCD3"/>
          </a:solidFill>
          <a:ln>
            <a:noFill/>
          </a:ln>
          <a:effectLst/>
        </p:spPr>
        <p:txBody>
          <a:bodyPr rtlCol="0" anchor="ctr"/>
          <a:lstStyle/>
          <a:p>
            <a:pPr algn="ctr"/>
            <a:endParaRPr/>
          </a:p>
        </p:txBody>
      </p:sp>
      <p:sp>
        <p:nvSpPr>
          <p:cNvPr id="50" name="TextBox 25"/>
          <p:cNvSpPr txBox="1"/>
          <p:nvPr/>
        </p:nvSpPr>
        <p:spPr>
          <a:xfrm>
            <a:off x="6638925" y="26527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+75.8%</a:t>
            </a:r>
          </a:p>
        </p:txBody>
      </p:sp>
      <p:sp>
        <p:nvSpPr>
          <p:cNvPr id="51" name="Shape 23"/>
          <p:cNvSpPr/>
          <p:nvPr/>
        </p:nvSpPr>
        <p:spPr>
          <a:xfrm>
            <a:off x="4933950" y="3143250"/>
            <a:ext cx="2257425" cy="9525"/>
          </a:xfrm>
          <a:prstGeom prst="rect">
            <a:avLst/>
          </a:prstGeom>
          <a:solidFill>
            <a:srgbClr val="E3DCD3"/>
          </a:solidFill>
          <a:ln>
            <a:noFill/>
          </a:ln>
          <a:effectLst/>
        </p:spPr>
        <p:txBody>
          <a:bodyPr rtlCol="0" anchor="ctr"/>
          <a:lstStyle/>
          <a:p>
            <a:pPr algn="ctr"/>
            <a:endParaRPr/>
          </a:p>
        </p:txBody>
      </p:sp>
      <p:sp>
        <p:nvSpPr>
          <p:cNvPr id="55" name="TextBox 28"/>
          <p:cNvSpPr txBox="1"/>
          <p:nvPr/>
        </p:nvSpPr>
        <p:spPr>
          <a:xfrm>
            <a:off x="6638925" y="29289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+72.9%</a:t>
            </a:r>
          </a:p>
        </p:txBody>
      </p:sp>
      <p:sp>
        <p:nvSpPr>
          <p:cNvPr id="56" name="Shape 25"/>
          <p:cNvSpPr/>
          <p:nvPr/>
        </p:nvSpPr>
        <p:spPr>
          <a:xfrm>
            <a:off x="4933950" y="3419475"/>
            <a:ext cx="2257425" cy="9525"/>
          </a:xfrm>
          <a:prstGeom prst="rect">
            <a:avLst/>
          </a:prstGeom>
          <a:solidFill>
            <a:srgbClr val="E3DCD3"/>
          </a:solidFill>
          <a:ln>
            <a:noFill/>
          </a:ln>
          <a:effectLst/>
        </p:spPr>
        <p:txBody>
          <a:bodyPr rtlCol="0" anchor="ctr"/>
          <a:lstStyle/>
          <a:p>
            <a:pPr algn="ctr"/>
            <a:endParaRPr/>
          </a:p>
        </p:txBody>
      </p:sp>
      <p:sp>
        <p:nvSpPr>
          <p:cNvPr id="60" name="TextBox 31"/>
          <p:cNvSpPr txBox="1"/>
          <p:nvPr/>
        </p:nvSpPr>
        <p:spPr>
          <a:xfrm>
            <a:off x="6638925" y="32051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+63.2%</a:t>
            </a:r>
          </a:p>
        </p:txBody>
      </p:sp>
      <p:sp>
        <p:nvSpPr>
          <p:cNvPr id="61" name="Shape 27"/>
          <p:cNvSpPr/>
          <p:nvPr/>
        </p:nvSpPr>
        <p:spPr>
          <a:xfrm>
            <a:off x="4933950" y="3695700"/>
            <a:ext cx="2257425" cy="9525"/>
          </a:xfrm>
          <a:prstGeom prst="rect">
            <a:avLst/>
          </a:prstGeom>
          <a:solidFill>
            <a:srgbClr val="E3DCD3"/>
          </a:solidFill>
          <a:ln>
            <a:noFill/>
          </a:ln>
          <a:effectLst/>
        </p:spPr>
        <p:txBody>
          <a:bodyPr rtlCol="0" anchor="ctr"/>
          <a:lstStyle/>
          <a:p>
            <a:pPr algn="ctr"/>
            <a:endParaRPr/>
          </a:p>
        </p:txBody>
      </p:sp>
      <p:sp>
        <p:nvSpPr>
          <p:cNvPr id="65" name="TextBox 34"/>
          <p:cNvSpPr txBox="1"/>
          <p:nvPr/>
        </p:nvSpPr>
        <p:spPr>
          <a:xfrm>
            <a:off x="6638925" y="34813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+61.7%</a:t>
            </a:r>
          </a:p>
        </p:txBody>
      </p:sp>
      <p:sp>
        <p:nvSpPr>
          <p:cNvPr id="66" name="Shape 29"/>
          <p:cNvSpPr/>
          <p:nvPr/>
        </p:nvSpPr>
        <p:spPr>
          <a:xfrm>
            <a:off x="4933950" y="3971925"/>
            <a:ext cx="2257425" cy="9525"/>
          </a:xfrm>
          <a:prstGeom prst="rect">
            <a:avLst/>
          </a:prstGeom>
          <a:solidFill>
            <a:srgbClr val="E3DCD3"/>
          </a:solidFill>
          <a:ln>
            <a:noFill/>
          </a:ln>
          <a:effectLst/>
        </p:spPr>
        <p:txBody>
          <a:bodyPr rtlCol="0" anchor="ctr"/>
          <a:lstStyle/>
          <a:p>
            <a:pPr algn="ctr"/>
            <a:endParaRPr/>
          </a:p>
        </p:txBody>
      </p:sp>
      <p:sp>
        <p:nvSpPr>
          <p:cNvPr id="70" name="TextBox 37"/>
          <p:cNvSpPr txBox="1"/>
          <p:nvPr/>
        </p:nvSpPr>
        <p:spPr>
          <a:xfrm>
            <a:off x="6638925" y="37576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+48.7%</a:t>
            </a:r>
          </a:p>
        </p:txBody>
      </p:sp>
      <p:sp>
        <p:nvSpPr>
          <p:cNvPr id="71" name="Shape 31"/>
          <p:cNvSpPr/>
          <p:nvPr/>
        </p:nvSpPr>
        <p:spPr>
          <a:xfrm>
            <a:off x="4933950" y="4248150"/>
            <a:ext cx="2257425" cy="9525"/>
          </a:xfrm>
          <a:prstGeom prst="rect">
            <a:avLst/>
          </a:prstGeom>
          <a:solidFill>
            <a:srgbClr val="E3DCD3"/>
          </a:solidFill>
          <a:ln>
            <a:noFill/>
          </a:ln>
          <a:effectLst/>
        </p:spPr>
        <p:txBody>
          <a:bodyPr rtlCol="0" anchor="ctr"/>
          <a:lstStyle/>
          <a:p>
            <a:pPr algn="ctr"/>
            <a:endParaRPr/>
          </a:p>
        </p:txBody>
      </p:sp>
      <p:sp>
        <p:nvSpPr>
          <p:cNvPr id="75" name="TextBox 40"/>
          <p:cNvSpPr txBox="1"/>
          <p:nvPr/>
        </p:nvSpPr>
        <p:spPr>
          <a:xfrm>
            <a:off x="6638925" y="40338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+36.6%</a:t>
            </a:r>
          </a:p>
        </p:txBody>
      </p:sp>
      <p:sp>
        <p:nvSpPr>
          <p:cNvPr id="76" name="Shape 33"/>
          <p:cNvSpPr/>
          <p:nvPr/>
        </p:nvSpPr>
        <p:spPr>
          <a:xfrm>
            <a:off x="4933950" y="4524375"/>
            <a:ext cx="2257425" cy="9525"/>
          </a:xfrm>
          <a:prstGeom prst="rect">
            <a:avLst/>
          </a:prstGeom>
          <a:solidFill>
            <a:srgbClr val="E3DCD3"/>
          </a:solidFill>
          <a:ln>
            <a:noFill/>
          </a:ln>
          <a:effectLst/>
        </p:spPr>
        <p:txBody>
          <a:bodyPr rtlCol="0" anchor="ctr"/>
          <a:lstStyle/>
          <a:p>
            <a:pPr algn="ctr"/>
            <a:endParaRPr/>
          </a:p>
        </p:txBody>
      </p:sp>
      <p:sp>
        <p:nvSpPr>
          <p:cNvPr id="80" name="TextBox 43"/>
          <p:cNvSpPr txBox="1"/>
          <p:nvPr/>
        </p:nvSpPr>
        <p:spPr>
          <a:xfrm>
            <a:off x="6638925" y="43100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+34.1%</a:t>
            </a:r>
          </a:p>
        </p:txBody>
      </p:sp>
      <p:sp>
        <p:nvSpPr>
          <p:cNvPr id="81" name="Shape 35"/>
          <p:cNvSpPr/>
          <p:nvPr/>
        </p:nvSpPr>
        <p:spPr>
          <a:xfrm>
            <a:off x="4933950" y="4800600"/>
            <a:ext cx="2257425" cy="9525"/>
          </a:xfrm>
          <a:prstGeom prst="rect">
            <a:avLst/>
          </a:prstGeom>
          <a:solidFill>
            <a:srgbClr val="E3DCD3"/>
          </a:solidFill>
          <a:ln>
            <a:noFill/>
          </a:ln>
          <a:effectLst/>
        </p:spPr>
        <p:txBody>
          <a:bodyPr rtlCol="0" anchor="ctr"/>
          <a:lstStyle/>
          <a:p>
            <a:pPr algn="ctr"/>
            <a:endParaRPr/>
          </a:p>
        </p:txBody>
      </p:sp>
      <p:sp>
        <p:nvSpPr>
          <p:cNvPr id="85" name="TextBox 46"/>
          <p:cNvSpPr txBox="1"/>
          <p:nvPr/>
        </p:nvSpPr>
        <p:spPr>
          <a:xfrm>
            <a:off x="6638925" y="45862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+31.8%</a:t>
            </a:r>
          </a:p>
        </p:txBody>
      </p:sp>
      <p:sp>
        <p:nvSpPr>
          <p:cNvPr id="86" name="Shape 37"/>
          <p:cNvSpPr/>
          <p:nvPr/>
        </p:nvSpPr>
        <p:spPr>
          <a:xfrm>
            <a:off x="4933950" y="5076825"/>
            <a:ext cx="2257425" cy="9525"/>
          </a:xfrm>
          <a:prstGeom prst="rect">
            <a:avLst/>
          </a:prstGeom>
          <a:solidFill>
            <a:srgbClr val="E3DCD3"/>
          </a:solidFill>
          <a:ln>
            <a:noFill/>
          </a:ln>
          <a:effectLst/>
        </p:spPr>
        <p:txBody>
          <a:bodyPr rtlCol="0" anchor="ctr"/>
          <a:lstStyle/>
          <a:p>
            <a:pPr algn="ctr"/>
            <a:endParaRPr/>
          </a:p>
        </p:txBody>
      </p:sp>
      <p:sp>
        <p:nvSpPr>
          <p:cNvPr id="90" name="TextBox 49"/>
          <p:cNvSpPr txBox="1"/>
          <p:nvPr/>
        </p:nvSpPr>
        <p:spPr>
          <a:xfrm>
            <a:off x="6638925" y="486251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+31.4%</a:t>
            </a:r>
          </a:p>
        </p:txBody>
      </p:sp>
      <p:sp>
        <p:nvSpPr>
          <p:cNvPr id="91" name="Shape 39"/>
          <p:cNvSpPr/>
          <p:nvPr/>
        </p:nvSpPr>
        <p:spPr>
          <a:xfrm>
            <a:off x="4933950" y="5353050"/>
            <a:ext cx="2257425" cy="9525"/>
          </a:xfrm>
          <a:prstGeom prst="rect">
            <a:avLst/>
          </a:prstGeom>
          <a:solidFill>
            <a:srgbClr val="E3DCD3"/>
          </a:solidFill>
          <a:ln>
            <a:noFill/>
          </a:ln>
          <a:effectLst/>
        </p:spPr>
        <p:txBody>
          <a:bodyPr rtlCol="0" anchor="ctr"/>
          <a:lstStyle/>
          <a:p>
            <a:pPr algn="ctr"/>
            <a:endParaRPr/>
          </a:p>
        </p:txBody>
      </p:sp>
      <p:sp>
        <p:nvSpPr>
          <p:cNvPr id="95" name="TextBox 52"/>
          <p:cNvSpPr txBox="1"/>
          <p:nvPr/>
        </p:nvSpPr>
        <p:spPr>
          <a:xfrm>
            <a:off x="6638925" y="513873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+30.7%</a:t>
            </a:r>
          </a:p>
        </p:txBody>
      </p:sp>
      <p:sp>
        <p:nvSpPr>
          <p:cNvPr id="96" name="Shape 41"/>
          <p:cNvSpPr/>
          <p:nvPr/>
        </p:nvSpPr>
        <p:spPr>
          <a:xfrm>
            <a:off x="4933950" y="5629275"/>
            <a:ext cx="2257425" cy="9525"/>
          </a:xfrm>
          <a:prstGeom prst="rect">
            <a:avLst/>
          </a:prstGeom>
          <a:solidFill>
            <a:srgbClr val="E3DCD3"/>
          </a:solidFill>
          <a:ln>
            <a:noFill/>
          </a:ln>
          <a:effectLst/>
        </p:spPr>
        <p:txBody>
          <a:bodyPr rtlCol="0" anchor="ctr"/>
          <a:lstStyle/>
          <a:p>
            <a:pPr algn="ctr"/>
            <a:endParaRPr/>
          </a:p>
        </p:txBody>
      </p:sp>
      <p:sp>
        <p:nvSpPr>
          <p:cNvPr id="100" name="TextBox 55"/>
          <p:cNvSpPr txBox="1"/>
          <p:nvPr/>
        </p:nvSpPr>
        <p:spPr>
          <a:xfrm>
            <a:off x="6638925" y="5414962"/>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+26.9%</a:t>
            </a:r>
          </a:p>
        </p:txBody>
      </p:sp>
      <p:sp>
        <p:nvSpPr>
          <p:cNvPr id="101" name="Shape 43"/>
          <p:cNvSpPr/>
          <p:nvPr/>
        </p:nvSpPr>
        <p:spPr>
          <a:xfrm>
            <a:off x="4933950" y="5905500"/>
            <a:ext cx="2257425" cy="9525"/>
          </a:xfrm>
          <a:prstGeom prst="rect">
            <a:avLst/>
          </a:prstGeom>
          <a:solidFill>
            <a:srgbClr val="E3DCD3"/>
          </a:solidFill>
          <a:ln>
            <a:noFill/>
          </a:ln>
          <a:effectLst/>
        </p:spPr>
        <p:txBody>
          <a:bodyPr rtlCol="0" anchor="ctr"/>
          <a:lstStyle/>
          <a:p>
            <a:pPr algn="ctr"/>
            <a:endParaRPr/>
          </a:p>
        </p:txBody>
      </p:sp>
      <p:sp>
        <p:nvSpPr>
          <p:cNvPr id="105" name="TextBox 58"/>
          <p:cNvSpPr txBox="1"/>
          <p:nvPr/>
        </p:nvSpPr>
        <p:spPr>
          <a:xfrm>
            <a:off x="6638925" y="5691188"/>
            <a:ext cx="566738" cy="161925"/>
          </a:xfrm>
          <a:prstGeom prst="rect">
            <a:avLst/>
          </a:prstGeom>
          <a:noFill/>
        </p:spPr>
        <p:txBody>
          <a:bodyPr wrap="square" lIns="0" tIns="0" rIns="0" bIns="0" anchor="t">
            <a:spAutoFit/>
          </a:bodyPr>
          <a:lstStyle/>
          <a:p>
            <a:pPr algn="r">
              <a:lnSpc>
                <a:spcPts val="1466"/>
              </a:lnSpc>
            </a:pPr>
            <a:r>
              <a:rPr sz="950" b="1" i="0" spc="15">
                <a:solidFill>
                  <a:srgbClr val="1B1A1A"/>
                </a:solidFill>
                <a:latin typeface="Calibri"/>
              </a:rPr>
              <a:t>+25.4%</a:t>
            </a:r>
          </a:p>
        </p:txBody>
      </p:sp>
      <p:sp>
        <p:nvSpPr>
          <p:cNvPr id="106" name="TextBox 59"/>
          <p:cNvSpPr txBox="1"/>
          <p:nvPr/>
        </p:nvSpPr>
        <p:spPr>
          <a:xfrm>
            <a:off x="7381875" y="1238250"/>
            <a:ext cx="2271712"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FLAT OR DOWN, 52 WEEKS</a:t>
            </a:r>
          </a:p>
        </p:txBody>
      </p:sp>
      <p:sp>
        <p:nvSpPr>
          <p:cNvPr id="107" name="Shape 45"/>
          <p:cNvSpPr/>
          <p:nvPr/>
        </p:nvSpPr>
        <p:spPr>
          <a:xfrm>
            <a:off x="7381875" y="1685925"/>
            <a:ext cx="2257425" cy="9525"/>
          </a:xfrm>
          <a:prstGeom prst="rect">
            <a:avLst/>
          </a:prstGeom>
          <a:solidFill>
            <a:srgbClr val="E3DCD3"/>
          </a:solidFill>
          <a:ln>
            <a:noFill/>
          </a:ln>
          <a:effectLst/>
        </p:spPr>
        <p:txBody>
          <a:bodyPr rtlCol="0" anchor="ctr"/>
          <a:lstStyle/>
          <a:p>
            <a:pPr algn="ctr"/>
            <a:endParaRPr/>
          </a:p>
        </p:txBody>
      </p:sp>
      <p:sp>
        <p:nvSpPr>
          <p:cNvPr id="111" name="TextBox 62"/>
          <p:cNvSpPr txBox="1"/>
          <p:nvPr/>
        </p:nvSpPr>
        <p:spPr>
          <a:xfrm>
            <a:off x="9086850" y="147161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-33.0%</a:t>
            </a:r>
          </a:p>
        </p:txBody>
      </p:sp>
      <p:sp>
        <p:nvSpPr>
          <p:cNvPr id="112" name="Shape 47"/>
          <p:cNvSpPr/>
          <p:nvPr/>
        </p:nvSpPr>
        <p:spPr>
          <a:xfrm>
            <a:off x="7381875" y="1962150"/>
            <a:ext cx="2257425" cy="9525"/>
          </a:xfrm>
          <a:prstGeom prst="rect">
            <a:avLst/>
          </a:prstGeom>
          <a:solidFill>
            <a:srgbClr val="E3DCD3"/>
          </a:solidFill>
          <a:ln>
            <a:noFill/>
          </a:ln>
          <a:effectLst/>
        </p:spPr>
        <p:txBody>
          <a:bodyPr rtlCol="0" anchor="ctr"/>
          <a:lstStyle/>
          <a:p>
            <a:pPr algn="ctr"/>
            <a:endParaRPr/>
          </a:p>
        </p:txBody>
      </p:sp>
      <p:sp>
        <p:nvSpPr>
          <p:cNvPr id="116" name="TextBox 65"/>
          <p:cNvSpPr txBox="1"/>
          <p:nvPr/>
        </p:nvSpPr>
        <p:spPr>
          <a:xfrm>
            <a:off x="9086850" y="174783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-20.3%</a:t>
            </a:r>
          </a:p>
        </p:txBody>
      </p:sp>
      <p:sp>
        <p:nvSpPr>
          <p:cNvPr id="117" name="Shape 49"/>
          <p:cNvSpPr/>
          <p:nvPr/>
        </p:nvSpPr>
        <p:spPr>
          <a:xfrm>
            <a:off x="7381875" y="2238375"/>
            <a:ext cx="2257425" cy="9525"/>
          </a:xfrm>
          <a:prstGeom prst="rect">
            <a:avLst/>
          </a:prstGeom>
          <a:solidFill>
            <a:srgbClr val="E3DCD3"/>
          </a:solidFill>
          <a:ln>
            <a:noFill/>
          </a:ln>
          <a:effectLst/>
        </p:spPr>
        <p:txBody>
          <a:bodyPr rtlCol="0" anchor="ctr"/>
          <a:lstStyle/>
          <a:p>
            <a:pPr algn="ctr"/>
            <a:endParaRPr/>
          </a:p>
        </p:txBody>
      </p:sp>
      <p:sp>
        <p:nvSpPr>
          <p:cNvPr id="121" name="TextBox 68"/>
          <p:cNvSpPr txBox="1"/>
          <p:nvPr/>
        </p:nvSpPr>
        <p:spPr>
          <a:xfrm>
            <a:off x="9086850" y="202406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-10.8%</a:t>
            </a:r>
          </a:p>
        </p:txBody>
      </p:sp>
      <p:sp>
        <p:nvSpPr>
          <p:cNvPr id="122" name="Shape 51"/>
          <p:cNvSpPr/>
          <p:nvPr/>
        </p:nvSpPr>
        <p:spPr>
          <a:xfrm>
            <a:off x="7381875" y="2514600"/>
            <a:ext cx="2257425" cy="9525"/>
          </a:xfrm>
          <a:prstGeom prst="rect">
            <a:avLst/>
          </a:prstGeom>
          <a:solidFill>
            <a:srgbClr val="E3DCD3"/>
          </a:solidFill>
          <a:ln>
            <a:noFill/>
          </a:ln>
          <a:effectLst/>
        </p:spPr>
        <p:txBody>
          <a:bodyPr rtlCol="0" anchor="ctr"/>
          <a:lstStyle/>
          <a:p>
            <a:pPr algn="ctr"/>
            <a:endParaRPr/>
          </a:p>
        </p:txBody>
      </p:sp>
      <p:sp>
        <p:nvSpPr>
          <p:cNvPr id="126" name="TextBox 71"/>
          <p:cNvSpPr txBox="1"/>
          <p:nvPr/>
        </p:nvSpPr>
        <p:spPr>
          <a:xfrm>
            <a:off x="9086850" y="230028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-9.4%</a:t>
            </a:r>
          </a:p>
        </p:txBody>
      </p:sp>
      <p:sp>
        <p:nvSpPr>
          <p:cNvPr id="127" name="Shape 53"/>
          <p:cNvSpPr/>
          <p:nvPr/>
        </p:nvSpPr>
        <p:spPr>
          <a:xfrm>
            <a:off x="7381875" y="2790825"/>
            <a:ext cx="2257425" cy="9525"/>
          </a:xfrm>
          <a:prstGeom prst="rect">
            <a:avLst/>
          </a:prstGeom>
          <a:solidFill>
            <a:srgbClr val="E3DCD3"/>
          </a:solidFill>
          <a:ln>
            <a:noFill/>
          </a:ln>
          <a:effectLst/>
        </p:spPr>
        <p:txBody>
          <a:bodyPr rtlCol="0" anchor="ctr"/>
          <a:lstStyle/>
          <a:p>
            <a:pPr algn="ctr"/>
            <a:endParaRPr/>
          </a:p>
        </p:txBody>
      </p:sp>
      <p:sp>
        <p:nvSpPr>
          <p:cNvPr id="131" name="TextBox 74"/>
          <p:cNvSpPr txBox="1"/>
          <p:nvPr/>
        </p:nvSpPr>
        <p:spPr>
          <a:xfrm>
            <a:off x="9086850" y="257651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-6.0%</a:t>
            </a:r>
          </a:p>
        </p:txBody>
      </p:sp>
      <p:sp>
        <p:nvSpPr>
          <p:cNvPr id="132" name="Shape 55"/>
          <p:cNvSpPr/>
          <p:nvPr/>
        </p:nvSpPr>
        <p:spPr>
          <a:xfrm>
            <a:off x="7381875" y="3067050"/>
            <a:ext cx="2257425" cy="9525"/>
          </a:xfrm>
          <a:prstGeom prst="rect">
            <a:avLst/>
          </a:prstGeom>
          <a:solidFill>
            <a:srgbClr val="E3DCD3"/>
          </a:solidFill>
          <a:ln>
            <a:noFill/>
          </a:ln>
          <a:effectLst/>
        </p:spPr>
        <p:txBody>
          <a:bodyPr rtlCol="0" anchor="ctr"/>
          <a:lstStyle/>
          <a:p>
            <a:pPr algn="ctr"/>
            <a:endParaRPr/>
          </a:p>
        </p:txBody>
      </p:sp>
      <p:sp>
        <p:nvSpPr>
          <p:cNvPr id="136" name="TextBox 77"/>
          <p:cNvSpPr txBox="1"/>
          <p:nvPr/>
        </p:nvSpPr>
        <p:spPr>
          <a:xfrm>
            <a:off x="9086850" y="285273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-5.1%</a:t>
            </a:r>
          </a:p>
        </p:txBody>
      </p:sp>
      <p:sp>
        <p:nvSpPr>
          <p:cNvPr id="137" name="Shape 57"/>
          <p:cNvSpPr/>
          <p:nvPr/>
        </p:nvSpPr>
        <p:spPr>
          <a:xfrm>
            <a:off x="7381875" y="3343275"/>
            <a:ext cx="2257425" cy="9525"/>
          </a:xfrm>
          <a:prstGeom prst="rect">
            <a:avLst/>
          </a:prstGeom>
          <a:solidFill>
            <a:srgbClr val="E3DCD3"/>
          </a:solidFill>
          <a:ln>
            <a:noFill/>
          </a:ln>
          <a:effectLst/>
        </p:spPr>
        <p:txBody>
          <a:bodyPr rtlCol="0" anchor="ctr"/>
          <a:lstStyle/>
          <a:p>
            <a:pPr algn="ctr"/>
            <a:endParaRPr/>
          </a:p>
        </p:txBody>
      </p:sp>
      <p:sp>
        <p:nvSpPr>
          <p:cNvPr id="141" name="TextBox 80"/>
          <p:cNvSpPr txBox="1"/>
          <p:nvPr/>
        </p:nvSpPr>
        <p:spPr>
          <a:xfrm>
            <a:off x="9086850" y="312896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-4.4%</a:t>
            </a:r>
          </a:p>
        </p:txBody>
      </p:sp>
      <p:sp>
        <p:nvSpPr>
          <p:cNvPr id="142" name="Shape 59"/>
          <p:cNvSpPr/>
          <p:nvPr/>
        </p:nvSpPr>
        <p:spPr>
          <a:xfrm>
            <a:off x="7381875" y="3619500"/>
            <a:ext cx="2257425" cy="9525"/>
          </a:xfrm>
          <a:prstGeom prst="rect">
            <a:avLst/>
          </a:prstGeom>
          <a:solidFill>
            <a:srgbClr val="E3DCD3"/>
          </a:solidFill>
          <a:ln>
            <a:noFill/>
          </a:ln>
          <a:effectLst/>
        </p:spPr>
        <p:txBody>
          <a:bodyPr rtlCol="0" anchor="ctr"/>
          <a:lstStyle/>
          <a:p>
            <a:pPr algn="ctr"/>
            <a:endParaRPr/>
          </a:p>
        </p:txBody>
      </p:sp>
      <p:sp>
        <p:nvSpPr>
          <p:cNvPr id="146" name="TextBox 83"/>
          <p:cNvSpPr txBox="1"/>
          <p:nvPr/>
        </p:nvSpPr>
        <p:spPr>
          <a:xfrm>
            <a:off x="9086850" y="3405188"/>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-0.7%</a:t>
            </a:r>
          </a:p>
        </p:txBody>
      </p:sp>
      <p:sp>
        <p:nvSpPr>
          <p:cNvPr id="147" name="Shape 61"/>
          <p:cNvSpPr/>
          <p:nvPr/>
        </p:nvSpPr>
        <p:spPr>
          <a:xfrm>
            <a:off x="7381875" y="3895725"/>
            <a:ext cx="2257425" cy="9525"/>
          </a:xfrm>
          <a:prstGeom prst="rect">
            <a:avLst/>
          </a:prstGeom>
          <a:solidFill>
            <a:srgbClr val="E3DCD3"/>
          </a:solidFill>
          <a:ln>
            <a:noFill/>
          </a:ln>
          <a:effectLst/>
        </p:spPr>
        <p:txBody>
          <a:bodyPr rtlCol="0" anchor="ctr"/>
          <a:lstStyle/>
          <a:p>
            <a:pPr algn="ctr"/>
            <a:endParaRPr/>
          </a:p>
        </p:txBody>
      </p:sp>
      <p:sp>
        <p:nvSpPr>
          <p:cNvPr id="151" name="TextBox 86"/>
          <p:cNvSpPr txBox="1"/>
          <p:nvPr/>
        </p:nvSpPr>
        <p:spPr>
          <a:xfrm>
            <a:off x="9086850" y="3681412"/>
            <a:ext cx="566738" cy="161925"/>
          </a:xfrm>
          <a:prstGeom prst="rect">
            <a:avLst/>
          </a:prstGeom>
          <a:noFill/>
        </p:spPr>
        <p:txBody>
          <a:bodyPr wrap="square" lIns="0" tIns="0" rIns="0" bIns="0" anchor="t">
            <a:spAutoFit/>
          </a:bodyPr>
          <a:lstStyle/>
          <a:p>
            <a:pPr algn="r">
              <a:lnSpc>
                <a:spcPts val="1466"/>
              </a:lnSpc>
            </a:pPr>
            <a:r>
              <a:rPr sz="950" b="1" i="0" spc="15">
                <a:solidFill>
                  <a:srgbClr val="8C6239"/>
                </a:solidFill>
                <a:latin typeface="Calibri"/>
              </a:rPr>
              <a:t>0.0%</a:t>
            </a:r>
          </a:p>
        </p:txBody>
      </p:sp>
      <p:sp>
        <p:nvSpPr>
          <p:cNvPr id="152" name="Shape 6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53" name="Picture 1" descr="Benchmark International logo"/>
          <p:cNvPicPr>
            <a:picLocks noChangeAspect="1"/>
          </p:cNvPicPr>
          <p:nvPr/>
        </p:nvPicPr>
        <p:blipFill>
          <a:blip r:embed="rId4"/>
          <a:srcRect/>
          <a:stretch>
            <a:fillRect/>
          </a:stretch>
        </p:blipFill>
        <p:spPr>
          <a:xfrm>
            <a:off x="419100" y="7143750"/>
            <a:ext cx="914400" cy="171450"/>
          </a:xfrm>
          <a:prstGeom prst="rect">
            <a:avLst/>
          </a:prstGeom>
        </p:spPr>
      </p:pic>
      <p:sp>
        <p:nvSpPr>
          <p:cNvPr id="154" name="TextBox 87"/>
          <p:cNvSpPr txBox="1"/>
          <p:nvPr/>
        </p:nvSpPr>
        <p:spPr>
          <a:xfrm>
            <a:off x="1543050" y="7105650"/>
            <a:ext cx="7748588" cy="238125"/>
          </a:xfrm>
          <a:prstGeom prst="rect">
            <a:avLst/>
          </a:prstGeom>
          <a:noFill/>
        </p:spPr>
        <p:txBody>
          <a:bodyPr wrap="square" lIns="0" tIns="0" rIns="0" bIns="0" anchor="t">
            <a:spAutoFit/>
          </a:bodyPr>
          <a:lstStyle/>
          <a:p>
            <a:pPr algn="l">
              <a:lnSpc>
                <a:spcPts val="994"/>
              </a:lnSpc>
            </a:pPr>
            <a:r>
              <a:rPr sz="700" b="0" i="0" spc="8">
                <a:solidFill>
                  <a:srgbClr val="6F6A66"/>
                </a:solidFill>
                <a:latin typeface="Calibri"/>
              </a:rPr>
              <a:t>Source: </a:t>
            </a:r>
            <a:r>
              <a:rPr sz="700" b="0" i="0" spc="8">
                <a:solidFill>
                  <a:srgbClr val="8C6239"/>
                </a:solidFill>
                <a:latin typeface="Calibri"/>
                <a:hlinkClick r:id="rId5"/>
              </a:rPr>
              <a:t>StockAnalysis</a:t>
            </a:r>
            <a:r>
              <a:rPr sz="700" b="0" i="0" spc="8">
                <a:solidFill>
                  <a:srgbClr val="6F6A66"/>
                </a:solidFill>
                <a:latin typeface="Calibri"/>
              </a:rPr>
              <a:t>, retrieved October 19, 2026; prices are closing prices of October 16, 2026. Price change excludes dividends. Bio-Techne and Integer Holdings trade near agreed acquisition prices.</a:t>
            </a:r>
          </a:p>
        </p:txBody>
      </p:sp>
      <p:sp>
        <p:nvSpPr>
          <p:cNvPr id="155" name="TextBox 8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18</a:t>
            </a:r>
          </a:p>
        </p:txBody>
      </p:sp>
      <p:pic>
        <p:nvPicPr>
          <p:cNvPr id="156" name="Logo LFST" descr="LifeStance Health logo"/>
          <p:cNvPicPr>
            <a:picLocks noChangeAspect="1"/>
          </p:cNvPicPr>
          <p:nvPr/>
        </p:nvPicPr>
        <p:blipFill>
          <a:blip r:embed="rId6"/>
          <a:stretch>
            <a:fillRect/>
          </a:stretch>
        </p:blipFill>
        <p:spPr>
          <a:xfrm>
            <a:off x="4951476" y="1461897"/>
            <a:ext cx="694481" cy="182880"/>
          </a:xfrm>
          <a:prstGeom prst="rect">
            <a:avLst/>
          </a:prstGeom>
        </p:spPr>
      </p:pic>
      <p:pic>
        <p:nvPicPr>
          <p:cNvPr id="157" name="Logo BTSG" descr="BrightSpring Health Services logo"/>
          <p:cNvPicPr>
            <a:picLocks noChangeAspect="1"/>
          </p:cNvPicPr>
          <p:nvPr/>
        </p:nvPicPr>
        <p:blipFill>
          <a:blip r:embed="rId7"/>
          <a:stretch>
            <a:fillRect/>
          </a:stretch>
        </p:blipFill>
        <p:spPr>
          <a:xfrm>
            <a:off x="4951476" y="2014346"/>
            <a:ext cx="954156" cy="182880"/>
          </a:xfrm>
          <a:prstGeom prst="rect">
            <a:avLst/>
          </a:prstGeom>
        </p:spPr>
      </p:pic>
      <p:pic>
        <p:nvPicPr>
          <p:cNvPr id="158" name="Logo CON" descr="Concentra logo"/>
          <p:cNvPicPr>
            <a:picLocks noChangeAspect="1"/>
          </p:cNvPicPr>
          <p:nvPr/>
        </p:nvPicPr>
        <p:blipFill>
          <a:blip r:embed="rId8"/>
          <a:stretch>
            <a:fillRect/>
          </a:stretch>
        </p:blipFill>
        <p:spPr>
          <a:xfrm>
            <a:off x="4951476" y="2328672"/>
            <a:ext cx="1111169" cy="182880"/>
          </a:xfrm>
          <a:prstGeom prst="rect">
            <a:avLst/>
          </a:prstGeom>
        </p:spPr>
      </p:pic>
      <p:pic>
        <p:nvPicPr>
          <p:cNvPr id="159" name="Logo CRL" descr="Charles River Laboratories logo"/>
          <p:cNvPicPr>
            <a:picLocks noChangeAspect="1"/>
          </p:cNvPicPr>
          <p:nvPr/>
        </p:nvPicPr>
        <p:blipFill>
          <a:blip r:embed="rId9"/>
          <a:stretch>
            <a:fillRect/>
          </a:stretch>
        </p:blipFill>
        <p:spPr>
          <a:xfrm>
            <a:off x="4951476" y="2642997"/>
            <a:ext cx="849854" cy="182880"/>
          </a:xfrm>
          <a:prstGeom prst="rect">
            <a:avLst/>
          </a:prstGeom>
        </p:spPr>
      </p:pic>
      <p:pic>
        <p:nvPicPr>
          <p:cNvPr id="160" name="Logo PNTG" descr="Pennant Group logo"/>
          <p:cNvPicPr>
            <a:picLocks noChangeAspect="1"/>
          </p:cNvPicPr>
          <p:nvPr/>
        </p:nvPicPr>
        <p:blipFill>
          <a:blip r:embed="rId10"/>
          <a:stretch>
            <a:fillRect/>
          </a:stretch>
        </p:blipFill>
        <p:spPr>
          <a:xfrm>
            <a:off x="4951476" y="2952588"/>
            <a:ext cx="1188720" cy="116146"/>
          </a:xfrm>
          <a:prstGeom prst="rect">
            <a:avLst/>
          </a:prstGeom>
        </p:spPr>
      </p:pic>
      <p:pic>
        <p:nvPicPr>
          <p:cNvPr id="161" name="Logo CAH" descr="Cardinal Health logo"/>
          <p:cNvPicPr>
            <a:picLocks noChangeAspect="1"/>
          </p:cNvPicPr>
          <p:nvPr/>
        </p:nvPicPr>
        <p:blipFill>
          <a:blip r:embed="rId11"/>
          <a:stretch>
            <a:fillRect/>
          </a:stretch>
        </p:blipFill>
        <p:spPr>
          <a:xfrm>
            <a:off x="4951476" y="3195447"/>
            <a:ext cx="553390" cy="182880"/>
          </a:xfrm>
          <a:prstGeom prst="rect">
            <a:avLst/>
          </a:prstGeom>
        </p:spPr>
      </p:pic>
      <p:pic>
        <p:nvPicPr>
          <p:cNvPr id="162" name="Logo GRDN" descr="Guardian Pharmacy Services logo"/>
          <p:cNvPicPr>
            <a:picLocks noChangeAspect="1"/>
          </p:cNvPicPr>
          <p:nvPr/>
        </p:nvPicPr>
        <p:blipFill>
          <a:blip r:embed="rId12"/>
          <a:stretch>
            <a:fillRect/>
          </a:stretch>
        </p:blipFill>
        <p:spPr>
          <a:xfrm>
            <a:off x="4951476" y="3471672"/>
            <a:ext cx="341765" cy="182880"/>
          </a:xfrm>
          <a:prstGeom prst="rect">
            <a:avLst/>
          </a:prstGeom>
        </p:spPr>
      </p:pic>
      <p:pic>
        <p:nvPicPr>
          <p:cNvPr id="163" name="Logo DVA" descr="DaVita Kidney Care logo"/>
          <p:cNvPicPr>
            <a:picLocks noChangeAspect="1"/>
          </p:cNvPicPr>
          <p:nvPr/>
        </p:nvPicPr>
        <p:blipFill>
          <a:blip r:embed="rId13"/>
          <a:stretch>
            <a:fillRect/>
          </a:stretch>
        </p:blipFill>
        <p:spPr>
          <a:xfrm>
            <a:off x="4951476" y="3747897"/>
            <a:ext cx="343759" cy="182880"/>
          </a:xfrm>
          <a:prstGeom prst="rect">
            <a:avLst/>
          </a:prstGeom>
        </p:spPr>
      </p:pic>
      <p:pic>
        <p:nvPicPr>
          <p:cNvPr id="164" name="Logo HSIC" descr="Henry Schein logo"/>
          <p:cNvPicPr>
            <a:picLocks noChangeAspect="1"/>
          </p:cNvPicPr>
          <p:nvPr/>
        </p:nvPicPr>
        <p:blipFill>
          <a:blip r:embed="rId14"/>
          <a:stretch>
            <a:fillRect/>
          </a:stretch>
        </p:blipFill>
        <p:spPr>
          <a:xfrm>
            <a:off x="4951476" y="4056006"/>
            <a:ext cx="1188720" cy="119110"/>
          </a:xfrm>
          <a:prstGeom prst="rect">
            <a:avLst/>
          </a:prstGeom>
        </p:spPr>
      </p:pic>
      <p:pic>
        <p:nvPicPr>
          <p:cNvPr id="165" name="Logo THC" descr="Tenet Health logo"/>
          <p:cNvPicPr>
            <a:picLocks noChangeAspect="1"/>
          </p:cNvPicPr>
          <p:nvPr/>
        </p:nvPicPr>
        <p:blipFill>
          <a:blip r:embed="rId15"/>
          <a:stretch>
            <a:fillRect/>
          </a:stretch>
        </p:blipFill>
        <p:spPr>
          <a:xfrm>
            <a:off x="4951476" y="4300347"/>
            <a:ext cx="426720" cy="182880"/>
          </a:xfrm>
          <a:prstGeom prst="rect">
            <a:avLst/>
          </a:prstGeom>
        </p:spPr>
      </p:pic>
      <p:pic>
        <p:nvPicPr>
          <p:cNvPr id="166" name="Logo VMD" descr="Viemed Healthcare logo"/>
          <p:cNvPicPr>
            <a:picLocks noChangeAspect="1"/>
          </p:cNvPicPr>
          <p:nvPr/>
        </p:nvPicPr>
        <p:blipFill>
          <a:blip r:embed="rId16"/>
          <a:stretch>
            <a:fillRect/>
          </a:stretch>
        </p:blipFill>
        <p:spPr>
          <a:xfrm>
            <a:off x="4951476" y="4576572"/>
            <a:ext cx="333523" cy="182880"/>
          </a:xfrm>
          <a:prstGeom prst="rect">
            <a:avLst/>
          </a:prstGeom>
        </p:spPr>
      </p:pic>
      <p:pic>
        <p:nvPicPr>
          <p:cNvPr id="167" name="Logo IQV" descr="IQVIA logo"/>
          <p:cNvPicPr>
            <a:picLocks noChangeAspect="1"/>
          </p:cNvPicPr>
          <p:nvPr/>
        </p:nvPicPr>
        <p:blipFill>
          <a:blip r:embed="rId17"/>
          <a:stretch>
            <a:fillRect/>
          </a:stretch>
        </p:blipFill>
        <p:spPr>
          <a:xfrm>
            <a:off x="4951476" y="4852797"/>
            <a:ext cx="1051034" cy="182880"/>
          </a:xfrm>
          <a:prstGeom prst="rect">
            <a:avLst/>
          </a:prstGeom>
        </p:spPr>
      </p:pic>
      <p:pic>
        <p:nvPicPr>
          <p:cNvPr id="168" name="Logo TMO" descr="Thermo Fisher Scientific logo"/>
          <p:cNvPicPr>
            <a:picLocks noChangeAspect="1"/>
          </p:cNvPicPr>
          <p:nvPr/>
        </p:nvPicPr>
        <p:blipFill>
          <a:blip r:embed="rId18"/>
          <a:stretch>
            <a:fillRect/>
          </a:stretch>
        </p:blipFill>
        <p:spPr>
          <a:xfrm>
            <a:off x="4951476" y="5129022"/>
            <a:ext cx="395844" cy="182880"/>
          </a:xfrm>
          <a:prstGeom prst="rect">
            <a:avLst/>
          </a:prstGeom>
        </p:spPr>
      </p:pic>
      <p:pic>
        <p:nvPicPr>
          <p:cNvPr id="169" name="Logo MCK" descr="McKesson logo"/>
          <p:cNvPicPr>
            <a:picLocks noChangeAspect="1"/>
          </p:cNvPicPr>
          <p:nvPr/>
        </p:nvPicPr>
        <p:blipFill>
          <a:blip r:embed="rId19"/>
          <a:stretch>
            <a:fillRect/>
          </a:stretch>
        </p:blipFill>
        <p:spPr>
          <a:xfrm>
            <a:off x="4951476" y="5414665"/>
            <a:ext cx="1188720" cy="164043"/>
          </a:xfrm>
          <a:prstGeom prst="rect">
            <a:avLst/>
          </a:prstGeom>
        </p:spPr>
      </p:pic>
      <p:pic>
        <p:nvPicPr>
          <p:cNvPr id="170" name="Logo DGX" descr="Quest Diagnostics logo"/>
          <p:cNvPicPr>
            <a:picLocks noChangeAspect="1"/>
          </p:cNvPicPr>
          <p:nvPr/>
        </p:nvPicPr>
        <p:blipFill>
          <a:blip r:embed="rId20"/>
          <a:stretch>
            <a:fillRect/>
          </a:stretch>
        </p:blipFill>
        <p:spPr>
          <a:xfrm>
            <a:off x="4951476" y="5681472"/>
            <a:ext cx="582420" cy="182880"/>
          </a:xfrm>
          <a:prstGeom prst="rect">
            <a:avLst/>
          </a:prstGeom>
        </p:spPr>
      </p:pic>
      <p:pic>
        <p:nvPicPr>
          <p:cNvPr id="171" name="Logo XRAY" descr="Dentsply Sirona logo"/>
          <p:cNvPicPr>
            <a:picLocks noChangeAspect="1"/>
          </p:cNvPicPr>
          <p:nvPr/>
        </p:nvPicPr>
        <p:blipFill>
          <a:blip r:embed="rId21"/>
          <a:stretch>
            <a:fillRect/>
          </a:stretch>
        </p:blipFill>
        <p:spPr>
          <a:xfrm>
            <a:off x="7399401" y="1461897"/>
            <a:ext cx="657013" cy="182880"/>
          </a:xfrm>
          <a:prstGeom prst="rect">
            <a:avLst/>
          </a:prstGeom>
        </p:spPr>
      </p:pic>
      <p:pic>
        <p:nvPicPr>
          <p:cNvPr id="172" name="Logo SYK" descr="Stryker logo"/>
          <p:cNvPicPr>
            <a:picLocks noChangeAspect="1"/>
          </p:cNvPicPr>
          <p:nvPr/>
        </p:nvPicPr>
        <p:blipFill>
          <a:blip r:embed="rId22"/>
          <a:stretch>
            <a:fillRect/>
          </a:stretch>
        </p:blipFill>
        <p:spPr>
          <a:xfrm>
            <a:off x="7399401" y="1738122"/>
            <a:ext cx="728570" cy="182880"/>
          </a:xfrm>
          <a:prstGeom prst="rect">
            <a:avLst/>
          </a:prstGeom>
        </p:spPr>
      </p:pic>
      <p:pic>
        <p:nvPicPr>
          <p:cNvPr id="173" name="Logo PRVA" descr="Privia Health logo"/>
          <p:cNvPicPr>
            <a:picLocks noChangeAspect="1"/>
          </p:cNvPicPr>
          <p:nvPr/>
        </p:nvPicPr>
        <p:blipFill>
          <a:blip r:embed="rId23"/>
          <a:stretch>
            <a:fillRect/>
          </a:stretch>
        </p:blipFill>
        <p:spPr>
          <a:xfrm>
            <a:off x="7399401" y="2014346"/>
            <a:ext cx="811730" cy="182880"/>
          </a:xfrm>
          <a:prstGeom prst="rect">
            <a:avLst/>
          </a:prstGeom>
        </p:spPr>
      </p:pic>
      <p:pic>
        <p:nvPicPr>
          <p:cNvPr id="174" name="Logo ICLR" descr="ICON logo"/>
          <p:cNvPicPr>
            <a:picLocks noChangeAspect="1"/>
          </p:cNvPicPr>
          <p:nvPr/>
        </p:nvPicPr>
        <p:blipFill>
          <a:blip r:embed="rId24"/>
          <a:stretch>
            <a:fillRect/>
          </a:stretch>
        </p:blipFill>
        <p:spPr>
          <a:xfrm>
            <a:off x="7399401" y="2290572"/>
            <a:ext cx="667445" cy="182880"/>
          </a:xfrm>
          <a:prstGeom prst="rect">
            <a:avLst/>
          </a:prstGeom>
        </p:spPr>
      </p:pic>
      <p:pic>
        <p:nvPicPr>
          <p:cNvPr id="175" name="Logo STE" descr="Steris logo"/>
          <p:cNvPicPr>
            <a:picLocks noChangeAspect="1"/>
          </p:cNvPicPr>
          <p:nvPr/>
        </p:nvPicPr>
        <p:blipFill>
          <a:blip r:embed="rId25"/>
          <a:stretch>
            <a:fillRect/>
          </a:stretch>
        </p:blipFill>
        <p:spPr>
          <a:xfrm>
            <a:off x="7399401" y="2566797"/>
            <a:ext cx="1115121" cy="182880"/>
          </a:xfrm>
          <a:prstGeom prst="rect">
            <a:avLst/>
          </a:prstGeom>
        </p:spPr>
      </p:pic>
      <p:pic>
        <p:nvPicPr>
          <p:cNvPr id="176" name="Logo USPH" descr="U.S. Physical Therapy logo"/>
          <p:cNvPicPr>
            <a:picLocks noChangeAspect="1"/>
          </p:cNvPicPr>
          <p:nvPr/>
        </p:nvPicPr>
        <p:blipFill>
          <a:blip r:embed="rId26"/>
          <a:stretch>
            <a:fillRect/>
          </a:stretch>
        </p:blipFill>
        <p:spPr>
          <a:xfrm>
            <a:off x="7399401" y="2843022"/>
            <a:ext cx="390144" cy="182880"/>
          </a:xfrm>
          <a:prstGeom prst="rect">
            <a:avLst/>
          </a:prstGeom>
        </p:spPr>
      </p:pic>
      <p:pic>
        <p:nvPicPr>
          <p:cNvPr id="177" name="Logo ZBH" descr="Zimmer Biomet logo"/>
          <p:cNvPicPr>
            <a:picLocks noChangeAspect="1"/>
          </p:cNvPicPr>
          <p:nvPr/>
        </p:nvPicPr>
        <p:blipFill>
          <a:blip r:embed="rId27"/>
          <a:stretch>
            <a:fillRect/>
          </a:stretch>
        </p:blipFill>
        <p:spPr>
          <a:xfrm>
            <a:off x="7399401" y="3119247"/>
            <a:ext cx="1011936" cy="182880"/>
          </a:xfrm>
          <a:prstGeom prst="rect">
            <a:avLst/>
          </a:prstGeom>
        </p:spPr>
      </p:pic>
      <p:pic>
        <p:nvPicPr>
          <p:cNvPr id="178" name="Logo ENSG" descr="Ensign Group logo"/>
          <p:cNvPicPr>
            <a:picLocks noChangeAspect="1"/>
          </p:cNvPicPr>
          <p:nvPr/>
        </p:nvPicPr>
        <p:blipFill>
          <a:blip r:embed="rId28"/>
          <a:stretch>
            <a:fillRect/>
          </a:stretch>
        </p:blipFill>
        <p:spPr>
          <a:xfrm>
            <a:off x="7399401" y="3407090"/>
            <a:ext cx="1188720" cy="159642"/>
          </a:xfrm>
          <a:prstGeom prst="rect">
            <a:avLst/>
          </a:prstGeom>
        </p:spPr>
      </p:pic>
      <p:pic>
        <p:nvPicPr>
          <p:cNvPr id="179" name="Logo ADUS" descr="Addus HomeCare logo"/>
          <p:cNvPicPr>
            <a:picLocks noChangeAspect="1"/>
          </p:cNvPicPr>
          <p:nvPr/>
        </p:nvPicPr>
        <p:blipFill>
          <a:blip r:embed="rId29"/>
          <a:stretch>
            <a:fillRect/>
          </a:stretch>
        </p:blipFill>
        <p:spPr>
          <a:xfrm>
            <a:off x="7399401" y="3671697"/>
            <a:ext cx="806823" cy="182880"/>
          </a:xfrm>
          <a:prstGeom prst="rect">
            <a:avLst/>
          </a:prstGeom>
        </p:spPr>
      </p:pic>
      <p:pic>
        <p:nvPicPr>
          <p:cNvPr id="180" name="Logo AMN" descr="AMN Healthcare logo"/>
          <p:cNvPicPr>
            <a:picLocks noChangeAspect="1"/>
          </p:cNvPicPr>
          <p:nvPr/>
        </p:nvPicPr>
        <p:blipFill>
          <a:blip r:embed="rId30"/>
          <a:stretch>
            <a:fillRect/>
          </a:stretch>
        </p:blipFill>
        <p:spPr>
          <a:xfrm>
            <a:off x="4951476" y="1739265"/>
            <a:ext cx="537882" cy="1828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Public Company Operating and Valuation Metrics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430"/>
              </a:lnSpc>
            </a:pPr>
            <a:r>
              <a:rPr sz="950" b="0" i="0" spc="15">
                <a:solidFill>
                  <a:srgbClr val="6F6A66"/>
                </a:solidFill>
                <a:latin typeface="Calibri"/>
              </a:rPr>
              <a:t>Provider companies are growing fastest, life sciences and diagnostics earns the highest margins and multiples, and drug distribution holds the pharmacy sector’s margins down.</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57300"/>
            <a:ext cx="95250" cy="95250"/>
          </a:xfrm>
          <a:prstGeom prst="rect">
            <a:avLst/>
          </a:prstGeom>
          <a:solidFill>
            <a:srgbClr val="1B1A1A"/>
          </a:solidFill>
          <a:ln>
            <a:noFill/>
          </a:ln>
          <a:effectLst/>
        </p:spPr>
        <p:txBody>
          <a:bodyPr rtlCol="0" anchor="ctr"/>
          <a:lstStyle/>
          <a:p>
            <a:pPr algn="ctr"/>
            <a:endParaRPr/>
          </a:p>
        </p:txBody>
      </p:sp>
      <p:sp>
        <p:nvSpPr>
          <p:cNvPr id="9" name="TextBox 5"/>
          <p:cNvSpPr txBox="1"/>
          <p:nvPr/>
        </p:nvSpPr>
        <p:spPr>
          <a:xfrm>
            <a:off x="571500" y="1238250"/>
            <a:ext cx="837724"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Provider Services</a:t>
            </a:r>
          </a:p>
        </p:txBody>
      </p:sp>
      <p:sp>
        <p:nvSpPr>
          <p:cNvPr id="10" name="Shape 4"/>
          <p:cNvSpPr/>
          <p:nvPr/>
        </p:nvSpPr>
        <p:spPr>
          <a:xfrm>
            <a:off x="1438275" y="1257300"/>
            <a:ext cx="95250" cy="95250"/>
          </a:xfrm>
          <a:prstGeom prst="rect">
            <a:avLst/>
          </a:prstGeom>
          <a:solidFill>
            <a:srgbClr val="B68757"/>
          </a:solidFill>
          <a:ln>
            <a:noFill/>
          </a:ln>
          <a:effectLst/>
        </p:spPr>
        <p:txBody>
          <a:bodyPr rtlCol="0" anchor="ctr"/>
          <a:lstStyle/>
          <a:p>
            <a:pPr algn="ctr"/>
            <a:endParaRPr/>
          </a:p>
        </p:txBody>
      </p:sp>
      <p:sp>
        <p:nvSpPr>
          <p:cNvPr id="11" name="TextBox 6"/>
          <p:cNvSpPr txBox="1"/>
          <p:nvPr/>
        </p:nvSpPr>
        <p:spPr>
          <a:xfrm>
            <a:off x="1590675" y="1238250"/>
            <a:ext cx="1265337"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Life Sciences &amp; Diagnostics</a:t>
            </a:r>
          </a:p>
        </p:txBody>
      </p:sp>
      <p:sp>
        <p:nvSpPr>
          <p:cNvPr id="12" name="Shape 5"/>
          <p:cNvSpPr/>
          <p:nvPr/>
        </p:nvSpPr>
        <p:spPr>
          <a:xfrm>
            <a:off x="2846189" y="1257300"/>
            <a:ext cx="95250" cy="95250"/>
          </a:xfrm>
          <a:prstGeom prst="rect">
            <a:avLst/>
          </a:prstGeom>
          <a:solidFill>
            <a:srgbClr val="6D7681"/>
          </a:solidFill>
          <a:ln>
            <a:noFill/>
          </a:ln>
          <a:effectLst/>
        </p:spPr>
        <p:txBody>
          <a:bodyPr rtlCol="0" anchor="ctr"/>
          <a:lstStyle/>
          <a:p>
            <a:pPr algn="ctr"/>
            <a:endParaRPr/>
          </a:p>
        </p:txBody>
      </p:sp>
      <p:sp>
        <p:nvSpPr>
          <p:cNvPr id="13" name="TextBox 7"/>
          <p:cNvSpPr txBox="1"/>
          <p:nvPr/>
        </p:nvSpPr>
        <p:spPr>
          <a:xfrm>
            <a:off x="2998589" y="1238250"/>
            <a:ext cx="1497151"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Medical Products &amp; Distribution</a:t>
            </a:r>
          </a:p>
        </p:txBody>
      </p:sp>
      <p:sp>
        <p:nvSpPr>
          <p:cNvPr id="14" name="Shape 6"/>
          <p:cNvSpPr/>
          <p:nvPr/>
        </p:nvSpPr>
        <p:spPr>
          <a:xfrm>
            <a:off x="4464844" y="1257300"/>
            <a:ext cx="95250" cy="95250"/>
          </a:xfrm>
          <a:prstGeom prst="rect">
            <a:avLst/>
          </a:prstGeom>
          <a:solidFill>
            <a:srgbClr val="A39486"/>
          </a:solidFill>
          <a:ln>
            <a:noFill/>
          </a:ln>
          <a:effectLst/>
        </p:spPr>
        <p:txBody>
          <a:bodyPr rtlCol="0" anchor="ctr"/>
          <a:lstStyle/>
          <a:p>
            <a:pPr algn="ctr"/>
            <a:endParaRPr/>
          </a:p>
        </p:txBody>
      </p:sp>
      <p:sp>
        <p:nvSpPr>
          <p:cNvPr id="15" name="TextBox 8"/>
          <p:cNvSpPr txBox="1"/>
          <p:nvPr/>
        </p:nvSpPr>
        <p:spPr>
          <a:xfrm>
            <a:off x="4617244" y="1238250"/>
            <a:ext cx="1509102"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Pharmacy &amp; Healthcare Services</a:t>
            </a:r>
          </a:p>
        </p:txBody>
      </p:sp>
      <p:sp>
        <p:nvSpPr>
          <p:cNvPr id="16" name="Shape 7"/>
          <p:cNvSpPr/>
          <p:nvPr/>
        </p:nvSpPr>
        <p:spPr>
          <a:xfrm>
            <a:off x="419100" y="1466850"/>
            <a:ext cx="1345109" cy="219075"/>
          </a:xfrm>
          <a:prstGeom prst="rect">
            <a:avLst/>
          </a:prstGeom>
          <a:solidFill>
            <a:srgbClr val="1B1A1A"/>
          </a:solidFill>
          <a:ln>
            <a:noFill/>
          </a:ln>
          <a:effectLst/>
        </p:spPr>
        <p:txBody>
          <a:bodyPr rtlCol="0" anchor="ctr"/>
          <a:lstStyle/>
          <a:p>
            <a:pPr algn="ctr"/>
            <a:endParaRPr/>
          </a:p>
        </p:txBody>
      </p:sp>
      <p:sp>
        <p:nvSpPr>
          <p:cNvPr id="17" name="TextBox 9"/>
          <p:cNvSpPr txBox="1"/>
          <p:nvPr/>
        </p:nvSpPr>
        <p:spPr>
          <a:xfrm>
            <a:off x="533400" y="1514475"/>
            <a:ext cx="1130796"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OPERATING METRICS</a:t>
            </a:r>
          </a:p>
        </p:txBody>
      </p:sp>
      <p:sp>
        <p:nvSpPr>
          <p:cNvPr id="18" name="Shape 8"/>
          <p:cNvSpPr/>
          <p:nvPr/>
        </p:nvSpPr>
        <p:spPr>
          <a:xfrm>
            <a:off x="1878509" y="1571625"/>
            <a:ext cx="7760791" cy="9525"/>
          </a:xfrm>
          <a:prstGeom prst="rect">
            <a:avLst/>
          </a:prstGeom>
          <a:solidFill>
            <a:srgbClr val="E3DCD3"/>
          </a:solidFill>
          <a:ln>
            <a:noFill/>
          </a:ln>
          <a:effectLst/>
        </p:spPr>
        <p:txBody>
          <a:bodyPr rtlCol="0" anchor="ctr"/>
          <a:lstStyle/>
          <a:p>
            <a:pPr algn="ctr"/>
            <a:endParaRPr/>
          </a:p>
        </p:txBody>
      </p:sp>
      <p:sp>
        <p:nvSpPr>
          <p:cNvPr id="19" name="Shape 9"/>
          <p:cNvSpPr/>
          <p:nvPr/>
        </p:nvSpPr>
        <p:spPr>
          <a:xfrm>
            <a:off x="419100" y="1762125"/>
            <a:ext cx="2219325" cy="9525"/>
          </a:xfrm>
          <a:prstGeom prst="rect">
            <a:avLst/>
          </a:prstGeom>
          <a:solidFill>
            <a:srgbClr val="E3DCD3"/>
          </a:solidFill>
          <a:ln>
            <a:noFill/>
          </a:ln>
          <a:effectLst/>
        </p:spPr>
        <p:txBody>
          <a:bodyPr rtlCol="0" anchor="ctr"/>
          <a:lstStyle/>
          <a:p>
            <a:pPr algn="ctr"/>
            <a:endParaRPr/>
          </a:p>
        </p:txBody>
      </p:sp>
      <p:sp>
        <p:nvSpPr>
          <p:cNvPr id="20" name="Shape 10"/>
          <p:cNvSpPr/>
          <p:nvPr/>
        </p:nvSpPr>
        <p:spPr>
          <a:xfrm>
            <a:off x="2628900" y="1762125"/>
            <a:ext cx="9525" cy="2038350"/>
          </a:xfrm>
          <a:prstGeom prst="rect">
            <a:avLst/>
          </a:prstGeom>
          <a:solidFill>
            <a:srgbClr val="E3DCD3"/>
          </a:solidFill>
          <a:ln>
            <a:noFill/>
          </a:ln>
          <a:effectLst/>
        </p:spPr>
        <p:txBody>
          <a:bodyPr rtlCol="0" anchor="ctr"/>
          <a:lstStyle/>
          <a:p>
            <a:pPr algn="ctr"/>
            <a:endParaRPr/>
          </a:p>
        </p:txBody>
      </p:sp>
      <p:sp>
        <p:nvSpPr>
          <p:cNvPr id="21" name="Shape 11"/>
          <p:cNvSpPr/>
          <p:nvPr/>
        </p:nvSpPr>
        <p:spPr>
          <a:xfrm>
            <a:off x="419100" y="3790950"/>
            <a:ext cx="2219325" cy="9525"/>
          </a:xfrm>
          <a:prstGeom prst="rect">
            <a:avLst/>
          </a:prstGeom>
          <a:solidFill>
            <a:srgbClr val="E3DCD3"/>
          </a:solidFill>
          <a:ln>
            <a:noFill/>
          </a:ln>
          <a:effectLst/>
        </p:spPr>
        <p:txBody>
          <a:bodyPr rtlCol="0" anchor="ctr"/>
          <a:lstStyle/>
          <a:p>
            <a:pPr algn="ctr"/>
            <a:endParaRPr/>
          </a:p>
        </p:txBody>
      </p:sp>
      <p:sp>
        <p:nvSpPr>
          <p:cNvPr id="22" name="Shape 12"/>
          <p:cNvSpPr/>
          <p:nvPr/>
        </p:nvSpPr>
        <p:spPr>
          <a:xfrm>
            <a:off x="419100" y="1762125"/>
            <a:ext cx="9525" cy="2038350"/>
          </a:xfrm>
          <a:prstGeom prst="rect">
            <a:avLst/>
          </a:prstGeom>
          <a:solidFill>
            <a:srgbClr val="E3DCD3"/>
          </a:solidFill>
          <a:ln>
            <a:noFill/>
          </a:ln>
          <a:effectLst/>
        </p:spPr>
        <p:txBody>
          <a:bodyPr rtlCol="0" anchor="ctr"/>
          <a:lstStyle/>
          <a:p>
            <a:pPr algn="ctr"/>
            <a:endParaRPr/>
          </a:p>
        </p:txBody>
      </p:sp>
      <p:sp>
        <p:nvSpPr>
          <p:cNvPr id="23" name="TextBox 10"/>
          <p:cNvSpPr txBox="1"/>
          <p:nvPr/>
        </p:nvSpPr>
        <p:spPr>
          <a:xfrm>
            <a:off x="542925" y="1876425"/>
            <a:ext cx="1985962" cy="142875"/>
          </a:xfrm>
          <a:prstGeom prst="rect">
            <a:avLst/>
          </a:prstGeom>
          <a:noFill/>
        </p:spPr>
        <p:txBody>
          <a:bodyPr wrap="square" lIns="0" tIns="0" rIns="0" bIns="0" anchor="t">
            <a:spAutoFit/>
          </a:bodyPr>
          <a:lstStyle/>
          <a:p>
            <a:pPr algn="l">
              <a:lnSpc>
                <a:spcPts val="1192"/>
              </a:lnSpc>
            </a:pPr>
            <a:r>
              <a:rPr sz="900" b="1" i="0" spc="15">
                <a:solidFill>
                  <a:srgbClr val="1B1A1A"/>
                </a:solidFill>
                <a:latin typeface="Calibri"/>
              </a:rPr>
              <a:t>Revenue growth, trailing twelve months</a:t>
            </a:r>
          </a:p>
        </p:txBody>
      </p:sp>
      <p:sp>
        <p:nvSpPr>
          <p:cNvPr id="24" name="TextBox 11"/>
          <p:cNvSpPr txBox="1"/>
          <p:nvPr/>
        </p:nvSpPr>
        <p:spPr>
          <a:xfrm>
            <a:off x="542925"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year over year, including acquisitions</a:t>
            </a:r>
          </a:p>
        </p:txBody>
      </p:sp>
      <p:graphicFrame>
        <p:nvGraphicFramePr>
          <p:cNvPr id="25" name="Chart 1" descr="Bar chart of median trailing twelve month revenue growth for the four healthcare sectors"/>
          <p:cNvGraphicFramePr>
            <a:graphicFrameLocks noGrp="1"/>
          </p:cNvGraphicFramePr>
          <p:nvPr/>
        </p:nvGraphicFramePr>
        <p:xfrm>
          <a:off x="542925" y="2305050"/>
          <a:ext cx="1962150" cy="1409700"/>
        </p:xfrm>
        <a:graphic>
          <a:graphicData uri="http://schemas.openxmlformats.org/drawingml/2006/chart">
            <c:chart xmlns:c="http://schemas.openxmlformats.org/drawingml/2006/chart" xmlns:r="http://schemas.openxmlformats.org/officeDocument/2006/relationships" r:id="rId2"/>
          </a:graphicData>
        </a:graphic>
      </p:graphicFrame>
      <p:sp>
        <p:nvSpPr>
          <p:cNvPr id="26" name="Shape 13"/>
          <p:cNvSpPr/>
          <p:nvPr/>
        </p:nvSpPr>
        <p:spPr>
          <a:xfrm>
            <a:off x="2752725" y="1762125"/>
            <a:ext cx="2219325" cy="9525"/>
          </a:xfrm>
          <a:prstGeom prst="rect">
            <a:avLst/>
          </a:prstGeom>
          <a:solidFill>
            <a:srgbClr val="E3DCD3"/>
          </a:solidFill>
          <a:ln>
            <a:noFill/>
          </a:ln>
          <a:effectLst/>
        </p:spPr>
        <p:txBody>
          <a:bodyPr rtlCol="0" anchor="ctr"/>
          <a:lstStyle/>
          <a:p>
            <a:pPr algn="ctr"/>
            <a:endParaRPr/>
          </a:p>
        </p:txBody>
      </p:sp>
      <p:sp>
        <p:nvSpPr>
          <p:cNvPr id="27" name="Shape 14"/>
          <p:cNvSpPr/>
          <p:nvPr/>
        </p:nvSpPr>
        <p:spPr>
          <a:xfrm>
            <a:off x="4962525" y="1762125"/>
            <a:ext cx="9525" cy="2038350"/>
          </a:xfrm>
          <a:prstGeom prst="rect">
            <a:avLst/>
          </a:prstGeom>
          <a:solidFill>
            <a:srgbClr val="E3DCD3"/>
          </a:solidFill>
          <a:ln>
            <a:noFill/>
          </a:ln>
          <a:effectLst/>
        </p:spPr>
        <p:txBody>
          <a:bodyPr rtlCol="0" anchor="ctr"/>
          <a:lstStyle/>
          <a:p>
            <a:pPr algn="ctr"/>
            <a:endParaRPr/>
          </a:p>
        </p:txBody>
      </p:sp>
      <p:sp>
        <p:nvSpPr>
          <p:cNvPr id="28" name="Shape 15"/>
          <p:cNvSpPr/>
          <p:nvPr/>
        </p:nvSpPr>
        <p:spPr>
          <a:xfrm>
            <a:off x="2752725" y="3790950"/>
            <a:ext cx="2219325" cy="9525"/>
          </a:xfrm>
          <a:prstGeom prst="rect">
            <a:avLst/>
          </a:prstGeom>
          <a:solidFill>
            <a:srgbClr val="E3DCD3"/>
          </a:solidFill>
          <a:ln>
            <a:noFill/>
          </a:ln>
          <a:effectLst/>
        </p:spPr>
        <p:txBody>
          <a:bodyPr rtlCol="0" anchor="ctr"/>
          <a:lstStyle/>
          <a:p>
            <a:pPr algn="ctr"/>
            <a:endParaRPr/>
          </a:p>
        </p:txBody>
      </p:sp>
      <p:sp>
        <p:nvSpPr>
          <p:cNvPr id="29" name="Shape 16"/>
          <p:cNvSpPr/>
          <p:nvPr/>
        </p:nvSpPr>
        <p:spPr>
          <a:xfrm>
            <a:off x="2752725" y="1762125"/>
            <a:ext cx="9525" cy="2038350"/>
          </a:xfrm>
          <a:prstGeom prst="rect">
            <a:avLst/>
          </a:prstGeom>
          <a:solidFill>
            <a:srgbClr val="E3DCD3"/>
          </a:solidFill>
          <a:ln>
            <a:noFill/>
          </a:ln>
          <a:effectLst/>
        </p:spPr>
        <p:txBody>
          <a:bodyPr rtlCol="0" anchor="ctr"/>
          <a:lstStyle/>
          <a:p>
            <a:pPr algn="ctr"/>
            <a:endParaRPr/>
          </a:p>
        </p:txBody>
      </p:sp>
      <p:sp>
        <p:nvSpPr>
          <p:cNvPr id="30" name="TextBox 12"/>
          <p:cNvSpPr txBox="1"/>
          <p:nvPr/>
        </p:nvSpPr>
        <p:spPr>
          <a:xfrm>
            <a:off x="2876550" y="1876425"/>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Revenue growth, analyst consensus</a:t>
            </a:r>
          </a:p>
        </p:txBody>
      </p:sp>
      <p:sp>
        <p:nvSpPr>
          <p:cNvPr id="31" name="TextBox 13"/>
          <p:cNvSpPr txBox="1"/>
          <p:nvPr/>
        </p:nvSpPr>
        <p:spPr>
          <a:xfrm>
            <a:off x="2876550"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estimate for the current fiscal year</a:t>
            </a:r>
          </a:p>
        </p:txBody>
      </p:sp>
      <p:graphicFrame>
        <p:nvGraphicFramePr>
          <p:cNvPr id="32" name="Chart 2" descr="Bar chart of median consensus revenue growth for the four healthcare sectors"/>
          <p:cNvGraphicFramePr>
            <a:graphicFrameLocks noGrp="1"/>
          </p:cNvGraphicFramePr>
          <p:nvPr/>
        </p:nvGraphicFramePr>
        <p:xfrm>
          <a:off x="2876550" y="2305050"/>
          <a:ext cx="1962150" cy="1409700"/>
        </p:xfrm>
        <a:graphic>
          <a:graphicData uri="http://schemas.openxmlformats.org/drawingml/2006/chart">
            <c:chart xmlns:c="http://schemas.openxmlformats.org/drawingml/2006/chart" xmlns:r="http://schemas.openxmlformats.org/officeDocument/2006/relationships" r:id="rId3"/>
          </a:graphicData>
        </a:graphic>
      </p:graphicFrame>
      <p:sp>
        <p:nvSpPr>
          <p:cNvPr id="33" name="Shape 17"/>
          <p:cNvSpPr/>
          <p:nvPr/>
        </p:nvSpPr>
        <p:spPr>
          <a:xfrm>
            <a:off x="5086350" y="1762125"/>
            <a:ext cx="2219325" cy="9525"/>
          </a:xfrm>
          <a:prstGeom prst="rect">
            <a:avLst/>
          </a:prstGeom>
          <a:solidFill>
            <a:srgbClr val="E3DCD3"/>
          </a:solidFill>
          <a:ln>
            <a:noFill/>
          </a:ln>
          <a:effectLst/>
        </p:spPr>
        <p:txBody>
          <a:bodyPr rtlCol="0" anchor="ctr"/>
          <a:lstStyle/>
          <a:p>
            <a:pPr algn="ctr"/>
            <a:endParaRPr/>
          </a:p>
        </p:txBody>
      </p:sp>
      <p:sp>
        <p:nvSpPr>
          <p:cNvPr id="34" name="Shape 18"/>
          <p:cNvSpPr/>
          <p:nvPr/>
        </p:nvSpPr>
        <p:spPr>
          <a:xfrm>
            <a:off x="7296150" y="1762125"/>
            <a:ext cx="9525" cy="2038350"/>
          </a:xfrm>
          <a:prstGeom prst="rect">
            <a:avLst/>
          </a:prstGeom>
          <a:solidFill>
            <a:srgbClr val="E3DCD3"/>
          </a:solidFill>
          <a:ln>
            <a:noFill/>
          </a:ln>
          <a:effectLst/>
        </p:spPr>
        <p:txBody>
          <a:bodyPr rtlCol="0" anchor="ctr"/>
          <a:lstStyle/>
          <a:p>
            <a:pPr algn="ctr"/>
            <a:endParaRPr/>
          </a:p>
        </p:txBody>
      </p:sp>
      <p:sp>
        <p:nvSpPr>
          <p:cNvPr id="35" name="Shape 19"/>
          <p:cNvSpPr/>
          <p:nvPr/>
        </p:nvSpPr>
        <p:spPr>
          <a:xfrm>
            <a:off x="5086350" y="3790950"/>
            <a:ext cx="2219325" cy="9525"/>
          </a:xfrm>
          <a:prstGeom prst="rect">
            <a:avLst/>
          </a:prstGeom>
          <a:solidFill>
            <a:srgbClr val="E3DCD3"/>
          </a:solidFill>
          <a:ln>
            <a:noFill/>
          </a:ln>
          <a:effectLst/>
        </p:spPr>
        <p:txBody>
          <a:bodyPr rtlCol="0" anchor="ctr"/>
          <a:lstStyle/>
          <a:p>
            <a:pPr algn="ctr"/>
            <a:endParaRPr/>
          </a:p>
        </p:txBody>
      </p:sp>
      <p:sp>
        <p:nvSpPr>
          <p:cNvPr id="36" name="Shape 20"/>
          <p:cNvSpPr/>
          <p:nvPr/>
        </p:nvSpPr>
        <p:spPr>
          <a:xfrm>
            <a:off x="5086350" y="1762125"/>
            <a:ext cx="9525" cy="2038350"/>
          </a:xfrm>
          <a:prstGeom prst="rect">
            <a:avLst/>
          </a:prstGeom>
          <a:solidFill>
            <a:srgbClr val="E3DCD3"/>
          </a:solidFill>
          <a:ln>
            <a:noFill/>
          </a:ln>
          <a:effectLst/>
        </p:spPr>
        <p:txBody>
          <a:bodyPr rtlCol="0" anchor="ctr"/>
          <a:lstStyle/>
          <a:p>
            <a:pPr algn="ctr"/>
            <a:endParaRPr/>
          </a:p>
        </p:txBody>
      </p:sp>
      <p:sp>
        <p:nvSpPr>
          <p:cNvPr id="37" name="TextBox 14"/>
          <p:cNvSpPr txBox="1"/>
          <p:nvPr/>
        </p:nvSpPr>
        <p:spPr>
          <a:xfrm>
            <a:off x="5210175" y="1876425"/>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Adjusted EBITDA margin, LTM</a:t>
            </a:r>
          </a:p>
        </p:txBody>
      </p:sp>
      <p:sp>
        <p:nvSpPr>
          <p:cNvPr id="38" name="TextBox 15"/>
          <p:cNvSpPr txBox="1"/>
          <p:nvPr/>
        </p:nvSpPr>
        <p:spPr>
          <a:xfrm>
            <a:off x="5210175"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company-reported adjusted EBITDA</a:t>
            </a:r>
          </a:p>
        </p:txBody>
      </p:sp>
      <p:graphicFrame>
        <p:nvGraphicFramePr>
          <p:cNvPr id="39" name="Chart 3" descr="Bar chart of median adjusted EBITDA margin for the four healthcare sectors"/>
          <p:cNvGraphicFramePr>
            <a:graphicFrameLocks noGrp="1"/>
          </p:cNvGraphicFramePr>
          <p:nvPr/>
        </p:nvGraphicFramePr>
        <p:xfrm>
          <a:off x="5210175" y="2305050"/>
          <a:ext cx="1962150" cy="1409700"/>
        </p:xfrm>
        <a:graphic>
          <a:graphicData uri="http://schemas.openxmlformats.org/drawingml/2006/chart">
            <c:chart xmlns:c="http://schemas.openxmlformats.org/drawingml/2006/chart" xmlns:r="http://schemas.openxmlformats.org/officeDocument/2006/relationships" r:id="rId4"/>
          </a:graphicData>
        </a:graphic>
      </p:graphicFrame>
      <p:sp>
        <p:nvSpPr>
          <p:cNvPr id="40" name="Shape 21"/>
          <p:cNvSpPr/>
          <p:nvPr/>
        </p:nvSpPr>
        <p:spPr>
          <a:xfrm>
            <a:off x="7419975" y="1762125"/>
            <a:ext cx="2219325" cy="9525"/>
          </a:xfrm>
          <a:prstGeom prst="rect">
            <a:avLst/>
          </a:prstGeom>
          <a:solidFill>
            <a:srgbClr val="E3DCD3"/>
          </a:solidFill>
          <a:ln>
            <a:noFill/>
          </a:ln>
          <a:effectLst/>
        </p:spPr>
        <p:txBody>
          <a:bodyPr rtlCol="0" anchor="ctr"/>
          <a:lstStyle/>
          <a:p>
            <a:pPr algn="ctr"/>
            <a:endParaRPr/>
          </a:p>
        </p:txBody>
      </p:sp>
      <p:sp>
        <p:nvSpPr>
          <p:cNvPr id="41" name="Shape 22"/>
          <p:cNvSpPr/>
          <p:nvPr/>
        </p:nvSpPr>
        <p:spPr>
          <a:xfrm>
            <a:off x="9629775" y="1762125"/>
            <a:ext cx="9525" cy="2038350"/>
          </a:xfrm>
          <a:prstGeom prst="rect">
            <a:avLst/>
          </a:prstGeom>
          <a:solidFill>
            <a:srgbClr val="E3DCD3"/>
          </a:solidFill>
          <a:ln>
            <a:noFill/>
          </a:ln>
          <a:effectLst/>
        </p:spPr>
        <p:txBody>
          <a:bodyPr rtlCol="0" anchor="ctr"/>
          <a:lstStyle/>
          <a:p>
            <a:pPr algn="ctr"/>
            <a:endParaRPr/>
          </a:p>
        </p:txBody>
      </p:sp>
      <p:sp>
        <p:nvSpPr>
          <p:cNvPr id="42" name="Shape 23"/>
          <p:cNvSpPr/>
          <p:nvPr/>
        </p:nvSpPr>
        <p:spPr>
          <a:xfrm>
            <a:off x="7419975" y="3790950"/>
            <a:ext cx="2219325" cy="9525"/>
          </a:xfrm>
          <a:prstGeom prst="rect">
            <a:avLst/>
          </a:prstGeom>
          <a:solidFill>
            <a:srgbClr val="E3DCD3"/>
          </a:solidFill>
          <a:ln>
            <a:noFill/>
          </a:ln>
          <a:effectLst/>
        </p:spPr>
        <p:txBody>
          <a:bodyPr rtlCol="0" anchor="ctr"/>
          <a:lstStyle/>
          <a:p>
            <a:pPr algn="ctr"/>
            <a:endParaRPr/>
          </a:p>
        </p:txBody>
      </p:sp>
      <p:sp>
        <p:nvSpPr>
          <p:cNvPr id="43" name="Shape 24"/>
          <p:cNvSpPr/>
          <p:nvPr/>
        </p:nvSpPr>
        <p:spPr>
          <a:xfrm>
            <a:off x="7419975" y="1762125"/>
            <a:ext cx="9525" cy="2038350"/>
          </a:xfrm>
          <a:prstGeom prst="rect">
            <a:avLst/>
          </a:prstGeom>
          <a:solidFill>
            <a:srgbClr val="E3DCD3"/>
          </a:solidFill>
          <a:ln>
            <a:noFill/>
          </a:ln>
          <a:effectLst/>
        </p:spPr>
        <p:txBody>
          <a:bodyPr rtlCol="0" anchor="ctr"/>
          <a:lstStyle/>
          <a:p>
            <a:pPr algn="ctr"/>
            <a:endParaRPr/>
          </a:p>
        </p:txBody>
      </p:sp>
      <p:sp>
        <p:nvSpPr>
          <p:cNvPr id="44" name="TextBox 16"/>
          <p:cNvSpPr txBox="1"/>
          <p:nvPr/>
        </p:nvSpPr>
        <p:spPr>
          <a:xfrm>
            <a:off x="7543800" y="1876425"/>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Free cash flow margin</a:t>
            </a:r>
          </a:p>
        </p:txBody>
      </p:sp>
      <p:sp>
        <p:nvSpPr>
          <p:cNvPr id="45" name="TextBox 17"/>
          <p:cNvSpPr txBox="1"/>
          <p:nvPr/>
        </p:nvSpPr>
        <p:spPr>
          <a:xfrm>
            <a:off x="7543800" y="2019300"/>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trailing twelve months</a:t>
            </a:r>
          </a:p>
        </p:txBody>
      </p:sp>
      <p:graphicFrame>
        <p:nvGraphicFramePr>
          <p:cNvPr id="46" name="Chart 4" descr="Bar chart of median free cash flow margin for the four healthcare sectors"/>
          <p:cNvGraphicFramePr>
            <a:graphicFrameLocks noGrp="1"/>
          </p:cNvGraphicFramePr>
          <p:nvPr/>
        </p:nvGraphicFramePr>
        <p:xfrm>
          <a:off x="7543800" y="2305050"/>
          <a:ext cx="1962150" cy="1409700"/>
        </p:xfrm>
        <a:graphic>
          <a:graphicData uri="http://schemas.openxmlformats.org/drawingml/2006/chart">
            <c:chart xmlns:c="http://schemas.openxmlformats.org/drawingml/2006/chart" xmlns:r="http://schemas.openxmlformats.org/officeDocument/2006/relationships" r:id="rId5"/>
          </a:graphicData>
        </a:graphic>
      </p:graphicFrame>
      <p:sp>
        <p:nvSpPr>
          <p:cNvPr id="47" name="Shape 25"/>
          <p:cNvSpPr/>
          <p:nvPr/>
        </p:nvSpPr>
        <p:spPr>
          <a:xfrm>
            <a:off x="419100" y="3933825"/>
            <a:ext cx="1340495" cy="219075"/>
          </a:xfrm>
          <a:prstGeom prst="rect">
            <a:avLst/>
          </a:prstGeom>
          <a:solidFill>
            <a:srgbClr val="1B1A1A"/>
          </a:solidFill>
          <a:ln>
            <a:noFill/>
          </a:ln>
          <a:effectLst/>
        </p:spPr>
        <p:txBody>
          <a:bodyPr rtlCol="0" anchor="ctr"/>
          <a:lstStyle/>
          <a:p>
            <a:pPr algn="ctr"/>
            <a:endParaRPr/>
          </a:p>
        </p:txBody>
      </p:sp>
      <p:sp>
        <p:nvSpPr>
          <p:cNvPr id="48" name="TextBox 18"/>
          <p:cNvSpPr txBox="1"/>
          <p:nvPr/>
        </p:nvSpPr>
        <p:spPr>
          <a:xfrm>
            <a:off x="533400" y="3981450"/>
            <a:ext cx="1188720" cy="123825"/>
          </a:xfrm>
          <a:prstGeom prst="rect">
            <a:avLst/>
          </a:prstGeom>
          <a:noFill/>
        </p:spPr>
        <p:txBody>
          <a:bodyPr wrap="square" lIns="0" tIns="0" rIns="0" bIns="0" anchor="t">
            <a:spAutoFit/>
          </a:bodyPr>
          <a:lstStyle/>
          <a:p>
            <a:pPr algn="l">
              <a:lnSpc>
                <a:spcPts val="1034"/>
              </a:lnSpc>
            </a:pPr>
            <a:r>
              <a:rPr sz="750" b="1" i="0" spc="150" dirty="0">
                <a:solidFill>
                  <a:srgbClr val="FFFFFF"/>
                </a:solidFill>
                <a:latin typeface="Calibri"/>
              </a:rPr>
              <a:t>VALUATION METRICS</a:t>
            </a:r>
          </a:p>
        </p:txBody>
      </p:sp>
      <p:sp>
        <p:nvSpPr>
          <p:cNvPr id="49" name="Shape 26"/>
          <p:cNvSpPr/>
          <p:nvPr/>
        </p:nvSpPr>
        <p:spPr>
          <a:xfrm>
            <a:off x="1873895" y="4038600"/>
            <a:ext cx="7765405" cy="9525"/>
          </a:xfrm>
          <a:prstGeom prst="rect">
            <a:avLst/>
          </a:prstGeom>
          <a:solidFill>
            <a:srgbClr val="E3DCD3"/>
          </a:solidFill>
          <a:ln>
            <a:noFill/>
          </a:ln>
          <a:effectLst/>
        </p:spPr>
        <p:txBody>
          <a:bodyPr rtlCol="0" anchor="ctr"/>
          <a:lstStyle/>
          <a:p>
            <a:pPr algn="ctr"/>
            <a:endParaRPr/>
          </a:p>
        </p:txBody>
      </p:sp>
      <p:sp>
        <p:nvSpPr>
          <p:cNvPr id="50" name="Shape 27"/>
          <p:cNvSpPr/>
          <p:nvPr/>
        </p:nvSpPr>
        <p:spPr>
          <a:xfrm>
            <a:off x="419100" y="4229100"/>
            <a:ext cx="2219325" cy="9525"/>
          </a:xfrm>
          <a:prstGeom prst="rect">
            <a:avLst/>
          </a:prstGeom>
          <a:solidFill>
            <a:srgbClr val="E3DCD3"/>
          </a:solidFill>
          <a:ln>
            <a:noFill/>
          </a:ln>
          <a:effectLst/>
        </p:spPr>
        <p:txBody>
          <a:bodyPr rtlCol="0" anchor="ctr"/>
          <a:lstStyle/>
          <a:p>
            <a:pPr algn="ctr"/>
            <a:endParaRPr/>
          </a:p>
        </p:txBody>
      </p:sp>
      <p:sp>
        <p:nvSpPr>
          <p:cNvPr id="51" name="Shape 28"/>
          <p:cNvSpPr/>
          <p:nvPr/>
        </p:nvSpPr>
        <p:spPr>
          <a:xfrm>
            <a:off x="2628900" y="4229100"/>
            <a:ext cx="9525" cy="2038350"/>
          </a:xfrm>
          <a:prstGeom prst="rect">
            <a:avLst/>
          </a:prstGeom>
          <a:solidFill>
            <a:srgbClr val="E3DCD3"/>
          </a:solidFill>
          <a:ln>
            <a:noFill/>
          </a:ln>
          <a:effectLst/>
        </p:spPr>
        <p:txBody>
          <a:bodyPr rtlCol="0" anchor="ctr"/>
          <a:lstStyle/>
          <a:p>
            <a:pPr algn="ctr"/>
            <a:endParaRPr/>
          </a:p>
        </p:txBody>
      </p:sp>
      <p:sp>
        <p:nvSpPr>
          <p:cNvPr id="52" name="Shape 29"/>
          <p:cNvSpPr/>
          <p:nvPr/>
        </p:nvSpPr>
        <p:spPr>
          <a:xfrm>
            <a:off x="419100" y="6257925"/>
            <a:ext cx="2219325" cy="9525"/>
          </a:xfrm>
          <a:prstGeom prst="rect">
            <a:avLst/>
          </a:prstGeom>
          <a:solidFill>
            <a:srgbClr val="E3DCD3"/>
          </a:solidFill>
          <a:ln>
            <a:noFill/>
          </a:ln>
          <a:effectLst/>
        </p:spPr>
        <p:txBody>
          <a:bodyPr rtlCol="0" anchor="ctr"/>
          <a:lstStyle/>
          <a:p>
            <a:pPr algn="ctr"/>
            <a:endParaRPr/>
          </a:p>
        </p:txBody>
      </p:sp>
      <p:sp>
        <p:nvSpPr>
          <p:cNvPr id="53" name="Shape 30"/>
          <p:cNvSpPr/>
          <p:nvPr/>
        </p:nvSpPr>
        <p:spPr>
          <a:xfrm>
            <a:off x="419100" y="4229100"/>
            <a:ext cx="9525" cy="2038350"/>
          </a:xfrm>
          <a:prstGeom prst="rect">
            <a:avLst/>
          </a:prstGeom>
          <a:solidFill>
            <a:srgbClr val="E3DCD3"/>
          </a:solidFill>
          <a:ln>
            <a:noFill/>
          </a:ln>
          <a:effectLst/>
        </p:spPr>
        <p:txBody>
          <a:bodyPr rtlCol="0" anchor="ctr"/>
          <a:lstStyle/>
          <a:p>
            <a:pPr algn="ctr"/>
            <a:endParaRPr/>
          </a:p>
        </p:txBody>
      </p:sp>
      <p:sp>
        <p:nvSpPr>
          <p:cNvPr id="54" name="TextBox 19"/>
          <p:cNvSpPr txBox="1"/>
          <p:nvPr/>
        </p:nvSpPr>
        <p:spPr>
          <a:xfrm>
            <a:off x="542925" y="4343400"/>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EV to trailing revenue</a:t>
            </a:r>
          </a:p>
        </p:txBody>
      </p:sp>
      <p:sp>
        <p:nvSpPr>
          <p:cNvPr id="55" name="TextBox 20"/>
          <p:cNvSpPr txBox="1"/>
          <p:nvPr/>
        </p:nvSpPr>
        <p:spPr>
          <a:xfrm>
            <a:off x="542925"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a:t>
            </a:r>
          </a:p>
        </p:txBody>
      </p:sp>
      <p:graphicFrame>
        <p:nvGraphicFramePr>
          <p:cNvPr id="56" name="Chart 5" descr="Bar chart of median enterprise value to trailing revenue for the four healthcare sectors"/>
          <p:cNvGraphicFramePr>
            <a:graphicFrameLocks noGrp="1"/>
          </p:cNvGraphicFramePr>
          <p:nvPr/>
        </p:nvGraphicFramePr>
        <p:xfrm>
          <a:off x="542925" y="4772025"/>
          <a:ext cx="1962150" cy="1409700"/>
        </p:xfrm>
        <a:graphic>
          <a:graphicData uri="http://schemas.openxmlformats.org/drawingml/2006/chart">
            <c:chart xmlns:c="http://schemas.openxmlformats.org/drawingml/2006/chart" xmlns:r="http://schemas.openxmlformats.org/officeDocument/2006/relationships" r:id="rId6"/>
          </a:graphicData>
        </a:graphic>
      </p:graphicFrame>
      <p:sp>
        <p:nvSpPr>
          <p:cNvPr id="57" name="Shape 31"/>
          <p:cNvSpPr/>
          <p:nvPr/>
        </p:nvSpPr>
        <p:spPr>
          <a:xfrm>
            <a:off x="2752725" y="4229100"/>
            <a:ext cx="2219325" cy="9525"/>
          </a:xfrm>
          <a:prstGeom prst="rect">
            <a:avLst/>
          </a:prstGeom>
          <a:solidFill>
            <a:srgbClr val="E3DCD3"/>
          </a:solidFill>
          <a:ln>
            <a:noFill/>
          </a:ln>
          <a:effectLst/>
        </p:spPr>
        <p:txBody>
          <a:bodyPr rtlCol="0" anchor="ctr"/>
          <a:lstStyle/>
          <a:p>
            <a:pPr algn="ctr"/>
            <a:endParaRPr/>
          </a:p>
        </p:txBody>
      </p:sp>
      <p:sp>
        <p:nvSpPr>
          <p:cNvPr id="58" name="Shape 32"/>
          <p:cNvSpPr/>
          <p:nvPr/>
        </p:nvSpPr>
        <p:spPr>
          <a:xfrm>
            <a:off x="4962525" y="4229100"/>
            <a:ext cx="9525" cy="2038350"/>
          </a:xfrm>
          <a:prstGeom prst="rect">
            <a:avLst/>
          </a:prstGeom>
          <a:solidFill>
            <a:srgbClr val="E3DCD3"/>
          </a:solidFill>
          <a:ln>
            <a:noFill/>
          </a:ln>
          <a:effectLst/>
        </p:spPr>
        <p:txBody>
          <a:bodyPr rtlCol="0" anchor="ctr"/>
          <a:lstStyle/>
          <a:p>
            <a:pPr algn="ctr"/>
            <a:endParaRPr/>
          </a:p>
        </p:txBody>
      </p:sp>
      <p:sp>
        <p:nvSpPr>
          <p:cNvPr id="59" name="Shape 33"/>
          <p:cNvSpPr/>
          <p:nvPr/>
        </p:nvSpPr>
        <p:spPr>
          <a:xfrm>
            <a:off x="2752725" y="6257925"/>
            <a:ext cx="2219325" cy="9525"/>
          </a:xfrm>
          <a:prstGeom prst="rect">
            <a:avLst/>
          </a:prstGeom>
          <a:solidFill>
            <a:srgbClr val="E3DCD3"/>
          </a:solidFill>
          <a:ln>
            <a:noFill/>
          </a:ln>
          <a:effectLst/>
        </p:spPr>
        <p:txBody>
          <a:bodyPr rtlCol="0" anchor="ctr"/>
          <a:lstStyle/>
          <a:p>
            <a:pPr algn="ctr"/>
            <a:endParaRPr/>
          </a:p>
        </p:txBody>
      </p:sp>
      <p:sp>
        <p:nvSpPr>
          <p:cNvPr id="60" name="Shape 34"/>
          <p:cNvSpPr/>
          <p:nvPr/>
        </p:nvSpPr>
        <p:spPr>
          <a:xfrm>
            <a:off x="2752725" y="4229100"/>
            <a:ext cx="9525" cy="2038350"/>
          </a:xfrm>
          <a:prstGeom prst="rect">
            <a:avLst/>
          </a:prstGeom>
          <a:solidFill>
            <a:srgbClr val="E3DCD3"/>
          </a:solidFill>
          <a:ln>
            <a:noFill/>
          </a:ln>
          <a:effectLst/>
        </p:spPr>
        <p:txBody>
          <a:bodyPr rtlCol="0" anchor="ctr"/>
          <a:lstStyle/>
          <a:p>
            <a:pPr algn="ctr"/>
            <a:endParaRPr/>
          </a:p>
        </p:txBody>
      </p:sp>
      <p:sp>
        <p:nvSpPr>
          <p:cNvPr id="61" name="TextBox 21"/>
          <p:cNvSpPr txBox="1"/>
          <p:nvPr/>
        </p:nvSpPr>
        <p:spPr>
          <a:xfrm>
            <a:off x="2876550" y="4343400"/>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EV to trailing adjusted EBITDA</a:t>
            </a:r>
          </a:p>
        </p:txBody>
      </p:sp>
      <p:sp>
        <p:nvSpPr>
          <p:cNvPr id="62" name="TextBox 22"/>
          <p:cNvSpPr txBox="1"/>
          <p:nvPr/>
        </p:nvSpPr>
        <p:spPr>
          <a:xfrm>
            <a:off x="2876550"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a:t>
            </a:r>
          </a:p>
        </p:txBody>
      </p:sp>
      <p:graphicFrame>
        <p:nvGraphicFramePr>
          <p:cNvPr id="63" name="Chart 6" descr="Bar chart of median enterprise value to trailing adjusted EBITDA for the four healthcare sectors"/>
          <p:cNvGraphicFramePr>
            <a:graphicFrameLocks noGrp="1"/>
          </p:cNvGraphicFramePr>
          <p:nvPr/>
        </p:nvGraphicFramePr>
        <p:xfrm>
          <a:off x="2876550" y="4772025"/>
          <a:ext cx="1962150" cy="1409700"/>
        </p:xfrm>
        <a:graphic>
          <a:graphicData uri="http://schemas.openxmlformats.org/drawingml/2006/chart">
            <c:chart xmlns:c="http://schemas.openxmlformats.org/drawingml/2006/chart" xmlns:r="http://schemas.openxmlformats.org/officeDocument/2006/relationships" r:id="rId7"/>
          </a:graphicData>
        </a:graphic>
      </p:graphicFrame>
      <p:sp>
        <p:nvSpPr>
          <p:cNvPr id="64" name="Shape 35"/>
          <p:cNvSpPr/>
          <p:nvPr/>
        </p:nvSpPr>
        <p:spPr>
          <a:xfrm>
            <a:off x="5086350" y="4229100"/>
            <a:ext cx="2219325" cy="9525"/>
          </a:xfrm>
          <a:prstGeom prst="rect">
            <a:avLst/>
          </a:prstGeom>
          <a:solidFill>
            <a:srgbClr val="E3DCD3"/>
          </a:solidFill>
          <a:ln>
            <a:noFill/>
          </a:ln>
          <a:effectLst/>
        </p:spPr>
        <p:txBody>
          <a:bodyPr rtlCol="0" anchor="ctr"/>
          <a:lstStyle/>
          <a:p>
            <a:pPr algn="ctr"/>
            <a:endParaRPr/>
          </a:p>
        </p:txBody>
      </p:sp>
      <p:sp>
        <p:nvSpPr>
          <p:cNvPr id="65" name="Shape 36"/>
          <p:cNvSpPr/>
          <p:nvPr/>
        </p:nvSpPr>
        <p:spPr>
          <a:xfrm>
            <a:off x="7296150" y="4229100"/>
            <a:ext cx="9525" cy="2038350"/>
          </a:xfrm>
          <a:prstGeom prst="rect">
            <a:avLst/>
          </a:prstGeom>
          <a:solidFill>
            <a:srgbClr val="E3DCD3"/>
          </a:solidFill>
          <a:ln>
            <a:noFill/>
          </a:ln>
          <a:effectLst/>
        </p:spPr>
        <p:txBody>
          <a:bodyPr rtlCol="0" anchor="ctr"/>
          <a:lstStyle/>
          <a:p>
            <a:pPr algn="ctr"/>
            <a:endParaRPr/>
          </a:p>
        </p:txBody>
      </p:sp>
      <p:sp>
        <p:nvSpPr>
          <p:cNvPr id="66" name="Shape 37"/>
          <p:cNvSpPr/>
          <p:nvPr/>
        </p:nvSpPr>
        <p:spPr>
          <a:xfrm>
            <a:off x="5086350" y="6257925"/>
            <a:ext cx="2219325" cy="9525"/>
          </a:xfrm>
          <a:prstGeom prst="rect">
            <a:avLst/>
          </a:prstGeom>
          <a:solidFill>
            <a:srgbClr val="E3DCD3"/>
          </a:solidFill>
          <a:ln>
            <a:noFill/>
          </a:ln>
          <a:effectLst/>
        </p:spPr>
        <p:txBody>
          <a:bodyPr rtlCol="0" anchor="ctr"/>
          <a:lstStyle/>
          <a:p>
            <a:pPr algn="ctr"/>
            <a:endParaRPr/>
          </a:p>
        </p:txBody>
      </p:sp>
      <p:sp>
        <p:nvSpPr>
          <p:cNvPr id="67" name="Shape 38"/>
          <p:cNvSpPr/>
          <p:nvPr/>
        </p:nvSpPr>
        <p:spPr>
          <a:xfrm>
            <a:off x="5086350" y="4229100"/>
            <a:ext cx="9525" cy="2038350"/>
          </a:xfrm>
          <a:prstGeom prst="rect">
            <a:avLst/>
          </a:prstGeom>
          <a:solidFill>
            <a:srgbClr val="E3DCD3"/>
          </a:solidFill>
          <a:ln>
            <a:noFill/>
          </a:ln>
          <a:effectLst/>
        </p:spPr>
        <p:txBody>
          <a:bodyPr rtlCol="0" anchor="ctr"/>
          <a:lstStyle/>
          <a:p>
            <a:pPr algn="ctr"/>
            <a:endParaRPr/>
          </a:p>
        </p:txBody>
      </p:sp>
      <p:sp>
        <p:nvSpPr>
          <p:cNvPr id="68" name="TextBox 23"/>
          <p:cNvSpPr txBox="1"/>
          <p:nvPr/>
        </p:nvSpPr>
        <p:spPr>
          <a:xfrm>
            <a:off x="5210175" y="4343400"/>
            <a:ext cx="1985962" cy="142875"/>
          </a:xfrm>
          <a:prstGeom prst="rect">
            <a:avLst/>
          </a:prstGeom>
          <a:noFill/>
        </p:spPr>
        <p:txBody>
          <a:bodyPr wrap="square" lIns="0" tIns="0" rIns="0" bIns="0" anchor="t">
            <a:spAutoFit/>
          </a:bodyPr>
          <a:lstStyle/>
          <a:p>
            <a:pPr algn="l">
              <a:lnSpc>
                <a:spcPts val="1125"/>
              </a:lnSpc>
            </a:pPr>
            <a:r>
              <a:rPr sz="861" b="1" i="0" spc="15">
                <a:solidFill>
                  <a:srgbClr val="1B1A1A"/>
                </a:solidFill>
                <a:latin typeface="Calibri"/>
              </a:rPr>
              <a:t>EV to trailing adjusted EBITDA, a year ago</a:t>
            </a:r>
          </a:p>
        </p:txBody>
      </p:sp>
      <p:sp>
        <p:nvSpPr>
          <p:cNvPr id="69" name="TextBox 24"/>
          <p:cNvSpPr txBox="1"/>
          <p:nvPr/>
        </p:nvSpPr>
        <p:spPr>
          <a:xfrm>
            <a:off x="5210175"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 same companies</a:t>
            </a:r>
          </a:p>
        </p:txBody>
      </p:sp>
      <p:graphicFrame>
        <p:nvGraphicFramePr>
          <p:cNvPr id="70" name="Chart 7" descr="Bar chart of median enterprise value to trailing adjusted EBITDA a year ago for the four healthcare sectors"/>
          <p:cNvGraphicFramePr>
            <a:graphicFrameLocks noGrp="1"/>
          </p:cNvGraphicFramePr>
          <p:nvPr/>
        </p:nvGraphicFramePr>
        <p:xfrm>
          <a:off x="5210175" y="4772025"/>
          <a:ext cx="1962150" cy="1409700"/>
        </p:xfrm>
        <a:graphic>
          <a:graphicData uri="http://schemas.openxmlformats.org/drawingml/2006/chart">
            <c:chart xmlns:c="http://schemas.openxmlformats.org/drawingml/2006/chart" xmlns:r="http://schemas.openxmlformats.org/officeDocument/2006/relationships" r:id="rId8"/>
          </a:graphicData>
        </a:graphic>
      </p:graphicFrame>
      <p:sp>
        <p:nvSpPr>
          <p:cNvPr id="71" name="Shape 39"/>
          <p:cNvSpPr/>
          <p:nvPr/>
        </p:nvSpPr>
        <p:spPr>
          <a:xfrm>
            <a:off x="7419975" y="4229100"/>
            <a:ext cx="2219325" cy="9525"/>
          </a:xfrm>
          <a:prstGeom prst="rect">
            <a:avLst/>
          </a:prstGeom>
          <a:solidFill>
            <a:srgbClr val="E3DCD3"/>
          </a:solidFill>
          <a:ln>
            <a:noFill/>
          </a:ln>
          <a:effectLst/>
        </p:spPr>
        <p:txBody>
          <a:bodyPr rtlCol="0" anchor="ctr"/>
          <a:lstStyle/>
          <a:p>
            <a:pPr algn="ctr"/>
            <a:endParaRPr/>
          </a:p>
        </p:txBody>
      </p:sp>
      <p:sp>
        <p:nvSpPr>
          <p:cNvPr id="72" name="Shape 40"/>
          <p:cNvSpPr/>
          <p:nvPr/>
        </p:nvSpPr>
        <p:spPr>
          <a:xfrm>
            <a:off x="9629775" y="4229100"/>
            <a:ext cx="9525" cy="2038350"/>
          </a:xfrm>
          <a:prstGeom prst="rect">
            <a:avLst/>
          </a:prstGeom>
          <a:solidFill>
            <a:srgbClr val="E3DCD3"/>
          </a:solidFill>
          <a:ln>
            <a:noFill/>
          </a:ln>
          <a:effectLst/>
        </p:spPr>
        <p:txBody>
          <a:bodyPr rtlCol="0" anchor="ctr"/>
          <a:lstStyle/>
          <a:p>
            <a:pPr algn="ctr"/>
            <a:endParaRPr/>
          </a:p>
        </p:txBody>
      </p:sp>
      <p:sp>
        <p:nvSpPr>
          <p:cNvPr id="73" name="Shape 41"/>
          <p:cNvSpPr/>
          <p:nvPr/>
        </p:nvSpPr>
        <p:spPr>
          <a:xfrm>
            <a:off x="7419975" y="6257925"/>
            <a:ext cx="2219325" cy="9525"/>
          </a:xfrm>
          <a:prstGeom prst="rect">
            <a:avLst/>
          </a:prstGeom>
          <a:solidFill>
            <a:srgbClr val="E3DCD3"/>
          </a:solidFill>
          <a:ln>
            <a:noFill/>
          </a:ln>
          <a:effectLst/>
        </p:spPr>
        <p:txBody>
          <a:bodyPr rtlCol="0" anchor="ctr"/>
          <a:lstStyle/>
          <a:p>
            <a:pPr algn="ctr"/>
            <a:endParaRPr/>
          </a:p>
        </p:txBody>
      </p:sp>
      <p:sp>
        <p:nvSpPr>
          <p:cNvPr id="74" name="Shape 42"/>
          <p:cNvSpPr/>
          <p:nvPr/>
        </p:nvSpPr>
        <p:spPr>
          <a:xfrm>
            <a:off x="7419975" y="4229100"/>
            <a:ext cx="9525" cy="2038350"/>
          </a:xfrm>
          <a:prstGeom prst="rect">
            <a:avLst/>
          </a:prstGeom>
          <a:solidFill>
            <a:srgbClr val="E3DCD3"/>
          </a:solidFill>
          <a:ln>
            <a:noFill/>
          </a:ln>
          <a:effectLst/>
        </p:spPr>
        <p:txBody>
          <a:bodyPr rtlCol="0" anchor="ctr"/>
          <a:lstStyle/>
          <a:p>
            <a:pPr algn="ctr"/>
            <a:endParaRPr/>
          </a:p>
        </p:txBody>
      </p:sp>
      <p:sp>
        <p:nvSpPr>
          <p:cNvPr id="75" name="TextBox 25"/>
          <p:cNvSpPr txBox="1"/>
          <p:nvPr/>
        </p:nvSpPr>
        <p:spPr>
          <a:xfrm>
            <a:off x="7543800" y="4343400"/>
            <a:ext cx="1985962" cy="142875"/>
          </a:xfrm>
          <a:prstGeom prst="rect">
            <a:avLst/>
          </a:prstGeom>
          <a:noFill/>
        </p:spPr>
        <p:txBody>
          <a:bodyPr wrap="square" lIns="0" tIns="0" rIns="0" bIns="0" anchor="t">
            <a:spAutoFit/>
          </a:bodyPr>
          <a:lstStyle/>
          <a:p>
            <a:pPr algn="l">
              <a:lnSpc>
                <a:spcPts val="1294"/>
              </a:lnSpc>
            </a:pPr>
            <a:r>
              <a:rPr sz="1000" b="1" i="0" spc="15">
                <a:solidFill>
                  <a:srgbClr val="1B1A1A"/>
                </a:solidFill>
                <a:latin typeface="Calibri"/>
              </a:rPr>
              <a:t>Share price relative to 52-week high</a:t>
            </a:r>
          </a:p>
        </p:txBody>
      </p:sp>
      <p:sp>
        <p:nvSpPr>
          <p:cNvPr id="76" name="TextBox 26"/>
          <p:cNvSpPr txBox="1"/>
          <p:nvPr/>
        </p:nvSpPr>
        <p:spPr>
          <a:xfrm>
            <a:off x="7543800" y="4486275"/>
            <a:ext cx="1985962" cy="247650"/>
          </a:xfrm>
          <a:prstGeom prst="rect">
            <a:avLst/>
          </a:prstGeom>
          <a:noFill/>
        </p:spPr>
        <p:txBody>
          <a:bodyPr wrap="square" lIns="0" tIns="0" rIns="0" bIns="0" anchor="t">
            <a:spAutoFit/>
          </a:bodyPr>
          <a:lstStyle/>
          <a:p>
            <a:pPr algn="l">
              <a:lnSpc>
                <a:spcPts val="1121"/>
              </a:lnSpc>
            </a:pPr>
            <a:r>
              <a:rPr sz="800" b="0" i="0" spc="15">
                <a:solidFill>
                  <a:srgbClr val="6F6A66"/>
                </a:solidFill>
                <a:latin typeface="Calibri"/>
              </a:rPr>
              <a:t>Median</a:t>
            </a:r>
          </a:p>
        </p:txBody>
      </p:sp>
      <p:graphicFrame>
        <p:nvGraphicFramePr>
          <p:cNvPr id="77" name="Chart 8" descr="Bar chart of median share price relative to the 52-week high for the four healthcare sectors"/>
          <p:cNvGraphicFramePr>
            <a:graphicFrameLocks noGrp="1"/>
          </p:cNvGraphicFramePr>
          <p:nvPr/>
        </p:nvGraphicFramePr>
        <p:xfrm>
          <a:off x="7543800" y="4772025"/>
          <a:ext cx="1962150" cy="1409700"/>
        </p:xfrm>
        <a:graphic>
          <a:graphicData uri="http://schemas.openxmlformats.org/drawingml/2006/chart">
            <c:chart xmlns:c="http://schemas.openxmlformats.org/drawingml/2006/chart" xmlns:r="http://schemas.openxmlformats.org/officeDocument/2006/relationships" r:id="rId9"/>
          </a:graphicData>
        </a:graphic>
      </p:graphicFrame>
      <p:sp>
        <p:nvSpPr>
          <p:cNvPr id="78" name="Shape 4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9" name="Picture 1" descr="Benchmark International logo"/>
          <p:cNvPicPr>
            <a:picLocks noChangeAspect="1"/>
          </p:cNvPicPr>
          <p:nvPr/>
        </p:nvPicPr>
        <p:blipFill>
          <a:blip r:embed="rId10"/>
          <a:srcRect/>
          <a:stretch>
            <a:fillRect/>
          </a:stretch>
        </p:blipFill>
        <p:spPr>
          <a:xfrm>
            <a:off x="419100" y="7143750"/>
            <a:ext cx="914400" cy="171450"/>
          </a:xfrm>
          <a:prstGeom prst="rect">
            <a:avLst/>
          </a:prstGeom>
        </p:spPr>
      </p:pic>
      <p:sp>
        <p:nvSpPr>
          <p:cNvPr id="80" name="TextBox 27"/>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Source: company filings for adjusted EBITDA; </a:t>
            </a:r>
            <a:r>
              <a:rPr sz="800" b="0" i="0" spc="8">
                <a:solidFill>
                  <a:srgbClr val="8C6239"/>
                </a:solidFill>
                <a:latin typeface="Calibri"/>
                <a:hlinkClick r:id="rId11"/>
              </a:rPr>
              <a:t>StockAnalysis</a:t>
            </a:r>
            <a:r>
              <a:rPr sz="800" b="0" i="0" spc="8">
                <a:solidFill>
                  <a:srgbClr val="6F6A66"/>
                </a:solidFill>
                <a:latin typeface="Calibri"/>
              </a:rPr>
              <a:t> for market data, retrieved October 19, 2026. Bars in each panel run in the order of the key. Consensus growth and free cash flow margin are StockAnalysis figures as of October 7, 2026, and fiscal years differ. Company detail is in the appendix.</a:t>
            </a:r>
          </a:p>
        </p:txBody>
      </p:sp>
      <p:sp>
        <p:nvSpPr>
          <p:cNvPr id="81" name="TextBox 28"/>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Earnings and Commentary</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55"/>
              </a:lnSpc>
            </a:pPr>
            <a:r>
              <a:rPr sz="1050" b="0" i="0" spc="15">
                <a:solidFill>
                  <a:srgbClr val="6F6A66"/>
                </a:solidFill>
                <a:latin typeface="Calibri"/>
              </a:rPr>
              <a:t>Skilled nursing and research services grew fastest in the latest quarter, laboratories and device makers grew 6% to 10%, and pharmacy and staffing grew about 2%.</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238250"/>
            <a:ext cx="3557588" cy="161925"/>
          </a:xfrm>
          <a:prstGeom prst="rect">
            <a:avLst/>
          </a:prstGeom>
          <a:noFill/>
        </p:spPr>
        <p:txBody>
          <a:bodyPr wrap="square" lIns="0" tIns="0" rIns="0" bIns="0" anchor="t">
            <a:spAutoFit/>
          </a:bodyPr>
          <a:lstStyle/>
          <a:p>
            <a:pPr algn="l">
              <a:lnSpc>
                <a:spcPts val="1466"/>
              </a:lnSpc>
            </a:pPr>
            <a:r>
              <a:rPr sz="1100" b="1" i="0" spc="15">
                <a:solidFill>
                  <a:srgbClr val="1B1A1A"/>
                </a:solidFill>
                <a:latin typeface="Calibri"/>
              </a:rPr>
              <a:t>Revenue growth, latest reported quarter</a:t>
            </a:r>
          </a:p>
        </p:txBody>
      </p:sp>
      <p:sp>
        <p:nvSpPr>
          <p:cNvPr id="9" name="TextBox 6"/>
          <p:cNvSpPr txBox="1"/>
          <p:nvPr/>
        </p:nvSpPr>
        <p:spPr>
          <a:xfrm>
            <a:off x="419100" y="1400175"/>
            <a:ext cx="3557588" cy="133350"/>
          </a:xfrm>
          <a:prstGeom prst="rect">
            <a:avLst/>
          </a:prstGeom>
          <a:noFill/>
        </p:spPr>
        <p:txBody>
          <a:bodyPr wrap="square" lIns="0" tIns="0" rIns="0" bIns="0" anchor="t">
            <a:spAutoFit/>
          </a:bodyPr>
          <a:lstStyle/>
          <a:p>
            <a:pPr algn="l">
              <a:lnSpc>
                <a:spcPts val="1208"/>
              </a:lnSpc>
            </a:pPr>
            <a:r>
              <a:rPr sz="850" b="0" i="0" spc="15">
                <a:solidFill>
                  <a:srgbClr val="6F6A66"/>
                </a:solidFill>
                <a:latin typeface="Calibri"/>
              </a:rPr>
              <a:t>Year over year, as stated in each earnings release; quarters ended June 2026</a:t>
            </a:r>
          </a:p>
        </p:txBody>
      </p:sp>
      <p:sp>
        <p:nvSpPr>
          <p:cNvPr id="10" name="TextBox 7">
            <a:hlinkClick r:id="rId2"/>
          </p:cNvPr>
          <p:cNvSpPr txBox="1"/>
          <p:nvPr/>
        </p:nvSpPr>
        <p:spPr>
          <a:xfrm>
            <a:off x="419100" y="16668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Ensign Group</a:t>
            </a:r>
          </a:p>
        </p:txBody>
      </p:sp>
      <p:sp>
        <p:nvSpPr>
          <p:cNvPr id="11" name="Shape 3"/>
          <p:cNvSpPr/>
          <p:nvPr/>
        </p:nvSpPr>
        <p:spPr>
          <a:xfrm>
            <a:off x="1924050" y="1666875"/>
            <a:ext cx="1371600" cy="133350"/>
          </a:xfrm>
          <a:prstGeom prst="rect">
            <a:avLst/>
          </a:prstGeom>
          <a:solidFill>
            <a:srgbClr val="1B1A1A"/>
          </a:solidFill>
          <a:ln>
            <a:noFill/>
          </a:ln>
          <a:effectLst/>
        </p:spPr>
        <p:txBody>
          <a:bodyPr rtlCol="0" anchor="ctr"/>
          <a:lstStyle/>
          <a:p>
            <a:pPr algn="ctr"/>
            <a:endParaRPr/>
          </a:p>
        </p:txBody>
      </p:sp>
      <p:sp>
        <p:nvSpPr>
          <p:cNvPr id="12" name="TextBox 8"/>
          <p:cNvSpPr txBox="1"/>
          <p:nvPr/>
        </p:nvSpPr>
        <p:spPr>
          <a:xfrm>
            <a:off x="3351276" y="16525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+17.3%</a:t>
            </a:r>
          </a:p>
        </p:txBody>
      </p:sp>
      <p:sp>
        <p:nvSpPr>
          <p:cNvPr id="13" name="TextBox 9">
            <a:hlinkClick r:id="rId3"/>
          </p:cNvPr>
          <p:cNvSpPr txBox="1"/>
          <p:nvPr/>
        </p:nvSpPr>
        <p:spPr>
          <a:xfrm>
            <a:off x="419100" y="19145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Medpace</a:t>
            </a:r>
          </a:p>
        </p:txBody>
      </p:sp>
      <p:sp>
        <p:nvSpPr>
          <p:cNvPr id="14" name="Shape 4"/>
          <p:cNvSpPr/>
          <p:nvPr/>
        </p:nvSpPr>
        <p:spPr>
          <a:xfrm>
            <a:off x="1924050" y="1914525"/>
            <a:ext cx="1363671" cy="133350"/>
          </a:xfrm>
          <a:prstGeom prst="rect">
            <a:avLst/>
          </a:prstGeom>
          <a:solidFill>
            <a:srgbClr val="B68757"/>
          </a:solidFill>
          <a:ln>
            <a:noFill/>
          </a:ln>
          <a:effectLst/>
        </p:spPr>
        <p:txBody>
          <a:bodyPr rtlCol="0" anchor="ctr"/>
          <a:lstStyle/>
          <a:p>
            <a:pPr algn="ctr"/>
            <a:endParaRPr/>
          </a:p>
        </p:txBody>
      </p:sp>
      <p:sp>
        <p:nvSpPr>
          <p:cNvPr id="15" name="TextBox 10"/>
          <p:cNvSpPr txBox="1"/>
          <p:nvPr/>
        </p:nvSpPr>
        <p:spPr>
          <a:xfrm>
            <a:off x="3343347" y="19002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+17.2%</a:t>
            </a:r>
          </a:p>
        </p:txBody>
      </p:sp>
      <p:sp>
        <p:nvSpPr>
          <p:cNvPr id="16" name="TextBox 11">
            <a:hlinkClick r:id="rId4"/>
          </p:cNvPr>
          <p:cNvSpPr txBox="1"/>
          <p:nvPr/>
        </p:nvSpPr>
        <p:spPr>
          <a:xfrm>
            <a:off x="419100" y="21621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Thermo Fisher Scientific</a:t>
            </a:r>
          </a:p>
        </p:txBody>
      </p:sp>
      <p:sp>
        <p:nvSpPr>
          <p:cNvPr id="17" name="Shape 5"/>
          <p:cNvSpPr/>
          <p:nvPr/>
        </p:nvSpPr>
        <p:spPr>
          <a:xfrm>
            <a:off x="1924050" y="2162175"/>
            <a:ext cx="832473" cy="133350"/>
          </a:xfrm>
          <a:prstGeom prst="rect">
            <a:avLst/>
          </a:prstGeom>
          <a:solidFill>
            <a:srgbClr val="B68757"/>
          </a:solidFill>
          <a:ln>
            <a:noFill/>
          </a:ln>
          <a:effectLst/>
        </p:spPr>
        <p:txBody>
          <a:bodyPr rtlCol="0" anchor="ctr"/>
          <a:lstStyle/>
          <a:p>
            <a:pPr algn="ctr"/>
            <a:endParaRPr/>
          </a:p>
        </p:txBody>
      </p:sp>
      <p:sp>
        <p:nvSpPr>
          <p:cNvPr id="18" name="TextBox 12"/>
          <p:cNvSpPr txBox="1"/>
          <p:nvPr/>
        </p:nvSpPr>
        <p:spPr>
          <a:xfrm>
            <a:off x="2812149" y="21478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+10.5%</a:t>
            </a:r>
          </a:p>
        </p:txBody>
      </p:sp>
      <p:sp>
        <p:nvSpPr>
          <p:cNvPr id="19" name="TextBox 13">
            <a:hlinkClick r:id="rId5"/>
          </p:cNvPr>
          <p:cNvSpPr txBox="1"/>
          <p:nvPr/>
        </p:nvSpPr>
        <p:spPr>
          <a:xfrm>
            <a:off x="419100" y="24098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Quest Diagnostics</a:t>
            </a:r>
          </a:p>
        </p:txBody>
      </p:sp>
      <p:sp>
        <p:nvSpPr>
          <p:cNvPr id="20" name="Shape 6"/>
          <p:cNvSpPr/>
          <p:nvPr/>
        </p:nvSpPr>
        <p:spPr>
          <a:xfrm>
            <a:off x="1924050" y="2409825"/>
            <a:ext cx="808689" cy="133350"/>
          </a:xfrm>
          <a:prstGeom prst="rect">
            <a:avLst/>
          </a:prstGeom>
          <a:solidFill>
            <a:srgbClr val="B68757"/>
          </a:solidFill>
          <a:ln>
            <a:noFill/>
          </a:ln>
          <a:effectLst/>
        </p:spPr>
        <p:txBody>
          <a:bodyPr rtlCol="0" anchor="ctr"/>
          <a:lstStyle/>
          <a:p>
            <a:pPr algn="ctr"/>
            <a:endParaRPr/>
          </a:p>
        </p:txBody>
      </p:sp>
      <p:sp>
        <p:nvSpPr>
          <p:cNvPr id="21" name="TextBox 14"/>
          <p:cNvSpPr txBox="1"/>
          <p:nvPr/>
        </p:nvSpPr>
        <p:spPr>
          <a:xfrm>
            <a:off x="2788365" y="23955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+10.2%</a:t>
            </a:r>
          </a:p>
        </p:txBody>
      </p:sp>
      <p:sp>
        <p:nvSpPr>
          <p:cNvPr id="22" name="TextBox 15">
            <a:hlinkClick r:id="rId6"/>
          </p:cNvPr>
          <p:cNvSpPr txBox="1"/>
          <p:nvPr/>
        </p:nvSpPr>
        <p:spPr>
          <a:xfrm>
            <a:off x="419100" y="26574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Stryker</a:t>
            </a:r>
          </a:p>
        </p:txBody>
      </p:sp>
      <p:sp>
        <p:nvSpPr>
          <p:cNvPr id="23" name="Shape 7"/>
          <p:cNvSpPr/>
          <p:nvPr/>
        </p:nvSpPr>
        <p:spPr>
          <a:xfrm>
            <a:off x="1924050" y="2657475"/>
            <a:ext cx="745262" cy="133350"/>
          </a:xfrm>
          <a:prstGeom prst="rect">
            <a:avLst/>
          </a:prstGeom>
          <a:solidFill>
            <a:srgbClr val="6D7681"/>
          </a:solidFill>
          <a:ln>
            <a:noFill/>
          </a:ln>
          <a:effectLst/>
        </p:spPr>
        <p:txBody>
          <a:bodyPr rtlCol="0" anchor="ctr"/>
          <a:lstStyle/>
          <a:p>
            <a:pPr algn="ctr"/>
            <a:endParaRPr/>
          </a:p>
        </p:txBody>
      </p:sp>
      <p:sp>
        <p:nvSpPr>
          <p:cNvPr id="24" name="TextBox 16"/>
          <p:cNvSpPr txBox="1"/>
          <p:nvPr/>
        </p:nvSpPr>
        <p:spPr>
          <a:xfrm>
            <a:off x="2724938" y="26431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+9.4%</a:t>
            </a:r>
          </a:p>
        </p:txBody>
      </p:sp>
      <p:sp>
        <p:nvSpPr>
          <p:cNvPr id="25" name="TextBox 17">
            <a:hlinkClick r:id="rId7"/>
          </p:cNvPr>
          <p:cNvSpPr txBox="1"/>
          <p:nvPr/>
        </p:nvSpPr>
        <p:spPr>
          <a:xfrm>
            <a:off x="419100" y="29051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HCA Healthcare</a:t>
            </a:r>
          </a:p>
        </p:txBody>
      </p:sp>
      <p:sp>
        <p:nvSpPr>
          <p:cNvPr id="26" name="Shape 8"/>
          <p:cNvSpPr/>
          <p:nvPr/>
        </p:nvSpPr>
        <p:spPr>
          <a:xfrm>
            <a:off x="1924050" y="2905125"/>
            <a:ext cx="689764" cy="133350"/>
          </a:xfrm>
          <a:prstGeom prst="rect">
            <a:avLst/>
          </a:prstGeom>
          <a:solidFill>
            <a:srgbClr val="1B1A1A"/>
          </a:solidFill>
          <a:ln>
            <a:noFill/>
          </a:ln>
          <a:effectLst/>
        </p:spPr>
        <p:txBody>
          <a:bodyPr rtlCol="0" anchor="ctr"/>
          <a:lstStyle/>
          <a:p>
            <a:pPr algn="ctr"/>
            <a:endParaRPr/>
          </a:p>
        </p:txBody>
      </p:sp>
      <p:sp>
        <p:nvSpPr>
          <p:cNvPr id="27" name="TextBox 18"/>
          <p:cNvSpPr txBox="1"/>
          <p:nvPr/>
        </p:nvSpPr>
        <p:spPr>
          <a:xfrm>
            <a:off x="2669440" y="28908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+8.7%</a:t>
            </a:r>
          </a:p>
        </p:txBody>
      </p:sp>
      <p:sp>
        <p:nvSpPr>
          <p:cNvPr id="28" name="TextBox 19">
            <a:hlinkClick r:id="rId8"/>
          </p:cNvPr>
          <p:cNvSpPr txBox="1"/>
          <p:nvPr/>
        </p:nvSpPr>
        <p:spPr>
          <a:xfrm>
            <a:off x="419100" y="31527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IQVIA</a:t>
            </a:r>
          </a:p>
        </p:txBody>
      </p:sp>
      <p:sp>
        <p:nvSpPr>
          <p:cNvPr id="29" name="Shape 9"/>
          <p:cNvSpPr/>
          <p:nvPr/>
        </p:nvSpPr>
        <p:spPr>
          <a:xfrm>
            <a:off x="1924050" y="3152775"/>
            <a:ext cx="689764" cy="133350"/>
          </a:xfrm>
          <a:prstGeom prst="rect">
            <a:avLst/>
          </a:prstGeom>
          <a:solidFill>
            <a:srgbClr val="B68757"/>
          </a:solidFill>
          <a:ln>
            <a:noFill/>
          </a:ln>
          <a:effectLst/>
        </p:spPr>
        <p:txBody>
          <a:bodyPr rtlCol="0" anchor="ctr"/>
          <a:lstStyle/>
          <a:p>
            <a:pPr algn="ctr"/>
            <a:endParaRPr/>
          </a:p>
        </p:txBody>
      </p:sp>
      <p:sp>
        <p:nvSpPr>
          <p:cNvPr id="30" name="TextBox 20"/>
          <p:cNvSpPr txBox="1"/>
          <p:nvPr/>
        </p:nvSpPr>
        <p:spPr>
          <a:xfrm>
            <a:off x="2669440" y="31384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+8.7%</a:t>
            </a:r>
          </a:p>
        </p:txBody>
      </p:sp>
      <p:sp>
        <p:nvSpPr>
          <p:cNvPr id="31" name="TextBox 21">
            <a:hlinkClick r:id="rId9"/>
          </p:cNvPr>
          <p:cNvSpPr txBox="1"/>
          <p:nvPr/>
        </p:nvSpPr>
        <p:spPr>
          <a:xfrm>
            <a:off x="419100" y="34004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U.S. Physical Therapy</a:t>
            </a:r>
          </a:p>
        </p:txBody>
      </p:sp>
      <p:sp>
        <p:nvSpPr>
          <p:cNvPr id="32" name="Shape 10"/>
          <p:cNvSpPr/>
          <p:nvPr/>
        </p:nvSpPr>
        <p:spPr>
          <a:xfrm>
            <a:off x="1924050" y="3400425"/>
            <a:ext cx="673907" cy="133350"/>
          </a:xfrm>
          <a:prstGeom prst="rect">
            <a:avLst/>
          </a:prstGeom>
          <a:solidFill>
            <a:srgbClr val="1B1A1A"/>
          </a:solidFill>
          <a:ln>
            <a:noFill/>
          </a:ln>
          <a:effectLst/>
        </p:spPr>
        <p:txBody>
          <a:bodyPr rtlCol="0" anchor="ctr"/>
          <a:lstStyle/>
          <a:p>
            <a:pPr algn="ctr"/>
            <a:endParaRPr/>
          </a:p>
        </p:txBody>
      </p:sp>
      <p:sp>
        <p:nvSpPr>
          <p:cNvPr id="33" name="TextBox 22"/>
          <p:cNvSpPr txBox="1"/>
          <p:nvPr/>
        </p:nvSpPr>
        <p:spPr>
          <a:xfrm>
            <a:off x="2653583" y="33861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+8.5%</a:t>
            </a:r>
          </a:p>
        </p:txBody>
      </p:sp>
      <p:sp>
        <p:nvSpPr>
          <p:cNvPr id="34" name="TextBox 23">
            <a:hlinkClick r:id="rId10"/>
          </p:cNvPr>
          <p:cNvSpPr txBox="1"/>
          <p:nvPr/>
        </p:nvSpPr>
        <p:spPr>
          <a:xfrm>
            <a:off x="419100" y="36480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Addus HomeCare</a:t>
            </a:r>
          </a:p>
        </p:txBody>
      </p:sp>
      <p:sp>
        <p:nvSpPr>
          <p:cNvPr id="35" name="Shape 11"/>
          <p:cNvSpPr/>
          <p:nvPr/>
        </p:nvSpPr>
        <p:spPr>
          <a:xfrm>
            <a:off x="1924050" y="3648075"/>
            <a:ext cx="634265" cy="133350"/>
          </a:xfrm>
          <a:prstGeom prst="rect">
            <a:avLst/>
          </a:prstGeom>
          <a:solidFill>
            <a:srgbClr val="1B1A1A"/>
          </a:solidFill>
          <a:ln>
            <a:noFill/>
          </a:ln>
          <a:effectLst/>
        </p:spPr>
        <p:txBody>
          <a:bodyPr rtlCol="0" anchor="ctr"/>
          <a:lstStyle/>
          <a:p>
            <a:pPr algn="ctr"/>
            <a:endParaRPr/>
          </a:p>
        </p:txBody>
      </p:sp>
      <p:sp>
        <p:nvSpPr>
          <p:cNvPr id="36" name="TextBox 24"/>
          <p:cNvSpPr txBox="1"/>
          <p:nvPr/>
        </p:nvSpPr>
        <p:spPr>
          <a:xfrm>
            <a:off x="2613941" y="36337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+8.0%</a:t>
            </a:r>
          </a:p>
        </p:txBody>
      </p:sp>
      <p:sp>
        <p:nvSpPr>
          <p:cNvPr id="37" name="TextBox 25">
            <a:hlinkClick r:id="rId11"/>
          </p:cNvPr>
          <p:cNvSpPr txBox="1"/>
          <p:nvPr/>
        </p:nvSpPr>
        <p:spPr>
          <a:xfrm>
            <a:off x="419100" y="38957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McKesson</a:t>
            </a:r>
          </a:p>
        </p:txBody>
      </p:sp>
      <p:sp>
        <p:nvSpPr>
          <p:cNvPr id="38" name="Shape 12"/>
          <p:cNvSpPr/>
          <p:nvPr/>
        </p:nvSpPr>
        <p:spPr>
          <a:xfrm>
            <a:off x="1924050" y="3895725"/>
            <a:ext cx="610480" cy="133350"/>
          </a:xfrm>
          <a:prstGeom prst="rect">
            <a:avLst/>
          </a:prstGeom>
          <a:solidFill>
            <a:srgbClr val="A39486"/>
          </a:solidFill>
          <a:ln>
            <a:noFill/>
          </a:ln>
          <a:effectLst/>
        </p:spPr>
        <p:txBody>
          <a:bodyPr rtlCol="0" anchor="ctr"/>
          <a:lstStyle/>
          <a:p>
            <a:pPr algn="ctr"/>
            <a:endParaRPr/>
          </a:p>
        </p:txBody>
      </p:sp>
      <p:sp>
        <p:nvSpPr>
          <p:cNvPr id="39" name="TextBox 26"/>
          <p:cNvSpPr txBox="1"/>
          <p:nvPr/>
        </p:nvSpPr>
        <p:spPr>
          <a:xfrm>
            <a:off x="2590156" y="38814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+7.7%</a:t>
            </a:r>
          </a:p>
        </p:txBody>
      </p:sp>
      <p:sp>
        <p:nvSpPr>
          <p:cNvPr id="40" name="TextBox 27">
            <a:hlinkClick r:id="rId12"/>
          </p:cNvPr>
          <p:cNvSpPr txBox="1"/>
          <p:nvPr/>
        </p:nvSpPr>
        <p:spPr>
          <a:xfrm>
            <a:off x="419100" y="41433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Steris</a:t>
            </a:r>
          </a:p>
        </p:txBody>
      </p:sp>
      <p:sp>
        <p:nvSpPr>
          <p:cNvPr id="41" name="Shape 13"/>
          <p:cNvSpPr/>
          <p:nvPr/>
        </p:nvSpPr>
        <p:spPr>
          <a:xfrm>
            <a:off x="1924050" y="4143375"/>
            <a:ext cx="578767" cy="133350"/>
          </a:xfrm>
          <a:prstGeom prst="rect">
            <a:avLst/>
          </a:prstGeom>
          <a:solidFill>
            <a:srgbClr val="6D7681"/>
          </a:solidFill>
          <a:ln>
            <a:noFill/>
          </a:ln>
          <a:effectLst/>
        </p:spPr>
        <p:txBody>
          <a:bodyPr rtlCol="0" anchor="ctr"/>
          <a:lstStyle/>
          <a:p>
            <a:pPr algn="ctr"/>
            <a:endParaRPr/>
          </a:p>
        </p:txBody>
      </p:sp>
      <p:sp>
        <p:nvSpPr>
          <p:cNvPr id="42" name="TextBox 28"/>
          <p:cNvSpPr txBox="1"/>
          <p:nvPr/>
        </p:nvSpPr>
        <p:spPr>
          <a:xfrm>
            <a:off x="2558443" y="41290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+7.3%</a:t>
            </a:r>
          </a:p>
        </p:txBody>
      </p:sp>
      <p:sp>
        <p:nvSpPr>
          <p:cNvPr id="43" name="TextBox 29">
            <a:hlinkClick r:id="rId13"/>
          </p:cNvPr>
          <p:cNvSpPr txBox="1"/>
          <p:nvPr/>
        </p:nvSpPr>
        <p:spPr>
          <a:xfrm>
            <a:off x="419100" y="43910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Tenet Healthcare</a:t>
            </a:r>
          </a:p>
        </p:txBody>
      </p:sp>
      <p:sp>
        <p:nvSpPr>
          <p:cNvPr id="44" name="Shape 14"/>
          <p:cNvSpPr/>
          <p:nvPr/>
        </p:nvSpPr>
        <p:spPr>
          <a:xfrm>
            <a:off x="1924050" y="4391025"/>
            <a:ext cx="539126" cy="133350"/>
          </a:xfrm>
          <a:prstGeom prst="rect">
            <a:avLst/>
          </a:prstGeom>
          <a:solidFill>
            <a:srgbClr val="1B1A1A"/>
          </a:solidFill>
          <a:ln>
            <a:noFill/>
          </a:ln>
          <a:effectLst/>
        </p:spPr>
        <p:txBody>
          <a:bodyPr rtlCol="0" anchor="ctr"/>
          <a:lstStyle/>
          <a:p>
            <a:pPr algn="ctr"/>
            <a:endParaRPr/>
          </a:p>
        </p:txBody>
      </p:sp>
      <p:sp>
        <p:nvSpPr>
          <p:cNvPr id="45" name="TextBox 30"/>
          <p:cNvSpPr txBox="1"/>
          <p:nvPr/>
        </p:nvSpPr>
        <p:spPr>
          <a:xfrm>
            <a:off x="2518802" y="43767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+6.8%</a:t>
            </a:r>
          </a:p>
        </p:txBody>
      </p:sp>
      <p:sp>
        <p:nvSpPr>
          <p:cNvPr id="46" name="TextBox 31">
            <a:hlinkClick r:id="rId14"/>
          </p:cNvPr>
          <p:cNvSpPr txBox="1"/>
          <p:nvPr/>
        </p:nvSpPr>
        <p:spPr>
          <a:xfrm>
            <a:off x="419100" y="46386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Henry Schein</a:t>
            </a:r>
          </a:p>
        </p:txBody>
      </p:sp>
      <p:sp>
        <p:nvSpPr>
          <p:cNvPr id="47" name="Shape 15"/>
          <p:cNvSpPr/>
          <p:nvPr/>
        </p:nvSpPr>
        <p:spPr>
          <a:xfrm>
            <a:off x="1924050" y="4638675"/>
            <a:ext cx="531197" cy="133350"/>
          </a:xfrm>
          <a:prstGeom prst="rect">
            <a:avLst/>
          </a:prstGeom>
          <a:solidFill>
            <a:srgbClr val="6D7681"/>
          </a:solidFill>
          <a:ln>
            <a:noFill/>
          </a:ln>
          <a:effectLst/>
        </p:spPr>
        <p:txBody>
          <a:bodyPr rtlCol="0" anchor="ctr"/>
          <a:lstStyle/>
          <a:p>
            <a:pPr algn="ctr"/>
            <a:endParaRPr/>
          </a:p>
        </p:txBody>
      </p:sp>
      <p:sp>
        <p:nvSpPr>
          <p:cNvPr id="48" name="TextBox 32"/>
          <p:cNvSpPr txBox="1"/>
          <p:nvPr/>
        </p:nvSpPr>
        <p:spPr>
          <a:xfrm>
            <a:off x="2510873" y="46243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+6.7%</a:t>
            </a:r>
          </a:p>
        </p:txBody>
      </p:sp>
      <p:sp>
        <p:nvSpPr>
          <p:cNvPr id="49" name="TextBox 33">
            <a:hlinkClick r:id="rId15"/>
          </p:cNvPr>
          <p:cNvSpPr txBox="1"/>
          <p:nvPr/>
        </p:nvSpPr>
        <p:spPr>
          <a:xfrm>
            <a:off x="419100" y="48863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Labcorp</a:t>
            </a:r>
          </a:p>
        </p:txBody>
      </p:sp>
      <p:sp>
        <p:nvSpPr>
          <p:cNvPr id="50" name="Shape 16"/>
          <p:cNvSpPr/>
          <p:nvPr/>
        </p:nvSpPr>
        <p:spPr>
          <a:xfrm>
            <a:off x="1924050" y="4886325"/>
            <a:ext cx="459842" cy="133350"/>
          </a:xfrm>
          <a:prstGeom prst="rect">
            <a:avLst/>
          </a:prstGeom>
          <a:solidFill>
            <a:srgbClr val="B68757"/>
          </a:solidFill>
          <a:ln>
            <a:noFill/>
          </a:ln>
          <a:effectLst/>
        </p:spPr>
        <p:txBody>
          <a:bodyPr rtlCol="0" anchor="ctr"/>
          <a:lstStyle/>
          <a:p>
            <a:pPr algn="ctr"/>
            <a:endParaRPr/>
          </a:p>
        </p:txBody>
      </p:sp>
      <p:sp>
        <p:nvSpPr>
          <p:cNvPr id="51" name="TextBox 34"/>
          <p:cNvSpPr txBox="1"/>
          <p:nvPr/>
        </p:nvSpPr>
        <p:spPr>
          <a:xfrm>
            <a:off x="2439518" y="48720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+5.8%</a:t>
            </a:r>
          </a:p>
        </p:txBody>
      </p:sp>
      <p:sp>
        <p:nvSpPr>
          <p:cNvPr id="52" name="TextBox 35">
            <a:hlinkClick r:id="rId16"/>
          </p:cNvPr>
          <p:cNvSpPr txBox="1"/>
          <p:nvPr/>
        </p:nvSpPr>
        <p:spPr>
          <a:xfrm>
            <a:off x="419100" y="51339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Cardinal Health</a:t>
            </a:r>
          </a:p>
        </p:txBody>
      </p:sp>
      <p:sp>
        <p:nvSpPr>
          <p:cNvPr id="53" name="Shape 17"/>
          <p:cNvSpPr/>
          <p:nvPr/>
        </p:nvSpPr>
        <p:spPr>
          <a:xfrm>
            <a:off x="1924050" y="5133975"/>
            <a:ext cx="459842" cy="133350"/>
          </a:xfrm>
          <a:prstGeom prst="rect">
            <a:avLst/>
          </a:prstGeom>
          <a:solidFill>
            <a:srgbClr val="A39486"/>
          </a:solidFill>
          <a:ln>
            <a:noFill/>
          </a:ln>
          <a:effectLst/>
        </p:spPr>
        <p:txBody>
          <a:bodyPr rtlCol="0" anchor="ctr"/>
          <a:lstStyle/>
          <a:p>
            <a:pPr algn="ctr"/>
            <a:endParaRPr/>
          </a:p>
        </p:txBody>
      </p:sp>
      <p:sp>
        <p:nvSpPr>
          <p:cNvPr id="54" name="TextBox 36"/>
          <p:cNvSpPr txBox="1"/>
          <p:nvPr/>
        </p:nvSpPr>
        <p:spPr>
          <a:xfrm>
            <a:off x="2439518" y="51196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+5.8%</a:t>
            </a:r>
          </a:p>
        </p:txBody>
      </p:sp>
      <p:sp>
        <p:nvSpPr>
          <p:cNvPr id="55" name="TextBox 37">
            <a:hlinkClick r:id="rId17"/>
          </p:cNvPr>
          <p:cNvSpPr txBox="1"/>
          <p:nvPr/>
        </p:nvSpPr>
        <p:spPr>
          <a:xfrm>
            <a:off x="419100" y="53816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AMN Healthcare</a:t>
            </a:r>
          </a:p>
        </p:txBody>
      </p:sp>
      <p:sp>
        <p:nvSpPr>
          <p:cNvPr id="56" name="Shape 18"/>
          <p:cNvSpPr/>
          <p:nvPr/>
        </p:nvSpPr>
        <p:spPr>
          <a:xfrm>
            <a:off x="1924050" y="5381625"/>
            <a:ext cx="182351" cy="133350"/>
          </a:xfrm>
          <a:prstGeom prst="rect">
            <a:avLst/>
          </a:prstGeom>
          <a:solidFill>
            <a:srgbClr val="A39486"/>
          </a:solidFill>
          <a:ln>
            <a:noFill/>
          </a:ln>
          <a:effectLst/>
        </p:spPr>
        <p:txBody>
          <a:bodyPr rtlCol="0" anchor="ctr"/>
          <a:lstStyle/>
          <a:p>
            <a:pPr algn="ctr"/>
            <a:endParaRPr/>
          </a:p>
        </p:txBody>
      </p:sp>
      <p:sp>
        <p:nvSpPr>
          <p:cNvPr id="57" name="TextBox 38"/>
          <p:cNvSpPr txBox="1"/>
          <p:nvPr/>
        </p:nvSpPr>
        <p:spPr>
          <a:xfrm>
            <a:off x="2162027" y="53673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+2.3%</a:t>
            </a:r>
          </a:p>
        </p:txBody>
      </p:sp>
      <p:sp>
        <p:nvSpPr>
          <p:cNvPr id="58" name="TextBox 39">
            <a:hlinkClick r:id="rId18"/>
          </p:cNvPr>
          <p:cNvSpPr txBox="1"/>
          <p:nvPr/>
        </p:nvSpPr>
        <p:spPr>
          <a:xfrm>
            <a:off x="419100" y="562927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Guardian Pharmacy Services</a:t>
            </a:r>
          </a:p>
        </p:txBody>
      </p:sp>
      <p:sp>
        <p:nvSpPr>
          <p:cNvPr id="59" name="Shape 19"/>
          <p:cNvSpPr/>
          <p:nvPr/>
        </p:nvSpPr>
        <p:spPr>
          <a:xfrm>
            <a:off x="1924050" y="5629275"/>
            <a:ext cx="174423" cy="133350"/>
          </a:xfrm>
          <a:prstGeom prst="rect">
            <a:avLst/>
          </a:prstGeom>
          <a:solidFill>
            <a:srgbClr val="A39486"/>
          </a:solidFill>
          <a:ln>
            <a:noFill/>
          </a:ln>
          <a:effectLst/>
        </p:spPr>
        <p:txBody>
          <a:bodyPr rtlCol="0" anchor="ctr"/>
          <a:lstStyle/>
          <a:p>
            <a:pPr algn="ctr"/>
            <a:endParaRPr/>
          </a:p>
        </p:txBody>
      </p:sp>
      <p:sp>
        <p:nvSpPr>
          <p:cNvPr id="60" name="TextBox 40"/>
          <p:cNvSpPr txBox="1"/>
          <p:nvPr/>
        </p:nvSpPr>
        <p:spPr>
          <a:xfrm>
            <a:off x="2154099" y="561498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+2.2%</a:t>
            </a:r>
          </a:p>
        </p:txBody>
      </p:sp>
      <p:sp>
        <p:nvSpPr>
          <p:cNvPr id="61" name="TextBox 41">
            <a:hlinkClick r:id="rId19"/>
          </p:cNvPr>
          <p:cNvSpPr txBox="1"/>
          <p:nvPr/>
        </p:nvSpPr>
        <p:spPr>
          <a:xfrm>
            <a:off x="419100" y="5876925"/>
            <a:ext cx="1443038" cy="133350"/>
          </a:xfrm>
          <a:prstGeom prst="rect">
            <a:avLst/>
          </a:prstGeom>
          <a:noFill/>
        </p:spPr>
        <p:txBody>
          <a:bodyPr wrap="square" lIns="0" tIns="0" rIns="0" bIns="0" anchor="t">
            <a:spAutoFit/>
          </a:bodyPr>
          <a:lstStyle/>
          <a:p>
            <a:pPr algn="r">
              <a:lnSpc>
                <a:spcPts val="1208"/>
              </a:lnSpc>
            </a:pPr>
            <a:r>
              <a:rPr sz="900" b="1" i="0" spc="15">
                <a:solidFill>
                  <a:srgbClr val="333231"/>
                </a:solidFill>
                <a:latin typeface="Calibri"/>
              </a:rPr>
              <a:t>Option Care Health</a:t>
            </a:r>
          </a:p>
        </p:txBody>
      </p:sp>
      <p:sp>
        <p:nvSpPr>
          <p:cNvPr id="62" name="Shape 20"/>
          <p:cNvSpPr/>
          <p:nvPr/>
        </p:nvSpPr>
        <p:spPr>
          <a:xfrm>
            <a:off x="1924050" y="5876925"/>
            <a:ext cx="150638" cy="133350"/>
          </a:xfrm>
          <a:prstGeom prst="rect">
            <a:avLst/>
          </a:prstGeom>
          <a:solidFill>
            <a:srgbClr val="A39486"/>
          </a:solidFill>
          <a:ln>
            <a:noFill/>
          </a:ln>
          <a:effectLst/>
        </p:spPr>
        <p:txBody>
          <a:bodyPr rtlCol="0" anchor="ctr"/>
          <a:lstStyle/>
          <a:p>
            <a:pPr algn="ctr"/>
            <a:endParaRPr/>
          </a:p>
        </p:txBody>
      </p:sp>
      <p:sp>
        <p:nvSpPr>
          <p:cNvPr id="63" name="TextBox 42"/>
          <p:cNvSpPr txBox="1"/>
          <p:nvPr/>
        </p:nvSpPr>
        <p:spPr>
          <a:xfrm>
            <a:off x="2130314" y="5862638"/>
            <a:ext cx="365760" cy="161925"/>
          </a:xfrm>
          <a:prstGeom prst="rect">
            <a:avLst/>
          </a:prstGeom>
          <a:noFill/>
        </p:spPr>
        <p:txBody>
          <a:bodyPr wrap="square" lIns="0" tIns="0" rIns="0" bIns="0" anchor="t">
            <a:spAutoFit/>
          </a:bodyPr>
          <a:lstStyle/>
          <a:p>
            <a:pPr algn="l">
              <a:lnSpc>
                <a:spcPts val="1466"/>
              </a:lnSpc>
            </a:pPr>
            <a:r>
              <a:rPr sz="900" b="1" i="0" spc="15">
                <a:solidFill>
                  <a:srgbClr val="1B1A1A"/>
                </a:solidFill>
                <a:latin typeface="Calibri"/>
              </a:rPr>
              <a:t>+1.9%</a:t>
            </a:r>
          </a:p>
        </p:txBody>
      </p:sp>
      <p:sp>
        <p:nvSpPr>
          <p:cNvPr id="64" name="Shape 21"/>
          <p:cNvSpPr/>
          <p:nvPr/>
        </p:nvSpPr>
        <p:spPr>
          <a:xfrm>
            <a:off x="419100" y="6681788"/>
            <a:ext cx="133350" cy="28575"/>
          </a:xfrm>
          <a:prstGeom prst="rect">
            <a:avLst/>
          </a:prstGeom>
          <a:solidFill>
            <a:srgbClr val="1B1A1A"/>
          </a:solidFill>
          <a:ln>
            <a:noFill/>
          </a:ln>
          <a:effectLst/>
        </p:spPr>
        <p:txBody>
          <a:bodyPr rtlCol="0" anchor="ctr"/>
          <a:lstStyle/>
          <a:p>
            <a:pPr algn="ctr"/>
            <a:endParaRPr/>
          </a:p>
        </p:txBody>
      </p:sp>
      <p:sp>
        <p:nvSpPr>
          <p:cNvPr id="65" name="TextBox 43"/>
          <p:cNvSpPr txBox="1"/>
          <p:nvPr/>
        </p:nvSpPr>
        <p:spPr>
          <a:xfrm>
            <a:off x="609600" y="6629400"/>
            <a:ext cx="837724"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Provider Services</a:t>
            </a:r>
          </a:p>
        </p:txBody>
      </p:sp>
      <p:sp>
        <p:nvSpPr>
          <p:cNvPr id="66" name="Shape 22"/>
          <p:cNvSpPr/>
          <p:nvPr/>
        </p:nvSpPr>
        <p:spPr>
          <a:xfrm>
            <a:off x="1457325" y="6681788"/>
            <a:ext cx="133350" cy="28575"/>
          </a:xfrm>
          <a:prstGeom prst="rect">
            <a:avLst/>
          </a:prstGeom>
          <a:solidFill>
            <a:srgbClr val="B68757"/>
          </a:solidFill>
          <a:ln>
            <a:noFill/>
          </a:ln>
          <a:effectLst/>
        </p:spPr>
        <p:txBody>
          <a:bodyPr rtlCol="0" anchor="ctr"/>
          <a:lstStyle/>
          <a:p>
            <a:pPr algn="ctr"/>
            <a:endParaRPr/>
          </a:p>
        </p:txBody>
      </p:sp>
      <p:sp>
        <p:nvSpPr>
          <p:cNvPr id="67" name="TextBox 44"/>
          <p:cNvSpPr txBox="1"/>
          <p:nvPr/>
        </p:nvSpPr>
        <p:spPr>
          <a:xfrm>
            <a:off x="1647825" y="6629400"/>
            <a:ext cx="1265337"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Life Sciences &amp; Diagnostics</a:t>
            </a:r>
          </a:p>
        </p:txBody>
      </p:sp>
      <p:sp>
        <p:nvSpPr>
          <p:cNvPr id="68" name="Shape 23"/>
          <p:cNvSpPr/>
          <p:nvPr/>
        </p:nvSpPr>
        <p:spPr>
          <a:xfrm>
            <a:off x="419100" y="6853238"/>
            <a:ext cx="133350" cy="28575"/>
          </a:xfrm>
          <a:prstGeom prst="rect">
            <a:avLst/>
          </a:prstGeom>
          <a:solidFill>
            <a:srgbClr val="6D7681"/>
          </a:solidFill>
          <a:ln>
            <a:noFill/>
          </a:ln>
          <a:effectLst/>
        </p:spPr>
        <p:txBody>
          <a:bodyPr rtlCol="0" anchor="ctr"/>
          <a:lstStyle/>
          <a:p>
            <a:pPr algn="ctr"/>
            <a:endParaRPr/>
          </a:p>
        </p:txBody>
      </p:sp>
      <p:sp>
        <p:nvSpPr>
          <p:cNvPr id="69" name="TextBox 45"/>
          <p:cNvSpPr txBox="1"/>
          <p:nvPr/>
        </p:nvSpPr>
        <p:spPr>
          <a:xfrm>
            <a:off x="609600" y="6800850"/>
            <a:ext cx="1497151"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Medical Products &amp; Distribution</a:t>
            </a:r>
          </a:p>
        </p:txBody>
      </p:sp>
      <p:sp>
        <p:nvSpPr>
          <p:cNvPr id="70" name="Shape 24"/>
          <p:cNvSpPr/>
          <p:nvPr/>
        </p:nvSpPr>
        <p:spPr>
          <a:xfrm>
            <a:off x="2056805" y="6853238"/>
            <a:ext cx="133350" cy="28575"/>
          </a:xfrm>
          <a:prstGeom prst="rect">
            <a:avLst/>
          </a:prstGeom>
          <a:solidFill>
            <a:srgbClr val="A39486"/>
          </a:solidFill>
          <a:ln>
            <a:noFill/>
          </a:ln>
          <a:effectLst/>
        </p:spPr>
        <p:txBody>
          <a:bodyPr rtlCol="0" anchor="ctr"/>
          <a:lstStyle/>
          <a:p>
            <a:pPr algn="ctr"/>
            <a:endParaRPr/>
          </a:p>
        </p:txBody>
      </p:sp>
      <p:sp>
        <p:nvSpPr>
          <p:cNvPr id="71" name="TextBox 46"/>
          <p:cNvSpPr txBox="1"/>
          <p:nvPr/>
        </p:nvSpPr>
        <p:spPr>
          <a:xfrm>
            <a:off x="2247305" y="6800850"/>
            <a:ext cx="1509102" cy="123825"/>
          </a:xfrm>
          <a:prstGeom prst="rect">
            <a:avLst/>
          </a:prstGeom>
          <a:noFill/>
        </p:spPr>
        <p:txBody>
          <a:bodyPr wrap="square" lIns="0" tIns="0" rIns="0" bIns="0" anchor="t">
            <a:spAutoFit/>
          </a:bodyPr>
          <a:lstStyle/>
          <a:p>
            <a:pPr algn="l">
              <a:lnSpc>
                <a:spcPts val="1121"/>
              </a:lnSpc>
            </a:pPr>
            <a:r>
              <a:rPr sz="850" b="0" i="0" spc="15">
                <a:solidFill>
                  <a:srgbClr val="333231"/>
                </a:solidFill>
                <a:latin typeface="Calibri"/>
              </a:rPr>
              <a:t>Pharmacy &amp; Healthcare Services</a:t>
            </a:r>
          </a:p>
        </p:txBody>
      </p:sp>
      <p:sp>
        <p:nvSpPr>
          <p:cNvPr id="72" name="Shape 25"/>
          <p:cNvSpPr/>
          <p:nvPr/>
        </p:nvSpPr>
        <p:spPr>
          <a:xfrm>
            <a:off x="4171950" y="1238250"/>
            <a:ext cx="2676525" cy="1352550"/>
          </a:xfrm>
          <a:prstGeom prst="rect">
            <a:avLst/>
          </a:prstGeom>
          <a:solidFill>
            <a:srgbClr val="FAF7F3"/>
          </a:solidFill>
          <a:ln>
            <a:noFill/>
          </a:ln>
          <a:effectLst/>
        </p:spPr>
        <p:txBody>
          <a:bodyPr rtlCol="0" anchor="ctr"/>
          <a:lstStyle/>
          <a:p>
            <a:pPr algn="ctr"/>
            <a:endParaRPr/>
          </a:p>
        </p:txBody>
      </p:sp>
      <p:sp>
        <p:nvSpPr>
          <p:cNvPr id="73" name="Shape 26"/>
          <p:cNvSpPr/>
          <p:nvPr/>
        </p:nvSpPr>
        <p:spPr>
          <a:xfrm>
            <a:off x="4171950" y="1238250"/>
            <a:ext cx="28575" cy="1352550"/>
          </a:xfrm>
          <a:prstGeom prst="rect">
            <a:avLst/>
          </a:prstGeom>
          <a:solidFill>
            <a:srgbClr val="1B1A1A"/>
          </a:solidFill>
          <a:ln>
            <a:noFill/>
          </a:ln>
          <a:effectLst/>
        </p:spPr>
        <p:txBody>
          <a:bodyPr rtlCol="0" anchor="ctr"/>
          <a:lstStyle/>
          <a:p>
            <a:pPr algn="ctr"/>
            <a:endParaRPr/>
          </a:p>
        </p:txBody>
      </p:sp>
      <p:sp>
        <p:nvSpPr>
          <p:cNvPr id="74" name="TextBox 47"/>
          <p:cNvSpPr txBox="1"/>
          <p:nvPr/>
        </p:nvSpPr>
        <p:spPr>
          <a:xfrm>
            <a:off x="4333875" y="13335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PROVIDER SERVICES</a:t>
            </a:r>
          </a:p>
        </p:txBody>
      </p:sp>
      <p:sp>
        <p:nvSpPr>
          <p:cNvPr id="75" name="TextBox 48"/>
          <p:cNvSpPr txBox="1"/>
          <p:nvPr/>
        </p:nvSpPr>
        <p:spPr>
          <a:xfrm>
            <a:off x="4325243" y="1525533"/>
            <a:ext cx="2395538" cy="630942"/>
          </a:xfrm>
          <a:prstGeom prst="rect">
            <a:avLst/>
          </a:prstGeom>
          <a:noFill/>
        </p:spPr>
        <p:txBody>
          <a:bodyPr wrap="square" lIns="0" tIns="0" rIns="0" bIns="0" anchor="t">
            <a:spAutoFit/>
          </a:bodyPr>
          <a:lstStyle/>
          <a:p>
            <a:r>
              <a:rPr sz="950" b="0" i="1" spc="15" dirty="0">
                <a:solidFill>
                  <a:srgbClr val="2A2928"/>
                </a:solidFill>
                <a:latin typeface="Cambria"/>
              </a:rPr>
              <a:t>“We continue to see opportunities that include everything from larger portfolios, landlords looking to replace current tenants, non-profits looking to divest of their post-acute assets and a steady flow of traditional onesie-twosies.”</a:t>
            </a:r>
            <a:endParaRPr sz="800" b="0" i="1" spc="15" dirty="0">
              <a:solidFill>
                <a:srgbClr val="2A2928"/>
              </a:solidFill>
              <a:latin typeface="Cambria"/>
            </a:endParaRPr>
          </a:p>
        </p:txBody>
      </p:sp>
      <p:sp>
        <p:nvSpPr>
          <p:cNvPr id="76" name="TextBox 49"/>
          <p:cNvSpPr txBox="1"/>
          <p:nvPr/>
        </p:nvSpPr>
        <p:spPr>
          <a:xfrm>
            <a:off x="4333875" y="2366962"/>
            <a:ext cx="2395538" cy="128588"/>
          </a:xfrm>
          <a:prstGeom prst="rect">
            <a:avLst/>
          </a:prstGeom>
          <a:noFill/>
        </p:spPr>
        <p:txBody>
          <a:bodyPr wrap="square" lIns="0" tIns="0" rIns="0" bIns="0" anchor="t">
            <a:spAutoFit/>
          </a:bodyPr>
          <a:lstStyle/>
          <a:p>
            <a:pPr algn="l">
              <a:lnSpc>
                <a:spcPts val="1072"/>
              </a:lnSpc>
            </a:pPr>
            <a:r>
              <a:rPr sz="750" b="0" i="0" spc="15" dirty="0">
                <a:solidFill>
                  <a:srgbClr val="8C6239"/>
                </a:solidFill>
                <a:latin typeface="Calibri"/>
                <a:hlinkClick r:id="rId2"/>
              </a:rPr>
              <a:t>Chad Keetch, Chief Investment Officer, The Ensign Group</a:t>
            </a:r>
          </a:p>
        </p:txBody>
      </p:sp>
      <p:sp>
        <p:nvSpPr>
          <p:cNvPr id="77" name="Shape 27"/>
          <p:cNvSpPr/>
          <p:nvPr/>
        </p:nvSpPr>
        <p:spPr>
          <a:xfrm>
            <a:off x="6962775" y="1238250"/>
            <a:ext cx="2676525" cy="1352550"/>
          </a:xfrm>
          <a:prstGeom prst="rect">
            <a:avLst/>
          </a:prstGeom>
          <a:solidFill>
            <a:srgbClr val="FAF7F3"/>
          </a:solidFill>
          <a:ln>
            <a:noFill/>
          </a:ln>
          <a:effectLst/>
        </p:spPr>
        <p:txBody>
          <a:bodyPr rtlCol="0" anchor="ctr"/>
          <a:lstStyle/>
          <a:p>
            <a:pPr algn="ctr"/>
            <a:endParaRPr/>
          </a:p>
        </p:txBody>
      </p:sp>
      <p:sp>
        <p:nvSpPr>
          <p:cNvPr id="78" name="Shape 28"/>
          <p:cNvSpPr/>
          <p:nvPr/>
        </p:nvSpPr>
        <p:spPr>
          <a:xfrm>
            <a:off x="6962775" y="1238250"/>
            <a:ext cx="28575" cy="1352550"/>
          </a:xfrm>
          <a:prstGeom prst="rect">
            <a:avLst/>
          </a:prstGeom>
          <a:solidFill>
            <a:srgbClr val="1B1A1A"/>
          </a:solidFill>
          <a:ln>
            <a:noFill/>
          </a:ln>
          <a:effectLst/>
        </p:spPr>
        <p:txBody>
          <a:bodyPr rtlCol="0" anchor="ctr"/>
          <a:lstStyle/>
          <a:p>
            <a:pPr algn="ctr"/>
            <a:endParaRPr/>
          </a:p>
        </p:txBody>
      </p:sp>
      <p:sp>
        <p:nvSpPr>
          <p:cNvPr id="79" name="TextBox 50"/>
          <p:cNvSpPr txBox="1"/>
          <p:nvPr/>
        </p:nvSpPr>
        <p:spPr>
          <a:xfrm>
            <a:off x="7124700" y="13335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PROVIDER SERVICES</a:t>
            </a:r>
          </a:p>
        </p:txBody>
      </p:sp>
      <p:sp>
        <p:nvSpPr>
          <p:cNvPr id="80" name="TextBox 51"/>
          <p:cNvSpPr txBox="1"/>
          <p:nvPr/>
        </p:nvSpPr>
        <p:spPr>
          <a:xfrm>
            <a:off x="7124700" y="1495425"/>
            <a:ext cx="2395538" cy="738664"/>
          </a:xfrm>
          <a:prstGeom prst="rect">
            <a:avLst/>
          </a:prstGeom>
          <a:noFill/>
        </p:spPr>
        <p:txBody>
          <a:bodyPr wrap="square" lIns="0" tIns="0" rIns="0" bIns="0" anchor="t">
            <a:spAutoFit/>
          </a:bodyPr>
          <a:lstStyle/>
          <a:p>
            <a:r>
              <a:rPr lang="en-US" sz="800" i="1" spc="15" dirty="0">
                <a:solidFill>
                  <a:srgbClr val="2A2928"/>
                </a:solidFill>
                <a:latin typeface="Cambria"/>
              </a:rPr>
              <a:t>“Recently, we have begun to see an increasing number of personal care opportunities, which we will be actively pursuing. Since the announcement of the 2027 proposed home health rule rate, there is more optimism around potential deals in skilled home health care.”</a:t>
            </a:r>
            <a:endParaRPr sz="800" i="1" spc="15" dirty="0">
              <a:solidFill>
                <a:srgbClr val="2A2928"/>
              </a:solidFill>
              <a:latin typeface="Cambria"/>
            </a:endParaRPr>
          </a:p>
        </p:txBody>
      </p:sp>
      <p:sp>
        <p:nvSpPr>
          <p:cNvPr id="81" name="TextBox 52"/>
          <p:cNvSpPr txBox="1"/>
          <p:nvPr/>
        </p:nvSpPr>
        <p:spPr>
          <a:xfrm>
            <a:off x="7137771" y="2361490"/>
            <a:ext cx="2395538" cy="257175"/>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0"/>
              </a:rPr>
              <a:t>Dirk Allison, Chairman and CEO, Addus HomeCare</a:t>
            </a:r>
            <a:endParaRPr sz="800" b="0" i="0" spc="15" dirty="0">
              <a:solidFill>
                <a:srgbClr val="8C6239"/>
              </a:solidFill>
              <a:latin typeface="Calibri"/>
              <a:hlinkClick r:id="rId10">
                <a:extLst>
                  <a:ext uri="{A12FA001-AC4F-418D-AE19-62706E023703}">
                    <ahyp:hlinkClr xmlns:ahyp="http://schemas.microsoft.com/office/drawing/2018/hyperlinkcolor" val="tx"/>
                  </a:ext>
                </a:extLst>
              </a:hlinkClick>
            </a:endParaRPr>
          </a:p>
        </p:txBody>
      </p:sp>
      <p:sp>
        <p:nvSpPr>
          <p:cNvPr id="82" name="Shape 29"/>
          <p:cNvSpPr/>
          <p:nvPr/>
        </p:nvSpPr>
        <p:spPr>
          <a:xfrm>
            <a:off x="4171950" y="2686050"/>
            <a:ext cx="2676525" cy="1352550"/>
          </a:xfrm>
          <a:prstGeom prst="rect">
            <a:avLst/>
          </a:prstGeom>
          <a:solidFill>
            <a:srgbClr val="FAF7F3"/>
          </a:solidFill>
          <a:ln>
            <a:noFill/>
          </a:ln>
          <a:effectLst/>
        </p:spPr>
        <p:txBody>
          <a:bodyPr rtlCol="0" anchor="ctr"/>
          <a:lstStyle/>
          <a:p>
            <a:pPr algn="ctr"/>
            <a:endParaRPr/>
          </a:p>
        </p:txBody>
      </p:sp>
      <p:sp>
        <p:nvSpPr>
          <p:cNvPr id="83" name="Shape 30"/>
          <p:cNvSpPr/>
          <p:nvPr/>
        </p:nvSpPr>
        <p:spPr>
          <a:xfrm>
            <a:off x="4171950" y="2686050"/>
            <a:ext cx="28575" cy="1352550"/>
          </a:xfrm>
          <a:prstGeom prst="rect">
            <a:avLst/>
          </a:prstGeom>
          <a:solidFill>
            <a:srgbClr val="B68757"/>
          </a:solidFill>
          <a:ln>
            <a:noFill/>
          </a:ln>
          <a:effectLst/>
        </p:spPr>
        <p:txBody>
          <a:bodyPr rtlCol="0" anchor="ctr"/>
          <a:lstStyle/>
          <a:p>
            <a:pPr algn="ctr"/>
            <a:endParaRPr/>
          </a:p>
        </p:txBody>
      </p:sp>
      <p:sp>
        <p:nvSpPr>
          <p:cNvPr id="84" name="TextBox 53"/>
          <p:cNvSpPr txBox="1"/>
          <p:nvPr/>
        </p:nvSpPr>
        <p:spPr>
          <a:xfrm>
            <a:off x="4333875" y="27813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LIFE SCIENCES &amp; DIAGNOSTICS</a:t>
            </a:r>
          </a:p>
        </p:txBody>
      </p:sp>
      <p:sp>
        <p:nvSpPr>
          <p:cNvPr id="85" name="TextBox 54"/>
          <p:cNvSpPr txBox="1"/>
          <p:nvPr/>
        </p:nvSpPr>
        <p:spPr>
          <a:xfrm>
            <a:off x="4333875" y="2943225"/>
            <a:ext cx="2395538" cy="630942"/>
          </a:xfrm>
          <a:prstGeom prst="rect">
            <a:avLst/>
          </a:prstGeom>
          <a:noFill/>
        </p:spPr>
        <p:txBody>
          <a:bodyPr wrap="square" lIns="0" tIns="0" rIns="0" bIns="0" anchor="t">
            <a:spAutoFit/>
          </a:bodyPr>
          <a:lstStyle/>
          <a:p>
            <a:r>
              <a:rPr sz="950" b="0" i="1" spc="15" dirty="0">
                <a:solidFill>
                  <a:srgbClr val="2A2928"/>
                </a:solidFill>
                <a:latin typeface="Cambria"/>
              </a:rPr>
              <a:t>“</a:t>
            </a:r>
            <a:r>
              <a:rPr lang="en-US" sz="800" i="1" spc="15" dirty="0">
                <a:solidFill>
                  <a:srgbClr val="2A2928"/>
                </a:solidFill>
                <a:latin typeface="Cambria"/>
              </a:rPr>
              <a:t>Hospitals continue to contend with workforce, financial and other pressures. As a preferred strategic partner, we empower hospitals to improve quality, expand access to new test innovations, and maximize cost efficiencies and capital allocation.” </a:t>
            </a:r>
            <a:endParaRPr sz="800" i="1" spc="15" dirty="0">
              <a:solidFill>
                <a:srgbClr val="2A2928"/>
              </a:solidFill>
              <a:latin typeface="Cambria"/>
            </a:endParaRPr>
          </a:p>
        </p:txBody>
      </p:sp>
      <p:sp>
        <p:nvSpPr>
          <p:cNvPr id="86" name="TextBox 55"/>
          <p:cNvSpPr txBox="1"/>
          <p:nvPr/>
        </p:nvSpPr>
        <p:spPr>
          <a:xfrm>
            <a:off x="4333875" y="3814762"/>
            <a:ext cx="2395538" cy="120289"/>
          </a:xfrm>
          <a:prstGeom prst="rect">
            <a:avLst/>
          </a:prstGeom>
          <a:noFill/>
        </p:spPr>
        <p:txBody>
          <a:bodyPr wrap="square" lIns="0" tIns="0" rIns="0" bIns="0" anchor="t">
            <a:spAutoFit/>
          </a:bodyPr>
          <a:lstStyle/>
          <a:p>
            <a:pPr algn="l">
              <a:lnSpc>
                <a:spcPts val="1072"/>
              </a:lnSpc>
            </a:pPr>
            <a:r>
              <a:rPr sz="750" b="0" i="0" spc="15" dirty="0">
                <a:solidFill>
                  <a:srgbClr val="8C6239"/>
                </a:solidFill>
                <a:latin typeface="Calibri"/>
                <a:hlinkClick r:id="rId21">
                  <a:extLst>
                    <a:ext uri="{A12FA001-AC4F-418D-AE19-62706E023703}">
                      <ahyp:hlinkClr xmlns:ahyp="http://schemas.microsoft.com/office/drawing/2018/hyperlinkcolor" val="tx"/>
                    </a:ext>
                  </a:extLst>
                </a:hlinkClick>
              </a:rPr>
              <a:t>Jim Davis, Chairman, CEO, and President, Quest Diagnostics</a:t>
            </a:r>
            <a:endParaRPr sz="750" b="0" i="0" spc="15" dirty="0">
              <a:solidFill>
                <a:srgbClr val="8C6239"/>
              </a:solidFill>
              <a:latin typeface="Calibri"/>
              <a:hlinkClick r:id="rId5">
                <a:extLst>
                  <a:ext uri="{A12FA001-AC4F-418D-AE19-62706E023703}">
                    <ahyp:hlinkClr xmlns:ahyp="http://schemas.microsoft.com/office/drawing/2018/hyperlinkcolor" val="tx"/>
                  </a:ext>
                </a:extLst>
              </a:hlinkClick>
            </a:endParaRPr>
          </a:p>
        </p:txBody>
      </p:sp>
      <p:sp>
        <p:nvSpPr>
          <p:cNvPr id="87" name="Shape 31"/>
          <p:cNvSpPr/>
          <p:nvPr/>
        </p:nvSpPr>
        <p:spPr>
          <a:xfrm>
            <a:off x="6962775" y="2686050"/>
            <a:ext cx="2676525" cy="1352550"/>
          </a:xfrm>
          <a:prstGeom prst="rect">
            <a:avLst/>
          </a:prstGeom>
          <a:solidFill>
            <a:srgbClr val="FAF7F3"/>
          </a:solidFill>
          <a:ln>
            <a:noFill/>
          </a:ln>
          <a:effectLst/>
        </p:spPr>
        <p:txBody>
          <a:bodyPr rtlCol="0" anchor="ctr"/>
          <a:lstStyle/>
          <a:p>
            <a:pPr algn="ctr"/>
            <a:endParaRPr/>
          </a:p>
        </p:txBody>
      </p:sp>
      <p:sp>
        <p:nvSpPr>
          <p:cNvPr id="88" name="Shape 32"/>
          <p:cNvSpPr/>
          <p:nvPr/>
        </p:nvSpPr>
        <p:spPr>
          <a:xfrm>
            <a:off x="6962775" y="2686050"/>
            <a:ext cx="28575" cy="1352550"/>
          </a:xfrm>
          <a:prstGeom prst="rect">
            <a:avLst/>
          </a:prstGeom>
          <a:solidFill>
            <a:srgbClr val="B68757"/>
          </a:solidFill>
          <a:ln>
            <a:noFill/>
          </a:ln>
          <a:effectLst/>
        </p:spPr>
        <p:txBody>
          <a:bodyPr rtlCol="0" anchor="ctr"/>
          <a:lstStyle/>
          <a:p>
            <a:pPr algn="ctr"/>
            <a:endParaRPr/>
          </a:p>
        </p:txBody>
      </p:sp>
      <p:sp>
        <p:nvSpPr>
          <p:cNvPr id="89" name="TextBox 56"/>
          <p:cNvSpPr txBox="1"/>
          <p:nvPr/>
        </p:nvSpPr>
        <p:spPr>
          <a:xfrm>
            <a:off x="7124700" y="27813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LIFE SCIENCES &amp; DIAGNOSTICS</a:t>
            </a:r>
          </a:p>
        </p:txBody>
      </p:sp>
      <p:sp>
        <p:nvSpPr>
          <p:cNvPr id="90" name="TextBox 57"/>
          <p:cNvSpPr txBox="1"/>
          <p:nvPr/>
        </p:nvSpPr>
        <p:spPr>
          <a:xfrm>
            <a:off x="7103268" y="2978348"/>
            <a:ext cx="2395538" cy="615553"/>
          </a:xfrm>
          <a:prstGeom prst="rect">
            <a:avLst/>
          </a:prstGeom>
          <a:noFill/>
        </p:spPr>
        <p:txBody>
          <a:bodyPr wrap="square" lIns="0" tIns="0" rIns="0" bIns="0" anchor="t">
            <a:spAutoFit/>
          </a:bodyPr>
          <a:lstStyle/>
          <a:p>
            <a:r>
              <a:rPr lang="en-US" sz="800" i="1" spc="15" dirty="0">
                <a:solidFill>
                  <a:srgbClr val="2A2928"/>
                </a:solidFill>
                <a:latin typeface="Cambria"/>
              </a:rPr>
              <a:t>“As you know, our capital deployment strategy continues to prioritize strategic M&amp;A, complemented by a return of capital to our shareholders. We continue to have an active pipeline of M&amp;A opportunities in our highly fragmented industry.”</a:t>
            </a:r>
            <a:endParaRPr sz="800" i="1" spc="15" dirty="0">
              <a:solidFill>
                <a:srgbClr val="2A2928"/>
              </a:solidFill>
              <a:latin typeface="Cambria"/>
            </a:endParaRPr>
          </a:p>
        </p:txBody>
      </p:sp>
      <p:sp>
        <p:nvSpPr>
          <p:cNvPr id="91" name="TextBox 58"/>
          <p:cNvSpPr txBox="1"/>
          <p:nvPr/>
        </p:nvSpPr>
        <p:spPr>
          <a:xfrm>
            <a:off x="7103268" y="3842213"/>
            <a:ext cx="2395538" cy="120289"/>
          </a:xfrm>
          <a:prstGeom prst="rect">
            <a:avLst/>
          </a:prstGeom>
          <a:noFill/>
        </p:spPr>
        <p:txBody>
          <a:bodyPr wrap="square" lIns="0" tIns="0" rIns="0" bIns="0" anchor="t">
            <a:spAutoFit/>
          </a:bodyPr>
          <a:lstStyle/>
          <a:p>
            <a:pPr algn="l">
              <a:lnSpc>
                <a:spcPts val="1072"/>
              </a:lnSpc>
            </a:pPr>
            <a:r>
              <a:rPr lang="en-US" sz="750" b="0" i="0" spc="15" dirty="0">
                <a:solidFill>
                  <a:srgbClr val="8C6239"/>
                </a:solidFill>
                <a:latin typeface="Calibri"/>
                <a:hlinkClick r:id="rId22"/>
              </a:rPr>
              <a:t>Marc Casper, Chairman and CEO, Thermo Fisher Scientific</a:t>
            </a:r>
            <a:endParaRPr sz="750" b="0" i="0" spc="15" dirty="0">
              <a:solidFill>
                <a:srgbClr val="8C6239"/>
              </a:solidFill>
              <a:latin typeface="Calibri"/>
              <a:hlinkClick r:id="rId4">
                <a:extLst>
                  <a:ext uri="{A12FA001-AC4F-418D-AE19-62706E023703}">
                    <ahyp:hlinkClr xmlns:ahyp="http://schemas.microsoft.com/office/drawing/2018/hyperlinkcolor" val="tx"/>
                  </a:ext>
                </a:extLst>
              </a:hlinkClick>
            </a:endParaRPr>
          </a:p>
        </p:txBody>
      </p:sp>
      <p:sp>
        <p:nvSpPr>
          <p:cNvPr id="92" name="Shape 33"/>
          <p:cNvSpPr/>
          <p:nvPr/>
        </p:nvSpPr>
        <p:spPr>
          <a:xfrm>
            <a:off x="4171950" y="4133850"/>
            <a:ext cx="2676525" cy="1352550"/>
          </a:xfrm>
          <a:prstGeom prst="rect">
            <a:avLst/>
          </a:prstGeom>
          <a:solidFill>
            <a:srgbClr val="FAF7F3"/>
          </a:solidFill>
          <a:ln>
            <a:noFill/>
          </a:ln>
          <a:effectLst/>
        </p:spPr>
        <p:txBody>
          <a:bodyPr rtlCol="0" anchor="ctr"/>
          <a:lstStyle/>
          <a:p>
            <a:pPr algn="ctr"/>
            <a:endParaRPr/>
          </a:p>
        </p:txBody>
      </p:sp>
      <p:sp>
        <p:nvSpPr>
          <p:cNvPr id="93" name="Shape 34"/>
          <p:cNvSpPr/>
          <p:nvPr/>
        </p:nvSpPr>
        <p:spPr>
          <a:xfrm>
            <a:off x="4171950" y="4133850"/>
            <a:ext cx="28575" cy="1352550"/>
          </a:xfrm>
          <a:prstGeom prst="rect">
            <a:avLst/>
          </a:prstGeom>
          <a:solidFill>
            <a:srgbClr val="6D7681"/>
          </a:solidFill>
          <a:ln>
            <a:noFill/>
          </a:ln>
          <a:effectLst/>
        </p:spPr>
        <p:txBody>
          <a:bodyPr rtlCol="0" anchor="ctr"/>
          <a:lstStyle/>
          <a:p>
            <a:pPr algn="ctr"/>
            <a:endParaRPr/>
          </a:p>
        </p:txBody>
      </p:sp>
      <p:sp>
        <p:nvSpPr>
          <p:cNvPr id="94" name="TextBox 59"/>
          <p:cNvSpPr txBox="1"/>
          <p:nvPr/>
        </p:nvSpPr>
        <p:spPr>
          <a:xfrm>
            <a:off x="4333875" y="42291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MEDICAL PRODUCTS &amp; DISTRIBUTION</a:t>
            </a:r>
          </a:p>
        </p:txBody>
      </p:sp>
      <p:sp>
        <p:nvSpPr>
          <p:cNvPr id="95" name="TextBox 60"/>
          <p:cNvSpPr txBox="1"/>
          <p:nvPr/>
        </p:nvSpPr>
        <p:spPr>
          <a:xfrm>
            <a:off x="4333875" y="4391025"/>
            <a:ext cx="2395538" cy="738664"/>
          </a:xfrm>
          <a:prstGeom prst="rect">
            <a:avLst/>
          </a:prstGeom>
          <a:noFill/>
        </p:spPr>
        <p:txBody>
          <a:bodyPr wrap="square" lIns="0" tIns="0" rIns="0" bIns="0" anchor="t">
            <a:spAutoFit/>
          </a:bodyPr>
          <a:lstStyle/>
          <a:p>
            <a:r>
              <a:rPr lang="en-US" sz="800" i="1" dirty="0"/>
              <a:t>“When you think about onshoring, it’s not just a move to the U.S. There’s localization going on globally as tariffs become more of a play in Europe and in the U.S. You’ll see some duplication of manufacturing sites, whereas maybe in the past you might have one site globally that is focusing on one pharmaceutical product.”</a:t>
            </a:r>
            <a:endParaRPr sz="800" b="0" i="1" spc="15" dirty="0">
              <a:solidFill>
                <a:srgbClr val="2A2928"/>
              </a:solidFill>
              <a:latin typeface="Cambria"/>
            </a:endParaRPr>
          </a:p>
        </p:txBody>
      </p:sp>
      <p:sp>
        <p:nvSpPr>
          <p:cNvPr id="96" name="TextBox 61"/>
          <p:cNvSpPr txBox="1"/>
          <p:nvPr/>
        </p:nvSpPr>
        <p:spPr>
          <a:xfrm>
            <a:off x="4333875" y="5262562"/>
            <a:ext cx="2395538" cy="120289"/>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3">
                  <a:extLst>
                    <a:ext uri="{A12FA001-AC4F-418D-AE19-62706E023703}">
                      <ahyp:hlinkClr xmlns:ahyp="http://schemas.microsoft.com/office/drawing/2018/hyperlinkcolor" val="tx"/>
                    </a:ext>
                  </a:extLst>
                </a:hlinkClick>
              </a:rPr>
              <a:t>Dan Carestio, President and CEO, STERIS</a:t>
            </a:r>
            <a:endParaRPr sz="800" b="0" i="0" spc="15" dirty="0">
              <a:solidFill>
                <a:srgbClr val="8C6239"/>
              </a:solidFill>
              <a:latin typeface="Calibri"/>
              <a:hlinkClick r:id="rId12">
                <a:extLst>
                  <a:ext uri="{A12FA001-AC4F-418D-AE19-62706E023703}">
                    <ahyp:hlinkClr xmlns:ahyp="http://schemas.microsoft.com/office/drawing/2018/hyperlinkcolor" val="tx"/>
                  </a:ext>
                </a:extLst>
              </a:hlinkClick>
            </a:endParaRPr>
          </a:p>
        </p:txBody>
      </p:sp>
      <p:sp>
        <p:nvSpPr>
          <p:cNvPr id="97" name="Shape 35"/>
          <p:cNvSpPr/>
          <p:nvPr/>
        </p:nvSpPr>
        <p:spPr>
          <a:xfrm>
            <a:off x="6962775" y="4133850"/>
            <a:ext cx="2676525" cy="1352550"/>
          </a:xfrm>
          <a:prstGeom prst="rect">
            <a:avLst/>
          </a:prstGeom>
          <a:solidFill>
            <a:srgbClr val="FAF7F3"/>
          </a:solidFill>
          <a:ln>
            <a:noFill/>
          </a:ln>
          <a:effectLst/>
        </p:spPr>
        <p:txBody>
          <a:bodyPr rtlCol="0" anchor="ctr"/>
          <a:lstStyle/>
          <a:p>
            <a:pPr algn="ctr"/>
            <a:endParaRPr/>
          </a:p>
        </p:txBody>
      </p:sp>
      <p:sp>
        <p:nvSpPr>
          <p:cNvPr id="98" name="Shape 36"/>
          <p:cNvSpPr/>
          <p:nvPr/>
        </p:nvSpPr>
        <p:spPr>
          <a:xfrm>
            <a:off x="6962775" y="4133850"/>
            <a:ext cx="28575" cy="1352550"/>
          </a:xfrm>
          <a:prstGeom prst="rect">
            <a:avLst/>
          </a:prstGeom>
          <a:solidFill>
            <a:srgbClr val="6D7681"/>
          </a:solidFill>
          <a:ln>
            <a:noFill/>
          </a:ln>
          <a:effectLst/>
        </p:spPr>
        <p:txBody>
          <a:bodyPr rtlCol="0" anchor="ctr"/>
          <a:lstStyle/>
          <a:p>
            <a:pPr algn="ctr"/>
            <a:endParaRPr/>
          </a:p>
        </p:txBody>
      </p:sp>
      <p:sp>
        <p:nvSpPr>
          <p:cNvPr id="99" name="TextBox 62"/>
          <p:cNvSpPr txBox="1"/>
          <p:nvPr/>
        </p:nvSpPr>
        <p:spPr>
          <a:xfrm>
            <a:off x="7124700" y="4229100"/>
            <a:ext cx="2395538" cy="114300"/>
          </a:xfrm>
          <a:prstGeom prst="rect">
            <a:avLst/>
          </a:prstGeom>
          <a:noFill/>
        </p:spPr>
        <p:txBody>
          <a:bodyPr wrap="square" lIns="0" tIns="0" rIns="0" bIns="0" anchor="t">
            <a:spAutoFit/>
          </a:bodyPr>
          <a:lstStyle/>
          <a:p>
            <a:pPr algn="l">
              <a:lnSpc>
                <a:spcPts val="1035"/>
              </a:lnSpc>
            </a:pPr>
            <a:r>
              <a:rPr sz="700" b="1" i="0" spc="120" dirty="0">
                <a:solidFill>
                  <a:srgbClr val="8C6239"/>
                </a:solidFill>
                <a:latin typeface="Calibri"/>
              </a:rPr>
              <a:t>MEDICAL PRODUCTS &amp; DISTRIBUTION</a:t>
            </a:r>
          </a:p>
        </p:txBody>
      </p:sp>
      <p:sp>
        <p:nvSpPr>
          <p:cNvPr id="100" name="TextBox 63"/>
          <p:cNvSpPr txBox="1"/>
          <p:nvPr/>
        </p:nvSpPr>
        <p:spPr>
          <a:xfrm>
            <a:off x="7124700" y="4391025"/>
            <a:ext cx="2395538" cy="754053"/>
          </a:xfrm>
          <a:prstGeom prst="rect">
            <a:avLst/>
          </a:prstGeom>
          <a:noFill/>
        </p:spPr>
        <p:txBody>
          <a:bodyPr wrap="square" lIns="0" tIns="0" rIns="0" bIns="0" anchor="t">
            <a:spAutoFit/>
          </a:bodyPr>
          <a:lstStyle/>
          <a:p>
            <a:r>
              <a:rPr sz="900" b="0" i="1" spc="15" dirty="0">
                <a:solidFill>
                  <a:srgbClr val="2A2928"/>
                </a:solidFill>
                <a:latin typeface="Cambria"/>
              </a:rPr>
              <a:t>“We also have a leading position in the fast-growing DSO segment of the market, which is driven especially by the middle market segment. As these DSOs continue to consolidate the dental market, this structural advantage should allow us to outgrow the broader dental market.”</a:t>
            </a:r>
            <a:endParaRPr sz="800" i="1" spc="15" dirty="0">
              <a:solidFill>
                <a:srgbClr val="2A2928"/>
              </a:solidFill>
              <a:latin typeface="Cambria"/>
            </a:endParaRPr>
          </a:p>
        </p:txBody>
      </p:sp>
      <p:sp>
        <p:nvSpPr>
          <p:cNvPr id="101" name="TextBox 64"/>
          <p:cNvSpPr txBox="1"/>
          <p:nvPr/>
        </p:nvSpPr>
        <p:spPr>
          <a:xfrm>
            <a:off x="7124700" y="5262562"/>
            <a:ext cx="2395538" cy="120289"/>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4">
                  <a:extLst>
                    <a:ext uri="{A12FA001-AC4F-418D-AE19-62706E023703}">
                      <ahyp:hlinkClr xmlns:ahyp="http://schemas.microsoft.com/office/drawing/2018/hyperlinkcolor" val="tx"/>
                    </a:ext>
                  </a:extLst>
                </a:hlinkClick>
              </a:rPr>
              <a:t>Fred Lowery, Chief Executive Officer, Henry Schein</a:t>
            </a:r>
            <a:endParaRPr sz="800" b="0" i="0" spc="15" dirty="0">
              <a:solidFill>
                <a:srgbClr val="8C6239"/>
              </a:solidFill>
              <a:latin typeface="Calibri"/>
              <a:hlinkClick r:id="rId14">
                <a:extLst>
                  <a:ext uri="{A12FA001-AC4F-418D-AE19-62706E023703}">
                    <ahyp:hlinkClr xmlns:ahyp="http://schemas.microsoft.com/office/drawing/2018/hyperlinkcolor" val="tx"/>
                  </a:ext>
                </a:extLst>
              </a:hlinkClick>
            </a:endParaRPr>
          </a:p>
        </p:txBody>
      </p:sp>
      <p:sp>
        <p:nvSpPr>
          <p:cNvPr id="102" name="Shape 37"/>
          <p:cNvSpPr/>
          <p:nvPr/>
        </p:nvSpPr>
        <p:spPr>
          <a:xfrm>
            <a:off x="4171950" y="5581650"/>
            <a:ext cx="2676525" cy="1352550"/>
          </a:xfrm>
          <a:prstGeom prst="rect">
            <a:avLst/>
          </a:prstGeom>
          <a:solidFill>
            <a:srgbClr val="FAF7F3"/>
          </a:solidFill>
          <a:ln>
            <a:noFill/>
          </a:ln>
          <a:effectLst/>
        </p:spPr>
        <p:txBody>
          <a:bodyPr rtlCol="0" anchor="ctr"/>
          <a:lstStyle/>
          <a:p>
            <a:pPr algn="ctr"/>
            <a:endParaRPr/>
          </a:p>
        </p:txBody>
      </p:sp>
      <p:sp>
        <p:nvSpPr>
          <p:cNvPr id="103" name="Shape 38"/>
          <p:cNvSpPr/>
          <p:nvPr/>
        </p:nvSpPr>
        <p:spPr>
          <a:xfrm>
            <a:off x="4171950" y="5581650"/>
            <a:ext cx="28575" cy="1352550"/>
          </a:xfrm>
          <a:prstGeom prst="rect">
            <a:avLst/>
          </a:prstGeom>
          <a:solidFill>
            <a:srgbClr val="A39486"/>
          </a:solidFill>
          <a:ln>
            <a:noFill/>
          </a:ln>
          <a:effectLst/>
        </p:spPr>
        <p:txBody>
          <a:bodyPr rtlCol="0" anchor="ctr"/>
          <a:lstStyle/>
          <a:p>
            <a:pPr algn="ctr"/>
            <a:endParaRPr/>
          </a:p>
        </p:txBody>
      </p:sp>
      <p:sp>
        <p:nvSpPr>
          <p:cNvPr id="104" name="TextBox 65"/>
          <p:cNvSpPr txBox="1"/>
          <p:nvPr/>
        </p:nvSpPr>
        <p:spPr>
          <a:xfrm>
            <a:off x="4333875" y="56769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PHARMACY &amp; HEALTHCARE SERVICES</a:t>
            </a:r>
          </a:p>
        </p:txBody>
      </p:sp>
      <p:sp>
        <p:nvSpPr>
          <p:cNvPr id="105" name="TextBox 66"/>
          <p:cNvSpPr txBox="1"/>
          <p:nvPr/>
        </p:nvSpPr>
        <p:spPr>
          <a:xfrm>
            <a:off x="4333875" y="5838825"/>
            <a:ext cx="2395538" cy="507831"/>
          </a:xfrm>
          <a:prstGeom prst="rect">
            <a:avLst/>
          </a:prstGeom>
          <a:noFill/>
        </p:spPr>
        <p:txBody>
          <a:bodyPr wrap="square" lIns="0" tIns="0" rIns="0" bIns="0" anchor="t">
            <a:spAutoFit/>
          </a:bodyPr>
          <a:lstStyle/>
          <a:p>
            <a:r>
              <a:rPr sz="950" b="0" i="1" spc="15" dirty="0">
                <a:solidFill>
                  <a:srgbClr val="2A2928"/>
                </a:solidFill>
                <a:latin typeface="Cambria"/>
              </a:rPr>
              <a:t>“We are uniquely positioned to capitalize on the continued growth from these fast-growing categories, especially in the areas of urology, oncology, and neurology.”</a:t>
            </a:r>
            <a:endParaRPr sz="850" i="1" spc="15" dirty="0">
              <a:solidFill>
                <a:srgbClr val="2A2928"/>
              </a:solidFill>
              <a:latin typeface="Cambria"/>
            </a:endParaRPr>
          </a:p>
        </p:txBody>
      </p:sp>
      <p:sp>
        <p:nvSpPr>
          <p:cNvPr id="106" name="TextBox 67"/>
          <p:cNvSpPr txBox="1"/>
          <p:nvPr/>
        </p:nvSpPr>
        <p:spPr>
          <a:xfrm>
            <a:off x="4333875" y="6710362"/>
            <a:ext cx="2395538" cy="120289"/>
          </a:xfrm>
          <a:prstGeom prst="rect">
            <a:avLst/>
          </a:prstGeom>
          <a:noFill/>
        </p:spPr>
        <p:txBody>
          <a:bodyPr wrap="square" lIns="0" tIns="0" rIns="0" bIns="0" anchor="t">
            <a:spAutoFit/>
          </a:bodyPr>
          <a:lstStyle/>
          <a:p>
            <a:pPr algn="l">
              <a:lnSpc>
                <a:spcPts val="1163"/>
              </a:lnSpc>
            </a:pPr>
            <a:r>
              <a:rPr sz="800" b="0" i="0" spc="15" dirty="0">
                <a:solidFill>
                  <a:srgbClr val="8C6239"/>
                </a:solidFill>
                <a:latin typeface="Calibri"/>
                <a:hlinkClick r:id="rId25">
                  <a:extLst>
                    <a:ext uri="{A12FA001-AC4F-418D-AE19-62706E023703}">
                      <ahyp:hlinkClr xmlns:ahyp="http://schemas.microsoft.com/office/drawing/2018/hyperlinkcolor" val="tx"/>
                    </a:ext>
                  </a:extLst>
                </a:hlinkClick>
              </a:rPr>
              <a:t>Jason Hollar, CEO, Cardinal Health</a:t>
            </a:r>
            <a:endParaRPr sz="800" b="0" i="0" spc="15" dirty="0">
              <a:solidFill>
                <a:srgbClr val="8C6239"/>
              </a:solidFill>
              <a:latin typeface="Calibri"/>
              <a:hlinkClick r:id="rId16">
                <a:extLst>
                  <a:ext uri="{A12FA001-AC4F-418D-AE19-62706E023703}">
                    <ahyp:hlinkClr xmlns:ahyp="http://schemas.microsoft.com/office/drawing/2018/hyperlinkcolor" val="tx"/>
                  </a:ext>
                </a:extLst>
              </a:hlinkClick>
            </a:endParaRPr>
          </a:p>
        </p:txBody>
      </p:sp>
      <p:sp>
        <p:nvSpPr>
          <p:cNvPr id="107" name="Shape 39"/>
          <p:cNvSpPr/>
          <p:nvPr/>
        </p:nvSpPr>
        <p:spPr>
          <a:xfrm>
            <a:off x="6962775" y="5581650"/>
            <a:ext cx="2676525" cy="1352550"/>
          </a:xfrm>
          <a:prstGeom prst="rect">
            <a:avLst/>
          </a:prstGeom>
          <a:solidFill>
            <a:srgbClr val="FAF7F3"/>
          </a:solidFill>
          <a:ln>
            <a:noFill/>
          </a:ln>
          <a:effectLst/>
        </p:spPr>
        <p:txBody>
          <a:bodyPr rtlCol="0" anchor="ctr"/>
          <a:lstStyle/>
          <a:p>
            <a:pPr algn="ctr"/>
            <a:endParaRPr/>
          </a:p>
        </p:txBody>
      </p:sp>
      <p:sp>
        <p:nvSpPr>
          <p:cNvPr id="108" name="Shape 40"/>
          <p:cNvSpPr/>
          <p:nvPr/>
        </p:nvSpPr>
        <p:spPr>
          <a:xfrm>
            <a:off x="6962775" y="5581650"/>
            <a:ext cx="28575" cy="1352550"/>
          </a:xfrm>
          <a:prstGeom prst="rect">
            <a:avLst/>
          </a:prstGeom>
          <a:solidFill>
            <a:srgbClr val="A39486"/>
          </a:solidFill>
          <a:ln>
            <a:noFill/>
          </a:ln>
          <a:effectLst/>
        </p:spPr>
        <p:txBody>
          <a:bodyPr rtlCol="0" anchor="ctr"/>
          <a:lstStyle/>
          <a:p>
            <a:pPr algn="ctr"/>
            <a:endParaRPr/>
          </a:p>
        </p:txBody>
      </p:sp>
      <p:sp>
        <p:nvSpPr>
          <p:cNvPr id="109" name="TextBox 68"/>
          <p:cNvSpPr txBox="1"/>
          <p:nvPr/>
        </p:nvSpPr>
        <p:spPr>
          <a:xfrm>
            <a:off x="7124700" y="5676900"/>
            <a:ext cx="2395538" cy="114300"/>
          </a:xfrm>
          <a:prstGeom prst="rect">
            <a:avLst/>
          </a:prstGeom>
          <a:noFill/>
        </p:spPr>
        <p:txBody>
          <a:bodyPr wrap="square" lIns="0" tIns="0" rIns="0" bIns="0" anchor="t">
            <a:spAutoFit/>
          </a:bodyPr>
          <a:lstStyle/>
          <a:p>
            <a:pPr algn="l">
              <a:lnSpc>
                <a:spcPts val="1035"/>
              </a:lnSpc>
            </a:pPr>
            <a:r>
              <a:rPr sz="700" b="1" i="0" spc="120">
                <a:solidFill>
                  <a:srgbClr val="8C6239"/>
                </a:solidFill>
                <a:latin typeface="Calibri"/>
              </a:rPr>
              <a:t>PHARMACY &amp; HEALTHCARE SERVICES</a:t>
            </a:r>
          </a:p>
        </p:txBody>
      </p:sp>
      <p:sp>
        <p:nvSpPr>
          <p:cNvPr id="110" name="TextBox 69"/>
          <p:cNvSpPr txBox="1"/>
          <p:nvPr/>
        </p:nvSpPr>
        <p:spPr>
          <a:xfrm>
            <a:off x="7128043" y="5833454"/>
            <a:ext cx="2395538" cy="861774"/>
          </a:xfrm>
          <a:prstGeom prst="rect">
            <a:avLst/>
          </a:prstGeom>
          <a:noFill/>
        </p:spPr>
        <p:txBody>
          <a:bodyPr wrap="square" lIns="0" tIns="0" rIns="0" bIns="0" anchor="t">
            <a:spAutoFit/>
          </a:bodyPr>
          <a:lstStyle/>
          <a:p>
            <a:r>
              <a:rPr sz="950" b="0" i="1" spc="15" dirty="0">
                <a:solidFill>
                  <a:srgbClr val="2A2928"/>
                </a:solidFill>
                <a:latin typeface="Cambria"/>
              </a:rPr>
              <a:t>“Most of last year it was relatively quiet. There were a few transactions in certain categories, but not as many as we expected. That’s changed over the last couple of quarters. We’re starting to see more assets come to market.”</a:t>
            </a:r>
          </a:p>
        </p:txBody>
      </p:sp>
      <p:sp>
        <p:nvSpPr>
          <p:cNvPr id="111" name="TextBox 70"/>
          <p:cNvSpPr txBox="1"/>
          <p:nvPr/>
        </p:nvSpPr>
        <p:spPr>
          <a:xfrm>
            <a:off x="7124700" y="6740705"/>
            <a:ext cx="2395538" cy="120289"/>
          </a:xfrm>
          <a:prstGeom prst="rect">
            <a:avLst/>
          </a:prstGeom>
          <a:noFill/>
        </p:spPr>
        <p:txBody>
          <a:bodyPr wrap="square" lIns="0" tIns="0" rIns="0" bIns="0" anchor="t">
            <a:spAutoFit/>
          </a:bodyPr>
          <a:lstStyle/>
          <a:p>
            <a:pPr algn="l">
              <a:lnSpc>
                <a:spcPts val="1163"/>
              </a:lnSpc>
            </a:pPr>
            <a:r>
              <a:rPr lang="en-US" sz="800" b="0" i="0" spc="15" dirty="0">
                <a:solidFill>
                  <a:srgbClr val="8C6239"/>
                </a:solidFill>
                <a:latin typeface="Calibri"/>
                <a:hlinkClick r:id="rId26"/>
              </a:rPr>
              <a:t>Brian Scott, CFO and COO, AMN Healthcare</a:t>
            </a:r>
            <a:endParaRPr sz="800" b="0" i="0" spc="15" dirty="0">
              <a:solidFill>
                <a:srgbClr val="8C6239"/>
              </a:solidFill>
              <a:latin typeface="Calibri"/>
              <a:hlinkClick r:id="rId17">
                <a:extLst>
                  <a:ext uri="{A12FA001-AC4F-418D-AE19-62706E023703}">
                    <ahyp:hlinkClr xmlns:ahyp="http://schemas.microsoft.com/office/drawing/2018/hyperlinkcolor" val="tx"/>
                  </a:ext>
                </a:extLst>
              </a:hlinkClick>
            </a:endParaRPr>
          </a:p>
        </p:txBody>
      </p:sp>
      <p:sp>
        <p:nvSpPr>
          <p:cNvPr id="112" name="Shape 4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13" name="Picture 1" descr="Benchmark International logo"/>
          <p:cNvPicPr>
            <a:picLocks noChangeAspect="1"/>
          </p:cNvPicPr>
          <p:nvPr/>
        </p:nvPicPr>
        <p:blipFill>
          <a:blip r:embed="rId27"/>
          <a:srcRect/>
          <a:stretch>
            <a:fillRect/>
          </a:stretch>
        </p:blipFill>
        <p:spPr>
          <a:xfrm>
            <a:off x="419100" y="7143750"/>
            <a:ext cx="914400" cy="171450"/>
          </a:xfrm>
          <a:prstGeom prst="rect">
            <a:avLst/>
          </a:prstGeom>
        </p:spPr>
      </p:pic>
      <p:sp>
        <p:nvSpPr>
          <p:cNvPr id="114" name="TextBox 71"/>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Growth is total revenue as reported, including acquisitions, computed from each release’s dollar figures; Steris and McKesson figures are for fiscal first quarters and Cardinal Health for its fiscal fourth quarter, all ended June 30, 2026. Quotations are from earnings releases, prepared remarks, and call transcripts for the quarter, lightly edited for fillers.</a:t>
            </a:r>
          </a:p>
        </p:txBody>
      </p:sp>
      <p:sp>
        <p:nvSpPr>
          <p:cNvPr id="115" name="TextBox 72"/>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1A1A"/>
        </a:solidFill>
        <a:effectLst/>
      </p:bgPr>
    </p:bg>
    <p:spTree>
      <p:nvGrpSpPr>
        <p:cNvPr id="1" name=""/>
        <p:cNvGrpSpPr/>
        <p:nvPr/>
      </p:nvGrpSpPr>
      <p:grpSpPr>
        <a:xfrm>
          <a:off x="0" y="0"/>
          <a:ext cx="0" cy="0"/>
          <a:chOff x="0" y="0"/>
          <a:chExt cx="0" cy="0"/>
        </a:xfrm>
      </p:grpSpPr>
      <p:pic>
        <p:nvPicPr>
          <p:cNvPr id="2" name="Picture 1" descr="Dark textured background with the Benchmark International knot emblem"/>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3" name="Picture 2" descr="Hands at a laptop and tablet during a working session, with printed charts on the table"/>
          <p:cNvPicPr>
            <a:picLocks noChangeAspect="1"/>
          </p:cNvPicPr>
          <p:nvPr/>
        </p:nvPicPr>
        <p:blipFill>
          <a:blip r:embed="rId3"/>
          <a:srcRect l="26471" r="26471"/>
          <a:stretch>
            <a:fillRect/>
          </a:stretch>
        </p:blipFill>
        <p:spPr>
          <a:xfrm>
            <a:off x="4572000" y="0"/>
            <a:ext cx="5486400" cy="7772400"/>
          </a:xfrm>
          <a:prstGeom prst="rect">
            <a:avLst/>
          </a:prstGeom>
        </p:spPr>
      </p:pic>
      <p:sp>
        <p:nvSpPr>
          <p:cNvPr id="4" name="Shape 1"/>
          <p:cNvSpPr/>
          <p:nvPr/>
        </p:nvSpPr>
        <p:spPr>
          <a:xfrm>
            <a:off x="4572000" y="0"/>
            <a:ext cx="5486400" cy="7772400"/>
          </a:xfrm>
          <a:prstGeom prst="rect">
            <a:avLst/>
          </a:prstGeom>
          <a:gradFill rotWithShape="1">
            <a:gsLst>
              <a:gs pos="0">
                <a:srgbClr val="1B1A1A">
                  <a:alpha val="50000"/>
                </a:srgbClr>
              </a:gs>
              <a:gs pos="60000">
                <a:srgbClr val="1B1A1A">
                  <a:alpha val="5000"/>
                </a:srgbClr>
              </a:gs>
            </a:gsLst>
            <a:lin ang="0" scaled="0"/>
          </a:gradFill>
          <a:ln>
            <a:noFill/>
          </a:ln>
        </p:spPr>
        <p:txBody>
          <a:bodyPr rtlCol="0" anchor="ctr"/>
          <a:lstStyle/>
          <a:p>
            <a:pPr algn="ctr"/>
            <a:endParaRPr/>
          </a:p>
        </p:txBody>
      </p:sp>
      <p:sp>
        <p:nvSpPr>
          <p:cNvPr id="5" name="Shape 2"/>
          <p:cNvSpPr/>
          <p:nvPr/>
        </p:nvSpPr>
        <p:spPr>
          <a:xfrm>
            <a:off x="4572000" y="0"/>
            <a:ext cx="1316736" cy="7772400"/>
          </a:xfrm>
          <a:custGeom>
            <a:avLst/>
            <a:gdLst/>
            <a:ahLst/>
            <a:cxnLst/>
            <a:rect l="l" t="t" r="r" b="b"/>
            <a:pathLst>
              <a:path w="1316736" h="7772400">
                <a:moveTo>
                  <a:pt x="0" y="0"/>
                </a:moveTo>
                <a:lnTo>
                  <a:pt x="1316736" y="0"/>
                </a:lnTo>
                <a:lnTo>
                  <a:pt x="0" y="7772400"/>
                </a:lnTo>
                <a:close/>
              </a:path>
            </a:pathLst>
          </a:custGeom>
          <a:solidFill>
            <a:srgbClr val="1B1A1A"/>
          </a:solidFill>
          <a:ln>
            <a:noFill/>
          </a:ln>
        </p:spPr>
        <p:txBody>
          <a:bodyPr rtlCol="0" anchor="ctr"/>
          <a:lstStyle/>
          <a:p>
            <a:pPr algn="ctr"/>
            <a:endParaRPr/>
          </a:p>
        </p:txBody>
      </p:sp>
      <p:cxnSp>
        <p:nvCxnSpPr>
          <p:cNvPr id="6" name="Shape 3"/>
          <p:cNvCxnSpPr/>
          <p:nvPr/>
        </p:nvCxnSpPr>
        <p:spPr>
          <a:xfrm flipH="1">
            <a:off x="4562475" y="0"/>
            <a:ext cx="1314450" cy="7772400"/>
          </a:xfrm>
          <a:prstGeom prst="line">
            <a:avLst/>
          </a:prstGeom>
          <a:ln w="38100">
            <a:solidFill>
              <a:srgbClr val="B68757"/>
            </a:solidFill>
          </a:ln>
        </p:spPr>
      </p:cxnSp>
      <p:sp>
        <p:nvSpPr>
          <p:cNvPr id="7" name="TextBox 1"/>
          <p:cNvSpPr txBox="1"/>
          <p:nvPr/>
        </p:nvSpPr>
        <p:spPr>
          <a:xfrm>
            <a:off x="609600" y="1676400"/>
            <a:ext cx="4014788" cy="1143000"/>
          </a:xfrm>
          <a:prstGeom prst="rect">
            <a:avLst/>
          </a:prstGeom>
          <a:noFill/>
        </p:spPr>
        <p:txBody>
          <a:bodyPr wrap="square" lIns="0" tIns="0" rIns="0" bIns="0" anchor="t">
            <a:spAutoFit/>
          </a:bodyPr>
          <a:lstStyle/>
          <a:p>
            <a:pPr algn="l">
              <a:lnSpc>
                <a:spcPts val="9000"/>
              </a:lnSpc>
            </a:pPr>
            <a:r>
              <a:rPr sz="9000" b="0" i="0" spc="300">
                <a:solidFill>
                  <a:srgbClr val="D3AE84"/>
                </a:solidFill>
                <a:latin typeface="Cambria"/>
              </a:rPr>
              <a:t>03</a:t>
            </a:r>
          </a:p>
        </p:txBody>
      </p:sp>
      <p:sp>
        <p:nvSpPr>
          <p:cNvPr id="8" name="TextBox 2"/>
          <p:cNvSpPr txBox="1"/>
          <p:nvPr/>
        </p:nvSpPr>
        <p:spPr>
          <a:xfrm>
            <a:off x="609600" y="2895600"/>
            <a:ext cx="4473416" cy="590550"/>
          </a:xfrm>
          <a:prstGeom prst="rect">
            <a:avLst/>
          </a:prstGeom>
          <a:noFill/>
        </p:spPr>
        <p:txBody>
          <a:bodyPr wrap="square" lIns="0" tIns="0" rIns="0" bIns="0" anchor="t">
            <a:spAutoFit/>
          </a:bodyPr>
          <a:lstStyle/>
          <a:p>
            <a:pPr algn="l">
              <a:lnSpc>
                <a:spcPts val="4650"/>
              </a:lnSpc>
            </a:pPr>
            <a:r>
              <a:rPr sz="4050" b="1" i="0">
                <a:solidFill>
                  <a:srgbClr val="FFFFFF"/>
                </a:solidFill>
                <a:latin typeface="Cambria"/>
              </a:rPr>
              <a:t>Connect With Us</a:t>
            </a:r>
          </a:p>
        </p:txBody>
      </p:sp>
      <p:sp>
        <p:nvSpPr>
          <p:cNvPr id="9" name="Shape 4"/>
          <p:cNvSpPr/>
          <p:nvPr/>
        </p:nvSpPr>
        <p:spPr>
          <a:xfrm>
            <a:off x="609600" y="3714750"/>
            <a:ext cx="914400" cy="19050"/>
          </a:xfrm>
          <a:prstGeom prst="rect">
            <a:avLst/>
          </a:prstGeom>
          <a:solidFill>
            <a:srgbClr val="B68757"/>
          </a:solidFill>
          <a:ln>
            <a:noFill/>
          </a:ln>
          <a:effectLst/>
        </p:spPr>
        <p:txBody>
          <a:bodyPr rtlCol="0" anchor="ctr"/>
          <a:lstStyle/>
          <a:p>
            <a:pPr algn="ctr"/>
            <a:endParaRPr/>
          </a:p>
        </p:txBody>
      </p:sp>
      <p:sp>
        <p:nvSpPr>
          <p:cNvPr id="10" name="Shape 5"/>
          <p:cNvSpPr/>
          <p:nvPr/>
        </p:nvSpPr>
        <p:spPr>
          <a:xfrm>
            <a:off x="609600" y="3924300"/>
            <a:ext cx="3333750" cy="9525"/>
          </a:xfrm>
          <a:prstGeom prst="rect">
            <a:avLst/>
          </a:prstGeom>
          <a:solidFill>
            <a:srgbClr val="FFFFFF">
              <a:alpha val="16000"/>
            </a:srgbClr>
          </a:solidFill>
          <a:ln>
            <a:noFill/>
          </a:ln>
          <a:effectLst/>
        </p:spPr>
        <p:txBody>
          <a:bodyPr rtlCol="0" anchor="ctr"/>
          <a:lstStyle/>
          <a:p>
            <a:pPr algn="ctr"/>
            <a:endParaRPr/>
          </a:p>
        </p:txBody>
      </p:sp>
      <p:sp>
        <p:nvSpPr>
          <p:cNvPr id="11" name="Shape 6"/>
          <p:cNvSpPr/>
          <p:nvPr/>
        </p:nvSpPr>
        <p:spPr>
          <a:xfrm>
            <a:off x="609600" y="4057650"/>
            <a:ext cx="57150" cy="57150"/>
          </a:xfrm>
          <a:prstGeom prst="rect">
            <a:avLst/>
          </a:prstGeom>
          <a:solidFill>
            <a:srgbClr val="B68757"/>
          </a:solidFill>
          <a:ln>
            <a:noFill/>
          </a:ln>
          <a:effectLst/>
        </p:spPr>
        <p:txBody>
          <a:bodyPr rtlCol="0" anchor="ctr"/>
          <a:lstStyle/>
          <a:p>
            <a:pPr algn="ctr"/>
            <a:endParaRPr/>
          </a:p>
        </p:txBody>
      </p:sp>
      <p:sp>
        <p:nvSpPr>
          <p:cNvPr id="12" name="TextBox 3"/>
          <p:cNvSpPr txBox="1"/>
          <p:nvPr/>
        </p:nvSpPr>
        <p:spPr>
          <a:xfrm>
            <a:off x="781050" y="40100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Benchmark International</a:t>
            </a:r>
          </a:p>
        </p:txBody>
      </p:sp>
      <p:sp>
        <p:nvSpPr>
          <p:cNvPr id="13" name="Shape 7"/>
          <p:cNvSpPr/>
          <p:nvPr/>
        </p:nvSpPr>
        <p:spPr>
          <a:xfrm>
            <a:off x="609600" y="4267200"/>
            <a:ext cx="3333750" cy="9525"/>
          </a:xfrm>
          <a:prstGeom prst="rect">
            <a:avLst/>
          </a:prstGeom>
          <a:solidFill>
            <a:srgbClr val="FFFFFF">
              <a:alpha val="16000"/>
            </a:srgbClr>
          </a:solidFill>
          <a:ln>
            <a:noFill/>
          </a:ln>
          <a:effectLst/>
        </p:spPr>
        <p:txBody>
          <a:bodyPr rtlCol="0" anchor="ctr"/>
          <a:lstStyle/>
          <a:p>
            <a:pPr algn="ctr"/>
            <a:endParaRPr/>
          </a:p>
        </p:txBody>
      </p:sp>
      <p:sp>
        <p:nvSpPr>
          <p:cNvPr id="14" name="Shape 8"/>
          <p:cNvSpPr/>
          <p:nvPr/>
        </p:nvSpPr>
        <p:spPr>
          <a:xfrm>
            <a:off x="609600" y="4400550"/>
            <a:ext cx="57150" cy="57150"/>
          </a:xfrm>
          <a:prstGeom prst="rect">
            <a:avLst/>
          </a:prstGeom>
          <a:solidFill>
            <a:srgbClr val="B68757"/>
          </a:solidFill>
          <a:ln>
            <a:noFill/>
          </a:ln>
          <a:effectLst/>
        </p:spPr>
        <p:txBody>
          <a:bodyPr rtlCol="0" anchor="ctr"/>
          <a:lstStyle/>
          <a:p>
            <a:pPr algn="ctr"/>
            <a:endParaRPr/>
          </a:p>
        </p:txBody>
      </p:sp>
      <p:sp>
        <p:nvSpPr>
          <p:cNvPr id="15" name="TextBox 4"/>
          <p:cNvSpPr txBox="1"/>
          <p:nvPr/>
        </p:nvSpPr>
        <p:spPr>
          <a:xfrm>
            <a:off x="781050" y="43529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Connect with Jared Hardin</a:t>
            </a:r>
          </a:p>
        </p:txBody>
      </p:sp>
      <p:sp>
        <p:nvSpPr>
          <p:cNvPr id="16" name="Shape 9"/>
          <p:cNvSpPr/>
          <p:nvPr/>
        </p:nvSpPr>
        <p:spPr>
          <a:xfrm>
            <a:off x="609600" y="4610100"/>
            <a:ext cx="3333750" cy="9525"/>
          </a:xfrm>
          <a:prstGeom prst="rect">
            <a:avLst/>
          </a:prstGeom>
          <a:solidFill>
            <a:srgbClr val="FFFFFF">
              <a:alpha val="16000"/>
            </a:srgbClr>
          </a:solidFill>
          <a:ln>
            <a:noFill/>
          </a:ln>
          <a:effectLst/>
        </p:spPr>
        <p:txBody>
          <a:bodyPr rtlCol="0" anchor="ctr"/>
          <a:lstStyle/>
          <a:p>
            <a:pPr algn="ctr"/>
            <a:endParaRPr/>
          </a:p>
        </p:txBody>
      </p:sp>
      <p:sp>
        <p:nvSpPr>
          <p:cNvPr id="17" name="Shape 10"/>
          <p:cNvSpPr/>
          <p:nvPr/>
        </p:nvSpPr>
        <p:spPr>
          <a:xfrm>
            <a:off x="609600" y="4743450"/>
            <a:ext cx="57150" cy="57150"/>
          </a:xfrm>
          <a:prstGeom prst="rect">
            <a:avLst/>
          </a:prstGeom>
          <a:solidFill>
            <a:srgbClr val="B68757"/>
          </a:solidFill>
          <a:ln>
            <a:noFill/>
          </a:ln>
          <a:effectLst/>
        </p:spPr>
        <p:txBody>
          <a:bodyPr rtlCol="0" anchor="ctr"/>
          <a:lstStyle/>
          <a:p>
            <a:pPr algn="ctr"/>
            <a:endParaRPr/>
          </a:p>
        </p:txBody>
      </p:sp>
      <p:sp>
        <p:nvSpPr>
          <p:cNvPr id="18" name="TextBox 5"/>
          <p:cNvSpPr txBox="1"/>
          <p:nvPr/>
        </p:nvSpPr>
        <p:spPr>
          <a:xfrm>
            <a:off x="781050" y="46958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Appendix: public market metrics</a:t>
            </a:r>
          </a:p>
        </p:txBody>
      </p:sp>
      <p:sp>
        <p:nvSpPr>
          <p:cNvPr id="19" name="Shape 11"/>
          <p:cNvSpPr/>
          <p:nvPr/>
        </p:nvSpPr>
        <p:spPr>
          <a:xfrm>
            <a:off x="609600" y="4953000"/>
            <a:ext cx="3333750" cy="9525"/>
          </a:xfrm>
          <a:prstGeom prst="rect">
            <a:avLst/>
          </a:prstGeom>
          <a:solidFill>
            <a:srgbClr val="FFFFFF">
              <a:alpha val="16000"/>
            </a:srgbClr>
          </a:solidFill>
          <a:ln>
            <a:noFill/>
          </a:ln>
          <a:effectLst/>
        </p:spPr>
        <p:txBody>
          <a:bodyPr rtlCol="0" anchor="ctr"/>
          <a:lstStyle/>
          <a:p>
            <a:pPr algn="ctr"/>
            <a:endParaRPr/>
          </a:p>
        </p:txBody>
      </p:sp>
      <p:sp>
        <p:nvSpPr>
          <p:cNvPr id="20" name="Shape 12"/>
          <p:cNvSpPr/>
          <p:nvPr/>
        </p:nvSpPr>
        <p:spPr>
          <a:xfrm>
            <a:off x="609600" y="5086350"/>
            <a:ext cx="57150" cy="57150"/>
          </a:xfrm>
          <a:prstGeom prst="rect">
            <a:avLst/>
          </a:prstGeom>
          <a:solidFill>
            <a:srgbClr val="B68757"/>
          </a:solidFill>
          <a:ln>
            <a:noFill/>
          </a:ln>
          <a:effectLst/>
        </p:spPr>
        <p:txBody>
          <a:bodyPr rtlCol="0" anchor="ctr"/>
          <a:lstStyle/>
          <a:p>
            <a:pPr algn="ctr"/>
            <a:endParaRPr/>
          </a:p>
        </p:txBody>
      </p:sp>
      <p:sp>
        <p:nvSpPr>
          <p:cNvPr id="21" name="TextBox 6"/>
          <p:cNvSpPr txBox="1"/>
          <p:nvPr/>
        </p:nvSpPr>
        <p:spPr>
          <a:xfrm>
            <a:off x="781050" y="5038725"/>
            <a:ext cx="2400000" cy="180975"/>
          </a:xfrm>
          <a:prstGeom prst="rect">
            <a:avLst/>
          </a:prstGeom>
          <a:noFill/>
        </p:spPr>
        <p:txBody>
          <a:bodyPr wrap="square" lIns="0" tIns="0" rIns="0" bIns="0" anchor="t">
            <a:spAutoFit/>
          </a:bodyPr>
          <a:lstStyle/>
          <a:p>
            <a:pPr algn="l">
              <a:lnSpc>
                <a:spcPts val="1639"/>
              </a:lnSpc>
            </a:pPr>
            <a:r>
              <a:rPr sz="1100" b="0" i="0" spc="15">
                <a:solidFill>
                  <a:srgbClr val="C3BDB6"/>
                </a:solidFill>
                <a:latin typeface="Calibri"/>
              </a:rPr>
              <a:t>Sources</a:t>
            </a:r>
          </a:p>
        </p:txBody>
      </p:sp>
      <p:sp>
        <p:nvSpPr>
          <p:cNvPr id="22" name="Shape 13"/>
          <p:cNvSpPr/>
          <p:nvPr/>
        </p:nvSpPr>
        <p:spPr>
          <a:xfrm>
            <a:off x="609600" y="5295900"/>
            <a:ext cx="3333750" cy="9525"/>
          </a:xfrm>
          <a:prstGeom prst="rect">
            <a:avLst/>
          </a:prstGeom>
          <a:solidFill>
            <a:srgbClr val="FFFFFF">
              <a:alpha val="16000"/>
            </a:srgbClr>
          </a:solidFill>
          <a:ln>
            <a:noFill/>
          </a:ln>
          <a:effectLst/>
        </p:spPr>
        <p:txBody>
          <a:bodyPr rtlCol="0" anchor="ctr"/>
          <a:lstStyle/>
          <a:p>
            <a:pPr algn="ctr"/>
            <a:endParaRPr/>
          </a:p>
        </p:txBody>
      </p:sp>
      <p:pic>
        <p:nvPicPr>
          <p:cNvPr id="23" name="Picture 3" descr="Benchmark International logo"/>
          <p:cNvPicPr>
            <a:picLocks noChangeAspect="1"/>
          </p:cNvPicPr>
          <p:nvPr/>
        </p:nvPicPr>
        <p:blipFill>
          <a:blip r:embed="rId4"/>
          <a:srcRect/>
          <a:stretch>
            <a:fillRect/>
          </a:stretch>
        </p:blipFill>
        <p:spPr>
          <a:xfrm>
            <a:off x="609600" y="7086600"/>
            <a:ext cx="1428750" cy="266700"/>
          </a:xfrm>
          <a:prstGeom prst="rect">
            <a:avLst/>
          </a:prstGeom>
        </p:spPr>
      </p:pic>
      <p:sp>
        <p:nvSpPr>
          <p:cNvPr id="24" name="TextBox 7"/>
          <p:cNvSpPr txBox="1"/>
          <p:nvPr/>
        </p:nvSpPr>
        <p:spPr>
          <a:xfrm>
            <a:off x="2209800" y="7181850"/>
            <a:ext cx="1482179" cy="133350"/>
          </a:xfrm>
          <a:prstGeom prst="rect">
            <a:avLst/>
          </a:prstGeom>
          <a:noFill/>
        </p:spPr>
        <p:txBody>
          <a:bodyPr wrap="square" lIns="0" tIns="0" rIns="0" bIns="0" anchor="t">
            <a:spAutoFit/>
          </a:bodyPr>
          <a:lstStyle/>
          <a:p>
            <a:pPr algn="l">
              <a:lnSpc>
                <a:spcPts val="1113"/>
              </a:lnSpc>
            </a:pPr>
            <a:r>
              <a:rPr sz="750" b="1" i="0" spc="195">
                <a:solidFill>
                  <a:srgbClr val="C3BDB6"/>
                </a:solidFill>
                <a:latin typeface="Calibri"/>
              </a:rPr>
              <a:t>HEALTHCARE | Q4 2026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Benchmark International</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The world’s leading privately owned sell-side M&amp;A advisor focused on five industries.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Shape 3"/>
          <p:cNvSpPr/>
          <p:nvPr/>
        </p:nvSpPr>
        <p:spPr>
          <a:xfrm>
            <a:off x="419100" y="1238250"/>
            <a:ext cx="9220200" cy="2286000"/>
          </a:xfrm>
          <a:prstGeom prst="rect">
            <a:avLst/>
          </a:prstGeom>
          <a:solidFill>
            <a:srgbClr val="1B1A1A"/>
          </a:solidFill>
          <a:ln>
            <a:noFill/>
          </a:ln>
          <a:effectLst/>
        </p:spPr>
        <p:txBody>
          <a:bodyPr rtlCol="0" anchor="ctr"/>
          <a:lstStyle/>
          <a:p>
            <a:pPr algn="ctr"/>
            <a:endParaRPr/>
          </a:p>
        </p:txBody>
      </p:sp>
      <p:pic>
        <p:nvPicPr>
          <p:cNvPr id="9" name="Picture 1" descr="Dark textured background with the Benchmark International knot emblem"/>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0" name="Picture 2" descr="Benchmark International logo"/>
          <p:cNvPicPr>
            <a:picLocks noChangeAspect="1"/>
          </p:cNvPicPr>
          <p:nvPr/>
        </p:nvPicPr>
        <p:blipFill>
          <a:blip r:embed="rId3"/>
          <a:srcRect/>
          <a:stretch>
            <a:fillRect/>
          </a:stretch>
        </p:blipFill>
        <p:spPr>
          <a:xfrm>
            <a:off x="685800" y="1466850"/>
            <a:ext cx="2381250" cy="447675"/>
          </a:xfrm>
          <a:prstGeom prst="rect">
            <a:avLst/>
          </a:prstGeom>
        </p:spPr>
      </p:pic>
      <p:sp>
        <p:nvSpPr>
          <p:cNvPr id="11" name="TextBox 5"/>
          <p:cNvSpPr txBox="1"/>
          <p:nvPr/>
        </p:nvSpPr>
        <p:spPr>
          <a:xfrm>
            <a:off x="3352800" y="1504950"/>
            <a:ext cx="6034088" cy="371475"/>
          </a:xfrm>
          <a:prstGeom prst="rect">
            <a:avLst/>
          </a:prstGeom>
          <a:noFill/>
        </p:spPr>
        <p:txBody>
          <a:bodyPr wrap="square" lIns="0" tIns="0" rIns="0" bIns="0" anchor="t">
            <a:spAutoFit/>
          </a:bodyPr>
          <a:lstStyle/>
          <a:p>
            <a:pPr algn="l">
              <a:lnSpc>
                <a:spcPts val="1462"/>
              </a:lnSpc>
            </a:pPr>
            <a:r>
              <a:rPr sz="938" b="0" i="0" spc="15">
                <a:solidFill>
                  <a:srgbClr val="E8E2DA"/>
                </a:solidFill>
                <a:latin typeface="Calibri"/>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p>
        </p:txBody>
      </p:sp>
      <p:sp>
        <p:nvSpPr>
          <p:cNvPr id="12" name="Shape 4"/>
          <p:cNvSpPr/>
          <p:nvPr/>
        </p:nvSpPr>
        <p:spPr>
          <a:xfrm>
            <a:off x="514350"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3" name="TextBox 6"/>
          <p:cNvSpPr txBox="1"/>
          <p:nvPr/>
        </p:nvSpPr>
        <p:spPr>
          <a:xfrm>
            <a:off x="695325" y="2162175"/>
            <a:ext cx="1977807"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a:t>
            </a:r>
          </a:p>
        </p:txBody>
      </p:sp>
      <p:sp>
        <p:nvSpPr>
          <p:cNvPr id="14" name="TextBox 7"/>
          <p:cNvSpPr txBox="1"/>
          <p:nvPr/>
        </p:nvSpPr>
        <p:spPr>
          <a:xfrm>
            <a:off x="695325" y="2552700"/>
            <a:ext cx="1746052" cy="457200"/>
          </a:xfrm>
          <a:prstGeom prst="rect">
            <a:avLst/>
          </a:prstGeom>
          <a:noFill/>
        </p:spPr>
        <p:txBody>
          <a:bodyPr wrap="square" lIns="0" tIns="0" rIns="0" bIns="0" anchor="t">
            <a:spAutoFit/>
          </a:bodyPr>
          <a:lstStyle/>
          <a:p>
            <a:pPr algn="l">
              <a:lnSpc>
                <a:spcPts val="1200"/>
              </a:lnSpc>
            </a:pPr>
            <a:r>
              <a:rPr sz="825" b="0" i="0" spc="15">
                <a:solidFill>
                  <a:srgbClr val="E8E2DA"/>
                </a:solidFill>
                <a:latin typeface="Calibri"/>
              </a:rPr>
              <a:t>Privately owned sell-side M&amp;A advisor worldwide, based on PitchBook’s Q2 2026 Global League Tables</a:t>
            </a:r>
          </a:p>
        </p:txBody>
      </p:sp>
      <p:sp>
        <p:nvSpPr>
          <p:cNvPr id="15" name="Shape 5"/>
          <p:cNvSpPr/>
          <p:nvPr/>
        </p:nvSpPr>
        <p:spPr>
          <a:xfrm>
            <a:off x="2598539"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6" name="TextBox 8"/>
          <p:cNvSpPr txBox="1"/>
          <p:nvPr/>
        </p:nvSpPr>
        <p:spPr>
          <a:xfrm>
            <a:off x="2779514" y="2162175"/>
            <a:ext cx="2551122"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$50M to $500M</a:t>
            </a:r>
          </a:p>
        </p:txBody>
      </p:sp>
      <p:sp>
        <p:nvSpPr>
          <p:cNvPr id="17" name="TextBox 9"/>
          <p:cNvSpPr txBox="1"/>
          <p:nvPr/>
        </p:nvSpPr>
        <p:spPr>
          <a:xfrm>
            <a:off x="2779514" y="2552700"/>
            <a:ext cx="2267248" cy="152400"/>
          </a:xfrm>
          <a:prstGeom prst="rect">
            <a:avLst/>
          </a:prstGeom>
          <a:noFill/>
        </p:spPr>
        <p:txBody>
          <a:bodyPr wrap="square" lIns="0" tIns="0" rIns="0" bIns="0" anchor="t">
            <a:spAutoFit/>
          </a:bodyPr>
          <a:lstStyle/>
          <a:p>
            <a:pPr algn="l">
              <a:lnSpc>
                <a:spcPts val="1344"/>
              </a:lnSpc>
            </a:pPr>
            <a:r>
              <a:rPr sz="900" b="0" i="0" spc="15">
                <a:solidFill>
                  <a:srgbClr val="E8E2DA"/>
                </a:solidFill>
                <a:latin typeface="Calibri"/>
              </a:rPr>
              <a:t>Total enterprise value range the Middle Market team serves</a:t>
            </a:r>
          </a:p>
        </p:txBody>
      </p:sp>
      <p:sp>
        <p:nvSpPr>
          <p:cNvPr id="18" name="Shape 6"/>
          <p:cNvSpPr/>
          <p:nvPr/>
        </p:nvSpPr>
        <p:spPr>
          <a:xfrm>
            <a:off x="5203924"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19" name="TextBox 10"/>
          <p:cNvSpPr txBox="1"/>
          <p:nvPr/>
        </p:nvSpPr>
        <p:spPr>
          <a:xfrm>
            <a:off x="5384899"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5</a:t>
            </a:r>
          </a:p>
        </p:txBody>
      </p:sp>
      <p:sp>
        <p:nvSpPr>
          <p:cNvPr id="20" name="TextBox 11"/>
          <p:cNvSpPr txBox="1"/>
          <p:nvPr/>
        </p:nvSpPr>
        <p:spPr>
          <a:xfrm>
            <a:off x="5384899" y="2552700"/>
            <a:ext cx="1746200" cy="304800"/>
          </a:xfrm>
          <a:prstGeom prst="rect">
            <a:avLst/>
          </a:prstGeom>
          <a:noFill/>
        </p:spPr>
        <p:txBody>
          <a:bodyPr wrap="square" lIns="0" tIns="0" rIns="0" bIns="0" anchor="t">
            <a:spAutoFit/>
          </a:bodyPr>
          <a:lstStyle/>
          <a:p>
            <a:pPr algn="l">
              <a:lnSpc>
                <a:spcPts val="1344"/>
              </a:lnSpc>
            </a:pPr>
            <a:r>
              <a:rPr sz="900" b="0" i="0" spc="15">
                <a:solidFill>
                  <a:srgbClr val="E8E2DA"/>
                </a:solidFill>
                <a:latin typeface="Calibri"/>
              </a:rPr>
              <a:t>Focused industry groups with dedicated sector expertise</a:t>
            </a:r>
          </a:p>
        </p:txBody>
      </p:sp>
      <p:sp>
        <p:nvSpPr>
          <p:cNvPr id="21" name="Shape 7"/>
          <p:cNvSpPr/>
          <p:nvPr/>
        </p:nvSpPr>
        <p:spPr>
          <a:xfrm>
            <a:off x="7288262" y="2162175"/>
            <a:ext cx="9525" cy="847725"/>
          </a:xfrm>
          <a:prstGeom prst="rect">
            <a:avLst/>
          </a:prstGeom>
          <a:solidFill>
            <a:srgbClr val="FFFFFF">
              <a:alpha val="18000"/>
            </a:srgbClr>
          </a:solidFill>
          <a:ln>
            <a:noFill/>
          </a:ln>
          <a:effectLst/>
        </p:spPr>
        <p:txBody>
          <a:bodyPr rtlCol="0" anchor="ctr"/>
          <a:lstStyle/>
          <a:p>
            <a:pPr algn="ctr"/>
            <a:endParaRPr/>
          </a:p>
        </p:txBody>
      </p:sp>
      <p:sp>
        <p:nvSpPr>
          <p:cNvPr id="22" name="TextBox 12"/>
          <p:cNvSpPr txBox="1"/>
          <p:nvPr/>
        </p:nvSpPr>
        <p:spPr>
          <a:xfrm>
            <a:off x="7469237" y="2162175"/>
            <a:ext cx="1977970" cy="342900"/>
          </a:xfrm>
          <a:prstGeom prst="rect">
            <a:avLst/>
          </a:prstGeom>
          <a:noFill/>
        </p:spPr>
        <p:txBody>
          <a:bodyPr wrap="square" lIns="0" tIns="0" rIns="0" bIns="0" anchor="t">
            <a:spAutoFit/>
          </a:bodyPr>
          <a:lstStyle/>
          <a:p>
            <a:pPr algn="l">
              <a:lnSpc>
                <a:spcPts val="2700"/>
              </a:lnSpc>
            </a:pPr>
            <a:r>
              <a:rPr sz="2250" b="1" i="0">
                <a:solidFill>
                  <a:srgbClr val="D3AE84"/>
                </a:solidFill>
                <a:latin typeface="Cambria"/>
              </a:rPr>
              <a:t>15</a:t>
            </a:r>
          </a:p>
        </p:txBody>
      </p:sp>
      <p:sp>
        <p:nvSpPr>
          <p:cNvPr id="23" name="TextBox 13"/>
          <p:cNvSpPr txBox="1"/>
          <p:nvPr/>
        </p:nvSpPr>
        <p:spPr>
          <a:xfrm>
            <a:off x="7469237" y="2552700"/>
            <a:ext cx="1746200" cy="304800"/>
          </a:xfrm>
          <a:prstGeom prst="rect">
            <a:avLst/>
          </a:prstGeom>
          <a:noFill/>
        </p:spPr>
        <p:txBody>
          <a:bodyPr wrap="square" lIns="0" tIns="0" rIns="0" bIns="0" anchor="t">
            <a:spAutoFit/>
          </a:bodyPr>
          <a:lstStyle/>
          <a:p>
            <a:pPr algn="l">
              <a:lnSpc>
                <a:spcPts val="1344"/>
              </a:lnSpc>
            </a:pPr>
            <a:r>
              <a:rPr sz="900" b="0" i="0" spc="15">
                <a:solidFill>
                  <a:srgbClr val="E8E2DA"/>
                </a:solidFill>
                <a:latin typeface="Calibri"/>
              </a:rPr>
              <a:t>Global offices across the Americas, Europe, and Africa</a:t>
            </a:r>
          </a:p>
        </p:txBody>
      </p:sp>
      <p:sp>
        <p:nvSpPr>
          <p:cNvPr id="24" name="TextBox 14"/>
          <p:cNvSpPr txBox="1"/>
          <p:nvPr/>
        </p:nvSpPr>
        <p:spPr>
          <a:xfrm>
            <a:off x="419100" y="3714750"/>
            <a:ext cx="92344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RECOGNITION</a:t>
            </a:r>
          </a:p>
        </p:txBody>
      </p:sp>
      <p:sp>
        <p:nvSpPr>
          <p:cNvPr id="25" name="Shape 8"/>
          <p:cNvSpPr/>
          <p:nvPr/>
        </p:nvSpPr>
        <p:spPr>
          <a:xfrm>
            <a:off x="419100" y="3924300"/>
            <a:ext cx="2205038" cy="1466850"/>
          </a:xfrm>
          <a:prstGeom prst="rect">
            <a:avLst/>
          </a:prstGeom>
          <a:solidFill>
            <a:srgbClr val="FFFFFF"/>
          </a:solidFill>
          <a:ln>
            <a:noFill/>
          </a:ln>
          <a:effectLst/>
        </p:spPr>
        <p:txBody>
          <a:bodyPr rtlCol="0" anchor="ctr"/>
          <a:lstStyle/>
          <a:p>
            <a:pPr algn="ctr"/>
            <a:endParaRPr/>
          </a:p>
        </p:txBody>
      </p:sp>
      <p:sp>
        <p:nvSpPr>
          <p:cNvPr id="26" name="Shape 9"/>
          <p:cNvSpPr/>
          <p:nvPr/>
        </p:nvSpPr>
        <p:spPr>
          <a:xfrm>
            <a:off x="419100" y="3924300"/>
            <a:ext cx="2205038" cy="28575"/>
          </a:xfrm>
          <a:prstGeom prst="rect">
            <a:avLst/>
          </a:prstGeom>
          <a:solidFill>
            <a:srgbClr val="B68757"/>
          </a:solidFill>
          <a:ln>
            <a:noFill/>
          </a:ln>
          <a:effectLst/>
        </p:spPr>
        <p:txBody>
          <a:bodyPr rtlCol="0" anchor="ctr"/>
          <a:lstStyle/>
          <a:p>
            <a:pPr algn="ctr"/>
            <a:endParaRPr/>
          </a:p>
        </p:txBody>
      </p:sp>
      <p:sp>
        <p:nvSpPr>
          <p:cNvPr id="27" name="Shape 10"/>
          <p:cNvSpPr/>
          <p:nvPr/>
        </p:nvSpPr>
        <p:spPr>
          <a:xfrm>
            <a:off x="2614612" y="3924300"/>
            <a:ext cx="9525" cy="1466850"/>
          </a:xfrm>
          <a:prstGeom prst="rect">
            <a:avLst/>
          </a:prstGeom>
          <a:solidFill>
            <a:srgbClr val="E3DCD3"/>
          </a:solidFill>
          <a:ln>
            <a:noFill/>
          </a:ln>
          <a:effectLst/>
        </p:spPr>
        <p:txBody>
          <a:bodyPr rtlCol="0" anchor="ctr"/>
          <a:lstStyle/>
          <a:p>
            <a:pPr algn="ctr"/>
            <a:endParaRPr/>
          </a:p>
        </p:txBody>
      </p:sp>
      <p:sp>
        <p:nvSpPr>
          <p:cNvPr id="28" name="Shape 11"/>
          <p:cNvSpPr/>
          <p:nvPr/>
        </p:nvSpPr>
        <p:spPr>
          <a:xfrm>
            <a:off x="419100" y="5381625"/>
            <a:ext cx="2205038" cy="9525"/>
          </a:xfrm>
          <a:prstGeom prst="rect">
            <a:avLst/>
          </a:prstGeom>
          <a:solidFill>
            <a:srgbClr val="E3DCD3"/>
          </a:solidFill>
          <a:ln>
            <a:noFill/>
          </a:ln>
          <a:effectLst/>
        </p:spPr>
        <p:txBody>
          <a:bodyPr rtlCol="0" anchor="ctr"/>
          <a:lstStyle/>
          <a:p>
            <a:pPr algn="ctr"/>
            <a:endParaRPr/>
          </a:p>
        </p:txBody>
      </p:sp>
      <p:sp>
        <p:nvSpPr>
          <p:cNvPr id="29" name="Shape 12"/>
          <p:cNvSpPr/>
          <p:nvPr/>
        </p:nvSpPr>
        <p:spPr>
          <a:xfrm>
            <a:off x="419100" y="3924300"/>
            <a:ext cx="9525" cy="1466850"/>
          </a:xfrm>
          <a:prstGeom prst="rect">
            <a:avLst/>
          </a:prstGeom>
          <a:solidFill>
            <a:srgbClr val="E3DCD3"/>
          </a:solidFill>
          <a:ln>
            <a:noFill/>
          </a:ln>
          <a:effectLst/>
        </p:spPr>
        <p:txBody>
          <a:bodyPr rtlCol="0" anchor="ctr"/>
          <a:lstStyle/>
          <a:p>
            <a:pPr algn="ctr"/>
            <a:endParaRPr/>
          </a:p>
        </p:txBody>
      </p:sp>
      <p:pic>
        <p:nvPicPr>
          <p:cNvPr id="30" name="Picture 3" descr="Award badge from The M&amp;A Advisor: Investment Banking Firm of the Year"/>
          <p:cNvPicPr>
            <a:picLocks noChangeAspect="1"/>
          </p:cNvPicPr>
          <p:nvPr/>
        </p:nvPicPr>
        <p:blipFill>
          <a:blip r:embed="rId4"/>
          <a:srcRect/>
          <a:stretch>
            <a:fillRect/>
          </a:stretch>
        </p:blipFill>
        <p:spPr>
          <a:xfrm>
            <a:off x="514499" y="4086225"/>
            <a:ext cx="2014091" cy="1162050"/>
          </a:xfrm>
          <a:prstGeom prst="rect">
            <a:avLst/>
          </a:prstGeom>
        </p:spPr>
      </p:pic>
      <p:sp>
        <p:nvSpPr>
          <p:cNvPr id="31" name="Shape 13"/>
          <p:cNvSpPr/>
          <p:nvPr/>
        </p:nvSpPr>
        <p:spPr>
          <a:xfrm>
            <a:off x="2757488" y="3924300"/>
            <a:ext cx="2205038" cy="1466850"/>
          </a:xfrm>
          <a:prstGeom prst="rect">
            <a:avLst/>
          </a:prstGeom>
          <a:solidFill>
            <a:srgbClr val="FFFFFF"/>
          </a:solidFill>
          <a:ln>
            <a:noFill/>
          </a:ln>
          <a:effectLst/>
        </p:spPr>
        <p:txBody>
          <a:bodyPr rtlCol="0" anchor="ctr"/>
          <a:lstStyle/>
          <a:p>
            <a:pPr algn="ctr"/>
            <a:endParaRPr/>
          </a:p>
        </p:txBody>
      </p:sp>
      <p:sp>
        <p:nvSpPr>
          <p:cNvPr id="32" name="Shape 14"/>
          <p:cNvSpPr/>
          <p:nvPr/>
        </p:nvSpPr>
        <p:spPr>
          <a:xfrm>
            <a:off x="2757488" y="3924300"/>
            <a:ext cx="2205038" cy="28575"/>
          </a:xfrm>
          <a:prstGeom prst="rect">
            <a:avLst/>
          </a:prstGeom>
          <a:solidFill>
            <a:srgbClr val="B68757"/>
          </a:solidFill>
          <a:ln>
            <a:noFill/>
          </a:ln>
          <a:effectLst/>
        </p:spPr>
        <p:txBody>
          <a:bodyPr rtlCol="0" anchor="ctr"/>
          <a:lstStyle/>
          <a:p>
            <a:pPr algn="ctr"/>
            <a:endParaRPr/>
          </a:p>
        </p:txBody>
      </p:sp>
      <p:sp>
        <p:nvSpPr>
          <p:cNvPr id="33" name="Shape 15"/>
          <p:cNvSpPr/>
          <p:nvPr/>
        </p:nvSpPr>
        <p:spPr>
          <a:xfrm>
            <a:off x="4953000" y="3924300"/>
            <a:ext cx="9525" cy="1466850"/>
          </a:xfrm>
          <a:prstGeom prst="rect">
            <a:avLst/>
          </a:prstGeom>
          <a:solidFill>
            <a:srgbClr val="E3DCD3"/>
          </a:solidFill>
          <a:ln>
            <a:noFill/>
          </a:ln>
          <a:effectLst/>
        </p:spPr>
        <p:txBody>
          <a:bodyPr rtlCol="0" anchor="ctr"/>
          <a:lstStyle/>
          <a:p>
            <a:pPr algn="ctr"/>
            <a:endParaRPr/>
          </a:p>
        </p:txBody>
      </p:sp>
      <p:sp>
        <p:nvSpPr>
          <p:cNvPr id="34" name="Shape 16"/>
          <p:cNvSpPr/>
          <p:nvPr/>
        </p:nvSpPr>
        <p:spPr>
          <a:xfrm>
            <a:off x="2757488" y="5381625"/>
            <a:ext cx="2205038" cy="9525"/>
          </a:xfrm>
          <a:prstGeom prst="rect">
            <a:avLst/>
          </a:prstGeom>
          <a:solidFill>
            <a:srgbClr val="E3DCD3"/>
          </a:solidFill>
          <a:ln>
            <a:noFill/>
          </a:ln>
          <a:effectLst/>
        </p:spPr>
        <p:txBody>
          <a:bodyPr rtlCol="0" anchor="ctr"/>
          <a:lstStyle/>
          <a:p>
            <a:pPr algn="ctr"/>
            <a:endParaRPr/>
          </a:p>
        </p:txBody>
      </p:sp>
      <p:sp>
        <p:nvSpPr>
          <p:cNvPr id="35" name="Shape 17"/>
          <p:cNvSpPr/>
          <p:nvPr/>
        </p:nvSpPr>
        <p:spPr>
          <a:xfrm>
            <a:off x="2757488" y="3924300"/>
            <a:ext cx="9525" cy="1466850"/>
          </a:xfrm>
          <a:prstGeom prst="rect">
            <a:avLst/>
          </a:prstGeom>
          <a:solidFill>
            <a:srgbClr val="E3DCD3"/>
          </a:solidFill>
          <a:ln>
            <a:noFill/>
          </a:ln>
          <a:effectLst/>
        </p:spPr>
        <p:txBody>
          <a:bodyPr rtlCol="0" anchor="ctr"/>
          <a:lstStyle/>
          <a:p>
            <a:pPr algn="ctr"/>
            <a:endParaRPr/>
          </a:p>
        </p:txBody>
      </p:sp>
      <p:pic>
        <p:nvPicPr>
          <p:cNvPr id="36" name="Picture 4" descr="Award badge from PitchBook: number one sell-side exclusive M&amp;A advisor in the world"/>
          <p:cNvPicPr>
            <a:picLocks noChangeAspect="1"/>
          </p:cNvPicPr>
          <p:nvPr/>
        </p:nvPicPr>
        <p:blipFill>
          <a:blip r:embed="rId5"/>
          <a:srcRect/>
          <a:stretch>
            <a:fillRect/>
          </a:stretch>
        </p:blipFill>
        <p:spPr>
          <a:xfrm>
            <a:off x="2852886" y="4086225"/>
            <a:ext cx="2014091" cy="1162050"/>
          </a:xfrm>
          <a:prstGeom prst="rect">
            <a:avLst/>
          </a:prstGeom>
        </p:spPr>
      </p:pic>
      <p:sp>
        <p:nvSpPr>
          <p:cNvPr id="37" name="Shape 18"/>
          <p:cNvSpPr/>
          <p:nvPr/>
        </p:nvSpPr>
        <p:spPr>
          <a:xfrm>
            <a:off x="5095875" y="3924300"/>
            <a:ext cx="2205038" cy="1466850"/>
          </a:xfrm>
          <a:prstGeom prst="rect">
            <a:avLst/>
          </a:prstGeom>
          <a:solidFill>
            <a:srgbClr val="FFFFFF"/>
          </a:solidFill>
          <a:ln>
            <a:noFill/>
          </a:ln>
          <a:effectLst/>
        </p:spPr>
        <p:txBody>
          <a:bodyPr rtlCol="0" anchor="ctr"/>
          <a:lstStyle/>
          <a:p>
            <a:pPr algn="ctr"/>
            <a:endParaRPr/>
          </a:p>
        </p:txBody>
      </p:sp>
      <p:sp>
        <p:nvSpPr>
          <p:cNvPr id="38" name="Shape 19"/>
          <p:cNvSpPr/>
          <p:nvPr/>
        </p:nvSpPr>
        <p:spPr>
          <a:xfrm>
            <a:off x="5095875" y="3924300"/>
            <a:ext cx="2205038" cy="28575"/>
          </a:xfrm>
          <a:prstGeom prst="rect">
            <a:avLst/>
          </a:prstGeom>
          <a:solidFill>
            <a:srgbClr val="B68757"/>
          </a:solidFill>
          <a:ln>
            <a:noFill/>
          </a:ln>
          <a:effectLst/>
        </p:spPr>
        <p:txBody>
          <a:bodyPr rtlCol="0" anchor="ctr"/>
          <a:lstStyle/>
          <a:p>
            <a:pPr algn="ctr"/>
            <a:endParaRPr/>
          </a:p>
        </p:txBody>
      </p:sp>
      <p:sp>
        <p:nvSpPr>
          <p:cNvPr id="39" name="Shape 20"/>
          <p:cNvSpPr/>
          <p:nvPr/>
        </p:nvSpPr>
        <p:spPr>
          <a:xfrm>
            <a:off x="7291388" y="3924300"/>
            <a:ext cx="9525" cy="1466850"/>
          </a:xfrm>
          <a:prstGeom prst="rect">
            <a:avLst/>
          </a:prstGeom>
          <a:solidFill>
            <a:srgbClr val="E3DCD3"/>
          </a:solidFill>
          <a:ln>
            <a:noFill/>
          </a:ln>
          <a:effectLst/>
        </p:spPr>
        <p:txBody>
          <a:bodyPr rtlCol="0" anchor="ctr"/>
          <a:lstStyle/>
          <a:p>
            <a:pPr algn="ctr"/>
            <a:endParaRPr/>
          </a:p>
        </p:txBody>
      </p:sp>
      <p:sp>
        <p:nvSpPr>
          <p:cNvPr id="40" name="Shape 21"/>
          <p:cNvSpPr/>
          <p:nvPr/>
        </p:nvSpPr>
        <p:spPr>
          <a:xfrm>
            <a:off x="5095875" y="5381625"/>
            <a:ext cx="2205038" cy="9525"/>
          </a:xfrm>
          <a:prstGeom prst="rect">
            <a:avLst/>
          </a:prstGeom>
          <a:solidFill>
            <a:srgbClr val="E3DCD3"/>
          </a:solidFill>
          <a:ln>
            <a:noFill/>
          </a:ln>
          <a:effectLst/>
        </p:spPr>
        <p:txBody>
          <a:bodyPr rtlCol="0" anchor="ctr"/>
          <a:lstStyle/>
          <a:p>
            <a:pPr algn="ctr"/>
            <a:endParaRPr/>
          </a:p>
        </p:txBody>
      </p:sp>
      <p:sp>
        <p:nvSpPr>
          <p:cNvPr id="41" name="Shape 22"/>
          <p:cNvSpPr/>
          <p:nvPr/>
        </p:nvSpPr>
        <p:spPr>
          <a:xfrm>
            <a:off x="5095875" y="3924300"/>
            <a:ext cx="9525" cy="1466850"/>
          </a:xfrm>
          <a:prstGeom prst="rect">
            <a:avLst/>
          </a:prstGeom>
          <a:solidFill>
            <a:srgbClr val="E3DCD3"/>
          </a:solidFill>
          <a:ln>
            <a:noFill/>
          </a:ln>
          <a:effectLst/>
        </p:spPr>
        <p:txBody>
          <a:bodyPr rtlCol="0" anchor="ctr"/>
          <a:lstStyle/>
          <a:p>
            <a:pPr algn="ctr"/>
            <a:endParaRPr/>
          </a:p>
        </p:txBody>
      </p:sp>
      <p:pic>
        <p:nvPicPr>
          <p:cNvPr id="42" name="Picture 5" descr="Award badge from LSEG: number one privately held M&amp;A advisor worldwide"/>
          <p:cNvPicPr>
            <a:picLocks noChangeAspect="1"/>
          </p:cNvPicPr>
          <p:nvPr/>
        </p:nvPicPr>
        <p:blipFill>
          <a:blip r:embed="rId6"/>
          <a:srcRect/>
          <a:stretch>
            <a:fillRect/>
          </a:stretch>
        </p:blipFill>
        <p:spPr>
          <a:xfrm>
            <a:off x="5191274" y="4086225"/>
            <a:ext cx="2014091" cy="1162050"/>
          </a:xfrm>
          <a:prstGeom prst="rect">
            <a:avLst/>
          </a:prstGeom>
        </p:spPr>
      </p:pic>
      <p:sp>
        <p:nvSpPr>
          <p:cNvPr id="43" name="Shape 23"/>
          <p:cNvSpPr/>
          <p:nvPr/>
        </p:nvSpPr>
        <p:spPr>
          <a:xfrm>
            <a:off x="7434262" y="3924300"/>
            <a:ext cx="2205038" cy="1466850"/>
          </a:xfrm>
          <a:prstGeom prst="rect">
            <a:avLst/>
          </a:prstGeom>
          <a:solidFill>
            <a:srgbClr val="FFFFFF"/>
          </a:solidFill>
          <a:ln>
            <a:noFill/>
          </a:ln>
          <a:effectLst/>
        </p:spPr>
        <p:txBody>
          <a:bodyPr rtlCol="0" anchor="ctr"/>
          <a:lstStyle/>
          <a:p>
            <a:pPr algn="ctr"/>
            <a:endParaRPr/>
          </a:p>
        </p:txBody>
      </p:sp>
      <p:sp>
        <p:nvSpPr>
          <p:cNvPr id="44" name="Shape 24"/>
          <p:cNvSpPr/>
          <p:nvPr/>
        </p:nvSpPr>
        <p:spPr>
          <a:xfrm>
            <a:off x="7434262" y="3924300"/>
            <a:ext cx="2205038" cy="28575"/>
          </a:xfrm>
          <a:prstGeom prst="rect">
            <a:avLst/>
          </a:prstGeom>
          <a:solidFill>
            <a:srgbClr val="B68757"/>
          </a:solidFill>
          <a:ln>
            <a:noFill/>
          </a:ln>
          <a:effectLst/>
        </p:spPr>
        <p:txBody>
          <a:bodyPr rtlCol="0" anchor="ctr"/>
          <a:lstStyle/>
          <a:p>
            <a:pPr algn="ctr"/>
            <a:endParaRPr/>
          </a:p>
        </p:txBody>
      </p:sp>
      <p:sp>
        <p:nvSpPr>
          <p:cNvPr id="45" name="Shape 25"/>
          <p:cNvSpPr/>
          <p:nvPr/>
        </p:nvSpPr>
        <p:spPr>
          <a:xfrm>
            <a:off x="9629775" y="3924300"/>
            <a:ext cx="9525" cy="1466850"/>
          </a:xfrm>
          <a:prstGeom prst="rect">
            <a:avLst/>
          </a:prstGeom>
          <a:solidFill>
            <a:srgbClr val="E3DCD3"/>
          </a:solidFill>
          <a:ln>
            <a:noFill/>
          </a:ln>
          <a:effectLst/>
        </p:spPr>
        <p:txBody>
          <a:bodyPr rtlCol="0" anchor="ctr"/>
          <a:lstStyle/>
          <a:p>
            <a:pPr algn="ctr"/>
            <a:endParaRPr/>
          </a:p>
        </p:txBody>
      </p:sp>
      <p:sp>
        <p:nvSpPr>
          <p:cNvPr id="46" name="Shape 26"/>
          <p:cNvSpPr/>
          <p:nvPr/>
        </p:nvSpPr>
        <p:spPr>
          <a:xfrm>
            <a:off x="7434262" y="5381625"/>
            <a:ext cx="2205038" cy="9525"/>
          </a:xfrm>
          <a:prstGeom prst="rect">
            <a:avLst/>
          </a:prstGeom>
          <a:solidFill>
            <a:srgbClr val="E3DCD3"/>
          </a:solidFill>
          <a:ln>
            <a:noFill/>
          </a:ln>
          <a:effectLst/>
        </p:spPr>
        <p:txBody>
          <a:bodyPr rtlCol="0" anchor="ctr"/>
          <a:lstStyle/>
          <a:p>
            <a:pPr algn="ctr"/>
            <a:endParaRPr/>
          </a:p>
        </p:txBody>
      </p:sp>
      <p:sp>
        <p:nvSpPr>
          <p:cNvPr id="47" name="Shape 27"/>
          <p:cNvSpPr/>
          <p:nvPr/>
        </p:nvSpPr>
        <p:spPr>
          <a:xfrm>
            <a:off x="7434262" y="3924300"/>
            <a:ext cx="9525" cy="1466850"/>
          </a:xfrm>
          <a:prstGeom prst="rect">
            <a:avLst/>
          </a:prstGeom>
          <a:solidFill>
            <a:srgbClr val="E3DCD3"/>
          </a:solidFill>
          <a:ln>
            <a:noFill/>
          </a:ln>
          <a:effectLst/>
        </p:spPr>
        <p:txBody>
          <a:bodyPr rtlCol="0" anchor="ctr"/>
          <a:lstStyle/>
          <a:p>
            <a:pPr algn="ctr"/>
            <a:endParaRPr/>
          </a:p>
        </p:txBody>
      </p:sp>
      <p:pic>
        <p:nvPicPr>
          <p:cNvPr id="48" name="Picture 6" descr="Award badge from DealMakers: first in the category of investment advisers by deal flow"/>
          <p:cNvPicPr>
            <a:picLocks noChangeAspect="1"/>
          </p:cNvPicPr>
          <p:nvPr/>
        </p:nvPicPr>
        <p:blipFill>
          <a:blip r:embed="rId7"/>
          <a:srcRect/>
          <a:stretch>
            <a:fillRect/>
          </a:stretch>
        </p:blipFill>
        <p:spPr>
          <a:xfrm>
            <a:off x="7529661" y="4086225"/>
            <a:ext cx="2014091" cy="1162050"/>
          </a:xfrm>
          <a:prstGeom prst="rect">
            <a:avLst/>
          </a:prstGeom>
        </p:spPr>
      </p:pic>
      <p:sp>
        <p:nvSpPr>
          <p:cNvPr id="49" name="TextBox 15"/>
          <p:cNvSpPr txBox="1"/>
          <p:nvPr/>
        </p:nvSpPr>
        <p:spPr>
          <a:xfrm>
            <a:off x="419100" y="6143625"/>
            <a:ext cx="92344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FIVE INDUSTRY GROUPS</a:t>
            </a:r>
          </a:p>
        </p:txBody>
      </p:sp>
      <p:sp>
        <p:nvSpPr>
          <p:cNvPr id="50" name="Shape 28"/>
          <p:cNvSpPr/>
          <p:nvPr/>
        </p:nvSpPr>
        <p:spPr>
          <a:xfrm>
            <a:off x="419100" y="6353175"/>
            <a:ext cx="1752600" cy="581025"/>
          </a:xfrm>
          <a:prstGeom prst="rect">
            <a:avLst/>
          </a:prstGeom>
          <a:solidFill>
            <a:srgbClr val="FAF7F3"/>
          </a:solidFill>
          <a:ln>
            <a:noFill/>
          </a:ln>
          <a:effectLst/>
        </p:spPr>
        <p:txBody>
          <a:bodyPr rtlCol="0" anchor="ctr"/>
          <a:lstStyle/>
          <a:p>
            <a:pPr algn="ctr"/>
            <a:endParaRPr/>
          </a:p>
        </p:txBody>
      </p:sp>
      <p:sp>
        <p:nvSpPr>
          <p:cNvPr id="51" name="Shape 29"/>
          <p:cNvSpPr/>
          <p:nvPr/>
        </p:nvSpPr>
        <p:spPr>
          <a:xfrm>
            <a:off x="419100" y="6353175"/>
            <a:ext cx="1752600" cy="28575"/>
          </a:xfrm>
          <a:prstGeom prst="rect">
            <a:avLst/>
          </a:prstGeom>
          <a:solidFill>
            <a:srgbClr val="B68757"/>
          </a:solidFill>
          <a:ln>
            <a:noFill/>
          </a:ln>
          <a:effectLst/>
        </p:spPr>
        <p:txBody>
          <a:bodyPr rtlCol="0" anchor="ctr"/>
          <a:lstStyle/>
          <a:p>
            <a:pPr algn="ctr"/>
            <a:endParaRPr/>
          </a:p>
        </p:txBody>
      </p:sp>
      <p:pic>
        <p:nvPicPr>
          <p:cNvPr id="52" name="Picture 7" descr="Icon of a factory for the Industrial group"/>
          <p:cNvPicPr>
            <a:picLocks noChangeAspect="1"/>
          </p:cNvPicPr>
          <p:nvPr/>
        </p:nvPicPr>
        <p:blipFill>
          <a:blip r:embed="rId8"/>
          <a:stretch>
            <a:fillRect/>
          </a:stretch>
        </p:blipFill>
        <p:spPr>
          <a:xfrm>
            <a:off x="533400" y="6515100"/>
            <a:ext cx="285750" cy="285750"/>
          </a:xfrm>
          <a:prstGeom prst="rect">
            <a:avLst/>
          </a:prstGeom>
        </p:spPr>
      </p:pic>
      <p:sp>
        <p:nvSpPr>
          <p:cNvPr id="53" name="TextBox 16"/>
          <p:cNvSpPr txBox="1"/>
          <p:nvPr/>
        </p:nvSpPr>
        <p:spPr>
          <a:xfrm>
            <a:off x="914400" y="6593681"/>
            <a:ext cx="616744"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INDUSTRIALS</a:t>
            </a:r>
          </a:p>
        </p:txBody>
      </p:sp>
      <p:sp>
        <p:nvSpPr>
          <p:cNvPr id="54" name="Shape 30"/>
          <p:cNvSpPr/>
          <p:nvPr/>
        </p:nvSpPr>
        <p:spPr>
          <a:xfrm>
            <a:off x="2286000" y="6353175"/>
            <a:ext cx="1752600" cy="581025"/>
          </a:xfrm>
          <a:prstGeom prst="rect">
            <a:avLst/>
          </a:prstGeom>
          <a:solidFill>
            <a:srgbClr val="FAF7F3"/>
          </a:solidFill>
          <a:ln>
            <a:noFill/>
          </a:ln>
          <a:effectLst/>
        </p:spPr>
        <p:txBody>
          <a:bodyPr rtlCol="0" anchor="ctr"/>
          <a:lstStyle/>
          <a:p>
            <a:pPr algn="ctr"/>
            <a:endParaRPr/>
          </a:p>
        </p:txBody>
      </p:sp>
      <p:sp>
        <p:nvSpPr>
          <p:cNvPr id="55" name="Shape 31"/>
          <p:cNvSpPr/>
          <p:nvPr/>
        </p:nvSpPr>
        <p:spPr>
          <a:xfrm>
            <a:off x="2286000" y="6353175"/>
            <a:ext cx="1752600" cy="28575"/>
          </a:xfrm>
          <a:prstGeom prst="rect">
            <a:avLst/>
          </a:prstGeom>
          <a:solidFill>
            <a:srgbClr val="B68757"/>
          </a:solidFill>
          <a:ln>
            <a:noFill/>
          </a:ln>
          <a:effectLst/>
        </p:spPr>
        <p:txBody>
          <a:bodyPr rtlCol="0" anchor="ctr"/>
          <a:lstStyle/>
          <a:p>
            <a:pPr algn="ctr"/>
            <a:endParaRPr/>
          </a:p>
        </p:txBody>
      </p:sp>
      <p:pic>
        <p:nvPicPr>
          <p:cNvPr id="56" name="Picture 8" descr="Icon of a briefcase for the Business Services group"/>
          <p:cNvPicPr>
            <a:picLocks noChangeAspect="1"/>
          </p:cNvPicPr>
          <p:nvPr/>
        </p:nvPicPr>
        <p:blipFill>
          <a:blip r:embed="rId9"/>
          <a:stretch>
            <a:fillRect/>
          </a:stretch>
        </p:blipFill>
        <p:spPr>
          <a:xfrm>
            <a:off x="2400300" y="6515100"/>
            <a:ext cx="285750" cy="285750"/>
          </a:xfrm>
          <a:prstGeom prst="rect">
            <a:avLst/>
          </a:prstGeom>
        </p:spPr>
      </p:pic>
      <p:sp>
        <p:nvSpPr>
          <p:cNvPr id="57" name="TextBox 17"/>
          <p:cNvSpPr txBox="1"/>
          <p:nvPr/>
        </p:nvSpPr>
        <p:spPr>
          <a:xfrm>
            <a:off x="2781300" y="6593681"/>
            <a:ext cx="997297"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BUSINESS SERVICES</a:t>
            </a:r>
          </a:p>
        </p:txBody>
      </p:sp>
      <p:sp>
        <p:nvSpPr>
          <p:cNvPr id="58" name="Shape 32"/>
          <p:cNvSpPr/>
          <p:nvPr/>
        </p:nvSpPr>
        <p:spPr>
          <a:xfrm>
            <a:off x="4152900" y="6353175"/>
            <a:ext cx="1752600" cy="581025"/>
          </a:xfrm>
          <a:prstGeom prst="rect">
            <a:avLst/>
          </a:prstGeom>
          <a:solidFill>
            <a:srgbClr val="FAF7F3"/>
          </a:solidFill>
          <a:ln>
            <a:noFill/>
          </a:ln>
          <a:effectLst/>
        </p:spPr>
        <p:txBody>
          <a:bodyPr rtlCol="0" anchor="ctr"/>
          <a:lstStyle/>
          <a:p>
            <a:pPr algn="ctr"/>
            <a:endParaRPr/>
          </a:p>
        </p:txBody>
      </p:sp>
      <p:sp>
        <p:nvSpPr>
          <p:cNvPr id="59" name="Shape 33"/>
          <p:cNvSpPr/>
          <p:nvPr/>
        </p:nvSpPr>
        <p:spPr>
          <a:xfrm>
            <a:off x="4152900" y="6353175"/>
            <a:ext cx="1752600" cy="28575"/>
          </a:xfrm>
          <a:prstGeom prst="rect">
            <a:avLst/>
          </a:prstGeom>
          <a:solidFill>
            <a:srgbClr val="B68757"/>
          </a:solidFill>
          <a:ln>
            <a:noFill/>
          </a:ln>
          <a:effectLst/>
        </p:spPr>
        <p:txBody>
          <a:bodyPr rtlCol="0" anchor="ctr"/>
          <a:lstStyle/>
          <a:p>
            <a:pPr algn="ctr"/>
            <a:endParaRPr/>
          </a:p>
        </p:txBody>
      </p:sp>
      <p:pic>
        <p:nvPicPr>
          <p:cNvPr id="60" name="Picture 9" descr="Icon of a shopping cart for the Consumer group"/>
          <p:cNvPicPr>
            <a:picLocks noChangeAspect="1"/>
          </p:cNvPicPr>
          <p:nvPr/>
        </p:nvPicPr>
        <p:blipFill>
          <a:blip r:embed="rId10"/>
          <a:stretch>
            <a:fillRect/>
          </a:stretch>
        </p:blipFill>
        <p:spPr>
          <a:xfrm>
            <a:off x="4267200" y="6515100"/>
            <a:ext cx="285750" cy="285750"/>
          </a:xfrm>
          <a:prstGeom prst="rect">
            <a:avLst/>
          </a:prstGeom>
        </p:spPr>
      </p:pic>
      <p:sp>
        <p:nvSpPr>
          <p:cNvPr id="61" name="TextBox 18"/>
          <p:cNvSpPr txBox="1"/>
          <p:nvPr/>
        </p:nvSpPr>
        <p:spPr>
          <a:xfrm>
            <a:off x="4648200" y="6593681"/>
            <a:ext cx="580876"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CONSUMER</a:t>
            </a:r>
          </a:p>
        </p:txBody>
      </p:sp>
      <p:sp>
        <p:nvSpPr>
          <p:cNvPr id="62" name="Shape 34"/>
          <p:cNvSpPr/>
          <p:nvPr/>
        </p:nvSpPr>
        <p:spPr>
          <a:xfrm>
            <a:off x="6019800" y="6353175"/>
            <a:ext cx="1752600" cy="581025"/>
          </a:xfrm>
          <a:prstGeom prst="rect">
            <a:avLst/>
          </a:prstGeom>
          <a:solidFill>
            <a:srgbClr val="FAF7F3"/>
          </a:solidFill>
          <a:ln>
            <a:noFill/>
          </a:ln>
          <a:effectLst/>
        </p:spPr>
        <p:txBody>
          <a:bodyPr rtlCol="0" anchor="ctr"/>
          <a:lstStyle/>
          <a:p>
            <a:pPr algn="ctr"/>
            <a:endParaRPr/>
          </a:p>
        </p:txBody>
      </p:sp>
      <p:sp>
        <p:nvSpPr>
          <p:cNvPr id="63" name="Shape 35"/>
          <p:cNvSpPr/>
          <p:nvPr/>
        </p:nvSpPr>
        <p:spPr>
          <a:xfrm>
            <a:off x="6019800" y="6353175"/>
            <a:ext cx="1752600" cy="28575"/>
          </a:xfrm>
          <a:prstGeom prst="rect">
            <a:avLst/>
          </a:prstGeom>
          <a:solidFill>
            <a:srgbClr val="B68757"/>
          </a:solidFill>
          <a:ln>
            <a:noFill/>
          </a:ln>
          <a:effectLst/>
        </p:spPr>
        <p:txBody>
          <a:bodyPr rtlCol="0" anchor="ctr"/>
          <a:lstStyle/>
          <a:p>
            <a:pPr algn="ctr"/>
            <a:endParaRPr/>
          </a:p>
        </p:txBody>
      </p:sp>
      <p:pic>
        <p:nvPicPr>
          <p:cNvPr id="64" name="Picture 10" descr="Icon of a heart with a pulse line for the Healthcare group"/>
          <p:cNvPicPr>
            <a:picLocks noChangeAspect="1"/>
          </p:cNvPicPr>
          <p:nvPr/>
        </p:nvPicPr>
        <p:blipFill>
          <a:blip r:embed="rId11"/>
          <a:stretch>
            <a:fillRect/>
          </a:stretch>
        </p:blipFill>
        <p:spPr>
          <a:xfrm>
            <a:off x="6134100" y="6515100"/>
            <a:ext cx="285750" cy="285750"/>
          </a:xfrm>
          <a:prstGeom prst="rect">
            <a:avLst/>
          </a:prstGeom>
        </p:spPr>
      </p:pic>
      <p:sp>
        <p:nvSpPr>
          <p:cNvPr id="65" name="TextBox 19"/>
          <p:cNvSpPr txBox="1"/>
          <p:nvPr/>
        </p:nvSpPr>
        <p:spPr>
          <a:xfrm>
            <a:off x="6515100" y="6593681"/>
            <a:ext cx="650081"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HEALTHCARE</a:t>
            </a:r>
          </a:p>
        </p:txBody>
      </p:sp>
      <p:sp>
        <p:nvSpPr>
          <p:cNvPr id="66" name="Shape 36"/>
          <p:cNvSpPr/>
          <p:nvPr/>
        </p:nvSpPr>
        <p:spPr>
          <a:xfrm>
            <a:off x="7886700" y="6353175"/>
            <a:ext cx="1752600" cy="581025"/>
          </a:xfrm>
          <a:prstGeom prst="rect">
            <a:avLst/>
          </a:prstGeom>
          <a:solidFill>
            <a:srgbClr val="FAF7F3"/>
          </a:solidFill>
          <a:ln>
            <a:noFill/>
          </a:ln>
          <a:effectLst/>
        </p:spPr>
        <p:txBody>
          <a:bodyPr rtlCol="0" anchor="ctr"/>
          <a:lstStyle/>
          <a:p>
            <a:pPr algn="ctr"/>
            <a:endParaRPr/>
          </a:p>
        </p:txBody>
      </p:sp>
      <p:sp>
        <p:nvSpPr>
          <p:cNvPr id="67" name="Shape 37"/>
          <p:cNvSpPr/>
          <p:nvPr/>
        </p:nvSpPr>
        <p:spPr>
          <a:xfrm>
            <a:off x="7886700" y="6353175"/>
            <a:ext cx="1752600" cy="28575"/>
          </a:xfrm>
          <a:prstGeom prst="rect">
            <a:avLst/>
          </a:prstGeom>
          <a:solidFill>
            <a:srgbClr val="B68757"/>
          </a:solidFill>
          <a:ln>
            <a:noFill/>
          </a:ln>
          <a:effectLst/>
        </p:spPr>
        <p:txBody>
          <a:bodyPr rtlCol="0" anchor="ctr"/>
          <a:lstStyle/>
          <a:p>
            <a:pPr algn="ctr"/>
            <a:endParaRPr/>
          </a:p>
        </p:txBody>
      </p:sp>
      <p:pic>
        <p:nvPicPr>
          <p:cNvPr id="68" name="Picture 11" descr="Icon of a microchip for the Technology group"/>
          <p:cNvPicPr>
            <a:picLocks noChangeAspect="1"/>
          </p:cNvPicPr>
          <p:nvPr/>
        </p:nvPicPr>
        <p:blipFill>
          <a:blip r:embed="rId12"/>
          <a:stretch>
            <a:fillRect/>
          </a:stretch>
        </p:blipFill>
        <p:spPr>
          <a:xfrm>
            <a:off x="8001000" y="6515100"/>
            <a:ext cx="285750" cy="285750"/>
          </a:xfrm>
          <a:prstGeom prst="rect">
            <a:avLst/>
          </a:prstGeom>
        </p:spPr>
      </p:pic>
      <p:sp>
        <p:nvSpPr>
          <p:cNvPr id="69" name="TextBox 20"/>
          <p:cNvSpPr txBox="1"/>
          <p:nvPr/>
        </p:nvSpPr>
        <p:spPr>
          <a:xfrm>
            <a:off x="8382000" y="6593681"/>
            <a:ext cx="679847" cy="128588"/>
          </a:xfrm>
          <a:prstGeom prst="rect">
            <a:avLst/>
          </a:prstGeom>
          <a:noFill/>
        </p:spPr>
        <p:txBody>
          <a:bodyPr wrap="square" lIns="0" tIns="0" rIns="0" bIns="0" anchor="t">
            <a:spAutoFit/>
          </a:bodyPr>
          <a:lstStyle/>
          <a:p>
            <a:pPr algn="l">
              <a:lnSpc>
                <a:spcPts val="1041"/>
              </a:lnSpc>
            </a:pPr>
            <a:r>
              <a:rPr sz="750" b="1" i="0" spc="98">
                <a:solidFill>
                  <a:srgbClr val="1B1A1A"/>
                </a:solidFill>
                <a:latin typeface="Calibri"/>
              </a:rPr>
              <a:t>TECHNOLOGY</a:t>
            </a:r>
          </a:p>
        </p:txBody>
      </p:sp>
      <p:sp>
        <p:nvSpPr>
          <p:cNvPr id="70" name="Shape 38"/>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71" name="Picture 12" descr="Benchmark International logo"/>
          <p:cNvPicPr>
            <a:picLocks noChangeAspect="1"/>
          </p:cNvPicPr>
          <p:nvPr/>
        </p:nvPicPr>
        <p:blipFill>
          <a:blip r:embed="rId13"/>
          <a:srcRect/>
          <a:stretch>
            <a:fillRect/>
          </a:stretch>
        </p:blipFill>
        <p:spPr>
          <a:xfrm>
            <a:off x="419100" y="7143750"/>
            <a:ext cx="914400" cy="171450"/>
          </a:xfrm>
          <a:prstGeom prst="rect">
            <a:avLst/>
          </a:prstGeom>
        </p:spPr>
      </p:pic>
      <p:sp>
        <p:nvSpPr>
          <p:cNvPr id="72" name="TextBox 21"/>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Ranking based on PitchBook’s Q2 2026 Global League Tables, as published at </a:t>
            </a:r>
            <a:r>
              <a:rPr sz="800" b="0" i="0" spc="8">
                <a:solidFill>
                  <a:srgbClr val="8C6239"/>
                </a:solidFill>
                <a:latin typeface="Calibri"/>
                <a:hlinkClick r:id="rId14"/>
              </a:rPr>
              <a:t>benchmarkintl.com</a:t>
            </a:r>
            <a:r>
              <a:rPr sz="800" b="0" i="0" spc="8">
                <a:solidFill>
                  <a:srgbClr val="6F6A66"/>
                </a:solidFill>
                <a:latin typeface="Calibri"/>
              </a:rPr>
              <a:t>. Awards as shown at benchmarkintl.com.</a:t>
            </a:r>
          </a:p>
        </p:txBody>
      </p:sp>
      <p:sp>
        <p:nvSpPr>
          <p:cNvPr id="73" name="TextBox 22"/>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lang="en-US" sz="800" b="1" i="0" spc="150" dirty="0">
                <a:solidFill>
                  <a:srgbClr val="1B1A1A"/>
                </a:solidFill>
                <a:latin typeface="Calibri"/>
              </a:rPr>
              <a:t>22</a:t>
            </a:r>
            <a:endParaRPr sz="800" b="1" i="0" spc="150" dirty="0">
              <a:solidFill>
                <a:srgbClr val="1B1A1A"/>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Connect With Us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A first conversation is confidential and carries no obligation.</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TextBox 5"/>
          <p:cNvSpPr txBox="1"/>
          <p:nvPr/>
        </p:nvSpPr>
        <p:spPr>
          <a:xfrm>
            <a:off x="419100" y="1485900"/>
            <a:ext cx="5157788" cy="123825"/>
          </a:xfrm>
          <a:prstGeom prst="rect">
            <a:avLst/>
          </a:prstGeom>
          <a:noFill/>
        </p:spPr>
        <p:txBody>
          <a:bodyPr wrap="square" lIns="0" tIns="0" rIns="0" bIns="0" anchor="t">
            <a:spAutoFit/>
          </a:bodyPr>
          <a:lstStyle/>
          <a:p>
            <a:pPr algn="l">
              <a:lnSpc>
                <a:spcPts val="1121"/>
              </a:lnSpc>
            </a:pPr>
            <a:r>
              <a:rPr sz="800" b="1" i="0" spc="150">
                <a:solidFill>
                  <a:srgbClr val="8C6239"/>
                </a:solidFill>
                <a:latin typeface="Calibri"/>
              </a:rPr>
              <a:t>A CONFIDENTIAL FIRST CONVERSATION</a:t>
            </a:r>
          </a:p>
        </p:txBody>
      </p:sp>
      <p:sp>
        <p:nvSpPr>
          <p:cNvPr id="9" name="TextBox 6"/>
          <p:cNvSpPr txBox="1"/>
          <p:nvPr/>
        </p:nvSpPr>
        <p:spPr>
          <a:xfrm>
            <a:off x="419100" y="1724025"/>
            <a:ext cx="5157788" cy="990600"/>
          </a:xfrm>
          <a:prstGeom prst="rect">
            <a:avLst/>
          </a:prstGeom>
          <a:noFill/>
        </p:spPr>
        <p:txBody>
          <a:bodyPr wrap="square" lIns="0" tIns="0" rIns="0" bIns="0" anchor="t">
            <a:spAutoFit/>
          </a:bodyPr>
          <a:lstStyle/>
          <a:p>
            <a:pPr algn="l">
              <a:lnSpc>
                <a:spcPts val="3900"/>
              </a:lnSpc>
            </a:pPr>
            <a:r>
              <a:rPr sz="3300" b="1" i="0">
                <a:solidFill>
                  <a:srgbClr val="1B1A1A"/>
                </a:solidFill>
                <a:latin typeface="Cambria"/>
              </a:rPr>
              <a:t>It all starts with a conversation.</a:t>
            </a:r>
          </a:p>
        </p:txBody>
      </p:sp>
      <p:sp>
        <p:nvSpPr>
          <p:cNvPr id="10" name="Shape 3"/>
          <p:cNvSpPr/>
          <p:nvPr/>
        </p:nvSpPr>
        <p:spPr>
          <a:xfrm>
            <a:off x="419100" y="2924175"/>
            <a:ext cx="685800" cy="19050"/>
          </a:xfrm>
          <a:prstGeom prst="rect">
            <a:avLst/>
          </a:prstGeom>
          <a:solidFill>
            <a:srgbClr val="B68757"/>
          </a:solidFill>
          <a:ln>
            <a:noFill/>
          </a:ln>
          <a:effectLst/>
        </p:spPr>
        <p:txBody>
          <a:bodyPr rtlCol="0" anchor="ctr"/>
          <a:lstStyle/>
          <a:p>
            <a:pPr algn="ctr"/>
            <a:endParaRPr/>
          </a:p>
        </p:txBody>
      </p:sp>
      <p:sp>
        <p:nvSpPr>
          <p:cNvPr id="11" name="TextBox 7"/>
          <p:cNvSpPr txBox="1"/>
          <p:nvPr/>
        </p:nvSpPr>
        <p:spPr>
          <a:xfrm>
            <a:off x="419100" y="3152775"/>
            <a:ext cx="4776788" cy="876300"/>
          </a:xfrm>
          <a:prstGeom prst="rect">
            <a:avLst/>
          </a:prstGeom>
          <a:noFill/>
        </p:spPr>
        <p:txBody>
          <a:bodyPr wrap="square" lIns="0" tIns="0" rIns="0" bIns="0" anchor="t">
            <a:spAutoFit/>
          </a:bodyPr>
          <a:lstStyle/>
          <a:p>
            <a:pPr algn="l">
              <a:lnSpc>
                <a:spcPts val="1725"/>
              </a:lnSpc>
            </a:pPr>
            <a:r>
              <a:rPr sz="1050" b="0" i="0" spc="15" dirty="0">
                <a:solidFill>
                  <a:srgbClr val="333231"/>
                </a:solidFill>
                <a:latin typeface="Calibri"/>
              </a:rPr>
              <a:t>The first step is a confidential conversation about </a:t>
            </a:r>
            <a:r>
              <a:rPr lang="en-US" sz="1050" b="0" i="0" spc="15" dirty="0">
                <a:solidFill>
                  <a:srgbClr val="333231"/>
                </a:solidFill>
                <a:latin typeface="Calibri"/>
              </a:rPr>
              <a:t>the company</a:t>
            </a:r>
            <a:r>
              <a:rPr sz="1050" b="0" i="0" spc="15" dirty="0">
                <a:solidFill>
                  <a:srgbClr val="333231"/>
                </a:solidFill>
                <a:latin typeface="Calibri"/>
              </a:rPr>
              <a:t>, the owner’s goals, and the options available. Owners considering a strategic sale, merger, or qualifying change-of-control transaction in the four sectors, and the advisors who work with them, are welcome to call or write.</a:t>
            </a:r>
          </a:p>
        </p:txBody>
      </p:sp>
      <p:sp>
        <p:nvSpPr>
          <p:cNvPr id="12" name="Shape 4"/>
          <p:cNvSpPr/>
          <p:nvPr/>
        </p:nvSpPr>
        <p:spPr>
          <a:xfrm>
            <a:off x="419100" y="4314825"/>
            <a:ext cx="4762500" cy="1323975"/>
          </a:xfrm>
          <a:prstGeom prst="rect">
            <a:avLst/>
          </a:prstGeom>
          <a:solidFill>
            <a:srgbClr val="FAF7F3"/>
          </a:solidFill>
          <a:ln>
            <a:noFill/>
          </a:ln>
          <a:effectLst/>
        </p:spPr>
        <p:txBody>
          <a:bodyPr rtlCol="0" anchor="ctr"/>
          <a:lstStyle/>
          <a:p>
            <a:pPr algn="ctr"/>
            <a:endParaRPr/>
          </a:p>
        </p:txBody>
      </p:sp>
      <p:sp>
        <p:nvSpPr>
          <p:cNvPr id="13" name="Shape 5"/>
          <p:cNvSpPr/>
          <p:nvPr/>
        </p:nvSpPr>
        <p:spPr>
          <a:xfrm>
            <a:off x="419100" y="4314825"/>
            <a:ext cx="4762500" cy="28575"/>
          </a:xfrm>
          <a:prstGeom prst="rect">
            <a:avLst/>
          </a:prstGeom>
          <a:solidFill>
            <a:srgbClr val="B68757"/>
          </a:solidFill>
          <a:ln>
            <a:noFill/>
          </a:ln>
          <a:effectLst/>
        </p:spPr>
        <p:txBody>
          <a:bodyPr rtlCol="0" anchor="ctr"/>
          <a:lstStyle/>
          <a:p>
            <a:pPr algn="ctr"/>
            <a:endParaRPr/>
          </a:p>
        </p:txBody>
      </p:sp>
      <p:pic>
        <p:nvPicPr>
          <p:cNvPr id="14" name="Picture 1" descr="Portrait of Jared Hardin, Managing Director"/>
          <p:cNvPicPr>
            <a:picLocks noChangeAspect="1"/>
          </p:cNvPicPr>
          <p:nvPr/>
        </p:nvPicPr>
        <p:blipFill>
          <a:blip r:embed="rId2"/>
          <a:srcRect/>
          <a:stretch>
            <a:fillRect/>
          </a:stretch>
        </p:blipFill>
        <p:spPr>
          <a:xfrm>
            <a:off x="628650" y="4533900"/>
            <a:ext cx="914400" cy="914400"/>
          </a:xfrm>
          <a:prstGeom prst="ellipse">
            <a:avLst/>
          </a:prstGeom>
        </p:spPr>
      </p:pic>
      <p:sp>
        <p:nvSpPr>
          <p:cNvPr id="15" name="TextBox 8"/>
          <p:cNvSpPr txBox="1"/>
          <p:nvPr/>
        </p:nvSpPr>
        <p:spPr>
          <a:xfrm>
            <a:off x="1733550" y="4543425"/>
            <a:ext cx="2920603" cy="276225"/>
          </a:xfrm>
          <a:prstGeom prst="rect">
            <a:avLst/>
          </a:prstGeom>
          <a:noFill/>
        </p:spPr>
        <p:txBody>
          <a:bodyPr wrap="square" lIns="0" tIns="0" rIns="0" bIns="0" anchor="t">
            <a:spAutoFit/>
          </a:bodyPr>
          <a:lstStyle/>
          <a:p>
            <a:pPr algn="l">
              <a:lnSpc>
                <a:spcPts val="2175"/>
              </a:lnSpc>
            </a:pPr>
            <a:r>
              <a:rPr sz="1725" b="1" i="0">
                <a:solidFill>
                  <a:srgbClr val="1B1A1A"/>
                </a:solidFill>
                <a:latin typeface="Cambria"/>
              </a:rPr>
              <a:t>Jared Hardin</a:t>
            </a:r>
          </a:p>
        </p:txBody>
      </p:sp>
      <p:sp>
        <p:nvSpPr>
          <p:cNvPr id="16" name="TextBox 9"/>
          <p:cNvSpPr txBox="1"/>
          <p:nvPr/>
        </p:nvSpPr>
        <p:spPr>
          <a:xfrm>
            <a:off x="1733550" y="4819650"/>
            <a:ext cx="2920603" cy="133350"/>
          </a:xfrm>
          <a:prstGeom prst="rect">
            <a:avLst/>
          </a:prstGeom>
          <a:noFill/>
        </p:spPr>
        <p:txBody>
          <a:bodyPr wrap="square" lIns="0" tIns="0" rIns="0" bIns="0" anchor="t">
            <a:spAutoFit/>
          </a:bodyPr>
          <a:lstStyle/>
          <a:p>
            <a:pPr algn="l">
              <a:lnSpc>
                <a:spcPts val="1208"/>
              </a:lnSpc>
            </a:pPr>
            <a:r>
              <a:rPr sz="800" b="1" i="0" spc="165">
                <a:solidFill>
                  <a:srgbClr val="8C6239"/>
                </a:solidFill>
                <a:latin typeface="Calibri"/>
              </a:rPr>
              <a:t>MANAGING DIRECTOR</a:t>
            </a:r>
          </a:p>
        </p:txBody>
      </p:sp>
      <p:sp>
        <p:nvSpPr>
          <p:cNvPr id="17" name="TextBox 10"/>
          <p:cNvSpPr txBox="1"/>
          <p:nvPr/>
        </p:nvSpPr>
        <p:spPr>
          <a:xfrm>
            <a:off x="1733550" y="5038725"/>
            <a:ext cx="2920603" cy="400050"/>
          </a:xfrm>
          <a:prstGeom prst="rect">
            <a:avLst/>
          </a:prstGeom>
          <a:noFill/>
        </p:spPr>
        <p:txBody>
          <a:bodyPr wrap="square" lIns="0" tIns="0" rIns="0" bIns="0" anchor="t">
            <a:spAutoFit/>
          </a:bodyPr>
          <a:lstStyle/>
          <a:p>
            <a:pPr algn="l">
              <a:lnSpc>
                <a:spcPts val="1717"/>
              </a:lnSpc>
            </a:pPr>
            <a:r>
              <a:rPr sz="1050" b="0" i="0" spc="15">
                <a:solidFill>
                  <a:srgbClr val="8C6239"/>
                </a:solidFill>
                <a:latin typeface="Calibri"/>
                <a:hlinkClick r:id="rId3"/>
              </a:rPr>
              <a:t>210-241-7990</a:t>
            </a:r>
            <a:br/>
            <a:r>
              <a:rPr sz="1050" b="0" i="0" spc="15">
                <a:solidFill>
                  <a:srgbClr val="8C6239"/>
                </a:solidFill>
                <a:latin typeface="Calibri"/>
                <a:hlinkClick r:id="rId4">
                  <a:extLst>
                    <a:ext uri="{A12FA001-AC4F-418D-AE19-62706E023703}">
                      <ahyp:hlinkClr xmlns:ahyp="http://schemas.microsoft.com/office/drawing/2018/hyperlinkcolor" val="tx"/>
                    </a:ext>
                  </a:extLst>
                </a:hlinkClick>
              </a:rPr>
              <a:t>j.hardin@benchmarkintl.com</a:t>
            </a:r>
          </a:p>
        </p:txBody>
      </p:sp>
      <p:sp>
        <p:nvSpPr>
          <p:cNvPr id="18" name="Shape 6"/>
          <p:cNvSpPr/>
          <p:nvPr/>
        </p:nvSpPr>
        <p:spPr>
          <a:xfrm>
            <a:off x="419100" y="6581775"/>
            <a:ext cx="1881188" cy="352425"/>
          </a:xfrm>
          <a:prstGeom prst="rect">
            <a:avLst/>
          </a:prstGeom>
          <a:solidFill>
            <a:srgbClr val="A0754A"/>
          </a:solidFill>
          <a:ln>
            <a:noFill/>
          </a:ln>
          <a:effectLst/>
        </p:spPr>
        <p:txBody>
          <a:bodyPr rtlCol="0" anchor="ctr"/>
          <a:lstStyle/>
          <a:p>
            <a:pPr algn="ctr"/>
            <a:endParaRPr/>
          </a:p>
        </p:txBody>
      </p:sp>
      <p:sp>
        <p:nvSpPr>
          <p:cNvPr id="19" name="Shape 7"/>
          <p:cNvSpPr/>
          <p:nvPr/>
        </p:nvSpPr>
        <p:spPr>
          <a:xfrm>
            <a:off x="419100" y="6581775"/>
            <a:ext cx="1881188" cy="9525"/>
          </a:xfrm>
          <a:prstGeom prst="rect">
            <a:avLst/>
          </a:prstGeom>
          <a:solidFill>
            <a:srgbClr val="A0754A"/>
          </a:solidFill>
          <a:ln>
            <a:noFill/>
          </a:ln>
          <a:effectLst/>
        </p:spPr>
        <p:txBody>
          <a:bodyPr rtlCol="0" anchor="ctr"/>
          <a:lstStyle/>
          <a:p>
            <a:pPr algn="ctr"/>
            <a:endParaRPr/>
          </a:p>
        </p:txBody>
      </p:sp>
      <p:sp>
        <p:nvSpPr>
          <p:cNvPr id="20" name="Shape 8"/>
          <p:cNvSpPr/>
          <p:nvPr/>
        </p:nvSpPr>
        <p:spPr>
          <a:xfrm>
            <a:off x="2290762" y="6581775"/>
            <a:ext cx="9525" cy="352425"/>
          </a:xfrm>
          <a:prstGeom prst="rect">
            <a:avLst/>
          </a:prstGeom>
          <a:solidFill>
            <a:srgbClr val="A0754A"/>
          </a:solidFill>
          <a:ln>
            <a:noFill/>
          </a:ln>
          <a:effectLst/>
        </p:spPr>
        <p:txBody>
          <a:bodyPr rtlCol="0" anchor="ctr"/>
          <a:lstStyle/>
          <a:p>
            <a:pPr algn="ctr"/>
            <a:endParaRPr/>
          </a:p>
        </p:txBody>
      </p:sp>
      <p:sp>
        <p:nvSpPr>
          <p:cNvPr id="21" name="Shape 9"/>
          <p:cNvSpPr/>
          <p:nvPr/>
        </p:nvSpPr>
        <p:spPr>
          <a:xfrm>
            <a:off x="419100" y="6924675"/>
            <a:ext cx="1881188" cy="9525"/>
          </a:xfrm>
          <a:prstGeom prst="rect">
            <a:avLst/>
          </a:prstGeom>
          <a:solidFill>
            <a:srgbClr val="A0754A"/>
          </a:solidFill>
          <a:ln>
            <a:noFill/>
          </a:ln>
          <a:effectLst/>
        </p:spPr>
        <p:txBody>
          <a:bodyPr rtlCol="0" anchor="ctr"/>
          <a:lstStyle/>
          <a:p>
            <a:pPr algn="ctr"/>
            <a:endParaRPr/>
          </a:p>
        </p:txBody>
      </p:sp>
      <p:sp>
        <p:nvSpPr>
          <p:cNvPr id="22" name="Shape 10"/>
          <p:cNvSpPr/>
          <p:nvPr/>
        </p:nvSpPr>
        <p:spPr>
          <a:xfrm>
            <a:off x="419100" y="6581775"/>
            <a:ext cx="9525" cy="352425"/>
          </a:xfrm>
          <a:prstGeom prst="rect">
            <a:avLst/>
          </a:prstGeom>
          <a:solidFill>
            <a:srgbClr val="A0754A"/>
          </a:solidFill>
          <a:ln>
            <a:noFill/>
          </a:ln>
          <a:effectLst/>
        </p:spPr>
        <p:txBody>
          <a:bodyPr rtlCol="0" anchor="ctr"/>
          <a:lstStyle/>
          <a:p>
            <a:pPr algn="ctr"/>
            <a:endParaRPr/>
          </a:p>
        </p:txBody>
      </p:sp>
      <p:sp>
        <p:nvSpPr>
          <p:cNvPr id="23" name="TextBox 11">
            <a:hlinkClick r:id="rId5"/>
          </p:cNvPr>
          <p:cNvSpPr txBox="1"/>
          <p:nvPr/>
        </p:nvSpPr>
        <p:spPr>
          <a:xfrm>
            <a:off x="600075" y="6696075"/>
            <a:ext cx="1533525" cy="123825"/>
          </a:xfrm>
          <a:prstGeom prst="rect">
            <a:avLst/>
          </a:prstGeom>
          <a:noFill/>
        </p:spPr>
        <p:txBody>
          <a:bodyPr wrap="square" lIns="0" tIns="0" rIns="0" bIns="0" anchor="t">
            <a:spAutoFit/>
          </a:bodyPr>
          <a:lstStyle/>
          <a:p>
            <a:pPr algn="l">
              <a:lnSpc>
                <a:spcPts val="975"/>
              </a:lnSpc>
            </a:pPr>
            <a:r>
              <a:rPr sz="712" b="1" i="0" spc="150">
                <a:solidFill>
                  <a:srgbClr val="FFFFFF"/>
                </a:solidFill>
                <a:latin typeface="Calibri"/>
              </a:rPr>
              <a:t>SCHEDULE A CONVERSATION</a:t>
            </a:r>
          </a:p>
        </p:txBody>
      </p:sp>
      <p:sp>
        <p:nvSpPr>
          <p:cNvPr id="29" name="Shape 11"/>
          <p:cNvSpPr/>
          <p:nvPr/>
        </p:nvSpPr>
        <p:spPr>
          <a:xfrm>
            <a:off x="5848350" y="1238250"/>
            <a:ext cx="3790950" cy="5695950"/>
          </a:xfrm>
          <a:prstGeom prst="rect">
            <a:avLst/>
          </a:prstGeom>
          <a:solidFill>
            <a:srgbClr val="1B1A1A"/>
          </a:solidFill>
          <a:ln>
            <a:noFill/>
          </a:ln>
          <a:effectLst/>
        </p:spPr>
        <p:txBody>
          <a:bodyPr rtlCol="0" anchor="ctr"/>
          <a:lstStyle/>
          <a:p>
            <a:pPr algn="ctr"/>
            <a:endParaRPr/>
          </a:p>
        </p:txBody>
      </p:sp>
      <p:sp>
        <p:nvSpPr>
          <p:cNvPr id="36" name="Shape 1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37" name="Picture 3" descr="Benchmark International logo"/>
          <p:cNvPicPr>
            <a:picLocks noChangeAspect="1"/>
          </p:cNvPicPr>
          <p:nvPr/>
        </p:nvPicPr>
        <p:blipFill>
          <a:blip r:embed="rId6"/>
          <a:srcRect/>
          <a:stretch>
            <a:fillRect/>
          </a:stretch>
        </p:blipFill>
        <p:spPr>
          <a:xfrm>
            <a:off x="419100" y="7143750"/>
            <a:ext cx="914400" cy="171450"/>
          </a:xfrm>
          <a:prstGeom prst="rect">
            <a:avLst/>
          </a:prstGeom>
        </p:spPr>
      </p:pic>
      <p:pic>
        <p:nvPicPr>
          <p:cNvPr id="25" name="Picture 24" descr="Laboratory scientists in coats, masks and hair covers working at a bench"/>
          <p:cNvPicPr>
            <a:picLocks noChangeAspect="1"/>
          </p:cNvPicPr>
          <p:nvPr/>
        </p:nvPicPr>
        <p:blipFill>
          <a:blip r:embed="rId7"/>
          <a:srcRect/>
          <a:stretch>
            <a:fillRect/>
          </a:stretch>
        </p:blipFill>
        <p:spPr>
          <a:xfrm>
            <a:off x="5848350" y="1236347"/>
            <a:ext cx="3790950" cy="5697853"/>
          </a:xfrm>
          <a:prstGeom prst="rect">
            <a:avLst/>
          </a:prstGeom>
        </p:spPr>
      </p:pic>
      <p:sp>
        <p:nvSpPr>
          <p:cNvPr id="38" name="TextBox 12"/>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Benchmark International, 4030 West Boy Scout Blvd., Suite 500, Tampa, FL 33607.</a:t>
            </a:r>
          </a:p>
        </p:txBody>
      </p:sp>
      <p:sp>
        <p:nvSpPr>
          <p:cNvPr id="39" name="TextBox 13"/>
          <p:cNvSpPr txBox="1"/>
          <p:nvPr/>
        </p:nvSpPr>
        <p:spPr>
          <a:xfrm>
            <a:off x="9509373" y="7162800"/>
            <a:ext cx="144214" cy="129907"/>
          </a:xfrm>
          <a:prstGeom prst="rect">
            <a:avLst/>
          </a:prstGeom>
          <a:noFill/>
        </p:spPr>
        <p:txBody>
          <a:bodyPr wrap="square" lIns="0" tIns="0" rIns="0" bIns="0" anchor="t">
            <a:spAutoFit/>
          </a:bodyPr>
          <a:lstStyle/>
          <a:p>
            <a:pPr algn="l">
              <a:lnSpc>
                <a:spcPts val="1208"/>
              </a:lnSpc>
            </a:pPr>
            <a:r>
              <a:rPr lang="en-US" sz="800" b="1" spc="150" dirty="0">
                <a:solidFill>
                  <a:srgbClr val="1B1A1A"/>
                </a:solidFill>
                <a:latin typeface="Calibri"/>
              </a:rPr>
              <a:t>23</a:t>
            </a:r>
            <a:endParaRPr sz="800" b="1" i="0" spc="150" dirty="0">
              <a:solidFill>
                <a:srgbClr val="1B1A1A"/>
              </a:solidFill>
              <a:latin typeface="Calibri"/>
            </a:endParaRPr>
          </a:p>
        </p:txBody>
      </p:sp>
      <p:sp>
        <p:nvSpPr>
          <p:cNvPr id="31" name="Shape 12"/>
          <p:cNvSpPr/>
          <p:nvPr/>
        </p:nvSpPr>
        <p:spPr>
          <a:xfrm>
            <a:off x="5834062" y="1247775"/>
            <a:ext cx="3790950" cy="5695950"/>
          </a:xfrm>
          <a:prstGeom prst="rect">
            <a:avLst/>
          </a:prstGeom>
          <a:gradFill rotWithShape="1">
            <a:gsLst>
              <a:gs pos="40000">
                <a:srgbClr val="1B1A1A">
                  <a:alpha val="0"/>
                </a:srgbClr>
              </a:gs>
              <a:gs pos="100000">
                <a:srgbClr val="1B1A1A">
                  <a:alpha val="92000"/>
                </a:srgbClr>
              </a:gs>
            </a:gsLst>
            <a:lin ang="5400000" scaled="0"/>
          </a:gradFill>
          <a:ln>
            <a:noFill/>
          </a:ln>
        </p:spPr>
        <p:txBody>
          <a:bodyPr rtlCol="0" anchor="ctr"/>
          <a:lstStyle/>
          <a:p>
            <a:pPr algn="ct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As of October 16, 2026. Provider Services and Life Sciences &amp; Diagnostics sectors, grouped by subsector.</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1" descr="Table of operating and valuation metrics for listed Provider Services and Life Sciences &amp; Diagnostics companies, grouped by subsector"/>
          <p:cNvGraphicFramePr>
            <a:graphicFrameLocks noGrp="1"/>
          </p:cNvGraphicFramePr>
          <p:nvPr>
            <p:extLst>
              <p:ext uri="{D42A27DB-BD31-4B8C-83A1-F6EECF244321}">
                <p14:modId xmlns:p14="http://schemas.microsoft.com/office/powerpoint/2010/main" val="2942570953"/>
              </p:ext>
            </p:extLst>
          </p:nvPr>
        </p:nvGraphicFramePr>
        <p:xfrm>
          <a:off x="419100" y="1238250"/>
          <a:ext cx="9220200" cy="4726176"/>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46888">
                <a:tc>
                  <a:txBody>
                    <a:bodyPr/>
                    <a:lstStyle/>
                    <a:p>
                      <a:pPr algn="l">
                        <a:lnSpc>
                          <a:spcPts val="750"/>
                        </a:lnSpc>
                      </a:pPr>
                      <a:r>
                        <a:rPr sz="562" b="1" i="0" spc="60">
                          <a:solidFill>
                            <a:srgbClr val="1B1A1A"/>
                          </a:solidFill>
                          <a:latin typeface="Calibri"/>
                        </a:rPr>
                        <a:t>COMPANY</a:t>
                      </a:r>
                    </a:p>
                  </a:txBody>
                  <a:tcPr marL="7620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MARKET CAP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ENTERPRISE VALUE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 OF 52-WEEK HIGH</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52-WEEK PRICE CHANGE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REVENUE GROWTH,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GROSS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ADJ. EBITDA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REVENUE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ADJ. EBITDA</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ADJ. EBITDA A YEAR AGO</a:t>
                      </a:r>
                    </a:p>
                  </a:txBody>
                  <a:tcPr marL="0" marR="76200" marT="7315" marB="7315"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173736">
                <a:tc gridSpan="11">
                  <a:txBody>
                    <a:bodyPr/>
                    <a:lstStyle/>
                    <a:p>
                      <a:pPr algn="l">
                        <a:lnSpc>
                          <a:spcPts val="900"/>
                        </a:lnSpc>
                      </a:pPr>
                      <a:r>
                        <a:rPr sz="675" b="1" i="0" spc="135">
                          <a:solidFill>
                            <a:srgbClr val="FFFFFF"/>
                          </a:solidFill>
                          <a:latin typeface="Calibri"/>
                        </a:rPr>
                        <a:t>PROVIDER SERVICES</a:t>
                      </a:r>
                    </a:p>
                  </a:txBody>
                  <a:tcPr marL="76200" marR="57150" marT="7315" marB="7315"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146304">
                <a:tc>
                  <a:txBody>
                    <a:bodyPr/>
                    <a:lstStyle/>
                    <a:p>
                      <a:pPr algn="l">
                        <a:lnSpc>
                          <a:spcPts val="900"/>
                        </a:lnSpc>
                      </a:pPr>
                      <a:r>
                        <a:rPr sz="675" b="0" i="1">
                          <a:solidFill>
                            <a:srgbClr val="8C6239"/>
                          </a:solidFill>
                          <a:latin typeface="Calibri"/>
                        </a:rPr>
                        <a:t>Hospitals, behavioral, and post-acute facilities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150876">
                <a:tc>
                  <a:txBody>
                    <a:bodyPr/>
                    <a:lstStyle/>
                    <a:p>
                      <a:pPr algn="l">
                        <a:lnSpc>
                          <a:spcPts val="900"/>
                        </a:lnSpc>
                      </a:pPr>
                      <a:r>
                        <a:rPr sz="675" b="1" i="0">
                          <a:solidFill>
                            <a:srgbClr val="333231"/>
                          </a:solidFill>
                          <a:latin typeface="Calibri"/>
                        </a:rPr>
                        <a:t>HCA Healthcare HCA</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99,340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149,760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42.6%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929780537"/>
                  </a:ext>
                </a:extLst>
              </a:tr>
              <a:tr h="150876">
                <a:tc>
                  <a:txBody>
                    <a:bodyPr/>
                    <a:lstStyle/>
                    <a:p>
                      <a:pPr algn="l">
                        <a:lnSpc>
                          <a:spcPts val="900"/>
                        </a:lnSpc>
                      </a:pPr>
                      <a:r>
                        <a:rPr sz="675" b="1" i="0">
                          <a:solidFill>
                            <a:srgbClr val="333231"/>
                          </a:solidFill>
                          <a:latin typeface="Calibri"/>
                        </a:rPr>
                        <a:t>Tenet Healthcare THC</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21,520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32,600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+34.1%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7.7x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879877569"/>
                  </a:ext>
                </a:extLst>
              </a:tr>
              <a:tr h="150876">
                <a:tc>
                  <a:txBody>
                    <a:bodyPr/>
                    <a:lstStyle/>
                    <a:p>
                      <a:pPr algn="l">
                        <a:lnSpc>
                          <a:spcPts val="900"/>
                        </a:lnSpc>
                      </a:pPr>
                      <a:r>
                        <a:rPr sz="675" b="1" i="0">
                          <a:solidFill>
                            <a:srgbClr val="333231"/>
                          </a:solidFill>
                          <a:latin typeface="Calibri"/>
                        </a:rPr>
                        <a:t>Acadia Healthcare ACHC</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5,210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6.9x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0132357"/>
                  </a:ext>
                </a:extLst>
              </a:tr>
              <a:tr h="150876">
                <a:tc>
                  <a:txBody>
                    <a:bodyPr/>
                    <a:lstStyle/>
                    <a:p>
                      <a:pPr algn="l">
                        <a:lnSpc>
                          <a:spcPts val="900"/>
                        </a:lnSpc>
                      </a:pPr>
                      <a:r>
                        <a:rPr sz="675" b="1" i="0">
                          <a:solidFill>
                            <a:srgbClr val="333231"/>
                          </a:solidFill>
                          <a:latin typeface="Calibri"/>
                        </a:rPr>
                        <a:t>Ensign Group ENSG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21.3x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379344432"/>
                  </a:ext>
                </a:extLst>
              </a:tr>
              <a:tr h="150876">
                <a:tc>
                  <a:txBody>
                    <a:bodyPr/>
                    <a:lstStyle/>
                    <a:p>
                      <a:pPr algn="l">
                        <a:lnSpc>
                          <a:spcPts val="900"/>
                        </a:lnSpc>
                      </a:pPr>
                      <a:r>
                        <a:rPr sz="675" b="1" i="0">
                          <a:solidFill>
                            <a:srgbClr val="333231"/>
                          </a:solidFill>
                          <a:latin typeface="Calibri"/>
                        </a:rPr>
                        <a:t>DaVita DVA</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24,660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+48.7%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26094966"/>
                  </a:ext>
                </a:extLst>
              </a:tr>
              <a:tr h="146304">
                <a:tc>
                  <a:txBody>
                    <a:bodyPr/>
                    <a:lstStyle/>
                    <a:p>
                      <a:pPr algn="l">
                        <a:lnSpc>
                          <a:spcPts val="900"/>
                        </a:lnSpc>
                      </a:pPr>
                      <a:r>
                        <a:rPr sz="675" b="0" i="1">
                          <a:solidFill>
                            <a:srgbClr val="8C6239"/>
                          </a:solidFill>
                          <a:latin typeface="Calibri"/>
                        </a:rPr>
                        <a:t>Outpatient, physician, and home-based care</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292461618"/>
                  </a:ext>
                </a:extLst>
              </a:tr>
              <a:tr h="150876">
                <a:tc>
                  <a:txBody>
                    <a:bodyPr/>
                    <a:lstStyle/>
                    <a:p>
                      <a:pPr algn="l">
                        <a:lnSpc>
                          <a:spcPts val="900"/>
                        </a:lnSpc>
                      </a:pPr>
                      <a:r>
                        <a:rPr sz="675" b="1" i="0">
                          <a:solidFill>
                            <a:srgbClr val="333231"/>
                          </a:solidFill>
                          <a:latin typeface="Calibri"/>
                        </a:rPr>
                        <a:t>U.S. Physical Therapy USPH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1,267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1,627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52277078"/>
                  </a:ext>
                </a:extLst>
              </a:tr>
              <a:tr h="150876">
                <a:tc>
                  <a:txBody>
                    <a:bodyPr/>
                    <a:lstStyle/>
                    <a:p>
                      <a:pPr algn="l">
                        <a:lnSpc>
                          <a:spcPts val="900"/>
                        </a:lnSpc>
                      </a:pPr>
                      <a:r>
                        <a:rPr sz="675" b="1" i="0">
                          <a:solidFill>
                            <a:srgbClr val="333231"/>
                          </a:solidFill>
                          <a:latin typeface="Calibri"/>
                        </a:rPr>
                        <a:t>Addus HomeCare ADUS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88421604"/>
                  </a:ext>
                </a:extLst>
              </a:tr>
              <a:tr h="150876">
                <a:tc>
                  <a:txBody>
                    <a:bodyPr/>
                    <a:lstStyle/>
                    <a:p>
                      <a:pPr algn="l">
                        <a:lnSpc>
                          <a:spcPts val="900"/>
                        </a:lnSpc>
                      </a:pPr>
                      <a:r>
                        <a:rPr sz="675" b="1" i="0">
                          <a:solidFill>
                            <a:srgbClr val="333231"/>
                          </a:solidFill>
                          <a:latin typeface="Calibri"/>
                        </a:rPr>
                        <a:t>Pennant Group PNTG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37.9%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19.4x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701993977"/>
                  </a:ext>
                </a:extLst>
              </a:tr>
              <a:tr h="150876">
                <a:tc>
                  <a:txBody>
                    <a:bodyPr/>
                    <a:lstStyle/>
                    <a:p>
                      <a:pPr algn="l">
                        <a:lnSpc>
                          <a:spcPts val="900"/>
                        </a:lnSpc>
                      </a:pPr>
                      <a:r>
                        <a:rPr sz="675" b="1" i="0">
                          <a:solidFill>
                            <a:srgbClr val="333231"/>
                          </a:solidFill>
                          <a:latin typeface="Calibri"/>
                        </a:rPr>
                        <a:t>LifeStance Health LFST</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4,490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4,730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+126.2%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218974684"/>
                  </a:ext>
                </a:extLst>
              </a:tr>
              <a:tr h="150876">
                <a:tc>
                  <a:txBody>
                    <a:bodyPr/>
                    <a:lstStyle/>
                    <a:p>
                      <a:pPr algn="l">
                        <a:lnSpc>
                          <a:spcPts val="900"/>
                        </a:lnSpc>
                      </a:pPr>
                      <a:r>
                        <a:rPr sz="675" b="1" i="0">
                          <a:solidFill>
                            <a:srgbClr val="333231"/>
                          </a:solidFill>
                          <a:latin typeface="Calibri"/>
                        </a:rPr>
                        <a:t>Privia Health PRVA</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2,880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85525104"/>
                  </a:ext>
                </a:extLst>
              </a:tr>
              <a:tr h="150876">
                <a:tc>
                  <a:txBody>
                    <a:bodyPr/>
                    <a:lstStyle/>
                    <a:p>
                      <a:pPr algn="l">
                        <a:lnSpc>
                          <a:spcPts val="900"/>
                        </a:lnSpc>
                      </a:pPr>
                      <a:r>
                        <a:rPr sz="675" b="1" i="0">
                          <a:solidFill>
                            <a:srgbClr val="333231"/>
                          </a:solidFill>
                          <a:latin typeface="Calibri"/>
                        </a:rPr>
                        <a:t>Concentra CON</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4,780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6,760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572040353"/>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87%</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+21.5%</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32.0%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13.0%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1.76x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14.2x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14.5x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10013"/>
                  </a:ext>
                </a:extLst>
              </a:tr>
              <a:tr h="173736">
                <a:tc gridSpan="11">
                  <a:txBody>
                    <a:bodyPr/>
                    <a:lstStyle/>
                    <a:p>
                      <a:pPr algn="l">
                        <a:lnSpc>
                          <a:spcPts val="900"/>
                        </a:lnSpc>
                      </a:pPr>
                      <a:r>
                        <a:rPr sz="675" b="1" i="0" spc="135">
                          <a:solidFill>
                            <a:srgbClr val="FFFFFF"/>
                          </a:solidFill>
                          <a:latin typeface="Calibri"/>
                        </a:rPr>
                        <a:t>LIFE SCIENCES &amp; DIAGNOSTICS</a:t>
                      </a:r>
                    </a:p>
                  </a:txBody>
                  <a:tcPr marL="76200" marR="57150" marT="7315" marB="7315" anchor="ctr">
                    <a:lnL w="0">
                      <a:noFill/>
                    </a:lnL>
                    <a:lnR w="0">
                      <a:noFill/>
                    </a:lnR>
                    <a:lnT w="19050" cap="flat" cmpd="sng" algn="ctr">
                      <a:no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980441397"/>
                  </a:ext>
                </a:extLst>
              </a:tr>
              <a:tr h="146304">
                <a:tc>
                  <a:txBody>
                    <a:bodyPr/>
                    <a:lstStyle/>
                    <a:p>
                      <a:pPr algn="l">
                        <a:lnSpc>
                          <a:spcPts val="900"/>
                        </a:lnSpc>
                      </a:pPr>
                      <a:r>
                        <a:rPr sz="675" b="0" i="1">
                          <a:solidFill>
                            <a:srgbClr val="8C6239"/>
                          </a:solidFill>
                          <a:latin typeface="Calibri"/>
                        </a:rPr>
                        <a:t>Clinical laboratories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449326106"/>
                  </a:ext>
                </a:extLst>
              </a:tr>
              <a:tr h="150876">
                <a:tc>
                  <a:txBody>
                    <a:bodyPr/>
                    <a:lstStyle/>
                    <a:p>
                      <a:pPr algn="l">
                        <a:lnSpc>
                          <a:spcPts val="900"/>
                        </a:lnSpc>
                      </a:pPr>
                      <a:r>
                        <a:rPr sz="675" b="1" i="0">
                          <a:solidFill>
                            <a:srgbClr val="333231"/>
                          </a:solidFill>
                          <a:latin typeface="Calibri"/>
                        </a:rPr>
                        <a:t>Labcorp LH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25,790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32,470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28.9%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212501937"/>
                  </a:ext>
                </a:extLst>
              </a:tr>
              <a:tr h="150876">
                <a:tc>
                  <a:txBody>
                    <a:bodyPr/>
                    <a:lstStyle/>
                    <a:p>
                      <a:pPr algn="l">
                        <a:lnSpc>
                          <a:spcPts val="900"/>
                        </a:lnSpc>
                      </a:pPr>
                      <a:r>
                        <a:rPr sz="675" b="1" i="0">
                          <a:solidFill>
                            <a:srgbClr val="333231"/>
                          </a:solidFill>
                          <a:latin typeface="Calibri"/>
                        </a:rPr>
                        <a:t>Quest Diagnostics DGX</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25,940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31,720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13.3x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637640564"/>
                  </a:ext>
                </a:extLst>
              </a:tr>
              <a:tr h="146304">
                <a:tc>
                  <a:txBody>
                    <a:bodyPr/>
                    <a:lstStyle/>
                    <a:p>
                      <a:pPr algn="l">
                        <a:lnSpc>
                          <a:spcPts val="900"/>
                        </a:lnSpc>
                      </a:pPr>
                      <a:r>
                        <a:rPr sz="675" b="0" i="1">
                          <a:solidFill>
                            <a:srgbClr val="8C6239"/>
                          </a:solidFill>
                          <a:latin typeface="Calibri"/>
                        </a:rPr>
                        <a:t>Tools and reagents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773937793"/>
                  </a:ext>
                </a:extLst>
              </a:tr>
              <a:tr h="150876">
                <a:tc>
                  <a:txBody>
                    <a:bodyPr/>
                    <a:lstStyle/>
                    <a:p>
                      <a:pPr algn="l">
                        <a:lnSpc>
                          <a:spcPts val="900"/>
                        </a:lnSpc>
                      </a:pPr>
                      <a:r>
                        <a:rPr sz="675" b="1" i="0">
                          <a:solidFill>
                            <a:srgbClr val="333231"/>
                          </a:solidFill>
                          <a:latin typeface="Calibri"/>
                        </a:rPr>
                        <a:t>Thermo Fisher Scientific TMO</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255,130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293,610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6.34x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86040351"/>
                  </a:ext>
                </a:extLst>
              </a:tr>
              <a:tr h="150876">
                <a:tc>
                  <a:txBody>
                    <a:bodyPr/>
                    <a:lstStyle/>
                    <a:p>
                      <a:pPr algn="l">
                        <a:lnSpc>
                          <a:spcPts val="900"/>
                        </a:lnSpc>
                      </a:pPr>
                      <a:r>
                        <a:rPr sz="675" b="1" i="0">
                          <a:solidFill>
                            <a:srgbClr val="333231"/>
                          </a:solidFill>
                          <a:latin typeface="Calibri"/>
                        </a:rPr>
                        <a:t>Danaher DHR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158,680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182,190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263530653"/>
                  </a:ext>
                </a:extLst>
              </a:tr>
              <a:tr h="150876">
                <a:tc>
                  <a:txBody>
                    <a:bodyPr/>
                    <a:lstStyle/>
                    <a:p>
                      <a:pPr algn="l">
                        <a:lnSpc>
                          <a:spcPts val="900"/>
                        </a:lnSpc>
                      </a:pPr>
                      <a:r>
                        <a:rPr sz="675" b="1" i="0">
                          <a:solidFill>
                            <a:srgbClr val="333231"/>
                          </a:solidFill>
                          <a:latin typeface="Calibri"/>
                        </a:rPr>
                        <a:t>Bio-Techne TECH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11,380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11,400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66.2%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9.34x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32228867"/>
                  </a:ext>
                </a:extLst>
              </a:tr>
              <a:tr h="146304">
                <a:tc>
                  <a:txBody>
                    <a:bodyPr/>
                    <a:lstStyle/>
                    <a:p>
                      <a:pPr algn="l">
                        <a:lnSpc>
                          <a:spcPts val="900"/>
                        </a:lnSpc>
                      </a:pPr>
                      <a:r>
                        <a:rPr sz="675" b="0" i="1">
                          <a:solidFill>
                            <a:srgbClr val="8C6239"/>
                          </a:solidFill>
                          <a:latin typeface="Calibri"/>
                        </a:rPr>
                        <a:t>Research services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924572552"/>
                  </a:ext>
                </a:extLst>
              </a:tr>
              <a:tr h="150876">
                <a:tc>
                  <a:txBody>
                    <a:bodyPr/>
                    <a:lstStyle/>
                    <a:p>
                      <a:pPr algn="l">
                        <a:lnSpc>
                          <a:spcPts val="900"/>
                        </a:lnSpc>
                      </a:pPr>
                      <a:r>
                        <a:rPr sz="675" b="1" i="0">
                          <a:solidFill>
                            <a:srgbClr val="333231"/>
                          </a:solidFill>
                          <a:latin typeface="Calibri"/>
                        </a:rPr>
                        <a:t>IQVIA IQV</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43,930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58,110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3.42x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12.3x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542678784"/>
                  </a:ext>
                </a:extLst>
              </a:tr>
              <a:tr h="150876">
                <a:tc>
                  <a:txBody>
                    <a:bodyPr/>
                    <a:lstStyle/>
                    <a:p>
                      <a:pPr algn="l">
                        <a:lnSpc>
                          <a:spcPts val="900"/>
                        </a:lnSpc>
                      </a:pPr>
                      <a:r>
                        <a:rPr sz="675" b="1" i="0">
                          <a:solidFill>
                            <a:srgbClr val="333231"/>
                          </a:solidFill>
                          <a:latin typeface="Calibri"/>
                        </a:rPr>
                        <a:t>Medpace MEDP</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17,260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16,900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72.3%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6.07x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29.0x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30278622"/>
                  </a:ext>
                </a:extLst>
              </a:tr>
              <a:tr h="150876">
                <a:tc>
                  <a:txBody>
                    <a:bodyPr/>
                    <a:lstStyle/>
                    <a:p>
                      <a:pPr algn="l">
                        <a:lnSpc>
                          <a:spcPts val="900"/>
                        </a:lnSpc>
                      </a:pPr>
                      <a:r>
                        <a:rPr sz="675" b="1" i="0">
                          <a:solidFill>
                            <a:srgbClr val="333231"/>
                          </a:solidFill>
                          <a:latin typeface="Calibri"/>
                        </a:rPr>
                        <a:t>ICON ICLR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15,730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11.6x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243164528"/>
                  </a:ext>
                </a:extLst>
              </a:tr>
              <a:tr h="150876">
                <a:tc>
                  <a:txBody>
                    <a:bodyPr/>
                    <a:lstStyle/>
                    <a:p>
                      <a:pPr algn="l">
                        <a:lnSpc>
                          <a:spcPts val="900"/>
                        </a:lnSpc>
                      </a:pPr>
                      <a:r>
                        <a:rPr sz="675" b="1" i="0">
                          <a:solidFill>
                            <a:srgbClr val="333231"/>
                          </a:solidFill>
                          <a:latin typeface="Calibri"/>
                        </a:rPr>
                        <a:t>Charles River Laboratories CRL</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14,330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34.6%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4.29x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006149306"/>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93%</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+21.8%</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6.4%</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34.6%</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22.9%</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4.29x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18.7x</a:t>
                      </a:r>
                    </a:p>
                  </a:txBody>
                  <a:tcPr marL="0" marR="57150" marT="7315" marB="7315" anchor="ctr">
                    <a:lnL w="0">
                      <a:noFill/>
                    </a:lnL>
                    <a:lnR w="0">
                      <a:noFill/>
                    </a:lnR>
                    <a:lnT w="7143">
                      <a:noFill/>
                    </a:lnT>
                    <a:lnB w="0">
                      <a:noFill/>
                    </a:lnB>
                    <a:noFill/>
                  </a:tcPr>
                </a:tc>
                <a:tc>
                  <a:txBody>
                    <a:bodyPr/>
                    <a:lstStyle/>
                    <a:p>
                      <a:pPr algn="r">
                        <a:lnSpc>
                          <a:spcPts val="900"/>
                        </a:lnSpc>
                      </a:pPr>
                      <a:r>
                        <a:rPr sz="675" b="1" i="0" dirty="0">
                          <a:solidFill>
                            <a:srgbClr val="1B1A1A"/>
                          </a:solidFill>
                          <a:latin typeface="Calibri"/>
                        </a:rPr>
                        <a:t>13.3x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4115099094"/>
                  </a:ext>
                </a:extLst>
              </a:tr>
            </a:tbl>
          </a:graphicData>
        </a:graphic>
      </p:graphicFrame>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5"/>
          <p:cNvSpPr txBox="1"/>
          <p:nvPr/>
        </p:nvSpPr>
        <p:spPr>
          <a:xfrm>
            <a:off x="1543050" y="7105650"/>
            <a:ext cx="7748588" cy="238125"/>
          </a:xfrm>
          <a:prstGeom prst="rect">
            <a:avLst/>
          </a:prstGeom>
          <a:noFill/>
        </p:spPr>
        <p:txBody>
          <a:bodyPr wrap="square" lIns="0" tIns="0" rIns="0" bIns="0" anchor="t">
            <a:spAutoFit/>
          </a:bodyPr>
          <a:lstStyle/>
          <a:p>
            <a:pPr algn="l">
              <a:lnSpc>
                <a:spcPts val="1022"/>
              </a:lnSpc>
            </a:pPr>
            <a:r>
              <a:rPr sz="750" b="0" i="0" spc="8">
                <a:solidFill>
                  <a:srgbClr val="6F6A66"/>
                </a:solidFill>
                <a:latin typeface="Calibri"/>
              </a:rPr>
              <a:t>Source: company earnings releases and filings for adjusted EBITDA; </a:t>
            </a:r>
            <a:r>
              <a:rPr sz="750" b="0" i="0" spc="8">
                <a:solidFill>
                  <a:srgbClr val="8C6239"/>
                </a:solidFill>
                <a:latin typeface="Calibri"/>
                <a:hlinkClick r:id="rId3"/>
              </a:rPr>
              <a:t>StockAnalysis</a:t>
            </a:r>
            <a:r>
              <a:rPr sz="750" b="0" i="0" spc="8">
                <a:solidFill>
                  <a:srgbClr val="6F6A66"/>
                </a:solidFill>
                <a:latin typeface="Calibri"/>
              </a:rPr>
              <a:t> for market data, retrieved October 19, 2026 (closing prices of October 16). LTM is the twelve months to June 30, 2026; a year ago is enterprise value at September 30, 2025 over the twelve months to June 30, 2025. Where a company reports adjusted operating income rather than adjusted EBITDA, depreciation is added. n.a. marks a figure that is not comparable because of a change in reporting basis.</a:t>
            </a:r>
          </a:p>
        </p:txBody>
      </p:sp>
      <p:sp>
        <p:nvSpPr>
          <p:cNvPr id="12" name="TextBox 6"/>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Appendix: Public Market Operating and Valuation Metrics</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55"/>
              </a:lnSpc>
            </a:pPr>
            <a:r>
              <a:rPr sz="1050" b="0" i="0" spc="15">
                <a:solidFill>
                  <a:srgbClr val="6F6A66"/>
                </a:solidFill>
                <a:latin typeface="Calibri"/>
              </a:rPr>
              <a:t>As of October 16, 2026. Medical Products &amp; Distribution and Pharmacy &amp; Healthcare Services sectors, grouped by subsector. The total covers all 38 companies.</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graphicFrame>
        <p:nvGraphicFramePr>
          <p:cNvPr id="8" name="Table 1" descr="Table of operating and valuation metrics for listed Medical Products &amp; Distribution and Pharmacy &amp; Healthcare Services companies, with sector medians and a total for all 38 companies"/>
          <p:cNvGraphicFramePr>
            <a:graphicFrameLocks noGrp="1"/>
          </p:cNvGraphicFramePr>
          <p:nvPr>
            <p:extLst>
              <p:ext uri="{D42A27DB-BD31-4B8C-83A1-F6EECF244321}">
                <p14:modId xmlns:p14="http://schemas.microsoft.com/office/powerpoint/2010/main" val="3444515063"/>
              </p:ext>
            </p:extLst>
          </p:nvPr>
        </p:nvGraphicFramePr>
        <p:xfrm>
          <a:off x="419100" y="1238250"/>
          <a:ext cx="9220200" cy="4474056"/>
        </p:xfrm>
        <a:graphic>
          <a:graphicData uri="http://schemas.openxmlformats.org/drawingml/2006/table">
            <a:tbl>
              <a:tblPr>
                <a:tableStyleId>{2D5ABB26-0587-4C30-8999-92F81FD0307C}</a:tableStyleId>
              </a:tblPr>
              <a:tblGrid>
                <a:gridCol w="20955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8001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723900">
                  <a:extLst>
                    <a:ext uri="{9D8B030D-6E8A-4147-A177-3AD203B41FA5}">
                      <a16:colId xmlns:a16="http://schemas.microsoft.com/office/drawing/2014/main" val="20004"/>
                    </a:ext>
                  </a:extLst>
                </a:gridCol>
                <a:gridCol w="7239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66750">
                  <a:extLst>
                    <a:ext uri="{9D8B030D-6E8A-4147-A177-3AD203B41FA5}">
                      <a16:colId xmlns:a16="http://schemas.microsoft.com/office/drawing/2014/main" val="20008"/>
                    </a:ext>
                  </a:extLst>
                </a:gridCol>
                <a:gridCol w="68580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tblGrid>
              <a:tr h="246888">
                <a:tc>
                  <a:txBody>
                    <a:bodyPr/>
                    <a:lstStyle/>
                    <a:p>
                      <a:pPr algn="l">
                        <a:lnSpc>
                          <a:spcPts val="750"/>
                        </a:lnSpc>
                      </a:pPr>
                      <a:r>
                        <a:rPr sz="562" b="1" i="0" spc="60">
                          <a:solidFill>
                            <a:srgbClr val="1B1A1A"/>
                          </a:solidFill>
                          <a:latin typeface="Calibri"/>
                        </a:rPr>
                        <a:t>COMPANY</a:t>
                      </a:r>
                    </a:p>
                  </a:txBody>
                  <a:tcPr marL="7620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MARKET CAP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ENTERPRISE VALUE ($M)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 OF 52-WEEK HIGH</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52-WEEK PRICE CHANGE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REVENUE GROWTH,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GROSS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ADJ. EBITDA MARGIN, LTM</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REVENUE</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LTM ADJ. EBITDA</a:t>
                      </a:r>
                    </a:p>
                  </a:txBody>
                  <a:tcPr marL="0" marR="57150" marT="7315" marB="7315" anchor="b">
                    <a:lnL w="0">
                      <a:noFill/>
                    </a:lnL>
                    <a:lnR w="0">
                      <a:noFill/>
                    </a:lnR>
                    <a:lnT w="0">
                      <a:noFill/>
                    </a:lnT>
                    <a:lnB w="19050">
                      <a:solidFill>
                        <a:srgbClr val="B68757"/>
                      </a:solidFill>
                    </a:lnB>
                    <a:noFill/>
                  </a:tcPr>
                </a:tc>
                <a:tc>
                  <a:txBody>
                    <a:bodyPr/>
                    <a:lstStyle/>
                    <a:p>
                      <a:pPr algn="ctr">
                        <a:lnSpc>
                          <a:spcPts val="750"/>
                        </a:lnSpc>
                      </a:pPr>
                      <a:r>
                        <a:rPr sz="562" b="1" i="0" spc="60" dirty="0">
                          <a:solidFill>
                            <a:srgbClr val="1B1A1A"/>
                          </a:solidFill>
                          <a:latin typeface="Calibri"/>
                        </a:rPr>
                        <a:t>EV / ADJ. EBITDA A YEAR AGO</a:t>
                      </a:r>
                    </a:p>
                  </a:txBody>
                  <a:tcPr marL="0" marR="76200" marT="7315" marB="7315"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173736">
                <a:tc gridSpan="11">
                  <a:txBody>
                    <a:bodyPr/>
                    <a:lstStyle/>
                    <a:p>
                      <a:pPr algn="l">
                        <a:lnSpc>
                          <a:spcPts val="900"/>
                        </a:lnSpc>
                      </a:pPr>
                      <a:r>
                        <a:rPr sz="675" b="1" i="0" spc="135">
                          <a:solidFill>
                            <a:srgbClr val="FFFFFF"/>
                          </a:solidFill>
                          <a:latin typeface="Calibri"/>
                        </a:rPr>
                        <a:t>MEDICAL PRODUCTS &amp; DISTRIBUTION</a:t>
                      </a:r>
                    </a:p>
                  </a:txBody>
                  <a:tcPr marL="76200" marR="57150" marT="7315" marB="7315" anchor="ctr">
                    <a:lnL w="0">
                      <a:noFill/>
                    </a:lnL>
                    <a:lnR w="0">
                      <a:noFill/>
                    </a:lnR>
                    <a:lnT w="19050" cap="flat" cmpd="sng" algn="ctr">
                      <a:solidFill>
                        <a:srgbClr val="B68757"/>
                      </a:solid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10001"/>
                  </a:ext>
                </a:extLst>
              </a:tr>
              <a:tr h="146304">
                <a:tc>
                  <a:txBody>
                    <a:bodyPr/>
                    <a:lstStyle/>
                    <a:p>
                      <a:pPr algn="l">
                        <a:lnSpc>
                          <a:spcPts val="900"/>
                        </a:lnSpc>
                      </a:pPr>
                      <a:r>
                        <a:rPr sz="675" b="0" i="1">
                          <a:solidFill>
                            <a:srgbClr val="8C6239"/>
                          </a:solidFill>
                          <a:latin typeface="Calibri"/>
                        </a:rPr>
                        <a:t>Devices, consumables, and manufacturing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0002"/>
                  </a:ext>
                </a:extLst>
              </a:tr>
              <a:tr h="150876">
                <a:tc>
                  <a:txBody>
                    <a:bodyPr/>
                    <a:lstStyle/>
                    <a:p>
                      <a:pPr algn="l">
                        <a:lnSpc>
                          <a:spcPts val="900"/>
                        </a:lnSpc>
                      </a:pPr>
                      <a:r>
                        <a:rPr sz="675" b="1" i="0">
                          <a:solidFill>
                            <a:srgbClr val="333231"/>
                          </a:solidFill>
                          <a:latin typeface="Calibri"/>
                        </a:rPr>
                        <a:t>Stryker SYK</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113,020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124,990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65.6%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4.84x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23.8x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043278706"/>
                  </a:ext>
                </a:extLst>
              </a:tr>
              <a:tr h="150876">
                <a:tc>
                  <a:txBody>
                    <a:bodyPr/>
                    <a:lstStyle/>
                    <a:p>
                      <a:pPr algn="l">
                        <a:lnSpc>
                          <a:spcPts val="900"/>
                        </a:lnSpc>
                      </a:pPr>
                      <a:r>
                        <a:rPr sz="675" b="1" i="0">
                          <a:solidFill>
                            <a:srgbClr val="333231"/>
                          </a:solidFill>
                          <a:latin typeface="Calibri"/>
                        </a:rPr>
                        <a:t>Zimmer Biomet ZBH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18,120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25,250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69.5%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32.2%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2.97x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41346761"/>
                  </a:ext>
                </a:extLst>
              </a:tr>
              <a:tr h="150876">
                <a:tc>
                  <a:txBody>
                    <a:bodyPr/>
                    <a:lstStyle/>
                    <a:p>
                      <a:pPr algn="l">
                        <a:lnSpc>
                          <a:spcPts val="900"/>
                        </a:lnSpc>
                      </a:pPr>
                      <a:r>
                        <a:rPr sz="675" b="1" i="0">
                          <a:solidFill>
                            <a:srgbClr val="333231"/>
                          </a:solidFill>
                          <a:latin typeface="Calibri"/>
                        </a:rPr>
                        <a:t>Teleflex TFX</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5,530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n.a.</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n.a.</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020798539"/>
                  </a:ext>
                </a:extLst>
              </a:tr>
              <a:tr h="150876">
                <a:tc>
                  <a:txBody>
                    <a:bodyPr/>
                    <a:lstStyle/>
                    <a:p>
                      <a:pPr algn="l">
                        <a:lnSpc>
                          <a:spcPts val="900"/>
                        </a:lnSpc>
                      </a:pPr>
                      <a:r>
                        <a:rPr sz="675" b="1" i="0">
                          <a:solidFill>
                            <a:srgbClr val="333231"/>
                          </a:solidFill>
                          <a:latin typeface="Calibri"/>
                        </a:rPr>
                        <a:t>Solventum SOLV</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14,610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19,500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54.8%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87251352"/>
                  </a:ext>
                </a:extLst>
              </a:tr>
              <a:tr h="150876">
                <a:tc>
                  <a:txBody>
                    <a:bodyPr/>
                    <a:lstStyle/>
                    <a:p>
                      <a:pPr algn="l">
                        <a:lnSpc>
                          <a:spcPts val="900"/>
                        </a:lnSpc>
                      </a:pPr>
                      <a:r>
                        <a:rPr sz="675" b="1" i="0">
                          <a:solidFill>
                            <a:srgbClr val="333231"/>
                          </a:solidFill>
                          <a:latin typeface="Calibri"/>
                        </a:rPr>
                        <a:t>Steris STE</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21,710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23,270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44.4%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3.85x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17.4x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768466568"/>
                  </a:ext>
                </a:extLst>
              </a:tr>
              <a:tr h="150876">
                <a:tc>
                  <a:txBody>
                    <a:bodyPr/>
                    <a:lstStyle/>
                    <a:p>
                      <a:pPr algn="l">
                        <a:lnSpc>
                          <a:spcPts val="900"/>
                        </a:lnSpc>
                      </a:pPr>
                      <a:r>
                        <a:rPr sz="675" b="1" i="0">
                          <a:solidFill>
                            <a:srgbClr val="333231"/>
                          </a:solidFill>
                          <a:latin typeface="Calibri"/>
                        </a:rPr>
                        <a:t>Integer Holdings ITGR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4,310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5,650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+22.1%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3.07x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12.6x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356217108"/>
                  </a:ext>
                </a:extLst>
              </a:tr>
              <a:tr h="146304">
                <a:tc>
                  <a:txBody>
                    <a:bodyPr/>
                    <a:lstStyle/>
                    <a:p>
                      <a:pPr algn="l">
                        <a:lnSpc>
                          <a:spcPts val="900"/>
                        </a:lnSpc>
                      </a:pPr>
                      <a:r>
                        <a:rPr sz="675" b="0" i="1">
                          <a:solidFill>
                            <a:srgbClr val="8C6239"/>
                          </a:solidFill>
                          <a:latin typeface="Calibri"/>
                        </a:rPr>
                        <a:t>Dental, distribution, and home equipment</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014719289"/>
                  </a:ext>
                </a:extLst>
              </a:tr>
              <a:tr h="150876">
                <a:tc>
                  <a:txBody>
                    <a:bodyPr/>
                    <a:lstStyle/>
                    <a:p>
                      <a:pPr algn="l">
                        <a:lnSpc>
                          <a:spcPts val="900"/>
                        </a:lnSpc>
                      </a:pPr>
                      <a:r>
                        <a:rPr sz="675" b="1" i="0">
                          <a:solidFill>
                            <a:srgbClr val="333231"/>
                          </a:solidFill>
                          <a:latin typeface="Calibri"/>
                        </a:rPr>
                        <a:t>Henry Schein HSIC</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9,630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13,280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0.98x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12.0x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26540811"/>
                  </a:ext>
                </a:extLst>
              </a:tr>
              <a:tr h="150876">
                <a:tc>
                  <a:txBody>
                    <a:bodyPr/>
                    <a:lstStyle/>
                    <a:p>
                      <a:pPr algn="l">
                        <a:lnSpc>
                          <a:spcPts val="900"/>
                        </a:lnSpc>
                      </a:pPr>
                      <a:r>
                        <a:rPr sz="675" b="1" i="0">
                          <a:solidFill>
                            <a:srgbClr val="333231"/>
                          </a:solidFill>
                          <a:latin typeface="Calibri"/>
                        </a:rPr>
                        <a:t>Dentsply Sirona XRAY</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3,800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49.5%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80137045"/>
                  </a:ext>
                </a:extLst>
              </a:tr>
              <a:tr h="150876">
                <a:tc>
                  <a:txBody>
                    <a:bodyPr/>
                    <a:lstStyle/>
                    <a:p>
                      <a:pPr algn="l">
                        <a:lnSpc>
                          <a:spcPts val="900"/>
                        </a:lnSpc>
                      </a:pPr>
                      <a:r>
                        <a:rPr sz="675" b="1" i="0">
                          <a:solidFill>
                            <a:srgbClr val="333231"/>
                          </a:solidFill>
                          <a:latin typeface="Calibri"/>
                        </a:rPr>
                        <a:t>Envista NVST</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3,680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4,140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55.4%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12.5x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90015313"/>
                  </a:ext>
                </a:extLst>
              </a:tr>
              <a:tr h="150876">
                <a:tc>
                  <a:txBody>
                    <a:bodyPr/>
                    <a:lstStyle/>
                    <a:p>
                      <a:pPr algn="l">
                        <a:lnSpc>
                          <a:spcPts val="900"/>
                        </a:lnSpc>
                      </a:pPr>
                      <a:r>
                        <a:rPr sz="675" b="1" i="0">
                          <a:solidFill>
                            <a:srgbClr val="333231"/>
                          </a:solidFill>
                          <a:latin typeface="Calibri"/>
                        </a:rPr>
                        <a:t>Viemed Healthcare VMD</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+31.8%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57.5%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395314683"/>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86%</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+12.1%</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8.4%</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54.9%</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22.3%</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2.66x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10.7x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12.0x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10012"/>
                  </a:ext>
                </a:extLst>
              </a:tr>
              <a:tr h="173736">
                <a:tc gridSpan="11">
                  <a:txBody>
                    <a:bodyPr/>
                    <a:lstStyle/>
                    <a:p>
                      <a:pPr algn="l">
                        <a:lnSpc>
                          <a:spcPts val="900"/>
                        </a:lnSpc>
                      </a:pPr>
                      <a:r>
                        <a:rPr sz="675" b="1" i="0" spc="135">
                          <a:solidFill>
                            <a:srgbClr val="FFFFFF"/>
                          </a:solidFill>
                          <a:latin typeface="Calibri"/>
                        </a:rPr>
                        <a:t>PHARMACY &amp; HEALTHCARE SERVICES</a:t>
                      </a:r>
                    </a:p>
                  </a:txBody>
                  <a:tcPr marL="76200" marR="57150" marT="7315" marB="7315" anchor="ctr">
                    <a:lnL w="0">
                      <a:noFill/>
                    </a:lnL>
                    <a:lnR w="0">
                      <a:noFill/>
                    </a:lnR>
                    <a:lnT w="19050" cap="flat" cmpd="sng" algn="ctr">
                      <a:noFill/>
                      <a:prstDash val="solid"/>
                      <a:round/>
                      <a:headEnd type="none" w="med" len="med"/>
                      <a:tailEnd type="none" w="med" len="med"/>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57150" marT="0" marB="0" anchor="ctr">
                    <a:lnL w="0">
                      <a:noFill/>
                    </a:lnL>
                    <a:lnR w="0">
                      <a:noFill/>
                    </a:lnR>
                    <a:lnT w="0">
                      <a:noFill/>
                    </a:lnT>
                    <a:lnB w="0">
                      <a:noFill/>
                    </a:lnB>
                    <a:solidFill>
                      <a:srgbClr val="1B1A1A"/>
                    </a:solidFill>
                  </a:tcPr>
                </a:tc>
                <a:tc hMerge="1">
                  <a:txBody>
                    <a:bodyPr/>
                    <a:lstStyle/>
                    <a:p>
                      <a:endParaRPr sz="100"/>
                    </a:p>
                  </a:txBody>
                  <a:tcPr marL="0" marR="76200" marT="0" marB="0" anchor="ctr">
                    <a:lnL w="0">
                      <a:noFill/>
                    </a:lnL>
                    <a:lnR w="0">
                      <a:noFill/>
                    </a:lnR>
                    <a:lnT w="0">
                      <a:noFill/>
                    </a:lnT>
                    <a:lnB w="0">
                      <a:noFill/>
                    </a:lnB>
                    <a:solidFill>
                      <a:srgbClr val="1B1A1A"/>
                    </a:solidFill>
                  </a:tcPr>
                </a:tc>
                <a:extLst>
                  <a:ext uri="{0D108BD9-81ED-4DB2-BD59-A6C34878D82A}">
                    <a16:rowId xmlns:a16="http://schemas.microsoft.com/office/drawing/2014/main" val="2452965121"/>
                  </a:ext>
                </a:extLst>
              </a:tr>
              <a:tr h="146304">
                <a:tc>
                  <a:txBody>
                    <a:bodyPr/>
                    <a:lstStyle/>
                    <a:p>
                      <a:pPr algn="l">
                        <a:lnSpc>
                          <a:spcPts val="900"/>
                        </a:lnSpc>
                      </a:pPr>
                      <a:r>
                        <a:rPr sz="675" b="0" i="1">
                          <a:solidFill>
                            <a:srgbClr val="8C6239"/>
                          </a:solidFill>
                          <a:latin typeface="Calibri"/>
                        </a:rPr>
                        <a:t>Pharmacy services and staffing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4128144390"/>
                  </a:ext>
                </a:extLst>
              </a:tr>
              <a:tr h="150876">
                <a:tc>
                  <a:txBody>
                    <a:bodyPr/>
                    <a:lstStyle/>
                    <a:p>
                      <a:pPr algn="l">
                        <a:lnSpc>
                          <a:spcPts val="900"/>
                        </a:lnSpc>
                      </a:pPr>
                      <a:r>
                        <a:rPr sz="675" b="1" i="0">
                          <a:solidFill>
                            <a:srgbClr val="333231"/>
                          </a:solidFill>
                          <a:latin typeface="Calibri"/>
                        </a:rPr>
                        <a:t>Option Care Health OPCH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5,740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11.9x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321700616"/>
                  </a:ext>
                </a:extLst>
              </a:tr>
              <a:tr h="150876">
                <a:tc>
                  <a:txBody>
                    <a:bodyPr/>
                    <a:lstStyle/>
                    <a:p>
                      <a:pPr algn="l">
                        <a:lnSpc>
                          <a:spcPts val="900"/>
                        </a:lnSpc>
                      </a:pPr>
                      <a:r>
                        <a:rPr sz="675" b="1" i="0">
                          <a:solidFill>
                            <a:srgbClr val="333231"/>
                          </a:solidFill>
                          <a:latin typeface="Calibri"/>
                        </a:rPr>
                        <a:t>BrightSpring BTSG</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12,990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14,830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+108.4%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20.1x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16.7x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072893126"/>
                  </a:ext>
                </a:extLst>
              </a:tr>
              <a:tr h="150876">
                <a:tc>
                  <a:txBody>
                    <a:bodyPr/>
                    <a:lstStyle/>
                    <a:p>
                      <a:pPr algn="l">
                        <a:lnSpc>
                          <a:spcPts val="900"/>
                        </a:lnSpc>
                      </a:pPr>
                      <a:r>
                        <a:rPr sz="675" b="1" i="0">
                          <a:solidFill>
                            <a:srgbClr val="333231"/>
                          </a:solidFill>
                          <a:latin typeface="Calibri"/>
                        </a:rPr>
                        <a:t>Guardian Pharmacy Services GRDN</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2,500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21.6%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1.68x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19.4x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17.4x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143387308"/>
                  </a:ext>
                </a:extLst>
              </a:tr>
              <a:tr h="150876">
                <a:tc>
                  <a:txBody>
                    <a:bodyPr/>
                    <a:lstStyle/>
                    <a:p>
                      <a:pPr algn="l">
                        <a:lnSpc>
                          <a:spcPts val="900"/>
                        </a:lnSpc>
                      </a:pPr>
                      <a:r>
                        <a:rPr sz="675" b="1" i="0">
                          <a:solidFill>
                            <a:srgbClr val="333231"/>
                          </a:solidFill>
                          <a:latin typeface="Calibri"/>
                        </a:rPr>
                        <a:t>AMN Healthcare AMN</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1,610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2,020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+111.0%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27.8%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0.59x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5.7x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780273943"/>
                  </a:ext>
                </a:extLst>
              </a:tr>
              <a:tr h="146304">
                <a:tc>
                  <a:txBody>
                    <a:bodyPr/>
                    <a:lstStyle/>
                    <a:p>
                      <a:pPr algn="l">
                        <a:lnSpc>
                          <a:spcPts val="900"/>
                        </a:lnSpc>
                      </a:pPr>
                      <a:r>
                        <a:rPr sz="675" b="0" i="1">
                          <a:solidFill>
                            <a:srgbClr val="8C6239"/>
                          </a:solidFill>
                          <a:latin typeface="Calibri"/>
                        </a:rPr>
                        <a:t>Drug distribution and retail pharmacy</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57150" marT="7315" marB="7315" anchor="ctr">
                    <a:lnL w="0">
                      <a:noFill/>
                    </a:lnL>
                    <a:lnR w="0">
                      <a:noFill/>
                    </a:lnR>
                    <a:lnT w="0">
                      <a:noFill/>
                    </a:lnT>
                    <a:lnB w="0">
                      <a:noFill/>
                    </a:lnB>
                    <a:solidFill>
                      <a:srgbClr val="FFFFFF"/>
                    </a:solidFill>
                  </a:tcPr>
                </a:tc>
                <a:tc>
                  <a:txBody>
                    <a:bodyPr/>
                    <a:lstStyle/>
                    <a:p>
                      <a:pPr algn="r">
                        <a:lnSpc>
                          <a:spcPts val="900"/>
                        </a:lnSpc>
                      </a:pPr>
                      <a:endParaRP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3091736426"/>
                  </a:ext>
                </a:extLst>
              </a:tr>
              <a:tr h="150876">
                <a:tc>
                  <a:txBody>
                    <a:bodyPr/>
                    <a:lstStyle/>
                    <a:p>
                      <a:pPr algn="l">
                        <a:lnSpc>
                          <a:spcPts val="900"/>
                        </a:lnSpc>
                      </a:pPr>
                      <a:r>
                        <a:rPr sz="675" b="1" i="0">
                          <a:solidFill>
                            <a:srgbClr val="333231"/>
                          </a:solidFill>
                          <a:latin typeface="Calibri"/>
                        </a:rPr>
                        <a:t>McKesson MCK</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117,150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123,790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+26.9%</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0.30x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873739714"/>
                  </a:ext>
                </a:extLst>
              </a:tr>
              <a:tr h="150876">
                <a:tc>
                  <a:txBody>
                    <a:bodyPr/>
                    <a:lstStyle/>
                    <a:p>
                      <a:pPr algn="l">
                        <a:lnSpc>
                          <a:spcPts val="900"/>
                        </a:lnSpc>
                      </a:pPr>
                      <a:r>
                        <a:rPr sz="675" b="1" i="0">
                          <a:solidFill>
                            <a:srgbClr val="333231"/>
                          </a:solidFill>
                          <a:latin typeface="Calibri"/>
                        </a:rPr>
                        <a:t>Cencora COR</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65,060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76,700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5.1%</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0.23x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14.9x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15.2x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1019915331"/>
                  </a:ext>
                </a:extLst>
              </a:tr>
              <a:tr h="150876">
                <a:tc>
                  <a:txBody>
                    <a:bodyPr/>
                    <a:lstStyle/>
                    <a:p>
                      <a:pPr algn="l">
                        <a:lnSpc>
                          <a:spcPts val="900"/>
                        </a:lnSpc>
                      </a:pPr>
                      <a:r>
                        <a:rPr sz="675" b="1" i="0">
                          <a:solidFill>
                            <a:srgbClr val="333231"/>
                          </a:solidFill>
                          <a:latin typeface="Calibri"/>
                        </a:rPr>
                        <a:t>Cardinal Health CAH</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58,830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63,970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+63.2%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14.2%</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3.8%</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1.7%</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0.25x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15.2x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462553673"/>
                  </a:ext>
                </a:extLst>
              </a:tr>
              <a:tr h="150876">
                <a:tc>
                  <a:txBody>
                    <a:bodyPr/>
                    <a:lstStyle/>
                    <a:p>
                      <a:pPr algn="l">
                        <a:lnSpc>
                          <a:spcPts val="900"/>
                        </a:lnSpc>
                      </a:pPr>
                      <a:r>
                        <a:rPr sz="675" b="1" i="0">
                          <a:solidFill>
                            <a:srgbClr val="333231"/>
                          </a:solidFill>
                          <a:latin typeface="Calibri"/>
                        </a:rPr>
                        <a:t>CVS Health CVS</a:t>
                      </a:r>
                    </a:p>
                  </a:txBody>
                  <a:tcPr marL="7620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118,130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180,470</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83%</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+14.5%</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7.4%</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13.6%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4.6%</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0.44x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9.5x</a:t>
                      </a:r>
                    </a:p>
                  </a:txBody>
                  <a:tcPr marL="0" marR="57150" marT="7315" marB="7315" anchor="ctr">
                    <a:lnL w="0">
                      <a:noFill/>
                    </a:lnL>
                    <a:lnR w="0">
                      <a:noFill/>
                    </a:lnR>
                    <a:lnT w="0">
                      <a:noFill/>
                    </a:lnT>
                    <a:lnB w="0">
                      <a:noFill/>
                    </a:lnB>
                    <a:solidFill>
                      <a:srgbClr val="FFFFFF"/>
                    </a:solidFill>
                  </a:tcPr>
                </a:tc>
                <a:tc>
                  <a:txBody>
                    <a:bodyPr/>
                    <a:lstStyle/>
                    <a:p>
                      <a:pPr algn="r">
                        <a:lnSpc>
                          <a:spcPts val="900"/>
                        </a:lnSpc>
                      </a:pPr>
                      <a:r>
                        <a:rPr sz="675" b="0" i="0">
                          <a:solidFill>
                            <a:srgbClr val="333231"/>
                          </a:solidFill>
                          <a:latin typeface="Calibri"/>
                        </a:rPr>
                        <a:t>10.1x</a:t>
                      </a:r>
                    </a:p>
                  </a:txBody>
                  <a:tcPr marL="0" marR="76200" marT="7315" marB="7315" anchor="ctr">
                    <a:lnL w="0">
                      <a:noFill/>
                    </a:lnL>
                    <a:lnR w="0">
                      <a:noFill/>
                    </a:lnR>
                    <a:lnT w="0">
                      <a:noFill/>
                    </a:lnT>
                    <a:lnB w="0">
                      <a:noFill/>
                    </a:lnB>
                    <a:solidFill>
                      <a:srgbClr val="FFFFFF"/>
                    </a:solidFill>
                  </a:tcPr>
                </a:tc>
                <a:extLst>
                  <a:ext uri="{0D108BD9-81ED-4DB2-BD59-A6C34878D82A}">
                    <a16:rowId xmlns:a16="http://schemas.microsoft.com/office/drawing/2014/main" val="21421944"/>
                  </a:ext>
                </a:extLst>
              </a:tr>
              <a:tr h="155448">
                <a:tc>
                  <a:txBody>
                    <a:bodyPr/>
                    <a:lstStyle/>
                    <a:p>
                      <a:pPr algn="l">
                        <a:lnSpc>
                          <a:spcPts val="900"/>
                        </a:lnSpc>
                      </a:pPr>
                      <a:r>
                        <a:rPr sz="675" b="1" i="0">
                          <a:solidFill>
                            <a:srgbClr val="1B1A1A"/>
                          </a:solidFill>
                          <a:latin typeface="Calibri"/>
                        </a:rPr>
                        <a:t>Median</a:t>
                      </a:r>
                    </a:p>
                  </a:txBody>
                  <a:tcPr marL="76200" marR="57150" marT="7315" marB="7315"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endParaRPr sz="100"/>
                    </a:p>
                  </a:txBody>
                  <a:tcPr marL="0" marR="57150" marT="0" marB="0"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88%</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+44.3%</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9.6%</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13.0%</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4.9%</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0.51x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15.0x</a:t>
                      </a:r>
                    </a:p>
                  </a:txBody>
                  <a:tcPr marL="0" marR="57150" marT="7315" marB="7315" anchor="ctr">
                    <a:lnL w="0">
                      <a:noFill/>
                    </a:lnL>
                    <a:lnR w="0">
                      <a:noFill/>
                    </a:lnR>
                    <a:lnT w="7143">
                      <a:noFill/>
                    </a:lnT>
                    <a:lnB w="0">
                      <a:noFill/>
                    </a:lnB>
                    <a:noFill/>
                  </a:tcPr>
                </a:tc>
                <a:tc>
                  <a:txBody>
                    <a:bodyPr/>
                    <a:lstStyle/>
                    <a:p>
                      <a:pPr algn="r">
                        <a:lnSpc>
                          <a:spcPts val="900"/>
                        </a:lnSpc>
                      </a:pPr>
                      <a:r>
                        <a:rPr sz="675" b="1" i="0">
                          <a:solidFill>
                            <a:srgbClr val="1B1A1A"/>
                          </a:solidFill>
                          <a:latin typeface="Calibri"/>
                        </a:rPr>
                        <a:t>14.2x</a:t>
                      </a:r>
                    </a:p>
                  </a:txBody>
                  <a:tcPr marL="0" marR="76200" marT="7315" marB="7315" anchor="ctr">
                    <a:lnL w="0">
                      <a:noFill/>
                    </a:lnL>
                    <a:lnR w="0">
                      <a:noFill/>
                    </a:lnR>
                    <a:lnT w="7143">
                      <a:noFill/>
                    </a:lnT>
                    <a:lnB w="0">
                      <a:noFill/>
                    </a:lnB>
                    <a:noFill/>
                  </a:tcPr>
                </a:tc>
                <a:extLst>
                  <a:ext uri="{0D108BD9-81ED-4DB2-BD59-A6C34878D82A}">
                    <a16:rowId xmlns:a16="http://schemas.microsoft.com/office/drawing/2014/main" val="4144332643"/>
                  </a:ext>
                </a:extLst>
              </a:tr>
              <a:tr h="45720">
                <a:tc>
                  <a:txBody>
                    <a:bodyPr/>
                    <a:lstStyle/>
                    <a:p>
                      <a:endParaRPr sz="100"/>
                    </a:p>
                  </a:txBody>
                  <a:tcPr marL="7620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57150" marT="0" marB="0" anchor="ctr">
                    <a:lnL w="0">
                      <a:noFill/>
                    </a:lnL>
                    <a:lnR w="0">
                      <a:noFill/>
                    </a:lnR>
                    <a:lnT w="0">
                      <a:noFill/>
                    </a:lnT>
                    <a:lnB w="0">
                      <a:noFill/>
                    </a:lnB>
                    <a:noFill/>
                  </a:tcPr>
                </a:tc>
                <a:tc>
                  <a:txBody>
                    <a:bodyPr/>
                    <a:lstStyle/>
                    <a:p>
                      <a:endParaRPr sz="100"/>
                    </a:p>
                  </a:txBody>
                  <a:tcPr marL="0" marR="76200" marT="0" marB="0" anchor="ctr">
                    <a:lnL w="0">
                      <a:noFill/>
                    </a:lnL>
                    <a:lnR w="0">
                      <a:noFill/>
                    </a:lnR>
                    <a:lnT w="0">
                      <a:noFill/>
                    </a:lnT>
                    <a:lnB w="0">
                      <a:noFill/>
                    </a:lnB>
                    <a:noFill/>
                  </a:tcPr>
                </a:tc>
                <a:extLst>
                  <a:ext uri="{0D108BD9-81ED-4DB2-BD59-A6C34878D82A}">
                    <a16:rowId xmlns:a16="http://schemas.microsoft.com/office/drawing/2014/main" val="10023"/>
                  </a:ext>
                </a:extLst>
              </a:tr>
              <a:tr h="164592">
                <a:tc>
                  <a:txBody>
                    <a:bodyPr/>
                    <a:lstStyle/>
                    <a:p>
                      <a:pPr algn="l">
                        <a:lnSpc>
                          <a:spcPts val="900"/>
                        </a:lnSpc>
                      </a:pPr>
                      <a:r>
                        <a:rPr sz="675" b="1" i="0">
                          <a:solidFill>
                            <a:srgbClr val="1B1A1A"/>
                          </a:solidFill>
                          <a:latin typeface="Calibri"/>
                        </a:rPr>
                        <a:t>Total reference set median</a:t>
                      </a:r>
                    </a:p>
                  </a:txBody>
                  <a:tcPr marL="76200" marR="57150" marT="7315" marB="7315"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endParaRPr sz="100"/>
                    </a:p>
                  </a:txBody>
                  <a:tcPr marL="0" marR="57150" marT="0" marB="0"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90%</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+20.9%</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8.4%</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32.7%</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17.2%</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1.91x</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a:solidFill>
                            <a:srgbClr val="1B1A1A"/>
                          </a:solidFill>
                          <a:latin typeface="Calibri"/>
                        </a:rPr>
                        <a:t>14.3x</a:t>
                      </a:r>
                    </a:p>
                  </a:txBody>
                  <a:tcPr marL="0" marR="57150" marT="7315" marB="7315" anchor="ctr">
                    <a:lnL w="0">
                      <a:noFill/>
                    </a:lnL>
                    <a:lnR w="0">
                      <a:noFill/>
                    </a:lnR>
                    <a:lnT w="7143">
                      <a:noFill/>
                    </a:lnT>
                    <a:lnB w="0">
                      <a:noFill/>
                    </a:lnB>
                    <a:solidFill>
                      <a:srgbClr val="E8E2DA"/>
                    </a:solidFill>
                  </a:tcPr>
                </a:tc>
                <a:tc>
                  <a:txBody>
                    <a:bodyPr/>
                    <a:lstStyle/>
                    <a:p>
                      <a:pPr algn="r">
                        <a:lnSpc>
                          <a:spcPts val="900"/>
                        </a:lnSpc>
                      </a:pPr>
                      <a:r>
                        <a:rPr sz="675" b="1" i="0" dirty="0">
                          <a:solidFill>
                            <a:srgbClr val="1B1A1A"/>
                          </a:solidFill>
                          <a:latin typeface="Calibri"/>
                        </a:rPr>
                        <a:t>13.1x</a:t>
                      </a:r>
                    </a:p>
                  </a:txBody>
                  <a:tcPr marL="0" marR="76200" marT="7315" marB="7315" anchor="ctr">
                    <a:lnL w="0">
                      <a:noFill/>
                    </a:lnL>
                    <a:lnR w="0">
                      <a:noFill/>
                    </a:lnR>
                    <a:lnT w="7143">
                      <a:noFill/>
                    </a:lnT>
                    <a:lnB w="0">
                      <a:noFill/>
                    </a:lnB>
                    <a:solidFill>
                      <a:srgbClr val="E8E2DA"/>
                    </a:solidFill>
                  </a:tcPr>
                </a:tc>
                <a:extLst>
                  <a:ext uri="{0D108BD9-81ED-4DB2-BD59-A6C34878D82A}">
                    <a16:rowId xmlns:a16="http://schemas.microsoft.com/office/drawing/2014/main" val="10024"/>
                  </a:ext>
                </a:extLst>
              </a:tr>
            </a:tbl>
          </a:graphicData>
        </a:graphic>
      </p:graphicFrame>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2"/>
          <a:srcRect/>
          <a:stretch>
            <a:fillRect/>
          </a:stretch>
        </p:blipFill>
        <p:spPr>
          <a:xfrm>
            <a:off x="419100" y="7143750"/>
            <a:ext cx="914400" cy="171450"/>
          </a:xfrm>
          <a:prstGeom prst="rect">
            <a:avLst/>
          </a:prstGeom>
        </p:spPr>
      </p:pic>
      <p:sp>
        <p:nvSpPr>
          <p:cNvPr id="11" name="TextBox 5"/>
          <p:cNvSpPr txBox="1"/>
          <p:nvPr/>
        </p:nvSpPr>
        <p:spPr>
          <a:xfrm>
            <a:off x="1543050" y="7105650"/>
            <a:ext cx="7748588" cy="238125"/>
          </a:xfrm>
          <a:prstGeom prst="rect">
            <a:avLst/>
          </a:prstGeom>
          <a:noFill/>
        </p:spPr>
        <p:txBody>
          <a:bodyPr wrap="square" lIns="0" tIns="0" rIns="0" bIns="0" anchor="t">
            <a:spAutoFit/>
          </a:bodyPr>
          <a:lstStyle/>
          <a:p>
            <a:pPr algn="l">
              <a:lnSpc>
                <a:spcPts val="1022"/>
              </a:lnSpc>
            </a:pPr>
            <a:r>
              <a:rPr sz="750" b="0" i="0" spc="8">
                <a:solidFill>
                  <a:srgbClr val="6F6A66"/>
                </a:solidFill>
                <a:latin typeface="Calibri"/>
              </a:rPr>
              <a:t>Source: company earnings releases and filings for adjusted EBITDA; </a:t>
            </a:r>
            <a:r>
              <a:rPr sz="750" b="0" i="0" spc="8">
                <a:solidFill>
                  <a:srgbClr val="8C6239"/>
                </a:solidFill>
                <a:latin typeface="Calibri"/>
                <a:hlinkClick r:id="rId3"/>
              </a:rPr>
              <a:t>StockAnalysis</a:t>
            </a:r>
            <a:r>
              <a:rPr sz="750" b="0" i="0" spc="8">
                <a:solidFill>
                  <a:srgbClr val="6F6A66"/>
                </a:solidFill>
                <a:latin typeface="Calibri"/>
              </a:rPr>
              <a:t> for market data, retrieved October 19, 2026 (closing prices of October 16). LTM is the twelve months to June 30, 2026; a year ago is enterprise value at September 30, 2025 over the twelve months to June 30, 2025. Where a company reports adjusted operating income rather than adjusted EBITDA, depreciation is added. n.a. marks a figure that is not comparable because of a change in reporting basis.</a:t>
            </a:r>
          </a:p>
        </p:txBody>
      </p:sp>
      <p:sp>
        <p:nvSpPr>
          <p:cNvPr id="12" name="TextBox 6"/>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 (1 of 2)</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Sources cited in this report, listed by page.</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13" name="Sources column 1"/>
          <p:cNvSpPr txBox="1"/>
          <p:nvPr/>
        </p:nvSpPr>
        <p:spPr>
          <a:xfrm>
            <a:off x="419100" y="1257300"/>
            <a:ext cx="2908300" cy="5657850"/>
          </a:xfrm>
          <a:prstGeom prst="rect">
            <a:avLst/>
          </a:prstGeom>
          <a:noFill/>
          <a:ln/>
        </p:spPr>
        <p:txBody>
          <a:bodyPr wrap="square" lIns="0" tIns="0" rIns="0" bIns="0" rtlCol="0" anchor="t"/>
          <a:lstStyle/>
          <a:p>
            <a:pPr marL="0" indent="0">
              <a:lnSpc>
                <a:spcPts val="1150"/>
              </a:lnSpc>
              <a:spcAft>
                <a:spcPts val="400"/>
              </a:spcAft>
              <a:buNone/>
            </a:pPr>
            <a:r>
              <a:rPr lang="en-US" sz="800" b="1" kern="0" spc="120" dirty="0">
                <a:solidFill>
                  <a:srgbClr val="8C6239"/>
                </a:solidFill>
              </a:rPr>
              <a:t>HEALTHCARE M&amp;A: STATE OF PLAY (PAGE 5)</a:t>
            </a:r>
          </a:p>
          <a:p>
            <a:pPr marL="0" indent="0">
              <a:lnSpc>
                <a:spcPts val="1150"/>
              </a:lnSpc>
              <a:buNone/>
            </a:pPr>
            <a:r>
              <a:rPr lang="en-US" sz="800" u="sng" dirty="0">
                <a:solidFill>
                  <a:srgbClr val="8C6239"/>
                </a:solidFill>
                <a:hlinkClick r:id="rId2" tooltip="https://www.fiercehealthcare.com/finance/projected-healthcare-services-deal-count-be-lowest-2017-pitchbook-finds">
                  <a:extLst>
                    <a:ext uri="{A12FA001-AC4F-418D-AE19-62706E023703}">
                      <ahyp:hlinkClr xmlns:ahyp="http://schemas.microsoft.com/office/drawing/2018/hyperlinkcolor" val="tx"/>
                    </a:ext>
                  </a:extLst>
                </a:hlinkClick>
              </a:rPr>
              <a:t>PitchBook via Fierce Healthcare</a:t>
            </a:r>
            <a:r>
              <a:rPr lang="en-US" sz="800" dirty="0">
                <a:solidFill>
                  <a:srgbClr val="6F6A66"/>
                </a:solidFill>
              </a:rPr>
              <a:t>  fiercehealthcare.com</a:t>
            </a:r>
          </a:p>
          <a:p>
            <a:pPr marL="0" indent="0">
              <a:lnSpc>
                <a:spcPts val="1150"/>
              </a:lnSpc>
              <a:buNone/>
            </a:pPr>
            <a:r>
              <a:rPr lang="en-US" sz="800" u="sng" dirty="0">
                <a:solidFill>
                  <a:srgbClr val="8C6239"/>
                </a:solidFill>
                <a:hlinkClick r:id="rId3" tooltip="https://www.medtechdive.com/news/medtech-ma-maintains-momentum-following-decade-high-2025-pwc/823113/">
                  <a:extLst>
                    <a:ext uri="{A12FA001-AC4F-418D-AE19-62706E023703}">
                      <ahyp:hlinkClr xmlns:ahyp="http://schemas.microsoft.com/office/drawing/2018/hyperlinkcolor" val="tx"/>
                    </a:ext>
                  </a:extLst>
                </a:hlinkClick>
              </a:rPr>
              <a:t>PwC via MedTech Dive</a:t>
            </a:r>
            <a:r>
              <a:rPr lang="en-US" sz="800" dirty="0">
                <a:solidFill>
                  <a:srgbClr val="6F6A66"/>
                </a:solidFill>
              </a:rPr>
              <a:t>  medtechdive.com</a:t>
            </a:r>
          </a:p>
          <a:p>
            <a:pPr marL="0" indent="0">
              <a:lnSpc>
                <a:spcPts val="1150"/>
              </a:lnSpc>
              <a:buNone/>
            </a:pPr>
            <a:r>
              <a:rPr lang="en-US" sz="800" u="sng" dirty="0">
                <a:solidFill>
                  <a:srgbClr val="8C6239"/>
                </a:solidFill>
                <a:hlinkClick r:id="rId4" tooltip="https://www.kaufmanhall.com/news/ma-activity-remains-strong-among-large-health-systems-amid-continued-industry-transformation">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a:p>
            <a:pPr marL="0" indent="0">
              <a:lnSpc>
                <a:spcPts val="1150"/>
              </a:lnSpc>
              <a:buNone/>
            </a:pPr>
            <a:r>
              <a:rPr lang="en-US" sz="800" u="sng" dirty="0">
                <a:solidFill>
                  <a:srgbClr val="8C6239"/>
                </a:solidFill>
                <a:hlinkClick r:id="rId5" tooltip="https://www.iqvia.com/locations/emea/blogs/2026/07/biopharma-ma-mid-year-2026-update">
                  <a:extLst>
                    <a:ext uri="{A12FA001-AC4F-418D-AE19-62706E023703}">
                      <ahyp:hlinkClr xmlns:ahyp="http://schemas.microsoft.com/office/drawing/2018/hyperlinkcolor" val="tx"/>
                    </a:ext>
                  </a:extLst>
                </a:hlinkClick>
              </a:rPr>
              <a:t>IQVIA</a:t>
            </a:r>
            <a:r>
              <a:rPr lang="en-US" sz="800" dirty="0">
                <a:solidFill>
                  <a:srgbClr val="6F6A66"/>
                </a:solidFill>
              </a:rPr>
              <a:t>  iqvia.com</a:t>
            </a:r>
          </a:p>
          <a:p>
            <a:pPr marL="0" indent="0">
              <a:lnSpc>
                <a:spcPts val="1150"/>
              </a:lnSpc>
              <a:buNone/>
            </a:pPr>
            <a:r>
              <a:rPr lang="en-US" sz="800" u="sng" dirty="0">
                <a:solidFill>
                  <a:srgbClr val="8C6239"/>
                </a:solidFill>
                <a:hlinkClick r:id="rId6" tooltip="https://www.cms.gov/newsroom/fact-sheets/calendar-year-cy-2027-medicare-physician-fee-schedule-proposed-rule">
                  <a:extLst>
                    <a:ext uri="{A12FA001-AC4F-418D-AE19-62706E023703}">
                      <ahyp:hlinkClr xmlns:ahyp="http://schemas.microsoft.com/office/drawing/2018/hyperlinkcolor" val="tx"/>
                    </a:ext>
                  </a:extLst>
                </a:hlinkClick>
              </a:rPr>
              <a:t>CMS</a:t>
            </a:r>
            <a:r>
              <a:rPr lang="en-US" sz="800" dirty="0">
                <a:solidFill>
                  <a:srgbClr val="6F6A66"/>
                </a:solidFill>
              </a:rPr>
              <a:t>  cms.gov</a:t>
            </a:r>
          </a:p>
          <a:p>
            <a:pPr marL="0" indent="0">
              <a:lnSpc>
                <a:spcPts val="1150"/>
              </a:lnSpc>
              <a:buNone/>
            </a:pPr>
            <a:r>
              <a:rPr lang="en-US" sz="800" u="sng" dirty="0">
                <a:solidFill>
                  <a:srgbClr val="8C6239"/>
                </a:solidFill>
                <a:hlinkClick r:id="rId7" tooltip="https://www.cms.gov/newsroom/fact-sheets/calendar-year-2027-hospital-outpatient-prospective-payment-system-opps-ambulatory-surgical-center">
                  <a:extLst>
                    <a:ext uri="{A12FA001-AC4F-418D-AE19-62706E023703}">
                      <ahyp:hlinkClr xmlns:ahyp="http://schemas.microsoft.com/office/drawing/2018/hyperlinkcolor" val="tx"/>
                    </a:ext>
                  </a:extLst>
                </a:hlinkClick>
              </a:rPr>
              <a:t>CMS outpatient rule</a:t>
            </a:r>
            <a:r>
              <a:rPr lang="en-US" sz="800" dirty="0">
                <a:solidFill>
                  <a:srgbClr val="6F6A66"/>
                </a:solidFill>
              </a:rPr>
              <a:t>  cms.gov</a:t>
            </a:r>
          </a:p>
          <a:p>
            <a:pPr marL="0" indent="0">
              <a:lnSpc>
                <a:spcPts val="1150"/>
              </a:lnSpc>
              <a:buNone/>
            </a:pPr>
            <a:r>
              <a:rPr lang="en-US" sz="800" u="sng" dirty="0">
                <a:solidFill>
                  <a:srgbClr val="8C6239"/>
                </a:solidFill>
                <a:hlinkClick r:id="rId8" tooltip="https://www.cms.gov/newsroom/fact-sheets/calendar-year-cy-2027-home-health-prospective-payment-system-proposed-rule-fact-sheet-cms-1844-p">
                  <a:extLst>
                    <a:ext uri="{A12FA001-AC4F-418D-AE19-62706E023703}">
                      <ahyp:hlinkClr xmlns:ahyp="http://schemas.microsoft.com/office/drawing/2018/hyperlinkcolor" val="tx"/>
                    </a:ext>
                  </a:extLst>
                </a:hlinkClick>
              </a:rPr>
              <a:t>CMS home health</a:t>
            </a:r>
            <a:r>
              <a:rPr lang="en-US" sz="800" dirty="0">
                <a:solidFill>
                  <a:srgbClr val="6F6A66"/>
                </a:solidFill>
              </a:rPr>
              <a:t>  cms.gov</a:t>
            </a:r>
          </a:p>
          <a:p>
            <a:pPr marL="0" indent="0">
              <a:lnSpc>
                <a:spcPts val="1150"/>
              </a:lnSpc>
              <a:buNone/>
            </a:pPr>
            <a:r>
              <a:rPr lang="en-US" sz="800" u="sng" dirty="0">
                <a:solidFill>
                  <a:srgbClr val="8C6239"/>
                </a:solidFill>
                <a:hlinkClick r:id="rId9" tooltip="https://www.cms.gov/newsroom/fact-sheets/2027-medicare-advantage-part-d-rate-announcement">
                  <a:extLst>
                    <a:ext uri="{A12FA001-AC4F-418D-AE19-62706E023703}">
                      <ahyp:hlinkClr xmlns:ahyp="http://schemas.microsoft.com/office/drawing/2018/hyperlinkcolor" val="tx"/>
                    </a:ext>
                  </a:extLst>
                </a:hlinkClick>
              </a:rPr>
              <a:t>CMS rate notice</a:t>
            </a:r>
            <a:r>
              <a:rPr lang="en-US" sz="800" dirty="0">
                <a:solidFill>
                  <a:srgbClr val="6F6A66"/>
                </a:solidFill>
              </a:rPr>
              <a:t>  cms.gov</a:t>
            </a:r>
          </a:p>
          <a:p>
            <a:pPr marL="0" indent="0">
              <a:lnSpc>
                <a:spcPts val="1150"/>
              </a:lnSpc>
              <a:buNone/>
            </a:pPr>
            <a:r>
              <a:rPr lang="en-US" sz="800" u="sng" dirty="0">
                <a:solidFill>
                  <a:srgbClr val="8C6239"/>
                </a:solidFill>
                <a:hlinkClick r:id="rId10" tooltip="https://www.medicaid.gov/medicaid/downloads/elig-redet-section-71107-deck.pdf">
                  <a:extLst>
                    <a:ext uri="{A12FA001-AC4F-418D-AE19-62706E023703}">
                      <ahyp:hlinkClr xmlns:ahyp="http://schemas.microsoft.com/office/drawing/2018/hyperlinkcolor" val="tx"/>
                    </a:ext>
                  </a:extLst>
                </a:hlinkClick>
              </a:rPr>
              <a:t>CMS</a:t>
            </a:r>
            <a:r>
              <a:rPr lang="en-US" sz="800" dirty="0">
                <a:solidFill>
                  <a:srgbClr val="6F6A66"/>
                </a:solidFill>
              </a:rPr>
              <a:t>  medicaid.gov</a:t>
            </a:r>
          </a:p>
          <a:p>
            <a:pPr marL="0" indent="0">
              <a:lnSpc>
                <a:spcPts val="1150"/>
              </a:lnSpc>
              <a:buNone/>
            </a:pPr>
            <a:r>
              <a:rPr lang="en-US" sz="800" u="sng" dirty="0">
                <a:solidFill>
                  <a:srgbClr val="8C6239"/>
                </a:solidFill>
                <a:hlinkClick r:id="rId11" tooltip="https://federalreserve.gov/newsevents/pressreleases/monetary20260916a.htm">
                  <a:extLst>
                    <a:ext uri="{A12FA001-AC4F-418D-AE19-62706E023703}">
                      <ahyp:hlinkClr xmlns:ahyp="http://schemas.microsoft.com/office/drawing/2018/hyperlinkcolor" val="tx"/>
                    </a:ext>
                  </a:extLst>
                </a:hlinkClick>
              </a:rPr>
              <a:t>Federal Reserve</a:t>
            </a:r>
            <a:r>
              <a:rPr lang="en-US" sz="800" dirty="0">
                <a:solidFill>
                  <a:srgbClr val="6F6A66"/>
                </a:solidFill>
              </a:rPr>
              <a:t>  federalreserve.gov</a:t>
            </a:r>
          </a:p>
          <a:p>
            <a:pPr marL="0" indent="0">
              <a:lnSpc>
                <a:spcPts val="1150"/>
              </a:lnSpc>
              <a:buNone/>
            </a:pPr>
            <a:r>
              <a:rPr lang="en-US" sz="800" u="sng" dirty="0">
                <a:solidFill>
                  <a:srgbClr val="8C6239"/>
                </a:solidFill>
                <a:hlinkClick r:id="rId12" tooltip="https://home.treasury.gov/resource-center/data-chart-center/interest-rates/TextView?type=daily_treasury_yield_curve&amp;field_tdr_date_value_month=202610">
                  <a:extLst>
                    <a:ext uri="{A12FA001-AC4F-418D-AE19-62706E023703}">
                      <ahyp:hlinkClr xmlns:ahyp="http://schemas.microsoft.com/office/drawing/2018/hyperlinkcolor" val="tx"/>
                    </a:ext>
                  </a:extLst>
                </a:hlinkClick>
              </a:rPr>
              <a:t>US Treasury</a:t>
            </a:r>
            <a:r>
              <a:rPr lang="en-US" sz="800" dirty="0">
                <a:solidFill>
                  <a:srgbClr val="6F6A66"/>
                </a:solidFill>
              </a:rPr>
              <a:t>  home.treasury.gov</a:t>
            </a:r>
          </a:p>
          <a:p>
            <a:pPr marL="0" indent="0">
              <a:lnSpc>
                <a:spcPts val="1150"/>
              </a:lnSpc>
              <a:buNone/>
            </a:pPr>
            <a:r>
              <a:rPr lang="en-US" sz="800" u="sng" dirty="0">
                <a:solidFill>
                  <a:srgbClr val="8C6239"/>
                </a:solidFill>
                <a:hlinkClick r:id="rId13"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00" dirty="0">
                <a:solidFill>
                  <a:srgbClr val="6F6A66"/>
                </a:solidFill>
              </a:rPr>
              <a:t>  pitchbook.brightspotcdn.com</a:t>
            </a:r>
          </a:p>
          <a:p>
            <a:pPr marL="0" indent="0">
              <a:lnSpc>
                <a:spcPts val="1150"/>
              </a:lnSpc>
              <a:buNone/>
            </a:pPr>
            <a:r>
              <a:rPr lang="en-US" sz="80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00" dirty="0">
                <a:solidFill>
                  <a:srgbClr val="6F6A66"/>
                </a:solidFill>
              </a:rPr>
              <a:t>  acg.org</a:t>
            </a:r>
          </a:p>
          <a:p>
            <a:pPr marL="0" indent="0">
              <a:lnSpc>
                <a:spcPts val="1150"/>
              </a:lnSpc>
              <a:buNone/>
            </a:pPr>
            <a:r>
              <a:rPr lang="en-US" sz="800" u="sng" dirty="0">
                <a:solidFill>
                  <a:srgbClr val="8C6239"/>
                </a:solidFill>
                <a:hlinkClick r:id="rId15" tooltip="https://www.altarum.org/news-and-insights/september-2026-health-sector-economic-indicators-briefs">
                  <a:extLst>
                    <a:ext uri="{A12FA001-AC4F-418D-AE19-62706E023703}">
                      <ahyp:hlinkClr xmlns:ahyp="http://schemas.microsoft.com/office/drawing/2018/hyperlinkcolor" val="tx"/>
                    </a:ext>
                  </a:extLst>
                </a:hlinkClick>
              </a:rPr>
              <a:t>Altarum</a:t>
            </a:r>
            <a:r>
              <a:rPr lang="en-US" sz="800" dirty="0">
                <a:solidFill>
                  <a:srgbClr val="6F6A66"/>
                </a:solidFill>
              </a:rPr>
              <a:t>  altarum.org</a:t>
            </a:r>
          </a:p>
          <a:p>
            <a:pPr marL="0" indent="0">
              <a:lnSpc>
                <a:spcPts val="1150"/>
              </a:lnSpc>
              <a:buNone/>
            </a:pPr>
            <a:r>
              <a:rPr lang="en-US" sz="800" u="sng" dirty="0">
                <a:solidFill>
                  <a:srgbClr val="8C6239"/>
                </a:solidFill>
                <a:hlinkClick r:id="rId16" tooltip="https://www.cms.gov/data-research/statistics-trends-and-reports/national-health-expenditure-data/nhe-fact-sheet">
                  <a:extLst>
                    <a:ext uri="{A12FA001-AC4F-418D-AE19-62706E023703}">
                      <ahyp:hlinkClr xmlns:ahyp="http://schemas.microsoft.com/office/drawing/2018/hyperlinkcolor" val="tx"/>
                    </a:ext>
                  </a:extLst>
                </a:hlinkClick>
              </a:rPr>
              <a:t>CMS</a:t>
            </a:r>
            <a:r>
              <a:rPr lang="en-US" sz="800" dirty="0">
                <a:solidFill>
                  <a:srgbClr val="6F6A66"/>
                </a:solidFill>
              </a:rPr>
              <a:t>  cms.gov</a:t>
            </a:r>
          </a:p>
          <a:p>
            <a:pPr marL="0" indent="0">
              <a:lnSpc>
                <a:spcPts val="1150"/>
              </a:lnSpc>
              <a:buNone/>
            </a:pPr>
            <a:r>
              <a:rPr lang="en-US" sz="800" u="sng" dirty="0">
                <a:solidFill>
                  <a:srgbClr val="8C6239"/>
                </a:solidFill>
                <a:hlinkClick r:id="rId17" tooltip="https://www.bls.gov/news.release/archives/empsit_10022026.htm">
                  <a:extLst>
                    <a:ext uri="{A12FA001-AC4F-418D-AE19-62706E023703}">
                      <ahyp:hlinkClr xmlns:ahyp="http://schemas.microsoft.com/office/drawing/2018/hyperlinkcolor" val="tx"/>
                    </a:ext>
                  </a:extLst>
                </a:hlinkClick>
              </a:rPr>
              <a:t>Bureau of Labor Statistics</a:t>
            </a:r>
            <a:r>
              <a:rPr lang="en-US" sz="800" dirty="0">
                <a:solidFill>
                  <a:srgbClr val="6F6A66"/>
                </a:solidFill>
              </a:rPr>
              <a:t>  bls.gov</a:t>
            </a:r>
          </a:p>
          <a:p>
            <a:pPr marL="0" indent="0">
              <a:lnSpc>
                <a:spcPts val="1150"/>
              </a:lnSpc>
              <a:buNone/>
            </a:pPr>
            <a:r>
              <a:rPr lang="en-US" sz="800" u="sng" dirty="0">
                <a:solidFill>
                  <a:srgbClr val="8C6239"/>
                </a:solidFill>
                <a:hlinkClick r:id="rId18" tooltip="https://www.whitehouse.gov/presidential-actions/2026/04/adjusting-imports-of-pharmaceuticals-and-pharmaceutical-ingredients-into-the-united-states/">
                  <a:extLst>
                    <a:ext uri="{A12FA001-AC4F-418D-AE19-62706E023703}">
                      <ahyp:hlinkClr xmlns:ahyp="http://schemas.microsoft.com/office/drawing/2018/hyperlinkcolor" val="tx"/>
                    </a:ext>
                  </a:extLst>
                </a:hlinkClick>
              </a:rPr>
              <a:t>White House proclamation</a:t>
            </a:r>
            <a:r>
              <a:rPr lang="en-US" sz="800" dirty="0">
                <a:solidFill>
                  <a:srgbClr val="6F6A66"/>
                </a:solidFill>
              </a:rPr>
              <a:t>  whitehouse.gov</a:t>
            </a:r>
          </a:p>
          <a:p>
            <a:pPr marL="0" indent="0">
              <a:lnSpc>
                <a:spcPts val="1150"/>
              </a:lnSpc>
              <a:buNone/>
            </a:pPr>
            <a:r>
              <a:rPr lang="en-US" sz="800" u="sng" dirty="0">
                <a:solidFill>
                  <a:srgbClr val="8C6239"/>
                </a:solidFill>
                <a:hlinkClick r:id="rId19" tooltip="https://idataresearch.com/news-medical-device-tariffs-in-2026/">
                  <a:extLst>
                    <a:ext uri="{A12FA001-AC4F-418D-AE19-62706E023703}">
                      <ahyp:hlinkClr xmlns:ahyp="http://schemas.microsoft.com/office/drawing/2018/hyperlinkcolor" val="tx"/>
                    </a:ext>
                  </a:extLst>
                </a:hlinkClick>
              </a:rPr>
              <a:t>iData Research</a:t>
            </a:r>
            <a:r>
              <a:rPr lang="en-US" sz="800" dirty="0">
                <a:solidFill>
                  <a:srgbClr val="6F6A66"/>
                </a:solidFill>
              </a:rPr>
              <a:t>  idataresearch.com</a:t>
            </a:r>
          </a:p>
          <a:p>
            <a:pPr marL="0" indent="0">
              <a:lnSpc>
                <a:spcPts val="1150"/>
              </a:lnSpc>
              <a:buNone/>
            </a:pPr>
            <a:r>
              <a:rPr lang="en-US" sz="800" u="sng" dirty="0">
                <a:solidFill>
                  <a:srgbClr val="8C6239"/>
                </a:solidFill>
                <a:hlinkClick r:id="rId20" tooltip="https://www.nixonpeabody.com/insights/alerts/2026/05/27/ohcas-proposed-emergency-regulations-clarify-ab-1415-notice-requirements">
                  <a:extLst>
                    <a:ext uri="{A12FA001-AC4F-418D-AE19-62706E023703}">
                      <ahyp:hlinkClr xmlns:ahyp="http://schemas.microsoft.com/office/drawing/2018/hyperlinkcolor" val="tx"/>
                    </a:ext>
                  </a:extLst>
                </a:hlinkClick>
              </a:rPr>
              <a:t>Nixon Peabody</a:t>
            </a:r>
            <a:r>
              <a:rPr lang="en-US" sz="800" dirty="0">
                <a:solidFill>
                  <a:srgbClr val="6F6A66"/>
                </a:solidFill>
              </a:rPr>
              <a:t>  nixonpeabody.com</a:t>
            </a:r>
          </a:p>
          <a:p>
            <a:pPr marL="0" indent="0">
              <a:lnSpc>
                <a:spcPts val="1150"/>
              </a:lnSpc>
              <a:buNone/>
            </a:pPr>
            <a:r>
              <a:rPr lang="en-US" sz="800" u="sng" dirty="0">
                <a:solidFill>
                  <a:srgbClr val="8C6239"/>
                </a:solidFill>
                <a:hlinkClick r:id="rId21" tooltip="https://www.foley.com/insights/publications/2026/04/maine-health-care-transactions-new-state-approvals-involving-some-private-equity-hedge-funds-and-msos/">
                  <a:extLst>
                    <a:ext uri="{A12FA001-AC4F-418D-AE19-62706E023703}">
                      <ahyp:hlinkClr xmlns:ahyp="http://schemas.microsoft.com/office/drawing/2018/hyperlinkcolor" val="tx"/>
                    </a:ext>
                  </a:extLst>
                </a:hlinkClick>
              </a:rPr>
              <a:t>Foley &amp; Lardner</a:t>
            </a:r>
            <a:r>
              <a:rPr lang="en-US" sz="800" dirty="0">
                <a:solidFill>
                  <a:srgbClr val="6F6A66"/>
                </a:solidFill>
              </a:rPr>
              <a:t>  foley.com</a:t>
            </a:r>
          </a:p>
          <a:p>
            <a:pPr marL="0" indent="0">
              <a:lnSpc>
                <a:spcPts val="1150"/>
              </a:lnSpc>
              <a:buNone/>
            </a:pPr>
            <a:r>
              <a:rPr lang="en-US" sz="800" u="sng" dirty="0">
                <a:solidFill>
                  <a:srgbClr val="8C6239"/>
                </a:solidFill>
                <a:hlinkClick r:id="rId22" tooltip="https://www.beckersasc.com/asc-transactions-and-valuation-issues/why-asc-deals-are-outperforming-the-rest-of-healthcare-ma-in-2026-8-things-to-know/">
                  <a:extLst>
                    <a:ext uri="{A12FA001-AC4F-418D-AE19-62706E023703}">
                      <ahyp:hlinkClr xmlns:ahyp="http://schemas.microsoft.com/office/drawing/2018/hyperlinkcolor" val="tx"/>
                    </a:ext>
                  </a:extLst>
                </a:hlinkClick>
              </a:rPr>
              <a:t>PitchBook via Becker’s ASC Review</a:t>
            </a:r>
            <a:r>
              <a:rPr lang="en-US" sz="800" dirty="0">
                <a:solidFill>
                  <a:srgbClr val="6F6A66"/>
                </a:solidFill>
              </a:rPr>
              <a:t>  beckersasc.com</a:t>
            </a:r>
          </a:p>
          <a:p>
            <a:pPr marL="0" indent="0">
              <a:lnSpc>
                <a:spcPts val="1150"/>
              </a:lnSpc>
              <a:buNone/>
            </a:pPr>
            <a:r>
              <a:rPr lang="en-US" sz="800" u="sng" dirty="0">
                <a:solidFill>
                  <a:srgbClr val="8C6239"/>
                </a:solidFill>
                <a:hlinkClick r:id="rId23" tooltip="https://www.ibba.org/market-pulse-q2-2026-survey-results/">
                  <a:extLst>
                    <a:ext uri="{A12FA001-AC4F-418D-AE19-62706E023703}">
                      <ahyp:hlinkClr xmlns:ahyp="http://schemas.microsoft.com/office/drawing/2018/hyperlinkcolor" val="tx"/>
                    </a:ext>
                  </a:extLst>
                </a:hlinkClick>
              </a:rPr>
              <a:t>IBBA and M&amp;A Source</a:t>
            </a:r>
            <a:r>
              <a:rPr lang="en-US" sz="800" dirty="0">
                <a:solidFill>
                  <a:srgbClr val="6F6A66"/>
                </a:solidFill>
              </a:rPr>
              <a:t>  ibba.org</a:t>
            </a:r>
          </a:p>
          <a:p>
            <a:pPr marL="0" indent="0">
              <a:lnSpc>
                <a:spcPts val="1150"/>
              </a:lnSpc>
              <a:spcBef>
                <a:spcPts val="800"/>
              </a:spcBef>
              <a:spcAft>
                <a:spcPts val="400"/>
              </a:spcAft>
              <a:buNone/>
            </a:pPr>
            <a:r>
              <a:rPr lang="en-US" sz="800" b="1" kern="0" spc="120" dirty="0">
                <a:solidFill>
                  <a:srgbClr val="8C6239"/>
                </a:solidFill>
              </a:rPr>
              <a:t>HISTORICAL MARKET CONTEXT (PAGE 7)</a:t>
            </a:r>
          </a:p>
          <a:p>
            <a:pPr marL="0" indent="0">
              <a:lnSpc>
                <a:spcPts val="1150"/>
              </a:lnSpc>
              <a:buNone/>
            </a:pPr>
            <a:r>
              <a:rPr lang="en-US" sz="800" u="sng" dirty="0">
                <a:solidFill>
                  <a:srgbClr val="8C6239"/>
                </a:solidFill>
                <a:hlinkClick r:id="rId24" tooltip="https://www.cms.gov/data-research/statistics-trends-and-reports/national-health-expenditure-data/historical">
                  <a:extLst>
                    <a:ext uri="{A12FA001-AC4F-418D-AE19-62706E023703}">
                      <ahyp:hlinkClr xmlns:ahyp="http://schemas.microsoft.com/office/drawing/2018/hyperlinkcolor" val="tx"/>
                    </a:ext>
                  </a:extLst>
                </a:hlinkClick>
              </a:rPr>
              <a:t>CMS</a:t>
            </a:r>
            <a:r>
              <a:rPr lang="en-US" sz="800" dirty="0">
                <a:solidFill>
                  <a:srgbClr val="6F6A66"/>
                </a:solidFill>
              </a:rPr>
              <a:t>  cms.gov</a:t>
            </a:r>
          </a:p>
          <a:p>
            <a:pPr marL="0" indent="0">
              <a:lnSpc>
                <a:spcPts val="1150"/>
              </a:lnSpc>
              <a:buNone/>
            </a:pPr>
            <a:r>
              <a:rPr lang="en-US" sz="800" u="sng" dirty="0">
                <a:solidFill>
                  <a:srgbClr val="8C6239"/>
                </a:solidFill>
                <a:hlinkClick r:id="rId25" tooltip="https://www.crfb.org/blogs/national-health-expenditures-continue-rise">
                  <a:extLst>
                    <a:ext uri="{A12FA001-AC4F-418D-AE19-62706E023703}">
                      <ahyp:hlinkClr xmlns:ahyp="http://schemas.microsoft.com/office/drawing/2018/hyperlinkcolor" val="tx"/>
                    </a:ext>
                  </a:extLst>
                </a:hlinkClick>
              </a:rPr>
              <a:t>Committee for a Responsible Federal Budget</a:t>
            </a:r>
            <a:r>
              <a:rPr lang="en-US" sz="800" dirty="0">
                <a:solidFill>
                  <a:srgbClr val="6F6A66"/>
                </a:solidFill>
              </a:rPr>
              <a:t>  crfb.org</a:t>
            </a:r>
          </a:p>
          <a:p>
            <a:pPr marL="0" indent="0">
              <a:lnSpc>
                <a:spcPts val="1150"/>
              </a:lnSpc>
              <a:buNone/>
            </a:pPr>
            <a:r>
              <a:rPr lang="en-US" sz="800" u="sng" dirty="0">
                <a:solidFill>
                  <a:srgbClr val="8C6239"/>
                </a:solidFill>
                <a:hlinkClick r:id="rId26" tooltip="https://www.kaufmanhall.com/news/hospital-and-health-system-ma-activity-ends-2025-momentum">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p:txBody>
      </p:sp>
      <p:sp>
        <p:nvSpPr>
          <p:cNvPr id="14" name="Sources column 2"/>
          <p:cNvSpPr txBox="1"/>
          <p:nvPr/>
        </p:nvSpPr>
        <p:spPr>
          <a:xfrm>
            <a:off x="3575050" y="1257300"/>
            <a:ext cx="2908300" cy="5657850"/>
          </a:xfrm>
          <a:prstGeom prst="rect">
            <a:avLst/>
          </a:prstGeom>
          <a:noFill/>
          <a:ln/>
        </p:spPr>
        <p:txBody>
          <a:bodyPr wrap="square" lIns="0" tIns="0" rIns="0" bIns="0" rtlCol="0" anchor="t"/>
          <a:lstStyle/>
          <a:p>
            <a:pPr marL="0" indent="0">
              <a:lnSpc>
                <a:spcPts val="1150"/>
              </a:lnSpc>
              <a:buNone/>
            </a:pPr>
            <a:r>
              <a:rPr lang="en-US" sz="800" u="sng" dirty="0">
                <a:solidFill>
                  <a:srgbClr val="8C6239"/>
                </a:solidFill>
                <a:hlinkClick r:id="rId4" tooltip="https://www.kaufmanhall.com/news/ma-activity-remains-strong-among-large-health-systems-amid-continued-industry-transformation">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a:p>
            <a:pPr marL="0" indent="0">
              <a:lnSpc>
                <a:spcPts val="1150"/>
              </a:lnSpc>
              <a:buNone/>
            </a:pPr>
            <a:r>
              <a:rPr lang="en-US" sz="800" u="sng" dirty="0">
                <a:solidFill>
                  <a:srgbClr val="8C6239"/>
                </a:solidFill>
                <a:hlinkClick r:id="rId27" tooltip="https://pitchbook.brightspotcdn.com/2d/0a/acb3601c4e19925c22d3f3877637/q4-2025-healthcare-services-report.pdf">
                  <a:extLst>
                    <a:ext uri="{A12FA001-AC4F-418D-AE19-62706E023703}">
                      <ahyp:hlinkClr xmlns:ahyp="http://schemas.microsoft.com/office/drawing/2018/hyperlinkcolor" val="tx"/>
                    </a:ext>
                  </a:extLst>
                </a:hlinkClick>
              </a:rPr>
              <a:t>PitchBook</a:t>
            </a:r>
            <a:r>
              <a:rPr lang="en-US" sz="800" dirty="0">
                <a:solidFill>
                  <a:srgbClr val="6F6A66"/>
                </a:solidFill>
              </a:rPr>
              <a:t>  pitchbook.brightspotcdn.com</a:t>
            </a:r>
          </a:p>
          <a:p>
            <a:pPr marL="0" indent="0">
              <a:lnSpc>
                <a:spcPts val="1150"/>
              </a:lnSpc>
              <a:spcBef>
                <a:spcPts val="800"/>
              </a:spcBef>
              <a:spcAft>
                <a:spcPts val="400"/>
              </a:spcAft>
              <a:buNone/>
            </a:pPr>
            <a:r>
              <a:rPr lang="en-US" sz="800" b="1" kern="0" spc="120" dirty="0">
                <a:solidFill>
                  <a:srgbClr val="8C6239"/>
                </a:solidFill>
              </a:rPr>
              <a:t>MARKET FUNDAMENTALS (PAGE 8)</a:t>
            </a:r>
          </a:p>
          <a:p>
            <a:pPr marL="0" indent="0">
              <a:lnSpc>
                <a:spcPts val="1150"/>
              </a:lnSpc>
              <a:buNone/>
            </a:pPr>
            <a:r>
              <a:rPr lang="en-US" sz="800" u="sng" dirty="0">
                <a:solidFill>
                  <a:srgbClr val="8C6239"/>
                </a:solidFill>
                <a:hlinkClick r:id="rId28" tooltip="https://fred.stlouisfed.org/series/CES6562000101">
                  <a:extLst>
                    <a:ext uri="{A12FA001-AC4F-418D-AE19-62706E023703}">
                      <ahyp:hlinkClr xmlns:ahyp="http://schemas.microsoft.com/office/drawing/2018/hyperlinkcolor" val="tx"/>
                    </a:ext>
                  </a:extLst>
                </a:hlinkClick>
              </a:rPr>
              <a:t>FRED</a:t>
            </a:r>
            <a:r>
              <a:rPr lang="en-US" sz="800" dirty="0">
                <a:solidFill>
                  <a:srgbClr val="6F6A66"/>
                </a:solidFill>
              </a:rPr>
              <a:t>  fred.stlouisfed.org</a:t>
            </a:r>
          </a:p>
          <a:p>
            <a:pPr marL="0" indent="0">
              <a:lnSpc>
                <a:spcPts val="1150"/>
              </a:lnSpc>
              <a:buNone/>
            </a:pPr>
            <a:r>
              <a:rPr lang="en-US" sz="800" u="sng" dirty="0">
                <a:solidFill>
                  <a:srgbClr val="8C6239"/>
                </a:solidFill>
                <a:hlinkClick r:id="rId29" tooltip="https://www.bls.gov/news.release/jolts.t01.htm">
                  <a:extLst>
                    <a:ext uri="{A12FA001-AC4F-418D-AE19-62706E023703}">
                      <ahyp:hlinkClr xmlns:ahyp="http://schemas.microsoft.com/office/drawing/2018/hyperlinkcolor" val="tx"/>
                    </a:ext>
                  </a:extLst>
                </a:hlinkClick>
              </a:rPr>
              <a:t>Bureau of Labor Statistics JOLTS</a:t>
            </a:r>
            <a:r>
              <a:rPr lang="en-US" sz="800" dirty="0">
                <a:solidFill>
                  <a:srgbClr val="6F6A66"/>
                </a:solidFill>
              </a:rPr>
              <a:t>  bls.gov</a:t>
            </a:r>
          </a:p>
          <a:p>
            <a:pPr marL="0" indent="0">
              <a:lnSpc>
                <a:spcPts val="1150"/>
              </a:lnSpc>
              <a:buNone/>
            </a:pPr>
            <a:r>
              <a:rPr lang="en-US" sz="800" u="sng" dirty="0">
                <a:solidFill>
                  <a:srgbClr val="8C6239"/>
                </a:solidFill>
                <a:hlinkClick r:id="rId30" tooltip="https://fred.stlouisfed.org/series/TLHLTHCONS">
                  <a:extLst>
                    <a:ext uri="{A12FA001-AC4F-418D-AE19-62706E023703}">
                      <ahyp:hlinkClr xmlns:ahyp="http://schemas.microsoft.com/office/drawing/2018/hyperlinkcolor" val="tx"/>
                    </a:ext>
                  </a:extLst>
                </a:hlinkClick>
              </a:rPr>
              <a:t>FRED</a:t>
            </a:r>
            <a:r>
              <a:rPr lang="en-US" sz="800" dirty="0">
                <a:solidFill>
                  <a:srgbClr val="6F6A66"/>
                </a:solidFill>
              </a:rPr>
              <a:t>  fred.stlouisfed.org</a:t>
            </a:r>
          </a:p>
          <a:p>
            <a:pPr marL="0" indent="0">
              <a:lnSpc>
                <a:spcPts val="1150"/>
              </a:lnSpc>
              <a:buNone/>
            </a:pPr>
            <a:r>
              <a:rPr lang="en-US" sz="800" u="sng" dirty="0">
                <a:solidFill>
                  <a:srgbClr val="8C6239"/>
                </a:solidFill>
                <a:hlinkClick r:id="rId31" tooltip="https://www.hfma.org/fast-finance/health-system-capital-investment-strategy-2026/">
                  <a:extLst>
                    <a:ext uri="{A12FA001-AC4F-418D-AE19-62706E023703}">
                      <ahyp:hlinkClr xmlns:ahyp="http://schemas.microsoft.com/office/drawing/2018/hyperlinkcolor" val="tx"/>
                    </a:ext>
                  </a:extLst>
                </a:hlinkClick>
              </a:rPr>
              <a:t>Sage Growth Partners via HFMA</a:t>
            </a:r>
            <a:r>
              <a:rPr lang="en-US" sz="800" dirty="0">
                <a:solidFill>
                  <a:srgbClr val="6F6A66"/>
                </a:solidFill>
              </a:rPr>
              <a:t>  hfma.org</a:t>
            </a:r>
          </a:p>
          <a:p>
            <a:pPr marL="0" indent="0">
              <a:lnSpc>
                <a:spcPts val="1150"/>
              </a:lnSpc>
              <a:buNone/>
            </a:pPr>
            <a:r>
              <a:rPr lang="en-US" sz="800" u="sng" dirty="0">
                <a:solidFill>
                  <a:srgbClr val="8C6239"/>
                </a:solidFill>
                <a:hlinkClick r:id="rId32" tooltip="https://www.fda.gov/drugs/novel-drug-approvals-fda/novel-drug-approvals-2026">
                  <a:extLst>
                    <a:ext uri="{A12FA001-AC4F-418D-AE19-62706E023703}">
                      <ahyp:hlinkClr xmlns:ahyp="http://schemas.microsoft.com/office/drawing/2018/hyperlinkcolor" val="tx"/>
                    </a:ext>
                  </a:extLst>
                </a:hlinkClick>
              </a:rPr>
              <a:t>FDA</a:t>
            </a:r>
            <a:r>
              <a:rPr lang="en-US" sz="800" dirty="0">
                <a:solidFill>
                  <a:srgbClr val="6F6A66"/>
                </a:solidFill>
              </a:rPr>
              <a:t>  fda.gov</a:t>
            </a:r>
          </a:p>
          <a:p>
            <a:pPr marL="0" indent="0">
              <a:lnSpc>
                <a:spcPts val="1150"/>
              </a:lnSpc>
              <a:buNone/>
            </a:pPr>
            <a:r>
              <a:rPr lang="en-US" sz="800" u="sng" dirty="0">
                <a:solidFill>
                  <a:srgbClr val="8C6239"/>
                </a:solidFill>
                <a:hlinkClick r:id="rId33" tooltip="https://www.raps.org/resource/cder-approved-50-novel-drugs-in-2024-record-numbe.html">
                  <a:extLst>
                    <a:ext uri="{A12FA001-AC4F-418D-AE19-62706E023703}">
                      <ahyp:hlinkClr xmlns:ahyp="http://schemas.microsoft.com/office/drawing/2018/hyperlinkcolor" val="tx"/>
                    </a:ext>
                  </a:extLst>
                </a:hlinkClick>
              </a:rPr>
              <a:t>RAPS</a:t>
            </a:r>
            <a:r>
              <a:rPr lang="en-US" sz="800" dirty="0">
                <a:solidFill>
                  <a:srgbClr val="6F6A66"/>
                </a:solidFill>
              </a:rPr>
              <a:t>  raps.org</a:t>
            </a:r>
          </a:p>
          <a:p>
            <a:pPr marL="0" indent="0">
              <a:lnSpc>
                <a:spcPts val="1150"/>
              </a:lnSpc>
              <a:buNone/>
            </a:pPr>
            <a:r>
              <a:rPr lang="en-US" sz="800" u="sng" dirty="0">
                <a:solidFill>
                  <a:srgbClr val="8C6239"/>
                </a:solidFill>
                <a:hlinkClick r:id="rId34" tooltip="https://www.biospace.com/press-releases/iqvia-reports-second-quarter-2026-results">
                  <a:extLst>
                    <a:ext uri="{A12FA001-AC4F-418D-AE19-62706E023703}">
                      <ahyp:hlinkClr xmlns:ahyp="http://schemas.microsoft.com/office/drawing/2018/hyperlinkcolor" val="tx"/>
                    </a:ext>
                  </a:extLst>
                </a:hlinkClick>
              </a:rPr>
              <a:t>IQVIA</a:t>
            </a:r>
            <a:r>
              <a:rPr lang="en-US" sz="800" dirty="0">
                <a:solidFill>
                  <a:srgbClr val="6F6A66"/>
                </a:solidFill>
              </a:rPr>
              <a:t>  biospace.com</a:t>
            </a:r>
          </a:p>
          <a:p>
            <a:pPr marL="0" indent="0">
              <a:lnSpc>
                <a:spcPts val="1150"/>
              </a:lnSpc>
              <a:spcBef>
                <a:spcPts val="800"/>
              </a:spcBef>
              <a:spcAft>
                <a:spcPts val="400"/>
              </a:spcAft>
              <a:buNone/>
            </a:pPr>
            <a:r>
              <a:rPr lang="en-US" sz="800" b="1" kern="0" spc="120" dirty="0">
                <a:solidFill>
                  <a:srgbClr val="8C6239"/>
                </a:solidFill>
              </a:rPr>
              <a:t>PERSPECTIVES ON FOUR SECTORS (PAGE 9)</a:t>
            </a:r>
          </a:p>
          <a:p>
            <a:pPr marL="0" indent="0">
              <a:lnSpc>
                <a:spcPts val="1150"/>
              </a:lnSpc>
              <a:buNone/>
            </a:pPr>
            <a:r>
              <a:rPr lang="en-US" sz="800" u="sng" dirty="0">
                <a:solidFill>
                  <a:srgbClr val="8C6239"/>
                </a:solidFill>
                <a:hlinkClick r:id="rId35" tooltip="https://www.jucm.com/?p=86881">
                  <a:extLst>
                    <a:ext uri="{A12FA001-AC4F-418D-AE19-62706E023703}">
                      <ahyp:hlinkClr xmlns:ahyp="http://schemas.microsoft.com/office/drawing/2018/hyperlinkcolor" val="tx"/>
                    </a:ext>
                  </a:extLst>
                </a:hlinkClick>
              </a:rPr>
              <a:t>Journal of Urgent Care Medicine</a:t>
            </a:r>
            <a:r>
              <a:rPr lang="en-US" sz="800" dirty="0">
                <a:solidFill>
                  <a:srgbClr val="6F6A66"/>
                </a:solidFill>
              </a:rPr>
              <a:t>  jucm.com</a:t>
            </a:r>
          </a:p>
          <a:p>
            <a:pPr marL="0" indent="0">
              <a:lnSpc>
                <a:spcPts val="1150"/>
              </a:lnSpc>
              <a:buNone/>
            </a:pPr>
            <a:r>
              <a:rPr lang="en-US" sz="800" u="sng" dirty="0">
                <a:solidFill>
                  <a:srgbClr val="8C6239"/>
                </a:solidFill>
                <a:hlinkClick r:id="rId36" tooltip="https://www.beckersasc.com/asc-transactions-and-valuation-issues/hcas-urgent-care-acquisition-spree/">
                  <a:extLst>
                    <a:ext uri="{A12FA001-AC4F-418D-AE19-62706E023703}">
                      <ahyp:hlinkClr xmlns:ahyp="http://schemas.microsoft.com/office/drawing/2018/hyperlinkcolor" val="tx"/>
                    </a:ext>
                  </a:extLst>
                </a:hlinkClick>
              </a:rPr>
              <a:t>Becker’s ASC Review</a:t>
            </a:r>
            <a:r>
              <a:rPr lang="en-US" sz="800" dirty="0">
                <a:solidFill>
                  <a:srgbClr val="6F6A66"/>
                </a:solidFill>
              </a:rPr>
              <a:t>  beckersasc.com</a:t>
            </a:r>
          </a:p>
          <a:p>
            <a:pPr marL="0" indent="0">
              <a:lnSpc>
                <a:spcPts val="1150"/>
              </a:lnSpc>
              <a:buNone/>
            </a:pPr>
            <a:r>
              <a:rPr lang="en-US" sz="800" u="sng" dirty="0">
                <a:solidFill>
                  <a:srgbClr val="8C6239"/>
                </a:solidFill>
                <a:hlinkClick r:id="rId37" tooltip="https://www.healthcaredive.com/news/hca-texas-medclinic-acquisition-urgent-care/826917/">
                  <a:extLst>
                    <a:ext uri="{A12FA001-AC4F-418D-AE19-62706E023703}">
                      <ahyp:hlinkClr xmlns:ahyp="http://schemas.microsoft.com/office/drawing/2018/hyperlinkcolor" val="tx"/>
                    </a:ext>
                  </a:extLst>
                </a:hlinkClick>
              </a:rPr>
              <a:t>Healthcare Dive</a:t>
            </a:r>
            <a:r>
              <a:rPr lang="en-US" sz="800" dirty="0">
                <a:solidFill>
                  <a:srgbClr val="6F6A66"/>
                </a:solidFill>
              </a:rPr>
              <a:t>  healthcaredive.com</a:t>
            </a:r>
          </a:p>
          <a:p>
            <a:pPr marL="0" indent="0">
              <a:lnSpc>
                <a:spcPts val="1150"/>
              </a:lnSpc>
              <a:buNone/>
            </a:pPr>
            <a:r>
              <a:rPr lang="en-US" sz="800" u="sng" dirty="0">
                <a:solidFill>
                  <a:srgbClr val="8C6239"/>
                </a:solidFill>
                <a:hlinkClick r:id="rId38" tooltip="https://healthcare.levinassociates.com/2026/05/11/top-home-health-hospice-deals-of-2026-so-far/">
                  <a:extLst>
                    <a:ext uri="{A12FA001-AC4F-418D-AE19-62706E023703}">
                      <ahyp:hlinkClr xmlns:ahyp="http://schemas.microsoft.com/office/drawing/2018/hyperlinkcolor" val="tx"/>
                    </a:ext>
                  </a:extLst>
                </a:hlinkClick>
              </a:rPr>
              <a:t>LevinPro</a:t>
            </a:r>
            <a:r>
              <a:rPr lang="en-US" sz="800" dirty="0">
                <a:solidFill>
                  <a:srgbClr val="6F6A66"/>
                </a:solidFill>
              </a:rPr>
              <a:t>  healthcare.levinassociates.com</a:t>
            </a:r>
          </a:p>
          <a:p>
            <a:pPr marL="0" indent="0">
              <a:lnSpc>
                <a:spcPts val="1150"/>
              </a:lnSpc>
              <a:buNone/>
            </a:pPr>
            <a:r>
              <a:rPr lang="en-US" sz="800" u="sng" dirty="0">
                <a:solidFill>
                  <a:srgbClr val="8C6239"/>
                </a:solidFill>
                <a:hlinkClick r:id="rId39" tooltip="https://www.sec.gov/Archives/edgar/data/1803737/000119312526064210/d29040dex991.htm">
                  <a:extLst>
                    <a:ext uri="{A12FA001-AC4F-418D-AE19-62706E023703}">
                      <ahyp:hlinkClr xmlns:ahyp="http://schemas.microsoft.com/office/drawing/2018/hyperlinkcolor" val="tx"/>
                    </a:ext>
                  </a:extLst>
                </a:hlinkClick>
              </a:rPr>
              <a:t>Enhabit</a:t>
            </a:r>
            <a:r>
              <a:rPr lang="en-US" sz="800" dirty="0">
                <a:solidFill>
                  <a:srgbClr val="6F6A66"/>
                </a:solidFill>
              </a:rPr>
              <a:t>  sec.gov</a:t>
            </a:r>
          </a:p>
          <a:p>
            <a:pPr marL="0" indent="0">
              <a:lnSpc>
                <a:spcPts val="1150"/>
              </a:lnSpc>
              <a:buNone/>
            </a:pPr>
            <a:r>
              <a:rPr lang="en-US" sz="800" u="sng" dirty="0">
                <a:solidFill>
                  <a:srgbClr val="8C6239"/>
                </a:solidFill>
                <a:hlinkClick r:id="rId40" tooltip="https://www.ama-assn.org/about/research/physician-practice-benchmark-survey">
                  <a:extLst>
                    <a:ext uri="{A12FA001-AC4F-418D-AE19-62706E023703}">
                      <ahyp:hlinkClr xmlns:ahyp="http://schemas.microsoft.com/office/drawing/2018/hyperlinkcolor" val="tx"/>
                    </a:ext>
                  </a:extLst>
                </a:hlinkClick>
              </a:rPr>
              <a:t>AMA 2024 Benchmark Survey via Medical Economics</a:t>
            </a:r>
            <a:r>
              <a:rPr lang="en-US" sz="800" dirty="0">
                <a:solidFill>
                  <a:srgbClr val="6F6A66"/>
                </a:solidFill>
              </a:rPr>
              <a:t>  ama-assn.org</a:t>
            </a:r>
          </a:p>
          <a:p>
            <a:pPr marL="0" indent="0">
              <a:lnSpc>
                <a:spcPts val="1150"/>
              </a:lnSpc>
              <a:buNone/>
            </a:pPr>
            <a:r>
              <a:rPr lang="en-US" sz="800" u="sng" dirty="0">
                <a:solidFill>
                  <a:srgbClr val="8C6239"/>
                </a:solidFill>
                <a:hlinkClick r:id="rId41" tooltip="https://newsroom.questdiagnostics.com/2026-07-23-Quest-Diagnostics-Reports-Second-Quarter-2026-Financial-Results-Raises-Revenue-and-EPS-Guidance-for-Full-Year-2026">
                  <a:extLst>
                    <a:ext uri="{A12FA001-AC4F-418D-AE19-62706E023703}">
                      <ahyp:hlinkClr xmlns:ahyp="http://schemas.microsoft.com/office/drawing/2018/hyperlinkcolor" val="tx"/>
                    </a:ext>
                  </a:extLst>
                </a:hlinkClick>
              </a:rPr>
              <a:t>Quest Diagnostics</a:t>
            </a:r>
            <a:r>
              <a:rPr lang="en-US" sz="800" dirty="0">
                <a:solidFill>
                  <a:srgbClr val="6F6A66"/>
                </a:solidFill>
              </a:rPr>
              <a:t>  newsroom.questdiagnostics.com</a:t>
            </a:r>
          </a:p>
          <a:p>
            <a:pPr marL="0" indent="0">
              <a:lnSpc>
                <a:spcPts val="1150"/>
              </a:lnSpc>
              <a:buNone/>
            </a:pPr>
            <a:r>
              <a:rPr lang="en-US" sz="800" u="sng" dirty="0">
                <a:solidFill>
                  <a:srgbClr val="8C6239"/>
                </a:solidFill>
                <a:hlinkClick r:id="rId42" tooltip="https://www.sec.gov/Archives/edgar/data/0000920148/000092014826000175/lh-20260630.htm">
                  <a:extLst>
                    <a:ext uri="{A12FA001-AC4F-418D-AE19-62706E023703}">
                      <ahyp:hlinkClr xmlns:ahyp="http://schemas.microsoft.com/office/drawing/2018/hyperlinkcolor" val="tx"/>
                    </a:ext>
                  </a:extLst>
                </a:hlinkClick>
              </a:rPr>
              <a:t>Labcorp Form 10-Q</a:t>
            </a:r>
            <a:r>
              <a:rPr lang="en-US" sz="800" dirty="0">
                <a:solidFill>
                  <a:srgbClr val="6F6A66"/>
                </a:solidFill>
              </a:rPr>
              <a:t>  sec.gov</a:t>
            </a:r>
          </a:p>
          <a:p>
            <a:pPr marL="0" indent="0">
              <a:lnSpc>
                <a:spcPts val="1150"/>
              </a:lnSpc>
              <a:buNone/>
            </a:pPr>
            <a:r>
              <a:rPr lang="en-US" sz="800" u="sng" dirty="0">
                <a:solidFill>
                  <a:srgbClr val="8C6239"/>
                </a:solidFill>
                <a:hlinkClick r:id="rId43" tooltip="https://myadlm.org/cln/The-Lab-Advocate/2026/August/ADLM-Continues-Push-for-Permanent-PAMA-Reform">
                  <a:extLst>
                    <a:ext uri="{A12FA001-AC4F-418D-AE19-62706E023703}">
                      <ahyp:hlinkClr xmlns:ahyp="http://schemas.microsoft.com/office/drawing/2018/hyperlinkcolor" val="tx"/>
                    </a:ext>
                  </a:extLst>
                </a:hlinkClick>
              </a:rPr>
              <a:t>Association for Diagnostics &amp; Laboratory Medicine</a:t>
            </a:r>
            <a:r>
              <a:rPr lang="en-US" sz="800" dirty="0">
                <a:solidFill>
                  <a:srgbClr val="6F6A66"/>
                </a:solidFill>
              </a:rPr>
              <a:t>  myadlm.org</a:t>
            </a:r>
          </a:p>
          <a:p>
            <a:pPr marL="0" indent="0">
              <a:lnSpc>
                <a:spcPts val="1150"/>
              </a:lnSpc>
              <a:buNone/>
            </a:pPr>
            <a:r>
              <a:rPr lang="en-US" sz="800" u="sng" dirty="0">
                <a:solidFill>
                  <a:srgbClr val="8C6239"/>
                </a:solidFill>
                <a:hlinkClick r:id="rId44" tooltip="https://www.sec.gov/Archives/edgar/data/0001478242/000162828026049923/iqv-q2x2026earningspressre.htm">
                  <a:extLst>
                    <a:ext uri="{A12FA001-AC4F-418D-AE19-62706E023703}">
                      <ahyp:hlinkClr xmlns:ahyp="http://schemas.microsoft.com/office/drawing/2018/hyperlinkcolor" val="tx"/>
                    </a:ext>
                  </a:extLst>
                </a:hlinkClick>
              </a:rPr>
              <a:t>IQVIA</a:t>
            </a:r>
            <a:r>
              <a:rPr lang="en-US" sz="800" dirty="0">
                <a:solidFill>
                  <a:srgbClr val="6F6A66"/>
                </a:solidFill>
              </a:rPr>
              <a:t>  sec.gov</a:t>
            </a:r>
          </a:p>
          <a:p>
            <a:pPr marL="0" indent="0">
              <a:lnSpc>
                <a:spcPts val="1150"/>
              </a:lnSpc>
              <a:buNone/>
            </a:pPr>
            <a:r>
              <a:rPr lang="en-US" sz="800" u="sng" dirty="0">
                <a:solidFill>
                  <a:srgbClr val="8C6239"/>
                </a:solidFill>
                <a:hlinkClick r:id="rId45" tooltip="https://www.sec.gov/Archives/edgar/data/0001668397/000166839726000023/medp-2026722exx991.htm">
                  <a:extLst>
                    <a:ext uri="{A12FA001-AC4F-418D-AE19-62706E023703}">
                      <ahyp:hlinkClr xmlns:ahyp="http://schemas.microsoft.com/office/drawing/2018/hyperlinkcolor" val="tx"/>
                    </a:ext>
                  </a:extLst>
                </a:hlinkClick>
              </a:rPr>
              <a:t>Medpace</a:t>
            </a:r>
            <a:r>
              <a:rPr lang="en-US" sz="800" dirty="0">
                <a:solidFill>
                  <a:srgbClr val="6F6A66"/>
                </a:solidFill>
              </a:rPr>
              <a:t>  sec.gov</a:t>
            </a:r>
          </a:p>
          <a:p>
            <a:pPr marL="0" indent="0">
              <a:lnSpc>
                <a:spcPts val="1150"/>
              </a:lnSpc>
              <a:buNone/>
            </a:pPr>
            <a:r>
              <a:rPr lang="en-US" sz="800" u="sng" dirty="0">
                <a:solidFill>
                  <a:srgbClr val="8C6239"/>
                </a:solidFill>
                <a:hlinkClick r:id="rId46" tooltip="https://www.prnewswire.com/news-releases/headlands-research-expands-california-presence-with-acquisition-of-clinical-trials-research-302814202.html">
                  <a:extLst>
                    <a:ext uri="{A12FA001-AC4F-418D-AE19-62706E023703}">
                      <ahyp:hlinkClr xmlns:ahyp="http://schemas.microsoft.com/office/drawing/2018/hyperlinkcolor" val="tx"/>
                    </a:ext>
                  </a:extLst>
                </a:hlinkClick>
              </a:rPr>
              <a:t>Headlands Research</a:t>
            </a:r>
            <a:r>
              <a:rPr lang="en-US" sz="800" dirty="0">
                <a:solidFill>
                  <a:srgbClr val="6F6A66"/>
                </a:solidFill>
              </a:rPr>
              <a:t>  prnewswire.com</a:t>
            </a:r>
          </a:p>
          <a:p>
            <a:pPr marL="0" indent="0">
              <a:lnSpc>
                <a:spcPts val="1150"/>
              </a:lnSpc>
              <a:buNone/>
            </a:pPr>
            <a:r>
              <a:rPr lang="en-US" sz="800" u="sng" dirty="0">
                <a:solidFill>
                  <a:srgbClr val="8C6239"/>
                </a:solidFill>
                <a:hlinkClick r:id="rId47" tooltip="https://www.prnewswire.com/news-releases/summit-clinical-research-solutions-expands-pinnacle-site-network-with-acquisition-of-dallas-research-institute-302874775.html">
                  <a:extLst>
                    <a:ext uri="{A12FA001-AC4F-418D-AE19-62706E023703}">
                      <ahyp:hlinkClr xmlns:ahyp="http://schemas.microsoft.com/office/drawing/2018/hyperlinkcolor" val="tx"/>
                    </a:ext>
                  </a:extLst>
                </a:hlinkClick>
              </a:rPr>
              <a:t>Summit Clinical Research</a:t>
            </a:r>
            <a:r>
              <a:rPr lang="en-US" sz="800" dirty="0">
                <a:solidFill>
                  <a:srgbClr val="6F6A66"/>
                </a:solidFill>
              </a:rPr>
              <a:t>  prnewswire.com</a:t>
            </a:r>
          </a:p>
        </p:txBody>
      </p:sp>
      <p:sp>
        <p:nvSpPr>
          <p:cNvPr id="15" name="Sources column 3"/>
          <p:cNvSpPr txBox="1"/>
          <p:nvPr/>
        </p:nvSpPr>
        <p:spPr>
          <a:xfrm>
            <a:off x="6731000" y="1257300"/>
            <a:ext cx="2908300" cy="5657850"/>
          </a:xfrm>
          <a:prstGeom prst="rect">
            <a:avLst/>
          </a:prstGeom>
          <a:noFill/>
          <a:ln/>
        </p:spPr>
        <p:txBody>
          <a:bodyPr wrap="square" lIns="0" tIns="0" rIns="0" bIns="0" rtlCol="0" anchor="t"/>
          <a:lstStyle/>
          <a:p>
            <a:pPr marL="0" indent="0">
              <a:lnSpc>
                <a:spcPts val="1150"/>
              </a:lnSpc>
              <a:spcAft>
                <a:spcPts val="400"/>
              </a:spcAft>
              <a:buNone/>
            </a:pPr>
            <a:r>
              <a:rPr lang="en-US" sz="800" b="1" kern="0" spc="120" dirty="0">
                <a:solidFill>
                  <a:srgbClr val="8C6239"/>
                </a:solidFill>
              </a:rPr>
              <a:t>PERSPECTIVES ON FOUR SECTORS (PAGE 10)</a:t>
            </a:r>
          </a:p>
          <a:p>
            <a:pPr marL="0" indent="0">
              <a:lnSpc>
                <a:spcPts val="1150"/>
              </a:lnSpc>
              <a:buNone/>
            </a:pPr>
            <a:r>
              <a:rPr lang="en-US" sz="800" u="sng" dirty="0">
                <a:solidFill>
                  <a:srgbClr val="8C6239"/>
                </a:solidFill>
                <a:hlinkClick r:id="rId48" tooltip="https://www.sec.gov/Archives/edgar/data/0000310764/000031076426000048/sykex991earningsq22026.htm">
                  <a:extLst>
                    <a:ext uri="{A12FA001-AC4F-418D-AE19-62706E023703}">
                      <ahyp:hlinkClr xmlns:ahyp="http://schemas.microsoft.com/office/drawing/2018/hyperlinkcolor" val="tx"/>
                    </a:ext>
                  </a:extLst>
                </a:hlinkClick>
              </a:rPr>
              <a:t>Stryker</a:t>
            </a:r>
            <a:r>
              <a:rPr lang="en-US" sz="800" dirty="0">
                <a:solidFill>
                  <a:srgbClr val="6F6A66"/>
                </a:solidFill>
              </a:rPr>
              <a:t>  sec.gov</a:t>
            </a:r>
          </a:p>
          <a:p>
            <a:pPr marL="0" indent="0">
              <a:lnSpc>
                <a:spcPts val="1150"/>
              </a:lnSpc>
              <a:buNone/>
            </a:pPr>
            <a:r>
              <a:rPr lang="en-US" sz="800" u="sng" dirty="0">
                <a:solidFill>
                  <a:srgbClr val="8C6239"/>
                </a:solidFill>
                <a:hlinkClick r:id="rId49" tooltip="https://www.sec.gov/Archives/edgar/data/0001757898/000162828026053412/ste6302026ex991.htm">
                  <a:extLst>
                    <a:ext uri="{A12FA001-AC4F-418D-AE19-62706E023703}">
                      <ahyp:hlinkClr xmlns:ahyp="http://schemas.microsoft.com/office/drawing/2018/hyperlinkcolor" val="tx"/>
                    </a:ext>
                  </a:extLst>
                </a:hlinkClick>
              </a:rPr>
              <a:t>Steris</a:t>
            </a:r>
            <a:r>
              <a:rPr lang="en-US" sz="800" dirty="0">
                <a:solidFill>
                  <a:srgbClr val="6F6A66"/>
                </a:solidFill>
              </a:rPr>
              <a:t>  sec.gov</a:t>
            </a:r>
          </a:p>
          <a:p>
            <a:pPr marL="0" indent="0">
              <a:lnSpc>
                <a:spcPts val="1150"/>
              </a:lnSpc>
              <a:buNone/>
            </a:pPr>
            <a:r>
              <a:rPr lang="en-US" sz="800" u="sng" dirty="0">
                <a:solidFill>
                  <a:srgbClr val="8C6239"/>
                </a:solidFill>
                <a:hlinkClick r:id="rId31" tooltip="https://www.hfma.org/fast-finance/health-system-capital-investment-strategy-2026/">
                  <a:extLst>
                    <a:ext uri="{A12FA001-AC4F-418D-AE19-62706E023703}">
                      <ahyp:hlinkClr xmlns:ahyp="http://schemas.microsoft.com/office/drawing/2018/hyperlinkcolor" val="tx"/>
                    </a:ext>
                  </a:extLst>
                </a:hlinkClick>
              </a:rPr>
              <a:t>Sage Growth Partners via HFMA</a:t>
            </a:r>
            <a:r>
              <a:rPr lang="en-US" sz="800" dirty="0">
                <a:solidFill>
                  <a:srgbClr val="6F6A66"/>
                </a:solidFill>
              </a:rPr>
              <a:t>  hfma.org</a:t>
            </a:r>
          </a:p>
          <a:p>
            <a:pPr marL="0" indent="0">
              <a:lnSpc>
                <a:spcPts val="1150"/>
              </a:lnSpc>
              <a:buNone/>
            </a:pPr>
            <a:r>
              <a:rPr lang="en-US" sz="800" u="sng" dirty="0">
                <a:solidFill>
                  <a:srgbClr val="8C6239"/>
                </a:solidFill>
                <a:hlinkClick r:id="rId50" tooltip="https://www.owens-minor.com/pressreleases/owens-minor-announces-definitive-agreement-to-divest-products-healthcare-services-segment-to-platinum-equity-for-375mm-in-cash-and-a-retained-equity-stake/">
                  <a:extLst>
                    <a:ext uri="{A12FA001-AC4F-418D-AE19-62706E023703}">
                      <ahyp:hlinkClr xmlns:ahyp="http://schemas.microsoft.com/office/drawing/2018/hyperlinkcolor" val="tx"/>
                    </a:ext>
                  </a:extLst>
                </a:hlinkClick>
              </a:rPr>
              <a:t>Owens &amp; Minor</a:t>
            </a:r>
            <a:r>
              <a:rPr lang="en-US" sz="800" dirty="0">
                <a:solidFill>
                  <a:srgbClr val="6F6A66"/>
                </a:solidFill>
              </a:rPr>
              <a:t>  owens-minor.com</a:t>
            </a:r>
          </a:p>
          <a:p>
            <a:pPr marL="0" indent="0">
              <a:lnSpc>
                <a:spcPts val="1150"/>
              </a:lnSpc>
              <a:buNone/>
            </a:pPr>
            <a:r>
              <a:rPr lang="en-US" sz="800" u="sng" dirty="0">
                <a:solidFill>
                  <a:srgbClr val="8C6239"/>
                </a:solidFill>
                <a:hlinkClick r:id="rId51" tooltip="https://www.sec.gov/Archives/edgar/data/0000927653/000092765326000232/mck_exhibit991x6302026.htm">
                  <a:extLst>
                    <a:ext uri="{A12FA001-AC4F-418D-AE19-62706E023703}">
                      <ahyp:hlinkClr xmlns:ahyp="http://schemas.microsoft.com/office/drawing/2018/hyperlinkcolor" val="tx"/>
                    </a:ext>
                  </a:extLst>
                </a:hlinkClick>
              </a:rPr>
              <a:t>McKesson</a:t>
            </a:r>
            <a:r>
              <a:rPr lang="en-US" sz="800" dirty="0">
                <a:solidFill>
                  <a:srgbClr val="6F6A66"/>
                </a:solidFill>
              </a:rPr>
              <a:t>  sec.gov</a:t>
            </a:r>
          </a:p>
          <a:p>
            <a:pPr marL="0" indent="0">
              <a:lnSpc>
                <a:spcPts val="1150"/>
              </a:lnSpc>
              <a:buNone/>
            </a:pPr>
            <a:r>
              <a:rPr lang="en-US" sz="800" u="sng" dirty="0">
                <a:solidFill>
                  <a:srgbClr val="8C6239"/>
                </a:solidFill>
                <a:hlinkClick r:id="rId52" tooltip="https://www.kslaw.com/news-and-insights/u-s-supreme-court-invalidates-the-president-s-ieepa-tariffs-in-learning-resources-inc-v-trump">
                  <a:extLst>
                    <a:ext uri="{A12FA001-AC4F-418D-AE19-62706E023703}">
                      <ahyp:hlinkClr xmlns:ahyp="http://schemas.microsoft.com/office/drawing/2018/hyperlinkcolor" val="tx"/>
                    </a:ext>
                  </a:extLst>
                </a:hlinkClick>
              </a:rPr>
              <a:t>Learning Resources v. Trump</a:t>
            </a:r>
            <a:r>
              <a:rPr lang="en-US" sz="800" dirty="0">
                <a:solidFill>
                  <a:srgbClr val="6F6A66"/>
                </a:solidFill>
              </a:rPr>
              <a:t>  kslaw.com</a:t>
            </a:r>
          </a:p>
          <a:p>
            <a:pPr marL="0" indent="0">
              <a:lnSpc>
                <a:spcPts val="1150"/>
              </a:lnSpc>
              <a:buNone/>
            </a:pPr>
            <a:r>
              <a:rPr lang="en-US" sz="800" u="sng" dirty="0">
                <a:solidFill>
                  <a:srgbClr val="8C6239"/>
                </a:solidFill>
                <a:hlinkClick r:id="rId53" tooltip="https://www.iqvia.com/insights/the-iqvia-institute/reports/us-medicine-use-trends-2026">
                  <a:extLst>
                    <a:ext uri="{A12FA001-AC4F-418D-AE19-62706E023703}">
                      <ahyp:hlinkClr xmlns:ahyp="http://schemas.microsoft.com/office/drawing/2018/hyperlinkcolor" val="tx"/>
                    </a:ext>
                  </a:extLst>
                </a:hlinkClick>
              </a:rPr>
              <a:t>IQVIA Institute</a:t>
            </a:r>
            <a:r>
              <a:rPr lang="en-US" sz="800" dirty="0">
                <a:solidFill>
                  <a:srgbClr val="6F6A66"/>
                </a:solidFill>
              </a:rPr>
              <a:t>  iqvia.com</a:t>
            </a:r>
          </a:p>
          <a:p>
            <a:pPr marL="0" indent="0">
              <a:lnSpc>
                <a:spcPts val="1150"/>
              </a:lnSpc>
              <a:buNone/>
            </a:pPr>
            <a:r>
              <a:rPr lang="en-US" sz="800" u="sng" dirty="0">
                <a:solidFill>
                  <a:srgbClr val="8C6239"/>
                </a:solidFill>
                <a:hlinkClick r:id="rId54" tooltip="https://ncpa.org/newsroom/news-releases/2025/10/19/ncpa-releases-2025-digest-report">
                  <a:extLst>
                    <a:ext uri="{A12FA001-AC4F-418D-AE19-62706E023703}">
                      <ahyp:hlinkClr xmlns:ahyp="http://schemas.microsoft.com/office/drawing/2018/hyperlinkcolor" val="tx"/>
                    </a:ext>
                  </a:extLst>
                </a:hlinkClick>
              </a:rPr>
              <a:t>NCPA 2025 Digest</a:t>
            </a:r>
            <a:r>
              <a:rPr lang="en-US" sz="800" dirty="0">
                <a:solidFill>
                  <a:srgbClr val="6F6A66"/>
                </a:solidFill>
              </a:rPr>
              <a:t>  ncpa.org</a:t>
            </a:r>
          </a:p>
          <a:p>
            <a:pPr marL="0" indent="0">
              <a:lnSpc>
                <a:spcPts val="1150"/>
              </a:lnSpc>
              <a:buNone/>
            </a:pPr>
            <a:r>
              <a:rPr lang="en-US" sz="800" u="sng" dirty="0">
                <a:solidFill>
                  <a:srgbClr val="8C6239"/>
                </a:solidFill>
                <a:hlinkClick r:id="rId55" tooltip="https://www.sec.gov/Archives/edgar/data/0001802255/000119312526338032/d160709dex991.htm">
                  <a:extLst>
                    <a:ext uri="{A12FA001-AC4F-418D-AE19-62706E023703}">
                      <ahyp:hlinkClr xmlns:ahyp="http://schemas.microsoft.com/office/drawing/2018/hyperlinkcolor" val="tx"/>
                    </a:ext>
                  </a:extLst>
                </a:hlinkClick>
              </a:rPr>
              <a:t>Guardian Pharmacy Services</a:t>
            </a:r>
            <a:r>
              <a:rPr lang="en-US" sz="800" dirty="0">
                <a:solidFill>
                  <a:srgbClr val="6F6A66"/>
                </a:solidFill>
              </a:rPr>
              <a:t>  sec.gov</a:t>
            </a:r>
          </a:p>
          <a:p>
            <a:pPr marL="0" indent="0">
              <a:lnSpc>
                <a:spcPts val="1150"/>
              </a:lnSpc>
              <a:buNone/>
            </a:pPr>
            <a:r>
              <a:rPr lang="en-US" sz="800" u="sng" dirty="0">
                <a:solidFill>
                  <a:srgbClr val="8C6239"/>
                </a:solidFill>
                <a:hlinkClick r:id="rId56" tooltip="https://www.sec.gov/Archives/edgar/data/0001865782/000119312526326654/btsg-ex99_1.htm">
                  <a:extLst>
                    <a:ext uri="{A12FA001-AC4F-418D-AE19-62706E023703}">
                      <ahyp:hlinkClr xmlns:ahyp="http://schemas.microsoft.com/office/drawing/2018/hyperlinkcolor" val="tx"/>
                    </a:ext>
                  </a:extLst>
                </a:hlinkClick>
              </a:rPr>
              <a:t>BrightSpring</a:t>
            </a:r>
            <a:r>
              <a:rPr lang="en-US" sz="800" dirty="0">
                <a:solidFill>
                  <a:srgbClr val="6F6A66"/>
                </a:solidFill>
              </a:rPr>
              <a:t>  sec.gov</a:t>
            </a:r>
          </a:p>
          <a:p>
            <a:pPr marL="0" indent="0">
              <a:lnSpc>
                <a:spcPts val="1150"/>
              </a:lnSpc>
              <a:buNone/>
            </a:pPr>
            <a:r>
              <a:rPr lang="en-US" sz="800" u="sng" dirty="0">
                <a:solidFill>
                  <a:srgbClr val="8C6239"/>
                </a:solidFill>
                <a:hlinkClick r:id="rId57" tooltip="https://www.staffingindustry.com/editorial/healthcare-staffing-report/healthcare-staffing-rebounds-as-demand-strengthens-in-the-second-and-third-quarters">
                  <a:extLst>
                    <a:ext uri="{A12FA001-AC4F-418D-AE19-62706E023703}">
                      <ahyp:hlinkClr xmlns:ahyp="http://schemas.microsoft.com/office/drawing/2018/hyperlinkcolor" val="tx"/>
                    </a:ext>
                  </a:extLst>
                </a:hlinkClick>
              </a:rPr>
              <a:t>Staffing Industry Analysts</a:t>
            </a:r>
            <a:r>
              <a:rPr lang="en-US" sz="800" dirty="0">
                <a:solidFill>
                  <a:srgbClr val="6F6A66"/>
                </a:solidFill>
              </a:rPr>
              <a:t>  staffingindustry.com</a:t>
            </a:r>
          </a:p>
          <a:p>
            <a:pPr marL="0" indent="0">
              <a:lnSpc>
                <a:spcPts val="1150"/>
              </a:lnSpc>
              <a:spcBef>
                <a:spcPts val="800"/>
              </a:spcBef>
              <a:spcAft>
                <a:spcPts val="400"/>
              </a:spcAft>
              <a:buNone/>
            </a:pPr>
            <a:r>
              <a:rPr lang="en-US" sz="800" b="1" kern="0" spc="120" dirty="0">
                <a:solidFill>
                  <a:srgbClr val="8C6239"/>
                </a:solidFill>
              </a:rPr>
              <a:t>WHAT WE’RE READING (PAGE 11)</a:t>
            </a:r>
          </a:p>
          <a:p>
            <a:pPr marL="0" indent="0">
              <a:lnSpc>
                <a:spcPts val="1150"/>
              </a:lnSpc>
              <a:buNone/>
            </a:pPr>
            <a:r>
              <a:rPr lang="en-US" sz="800" u="sng" dirty="0">
                <a:solidFill>
                  <a:srgbClr val="8C6239"/>
                </a:solidFill>
                <a:hlinkClick r:id="rId2" tooltip="https://www.fiercehealthcare.com/finance/projected-healthcare-services-deal-count-be-lowest-2017-pitchbook-finds">
                  <a:extLst>
                    <a:ext uri="{A12FA001-AC4F-418D-AE19-62706E023703}">
                      <ahyp:hlinkClr xmlns:ahyp="http://schemas.microsoft.com/office/drawing/2018/hyperlinkcolor" val="tx"/>
                    </a:ext>
                  </a:extLst>
                </a:hlinkClick>
              </a:rPr>
              <a:t>Fierce Healthcare</a:t>
            </a:r>
            <a:r>
              <a:rPr lang="en-US" sz="800" dirty="0">
                <a:solidFill>
                  <a:srgbClr val="6F6A66"/>
                </a:solidFill>
              </a:rPr>
              <a:t>  fiercehealthcare.com</a:t>
            </a:r>
          </a:p>
          <a:p>
            <a:pPr marL="0" indent="0">
              <a:lnSpc>
                <a:spcPts val="1150"/>
              </a:lnSpc>
              <a:buNone/>
            </a:pPr>
            <a:r>
              <a:rPr lang="en-US" sz="800" u="sng" dirty="0">
                <a:solidFill>
                  <a:srgbClr val="8C6239"/>
                </a:solidFill>
                <a:hlinkClick r:id="rId5" tooltip="https://www.iqvia.com/locations/emea/blogs/2026/07/biopharma-ma-mid-year-2026-update">
                  <a:extLst>
                    <a:ext uri="{A12FA001-AC4F-418D-AE19-62706E023703}">
                      <ahyp:hlinkClr xmlns:ahyp="http://schemas.microsoft.com/office/drawing/2018/hyperlinkcolor" val="tx"/>
                    </a:ext>
                  </a:extLst>
                </a:hlinkClick>
              </a:rPr>
              <a:t>IQVIA</a:t>
            </a:r>
            <a:r>
              <a:rPr lang="en-US" sz="800" dirty="0">
                <a:solidFill>
                  <a:srgbClr val="6F6A66"/>
                </a:solidFill>
              </a:rPr>
              <a:t>  iqvia.com</a:t>
            </a:r>
          </a:p>
          <a:p>
            <a:pPr marL="0" indent="0">
              <a:lnSpc>
                <a:spcPts val="1150"/>
              </a:lnSpc>
              <a:buNone/>
            </a:pPr>
            <a:r>
              <a:rPr lang="en-US" sz="800" u="sng" dirty="0">
                <a:solidFill>
                  <a:srgbClr val="8C6239"/>
                </a:solidFill>
                <a:hlinkClick r:id="rId58" tooltip="https://www.medtechdive.com/news/top-10-medtech-deals-in-the-first-half-of-2026/824435/">
                  <a:extLst>
                    <a:ext uri="{A12FA001-AC4F-418D-AE19-62706E023703}">
                      <ahyp:hlinkClr xmlns:ahyp="http://schemas.microsoft.com/office/drawing/2018/hyperlinkcolor" val="tx"/>
                    </a:ext>
                  </a:extLst>
                </a:hlinkClick>
              </a:rPr>
              <a:t>MedTech Dive</a:t>
            </a:r>
            <a:r>
              <a:rPr lang="en-US" sz="800" dirty="0">
                <a:solidFill>
                  <a:srgbClr val="6F6A66"/>
                </a:solidFill>
              </a:rPr>
              <a:t>  medtechdive.com</a:t>
            </a:r>
          </a:p>
          <a:p>
            <a:pPr marL="0" indent="0">
              <a:lnSpc>
                <a:spcPts val="1150"/>
              </a:lnSpc>
              <a:buNone/>
            </a:pPr>
            <a:r>
              <a:rPr lang="en-US" sz="800" u="sng" dirty="0">
                <a:solidFill>
                  <a:srgbClr val="8C6239"/>
                </a:solidFill>
                <a:hlinkClick r:id="rId59" tooltip="https://www.drugchannels.net/2026/08/the-k-shaped-pharmacy-shakeout.html">
                  <a:extLst>
                    <a:ext uri="{A12FA001-AC4F-418D-AE19-62706E023703}">
                      <ahyp:hlinkClr xmlns:ahyp="http://schemas.microsoft.com/office/drawing/2018/hyperlinkcolor" val="tx"/>
                    </a:ext>
                  </a:extLst>
                </a:hlinkClick>
              </a:rPr>
              <a:t>Drug Channels</a:t>
            </a:r>
            <a:r>
              <a:rPr lang="en-US" sz="800" dirty="0">
                <a:solidFill>
                  <a:srgbClr val="6F6A66"/>
                </a:solidFill>
              </a:rPr>
              <a:t>  drugchannels.net</a:t>
            </a:r>
          </a:p>
          <a:p>
            <a:pPr marL="0" indent="0">
              <a:lnSpc>
                <a:spcPts val="1150"/>
              </a:lnSpc>
              <a:spcBef>
                <a:spcPts val="800"/>
              </a:spcBef>
              <a:spcAft>
                <a:spcPts val="400"/>
              </a:spcAft>
              <a:buNone/>
            </a:pPr>
            <a:r>
              <a:rPr lang="en-US" sz="800" b="1" kern="0" spc="120" dirty="0">
                <a:solidFill>
                  <a:srgbClr val="8C6239"/>
                </a:solidFill>
              </a:rPr>
              <a:t>HEALTHCARE SERVICES DEAL VOLUME (PAGE 13)</a:t>
            </a:r>
          </a:p>
          <a:p>
            <a:pPr marL="0" indent="0">
              <a:lnSpc>
                <a:spcPts val="1150"/>
              </a:lnSpc>
              <a:buNone/>
            </a:pPr>
            <a:r>
              <a:rPr lang="en-US" sz="800" u="sng" dirty="0">
                <a:solidFill>
                  <a:srgbClr val="8C6239"/>
                </a:solidFill>
                <a:hlinkClick r:id="rId60" tooltip="https://www.ama-assn.org/system/files/2021-01/cf-history.pdf">
                  <a:extLst>
                    <a:ext uri="{A12FA001-AC4F-418D-AE19-62706E023703}">
                      <ahyp:hlinkClr xmlns:ahyp="http://schemas.microsoft.com/office/drawing/2018/hyperlinkcolor" val="tx"/>
                    </a:ext>
                  </a:extLst>
                </a:hlinkClick>
              </a:rPr>
              <a:t>AMA</a:t>
            </a:r>
            <a:r>
              <a:rPr lang="en-US" sz="800" dirty="0">
                <a:solidFill>
                  <a:srgbClr val="6F6A66"/>
                </a:solidFill>
              </a:rPr>
              <a:t>  ama-assn.org</a:t>
            </a:r>
          </a:p>
          <a:p>
            <a:pPr marL="0" indent="0">
              <a:lnSpc>
                <a:spcPts val="1150"/>
              </a:lnSpc>
              <a:buNone/>
            </a:pPr>
            <a:r>
              <a:rPr lang="en-US" sz="800" u="sng" dirty="0">
                <a:solidFill>
                  <a:srgbClr val="8C6239"/>
                </a:solidFill>
                <a:hlinkClick r:id="rId61" tooltip="https://pitchbook.brightspotcdn.com/7b/53/6ae3fbf84f12bfd344a7ae0a691a/q2-2026-healthcare-services-report-gusting-macroeconomic-headwinds-impede-progress.pdf">
                  <a:extLst>
                    <a:ext uri="{A12FA001-AC4F-418D-AE19-62706E023703}">
                      <ahyp:hlinkClr xmlns:ahyp="http://schemas.microsoft.com/office/drawing/2018/hyperlinkcolor" val="tx"/>
                    </a:ext>
                  </a:extLst>
                </a:hlinkClick>
              </a:rPr>
              <a:t>PitchBook</a:t>
            </a:r>
            <a:r>
              <a:rPr lang="en-US" sz="800" dirty="0">
                <a:solidFill>
                  <a:srgbClr val="6F6A66"/>
                </a:solidFill>
              </a:rPr>
              <a:t>  pitchbook.brightspotcdn.com</a:t>
            </a:r>
          </a:p>
          <a:p>
            <a:pPr marL="0" indent="0">
              <a:lnSpc>
                <a:spcPts val="1150"/>
              </a:lnSpc>
              <a:buNone/>
            </a:pPr>
            <a:r>
              <a:rPr lang="en-US" sz="800" u="sng" dirty="0">
                <a:solidFill>
                  <a:srgbClr val="8C6239"/>
                </a:solidFill>
                <a:hlinkClick r:id="rId4" tooltip="https://www.kaufmanhall.com/news/ma-activity-remains-strong-among-large-health-systems-amid-continued-industry-transformation">
                  <a:extLst>
                    <a:ext uri="{A12FA001-AC4F-418D-AE19-62706E023703}">
                      <ahyp:hlinkClr xmlns:ahyp="http://schemas.microsoft.com/office/drawing/2018/hyperlinkcolor" val="tx"/>
                    </a:ext>
                  </a:extLst>
                </a:hlinkClick>
              </a:rPr>
              <a:t>Kaufman Hall</a:t>
            </a:r>
            <a:r>
              <a:rPr lang="en-US" sz="800" dirty="0">
                <a:solidFill>
                  <a:srgbClr val="6F6A66"/>
                </a:solidFill>
              </a:rPr>
              <a:t>  kaufmanhall.com</a:t>
            </a:r>
          </a:p>
          <a:p>
            <a:pPr marL="0" indent="0">
              <a:lnSpc>
                <a:spcPts val="1150"/>
              </a:lnSpc>
              <a:buNone/>
            </a:pPr>
            <a:r>
              <a:rPr lang="en-US" sz="800" u="sng" dirty="0">
                <a:solidFill>
                  <a:srgbClr val="8C6239"/>
                </a:solidFill>
                <a:hlinkClick r:id="rId27" tooltip="https://pitchbook.brightspotcdn.com/2d/0a/acb3601c4e19925c22d3f3877637/q4-2025-healthcare-services-report.pdf">
                  <a:extLst>
                    <a:ext uri="{A12FA001-AC4F-418D-AE19-62706E023703}">
                      <ahyp:hlinkClr xmlns:ahyp="http://schemas.microsoft.com/office/drawing/2018/hyperlinkcolor" val="tx"/>
                    </a:ext>
                  </a:extLst>
                </a:hlinkClick>
              </a:rPr>
              <a:t>PitchBook Q4 2025 Healthcare Services Report</a:t>
            </a:r>
            <a:r>
              <a:rPr lang="en-US" sz="800" dirty="0">
                <a:solidFill>
                  <a:srgbClr val="6F6A66"/>
                </a:solidFill>
              </a:rPr>
              <a:t>  pitchbook.brightspotcdn.com</a:t>
            </a:r>
          </a:p>
          <a:p>
            <a:pPr marL="0" indent="0">
              <a:lnSpc>
                <a:spcPts val="1150"/>
              </a:lnSpc>
              <a:buNone/>
            </a:pPr>
            <a:r>
              <a:rPr lang="en-US" sz="800" u="sng" dirty="0">
                <a:solidFill>
                  <a:srgbClr val="8C6239"/>
                </a:solidFill>
                <a:hlinkClick r:id="rId2" tooltip="https://www.fiercehealthcare.com/finance/projected-healthcare-services-deal-count-be-lowest-2017-pitchbook-finds">
                  <a:extLst>
                    <a:ext uri="{A12FA001-AC4F-418D-AE19-62706E023703}">
                      <ahyp:hlinkClr xmlns:ahyp="http://schemas.microsoft.com/office/drawing/2018/hyperlinkcolor" val="tx"/>
                    </a:ext>
                  </a:extLst>
                </a:hlinkClick>
              </a:rPr>
              <a:t>PitchBook via Fierce Healthcare</a:t>
            </a:r>
            <a:r>
              <a:rPr lang="en-US" sz="800" dirty="0">
                <a:solidFill>
                  <a:srgbClr val="6F6A66"/>
                </a:solidFill>
              </a:rPr>
              <a:t>  fiercehealthcare.com</a:t>
            </a:r>
          </a:p>
        </p:txBody>
      </p:sp>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62"/>
          <a:srcRect/>
          <a:stretch>
            <a:fillRect/>
          </a:stretch>
        </p:blipFill>
        <p:spPr>
          <a:xfrm>
            <a:off x="419100" y="7143750"/>
            <a:ext cx="914400" cy="171450"/>
          </a:xfrm>
          <a:prstGeom prst="rect">
            <a:avLst/>
          </a:prstGeom>
        </p:spPr>
      </p:pic>
      <p:sp>
        <p:nvSpPr>
          <p:cNvPr id="11" name="TextBox 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Listed-company data pages at </a:t>
            </a:r>
            <a:r>
              <a:rPr sz="800" b="0" i="0" spc="8">
                <a:solidFill>
                  <a:srgbClr val="8C6239"/>
                </a:solidFill>
                <a:latin typeface="Calibri"/>
                <a:hlinkClick r:id="rId35"/>
              </a:rPr>
              <a:t>StockAnalysis</a:t>
            </a:r>
            <a:r>
              <a:rPr sz="800" b="0" i="0" spc="8">
                <a:solidFill>
                  <a:srgbClr val="6F6A66"/>
                </a:solidFill>
                <a:latin typeface="Calibri"/>
              </a:rPr>
              <a:t> are linked from the company names on the participants and appendix pages. Adjusted EBITDA figures are from company earnings releases and SEC filings for the eight quarters to June 30, 2026.</a:t>
            </a:r>
          </a:p>
        </p:txBody>
      </p:sp>
      <p:sp>
        <p:nvSpPr>
          <p:cNvPr id="12" name="TextBox 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Box 1"/>
          <p:cNvSpPr txBox="1"/>
          <p:nvPr/>
        </p:nvSpPr>
        <p:spPr>
          <a:xfrm>
            <a:off x="419100" y="381000"/>
            <a:ext cx="3657600" cy="133350"/>
          </a:xfrm>
          <a:prstGeom prst="rect">
            <a:avLst/>
          </a:prstGeom>
          <a:noFill/>
        </p:spPr>
        <p:txBody>
          <a:bodyPr wrap="none" lIns="0" tIns="0" rIns="0" bIns="0" anchor="t"/>
          <a:lstStyle/>
          <a:p>
            <a:pPr algn="l">
              <a:lnSpc>
                <a:spcPts val="1050"/>
              </a:lnSpc>
            </a:pPr>
            <a:r>
              <a:rPr sz="675" b="1" i="0" spc="195">
                <a:solidFill>
                  <a:srgbClr val="8C6239"/>
                </a:solidFill>
                <a:latin typeface="Calibri"/>
              </a:rPr>
              <a:t>HEALTHCARE | QUARTERLY INDUSTRY REPORT</a:t>
            </a:r>
          </a:p>
        </p:txBody>
      </p:sp>
      <p:sp>
        <p:nvSpPr>
          <p:cNvPr id="4" name="TextBox 2"/>
          <p:cNvSpPr txBox="1"/>
          <p:nvPr/>
        </p:nvSpPr>
        <p:spPr>
          <a:xfrm>
            <a:off x="8853587" y="361950"/>
            <a:ext cx="800000" cy="171450"/>
          </a:xfrm>
          <a:prstGeom prst="rect">
            <a:avLst/>
          </a:prstGeom>
          <a:noFill/>
        </p:spPr>
        <p:txBody>
          <a:bodyPr wrap="none" lIns="0" tIns="0" rIns="0" bIns="0" anchor="t">
            <a:noAutofit/>
          </a:bodyPr>
          <a:lstStyle/>
          <a:p>
            <a:pPr algn="r">
              <a:lnSpc>
                <a:spcPts val="1350"/>
              </a:lnSpc>
            </a:pPr>
            <a:r>
              <a:rPr sz="900" b="0" i="0" spc="90">
                <a:solidFill>
                  <a:srgbClr val="6F6A66"/>
                </a:solidFill>
                <a:latin typeface="Cambria"/>
              </a:rPr>
              <a:t>Q4 2026</a:t>
            </a:r>
          </a:p>
        </p:txBody>
      </p:sp>
      <p:sp>
        <p:nvSpPr>
          <p:cNvPr id="5" name="TextBox 3"/>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Sources (2 of 2)</a:t>
            </a:r>
          </a:p>
        </p:txBody>
      </p:sp>
      <p:sp>
        <p:nvSpPr>
          <p:cNvPr id="6" name="TextBox 4"/>
          <p:cNvSpPr txBox="1"/>
          <p:nvPr/>
        </p:nvSpPr>
        <p:spPr>
          <a:xfrm>
            <a:off x="419100" y="885825"/>
            <a:ext cx="9220200" cy="180975"/>
          </a:xfrm>
          <a:prstGeom prst="rect">
            <a:avLst/>
          </a:prstGeom>
          <a:noFill/>
        </p:spPr>
        <p:txBody>
          <a:bodyPr wrap="square" lIns="0" tIns="0" rIns="0" bIns="0" anchor="t">
            <a:spAutoFit/>
          </a:bodyPr>
          <a:lstStyle/>
          <a:p>
            <a:pPr algn="l">
              <a:lnSpc>
                <a:spcPts val="1596"/>
              </a:lnSpc>
            </a:pPr>
            <a:r>
              <a:rPr sz="1100" b="0" i="0" spc="15">
                <a:solidFill>
                  <a:srgbClr val="6F6A66"/>
                </a:solidFill>
                <a:latin typeface="Calibri"/>
              </a:rPr>
              <a:t>Sources cited in this report, listed by page.</a:t>
            </a:r>
          </a:p>
        </p:txBody>
      </p:sp>
      <p:sp>
        <p:nvSpPr>
          <p:cNvPr id="7" name="Shape 2"/>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13" name="Sources column 4"/>
          <p:cNvSpPr txBox="1"/>
          <p:nvPr/>
        </p:nvSpPr>
        <p:spPr>
          <a:xfrm>
            <a:off x="419100" y="1257300"/>
            <a:ext cx="2908300" cy="5657850"/>
          </a:xfrm>
          <a:prstGeom prst="rect">
            <a:avLst/>
          </a:prstGeom>
          <a:noFill/>
          <a:ln/>
        </p:spPr>
        <p:txBody>
          <a:bodyPr wrap="square" lIns="0" tIns="0" rIns="0" bIns="0" rtlCol="0" anchor="t"/>
          <a:lstStyle/>
          <a:p>
            <a:pPr marL="0" indent="0">
              <a:lnSpc>
                <a:spcPts val="1150"/>
              </a:lnSpc>
              <a:spcAft>
                <a:spcPts val="400"/>
              </a:spcAft>
              <a:buNone/>
            </a:pPr>
            <a:r>
              <a:rPr lang="en-US" sz="800" b="1" kern="0" spc="120" dirty="0">
                <a:solidFill>
                  <a:srgbClr val="8C6239"/>
                </a:solidFill>
              </a:rPr>
              <a:t>SELECT MARKET PARTICIPANTS (PAGE 14)</a:t>
            </a:r>
          </a:p>
          <a:p>
            <a:pPr marL="0" indent="0">
              <a:lnSpc>
                <a:spcPts val="1150"/>
              </a:lnSpc>
              <a:buNone/>
            </a:pPr>
            <a:r>
              <a:rPr lang="en-US" sz="800" dirty="0">
                <a:solidFill>
                  <a:srgbClr val="333231"/>
                </a:solidFill>
              </a:rPr>
              <a:t>StockAnalysis company pages</a:t>
            </a:r>
            <a:r>
              <a:rPr lang="en-US" sz="800" dirty="0">
                <a:solidFill>
                  <a:srgbClr val="6F6A66"/>
                </a:solidFill>
              </a:rPr>
              <a:t>  stockanalysis.com (company statistics pages)</a:t>
            </a:r>
          </a:p>
          <a:p>
            <a:pPr marL="0" indent="0">
              <a:lnSpc>
                <a:spcPts val="1150"/>
              </a:lnSpc>
              <a:spcBef>
                <a:spcPts val="800"/>
              </a:spcBef>
              <a:spcAft>
                <a:spcPts val="400"/>
              </a:spcAft>
              <a:buNone/>
            </a:pPr>
            <a:r>
              <a:rPr lang="en-US" sz="800" b="1" kern="0" spc="120" dirty="0">
                <a:solidFill>
                  <a:srgbClr val="8C6239"/>
                </a:solidFill>
              </a:rPr>
              <a:t>SELECT RECENT HEALTHCARE M&amp;A TRANSACTIONS (PAGE 15)</a:t>
            </a:r>
          </a:p>
          <a:p>
            <a:pPr marL="0" indent="0">
              <a:lnSpc>
                <a:spcPts val="1150"/>
              </a:lnSpc>
              <a:buNone/>
            </a:pPr>
            <a:r>
              <a:rPr lang="en-US" sz="800" u="sng" dirty="0">
                <a:solidFill>
                  <a:srgbClr val="8C6239"/>
                </a:solidFill>
                <a:hlinkClick r:id="rId2" tooltip="https://eyewire.news/news/myeyedr-to-acquire-eyecare-partners-optometry-division-adding-more-than-300-offices">
                  <a:extLst>
                    <a:ext uri="{A12FA001-AC4F-418D-AE19-62706E023703}">
                      <ahyp:hlinkClr xmlns:ahyp="http://schemas.microsoft.com/office/drawing/2018/hyperlinkcolor" val="tx"/>
                    </a:ext>
                  </a:extLst>
                </a:hlinkClick>
              </a:rPr>
              <a:t>Eyewire News</a:t>
            </a:r>
            <a:r>
              <a:rPr lang="en-US" sz="800" dirty="0">
                <a:solidFill>
                  <a:srgbClr val="6F6A66"/>
                </a:solidFill>
              </a:rPr>
              <a:t>  eyewire.news</a:t>
            </a:r>
          </a:p>
          <a:p>
            <a:pPr marL="0" indent="0">
              <a:lnSpc>
                <a:spcPts val="1150"/>
              </a:lnSpc>
              <a:buNone/>
            </a:pPr>
            <a:r>
              <a:rPr lang="en-US" sz="800" u="sng" dirty="0">
                <a:solidFill>
                  <a:srgbClr val="8C6239"/>
                </a:solidFill>
                <a:hlinkClick r:id="rId3" tooltip="https://www.businesswire.com/news/home/20260928896885/en/EyeCare-Partners-Announces-Sale-of-Optometry-Business">
                  <a:extLst>
                    <a:ext uri="{A12FA001-AC4F-418D-AE19-62706E023703}">
                      <ahyp:hlinkClr xmlns:ahyp="http://schemas.microsoft.com/office/drawing/2018/hyperlinkcolor" val="tx"/>
                    </a:ext>
                  </a:extLst>
                </a:hlinkClick>
              </a:rPr>
              <a:t>EyeCare Partners</a:t>
            </a:r>
            <a:r>
              <a:rPr lang="en-US" sz="800" dirty="0">
                <a:solidFill>
                  <a:srgbClr val="6F6A66"/>
                </a:solidFill>
              </a:rPr>
              <a:t>  businesswire.com</a:t>
            </a:r>
          </a:p>
          <a:p>
            <a:pPr marL="0" indent="0">
              <a:lnSpc>
                <a:spcPts val="1150"/>
              </a:lnSpc>
              <a:buNone/>
            </a:pPr>
            <a:r>
              <a:rPr lang="en-US" sz="800" u="sng" dirty="0">
                <a:solidFill>
                  <a:srgbClr val="8C6239"/>
                </a:solidFill>
                <a:hlinkClick r:id="rId4" tooltip="https://www.sec.gov/Archives/edgar/data/0001468328/000143774926030348/ex_1015828.htm">
                  <a:extLst>
                    <a:ext uri="{A12FA001-AC4F-418D-AE19-62706E023703}">
                      <ahyp:hlinkClr xmlns:ahyp="http://schemas.microsoft.com/office/drawing/2018/hyperlinkcolor" val="tx"/>
                    </a:ext>
                  </a:extLst>
                </a:hlinkClick>
              </a:rPr>
              <a:t>Addus HomeCare</a:t>
            </a:r>
            <a:r>
              <a:rPr lang="en-US" sz="800" dirty="0">
                <a:solidFill>
                  <a:srgbClr val="6F6A66"/>
                </a:solidFill>
              </a:rPr>
              <a:t>  sec.gov</a:t>
            </a:r>
          </a:p>
          <a:p>
            <a:pPr marL="0" indent="0">
              <a:lnSpc>
                <a:spcPts val="1150"/>
              </a:lnSpc>
              <a:buNone/>
            </a:pPr>
            <a:r>
              <a:rPr lang="en-US" sz="800" u="sng" dirty="0">
                <a:solidFill>
                  <a:srgbClr val="8C6239"/>
                </a:solidFill>
                <a:hlinkClick r:id="rId5" tooltip="https://www.sec.gov/Archives/edgar/data/0000842023/000199937126013429/ex99-1.htm">
                  <a:extLst>
                    <a:ext uri="{A12FA001-AC4F-418D-AE19-62706E023703}">
                      <ahyp:hlinkClr xmlns:ahyp="http://schemas.microsoft.com/office/drawing/2018/hyperlinkcolor" val="tx"/>
                    </a:ext>
                  </a:extLst>
                </a:hlinkClick>
              </a:rPr>
              <a:t>Bio-Techne</a:t>
            </a:r>
            <a:r>
              <a:rPr lang="en-US" sz="800" dirty="0">
                <a:solidFill>
                  <a:srgbClr val="6F6A66"/>
                </a:solidFill>
              </a:rPr>
              <a:t>  sec.gov</a:t>
            </a:r>
          </a:p>
          <a:p>
            <a:pPr marL="0" indent="0">
              <a:lnSpc>
                <a:spcPts val="1150"/>
              </a:lnSpc>
              <a:buNone/>
            </a:pPr>
            <a:r>
              <a:rPr lang="en-US" sz="800" u="sng" dirty="0">
                <a:solidFill>
                  <a:srgbClr val="8C6239"/>
                </a:solidFill>
                <a:hlinkClick r:id="rId6" tooltip="https://www.sec.gov/Archives/edgar/data/0000313616/000031361626000163/dhr-20260721xex991.htm">
                  <a:extLst>
                    <a:ext uri="{A12FA001-AC4F-418D-AE19-62706E023703}">
                      <ahyp:hlinkClr xmlns:ahyp="http://schemas.microsoft.com/office/drawing/2018/hyperlinkcolor" val="tx"/>
                    </a:ext>
                  </a:extLst>
                </a:hlinkClick>
              </a:rPr>
              <a:t>Danaher</a:t>
            </a:r>
            <a:r>
              <a:rPr lang="en-US" sz="800" dirty="0">
                <a:solidFill>
                  <a:srgbClr val="6F6A66"/>
                </a:solidFill>
              </a:rPr>
              <a:t>  sec.gov</a:t>
            </a:r>
          </a:p>
          <a:p>
            <a:pPr marL="0" indent="0">
              <a:lnSpc>
                <a:spcPts val="1150"/>
              </a:lnSpc>
              <a:buNone/>
            </a:pPr>
            <a:r>
              <a:rPr lang="en-US" sz="800" u="sng" dirty="0">
                <a:solidFill>
                  <a:srgbClr val="8C6239"/>
                </a:solidFill>
                <a:hlinkClick r:id="rId7" tooltip="https://peprofessional.com/2026/07/statlab-sold-to-danahers-leica-biosystems/">
                  <a:extLst>
                    <a:ext uri="{A12FA001-AC4F-418D-AE19-62706E023703}">
                      <ahyp:hlinkClr xmlns:ahyp="http://schemas.microsoft.com/office/drawing/2018/hyperlinkcolor" val="tx"/>
                    </a:ext>
                  </a:extLst>
                </a:hlinkClick>
              </a:rPr>
              <a:t>PE Professional</a:t>
            </a:r>
            <a:r>
              <a:rPr lang="en-US" sz="800" dirty="0">
                <a:solidFill>
                  <a:srgbClr val="6F6A66"/>
                </a:solidFill>
              </a:rPr>
              <a:t>  peprofessional.com</a:t>
            </a:r>
          </a:p>
          <a:p>
            <a:pPr marL="0" indent="0">
              <a:lnSpc>
                <a:spcPts val="1150"/>
              </a:lnSpc>
              <a:buNone/>
            </a:pPr>
            <a:r>
              <a:rPr lang="en-US" sz="800" u="sng" dirty="0">
                <a:solidFill>
                  <a:srgbClr val="8C6239"/>
                </a:solidFill>
                <a:hlinkClick r:id="rId8" tooltip="https://www.sec.gov/Archives/edgar/data/1114483/000095010326011709/dp251126_ex9901.htm">
                  <a:extLst>
                    <a:ext uri="{A12FA001-AC4F-418D-AE19-62706E023703}">
                      <ahyp:hlinkClr xmlns:ahyp="http://schemas.microsoft.com/office/drawing/2018/hyperlinkcolor" val="tx"/>
                    </a:ext>
                  </a:extLst>
                </a:hlinkClick>
              </a:rPr>
              <a:t>Integer</a:t>
            </a:r>
            <a:r>
              <a:rPr lang="en-US" sz="800" dirty="0">
                <a:solidFill>
                  <a:srgbClr val="6F6A66"/>
                </a:solidFill>
              </a:rPr>
              <a:t>  sec.gov</a:t>
            </a:r>
          </a:p>
          <a:p>
            <a:pPr marL="0" indent="0">
              <a:lnSpc>
                <a:spcPts val="1150"/>
              </a:lnSpc>
              <a:buNone/>
            </a:pPr>
            <a:r>
              <a:rPr lang="en-US" sz="800" u="sng" dirty="0">
                <a:solidFill>
                  <a:srgbClr val="8C6239"/>
                </a:solidFill>
                <a:hlinkClick r:id="rId9" tooltip="https://www.medicaldesignandoutsourcing.com/?p=280019">
                  <a:extLst>
                    <a:ext uri="{A12FA001-AC4F-418D-AE19-62706E023703}">
                      <ahyp:hlinkClr xmlns:ahyp="http://schemas.microsoft.com/office/drawing/2018/hyperlinkcolor" val="tx"/>
                    </a:ext>
                  </a:extLst>
                </a:hlinkClick>
              </a:rPr>
              <a:t>Medical Design &amp; Outsourcing</a:t>
            </a:r>
            <a:r>
              <a:rPr lang="en-US" sz="800" dirty="0">
                <a:solidFill>
                  <a:srgbClr val="6F6A66"/>
                </a:solidFill>
              </a:rPr>
              <a:t>  medicaldesignandoutsourcing.com</a:t>
            </a:r>
          </a:p>
          <a:p>
            <a:pPr marL="0" indent="0">
              <a:lnSpc>
                <a:spcPts val="1150"/>
              </a:lnSpc>
              <a:buNone/>
            </a:pPr>
            <a:r>
              <a:rPr lang="en-US" sz="800" u="sng" dirty="0">
                <a:solidFill>
                  <a:srgbClr val="8C6239"/>
                </a:solidFill>
                <a:hlinkClick r:id="rId10" tooltip="https://www.fiercehealthcare.com/finance/staffing-firm-cross-country-healthcare-be-acquired-knox-lane-437m">
                  <a:extLst>
                    <a:ext uri="{A12FA001-AC4F-418D-AE19-62706E023703}">
                      <ahyp:hlinkClr xmlns:ahyp="http://schemas.microsoft.com/office/drawing/2018/hyperlinkcolor" val="tx"/>
                    </a:ext>
                  </a:extLst>
                </a:hlinkClick>
              </a:rPr>
              <a:t>Fierce Healthcare</a:t>
            </a:r>
            <a:r>
              <a:rPr lang="en-US" sz="800" dirty="0">
                <a:solidFill>
                  <a:srgbClr val="6F6A66"/>
                </a:solidFill>
              </a:rPr>
              <a:t>  fiercehealthcare.com</a:t>
            </a:r>
          </a:p>
          <a:p>
            <a:pPr marL="0" indent="0">
              <a:lnSpc>
                <a:spcPts val="1150"/>
              </a:lnSpc>
              <a:buNone/>
            </a:pPr>
            <a:r>
              <a:rPr lang="en-US" sz="800" u="sng" dirty="0">
                <a:solidFill>
                  <a:srgbClr val="8C6239"/>
                </a:solidFill>
                <a:hlinkClick r:id="rId11" tooltip="https://www.staffingindustry.com/news/global-daily-news/private-equity-firm-knox-lane-completes-acquisition-of-cross-county">
                  <a:extLst>
                    <a:ext uri="{A12FA001-AC4F-418D-AE19-62706E023703}">
                      <ahyp:hlinkClr xmlns:ahyp="http://schemas.microsoft.com/office/drawing/2018/hyperlinkcolor" val="tx"/>
                    </a:ext>
                  </a:extLst>
                </a:hlinkClick>
              </a:rPr>
              <a:t>Staffing Industry Analysts</a:t>
            </a:r>
            <a:r>
              <a:rPr lang="en-US" sz="800" dirty="0">
                <a:solidFill>
                  <a:srgbClr val="6F6A66"/>
                </a:solidFill>
              </a:rPr>
              <a:t>  staffingindustry.com</a:t>
            </a:r>
          </a:p>
          <a:p>
            <a:pPr marL="0" indent="0">
              <a:lnSpc>
                <a:spcPts val="1150"/>
              </a:lnSpc>
              <a:spcBef>
                <a:spcPts val="800"/>
              </a:spcBef>
              <a:spcAft>
                <a:spcPts val="400"/>
              </a:spcAft>
              <a:buNone/>
            </a:pPr>
            <a:r>
              <a:rPr lang="en-US" sz="800" b="1" kern="0" spc="120" dirty="0">
                <a:solidFill>
                  <a:srgbClr val="8C6239"/>
                </a:solidFill>
              </a:rPr>
              <a:t>BENCHMARK INTERNATIONAL’S HEALTHCARE TRANSACTIONS (PAGE 16)</a:t>
            </a:r>
          </a:p>
          <a:p>
            <a:pPr marL="0" indent="0">
              <a:lnSpc>
                <a:spcPts val="1150"/>
              </a:lnSpc>
              <a:buNone/>
            </a:pPr>
            <a:r>
              <a:rPr lang="en-US" sz="800" u="sng" dirty="0">
                <a:solidFill>
                  <a:srgbClr val="8C6239"/>
                </a:solidFill>
                <a:hlinkClick r:id="rId12" tooltip="https://www.benchmarkintl.com/about/our-success/">
                  <a:extLst>
                    <a:ext uri="{A12FA001-AC4F-418D-AE19-62706E023703}">
                      <ahyp:hlinkClr xmlns:ahyp="http://schemas.microsoft.com/office/drawing/2018/hyperlinkcolor" val="tx"/>
                    </a:ext>
                  </a:extLst>
                </a:hlinkClick>
              </a:rPr>
              <a:t>Benchmark International</a:t>
            </a:r>
            <a:r>
              <a:rPr lang="en-US" sz="800" dirty="0">
                <a:solidFill>
                  <a:srgbClr val="6F6A66"/>
                </a:solidFill>
              </a:rPr>
              <a:t>  benchmarkintl.com</a:t>
            </a:r>
          </a:p>
          <a:p>
            <a:pPr marL="0" indent="0">
              <a:lnSpc>
                <a:spcPts val="1150"/>
              </a:lnSpc>
              <a:buNone/>
            </a:pPr>
            <a:r>
              <a:rPr lang="en-US" sz="800" u="sng" dirty="0">
                <a:solidFill>
                  <a:srgbClr val="8C6239"/>
                </a:solidFill>
                <a:hlinkClick r:id="rId13" tooltip="https://www.benchmarkintl.com/insights/benchmark-international-successfully-facilitated-the-transaction-between-precise-bioscience-llc-and-new-horizon-medical-solutions/">
                  <a:extLst>
                    <a:ext uri="{A12FA001-AC4F-418D-AE19-62706E023703}">
                      <ahyp:hlinkClr xmlns:ahyp="http://schemas.microsoft.com/office/drawing/2018/hyperlinkcolor" val="tx"/>
                    </a:ext>
                  </a:extLst>
                </a:hlinkClick>
              </a:rPr>
              <a:t>Precise Bioscience, LLC and New Horizon Medical Solutions</a:t>
            </a:r>
            <a:r>
              <a:rPr lang="en-US" sz="800" dirty="0">
                <a:solidFill>
                  <a:srgbClr val="6F6A66"/>
                </a:solidFill>
              </a:rPr>
              <a:t>  benchmarkintl.com</a:t>
            </a:r>
          </a:p>
          <a:p>
            <a:pPr marL="0" indent="0">
              <a:lnSpc>
                <a:spcPts val="1150"/>
              </a:lnSpc>
              <a:buNone/>
            </a:pPr>
            <a:r>
              <a:rPr lang="en-US" sz="800" u="sng" dirty="0">
                <a:solidFill>
                  <a:srgbClr val="8C6239"/>
                </a:solidFill>
                <a:hlinkClick r:id="rId14" tooltip="https://www.benchmarkintl.com/insights/completed-transactions/benchmark-international-successfully-facilitated-the-transaction-between-formulation-technology-incorporated-and-aavin-private-equity/">
                  <a:extLst>
                    <a:ext uri="{A12FA001-AC4F-418D-AE19-62706E023703}">
                      <ahyp:hlinkClr xmlns:ahyp="http://schemas.microsoft.com/office/drawing/2018/hyperlinkcolor" val="tx"/>
                    </a:ext>
                  </a:extLst>
                </a:hlinkClick>
              </a:rPr>
              <a:t>Formulation Technology, Incorporated and Aavin Private Equity</a:t>
            </a:r>
            <a:r>
              <a:rPr lang="en-US" sz="800" dirty="0">
                <a:solidFill>
                  <a:srgbClr val="6F6A66"/>
                </a:solidFill>
              </a:rPr>
              <a:t>  benchmarkintl.com</a:t>
            </a:r>
          </a:p>
          <a:p>
            <a:pPr marL="0" indent="0">
              <a:lnSpc>
                <a:spcPts val="1150"/>
              </a:lnSpc>
              <a:buNone/>
            </a:pPr>
            <a:r>
              <a:rPr lang="en-US" sz="800" u="sng" dirty="0">
                <a:solidFill>
                  <a:srgbClr val="8C6239"/>
                </a:solidFill>
                <a:hlinkClick r:id="rId15" tooltip="https://www.benchmarkintl.com/insights/completed-transactions/benchmark-international-successfully-facilitated-the-transaction-between-fast-response-onsite-testing-inc-and-relentless-health-inc/">
                  <a:extLst>
                    <a:ext uri="{A12FA001-AC4F-418D-AE19-62706E023703}">
                      <ahyp:hlinkClr xmlns:ahyp="http://schemas.microsoft.com/office/drawing/2018/hyperlinkcolor" val="tx"/>
                    </a:ext>
                  </a:extLst>
                </a:hlinkClick>
              </a:rPr>
              <a:t>Fast Response On-Site Testing, Inc. and Relentless Health, Inc.</a:t>
            </a:r>
            <a:r>
              <a:rPr lang="en-US" sz="800" dirty="0">
                <a:solidFill>
                  <a:srgbClr val="6F6A66"/>
                </a:solidFill>
              </a:rPr>
              <a:t>  benchmarkintl.com</a:t>
            </a:r>
          </a:p>
          <a:p>
            <a:pPr marL="0" indent="0">
              <a:lnSpc>
                <a:spcPts val="1150"/>
              </a:lnSpc>
              <a:buNone/>
            </a:pPr>
            <a:r>
              <a:rPr lang="en-US" sz="800" u="sng" dirty="0">
                <a:solidFill>
                  <a:srgbClr val="8C6239"/>
                </a:solidFill>
                <a:hlinkClick r:id="rId16" tooltip="https://www.benchmarkintl.com/insights/completed-transactions/benchmark-international-successfully-facilitated-the-transaction-between-critical-environments-professionals-and-scientific-safety-alliance/">
                  <a:extLst>
                    <a:ext uri="{A12FA001-AC4F-418D-AE19-62706E023703}">
                      <ahyp:hlinkClr xmlns:ahyp="http://schemas.microsoft.com/office/drawing/2018/hyperlinkcolor" val="tx"/>
                    </a:ext>
                  </a:extLst>
                </a:hlinkClick>
              </a:rPr>
              <a:t>Critical Environments Professionals and Scientific Safety Alliance</a:t>
            </a:r>
            <a:r>
              <a:rPr lang="en-US" sz="800" dirty="0">
                <a:solidFill>
                  <a:srgbClr val="6F6A66"/>
                </a:solidFill>
              </a:rPr>
              <a:t>  benchmarkintl.com</a:t>
            </a:r>
          </a:p>
        </p:txBody>
      </p:sp>
      <p:sp>
        <p:nvSpPr>
          <p:cNvPr id="14" name="Sources column 5"/>
          <p:cNvSpPr txBox="1"/>
          <p:nvPr/>
        </p:nvSpPr>
        <p:spPr>
          <a:xfrm>
            <a:off x="3575050" y="1257300"/>
            <a:ext cx="2908300" cy="5657850"/>
          </a:xfrm>
          <a:prstGeom prst="rect">
            <a:avLst/>
          </a:prstGeom>
          <a:noFill/>
          <a:ln/>
        </p:spPr>
        <p:txBody>
          <a:bodyPr wrap="square" lIns="0" tIns="0" rIns="0" bIns="0" rtlCol="0" anchor="t"/>
          <a:lstStyle/>
          <a:p>
            <a:pPr marL="0" indent="0">
              <a:lnSpc>
                <a:spcPts val="1150"/>
              </a:lnSpc>
              <a:buNone/>
            </a:pPr>
            <a:r>
              <a:rPr lang="en-US" sz="800" u="sng" dirty="0">
                <a:solidFill>
                  <a:srgbClr val="8C6239"/>
                </a:solidFill>
                <a:hlinkClick r:id="rId17" tooltip="https://www.benchmarkintl.com/insights/completed-transactions/benchmark-international-facilitated-the-transaction-of-dental-holdings-llc-and-solmetex-llc/">
                  <a:extLst>
                    <a:ext uri="{A12FA001-AC4F-418D-AE19-62706E023703}">
                      <ahyp:hlinkClr xmlns:ahyp="http://schemas.microsoft.com/office/drawing/2018/hyperlinkcolor" val="tx"/>
                    </a:ext>
                  </a:extLst>
                </a:hlinkClick>
              </a:rPr>
              <a:t>Dental Holdings, LLC and Solmetex, LLC</a:t>
            </a:r>
            <a:r>
              <a:rPr lang="en-US" sz="800" dirty="0">
                <a:solidFill>
                  <a:srgbClr val="6F6A66"/>
                </a:solidFill>
              </a:rPr>
              <a:t>  benchmarkintl.com</a:t>
            </a:r>
          </a:p>
          <a:p>
            <a:pPr marL="0" indent="0">
              <a:lnSpc>
                <a:spcPts val="1150"/>
              </a:lnSpc>
              <a:buNone/>
            </a:pPr>
            <a:r>
              <a:rPr lang="en-US" sz="800" u="sng" dirty="0">
                <a:solidFill>
                  <a:srgbClr val="8C6239"/>
                </a:solidFill>
                <a:hlinkClick r:id="rId18" tooltip="https://www.benchmarkintl.com/insights/benchmark-international-successfully-facilitated-the-transaction-between-fosterbridge-inc-and-amvie/">
                  <a:extLst>
                    <a:ext uri="{A12FA001-AC4F-418D-AE19-62706E023703}">
                      <ahyp:hlinkClr xmlns:ahyp="http://schemas.microsoft.com/office/drawing/2018/hyperlinkcolor" val="tx"/>
                    </a:ext>
                  </a:extLst>
                </a:hlinkClick>
              </a:rPr>
              <a:t>Fosterbridge, Inc. and Amvie</a:t>
            </a:r>
            <a:r>
              <a:rPr lang="en-US" sz="800" dirty="0">
                <a:solidFill>
                  <a:srgbClr val="6F6A66"/>
                </a:solidFill>
              </a:rPr>
              <a:t>  benchmarkintl.com</a:t>
            </a:r>
          </a:p>
          <a:p>
            <a:pPr marL="0" indent="0">
              <a:lnSpc>
                <a:spcPts val="1150"/>
              </a:lnSpc>
              <a:buNone/>
            </a:pPr>
            <a:r>
              <a:rPr lang="en-US" sz="800" u="sng" dirty="0">
                <a:solidFill>
                  <a:srgbClr val="8C6239"/>
                </a:solidFill>
                <a:hlinkClick r:id="rId19" tooltip="https://www.benchmarkintl.com/insights/benchmark-international-successfully-facilitated-the-transaction-between-medical-temps-inc-and-health-advocates-network/">
                  <a:extLst>
                    <a:ext uri="{A12FA001-AC4F-418D-AE19-62706E023703}">
                      <ahyp:hlinkClr xmlns:ahyp="http://schemas.microsoft.com/office/drawing/2018/hyperlinkcolor" val="tx"/>
                    </a:ext>
                  </a:extLst>
                </a:hlinkClick>
              </a:rPr>
              <a:t>Medical Temps, Inc. and Health Advocates Network</a:t>
            </a:r>
            <a:r>
              <a:rPr lang="en-US" sz="800" dirty="0">
                <a:solidFill>
                  <a:srgbClr val="6F6A66"/>
                </a:solidFill>
              </a:rPr>
              <a:t>  benchmarkintl.com</a:t>
            </a:r>
          </a:p>
          <a:p>
            <a:pPr marL="0" indent="0">
              <a:lnSpc>
                <a:spcPts val="1150"/>
              </a:lnSpc>
              <a:buNone/>
            </a:pPr>
            <a:r>
              <a:rPr lang="en-US" sz="800" u="sng" dirty="0">
                <a:solidFill>
                  <a:srgbClr val="8C6239"/>
                </a:solidFill>
                <a:hlinkClick r:id="rId20" tooltip="https://www.benchmarkintl.com/insights/completed-transactions/benchmark-international-successfully-facilitated-the-transaction-between-the-brooks-group-and-private-investors/">
                  <a:extLst>
                    <a:ext uri="{A12FA001-AC4F-418D-AE19-62706E023703}">
                      <ahyp:hlinkClr xmlns:ahyp="http://schemas.microsoft.com/office/drawing/2018/hyperlinkcolor" val="tx"/>
                    </a:ext>
                  </a:extLst>
                </a:hlinkClick>
              </a:rPr>
              <a:t>The Brooks Group and private investors</a:t>
            </a:r>
            <a:r>
              <a:rPr lang="en-US" sz="800" dirty="0">
                <a:solidFill>
                  <a:srgbClr val="6F6A66"/>
                </a:solidFill>
              </a:rPr>
              <a:t>  benchmarkintl.com</a:t>
            </a:r>
          </a:p>
          <a:p>
            <a:pPr marL="0" indent="0">
              <a:lnSpc>
                <a:spcPts val="1150"/>
              </a:lnSpc>
              <a:buNone/>
            </a:pPr>
            <a:r>
              <a:rPr lang="en-US" sz="800" u="sng" dirty="0">
                <a:solidFill>
                  <a:srgbClr val="8C6239"/>
                </a:solidFill>
                <a:hlinkClick r:id="rId21" tooltip="https://www.benchmarkintl.com/insights/benchmark-international-successfully-facilitated-the-transaction-between-fitzgerald-enterprises-and-pioneers-operations/">
                  <a:extLst>
                    <a:ext uri="{A12FA001-AC4F-418D-AE19-62706E023703}">
                      <ahyp:hlinkClr xmlns:ahyp="http://schemas.microsoft.com/office/drawing/2018/hyperlinkcolor" val="tx"/>
                    </a:ext>
                  </a:extLst>
                </a:hlinkClick>
              </a:rPr>
              <a:t>Fitzgerald Enterprises and Pioneers Operations</a:t>
            </a:r>
            <a:r>
              <a:rPr lang="en-US" sz="800" dirty="0">
                <a:solidFill>
                  <a:srgbClr val="6F6A66"/>
                </a:solidFill>
              </a:rPr>
              <a:t>  benchmarkintl.com</a:t>
            </a:r>
          </a:p>
          <a:p>
            <a:pPr marL="0" indent="0">
              <a:lnSpc>
                <a:spcPts val="1150"/>
              </a:lnSpc>
              <a:spcBef>
                <a:spcPts val="800"/>
              </a:spcBef>
              <a:spcAft>
                <a:spcPts val="400"/>
              </a:spcAft>
              <a:buNone/>
            </a:pPr>
            <a:r>
              <a:rPr lang="en-US" sz="800" b="1" kern="0" spc="120" dirty="0">
                <a:solidFill>
                  <a:srgbClr val="8C6239"/>
                </a:solidFill>
              </a:rPr>
              <a:t>VALUATION MULTIPLES BY SECTOR (PAGE 17)</a:t>
            </a:r>
          </a:p>
          <a:p>
            <a:pPr marL="0" indent="0">
              <a:lnSpc>
                <a:spcPts val="1150"/>
              </a:lnSpc>
              <a:buNone/>
            </a:pPr>
            <a:r>
              <a:rPr lang="en-US" sz="800" u="sng" dirty="0">
                <a:solidFill>
                  <a:srgbClr val="8C6239"/>
                </a:solidFill>
                <a:hlinkClick r:id="rId22" tooltip="https://www.beckersasc.com/asc-transactions-and-valuation-issues/why-asc-deals-are-outperforming-the-rest-of-healthcare-ma-in-2026-8-things-to-know/">
                  <a:extLst>
                    <a:ext uri="{A12FA001-AC4F-418D-AE19-62706E023703}">
                      <ahyp:hlinkClr xmlns:ahyp="http://schemas.microsoft.com/office/drawing/2018/hyperlinkcolor" val="tx"/>
                    </a:ext>
                  </a:extLst>
                </a:hlinkClick>
              </a:rPr>
              <a:t>PitchBook via Becker’s ASC Review</a:t>
            </a:r>
            <a:r>
              <a:rPr lang="en-US" sz="800" dirty="0">
                <a:solidFill>
                  <a:srgbClr val="6F6A66"/>
                </a:solidFill>
              </a:rPr>
              <a:t>  beckersasc.com</a:t>
            </a:r>
          </a:p>
          <a:p>
            <a:pPr marL="0" indent="0">
              <a:lnSpc>
                <a:spcPts val="1150"/>
              </a:lnSpc>
              <a:buNone/>
            </a:pPr>
            <a:r>
              <a:rPr lang="en-US" sz="800" u="sng" dirty="0">
                <a:solidFill>
                  <a:srgbClr val="8C6239"/>
                </a:solidFill>
                <a:hlinkClick r:id="rId23"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00" dirty="0">
                <a:solidFill>
                  <a:srgbClr val="6F6A66"/>
                </a:solidFill>
              </a:rPr>
              <a:t>  acg.org</a:t>
            </a:r>
          </a:p>
          <a:p>
            <a:pPr marL="0" indent="0">
              <a:lnSpc>
                <a:spcPts val="1150"/>
              </a:lnSpc>
              <a:buNone/>
            </a:pPr>
            <a:r>
              <a:rPr lang="en-US" sz="800" u="sng" dirty="0">
                <a:solidFill>
                  <a:srgbClr val="8C6239"/>
                </a:solidFill>
                <a:hlinkClick r:id="rId24" tooltip="https://www.ibba.org/market-pulse-q2-2026-survey-results/">
                  <a:extLst>
                    <a:ext uri="{A12FA001-AC4F-418D-AE19-62706E023703}">
                      <ahyp:hlinkClr xmlns:ahyp="http://schemas.microsoft.com/office/drawing/2018/hyperlinkcolor" val="tx"/>
                    </a:ext>
                  </a:extLst>
                </a:hlinkClick>
              </a:rPr>
              <a:t>IBBA and M&amp;A Source</a:t>
            </a:r>
            <a:r>
              <a:rPr lang="en-US" sz="800" dirty="0">
                <a:solidFill>
                  <a:srgbClr val="6F6A66"/>
                </a:solidFill>
              </a:rPr>
              <a:t>  ibba.org</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PUBLIC COMPANY STOCK PERFORMANCE: PAST 12 MONTHS (PAGE 18)</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PUBLIC COMPANY OPERATING AND VALUATION METRICS (PAGE 19)</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EARNINGS AND COMMENTARY (PAGE 20)</a:t>
            </a:r>
          </a:p>
          <a:p>
            <a:pPr marL="0" indent="0">
              <a:lnSpc>
                <a:spcPts val="1150"/>
              </a:lnSpc>
              <a:buNone/>
            </a:pPr>
            <a:r>
              <a:rPr lang="en-US" sz="800" u="sng" dirty="0">
                <a:solidFill>
                  <a:srgbClr val="8C6239"/>
                </a:solidFill>
                <a:hlinkClick r:id="rId26" tooltip="https://www.sec.gov/Archives/edgar/data/0001125376/000112537626000036/q22026pressrelease.htm">
                  <a:extLst>
                    <a:ext uri="{A12FA001-AC4F-418D-AE19-62706E023703}">
                      <ahyp:hlinkClr xmlns:ahyp="http://schemas.microsoft.com/office/drawing/2018/hyperlinkcolor" val="tx"/>
                    </a:ext>
                  </a:extLst>
                </a:hlinkClick>
              </a:rPr>
              <a:t>Ensign Group</a:t>
            </a:r>
            <a:r>
              <a:rPr lang="en-US" sz="800" dirty="0">
                <a:solidFill>
                  <a:srgbClr val="6F6A66"/>
                </a:solidFill>
              </a:rPr>
              <a:t>  sec.gov</a:t>
            </a:r>
          </a:p>
          <a:p>
            <a:pPr marL="0" indent="0">
              <a:lnSpc>
                <a:spcPts val="1150"/>
              </a:lnSpc>
              <a:buNone/>
            </a:pPr>
            <a:r>
              <a:rPr lang="en-US" sz="800" u="sng" dirty="0">
                <a:solidFill>
                  <a:srgbClr val="8C6239"/>
                </a:solidFill>
                <a:hlinkClick r:id="rId27" tooltip="https://www.sec.gov/Archives/edgar/data/0001668397/000166839726000023/medp-2026722exx991.htm">
                  <a:extLst>
                    <a:ext uri="{A12FA001-AC4F-418D-AE19-62706E023703}">
                      <ahyp:hlinkClr xmlns:ahyp="http://schemas.microsoft.com/office/drawing/2018/hyperlinkcolor" val="tx"/>
                    </a:ext>
                  </a:extLst>
                </a:hlinkClick>
              </a:rPr>
              <a:t>Medpace</a:t>
            </a:r>
            <a:r>
              <a:rPr lang="en-US" sz="800" dirty="0">
                <a:solidFill>
                  <a:srgbClr val="6F6A66"/>
                </a:solidFill>
              </a:rPr>
              <a:t>  sec.gov</a:t>
            </a:r>
          </a:p>
          <a:p>
            <a:pPr marL="0" indent="0">
              <a:lnSpc>
                <a:spcPts val="1150"/>
              </a:lnSpc>
              <a:buNone/>
            </a:pPr>
            <a:r>
              <a:rPr lang="en-US" sz="800" u="sng" dirty="0">
                <a:solidFill>
                  <a:srgbClr val="8C6239"/>
                </a:solidFill>
                <a:hlinkClick r:id="rId28" tooltip="https://www.sec.gov/Archives/edgar/data/0000097745/000009774526000138/q22026earnings8kex99_1.htm">
                  <a:extLst>
                    <a:ext uri="{A12FA001-AC4F-418D-AE19-62706E023703}">
                      <ahyp:hlinkClr xmlns:ahyp="http://schemas.microsoft.com/office/drawing/2018/hyperlinkcolor" val="tx"/>
                    </a:ext>
                  </a:extLst>
                </a:hlinkClick>
              </a:rPr>
              <a:t>Thermo Fisher Scientific</a:t>
            </a:r>
            <a:r>
              <a:rPr lang="en-US" sz="800" dirty="0">
                <a:solidFill>
                  <a:srgbClr val="6F6A66"/>
                </a:solidFill>
              </a:rPr>
              <a:t>  sec.gov</a:t>
            </a:r>
          </a:p>
          <a:p>
            <a:pPr marL="0" indent="0">
              <a:lnSpc>
                <a:spcPts val="1150"/>
              </a:lnSpc>
              <a:buNone/>
            </a:pPr>
            <a:r>
              <a:rPr lang="en-US" sz="800" u="sng" dirty="0">
                <a:solidFill>
                  <a:srgbClr val="8C6239"/>
                </a:solidFill>
                <a:hlinkClick r:id="rId29" tooltip="https://newsroom.questdiagnostics.com/2026-07-23-Quest-Diagnostics-Reports-Second-Quarter-2026-Financial-Results-Raises-Revenue-and-EPS-Guidance-for-Full-Year-2026">
                  <a:extLst>
                    <a:ext uri="{A12FA001-AC4F-418D-AE19-62706E023703}">
                      <ahyp:hlinkClr xmlns:ahyp="http://schemas.microsoft.com/office/drawing/2018/hyperlinkcolor" val="tx"/>
                    </a:ext>
                  </a:extLst>
                </a:hlinkClick>
              </a:rPr>
              <a:t>Quest Diagnostics</a:t>
            </a:r>
            <a:r>
              <a:rPr lang="en-US" sz="800" dirty="0">
                <a:solidFill>
                  <a:srgbClr val="6F6A66"/>
                </a:solidFill>
              </a:rPr>
              <a:t>  newsroom.questdiagnostics.com</a:t>
            </a:r>
          </a:p>
          <a:p>
            <a:pPr marL="0" indent="0">
              <a:lnSpc>
                <a:spcPts val="1150"/>
              </a:lnSpc>
              <a:buNone/>
            </a:pPr>
            <a:r>
              <a:rPr lang="en-US" sz="800" u="sng" dirty="0">
                <a:solidFill>
                  <a:srgbClr val="8C6239"/>
                </a:solidFill>
                <a:hlinkClick r:id="rId30" tooltip="https://www.sec.gov/Archives/edgar/data/0000310764/000031076426000048/sykex991earningsq22026.htm">
                  <a:extLst>
                    <a:ext uri="{A12FA001-AC4F-418D-AE19-62706E023703}">
                      <ahyp:hlinkClr xmlns:ahyp="http://schemas.microsoft.com/office/drawing/2018/hyperlinkcolor" val="tx"/>
                    </a:ext>
                  </a:extLst>
                </a:hlinkClick>
              </a:rPr>
              <a:t>Stryker</a:t>
            </a:r>
            <a:r>
              <a:rPr lang="en-US" sz="800" dirty="0">
                <a:solidFill>
                  <a:srgbClr val="6F6A66"/>
                </a:solidFill>
              </a:rPr>
              <a:t>  sec.gov</a:t>
            </a:r>
          </a:p>
          <a:p>
            <a:pPr marL="0" indent="0">
              <a:lnSpc>
                <a:spcPts val="1150"/>
              </a:lnSpc>
              <a:buNone/>
            </a:pPr>
            <a:r>
              <a:rPr lang="en-US" sz="800" u="sng" dirty="0">
                <a:solidFill>
                  <a:srgbClr val="8C6239"/>
                </a:solidFill>
                <a:hlinkClick r:id="rId31" tooltip="https://www.sec.gov/Archives/edgar/data/0000860730/000119312526315151/hca-ex99_1.htm">
                  <a:extLst>
                    <a:ext uri="{A12FA001-AC4F-418D-AE19-62706E023703}">
                      <ahyp:hlinkClr xmlns:ahyp="http://schemas.microsoft.com/office/drawing/2018/hyperlinkcolor" val="tx"/>
                    </a:ext>
                  </a:extLst>
                </a:hlinkClick>
              </a:rPr>
              <a:t>HCA Healthcare</a:t>
            </a:r>
            <a:r>
              <a:rPr lang="en-US" sz="800" dirty="0">
                <a:solidFill>
                  <a:srgbClr val="6F6A66"/>
                </a:solidFill>
              </a:rPr>
              <a:t>  sec.gov</a:t>
            </a:r>
          </a:p>
        </p:txBody>
      </p:sp>
      <p:sp>
        <p:nvSpPr>
          <p:cNvPr id="15" name="Sources column 6"/>
          <p:cNvSpPr txBox="1"/>
          <p:nvPr/>
        </p:nvSpPr>
        <p:spPr>
          <a:xfrm>
            <a:off x="6731000" y="1257300"/>
            <a:ext cx="2908300" cy="5657850"/>
          </a:xfrm>
          <a:prstGeom prst="rect">
            <a:avLst/>
          </a:prstGeom>
          <a:noFill/>
          <a:ln/>
        </p:spPr>
        <p:txBody>
          <a:bodyPr wrap="square" lIns="0" tIns="0" rIns="0" bIns="0" rtlCol="0" anchor="t"/>
          <a:lstStyle/>
          <a:p>
            <a:pPr marL="0" indent="0">
              <a:lnSpc>
                <a:spcPts val="1150"/>
              </a:lnSpc>
              <a:buNone/>
            </a:pPr>
            <a:r>
              <a:rPr lang="en-US" sz="800" u="sng" dirty="0">
                <a:solidFill>
                  <a:srgbClr val="8C6239"/>
                </a:solidFill>
                <a:hlinkClick r:id="rId32" tooltip="https://www.sec.gov/Archives/edgar/data/0001478242/000162828026049923/iqv-q2x2026earningspressre.htm">
                  <a:extLst>
                    <a:ext uri="{A12FA001-AC4F-418D-AE19-62706E023703}">
                      <ahyp:hlinkClr xmlns:ahyp="http://schemas.microsoft.com/office/drawing/2018/hyperlinkcolor" val="tx"/>
                    </a:ext>
                  </a:extLst>
                </a:hlinkClick>
              </a:rPr>
              <a:t>IQVIA</a:t>
            </a:r>
            <a:r>
              <a:rPr lang="en-US" sz="800" dirty="0">
                <a:solidFill>
                  <a:srgbClr val="6F6A66"/>
                </a:solidFill>
              </a:rPr>
              <a:t>  sec.gov</a:t>
            </a:r>
          </a:p>
          <a:p>
            <a:pPr marL="0" indent="0">
              <a:lnSpc>
                <a:spcPts val="1150"/>
              </a:lnSpc>
              <a:buNone/>
            </a:pPr>
            <a:r>
              <a:rPr lang="en-US" sz="800" u="sng" dirty="0">
                <a:solidFill>
                  <a:srgbClr val="8C6239"/>
                </a:solidFill>
                <a:hlinkClick r:id="rId33" tooltip="https://www.sec.gov/Archives/edgar/data/0000885978/000088597826000042/ex99-1.htm">
                  <a:extLst>
                    <a:ext uri="{A12FA001-AC4F-418D-AE19-62706E023703}">
                      <ahyp:hlinkClr xmlns:ahyp="http://schemas.microsoft.com/office/drawing/2018/hyperlinkcolor" val="tx"/>
                    </a:ext>
                  </a:extLst>
                </a:hlinkClick>
              </a:rPr>
              <a:t>U.S. Physical Therapy</a:t>
            </a:r>
            <a:r>
              <a:rPr lang="en-US" sz="800" dirty="0">
                <a:solidFill>
                  <a:srgbClr val="6F6A66"/>
                </a:solidFill>
              </a:rPr>
              <a:t>  sec.gov</a:t>
            </a:r>
          </a:p>
          <a:p>
            <a:pPr marL="0" indent="0">
              <a:lnSpc>
                <a:spcPts val="1150"/>
              </a:lnSpc>
              <a:buNone/>
            </a:pPr>
            <a:r>
              <a:rPr lang="en-US" sz="800" u="sng" dirty="0">
                <a:solidFill>
                  <a:srgbClr val="8C6239"/>
                </a:solidFill>
                <a:hlinkClick r:id="rId34" tooltip="https://www.sec.gov/Archives/edgar/data/0001468328/000143774926025448/ex_997368.htm">
                  <a:extLst>
                    <a:ext uri="{A12FA001-AC4F-418D-AE19-62706E023703}">
                      <ahyp:hlinkClr xmlns:ahyp="http://schemas.microsoft.com/office/drawing/2018/hyperlinkcolor" val="tx"/>
                    </a:ext>
                  </a:extLst>
                </a:hlinkClick>
              </a:rPr>
              <a:t>Addus HomeCare</a:t>
            </a:r>
            <a:r>
              <a:rPr lang="en-US" sz="800" dirty="0">
                <a:solidFill>
                  <a:srgbClr val="6F6A66"/>
                </a:solidFill>
              </a:rPr>
              <a:t>  sec.gov</a:t>
            </a:r>
          </a:p>
          <a:p>
            <a:pPr marL="0" indent="0">
              <a:lnSpc>
                <a:spcPts val="1150"/>
              </a:lnSpc>
              <a:buNone/>
            </a:pPr>
            <a:r>
              <a:rPr lang="en-US" sz="800" u="sng" dirty="0">
                <a:solidFill>
                  <a:srgbClr val="8C6239"/>
                </a:solidFill>
                <a:hlinkClick r:id="rId35" tooltip="https://www.mckesson.com/about-us/newsroom/press-releases/2026/mckesson-reports-fiscal-2027-first-quarter-results-and-raises-full-year-adjusted-eps-guidance/">
                  <a:extLst>
                    <a:ext uri="{A12FA001-AC4F-418D-AE19-62706E023703}">
                      <ahyp:hlinkClr xmlns:ahyp="http://schemas.microsoft.com/office/drawing/2018/hyperlinkcolor" val="tx"/>
                    </a:ext>
                  </a:extLst>
                </a:hlinkClick>
              </a:rPr>
              <a:t>McKesson</a:t>
            </a:r>
            <a:r>
              <a:rPr lang="en-US" sz="800" dirty="0">
                <a:solidFill>
                  <a:srgbClr val="6F6A66"/>
                </a:solidFill>
              </a:rPr>
              <a:t>  mckesson.com</a:t>
            </a:r>
          </a:p>
          <a:p>
            <a:pPr marL="0" indent="0">
              <a:lnSpc>
                <a:spcPts val="1150"/>
              </a:lnSpc>
              <a:buNone/>
            </a:pPr>
            <a:r>
              <a:rPr lang="en-US" sz="800" u="sng" dirty="0">
                <a:solidFill>
                  <a:srgbClr val="8C6239"/>
                </a:solidFill>
                <a:hlinkClick r:id="rId36" tooltip="https://www.sec.gov/Archives/edgar/data/0001757898/000162828026053412/ste6302026ex991.htm">
                  <a:extLst>
                    <a:ext uri="{A12FA001-AC4F-418D-AE19-62706E023703}">
                      <ahyp:hlinkClr xmlns:ahyp="http://schemas.microsoft.com/office/drawing/2018/hyperlinkcolor" val="tx"/>
                    </a:ext>
                  </a:extLst>
                </a:hlinkClick>
              </a:rPr>
              <a:t>Steris</a:t>
            </a:r>
            <a:r>
              <a:rPr lang="en-US" sz="800" dirty="0">
                <a:solidFill>
                  <a:srgbClr val="6F6A66"/>
                </a:solidFill>
              </a:rPr>
              <a:t>  sec.gov</a:t>
            </a:r>
          </a:p>
          <a:p>
            <a:pPr marL="0" indent="0">
              <a:lnSpc>
                <a:spcPts val="1150"/>
              </a:lnSpc>
              <a:buNone/>
            </a:pPr>
            <a:r>
              <a:rPr lang="en-US" sz="800" u="sng" dirty="0">
                <a:solidFill>
                  <a:srgbClr val="8C6239"/>
                </a:solidFill>
                <a:hlinkClick r:id="rId37" tooltip="https://www.sec.gov/Archives/edgar/data/0000070318/000007031826000032/thc-20260630ex991earningsr.htm">
                  <a:extLst>
                    <a:ext uri="{A12FA001-AC4F-418D-AE19-62706E023703}">
                      <ahyp:hlinkClr xmlns:ahyp="http://schemas.microsoft.com/office/drawing/2018/hyperlinkcolor" val="tx"/>
                    </a:ext>
                  </a:extLst>
                </a:hlinkClick>
              </a:rPr>
              <a:t>Tenet Healthcare</a:t>
            </a:r>
            <a:r>
              <a:rPr lang="en-US" sz="800" dirty="0">
                <a:solidFill>
                  <a:srgbClr val="6F6A66"/>
                </a:solidFill>
              </a:rPr>
              <a:t>  sec.gov</a:t>
            </a:r>
          </a:p>
          <a:p>
            <a:pPr marL="0" indent="0">
              <a:lnSpc>
                <a:spcPts val="1150"/>
              </a:lnSpc>
              <a:buNone/>
            </a:pPr>
            <a:r>
              <a:rPr lang="en-US" sz="800" u="sng" dirty="0">
                <a:solidFill>
                  <a:srgbClr val="8C6239"/>
                </a:solidFill>
                <a:hlinkClick r:id="rId38" tooltip="https://investor.henryschein.com/news-releases/news-release-details/2026/Henry-Schein-Reports-Strong-Second-Quarter-2026-Financial-Results-and-Raises-FY2026-Guidance">
                  <a:extLst>
                    <a:ext uri="{A12FA001-AC4F-418D-AE19-62706E023703}">
                      <ahyp:hlinkClr xmlns:ahyp="http://schemas.microsoft.com/office/drawing/2018/hyperlinkcolor" val="tx"/>
                    </a:ext>
                  </a:extLst>
                </a:hlinkClick>
              </a:rPr>
              <a:t>Henry Schein</a:t>
            </a:r>
            <a:r>
              <a:rPr lang="en-US" sz="800" dirty="0">
                <a:solidFill>
                  <a:srgbClr val="6F6A66"/>
                </a:solidFill>
              </a:rPr>
              <a:t>  investor.henryschein.com</a:t>
            </a:r>
          </a:p>
          <a:p>
            <a:pPr marL="0" indent="0">
              <a:lnSpc>
                <a:spcPts val="1150"/>
              </a:lnSpc>
              <a:buNone/>
            </a:pPr>
            <a:r>
              <a:rPr lang="en-US" sz="800" u="sng" dirty="0">
                <a:solidFill>
                  <a:srgbClr val="8C6239"/>
                </a:solidFill>
                <a:hlinkClick r:id="rId39" tooltip="https://www.sec.gov/Archives/edgar/data/0000920148/000092014826000162/form8-kexhibit9912q26.htm">
                  <a:extLst>
                    <a:ext uri="{A12FA001-AC4F-418D-AE19-62706E023703}">
                      <ahyp:hlinkClr xmlns:ahyp="http://schemas.microsoft.com/office/drawing/2018/hyperlinkcolor" val="tx"/>
                    </a:ext>
                  </a:extLst>
                </a:hlinkClick>
              </a:rPr>
              <a:t>Labcorp</a:t>
            </a:r>
            <a:r>
              <a:rPr lang="en-US" sz="800" dirty="0">
                <a:solidFill>
                  <a:srgbClr val="6F6A66"/>
                </a:solidFill>
              </a:rPr>
              <a:t>  sec.gov</a:t>
            </a:r>
          </a:p>
          <a:p>
            <a:pPr marL="0" indent="0">
              <a:lnSpc>
                <a:spcPts val="1150"/>
              </a:lnSpc>
              <a:buNone/>
            </a:pPr>
            <a:r>
              <a:rPr lang="en-US" sz="800" u="sng" dirty="0">
                <a:solidFill>
                  <a:srgbClr val="8C6239"/>
                </a:solidFill>
                <a:hlinkClick r:id="rId40" tooltip="https://www.sec.gov/Archives/edgar/data/0000721371/000072137126000037/a26q4_x063026xex991xnewsre.htm">
                  <a:extLst>
                    <a:ext uri="{A12FA001-AC4F-418D-AE19-62706E023703}">
                      <ahyp:hlinkClr xmlns:ahyp="http://schemas.microsoft.com/office/drawing/2018/hyperlinkcolor" val="tx"/>
                    </a:ext>
                  </a:extLst>
                </a:hlinkClick>
              </a:rPr>
              <a:t>Cardinal Health</a:t>
            </a:r>
            <a:r>
              <a:rPr lang="en-US" sz="800" dirty="0">
                <a:solidFill>
                  <a:srgbClr val="6F6A66"/>
                </a:solidFill>
              </a:rPr>
              <a:t>  sec.gov</a:t>
            </a:r>
          </a:p>
          <a:p>
            <a:pPr marL="0" indent="0">
              <a:lnSpc>
                <a:spcPts val="1150"/>
              </a:lnSpc>
              <a:buNone/>
            </a:pPr>
            <a:r>
              <a:rPr lang="en-US" sz="800" u="sng" dirty="0">
                <a:solidFill>
                  <a:srgbClr val="8C6239"/>
                </a:solidFill>
                <a:hlinkClick r:id="rId41" tooltip="https://www.sec.gov/Archives/edgar/data/0001142750/000114275026000008/amn-ex991x20260630xearning.htm">
                  <a:extLst>
                    <a:ext uri="{A12FA001-AC4F-418D-AE19-62706E023703}">
                      <ahyp:hlinkClr xmlns:ahyp="http://schemas.microsoft.com/office/drawing/2018/hyperlinkcolor" val="tx"/>
                    </a:ext>
                  </a:extLst>
                </a:hlinkClick>
              </a:rPr>
              <a:t>AMN Healthcare</a:t>
            </a:r>
            <a:r>
              <a:rPr lang="en-US" sz="800" dirty="0">
                <a:solidFill>
                  <a:srgbClr val="6F6A66"/>
                </a:solidFill>
              </a:rPr>
              <a:t>  sec.gov</a:t>
            </a:r>
          </a:p>
          <a:p>
            <a:pPr marL="0" indent="0">
              <a:lnSpc>
                <a:spcPts val="1150"/>
              </a:lnSpc>
              <a:buNone/>
            </a:pPr>
            <a:r>
              <a:rPr lang="en-US" sz="800" u="sng" dirty="0">
                <a:solidFill>
                  <a:srgbClr val="8C6239"/>
                </a:solidFill>
                <a:hlinkClick r:id="rId42" tooltip="https://www.sec.gov/Archives/edgar/data/0001802255/000119312526338032/d160709dex991.htm">
                  <a:extLst>
                    <a:ext uri="{A12FA001-AC4F-418D-AE19-62706E023703}">
                      <ahyp:hlinkClr xmlns:ahyp="http://schemas.microsoft.com/office/drawing/2018/hyperlinkcolor" val="tx"/>
                    </a:ext>
                  </a:extLst>
                </a:hlinkClick>
              </a:rPr>
              <a:t>Guardian Pharmacy Services</a:t>
            </a:r>
            <a:r>
              <a:rPr lang="en-US" sz="800" dirty="0">
                <a:solidFill>
                  <a:srgbClr val="6F6A66"/>
                </a:solidFill>
              </a:rPr>
              <a:t>  sec.gov</a:t>
            </a:r>
          </a:p>
          <a:p>
            <a:pPr marL="0" indent="0">
              <a:lnSpc>
                <a:spcPts val="1150"/>
              </a:lnSpc>
              <a:buNone/>
            </a:pPr>
            <a:r>
              <a:rPr lang="en-US" sz="800" u="sng" dirty="0">
                <a:solidFill>
                  <a:srgbClr val="8C6239"/>
                </a:solidFill>
                <a:hlinkClick r:id="rId43" tooltip="https://www.sec.gov/Archives/edgar/data/1014739/000101473926000021/exhibit991-q22026.htm">
                  <a:extLst>
                    <a:ext uri="{A12FA001-AC4F-418D-AE19-62706E023703}">
                      <ahyp:hlinkClr xmlns:ahyp="http://schemas.microsoft.com/office/drawing/2018/hyperlinkcolor" val="tx"/>
                    </a:ext>
                  </a:extLst>
                </a:hlinkClick>
              </a:rPr>
              <a:t>Option Care Health</a:t>
            </a:r>
            <a:r>
              <a:rPr lang="en-US" sz="800" dirty="0">
                <a:solidFill>
                  <a:srgbClr val="6F6A66"/>
                </a:solidFill>
              </a:rPr>
              <a:t>  sec.gov</a:t>
            </a:r>
          </a:p>
          <a:p>
            <a:pPr marL="0" indent="0">
              <a:lnSpc>
                <a:spcPts val="1150"/>
              </a:lnSpc>
              <a:buNone/>
            </a:pPr>
            <a:r>
              <a:rPr lang="en-US" sz="800" u="sng" dirty="0">
                <a:solidFill>
                  <a:srgbClr val="8C6239"/>
                </a:solidFill>
                <a:hlinkClick r:id="rId44" tooltip="https://stockanalysis.com/stocks/adus/transcripts/660727-q2-2026/">
                  <a:extLst>
                    <a:ext uri="{A12FA001-AC4F-418D-AE19-62706E023703}">
                      <ahyp:hlinkClr xmlns:ahyp="http://schemas.microsoft.com/office/drawing/2018/hyperlinkcolor" val="tx"/>
                    </a:ext>
                  </a:extLst>
                </a:hlinkClick>
              </a:rPr>
              <a:t>Addus HomeCare call transcript</a:t>
            </a:r>
            <a:r>
              <a:rPr lang="en-US" sz="800" dirty="0">
                <a:solidFill>
                  <a:srgbClr val="6F6A66"/>
                </a:solidFill>
              </a:rPr>
              <a:t>  stockanalysis.com</a:t>
            </a:r>
          </a:p>
          <a:p>
            <a:pPr marL="0" indent="0">
              <a:lnSpc>
                <a:spcPts val="1150"/>
              </a:lnSpc>
              <a:buNone/>
            </a:pPr>
            <a:r>
              <a:rPr lang="en-US" sz="800" u="sng" dirty="0">
                <a:solidFill>
                  <a:srgbClr val="8C6239"/>
                </a:solidFill>
                <a:hlinkClick r:id="rId45" tooltip="https://s2.q4cdn.com/390454341/files/doc_earnings/2026/q2/transcript/prepared-comments-for-website-Q2-2026-final.pdf">
                  <a:extLst>
                    <a:ext uri="{A12FA001-AC4F-418D-AE19-62706E023703}">
                      <ahyp:hlinkClr xmlns:ahyp="http://schemas.microsoft.com/office/drawing/2018/hyperlinkcolor" val="tx"/>
                    </a:ext>
                  </a:extLst>
                </a:hlinkClick>
              </a:rPr>
              <a:t>Quest Diagnostics prepared comments</a:t>
            </a:r>
            <a:r>
              <a:rPr lang="en-US" sz="800" dirty="0">
                <a:solidFill>
                  <a:srgbClr val="6F6A66"/>
                </a:solidFill>
              </a:rPr>
              <a:t>  s2.q4cdn.com</a:t>
            </a:r>
          </a:p>
          <a:p>
            <a:pPr marL="0" indent="0">
              <a:lnSpc>
                <a:spcPts val="1150"/>
              </a:lnSpc>
              <a:buNone/>
            </a:pPr>
            <a:r>
              <a:rPr lang="en-US" sz="800" u="sng" dirty="0">
                <a:solidFill>
                  <a:srgbClr val="8C6239"/>
                </a:solidFill>
                <a:hlinkClick r:id="rId46" tooltip="https://stockanalysis.com/stocks/tmo/transcripts/653574-q2-2026/">
                  <a:extLst>
                    <a:ext uri="{A12FA001-AC4F-418D-AE19-62706E023703}">
                      <ahyp:hlinkClr xmlns:ahyp="http://schemas.microsoft.com/office/drawing/2018/hyperlinkcolor" val="tx"/>
                    </a:ext>
                  </a:extLst>
                </a:hlinkClick>
              </a:rPr>
              <a:t>Thermo Fisher Scientific call transcript</a:t>
            </a:r>
            <a:r>
              <a:rPr lang="en-US" sz="800" dirty="0">
                <a:solidFill>
                  <a:srgbClr val="6F6A66"/>
                </a:solidFill>
              </a:rPr>
              <a:t>  stockanalysis.com</a:t>
            </a:r>
          </a:p>
          <a:p>
            <a:pPr marL="0" indent="0">
              <a:lnSpc>
                <a:spcPts val="1150"/>
              </a:lnSpc>
              <a:buNone/>
            </a:pPr>
            <a:r>
              <a:rPr lang="en-US" sz="800" u="sng" dirty="0">
                <a:solidFill>
                  <a:srgbClr val="8C6239"/>
                </a:solidFill>
                <a:hlinkClick r:id="rId47" tooltip="https://stockanalysis.com/stocks/ste/transcripts/666655-q1-2027/">
                  <a:extLst>
                    <a:ext uri="{A12FA001-AC4F-418D-AE19-62706E023703}">
                      <ahyp:hlinkClr xmlns:ahyp="http://schemas.microsoft.com/office/drawing/2018/hyperlinkcolor" val="tx"/>
                    </a:ext>
                  </a:extLst>
                </a:hlinkClick>
              </a:rPr>
              <a:t>STERIS call transcript</a:t>
            </a:r>
            <a:r>
              <a:rPr lang="en-US" sz="800" dirty="0">
                <a:solidFill>
                  <a:srgbClr val="6F6A66"/>
                </a:solidFill>
              </a:rPr>
              <a:t>  stockanalysis.com</a:t>
            </a:r>
          </a:p>
          <a:p>
            <a:pPr marL="0" indent="0">
              <a:lnSpc>
                <a:spcPts val="1150"/>
              </a:lnSpc>
              <a:buNone/>
            </a:pPr>
            <a:r>
              <a:rPr lang="en-US" sz="800" u="sng" dirty="0">
                <a:solidFill>
                  <a:srgbClr val="8C6239"/>
                </a:solidFill>
                <a:hlinkClick r:id="rId48" tooltip="https://s206.q4cdn.com/399858780/files/doc_financials/2026/q2/HSIC-USQ_Transcript_2026-08-04.pdf">
                  <a:extLst>
                    <a:ext uri="{A12FA001-AC4F-418D-AE19-62706E023703}">
                      <ahyp:hlinkClr xmlns:ahyp="http://schemas.microsoft.com/office/drawing/2018/hyperlinkcolor" val="tx"/>
                    </a:ext>
                  </a:extLst>
                </a:hlinkClick>
              </a:rPr>
              <a:t>Henry Schein call transcript</a:t>
            </a:r>
            <a:r>
              <a:rPr lang="en-US" sz="800" dirty="0">
                <a:solidFill>
                  <a:srgbClr val="6F6A66"/>
                </a:solidFill>
              </a:rPr>
              <a:t>  s206.q4cdn.com</a:t>
            </a:r>
          </a:p>
          <a:p>
            <a:pPr marL="0" indent="0">
              <a:lnSpc>
                <a:spcPts val="1150"/>
              </a:lnSpc>
              <a:buNone/>
            </a:pPr>
            <a:r>
              <a:rPr lang="en-US" sz="800" u="sng" dirty="0">
                <a:solidFill>
                  <a:srgbClr val="8C6239"/>
                </a:solidFill>
                <a:hlinkClick r:id="rId49" tooltip="https://s201.q4cdn.com/566741227/files/doc_financials/2026/q4/Q4-FY26-CAH-Earnings-Transcript.pdf">
                  <a:extLst>
                    <a:ext uri="{A12FA001-AC4F-418D-AE19-62706E023703}">
                      <ahyp:hlinkClr xmlns:ahyp="http://schemas.microsoft.com/office/drawing/2018/hyperlinkcolor" val="tx"/>
                    </a:ext>
                  </a:extLst>
                </a:hlinkClick>
              </a:rPr>
              <a:t>Cardinal Health call transcript</a:t>
            </a:r>
            <a:r>
              <a:rPr lang="en-US" sz="800" dirty="0">
                <a:solidFill>
                  <a:srgbClr val="6F6A66"/>
                </a:solidFill>
              </a:rPr>
              <a:t>  s201.q4cdn.com</a:t>
            </a:r>
          </a:p>
          <a:p>
            <a:pPr marL="0" indent="0">
              <a:lnSpc>
                <a:spcPts val="1150"/>
              </a:lnSpc>
              <a:buNone/>
            </a:pPr>
            <a:r>
              <a:rPr lang="en-US" sz="800" u="sng" dirty="0">
                <a:solidFill>
                  <a:srgbClr val="8C6239"/>
                </a:solidFill>
                <a:hlinkClick r:id="rId50" tooltip="https://stockanalysis.com/stocks/amn/transcripts/662833-q2-2026/">
                  <a:extLst>
                    <a:ext uri="{A12FA001-AC4F-418D-AE19-62706E023703}">
                      <ahyp:hlinkClr xmlns:ahyp="http://schemas.microsoft.com/office/drawing/2018/hyperlinkcolor" val="tx"/>
                    </a:ext>
                  </a:extLst>
                </a:hlinkClick>
              </a:rPr>
              <a:t>AMN Healthcare call transcript</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BENCHMARK INTERNATIONAL (PAGE 22)</a:t>
            </a:r>
          </a:p>
          <a:p>
            <a:pPr marL="0" indent="0">
              <a:lnSpc>
                <a:spcPts val="1150"/>
              </a:lnSpc>
              <a:buNone/>
            </a:pPr>
            <a:r>
              <a:rPr lang="en-US" sz="800" u="sng" dirty="0">
                <a:solidFill>
                  <a:srgbClr val="8C6239"/>
                </a:solidFill>
                <a:hlinkClick r:id="rId12" tooltip="https://www.benchmarkintl.com/about/our-success/">
                  <a:extLst>
                    <a:ext uri="{A12FA001-AC4F-418D-AE19-62706E023703}">
                      <ahyp:hlinkClr xmlns:ahyp="http://schemas.microsoft.com/office/drawing/2018/hyperlinkcolor" val="tx"/>
                    </a:ext>
                  </a:extLst>
                </a:hlinkClick>
              </a:rPr>
              <a:t>Benchmark International</a:t>
            </a:r>
            <a:r>
              <a:rPr lang="en-US" sz="800" dirty="0">
                <a:solidFill>
                  <a:srgbClr val="6F6A66"/>
                </a:solidFill>
              </a:rPr>
              <a:t>  benchmarkintl.com</a:t>
            </a:r>
          </a:p>
          <a:p>
            <a:pPr marL="0" indent="0">
              <a:lnSpc>
                <a:spcPts val="1150"/>
              </a:lnSpc>
              <a:spcBef>
                <a:spcPts val="800"/>
              </a:spcBef>
              <a:spcAft>
                <a:spcPts val="400"/>
              </a:spcAft>
              <a:buNone/>
            </a:pPr>
            <a:r>
              <a:rPr lang="en-US" sz="800" b="1" kern="0" spc="120" dirty="0">
                <a:solidFill>
                  <a:srgbClr val="8C6239"/>
                </a:solidFill>
              </a:rPr>
              <a:t>APPENDIX: PUBLIC MARKET OPERATING AND VALUATION METRICS (PAGE 24)</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a:p>
            <a:pPr marL="0" indent="0">
              <a:lnSpc>
                <a:spcPts val="1150"/>
              </a:lnSpc>
              <a:spcBef>
                <a:spcPts val="800"/>
              </a:spcBef>
              <a:spcAft>
                <a:spcPts val="400"/>
              </a:spcAft>
              <a:buNone/>
            </a:pPr>
            <a:r>
              <a:rPr lang="en-US" sz="800" b="1" kern="0" spc="120" dirty="0">
                <a:solidFill>
                  <a:srgbClr val="8C6239"/>
                </a:solidFill>
              </a:rPr>
              <a:t>APPENDIX: PUBLIC MARKET OPERATING AND VALUATION METRICS (PAGE 25)</a:t>
            </a:r>
          </a:p>
          <a:p>
            <a:pPr marL="0" indent="0">
              <a:lnSpc>
                <a:spcPts val="1150"/>
              </a:lnSpc>
              <a:buNone/>
            </a:pPr>
            <a:r>
              <a:rPr lang="en-US" sz="800" u="sng" dirty="0">
                <a:solidFill>
                  <a:srgbClr val="8C6239"/>
                </a:solidFill>
                <a:hlinkClick r:id="rId25" tooltip="https://stockanalysis.com/">
                  <a:extLst>
                    <a:ext uri="{A12FA001-AC4F-418D-AE19-62706E023703}">
                      <ahyp:hlinkClr xmlns:ahyp="http://schemas.microsoft.com/office/drawing/2018/hyperlinkcolor" val="tx"/>
                    </a:ext>
                  </a:extLst>
                </a:hlinkClick>
              </a:rPr>
              <a:t>StockAnalysis</a:t>
            </a:r>
            <a:r>
              <a:rPr lang="en-US" sz="800" dirty="0">
                <a:solidFill>
                  <a:srgbClr val="6F6A66"/>
                </a:solidFill>
              </a:rPr>
              <a:t>  stockanalysis.com</a:t>
            </a:r>
          </a:p>
        </p:txBody>
      </p:sp>
      <p:sp>
        <p:nvSpPr>
          <p:cNvPr id="9" name="Shape 3"/>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 name="Picture 1" descr="Benchmark International logo"/>
          <p:cNvPicPr>
            <a:picLocks noChangeAspect="1"/>
          </p:cNvPicPr>
          <p:nvPr/>
        </p:nvPicPr>
        <p:blipFill>
          <a:blip r:embed="rId51"/>
          <a:srcRect/>
          <a:stretch>
            <a:fillRect/>
          </a:stretch>
        </p:blipFill>
        <p:spPr>
          <a:xfrm>
            <a:off x="419100" y="7143750"/>
            <a:ext cx="914400" cy="171450"/>
          </a:xfrm>
          <a:prstGeom prst="rect">
            <a:avLst/>
          </a:prstGeom>
        </p:spPr>
      </p:pic>
      <p:sp>
        <p:nvSpPr>
          <p:cNvPr id="11" name="TextBox 6"/>
          <p:cNvSpPr txBox="1"/>
          <p:nvPr/>
        </p:nvSpPr>
        <p:spPr>
          <a:xfrm>
            <a:off x="1543050" y="7105650"/>
            <a:ext cx="7748588" cy="238125"/>
          </a:xfrm>
          <a:prstGeom prst="rect">
            <a:avLst/>
          </a:prstGeom>
          <a:noFill/>
        </p:spPr>
        <p:txBody>
          <a:bodyPr wrap="square" lIns="0" tIns="0" rIns="0" bIns="0" anchor="t">
            <a:spAutoFit/>
          </a:bodyPr>
          <a:lstStyle/>
          <a:p>
            <a:pPr algn="l">
              <a:lnSpc>
                <a:spcPts val="1079"/>
              </a:lnSpc>
            </a:pPr>
            <a:r>
              <a:rPr sz="800" b="0" i="0" spc="8">
                <a:solidFill>
                  <a:srgbClr val="6F6A66"/>
                </a:solidFill>
                <a:latin typeface="Calibri"/>
              </a:rPr>
              <a:t>Listed-company data pages at </a:t>
            </a:r>
            <a:r>
              <a:rPr sz="800" b="0" i="0" spc="8">
                <a:solidFill>
                  <a:srgbClr val="8C6239"/>
                </a:solidFill>
                <a:latin typeface="Calibri"/>
                <a:hlinkClick r:id="rId44"/>
              </a:rPr>
              <a:t>StockAnalysis</a:t>
            </a:r>
            <a:r>
              <a:rPr sz="800" b="0" i="0" spc="8">
                <a:solidFill>
                  <a:srgbClr val="6F6A66"/>
                </a:solidFill>
                <a:latin typeface="Calibri"/>
              </a:rPr>
              <a:t> are linked from the company names on the participants and appendix pages. Adjusted EBITDA figures are from company earnings releases and SEC filings for the eight quarters to June 30, 2026.</a:t>
            </a:r>
          </a:p>
        </p:txBody>
      </p:sp>
      <p:sp>
        <p:nvSpPr>
          <p:cNvPr id="12" name="TextBox 7"/>
          <p:cNvSpPr txBox="1"/>
          <p:nvPr/>
        </p:nvSpPr>
        <p:spPr>
          <a:xfrm>
            <a:off x="9509373" y="7162800"/>
            <a:ext cx="144214" cy="133350"/>
          </a:xfrm>
          <a:prstGeom prst="rect">
            <a:avLst/>
          </a:prstGeom>
          <a:noFill/>
        </p:spPr>
        <p:txBody>
          <a:bodyPr wrap="square" lIns="0" tIns="0" rIns="0" bIns="0" anchor="t">
            <a:spAutoFit/>
          </a:bodyPr>
          <a:lstStyle/>
          <a:p>
            <a:pPr algn="l">
              <a:lnSpc>
                <a:spcPts val="1208"/>
              </a:lnSpc>
            </a:pPr>
            <a:r>
              <a:rPr sz="800" b="1" i="0" spc="150">
                <a:solidFill>
                  <a:srgbClr val="1B1A1A"/>
                </a:solidFill>
                <a:latin typeface="Calibri"/>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8C6239"/>
      </a:hlink>
      <a:folHlink>
        <a:srgbClr val="8C623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Healthcare Q4 2026 M&amp;A Industry Report | Benchmark International</dc:title>
  <cp:lastModifiedBy>Jared Hardin</cp:lastModifiedBy>
  <cp:revision>1</cp:revision>
  <dcterms:modified xsi:type="dcterms:W3CDTF">2026-10-27T20:15:17Z</dcterms:modified>
  <dc:subject>Healthcare mergers and acquisitions: deal activity, valuations, and what buyers are paying for, Q4 2026</dc:subject>
  <dc:creator>Jared Hardin, Benchmark International</dc:creator>
  <cp:keywords>Healthcare M&amp;A, middle market, sell-side M&amp;A, Q4 2026, Benchmark International</cp:keywords>
</cp:coreProperties>
</file>